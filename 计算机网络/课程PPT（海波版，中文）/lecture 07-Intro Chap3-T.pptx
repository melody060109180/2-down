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36"/>
  </p:notesMasterIdLst>
  <p:handoutMasterIdLst>
    <p:handoutMasterId r:id="rId37"/>
  </p:handoutMasterIdLst>
  <p:sldIdLst>
    <p:sldId id="319" r:id="rId2"/>
    <p:sldId id="258" r:id="rId3"/>
    <p:sldId id="306" r:id="rId4"/>
    <p:sldId id="260" r:id="rId5"/>
    <p:sldId id="261" r:id="rId6"/>
    <p:sldId id="431" r:id="rId7"/>
    <p:sldId id="264" r:id="rId8"/>
    <p:sldId id="265" r:id="rId9"/>
    <p:sldId id="328" r:id="rId10"/>
    <p:sldId id="266" r:id="rId11"/>
    <p:sldId id="267" r:id="rId12"/>
    <p:sldId id="268" r:id="rId13"/>
    <p:sldId id="269" r:id="rId14"/>
    <p:sldId id="270" r:id="rId15"/>
    <p:sldId id="321" r:id="rId16"/>
    <p:sldId id="273" r:id="rId17"/>
    <p:sldId id="274" r:id="rId18"/>
    <p:sldId id="29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430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6" r:id="rId35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3300"/>
    <a:srgbClr val="0000FF"/>
    <a:srgbClr val="008000"/>
    <a:srgbClr val="E18601"/>
    <a:srgbClr val="8000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>
      <p:cViewPr varScale="1">
        <p:scale>
          <a:sx n="152" d="100"/>
          <a:sy n="152" d="100"/>
        </p:scale>
        <p:origin x="106" y="2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302" y="101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299043" y="3448764"/>
            <a:ext cx="4433198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7 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运输层简介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8617B-A121-4385-A203-242C6BC735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630B487-DD99-4A2B-B020-D23EDADB6562}"/>
              </a:ext>
            </a:extLst>
          </p:cNvPr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72" y="164553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4E0D7-49AF-45B2-BC99-3BF577F1E2E0}" type="datetime1">
              <a:rPr lang="zh-CN" altLang="en-US" smtClean="0"/>
              <a:t>2025/3/12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541905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8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0" name="arrow.wav"/>
          </p:stSnd>
        </p:sndAc>
      </p:transition>
    </mc:Choice>
    <mc:Fallback xmlns="">
      <p:transition spd="slow">
        <p:fade/>
        <p:sndAc>
          <p:stSnd>
            <p:snd r:embed="rId12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audio" Target="../media/audio1.wav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audio" Target="../media/audio1.wav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gif"/><Relationship Id="rId18" Type="http://schemas.openxmlformats.org/officeDocument/2006/relationships/image" Target="../media/image40.png"/><Relationship Id="rId3" Type="http://schemas.openxmlformats.org/officeDocument/2006/relationships/audio" Target="../media/audio1.wav"/><Relationship Id="rId21" Type="http://schemas.openxmlformats.org/officeDocument/2006/relationships/audio" Target="../media/audio1.wav"/><Relationship Id="rId7" Type="http://schemas.openxmlformats.org/officeDocument/2006/relationships/image" Target="../media/image29.emf"/><Relationship Id="rId12" Type="http://schemas.openxmlformats.org/officeDocument/2006/relationships/image" Target="../media/image34.gif"/><Relationship Id="rId17" Type="http://schemas.openxmlformats.org/officeDocument/2006/relationships/image" Target="../media/image39.gi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gif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3.gif"/><Relationship Id="rId5" Type="http://schemas.openxmlformats.org/officeDocument/2006/relationships/image" Target="../media/image28.emf"/><Relationship Id="rId15" Type="http://schemas.openxmlformats.org/officeDocument/2006/relationships/image" Target="../media/image37.gif"/><Relationship Id="rId10" Type="http://schemas.openxmlformats.org/officeDocument/2006/relationships/image" Target="../media/image32.gif"/><Relationship Id="rId19" Type="http://schemas.openxmlformats.org/officeDocument/2006/relationships/image" Target="../media/image41.gi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1.gif"/><Relationship Id="rId14" Type="http://schemas.openxmlformats.org/officeDocument/2006/relationships/image" Target="../media/image36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2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第二章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: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知识回顾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8570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0000" y="1203598"/>
            <a:ext cx="4032448" cy="364571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Autofit/>
          </a:bodyPr>
          <a:lstStyle/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网络应用的体系结构 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client-server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</a:p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应用传输服务的需求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1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带宽，吞吐量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网络传输服务模型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：可靠传输，面向连接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：不可靠传输，无连接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4860032" y="1203598"/>
            <a:ext cx="3324594" cy="30963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257175" indent="-257175">
              <a:spcBef>
                <a:spcPct val="20000"/>
              </a:spcBef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典型的因特网协议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SMTP, POP, IMAP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P2P: BitTorrent</a:t>
            </a:r>
          </a:p>
          <a:p>
            <a:pPr marL="257175" indent="-257175">
              <a:spcBef>
                <a:spcPct val="20000"/>
              </a:spcBef>
              <a:buChar char="•"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 programming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marL="557213" lvl="1" indent="-214313">
              <a:spcBef>
                <a:spcPct val="20000"/>
              </a:spcBef>
              <a:buChar char="–"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  <a:p>
            <a:pPr marL="100013" indent="-214313">
              <a:spcBef>
                <a:spcPct val="20000"/>
              </a:spcBef>
              <a:buChar char="–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视频流和内容分发网络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68AEDC4-385E-463F-A443-E6BA848D0B0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6D6B5BE9-3010-46D0-A387-6A3FD74F8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16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effectLst/>
              </a:rPr>
              <a:t>Figures of today</a:t>
            </a:r>
            <a:endParaRPr lang="zh-CN" altLang="en-US" dirty="0">
              <a:effectLst/>
            </a:endParaRP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5FA332EB-714D-4494-83C3-8378750A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C7F7C7E9-A7FB-402F-BBD5-8E6FF064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66843B5-3B65-458C-9D37-5CC42E1A5774}"/>
              </a:ext>
            </a:extLst>
          </p:cNvPr>
          <p:cNvSpPr txBox="1">
            <a:spLocks/>
          </p:cNvSpPr>
          <p:nvPr/>
        </p:nvSpPr>
        <p:spPr>
          <a:xfrm>
            <a:off x="3280962" y="4309995"/>
            <a:ext cx="3456384" cy="405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2004 ACM Turing Award  </a:t>
            </a:r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AA8F96-B9C3-46DD-AF7E-307DA4C0262A}"/>
              </a:ext>
            </a:extLst>
          </p:cNvPr>
          <p:cNvSpPr/>
          <p:nvPr/>
        </p:nvSpPr>
        <p:spPr>
          <a:xfrm>
            <a:off x="3995936" y="3724941"/>
            <a:ext cx="1742400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GB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Vinton G. Cerf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CFCC41-C39F-4CD9-87BE-5AE986E4F5D9}"/>
              </a:ext>
            </a:extLst>
          </p:cNvPr>
          <p:cNvSpPr/>
          <p:nvPr/>
        </p:nvSpPr>
        <p:spPr>
          <a:xfrm>
            <a:off x="1565467" y="3724941"/>
            <a:ext cx="18165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GB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 E. Kahn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穿西装戴眼镜的男人&#10;&#10;描述已自动生成">
            <a:extLst>
              <a:ext uri="{FF2B5EF4-FFF2-40B4-BE49-F238E27FC236}">
                <a16:creationId xmlns:a16="http://schemas.microsoft.com/office/drawing/2014/main" id="{CCEADE7F-2282-475E-848C-3C402E616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80" y="1069444"/>
            <a:ext cx="1947664" cy="24345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图片 7" descr="穿着西装笔挺的男子&#10;&#10;描述已自动生成">
            <a:extLst>
              <a:ext uri="{FF2B5EF4-FFF2-40B4-BE49-F238E27FC236}">
                <a16:creationId xmlns:a16="http://schemas.microsoft.com/office/drawing/2014/main" id="{6A91FC26-FBFC-4618-A83F-149CBCA92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069443"/>
            <a:ext cx="1892052" cy="24293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图片 9" descr="桌子上放着碗&#10;&#10;描述已自动生成">
            <a:extLst>
              <a:ext uri="{FF2B5EF4-FFF2-40B4-BE49-F238E27FC236}">
                <a16:creationId xmlns:a16="http://schemas.microsoft.com/office/drawing/2014/main" id="{A58758DD-2F92-4F92-ACD4-4032566997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27" y="2076755"/>
            <a:ext cx="1872208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4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第三章 运输层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60000" y="972000"/>
            <a:ext cx="4034641" cy="3744415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运输层服务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多路复用与多路分解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无连接运输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:UDP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可靠数据传输原理</a:t>
            </a:r>
            <a:endParaRPr lang="en-US" altLang="zh-CN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面向连接的运输</a:t>
            </a:r>
            <a:r>
              <a:rPr lang="en-US" altLang="zh-CN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:TCP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 </a:t>
            </a:r>
            <a:r>
              <a:rPr lang="zh-CN" altLang="en-US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拥塞控制原理</a:t>
            </a:r>
            <a:endParaRPr lang="en-US" altLang="zh-CN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:TCP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05958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B804506-B119-4171-94FA-668749AA60E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8676554-69E4-46D1-9F56-3B80A75C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82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第三章 运输层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60000" y="972000"/>
            <a:ext cx="5192712" cy="3897656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sz="2000" dirty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理解运输层服务的基本原理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多路复用和分解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</a:t>
            </a:r>
            <a:endParaRPr lang="en-US" altLang="zh-CN" sz="1400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流控制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40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endParaRPr lang="en-US" altLang="zh-CN" sz="1400" dirty="0">
              <a:solidFill>
                <a:srgbClr val="FF66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学习了解因特网中的传输协议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：无连接的运输服务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：面向连接的运输服务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dirty="0">
                <a:solidFill>
                  <a:srgbClr val="FF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rgbClr val="FF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的拥塞控制机制</a:t>
            </a:r>
          </a:p>
        </p:txBody>
      </p:sp>
      <p:pic>
        <p:nvPicPr>
          <p:cNvPr id="7" name="Picture 7" descr="rad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59582"/>
            <a:ext cx="755507" cy="745284"/>
          </a:xfrm>
          <a:prstGeom prst="roundRect">
            <a:avLst>
              <a:gd name="adj" fmla="val 38975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convex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B08BFBCD-9CD1-4EDB-BB32-43942D401DC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D45EE51-C56B-494F-8D60-BE31D988E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669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3.1 </a:t>
            </a:r>
            <a:r>
              <a:rPr lang="zh-CN" altLang="en-US" dirty="0">
                <a:solidFill>
                  <a:srgbClr val="FF0000"/>
                </a:solidFill>
              </a:rPr>
              <a:t>概述和传输层服务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3.2 </a:t>
            </a:r>
            <a:r>
              <a:rPr lang="zh-CN" altLang="en-US" dirty="0"/>
              <a:t>多路复用和多路分解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3.3 </a:t>
            </a:r>
            <a:r>
              <a:rPr lang="zh-CN" altLang="en-US" dirty="0"/>
              <a:t>无连接运输服务</a:t>
            </a:r>
            <a:r>
              <a:rPr lang="en-US" altLang="zh-CN" dirty="0"/>
              <a:t>:UDP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16C8EA63-D4BC-4D5C-AD66-3E93B96F762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50161D4-649B-4F13-8C01-524A84692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2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roup 1">
            <a:extLst>
              <a:ext uri="{FF2B5EF4-FFF2-40B4-BE49-F238E27FC236}">
                <a16:creationId xmlns:a16="http://schemas.microsoft.com/office/drawing/2014/main" id="{2825F1C8-5A38-4572-B3C5-9BE76714CB32}"/>
              </a:ext>
            </a:extLst>
          </p:cNvPr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417" name="Freeform 415">
              <a:extLst>
                <a:ext uri="{FF2B5EF4-FFF2-40B4-BE49-F238E27FC236}">
                  <a16:creationId xmlns:a16="http://schemas.microsoft.com/office/drawing/2014/main" id="{2F8AF9E5-FDB5-45FD-9958-C9B550288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8" name="Freeform 416">
              <a:extLst>
                <a:ext uri="{FF2B5EF4-FFF2-40B4-BE49-F238E27FC236}">
                  <a16:creationId xmlns:a16="http://schemas.microsoft.com/office/drawing/2014/main" id="{33E58EAD-A984-4B66-84DD-7584246A3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" name="Freeform 417">
              <a:extLst>
                <a:ext uri="{FF2B5EF4-FFF2-40B4-BE49-F238E27FC236}">
                  <a16:creationId xmlns:a16="http://schemas.microsoft.com/office/drawing/2014/main" id="{AEF810DB-3763-46DC-85B6-FD79B9339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20" name="Group 418">
              <a:extLst>
                <a:ext uri="{FF2B5EF4-FFF2-40B4-BE49-F238E27FC236}">
                  <a16:creationId xmlns:a16="http://schemas.microsoft.com/office/drawing/2014/main" id="{35DA21E7-20F8-45D5-B19F-410F2F4C5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770" name="Rectangle 419">
                <a:extLst>
                  <a:ext uri="{FF2B5EF4-FFF2-40B4-BE49-F238E27FC236}">
                    <a16:creationId xmlns:a16="http://schemas.microsoft.com/office/drawing/2014/main" id="{5B58E1ED-10F2-49C3-82F3-7A99E00F5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1" name="AutoShape 420">
                <a:extLst>
                  <a:ext uri="{FF2B5EF4-FFF2-40B4-BE49-F238E27FC236}">
                    <a16:creationId xmlns:a16="http://schemas.microsoft.com/office/drawing/2014/main" id="{203E12B7-88B4-4526-8423-A73A55A7C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1" name="Line 421">
              <a:extLst>
                <a:ext uri="{FF2B5EF4-FFF2-40B4-BE49-F238E27FC236}">
                  <a16:creationId xmlns:a16="http://schemas.microsoft.com/office/drawing/2014/main" id="{F7787FF7-33AB-439F-BC49-817238AC5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2" name="Line 422">
              <a:extLst>
                <a:ext uri="{FF2B5EF4-FFF2-40B4-BE49-F238E27FC236}">
                  <a16:creationId xmlns:a16="http://schemas.microsoft.com/office/drawing/2014/main" id="{9BDB01E7-F7E0-4F66-8413-0118443BC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3" name="Line 423">
              <a:extLst>
                <a:ext uri="{FF2B5EF4-FFF2-40B4-BE49-F238E27FC236}">
                  <a16:creationId xmlns:a16="http://schemas.microsoft.com/office/drawing/2014/main" id="{E5387920-CA29-4313-BC76-059A3BE3C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4" name="Line 424">
              <a:extLst>
                <a:ext uri="{FF2B5EF4-FFF2-40B4-BE49-F238E27FC236}">
                  <a16:creationId xmlns:a16="http://schemas.microsoft.com/office/drawing/2014/main" id="{FA7335CE-00F1-47E2-B385-DD7EB5761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5" name="Line 425">
              <a:extLst>
                <a:ext uri="{FF2B5EF4-FFF2-40B4-BE49-F238E27FC236}">
                  <a16:creationId xmlns:a16="http://schemas.microsoft.com/office/drawing/2014/main" id="{51DCE26A-EE81-4429-B3BD-392E6ABA5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6" name="Line 426">
              <a:extLst>
                <a:ext uri="{FF2B5EF4-FFF2-40B4-BE49-F238E27FC236}">
                  <a16:creationId xmlns:a16="http://schemas.microsoft.com/office/drawing/2014/main" id="{775E4B48-59D1-4A3B-A181-CA0CE87CE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7" name="Freeform 427">
              <a:extLst>
                <a:ext uri="{FF2B5EF4-FFF2-40B4-BE49-F238E27FC236}">
                  <a16:creationId xmlns:a16="http://schemas.microsoft.com/office/drawing/2014/main" id="{08B28B59-2D55-4051-96EB-A627615A2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8" name="Line 428">
              <a:extLst>
                <a:ext uri="{FF2B5EF4-FFF2-40B4-BE49-F238E27FC236}">
                  <a16:creationId xmlns:a16="http://schemas.microsoft.com/office/drawing/2014/main" id="{F5F6AE1C-4E2C-4E9E-A9D5-69E184F9A4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9" name="Line 429">
              <a:extLst>
                <a:ext uri="{FF2B5EF4-FFF2-40B4-BE49-F238E27FC236}">
                  <a16:creationId xmlns:a16="http://schemas.microsoft.com/office/drawing/2014/main" id="{579B702A-2ABE-42B7-A33D-4255D651A4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0" name="Line 430">
              <a:extLst>
                <a:ext uri="{FF2B5EF4-FFF2-40B4-BE49-F238E27FC236}">
                  <a16:creationId xmlns:a16="http://schemas.microsoft.com/office/drawing/2014/main" id="{8BC765D3-91FA-4A6E-B1A3-9B29D03407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1" name="Line 431">
              <a:extLst>
                <a:ext uri="{FF2B5EF4-FFF2-40B4-BE49-F238E27FC236}">
                  <a16:creationId xmlns:a16="http://schemas.microsoft.com/office/drawing/2014/main" id="{7519E42E-195D-4C2A-B5C2-C549FA06A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2" name="Line 432">
              <a:extLst>
                <a:ext uri="{FF2B5EF4-FFF2-40B4-BE49-F238E27FC236}">
                  <a16:creationId xmlns:a16="http://schemas.microsoft.com/office/drawing/2014/main" id="{94C7BC65-F355-4FF2-9A19-4392B51B87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3" name="Line 433">
              <a:extLst>
                <a:ext uri="{FF2B5EF4-FFF2-40B4-BE49-F238E27FC236}">
                  <a16:creationId xmlns:a16="http://schemas.microsoft.com/office/drawing/2014/main" id="{C5E24385-AA68-4684-8B15-129A07659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4" name="Line 435">
              <a:extLst>
                <a:ext uri="{FF2B5EF4-FFF2-40B4-BE49-F238E27FC236}">
                  <a16:creationId xmlns:a16="http://schemas.microsoft.com/office/drawing/2014/main" id="{BC51BCBB-11DD-46FF-AB32-C4060AA6F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5" name="Line 436">
              <a:extLst>
                <a:ext uri="{FF2B5EF4-FFF2-40B4-BE49-F238E27FC236}">
                  <a16:creationId xmlns:a16="http://schemas.microsoft.com/office/drawing/2014/main" id="{FE54E303-8473-4175-BB23-D5E41E07F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6" name="Line 439">
              <a:extLst>
                <a:ext uri="{FF2B5EF4-FFF2-40B4-BE49-F238E27FC236}">
                  <a16:creationId xmlns:a16="http://schemas.microsoft.com/office/drawing/2014/main" id="{679379EE-617C-4EE0-AF5B-EB26FE1A5F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7" name="Line 440">
              <a:extLst>
                <a:ext uri="{FF2B5EF4-FFF2-40B4-BE49-F238E27FC236}">
                  <a16:creationId xmlns:a16="http://schemas.microsoft.com/office/drawing/2014/main" id="{F9108AB1-8F0F-4A29-A8B0-CF8593C4F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8" name="Line 441">
              <a:extLst>
                <a:ext uri="{FF2B5EF4-FFF2-40B4-BE49-F238E27FC236}">
                  <a16:creationId xmlns:a16="http://schemas.microsoft.com/office/drawing/2014/main" id="{2241EE59-D85F-415E-894A-9779D0259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9" name="Line 443">
              <a:extLst>
                <a:ext uri="{FF2B5EF4-FFF2-40B4-BE49-F238E27FC236}">
                  <a16:creationId xmlns:a16="http://schemas.microsoft.com/office/drawing/2014/main" id="{B809BF77-F24E-4A10-9885-DE227DAF8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0" name="Line 444">
              <a:extLst>
                <a:ext uri="{FF2B5EF4-FFF2-40B4-BE49-F238E27FC236}">
                  <a16:creationId xmlns:a16="http://schemas.microsoft.com/office/drawing/2014/main" id="{B32F069A-269E-4C49-93F4-CD5800EB5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1" name="Line 445">
              <a:extLst>
                <a:ext uri="{FF2B5EF4-FFF2-40B4-BE49-F238E27FC236}">
                  <a16:creationId xmlns:a16="http://schemas.microsoft.com/office/drawing/2014/main" id="{E27D1F02-AD52-4328-81B9-AD9B4C79D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2" name="Line 446">
              <a:extLst>
                <a:ext uri="{FF2B5EF4-FFF2-40B4-BE49-F238E27FC236}">
                  <a16:creationId xmlns:a16="http://schemas.microsoft.com/office/drawing/2014/main" id="{E67184F9-0BAD-47EF-8A51-27AF76A7A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3" name="Line 447">
              <a:extLst>
                <a:ext uri="{FF2B5EF4-FFF2-40B4-BE49-F238E27FC236}">
                  <a16:creationId xmlns:a16="http://schemas.microsoft.com/office/drawing/2014/main" id="{3426DA37-E9FE-445C-8D03-95662E53D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4" name="Line 448">
              <a:extLst>
                <a:ext uri="{FF2B5EF4-FFF2-40B4-BE49-F238E27FC236}">
                  <a16:creationId xmlns:a16="http://schemas.microsoft.com/office/drawing/2014/main" id="{7A1CB394-7576-45DA-9DA9-49A89E44FC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5" name="Line 449">
              <a:extLst>
                <a:ext uri="{FF2B5EF4-FFF2-40B4-BE49-F238E27FC236}">
                  <a16:creationId xmlns:a16="http://schemas.microsoft.com/office/drawing/2014/main" id="{D3834607-B472-482F-B320-FD06DB7FE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6" name="Line 450">
              <a:extLst>
                <a:ext uri="{FF2B5EF4-FFF2-40B4-BE49-F238E27FC236}">
                  <a16:creationId xmlns:a16="http://schemas.microsoft.com/office/drawing/2014/main" id="{C1B864E4-0B08-4481-A12A-39226CC4D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7" name="Line 451">
              <a:extLst>
                <a:ext uri="{FF2B5EF4-FFF2-40B4-BE49-F238E27FC236}">
                  <a16:creationId xmlns:a16="http://schemas.microsoft.com/office/drawing/2014/main" id="{BC99794D-45F7-447C-95B4-026AA3423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8" name="Line 452">
              <a:extLst>
                <a:ext uri="{FF2B5EF4-FFF2-40B4-BE49-F238E27FC236}">
                  <a16:creationId xmlns:a16="http://schemas.microsoft.com/office/drawing/2014/main" id="{B4C6BB24-B4B9-410A-916A-BA9F81C2E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9" name="Line 541">
              <a:extLst>
                <a:ext uri="{FF2B5EF4-FFF2-40B4-BE49-F238E27FC236}">
                  <a16:creationId xmlns:a16="http://schemas.microsoft.com/office/drawing/2014/main" id="{A5520E18-FA70-43D4-9B58-919601500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0" name="Group 590">
              <a:extLst>
                <a:ext uri="{FF2B5EF4-FFF2-40B4-BE49-F238E27FC236}">
                  <a16:creationId xmlns:a16="http://schemas.microsoft.com/office/drawing/2014/main" id="{BACC6253-8FC3-40C3-B5D3-02DE4AE41A7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768" name="Picture 591" descr="desktop_computer_stylized_medium">
                <a:extLst>
                  <a:ext uri="{FF2B5EF4-FFF2-40B4-BE49-F238E27FC236}">
                    <a16:creationId xmlns:a16="http://schemas.microsoft.com/office/drawing/2014/main" id="{7D0ABCC4-531B-4632-81D1-D304127D9B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9" name="Freeform 592">
                <a:extLst>
                  <a:ext uri="{FF2B5EF4-FFF2-40B4-BE49-F238E27FC236}">
                    <a16:creationId xmlns:a16="http://schemas.microsoft.com/office/drawing/2014/main" id="{2CE7B190-B2CE-4853-927F-E404767FA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1" name="Group 593">
              <a:extLst>
                <a:ext uri="{FF2B5EF4-FFF2-40B4-BE49-F238E27FC236}">
                  <a16:creationId xmlns:a16="http://schemas.microsoft.com/office/drawing/2014/main" id="{36385951-0025-498B-9E59-C5BBF8BDD1E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766" name="Picture 594" descr="desktop_computer_stylized_medium">
                <a:extLst>
                  <a:ext uri="{FF2B5EF4-FFF2-40B4-BE49-F238E27FC236}">
                    <a16:creationId xmlns:a16="http://schemas.microsoft.com/office/drawing/2014/main" id="{C2E56D26-E405-4648-81AF-524D00724C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7" name="Freeform 595">
                <a:extLst>
                  <a:ext uri="{FF2B5EF4-FFF2-40B4-BE49-F238E27FC236}">
                    <a16:creationId xmlns:a16="http://schemas.microsoft.com/office/drawing/2014/main" id="{3F01CC30-8612-4A7D-AB7A-CF38B045A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2" name="Group 596">
              <a:extLst>
                <a:ext uri="{FF2B5EF4-FFF2-40B4-BE49-F238E27FC236}">
                  <a16:creationId xmlns:a16="http://schemas.microsoft.com/office/drawing/2014/main" id="{D3CD0585-53E2-465C-9F47-C8382EAD962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764" name="Picture 597" descr="desktop_computer_stylized_medium">
                <a:extLst>
                  <a:ext uri="{FF2B5EF4-FFF2-40B4-BE49-F238E27FC236}">
                    <a16:creationId xmlns:a16="http://schemas.microsoft.com/office/drawing/2014/main" id="{C8006ADD-9C59-4F7B-B755-1775B351EA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5" name="Freeform 598">
                <a:extLst>
                  <a:ext uri="{FF2B5EF4-FFF2-40B4-BE49-F238E27FC236}">
                    <a16:creationId xmlns:a16="http://schemas.microsoft.com/office/drawing/2014/main" id="{5C31171A-E308-48B0-9812-5A4896F18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3" name="Group 599">
              <a:extLst>
                <a:ext uri="{FF2B5EF4-FFF2-40B4-BE49-F238E27FC236}">
                  <a16:creationId xmlns:a16="http://schemas.microsoft.com/office/drawing/2014/main" id="{617A3F8E-EBA8-451F-8562-AC344385C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762" name="Picture 600" descr="desktop_computer_stylized_medium">
                <a:extLst>
                  <a:ext uri="{FF2B5EF4-FFF2-40B4-BE49-F238E27FC236}">
                    <a16:creationId xmlns:a16="http://schemas.microsoft.com/office/drawing/2014/main" id="{F91F7123-96DC-4061-B04D-1D19D6B260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3" name="Freeform 601">
                <a:extLst>
                  <a:ext uri="{FF2B5EF4-FFF2-40B4-BE49-F238E27FC236}">
                    <a16:creationId xmlns:a16="http://schemas.microsoft.com/office/drawing/2014/main" id="{758D2529-FD97-42AD-9C9E-9DBD9F53A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54" name="Picture 603" descr="car_icon_small">
              <a:extLst>
                <a:ext uri="{FF2B5EF4-FFF2-40B4-BE49-F238E27FC236}">
                  <a16:creationId xmlns:a16="http://schemas.microsoft.com/office/drawing/2014/main" id="{04BD179D-1831-498A-9867-46420FEA6B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5" name="Group 652">
              <a:extLst>
                <a:ext uri="{FF2B5EF4-FFF2-40B4-BE49-F238E27FC236}">
                  <a16:creationId xmlns:a16="http://schemas.microsoft.com/office/drawing/2014/main" id="{378347F0-9DA3-4272-9520-51F807BD9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760" name="Picture 653" descr="iphone_stylized_small">
                <a:extLst>
                  <a:ext uri="{FF2B5EF4-FFF2-40B4-BE49-F238E27FC236}">
                    <a16:creationId xmlns:a16="http://schemas.microsoft.com/office/drawing/2014/main" id="{93F2A1D9-C2FE-45C5-9BEF-B5CD0BA39E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61" name="Picture 654" descr="antenna_radiation_stylized">
                <a:extLst>
                  <a:ext uri="{FF2B5EF4-FFF2-40B4-BE49-F238E27FC236}">
                    <a16:creationId xmlns:a16="http://schemas.microsoft.com/office/drawing/2014/main" id="{EF8EA675-355C-4F3B-B6F2-78919AD38C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56" name="Group 665">
              <a:extLst>
                <a:ext uri="{FF2B5EF4-FFF2-40B4-BE49-F238E27FC236}">
                  <a16:creationId xmlns:a16="http://schemas.microsoft.com/office/drawing/2014/main" id="{88F3903B-2AB4-47F8-81F4-7DC82C230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752" name="Oval 407">
                <a:extLst>
                  <a:ext uri="{FF2B5EF4-FFF2-40B4-BE49-F238E27FC236}">
                    <a16:creationId xmlns:a16="http://schemas.microsoft.com/office/drawing/2014/main" id="{987A1380-C007-4A5D-BC7E-FAFB43787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3" name="Rectangle 410">
                <a:extLst>
                  <a:ext uri="{FF2B5EF4-FFF2-40B4-BE49-F238E27FC236}">
                    <a16:creationId xmlns:a16="http://schemas.microsoft.com/office/drawing/2014/main" id="{55F8F360-1BAC-4C82-B6C2-477F4B3E1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4" name="Oval 411">
                <a:extLst>
                  <a:ext uri="{FF2B5EF4-FFF2-40B4-BE49-F238E27FC236}">
                    <a16:creationId xmlns:a16="http://schemas.microsoft.com/office/drawing/2014/main" id="{48812EF1-EC2E-4BE9-BAEC-24BB8ADA5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55" name="Group 659">
                <a:extLst>
                  <a:ext uri="{FF2B5EF4-FFF2-40B4-BE49-F238E27FC236}">
                    <a16:creationId xmlns:a16="http://schemas.microsoft.com/office/drawing/2014/main" id="{B8618AB8-1119-4D30-8DF4-EBB6EB8D02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58" name="Freeform 660">
                  <a:extLst>
                    <a:ext uri="{FF2B5EF4-FFF2-40B4-BE49-F238E27FC236}">
                      <a16:creationId xmlns:a16="http://schemas.microsoft.com/office/drawing/2014/main" id="{C6630EE5-FFCC-421D-B564-C8BCBBB490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9" name="Freeform 661">
                  <a:extLst>
                    <a:ext uri="{FF2B5EF4-FFF2-40B4-BE49-F238E27FC236}">
                      <a16:creationId xmlns:a16="http://schemas.microsoft.com/office/drawing/2014/main" id="{AE93F0ED-859D-4DD4-B9AF-646C718637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56" name="Line 662">
                <a:extLst>
                  <a:ext uri="{FF2B5EF4-FFF2-40B4-BE49-F238E27FC236}">
                    <a16:creationId xmlns:a16="http://schemas.microsoft.com/office/drawing/2014/main" id="{7B25D791-156B-4BE0-AEE0-A9EDD9467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7" name="Line 663">
                <a:extLst>
                  <a:ext uri="{FF2B5EF4-FFF2-40B4-BE49-F238E27FC236}">
                    <a16:creationId xmlns:a16="http://schemas.microsoft.com/office/drawing/2014/main" id="{F51A2E97-02B6-43DC-8DD9-960B43E84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7" name="Group 666">
              <a:extLst>
                <a:ext uri="{FF2B5EF4-FFF2-40B4-BE49-F238E27FC236}">
                  <a16:creationId xmlns:a16="http://schemas.microsoft.com/office/drawing/2014/main" id="{A839B2B4-E36B-4DD1-BF30-63D76667FB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744" name="Oval 407">
                <a:extLst>
                  <a:ext uri="{FF2B5EF4-FFF2-40B4-BE49-F238E27FC236}">
                    <a16:creationId xmlns:a16="http://schemas.microsoft.com/office/drawing/2014/main" id="{5BE8FCBF-CF03-4D84-A7E5-C0FCD595E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5" name="Rectangle 410">
                <a:extLst>
                  <a:ext uri="{FF2B5EF4-FFF2-40B4-BE49-F238E27FC236}">
                    <a16:creationId xmlns:a16="http://schemas.microsoft.com/office/drawing/2014/main" id="{B23E950C-0640-4B78-A095-6A4EBB472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6" name="Oval 411">
                <a:extLst>
                  <a:ext uri="{FF2B5EF4-FFF2-40B4-BE49-F238E27FC236}">
                    <a16:creationId xmlns:a16="http://schemas.microsoft.com/office/drawing/2014/main" id="{7E14CDB6-DB25-4C0A-B86E-3DA93E542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47" name="Group 670">
                <a:extLst>
                  <a:ext uri="{FF2B5EF4-FFF2-40B4-BE49-F238E27FC236}">
                    <a16:creationId xmlns:a16="http://schemas.microsoft.com/office/drawing/2014/main" id="{3939333C-9A08-40A2-A71A-9C6F706F5B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50" name="Freeform 671">
                  <a:extLst>
                    <a:ext uri="{FF2B5EF4-FFF2-40B4-BE49-F238E27FC236}">
                      <a16:creationId xmlns:a16="http://schemas.microsoft.com/office/drawing/2014/main" id="{114CE565-9306-47FA-A218-07F7851DE2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1" name="Freeform 672">
                  <a:extLst>
                    <a:ext uri="{FF2B5EF4-FFF2-40B4-BE49-F238E27FC236}">
                      <a16:creationId xmlns:a16="http://schemas.microsoft.com/office/drawing/2014/main" id="{9C164733-B059-41F3-A6F4-6C466A3693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48" name="Line 673">
                <a:extLst>
                  <a:ext uri="{FF2B5EF4-FFF2-40B4-BE49-F238E27FC236}">
                    <a16:creationId xmlns:a16="http://schemas.microsoft.com/office/drawing/2014/main" id="{0001DC14-EC62-4382-AE8F-90F66D592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9" name="Line 674">
                <a:extLst>
                  <a:ext uri="{FF2B5EF4-FFF2-40B4-BE49-F238E27FC236}">
                    <a16:creationId xmlns:a16="http://schemas.microsoft.com/office/drawing/2014/main" id="{5F184450-AC5B-46D7-BB41-5A0C7F737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8" name="Group 675">
              <a:extLst>
                <a:ext uri="{FF2B5EF4-FFF2-40B4-BE49-F238E27FC236}">
                  <a16:creationId xmlns:a16="http://schemas.microsoft.com/office/drawing/2014/main" id="{6C6E1B03-056A-4AD2-92FE-936A91D323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736" name="Oval 407">
                <a:extLst>
                  <a:ext uri="{FF2B5EF4-FFF2-40B4-BE49-F238E27FC236}">
                    <a16:creationId xmlns:a16="http://schemas.microsoft.com/office/drawing/2014/main" id="{979CD0F2-B9C2-4933-BED7-E3CBEBBB68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7" name="Rectangle 410">
                <a:extLst>
                  <a:ext uri="{FF2B5EF4-FFF2-40B4-BE49-F238E27FC236}">
                    <a16:creationId xmlns:a16="http://schemas.microsoft.com/office/drawing/2014/main" id="{E80EDFD2-1131-4BF5-9ACF-254A1E007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8" name="Oval 411">
                <a:extLst>
                  <a:ext uri="{FF2B5EF4-FFF2-40B4-BE49-F238E27FC236}">
                    <a16:creationId xmlns:a16="http://schemas.microsoft.com/office/drawing/2014/main" id="{07135A91-E249-4A6E-B893-AFDD907FA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39" name="Group 679">
                <a:extLst>
                  <a:ext uri="{FF2B5EF4-FFF2-40B4-BE49-F238E27FC236}">
                    <a16:creationId xmlns:a16="http://schemas.microsoft.com/office/drawing/2014/main" id="{33331561-7FE7-4A35-9D95-8153896191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42" name="Freeform 680">
                  <a:extLst>
                    <a:ext uri="{FF2B5EF4-FFF2-40B4-BE49-F238E27FC236}">
                      <a16:creationId xmlns:a16="http://schemas.microsoft.com/office/drawing/2014/main" id="{006A7E6C-B749-4DF8-82F9-BA11513EF9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3" name="Freeform 681">
                  <a:extLst>
                    <a:ext uri="{FF2B5EF4-FFF2-40B4-BE49-F238E27FC236}">
                      <a16:creationId xmlns:a16="http://schemas.microsoft.com/office/drawing/2014/main" id="{B7EC64DC-2658-4C85-99B7-588B1256F0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40" name="Line 682">
                <a:extLst>
                  <a:ext uri="{FF2B5EF4-FFF2-40B4-BE49-F238E27FC236}">
                    <a16:creationId xmlns:a16="http://schemas.microsoft.com/office/drawing/2014/main" id="{0747E970-EC1B-4401-A317-3B3E4D28A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1" name="Line 683">
                <a:extLst>
                  <a:ext uri="{FF2B5EF4-FFF2-40B4-BE49-F238E27FC236}">
                    <a16:creationId xmlns:a16="http://schemas.microsoft.com/office/drawing/2014/main" id="{12C71E4F-69A2-407B-BD5A-CB0E46B6D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9" name="Group 684">
              <a:extLst>
                <a:ext uri="{FF2B5EF4-FFF2-40B4-BE49-F238E27FC236}">
                  <a16:creationId xmlns:a16="http://schemas.microsoft.com/office/drawing/2014/main" id="{F0F708B5-8876-479F-AAAE-0AC5194889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728" name="Oval 407">
                <a:extLst>
                  <a:ext uri="{FF2B5EF4-FFF2-40B4-BE49-F238E27FC236}">
                    <a16:creationId xmlns:a16="http://schemas.microsoft.com/office/drawing/2014/main" id="{B2468CAF-F241-4516-8797-B1816575E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9" name="Rectangle 410">
                <a:extLst>
                  <a:ext uri="{FF2B5EF4-FFF2-40B4-BE49-F238E27FC236}">
                    <a16:creationId xmlns:a16="http://schemas.microsoft.com/office/drawing/2014/main" id="{8E5D66B7-D7AE-427C-A8ED-40D0B6FCD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0" name="Oval 411">
                <a:extLst>
                  <a:ext uri="{FF2B5EF4-FFF2-40B4-BE49-F238E27FC236}">
                    <a16:creationId xmlns:a16="http://schemas.microsoft.com/office/drawing/2014/main" id="{785A06E8-50A1-4DB1-A420-22A632DC9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31" name="Group 688">
                <a:extLst>
                  <a:ext uri="{FF2B5EF4-FFF2-40B4-BE49-F238E27FC236}">
                    <a16:creationId xmlns:a16="http://schemas.microsoft.com/office/drawing/2014/main" id="{29B3F0A3-F8BE-47BF-B03A-4B446F278F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34" name="Freeform 689">
                  <a:extLst>
                    <a:ext uri="{FF2B5EF4-FFF2-40B4-BE49-F238E27FC236}">
                      <a16:creationId xmlns:a16="http://schemas.microsoft.com/office/drawing/2014/main" id="{4197ABEF-F711-490B-B2CF-F5DFAB1058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5" name="Freeform 690">
                  <a:extLst>
                    <a:ext uri="{FF2B5EF4-FFF2-40B4-BE49-F238E27FC236}">
                      <a16:creationId xmlns:a16="http://schemas.microsoft.com/office/drawing/2014/main" id="{749C2477-99C5-4BF9-934C-0BA9F84C6F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32" name="Line 691">
                <a:extLst>
                  <a:ext uri="{FF2B5EF4-FFF2-40B4-BE49-F238E27FC236}">
                    <a16:creationId xmlns:a16="http://schemas.microsoft.com/office/drawing/2014/main" id="{FAA1F248-A82A-4E5A-99F2-5700F8D17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3" name="Line 692">
                <a:extLst>
                  <a:ext uri="{FF2B5EF4-FFF2-40B4-BE49-F238E27FC236}">
                    <a16:creationId xmlns:a16="http://schemas.microsoft.com/office/drawing/2014/main" id="{7E375813-7BE2-45E4-9F7A-51B1DC6F2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60" name="Line 693">
              <a:extLst>
                <a:ext uri="{FF2B5EF4-FFF2-40B4-BE49-F238E27FC236}">
                  <a16:creationId xmlns:a16="http://schemas.microsoft.com/office/drawing/2014/main" id="{C639529F-1926-4428-A786-5E67F6503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61" name="Group 694">
              <a:extLst>
                <a:ext uri="{FF2B5EF4-FFF2-40B4-BE49-F238E27FC236}">
                  <a16:creationId xmlns:a16="http://schemas.microsoft.com/office/drawing/2014/main" id="{7C15BAB7-F676-48EA-B737-04D6410B1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720" name="Oval 407">
                <a:extLst>
                  <a:ext uri="{FF2B5EF4-FFF2-40B4-BE49-F238E27FC236}">
                    <a16:creationId xmlns:a16="http://schemas.microsoft.com/office/drawing/2014/main" id="{2588A760-D582-45DE-9027-FB6950505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1" name="Rectangle 410">
                <a:extLst>
                  <a:ext uri="{FF2B5EF4-FFF2-40B4-BE49-F238E27FC236}">
                    <a16:creationId xmlns:a16="http://schemas.microsoft.com/office/drawing/2014/main" id="{85F87CBA-6E62-4185-81DA-02B374BC3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2" name="Oval 411">
                <a:extLst>
                  <a:ext uri="{FF2B5EF4-FFF2-40B4-BE49-F238E27FC236}">
                    <a16:creationId xmlns:a16="http://schemas.microsoft.com/office/drawing/2014/main" id="{0F6252AD-F24F-42A3-A5A6-E8E860FFB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23" name="Group 698">
                <a:extLst>
                  <a:ext uri="{FF2B5EF4-FFF2-40B4-BE49-F238E27FC236}">
                    <a16:creationId xmlns:a16="http://schemas.microsoft.com/office/drawing/2014/main" id="{98CE9FD4-7907-469F-B034-90601A004E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26" name="Freeform 699">
                  <a:extLst>
                    <a:ext uri="{FF2B5EF4-FFF2-40B4-BE49-F238E27FC236}">
                      <a16:creationId xmlns:a16="http://schemas.microsoft.com/office/drawing/2014/main" id="{0CE8D02D-024E-469D-85D8-15E1A54DF5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27" name="Freeform 700">
                  <a:extLst>
                    <a:ext uri="{FF2B5EF4-FFF2-40B4-BE49-F238E27FC236}">
                      <a16:creationId xmlns:a16="http://schemas.microsoft.com/office/drawing/2014/main" id="{9ACDBBB8-20CE-43D9-9BCC-811ADBF0BF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24" name="Line 701">
                <a:extLst>
                  <a:ext uri="{FF2B5EF4-FFF2-40B4-BE49-F238E27FC236}">
                    <a16:creationId xmlns:a16="http://schemas.microsoft.com/office/drawing/2014/main" id="{E006538B-FA45-40F1-8941-C4825D164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5" name="Line 702">
                <a:extLst>
                  <a:ext uri="{FF2B5EF4-FFF2-40B4-BE49-F238E27FC236}">
                    <a16:creationId xmlns:a16="http://schemas.microsoft.com/office/drawing/2014/main" id="{15412948-054B-4250-A448-836B3757B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2" name="Group 712">
              <a:extLst>
                <a:ext uri="{FF2B5EF4-FFF2-40B4-BE49-F238E27FC236}">
                  <a16:creationId xmlns:a16="http://schemas.microsoft.com/office/drawing/2014/main" id="{4D0E8E02-8EE1-409A-B42F-635137D2A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712" name="Oval 407">
                <a:extLst>
                  <a:ext uri="{FF2B5EF4-FFF2-40B4-BE49-F238E27FC236}">
                    <a16:creationId xmlns:a16="http://schemas.microsoft.com/office/drawing/2014/main" id="{3E50F177-448D-4A99-BEF1-C4B0737FF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3" name="Rectangle 410">
                <a:extLst>
                  <a:ext uri="{FF2B5EF4-FFF2-40B4-BE49-F238E27FC236}">
                    <a16:creationId xmlns:a16="http://schemas.microsoft.com/office/drawing/2014/main" id="{ACF9625C-DCA4-4487-BEC9-BB333274C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4" name="Oval 411">
                <a:extLst>
                  <a:ext uri="{FF2B5EF4-FFF2-40B4-BE49-F238E27FC236}">
                    <a16:creationId xmlns:a16="http://schemas.microsoft.com/office/drawing/2014/main" id="{4F468BD6-183B-48BB-B10E-66E49F65D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5" name="Group 716">
                <a:extLst>
                  <a:ext uri="{FF2B5EF4-FFF2-40B4-BE49-F238E27FC236}">
                    <a16:creationId xmlns:a16="http://schemas.microsoft.com/office/drawing/2014/main" id="{CAAF3068-EBDD-4DD3-89F0-5B90A0634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18" name="Freeform 717">
                  <a:extLst>
                    <a:ext uri="{FF2B5EF4-FFF2-40B4-BE49-F238E27FC236}">
                      <a16:creationId xmlns:a16="http://schemas.microsoft.com/office/drawing/2014/main" id="{6C8604DD-0679-4A56-B4F4-99F234679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9" name="Freeform 718">
                  <a:extLst>
                    <a:ext uri="{FF2B5EF4-FFF2-40B4-BE49-F238E27FC236}">
                      <a16:creationId xmlns:a16="http://schemas.microsoft.com/office/drawing/2014/main" id="{1CF2F5F4-ABAA-4AE4-B128-02B1D32BC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16" name="Line 719">
                <a:extLst>
                  <a:ext uri="{FF2B5EF4-FFF2-40B4-BE49-F238E27FC236}">
                    <a16:creationId xmlns:a16="http://schemas.microsoft.com/office/drawing/2014/main" id="{5A635D04-0328-4FB6-9FB0-19E5C9892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7" name="Line 720">
                <a:extLst>
                  <a:ext uri="{FF2B5EF4-FFF2-40B4-BE49-F238E27FC236}">
                    <a16:creationId xmlns:a16="http://schemas.microsoft.com/office/drawing/2014/main" id="{A832D557-8696-4410-AD78-0C5EBEDFE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3" name="Group 721">
              <a:extLst>
                <a:ext uri="{FF2B5EF4-FFF2-40B4-BE49-F238E27FC236}">
                  <a16:creationId xmlns:a16="http://schemas.microsoft.com/office/drawing/2014/main" id="{D0366EEC-11AA-42BE-8B63-97C79D6BD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704" name="Oval 407">
                <a:extLst>
                  <a:ext uri="{FF2B5EF4-FFF2-40B4-BE49-F238E27FC236}">
                    <a16:creationId xmlns:a16="http://schemas.microsoft.com/office/drawing/2014/main" id="{6F99927B-3103-4A52-8297-FDA5D4C01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5" name="Rectangle 410">
                <a:extLst>
                  <a:ext uri="{FF2B5EF4-FFF2-40B4-BE49-F238E27FC236}">
                    <a16:creationId xmlns:a16="http://schemas.microsoft.com/office/drawing/2014/main" id="{A79FDE56-9CA3-4A9F-A1A7-1383F454E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6" name="Oval 411">
                <a:extLst>
                  <a:ext uri="{FF2B5EF4-FFF2-40B4-BE49-F238E27FC236}">
                    <a16:creationId xmlns:a16="http://schemas.microsoft.com/office/drawing/2014/main" id="{A6E15B23-FC48-457A-951F-998068575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07" name="Group 725">
                <a:extLst>
                  <a:ext uri="{FF2B5EF4-FFF2-40B4-BE49-F238E27FC236}">
                    <a16:creationId xmlns:a16="http://schemas.microsoft.com/office/drawing/2014/main" id="{8D358B96-5C0D-43E0-84B5-AEF88309BC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10" name="Freeform 726">
                  <a:extLst>
                    <a:ext uri="{FF2B5EF4-FFF2-40B4-BE49-F238E27FC236}">
                      <a16:creationId xmlns:a16="http://schemas.microsoft.com/office/drawing/2014/main" id="{3AB3FD51-FBBF-490E-B417-8601B0E19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1" name="Freeform 727">
                  <a:extLst>
                    <a:ext uri="{FF2B5EF4-FFF2-40B4-BE49-F238E27FC236}">
                      <a16:creationId xmlns:a16="http://schemas.microsoft.com/office/drawing/2014/main" id="{B0D2A060-9478-4E26-8924-398B8C416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08" name="Line 728">
                <a:extLst>
                  <a:ext uri="{FF2B5EF4-FFF2-40B4-BE49-F238E27FC236}">
                    <a16:creationId xmlns:a16="http://schemas.microsoft.com/office/drawing/2014/main" id="{D88351EA-8701-40D8-826E-82DA78CC2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9" name="Line 729">
                <a:extLst>
                  <a:ext uri="{FF2B5EF4-FFF2-40B4-BE49-F238E27FC236}">
                    <a16:creationId xmlns:a16="http://schemas.microsoft.com/office/drawing/2014/main" id="{BB0F4375-EE39-480C-B02E-DC576F1B03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4" name="Group 730">
              <a:extLst>
                <a:ext uri="{FF2B5EF4-FFF2-40B4-BE49-F238E27FC236}">
                  <a16:creationId xmlns:a16="http://schemas.microsoft.com/office/drawing/2014/main" id="{1E37BF4A-F120-4900-A0A1-B2E7E177DF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696" name="Oval 407">
                <a:extLst>
                  <a:ext uri="{FF2B5EF4-FFF2-40B4-BE49-F238E27FC236}">
                    <a16:creationId xmlns:a16="http://schemas.microsoft.com/office/drawing/2014/main" id="{7E96A925-8AE2-4399-B3F0-2F4EA971F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7" name="Rectangle 410">
                <a:extLst>
                  <a:ext uri="{FF2B5EF4-FFF2-40B4-BE49-F238E27FC236}">
                    <a16:creationId xmlns:a16="http://schemas.microsoft.com/office/drawing/2014/main" id="{F013B2D9-F564-469F-96EF-6722FF4C5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8" name="Oval 411">
                <a:extLst>
                  <a:ext uri="{FF2B5EF4-FFF2-40B4-BE49-F238E27FC236}">
                    <a16:creationId xmlns:a16="http://schemas.microsoft.com/office/drawing/2014/main" id="{9F28FF3E-365A-467C-A4F5-A2BD69AA2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9" name="Group 734">
                <a:extLst>
                  <a:ext uri="{FF2B5EF4-FFF2-40B4-BE49-F238E27FC236}">
                    <a16:creationId xmlns:a16="http://schemas.microsoft.com/office/drawing/2014/main" id="{9483F95D-BC32-4A19-939C-CDD3A41155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02" name="Freeform 735">
                  <a:extLst>
                    <a:ext uri="{FF2B5EF4-FFF2-40B4-BE49-F238E27FC236}">
                      <a16:creationId xmlns:a16="http://schemas.microsoft.com/office/drawing/2014/main" id="{E602CD42-92E3-42C5-83D5-FC5679DE59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3" name="Freeform 736">
                  <a:extLst>
                    <a:ext uri="{FF2B5EF4-FFF2-40B4-BE49-F238E27FC236}">
                      <a16:creationId xmlns:a16="http://schemas.microsoft.com/office/drawing/2014/main" id="{A28D6180-499E-4CFC-92B4-7B3EBDD95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00" name="Line 737">
                <a:extLst>
                  <a:ext uri="{FF2B5EF4-FFF2-40B4-BE49-F238E27FC236}">
                    <a16:creationId xmlns:a16="http://schemas.microsoft.com/office/drawing/2014/main" id="{1E14E20B-73FF-469A-929B-E44E59EAF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1" name="Line 738">
                <a:extLst>
                  <a:ext uri="{FF2B5EF4-FFF2-40B4-BE49-F238E27FC236}">
                    <a16:creationId xmlns:a16="http://schemas.microsoft.com/office/drawing/2014/main" id="{39EAAD92-DFAA-4156-9639-AC2E4FC24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5" name="Group 739">
              <a:extLst>
                <a:ext uri="{FF2B5EF4-FFF2-40B4-BE49-F238E27FC236}">
                  <a16:creationId xmlns:a16="http://schemas.microsoft.com/office/drawing/2014/main" id="{421DC645-FD49-43B5-8C53-CDCA89FDC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688" name="Oval 407">
                <a:extLst>
                  <a:ext uri="{FF2B5EF4-FFF2-40B4-BE49-F238E27FC236}">
                    <a16:creationId xmlns:a16="http://schemas.microsoft.com/office/drawing/2014/main" id="{F6CA1022-A852-47B6-9272-02E4A1680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9" name="Rectangle 410">
                <a:extLst>
                  <a:ext uri="{FF2B5EF4-FFF2-40B4-BE49-F238E27FC236}">
                    <a16:creationId xmlns:a16="http://schemas.microsoft.com/office/drawing/2014/main" id="{741E696B-1224-46E9-9748-8421FAE54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0" name="Oval 411">
                <a:extLst>
                  <a:ext uri="{FF2B5EF4-FFF2-40B4-BE49-F238E27FC236}">
                    <a16:creationId xmlns:a16="http://schemas.microsoft.com/office/drawing/2014/main" id="{F4FB51C0-D048-4EBC-A583-97BDB7F24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1" name="Group 743">
                <a:extLst>
                  <a:ext uri="{FF2B5EF4-FFF2-40B4-BE49-F238E27FC236}">
                    <a16:creationId xmlns:a16="http://schemas.microsoft.com/office/drawing/2014/main" id="{F599D5DF-2AE0-4C0A-8046-FB009A23A4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94" name="Freeform 744">
                  <a:extLst>
                    <a:ext uri="{FF2B5EF4-FFF2-40B4-BE49-F238E27FC236}">
                      <a16:creationId xmlns:a16="http://schemas.microsoft.com/office/drawing/2014/main" id="{D3516AF0-3AE1-4D23-9481-044A880C6E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5" name="Freeform 745">
                  <a:extLst>
                    <a:ext uri="{FF2B5EF4-FFF2-40B4-BE49-F238E27FC236}">
                      <a16:creationId xmlns:a16="http://schemas.microsoft.com/office/drawing/2014/main" id="{28047D8E-1564-4AB7-A99A-F0EDBAF633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2" name="Line 746">
                <a:extLst>
                  <a:ext uri="{FF2B5EF4-FFF2-40B4-BE49-F238E27FC236}">
                    <a16:creationId xmlns:a16="http://schemas.microsoft.com/office/drawing/2014/main" id="{5938E0F8-5B7E-40F4-B3E5-B297150E4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3" name="Line 747">
                <a:extLst>
                  <a:ext uri="{FF2B5EF4-FFF2-40B4-BE49-F238E27FC236}">
                    <a16:creationId xmlns:a16="http://schemas.microsoft.com/office/drawing/2014/main" id="{E5BD8195-8982-4D8B-8BD5-4B282A836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6" name="Group 748">
              <a:extLst>
                <a:ext uri="{FF2B5EF4-FFF2-40B4-BE49-F238E27FC236}">
                  <a16:creationId xmlns:a16="http://schemas.microsoft.com/office/drawing/2014/main" id="{0B12A012-E51E-4F96-9A01-826783E0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680" name="Oval 407">
                <a:extLst>
                  <a:ext uri="{FF2B5EF4-FFF2-40B4-BE49-F238E27FC236}">
                    <a16:creationId xmlns:a16="http://schemas.microsoft.com/office/drawing/2014/main" id="{696DC1F3-4D6A-492F-BFDB-EC477FCFF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1" name="Rectangle 410">
                <a:extLst>
                  <a:ext uri="{FF2B5EF4-FFF2-40B4-BE49-F238E27FC236}">
                    <a16:creationId xmlns:a16="http://schemas.microsoft.com/office/drawing/2014/main" id="{EEE804D2-587D-4117-BE22-52E16C54A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2" name="Oval 411">
                <a:extLst>
                  <a:ext uri="{FF2B5EF4-FFF2-40B4-BE49-F238E27FC236}">
                    <a16:creationId xmlns:a16="http://schemas.microsoft.com/office/drawing/2014/main" id="{7C7E627C-DE83-42A3-91EF-C10309C86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3" name="Group 752">
                <a:extLst>
                  <a:ext uri="{FF2B5EF4-FFF2-40B4-BE49-F238E27FC236}">
                    <a16:creationId xmlns:a16="http://schemas.microsoft.com/office/drawing/2014/main" id="{D54636ED-6826-4A88-A473-83D8620870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86" name="Freeform 753">
                  <a:extLst>
                    <a:ext uri="{FF2B5EF4-FFF2-40B4-BE49-F238E27FC236}">
                      <a16:creationId xmlns:a16="http://schemas.microsoft.com/office/drawing/2014/main" id="{F36399ED-DF5D-4685-9F22-67D778D302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7" name="Freeform 754">
                  <a:extLst>
                    <a:ext uri="{FF2B5EF4-FFF2-40B4-BE49-F238E27FC236}">
                      <a16:creationId xmlns:a16="http://schemas.microsoft.com/office/drawing/2014/main" id="{F784C2EC-3521-40EC-89BF-76176A26D5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84" name="Line 755">
                <a:extLst>
                  <a:ext uri="{FF2B5EF4-FFF2-40B4-BE49-F238E27FC236}">
                    <a16:creationId xmlns:a16="http://schemas.microsoft.com/office/drawing/2014/main" id="{CF5D7F10-3136-456B-8D96-FEF1D7DFA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5" name="Line 756">
                <a:extLst>
                  <a:ext uri="{FF2B5EF4-FFF2-40B4-BE49-F238E27FC236}">
                    <a16:creationId xmlns:a16="http://schemas.microsoft.com/office/drawing/2014/main" id="{5D79E2F9-9FEE-4BB4-99B3-386F1AB9A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7" name="Group 757">
              <a:extLst>
                <a:ext uri="{FF2B5EF4-FFF2-40B4-BE49-F238E27FC236}">
                  <a16:creationId xmlns:a16="http://schemas.microsoft.com/office/drawing/2014/main" id="{E08B26EF-050B-475D-915E-53DCE5007F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672" name="Oval 407">
                <a:extLst>
                  <a:ext uri="{FF2B5EF4-FFF2-40B4-BE49-F238E27FC236}">
                    <a16:creationId xmlns:a16="http://schemas.microsoft.com/office/drawing/2014/main" id="{36729888-ADE0-4A78-A1AA-1EDBB24FA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3" name="Rectangle 410">
                <a:extLst>
                  <a:ext uri="{FF2B5EF4-FFF2-40B4-BE49-F238E27FC236}">
                    <a16:creationId xmlns:a16="http://schemas.microsoft.com/office/drawing/2014/main" id="{42FBF26A-15F4-4EB8-A708-171EB5389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4" name="Oval 411">
                <a:extLst>
                  <a:ext uri="{FF2B5EF4-FFF2-40B4-BE49-F238E27FC236}">
                    <a16:creationId xmlns:a16="http://schemas.microsoft.com/office/drawing/2014/main" id="{0DCA6FE6-7513-49D8-A52D-253761C5C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5" name="Group 761">
                <a:extLst>
                  <a:ext uri="{FF2B5EF4-FFF2-40B4-BE49-F238E27FC236}">
                    <a16:creationId xmlns:a16="http://schemas.microsoft.com/office/drawing/2014/main" id="{AFCEDD22-19D0-4D2C-8672-FE575FF3B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78" name="Freeform 762">
                  <a:extLst>
                    <a:ext uri="{FF2B5EF4-FFF2-40B4-BE49-F238E27FC236}">
                      <a16:creationId xmlns:a16="http://schemas.microsoft.com/office/drawing/2014/main" id="{51892AAB-8D11-4411-B3F6-FA61B396B8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9" name="Freeform 763">
                  <a:extLst>
                    <a:ext uri="{FF2B5EF4-FFF2-40B4-BE49-F238E27FC236}">
                      <a16:creationId xmlns:a16="http://schemas.microsoft.com/office/drawing/2014/main" id="{C6A2F737-D683-4E4D-A9E6-F900E3FCAE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76" name="Line 764">
                <a:extLst>
                  <a:ext uri="{FF2B5EF4-FFF2-40B4-BE49-F238E27FC236}">
                    <a16:creationId xmlns:a16="http://schemas.microsoft.com/office/drawing/2014/main" id="{8DCAD8B4-65E6-4C0F-85D8-279C29DE3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7" name="Line 765">
                <a:extLst>
                  <a:ext uri="{FF2B5EF4-FFF2-40B4-BE49-F238E27FC236}">
                    <a16:creationId xmlns:a16="http://schemas.microsoft.com/office/drawing/2014/main" id="{24DC33F7-BCF6-4B07-8946-6E31A4164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8" name="Group 767">
              <a:extLst>
                <a:ext uri="{FF2B5EF4-FFF2-40B4-BE49-F238E27FC236}">
                  <a16:creationId xmlns:a16="http://schemas.microsoft.com/office/drawing/2014/main" id="{D5247022-3BD1-4F59-A7B8-FE8AE3E63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664" name="Oval 407">
                <a:extLst>
                  <a:ext uri="{FF2B5EF4-FFF2-40B4-BE49-F238E27FC236}">
                    <a16:creationId xmlns:a16="http://schemas.microsoft.com/office/drawing/2014/main" id="{AC2B46EB-753B-45BF-91EE-1BA776D98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5" name="Rectangle 410">
                <a:extLst>
                  <a:ext uri="{FF2B5EF4-FFF2-40B4-BE49-F238E27FC236}">
                    <a16:creationId xmlns:a16="http://schemas.microsoft.com/office/drawing/2014/main" id="{58EBFFDD-61A6-4AC4-B328-536C83928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6" name="Oval 411">
                <a:extLst>
                  <a:ext uri="{FF2B5EF4-FFF2-40B4-BE49-F238E27FC236}">
                    <a16:creationId xmlns:a16="http://schemas.microsoft.com/office/drawing/2014/main" id="{D21BE1D4-EF77-45AA-B8B2-041725361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67" name="Group 771">
                <a:extLst>
                  <a:ext uri="{FF2B5EF4-FFF2-40B4-BE49-F238E27FC236}">
                    <a16:creationId xmlns:a16="http://schemas.microsoft.com/office/drawing/2014/main" id="{EDBE2D1A-1D7E-4593-A84B-51CBA51B90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70" name="Freeform 772">
                  <a:extLst>
                    <a:ext uri="{FF2B5EF4-FFF2-40B4-BE49-F238E27FC236}">
                      <a16:creationId xmlns:a16="http://schemas.microsoft.com/office/drawing/2014/main" id="{FF1F4EAF-B570-48ED-8097-3B95B5AE4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1" name="Freeform 773">
                  <a:extLst>
                    <a:ext uri="{FF2B5EF4-FFF2-40B4-BE49-F238E27FC236}">
                      <a16:creationId xmlns:a16="http://schemas.microsoft.com/office/drawing/2014/main" id="{69D2397D-A98F-445E-9DF3-59A05E32BB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68" name="Line 774">
                <a:extLst>
                  <a:ext uri="{FF2B5EF4-FFF2-40B4-BE49-F238E27FC236}">
                    <a16:creationId xmlns:a16="http://schemas.microsoft.com/office/drawing/2014/main" id="{257DF701-31E4-4759-9175-B0DEAC799A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9" name="Line 775">
                <a:extLst>
                  <a:ext uri="{FF2B5EF4-FFF2-40B4-BE49-F238E27FC236}">
                    <a16:creationId xmlns:a16="http://schemas.microsoft.com/office/drawing/2014/main" id="{A4BEC11F-58F4-4B50-A907-FA274ACA4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9" name="Group 776">
              <a:extLst>
                <a:ext uri="{FF2B5EF4-FFF2-40B4-BE49-F238E27FC236}">
                  <a16:creationId xmlns:a16="http://schemas.microsoft.com/office/drawing/2014/main" id="{E59D4D06-1FF9-4623-B04D-1FD247F72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662" name="Picture 777" descr="access_point_stylized_small">
                <a:extLst>
                  <a:ext uri="{FF2B5EF4-FFF2-40B4-BE49-F238E27FC236}">
                    <a16:creationId xmlns:a16="http://schemas.microsoft.com/office/drawing/2014/main" id="{4D02B738-A6E3-4AAD-8A31-2337C39EC8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3" name="Picture 778" descr="antenna_radiation_stylized">
                <a:extLst>
                  <a:ext uri="{FF2B5EF4-FFF2-40B4-BE49-F238E27FC236}">
                    <a16:creationId xmlns:a16="http://schemas.microsoft.com/office/drawing/2014/main" id="{E648103C-DBC6-4077-8810-751E11FD76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70" name="Group 779">
              <a:extLst>
                <a:ext uri="{FF2B5EF4-FFF2-40B4-BE49-F238E27FC236}">
                  <a16:creationId xmlns:a16="http://schemas.microsoft.com/office/drawing/2014/main" id="{823E6D00-71F7-4436-ACD5-EE2606E865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660" name="Picture 780" descr="access_point_stylized_small">
                <a:extLst>
                  <a:ext uri="{FF2B5EF4-FFF2-40B4-BE49-F238E27FC236}">
                    <a16:creationId xmlns:a16="http://schemas.microsoft.com/office/drawing/2014/main" id="{0F6878D5-F7F8-4117-8502-11EBC072DD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1" name="Picture 781" descr="antenna_radiation_stylized">
                <a:extLst>
                  <a:ext uri="{FF2B5EF4-FFF2-40B4-BE49-F238E27FC236}">
                    <a16:creationId xmlns:a16="http://schemas.microsoft.com/office/drawing/2014/main" id="{7D390B7E-F685-47FD-A4EC-A890F8464F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71" name="Group 782">
              <a:extLst>
                <a:ext uri="{FF2B5EF4-FFF2-40B4-BE49-F238E27FC236}">
                  <a16:creationId xmlns:a16="http://schemas.microsoft.com/office/drawing/2014/main" id="{DD5431E2-151F-4C39-93DA-1EABEF371A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642" name="Group 783">
                <a:extLst>
                  <a:ext uri="{FF2B5EF4-FFF2-40B4-BE49-F238E27FC236}">
                    <a16:creationId xmlns:a16="http://schemas.microsoft.com/office/drawing/2014/main" id="{52A6E7A5-0F76-44A3-BBC4-3B06879F73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645" name="Line 270">
                  <a:extLst>
                    <a:ext uri="{FF2B5EF4-FFF2-40B4-BE49-F238E27FC236}">
                      <a16:creationId xmlns:a16="http://schemas.microsoft.com/office/drawing/2014/main" id="{BB9672AA-F790-4D4A-ADDB-5364EE4A18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6" name="Line 271">
                  <a:extLst>
                    <a:ext uri="{FF2B5EF4-FFF2-40B4-BE49-F238E27FC236}">
                      <a16:creationId xmlns:a16="http://schemas.microsoft.com/office/drawing/2014/main" id="{F5B17A06-39A1-4D44-8EA5-F74CE2D3C5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7" name="Line 272">
                  <a:extLst>
                    <a:ext uri="{FF2B5EF4-FFF2-40B4-BE49-F238E27FC236}">
                      <a16:creationId xmlns:a16="http://schemas.microsoft.com/office/drawing/2014/main" id="{B6C4CC04-EBA7-489C-887A-A9650298C6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8" name="Line 273">
                  <a:extLst>
                    <a:ext uri="{FF2B5EF4-FFF2-40B4-BE49-F238E27FC236}">
                      <a16:creationId xmlns:a16="http://schemas.microsoft.com/office/drawing/2014/main" id="{8A8F77CB-CEE5-43FD-9787-ACF75C3D7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9" name="Line 274">
                  <a:extLst>
                    <a:ext uri="{FF2B5EF4-FFF2-40B4-BE49-F238E27FC236}">
                      <a16:creationId xmlns:a16="http://schemas.microsoft.com/office/drawing/2014/main" id="{8FC43C62-E618-41BB-9B95-5E93A6F084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0" name="Line 275">
                  <a:extLst>
                    <a:ext uri="{FF2B5EF4-FFF2-40B4-BE49-F238E27FC236}">
                      <a16:creationId xmlns:a16="http://schemas.microsoft.com/office/drawing/2014/main" id="{7E5D73BB-363B-4E85-99C1-EDB29E9789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1" name="Line 276">
                  <a:extLst>
                    <a:ext uri="{FF2B5EF4-FFF2-40B4-BE49-F238E27FC236}">
                      <a16:creationId xmlns:a16="http://schemas.microsoft.com/office/drawing/2014/main" id="{CB017EE2-6C88-42C2-AC3B-3AD8E0ABA0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2" name="Line 277">
                  <a:extLst>
                    <a:ext uri="{FF2B5EF4-FFF2-40B4-BE49-F238E27FC236}">
                      <a16:creationId xmlns:a16="http://schemas.microsoft.com/office/drawing/2014/main" id="{A112D509-803E-4670-98E1-C7E6802E7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3" name="Line 278">
                  <a:extLst>
                    <a:ext uri="{FF2B5EF4-FFF2-40B4-BE49-F238E27FC236}">
                      <a16:creationId xmlns:a16="http://schemas.microsoft.com/office/drawing/2014/main" id="{DBD2A520-3C3F-44EA-9665-6B1B702072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4" name="Line 279">
                  <a:extLst>
                    <a:ext uri="{FF2B5EF4-FFF2-40B4-BE49-F238E27FC236}">
                      <a16:creationId xmlns:a16="http://schemas.microsoft.com/office/drawing/2014/main" id="{7D50666E-A271-44EF-9417-B8653608D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5" name="Line 280">
                  <a:extLst>
                    <a:ext uri="{FF2B5EF4-FFF2-40B4-BE49-F238E27FC236}">
                      <a16:creationId xmlns:a16="http://schemas.microsoft.com/office/drawing/2014/main" id="{0225E0C1-B639-46ED-8F4D-3C532F4F37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6" name="Line 281">
                  <a:extLst>
                    <a:ext uri="{FF2B5EF4-FFF2-40B4-BE49-F238E27FC236}">
                      <a16:creationId xmlns:a16="http://schemas.microsoft.com/office/drawing/2014/main" id="{15EF4025-7F17-467F-8CAA-4814DD4FE1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7" name="Line 282">
                  <a:extLst>
                    <a:ext uri="{FF2B5EF4-FFF2-40B4-BE49-F238E27FC236}">
                      <a16:creationId xmlns:a16="http://schemas.microsoft.com/office/drawing/2014/main" id="{B898FA94-0570-4E54-A38A-F6608AABC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8" name="Line 283">
                  <a:extLst>
                    <a:ext uri="{FF2B5EF4-FFF2-40B4-BE49-F238E27FC236}">
                      <a16:creationId xmlns:a16="http://schemas.microsoft.com/office/drawing/2014/main" id="{C6CD8742-24D3-419E-90D5-E659BFBB9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9" name="Line 284">
                  <a:extLst>
                    <a:ext uri="{FF2B5EF4-FFF2-40B4-BE49-F238E27FC236}">
                      <a16:creationId xmlns:a16="http://schemas.microsoft.com/office/drawing/2014/main" id="{99ED1225-33BB-485C-AEA5-16B349A5F1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643" name="Picture 799" descr="cell_tower_radiation copy">
                <a:extLst>
                  <a:ext uri="{FF2B5EF4-FFF2-40B4-BE49-F238E27FC236}">
                    <a16:creationId xmlns:a16="http://schemas.microsoft.com/office/drawing/2014/main" id="{27994C8E-E79B-46BE-9F57-C4DD139EB2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44" name="Oval 800">
                <a:extLst>
                  <a:ext uri="{FF2B5EF4-FFF2-40B4-BE49-F238E27FC236}">
                    <a16:creationId xmlns:a16="http://schemas.microsoft.com/office/drawing/2014/main" id="{07CD9D69-9D46-46F9-AB85-4BBE7344A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2" name="Text Box 580">
              <a:extLst>
                <a:ext uri="{FF2B5EF4-FFF2-40B4-BE49-F238E27FC236}">
                  <a16:creationId xmlns:a16="http://schemas.microsoft.com/office/drawing/2014/main" id="{EB96AEE8-31F0-4A35-9F20-1786C1AB2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473" name="Text Box 580">
              <a:extLst>
                <a:ext uri="{FF2B5EF4-FFF2-40B4-BE49-F238E27FC236}">
                  <a16:creationId xmlns:a16="http://schemas.microsoft.com/office/drawing/2014/main" id="{A567308C-25F1-4FF9-ABC3-04E15719F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474" name="Text Box 580">
              <a:extLst>
                <a:ext uri="{FF2B5EF4-FFF2-40B4-BE49-F238E27FC236}">
                  <a16:creationId xmlns:a16="http://schemas.microsoft.com/office/drawing/2014/main" id="{D3A2275D-C8D8-4E45-AE0B-BF9C9B5FC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475" name="Text Box 580">
              <a:extLst>
                <a:ext uri="{FF2B5EF4-FFF2-40B4-BE49-F238E27FC236}">
                  <a16:creationId xmlns:a16="http://schemas.microsoft.com/office/drawing/2014/main" id="{29F31B28-58C9-4D03-A3D4-4A457F31F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476" name="Text Box 580">
              <a:extLst>
                <a:ext uri="{FF2B5EF4-FFF2-40B4-BE49-F238E27FC236}">
                  <a16:creationId xmlns:a16="http://schemas.microsoft.com/office/drawing/2014/main" id="{F4FF3FEA-1A36-45A3-90FE-0A74E045D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477" name="Group 950">
              <a:extLst>
                <a:ext uri="{FF2B5EF4-FFF2-40B4-BE49-F238E27FC236}">
                  <a16:creationId xmlns:a16="http://schemas.microsoft.com/office/drawing/2014/main" id="{3D450BE0-DD5F-4438-94BD-9B200A913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610" name="Freeform 951">
                <a:extLst>
                  <a:ext uri="{FF2B5EF4-FFF2-40B4-BE49-F238E27FC236}">
                    <a16:creationId xmlns:a16="http://schemas.microsoft.com/office/drawing/2014/main" id="{D85F50D5-6CC6-4D17-8834-761FA7050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1" name="Rectangle 952">
                <a:extLst>
                  <a:ext uri="{FF2B5EF4-FFF2-40B4-BE49-F238E27FC236}">
                    <a16:creationId xmlns:a16="http://schemas.microsoft.com/office/drawing/2014/main" id="{58F5ED0B-8246-4DFE-AA2B-15CCC74F1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2" name="Freeform 953">
                <a:extLst>
                  <a:ext uri="{FF2B5EF4-FFF2-40B4-BE49-F238E27FC236}">
                    <a16:creationId xmlns:a16="http://schemas.microsoft.com/office/drawing/2014/main" id="{A8F580B9-9FF2-4343-867C-78A27CC60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3" name="Freeform 954">
                <a:extLst>
                  <a:ext uri="{FF2B5EF4-FFF2-40B4-BE49-F238E27FC236}">
                    <a16:creationId xmlns:a16="http://schemas.microsoft.com/office/drawing/2014/main" id="{A5CC4A39-5B97-46CE-8C90-B8963397F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4" name="Rectangle 955">
                <a:extLst>
                  <a:ext uri="{FF2B5EF4-FFF2-40B4-BE49-F238E27FC236}">
                    <a16:creationId xmlns:a16="http://schemas.microsoft.com/office/drawing/2014/main" id="{C3B5DE04-47D7-4AD5-B1BF-0330D551F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15" name="Group 956">
                <a:extLst>
                  <a:ext uri="{FF2B5EF4-FFF2-40B4-BE49-F238E27FC236}">
                    <a16:creationId xmlns:a16="http://schemas.microsoft.com/office/drawing/2014/main" id="{2EAE8892-26C9-4AD4-B951-DCB14B614D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40" name="AutoShape 957">
                  <a:extLst>
                    <a:ext uri="{FF2B5EF4-FFF2-40B4-BE49-F238E27FC236}">
                      <a16:creationId xmlns:a16="http://schemas.microsoft.com/office/drawing/2014/main" id="{99F66160-C13D-4DE0-9510-C3583199B5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1" name="AutoShape 958">
                  <a:extLst>
                    <a:ext uri="{FF2B5EF4-FFF2-40B4-BE49-F238E27FC236}">
                      <a16:creationId xmlns:a16="http://schemas.microsoft.com/office/drawing/2014/main" id="{776B26FB-EA3D-41A5-9755-78962ACE4A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6" name="Rectangle 959">
                <a:extLst>
                  <a:ext uri="{FF2B5EF4-FFF2-40B4-BE49-F238E27FC236}">
                    <a16:creationId xmlns:a16="http://schemas.microsoft.com/office/drawing/2014/main" id="{6C496C93-54E8-4833-A723-1656FEF91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17" name="Group 960">
                <a:extLst>
                  <a:ext uri="{FF2B5EF4-FFF2-40B4-BE49-F238E27FC236}">
                    <a16:creationId xmlns:a16="http://schemas.microsoft.com/office/drawing/2014/main" id="{1D841855-66A7-4FCA-BEF1-512141DACD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8" name="AutoShape 961">
                  <a:extLst>
                    <a:ext uri="{FF2B5EF4-FFF2-40B4-BE49-F238E27FC236}">
                      <a16:creationId xmlns:a16="http://schemas.microsoft.com/office/drawing/2014/main" id="{1BB50883-6E5C-4EEB-B59D-7417EACD34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9" name="AutoShape 962">
                  <a:extLst>
                    <a:ext uri="{FF2B5EF4-FFF2-40B4-BE49-F238E27FC236}">
                      <a16:creationId xmlns:a16="http://schemas.microsoft.com/office/drawing/2014/main" id="{01A6FFC2-801F-4DE1-AF52-CB5D3D53C9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8" name="Rectangle 963">
                <a:extLst>
                  <a:ext uri="{FF2B5EF4-FFF2-40B4-BE49-F238E27FC236}">
                    <a16:creationId xmlns:a16="http://schemas.microsoft.com/office/drawing/2014/main" id="{A7EFC33D-38B1-40B4-A190-AFCE770CE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9" name="Rectangle 964">
                <a:extLst>
                  <a:ext uri="{FF2B5EF4-FFF2-40B4-BE49-F238E27FC236}">
                    <a16:creationId xmlns:a16="http://schemas.microsoft.com/office/drawing/2014/main" id="{3F246428-94BB-4926-BE7D-EF7972517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0" name="Group 965">
                <a:extLst>
                  <a:ext uri="{FF2B5EF4-FFF2-40B4-BE49-F238E27FC236}">
                    <a16:creationId xmlns:a16="http://schemas.microsoft.com/office/drawing/2014/main" id="{92EE89AA-0B4E-4737-878A-20983E8860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36" name="AutoShape 966">
                  <a:extLst>
                    <a:ext uri="{FF2B5EF4-FFF2-40B4-BE49-F238E27FC236}">
                      <a16:creationId xmlns:a16="http://schemas.microsoft.com/office/drawing/2014/main" id="{D76672C7-2586-4854-8864-5EA01DFE85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7" name="AutoShape 967">
                  <a:extLst>
                    <a:ext uri="{FF2B5EF4-FFF2-40B4-BE49-F238E27FC236}">
                      <a16:creationId xmlns:a16="http://schemas.microsoft.com/office/drawing/2014/main" id="{E3EA7473-4971-441A-A0BD-68743D7F5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1" name="Freeform 968">
                <a:extLst>
                  <a:ext uri="{FF2B5EF4-FFF2-40B4-BE49-F238E27FC236}">
                    <a16:creationId xmlns:a16="http://schemas.microsoft.com/office/drawing/2014/main" id="{367DAB52-67A8-4B1C-AA18-F9BD36B5A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2" name="Group 969">
                <a:extLst>
                  <a:ext uri="{FF2B5EF4-FFF2-40B4-BE49-F238E27FC236}">
                    <a16:creationId xmlns:a16="http://schemas.microsoft.com/office/drawing/2014/main" id="{D1AC5F70-EEAF-4191-AEDB-56CA50FDAF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34" name="AutoShape 970">
                  <a:extLst>
                    <a:ext uri="{FF2B5EF4-FFF2-40B4-BE49-F238E27FC236}">
                      <a16:creationId xmlns:a16="http://schemas.microsoft.com/office/drawing/2014/main" id="{D29FA9AD-C062-4861-8F53-78E823DE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5" name="AutoShape 971">
                  <a:extLst>
                    <a:ext uri="{FF2B5EF4-FFF2-40B4-BE49-F238E27FC236}">
                      <a16:creationId xmlns:a16="http://schemas.microsoft.com/office/drawing/2014/main" id="{595D39E5-9959-4FD1-9C6A-3710E5FF26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3" name="Rectangle 972">
                <a:extLst>
                  <a:ext uri="{FF2B5EF4-FFF2-40B4-BE49-F238E27FC236}">
                    <a16:creationId xmlns:a16="http://schemas.microsoft.com/office/drawing/2014/main" id="{A512FB99-B05E-474E-865F-13EFF66C1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4" name="Freeform 973">
                <a:extLst>
                  <a:ext uri="{FF2B5EF4-FFF2-40B4-BE49-F238E27FC236}">
                    <a16:creationId xmlns:a16="http://schemas.microsoft.com/office/drawing/2014/main" id="{E01C35FA-CB09-4E0E-97AF-85B70E7FF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5" name="Freeform 974">
                <a:extLst>
                  <a:ext uri="{FF2B5EF4-FFF2-40B4-BE49-F238E27FC236}">
                    <a16:creationId xmlns:a16="http://schemas.microsoft.com/office/drawing/2014/main" id="{D7AAF33B-916F-4F45-AD38-BF3D5269D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6" name="Oval 975">
                <a:extLst>
                  <a:ext uri="{FF2B5EF4-FFF2-40B4-BE49-F238E27FC236}">
                    <a16:creationId xmlns:a16="http://schemas.microsoft.com/office/drawing/2014/main" id="{3C5C94B4-B27A-4532-AE5D-696194A6B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7" name="Freeform 976">
                <a:extLst>
                  <a:ext uri="{FF2B5EF4-FFF2-40B4-BE49-F238E27FC236}">
                    <a16:creationId xmlns:a16="http://schemas.microsoft.com/office/drawing/2014/main" id="{73D55091-2AD2-4CDA-AD5E-445C90DA1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8" name="AutoShape 977">
                <a:extLst>
                  <a:ext uri="{FF2B5EF4-FFF2-40B4-BE49-F238E27FC236}">
                    <a16:creationId xmlns:a16="http://schemas.microsoft.com/office/drawing/2014/main" id="{806CE4A9-9EA4-41C1-8D6F-D98AA60D7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9" name="AutoShape 978">
                <a:extLst>
                  <a:ext uri="{FF2B5EF4-FFF2-40B4-BE49-F238E27FC236}">
                    <a16:creationId xmlns:a16="http://schemas.microsoft.com/office/drawing/2014/main" id="{9A8C82EA-82F8-4F9C-9D40-A59EBC120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0" name="Oval 979">
                <a:extLst>
                  <a:ext uri="{FF2B5EF4-FFF2-40B4-BE49-F238E27FC236}">
                    <a16:creationId xmlns:a16="http://schemas.microsoft.com/office/drawing/2014/main" id="{7596CA79-C6A4-4BC9-8DD2-73484ABF5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1" name="Oval 980">
                <a:extLst>
                  <a:ext uri="{FF2B5EF4-FFF2-40B4-BE49-F238E27FC236}">
                    <a16:creationId xmlns:a16="http://schemas.microsoft.com/office/drawing/2014/main" id="{C958ABBF-2933-4743-81A7-ABCFA3A44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2" name="Oval 981">
                <a:extLst>
                  <a:ext uri="{FF2B5EF4-FFF2-40B4-BE49-F238E27FC236}">
                    <a16:creationId xmlns:a16="http://schemas.microsoft.com/office/drawing/2014/main" id="{22D3A6ED-104A-422A-AD92-8EC198225C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3" name="Rectangle 982">
                <a:extLst>
                  <a:ext uri="{FF2B5EF4-FFF2-40B4-BE49-F238E27FC236}">
                    <a16:creationId xmlns:a16="http://schemas.microsoft.com/office/drawing/2014/main" id="{A6A8DC4F-8576-4A49-89B4-53EE71A15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8" name="Group 983">
              <a:extLst>
                <a:ext uri="{FF2B5EF4-FFF2-40B4-BE49-F238E27FC236}">
                  <a16:creationId xmlns:a16="http://schemas.microsoft.com/office/drawing/2014/main" id="{08496318-AD0E-4010-B685-758D1EEBDF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578" name="Freeform 984">
                <a:extLst>
                  <a:ext uri="{FF2B5EF4-FFF2-40B4-BE49-F238E27FC236}">
                    <a16:creationId xmlns:a16="http://schemas.microsoft.com/office/drawing/2014/main" id="{2FD63574-58D2-4C19-A1D5-1EA42CA59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9" name="Rectangle 985">
                <a:extLst>
                  <a:ext uri="{FF2B5EF4-FFF2-40B4-BE49-F238E27FC236}">
                    <a16:creationId xmlns:a16="http://schemas.microsoft.com/office/drawing/2014/main" id="{225B2B48-2268-4CFA-BC22-07F67F5EE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0" name="Freeform 986">
                <a:extLst>
                  <a:ext uri="{FF2B5EF4-FFF2-40B4-BE49-F238E27FC236}">
                    <a16:creationId xmlns:a16="http://schemas.microsoft.com/office/drawing/2014/main" id="{95C1F717-60E7-4AF8-BCC8-8C5FD9BD0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1" name="Freeform 987">
                <a:extLst>
                  <a:ext uri="{FF2B5EF4-FFF2-40B4-BE49-F238E27FC236}">
                    <a16:creationId xmlns:a16="http://schemas.microsoft.com/office/drawing/2014/main" id="{85825136-4C8F-44E6-AB65-68B3C37D5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2" name="Rectangle 988">
                <a:extLst>
                  <a:ext uri="{FF2B5EF4-FFF2-40B4-BE49-F238E27FC236}">
                    <a16:creationId xmlns:a16="http://schemas.microsoft.com/office/drawing/2014/main" id="{194E0DE7-EA1D-4BD2-A801-A8F90464F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3" name="Group 989">
                <a:extLst>
                  <a:ext uri="{FF2B5EF4-FFF2-40B4-BE49-F238E27FC236}">
                    <a16:creationId xmlns:a16="http://schemas.microsoft.com/office/drawing/2014/main" id="{0E351525-4883-4D01-A26F-BE2CE5AF7A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08" name="AutoShape 990">
                  <a:extLst>
                    <a:ext uri="{FF2B5EF4-FFF2-40B4-BE49-F238E27FC236}">
                      <a16:creationId xmlns:a16="http://schemas.microsoft.com/office/drawing/2014/main" id="{8E0E6632-EF27-4DE5-8835-E244D79EBF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9" name="AutoShape 991">
                  <a:extLst>
                    <a:ext uri="{FF2B5EF4-FFF2-40B4-BE49-F238E27FC236}">
                      <a16:creationId xmlns:a16="http://schemas.microsoft.com/office/drawing/2014/main" id="{2D3941FE-74AA-4763-852D-3C5D8F36A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4" name="Rectangle 992">
                <a:extLst>
                  <a:ext uri="{FF2B5EF4-FFF2-40B4-BE49-F238E27FC236}">
                    <a16:creationId xmlns:a16="http://schemas.microsoft.com/office/drawing/2014/main" id="{3CA30C51-DCC4-446F-957C-7054A6831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5" name="Group 993">
                <a:extLst>
                  <a:ext uri="{FF2B5EF4-FFF2-40B4-BE49-F238E27FC236}">
                    <a16:creationId xmlns:a16="http://schemas.microsoft.com/office/drawing/2014/main" id="{385C4978-C93F-4B87-8026-EACE68B76E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06" name="AutoShape 994">
                  <a:extLst>
                    <a:ext uri="{FF2B5EF4-FFF2-40B4-BE49-F238E27FC236}">
                      <a16:creationId xmlns:a16="http://schemas.microsoft.com/office/drawing/2014/main" id="{7D370FCF-CA7E-4AEA-BA8F-441192F0D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7" name="AutoShape 995">
                  <a:extLst>
                    <a:ext uri="{FF2B5EF4-FFF2-40B4-BE49-F238E27FC236}">
                      <a16:creationId xmlns:a16="http://schemas.microsoft.com/office/drawing/2014/main" id="{7C9876C6-27AB-4EC2-9EB2-2D100E3F08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6" name="Rectangle 996">
                <a:extLst>
                  <a:ext uri="{FF2B5EF4-FFF2-40B4-BE49-F238E27FC236}">
                    <a16:creationId xmlns:a16="http://schemas.microsoft.com/office/drawing/2014/main" id="{2DB59145-A237-4AE5-A2A2-1FAE6FD29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7" name="Rectangle 997">
                <a:extLst>
                  <a:ext uri="{FF2B5EF4-FFF2-40B4-BE49-F238E27FC236}">
                    <a16:creationId xmlns:a16="http://schemas.microsoft.com/office/drawing/2014/main" id="{1D84515D-A5B6-43D4-BD5D-A76801978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8" name="Group 998">
                <a:extLst>
                  <a:ext uri="{FF2B5EF4-FFF2-40B4-BE49-F238E27FC236}">
                    <a16:creationId xmlns:a16="http://schemas.microsoft.com/office/drawing/2014/main" id="{D2F9E3CD-6495-49FC-9128-7AA90BD78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04" name="AutoShape 999">
                  <a:extLst>
                    <a:ext uri="{FF2B5EF4-FFF2-40B4-BE49-F238E27FC236}">
                      <a16:creationId xmlns:a16="http://schemas.microsoft.com/office/drawing/2014/main" id="{794A11C6-409D-4DDA-812F-860E9813DC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5" name="AutoShape 1000">
                  <a:extLst>
                    <a:ext uri="{FF2B5EF4-FFF2-40B4-BE49-F238E27FC236}">
                      <a16:creationId xmlns:a16="http://schemas.microsoft.com/office/drawing/2014/main" id="{4158B727-B437-4266-8095-109D759E9B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9" name="Freeform 1001">
                <a:extLst>
                  <a:ext uri="{FF2B5EF4-FFF2-40B4-BE49-F238E27FC236}">
                    <a16:creationId xmlns:a16="http://schemas.microsoft.com/office/drawing/2014/main" id="{8B07A234-D083-4D0A-93BB-16FD4F14B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90" name="Group 1002">
                <a:extLst>
                  <a:ext uri="{FF2B5EF4-FFF2-40B4-BE49-F238E27FC236}">
                    <a16:creationId xmlns:a16="http://schemas.microsoft.com/office/drawing/2014/main" id="{6441FDF6-14EC-4470-A86B-12F610FE1C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2" name="AutoShape 1003">
                  <a:extLst>
                    <a:ext uri="{FF2B5EF4-FFF2-40B4-BE49-F238E27FC236}">
                      <a16:creationId xmlns:a16="http://schemas.microsoft.com/office/drawing/2014/main" id="{F14339F2-E6E7-4453-9D91-AA08E7B27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3" name="AutoShape 1004">
                  <a:extLst>
                    <a:ext uri="{FF2B5EF4-FFF2-40B4-BE49-F238E27FC236}">
                      <a16:creationId xmlns:a16="http://schemas.microsoft.com/office/drawing/2014/main" id="{D6E12174-F184-4F3A-B7BD-F1289AABB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91" name="Rectangle 1005">
                <a:extLst>
                  <a:ext uri="{FF2B5EF4-FFF2-40B4-BE49-F238E27FC236}">
                    <a16:creationId xmlns:a16="http://schemas.microsoft.com/office/drawing/2014/main" id="{13965D29-B016-4731-8298-6B9F02A82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2" name="Freeform 1006">
                <a:extLst>
                  <a:ext uri="{FF2B5EF4-FFF2-40B4-BE49-F238E27FC236}">
                    <a16:creationId xmlns:a16="http://schemas.microsoft.com/office/drawing/2014/main" id="{4D1A8560-E44E-404A-8695-EA7FB76E1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3" name="Freeform 1007">
                <a:extLst>
                  <a:ext uri="{FF2B5EF4-FFF2-40B4-BE49-F238E27FC236}">
                    <a16:creationId xmlns:a16="http://schemas.microsoft.com/office/drawing/2014/main" id="{B3683364-D2E9-4DCA-9EC7-EB9584E36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4" name="Oval 1008">
                <a:extLst>
                  <a:ext uri="{FF2B5EF4-FFF2-40B4-BE49-F238E27FC236}">
                    <a16:creationId xmlns:a16="http://schemas.microsoft.com/office/drawing/2014/main" id="{53CC7E12-BBAF-4544-A508-952946130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5" name="Freeform 1009">
                <a:extLst>
                  <a:ext uri="{FF2B5EF4-FFF2-40B4-BE49-F238E27FC236}">
                    <a16:creationId xmlns:a16="http://schemas.microsoft.com/office/drawing/2014/main" id="{18D95CB7-BC1D-43FB-8E9E-17DC5C372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6" name="AutoShape 1010">
                <a:extLst>
                  <a:ext uri="{FF2B5EF4-FFF2-40B4-BE49-F238E27FC236}">
                    <a16:creationId xmlns:a16="http://schemas.microsoft.com/office/drawing/2014/main" id="{304D6C7A-057D-4165-960A-A6C1E8F2A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7" name="AutoShape 1011">
                <a:extLst>
                  <a:ext uri="{FF2B5EF4-FFF2-40B4-BE49-F238E27FC236}">
                    <a16:creationId xmlns:a16="http://schemas.microsoft.com/office/drawing/2014/main" id="{98868DF7-A3B4-48E9-AA35-389A8C71C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8" name="Oval 1012">
                <a:extLst>
                  <a:ext uri="{FF2B5EF4-FFF2-40B4-BE49-F238E27FC236}">
                    <a16:creationId xmlns:a16="http://schemas.microsoft.com/office/drawing/2014/main" id="{E53A4C17-2435-4911-B4A9-C7BAD8C0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9" name="Oval 1013">
                <a:extLst>
                  <a:ext uri="{FF2B5EF4-FFF2-40B4-BE49-F238E27FC236}">
                    <a16:creationId xmlns:a16="http://schemas.microsoft.com/office/drawing/2014/main" id="{87F35B70-7500-45D6-9F57-C022C3398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0" name="Oval 1014">
                <a:extLst>
                  <a:ext uri="{FF2B5EF4-FFF2-40B4-BE49-F238E27FC236}">
                    <a16:creationId xmlns:a16="http://schemas.microsoft.com/office/drawing/2014/main" id="{1FCDB1BB-1764-410A-AC56-DE3BD8924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1" name="Rectangle 1015">
                <a:extLst>
                  <a:ext uri="{FF2B5EF4-FFF2-40B4-BE49-F238E27FC236}">
                    <a16:creationId xmlns:a16="http://schemas.microsoft.com/office/drawing/2014/main" id="{05201EC8-98C5-4BE3-AD0A-E1EBD828E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9" name="Group 1016">
              <a:extLst>
                <a:ext uri="{FF2B5EF4-FFF2-40B4-BE49-F238E27FC236}">
                  <a16:creationId xmlns:a16="http://schemas.microsoft.com/office/drawing/2014/main" id="{DD30E277-7D2C-4DA9-B02A-2FDC43056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555" name="Picture 1017" descr="antenna_stylized">
                <a:extLst>
                  <a:ext uri="{FF2B5EF4-FFF2-40B4-BE49-F238E27FC236}">
                    <a16:creationId xmlns:a16="http://schemas.microsoft.com/office/drawing/2014/main" id="{7721339A-1161-4E2B-B6A3-FC72E5D06F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6" name="Picture 1018" descr="laptop_keyboard">
                <a:extLst>
                  <a:ext uri="{FF2B5EF4-FFF2-40B4-BE49-F238E27FC236}">
                    <a16:creationId xmlns:a16="http://schemas.microsoft.com/office/drawing/2014/main" id="{3B3C94E6-7859-45DF-8E92-4D7D9BC880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7" name="Freeform 1019">
                <a:extLst>
                  <a:ext uri="{FF2B5EF4-FFF2-40B4-BE49-F238E27FC236}">
                    <a16:creationId xmlns:a16="http://schemas.microsoft.com/office/drawing/2014/main" id="{8A11FBAC-CDC2-469E-A141-8104A840E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58" name="Picture 1020" descr="screen">
                <a:extLst>
                  <a:ext uri="{FF2B5EF4-FFF2-40B4-BE49-F238E27FC236}">
                    <a16:creationId xmlns:a16="http://schemas.microsoft.com/office/drawing/2014/main" id="{1468763A-A8EC-42F5-BCFD-7FF86D7C70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9" name="Freeform 1021">
                <a:extLst>
                  <a:ext uri="{FF2B5EF4-FFF2-40B4-BE49-F238E27FC236}">
                    <a16:creationId xmlns:a16="http://schemas.microsoft.com/office/drawing/2014/main" id="{480263A3-B089-464E-946E-873F2C662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0" name="Freeform 1022">
                <a:extLst>
                  <a:ext uri="{FF2B5EF4-FFF2-40B4-BE49-F238E27FC236}">
                    <a16:creationId xmlns:a16="http://schemas.microsoft.com/office/drawing/2014/main" id="{4B4CA46D-F3C8-4F64-BBED-6933D58F8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1" name="Freeform 1023">
                <a:extLst>
                  <a:ext uri="{FF2B5EF4-FFF2-40B4-BE49-F238E27FC236}">
                    <a16:creationId xmlns:a16="http://schemas.microsoft.com/office/drawing/2014/main" id="{4646C7AA-5735-4C62-8C98-8264D3F94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2" name="Freeform 1024">
                <a:extLst>
                  <a:ext uri="{FF2B5EF4-FFF2-40B4-BE49-F238E27FC236}">
                    <a16:creationId xmlns:a16="http://schemas.microsoft.com/office/drawing/2014/main" id="{399193E5-5818-4BF8-B74A-8CFFA8CB44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3" name="Freeform 1025">
                <a:extLst>
                  <a:ext uri="{FF2B5EF4-FFF2-40B4-BE49-F238E27FC236}">
                    <a16:creationId xmlns:a16="http://schemas.microsoft.com/office/drawing/2014/main" id="{9F32E781-47E3-4444-A731-CB390DD03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4" name="Freeform 1026">
                <a:extLst>
                  <a:ext uri="{FF2B5EF4-FFF2-40B4-BE49-F238E27FC236}">
                    <a16:creationId xmlns:a16="http://schemas.microsoft.com/office/drawing/2014/main" id="{98C0A267-5B4F-491C-A92C-D33DBF121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65" name="Group 1027">
                <a:extLst>
                  <a:ext uri="{FF2B5EF4-FFF2-40B4-BE49-F238E27FC236}">
                    <a16:creationId xmlns:a16="http://schemas.microsoft.com/office/drawing/2014/main" id="{5BA7E2DC-B8FD-4FD6-9014-1C152EE1DB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72" name="Freeform 1028">
                  <a:extLst>
                    <a:ext uri="{FF2B5EF4-FFF2-40B4-BE49-F238E27FC236}">
                      <a16:creationId xmlns:a16="http://schemas.microsoft.com/office/drawing/2014/main" id="{40BED216-3A5A-4D53-A35A-7202F5F724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3" name="Freeform 1029">
                  <a:extLst>
                    <a:ext uri="{FF2B5EF4-FFF2-40B4-BE49-F238E27FC236}">
                      <a16:creationId xmlns:a16="http://schemas.microsoft.com/office/drawing/2014/main" id="{D494B7EF-AFB6-4C78-A674-10FE0AFB17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4" name="Freeform 1030">
                  <a:extLst>
                    <a:ext uri="{FF2B5EF4-FFF2-40B4-BE49-F238E27FC236}">
                      <a16:creationId xmlns:a16="http://schemas.microsoft.com/office/drawing/2014/main" id="{ADF07C13-E180-4F4F-B797-84E018ADD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5" name="Freeform 1031">
                  <a:extLst>
                    <a:ext uri="{FF2B5EF4-FFF2-40B4-BE49-F238E27FC236}">
                      <a16:creationId xmlns:a16="http://schemas.microsoft.com/office/drawing/2014/main" id="{0B93A25B-2B9E-411B-859D-2C884526D5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6" name="Freeform 1032">
                  <a:extLst>
                    <a:ext uri="{FF2B5EF4-FFF2-40B4-BE49-F238E27FC236}">
                      <a16:creationId xmlns:a16="http://schemas.microsoft.com/office/drawing/2014/main" id="{8F8C39D0-691F-4902-8AC5-75BB83DDA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7" name="Freeform 1033">
                  <a:extLst>
                    <a:ext uri="{FF2B5EF4-FFF2-40B4-BE49-F238E27FC236}">
                      <a16:creationId xmlns:a16="http://schemas.microsoft.com/office/drawing/2014/main" id="{C2058B28-FE5A-4FDF-B318-480BD87F05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66" name="Freeform 1034">
                <a:extLst>
                  <a:ext uri="{FF2B5EF4-FFF2-40B4-BE49-F238E27FC236}">
                    <a16:creationId xmlns:a16="http://schemas.microsoft.com/office/drawing/2014/main" id="{9EFCB58B-2F7E-43BD-AD7B-4DD4CB8C4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7" name="Freeform 1035">
                <a:extLst>
                  <a:ext uri="{FF2B5EF4-FFF2-40B4-BE49-F238E27FC236}">
                    <a16:creationId xmlns:a16="http://schemas.microsoft.com/office/drawing/2014/main" id="{AD47356C-1398-4EA5-996E-6392F81A3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8" name="Freeform 1036">
                <a:extLst>
                  <a:ext uri="{FF2B5EF4-FFF2-40B4-BE49-F238E27FC236}">
                    <a16:creationId xmlns:a16="http://schemas.microsoft.com/office/drawing/2014/main" id="{D911F9F9-71FA-4CC4-B07C-714D42F41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9" name="Freeform 1037">
                <a:extLst>
                  <a:ext uri="{FF2B5EF4-FFF2-40B4-BE49-F238E27FC236}">
                    <a16:creationId xmlns:a16="http://schemas.microsoft.com/office/drawing/2014/main" id="{5ED7E5BA-C53E-4FEF-9DAE-B227AA93E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0" name="Freeform 1038">
                <a:extLst>
                  <a:ext uri="{FF2B5EF4-FFF2-40B4-BE49-F238E27FC236}">
                    <a16:creationId xmlns:a16="http://schemas.microsoft.com/office/drawing/2014/main" id="{D84F0844-24F6-4012-A077-9A846F1FA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1" name="Freeform 1039">
                <a:extLst>
                  <a:ext uri="{FF2B5EF4-FFF2-40B4-BE49-F238E27FC236}">
                    <a16:creationId xmlns:a16="http://schemas.microsoft.com/office/drawing/2014/main" id="{3F6619E1-E876-448F-8809-6214143F3FB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0" name="Group 1064">
              <a:extLst>
                <a:ext uri="{FF2B5EF4-FFF2-40B4-BE49-F238E27FC236}">
                  <a16:creationId xmlns:a16="http://schemas.microsoft.com/office/drawing/2014/main" id="{5FC2C926-E104-44B4-AD1B-84D137B66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532" name="Picture 1065" descr="antenna_stylized">
                <a:extLst>
                  <a:ext uri="{FF2B5EF4-FFF2-40B4-BE49-F238E27FC236}">
                    <a16:creationId xmlns:a16="http://schemas.microsoft.com/office/drawing/2014/main" id="{EFD37CB5-7980-41C5-9536-5B212AC30E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3" name="Picture 1066" descr="laptop_keyboard">
                <a:extLst>
                  <a:ext uri="{FF2B5EF4-FFF2-40B4-BE49-F238E27FC236}">
                    <a16:creationId xmlns:a16="http://schemas.microsoft.com/office/drawing/2014/main" id="{EAEBEE73-AB0E-4FC3-9924-85AD60822E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4" name="Freeform 1067">
                <a:extLst>
                  <a:ext uri="{FF2B5EF4-FFF2-40B4-BE49-F238E27FC236}">
                    <a16:creationId xmlns:a16="http://schemas.microsoft.com/office/drawing/2014/main" id="{A268FC16-5E5E-4839-BD62-F302BEF18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35" name="Picture 1068" descr="screen">
                <a:extLst>
                  <a:ext uri="{FF2B5EF4-FFF2-40B4-BE49-F238E27FC236}">
                    <a16:creationId xmlns:a16="http://schemas.microsoft.com/office/drawing/2014/main" id="{C310E764-6FA3-4F5F-8BDA-72AA346F69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6" name="Freeform 1069">
                <a:extLst>
                  <a:ext uri="{FF2B5EF4-FFF2-40B4-BE49-F238E27FC236}">
                    <a16:creationId xmlns:a16="http://schemas.microsoft.com/office/drawing/2014/main" id="{F7EBFC48-D578-427D-A163-3F8C4BA72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7" name="Freeform 1070">
                <a:extLst>
                  <a:ext uri="{FF2B5EF4-FFF2-40B4-BE49-F238E27FC236}">
                    <a16:creationId xmlns:a16="http://schemas.microsoft.com/office/drawing/2014/main" id="{0FF78F55-AB4D-4A19-A472-01CF178AF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8" name="Freeform 1071">
                <a:extLst>
                  <a:ext uri="{FF2B5EF4-FFF2-40B4-BE49-F238E27FC236}">
                    <a16:creationId xmlns:a16="http://schemas.microsoft.com/office/drawing/2014/main" id="{F4845B95-5061-4E01-8589-54E501C21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9" name="Freeform 1072">
                <a:extLst>
                  <a:ext uri="{FF2B5EF4-FFF2-40B4-BE49-F238E27FC236}">
                    <a16:creationId xmlns:a16="http://schemas.microsoft.com/office/drawing/2014/main" id="{43FC29F2-1762-400C-B3FB-D0C97FABE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0" name="Freeform 1073">
                <a:extLst>
                  <a:ext uri="{FF2B5EF4-FFF2-40B4-BE49-F238E27FC236}">
                    <a16:creationId xmlns:a16="http://schemas.microsoft.com/office/drawing/2014/main" id="{A00F2E8C-CC02-4336-9C95-41DBED9FF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1" name="Freeform 1074">
                <a:extLst>
                  <a:ext uri="{FF2B5EF4-FFF2-40B4-BE49-F238E27FC236}">
                    <a16:creationId xmlns:a16="http://schemas.microsoft.com/office/drawing/2014/main" id="{5DECBE3B-FE1A-4B24-943B-1FEF2D96B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42" name="Group 1075">
                <a:extLst>
                  <a:ext uri="{FF2B5EF4-FFF2-40B4-BE49-F238E27FC236}">
                    <a16:creationId xmlns:a16="http://schemas.microsoft.com/office/drawing/2014/main" id="{AFF805F4-E715-4CB4-83B4-50A27DF38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49" name="Freeform 1076">
                  <a:extLst>
                    <a:ext uri="{FF2B5EF4-FFF2-40B4-BE49-F238E27FC236}">
                      <a16:creationId xmlns:a16="http://schemas.microsoft.com/office/drawing/2014/main" id="{8390E17F-873A-4AB6-85B9-8570977E0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0" name="Freeform 1077">
                  <a:extLst>
                    <a:ext uri="{FF2B5EF4-FFF2-40B4-BE49-F238E27FC236}">
                      <a16:creationId xmlns:a16="http://schemas.microsoft.com/office/drawing/2014/main" id="{B33A328F-2538-4A7D-B7E8-B595006771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1" name="Freeform 1078">
                  <a:extLst>
                    <a:ext uri="{FF2B5EF4-FFF2-40B4-BE49-F238E27FC236}">
                      <a16:creationId xmlns:a16="http://schemas.microsoft.com/office/drawing/2014/main" id="{831C3D6A-B092-4992-9A4D-5A1CCD73B6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2" name="Freeform 1079">
                  <a:extLst>
                    <a:ext uri="{FF2B5EF4-FFF2-40B4-BE49-F238E27FC236}">
                      <a16:creationId xmlns:a16="http://schemas.microsoft.com/office/drawing/2014/main" id="{1E1E9D31-97E0-40B9-8C01-9AA6BCA75F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3" name="Freeform 1080">
                  <a:extLst>
                    <a:ext uri="{FF2B5EF4-FFF2-40B4-BE49-F238E27FC236}">
                      <a16:creationId xmlns:a16="http://schemas.microsoft.com/office/drawing/2014/main" id="{FCC8D626-2F40-48D0-9777-6DB8A744D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4" name="Freeform 1081">
                  <a:extLst>
                    <a:ext uri="{FF2B5EF4-FFF2-40B4-BE49-F238E27FC236}">
                      <a16:creationId xmlns:a16="http://schemas.microsoft.com/office/drawing/2014/main" id="{DACE1B51-B866-4215-9DC7-36C2596924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3" name="Freeform 1082">
                <a:extLst>
                  <a:ext uri="{FF2B5EF4-FFF2-40B4-BE49-F238E27FC236}">
                    <a16:creationId xmlns:a16="http://schemas.microsoft.com/office/drawing/2014/main" id="{D06BC389-62EC-4E67-9721-8EAB0D5C4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4" name="Freeform 1083">
                <a:extLst>
                  <a:ext uri="{FF2B5EF4-FFF2-40B4-BE49-F238E27FC236}">
                    <a16:creationId xmlns:a16="http://schemas.microsoft.com/office/drawing/2014/main" id="{A230518D-F7CB-4E28-AA97-ABEC93C57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5" name="Freeform 1084">
                <a:extLst>
                  <a:ext uri="{FF2B5EF4-FFF2-40B4-BE49-F238E27FC236}">
                    <a16:creationId xmlns:a16="http://schemas.microsoft.com/office/drawing/2014/main" id="{F8B26096-FA25-45ED-9458-BB9C79E2A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6" name="Freeform 1085">
                <a:extLst>
                  <a:ext uri="{FF2B5EF4-FFF2-40B4-BE49-F238E27FC236}">
                    <a16:creationId xmlns:a16="http://schemas.microsoft.com/office/drawing/2014/main" id="{06A2749C-66EA-4621-875D-27AB28398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7" name="Freeform 1086">
                <a:extLst>
                  <a:ext uri="{FF2B5EF4-FFF2-40B4-BE49-F238E27FC236}">
                    <a16:creationId xmlns:a16="http://schemas.microsoft.com/office/drawing/2014/main" id="{F943FDF0-5BA0-48AA-AD90-C845997A6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8" name="Freeform 1087">
                <a:extLst>
                  <a:ext uri="{FF2B5EF4-FFF2-40B4-BE49-F238E27FC236}">
                    <a16:creationId xmlns:a16="http://schemas.microsoft.com/office/drawing/2014/main" id="{9DE95591-5D63-43FE-8DCD-60683AF9966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1" name="Group 1114">
              <a:extLst>
                <a:ext uri="{FF2B5EF4-FFF2-40B4-BE49-F238E27FC236}">
                  <a16:creationId xmlns:a16="http://schemas.microsoft.com/office/drawing/2014/main" id="{B524C1D0-796E-4E5B-94EA-919AA939FC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509" name="Picture 1115" descr="antenna_stylized">
                <a:extLst>
                  <a:ext uri="{FF2B5EF4-FFF2-40B4-BE49-F238E27FC236}">
                    <a16:creationId xmlns:a16="http://schemas.microsoft.com/office/drawing/2014/main" id="{CED10D6B-EABA-45E5-AC36-9BB282A8BC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0" name="Picture 1116" descr="laptop_keyboard">
                <a:extLst>
                  <a:ext uri="{FF2B5EF4-FFF2-40B4-BE49-F238E27FC236}">
                    <a16:creationId xmlns:a16="http://schemas.microsoft.com/office/drawing/2014/main" id="{D46B0B02-7D4A-4A95-A272-4338C821E7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1" name="Freeform 1117">
                <a:extLst>
                  <a:ext uri="{FF2B5EF4-FFF2-40B4-BE49-F238E27FC236}">
                    <a16:creationId xmlns:a16="http://schemas.microsoft.com/office/drawing/2014/main" id="{D214A3C4-BE48-46F0-BE61-CA6A31DDB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12" name="Picture 1118" descr="screen">
                <a:extLst>
                  <a:ext uri="{FF2B5EF4-FFF2-40B4-BE49-F238E27FC236}">
                    <a16:creationId xmlns:a16="http://schemas.microsoft.com/office/drawing/2014/main" id="{DF265940-5D6C-4685-9D92-613A835B05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3" name="Freeform 1119">
                <a:extLst>
                  <a:ext uri="{FF2B5EF4-FFF2-40B4-BE49-F238E27FC236}">
                    <a16:creationId xmlns:a16="http://schemas.microsoft.com/office/drawing/2014/main" id="{C4F420A8-57AE-4D4E-B164-FBE942A36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4" name="Freeform 1120">
                <a:extLst>
                  <a:ext uri="{FF2B5EF4-FFF2-40B4-BE49-F238E27FC236}">
                    <a16:creationId xmlns:a16="http://schemas.microsoft.com/office/drawing/2014/main" id="{E8B6F64A-67F7-47B3-876C-C665E1727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5" name="Freeform 1121">
                <a:extLst>
                  <a:ext uri="{FF2B5EF4-FFF2-40B4-BE49-F238E27FC236}">
                    <a16:creationId xmlns:a16="http://schemas.microsoft.com/office/drawing/2014/main" id="{5641EC7C-E3E6-41D1-8F3B-C1E0CD800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6" name="Freeform 1122">
                <a:extLst>
                  <a:ext uri="{FF2B5EF4-FFF2-40B4-BE49-F238E27FC236}">
                    <a16:creationId xmlns:a16="http://schemas.microsoft.com/office/drawing/2014/main" id="{94C8BDCB-3CE7-455C-8EBF-DCE9BE9559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7" name="Freeform 1123">
                <a:extLst>
                  <a:ext uri="{FF2B5EF4-FFF2-40B4-BE49-F238E27FC236}">
                    <a16:creationId xmlns:a16="http://schemas.microsoft.com/office/drawing/2014/main" id="{529D4EE3-7D92-48BC-9236-EAF8CE683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8" name="Freeform 1124">
                <a:extLst>
                  <a:ext uri="{FF2B5EF4-FFF2-40B4-BE49-F238E27FC236}">
                    <a16:creationId xmlns:a16="http://schemas.microsoft.com/office/drawing/2014/main" id="{22EB21C2-B804-41F0-BA05-65B46E2F6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19" name="Group 1125">
                <a:extLst>
                  <a:ext uri="{FF2B5EF4-FFF2-40B4-BE49-F238E27FC236}">
                    <a16:creationId xmlns:a16="http://schemas.microsoft.com/office/drawing/2014/main" id="{F5EFD7F7-A61F-42E1-9176-CB4D9EBF08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26" name="Freeform 1126">
                  <a:extLst>
                    <a:ext uri="{FF2B5EF4-FFF2-40B4-BE49-F238E27FC236}">
                      <a16:creationId xmlns:a16="http://schemas.microsoft.com/office/drawing/2014/main" id="{574B1119-767B-4082-8A55-A57F026B86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7" name="Freeform 1127">
                  <a:extLst>
                    <a:ext uri="{FF2B5EF4-FFF2-40B4-BE49-F238E27FC236}">
                      <a16:creationId xmlns:a16="http://schemas.microsoft.com/office/drawing/2014/main" id="{6D9DE419-046D-41BD-A47B-D132BF50C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8" name="Freeform 1128">
                  <a:extLst>
                    <a:ext uri="{FF2B5EF4-FFF2-40B4-BE49-F238E27FC236}">
                      <a16:creationId xmlns:a16="http://schemas.microsoft.com/office/drawing/2014/main" id="{1F64B637-B128-4256-B58B-5F420E33A6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9" name="Freeform 1129">
                  <a:extLst>
                    <a:ext uri="{FF2B5EF4-FFF2-40B4-BE49-F238E27FC236}">
                      <a16:creationId xmlns:a16="http://schemas.microsoft.com/office/drawing/2014/main" id="{F464F97E-8E8A-4C65-BEC8-EC320ACCE3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0" name="Freeform 1130">
                  <a:extLst>
                    <a:ext uri="{FF2B5EF4-FFF2-40B4-BE49-F238E27FC236}">
                      <a16:creationId xmlns:a16="http://schemas.microsoft.com/office/drawing/2014/main" id="{F3C51635-EAA6-4030-9AC7-2A6BAB6DB2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1" name="Freeform 1131">
                  <a:extLst>
                    <a:ext uri="{FF2B5EF4-FFF2-40B4-BE49-F238E27FC236}">
                      <a16:creationId xmlns:a16="http://schemas.microsoft.com/office/drawing/2014/main" id="{8997487C-9D34-4946-BC1E-420F152DF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20" name="Freeform 1132">
                <a:extLst>
                  <a:ext uri="{FF2B5EF4-FFF2-40B4-BE49-F238E27FC236}">
                    <a16:creationId xmlns:a16="http://schemas.microsoft.com/office/drawing/2014/main" id="{EA272604-9BEC-4937-BBB8-80AD844F8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1" name="Freeform 1133">
                <a:extLst>
                  <a:ext uri="{FF2B5EF4-FFF2-40B4-BE49-F238E27FC236}">
                    <a16:creationId xmlns:a16="http://schemas.microsoft.com/office/drawing/2014/main" id="{8DE273C0-863F-4DAD-AFD3-8A6DD85EA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2" name="Freeform 1134">
                <a:extLst>
                  <a:ext uri="{FF2B5EF4-FFF2-40B4-BE49-F238E27FC236}">
                    <a16:creationId xmlns:a16="http://schemas.microsoft.com/office/drawing/2014/main" id="{66CB57E0-C21E-4CF6-91B6-3A0AD03E7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3" name="Freeform 1135">
                <a:extLst>
                  <a:ext uri="{FF2B5EF4-FFF2-40B4-BE49-F238E27FC236}">
                    <a16:creationId xmlns:a16="http://schemas.microsoft.com/office/drawing/2014/main" id="{961D7786-1968-4615-8AB2-0DB637C015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4" name="Freeform 1136">
                <a:extLst>
                  <a:ext uri="{FF2B5EF4-FFF2-40B4-BE49-F238E27FC236}">
                    <a16:creationId xmlns:a16="http://schemas.microsoft.com/office/drawing/2014/main" id="{922F96F0-C6A4-47C4-90E1-4270CA745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5" name="Freeform 1137">
                <a:extLst>
                  <a:ext uri="{FF2B5EF4-FFF2-40B4-BE49-F238E27FC236}">
                    <a16:creationId xmlns:a16="http://schemas.microsoft.com/office/drawing/2014/main" id="{9F6C09EC-9987-44D4-8053-B1B514CB63D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2" name="Group 1139">
              <a:extLst>
                <a:ext uri="{FF2B5EF4-FFF2-40B4-BE49-F238E27FC236}">
                  <a16:creationId xmlns:a16="http://schemas.microsoft.com/office/drawing/2014/main" id="{561365CC-3E79-4473-A986-26139F83038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507" name="Picture 1140" descr="desktop_computer_stylized_medium">
                <a:extLst>
                  <a:ext uri="{FF2B5EF4-FFF2-40B4-BE49-F238E27FC236}">
                    <a16:creationId xmlns:a16="http://schemas.microsoft.com/office/drawing/2014/main" id="{7BDF5ECF-8669-4C4A-B658-200F56278A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8" name="Freeform 1141">
                <a:extLst>
                  <a:ext uri="{FF2B5EF4-FFF2-40B4-BE49-F238E27FC236}">
                    <a16:creationId xmlns:a16="http://schemas.microsoft.com/office/drawing/2014/main" id="{4578C49D-84E1-47B9-8725-685909FB8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3" name="Group 1142">
              <a:extLst>
                <a:ext uri="{FF2B5EF4-FFF2-40B4-BE49-F238E27FC236}">
                  <a16:creationId xmlns:a16="http://schemas.microsoft.com/office/drawing/2014/main" id="{57E001FB-ADD5-4DAC-A2A3-3CDA98CEE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484" name="Picture 1143" descr="antenna_stylized">
                <a:extLst>
                  <a:ext uri="{FF2B5EF4-FFF2-40B4-BE49-F238E27FC236}">
                    <a16:creationId xmlns:a16="http://schemas.microsoft.com/office/drawing/2014/main" id="{87E136A9-12E7-4D72-A049-C68754A36D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85" name="Picture 1144" descr="laptop_keyboard">
                <a:extLst>
                  <a:ext uri="{FF2B5EF4-FFF2-40B4-BE49-F238E27FC236}">
                    <a16:creationId xmlns:a16="http://schemas.microsoft.com/office/drawing/2014/main" id="{C737059C-BB3B-4321-B8B6-B515D0184D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6" name="Freeform 1145">
                <a:extLst>
                  <a:ext uri="{FF2B5EF4-FFF2-40B4-BE49-F238E27FC236}">
                    <a16:creationId xmlns:a16="http://schemas.microsoft.com/office/drawing/2014/main" id="{E2611967-0381-4389-8C14-C8C7F94AA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87" name="Picture 1146" descr="screen">
                <a:extLst>
                  <a:ext uri="{FF2B5EF4-FFF2-40B4-BE49-F238E27FC236}">
                    <a16:creationId xmlns:a16="http://schemas.microsoft.com/office/drawing/2014/main" id="{E457EBE5-AE4D-468C-8251-29BFF0EE82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8" name="Freeform 1147">
                <a:extLst>
                  <a:ext uri="{FF2B5EF4-FFF2-40B4-BE49-F238E27FC236}">
                    <a16:creationId xmlns:a16="http://schemas.microsoft.com/office/drawing/2014/main" id="{98F232F5-B650-48C5-BA4F-67BA47594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9" name="Freeform 1148">
                <a:extLst>
                  <a:ext uri="{FF2B5EF4-FFF2-40B4-BE49-F238E27FC236}">
                    <a16:creationId xmlns:a16="http://schemas.microsoft.com/office/drawing/2014/main" id="{91611188-698C-4428-B0BE-9EB56F14D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0" name="Freeform 1149">
                <a:extLst>
                  <a:ext uri="{FF2B5EF4-FFF2-40B4-BE49-F238E27FC236}">
                    <a16:creationId xmlns:a16="http://schemas.microsoft.com/office/drawing/2014/main" id="{A71E92F7-C5DE-469E-8D6E-130860EDE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1" name="Freeform 1150">
                <a:extLst>
                  <a:ext uri="{FF2B5EF4-FFF2-40B4-BE49-F238E27FC236}">
                    <a16:creationId xmlns:a16="http://schemas.microsoft.com/office/drawing/2014/main" id="{5AF43648-0754-4CAE-9E4D-7C1115621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2" name="Freeform 1151">
                <a:extLst>
                  <a:ext uri="{FF2B5EF4-FFF2-40B4-BE49-F238E27FC236}">
                    <a16:creationId xmlns:a16="http://schemas.microsoft.com/office/drawing/2014/main" id="{5423D77C-49E8-4EEB-BB6F-D5D6C970B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3" name="Freeform 1152">
                <a:extLst>
                  <a:ext uri="{FF2B5EF4-FFF2-40B4-BE49-F238E27FC236}">
                    <a16:creationId xmlns:a16="http://schemas.microsoft.com/office/drawing/2014/main" id="{E82CA04E-83D2-4AA4-90E1-C75ECF20B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94" name="Group 1153">
                <a:extLst>
                  <a:ext uri="{FF2B5EF4-FFF2-40B4-BE49-F238E27FC236}">
                    <a16:creationId xmlns:a16="http://schemas.microsoft.com/office/drawing/2014/main" id="{DAE0A35B-7E51-4BC0-A6AE-FF5D66D64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01" name="Freeform 1154">
                  <a:extLst>
                    <a:ext uri="{FF2B5EF4-FFF2-40B4-BE49-F238E27FC236}">
                      <a16:creationId xmlns:a16="http://schemas.microsoft.com/office/drawing/2014/main" id="{6CA70213-E520-45E0-BB93-807B6138D1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2" name="Freeform 1155">
                  <a:extLst>
                    <a:ext uri="{FF2B5EF4-FFF2-40B4-BE49-F238E27FC236}">
                      <a16:creationId xmlns:a16="http://schemas.microsoft.com/office/drawing/2014/main" id="{76358F6B-E514-4C86-9402-861D31305A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3" name="Freeform 1156">
                  <a:extLst>
                    <a:ext uri="{FF2B5EF4-FFF2-40B4-BE49-F238E27FC236}">
                      <a16:creationId xmlns:a16="http://schemas.microsoft.com/office/drawing/2014/main" id="{98D4AA2E-AE0C-49EC-8F69-FFF895CE98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4" name="Freeform 1157">
                  <a:extLst>
                    <a:ext uri="{FF2B5EF4-FFF2-40B4-BE49-F238E27FC236}">
                      <a16:creationId xmlns:a16="http://schemas.microsoft.com/office/drawing/2014/main" id="{026B0EE8-F126-46F2-8A5E-93673D035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5" name="Freeform 1158">
                  <a:extLst>
                    <a:ext uri="{FF2B5EF4-FFF2-40B4-BE49-F238E27FC236}">
                      <a16:creationId xmlns:a16="http://schemas.microsoft.com/office/drawing/2014/main" id="{D0951E72-4ACF-49DD-8B54-8C731BBB6D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6" name="Freeform 1159">
                  <a:extLst>
                    <a:ext uri="{FF2B5EF4-FFF2-40B4-BE49-F238E27FC236}">
                      <a16:creationId xmlns:a16="http://schemas.microsoft.com/office/drawing/2014/main" id="{934A4A25-2F88-408A-B8B9-8ACA923A84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95" name="Freeform 1160">
                <a:extLst>
                  <a:ext uri="{FF2B5EF4-FFF2-40B4-BE49-F238E27FC236}">
                    <a16:creationId xmlns:a16="http://schemas.microsoft.com/office/drawing/2014/main" id="{03112FF9-C3FC-491F-9037-747019338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6" name="Freeform 1161">
                <a:extLst>
                  <a:ext uri="{FF2B5EF4-FFF2-40B4-BE49-F238E27FC236}">
                    <a16:creationId xmlns:a16="http://schemas.microsoft.com/office/drawing/2014/main" id="{B61EA04F-C0A9-492A-9FCD-8F2AC9AAB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7" name="Freeform 1162">
                <a:extLst>
                  <a:ext uri="{FF2B5EF4-FFF2-40B4-BE49-F238E27FC236}">
                    <a16:creationId xmlns:a16="http://schemas.microsoft.com/office/drawing/2014/main" id="{873897B7-6122-449D-843C-0D7E82FCC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8" name="Freeform 1163">
                <a:extLst>
                  <a:ext uri="{FF2B5EF4-FFF2-40B4-BE49-F238E27FC236}">
                    <a16:creationId xmlns:a16="http://schemas.microsoft.com/office/drawing/2014/main" id="{D7BBE755-916E-4E39-BD9E-743BF6616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9" name="Freeform 1164">
                <a:extLst>
                  <a:ext uri="{FF2B5EF4-FFF2-40B4-BE49-F238E27FC236}">
                    <a16:creationId xmlns:a16="http://schemas.microsoft.com/office/drawing/2014/main" id="{4B78703E-3EBC-40B3-9FA9-B8CCD208A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0" name="Freeform 1165">
                <a:extLst>
                  <a:ext uri="{FF2B5EF4-FFF2-40B4-BE49-F238E27FC236}">
                    <a16:creationId xmlns:a16="http://schemas.microsoft.com/office/drawing/2014/main" id="{F0BC2468-96DD-47FC-8BF7-1E42ABC9D36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247190" cy="3954936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45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运输层服务和协议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提供应用进程之间的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逻辑通信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运输层协议工作在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将报文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封装成报文段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提交给网络层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解析成报文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提交给应用层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提供了两种协议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(alternative)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/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</p:txBody>
      </p:sp>
      <p:grpSp>
        <p:nvGrpSpPr>
          <p:cNvPr id="391" name="Group 669"/>
          <p:cNvGrpSpPr>
            <a:grpSpLocks/>
          </p:cNvGrpSpPr>
          <p:nvPr/>
        </p:nvGrpSpPr>
        <p:grpSpPr bwMode="auto">
          <a:xfrm>
            <a:off x="7909212" y="3208411"/>
            <a:ext cx="1028699" cy="784622"/>
            <a:chOff x="-153" y="1680"/>
            <a:chExt cx="666" cy="659"/>
          </a:xfrm>
        </p:grpSpPr>
        <p:grpSp>
          <p:nvGrpSpPr>
            <p:cNvPr id="392" name="Group 670"/>
            <p:cNvGrpSpPr>
              <a:grpSpLocks/>
            </p:cNvGrpSpPr>
            <p:nvPr/>
          </p:nvGrpSpPr>
          <p:grpSpPr bwMode="auto">
            <a:xfrm>
              <a:off x="0" y="1680"/>
              <a:ext cx="513" cy="659"/>
              <a:chOff x="4180" y="744"/>
              <a:chExt cx="513" cy="659"/>
            </a:xfrm>
          </p:grpSpPr>
          <p:sp>
            <p:nvSpPr>
              <p:cNvPr id="394" name="Rectangle 671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95" name="Rectangle 672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96" name="Rectangle 673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97" name="Text Box 674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6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750"/>
                  <a:t>application</a:t>
                </a:r>
              </a:p>
              <a:p>
                <a:r>
                  <a:rPr lang="en-US" altLang="zh-CN" sz="750">
                    <a:solidFill>
                      <a:schemeClr val="bg1"/>
                    </a:solidFill>
                  </a:rPr>
                  <a:t>transport</a:t>
                </a:r>
                <a:endParaRPr lang="en-US" altLang="zh-CN" sz="750"/>
              </a:p>
              <a:p>
                <a:r>
                  <a:rPr lang="en-US" altLang="zh-CN" sz="750"/>
                  <a:t>network</a:t>
                </a:r>
              </a:p>
              <a:p>
                <a:r>
                  <a:rPr lang="en-US" altLang="zh-CN" sz="750"/>
                  <a:t>data link</a:t>
                </a:r>
              </a:p>
              <a:p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  <p:sp>
            <p:nvSpPr>
              <p:cNvPr id="398" name="Line 675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99" name="Line 676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0" name="Line 677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3" name="Freeform 678"/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06" name="Group 865"/>
          <p:cNvGrpSpPr>
            <a:grpSpLocks/>
          </p:cNvGrpSpPr>
          <p:nvPr/>
        </p:nvGrpSpPr>
        <p:grpSpPr bwMode="auto">
          <a:xfrm>
            <a:off x="5613169" y="1007610"/>
            <a:ext cx="1052511" cy="784622"/>
            <a:chOff x="-153" y="1680"/>
            <a:chExt cx="666" cy="659"/>
          </a:xfrm>
        </p:grpSpPr>
        <p:grpSp>
          <p:nvGrpSpPr>
            <p:cNvPr id="407" name="Group 866"/>
            <p:cNvGrpSpPr>
              <a:grpSpLocks/>
            </p:cNvGrpSpPr>
            <p:nvPr/>
          </p:nvGrpSpPr>
          <p:grpSpPr bwMode="auto">
            <a:xfrm>
              <a:off x="0" y="1680"/>
              <a:ext cx="513" cy="659"/>
              <a:chOff x="4180" y="744"/>
              <a:chExt cx="513" cy="659"/>
            </a:xfrm>
          </p:grpSpPr>
          <p:sp>
            <p:nvSpPr>
              <p:cNvPr id="409" name="Rectangle 867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10" name="Rectangle 868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11" name="Rectangle 869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12" name="Text Box 870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6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750"/>
                  <a:t>application</a:t>
                </a:r>
              </a:p>
              <a:p>
                <a:r>
                  <a:rPr lang="en-US" altLang="zh-CN" sz="750">
                    <a:solidFill>
                      <a:schemeClr val="bg1"/>
                    </a:solidFill>
                  </a:rPr>
                  <a:t>transport</a:t>
                </a:r>
                <a:endParaRPr lang="en-US" altLang="zh-CN" sz="750"/>
              </a:p>
              <a:p>
                <a:r>
                  <a:rPr lang="en-US" altLang="zh-CN" sz="750"/>
                  <a:t>network</a:t>
                </a:r>
              </a:p>
              <a:p>
                <a:r>
                  <a:rPr lang="en-US" altLang="zh-CN" sz="750"/>
                  <a:t>data link</a:t>
                </a:r>
              </a:p>
              <a:p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  <p:sp>
            <p:nvSpPr>
              <p:cNvPr id="413" name="Line 871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4" name="Line 872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5" name="Line 873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08" name="Freeform 874"/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01" name="Group 298"/>
          <p:cNvGrpSpPr>
            <a:grpSpLocks/>
          </p:cNvGrpSpPr>
          <p:nvPr/>
        </p:nvGrpSpPr>
        <p:grpSpPr bwMode="auto">
          <a:xfrm rot="2937887">
            <a:off x="5888266" y="2133522"/>
            <a:ext cx="2822508" cy="326231"/>
            <a:chOff x="2937" y="3579"/>
            <a:chExt cx="2382" cy="274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402" name="Rectangle 295"/>
            <p:cNvSpPr>
              <a:spLocks noChangeArrowheads="1"/>
            </p:cNvSpPr>
            <p:nvPr/>
          </p:nvSpPr>
          <p:spPr bwMode="auto">
            <a:xfrm>
              <a:off x="3166" y="3630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03" name="Text Box 293"/>
            <p:cNvSpPr txBox="1">
              <a:spLocks noChangeArrowheads="1"/>
            </p:cNvSpPr>
            <p:nvPr/>
          </p:nvSpPr>
          <p:spPr bwMode="auto">
            <a:xfrm>
              <a:off x="3644" y="3601"/>
              <a:ext cx="1009" cy="233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200" dirty="0">
                  <a:solidFill>
                    <a:srgbClr val="FFFF00"/>
                  </a:solidFill>
                </a:rPr>
                <a:t>逻辑端到端传输</a:t>
              </a:r>
              <a:endParaRPr lang="en-US" altLang="zh-CN" sz="1200" dirty="0">
                <a:solidFill>
                  <a:srgbClr val="FFFF00"/>
                </a:solidFill>
              </a:endParaRPr>
            </a:p>
          </p:txBody>
        </p:sp>
        <p:sp>
          <p:nvSpPr>
            <p:cNvPr id="404" name="Freeform 296"/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05" name="Freeform 297"/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85" name="灯片编号占位符 2">
            <a:extLst>
              <a:ext uri="{FF2B5EF4-FFF2-40B4-BE49-F238E27FC236}">
                <a16:creationId xmlns:a16="http://schemas.microsoft.com/office/drawing/2014/main" id="{887CD5F5-D913-42CB-B6D5-04FB606F380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386" name="AutoShape 5">
            <a:extLst>
              <a:ext uri="{FF2B5EF4-FFF2-40B4-BE49-F238E27FC236}">
                <a16:creationId xmlns:a16="http://schemas.microsoft.com/office/drawing/2014/main" id="{93AA4E2C-DE0E-4C21-8E71-FE055304F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764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2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" grpId="0" animBg="1"/>
      <p:bldP spid="38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3997870" cy="2326838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450"/>
              </a:spcAft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运输层和网络层的关系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从通信和信息处理的角度看，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向上面应用层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提供通信服务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属于面向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通信部分的最高层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同时也是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用户功能的最底层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796136" y="2284809"/>
            <a:ext cx="1537097" cy="573881"/>
          </a:xfrm>
          <a:prstGeom prst="rect">
            <a:avLst/>
          </a:prstGeom>
          <a:solidFill>
            <a:srgbClr val="EFF8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796136" y="3487340"/>
            <a:ext cx="1537097" cy="860822"/>
          </a:xfrm>
          <a:prstGeom prst="rect">
            <a:avLst/>
          </a:prstGeom>
          <a:solidFill>
            <a:srgbClr val="E9F5DB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5796136" y="3774281"/>
            <a:ext cx="1537097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5796136" y="4061221"/>
            <a:ext cx="1537097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5796136" y="3028950"/>
            <a:ext cx="1537097" cy="288131"/>
          </a:xfrm>
          <a:prstGeom prst="rect">
            <a:avLst/>
          </a:prstGeom>
          <a:solidFill>
            <a:srgbClr val="CCECFF"/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214998" y="4050506"/>
            <a:ext cx="72327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6227143" y="3479006"/>
            <a:ext cx="72327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249764" y="3009900"/>
            <a:ext cx="72327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6227143" y="2393156"/>
            <a:ext cx="72327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6063788" y="3768328"/>
            <a:ext cx="1043732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</a:p>
        </p:txBody>
      </p:sp>
      <p:sp>
        <p:nvSpPr>
          <p:cNvPr id="18" name="AutoShape 14"/>
          <p:cNvSpPr>
            <a:spLocks/>
          </p:cNvSpPr>
          <p:nvPr/>
        </p:nvSpPr>
        <p:spPr bwMode="auto">
          <a:xfrm>
            <a:off x="7391574" y="2284809"/>
            <a:ext cx="178594" cy="1032272"/>
          </a:xfrm>
          <a:prstGeom prst="rightBrace">
            <a:avLst>
              <a:gd name="adj1" fmla="val 48167"/>
              <a:gd name="adj2" fmla="val 48958"/>
            </a:avLst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5"/>
          <p:cNvSpPr>
            <a:spLocks/>
          </p:cNvSpPr>
          <p:nvPr/>
        </p:nvSpPr>
        <p:spPr bwMode="auto">
          <a:xfrm>
            <a:off x="7391574" y="3487340"/>
            <a:ext cx="178594" cy="860822"/>
          </a:xfrm>
          <a:prstGeom prst="rightBrace">
            <a:avLst>
              <a:gd name="adj1" fmla="val 40167"/>
              <a:gd name="adj2" fmla="val 48958"/>
            </a:avLst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16"/>
          <p:cNvSpPr>
            <a:spLocks/>
          </p:cNvSpPr>
          <p:nvPr/>
        </p:nvSpPr>
        <p:spPr bwMode="auto">
          <a:xfrm flipH="1">
            <a:off x="5559201" y="2284809"/>
            <a:ext cx="177404" cy="573881"/>
          </a:xfrm>
          <a:prstGeom prst="rightBrace">
            <a:avLst>
              <a:gd name="adj1" fmla="val 26957"/>
              <a:gd name="adj2" fmla="val 48958"/>
            </a:avLst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17"/>
          <p:cNvSpPr>
            <a:spLocks/>
          </p:cNvSpPr>
          <p:nvPr/>
        </p:nvSpPr>
        <p:spPr bwMode="auto">
          <a:xfrm flipH="1">
            <a:off x="5559201" y="3086099"/>
            <a:ext cx="177404" cy="1262063"/>
          </a:xfrm>
          <a:prstGeom prst="rightBrace">
            <a:avLst>
              <a:gd name="adj1" fmla="val 59284"/>
              <a:gd name="adj2" fmla="val 48958"/>
            </a:avLst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4331667" y="2376487"/>
            <a:ext cx="1261884" cy="3077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面向信息处理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4656708" y="3511153"/>
            <a:ext cx="902811" cy="3077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面向通信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7578502" y="2615803"/>
            <a:ext cx="902811" cy="3077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用户功能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7590408" y="3726656"/>
            <a:ext cx="902811" cy="3077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网络功能</a:t>
            </a:r>
          </a:p>
        </p:txBody>
      </p:sp>
      <p:sp>
        <p:nvSpPr>
          <p:cNvPr id="26" name="灯片编号占位符 2">
            <a:extLst>
              <a:ext uri="{FF2B5EF4-FFF2-40B4-BE49-F238E27FC236}">
                <a16:creationId xmlns:a16="http://schemas.microsoft.com/office/drawing/2014/main" id="{CC4C5905-0485-43A8-B69C-FFCC85C1CD6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EB9F3F4E-A836-48FA-852D-AAB965AC0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75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195A63-D2DA-4AF6-9917-8D6B0158A06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1642543" y="3773743"/>
            <a:ext cx="307347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9E42C46-1EE4-4D71-9BB8-FD5B3BA2EFCC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1788158" y="3395140"/>
            <a:ext cx="148769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5116953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zh-CN" altLang="en-US" dirty="0"/>
              <a:t>知识点回顾：</a:t>
            </a:r>
            <a:r>
              <a:rPr lang="en-US" altLang="zh-CN" dirty="0"/>
              <a:t>1.5 </a:t>
            </a:r>
            <a:r>
              <a:rPr lang="zh-CN" altLang="en-US" dirty="0"/>
              <a:t>协议层次和服务模型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795EAD-A78E-4166-9618-8AB0F5A8AE71}"/>
              </a:ext>
            </a:extLst>
          </p:cNvPr>
          <p:cNvGrpSpPr/>
          <p:nvPr/>
        </p:nvGrpSpPr>
        <p:grpSpPr>
          <a:xfrm>
            <a:off x="323528" y="1779662"/>
            <a:ext cx="1614488" cy="2465784"/>
            <a:chOff x="323528" y="1779662"/>
            <a:chExt cx="1614488" cy="2465784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365200" y="1779662"/>
              <a:ext cx="1572816" cy="2437210"/>
            </a:xfrm>
            <a:prstGeom prst="rect">
              <a:avLst/>
            </a:prstGeom>
            <a:solidFill>
              <a:srgbClr val="00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23528" y="1821333"/>
              <a:ext cx="1570434" cy="994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应用层</a:t>
              </a: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23528" y="2884562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传输层</a:t>
              </a: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323528" y="3242940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323528" y="3600128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323528" y="3957315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379766B-57E6-4329-85A4-AB351FD9F3B0}"/>
              </a:ext>
            </a:extLst>
          </p:cNvPr>
          <p:cNvSpPr/>
          <p:nvPr/>
        </p:nvSpPr>
        <p:spPr>
          <a:xfrm>
            <a:off x="539552" y="915566"/>
            <a:ext cx="274184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协议数据的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18315D-4B34-4D39-948E-2037844D6CB9}"/>
              </a:ext>
            </a:extLst>
          </p:cNvPr>
          <p:cNvSpPr txBox="1"/>
          <p:nvPr/>
        </p:nvSpPr>
        <p:spPr>
          <a:xfrm>
            <a:off x="2228162" y="2283718"/>
            <a:ext cx="2284260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Message</a:t>
            </a:r>
            <a:endParaRPr lang="zh-CN" altLang="en-US" sz="11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1DA258-B5B2-47A4-8029-287036ED33E5}"/>
              </a:ext>
            </a:extLst>
          </p:cNvPr>
          <p:cNvSpPr txBox="1"/>
          <p:nvPr/>
        </p:nvSpPr>
        <p:spPr>
          <a:xfrm>
            <a:off x="2588876" y="2864829"/>
            <a:ext cx="836332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message’</a:t>
            </a:r>
            <a:endParaRPr lang="zh-CN" altLang="en-US" sz="11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22CE83-95EE-4199-B42D-5D9289F181EB}"/>
              </a:ext>
            </a:extLst>
          </p:cNvPr>
          <p:cNvSpPr txBox="1"/>
          <p:nvPr/>
        </p:nvSpPr>
        <p:spPr>
          <a:xfrm>
            <a:off x="2230434" y="2864829"/>
            <a:ext cx="358441" cy="2616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t</a:t>
            </a:r>
            <a:endParaRPr lang="zh-CN" altLang="en-US" sz="1100" b="1" baseline="-250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9A78F1A-3B49-4E84-AC3C-E2E7BFA641B4}"/>
              </a:ext>
            </a:extLst>
          </p:cNvPr>
          <p:cNvCxnSpPr>
            <a:cxnSpLocks/>
          </p:cNvCxnSpPr>
          <p:nvPr/>
        </p:nvCxnSpPr>
        <p:spPr>
          <a:xfrm>
            <a:off x="2789802" y="2529254"/>
            <a:ext cx="0" cy="335575"/>
          </a:xfrm>
          <a:prstGeom prst="straightConnector1">
            <a:avLst/>
          </a:prstGeom>
          <a:ln w="1270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6B813A9-808F-48C7-AA9F-7F8424A29962}"/>
              </a:ext>
            </a:extLst>
          </p:cNvPr>
          <p:cNvSpPr txBox="1"/>
          <p:nvPr/>
        </p:nvSpPr>
        <p:spPr>
          <a:xfrm>
            <a:off x="3968696" y="2283718"/>
            <a:ext cx="543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BBA9F2E-D265-4495-8AAB-73B213178D61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 flipV="1">
            <a:off x="1938016" y="2995634"/>
            <a:ext cx="292418" cy="263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22131F-DD83-4217-A346-C27BB7D0E4D1}"/>
              </a:ext>
            </a:extLst>
          </p:cNvPr>
          <p:cNvGrpSpPr/>
          <p:nvPr/>
        </p:nvGrpSpPr>
        <p:grpSpPr>
          <a:xfrm>
            <a:off x="2933818" y="2175758"/>
            <a:ext cx="1008112" cy="468000"/>
            <a:chOff x="2933818" y="2175758"/>
            <a:chExt cx="1008112" cy="468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43CB665-F52C-41B5-8102-4675E24600E6}"/>
                </a:ext>
              </a:extLst>
            </p:cNvPr>
            <p:cNvCxnSpPr>
              <a:cxnSpLocks/>
            </p:cNvCxnSpPr>
            <p:nvPr/>
          </p:nvCxnSpPr>
          <p:spPr>
            <a:xfrm>
              <a:off x="3005826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7E66B9E-35C4-4F79-A69F-53C02622ADB8}"/>
                </a:ext>
              </a:extLst>
            </p:cNvPr>
            <p:cNvCxnSpPr>
              <a:cxnSpLocks/>
            </p:cNvCxnSpPr>
            <p:nvPr/>
          </p:nvCxnSpPr>
          <p:spPr>
            <a:xfrm>
              <a:off x="3867344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42C059C-EC50-4F92-BBF0-88320F99751A}"/>
                </a:ext>
              </a:extLst>
            </p:cNvPr>
            <p:cNvCxnSpPr/>
            <p:nvPr/>
          </p:nvCxnSpPr>
          <p:spPr>
            <a:xfrm>
              <a:off x="2933818" y="2303688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44852B7-333B-4AEB-B183-51B3E56FAA72}"/>
                </a:ext>
              </a:extLst>
            </p:cNvPr>
            <p:cNvCxnSpPr/>
            <p:nvPr/>
          </p:nvCxnSpPr>
          <p:spPr>
            <a:xfrm>
              <a:off x="2933818" y="2395441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268E923-3492-4D17-8DBC-2DFCA08215AE}"/>
                </a:ext>
              </a:extLst>
            </p:cNvPr>
            <p:cNvCxnSpPr/>
            <p:nvPr/>
          </p:nvCxnSpPr>
          <p:spPr>
            <a:xfrm>
              <a:off x="3797914" y="2311122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DD519F2-BB89-43E1-8E8F-0A26EC1BEB61}"/>
                </a:ext>
              </a:extLst>
            </p:cNvPr>
            <p:cNvCxnSpPr/>
            <p:nvPr/>
          </p:nvCxnSpPr>
          <p:spPr>
            <a:xfrm>
              <a:off x="3797914" y="2402875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DCE1BC-ED30-4529-993F-2E987BACCCC3}"/>
              </a:ext>
            </a:extLst>
          </p:cNvPr>
          <p:cNvCxnSpPr>
            <a:cxnSpLocks/>
            <a:stCxn id="15" idx="3"/>
            <a:endCxn id="50" idx="1"/>
          </p:cNvCxnSpPr>
          <p:nvPr/>
        </p:nvCxnSpPr>
        <p:spPr>
          <a:xfrm>
            <a:off x="3425208" y="2995634"/>
            <a:ext cx="222560" cy="313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AA7E190-FC47-4D4D-973F-2ACFAF304D99}"/>
              </a:ext>
            </a:extLst>
          </p:cNvPr>
          <p:cNvCxnSpPr>
            <a:cxnSpLocks/>
          </p:cNvCxnSpPr>
          <p:nvPr/>
        </p:nvCxnSpPr>
        <p:spPr>
          <a:xfrm>
            <a:off x="4236413" y="3140325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098A69B-5CD3-4923-96D4-0211F96C13C4}"/>
              </a:ext>
            </a:extLst>
          </p:cNvPr>
          <p:cNvSpPr txBox="1"/>
          <p:nvPr/>
        </p:nvSpPr>
        <p:spPr>
          <a:xfrm>
            <a:off x="3628018" y="3270517"/>
            <a:ext cx="1216791" cy="261610"/>
          </a:xfrm>
          <a:prstGeom prst="rect">
            <a:avLst/>
          </a:prstGeom>
          <a:pattFill prst="smCheck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dirty="0"/>
              <a:t>Segment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91671E0-058A-4DBC-A2DD-2AB7FB227460}"/>
              </a:ext>
            </a:extLst>
          </p:cNvPr>
          <p:cNvSpPr txBox="1"/>
          <p:nvPr/>
        </p:nvSpPr>
        <p:spPr>
          <a:xfrm>
            <a:off x="3647768" y="2867966"/>
            <a:ext cx="1197045" cy="261610"/>
          </a:xfrm>
          <a:prstGeom prst="rect">
            <a:avLst/>
          </a:prstGeom>
          <a:pattFill prst="smCheck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Segment</a:t>
            </a:r>
            <a:endParaRPr lang="zh-CN" altLang="en-US" sz="11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F5AB5F2-54CD-4E7E-8F55-300E40F753C7}"/>
              </a:ext>
            </a:extLst>
          </p:cNvPr>
          <p:cNvSpPr txBox="1"/>
          <p:nvPr/>
        </p:nvSpPr>
        <p:spPr>
          <a:xfrm>
            <a:off x="3275856" y="3270517"/>
            <a:ext cx="35844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n</a:t>
            </a:r>
            <a:endParaRPr lang="zh-CN" altLang="en-US" sz="1100" b="1" baseline="-25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1031A33-8F8A-4B6B-93BB-011E12555AFC}"/>
              </a:ext>
            </a:extLst>
          </p:cNvPr>
          <p:cNvSpPr txBox="1"/>
          <p:nvPr/>
        </p:nvSpPr>
        <p:spPr>
          <a:xfrm>
            <a:off x="5074457" y="3269461"/>
            <a:ext cx="1572815" cy="261610"/>
          </a:xfrm>
          <a:prstGeom prst="rect">
            <a:avLst/>
          </a:prstGeom>
          <a:pattFill prst="lgCheck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Datagram</a:t>
            </a:r>
            <a:endParaRPr lang="zh-CN" altLang="en-US" sz="1100" b="1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1EFDDD2-81A2-41DE-8FF5-205EBD789DAC}"/>
              </a:ext>
            </a:extLst>
          </p:cNvPr>
          <p:cNvCxnSpPr>
            <a:cxnSpLocks/>
            <a:stCxn id="39" idx="3"/>
            <a:endCxn id="59" idx="1"/>
          </p:cNvCxnSpPr>
          <p:nvPr/>
        </p:nvCxnSpPr>
        <p:spPr>
          <a:xfrm flipV="1">
            <a:off x="4844809" y="3400266"/>
            <a:ext cx="229648" cy="105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96BEE97A-6B85-4ABD-91C1-BFAAE29D0A28}"/>
              </a:ext>
            </a:extLst>
          </p:cNvPr>
          <p:cNvSpPr txBox="1"/>
          <p:nvPr/>
        </p:nvSpPr>
        <p:spPr>
          <a:xfrm>
            <a:off x="5074457" y="3651822"/>
            <a:ext cx="1572815" cy="261610"/>
          </a:xfrm>
          <a:prstGeom prst="rect">
            <a:avLst/>
          </a:prstGeom>
          <a:pattFill prst="lgCheck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dirty="0"/>
              <a:t>Datagram</a:t>
            </a:r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233BCD7-D55B-4D43-B5A4-ED98E010BAD3}"/>
              </a:ext>
            </a:extLst>
          </p:cNvPr>
          <p:cNvCxnSpPr>
            <a:cxnSpLocks/>
          </p:cNvCxnSpPr>
          <p:nvPr/>
        </p:nvCxnSpPr>
        <p:spPr>
          <a:xfrm>
            <a:off x="5862494" y="3531071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537A47A-CF3C-4E71-9F13-1C978832561B}"/>
              </a:ext>
            </a:extLst>
          </p:cNvPr>
          <p:cNvSpPr txBox="1"/>
          <p:nvPr/>
        </p:nvSpPr>
        <p:spPr>
          <a:xfrm>
            <a:off x="4716016" y="3650372"/>
            <a:ext cx="358441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n</a:t>
            </a:r>
            <a:endParaRPr lang="zh-CN" altLang="en-US" sz="1100" b="1" baseline="-25000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8668F06-F611-4593-8A1F-227B730020EF}"/>
              </a:ext>
            </a:extLst>
          </p:cNvPr>
          <p:cNvCxnSpPr>
            <a:cxnSpLocks/>
          </p:cNvCxnSpPr>
          <p:nvPr/>
        </p:nvCxnSpPr>
        <p:spPr>
          <a:xfrm>
            <a:off x="6647272" y="3780154"/>
            <a:ext cx="228984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2F008C6F-22B1-481C-8C41-E3774441D3A3}"/>
              </a:ext>
            </a:extLst>
          </p:cNvPr>
          <p:cNvSpPr txBox="1"/>
          <p:nvPr/>
        </p:nvSpPr>
        <p:spPr>
          <a:xfrm>
            <a:off x="6881650" y="3647237"/>
            <a:ext cx="1931256" cy="261610"/>
          </a:xfrm>
          <a:prstGeom prst="rect">
            <a:avLst/>
          </a:prstGeom>
          <a:pattFill prst="solidDmnd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Frame</a:t>
            </a:r>
            <a:endParaRPr lang="zh-CN" altLang="en-US" sz="11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B8DCE6C-7AF0-4C94-9D0C-695E16ADF863}"/>
              </a:ext>
            </a:extLst>
          </p:cNvPr>
          <p:cNvSpPr txBox="1"/>
          <p:nvPr/>
        </p:nvSpPr>
        <p:spPr>
          <a:xfrm>
            <a:off x="6876256" y="4094139"/>
            <a:ext cx="1931256" cy="261610"/>
          </a:xfrm>
          <a:custGeom>
            <a:avLst/>
            <a:gdLst>
              <a:gd name="connsiteX0" fmla="*/ 0 w 1931256"/>
              <a:gd name="connsiteY0" fmla="*/ 0 h 261610"/>
              <a:gd name="connsiteX1" fmla="*/ 463501 w 1931256"/>
              <a:gd name="connsiteY1" fmla="*/ 0 h 261610"/>
              <a:gd name="connsiteX2" fmla="*/ 946315 w 1931256"/>
              <a:gd name="connsiteY2" fmla="*/ 0 h 261610"/>
              <a:gd name="connsiteX3" fmla="*/ 1429129 w 1931256"/>
              <a:gd name="connsiteY3" fmla="*/ 0 h 261610"/>
              <a:gd name="connsiteX4" fmla="*/ 1931256 w 1931256"/>
              <a:gd name="connsiteY4" fmla="*/ 0 h 261610"/>
              <a:gd name="connsiteX5" fmla="*/ 1931256 w 1931256"/>
              <a:gd name="connsiteY5" fmla="*/ 261610 h 261610"/>
              <a:gd name="connsiteX6" fmla="*/ 1448442 w 1931256"/>
              <a:gd name="connsiteY6" fmla="*/ 261610 h 261610"/>
              <a:gd name="connsiteX7" fmla="*/ 1004253 w 1931256"/>
              <a:gd name="connsiteY7" fmla="*/ 261610 h 261610"/>
              <a:gd name="connsiteX8" fmla="*/ 560064 w 1931256"/>
              <a:gd name="connsiteY8" fmla="*/ 261610 h 261610"/>
              <a:gd name="connsiteX9" fmla="*/ 0 w 1931256"/>
              <a:gd name="connsiteY9" fmla="*/ 261610 h 261610"/>
              <a:gd name="connsiteX10" fmla="*/ 0 w 1931256"/>
              <a:gd name="connsiteY10" fmla="*/ 0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1256" h="261610" fill="none" extrusionOk="0">
                <a:moveTo>
                  <a:pt x="0" y="0"/>
                </a:moveTo>
                <a:cubicBezTo>
                  <a:pt x="217372" y="-36526"/>
                  <a:pt x="247622" y="34652"/>
                  <a:pt x="463501" y="0"/>
                </a:cubicBezTo>
                <a:cubicBezTo>
                  <a:pt x="679380" y="-34652"/>
                  <a:pt x="714850" y="30851"/>
                  <a:pt x="946315" y="0"/>
                </a:cubicBezTo>
                <a:cubicBezTo>
                  <a:pt x="1177780" y="-30851"/>
                  <a:pt x="1301353" y="42208"/>
                  <a:pt x="1429129" y="0"/>
                </a:cubicBezTo>
                <a:cubicBezTo>
                  <a:pt x="1556905" y="-42208"/>
                  <a:pt x="1707592" y="2875"/>
                  <a:pt x="1931256" y="0"/>
                </a:cubicBezTo>
                <a:cubicBezTo>
                  <a:pt x="1948350" y="103173"/>
                  <a:pt x="1920910" y="166881"/>
                  <a:pt x="1931256" y="261610"/>
                </a:cubicBezTo>
                <a:cubicBezTo>
                  <a:pt x="1817971" y="265744"/>
                  <a:pt x="1591323" y="223567"/>
                  <a:pt x="1448442" y="261610"/>
                </a:cubicBezTo>
                <a:cubicBezTo>
                  <a:pt x="1305561" y="299653"/>
                  <a:pt x="1220446" y="249801"/>
                  <a:pt x="1004253" y="261610"/>
                </a:cubicBezTo>
                <a:cubicBezTo>
                  <a:pt x="788060" y="273419"/>
                  <a:pt x="771512" y="238789"/>
                  <a:pt x="560064" y="261610"/>
                </a:cubicBezTo>
                <a:cubicBezTo>
                  <a:pt x="348616" y="284431"/>
                  <a:pt x="201209" y="245656"/>
                  <a:pt x="0" y="261610"/>
                </a:cubicBezTo>
                <a:cubicBezTo>
                  <a:pt x="-1523" y="157087"/>
                  <a:pt x="8085" y="96640"/>
                  <a:pt x="0" y="0"/>
                </a:cubicBezTo>
                <a:close/>
              </a:path>
              <a:path w="1931256" h="261610" stroke="0" extrusionOk="0">
                <a:moveTo>
                  <a:pt x="0" y="0"/>
                </a:moveTo>
                <a:cubicBezTo>
                  <a:pt x="134030" y="-14184"/>
                  <a:pt x="298733" y="55613"/>
                  <a:pt x="463501" y="0"/>
                </a:cubicBezTo>
                <a:cubicBezTo>
                  <a:pt x="628269" y="-55613"/>
                  <a:pt x="788467" y="8339"/>
                  <a:pt x="888378" y="0"/>
                </a:cubicBezTo>
                <a:cubicBezTo>
                  <a:pt x="988289" y="-8339"/>
                  <a:pt x="1170528" y="17095"/>
                  <a:pt x="1409817" y="0"/>
                </a:cubicBezTo>
                <a:cubicBezTo>
                  <a:pt x="1649106" y="-17095"/>
                  <a:pt x="1770650" y="52457"/>
                  <a:pt x="1931256" y="0"/>
                </a:cubicBezTo>
                <a:cubicBezTo>
                  <a:pt x="1959600" y="117550"/>
                  <a:pt x="1912220" y="172824"/>
                  <a:pt x="1931256" y="261610"/>
                </a:cubicBezTo>
                <a:cubicBezTo>
                  <a:pt x="1812361" y="291956"/>
                  <a:pt x="1644565" y="260246"/>
                  <a:pt x="1487067" y="261610"/>
                </a:cubicBezTo>
                <a:cubicBezTo>
                  <a:pt x="1329569" y="262974"/>
                  <a:pt x="1165640" y="248468"/>
                  <a:pt x="1042878" y="261610"/>
                </a:cubicBezTo>
                <a:cubicBezTo>
                  <a:pt x="920116" y="274752"/>
                  <a:pt x="769246" y="240932"/>
                  <a:pt x="521439" y="261610"/>
                </a:cubicBezTo>
                <a:cubicBezTo>
                  <a:pt x="273632" y="282288"/>
                  <a:pt x="131997" y="261252"/>
                  <a:pt x="0" y="261610"/>
                </a:cubicBezTo>
                <a:cubicBezTo>
                  <a:pt x="-5194" y="170871"/>
                  <a:pt x="16048" y="125930"/>
                  <a:pt x="0" y="0"/>
                </a:cubicBezTo>
                <a:close/>
              </a:path>
            </a:pathLst>
          </a:cu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bits~01010111001110……</a:t>
            </a:r>
            <a:endParaRPr lang="zh-CN" altLang="en-US" sz="1100" b="1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0113462-DFF8-490C-911A-B07B879093E1}"/>
              </a:ext>
            </a:extLst>
          </p:cNvPr>
          <p:cNvCxnSpPr>
            <a:cxnSpLocks/>
          </p:cNvCxnSpPr>
          <p:nvPr/>
        </p:nvCxnSpPr>
        <p:spPr>
          <a:xfrm>
            <a:off x="7668344" y="3957315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">
            <a:extLst>
              <a:ext uri="{FF2B5EF4-FFF2-40B4-BE49-F238E27FC236}">
                <a16:creationId xmlns:a16="http://schemas.microsoft.com/office/drawing/2014/main" id="{C0E234A7-19EE-4BC8-8EE1-E8AA468C4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256" y="2258564"/>
            <a:ext cx="137523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Rectangle 8">
            <a:extLst>
              <a:ext uri="{FF2B5EF4-FFF2-40B4-BE49-F238E27FC236}">
                <a16:creationId xmlns:a16="http://schemas.microsoft.com/office/drawing/2014/main" id="{BFA882BF-FA49-4859-82F7-BE03A947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530" y="2846521"/>
            <a:ext cx="2232897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(20~1480 bytes )</a:t>
            </a:r>
            <a:endParaRPr lang="zh-CN" altLang="en-US" sz="14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Rectangle 8">
            <a:extLst>
              <a:ext uri="{FF2B5EF4-FFF2-40B4-BE49-F238E27FC236}">
                <a16:creationId xmlns:a16="http://schemas.microsoft.com/office/drawing/2014/main" id="{AFC7DDD5-8E70-4140-9BCC-F5DE18F28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004" y="3252926"/>
            <a:ext cx="1918154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数据报：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~1500Bytes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8">
            <a:extLst>
              <a:ext uri="{FF2B5EF4-FFF2-40B4-BE49-F238E27FC236}">
                <a16:creationId xmlns:a16="http://schemas.microsoft.com/office/drawing/2014/main" id="{1138597C-B1A3-4BCE-9A00-2521F130A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3057" y="3628727"/>
            <a:ext cx="364202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87" name="Rectangle 8">
            <a:extLst>
              <a:ext uri="{FF2B5EF4-FFF2-40B4-BE49-F238E27FC236}">
                <a16:creationId xmlns:a16="http://schemas.microsoft.com/office/drawing/2014/main" id="{FB12E4D6-537A-472F-86E6-D08D14A6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12" y="4100688"/>
            <a:ext cx="75052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</a:t>
            </a:r>
          </a:p>
        </p:txBody>
      </p:sp>
      <p:sp>
        <p:nvSpPr>
          <p:cNvPr id="43" name="Rectangle 13">
            <a:extLst>
              <a:ext uri="{FF2B5EF4-FFF2-40B4-BE49-F238E27FC236}">
                <a16:creationId xmlns:a16="http://schemas.microsoft.com/office/drawing/2014/main" id="{D98F9B30-9066-4240-898B-034E2544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93" y="4370896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77CA04-D138-41F4-AB6D-A2213207E684}"/>
              </a:ext>
            </a:extLst>
          </p:cNvPr>
          <p:cNvSpPr/>
          <p:nvPr/>
        </p:nvSpPr>
        <p:spPr>
          <a:xfrm>
            <a:off x="3275856" y="915566"/>
            <a:ext cx="274281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encapsulation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22C0B99-7A93-4559-9AB1-238C712840C7}"/>
              </a:ext>
            </a:extLst>
          </p:cNvPr>
          <p:cNvSpPr/>
          <p:nvPr/>
        </p:nvSpPr>
        <p:spPr>
          <a:xfrm>
            <a:off x="4952451" y="1467876"/>
            <a:ext cx="403895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PDU: Protocol Data Unit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，协议数据单元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7351A6-B301-43FA-9054-B03A4FC1B135}"/>
              </a:ext>
            </a:extLst>
          </p:cNvPr>
          <p:cNvCxnSpPr>
            <a:cxnSpLocks/>
          </p:cNvCxnSpPr>
          <p:nvPr/>
        </p:nvCxnSpPr>
        <p:spPr>
          <a:xfrm flipV="1">
            <a:off x="6191312" y="1821333"/>
            <a:ext cx="0" cy="1043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44A347A-6777-4019-94E5-CBBB159FA53C}"/>
              </a:ext>
            </a:extLst>
          </p:cNvPr>
          <p:cNvCxnSpPr>
            <a:cxnSpLocks/>
          </p:cNvCxnSpPr>
          <p:nvPr/>
        </p:nvCxnSpPr>
        <p:spPr>
          <a:xfrm flipV="1">
            <a:off x="7164288" y="1821333"/>
            <a:ext cx="0" cy="1384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D37884A-D160-4272-81DF-6E4D603AD062}"/>
              </a:ext>
            </a:extLst>
          </p:cNvPr>
          <p:cNvCxnSpPr>
            <a:cxnSpLocks/>
          </p:cNvCxnSpPr>
          <p:nvPr/>
        </p:nvCxnSpPr>
        <p:spPr>
          <a:xfrm flipV="1">
            <a:off x="5171126" y="1821333"/>
            <a:ext cx="0" cy="49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01786945-95F0-4D2A-8BD7-5EBDC01D4F63}"/>
              </a:ext>
            </a:extLst>
          </p:cNvPr>
          <p:cNvCxnSpPr>
            <a:cxnSpLocks/>
          </p:cNvCxnSpPr>
          <p:nvPr/>
        </p:nvCxnSpPr>
        <p:spPr>
          <a:xfrm flipV="1">
            <a:off x="8807512" y="1821333"/>
            <a:ext cx="0" cy="1779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FD26DA30-773D-4436-B6CA-CF3E3C8B3BB5}"/>
              </a:ext>
            </a:extLst>
          </p:cNvPr>
          <p:cNvSpPr/>
          <p:nvPr/>
        </p:nvSpPr>
        <p:spPr>
          <a:xfrm>
            <a:off x="1979688" y="3242940"/>
            <a:ext cx="7128810" cy="1127330"/>
          </a:xfrm>
          <a:prstGeom prst="rect">
            <a:avLst/>
          </a:prstGeom>
          <a:solidFill>
            <a:schemeClr val="bg1">
              <a:lumMod val="9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1ED739B-687C-4629-83BE-D55D37B337B8}"/>
              </a:ext>
            </a:extLst>
          </p:cNvPr>
          <p:cNvSpPr/>
          <p:nvPr/>
        </p:nvSpPr>
        <p:spPr>
          <a:xfrm>
            <a:off x="1979688" y="2203303"/>
            <a:ext cx="3882801" cy="410102"/>
          </a:xfrm>
          <a:prstGeom prst="rect">
            <a:avLst/>
          </a:prstGeom>
          <a:solidFill>
            <a:schemeClr val="bg1">
              <a:lumMod val="9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灯片编号占位符 2">
            <a:extLst>
              <a:ext uri="{FF2B5EF4-FFF2-40B4-BE49-F238E27FC236}">
                <a16:creationId xmlns:a16="http://schemas.microsoft.com/office/drawing/2014/main" id="{19199C9A-2B26-49BB-8E68-2A7EF87FEF2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66" name="AutoShape 5">
            <a:extLst>
              <a:ext uri="{FF2B5EF4-FFF2-40B4-BE49-F238E27FC236}">
                <a16:creationId xmlns:a16="http://schemas.microsoft.com/office/drawing/2014/main" id="{AA7BF3BB-D07C-407C-91E2-1A73A004C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0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3892817" cy="3262312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450"/>
              </a:spcAft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运输层和网络层的关系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网络层：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之间的逻辑通信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运输层：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之间的逻辑通信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3923928" y="2025450"/>
            <a:ext cx="4464496" cy="21979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家庭成员之间通信的比拟</a:t>
            </a:r>
            <a:r>
              <a:rPr lang="en-US" altLang="zh-CN" sz="15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家庭中的</a:t>
            </a: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个小孩给</a:t>
            </a: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家庭中的</a:t>
            </a: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12 </a:t>
            </a: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个小孩通信</a:t>
            </a:r>
            <a:endParaRPr lang="en-US" altLang="zh-CN" sz="13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processes = kids</a:t>
            </a:r>
          </a:p>
          <a:p>
            <a:pPr>
              <a:spcBef>
                <a:spcPts val="600"/>
              </a:spcBef>
            </a:pP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application messages = letters in envelopes</a:t>
            </a:r>
          </a:p>
          <a:p>
            <a:pPr>
              <a:spcBef>
                <a:spcPts val="600"/>
              </a:spcBef>
            </a:pP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hosts = houses</a:t>
            </a:r>
          </a:p>
          <a:p>
            <a:pPr>
              <a:spcBef>
                <a:spcPts val="600"/>
              </a:spcBef>
            </a:pP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transport protocol = Ann and Bill</a:t>
            </a:r>
          </a:p>
          <a:p>
            <a:pPr>
              <a:spcBef>
                <a:spcPts val="600"/>
              </a:spcBef>
            </a:pP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network-layer protocol = postal service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6D0EC68-D02A-4F4B-AB21-5712BBA0FFC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77A4191-E58F-489C-8D96-9D5D5B17F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29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6215286" y="3810282"/>
            <a:ext cx="1428750" cy="171450"/>
          </a:xfrm>
          <a:prstGeom prst="rect">
            <a:avLst/>
          </a:prstGeom>
          <a:solidFill>
            <a:srgbClr val="FFDDDD"/>
          </a:solidFill>
          <a:ln w="9525">
            <a:solidFill>
              <a:srgbClr val="FF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9" name="Rectangle 33"/>
          <p:cNvSpPr>
            <a:spLocks noChangeArrowheads="1"/>
          </p:cNvSpPr>
          <p:nvPr/>
        </p:nvSpPr>
        <p:spPr bwMode="auto">
          <a:xfrm>
            <a:off x="6215286" y="1810032"/>
            <a:ext cx="1428750" cy="190500"/>
          </a:xfrm>
          <a:prstGeom prst="rect">
            <a:avLst/>
          </a:prstGeom>
          <a:solidFill>
            <a:srgbClr val="FFDDDD"/>
          </a:solidFill>
          <a:ln w="9525">
            <a:solidFill>
              <a:srgbClr val="FF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3815968" cy="423975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运输层和网络层的关系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190224"/>
              </p:ext>
            </p:extLst>
          </p:nvPr>
        </p:nvGraphicFramePr>
        <p:xfrm>
          <a:off x="7930978" y="1638582"/>
          <a:ext cx="61079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Visio" r:id="rId4" imgW="990600" imgH="941222" progId="Visio.Drawing.11">
                  <p:embed/>
                </p:oleObj>
              </mc:Choice>
              <mc:Fallback>
                <p:oleObj name="Visio" r:id="rId4" imgW="990600" imgH="941222" progId="Visio.Drawing.11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0978" y="1638582"/>
                        <a:ext cx="61079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36950" y="1724307"/>
            <a:ext cx="3928220" cy="22574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Household analogy: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12 kids sending letters to 12 kids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processes = kids</a:t>
            </a:r>
          </a:p>
          <a:p>
            <a:pPr>
              <a:spcBef>
                <a:spcPts val="6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app messages = letters in envelopes</a:t>
            </a:r>
          </a:p>
          <a:p>
            <a:pPr>
              <a:spcBef>
                <a:spcPts val="6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hosts = houses</a:t>
            </a:r>
          </a:p>
          <a:p>
            <a:pPr>
              <a:spcBef>
                <a:spcPts val="6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transport protocol = Ann and Bill</a:t>
            </a:r>
          </a:p>
          <a:p>
            <a:pPr>
              <a:spcBef>
                <a:spcPts val="600"/>
              </a:spcBef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network-layer protocol = postal service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600556"/>
              </p:ext>
            </p:extLst>
          </p:nvPr>
        </p:nvGraphicFramePr>
        <p:xfrm>
          <a:off x="7873828" y="3581683"/>
          <a:ext cx="629840" cy="583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Visio" r:id="rId6" imgW="1015898" imgH="941222" progId="Visio.Drawing.11">
                  <p:embed/>
                </p:oleObj>
              </mc:Choice>
              <mc:Fallback>
                <p:oleObj name="Visio" r:id="rId6" imgW="1015898" imgH="941222" progId="Visio.Drawing.11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3828" y="3581683"/>
                        <a:ext cx="629840" cy="583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7" descr="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43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1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18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9" descr="2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93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3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68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1" descr="4"/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68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5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43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3" descr="6"/>
          <p:cNvPicPr>
            <a:picLocks noChangeAspect="1" noChangeArrowheads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3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7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18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5" descr="8"/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936" y="14671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6" descr="9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736" y="18100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7" descr="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43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8" descr="1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18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9" descr="2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93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0" descr="3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68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1" descr="4"/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68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2" descr="5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43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3" descr="6"/>
          <p:cNvPicPr>
            <a:picLocks noChangeAspect="1" noChangeArrowheads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3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4" descr="7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18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5" descr="8"/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936" y="42674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5643786" y="1429032"/>
            <a:ext cx="2571750" cy="228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33" name="Picture 27" descr="9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736" y="38102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5643786" y="4229382"/>
            <a:ext cx="2571750" cy="228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35" name="Picture 29" descr="dj17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86" y="3353083"/>
            <a:ext cx="226219" cy="33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0" descr="dj17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86" y="2095783"/>
            <a:ext cx="226219" cy="33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1" descr="00"/>
          <p:cNvPicPr>
            <a:picLocks noChangeAspect="1" noChangeArrowheads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286" y="181003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2" descr="00"/>
          <p:cNvPicPr>
            <a:picLocks noChangeAspect="1" noChangeArrowheads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286" y="3810282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6386736" y="2057682"/>
            <a:ext cx="1085850" cy="1657350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" name="Line 36"/>
          <p:cNvSpPr>
            <a:spLocks noChangeShapeType="1"/>
          </p:cNvSpPr>
          <p:nvPr/>
        </p:nvSpPr>
        <p:spPr bwMode="auto">
          <a:xfrm>
            <a:off x="5815236" y="1638582"/>
            <a:ext cx="4000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3" name="Line 37"/>
          <p:cNvSpPr>
            <a:spLocks noChangeShapeType="1"/>
          </p:cNvSpPr>
          <p:nvPr/>
        </p:nvSpPr>
        <p:spPr bwMode="auto">
          <a:xfrm>
            <a:off x="6100986" y="1638582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6386736" y="1581432"/>
            <a:ext cx="571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5" name="Line 39"/>
          <p:cNvSpPr>
            <a:spLocks noChangeShapeType="1"/>
          </p:cNvSpPr>
          <p:nvPr/>
        </p:nvSpPr>
        <p:spPr bwMode="auto">
          <a:xfrm flipH="1">
            <a:off x="6501036" y="1581432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6" name="Line 40"/>
          <p:cNvSpPr>
            <a:spLocks noChangeShapeType="1"/>
          </p:cNvSpPr>
          <p:nvPr/>
        </p:nvSpPr>
        <p:spPr bwMode="auto">
          <a:xfrm flipH="1">
            <a:off x="6558186" y="1638582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7" name="Line 41"/>
          <p:cNvSpPr>
            <a:spLocks noChangeShapeType="1"/>
          </p:cNvSpPr>
          <p:nvPr/>
        </p:nvSpPr>
        <p:spPr bwMode="auto">
          <a:xfrm flipH="1">
            <a:off x="6558186" y="1638582"/>
            <a:ext cx="6858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8" name="Line 42"/>
          <p:cNvSpPr>
            <a:spLocks noChangeShapeType="1"/>
          </p:cNvSpPr>
          <p:nvPr/>
        </p:nvSpPr>
        <p:spPr bwMode="auto">
          <a:xfrm flipH="1">
            <a:off x="7415436" y="1638582"/>
            <a:ext cx="571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49" name="Line 43"/>
          <p:cNvSpPr>
            <a:spLocks noChangeShapeType="1"/>
          </p:cNvSpPr>
          <p:nvPr/>
        </p:nvSpPr>
        <p:spPr bwMode="auto">
          <a:xfrm flipH="1">
            <a:off x="7529736" y="1638582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0" name="Line 44"/>
          <p:cNvSpPr>
            <a:spLocks noChangeShapeType="1"/>
          </p:cNvSpPr>
          <p:nvPr/>
        </p:nvSpPr>
        <p:spPr bwMode="auto">
          <a:xfrm flipH="1" flipV="1">
            <a:off x="7472586" y="3924582"/>
            <a:ext cx="51435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1" name="Line 45"/>
          <p:cNvSpPr>
            <a:spLocks noChangeShapeType="1"/>
          </p:cNvSpPr>
          <p:nvPr/>
        </p:nvSpPr>
        <p:spPr bwMode="auto">
          <a:xfrm>
            <a:off x="6501036" y="1981482"/>
            <a:ext cx="4000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2" name="Line 46"/>
          <p:cNvSpPr>
            <a:spLocks noChangeShapeType="1"/>
          </p:cNvSpPr>
          <p:nvPr/>
        </p:nvSpPr>
        <p:spPr bwMode="auto">
          <a:xfrm flipH="1">
            <a:off x="7015386" y="1981482"/>
            <a:ext cx="4000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3" name="Line 47"/>
          <p:cNvSpPr>
            <a:spLocks noChangeShapeType="1"/>
          </p:cNvSpPr>
          <p:nvPr/>
        </p:nvSpPr>
        <p:spPr bwMode="auto">
          <a:xfrm>
            <a:off x="6958236" y="2381532"/>
            <a:ext cx="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pic>
        <p:nvPicPr>
          <p:cNvPr id="54" name="Picture 48" descr="无标题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336" y="2610132"/>
            <a:ext cx="710804" cy="47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Line 49"/>
          <p:cNvSpPr>
            <a:spLocks noChangeShapeType="1"/>
          </p:cNvSpPr>
          <p:nvPr/>
        </p:nvSpPr>
        <p:spPr bwMode="auto">
          <a:xfrm>
            <a:off x="7015386" y="3638832"/>
            <a:ext cx="4000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6" name="Line 50"/>
          <p:cNvSpPr>
            <a:spLocks noChangeShapeType="1"/>
          </p:cNvSpPr>
          <p:nvPr/>
        </p:nvSpPr>
        <p:spPr bwMode="auto">
          <a:xfrm flipH="1">
            <a:off x="6501036" y="3638832"/>
            <a:ext cx="4000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7" name="Line 51"/>
          <p:cNvSpPr>
            <a:spLocks noChangeShapeType="1"/>
          </p:cNvSpPr>
          <p:nvPr/>
        </p:nvSpPr>
        <p:spPr bwMode="auto">
          <a:xfrm flipH="1">
            <a:off x="5758086" y="3981732"/>
            <a:ext cx="5715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8" name="Line 52"/>
          <p:cNvSpPr>
            <a:spLocks noChangeShapeType="1"/>
          </p:cNvSpPr>
          <p:nvPr/>
        </p:nvSpPr>
        <p:spPr bwMode="auto">
          <a:xfrm flipH="1">
            <a:off x="6100986" y="3981732"/>
            <a:ext cx="3429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59" name="Line 53"/>
          <p:cNvSpPr>
            <a:spLocks noChangeShapeType="1"/>
          </p:cNvSpPr>
          <p:nvPr/>
        </p:nvSpPr>
        <p:spPr bwMode="auto">
          <a:xfrm>
            <a:off x="6501036" y="3981732"/>
            <a:ext cx="571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0" name="Line 54"/>
          <p:cNvSpPr>
            <a:spLocks noChangeShapeType="1"/>
          </p:cNvSpPr>
          <p:nvPr/>
        </p:nvSpPr>
        <p:spPr bwMode="auto">
          <a:xfrm flipH="1">
            <a:off x="6329586" y="3981732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1" name="Line 55"/>
          <p:cNvSpPr>
            <a:spLocks noChangeShapeType="1"/>
          </p:cNvSpPr>
          <p:nvPr/>
        </p:nvSpPr>
        <p:spPr bwMode="auto">
          <a:xfrm>
            <a:off x="6558186" y="3981732"/>
            <a:ext cx="2857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2" name="Line 56"/>
          <p:cNvSpPr>
            <a:spLocks noChangeShapeType="1"/>
          </p:cNvSpPr>
          <p:nvPr/>
        </p:nvSpPr>
        <p:spPr bwMode="auto">
          <a:xfrm>
            <a:off x="6558186" y="3981732"/>
            <a:ext cx="5143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3" name="Line 57"/>
          <p:cNvSpPr>
            <a:spLocks noChangeShapeType="1"/>
          </p:cNvSpPr>
          <p:nvPr/>
        </p:nvSpPr>
        <p:spPr bwMode="auto">
          <a:xfrm>
            <a:off x="7415436" y="3981732"/>
            <a:ext cx="571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4" name="Line 58"/>
          <p:cNvSpPr>
            <a:spLocks noChangeShapeType="1"/>
          </p:cNvSpPr>
          <p:nvPr/>
        </p:nvSpPr>
        <p:spPr bwMode="auto">
          <a:xfrm>
            <a:off x="7472586" y="3924582"/>
            <a:ext cx="2286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5" name="Line 59"/>
          <p:cNvSpPr>
            <a:spLocks noChangeShapeType="1"/>
          </p:cNvSpPr>
          <p:nvPr/>
        </p:nvSpPr>
        <p:spPr bwMode="auto">
          <a:xfrm flipH="1">
            <a:off x="7586886" y="1638582"/>
            <a:ext cx="4000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66" name="Rectangle 60"/>
          <p:cNvSpPr>
            <a:spLocks noChangeArrowheads="1"/>
          </p:cNvSpPr>
          <p:nvPr/>
        </p:nvSpPr>
        <p:spPr bwMode="auto">
          <a:xfrm>
            <a:off x="4959177" y="1409982"/>
            <a:ext cx="62865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</a:p>
        </p:txBody>
      </p:sp>
      <p:sp>
        <p:nvSpPr>
          <p:cNvPr id="67" name="Rectangle 61"/>
          <p:cNvSpPr>
            <a:spLocks noChangeArrowheads="1"/>
          </p:cNvSpPr>
          <p:nvPr/>
        </p:nvSpPr>
        <p:spPr bwMode="auto">
          <a:xfrm>
            <a:off x="4959177" y="1752882"/>
            <a:ext cx="62865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68" name="Rectangle 62"/>
          <p:cNvSpPr>
            <a:spLocks noChangeArrowheads="1"/>
          </p:cNvSpPr>
          <p:nvPr/>
        </p:nvSpPr>
        <p:spPr bwMode="auto">
          <a:xfrm>
            <a:off x="4959177" y="2152932"/>
            <a:ext cx="62865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69" name="Rectangle 63"/>
          <p:cNvSpPr>
            <a:spLocks noChangeArrowheads="1"/>
          </p:cNvSpPr>
          <p:nvPr/>
        </p:nvSpPr>
        <p:spPr bwMode="auto">
          <a:xfrm>
            <a:off x="4959177" y="3400707"/>
            <a:ext cx="62865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70" name="Rectangle 64"/>
          <p:cNvSpPr>
            <a:spLocks noChangeArrowheads="1"/>
          </p:cNvSpPr>
          <p:nvPr/>
        </p:nvSpPr>
        <p:spPr bwMode="auto">
          <a:xfrm>
            <a:off x="4959177" y="3829332"/>
            <a:ext cx="62865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71" name="Rectangle 65"/>
          <p:cNvSpPr>
            <a:spLocks noChangeArrowheads="1"/>
          </p:cNvSpPr>
          <p:nvPr/>
        </p:nvSpPr>
        <p:spPr bwMode="auto">
          <a:xfrm>
            <a:off x="4959177" y="4229382"/>
            <a:ext cx="62865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</a:p>
        </p:txBody>
      </p:sp>
      <p:sp>
        <p:nvSpPr>
          <p:cNvPr id="72" name="Line 66"/>
          <p:cNvSpPr>
            <a:spLocks noChangeShapeType="1"/>
          </p:cNvSpPr>
          <p:nvPr/>
        </p:nvSpPr>
        <p:spPr bwMode="auto">
          <a:xfrm>
            <a:off x="8159577" y="2267232"/>
            <a:ext cx="0" cy="125730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 type="triangle" w="med" len="med"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73" name="灯片编号占位符 2">
            <a:extLst>
              <a:ext uri="{FF2B5EF4-FFF2-40B4-BE49-F238E27FC236}">
                <a16:creationId xmlns:a16="http://schemas.microsoft.com/office/drawing/2014/main" id="{066DD3B8-E5D3-44D6-AF23-E90275E0559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422ADDBF-662D-4A92-B35D-BECB58760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078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2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2553405" y="3124075"/>
            <a:ext cx="3694509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794977" y="1851297"/>
            <a:ext cx="1335881" cy="775097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616883" y="1851297"/>
            <a:ext cx="1335881" cy="775097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794976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056914" y="1509588"/>
            <a:ext cx="1036343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Processes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306945" y="2203723"/>
            <a:ext cx="329418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 b="1">
                <a:solidFill>
                  <a:srgbClr val="3333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529592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616883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5878820" y="1509588"/>
            <a:ext cx="944971" cy="275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350" dirty="0">
                <a:solidFill>
                  <a:srgbClr val="333399"/>
                </a:solidFill>
              </a:rPr>
              <a:t>Processes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6128851" y="2203723"/>
            <a:ext cx="329418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 b="1">
                <a:solidFill>
                  <a:srgbClr val="3333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6351499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 dirty="0">
                <a:solidFill>
                  <a:srgbClr val="333399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</a:t>
            </a:r>
            <a:endParaRPr kumimoji="1" lang="en-US" altLang="zh-CN" sz="5400" dirty="0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pic>
        <p:nvPicPr>
          <p:cNvPr id="19" name="Picture 1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14" y="2804987"/>
            <a:ext cx="40005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6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374" y="2804987"/>
            <a:ext cx="40124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6195526" y="2513285"/>
            <a:ext cx="191691" cy="429815"/>
          </a:xfrm>
          <a:prstGeom prst="upDownArrow">
            <a:avLst>
              <a:gd name="adj1" fmla="val 50000"/>
              <a:gd name="adj2" fmla="val 448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2489111" y="3187178"/>
            <a:ext cx="0" cy="83224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6312207" y="3187178"/>
            <a:ext cx="0" cy="83224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2489111" y="3827735"/>
            <a:ext cx="382309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078811" y="3484835"/>
            <a:ext cx="2637743" cy="52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500" dirty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kumimoji="1" lang="zh-CN" altLang="en-US" sz="1500" dirty="0">
                <a:solidFill>
                  <a:srgbClr val="FF0000"/>
                </a:solidFill>
                <a:ea typeface="黑体" panose="02010609060101010101" pitchFamily="49" charset="-122"/>
              </a:rPr>
              <a:t>协议的作用范围</a:t>
            </a:r>
          </a:p>
          <a:p>
            <a:pPr algn="ctr" eaLnBrk="0" hangingPunct="0"/>
            <a:r>
              <a:rPr kumimoji="1" lang="zh-CN" altLang="en-US" sz="1500" dirty="0">
                <a:solidFill>
                  <a:srgbClr val="FF0000"/>
                </a:solidFill>
                <a:ea typeface="黑体" panose="02010609060101010101" pitchFamily="49" charset="-122"/>
              </a:rPr>
              <a:t>（提供主机之间的逻辑通信）</a:t>
            </a: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2041436" y="2513285"/>
            <a:ext cx="2381" cy="214669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>
            <a:off x="6739642" y="2547813"/>
            <a:ext cx="4763" cy="207764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2043817" y="4402806"/>
            <a:ext cx="4713684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137747" y="4078957"/>
            <a:ext cx="2637743" cy="52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500" dirty="0">
                <a:solidFill>
                  <a:srgbClr val="0000FF"/>
                </a:solidFill>
                <a:ea typeface="黑体" panose="02010609060101010101" pitchFamily="49" charset="-122"/>
              </a:rPr>
              <a:t>TCP </a:t>
            </a:r>
            <a:r>
              <a:rPr kumimoji="1" lang="zh-CN" altLang="en-US" sz="1500" dirty="0">
                <a:solidFill>
                  <a:srgbClr val="0000FF"/>
                </a:solidFill>
                <a:ea typeface="黑体" panose="02010609060101010101" pitchFamily="49" charset="-122"/>
              </a:rPr>
              <a:t>和 </a:t>
            </a:r>
            <a:r>
              <a:rPr kumimoji="1" lang="en-US" altLang="zh-CN" sz="1500" dirty="0">
                <a:solidFill>
                  <a:srgbClr val="0000FF"/>
                </a:solidFill>
                <a:ea typeface="黑体" panose="02010609060101010101" pitchFamily="49" charset="-122"/>
              </a:rPr>
              <a:t>UDP </a:t>
            </a:r>
            <a:r>
              <a:rPr kumimoji="1" lang="zh-CN" altLang="en-US" sz="1500" dirty="0">
                <a:solidFill>
                  <a:srgbClr val="0000FF"/>
                </a:solidFill>
                <a:ea typeface="黑体" panose="02010609060101010101" pitchFamily="49" charset="-122"/>
              </a:rPr>
              <a:t>协议的作用范围</a:t>
            </a:r>
          </a:p>
          <a:p>
            <a:pPr algn="ctr" eaLnBrk="0" hangingPunct="0"/>
            <a:r>
              <a:rPr kumimoji="1" lang="zh-CN" altLang="en-US" sz="1500" dirty="0">
                <a:solidFill>
                  <a:srgbClr val="0000FF"/>
                </a:solidFill>
                <a:ea typeface="黑体" panose="02010609060101010101" pitchFamily="49" charset="-122"/>
              </a:rPr>
              <a:t>（提供进程之间的逻辑通信）</a:t>
            </a:r>
          </a:p>
        </p:txBody>
      </p:sp>
      <p:sp>
        <p:nvSpPr>
          <p:cNvPr id="30" name="AutoShape 26"/>
          <p:cNvSpPr>
            <a:spLocks noChangeArrowheads="1"/>
          </p:cNvSpPr>
          <p:nvPr/>
        </p:nvSpPr>
        <p:spPr bwMode="auto">
          <a:xfrm>
            <a:off x="2378382" y="2526381"/>
            <a:ext cx="191691" cy="429816"/>
          </a:xfrm>
          <a:prstGeom prst="upDownArrow">
            <a:avLst>
              <a:gd name="adj1" fmla="val 50000"/>
              <a:gd name="adj2" fmla="val 448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315091"/>
              </p:ext>
            </p:extLst>
          </p:nvPr>
        </p:nvGraphicFramePr>
        <p:xfrm>
          <a:off x="3167767" y="2377554"/>
          <a:ext cx="2400300" cy="114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VISIO" r:id="rId5" imgW="1689840" imgH="964440" progId="Visio.Drawing.6">
                  <p:embed/>
                </p:oleObj>
              </mc:Choice>
              <mc:Fallback>
                <p:oleObj name="VISIO" r:id="rId5" imgW="1689840" imgH="964440" progId="Visio.Drawing.6">
                  <p:embed/>
                  <p:pic>
                    <p:nvPicPr>
                      <p:cNvPr id="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767" y="2377554"/>
                        <a:ext cx="2400300" cy="1144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28"/>
          <p:cNvSpPr>
            <a:spLocks noChangeArrowheads="1"/>
          </p:cNvSpPr>
          <p:nvPr/>
        </p:nvSpPr>
        <p:spPr bwMode="auto">
          <a:xfrm>
            <a:off x="3925004" y="2762125"/>
            <a:ext cx="789480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Internet</a:t>
            </a: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8766BF6E-9AF2-425C-8D87-E49F0736E53D}"/>
              </a:ext>
            </a:extLst>
          </p:cNvPr>
          <p:cNvSpPr txBox="1">
            <a:spLocks/>
          </p:cNvSpPr>
          <p:nvPr/>
        </p:nvSpPr>
        <p:spPr>
          <a:xfrm>
            <a:off x="468000" y="936000"/>
            <a:ext cx="3556653" cy="44247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运输层和网络层的关系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灯片编号占位符 2">
            <a:extLst>
              <a:ext uri="{FF2B5EF4-FFF2-40B4-BE49-F238E27FC236}">
                <a16:creationId xmlns:a16="http://schemas.microsoft.com/office/drawing/2014/main" id="{30ECB0E2-CBCC-487F-83A3-8A2EF8F36BA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35" name="AutoShape 5">
            <a:extLst>
              <a:ext uri="{FF2B5EF4-FFF2-40B4-BE49-F238E27FC236}">
                <a16:creationId xmlns:a16="http://schemas.microsoft.com/office/drawing/2014/main" id="{194DDE9A-9704-4654-9793-5187DD5D6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227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482465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3.1.2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运输层的服务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"/>
          <p:cNvSpPr>
            <a:spLocks noChangeArrowheads="1"/>
          </p:cNvSpPr>
          <p:nvPr/>
        </p:nvSpPr>
        <p:spPr bwMode="auto">
          <a:xfrm>
            <a:off x="1952681" y="2165672"/>
            <a:ext cx="5454253" cy="701279"/>
          </a:xfrm>
          <a:prstGeom prst="rect">
            <a:avLst/>
          </a:prstGeom>
          <a:solidFill>
            <a:schemeClr val="accent6">
              <a:lumMod val="20000"/>
              <a:lumOff val="80000"/>
              <a:alpha val="60001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400481" y="1607270"/>
            <a:ext cx="610790" cy="2952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HTTP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4561340" y="1607270"/>
            <a:ext cx="611981" cy="2952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SMTP</a:t>
            </a:r>
          </a:p>
        </p:txBody>
      </p:sp>
      <p:sp>
        <p:nvSpPr>
          <p:cNvPr id="37" name="Rectangle 8"/>
          <p:cNvSpPr>
            <a:spLocks noChangeArrowheads="1"/>
          </p:cNvSpPr>
          <p:nvPr/>
        </p:nvSpPr>
        <p:spPr bwMode="auto">
          <a:xfrm>
            <a:off x="5417400" y="1607270"/>
            <a:ext cx="610790" cy="2952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DNS</a:t>
            </a:r>
          </a:p>
        </p:txBody>
      </p: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6578259" y="1607270"/>
            <a:ext cx="611981" cy="2952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RTP</a:t>
            </a:r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>
            <a:off x="3950550" y="2315691"/>
            <a:ext cx="610790" cy="2952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TCP</a:t>
            </a: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6028190" y="2315691"/>
            <a:ext cx="611981" cy="2952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chemeClr val="accent5">
                    <a:lumMod val="50000"/>
                  </a:schemeClr>
                </a:solidFill>
                <a:ea typeface="黑体" panose="02010609060101010101" pitchFamily="49" charset="-122"/>
              </a:rPr>
              <a:t>UDP</a:t>
            </a:r>
          </a:p>
        </p:txBody>
      </p:sp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4988775" y="3144366"/>
            <a:ext cx="611981" cy="295275"/>
          </a:xfrm>
          <a:prstGeom prst="rect">
            <a:avLst/>
          </a:prstGeom>
          <a:solidFill>
            <a:srgbClr val="FF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 sz="1500">
                <a:solidFill>
                  <a:srgbClr val="333399"/>
                </a:solidFill>
                <a:ea typeface="黑体" panose="02010609060101010101" pitchFamily="49" charset="-122"/>
              </a:rPr>
              <a:t>IP</a:t>
            </a:r>
          </a:p>
        </p:txBody>
      </p:sp>
      <p:sp>
        <p:nvSpPr>
          <p:cNvPr id="42" name="Rectangle 13"/>
          <p:cNvSpPr>
            <a:spLocks noChangeArrowheads="1"/>
          </p:cNvSpPr>
          <p:nvPr/>
        </p:nvSpPr>
        <p:spPr bwMode="auto">
          <a:xfrm>
            <a:off x="3400481" y="4104010"/>
            <a:ext cx="978694" cy="411956"/>
          </a:xfrm>
          <a:prstGeom prst="rect">
            <a:avLst/>
          </a:prstGeom>
          <a:solidFill>
            <a:srgbClr val="E9F5DB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endParaRPr kumimoji="1" lang="zh-CN" altLang="zh-CN" sz="1100">
              <a:latin typeface="Times New Roman" panose="02020603050405020304" pitchFamily="18" charset="0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4683975" y="4104010"/>
            <a:ext cx="977503" cy="411956"/>
          </a:xfrm>
          <a:prstGeom prst="rect">
            <a:avLst/>
          </a:prstGeom>
          <a:solidFill>
            <a:srgbClr val="E9F5DB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endParaRPr kumimoji="1" lang="zh-CN" altLang="zh-CN" sz="1100">
              <a:latin typeface="Times New Roman" panose="02020603050405020304" pitchFamily="18" charset="0"/>
            </a:endParaRPr>
          </a:p>
        </p:txBody>
      </p:sp>
      <p:sp>
        <p:nvSpPr>
          <p:cNvPr id="44" name="Rectangle 15"/>
          <p:cNvSpPr>
            <a:spLocks noChangeArrowheads="1"/>
          </p:cNvSpPr>
          <p:nvPr/>
        </p:nvSpPr>
        <p:spPr bwMode="auto">
          <a:xfrm>
            <a:off x="6212737" y="4104010"/>
            <a:ext cx="977503" cy="411956"/>
          </a:xfrm>
          <a:prstGeom prst="rect">
            <a:avLst/>
          </a:prstGeom>
          <a:solidFill>
            <a:srgbClr val="E9F5DB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endParaRPr kumimoji="1" lang="zh-CN" altLang="zh-CN" sz="1100">
              <a:latin typeface="Times New Roman" panose="02020603050405020304" pitchFamily="18" charset="0"/>
            </a:endParaRPr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>
            <a:off x="1933630" y="3676576"/>
            <a:ext cx="55006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>
            <a:off x="1933630" y="2908622"/>
            <a:ext cx="55006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>
            <a:off x="1933630" y="2138288"/>
            <a:ext cx="55006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2115796" y="3111029"/>
            <a:ext cx="761747" cy="32316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solidFill>
                  <a:srgbClr val="333399"/>
                </a:solidFill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1782787" y="4117593"/>
            <a:ext cx="1360994" cy="32316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500" dirty="0">
                <a:solidFill>
                  <a:srgbClr val="333399"/>
                </a:solidFill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2116987" y="2354982"/>
            <a:ext cx="761747" cy="32316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>
                <a:solidFill>
                  <a:srgbClr val="333399"/>
                </a:solidFill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51" name="Text Box 22"/>
          <p:cNvSpPr txBox="1">
            <a:spLocks noChangeArrowheads="1"/>
          </p:cNvSpPr>
          <p:nvPr/>
        </p:nvSpPr>
        <p:spPr bwMode="auto">
          <a:xfrm>
            <a:off x="2156278" y="1598935"/>
            <a:ext cx="761747" cy="32316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solidFill>
                  <a:srgbClr val="333399"/>
                </a:solidFill>
                <a:ea typeface="黑体" panose="02010609060101010101" pitchFamily="49" charset="-122"/>
              </a:rPr>
              <a:t>应用层</a:t>
            </a: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4106521" y="1544166"/>
            <a:ext cx="377026" cy="32316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6128202" y="1544166"/>
            <a:ext cx="377026" cy="32316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5787683" y="4092104"/>
            <a:ext cx="325730" cy="26161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100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55" name="Line 26"/>
          <p:cNvSpPr>
            <a:spLocks noChangeShapeType="1"/>
          </p:cNvSpPr>
          <p:nvPr/>
        </p:nvSpPr>
        <p:spPr bwMode="auto">
          <a:xfrm>
            <a:off x="3696946" y="1922785"/>
            <a:ext cx="382191" cy="410766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6" name="Line 27"/>
          <p:cNvSpPr>
            <a:spLocks noChangeShapeType="1"/>
          </p:cNvSpPr>
          <p:nvPr/>
        </p:nvSpPr>
        <p:spPr bwMode="auto">
          <a:xfrm>
            <a:off x="5710294" y="1935882"/>
            <a:ext cx="440531" cy="3714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7" name="Line 28"/>
          <p:cNvSpPr>
            <a:spLocks noChangeShapeType="1"/>
          </p:cNvSpPr>
          <p:nvPr/>
        </p:nvSpPr>
        <p:spPr bwMode="auto">
          <a:xfrm flipH="1">
            <a:off x="4418465" y="1923976"/>
            <a:ext cx="438150" cy="3905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8" name="Line 29"/>
          <p:cNvSpPr>
            <a:spLocks noChangeShapeType="1"/>
          </p:cNvSpPr>
          <p:nvPr/>
        </p:nvSpPr>
        <p:spPr bwMode="auto">
          <a:xfrm flipH="1">
            <a:off x="6454433" y="1923976"/>
            <a:ext cx="429816" cy="3952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9" name="Line 30"/>
          <p:cNvSpPr>
            <a:spLocks noChangeShapeType="1"/>
          </p:cNvSpPr>
          <p:nvPr/>
        </p:nvSpPr>
        <p:spPr bwMode="auto">
          <a:xfrm>
            <a:off x="4252968" y="2634779"/>
            <a:ext cx="862013" cy="49649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0" name="Line 31"/>
          <p:cNvSpPr>
            <a:spLocks noChangeShapeType="1"/>
          </p:cNvSpPr>
          <p:nvPr/>
        </p:nvSpPr>
        <p:spPr bwMode="auto">
          <a:xfrm flipH="1">
            <a:off x="5478121" y="2646685"/>
            <a:ext cx="864394" cy="4857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1" name="Line 32"/>
          <p:cNvSpPr>
            <a:spLocks noChangeShapeType="1"/>
          </p:cNvSpPr>
          <p:nvPr/>
        </p:nvSpPr>
        <p:spPr bwMode="auto">
          <a:xfrm>
            <a:off x="5511458" y="3480122"/>
            <a:ext cx="1220391" cy="62984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2" name="Line 33"/>
          <p:cNvSpPr>
            <a:spLocks noChangeShapeType="1"/>
          </p:cNvSpPr>
          <p:nvPr/>
        </p:nvSpPr>
        <p:spPr bwMode="auto">
          <a:xfrm flipH="1">
            <a:off x="3816008" y="3472979"/>
            <a:ext cx="1234679" cy="63698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" name="Line 34"/>
          <p:cNvSpPr>
            <a:spLocks noChangeShapeType="1"/>
          </p:cNvSpPr>
          <p:nvPr/>
        </p:nvSpPr>
        <p:spPr bwMode="auto">
          <a:xfrm flipH="1">
            <a:off x="5112600" y="3439642"/>
            <a:ext cx="183356" cy="67032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4" name="Text Box 35"/>
          <p:cNvSpPr txBox="1">
            <a:spLocks noChangeArrowheads="1"/>
          </p:cNvSpPr>
          <p:nvPr/>
        </p:nvSpPr>
        <p:spPr bwMode="auto">
          <a:xfrm>
            <a:off x="3374349" y="4152529"/>
            <a:ext cx="1021433" cy="30777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solidFill>
                  <a:srgbClr val="333399"/>
                </a:solidFill>
                <a:ea typeface="黑体" panose="02010609060101010101" pitchFamily="49" charset="-122"/>
              </a:rPr>
              <a:t>网络接口</a:t>
            </a:r>
            <a:r>
              <a:rPr kumimoji="1" lang="zh-CN" altLang="en-US" sz="700" dirty="0">
                <a:solidFill>
                  <a:srgbClr val="333399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1400" dirty="0">
                <a:solidFill>
                  <a:srgbClr val="333399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65" name="Text Box 36"/>
          <p:cNvSpPr txBox="1">
            <a:spLocks noChangeArrowheads="1"/>
          </p:cNvSpPr>
          <p:nvPr/>
        </p:nvSpPr>
        <p:spPr bwMode="auto">
          <a:xfrm>
            <a:off x="4654209" y="4152826"/>
            <a:ext cx="1021433" cy="30777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solidFill>
                  <a:srgbClr val="333399"/>
                </a:solidFill>
                <a:ea typeface="黑体" panose="02010609060101010101" pitchFamily="49" charset="-122"/>
              </a:rPr>
              <a:t>网络接口</a:t>
            </a:r>
            <a:r>
              <a:rPr kumimoji="1" lang="zh-CN" altLang="en-US" sz="700" dirty="0">
                <a:solidFill>
                  <a:srgbClr val="333399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1400" dirty="0">
                <a:solidFill>
                  <a:srgbClr val="333399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66" name="Text Box 37"/>
          <p:cNvSpPr txBox="1">
            <a:spLocks noChangeArrowheads="1"/>
          </p:cNvSpPr>
          <p:nvPr/>
        </p:nvSpPr>
        <p:spPr bwMode="auto">
          <a:xfrm>
            <a:off x="6192496" y="4137348"/>
            <a:ext cx="1021433" cy="30777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solidFill>
                  <a:srgbClr val="333399"/>
                </a:solidFill>
                <a:ea typeface="黑体" panose="02010609060101010101" pitchFamily="49" charset="-122"/>
              </a:rPr>
              <a:t>网络接口</a:t>
            </a:r>
            <a:r>
              <a:rPr kumimoji="1" lang="zh-CN" altLang="en-US" sz="700" dirty="0">
                <a:solidFill>
                  <a:srgbClr val="333399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1400" dirty="0">
                <a:solidFill>
                  <a:srgbClr val="333399"/>
                </a:solidFill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67" name="Line 38"/>
          <p:cNvSpPr>
            <a:spLocks noChangeShapeType="1"/>
          </p:cNvSpPr>
          <p:nvPr/>
        </p:nvSpPr>
        <p:spPr bwMode="auto">
          <a:xfrm>
            <a:off x="1547664" y="1754907"/>
            <a:ext cx="0" cy="2620565"/>
          </a:xfrm>
          <a:prstGeom prst="line">
            <a:avLst/>
          </a:prstGeom>
          <a:noFill/>
          <a:ln w="44450">
            <a:solidFill>
              <a:srgbClr val="7030A0"/>
            </a:solidFill>
            <a:round/>
            <a:headEnd/>
            <a:tailEnd type="triangl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8" name="灯片编号占位符 2">
            <a:extLst>
              <a:ext uri="{FF2B5EF4-FFF2-40B4-BE49-F238E27FC236}">
                <a16:creationId xmlns:a16="http://schemas.microsoft.com/office/drawing/2014/main" id="{7D3A46CE-8FBA-46A8-98FA-392C9A73620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69" name="AutoShape 5">
            <a:extLst>
              <a:ext uri="{FF2B5EF4-FFF2-40B4-BE49-F238E27FC236}">
                <a16:creationId xmlns:a16="http://schemas.microsoft.com/office/drawing/2014/main" id="{5038A059-A5F0-4C68-88EF-477651934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158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6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概述和运输层服务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509620" y="1347614"/>
            <a:ext cx="6158724" cy="3532807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可靠的、有序的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交付：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握手机制：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面向连接的逻辑通信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流控制：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发送速度不能大于接收速度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拥塞控制：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从发送端系统感知、避免网络的拥塞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不可靠的、无序的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交付：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不提供必要的服务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尽最大努力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向网络交付数据（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best effort delivery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运输层没有提供的服务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最低时延保障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最低带宽保障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4646A3E-AA6B-4E4E-89E6-15C0D301536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DF0A834-E7B4-44CD-9D29-8F852C752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3F3BA071-F4D0-4341-B9BB-F9788907062B}"/>
              </a:ext>
            </a:extLst>
          </p:cNvPr>
          <p:cNvSpPr/>
          <p:nvPr/>
        </p:nvSpPr>
        <p:spPr>
          <a:xfrm>
            <a:off x="1619672" y="1468176"/>
            <a:ext cx="216024" cy="1368152"/>
          </a:xfrm>
          <a:prstGeom prst="leftBrace">
            <a:avLst>
              <a:gd name="adj1" fmla="val 90838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ACA005-7932-465F-B96F-E995FCF8B3BB}"/>
              </a:ext>
            </a:extLst>
          </p:cNvPr>
          <p:cNvSpPr txBox="1"/>
          <p:nvPr/>
        </p:nvSpPr>
        <p:spPr>
          <a:xfrm>
            <a:off x="199900" y="1967586"/>
            <a:ext cx="139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alternative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3E9DD9-CC43-4E0C-B8AB-CEBBE7330386}"/>
              </a:ext>
            </a:extLst>
          </p:cNvPr>
          <p:cNvSpPr txBox="1"/>
          <p:nvPr/>
        </p:nvSpPr>
        <p:spPr>
          <a:xfrm>
            <a:off x="395536" y="888896"/>
            <a:ext cx="4732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450"/>
              </a:spcAft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3.1.2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运输层的服务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948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概述和传输层服务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3.2 </a:t>
            </a:r>
            <a:r>
              <a:rPr lang="zh-CN" altLang="en-US" dirty="0">
                <a:solidFill>
                  <a:srgbClr val="FF0000"/>
                </a:solidFill>
              </a:rPr>
              <a:t>多路复用和多路分解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3.3 </a:t>
            </a:r>
            <a:r>
              <a:rPr lang="zh-CN" altLang="en-US" dirty="0"/>
              <a:t>无连接运输服务</a:t>
            </a:r>
            <a:r>
              <a:rPr lang="en-US" altLang="zh-CN" dirty="0"/>
              <a:t>:UDP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69C386C-512C-438D-A323-EBD60E99D9D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C786DFE-546B-4C3F-8132-BABA17443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078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  <a:effectLst/>
              </a:rPr>
              <a:t>3.2 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416947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</p:txBody>
      </p:sp>
      <p:sp>
        <p:nvSpPr>
          <p:cNvPr id="71" name="Rectangle 8"/>
          <p:cNvSpPr>
            <a:spLocks noChangeArrowheads="1"/>
          </p:cNvSpPr>
          <p:nvPr/>
        </p:nvSpPr>
        <p:spPr bwMode="auto">
          <a:xfrm>
            <a:off x="818964" y="3829642"/>
            <a:ext cx="31432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Rectangle 9"/>
          <p:cNvSpPr>
            <a:spLocks noChangeArrowheads="1"/>
          </p:cNvSpPr>
          <p:nvPr/>
        </p:nvSpPr>
        <p:spPr bwMode="auto">
          <a:xfrm>
            <a:off x="818964" y="1829392"/>
            <a:ext cx="314325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B58B67F-E7F0-484F-B72B-B1C83CAC7F79}"/>
              </a:ext>
            </a:extLst>
          </p:cNvPr>
          <p:cNvGrpSpPr/>
          <p:nvPr/>
        </p:nvGrpSpPr>
        <p:grpSpPr>
          <a:xfrm>
            <a:off x="1575048" y="1419622"/>
            <a:ext cx="6494068" cy="3527310"/>
            <a:chOff x="1575048" y="1419622"/>
            <a:chExt cx="6494070" cy="3527310"/>
          </a:xfrm>
        </p:grpSpPr>
        <p:sp>
          <p:nvSpPr>
            <p:cNvPr id="67" name="AutoShape 4"/>
            <p:cNvSpPr>
              <a:spLocks noChangeArrowheads="1"/>
            </p:cNvSpPr>
            <p:nvPr/>
          </p:nvSpPr>
          <p:spPr bwMode="auto">
            <a:xfrm>
              <a:off x="5004048" y="1429342"/>
              <a:ext cx="2914650" cy="3086100"/>
            </a:xfrm>
            <a:prstGeom prst="roundRect">
              <a:avLst>
                <a:gd name="adj" fmla="val 7255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AutoShape 5"/>
            <p:cNvSpPr>
              <a:spLocks noChangeArrowheads="1"/>
            </p:cNvSpPr>
            <p:nvPr/>
          </p:nvSpPr>
          <p:spPr bwMode="auto">
            <a:xfrm>
              <a:off x="1575048" y="1429342"/>
              <a:ext cx="2914650" cy="3086100"/>
            </a:xfrm>
            <a:prstGeom prst="roundRect">
              <a:avLst>
                <a:gd name="adj" fmla="val 6400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6"/>
            <p:cNvSpPr>
              <a:spLocks noChangeArrowheads="1"/>
            </p:cNvSpPr>
            <p:nvPr/>
          </p:nvSpPr>
          <p:spPr bwMode="auto">
            <a:xfrm>
              <a:off x="5061198" y="3886792"/>
              <a:ext cx="280035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AutoShape 7"/>
            <p:cNvSpPr>
              <a:spLocks noChangeArrowheads="1"/>
            </p:cNvSpPr>
            <p:nvPr/>
          </p:nvSpPr>
          <p:spPr bwMode="auto">
            <a:xfrm>
              <a:off x="5346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10"/>
            <p:cNvSpPr>
              <a:spLocks noChangeShapeType="1"/>
            </p:cNvSpPr>
            <p:nvPr/>
          </p:nvSpPr>
          <p:spPr bwMode="auto">
            <a:xfrm flipH="1">
              <a:off x="19179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11"/>
            <p:cNvSpPr>
              <a:spLocks noChangeShapeType="1"/>
            </p:cNvSpPr>
            <p:nvPr/>
          </p:nvSpPr>
          <p:spPr bwMode="auto">
            <a:xfrm flipH="1">
              <a:off x="231799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12"/>
            <p:cNvSpPr txBox="1">
              <a:spLocks noChangeArrowheads="1"/>
            </p:cNvSpPr>
            <p:nvPr/>
          </p:nvSpPr>
          <p:spPr bwMode="auto">
            <a:xfrm>
              <a:off x="4619533" y="2010367"/>
              <a:ext cx="338554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</a:t>
              </a:r>
            </a:p>
            <a:p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</a:p>
            <a:p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76" name="Text Box 13"/>
            <p:cNvSpPr txBox="1">
              <a:spLocks noChangeArrowheads="1"/>
            </p:cNvSpPr>
            <p:nvPr/>
          </p:nvSpPr>
          <p:spPr bwMode="auto">
            <a:xfrm>
              <a:off x="4619533" y="2800943"/>
              <a:ext cx="338554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</a:t>
              </a:r>
            </a:p>
            <a:p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</a:t>
              </a:r>
            </a:p>
            <a:p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77" name="Text Box 14"/>
            <p:cNvSpPr txBox="1">
              <a:spLocks noChangeArrowheads="1"/>
            </p:cNvSpPr>
            <p:nvPr/>
          </p:nvSpPr>
          <p:spPr bwMode="auto">
            <a:xfrm>
              <a:off x="4619533" y="3886793"/>
              <a:ext cx="338554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</a:p>
            <a:p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络</a:t>
              </a:r>
            </a:p>
            <a:p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78" name="Text Box 15"/>
            <p:cNvSpPr txBox="1">
              <a:spLocks noChangeArrowheads="1"/>
            </p:cNvSpPr>
            <p:nvPr/>
          </p:nvSpPr>
          <p:spPr bwMode="auto">
            <a:xfrm>
              <a:off x="1921522" y="3535558"/>
              <a:ext cx="969111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296935" y="3542536"/>
              <a:ext cx="1357369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</a:p>
          </p:txBody>
        </p:sp>
        <p:sp>
          <p:nvSpPr>
            <p:cNvPr id="80" name="Text Box 17"/>
            <p:cNvSpPr txBox="1">
              <a:spLocks noChangeArrowheads="1"/>
            </p:cNvSpPr>
            <p:nvPr/>
          </p:nvSpPr>
          <p:spPr bwMode="auto">
            <a:xfrm>
              <a:off x="2651374" y="1772244"/>
              <a:ext cx="800218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82" name="AutoShape 18"/>
            <p:cNvSpPr>
              <a:spLocks noChangeArrowheads="1"/>
            </p:cNvSpPr>
            <p:nvPr/>
          </p:nvSpPr>
          <p:spPr bwMode="auto">
            <a:xfrm>
              <a:off x="1689348" y="285809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83" name="Text Box 19"/>
            <p:cNvSpPr txBox="1">
              <a:spLocks noChangeArrowheads="1"/>
            </p:cNvSpPr>
            <p:nvPr/>
          </p:nvSpPr>
          <p:spPr bwMode="auto">
            <a:xfrm>
              <a:off x="1651249" y="1934166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18607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226084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22"/>
            <p:cNvSpPr>
              <a:spLocks noChangeArrowheads="1"/>
            </p:cNvSpPr>
            <p:nvPr/>
          </p:nvSpPr>
          <p:spPr bwMode="auto">
            <a:xfrm>
              <a:off x="26608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 flipH="1">
              <a:off x="27180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 Box 24"/>
            <p:cNvSpPr txBox="1">
              <a:spLocks noChangeArrowheads="1"/>
            </p:cNvSpPr>
            <p:nvPr/>
          </p:nvSpPr>
          <p:spPr bwMode="auto">
            <a:xfrm>
              <a:off x="2057253" y="1934166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25"/>
            <p:cNvSpPr txBox="1">
              <a:spLocks noChangeArrowheads="1"/>
            </p:cNvSpPr>
            <p:nvPr/>
          </p:nvSpPr>
          <p:spPr bwMode="auto">
            <a:xfrm>
              <a:off x="2453731" y="1934166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AutoShape 26"/>
            <p:cNvSpPr>
              <a:spLocks noChangeArrowheads="1"/>
            </p:cNvSpPr>
            <p:nvPr/>
          </p:nvSpPr>
          <p:spPr bwMode="auto">
            <a:xfrm>
              <a:off x="1917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91" name="Line 27"/>
            <p:cNvSpPr>
              <a:spLocks noChangeShapeType="1"/>
            </p:cNvSpPr>
            <p:nvPr/>
          </p:nvSpPr>
          <p:spPr bwMode="auto">
            <a:xfrm flipH="1">
              <a:off x="33466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28"/>
            <p:cNvSpPr>
              <a:spLocks noChangeShapeType="1"/>
            </p:cNvSpPr>
            <p:nvPr/>
          </p:nvSpPr>
          <p:spPr bwMode="auto">
            <a:xfrm flipH="1">
              <a:off x="37467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AutoShape 29"/>
            <p:cNvSpPr>
              <a:spLocks noChangeArrowheads="1"/>
            </p:cNvSpPr>
            <p:nvPr/>
          </p:nvSpPr>
          <p:spPr bwMode="auto">
            <a:xfrm>
              <a:off x="31180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94" name="Text Box 30"/>
            <p:cNvSpPr txBox="1">
              <a:spLocks noChangeArrowheads="1"/>
            </p:cNvSpPr>
            <p:nvPr/>
          </p:nvSpPr>
          <p:spPr bwMode="auto">
            <a:xfrm>
              <a:off x="3079999" y="1943692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Rectangle 31"/>
            <p:cNvSpPr>
              <a:spLocks noChangeArrowheads="1"/>
            </p:cNvSpPr>
            <p:nvPr/>
          </p:nvSpPr>
          <p:spPr bwMode="auto">
            <a:xfrm>
              <a:off x="32895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Rectangle 32"/>
            <p:cNvSpPr>
              <a:spLocks noChangeArrowheads="1"/>
            </p:cNvSpPr>
            <p:nvPr/>
          </p:nvSpPr>
          <p:spPr bwMode="auto">
            <a:xfrm>
              <a:off x="36895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Rectangle 33"/>
            <p:cNvSpPr>
              <a:spLocks noChangeArrowheads="1"/>
            </p:cNvSpPr>
            <p:nvPr/>
          </p:nvSpPr>
          <p:spPr bwMode="auto">
            <a:xfrm>
              <a:off x="40896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Line 34"/>
            <p:cNvSpPr>
              <a:spLocks noChangeShapeType="1"/>
            </p:cNvSpPr>
            <p:nvPr/>
          </p:nvSpPr>
          <p:spPr bwMode="auto">
            <a:xfrm flipH="1">
              <a:off x="41467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35"/>
            <p:cNvSpPr txBox="1">
              <a:spLocks noChangeArrowheads="1"/>
            </p:cNvSpPr>
            <p:nvPr/>
          </p:nvSpPr>
          <p:spPr bwMode="auto">
            <a:xfrm>
              <a:off x="3486002" y="1943692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Text Box 36"/>
            <p:cNvSpPr txBox="1">
              <a:spLocks noChangeArrowheads="1"/>
            </p:cNvSpPr>
            <p:nvPr/>
          </p:nvSpPr>
          <p:spPr bwMode="auto">
            <a:xfrm>
              <a:off x="3882480" y="1943692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37"/>
            <p:cNvSpPr>
              <a:spLocks noChangeArrowheads="1"/>
            </p:cNvSpPr>
            <p:nvPr/>
          </p:nvSpPr>
          <p:spPr bwMode="auto">
            <a:xfrm>
              <a:off x="5061198" y="1886542"/>
              <a:ext cx="2800350" cy="971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38"/>
            <p:cNvSpPr>
              <a:spLocks noChangeShapeType="1"/>
            </p:cNvSpPr>
            <p:nvPr/>
          </p:nvSpPr>
          <p:spPr bwMode="auto">
            <a:xfrm flipH="1" flipV="1">
              <a:off x="53278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39"/>
            <p:cNvSpPr>
              <a:spLocks noChangeShapeType="1"/>
            </p:cNvSpPr>
            <p:nvPr/>
          </p:nvSpPr>
          <p:spPr bwMode="auto">
            <a:xfrm flipH="1" flipV="1">
              <a:off x="57279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Text Box 40"/>
            <p:cNvSpPr txBox="1">
              <a:spLocks noChangeArrowheads="1"/>
            </p:cNvSpPr>
            <p:nvPr/>
          </p:nvSpPr>
          <p:spPr bwMode="auto">
            <a:xfrm>
              <a:off x="5339749" y="3528415"/>
              <a:ext cx="969111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105" name="AutoShape 42"/>
            <p:cNvSpPr>
              <a:spLocks noChangeArrowheads="1"/>
            </p:cNvSpPr>
            <p:nvPr/>
          </p:nvSpPr>
          <p:spPr bwMode="auto">
            <a:xfrm>
              <a:off x="50992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Text Box 43"/>
            <p:cNvSpPr txBox="1">
              <a:spLocks noChangeArrowheads="1"/>
            </p:cNvSpPr>
            <p:nvPr/>
          </p:nvSpPr>
          <p:spPr bwMode="auto">
            <a:xfrm>
              <a:off x="5061200" y="1943692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Rectangle 44"/>
            <p:cNvSpPr>
              <a:spLocks noChangeArrowheads="1"/>
            </p:cNvSpPr>
            <p:nvPr/>
          </p:nvSpPr>
          <p:spPr bwMode="auto">
            <a:xfrm>
              <a:off x="52707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Rectangle 45"/>
            <p:cNvSpPr>
              <a:spLocks noChangeArrowheads="1"/>
            </p:cNvSpPr>
            <p:nvPr/>
          </p:nvSpPr>
          <p:spPr bwMode="auto">
            <a:xfrm>
              <a:off x="56707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60708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Line 47"/>
            <p:cNvSpPr>
              <a:spLocks noChangeShapeType="1"/>
            </p:cNvSpPr>
            <p:nvPr/>
          </p:nvSpPr>
          <p:spPr bwMode="auto">
            <a:xfrm flipH="1" flipV="1">
              <a:off x="61279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Text Box 48"/>
            <p:cNvSpPr txBox="1">
              <a:spLocks noChangeArrowheads="1"/>
            </p:cNvSpPr>
            <p:nvPr/>
          </p:nvSpPr>
          <p:spPr bwMode="auto">
            <a:xfrm>
              <a:off x="5467202" y="1943692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 Box 49"/>
            <p:cNvSpPr txBox="1">
              <a:spLocks noChangeArrowheads="1"/>
            </p:cNvSpPr>
            <p:nvPr/>
          </p:nvSpPr>
          <p:spPr bwMode="auto">
            <a:xfrm>
              <a:off x="5863680" y="1943692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3" name="Group 50"/>
            <p:cNvGrpSpPr>
              <a:grpSpLocks/>
            </p:cNvGrpSpPr>
            <p:nvPr/>
          </p:nvGrpSpPr>
          <p:grpSpPr bwMode="auto">
            <a:xfrm>
              <a:off x="2317998" y="3372442"/>
              <a:ext cx="4838700" cy="521494"/>
              <a:chOff x="912" y="1920"/>
              <a:chExt cx="4064" cy="398"/>
            </a:xfrm>
          </p:grpSpPr>
          <p:sp>
            <p:nvSpPr>
              <p:cNvPr id="114" name="Line 51"/>
              <p:cNvSpPr>
                <a:spLocks noChangeShapeType="1"/>
              </p:cNvSpPr>
              <p:nvPr/>
            </p:nvSpPr>
            <p:spPr bwMode="auto">
              <a:xfrm>
                <a:off x="912" y="1920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Line 52"/>
              <p:cNvSpPr>
                <a:spLocks noChangeShapeType="1"/>
              </p:cNvSpPr>
              <p:nvPr/>
            </p:nvSpPr>
            <p:spPr bwMode="auto">
              <a:xfrm>
                <a:off x="2112" y="1928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Line 53"/>
              <p:cNvSpPr>
                <a:spLocks noChangeShapeType="1"/>
              </p:cNvSpPr>
              <p:nvPr/>
            </p:nvSpPr>
            <p:spPr bwMode="auto">
              <a:xfrm flipV="1">
                <a:off x="3776" y="1928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Line 54"/>
              <p:cNvSpPr>
                <a:spLocks noChangeShapeType="1"/>
              </p:cNvSpPr>
              <p:nvPr/>
            </p:nvSpPr>
            <p:spPr bwMode="auto">
              <a:xfrm flipV="1">
                <a:off x="4976" y="1936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" name="Line 55"/>
            <p:cNvSpPr>
              <a:spLocks noChangeShapeType="1"/>
            </p:cNvSpPr>
            <p:nvPr/>
          </p:nvSpPr>
          <p:spPr bwMode="auto">
            <a:xfrm flipH="1" flipV="1">
              <a:off x="67566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56"/>
            <p:cNvSpPr>
              <a:spLocks noChangeShapeType="1"/>
            </p:cNvSpPr>
            <p:nvPr/>
          </p:nvSpPr>
          <p:spPr bwMode="auto">
            <a:xfrm flipH="1" flipV="1">
              <a:off x="715669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AutoShape 57"/>
            <p:cNvSpPr>
              <a:spLocks noChangeArrowheads="1"/>
            </p:cNvSpPr>
            <p:nvPr/>
          </p:nvSpPr>
          <p:spPr bwMode="auto">
            <a:xfrm>
              <a:off x="6528048" y="287714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Box 58"/>
            <p:cNvSpPr txBox="1">
              <a:spLocks noChangeArrowheads="1"/>
            </p:cNvSpPr>
            <p:nvPr/>
          </p:nvSpPr>
          <p:spPr bwMode="auto">
            <a:xfrm>
              <a:off x="6489949" y="1953216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Rectangle 59"/>
            <p:cNvSpPr>
              <a:spLocks noChangeArrowheads="1"/>
            </p:cNvSpPr>
            <p:nvPr/>
          </p:nvSpPr>
          <p:spPr bwMode="auto">
            <a:xfrm>
              <a:off x="66994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60"/>
            <p:cNvSpPr>
              <a:spLocks noChangeArrowheads="1"/>
            </p:cNvSpPr>
            <p:nvPr/>
          </p:nvSpPr>
          <p:spPr bwMode="auto">
            <a:xfrm>
              <a:off x="709954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61"/>
            <p:cNvSpPr>
              <a:spLocks noChangeArrowheads="1"/>
            </p:cNvSpPr>
            <p:nvPr/>
          </p:nvSpPr>
          <p:spPr bwMode="auto">
            <a:xfrm>
              <a:off x="74995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62"/>
            <p:cNvSpPr>
              <a:spLocks noChangeShapeType="1"/>
            </p:cNvSpPr>
            <p:nvPr/>
          </p:nvSpPr>
          <p:spPr bwMode="auto">
            <a:xfrm flipH="1" flipV="1">
              <a:off x="75567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Text Box 63"/>
            <p:cNvSpPr txBox="1">
              <a:spLocks noChangeArrowheads="1"/>
            </p:cNvSpPr>
            <p:nvPr/>
          </p:nvSpPr>
          <p:spPr bwMode="auto">
            <a:xfrm>
              <a:off x="6895952" y="1953216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Text Box 64"/>
            <p:cNvSpPr txBox="1">
              <a:spLocks noChangeArrowheads="1"/>
            </p:cNvSpPr>
            <p:nvPr/>
          </p:nvSpPr>
          <p:spPr bwMode="auto">
            <a:xfrm>
              <a:off x="7292430" y="1953216"/>
              <a:ext cx="588623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45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4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Text Box 65"/>
            <p:cNvSpPr txBox="1">
              <a:spLocks noChangeArrowheads="1"/>
            </p:cNvSpPr>
            <p:nvPr/>
          </p:nvSpPr>
          <p:spPr bwMode="auto">
            <a:xfrm>
              <a:off x="6087515" y="1772244"/>
              <a:ext cx="800218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129" name="Text Box 66"/>
            <p:cNvSpPr txBox="1">
              <a:spLocks noChangeArrowheads="1"/>
            </p:cNvSpPr>
            <p:nvPr/>
          </p:nvSpPr>
          <p:spPr bwMode="auto">
            <a:xfrm>
              <a:off x="6231108" y="2632496"/>
              <a:ext cx="492442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</a:p>
          </p:txBody>
        </p:sp>
        <p:sp>
          <p:nvSpPr>
            <p:cNvPr id="130" name="Text Box 67"/>
            <p:cNvSpPr txBox="1">
              <a:spLocks noChangeArrowheads="1"/>
            </p:cNvSpPr>
            <p:nvPr/>
          </p:nvSpPr>
          <p:spPr bwMode="auto">
            <a:xfrm>
              <a:off x="2832348" y="2629493"/>
              <a:ext cx="492442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</a:p>
          </p:txBody>
        </p:sp>
        <p:sp>
          <p:nvSpPr>
            <p:cNvPr id="131" name="Text Box 68"/>
            <p:cNvSpPr txBox="1">
              <a:spLocks noChangeArrowheads="1"/>
            </p:cNvSpPr>
            <p:nvPr/>
          </p:nvSpPr>
          <p:spPr bwMode="auto">
            <a:xfrm>
              <a:off x="5375526" y="2999777"/>
              <a:ext cx="815222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132" name="Text Box 69"/>
            <p:cNvSpPr txBox="1">
              <a:spLocks noChangeArrowheads="1"/>
            </p:cNvSpPr>
            <p:nvPr/>
          </p:nvSpPr>
          <p:spPr bwMode="auto">
            <a:xfrm>
              <a:off x="6813799" y="2990252"/>
              <a:ext cx="864339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133" name="Text Box 70"/>
            <p:cNvSpPr txBox="1">
              <a:spLocks noChangeArrowheads="1"/>
            </p:cNvSpPr>
            <p:nvPr/>
          </p:nvSpPr>
          <p:spPr bwMode="auto">
            <a:xfrm>
              <a:off x="6158953" y="4014189"/>
              <a:ext cx="676788" cy="276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2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134" name="AutoShape 71"/>
            <p:cNvSpPr>
              <a:spLocks noChangeArrowheads="1"/>
            </p:cNvSpPr>
            <p:nvPr/>
          </p:nvSpPr>
          <p:spPr bwMode="auto">
            <a:xfrm>
              <a:off x="294664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AutoShape 72"/>
            <p:cNvSpPr>
              <a:spLocks noChangeArrowheads="1"/>
            </p:cNvSpPr>
            <p:nvPr/>
          </p:nvSpPr>
          <p:spPr bwMode="auto">
            <a:xfrm flipV="1">
              <a:off x="631849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6" name="Group 73"/>
            <p:cNvGrpSpPr>
              <a:grpSpLocks/>
            </p:cNvGrpSpPr>
            <p:nvPr/>
          </p:nvGrpSpPr>
          <p:grpSpPr bwMode="auto">
            <a:xfrm>
              <a:off x="51183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137" name="AutoShape 74"/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Rectangle 75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12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12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</a:p>
            </p:txBody>
          </p:sp>
        </p:grpSp>
        <p:grpSp>
          <p:nvGrpSpPr>
            <p:cNvPr id="139" name="Group 76"/>
            <p:cNvGrpSpPr>
              <a:grpSpLocks/>
            </p:cNvGrpSpPr>
            <p:nvPr/>
          </p:nvGrpSpPr>
          <p:grpSpPr bwMode="auto">
            <a:xfrm>
              <a:off x="35181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140" name="AutoShape 77"/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Rectangle 78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12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12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</a:p>
            </p:txBody>
          </p:sp>
        </p:grpSp>
        <p:sp>
          <p:nvSpPr>
            <p:cNvPr id="142" name="Text Box 79"/>
            <p:cNvSpPr txBox="1">
              <a:spLocks noChangeArrowheads="1"/>
            </p:cNvSpPr>
            <p:nvPr/>
          </p:nvSpPr>
          <p:spPr bwMode="auto">
            <a:xfrm>
              <a:off x="2680375" y="1438672"/>
              <a:ext cx="80021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</a:p>
          </p:txBody>
        </p:sp>
        <p:sp>
          <p:nvSpPr>
            <p:cNvPr id="143" name="Text Box 80"/>
            <p:cNvSpPr txBox="1">
              <a:spLocks noChangeArrowheads="1"/>
            </p:cNvSpPr>
            <p:nvPr/>
          </p:nvSpPr>
          <p:spPr bwMode="auto">
            <a:xfrm>
              <a:off x="6076038" y="1419622"/>
              <a:ext cx="80021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</a:p>
          </p:txBody>
        </p:sp>
        <p:sp>
          <p:nvSpPr>
            <p:cNvPr id="144" name="Text Box 82"/>
            <p:cNvSpPr txBox="1">
              <a:spLocks noChangeArrowheads="1"/>
            </p:cNvSpPr>
            <p:nvPr/>
          </p:nvSpPr>
          <p:spPr bwMode="auto">
            <a:xfrm>
              <a:off x="6699899" y="3535557"/>
              <a:ext cx="1369219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12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F6633932-4573-40CA-825F-06349D06075C}"/>
              </a:ext>
            </a:extLst>
          </p:cNvPr>
          <p:cNvSpPr/>
          <p:nvPr/>
        </p:nvSpPr>
        <p:spPr>
          <a:xfrm>
            <a:off x="2570754" y="945355"/>
            <a:ext cx="3869970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multiplexing and de-multiplexing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灯片编号占位符 2">
            <a:extLst>
              <a:ext uri="{FF2B5EF4-FFF2-40B4-BE49-F238E27FC236}">
                <a16:creationId xmlns:a16="http://schemas.microsoft.com/office/drawing/2014/main" id="{47E187CF-5FAA-424B-8278-1A3662D57FD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46" name="AutoShape 5">
            <a:extLst>
              <a:ext uri="{FF2B5EF4-FFF2-40B4-BE49-F238E27FC236}">
                <a16:creationId xmlns:a16="http://schemas.microsoft.com/office/drawing/2014/main" id="{3070DB86-0177-4D3F-9FFA-DBECCAA66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17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4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8208456" cy="3075910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端口和套接字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端口：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来标识进程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在不同主机上，相同端口可能有不同的用途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两种类型的端口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0~1023 :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周知端口，用于标准协议，如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FTP/HTTP/SMTP/DNS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1024~65535: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扩展端口，用于特定协议或客户端进程标识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5" name="Group 16"/>
          <p:cNvGrpSpPr>
            <a:grpSpLocks/>
          </p:cNvGrpSpPr>
          <p:nvPr/>
        </p:nvGrpSpPr>
        <p:grpSpPr bwMode="auto">
          <a:xfrm>
            <a:off x="1907704" y="3439499"/>
            <a:ext cx="4320778" cy="1398985"/>
            <a:chOff x="895" y="2432"/>
            <a:chExt cx="3629" cy="1175"/>
          </a:xfrm>
          <a:effectLst/>
        </p:grpSpPr>
        <p:sp>
          <p:nvSpPr>
            <p:cNvPr id="146" name="Text Box 6"/>
            <p:cNvSpPr txBox="1">
              <a:spLocks noChangeArrowheads="1"/>
            </p:cNvSpPr>
            <p:nvPr/>
          </p:nvSpPr>
          <p:spPr bwMode="auto">
            <a:xfrm>
              <a:off x="2109" y="2432"/>
              <a:ext cx="1007" cy="31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66CC"/>
                  </a:solidFill>
                  <a:ea typeface="黑体" panose="02010609060101010101" pitchFamily="49" charset="-122"/>
                </a:rPr>
                <a:t>IP address</a:t>
              </a:r>
            </a:p>
          </p:txBody>
        </p:sp>
        <p:sp>
          <p:nvSpPr>
            <p:cNvPr id="147" name="Rectangle 7"/>
            <p:cNvSpPr>
              <a:spLocks noChangeArrowheads="1"/>
            </p:cNvSpPr>
            <p:nvPr/>
          </p:nvSpPr>
          <p:spPr bwMode="auto">
            <a:xfrm>
              <a:off x="1882" y="2716"/>
              <a:ext cx="1482" cy="2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1500" dirty="0">
                  <a:solidFill>
                    <a:srgbClr val="0066CC"/>
                  </a:solidFill>
                  <a:ea typeface="黑体" panose="02010609060101010101" pitchFamily="49" charset="-122"/>
                </a:rPr>
                <a:t>131.6.23.13 </a:t>
              </a:r>
            </a:p>
          </p:txBody>
        </p:sp>
        <p:grpSp>
          <p:nvGrpSpPr>
            <p:cNvPr id="148" name="Group 8"/>
            <p:cNvGrpSpPr>
              <a:grpSpLocks/>
            </p:cNvGrpSpPr>
            <p:nvPr/>
          </p:nvGrpSpPr>
          <p:grpSpPr bwMode="auto">
            <a:xfrm>
              <a:off x="3697" y="2432"/>
              <a:ext cx="827" cy="547"/>
              <a:chOff x="3913" y="2513"/>
              <a:chExt cx="827" cy="547"/>
            </a:xfrm>
          </p:grpSpPr>
          <p:sp>
            <p:nvSpPr>
              <p:cNvPr id="154" name="Text Box 9"/>
              <p:cNvSpPr txBox="1">
                <a:spLocks noChangeArrowheads="1"/>
              </p:cNvSpPr>
              <p:nvPr/>
            </p:nvSpPr>
            <p:spPr bwMode="auto">
              <a:xfrm>
                <a:off x="3958" y="2513"/>
                <a:ext cx="782" cy="31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en-US" altLang="zh-CN" dirty="0">
                    <a:solidFill>
                      <a:srgbClr val="0066CC"/>
                    </a:solidFill>
                    <a:ea typeface="黑体" panose="02010609060101010101" pitchFamily="49" charset="-122"/>
                  </a:rPr>
                  <a:t>Port</a:t>
                </a:r>
              </a:p>
            </p:txBody>
          </p:sp>
          <p:sp>
            <p:nvSpPr>
              <p:cNvPr id="155" name="Rectangle 10"/>
              <p:cNvSpPr>
                <a:spLocks noChangeArrowheads="1"/>
              </p:cNvSpPr>
              <p:nvPr/>
            </p:nvSpPr>
            <p:spPr bwMode="auto">
              <a:xfrm>
                <a:off x="3913" y="2785"/>
                <a:ext cx="706" cy="275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500" dirty="0">
                    <a:solidFill>
                      <a:srgbClr val="0066CC"/>
                    </a:solidFill>
                    <a:ea typeface="黑体" panose="02010609060101010101" pitchFamily="49" charset="-122"/>
                  </a:rPr>
                  <a:t>1500</a:t>
                </a:r>
              </a:p>
            </p:txBody>
          </p:sp>
        </p:grpSp>
        <p:sp>
          <p:nvSpPr>
            <p:cNvPr id="149" name="Rectangle 11"/>
            <p:cNvSpPr>
              <a:spLocks noChangeArrowheads="1"/>
            </p:cNvSpPr>
            <p:nvPr/>
          </p:nvSpPr>
          <p:spPr bwMode="auto">
            <a:xfrm>
              <a:off x="1893" y="3258"/>
              <a:ext cx="2540" cy="27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500" dirty="0">
                  <a:solidFill>
                    <a:srgbClr val="0066CC"/>
                  </a:solidFill>
                  <a:ea typeface="黑体" panose="02010609060101010101" pitchFamily="49" charset="-122"/>
                </a:rPr>
                <a:t>     131.6.23.13                  1500</a:t>
              </a:r>
            </a:p>
          </p:txBody>
        </p:sp>
        <p:sp>
          <p:nvSpPr>
            <p:cNvPr id="150" name="Text Box 12"/>
            <p:cNvSpPr txBox="1">
              <a:spLocks noChangeArrowheads="1"/>
            </p:cNvSpPr>
            <p:nvPr/>
          </p:nvSpPr>
          <p:spPr bwMode="auto">
            <a:xfrm>
              <a:off x="895" y="3258"/>
              <a:ext cx="772" cy="34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100" dirty="0">
                  <a:solidFill>
                    <a:srgbClr val="0066CC"/>
                  </a:solidFill>
                  <a:ea typeface="黑体" panose="02010609060101010101" pitchFamily="49" charset="-122"/>
                </a:rPr>
                <a:t>socket</a:t>
              </a:r>
            </a:p>
          </p:txBody>
        </p:sp>
        <p:grpSp>
          <p:nvGrpSpPr>
            <p:cNvPr id="151" name="Group 13"/>
            <p:cNvGrpSpPr>
              <a:grpSpLocks/>
            </p:cNvGrpSpPr>
            <p:nvPr/>
          </p:nvGrpSpPr>
          <p:grpSpPr bwMode="auto">
            <a:xfrm>
              <a:off x="2517" y="2991"/>
              <a:ext cx="1670" cy="329"/>
              <a:chOff x="2733" y="3072"/>
              <a:chExt cx="1670" cy="329"/>
            </a:xfrm>
          </p:grpSpPr>
          <p:sp>
            <p:nvSpPr>
              <p:cNvPr id="152" name="AutoShape 14"/>
              <p:cNvSpPr>
                <a:spLocks noChangeArrowheads="1"/>
              </p:cNvSpPr>
              <p:nvPr/>
            </p:nvSpPr>
            <p:spPr bwMode="auto">
              <a:xfrm>
                <a:off x="2733" y="3072"/>
                <a:ext cx="211" cy="329"/>
              </a:xfrm>
              <a:prstGeom prst="downArrow">
                <a:avLst>
                  <a:gd name="adj1" fmla="val 50000"/>
                  <a:gd name="adj2" fmla="val 56306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zh-CN" altLang="en-US" sz="1350">
                  <a:solidFill>
                    <a:srgbClr val="0066CC"/>
                  </a:solidFill>
                </a:endParaRPr>
              </a:p>
            </p:txBody>
          </p:sp>
          <p:sp>
            <p:nvSpPr>
              <p:cNvPr id="153" name="AutoShape 15"/>
              <p:cNvSpPr>
                <a:spLocks noChangeArrowheads="1"/>
              </p:cNvSpPr>
              <p:nvPr/>
            </p:nvSpPr>
            <p:spPr bwMode="auto">
              <a:xfrm>
                <a:off x="4191" y="3072"/>
                <a:ext cx="212" cy="329"/>
              </a:xfrm>
              <a:prstGeom prst="downArrow">
                <a:avLst>
                  <a:gd name="adj1" fmla="val 50000"/>
                  <a:gd name="adj2" fmla="val 5604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zh-CN" altLang="en-US" sz="1350">
                  <a:solidFill>
                    <a:srgbClr val="0066CC"/>
                  </a:solidFill>
                </a:endParaRPr>
              </a:p>
            </p:txBody>
          </p:sp>
        </p:grpSp>
      </p:grpSp>
      <p:sp>
        <p:nvSpPr>
          <p:cNvPr id="15" name="灯片编号占位符 2">
            <a:extLst>
              <a:ext uri="{FF2B5EF4-FFF2-40B4-BE49-F238E27FC236}">
                <a16:creationId xmlns:a16="http://schemas.microsoft.com/office/drawing/2014/main" id="{9B1C314A-C61F-4120-AB58-4F32202A0A1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E00BE6C5-A45D-4F90-8535-F1FBF1E3F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7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408402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回顾第二章：应用层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C/S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Sever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默认端口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{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周知端口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:0~1023}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 80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FTP: </a:t>
            </a:r>
            <a:r>
              <a:rPr lang="zh-CN" altLang="en-US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控制连接</a:t>
            </a: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21; </a:t>
            </a:r>
            <a:r>
              <a:rPr lang="zh-CN" altLang="en-US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数据连接</a:t>
            </a: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SMTP: 25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POP3: 110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DNS: 53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zh-CN" altLang="en-US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768FB5F-8AE9-464E-BB62-725775F68FE6}"/>
              </a:ext>
            </a:extLst>
          </p:cNvPr>
          <p:cNvGrpSpPr/>
          <p:nvPr/>
        </p:nvGrpSpPr>
        <p:grpSpPr>
          <a:xfrm>
            <a:off x="5580112" y="2427734"/>
            <a:ext cx="2169914" cy="887472"/>
            <a:chOff x="7984582" y="2052467"/>
            <a:chExt cx="568867" cy="79824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B1CF00B-CB66-4F53-ABE9-7F41E3FFC108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589AC18-D629-4036-A445-0A7EB2FD632D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0F077DE-500C-4DF7-88EF-651F0E06FA87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1245978-3A95-4949-955A-0689ABDB9305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F2ACA1B-4305-4757-99CF-77148D5C84FE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sp>
        <p:nvSpPr>
          <p:cNvPr id="44" name="Freeform 917">
            <a:extLst>
              <a:ext uri="{FF2B5EF4-FFF2-40B4-BE49-F238E27FC236}">
                <a16:creationId xmlns:a16="http://schemas.microsoft.com/office/drawing/2014/main" id="{A76D687D-1B43-40DF-94A4-952332F69196}"/>
              </a:ext>
            </a:extLst>
          </p:cNvPr>
          <p:cNvSpPr>
            <a:spLocks/>
          </p:cNvSpPr>
          <p:nvPr/>
        </p:nvSpPr>
        <p:spPr bwMode="auto">
          <a:xfrm flipH="1">
            <a:off x="7774582" y="2416261"/>
            <a:ext cx="327621" cy="1029721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1" name="Group 147">
            <a:extLst>
              <a:ext uri="{FF2B5EF4-FFF2-40B4-BE49-F238E27FC236}">
                <a16:creationId xmlns:a16="http://schemas.microsoft.com/office/drawing/2014/main" id="{FE94B623-9F94-4BC5-BDF7-84FDA5B5125A}"/>
              </a:ext>
            </a:extLst>
          </p:cNvPr>
          <p:cNvGrpSpPr>
            <a:grpSpLocks/>
          </p:cNvGrpSpPr>
          <p:nvPr/>
        </p:nvGrpSpPr>
        <p:grpSpPr bwMode="auto">
          <a:xfrm>
            <a:off x="7938392" y="2937009"/>
            <a:ext cx="293864" cy="550664"/>
            <a:chOff x="4140" y="429"/>
            <a:chExt cx="1425" cy="2396"/>
          </a:xfrm>
        </p:grpSpPr>
        <p:sp>
          <p:nvSpPr>
            <p:cNvPr id="12" name="Freeform 148">
              <a:extLst>
                <a:ext uri="{FF2B5EF4-FFF2-40B4-BE49-F238E27FC236}">
                  <a16:creationId xmlns:a16="http://schemas.microsoft.com/office/drawing/2014/main" id="{BC02DE26-406E-4705-94C8-3A12B57E7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Rectangle 149">
              <a:extLst>
                <a:ext uri="{FF2B5EF4-FFF2-40B4-BE49-F238E27FC236}">
                  <a16:creationId xmlns:a16="http://schemas.microsoft.com/office/drawing/2014/main" id="{1E338208-5758-45F7-9370-49F1E72DC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" name="Freeform 150">
              <a:extLst>
                <a:ext uri="{FF2B5EF4-FFF2-40B4-BE49-F238E27FC236}">
                  <a16:creationId xmlns:a16="http://schemas.microsoft.com/office/drawing/2014/main" id="{170ACE6D-642B-476F-8FA5-645AFB655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Freeform 151">
              <a:extLst>
                <a:ext uri="{FF2B5EF4-FFF2-40B4-BE49-F238E27FC236}">
                  <a16:creationId xmlns:a16="http://schemas.microsoft.com/office/drawing/2014/main" id="{AD527F2A-01E6-4911-AC41-23D4046B6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Rectangle 152">
              <a:extLst>
                <a:ext uri="{FF2B5EF4-FFF2-40B4-BE49-F238E27FC236}">
                  <a16:creationId xmlns:a16="http://schemas.microsoft.com/office/drawing/2014/main" id="{6757C3FB-9B58-405C-8BF1-18AD6FE06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7" name="Group 153">
              <a:extLst>
                <a:ext uri="{FF2B5EF4-FFF2-40B4-BE49-F238E27FC236}">
                  <a16:creationId xmlns:a16="http://schemas.microsoft.com/office/drawing/2014/main" id="{A4DC378C-5F5F-4C49-9964-E114A3723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154">
                <a:extLst>
                  <a:ext uri="{FF2B5EF4-FFF2-40B4-BE49-F238E27FC236}">
                    <a16:creationId xmlns:a16="http://schemas.microsoft.com/office/drawing/2014/main" id="{3AC63102-A293-4692-A0FA-4E9E00B68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AutoShape 155">
                <a:extLst>
                  <a:ext uri="{FF2B5EF4-FFF2-40B4-BE49-F238E27FC236}">
                    <a16:creationId xmlns:a16="http://schemas.microsoft.com/office/drawing/2014/main" id="{DF72AE59-6EE5-4342-9CDB-7B5DDA248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" name="Rectangle 156">
              <a:extLst>
                <a:ext uri="{FF2B5EF4-FFF2-40B4-BE49-F238E27FC236}">
                  <a16:creationId xmlns:a16="http://schemas.microsoft.com/office/drawing/2014/main" id="{E7D94EE6-FF62-4567-BB7F-D555C94A3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9" name="Group 157">
              <a:extLst>
                <a:ext uri="{FF2B5EF4-FFF2-40B4-BE49-F238E27FC236}">
                  <a16:creationId xmlns:a16="http://schemas.microsoft.com/office/drawing/2014/main" id="{AE5A92D0-0B82-4786-B722-CB0B5C5D2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158">
                <a:extLst>
                  <a:ext uri="{FF2B5EF4-FFF2-40B4-BE49-F238E27FC236}">
                    <a16:creationId xmlns:a16="http://schemas.microsoft.com/office/drawing/2014/main" id="{0BD0105A-A416-4FCE-A355-5C9F1C895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AutoShape 159">
                <a:extLst>
                  <a:ext uri="{FF2B5EF4-FFF2-40B4-BE49-F238E27FC236}">
                    <a16:creationId xmlns:a16="http://schemas.microsoft.com/office/drawing/2014/main" id="{0AB27B45-A4BB-4693-BD37-EF4B9E5BA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" name="Rectangle 160">
              <a:extLst>
                <a:ext uri="{FF2B5EF4-FFF2-40B4-BE49-F238E27FC236}">
                  <a16:creationId xmlns:a16="http://schemas.microsoft.com/office/drawing/2014/main" id="{ECBA9032-3A53-4FAD-8EB3-C584666DA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1" name="Rectangle 161">
              <a:extLst>
                <a:ext uri="{FF2B5EF4-FFF2-40B4-BE49-F238E27FC236}">
                  <a16:creationId xmlns:a16="http://schemas.microsoft.com/office/drawing/2014/main" id="{A38C1F73-2209-4A00-9C97-299E9705B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2" name="Group 162">
              <a:extLst>
                <a:ext uri="{FF2B5EF4-FFF2-40B4-BE49-F238E27FC236}">
                  <a16:creationId xmlns:a16="http://schemas.microsoft.com/office/drawing/2014/main" id="{9F4C28FE-02A3-4AE4-ABCA-4276858D31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163">
                <a:extLst>
                  <a:ext uri="{FF2B5EF4-FFF2-40B4-BE49-F238E27FC236}">
                    <a16:creationId xmlns:a16="http://schemas.microsoft.com/office/drawing/2014/main" id="{3CD27AE1-ED4A-4FA2-B3DB-45A52F066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AutoShape 164">
                <a:extLst>
                  <a:ext uri="{FF2B5EF4-FFF2-40B4-BE49-F238E27FC236}">
                    <a16:creationId xmlns:a16="http://schemas.microsoft.com/office/drawing/2014/main" id="{728DC0EE-D4BA-43CD-96A8-2EBDF3474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Freeform 165">
              <a:extLst>
                <a:ext uri="{FF2B5EF4-FFF2-40B4-BE49-F238E27FC236}">
                  <a16:creationId xmlns:a16="http://schemas.microsoft.com/office/drawing/2014/main" id="{235ACFB0-F4ED-4029-A739-0A3D54E4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" name="Group 166">
              <a:extLst>
                <a:ext uri="{FF2B5EF4-FFF2-40B4-BE49-F238E27FC236}">
                  <a16:creationId xmlns:a16="http://schemas.microsoft.com/office/drawing/2014/main" id="{C82FF296-CF77-43AD-BB57-DD546CD88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167">
                <a:extLst>
                  <a:ext uri="{FF2B5EF4-FFF2-40B4-BE49-F238E27FC236}">
                    <a16:creationId xmlns:a16="http://schemas.microsoft.com/office/drawing/2014/main" id="{83594F4F-464E-4F7E-9C05-86A17162A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AutoShape 168">
                <a:extLst>
                  <a:ext uri="{FF2B5EF4-FFF2-40B4-BE49-F238E27FC236}">
                    <a16:creationId xmlns:a16="http://schemas.microsoft.com/office/drawing/2014/main" id="{2C81D11F-3C4B-431F-A266-9B729451D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Rectangle 169">
              <a:extLst>
                <a:ext uri="{FF2B5EF4-FFF2-40B4-BE49-F238E27FC236}">
                  <a16:creationId xmlns:a16="http://schemas.microsoft.com/office/drawing/2014/main" id="{421365DB-FD60-4704-83FB-3DDBEEA77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6" name="Freeform 170">
              <a:extLst>
                <a:ext uri="{FF2B5EF4-FFF2-40B4-BE49-F238E27FC236}">
                  <a16:creationId xmlns:a16="http://schemas.microsoft.com/office/drawing/2014/main" id="{3D75C5D8-6C44-4891-B9CF-429276012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Freeform 171">
              <a:extLst>
                <a:ext uri="{FF2B5EF4-FFF2-40B4-BE49-F238E27FC236}">
                  <a16:creationId xmlns:a16="http://schemas.microsoft.com/office/drawing/2014/main" id="{7A1FCBAC-C067-43C2-89C9-63B203480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Oval 172">
              <a:extLst>
                <a:ext uri="{FF2B5EF4-FFF2-40B4-BE49-F238E27FC236}">
                  <a16:creationId xmlns:a16="http://schemas.microsoft.com/office/drawing/2014/main" id="{2D1054C5-39F5-499A-A990-12CCF82D5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9" name="Freeform 173">
              <a:extLst>
                <a:ext uri="{FF2B5EF4-FFF2-40B4-BE49-F238E27FC236}">
                  <a16:creationId xmlns:a16="http://schemas.microsoft.com/office/drawing/2014/main" id="{218F399E-5F9F-42B2-9458-26293D91C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AutoShape 174">
              <a:extLst>
                <a:ext uri="{FF2B5EF4-FFF2-40B4-BE49-F238E27FC236}">
                  <a16:creationId xmlns:a16="http://schemas.microsoft.com/office/drawing/2014/main" id="{755608E0-2EC0-4C9E-B10D-438AA3660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1" name="AutoShape 175">
              <a:extLst>
                <a:ext uri="{FF2B5EF4-FFF2-40B4-BE49-F238E27FC236}">
                  <a16:creationId xmlns:a16="http://schemas.microsoft.com/office/drawing/2014/main" id="{F5DA56BF-28FF-4AB9-9DC7-82F78B56B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2" name="Oval 176">
              <a:extLst>
                <a:ext uri="{FF2B5EF4-FFF2-40B4-BE49-F238E27FC236}">
                  <a16:creationId xmlns:a16="http://schemas.microsoft.com/office/drawing/2014/main" id="{7A7734B5-2EA3-4986-9037-B4C022DC3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3" name="Oval 177">
              <a:extLst>
                <a:ext uri="{FF2B5EF4-FFF2-40B4-BE49-F238E27FC236}">
                  <a16:creationId xmlns:a16="http://schemas.microsoft.com/office/drawing/2014/main" id="{7D461A64-B53C-42CB-9D7E-4FB456477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Oval 178">
              <a:extLst>
                <a:ext uri="{FF2B5EF4-FFF2-40B4-BE49-F238E27FC236}">
                  <a16:creationId xmlns:a16="http://schemas.microsoft.com/office/drawing/2014/main" id="{EDC671E3-E1D3-4C82-B71E-E60C91B31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5" name="Rectangle 179">
              <a:extLst>
                <a:ext uri="{FF2B5EF4-FFF2-40B4-BE49-F238E27FC236}">
                  <a16:creationId xmlns:a16="http://schemas.microsoft.com/office/drawing/2014/main" id="{2ACD7ED8-12E6-4824-BE24-0B7932C6C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2029010F-7F3F-4250-986A-A719C31116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772" y="1907803"/>
            <a:ext cx="368246" cy="3682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53EBE42A-0E55-4891-9FAB-0B20D57C26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718" y="1907802"/>
            <a:ext cx="490401" cy="36824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BD5E8138-E86D-49C9-87C6-61475C8958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065" y="1828268"/>
            <a:ext cx="527313" cy="527313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C8EFF453-4189-4137-A7B9-7D7424651F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95" y="1844491"/>
            <a:ext cx="438155" cy="438155"/>
          </a:xfrm>
          <a:prstGeom prst="rect">
            <a:avLst/>
          </a:prstGeom>
        </p:spPr>
      </p:pic>
      <p:sp>
        <p:nvSpPr>
          <p:cNvPr id="55" name="灯片编号占位符 2">
            <a:extLst>
              <a:ext uri="{FF2B5EF4-FFF2-40B4-BE49-F238E27FC236}">
                <a16:creationId xmlns:a16="http://schemas.microsoft.com/office/drawing/2014/main" id="{28E19EB3-D3D7-4F90-BD0D-F74109BEF04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C100FF42-C7DA-48EA-8903-D766D7EED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79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375126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复用和分解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57350" y="2715927"/>
            <a:ext cx="1501379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application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657350" y="3073114"/>
            <a:ext cx="1501379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657350" y="3430302"/>
            <a:ext cx="1501379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657350" y="3787489"/>
            <a:ext cx="1501379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link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657350" y="4144677"/>
            <a:ext cx="1501379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physical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632598" y="2974293"/>
            <a:ext cx="448865" cy="14644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3632598" y="2745693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104335" y="2709974"/>
            <a:ext cx="1501378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application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6104335" y="3067162"/>
            <a:ext cx="1501378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104335" y="3424349"/>
            <a:ext cx="1501378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6104335" y="3781537"/>
            <a:ext cx="1501378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link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6104335" y="4138724"/>
            <a:ext cx="1501378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physical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3608785" y="2715927"/>
            <a:ext cx="2051447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application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3608785" y="3073114"/>
            <a:ext cx="2051447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3608785" y="3430302"/>
            <a:ext cx="2051447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3608785" y="3787489"/>
            <a:ext cx="2051447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link</a:t>
            </a: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3608785" y="4144677"/>
            <a:ext cx="2051447" cy="357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physical</a:t>
            </a: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5129213" y="2979055"/>
            <a:ext cx="448866" cy="14644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val 21"/>
          <p:cNvSpPr>
            <a:spLocks noChangeArrowheads="1"/>
          </p:cNvSpPr>
          <p:nvPr/>
        </p:nvSpPr>
        <p:spPr bwMode="auto">
          <a:xfrm>
            <a:off x="5129213" y="2750456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601517" y="2996915"/>
            <a:ext cx="448865" cy="14644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Oval 23"/>
          <p:cNvSpPr>
            <a:spLocks noChangeArrowheads="1"/>
          </p:cNvSpPr>
          <p:nvPr/>
        </p:nvSpPr>
        <p:spPr bwMode="auto">
          <a:xfrm>
            <a:off x="2601517" y="2768315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P3</a:t>
            </a: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6181725" y="2986199"/>
            <a:ext cx="448866" cy="14644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Oval 25"/>
          <p:cNvSpPr>
            <a:spLocks noChangeArrowheads="1"/>
          </p:cNvSpPr>
          <p:nvPr/>
        </p:nvSpPr>
        <p:spPr bwMode="auto">
          <a:xfrm>
            <a:off x="6181725" y="2757599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P4</a:t>
            </a:r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3679031" y="3001678"/>
            <a:ext cx="448866" cy="14644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val 27"/>
          <p:cNvSpPr>
            <a:spLocks noChangeArrowheads="1"/>
          </p:cNvSpPr>
          <p:nvPr/>
        </p:nvSpPr>
        <p:spPr bwMode="auto">
          <a:xfrm>
            <a:off x="3679031" y="2773077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2007294" y="4547108"/>
            <a:ext cx="72648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 1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4277815" y="4564968"/>
            <a:ext cx="72648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 2</a:t>
            </a:r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6549528" y="4526868"/>
            <a:ext cx="72648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35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 3</a:t>
            </a:r>
          </a:p>
        </p:txBody>
      </p:sp>
      <p:grpSp>
        <p:nvGrpSpPr>
          <p:cNvPr id="36" name="Group 31"/>
          <p:cNvGrpSpPr>
            <a:grpSpLocks/>
          </p:cNvGrpSpPr>
          <p:nvPr/>
        </p:nvGrpSpPr>
        <p:grpSpPr bwMode="auto">
          <a:xfrm>
            <a:off x="2874169" y="3071924"/>
            <a:ext cx="1697831" cy="1257300"/>
            <a:chOff x="1421" y="2509"/>
            <a:chExt cx="1426" cy="1056"/>
          </a:xfrm>
        </p:grpSpPr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Rectangle 35"/>
          <p:cNvSpPr>
            <a:spLocks noChangeArrowheads="1"/>
          </p:cNvSpPr>
          <p:nvPr/>
        </p:nvSpPr>
        <p:spPr bwMode="auto">
          <a:xfrm>
            <a:off x="4743450" y="2396840"/>
            <a:ext cx="448866" cy="14644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36"/>
          <p:cNvSpPr>
            <a:spLocks noChangeArrowheads="1"/>
          </p:cNvSpPr>
          <p:nvPr/>
        </p:nvSpPr>
        <p:spPr bwMode="auto">
          <a:xfrm>
            <a:off x="6343650" y="2339690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37"/>
          <p:cNvSpPr txBox="1">
            <a:spLocks noChangeArrowheads="1"/>
          </p:cNvSpPr>
          <p:nvPr/>
        </p:nvSpPr>
        <p:spPr bwMode="auto">
          <a:xfrm>
            <a:off x="6810116" y="2339690"/>
            <a:ext cx="9006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= process</a:t>
            </a:r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5216270" y="2339690"/>
            <a:ext cx="81291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= socket</a:t>
            </a:r>
          </a:p>
        </p:txBody>
      </p:sp>
      <p:grpSp>
        <p:nvGrpSpPr>
          <p:cNvPr id="48" name="Group 50"/>
          <p:cNvGrpSpPr>
            <a:grpSpLocks/>
          </p:cNvGrpSpPr>
          <p:nvPr/>
        </p:nvGrpSpPr>
        <p:grpSpPr bwMode="auto">
          <a:xfrm flipH="1">
            <a:off x="4629151" y="3056446"/>
            <a:ext cx="1697831" cy="1257300"/>
            <a:chOff x="1421" y="2509"/>
            <a:chExt cx="1426" cy="1056"/>
          </a:xfrm>
        </p:grpSpPr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52"/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3"/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582342" y="1307083"/>
            <a:ext cx="2707481" cy="886625"/>
            <a:chOff x="585788" y="1742777"/>
            <a:chExt cx="3609975" cy="1182167"/>
          </a:xfrm>
        </p:grpSpPr>
        <p:sp>
          <p:nvSpPr>
            <p:cNvPr id="52" name="Text Box 58"/>
            <p:cNvSpPr txBox="1">
              <a:spLocks noChangeArrowheads="1"/>
            </p:cNvSpPr>
            <p:nvPr/>
          </p:nvSpPr>
          <p:spPr bwMode="auto">
            <a:xfrm>
              <a:off x="652297" y="2182514"/>
              <a:ext cx="3473806" cy="677108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从多个套接字获取数据，用首部信息封装数据</a:t>
              </a:r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用于后续的分解</a:t>
              </a:r>
              <a:r>
                <a:rPr lang="en-US" altLang="zh-CN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53" name="Rectangle 59"/>
            <p:cNvSpPr>
              <a:spLocks noChangeArrowheads="1"/>
            </p:cNvSpPr>
            <p:nvPr/>
          </p:nvSpPr>
          <p:spPr bwMode="auto">
            <a:xfrm>
              <a:off x="585788" y="1979315"/>
              <a:ext cx="3609975" cy="945629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 Box 62"/>
            <p:cNvSpPr txBox="1">
              <a:spLocks noChangeArrowheads="1"/>
            </p:cNvSpPr>
            <p:nvPr/>
          </p:nvSpPr>
          <p:spPr bwMode="auto">
            <a:xfrm>
              <a:off x="2195736" y="1742777"/>
              <a:ext cx="1800493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</a:lstStyle>
            <a:p>
              <a:r>
                <a:rPr lang="zh-CN" altLang="en-US" sz="135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发送端主机复用</a:t>
              </a:r>
              <a:endPara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719637" y="1307083"/>
            <a:ext cx="2707481" cy="886625"/>
            <a:chOff x="4768849" y="1742777"/>
            <a:chExt cx="3609975" cy="1182167"/>
          </a:xfrm>
        </p:grpSpPr>
        <p:sp>
          <p:nvSpPr>
            <p:cNvPr id="57" name="Text Box 58"/>
            <p:cNvSpPr txBox="1">
              <a:spLocks noChangeArrowheads="1"/>
            </p:cNvSpPr>
            <p:nvPr/>
          </p:nvSpPr>
          <p:spPr bwMode="auto">
            <a:xfrm>
              <a:off x="4835358" y="2182514"/>
              <a:ext cx="3473806" cy="677108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将收到的报文段提交给正确的套接字</a:t>
              </a:r>
              <a:endPara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4768849" y="1979315"/>
              <a:ext cx="3609975" cy="945629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62"/>
            <p:cNvSpPr txBox="1">
              <a:spLocks noChangeArrowheads="1"/>
            </p:cNvSpPr>
            <p:nvPr/>
          </p:nvSpPr>
          <p:spPr bwMode="auto">
            <a:xfrm>
              <a:off x="4934893" y="1742777"/>
              <a:ext cx="1800493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</a:lstStyle>
            <a:p>
              <a:r>
                <a:rPr lang="zh-CN" altLang="en-US" sz="135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发送端主机复用</a:t>
              </a:r>
              <a:endParaRPr lang="en-US" altLang="zh-CN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灯片编号占位符 2">
            <a:extLst>
              <a:ext uri="{FF2B5EF4-FFF2-40B4-BE49-F238E27FC236}">
                <a16:creationId xmlns:a16="http://schemas.microsoft.com/office/drawing/2014/main" id="{128921A0-7005-4665-BAEF-CC20E48199E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2D047883-C47C-4CF6-9A73-2EC1B0D7A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664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076854" cy="375126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多路分解的机制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主机收到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数据报有源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和目的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数据报中封装了应用报文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每个报文段中标识着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源端口号，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source port.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目的端口号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destination port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定向应用进程的套接字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端口号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082779" y="1167594"/>
            <a:ext cx="2561034" cy="3289422"/>
            <a:chOff x="5253038" y="1556792"/>
            <a:chExt cx="3414712" cy="4385895"/>
          </a:xfrm>
        </p:grpSpPr>
        <p:sp>
          <p:nvSpPr>
            <p:cNvPr id="8" name="Rectangle 2"/>
            <p:cNvSpPr>
              <a:spLocks noChangeArrowheads="1"/>
            </p:cNvSpPr>
            <p:nvPr/>
          </p:nvSpPr>
          <p:spPr bwMode="auto">
            <a:xfrm>
              <a:off x="5343525" y="2000250"/>
              <a:ext cx="3324225" cy="320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5267325" y="2095500"/>
              <a:ext cx="3324225" cy="32004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5504874" y="2117725"/>
              <a:ext cx="1169551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35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7057127" y="2117725"/>
              <a:ext cx="1400384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35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5257800" y="2495550"/>
              <a:ext cx="33289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5267325" y="3486150"/>
              <a:ext cx="3324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6905625" y="2095500"/>
              <a:ext cx="0" cy="395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6388943" y="1556792"/>
              <a:ext cx="985740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7362825" y="1862138"/>
              <a:ext cx="1200150" cy="4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rot="10800000">
              <a:off x="5253038" y="1871663"/>
              <a:ext cx="11287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5503863" y="3944938"/>
              <a:ext cx="2740025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应用数据</a:t>
              </a:r>
              <a:endPara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分段报文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6028947" y="2854325"/>
              <a:ext cx="178510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其他首部字段</a:t>
              </a:r>
              <a:endPara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5724097" y="5511800"/>
              <a:ext cx="2463069" cy="43088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5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TCP/UDP </a:t>
              </a:r>
              <a:r>
                <a:rPr lang="zh-CN" altLang="en-US" sz="15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数据封装</a:t>
              </a:r>
              <a:endParaRPr lang="en-US" altLang="zh-CN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灯片编号占位符 2">
            <a:extLst>
              <a:ext uri="{FF2B5EF4-FFF2-40B4-BE49-F238E27FC236}">
                <a16:creationId xmlns:a16="http://schemas.microsoft.com/office/drawing/2014/main" id="{78F6E951-159C-4847-A90A-D8E83BEFBDC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FDD93C2-5705-4105-B583-37F39DD8B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072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375126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无连接的复用和分解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使用端口号创建套接字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DatagramSocket mySocket1 = new DatagramSocket(99111);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DatagramSocket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mySocket2 = new </a:t>
            </a:r>
            <a:r>
              <a:rPr lang="en-US" altLang="zh-CN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DatagramSocket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(99222);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套接字使用二元组来标识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: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(dest IP address, dest port number)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当主机收到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识别报文首部的目的端口号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将报文提交给该端口号对应的应用进程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不同主机发送过来的报文，只要目的端口号相同，都提交给相同的套接字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7B2B9E28-8606-4FFC-B55B-D84C24AAEA6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40EA99F-FA8A-4905-98E4-E199DCCF0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713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537341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无连接的复用和分解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478188" y="1421866"/>
            <a:ext cx="2428875" cy="606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DatagramSocket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serverSocket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new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DatagramSocket(</a:t>
            </a:r>
            <a:r>
              <a:rPr lang="en-US" altLang="zh-CN" sz="12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6428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  <a:endParaRPr lang="en-US" altLang="zh-CN" sz="15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73" name="Rectangle 3"/>
          <p:cNvSpPr txBox="1">
            <a:spLocks noChangeArrowheads="1"/>
          </p:cNvSpPr>
          <p:nvPr/>
        </p:nvSpPr>
        <p:spPr bwMode="auto">
          <a:xfrm>
            <a:off x="1369301" y="1421866"/>
            <a:ext cx="2386958" cy="606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DatagramSocket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b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2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mySocket1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new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DatagramSocket(</a:t>
            </a:r>
            <a:r>
              <a:rPr lang="en-US" altLang="zh-CN" sz="12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9157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  <a:endParaRPr lang="en-US" altLang="zh-CN" sz="15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 bwMode="auto">
          <a:xfrm>
            <a:off x="5657850" y="1421866"/>
            <a:ext cx="2338604" cy="606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DatagramSocket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b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12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mySocket2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 new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DatagramSocket(</a:t>
            </a:r>
            <a:r>
              <a:rPr lang="en-US" altLang="zh-CN" sz="12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5775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  <a:endParaRPr lang="en-US" altLang="zh-CN" sz="15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75" name="Freeform 89"/>
          <p:cNvSpPr>
            <a:spLocks/>
          </p:cNvSpPr>
          <p:nvPr/>
        </p:nvSpPr>
        <p:spPr bwMode="auto">
          <a:xfrm>
            <a:off x="3534966" y="2038027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6" name="Freeform 97"/>
          <p:cNvSpPr>
            <a:spLocks/>
          </p:cNvSpPr>
          <p:nvPr/>
        </p:nvSpPr>
        <p:spPr bwMode="auto">
          <a:xfrm>
            <a:off x="1446610" y="2266627"/>
            <a:ext cx="345281" cy="1645444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7" name="Rectangle 23"/>
          <p:cNvSpPr>
            <a:spLocks noChangeArrowheads="1"/>
          </p:cNvSpPr>
          <p:nvPr/>
        </p:nvSpPr>
        <p:spPr bwMode="auto">
          <a:xfrm>
            <a:off x="1825229" y="2241624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78" name="Rectangle 24"/>
          <p:cNvSpPr>
            <a:spLocks noChangeArrowheads="1"/>
          </p:cNvSpPr>
          <p:nvPr/>
        </p:nvSpPr>
        <p:spPr bwMode="auto">
          <a:xfrm>
            <a:off x="1796654" y="2282105"/>
            <a:ext cx="954881" cy="14847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79" name="Line 25"/>
          <p:cNvSpPr>
            <a:spLocks noChangeShapeType="1"/>
          </p:cNvSpPr>
          <p:nvPr/>
        </p:nvSpPr>
        <p:spPr bwMode="auto">
          <a:xfrm>
            <a:off x="1803797" y="2852415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0" name="Text Box 26"/>
          <p:cNvSpPr txBox="1">
            <a:spLocks noChangeArrowheads="1"/>
          </p:cNvSpPr>
          <p:nvPr/>
        </p:nvSpPr>
        <p:spPr bwMode="auto">
          <a:xfrm>
            <a:off x="1771650" y="283931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82" name="Line 27"/>
          <p:cNvSpPr>
            <a:spLocks noChangeShapeType="1"/>
          </p:cNvSpPr>
          <p:nvPr/>
        </p:nvSpPr>
        <p:spPr bwMode="auto">
          <a:xfrm>
            <a:off x="1809750" y="3092921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3" name="Line 28"/>
          <p:cNvSpPr>
            <a:spLocks noChangeShapeType="1"/>
          </p:cNvSpPr>
          <p:nvPr/>
        </p:nvSpPr>
        <p:spPr bwMode="auto">
          <a:xfrm>
            <a:off x="1799035" y="3325093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4" name="Line 29"/>
          <p:cNvSpPr>
            <a:spLocks noChangeShapeType="1"/>
          </p:cNvSpPr>
          <p:nvPr/>
        </p:nvSpPr>
        <p:spPr bwMode="auto">
          <a:xfrm>
            <a:off x="1799035" y="3539405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5" name="Text Box 26"/>
          <p:cNvSpPr txBox="1">
            <a:spLocks noChangeArrowheads="1"/>
          </p:cNvSpPr>
          <p:nvPr/>
        </p:nvSpPr>
        <p:spPr bwMode="auto">
          <a:xfrm>
            <a:off x="1797844" y="22749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86" name="Text Box 26"/>
          <p:cNvSpPr txBox="1">
            <a:spLocks noChangeArrowheads="1"/>
          </p:cNvSpPr>
          <p:nvPr/>
        </p:nvSpPr>
        <p:spPr bwMode="auto">
          <a:xfrm>
            <a:off x="1764507" y="351797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87" name="Text Box 26"/>
          <p:cNvSpPr txBox="1">
            <a:spLocks noChangeArrowheads="1"/>
          </p:cNvSpPr>
          <p:nvPr/>
        </p:nvSpPr>
        <p:spPr bwMode="auto">
          <a:xfrm>
            <a:off x="1778794" y="33036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88" name="Text Box 26"/>
          <p:cNvSpPr txBox="1">
            <a:spLocks noChangeArrowheads="1"/>
          </p:cNvSpPr>
          <p:nvPr/>
        </p:nvSpPr>
        <p:spPr bwMode="auto">
          <a:xfrm>
            <a:off x="1771650" y="308220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89" name="Oval 110"/>
          <p:cNvSpPr>
            <a:spLocks noChangeArrowheads="1"/>
          </p:cNvSpPr>
          <p:nvPr/>
        </p:nvSpPr>
        <p:spPr bwMode="auto">
          <a:xfrm>
            <a:off x="2049067" y="2489274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P3</a:t>
            </a:r>
          </a:p>
        </p:txBody>
      </p:sp>
      <p:grpSp>
        <p:nvGrpSpPr>
          <p:cNvPr id="90" name="Group 111"/>
          <p:cNvGrpSpPr>
            <a:grpSpLocks/>
          </p:cNvGrpSpPr>
          <p:nvPr/>
        </p:nvGrpSpPr>
        <p:grpSpPr bwMode="auto">
          <a:xfrm>
            <a:off x="2025254" y="2732161"/>
            <a:ext cx="465534" cy="171450"/>
            <a:chOff x="1287" y="2524"/>
            <a:chExt cx="260" cy="100"/>
          </a:xfrm>
        </p:grpSpPr>
        <p:sp>
          <p:nvSpPr>
            <p:cNvPr id="91" name="Rectangle 112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92" name="Rectangle 113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93" name="Rectangle 114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94" name="Rectangle 115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95" name="Rectangle 23"/>
          <p:cNvSpPr>
            <a:spLocks noChangeArrowheads="1"/>
          </p:cNvSpPr>
          <p:nvPr/>
        </p:nvSpPr>
        <p:spPr bwMode="auto">
          <a:xfrm>
            <a:off x="3945732" y="2066602"/>
            <a:ext cx="112276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96" name="Rectangle 24"/>
          <p:cNvSpPr>
            <a:spLocks noChangeArrowheads="1"/>
          </p:cNvSpPr>
          <p:nvPr/>
        </p:nvSpPr>
        <p:spPr bwMode="auto">
          <a:xfrm>
            <a:off x="3919538" y="2107083"/>
            <a:ext cx="1104900" cy="14847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97" name="Line 25"/>
          <p:cNvSpPr>
            <a:spLocks noChangeShapeType="1"/>
          </p:cNvSpPr>
          <p:nvPr/>
        </p:nvSpPr>
        <p:spPr bwMode="auto">
          <a:xfrm>
            <a:off x="3924300" y="2684537"/>
            <a:ext cx="1095375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" name="Text Box 26"/>
          <p:cNvSpPr txBox="1">
            <a:spLocks noChangeArrowheads="1"/>
          </p:cNvSpPr>
          <p:nvPr/>
        </p:nvSpPr>
        <p:spPr bwMode="auto">
          <a:xfrm>
            <a:off x="3977879" y="267143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99" name="Line 27"/>
          <p:cNvSpPr>
            <a:spLocks noChangeShapeType="1"/>
          </p:cNvSpPr>
          <p:nvPr/>
        </p:nvSpPr>
        <p:spPr bwMode="auto">
          <a:xfrm>
            <a:off x="3925491" y="2922661"/>
            <a:ext cx="109299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0" name="Text Box 26"/>
          <p:cNvSpPr txBox="1">
            <a:spLocks noChangeArrowheads="1"/>
          </p:cNvSpPr>
          <p:nvPr/>
        </p:nvSpPr>
        <p:spPr bwMode="auto">
          <a:xfrm>
            <a:off x="3975498" y="208208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101" name="Text Box 26"/>
          <p:cNvSpPr txBox="1">
            <a:spLocks noChangeArrowheads="1"/>
          </p:cNvSpPr>
          <p:nvPr/>
        </p:nvSpPr>
        <p:spPr bwMode="auto">
          <a:xfrm>
            <a:off x="3973116" y="335009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102" name="Text Box 26"/>
          <p:cNvSpPr txBox="1">
            <a:spLocks noChangeArrowheads="1"/>
          </p:cNvSpPr>
          <p:nvPr/>
        </p:nvSpPr>
        <p:spPr bwMode="auto">
          <a:xfrm>
            <a:off x="3973116" y="313578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103" name="Text Box 26"/>
          <p:cNvSpPr txBox="1">
            <a:spLocks noChangeArrowheads="1"/>
          </p:cNvSpPr>
          <p:nvPr/>
        </p:nvSpPr>
        <p:spPr bwMode="auto">
          <a:xfrm>
            <a:off x="3973116" y="291194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104" name="Line 27"/>
          <p:cNvSpPr>
            <a:spLocks noChangeShapeType="1"/>
          </p:cNvSpPr>
          <p:nvPr/>
        </p:nvSpPr>
        <p:spPr bwMode="auto">
          <a:xfrm>
            <a:off x="3923110" y="3156024"/>
            <a:ext cx="109299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5" name="Line 27"/>
          <p:cNvSpPr>
            <a:spLocks noChangeShapeType="1"/>
          </p:cNvSpPr>
          <p:nvPr/>
        </p:nvSpPr>
        <p:spPr bwMode="auto">
          <a:xfrm>
            <a:off x="3920729" y="3379861"/>
            <a:ext cx="109299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6" name="Oval 128"/>
          <p:cNvSpPr>
            <a:spLocks noChangeArrowheads="1"/>
          </p:cNvSpPr>
          <p:nvPr/>
        </p:nvSpPr>
        <p:spPr bwMode="auto">
          <a:xfrm>
            <a:off x="4233863" y="23368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P1</a:t>
            </a:r>
          </a:p>
        </p:txBody>
      </p:sp>
      <p:grpSp>
        <p:nvGrpSpPr>
          <p:cNvPr id="107" name="Group 134"/>
          <p:cNvGrpSpPr>
            <a:grpSpLocks/>
          </p:cNvGrpSpPr>
          <p:nvPr/>
        </p:nvGrpSpPr>
        <p:grpSpPr bwMode="auto">
          <a:xfrm>
            <a:off x="4137422" y="2573808"/>
            <a:ext cx="665559" cy="171450"/>
            <a:chOff x="1383" y="2620"/>
            <a:chExt cx="260" cy="100"/>
          </a:xfrm>
        </p:grpSpPr>
        <p:sp>
          <p:nvSpPr>
            <p:cNvPr id="108" name="Rectangle 135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09" name="Rectangle 136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0" name="Rectangle 137"/>
            <p:cNvSpPr>
              <a:spLocks noChangeArrowheads="1"/>
            </p:cNvSpPr>
            <p:nvPr/>
          </p:nvSpPr>
          <p:spPr bwMode="auto"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1" name="Rectangle 138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112" name="Rectangle 23"/>
          <p:cNvSpPr>
            <a:spLocks noChangeArrowheads="1"/>
          </p:cNvSpPr>
          <p:nvPr/>
        </p:nvSpPr>
        <p:spPr bwMode="auto">
          <a:xfrm>
            <a:off x="6200775" y="2235671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13" name="Rectangle 24"/>
          <p:cNvSpPr>
            <a:spLocks noChangeArrowheads="1"/>
          </p:cNvSpPr>
          <p:nvPr/>
        </p:nvSpPr>
        <p:spPr bwMode="auto">
          <a:xfrm>
            <a:off x="6172201" y="2276152"/>
            <a:ext cx="954881" cy="14847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14" name="Line 25"/>
          <p:cNvSpPr>
            <a:spLocks noChangeShapeType="1"/>
          </p:cNvSpPr>
          <p:nvPr/>
        </p:nvSpPr>
        <p:spPr bwMode="auto">
          <a:xfrm>
            <a:off x="6179344" y="2846462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5" name="Text Box 26"/>
          <p:cNvSpPr txBox="1">
            <a:spLocks noChangeArrowheads="1"/>
          </p:cNvSpPr>
          <p:nvPr/>
        </p:nvSpPr>
        <p:spPr bwMode="auto">
          <a:xfrm>
            <a:off x="6147198" y="283336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116" name="Line 27"/>
          <p:cNvSpPr>
            <a:spLocks noChangeShapeType="1"/>
          </p:cNvSpPr>
          <p:nvPr/>
        </p:nvSpPr>
        <p:spPr bwMode="auto">
          <a:xfrm>
            <a:off x="6185297" y="3086968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7" name="Line 28"/>
          <p:cNvSpPr>
            <a:spLocks noChangeShapeType="1"/>
          </p:cNvSpPr>
          <p:nvPr/>
        </p:nvSpPr>
        <p:spPr bwMode="auto">
          <a:xfrm>
            <a:off x="6174581" y="3319140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8" name="Line 29"/>
          <p:cNvSpPr>
            <a:spLocks noChangeShapeType="1"/>
          </p:cNvSpPr>
          <p:nvPr/>
        </p:nvSpPr>
        <p:spPr bwMode="auto">
          <a:xfrm>
            <a:off x="6174581" y="3533453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9" name="Text Box 26"/>
          <p:cNvSpPr txBox="1">
            <a:spLocks noChangeArrowheads="1"/>
          </p:cNvSpPr>
          <p:nvPr/>
        </p:nvSpPr>
        <p:spPr bwMode="auto">
          <a:xfrm>
            <a:off x="6173391" y="226900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120" name="Text Box 26"/>
          <p:cNvSpPr txBox="1">
            <a:spLocks noChangeArrowheads="1"/>
          </p:cNvSpPr>
          <p:nvPr/>
        </p:nvSpPr>
        <p:spPr bwMode="auto">
          <a:xfrm>
            <a:off x="6140054" y="351202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121" name="Text Box 26"/>
          <p:cNvSpPr txBox="1">
            <a:spLocks noChangeArrowheads="1"/>
          </p:cNvSpPr>
          <p:nvPr/>
        </p:nvSpPr>
        <p:spPr bwMode="auto">
          <a:xfrm>
            <a:off x="6154341" y="329770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122" name="Text Box 26"/>
          <p:cNvSpPr txBox="1">
            <a:spLocks noChangeArrowheads="1"/>
          </p:cNvSpPr>
          <p:nvPr/>
        </p:nvSpPr>
        <p:spPr bwMode="auto">
          <a:xfrm>
            <a:off x="6147198" y="307625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123" name="Oval 153"/>
          <p:cNvSpPr>
            <a:spLocks noChangeArrowheads="1"/>
          </p:cNvSpPr>
          <p:nvPr/>
        </p:nvSpPr>
        <p:spPr bwMode="auto">
          <a:xfrm>
            <a:off x="6424613" y="2499990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P4</a:t>
            </a:r>
          </a:p>
        </p:txBody>
      </p:sp>
      <p:sp>
        <p:nvSpPr>
          <p:cNvPr id="124" name="Freeform 154"/>
          <p:cNvSpPr>
            <a:spLocks/>
          </p:cNvSpPr>
          <p:nvPr/>
        </p:nvSpPr>
        <p:spPr bwMode="auto">
          <a:xfrm>
            <a:off x="7144941" y="2251149"/>
            <a:ext cx="378619" cy="16002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25" name="Group 156"/>
          <p:cNvGrpSpPr>
            <a:grpSpLocks/>
          </p:cNvGrpSpPr>
          <p:nvPr/>
        </p:nvGrpSpPr>
        <p:grpSpPr bwMode="auto">
          <a:xfrm>
            <a:off x="6419850" y="2748830"/>
            <a:ext cx="465535" cy="153591"/>
            <a:chOff x="1287" y="2524"/>
            <a:chExt cx="260" cy="100"/>
          </a:xfrm>
        </p:grpSpPr>
        <p:sp>
          <p:nvSpPr>
            <p:cNvPr id="126" name="Rectangle 157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7" name="Rectangle 158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8" name="Rectangle 159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9" name="Rectangle 160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130" name="Line 177"/>
          <p:cNvSpPr>
            <a:spLocks noChangeShapeType="1"/>
          </p:cNvSpPr>
          <p:nvPr/>
        </p:nvSpPr>
        <p:spPr bwMode="auto">
          <a:xfrm>
            <a:off x="2202656" y="2809552"/>
            <a:ext cx="0" cy="163234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1" name="Line 178"/>
          <p:cNvSpPr>
            <a:spLocks noChangeShapeType="1"/>
          </p:cNvSpPr>
          <p:nvPr/>
        </p:nvSpPr>
        <p:spPr bwMode="auto">
          <a:xfrm>
            <a:off x="4400550" y="2628577"/>
            <a:ext cx="9525" cy="180617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2" name="Line 180"/>
          <p:cNvSpPr>
            <a:spLocks noChangeShapeType="1"/>
          </p:cNvSpPr>
          <p:nvPr/>
        </p:nvSpPr>
        <p:spPr bwMode="auto">
          <a:xfrm>
            <a:off x="2202657" y="4428802"/>
            <a:ext cx="2202656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3" name="Line 181"/>
          <p:cNvSpPr>
            <a:spLocks noChangeShapeType="1"/>
          </p:cNvSpPr>
          <p:nvPr/>
        </p:nvSpPr>
        <p:spPr bwMode="auto">
          <a:xfrm>
            <a:off x="4307681" y="2638102"/>
            <a:ext cx="0" cy="168473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4" name="Line 182"/>
          <p:cNvSpPr>
            <a:spLocks noChangeShapeType="1"/>
          </p:cNvSpPr>
          <p:nvPr/>
        </p:nvSpPr>
        <p:spPr bwMode="auto">
          <a:xfrm>
            <a:off x="2283619" y="4309740"/>
            <a:ext cx="2055019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5" name="Line 183"/>
          <p:cNvSpPr>
            <a:spLocks noChangeShapeType="1"/>
          </p:cNvSpPr>
          <p:nvPr/>
        </p:nvSpPr>
        <p:spPr bwMode="auto">
          <a:xfrm>
            <a:off x="2278856" y="2800027"/>
            <a:ext cx="9525" cy="151328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6" name="Line 184"/>
          <p:cNvSpPr>
            <a:spLocks noChangeShapeType="1"/>
          </p:cNvSpPr>
          <p:nvPr/>
        </p:nvSpPr>
        <p:spPr bwMode="auto">
          <a:xfrm>
            <a:off x="6710363" y="2838127"/>
            <a:ext cx="0" cy="163234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7" name="Line 185"/>
          <p:cNvSpPr>
            <a:spLocks noChangeShapeType="1"/>
          </p:cNvSpPr>
          <p:nvPr/>
        </p:nvSpPr>
        <p:spPr bwMode="auto">
          <a:xfrm>
            <a:off x="6622256" y="2814315"/>
            <a:ext cx="9525" cy="151328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8" name="Line 186"/>
          <p:cNvSpPr>
            <a:spLocks noChangeShapeType="1"/>
          </p:cNvSpPr>
          <p:nvPr/>
        </p:nvSpPr>
        <p:spPr bwMode="auto">
          <a:xfrm>
            <a:off x="4507706" y="2642865"/>
            <a:ext cx="9525" cy="180617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39" name="Line 187"/>
          <p:cNvSpPr>
            <a:spLocks noChangeShapeType="1"/>
          </p:cNvSpPr>
          <p:nvPr/>
        </p:nvSpPr>
        <p:spPr bwMode="auto">
          <a:xfrm>
            <a:off x="4607719" y="2652390"/>
            <a:ext cx="0" cy="168473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40" name="Line 188"/>
          <p:cNvSpPr>
            <a:spLocks noChangeShapeType="1"/>
          </p:cNvSpPr>
          <p:nvPr/>
        </p:nvSpPr>
        <p:spPr bwMode="auto">
          <a:xfrm>
            <a:off x="4524376" y="4443090"/>
            <a:ext cx="2202656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41" name="Line 189"/>
          <p:cNvSpPr>
            <a:spLocks noChangeShapeType="1"/>
          </p:cNvSpPr>
          <p:nvPr/>
        </p:nvSpPr>
        <p:spPr bwMode="auto">
          <a:xfrm>
            <a:off x="4588669" y="4316883"/>
            <a:ext cx="2055019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grpSp>
        <p:nvGrpSpPr>
          <p:cNvPr id="142" name="Group 196"/>
          <p:cNvGrpSpPr>
            <a:grpSpLocks/>
          </p:cNvGrpSpPr>
          <p:nvPr/>
        </p:nvGrpSpPr>
        <p:grpSpPr bwMode="auto">
          <a:xfrm>
            <a:off x="1933576" y="4503806"/>
            <a:ext cx="1290638" cy="515541"/>
            <a:chOff x="1270" y="3697"/>
            <a:chExt cx="1084" cy="433"/>
          </a:xfrm>
        </p:grpSpPr>
        <p:sp>
          <p:nvSpPr>
            <p:cNvPr id="143" name="Rectangle 193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44" name="Line 194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45" name="Text Box 195"/>
            <p:cNvSpPr txBox="1">
              <a:spLocks noChangeArrowheads="1"/>
            </p:cNvSpPr>
            <p:nvPr/>
          </p:nvSpPr>
          <p:spPr bwMode="auto">
            <a:xfrm>
              <a:off x="1270" y="3822"/>
              <a:ext cx="104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source port: 9157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dest port: 6428</a:t>
              </a:r>
            </a:p>
          </p:txBody>
        </p:sp>
      </p:grpSp>
      <p:grpSp>
        <p:nvGrpSpPr>
          <p:cNvPr id="146" name="Group 201"/>
          <p:cNvGrpSpPr>
            <a:grpSpLocks/>
          </p:cNvGrpSpPr>
          <p:nvPr/>
        </p:nvGrpSpPr>
        <p:grpSpPr bwMode="auto">
          <a:xfrm>
            <a:off x="2964658" y="3846580"/>
            <a:ext cx="1326357" cy="515541"/>
            <a:chOff x="2741" y="3750"/>
            <a:chExt cx="1114" cy="433"/>
          </a:xfrm>
        </p:grpSpPr>
        <p:sp>
          <p:nvSpPr>
            <p:cNvPr id="147" name="Rectangle 19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48" name="Line 19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49" name="Text Box 200"/>
            <p:cNvSpPr txBox="1">
              <a:spLocks noChangeArrowheads="1"/>
            </p:cNvSpPr>
            <p:nvPr/>
          </p:nvSpPr>
          <p:spPr bwMode="auto">
            <a:xfrm>
              <a:off x="2813" y="3875"/>
              <a:ext cx="104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source port: 6428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dest port: 9157</a:t>
              </a:r>
            </a:p>
          </p:txBody>
        </p:sp>
      </p:grpSp>
      <p:grpSp>
        <p:nvGrpSpPr>
          <p:cNvPr id="150" name="Group 202"/>
          <p:cNvGrpSpPr>
            <a:grpSpLocks/>
          </p:cNvGrpSpPr>
          <p:nvPr/>
        </p:nvGrpSpPr>
        <p:grpSpPr bwMode="auto">
          <a:xfrm>
            <a:off x="5179220" y="3846581"/>
            <a:ext cx="1059656" cy="515541"/>
            <a:chOff x="1464" y="3697"/>
            <a:chExt cx="890" cy="433"/>
          </a:xfrm>
        </p:grpSpPr>
        <p:sp>
          <p:nvSpPr>
            <p:cNvPr id="151" name="Rectangle 203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52" name="Line 204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" name="Text Box 205"/>
            <p:cNvSpPr txBox="1">
              <a:spLocks noChangeArrowheads="1"/>
            </p:cNvSpPr>
            <p:nvPr/>
          </p:nvSpPr>
          <p:spPr bwMode="auto">
            <a:xfrm>
              <a:off x="1464" y="3822"/>
              <a:ext cx="84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source port: ?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dest port: ?</a:t>
              </a:r>
            </a:p>
          </p:txBody>
        </p:sp>
      </p:grpSp>
      <p:grpSp>
        <p:nvGrpSpPr>
          <p:cNvPr id="154" name="Group 206"/>
          <p:cNvGrpSpPr>
            <a:grpSpLocks/>
          </p:cNvGrpSpPr>
          <p:nvPr/>
        </p:nvGrpSpPr>
        <p:grpSpPr bwMode="auto">
          <a:xfrm>
            <a:off x="4663681" y="4487136"/>
            <a:ext cx="1095376" cy="515541"/>
            <a:chOff x="2741" y="3750"/>
            <a:chExt cx="920" cy="433"/>
          </a:xfrm>
        </p:grpSpPr>
        <p:sp>
          <p:nvSpPr>
            <p:cNvPr id="155" name="Rectangle 207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56" name="Line 208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7" name="Text Box 209"/>
            <p:cNvSpPr txBox="1">
              <a:spLocks noChangeArrowheads="1"/>
            </p:cNvSpPr>
            <p:nvPr/>
          </p:nvSpPr>
          <p:spPr bwMode="auto">
            <a:xfrm>
              <a:off x="2813" y="3875"/>
              <a:ext cx="84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source port: ?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dest port: ?</a:t>
              </a:r>
            </a:p>
          </p:txBody>
        </p:sp>
      </p:grpSp>
      <p:grpSp>
        <p:nvGrpSpPr>
          <p:cNvPr id="158" name="Group 214"/>
          <p:cNvGrpSpPr>
            <a:grpSpLocks/>
          </p:cNvGrpSpPr>
          <p:nvPr/>
        </p:nvGrpSpPr>
        <p:grpSpPr bwMode="auto">
          <a:xfrm>
            <a:off x="1230288" y="3544912"/>
            <a:ext cx="533400" cy="502444"/>
            <a:chOff x="-44" y="1473"/>
            <a:chExt cx="981" cy="1105"/>
          </a:xfrm>
        </p:grpSpPr>
        <p:pic>
          <p:nvPicPr>
            <p:cNvPr id="159" name="Picture 21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0" name="Freeform 21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61" name="Group 217"/>
          <p:cNvGrpSpPr>
            <a:grpSpLocks/>
          </p:cNvGrpSpPr>
          <p:nvPr/>
        </p:nvGrpSpPr>
        <p:grpSpPr bwMode="auto">
          <a:xfrm flipH="1">
            <a:off x="7344966" y="3558455"/>
            <a:ext cx="533400" cy="502444"/>
            <a:chOff x="-44" y="1473"/>
            <a:chExt cx="981" cy="1105"/>
          </a:xfrm>
        </p:grpSpPr>
        <p:pic>
          <p:nvPicPr>
            <p:cNvPr id="162" name="Picture 21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" name="Freeform 21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64" name="Group 220"/>
          <p:cNvGrpSpPr>
            <a:grpSpLocks/>
          </p:cNvGrpSpPr>
          <p:nvPr/>
        </p:nvGrpSpPr>
        <p:grpSpPr bwMode="auto">
          <a:xfrm>
            <a:off x="3462338" y="3107208"/>
            <a:ext cx="269081" cy="528638"/>
            <a:chOff x="4140" y="429"/>
            <a:chExt cx="1425" cy="2396"/>
          </a:xfrm>
        </p:grpSpPr>
        <p:sp>
          <p:nvSpPr>
            <p:cNvPr id="165" name="Freeform 22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6" name="Rectangle 222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7" name="Freeform 22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8" name="Freeform 22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9" name="Rectangle 225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70" name="Group 22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5" name="AutoShape 227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96" name="AutoShape 228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71" name="Rectangle 229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72" name="Group 23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3" name="AutoShape 231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4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94" name="AutoShape 232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73" name="Rectangle 233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74" name="Rectangle 234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75" name="Group 23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1" name="AutoShape 236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92" name="AutoShape 237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76" name="Freeform 23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77" name="Group 23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9" name="AutoShape 24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90" name="AutoShape 241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78" name="Rectangle 242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79" name="Freeform 24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Freeform 24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Oval 245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82" name="Freeform 24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3" name="AutoShape 247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84" name="AutoShape 248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85" name="Oval 249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86" name="Oval 250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251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88" name="Rectangle 252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197" name="灯片编号占位符 2">
            <a:extLst>
              <a:ext uri="{FF2B5EF4-FFF2-40B4-BE49-F238E27FC236}">
                <a16:creationId xmlns:a16="http://schemas.microsoft.com/office/drawing/2014/main" id="{846CF1AB-75DD-4FF2-8B60-CC5C809E6C6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98" name="AutoShape 5">
            <a:extLst>
              <a:ext uri="{FF2B5EF4-FFF2-40B4-BE49-F238E27FC236}">
                <a16:creationId xmlns:a16="http://schemas.microsoft.com/office/drawing/2014/main" id="{8904C109-574B-46CD-9820-8B7882D68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749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1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3" grpId="0"/>
      <p:bldP spid="74" grpId="0"/>
      <p:bldP spid="198" grpId="0" animBg="1"/>
      <p:bldP spid="19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696288" cy="386799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面向连接的复用和分解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套接字是一个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四元组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source IP address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source port number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dest IP address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dest port number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接收端的主机通过这四个值来定位到对应的套接字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服务器端的应用进程可能有并发的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每个套接字由一个四元组来标识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服务器对为个连接的客户端创建不同的套接字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非持久性连接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对每个请求创建一个套接字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3A32B4E6-619D-424B-99BC-679C890DDFC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D086B33D-D6D2-4ADE-95CE-273216088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51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46172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面向连接的复用和分解</a:t>
            </a:r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3257550" y="1478098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456135" y="1612639"/>
            <a:ext cx="345281" cy="1645444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843088" y="1587636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1814513" y="1628117"/>
            <a:ext cx="954881" cy="14847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2" name="Line 25"/>
          <p:cNvSpPr>
            <a:spLocks noChangeShapeType="1"/>
          </p:cNvSpPr>
          <p:nvPr/>
        </p:nvSpPr>
        <p:spPr bwMode="auto">
          <a:xfrm>
            <a:off x="1821656" y="2198427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1789510" y="218532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14" name="Line 27"/>
          <p:cNvSpPr>
            <a:spLocks noChangeShapeType="1"/>
          </p:cNvSpPr>
          <p:nvPr/>
        </p:nvSpPr>
        <p:spPr bwMode="auto">
          <a:xfrm>
            <a:off x="1827610" y="2438933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" name="Line 28"/>
          <p:cNvSpPr>
            <a:spLocks noChangeShapeType="1"/>
          </p:cNvSpPr>
          <p:nvPr/>
        </p:nvSpPr>
        <p:spPr bwMode="auto">
          <a:xfrm>
            <a:off x="1816894" y="2671105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" name="Line 29"/>
          <p:cNvSpPr>
            <a:spLocks noChangeShapeType="1"/>
          </p:cNvSpPr>
          <p:nvPr/>
        </p:nvSpPr>
        <p:spPr bwMode="auto">
          <a:xfrm>
            <a:off x="1816894" y="2885417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1815704" y="162097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1782366" y="286398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1796654" y="264967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1789510" y="242821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2066925" y="1835286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P3</a:t>
            </a:r>
          </a:p>
        </p:txBody>
      </p: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2043113" y="2078173"/>
            <a:ext cx="465535" cy="171450"/>
            <a:chOff x="1287" y="2524"/>
            <a:chExt cx="260" cy="100"/>
          </a:xfrm>
        </p:grpSpPr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3717131" y="1412614"/>
            <a:ext cx="1690688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3676651" y="1470955"/>
            <a:ext cx="1669256" cy="14847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3995738" y="201745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4036219" y="143523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3990975" y="269610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3990975" y="248179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6068617" y="1581683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5920978" y="1612639"/>
            <a:ext cx="1223963" cy="14847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6015038" y="217937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 dirty="0"/>
              <a:t>transport</a:t>
            </a:r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6041232" y="161502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38" name="Text Box 26"/>
          <p:cNvSpPr txBox="1">
            <a:spLocks noChangeArrowheads="1"/>
          </p:cNvSpPr>
          <p:nvPr/>
        </p:nvSpPr>
        <p:spPr bwMode="auto">
          <a:xfrm>
            <a:off x="6047185" y="285803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39" name="Text Box 26"/>
          <p:cNvSpPr txBox="1">
            <a:spLocks noChangeArrowheads="1"/>
          </p:cNvSpPr>
          <p:nvPr/>
        </p:nvSpPr>
        <p:spPr bwMode="auto">
          <a:xfrm>
            <a:off x="6022182" y="264372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015038" y="242226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41" name="Oval 53"/>
          <p:cNvSpPr>
            <a:spLocks noChangeArrowheads="1"/>
          </p:cNvSpPr>
          <p:nvPr/>
        </p:nvSpPr>
        <p:spPr bwMode="auto">
          <a:xfrm>
            <a:off x="5981700" y="1835286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P2</a:t>
            </a:r>
          </a:p>
        </p:txBody>
      </p:sp>
      <p:sp>
        <p:nvSpPr>
          <p:cNvPr id="42" name="Freeform 54"/>
          <p:cNvSpPr>
            <a:spLocks/>
          </p:cNvSpPr>
          <p:nvPr/>
        </p:nvSpPr>
        <p:spPr bwMode="auto">
          <a:xfrm>
            <a:off x="7162800" y="1597161"/>
            <a:ext cx="378619" cy="16002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3" name="Group 76"/>
          <p:cNvGrpSpPr>
            <a:grpSpLocks/>
          </p:cNvGrpSpPr>
          <p:nvPr/>
        </p:nvGrpSpPr>
        <p:grpSpPr bwMode="auto">
          <a:xfrm>
            <a:off x="2447926" y="4031990"/>
            <a:ext cx="1575197" cy="515541"/>
            <a:chOff x="1031" y="3697"/>
            <a:chExt cx="1323" cy="433"/>
          </a:xfrm>
        </p:grpSpPr>
        <p:sp>
          <p:nvSpPr>
            <p:cNvPr id="44" name="Rectangle 77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" name="Line 78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46" name="Text Box 79"/>
            <p:cNvSpPr txBox="1">
              <a:spLocks noChangeArrowheads="1"/>
            </p:cNvSpPr>
            <p:nvPr/>
          </p:nvSpPr>
          <p:spPr bwMode="auto">
            <a:xfrm>
              <a:off x="1031" y="3822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source IP,port: A,9157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dest IP, port: B,80</a:t>
              </a:r>
            </a:p>
          </p:txBody>
        </p:sp>
      </p:grpSp>
      <p:grpSp>
        <p:nvGrpSpPr>
          <p:cNvPr id="47" name="Group 80"/>
          <p:cNvGrpSpPr>
            <a:grpSpLocks/>
          </p:cNvGrpSpPr>
          <p:nvPr/>
        </p:nvGrpSpPr>
        <p:grpSpPr bwMode="auto">
          <a:xfrm>
            <a:off x="2393155" y="3514061"/>
            <a:ext cx="1469231" cy="515541"/>
            <a:chOff x="2741" y="3750"/>
            <a:chExt cx="1234" cy="433"/>
          </a:xfrm>
        </p:grpSpPr>
        <p:sp>
          <p:nvSpPr>
            <p:cNvPr id="48" name="Rectangle 81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9" name="Line 82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50" name="Text Box 83"/>
            <p:cNvSpPr txBox="1">
              <a:spLocks noChangeArrowheads="1"/>
            </p:cNvSpPr>
            <p:nvPr/>
          </p:nvSpPr>
          <p:spPr bwMode="auto">
            <a:xfrm>
              <a:off x="2813" y="3875"/>
              <a:ext cx="116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source IP,port: B,80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dest IP,port: A,9157</a:t>
              </a:r>
            </a:p>
          </p:txBody>
        </p:sp>
      </p:grpSp>
      <p:sp>
        <p:nvSpPr>
          <p:cNvPr id="51" name="Text Box 93"/>
          <p:cNvSpPr txBox="1">
            <a:spLocks noChangeArrowheads="1"/>
          </p:cNvSpPr>
          <p:nvPr/>
        </p:nvSpPr>
        <p:spPr bwMode="auto">
          <a:xfrm flipH="1">
            <a:off x="1209676" y="3683136"/>
            <a:ext cx="8608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350">
                <a:latin typeface="Gill Sans MT" charset="0"/>
              </a:rPr>
              <a:t>host: IP address A</a:t>
            </a:r>
          </a:p>
        </p:txBody>
      </p:sp>
      <p:sp>
        <p:nvSpPr>
          <p:cNvPr id="52" name="Text Box 94"/>
          <p:cNvSpPr txBox="1">
            <a:spLocks noChangeArrowheads="1"/>
          </p:cNvSpPr>
          <p:nvPr/>
        </p:nvSpPr>
        <p:spPr bwMode="auto">
          <a:xfrm flipH="1">
            <a:off x="7027068" y="3605745"/>
            <a:ext cx="122396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350" dirty="0">
                <a:latin typeface="Gill Sans MT" charset="0"/>
              </a:rPr>
              <a:t>host: IP address C</a:t>
            </a:r>
          </a:p>
        </p:txBody>
      </p:sp>
      <p:sp>
        <p:nvSpPr>
          <p:cNvPr id="53" name="Line 96"/>
          <p:cNvSpPr>
            <a:spLocks noChangeShapeType="1"/>
          </p:cNvSpPr>
          <p:nvPr/>
        </p:nvSpPr>
        <p:spPr bwMode="auto">
          <a:xfrm>
            <a:off x="3658791" y="2728254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54" name="Line 97"/>
          <p:cNvSpPr>
            <a:spLocks noChangeShapeType="1"/>
          </p:cNvSpPr>
          <p:nvPr/>
        </p:nvSpPr>
        <p:spPr bwMode="auto">
          <a:xfrm>
            <a:off x="3670697" y="2502036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3961210" y="22508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56" name="Line 99"/>
          <p:cNvSpPr>
            <a:spLocks noChangeShapeType="1"/>
          </p:cNvSpPr>
          <p:nvPr/>
        </p:nvSpPr>
        <p:spPr bwMode="auto">
          <a:xfrm>
            <a:off x="3673079" y="2260339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57" name="Line 100"/>
          <p:cNvSpPr>
            <a:spLocks noChangeShapeType="1"/>
          </p:cNvSpPr>
          <p:nvPr/>
        </p:nvSpPr>
        <p:spPr bwMode="auto">
          <a:xfrm>
            <a:off x="3675460" y="2018642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grpSp>
        <p:nvGrpSpPr>
          <p:cNvPr id="58" name="Group 101"/>
          <p:cNvGrpSpPr>
            <a:grpSpLocks/>
          </p:cNvGrpSpPr>
          <p:nvPr/>
        </p:nvGrpSpPr>
        <p:grpSpPr bwMode="auto">
          <a:xfrm>
            <a:off x="3807619" y="1915058"/>
            <a:ext cx="354806" cy="171450"/>
            <a:chOff x="1287" y="2524"/>
            <a:chExt cx="260" cy="100"/>
          </a:xfrm>
        </p:grpSpPr>
        <p:sp>
          <p:nvSpPr>
            <p:cNvPr id="59" name="Rectangle 102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0" name="Rectangle 103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1" name="Rectangle 104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2" name="Rectangle 105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65" name="Group 118"/>
          <p:cNvGrpSpPr>
            <a:grpSpLocks/>
          </p:cNvGrpSpPr>
          <p:nvPr/>
        </p:nvGrpSpPr>
        <p:grpSpPr bwMode="auto">
          <a:xfrm>
            <a:off x="4336257" y="1918629"/>
            <a:ext cx="354806" cy="171450"/>
            <a:chOff x="1287" y="2524"/>
            <a:chExt cx="260" cy="100"/>
          </a:xfrm>
        </p:grpSpPr>
        <p:sp>
          <p:nvSpPr>
            <p:cNvPr id="66" name="Rectangle 11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7" name="Rectangle 12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8" name="Rectangle 12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Rectangle 12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70" name="Group 123"/>
          <p:cNvGrpSpPr>
            <a:grpSpLocks/>
          </p:cNvGrpSpPr>
          <p:nvPr/>
        </p:nvGrpSpPr>
        <p:grpSpPr bwMode="auto">
          <a:xfrm>
            <a:off x="4839892" y="1922202"/>
            <a:ext cx="354806" cy="171450"/>
            <a:chOff x="1287" y="2524"/>
            <a:chExt cx="260" cy="100"/>
          </a:xfrm>
        </p:grpSpPr>
        <p:sp>
          <p:nvSpPr>
            <p:cNvPr id="71" name="Rectangle 124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2" name="Rectangle 125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3" name="Rectangle 126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4" name="Rectangle 127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75" name="Line 133"/>
          <p:cNvSpPr>
            <a:spLocks noChangeShapeType="1"/>
          </p:cNvSpPr>
          <p:nvPr/>
        </p:nvSpPr>
        <p:spPr bwMode="auto">
          <a:xfrm>
            <a:off x="5915025" y="2890179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76" name="Line 134"/>
          <p:cNvSpPr>
            <a:spLocks noChangeShapeType="1"/>
          </p:cNvSpPr>
          <p:nvPr/>
        </p:nvSpPr>
        <p:spPr bwMode="auto">
          <a:xfrm>
            <a:off x="5907881" y="2668723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77" name="Line 135"/>
          <p:cNvSpPr>
            <a:spLocks noChangeShapeType="1"/>
          </p:cNvSpPr>
          <p:nvPr/>
        </p:nvSpPr>
        <p:spPr bwMode="auto">
          <a:xfrm>
            <a:off x="5907881" y="2447267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78" name="Line 136"/>
          <p:cNvSpPr>
            <a:spLocks noChangeShapeType="1"/>
          </p:cNvSpPr>
          <p:nvPr/>
        </p:nvSpPr>
        <p:spPr bwMode="auto">
          <a:xfrm>
            <a:off x="5907881" y="2218667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grpSp>
        <p:nvGrpSpPr>
          <p:cNvPr id="79" name="Group 128"/>
          <p:cNvGrpSpPr>
            <a:grpSpLocks/>
          </p:cNvGrpSpPr>
          <p:nvPr/>
        </p:nvGrpSpPr>
        <p:grpSpPr bwMode="auto">
          <a:xfrm>
            <a:off x="6022182" y="2088889"/>
            <a:ext cx="354806" cy="171450"/>
            <a:chOff x="1287" y="2524"/>
            <a:chExt cx="260" cy="100"/>
          </a:xfrm>
        </p:grpSpPr>
        <p:sp>
          <p:nvSpPr>
            <p:cNvPr id="80" name="Rectangle 12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2" name="Rectangle 13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3" name="Rectangle 13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4" name="Rectangle 13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85" name="Group 137"/>
          <p:cNvGrpSpPr>
            <a:grpSpLocks/>
          </p:cNvGrpSpPr>
          <p:nvPr/>
        </p:nvGrpSpPr>
        <p:grpSpPr bwMode="auto">
          <a:xfrm>
            <a:off x="6618685" y="2081745"/>
            <a:ext cx="354806" cy="171450"/>
            <a:chOff x="1287" y="2524"/>
            <a:chExt cx="260" cy="100"/>
          </a:xfrm>
        </p:grpSpPr>
        <p:sp>
          <p:nvSpPr>
            <p:cNvPr id="86" name="Rectangle 138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7" name="Rectangle 139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8" name="Rectangle 140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9" name="Rectangle 141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90" name="Oval 143"/>
          <p:cNvSpPr>
            <a:spLocks noChangeArrowheads="1"/>
          </p:cNvSpPr>
          <p:nvPr/>
        </p:nvSpPr>
        <p:spPr bwMode="auto">
          <a:xfrm>
            <a:off x="6574631" y="183171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P3</a:t>
            </a:r>
          </a:p>
        </p:txBody>
      </p:sp>
      <p:sp>
        <p:nvSpPr>
          <p:cNvPr id="91" name="Freeform 144"/>
          <p:cNvSpPr>
            <a:spLocks/>
          </p:cNvSpPr>
          <p:nvPr/>
        </p:nvSpPr>
        <p:spPr bwMode="auto">
          <a:xfrm>
            <a:off x="2263379" y="1984115"/>
            <a:ext cx="2021681" cy="2021681"/>
          </a:xfrm>
          <a:custGeom>
            <a:avLst/>
            <a:gdLst>
              <a:gd name="T0" fmla="*/ 0 w 1698"/>
              <a:gd name="T1" fmla="*/ 2147483647 h 1698"/>
              <a:gd name="T2" fmla="*/ 0 w 1698"/>
              <a:gd name="T3" fmla="*/ 2147483647 h 1698"/>
              <a:gd name="T4" fmla="*/ 2147483647 w 1698"/>
              <a:gd name="T5" fmla="*/ 2147483647 h 1698"/>
              <a:gd name="T6" fmla="*/ 2147483647 w 1698"/>
              <a:gd name="T7" fmla="*/ 2147483647 h 1698"/>
              <a:gd name="T8" fmla="*/ 2147483647 w 1698"/>
              <a:gd name="T9" fmla="*/ 0 h 16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2" name="Freeform 145"/>
          <p:cNvSpPr>
            <a:spLocks/>
          </p:cNvSpPr>
          <p:nvPr/>
        </p:nvSpPr>
        <p:spPr bwMode="auto">
          <a:xfrm>
            <a:off x="4502944" y="2007927"/>
            <a:ext cx="2316956" cy="2439590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7 h 1801"/>
              <a:gd name="T4" fmla="*/ 2147483647 w 1946"/>
              <a:gd name="T5" fmla="*/ 2147483647 h 1801"/>
              <a:gd name="T6" fmla="*/ 2147483647 w 1946"/>
              <a:gd name="T7" fmla="*/ 2147483647 h 18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3" name="Freeform 146"/>
          <p:cNvSpPr>
            <a:spLocks/>
          </p:cNvSpPr>
          <p:nvPr/>
        </p:nvSpPr>
        <p:spPr bwMode="auto">
          <a:xfrm>
            <a:off x="4997054" y="1999592"/>
            <a:ext cx="1207294" cy="1849041"/>
          </a:xfrm>
          <a:custGeom>
            <a:avLst/>
            <a:gdLst>
              <a:gd name="T0" fmla="*/ 0 w 1014"/>
              <a:gd name="T1" fmla="*/ 0 h 1480"/>
              <a:gd name="T2" fmla="*/ 0 w 1014"/>
              <a:gd name="T3" fmla="*/ 2147483647 h 1480"/>
              <a:gd name="T4" fmla="*/ 2147483647 w 1014"/>
              <a:gd name="T5" fmla="*/ 2147483647 h 1480"/>
              <a:gd name="T6" fmla="*/ 2147483647 w 1014"/>
              <a:gd name="T7" fmla="*/ 2147483647 h 1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grpSp>
        <p:nvGrpSpPr>
          <p:cNvPr id="94" name="Group 147"/>
          <p:cNvGrpSpPr>
            <a:grpSpLocks/>
          </p:cNvGrpSpPr>
          <p:nvPr/>
        </p:nvGrpSpPr>
        <p:grpSpPr bwMode="auto">
          <a:xfrm>
            <a:off x="5070874" y="3667659"/>
            <a:ext cx="1610916" cy="515541"/>
            <a:chOff x="2741" y="3750"/>
            <a:chExt cx="1353" cy="433"/>
          </a:xfrm>
        </p:grpSpPr>
        <p:sp>
          <p:nvSpPr>
            <p:cNvPr id="95" name="Rectangle 14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96" name="Line 14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7" name="Text Box 150"/>
            <p:cNvSpPr txBox="1">
              <a:spLocks noChangeArrowheads="1"/>
            </p:cNvSpPr>
            <p:nvPr/>
          </p:nvSpPr>
          <p:spPr bwMode="auto">
            <a:xfrm>
              <a:off x="2813" y="3875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source IP,port: C,5775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dest IP,port: B,80</a:t>
              </a:r>
            </a:p>
          </p:txBody>
        </p:sp>
      </p:grpSp>
      <p:grpSp>
        <p:nvGrpSpPr>
          <p:cNvPr id="98" name="Group 151"/>
          <p:cNvGrpSpPr>
            <a:grpSpLocks/>
          </p:cNvGrpSpPr>
          <p:nvPr/>
        </p:nvGrpSpPr>
        <p:grpSpPr bwMode="auto">
          <a:xfrm>
            <a:off x="5123261" y="4259393"/>
            <a:ext cx="1610916" cy="515541"/>
            <a:chOff x="2741" y="3750"/>
            <a:chExt cx="1353" cy="433"/>
          </a:xfrm>
        </p:grpSpPr>
        <p:sp>
          <p:nvSpPr>
            <p:cNvPr id="99" name="Rectangle 152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00" name="Line 153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1" name="Text Box 154"/>
            <p:cNvSpPr txBox="1">
              <a:spLocks noChangeArrowheads="1"/>
            </p:cNvSpPr>
            <p:nvPr/>
          </p:nvSpPr>
          <p:spPr bwMode="auto">
            <a:xfrm>
              <a:off x="2813" y="3875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 dirty="0"/>
                <a:t>source </a:t>
              </a:r>
              <a:r>
                <a:rPr lang="en-US" sz="1050" dirty="0" err="1"/>
                <a:t>IP,port</a:t>
              </a:r>
              <a:r>
                <a:rPr lang="en-US" sz="1050" dirty="0"/>
                <a:t>: C,9157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 dirty="0" err="1"/>
                <a:t>dest</a:t>
              </a:r>
              <a:r>
                <a:rPr lang="en-US" sz="1050" dirty="0"/>
                <a:t> </a:t>
              </a:r>
              <a:r>
                <a:rPr lang="en-US" sz="1050" dirty="0" err="1"/>
                <a:t>IP,port</a:t>
              </a:r>
              <a:r>
                <a:rPr lang="en-US" sz="1050" dirty="0"/>
                <a:t>: B,80</a:t>
              </a:r>
            </a:p>
          </p:txBody>
        </p:sp>
      </p:grpSp>
      <p:sp>
        <p:nvSpPr>
          <p:cNvPr id="103" name="Line 156"/>
          <p:cNvSpPr>
            <a:spLocks noChangeShapeType="1"/>
          </p:cNvSpPr>
          <p:nvPr/>
        </p:nvSpPr>
        <p:spPr bwMode="auto">
          <a:xfrm>
            <a:off x="3700769" y="4495795"/>
            <a:ext cx="214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04" name="Line 157"/>
          <p:cNvSpPr>
            <a:spLocks noChangeShapeType="1"/>
          </p:cNvSpPr>
          <p:nvPr/>
        </p:nvSpPr>
        <p:spPr bwMode="auto">
          <a:xfrm>
            <a:off x="6070997" y="4123667"/>
            <a:ext cx="214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05" name="Line 158"/>
          <p:cNvSpPr>
            <a:spLocks noChangeShapeType="1"/>
          </p:cNvSpPr>
          <p:nvPr/>
        </p:nvSpPr>
        <p:spPr bwMode="auto">
          <a:xfrm>
            <a:off x="6128147" y="4718979"/>
            <a:ext cx="214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06" name="Text Box 160"/>
          <p:cNvSpPr txBox="1">
            <a:spLocks noChangeArrowheads="1"/>
          </p:cNvSpPr>
          <p:nvPr/>
        </p:nvSpPr>
        <p:spPr bwMode="auto">
          <a:xfrm flipH="1">
            <a:off x="4927997" y="2930661"/>
            <a:ext cx="8608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350">
                <a:latin typeface="Gill Sans MT" charset="0"/>
              </a:rPr>
              <a:t>server: IP address B</a:t>
            </a:r>
          </a:p>
        </p:txBody>
      </p:sp>
      <p:grpSp>
        <p:nvGrpSpPr>
          <p:cNvPr id="107" name="Group 161"/>
          <p:cNvGrpSpPr>
            <a:grpSpLocks/>
          </p:cNvGrpSpPr>
          <p:nvPr/>
        </p:nvGrpSpPr>
        <p:grpSpPr bwMode="auto">
          <a:xfrm>
            <a:off x="3258742" y="2548470"/>
            <a:ext cx="269081" cy="528638"/>
            <a:chOff x="4140" y="429"/>
            <a:chExt cx="1425" cy="2396"/>
          </a:xfrm>
        </p:grpSpPr>
        <p:sp>
          <p:nvSpPr>
            <p:cNvPr id="108" name="Freeform 16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" name="Rectangle 163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0" name="Freeform 16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1" name="Freeform 16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" name="Rectangle 166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13" name="Group 16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8" name="AutoShape 168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9" name="AutoShape 169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14" name="Rectangle 170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15" name="Group 17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6" name="AutoShape 172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4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7" name="AutoShape 173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16" name="Rectangle 174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7" name="Rectangle 175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18" name="Group 17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4" name="AutoShape 17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AutoShape 178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19" name="Freeform 17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0" name="Group 18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2" name="AutoShape 181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3" name="AutoShape 18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21" name="Rectangle 183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2" name="Freeform 18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Freeform 18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" name="Oval 186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5" name="Freeform 18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AutoShape 188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7" name="AutoShape 189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8" name="Oval 190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9" name="Oval 191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Oval 192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31" name="Rectangle 193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140" name="Group 194"/>
          <p:cNvGrpSpPr>
            <a:grpSpLocks/>
          </p:cNvGrpSpPr>
          <p:nvPr/>
        </p:nvGrpSpPr>
        <p:grpSpPr bwMode="auto">
          <a:xfrm>
            <a:off x="1109663" y="2863986"/>
            <a:ext cx="533400" cy="502444"/>
            <a:chOff x="-44" y="1473"/>
            <a:chExt cx="981" cy="1105"/>
          </a:xfrm>
        </p:grpSpPr>
        <p:pic>
          <p:nvPicPr>
            <p:cNvPr id="141" name="Picture 19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Freeform 19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43" name="Group 197"/>
          <p:cNvGrpSpPr>
            <a:grpSpLocks/>
          </p:cNvGrpSpPr>
          <p:nvPr/>
        </p:nvGrpSpPr>
        <p:grpSpPr bwMode="auto">
          <a:xfrm flipH="1">
            <a:off x="7336631" y="2800883"/>
            <a:ext cx="533400" cy="502444"/>
            <a:chOff x="-44" y="1473"/>
            <a:chExt cx="981" cy="1105"/>
          </a:xfrm>
        </p:grpSpPr>
        <p:pic>
          <p:nvPicPr>
            <p:cNvPr id="144" name="Picture 19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Freeform 19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46" name="Oval 30"/>
          <p:cNvSpPr>
            <a:spLocks noChangeArrowheads="1"/>
          </p:cNvSpPr>
          <p:nvPr/>
        </p:nvSpPr>
        <p:spPr bwMode="auto">
          <a:xfrm>
            <a:off x="3743326" y="1725153"/>
            <a:ext cx="471488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1350" dirty="0">
                <a:latin typeface="Arial" charset="0"/>
                <a:ea typeface="ＭＳ Ｐゴシック" charset="0"/>
              </a:rPr>
              <a:t>P4</a:t>
            </a:r>
          </a:p>
        </p:txBody>
      </p:sp>
      <p:sp>
        <p:nvSpPr>
          <p:cNvPr id="149" name="Oval 30"/>
          <p:cNvSpPr>
            <a:spLocks noChangeArrowheads="1"/>
          </p:cNvSpPr>
          <p:nvPr/>
        </p:nvSpPr>
        <p:spPr bwMode="auto">
          <a:xfrm>
            <a:off x="4256484" y="1725153"/>
            <a:ext cx="471488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1350" dirty="0">
                <a:latin typeface="Arial" charset="0"/>
                <a:ea typeface="ＭＳ Ｐゴシック" charset="0"/>
              </a:rPr>
              <a:t>P5</a:t>
            </a:r>
          </a:p>
        </p:txBody>
      </p:sp>
      <p:sp>
        <p:nvSpPr>
          <p:cNvPr id="150" name="Oval 30"/>
          <p:cNvSpPr>
            <a:spLocks noChangeArrowheads="1"/>
          </p:cNvSpPr>
          <p:nvPr/>
        </p:nvSpPr>
        <p:spPr bwMode="auto">
          <a:xfrm>
            <a:off x="4770782" y="1725153"/>
            <a:ext cx="471488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1350" dirty="0">
                <a:latin typeface="Arial" charset="0"/>
                <a:ea typeface="ＭＳ Ｐゴシック" charset="0"/>
              </a:rPr>
              <a:t>P6</a:t>
            </a:r>
          </a:p>
        </p:txBody>
      </p:sp>
      <p:sp>
        <p:nvSpPr>
          <p:cNvPr id="151" name="Text Box 155"/>
          <p:cNvSpPr txBox="1">
            <a:spLocks noChangeArrowheads="1"/>
          </p:cNvSpPr>
          <p:nvPr/>
        </p:nvSpPr>
        <p:spPr bwMode="auto">
          <a:xfrm>
            <a:off x="1385646" y="4558357"/>
            <a:ext cx="3728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CC0000"/>
                </a:solidFill>
              </a:rPr>
              <a:t>three segments, all destined to IP address: B,</a:t>
            </a:r>
          </a:p>
          <a:p>
            <a:pPr>
              <a:defRPr/>
            </a:pPr>
            <a:r>
              <a:rPr lang="en-US" sz="1200" dirty="0">
                <a:solidFill>
                  <a:srgbClr val="CC0000"/>
                </a:solidFill>
              </a:rPr>
              <a:t> dest port: 80 are demultiplexed to </a:t>
            </a:r>
            <a:r>
              <a:rPr lang="en-US" sz="1200" i="1" dirty="0">
                <a:solidFill>
                  <a:srgbClr val="CC0000"/>
                </a:solidFill>
              </a:rPr>
              <a:t>different </a:t>
            </a:r>
            <a:r>
              <a:rPr lang="en-US" sz="1200" dirty="0">
                <a:solidFill>
                  <a:srgbClr val="CC0000"/>
                </a:solidFill>
              </a:rPr>
              <a:t>sockets</a:t>
            </a:r>
          </a:p>
        </p:txBody>
      </p:sp>
      <p:sp>
        <p:nvSpPr>
          <p:cNvPr id="147" name="灯片编号占位符 2">
            <a:extLst>
              <a:ext uri="{FF2B5EF4-FFF2-40B4-BE49-F238E27FC236}">
                <a16:creationId xmlns:a16="http://schemas.microsoft.com/office/drawing/2014/main" id="{F5D003AD-4558-4B4F-9306-8AA6225D4FD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48" name="AutoShape 5">
            <a:extLst>
              <a:ext uri="{FF2B5EF4-FFF2-40B4-BE49-F238E27FC236}">
                <a16:creationId xmlns:a16="http://schemas.microsoft.com/office/drawing/2014/main" id="{5E272E62-7640-40D0-B5E3-C8336086B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0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48" grpId="0" animBg="1"/>
      <p:bldP spid="14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3.2 </a:t>
            </a:r>
            <a:r>
              <a:rPr lang="zh-CN" altLang="en-US" dirty="0">
                <a:solidFill>
                  <a:srgbClr val="FF3300"/>
                </a:solidFill>
              </a:rPr>
              <a:t>多路复用和多路分解</a:t>
            </a:r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3257550" y="1575444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456135" y="1709985"/>
            <a:ext cx="345281" cy="1645444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843088" y="1684982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1814513" y="1725463"/>
            <a:ext cx="954881" cy="14847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12" name="Line 25"/>
          <p:cNvSpPr>
            <a:spLocks noChangeShapeType="1"/>
          </p:cNvSpPr>
          <p:nvPr/>
        </p:nvSpPr>
        <p:spPr bwMode="auto">
          <a:xfrm>
            <a:off x="1821656" y="2295773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1789510" y="228267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14" name="Line 27"/>
          <p:cNvSpPr>
            <a:spLocks noChangeShapeType="1"/>
          </p:cNvSpPr>
          <p:nvPr/>
        </p:nvSpPr>
        <p:spPr bwMode="auto">
          <a:xfrm>
            <a:off x="1827610" y="2536279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" name="Line 28"/>
          <p:cNvSpPr>
            <a:spLocks noChangeShapeType="1"/>
          </p:cNvSpPr>
          <p:nvPr/>
        </p:nvSpPr>
        <p:spPr bwMode="auto">
          <a:xfrm>
            <a:off x="1816894" y="2768451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" name="Line 29"/>
          <p:cNvSpPr>
            <a:spLocks noChangeShapeType="1"/>
          </p:cNvSpPr>
          <p:nvPr/>
        </p:nvSpPr>
        <p:spPr bwMode="auto">
          <a:xfrm>
            <a:off x="1816894" y="2982763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1815704" y="171831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1782366" y="296133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1796654" y="274701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1789510" y="252556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2066925" y="1932632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P3</a:t>
            </a:r>
          </a:p>
        </p:txBody>
      </p: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2043113" y="2175519"/>
            <a:ext cx="465535" cy="171450"/>
            <a:chOff x="1287" y="2524"/>
            <a:chExt cx="260" cy="100"/>
          </a:xfrm>
        </p:grpSpPr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3717131" y="1509960"/>
            <a:ext cx="1690688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3676651" y="1568301"/>
            <a:ext cx="1669256" cy="148471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3995738" y="211479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transport</a:t>
            </a: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4036219" y="153258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3990975" y="279345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3990975" y="257914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6068617" y="1679029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5920978" y="1709985"/>
            <a:ext cx="1223963" cy="14847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6015038" y="227672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 dirty="0"/>
              <a:t>transport</a:t>
            </a:r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6041232" y="171236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application</a:t>
            </a:r>
          </a:p>
        </p:txBody>
      </p:sp>
      <p:sp>
        <p:nvSpPr>
          <p:cNvPr id="38" name="Text Box 26"/>
          <p:cNvSpPr txBox="1">
            <a:spLocks noChangeArrowheads="1"/>
          </p:cNvSpPr>
          <p:nvPr/>
        </p:nvSpPr>
        <p:spPr bwMode="auto">
          <a:xfrm>
            <a:off x="6047185" y="295537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physical</a:t>
            </a:r>
          </a:p>
        </p:txBody>
      </p:sp>
      <p:sp>
        <p:nvSpPr>
          <p:cNvPr id="39" name="Text Box 26"/>
          <p:cNvSpPr txBox="1">
            <a:spLocks noChangeArrowheads="1"/>
          </p:cNvSpPr>
          <p:nvPr/>
        </p:nvSpPr>
        <p:spPr bwMode="auto">
          <a:xfrm>
            <a:off x="6022182" y="274106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link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015038" y="251961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41" name="Oval 53"/>
          <p:cNvSpPr>
            <a:spLocks noChangeArrowheads="1"/>
          </p:cNvSpPr>
          <p:nvPr/>
        </p:nvSpPr>
        <p:spPr bwMode="auto">
          <a:xfrm>
            <a:off x="5981700" y="1932632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P2</a:t>
            </a:r>
          </a:p>
        </p:txBody>
      </p:sp>
      <p:sp>
        <p:nvSpPr>
          <p:cNvPr id="42" name="Freeform 54"/>
          <p:cNvSpPr>
            <a:spLocks/>
          </p:cNvSpPr>
          <p:nvPr/>
        </p:nvSpPr>
        <p:spPr bwMode="auto">
          <a:xfrm>
            <a:off x="7162800" y="1694507"/>
            <a:ext cx="378619" cy="16002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3" name="Group 76"/>
          <p:cNvGrpSpPr>
            <a:grpSpLocks/>
          </p:cNvGrpSpPr>
          <p:nvPr/>
        </p:nvGrpSpPr>
        <p:grpSpPr bwMode="auto">
          <a:xfrm>
            <a:off x="2447926" y="4129336"/>
            <a:ext cx="1575197" cy="515541"/>
            <a:chOff x="1031" y="3697"/>
            <a:chExt cx="1323" cy="433"/>
          </a:xfrm>
        </p:grpSpPr>
        <p:sp>
          <p:nvSpPr>
            <p:cNvPr id="44" name="Rectangle 77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" name="Line 78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46" name="Text Box 79"/>
            <p:cNvSpPr txBox="1">
              <a:spLocks noChangeArrowheads="1"/>
            </p:cNvSpPr>
            <p:nvPr/>
          </p:nvSpPr>
          <p:spPr bwMode="auto">
            <a:xfrm>
              <a:off x="1031" y="3822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source IP,port: A,9157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 sz="1050"/>
                <a:t>dest IP, port: B,80</a:t>
              </a:r>
            </a:p>
          </p:txBody>
        </p:sp>
      </p:grpSp>
      <p:grpSp>
        <p:nvGrpSpPr>
          <p:cNvPr id="47" name="Group 80"/>
          <p:cNvGrpSpPr>
            <a:grpSpLocks/>
          </p:cNvGrpSpPr>
          <p:nvPr/>
        </p:nvGrpSpPr>
        <p:grpSpPr bwMode="auto">
          <a:xfrm>
            <a:off x="2393155" y="3611407"/>
            <a:ext cx="1469231" cy="515541"/>
            <a:chOff x="2741" y="3750"/>
            <a:chExt cx="1234" cy="433"/>
          </a:xfrm>
        </p:grpSpPr>
        <p:sp>
          <p:nvSpPr>
            <p:cNvPr id="48" name="Rectangle 81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9" name="Line 82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50" name="Text Box 83"/>
            <p:cNvSpPr txBox="1">
              <a:spLocks noChangeArrowheads="1"/>
            </p:cNvSpPr>
            <p:nvPr/>
          </p:nvSpPr>
          <p:spPr bwMode="auto">
            <a:xfrm>
              <a:off x="2813" y="3875"/>
              <a:ext cx="116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source IP,port: B,80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dest IP,port: A,9157</a:t>
              </a:r>
            </a:p>
          </p:txBody>
        </p:sp>
      </p:grpSp>
      <p:sp>
        <p:nvSpPr>
          <p:cNvPr id="51" name="Text Box 93"/>
          <p:cNvSpPr txBox="1">
            <a:spLocks noChangeArrowheads="1"/>
          </p:cNvSpPr>
          <p:nvPr/>
        </p:nvSpPr>
        <p:spPr bwMode="auto">
          <a:xfrm flipH="1">
            <a:off x="1209676" y="3780482"/>
            <a:ext cx="8608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350">
                <a:latin typeface="Gill Sans MT" charset="0"/>
              </a:rPr>
              <a:t>host: IP address A</a:t>
            </a:r>
          </a:p>
        </p:txBody>
      </p:sp>
      <p:sp>
        <p:nvSpPr>
          <p:cNvPr id="52" name="Text Box 94"/>
          <p:cNvSpPr txBox="1">
            <a:spLocks noChangeArrowheads="1"/>
          </p:cNvSpPr>
          <p:nvPr/>
        </p:nvSpPr>
        <p:spPr bwMode="auto">
          <a:xfrm flipH="1">
            <a:off x="7027069" y="3703091"/>
            <a:ext cx="860822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350">
                <a:latin typeface="Gill Sans MT" charset="0"/>
              </a:rPr>
              <a:t>host: IP address C</a:t>
            </a:r>
          </a:p>
        </p:txBody>
      </p:sp>
      <p:sp>
        <p:nvSpPr>
          <p:cNvPr id="53" name="Line 96"/>
          <p:cNvSpPr>
            <a:spLocks noChangeShapeType="1"/>
          </p:cNvSpPr>
          <p:nvPr/>
        </p:nvSpPr>
        <p:spPr bwMode="auto">
          <a:xfrm>
            <a:off x="3658791" y="2825600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54" name="Line 97"/>
          <p:cNvSpPr>
            <a:spLocks noChangeShapeType="1"/>
          </p:cNvSpPr>
          <p:nvPr/>
        </p:nvSpPr>
        <p:spPr bwMode="auto">
          <a:xfrm>
            <a:off x="3670697" y="2599382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3961210" y="234816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1050"/>
              <a:t>network</a:t>
            </a:r>
          </a:p>
        </p:txBody>
      </p:sp>
      <p:sp>
        <p:nvSpPr>
          <p:cNvPr id="56" name="Line 99"/>
          <p:cNvSpPr>
            <a:spLocks noChangeShapeType="1"/>
          </p:cNvSpPr>
          <p:nvPr/>
        </p:nvSpPr>
        <p:spPr bwMode="auto">
          <a:xfrm>
            <a:off x="3673079" y="2357685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57" name="Line 100"/>
          <p:cNvSpPr>
            <a:spLocks noChangeShapeType="1"/>
          </p:cNvSpPr>
          <p:nvPr/>
        </p:nvSpPr>
        <p:spPr bwMode="auto">
          <a:xfrm>
            <a:off x="3675460" y="2115988"/>
            <a:ext cx="16752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grpSp>
        <p:nvGrpSpPr>
          <p:cNvPr id="58" name="Group 101"/>
          <p:cNvGrpSpPr>
            <a:grpSpLocks/>
          </p:cNvGrpSpPr>
          <p:nvPr/>
        </p:nvGrpSpPr>
        <p:grpSpPr bwMode="auto">
          <a:xfrm>
            <a:off x="3807619" y="2012404"/>
            <a:ext cx="354806" cy="171450"/>
            <a:chOff x="1287" y="2524"/>
            <a:chExt cx="260" cy="100"/>
          </a:xfrm>
        </p:grpSpPr>
        <p:sp>
          <p:nvSpPr>
            <p:cNvPr id="59" name="Rectangle 102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0" name="Rectangle 103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1" name="Rectangle 104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2" name="Rectangle 105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65" name="Group 118"/>
          <p:cNvGrpSpPr>
            <a:grpSpLocks/>
          </p:cNvGrpSpPr>
          <p:nvPr/>
        </p:nvGrpSpPr>
        <p:grpSpPr bwMode="auto">
          <a:xfrm>
            <a:off x="4336257" y="2015975"/>
            <a:ext cx="354806" cy="171450"/>
            <a:chOff x="1287" y="2524"/>
            <a:chExt cx="260" cy="100"/>
          </a:xfrm>
        </p:grpSpPr>
        <p:sp>
          <p:nvSpPr>
            <p:cNvPr id="66" name="Rectangle 11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7" name="Rectangle 12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8" name="Rectangle 12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Rectangle 12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70" name="Group 123"/>
          <p:cNvGrpSpPr>
            <a:grpSpLocks/>
          </p:cNvGrpSpPr>
          <p:nvPr/>
        </p:nvGrpSpPr>
        <p:grpSpPr bwMode="auto">
          <a:xfrm>
            <a:off x="4839892" y="2019548"/>
            <a:ext cx="354806" cy="171450"/>
            <a:chOff x="1287" y="2524"/>
            <a:chExt cx="260" cy="100"/>
          </a:xfrm>
        </p:grpSpPr>
        <p:sp>
          <p:nvSpPr>
            <p:cNvPr id="71" name="Rectangle 124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2" name="Rectangle 125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3" name="Rectangle 126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4" name="Rectangle 127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75" name="Line 133"/>
          <p:cNvSpPr>
            <a:spLocks noChangeShapeType="1"/>
          </p:cNvSpPr>
          <p:nvPr/>
        </p:nvSpPr>
        <p:spPr bwMode="auto">
          <a:xfrm>
            <a:off x="5915025" y="2987525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76" name="Line 134"/>
          <p:cNvSpPr>
            <a:spLocks noChangeShapeType="1"/>
          </p:cNvSpPr>
          <p:nvPr/>
        </p:nvSpPr>
        <p:spPr bwMode="auto">
          <a:xfrm>
            <a:off x="5907881" y="2766069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77" name="Line 135"/>
          <p:cNvSpPr>
            <a:spLocks noChangeShapeType="1"/>
          </p:cNvSpPr>
          <p:nvPr/>
        </p:nvSpPr>
        <p:spPr bwMode="auto">
          <a:xfrm>
            <a:off x="5907881" y="2544613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78" name="Line 136"/>
          <p:cNvSpPr>
            <a:spLocks noChangeShapeType="1"/>
          </p:cNvSpPr>
          <p:nvPr/>
        </p:nvSpPr>
        <p:spPr bwMode="auto">
          <a:xfrm>
            <a:off x="5907881" y="2316013"/>
            <a:ext cx="1228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grpSp>
        <p:nvGrpSpPr>
          <p:cNvPr id="79" name="Group 128"/>
          <p:cNvGrpSpPr>
            <a:grpSpLocks/>
          </p:cNvGrpSpPr>
          <p:nvPr/>
        </p:nvGrpSpPr>
        <p:grpSpPr bwMode="auto">
          <a:xfrm>
            <a:off x="6022182" y="2186235"/>
            <a:ext cx="354806" cy="171450"/>
            <a:chOff x="1287" y="2524"/>
            <a:chExt cx="260" cy="100"/>
          </a:xfrm>
        </p:grpSpPr>
        <p:sp>
          <p:nvSpPr>
            <p:cNvPr id="80" name="Rectangle 12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2" name="Rectangle 13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3" name="Rectangle 13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4" name="Rectangle 13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85" name="Group 137"/>
          <p:cNvGrpSpPr>
            <a:grpSpLocks/>
          </p:cNvGrpSpPr>
          <p:nvPr/>
        </p:nvGrpSpPr>
        <p:grpSpPr bwMode="auto">
          <a:xfrm>
            <a:off x="6618685" y="2179091"/>
            <a:ext cx="354806" cy="171450"/>
            <a:chOff x="1287" y="2524"/>
            <a:chExt cx="260" cy="100"/>
          </a:xfrm>
        </p:grpSpPr>
        <p:sp>
          <p:nvSpPr>
            <p:cNvPr id="86" name="Rectangle 138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7" name="Rectangle 139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8" name="Rectangle 140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89" name="Rectangle 141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90" name="Oval 143"/>
          <p:cNvSpPr>
            <a:spLocks noChangeArrowheads="1"/>
          </p:cNvSpPr>
          <p:nvPr/>
        </p:nvSpPr>
        <p:spPr bwMode="auto">
          <a:xfrm>
            <a:off x="6574631" y="1929060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350">
                <a:latin typeface="Arial" charset="0"/>
                <a:ea typeface="ＭＳ Ｐゴシック" charset="0"/>
              </a:rPr>
              <a:t>P3</a:t>
            </a:r>
          </a:p>
        </p:txBody>
      </p:sp>
      <p:sp>
        <p:nvSpPr>
          <p:cNvPr id="91" name="Freeform 144"/>
          <p:cNvSpPr>
            <a:spLocks/>
          </p:cNvSpPr>
          <p:nvPr/>
        </p:nvSpPr>
        <p:spPr bwMode="auto">
          <a:xfrm>
            <a:off x="2263379" y="2081461"/>
            <a:ext cx="2021681" cy="2021681"/>
          </a:xfrm>
          <a:custGeom>
            <a:avLst/>
            <a:gdLst>
              <a:gd name="T0" fmla="*/ 0 w 1698"/>
              <a:gd name="T1" fmla="*/ 2147483647 h 1698"/>
              <a:gd name="T2" fmla="*/ 0 w 1698"/>
              <a:gd name="T3" fmla="*/ 2147483647 h 1698"/>
              <a:gd name="T4" fmla="*/ 2147483647 w 1698"/>
              <a:gd name="T5" fmla="*/ 2147483647 h 1698"/>
              <a:gd name="T6" fmla="*/ 2147483647 w 1698"/>
              <a:gd name="T7" fmla="*/ 2147483647 h 1698"/>
              <a:gd name="T8" fmla="*/ 2147483647 w 1698"/>
              <a:gd name="T9" fmla="*/ 0 h 16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2" name="Freeform 145"/>
          <p:cNvSpPr>
            <a:spLocks/>
          </p:cNvSpPr>
          <p:nvPr/>
        </p:nvSpPr>
        <p:spPr bwMode="auto">
          <a:xfrm>
            <a:off x="4502944" y="2105273"/>
            <a:ext cx="2316956" cy="2439590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7 h 1801"/>
              <a:gd name="T4" fmla="*/ 2147483647 w 1946"/>
              <a:gd name="T5" fmla="*/ 2147483647 h 1801"/>
              <a:gd name="T6" fmla="*/ 2147483647 w 1946"/>
              <a:gd name="T7" fmla="*/ 2147483647 h 18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3" name="Freeform 146"/>
          <p:cNvSpPr>
            <a:spLocks/>
          </p:cNvSpPr>
          <p:nvPr/>
        </p:nvSpPr>
        <p:spPr bwMode="auto">
          <a:xfrm>
            <a:off x="4997054" y="2096938"/>
            <a:ext cx="1207294" cy="1849041"/>
          </a:xfrm>
          <a:custGeom>
            <a:avLst/>
            <a:gdLst>
              <a:gd name="T0" fmla="*/ 0 w 1014"/>
              <a:gd name="T1" fmla="*/ 0 h 1480"/>
              <a:gd name="T2" fmla="*/ 0 w 1014"/>
              <a:gd name="T3" fmla="*/ 2147483647 h 1480"/>
              <a:gd name="T4" fmla="*/ 2147483647 w 1014"/>
              <a:gd name="T5" fmla="*/ 2147483647 h 1480"/>
              <a:gd name="T6" fmla="*/ 2147483647 w 1014"/>
              <a:gd name="T7" fmla="*/ 2147483647 h 1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grpSp>
        <p:nvGrpSpPr>
          <p:cNvPr id="94" name="Group 147"/>
          <p:cNvGrpSpPr>
            <a:grpSpLocks/>
          </p:cNvGrpSpPr>
          <p:nvPr/>
        </p:nvGrpSpPr>
        <p:grpSpPr bwMode="auto">
          <a:xfrm>
            <a:off x="5070874" y="3765005"/>
            <a:ext cx="1610916" cy="515541"/>
            <a:chOff x="2741" y="3750"/>
            <a:chExt cx="1353" cy="433"/>
          </a:xfrm>
        </p:grpSpPr>
        <p:sp>
          <p:nvSpPr>
            <p:cNvPr id="95" name="Rectangle 14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96" name="Line 14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7" name="Text Box 150"/>
            <p:cNvSpPr txBox="1">
              <a:spLocks noChangeArrowheads="1"/>
            </p:cNvSpPr>
            <p:nvPr/>
          </p:nvSpPr>
          <p:spPr bwMode="auto">
            <a:xfrm>
              <a:off x="2813" y="3875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source IP,port: C,5775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/>
                <a:t>dest IP,port: B,80</a:t>
              </a:r>
            </a:p>
          </p:txBody>
        </p:sp>
      </p:grpSp>
      <p:grpSp>
        <p:nvGrpSpPr>
          <p:cNvPr id="98" name="Group 151"/>
          <p:cNvGrpSpPr>
            <a:grpSpLocks/>
          </p:cNvGrpSpPr>
          <p:nvPr/>
        </p:nvGrpSpPr>
        <p:grpSpPr bwMode="auto">
          <a:xfrm>
            <a:off x="5123261" y="4356739"/>
            <a:ext cx="1610916" cy="515541"/>
            <a:chOff x="2741" y="3750"/>
            <a:chExt cx="1353" cy="433"/>
          </a:xfrm>
        </p:grpSpPr>
        <p:sp>
          <p:nvSpPr>
            <p:cNvPr id="99" name="Rectangle 152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00" name="Line 153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1" name="Text Box 154"/>
            <p:cNvSpPr txBox="1">
              <a:spLocks noChangeArrowheads="1"/>
            </p:cNvSpPr>
            <p:nvPr/>
          </p:nvSpPr>
          <p:spPr bwMode="auto">
            <a:xfrm>
              <a:off x="2813" y="3875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 sz="1050" dirty="0"/>
                <a:t>source </a:t>
              </a:r>
              <a:r>
                <a:rPr lang="en-US" sz="1050" dirty="0" err="1"/>
                <a:t>IP,port</a:t>
              </a:r>
              <a:r>
                <a:rPr lang="en-US" sz="1050" dirty="0"/>
                <a:t>: C,9157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 sz="1050" dirty="0" err="1"/>
                <a:t>dest</a:t>
              </a:r>
              <a:r>
                <a:rPr lang="en-US" sz="1050" dirty="0"/>
                <a:t> </a:t>
              </a:r>
              <a:r>
                <a:rPr lang="en-US" sz="1050" dirty="0" err="1"/>
                <a:t>IP,port</a:t>
              </a:r>
              <a:r>
                <a:rPr lang="en-US" sz="1050" dirty="0"/>
                <a:t>: B,80</a:t>
              </a:r>
            </a:p>
          </p:txBody>
        </p:sp>
      </p:grpSp>
      <p:sp>
        <p:nvSpPr>
          <p:cNvPr id="103" name="Line 156"/>
          <p:cNvSpPr>
            <a:spLocks noChangeShapeType="1"/>
          </p:cNvSpPr>
          <p:nvPr/>
        </p:nvSpPr>
        <p:spPr bwMode="auto">
          <a:xfrm>
            <a:off x="3769519" y="4579391"/>
            <a:ext cx="214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04" name="Line 157"/>
          <p:cNvSpPr>
            <a:spLocks noChangeShapeType="1"/>
          </p:cNvSpPr>
          <p:nvPr/>
        </p:nvSpPr>
        <p:spPr bwMode="auto">
          <a:xfrm>
            <a:off x="6070997" y="4221013"/>
            <a:ext cx="214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05" name="Line 158"/>
          <p:cNvSpPr>
            <a:spLocks noChangeShapeType="1"/>
          </p:cNvSpPr>
          <p:nvPr/>
        </p:nvSpPr>
        <p:spPr bwMode="auto">
          <a:xfrm>
            <a:off x="6128147" y="4816325"/>
            <a:ext cx="214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06" name="Text Box 160"/>
          <p:cNvSpPr txBox="1">
            <a:spLocks noChangeArrowheads="1"/>
          </p:cNvSpPr>
          <p:nvPr/>
        </p:nvSpPr>
        <p:spPr bwMode="auto">
          <a:xfrm flipH="1">
            <a:off x="4927997" y="3028007"/>
            <a:ext cx="8608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350">
                <a:latin typeface="Gill Sans MT" charset="0"/>
              </a:rPr>
              <a:t>server: IP address B</a:t>
            </a:r>
          </a:p>
        </p:txBody>
      </p:sp>
      <p:grpSp>
        <p:nvGrpSpPr>
          <p:cNvPr id="107" name="Group 161"/>
          <p:cNvGrpSpPr>
            <a:grpSpLocks/>
          </p:cNvGrpSpPr>
          <p:nvPr/>
        </p:nvGrpSpPr>
        <p:grpSpPr bwMode="auto">
          <a:xfrm>
            <a:off x="3258742" y="2645816"/>
            <a:ext cx="269081" cy="528638"/>
            <a:chOff x="4140" y="429"/>
            <a:chExt cx="1425" cy="2396"/>
          </a:xfrm>
        </p:grpSpPr>
        <p:sp>
          <p:nvSpPr>
            <p:cNvPr id="108" name="Freeform 16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" name="Rectangle 163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0" name="Freeform 16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1" name="Freeform 16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" name="Rectangle 166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13" name="Group 16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8" name="AutoShape 168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9" name="AutoShape 169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14" name="Rectangle 170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15" name="Group 17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6" name="AutoShape 172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4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7" name="AutoShape 173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16" name="Rectangle 174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7" name="Rectangle 175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18" name="Group 17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4" name="AutoShape 17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AutoShape 178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19" name="Freeform 17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0" name="Group 18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2" name="AutoShape 181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3" name="AutoShape 18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21" name="Rectangle 183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2" name="Freeform 18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Freeform 18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" name="Oval 186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5" name="Freeform 18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AutoShape 188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7" name="AutoShape 189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8" name="Oval 190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9" name="Oval 191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Oval 192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31" name="Rectangle 193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140" name="Group 194"/>
          <p:cNvGrpSpPr>
            <a:grpSpLocks/>
          </p:cNvGrpSpPr>
          <p:nvPr/>
        </p:nvGrpSpPr>
        <p:grpSpPr bwMode="auto">
          <a:xfrm>
            <a:off x="1109663" y="2961332"/>
            <a:ext cx="533400" cy="502444"/>
            <a:chOff x="-44" y="1473"/>
            <a:chExt cx="981" cy="1105"/>
          </a:xfrm>
        </p:grpSpPr>
        <p:pic>
          <p:nvPicPr>
            <p:cNvPr id="141" name="Picture 19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Freeform 19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43" name="Group 197"/>
          <p:cNvGrpSpPr>
            <a:grpSpLocks/>
          </p:cNvGrpSpPr>
          <p:nvPr/>
        </p:nvGrpSpPr>
        <p:grpSpPr bwMode="auto">
          <a:xfrm flipH="1">
            <a:off x="7336631" y="2898229"/>
            <a:ext cx="533400" cy="502444"/>
            <a:chOff x="-44" y="1473"/>
            <a:chExt cx="981" cy="1105"/>
          </a:xfrm>
        </p:grpSpPr>
        <p:pic>
          <p:nvPicPr>
            <p:cNvPr id="144" name="Picture 19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Freeform 19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46" name="Oval 30"/>
          <p:cNvSpPr>
            <a:spLocks noChangeArrowheads="1"/>
          </p:cNvSpPr>
          <p:nvPr/>
        </p:nvSpPr>
        <p:spPr bwMode="auto">
          <a:xfrm>
            <a:off x="3743326" y="1822499"/>
            <a:ext cx="1525190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1350" dirty="0">
                <a:latin typeface="Arial" charset="0"/>
                <a:ea typeface="ＭＳ Ｐゴシック" charset="0"/>
              </a:rPr>
              <a:t>P4</a:t>
            </a:r>
          </a:p>
        </p:txBody>
      </p:sp>
      <p:sp>
        <p:nvSpPr>
          <p:cNvPr id="147" name="Text Box 101"/>
          <p:cNvSpPr txBox="1">
            <a:spLocks noChangeArrowheads="1"/>
          </p:cNvSpPr>
          <p:nvPr/>
        </p:nvSpPr>
        <p:spPr bwMode="auto">
          <a:xfrm>
            <a:off x="5171480" y="1173014"/>
            <a:ext cx="152073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500" dirty="0">
                <a:solidFill>
                  <a:srgbClr val="CC0000"/>
                </a:solidFill>
              </a:rPr>
              <a:t>threaded server</a:t>
            </a:r>
          </a:p>
        </p:txBody>
      </p:sp>
      <p:sp>
        <p:nvSpPr>
          <p:cNvPr id="148" name="Line 102"/>
          <p:cNvSpPr>
            <a:spLocks noChangeShapeType="1"/>
          </p:cNvSpPr>
          <p:nvPr/>
        </p:nvSpPr>
        <p:spPr bwMode="auto">
          <a:xfrm flipH="1">
            <a:off x="4720828" y="1389707"/>
            <a:ext cx="558403" cy="49946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1350">
              <a:latin typeface="Tahoma" charset="0"/>
              <a:ea typeface="ＭＳ Ｐゴシック" charset="0"/>
            </a:endParaRPr>
          </a:p>
        </p:txBody>
      </p:sp>
      <p:sp>
        <p:nvSpPr>
          <p:cNvPr id="150" name="内容占位符 2">
            <a:extLst>
              <a:ext uri="{FF2B5EF4-FFF2-40B4-BE49-F238E27FC236}">
                <a16:creationId xmlns:a16="http://schemas.microsoft.com/office/drawing/2014/main" id="{303B40D6-F138-4665-B322-4C4EEDDFEF51}"/>
              </a:ext>
            </a:extLst>
          </p:cNvPr>
          <p:cNvSpPr txBox="1">
            <a:spLocks/>
          </p:cNvSpPr>
          <p:nvPr/>
        </p:nvSpPr>
        <p:spPr>
          <a:xfrm>
            <a:off x="468000" y="936000"/>
            <a:ext cx="6110287" cy="461724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面向连接的复用和分解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灯片编号占位符 2">
            <a:extLst>
              <a:ext uri="{FF2B5EF4-FFF2-40B4-BE49-F238E27FC236}">
                <a16:creationId xmlns:a16="http://schemas.microsoft.com/office/drawing/2014/main" id="{95402D9E-E5B3-4DD2-A25E-3C800200054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151" name="AutoShape 5">
            <a:extLst>
              <a:ext uri="{FF2B5EF4-FFF2-40B4-BE49-F238E27FC236}">
                <a16:creationId xmlns:a16="http://schemas.microsoft.com/office/drawing/2014/main" id="{EDA9BF09-EA8C-4733-BF98-3637121D9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633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概述和传输层服务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3.2 </a:t>
            </a:r>
            <a:r>
              <a:rPr lang="zh-CN" altLang="en-US" dirty="0"/>
              <a:t>多路复用和多路分解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3.3 </a:t>
            </a:r>
            <a:r>
              <a:rPr lang="zh-CN" altLang="en-US" dirty="0">
                <a:solidFill>
                  <a:srgbClr val="FF0000"/>
                </a:solidFill>
              </a:rPr>
              <a:t>无连接运输服务</a:t>
            </a:r>
            <a:r>
              <a:rPr lang="en-US" altLang="zh-CN" dirty="0">
                <a:solidFill>
                  <a:srgbClr val="FF0000"/>
                </a:solidFill>
              </a:rPr>
              <a:t>:UDP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F28770AC-BC9F-4F22-9FDB-A9EBB69E153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242535C-603F-46AF-810E-CF784A441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06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8000"/>
                </a:solidFill>
                <a:effectLst/>
              </a:rPr>
              <a:t>3.3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无连接</a:t>
            </a:r>
            <a:r>
              <a:rPr lang="zh-CN" altLang="en-US" dirty="0">
                <a:solidFill>
                  <a:srgbClr val="008000"/>
                </a:solidFill>
              </a:rPr>
              <a:t>运输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服务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:UDP</a:t>
            </a:r>
            <a:endParaRPr lang="zh-CN" altLang="en-US" dirty="0">
              <a:solidFill>
                <a:srgbClr val="008000"/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5999"/>
            <a:ext cx="6110287" cy="4120585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User Datagram Protocol,  </a:t>
            </a:r>
            <a:r>
              <a:rPr lang="en-US" altLang="zh-CN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 768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不提供额外服务的运输层协议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让网络尽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最大努力交付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不能解决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分组失序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不能解决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分组丢失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无连接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的运输协议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协议的发送端和接收端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lang="zh-CN" altLang="en-US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握手</a:t>
            </a:r>
            <a:r>
              <a:rPr lang="zh-CN" altLang="en-US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每个分组单独处理，分组互不关联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优点何在？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时延：没有连接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握手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的过程，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减少时延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简单：没有连接状态管理，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高效：首部字段短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 bytes)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快速：可以突发式地传输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5523EAF9-05F2-42EC-A282-29CAADF272E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9839056-4E6E-4ACC-B3D5-871F086DB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63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3.3 </a:t>
            </a:r>
            <a:r>
              <a:rPr lang="zh-CN" altLang="en-US" dirty="0">
                <a:solidFill>
                  <a:srgbClr val="008000"/>
                </a:solidFill>
              </a:rPr>
              <a:t>无连接服务</a:t>
            </a:r>
            <a:r>
              <a:rPr lang="en-US" altLang="zh-CN" dirty="0">
                <a:solidFill>
                  <a:srgbClr val="008000"/>
                </a:solidFill>
              </a:rPr>
              <a:t>:UDP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3751262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User Datagram Protocol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：因特网目录服务，域名解析系统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SNMP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：简单网络管理协议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流媒体传输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因特网电话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协议，如何实现可靠传输？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将可靠传输的机制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放在应用层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应用逻辑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在应用程序中定义差错控制的机制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7522F78C-DCFF-4BCE-B7D9-A62F3C2EE01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8ACDCB3-BBC4-4087-B533-7192A8E7B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9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3.3 </a:t>
            </a:r>
            <a:r>
              <a:rPr lang="zh-CN" altLang="en-US" dirty="0">
                <a:solidFill>
                  <a:srgbClr val="008000"/>
                </a:solidFill>
              </a:rPr>
              <a:t>无连接运输服务</a:t>
            </a:r>
            <a:r>
              <a:rPr lang="en-US" altLang="zh-CN" dirty="0">
                <a:solidFill>
                  <a:srgbClr val="008000"/>
                </a:solidFill>
              </a:rPr>
              <a:t>:UDP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3751262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3.3.1 UDP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报文段结构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 768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提供差错检验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没有差错控制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A9042CB-4FA9-4169-A7DA-681A4F5F3FED}"/>
              </a:ext>
            </a:extLst>
          </p:cNvPr>
          <p:cNvGrpSpPr/>
          <p:nvPr/>
        </p:nvGrpSpPr>
        <p:grpSpPr>
          <a:xfrm>
            <a:off x="4456592" y="1280617"/>
            <a:ext cx="3889863" cy="3434118"/>
            <a:chOff x="4456592" y="1280617"/>
            <a:chExt cx="3889863" cy="3434115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853286" y="1564209"/>
              <a:ext cx="2493169" cy="2400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796136" y="1635646"/>
              <a:ext cx="2493169" cy="2400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5974297" y="1652315"/>
              <a:ext cx="877164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7138487" y="1652315"/>
              <a:ext cx="1050288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5788992" y="1935684"/>
              <a:ext cx="24967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5781849" y="2235721"/>
              <a:ext cx="24931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7024861" y="1635646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6624525" y="1280617"/>
              <a:ext cx="764953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7367761" y="1460624"/>
              <a:ext cx="900113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rot="10800000">
              <a:off x="5785421" y="1467768"/>
              <a:ext cx="8465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6029499" y="3027487"/>
              <a:ext cx="1945482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载荷：应用数据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  <a:p>
              <a:pPr algn="ctr" eaLnBrk="0" hangingPunct="0"/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报文，分段报文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6258304" y="4094286"/>
              <a:ext cx="1777590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报文段结构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7024861" y="1942827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6123610" y="1959496"/>
              <a:ext cx="530915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长度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7331853" y="1952352"/>
              <a:ext cx="704041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4456592" y="2175000"/>
              <a:ext cx="1192838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 eaLnBrk="0" hangingPunct="0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有效载荷长度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V="1">
              <a:off x="5649432" y="2078558"/>
              <a:ext cx="468173" cy="177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15">
              <a:extLst>
                <a:ext uri="{FF2B5EF4-FFF2-40B4-BE49-F238E27FC236}">
                  <a16:creationId xmlns:a16="http://schemas.microsoft.com/office/drawing/2014/main" id="{F9B0F549-6EFA-400C-A813-994D3098B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7168" y="4391567"/>
              <a:ext cx="2214477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用户数据报）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灯片编号占位符 2">
            <a:extLst>
              <a:ext uri="{FF2B5EF4-FFF2-40B4-BE49-F238E27FC236}">
                <a16:creationId xmlns:a16="http://schemas.microsoft.com/office/drawing/2014/main" id="{E919DFDF-1AB9-4760-B2E7-3154C3D4B79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4F77732A-CB97-41A7-9FD2-E885579CA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92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3.3 </a:t>
            </a:r>
            <a:r>
              <a:rPr lang="zh-CN" altLang="en-US" dirty="0">
                <a:solidFill>
                  <a:srgbClr val="008000"/>
                </a:solidFill>
              </a:rPr>
              <a:t>无连接运输服务</a:t>
            </a:r>
            <a:r>
              <a:rPr lang="en-US" altLang="zh-CN" dirty="0">
                <a:solidFill>
                  <a:srgbClr val="008000"/>
                </a:solidFill>
              </a:rPr>
              <a:t>:UDP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1115844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3.3.2 UDP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提供差错检验的功能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 1071 </a:t>
            </a:r>
            <a:endParaRPr lang="zh-CN" altLang="en-US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Line 115"/>
          <p:cNvSpPr>
            <a:spLocks noChangeShapeType="1"/>
          </p:cNvSpPr>
          <p:nvPr/>
        </p:nvSpPr>
        <p:spPr bwMode="auto">
          <a:xfrm flipH="1" flipV="1">
            <a:off x="7188753" y="1842890"/>
            <a:ext cx="1" cy="674488"/>
          </a:xfrm>
          <a:prstGeom prst="line">
            <a:avLst/>
          </a:prstGeom>
          <a:noFill/>
          <a:ln w="38100">
            <a:solidFill>
              <a:srgbClr val="0066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2143596" y="2250678"/>
            <a:ext cx="2031205" cy="2322910"/>
          </a:xfrm>
          <a:prstGeom prst="rect">
            <a:avLst/>
          </a:prstGeom>
          <a:noFill/>
          <a:ln w="19050">
            <a:solidFill>
              <a:srgbClr val="8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6233391" y="2250678"/>
            <a:ext cx="2083020" cy="2405696"/>
          </a:xfrm>
          <a:prstGeom prst="rect">
            <a:avLst/>
          </a:prstGeom>
          <a:noFill/>
          <a:ln w="19050">
            <a:solidFill>
              <a:srgbClr val="8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Group 7"/>
          <p:cNvGrpSpPr>
            <a:grpSpLocks/>
          </p:cNvGrpSpPr>
          <p:nvPr/>
        </p:nvGrpSpPr>
        <p:grpSpPr bwMode="auto">
          <a:xfrm>
            <a:off x="2685330" y="2326878"/>
            <a:ext cx="486965" cy="594122"/>
            <a:chOff x="1791" y="1997"/>
            <a:chExt cx="409" cy="499"/>
          </a:xfrm>
        </p:grpSpPr>
        <p:sp>
          <p:nvSpPr>
            <p:cNvPr id="20" name="AutoShape 8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2991319" y="2409032"/>
            <a:ext cx="809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35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>
            <a:off x="2934169" y="2921000"/>
            <a:ext cx="0" cy="2476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Group 16"/>
          <p:cNvGrpSpPr>
            <a:grpSpLocks/>
          </p:cNvGrpSpPr>
          <p:nvPr/>
        </p:nvGrpSpPr>
        <p:grpSpPr bwMode="auto">
          <a:xfrm>
            <a:off x="7419254" y="2341166"/>
            <a:ext cx="132159" cy="594122"/>
            <a:chOff x="1791" y="1997"/>
            <a:chExt cx="409" cy="499"/>
          </a:xfrm>
        </p:grpSpPr>
        <p:sp>
          <p:nvSpPr>
            <p:cNvPr id="29" name="AutoShape 17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2934169" y="3547269"/>
            <a:ext cx="0" cy="2476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Group 25"/>
          <p:cNvGrpSpPr>
            <a:grpSpLocks/>
          </p:cNvGrpSpPr>
          <p:nvPr/>
        </p:nvGrpSpPr>
        <p:grpSpPr bwMode="auto">
          <a:xfrm>
            <a:off x="2881782" y="3741341"/>
            <a:ext cx="144066" cy="594122"/>
            <a:chOff x="1791" y="1997"/>
            <a:chExt cx="409" cy="499"/>
          </a:xfrm>
        </p:grpSpPr>
        <p:sp>
          <p:nvSpPr>
            <p:cNvPr id="37" name="AutoShape 26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solidFill>
              <a:srgbClr val="99CCFF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28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2126926" y="3904456"/>
            <a:ext cx="809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</a:p>
        </p:txBody>
      </p: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7043017" y="3168650"/>
            <a:ext cx="875109" cy="401240"/>
            <a:chOff x="4422" y="2704"/>
            <a:chExt cx="735" cy="337"/>
          </a:xfrm>
        </p:grpSpPr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4432" y="2723"/>
              <a:ext cx="725" cy="31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rgbClr val="1C1C1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35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4422" y="2704"/>
              <a:ext cx="725" cy="318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</a:t>
              </a:r>
            </a:p>
          </p:txBody>
        </p:sp>
      </p:grpSp>
      <p:grpSp>
        <p:nvGrpSpPr>
          <p:cNvPr id="47" name="Group 46"/>
          <p:cNvGrpSpPr>
            <a:grpSpLocks/>
          </p:cNvGrpSpPr>
          <p:nvPr/>
        </p:nvGrpSpPr>
        <p:grpSpPr bwMode="auto">
          <a:xfrm>
            <a:off x="2501973" y="3168650"/>
            <a:ext cx="813197" cy="401240"/>
            <a:chOff x="4422" y="2704"/>
            <a:chExt cx="735" cy="337"/>
          </a:xfrm>
        </p:grpSpPr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4432" y="2723"/>
              <a:ext cx="725" cy="31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rgbClr val="1C1C1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35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4422" y="2704"/>
              <a:ext cx="725" cy="318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</a:t>
              </a:r>
            </a:p>
          </p:txBody>
        </p:sp>
      </p:grpSp>
      <p:sp>
        <p:nvSpPr>
          <p:cNvPr id="50" name="Line 49"/>
          <p:cNvSpPr>
            <a:spLocks noChangeShapeType="1"/>
          </p:cNvSpPr>
          <p:nvPr/>
        </p:nvSpPr>
        <p:spPr bwMode="auto">
          <a:xfrm>
            <a:off x="7475213" y="2921000"/>
            <a:ext cx="0" cy="2476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50"/>
          <p:cNvSpPr>
            <a:spLocks noChangeShapeType="1"/>
          </p:cNvSpPr>
          <p:nvPr/>
        </p:nvSpPr>
        <p:spPr bwMode="auto">
          <a:xfrm>
            <a:off x="7475213" y="3547269"/>
            <a:ext cx="0" cy="2476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51"/>
          <p:cNvSpPr>
            <a:spLocks noChangeArrowheads="1"/>
          </p:cNvSpPr>
          <p:nvPr/>
        </p:nvSpPr>
        <p:spPr bwMode="auto">
          <a:xfrm rot="16200000">
            <a:off x="5057649" y="3752651"/>
            <a:ext cx="215504" cy="2031206"/>
          </a:xfrm>
          <a:prstGeom prst="can">
            <a:avLst>
              <a:gd name="adj" fmla="val 40102"/>
            </a:avLst>
          </a:prstGeom>
          <a:gradFill rotWithShape="1">
            <a:gsLst>
              <a:gs pos="0">
                <a:schemeClr val="folHlink">
                  <a:gamma/>
                  <a:shade val="66275"/>
                  <a:invGamma/>
                </a:schemeClr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52"/>
          <p:cNvSpPr>
            <a:spLocks noChangeShapeType="1"/>
          </p:cNvSpPr>
          <p:nvPr/>
        </p:nvSpPr>
        <p:spPr bwMode="auto">
          <a:xfrm>
            <a:off x="2934169" y="4411663"/>
            <a:ext cx="0" cy="3774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3"/>
          <p:cNvSpPr>
            <a:spLocks noChangeShapeType="1"/>
          </p:cNvSpPr>
          <p:nvPr/>
        </p:nvSpPr>
        <p:spPr bwMode="auto">
          <a:xfrm>
            <a:off x="2923454" y="4778375"/>
            <a:ext cx="1254919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6176241" y="4778375"/>
            <a:ext cx="129897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>
            <a:off x="7475213" y="4411663"/>
            <a:ext cx="0" cy="3774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4454598" y="4386102"/>
            <a:ext cx="1457325" cy="27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不可靠的网络</a:t>
            </a:r>
          </a:p>
        </p:txBody>
      </p:sp>
      <p:pic>
        <p:nvPicPr>
          <p:cNvPr id="58" name="Picture 57" descr="j043164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594" y="1978025"/>
            <a:ext cx="539354" cy="53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 descr="j04316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575" y="1981596"/>
            <a:ext cx="539354" cy="53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4392685" y="2122090"/>
            <a:ext cx="4333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endParaRPr lang="en-US" altLang="zh-CN" sz="135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endParaRPr lang="en-US" altLang="zh-CN" sz="135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5582120" y="2122090"/>
            <a:ext cx="378619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endParaRPr lang="en-US" altLang="zh-CN" sz="135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endParaRPr lang="en-US" altLang="zh-CN" sz="135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" name="Group 76"/>
          <p:cNvGrpSpPr>
            <a:grpSpLocks/>
          </p:cNvGrpSpPr>
          <p:nvPr/>
        </p:nvGrpSpPr>
        <p:grpSpPr bwMode="auto">
          <a:xfrm>
            <a:off x="3043707" y="3741341"/>
            <a:ext cx="486966" cy="594122"/>
            <a:chOff x="1791" y="1997"/>
            <a:chExt cx="409" cy="499"/>
          </a:xfrm>
        </p:grpSpPr>
        <p:sp>
          <p:nvSpPr>
            <p:cNvPr id="63" name="AutoShape 77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78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79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81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82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9" name="Line 83"/>
          <p:cNvSpPr>
            <a:spLocks noChangeShapeType="1"/>
          </p:cNvSpPr>
          <p:nvPr/>
        </p:nvSpPr>
        <p:spPr bwMode="auto">
          <a:xfrm>
            <a:off x="6858470" y="3958034"/>
            <a:ext cx="23693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84"/>
          <p:cNvSpPr>
            <a:spLocks noChangeShapeType="1"/>
          </p:cNvSpPr>
          <p:nvPr/>
        </p:nvSpPr>
        <p:spPr bwMode="auto">
          <a:xfrm>
            <a:off x="6872757" y="2931715"/>
            <a:ext cx="0" cy="1025129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" name="Group 85"/>
          <p:cNvGrpSpPr>
            <a:grpSpLocks/>
          </p:cNvGrpSpPr>
          <p:nvPr/>
        </p:nvGrpSpPr>
        <p:grpSpPr bwMode="auto">
          <a:xfrm>
            <a:off x="7070401" y="3796109"/>
            <a:ext cx="144066" cy="594122"/>
            <a:chOff x="1791" y="1997"/>
            <a:chExt cx="409" cy="499"/>
          </a:xfrm>
        </p:grpSpPr>
        <p:sp>
          <p:nvSpPr>
            <p:cNvPr id="72" name="AutoShape 86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solidFill>
              <a:srgbClr val="99CCFF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87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88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89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90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Group 92"/>
          <p:cNvGrpSpPr>
            <a:grpSpLocks/>
          </p:cNvGrpSpPr>
          <p:nvPr/>
        </p:nvGrpSpPr>
        <p:grpSpPr bwMode="auto">
          <a:xfrm>
            <a:off x="7232326" y="3796109"/>
            <a:ext cx="486966" cy="594122"/>
            <a:chOff x="1791" y="1997"/>
            <a:chExt cx="409" cy="499"/>
          </a:xfrm>
        </p:grpSpPr>
        <p:sp>
          <p:nvSpPr>
            <p:cNvPr id="79" name="AutoShape 93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solidFill>
              <a:srgbClr val="F8F8F8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94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Line 95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96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97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98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Rectangle 106"/>
          <p:cNvSpPr>
            <a:spLocks noChangeArrowheads="1"/>
          </p:cNvSpPr>
          <p:nvPr/>
        </p:nvSpPr>
        <p:spPr bwMode="auto">
          <a:xfrm>
            <a:off x="6231010" y="3904456"/>
            <a:ext cx="809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</a:p>
        </p:txBody>
      </p:sp>
      <p:grpSp>
        <p:nvGrpSpPr>
          <p:cNvPr id="87" name="Group 107"/>
          <p:cNvGrpSpPr>
            <a:grpSpLocks/>
          </p:cNvGrpSpPr>
          <p:nvPr/>
        </p:nvGrpSpPr>
        <p:grpSpPr bwMode="auto">
          <a:xfrm>
            <a:off x="6803701" y="2337593"/>
            <a:ext cx="144066" cy="594122"/>
            <a:chOff x="1791" y="1997"/>
            <a:chExt cx="409" cy="499"/>
          </a:xfrm>
        </p:grpSpPr>
        <p:sp>
          <p:nvSpPr>
            <p:cNvPr id="88" name="AutoShape 108"/>
            <p:cNvSpPr>
              <a:spLocks noChangeArrowheads="1"/>
            </p:cNvSpPr>
            <p:nvPr/>
          </p:nvSpPr>
          <p:spPr bwMode="auto">
            <a:xfrm rot="10800000" flipH="1">
              <a:off x="1791" y="1997"/>
              <a:ext cx="409" cy="499"/>
            </a:xfrm>
            <a:prstGeom prst="foldedCorner">
              <a:avLst>
                <a:gd name="adj" fmla="val 12500"/>
              </a:avLst>
            </a:prstGeom>
            <a:solidFill>
              <a:srgbClr val="99CCFF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109"/>
            <p:cNvSpPr>
              <a:spLocks noChangeShapeType="1"/>
            </p:cNvSpPr>
            <p:nvPr/>
          </p:nvSpPr>
          <p:spPr bwMode="auto">
            <a:xfrm>
              <a:off x="1855" y="2078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110"/>
            <p:cNvSpPr>
              <a:spLocks noChangeShapeType="1"/>
            </p:cNvSpPr>
            <p:nvPr/>
          </p:nvSpPr>
          <p:spPr bwMode="auto">
            <a:xfrm>
              <a:off x="1855" y="2160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111"/>
            <p:cNvSpPr>
              <a:spLocks noChangeShapeType="1"/>
            </p:cNvSpPr>
            <p:nvPr/>
          </p:nvSpPr>
          <p:spPr bwMode="auto">
            <a:xfrm>
              <a:off x="1855" y="225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112"/>
            <p:cNvSpPr>
              <a:spLocks noChangeShapeType="1"/>
            </p:cNvSpPr>
            <p:nvPr/>
          </p:nvSpPr>
          <p:spPr bwMode="auto">
            <a:xfrm>
              <a:off x="1855" y="2341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Line 113"/>
            <p:cNvSpPr>
              <a:spLocks noChangeShapeType="1"/>
            </p:cNvSpPr>
            <p:nvPr/>
          </p:nvSpPr>
          <p:spPr bwMode="auto">
            <a:xfrm>
              <a:off x="1855" y="2432"/>
              <a:ext cx="27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4" name="Rectangle 114"/>
          <p:cNvSpPr>
            <a:spLocks noChangeArrowheads="1"/>
          </p:cNvSpPr>
          <p:nvPr/>
        </p:nvSpPr>
        <p:spPr bwMode="auto">
          <a:xfrm>
            <a:off x="6987057" y="2499519"/>
            <a:ext cx="38576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</p:txBody>
      </p:sp>
      <p:sp>
        <p:nvSpPr>
          <p:cNvPr id="95" name="Rectangle 116"/>
          <p:cNvSpPr>
            <a:spLocks noChangeArrowheads="1"/>
          </p:cNvSpPr>
          <p:nvPr/>
        </p:nvSpPr>
        <p:spPr bwMode="auto">
          <a:xfrm>
            <a:off x="5905970" y="1540471"/>
            <a:ext cx="2216944" cy="27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确定“数据”</a:t>
            </a:r>
            <a:r>
              <a:rPr lang="zh-CN" altLang="en-US" sz="13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是否出错</a:t>
            </a:r>
          </a:p>
        </p:txBody>
      </p:sp>
      <p:sp>
        <p:nvSpPr>
          <p:cNvPr id="96" name="Line 117"/>
          <p:cNvSpPr>
            <a:spLocks noChangeShapeType="1"/>
          </p:cNvSpPr>
          <p:nvPr/>
        </p:nvSpPr>
        <p:spPr bwMode="auto">
          <a:xfrm>
            <a:off x="3423517" y="2716213"/>
            <a:ext cx="0" cy="10251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118"/>
          <p:cNvSpPr>
            <a:spLocks noChangeShapeType="1"/>
          </p:cNvSpPr>
          <p:nvPr/>
        </p:nvSpPr>
        <p:spPr bwMode="auto">
          <a:xfrm>
            <a:off x="3185392" y="2716212"/>
            <a:ext cx="23693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>
            <a:off x="7628520" y="3973670"/>
            <a:ext cx="809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Data’</a:t>
            </a:r>
            <a:endParaRPr lang="zh-CN" altLang="en-US" sz="135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灯片编号占位符 2">
            <a:extLst>
              <a:ext uri="{FF2B5EF4-FFF2-40B4-BE49-F238E27FC236}">
                <a16:creationId xmlns:a16="http://schemas.microsoft.com/office/drawing/2014/main" id="{5C420412-5DEF-4D38-B84A-2F3F3BB927E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100" name="AutoShape 5">
            <a:extLst>
              <a:ext uri="{FF2B5EF4-FFF2-40B4-BE49-F238E27FC236}">
                <a16:creationId xmlns:a16="http://schemas.microsoft.com/office/drawing/2014/main" id="{48AB3EBE-86BB-4E1B-80BD-1EC559A67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29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0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3.3 </a:t>
            </a:r>
            <a:r>
              <a:rPr lang="zh-CN" altLang="en-US" dirty="0">
                <a:solidFill>
                  <a:srgbClr val="008000"/>
                </a:solidFill>
              </a:rPr>
              <a:t>无连接运输服务</a:t>
            </a:r>
            <a:r>
              <a:rPr lang="en-US" altLang="zh-CN" dirty="0">
                <a:solidFill>
                  <a:srgbClr val="008000"/>
                </a:solidFill>
              </a:rPr>
              <a:t>:UDP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6110287" cy="3219926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3.3.2 UDP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如何计算检验和？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64514" y="1717306"/>
            <a:ext cx="5829300" cy="18953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charset="0"/>
              <a:buNone/>
              <a:defRPr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16-bit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整数相加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642573" y="2173222"/>
            <a:ext cx="4800600" cy="18004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1  1  1  0  0  1  1  0  0  1  1  0  0  1  1  0</a:t>
            </a:r>
          </a:p>
          <a:p>
            <a:pPr algn="l"/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1  1  0  1  0  1  0  1  0  1  0  1  0  1  0  1</a:t>
            </a:r>
          </a:p>
          <a:p>
            <a:pPr algn="l">
              <a:lnSpc>
                <a:spcPct val="120000"/>
              </a:lnSpc>
            </a:pP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1  1  0  1  1  1  0  1  1  1  0  1  1  1  0  1  1</a:t>
            </a:r>
          </a:p>
          <a:p>
            <a:pPr algn="l">
              <a:lnSpc>
                <a:spcPct val="120000"/>
              </a:lnSpc>
            </a:pPr>
            <a:endParaRPr lang="en-US" altLang="zh-CN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1  0  1  1  1  0  1  1  1  0  1  1  1  1  0  0</a:t>
            </a:r>
          </a:p>
          <a:p>
            <a:pPr algn="l"/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1  0  1  0  0  0  1  0  0  0  1  0  0  0  0  1  1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H="1">
            <a:off x="2585423" y="2793537"/>
            <a:ext cx="485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2642573" y="2925696"/>
            <a:ext cx="228600" cy="228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024390" y="2892359"/>
            <a:ext cx="569387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回卷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124652" y="3348369"/>
            <a:ext cx="377026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750186" y="3612688"/>
            <a:ext cx="761747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 flipH="1">
            <a:off x="2585423" y="3332890"/>
            <a:ext cx="485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11"/>
          <p:cNvSpPr>
            <a:spLocks/>
          </p:cNvSpPr>
          <p:nvPr/>
        </p:nvSpPr>
        <p:spPr bwMode="auto">
          <a:xfrm>
            <a:off x="2764017" y="3155488"/>
            <a:ext cx="3752199" cy="68919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835696" y="4296177"/>
            <a:ext cx="5891774" cy="5632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Note: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when adding numbers, a carryout from the most significant bit needs to be added to the result</a:t>
            </a: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5FAFE803-87AB-483E-828B-6565037BD5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014C2A7B-D991-4914-9691-933AAD9D4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006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本讲总结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420750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运输层概述和运输层的服务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端到端的逻辑通信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可靠的传输服务：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不可靠的传输服务：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多路复用和多路分解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端口号：对应用进程进行标识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套接字：二元组标识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套接字：四元组标识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简单：尽最大努力交付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1BA9E969-5733-4E99-A201-D77661BFF36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2F4B56A-C1A8-4478-9ABF-D0B197B9D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89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下讲预告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4896544" cy="420750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可靠传输服务的基本原理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差错控制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如何检测差错？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如何恢复差错？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分组丢失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如何检测丢失？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如何恢复丢失？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分组失序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如何对分组排序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如何发现失序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如何解决失序？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FDC78B0C-2B47-4BF3-914A-A1A94846C3B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BD26EC6-355C-47BD-82A1-78697EB1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83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2025/3/12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  <a:extLst>
              <a:ext uri="{FF2B5EF4-FFF2-40B4-BE49-F238E27FC236}">
                <a16:creationId xmlns:a16="http://schemas.microsoft.com/office/drawing/2014/main" id="{D5B71A5E-8EDF-4021-AE0F-BDD498F544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9F2416E1-C397-4A2F-99B0-651D5BE9DFCC}" vid="{50A18DF7-6C33-4922-8443-2DDA3F3D0283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735</TotalTime>
  <Words>2174</Words>
  <Application>Microsoft Office PowerPoint</Application>
  <PresentationFormat>全屏显示(16:9)</PresentationFormat>
  <Paragraphs>582</Paragraphs>
  <Slides>34</Slides>
  <Notes>2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Courier New</vt:lpstr>
      <vt:lpstr>Gill Sans MT</vt:lpstr>
      <vt:lpstr>Tahoma</vt:lpstr>
      <vt:lpstr>Times New Roman</vt:lpstr>
      <vt:lpstr>Wingdings</vt:lpstr>
      <vt:lpstr>Office 主题​​</vt:lpstr>
      <vt:lpstr>Visio</vt:lpstr>
      <vt:lpstr>VISIO</vt:lpstr>
      <vt:lpstr>计算机网络</vt:lpstr>
      <vt:lpstr>第二章 : 知识回顾</vt:lpstr>
      <vt:lpstr>Figures of today</vt:lpstr>
      <vt:lpstr>第三章 运输层</vt:lpstr>
      <vt:lpstr>第三章 运输层</vt:lpstr>
      <vt:lpstr>PowerPoint 演示文稿</vt:lpstr>
      <vt:lpstr>3.1 概述和运输层服务</vt:lpstr>
      <vt:lpstr>3.1 概述和运输层服务</vt:lpstr>
      <vt:lpstr>知识点回顾：1.5 协议层次和服务模型</vt:lpstr>
      <vt:lpstr>3.1 概述和运输层服务</vt:lpstr>
      <vt:lpstr>3.1 概述和运输层服务</vt:lpstr>
      <vt:lpstr>3.1 概述和运输层服务</vt:lpstr>
      <vt:lpstr>3.1 概述和运输层服务</vt:lpstr>
      <vt:lpstr>3.1 概述和运输层服务</vt:lpstr>
      <vt:lpstr>PowerPoint 演示文稿</vt:lpstr>
      <vt:lpstr>3.2 多路复用和多路分解</vt:lpstr>
      <vt:lpstr>3.2 多路复用和多路分解</vt:lpstr>
      <vt:lpstr>3.2 多路复用和多路分解</vt:lpstr>
      <vt:lpstr>3.2 多路复用和多路分解</vt:lpstr>
      <vt:lpstr>3.2 多路复用和多路分解</vt:lpstr>
      <vt:lpstr>3.2 多路复用和多路分解</vt:lpstr>
      <vt:lpstr>3.2 多路复用和多路分解</vt:lpstr>
      <vt:lpstr>3.2 多路复用和多路分解</vt:lpstr>
      <vt:lpstr>3.2 多路复用和多路分解</vt:lpstr>
      <vt:lpstr>3.2 多路复用和多路分解</vt:lpstr>
      <vt:lpstr>PowerPoint 演示文稿</vt:lpstr>
      <vt:lpstr>3.3 无连接运输服务:UDP</vt:lpstr>
      <vt:lpstr>3.3 无连接服务:UDP</vt:lpstr>
      <vt:lpstr>3.3 无连接运输服务:UDP</vt:lpstr>
      <vt:lpstr>3.3 无连接运输服务:UDP</vt:lpstr>
      <vt:lpstr>3.3 无连接运输服务:UDP</vt:lpstr>
      <vt:lpstr>本讲总结</vt:lpstr>
      <vt:lpstr>下讲预告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cistecoram</cp:lastModifiedBy>
  <cp:revision>57</cp:revision>
  <dcterms:created xsi:type="dcterms:W3CDTF">2020-03-10T12:30:27Z</dcterms:created>
  <dcterms:modified xsi:type="dcterms:W3CDTF">2025-03-12T02:51:37Z</dcterms:modified>
</cp:coreProperties>
</file>