
<file path=[Content_Types].xml><?xml version="1.0" encoding="utf-8"?>
<Types xmlns="http://schemas.openxmlformats.org/package/2006/content-types">
  <Default Extension="wav" ContentType="audio/x-wav"/>
  <Default Extension="jpeg" ContentType="image/jpeg"/>
  <Default Extension="JPG" ContentType="image/.jpg"/>
  <Default Extension="png" ContentType="image/png"/>
  <Default Extension="gif" ContentType="image/gif"/>
  <Default Extension="emf" ContentType="image/x-emf"/>
  <Default Extension="wdp" ContentType="image/vnd.ms-photo"/>
  <Default Extension="m4a" ContentType="audi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61"/>
  </p:handoutMasterIdLst>
  <p:sldIdLst>
    <p:sldId id="319" r:id="rId3"/>
    <p:sldId id="459" r:id="rId5"/>
    <p:sldId id="321" r:id="rId6"/>
    <p:sldId id="288" r:id="rId7"/>
    <p:sldId id="290" r:id="rId8"/>
    <p:sldId id="291" r:id="rId9"/>
    <p:sldId id="292" r:id="rId10"/>
    <p:sldId id="447" r:id="rId11"/>
    <p:sldId id="294" r:id="rId12"/>
    <p:sldId id="295" r:id="rId13"/>
    <p:sldId id="439" r:id="rId14"/>
    <p:sldId id="297" r:id="rId15"/>
    <p:sldId id="314" r:id="rId16"/>
    <p:sldId id="315" r:id="rId17"/>
    <p:sldId id="316" r:id="rId18"/>
    <p:sldId id="317" r:id="rId19"/>
    <p:sldId id="318" r:id="rId20"/>
    <p:sldId id="444" r:id="rId21"/>
    <p:sldId id="445" r:id="rId22"/>
    <p:sldId id="446" r:id="rId23"/>
    <p:sldId id="458" r:id="rId24"/>
    <p:sldId id="448" r:id="rId25"/>
    <p:sldId id="323" r:id="rId26"/>
    <p:sldId id="324" r:id="rId27"/>
    <p:sldId id="325" r:id="rId28"/>
    <p:sldId id="326" r:id="rId29"/>
    <p:sldId id="449" r:id="rId30"/>
    <p:sldId id="328" r:id="rId31"/>
    <p:sldId id="329" r:id="rId32"/>
    <p:sldId id="330" r:id="rId33"/>
    <p:sldId id="331" r:id="rId34"/>
    <p:sldId id="332" r:id="rId35"/>
    <p:sldId id="333" r:id="rId36"/>
    <p:sldId id="334" r:id="rId37"/>
    <p:sldId id="335" r:id="rId38"/>
    <p:sldId id="336" r:id="rId39"/>
    <p:sldId id="337" r:id="rId40"/>
    <p:sldId id="338" r:id="rId41"/>
    <p:sldId id="339" r:id="rId42"/>
    <p:sldId id="340" r:id="rId43"/>
    <p:sldId id="341" r:id="rId44"/>
    <p:sldId id="342" r:id="rId45"/>
    <p:sldId id="343" r:id="rId46"/>
    <p:sldId id="344" r:id="rId47"/>
    <p:sldId id="452" r:id="rId48"/>
    <p:sldId id="450" r:id="rId49"/>
    <p:sldId id="346" r:id="rId50"/>
    <p:sldId id="347" r:id="rId51"/>
    <p:sldId id="348" r:id="rId52"/>
    <p:sldId id="451" r:id="rId53"/>
    <p:sldId id="350" r:id="rId54"/>
    <p:sldId id="351" r:id="rId55"/>
    <p:sldId id="352" r:id="rId56"/>
    <p:sldId id="353" r:id="rId57"/>
    <p:sldId id="454" r:id="rId58"/>
    <p:sldId id="354" r:id="rId59"/>
    <p:sldId id="296" r:id="rId60"/>
  </p:sldIdLst>
  <p:sldSz cx="9144000" cy="5143500" type="screen16x9"/>
  <p:notesSz cx="7099300" cy="10234295"/>
  <p:custDataLst>
    <p:tags r:id="rId6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00"/>
    <a:srgbClr val="0000FF"/>
    <a:srgbClr val="E18601"/>
    <a:srgbClr val="800000"/>
    <a:srgbClr val="FF3300"/>
    <a:srgbClr val="FF6600"/>
    <a:srgbClr val="D43005"/>
    <a:srgbClr val="EAEAEA"/>
    <a:srgbClr val="FAFAFA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15" autoAdjust="0"/>
  </p:normalViewPr>
  <p:slideViewPr>
    <p:cSldViewPr>
      <p:cViewPr varScale="1">
        <p:scale>
          <a:sx n="152" d="100"/>
          <a:sy n="152" d="100"/>
        </p:scale>
        <p:origin x="106" y="24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3216" y="3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5" Type="http://schemas.openxmlformats.org/officeDocument/2006/relationships/tags" Target="tags/tag1.xml"/><Relationship Id="rId64" Type="http://schemas.openxmlformats.org/officeDocument/2006/relationships/tableStyles" Target="tableStyles.xml"/><Relationship Id="rId63" Type="http://schemas.openxmlformats.org/officeDocument/2006/relationships/viewProps" Target="viewProps.xml"/><Relationship Id="rId62" Type="http://schemas.openxmlformats.org/officeDocument/2006/relationships/presProps" Target="presProps.xml"/><Relationship Id="rId61" Type="http://schemas.openxmlformats.org/officeDocument/2006/relationships/handoutMaster" Target="handoutMasters/handoutMaster1.xml"/><Relationship Id="rId60" Type="http://schemas.openxmlformats.org/officeDocument/2006/relationships/slide" Target="slides/slide57.xml"/><Relationship Id="rId6" Type="http://schemas.openxmlformats.org/officeDocument/2006/relationships/slide" Target="slides/slide3.xml"/><Relationship Id="rId59" Type="http://schemas.openxmlformats.org/officeDocument/2006/relationships/slide" Target="slides/slide56.xml"/><Relationship Id="rId58" Type="http://schemas.openxmlformats.org/officeDocument/2006/relationships/slide" Target="slides/slide55.xml"/><Relationship Id="rId57" Type="http://schemas.openxmlformats.org/officeDocument/2006/relationships/slide" Target="slides/slide54.xml"/><Relationship Id="rId56" Type="http://schemas.openxmlformats.org/officeDocument/2006/relationships/slide" Target="slides/slide53.xml"/><Relationship Id="rId55" Type="http://schemas.openxmlformats.org/officeDocument/2006/relationships/slide" Target="slides/slide52.xml"/><Relationship Id="rId54" Type="http://schemas.openxmlformats.org/officeDocument/2006/relationships/slide" Target="slides/slide51.xml"/><Relationship Id="rId53" Type="http://schemas.openxmlformats.org/officeDocument/2006/relationships/slide" Target="slides/slide50.xml"/><Relationship Id="rId52" Type="http://schemas.openxmlformats.org/officeDocument/2006/relationships/slide" Target="slides/slide49.xml"/><Relationship Id="rId51" Type="http://schemas.openxmlformats.org/officeDocument/2006/relationships/slide" Target="slides/slide48.xml"/><Relationship Id="rId50" Type="http://schemas.openxmlformats.org/officeDocument/2006/relationships/slide" Target="slides/slide47.xml"/><Relationship Id="rId5" Type="http://schemas.openxmlformats.org/officeDocument/2006/relationships/slide" Target="slides/slide2.xml"/><Relationship Id="rId49" Type="http://schemas.openxmlformats.org/officeDocument/2006/relationships/slide" Target="slides/slide46.xml"/><Relationship Id="rId48" Type="http://schemas.openxmlformats.org/officeDocument/2006/relationships/slide" Target="slides/slide45.xml"/><Relationship Id="rId47" Type="http://schemas.openxmlformats.org/officeDocument/2006/relationships/slide" Target="slides/slide44.xml"/><Relationship Id="rId46" Type="http://schemas.openxmlformats.org/officeDocument/2006/relationships/slide" Target="slides/slide43.xml"/><Relationship Id="rId45" Type="http://schemas.openxmlformats.org/officeDocument/2006/relationships/slide" Target="slides/slide42.xml"/><Relationship Id="rId44" Type="http://schemas.openxmlformats.org/officeDocument/2006/relationships/slide" Target="slides/slide4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  <a:endParaRPr lang="zh-CN" altLang="en-US" sz="1400" b="1">
              <a:solidFill>
                <a:srgbClr val="0000FF"/>
              </a:solidFill>
            </a:endParaRP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  <a:endParaRPr lang="zh-CN" altLang="en-US" sz="1400" b="1">
              <a:solidFill>
                <a:srgbClr val="0000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defTabSz="992505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/>
          <a:lstStyle>
            <a:lvl1pPr algn="r" defTabSz="992505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5089D7-736D-4EDC-BC2F-A59A123DD1F8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audio" Target="../media/audio1.wav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/>
          <p:cNvCxnSpPr/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/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/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/>
            <p:cNvPicPr>
              <a:picLocks noChangeAspect="1" noChangeArrowheads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  <p:sp>
        <p:nvSpPr>
          <p:cNvPr id="23" name="矩形 22"/>
          <p:cNvSpPr/>
          <p:nvPr userDrawn="1"/>
        </p:nvSpPr>
        <p:spPr>
          <a:xfrm>
            <a:off x="3419871" y="3448764"/>
            <a:ext cx="2191541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10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5"/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  <a:endParaRPr lang="zh-CN" altLang="en-US" sz="36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0" name="直接连接符 9"/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/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输入标题</a:t>
            </a:r>
            <a:endParaRPr lang="zh-CN" altLang="en-US" dirty="0"/>
          </a:p>
        </p:txBody>
      </p:sp>
      <p:sp>
        <p:nvSpPr>
          <p:cNvPr id="20" name="椭圆 19"/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5" y="936000"/>
            <a:ext cx="5616624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113971"/>
            <a:ext cx="648072" cy="64807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7135" y="273844"/>
            <a:ext cx="3123921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输入标题</a:t>
            </a:r>
            <a:endParaRPr lang="zh-CN" altLang="en-US" dirty="0"/>
          </a:p>
        </p:txBody>
      </p:sp>
      <p:grpSp>
        <p:nvGrpSpPr>
          <p:cNvPr id="8" name="组合 7"/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/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/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467544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3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572000" y="1059587"/>
            <a:ext cx="3886200" cy="3573136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pic>
        <p:nvPicPr>
          <p:cNvPr id="9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918091-F411-4555-915B-5F84AEFAA6A0}" type="datetime1">
              <a:rPr lang="zh-CN" altLang="en-US" smtClean="0"/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audio" Target="../media/audio1.wav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9" name="arrow.wav"/>
          </p:stSnd>
        </p:sndAc>
      </p:transition>
    </mc:Choice>
    <mc:Fallback>
      <p:transition>
        <p:sndAc>
          <p:stSnd>
            <p:snd r:embed="rId9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audio" Target="../media/audio1.wav"/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9.png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0.png"/><Relationship Id="rId1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2.GIF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3.emf"/><Relationship Id="rId1" Type="http://schemas.openxmlformats.org/officeDocument/2006/relationships/image" Target="../media/image11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11.png"/><Relationship Id="rId1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1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16.png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audio" Target="../media/audio1.wav"/><Relationship Id="rId3" Type="http://schemas.openxmlformats.org/officeDocument/2006/relationships/image" Target="../media/image19.png"/><Relationship Id="rId2" Type="http://schemas.microsoft.com/office/2007/relationships/hdphoto" Target="../media/image18.wdp"/><Relationship Id="rId1" Type="http://schemas.openxmlformats.org/officeDocument/2006/relationships/image" Target="../media/image1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2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audio" Target="../media/audio1.wav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21.png"/></Relationships>
</file>

<file path=ppt/slides/_rels/slide5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22.png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audio" Target="../media/audio1.wav"/><Relationship Id="rId1" Type="http://schemas.openxmlformats.org/officeDocument/2006/relationships/image" Target="../media/image22.png"/></Relationships>
</file>

<file path=ppt/slides/_rels/slide5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audio" Target="../media/audio1.wav"/><Relationship Id="rId2" Type="http://schemas.openxmlformats.org/officeDocument/2006/relationships/image" Target="../media/image23.png"/><Relationship Id="rId1" Type="http://schemas.openxmlformats.org/officeDocument/2006/relationships/image" Target="../media/image7.png"/></Relationships>
</file>

<file path=ppt/slides/_rels/slide5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audio" Target="../media/audio1.wav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5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27.png"/><Relationship Id="rId3" Type="http://schemas.microsoft.com/office/2007/relationships/media" Target="../media/media1.m4a"/><Relationship Id="rId2" Type="http://schemas.openxmlformats.org/officeDocument/2006/relationships/audio" Target="../media/media1.m4a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可靠数据传输原理</a:t>
            </a:r>
            <a:endParaRPr lang="en-US" altLang="zh-CN" dirty="0"/>
          </a:p>
          <a:p>
            <a:pPr lvl="1"/>
            <a:r>
              <a:rPr lang="zh-CN" altLang="en-US" dirty="0"/>
              <a:t>流水线协议</a:t>
            </a:r>
            <a:endParaRPr lang="en-US" altLang="zh-CN" dirty="0"/>
          </a:p>
          <a:p>
            <a:pPr lvl="2"/>
            <a:r>
              <a:rPr lang="zh-CN" altLang="en-US" dirty="0"/>
              <a:t>提高网络</a:t>
            </a:r>
            <a:r>
              <a:rPr lang="zh-CN" altLang="en-US" dirty="0">
                <a:solidFill>
                  <a:srgbClr val="FF0000"/>
                </a:solidFill>
              </a:rPr>
              <a:t>传输效率  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回退</a:t>
            </a:r>
            <a:r>
              <a:rPr lang="en-US" altLang="zh-CN" dirty="0">
                <a:solidFill>
                  <a:srgbClr val="0070C0"/>
                </a:solidFill>
              </a:rPr>
              <a:t>N</a:t>
            </a:r>
            <a:r>
              <a:rPr lang="zh-CN" altLang="en-US" dirty="0">
                <a:solidFill>
                  <a:srgbClr val="0070C0"/>
                </a:solidFill>
              </a:rPr>
              <a:t>步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选择重传</a:t>
            </a:r>
            <a:endParaRPr lang="en-US" altLang="zh-CN" dirty="0">
              <a:solidFill>
                <a:srgbClr val="0070C0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</a:rPr>
              <a:t>滑动窗口</a:t>
            </a:r>
            <a:endParaRPr lang="en-US" altLang="zh-CN" dirty="0">
              <a:solidFill>
                <a:srgbClr val="0070C0"/>
              </a:solidFill>
            </a:endParaRPr>
          </a:p>
          <a:p>
            <a:r>
              <a:rPr lang="en-US" altLang="zh-CN" dirty="0"/>
              <a:t>TCP</a:t>
            </a:r>
            <a:r>
              <a:rPr lang="zh-CN" altLang="en-US" dirty="0"/>
              <a:t>协议</a:t>
            </a:r>
            <a:endParaRPr lang="en-US" altLang="zh-CN" dirty="0"/>
          </a:p>
          <a:p>
            <a:pPr lvl="1"/>
            <a:r>
              <a:rPr lang="zh-CN" altLang="en-US" dirty="0"/>
              <a:t>协议简介 </a:t>
            </a:r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/>
          <p:cNvSpPr>
            <a:spLocks noGrp="1"/>
          </p:cNvSpPr>
          <p:nvPr>
            <p:ph idx="13"/>
          </p:nvPr>
        </p:nvSpPr>
        <p:spPr>
          <a:xfrm>
            <a:off x="3491880" y="2298872"/>
            <a:ext cx="3312368" cy="432000"/>
          </a:xfrm>
        </p:spPr>
        <p:txBody>
          <a:bodyPr>
            <a:norm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en-US" altLang="zh-CN" dirty="0"/>
          </a:p>
        </p:txBody>
      </p:sp>
      <p:sp>
        <p:nvSpPr>
          <p:cNvPr id="9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>
      <p:transition spd="slow">
        <p:fade/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solidFill>
                  <a:srgbClr val="0070C0"/>
                </a:solidFill>
                <a:effectLst/>
              </a:rPr>
              <a:t>3.5 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面向连接的运输：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TCP</a:t>
            </a:r>
            <a:endParaRPr lang="zh-CN" altLang="en-US" dirty="0">
              <a:effectLst/>
            </a:endParaRPr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>
      <p:transition spd="slow">
        <p:fade/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08402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TCP: RFCs 793, 1122,1323, 2018, 2581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因特网最复杂的协议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，没有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之一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端到端协议：一个发送方，一个接收方 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不会广播</a:t>
            </a:r>
            <a:r>
              <a:rPr lang="en-US" altLang="zh-CN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可靠传输：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有序的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字节流传输</a:t>
            </a: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无损坏、</a:t>
            </a:r>
            <a:r>
              <a:rPr lang="zh-CN" altLang="en-US" sz="1600" dirty="0">
                <a:solidFill>
                  <a:srgbClr val="C00000"/>
                </a:solidFill>
              </a:rPr>
              <a:t>无</a:t>
            </a:r>
            <a:r>
              <a:rPr lang="zh-CN" altLang="en-US" sz="1600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冗余、按序交付</a:t>
            </a:r>
            <a:endParaRPr lang="en-US" altLang="zh-CN" sz="1600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差错检验：</a:t>
            </a:r>
            <a:r>
              <a:rPr lang="en-US" altLang="zh-CN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重传：解决数据差错、分组丢失、超时等问题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序号，确认号</a:t>
            </a:r>
            <a:endParaRPr lang="en-US" altLang="zh-CN" sz="14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流水线协议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提供流控制和拥塞控制</a:t>
            </a:r>
            <a:endParaRPr lang="en-US" altLang="zh-CN" sz="1400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08402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全双工协议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在一个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连接中，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数据流是双向的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10000"/>
              </a:lnSpc>
              <a:spcBef>
                <a:spcPts val="600"/>
              </a:spcBef>
            </a:pP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发送方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接收方：可以发送数据，也可以接收数据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MSS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：最大报文段长度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面向连接的协议</a:t>
            </a:r>
            <a:endParaRPr lang="en-US" altLang="zh-CN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握手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交换控制信息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初始化发送方和接收方的状态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可实现</a:t>
            </a:r>
            <a:r>
              <a:rPr lang="zh-CN" altLang="en-US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流控制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发送方的发送速度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不能</a:t>
            </a:r>
            <a:r>
              <a:rPr lang="zh-CN" altLang="en-US" sz="1600" dirty="0"/>
              <a:t>大于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10000"/>
              </a:lnSpc>
              <a:spcBef>
                <a:spcPts val="600"/>
              </a:spcBef>
            </a:pPr>
            <a:r>
              <a:rPr lang="zh-CN" altLang="en-US" sz="16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接收方的接收速度</a:t>
            </a:r>
            <a:endParaRPr lang="en-US" altLang="zh-CN" sz="16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1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1741885" y="1624473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AutoShape 4"/>
          <p:cNvSpPr>
            <a:spLocks noChangeArrowheads="1"/>
          </p:cNvSpPr>
          <p:nvPr/>
        </p:nvSpPr>
        <p:spPr bwMode="auto">
          <a:xfrm>
            <a:off x="3405187" y="4341480"/>
            <a:ext cx="233363" cy="122635"/>
          </a:xfrm>
          <a:prstGeom prst="rightArrow">
            <a:avLst>
              <a:gd name="adj1" fmla="val 50000"/>
              <a:gd name="adj2" fmla="val 4757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AutoShape 5"/>
          <p:cNvSpPr>
            <a:spLocks noChangeArrowheads="1"/>
          </p:cNvSpPr>
          <p:nvPr/>
        </p:nvSpPr>
        <p:spPr bwMode="auto">
          <a:xfrm>
            <a:off x="6706792" y="4341480"/>
            <a:ext cx="230981" cy="122635"/>
          </a:xfrm>
          <a:prstGeom prst="rightArrow">
            <a:avLst>
              <a:gd name="adj1" fmla="val 50000"/>
              <a:gd name="adj2" fmla="val 47087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AutoShape 6"/>
          <p:cNvSpPr>
            <a:spLocks noChangeArrowheads="1"/>
          </p:cNvSpPr>
          <p:nvPr/>
        </p:nvSpPr>
        <p:spPr bwMode="auto">
          <a:xfrm>
            <a:off x="4852987" y="4341480"/>
            <a:ext cx="233363" cy="122635"/>
          </a:xfrm>
          <a:prstGeom prst="rightArrow">
            <a:avLst>
              <a:gd name="adj1" fmla="val 50000"/>
              <a:gd name="adj2" fmla="val 47573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 Box 7"/>
          <p:cNvSpPr txBox="1">
            <a:spLocks noChangeArrowheads="1"/>
          </p:cNvSpPr>
          <p:nvPr/>
        </p:nvSpPr>
        <p:spPr bwMode="auto">
          <a:xfrm>
            <a:off x="1521619" y="2888918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2044304" y="2307892"/>
            <a:ext cx="5953" cy="885825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9"/>
          <p:cNvSpPr txBox="1">
            <a:spLocks noChangeArrowheads="1"/>
          </p:cNvSpPr>
          <p:nvPr/>
        </p:nvSpPr>
        <p:spPr bwMode="auto">
          <a:xfrm rot="5400000">
            <a:off x="2103075" y="2734479"/>
            <a:ext cx="37061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ext Box 10"/>
          <p:cNvSpPr txBox="1">
            <a:spLocks noChangeArrowheads="1"/>
          </p:cNvSpPr>
          <p:nvPr/>
        </p:nvSpPr>
        <p:spPr bwMode="auto">
          <a:xfrm>
            <a:off x="3791668" y="4624849"/>
            <a:ext cx="1443985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</a:t>
            </a:r>
            <a:r>
              <a:rPr kumimoji="1" lang="zh-CN" altLang="en-US" sz="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en-US" altLang="zh-CN" sz="1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kumimoji="1" lang="en-US" altLang="zh-CN" sz="6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14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4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ectangle 11"/>
          <p:cNvSpPr>
            <a:spLocks noChangeArrowheads="1"/>
          </p:cNvSpPr>
          <p:nvPr/>
        </p:nvSpPr>
        <p:spPr bwMode="auto">
          <a:xfrm>
            <a:off x="2166938" y="2438862"/>
            <a:ext cx="489347" cy="127397"/>
          </a:xfrm>
          <a:prstGeom prst="rect">
            <a:avLst/>
          </a:pr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2166938" y="2630552"/>
            <a:ext cx="121444" cy="130969"/>
          </a:xfrm>
          <a:prstGeom prst="rect">
            <a:avLst/>
          </a:pr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2166938" y="3017505"/>
            <a:ext cx="305991" cy="130969"/>
          </a:xfrm>
          <a:prstGeom prst="rect">
            <a:avLst/>
          </a:prstGeom>
          <a:solidFill>
            <a:srgbClr val="CC0099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1308497" y="3275871"/>
            <a:ext cx="1471613" cy="840581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75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15"/>
          <p:cNvSpPr>
            <a:spLocks noChangeShapeType="1"/>
          </p:cNvSpPr>
          <p:nvPr/>
        </p:nvSpPr>
        <p:spPr bwMode="auto">
          <a:xfrm flipV="1">
            <a:off x="7131844" y="2307892"/>
            <a:ext cx="0" cy="967979"/>
          </a:xfrm>
          <a:prstGeom prst="line">
            <a:avLst/>
          </a:prstGeom>
          <a:noFill/>
          <a:ln w="28575">
            <a:solidFill>
              <a:srgbClr val="333399"/>
            </a:solidFill>
            <a:round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Text Box 16"/>
          <p:cNvSpPr txBox="1">
            <a:spLocks noChangeArrowheads="1"/>
          </p:cNvSpPr>
          <p:nvPr/>
        </p:nvSpPr>
        <p:spPr bwMode="auto">
          <a:xfrm rot="5400000">
            <a:off x="7189425" y="2738051"/>
            <a:ext cx="37061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7254479" y="3017505"/>
            <a:ext cx="367903" cy="130969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Rectangle 18"/>
          <p:cNvSpPr>
            <a:spLocks noChangeArrowheads="1"/>
          </p:cNvSpPr>
          <p:nvPr/>
        </p:nvSpPr>
        <p:spPr bwMode="auto">
          <a:xfrm>
            <a:off x="6396038" y="3275871"/>
            <a:ext cx="1470422" cy="840581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en-US" altLang="zh-CN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endParaRPr kumimoji="1" lang="en-US" altLang="zh-CN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75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kumimoji="1" lang="en-US" altLang="zh-CN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Rectangle 19"/>
          <p:cNvSpPr>
            <a:spLocks noChangeArrowheads="1"/>
          </p:cNvSpPr>
          <p:nvPr/>
        </p:nvSpPr>
        <p:spPr bwMode="auto">
          <a:xfrm>
            <a:off x="6556772" y="3729498"/>
            <a:ext cx="1165622" cy="253604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接收缓存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Freeform 20"/>
          <p:cNvSpPr/>
          <p:nvPr/>
        </p:nvSpPr>
        <p:spPr bwMode="auto">
          <a:xfrm>
            <a:off x="2044304" y="4116452"/>
            <a:ext cx="5087540" cy="514350"/>
          </a:xfrm>
          <a:custGeom>
            <a:avLst/>
            <a:gdLst>
              <a:gd name="T0" fmla="*/ 0 w 3264"/>
              <a:gd name="T1" fmla="*/ 0 h 384"/>
              <a:gd name="T2" fmla="*/ 0 w 3264"/>
              <a:gd name="T3" fmla="*/ 384 h 384"/>
              <a:gd name="T4" fmla="*/ 3264 w 3264"/>
              <a:gd name="T5" fmla="*/ 384 h 384"/>
              <a:gd name="T6" fmla="*/ 3264 w 3264"/>
              <a:gd name="T7" fmla="*/ 0 h 3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264" h="384">
                <a:moveTo>
                  <a:pt x="0" y="0"/>
                </a:moveTo>
                <a:lnTo>
                  <a:pt x="0" y="384"/>
                </a:lnTo>
                <a:lnTo>
                  <a:pt x="3264" y="384"/>
                </a:lnTo>
                <a:lnTo>
                  <a:pt x="3264" y="0"/>
                </a:lnTo>
              </a:path>
            </a:pathLst>
          </a:custGeom>
          <a:noFill/>
          <a:ln w="28575" cmpd="sng">
            <a:solidFill>
              <a:srgbClr val="333399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1470423" y="3729498"/>
            <a:ext cx="1163240" cy="253604"/>
          </a:xfrm>
          <a:prstGeom prst="rect">
            <a:avLst/>
          </a:prstGeom>
          <a:solidFill>
            <a:srgbClr val="FFCCFF"/>
          </a:solidFill>
          <a:ln w="1905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发送缓存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2350294" y="4243849"/>
            <a:ext cx="1041797" cy="258366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2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Text Box 23"/>
          <p:cNvSpPr txBox="1">
            <a:spLocks noChangeArrowheads="1"/>
          </p:cNvSpPr>
          <p:nvPr/>
        </p:nvSpPr>
        <p:spPr bwMode="auto">
          <a:xfrm>
            <a:off x="5169694" y="4160505"/>
            <a:ext cx="370614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150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kumimoji="1" lang="en-US" altLang="zh-CN" sz="150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3821907" y="4243849"/>
            <a:ext cx="1041797" cy="258366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2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2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5660232" y="4243849"/>
            <a:ext cx="1041797" cy="258366"/>
          </a:xfrm>
          <a:prstGeom prst="rect">
            <a:avLst/>
          </a:prstGeom>
          <a:solidFill>
            <a:srgbClr val="66CCFF"/>
          </a:solidFill>
          <a:ln w="19050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 wrap="none" anchor="ctr"/>
          <a:lstStyle/>
          <a:p>
            <a:pPr algn="ctr"/>
            <a:r>
              <a:rPr kumimoji="1" lang="zh-CN" altLang="en-US" sz="12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2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Rectangle 26"/>
          <p:cNvSpPr>
            <a:spLocks noChangeArrowheads="1"/>
          </p:cNvSpPr>
          <p:nvPr/>
        </p:nvSpPr>
        <p:spPr bwMode="auto">
          <a:xfrm>
            <a:off x="7254479" y="2630552"/>
            <a:ext cx="367903" cy="130969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Rectangle 27"/>
          <p:cNvSpPr>
            <a:spLocks noChangeArrowheads="1"/>
          </p:cNvSpPr>
          <p:nvPr/>
        </p:nvSpPr>
        <p:spPr bwMode="auto">
          <a:xfrm>
            <a:off x="7254479" y="2438862"/>
            <a:ext cx="367903" cy="127397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Text Box 28"/>
          <p:cNvSpPr txBox="1">
            <a:spLocks noChangeArrowheads="1"/>
          </p:cNvSpPr>
          <p:nvPr/>
        </p:nvSpPr>
        <p:spPr bwMode="auto">
          <a:xfrm>
            <a:off x="6566298" y="2907968"/>
            <a:ext cx="56938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 Box 29"/>
          <p:cNvSpPr txBox="1">
            <a:spLocks noChangeArrowheads="1"/>
          </p:cNvSpPr>
          <p:nvPr/>
        </p:nvSpPr>
        <p:spPr bwMode="auto">
          <a:xfrm>
            <a:off x="1652715" y="1497077"/>
            <a:ext cx="7617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发送端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6736683" y="1498268"/>
            <a:ext cx="76174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ctr"/>
            <a:r>
              <a:rPr kumimoji="1" lang="zh-CN" altLang="en-US" sz="15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接收端</a:t>
            </a:r>
            <a:endParaRPr kumimoji="1" lang="zh-CN" altLang="en-US" sz="15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AutoShape 31"/>
          <p:cNvSpPr>
            <a:spLocks noChangeArrowheads="1"/>
          </p:cNvSpPr>
          <p:nvPr/>
        </p:nvSpPr>
        <p:spPr bwMode="auto">
          <a:xfrm>
            <a:off x="2997896" y="2955916"/>
            <a:ext cx="1066800" cy="411719"/>
          </a:xfrm>
          <a:prstGeom prst="wedgeRoundRectCallout">
            <a:avLst>
              <a:gd name="adj1" fmla="val -82422"/>
              <a:gd name="adj2" fmla="val 163418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/>
            <a:r>
              <a:rPr kumimoji="1" lang="zh-CN" altLang="en-US" sz="11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向发送缓存</a:t>
            </a:r>
            <a:endParaRPr kumimoji="1" lang="zh-CN" altLang="en-US" sz="11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1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写入数据块</a:t>
            </a:r>
            <a:endParaRPr kumimoji="1" lang="zh-CN" altLang="en-US" sz="11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AutoShape 33"/>
          <p:cNvSpPr>
            <a:spLocks noChangeArrowheads="1"/>
          </p:cNvSpPr>
          <p:nvPr/>
        </p:nvSpPr>
        <p:spPr bwMode="auto">
          <a:xfrm>
            <a:off x="4977580" y="2988931"/>
            <a:ext cx="1045369" cy="411719"/>
          </a:xfrm>
          <a:prstGeom prst="wedgeRoundRectCallout">
            <a:avLst>
              <a:gd name="adj1" fmla="val 93582"/>
              <a:gd name="adj2" fmla="val 151256"/>
              <a:gd name="adj3" fmla="val 16667"/>
            </a:avLst>
          </a:prstGeom>
          <a:solidFill>
            <a:srgbClr val="CCECFF"/>
          </a:solidFill>
          <a:ln w="9525">
            <a:solidFill>
              <a:schemeClr val="tx1"/>
            </a:solidFill>
            <a:miter lim="800000"/>
          </a:ln>
          <a:effectLst>
            <a:outerShdw dist="35921" dir="2700000" algn="ctr" rotWithShape="0">
              <a:schemeClr val="bg2"/>
            </a:outerShdw>
          </a:effectLst>
        </p:spPr>
        <p:txBody>
          <a:bodyPr/>
          <a:lstStyle/>
          <a:p>
            <a:pPr algn="ctr"/>
            <a:r>
              <a:rPr kumimoji="1" lang="zh-CN" altLang="en-US" sz="11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从接收缓存</a:t>
            </a:r>
            <a:endParaRPr kumimoji="1" lang="zh-CN" altLang="en-US" sz="11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zh-CN" altLang="en-US" sz="11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读取数据块</a:t>
            </a:r>
            <a:endParaRPr kumimoji="1" lang="zh-CN" altLang="en-US" sz="11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Text Box 35"/>
          <p:cNvSpPr txBox="1">
            <a:spLocks noChangeArrowheads="1"/>
          </p:cNvSpPr>
          <p:nvPr/>
        </p:nvSpPr>
        <p:spPr bwMode="auto">
          <a:xfrm>
            <a:off x="926761" y="1915711"/>
            <a:ext cx="95410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应用进程</a:t>
            </a:r>
            <a:endParaRPr kumimoji="1" lang="zh-CN" altLang="en-US" sz="15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Text Box 36"/>
          <p:cNvSpPr txBox="1">
            <a:spLocks noChangeArrowheads="1"/>
          </p:cNvSpPr>
          <p:nvPr/>
        </p:nvSpPr>
        <p:spPr bwMode="auto">
          <a:xfrm>
            <a:off x="7348954" y="1944353"/>
            <a:ext cx="954107" cy="323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zh-CN" altLang="en-US" sz="1500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应用进程</a:t>
            </a:r>
            <a:endParaRPr kumimoji="1" lang="zh-CN" altLang="en-US" sz="1500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37"/>
          <p:cNvSpPr txBox="1">
            <a:spLocks noChangeArrowheads="1"/>
          </p:cNvSpPr>
          <p:nvPr/>
        </p:nvSpPr>
        <p:spPr bwMode="auto">
          <a:xfrm>
            <a:off x="6824663" y="1660192"/>
            <a:ext cx="668773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kumimoji="1" lang="en-US" altLang="zh-CN" sz="540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</a:t>
            </a:r>
            <a:endParaRPr kumimoji="1" lang="en-US" altLang="zh-CN" sz="540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38"/>
          <p:cNvSpPr>
            <a:spLocks noChangeArrowheads="1"/>
          </p:cNvSpPr>
          <p:nvPr/>
        </p:nvSpPr>
        <p:spPr bwMode="auto">
          <a:xfrm>
            <a:off x="1982392" y="3193717"/>
            <a:ext cx="134540" cy="1440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Rectangle 39"/>
          <p:cNvSpPr>
            <a:spLocks noChangeArrowheads="1"/>
          </p:cNvSpPr>
          <p:nvPr/>
        </p:nvSpPr>
        <p:spPr bwMode="auto">
          <a:xfrm>
            <a:off x="7060406" y="3193717"/>
            <a:ext cx="134541" cy="144066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AutoShape 42"/>
          <p:cNvSpPr/>
          <p:nvPr/>
        </p:nvSpPr>
        <p:spPr bwMode="auto">
          <a:xfrm rot="5400000">
            <a:off x="4275535" y="3493755"/>
            <a:ext cx="161925" cy="1081088"/>
          </a:xfrm>
          <a:prstGeom prst="leftBrace">
            <a:avLst>
              <a:gd name="adj1" fmla="val 131613"/>
              <a:gd name="adj2" fmla="val 49537"/>
            </a:avLst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vert="eaVert" wrap="none" anchor="ctr"/>
          <a:lstStyle/>
          <a:p>
            <a:pPr algn="ctr"/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6" name="Rectangle 43"/>
          <p:cNvSpPr>
            <a:spLocks noChangeArrowheads="1"/>
          </p:cNvSpPr>
          <p:nvPr/>
        </p:nvSpPr>
        <p:spPr bwMode="auto">
          <a:xfrm>
            <a:off x="3855245" y="3633653"/>
            <a:ext cx="1041797" cy="25836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66CC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/>
            <a:r>
              <a:rPr kumimoji="1" lang="en-US" altLang="zh-CN" sz="15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MSS</a:t>
            </a:r>
            <a:endParaRPr kumimoji="1"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48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2000" dirty="0">
                <a:solidFill>
                  <a:schemeClr val="bg1">
                    <a:lumMod val="7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序号空间：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[0~2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序号规则：面向字节流编序号：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报文段的编号是该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报文段数据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中第一个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字节的编号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Sq#(i+1) == Sq#(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+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lang="en-US" altLang="zh-CN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segment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不是对报文段编号</a:t>
            </a: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499742"/>
            <a:ext cx="399573" cy="361153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552935" y="4128839"/>
            <a:ext cx="45719" cy="27000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24501" y="4111059"/>
            <a:ext cx="840118" cy="30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622701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9500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76731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84141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/>
          <p:cNvSpPr/>
          <p:nvPr/>
        </p:nvSpPr>
        <p:spPr>
          <a:xfrm>
            <a:off x="91298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98200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105357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12513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1198526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268046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731579" y="4128839"/>
            <a:ext cx="45719" cy="27000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1703145" y="4111059"/>
            <a:ext cx="1023352" cy="30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180134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873651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94595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/>
          <p:cNvSpPr/>
          <p:nvPr/>
        </p:nvSpPr>
        <p:spPr>
          <a:xfrm>
            <a:off x="2020062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265356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209162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2160652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223221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2303782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237717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244669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矩形 40"/>
          <p:cNvSpPr/>
          <p:nvPr/>
        </p:nvSpPr>
        <p:spPr>
          <a:xfrm>
            <a:off x="2516407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58498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3013907" y="4128839"/>
            <a:ext cx="45719" cy="270000"/>
          </a:xfrm>
          <a:prstGeom prst="rect">
            <a:avLst/>
          </a:prstGeom>
          <a:solidFill>
            <a:srgbClr val="C0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985473" y="4111059"/>
            <a:ext cx="1023352" cy="306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08367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155979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22828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30239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3935891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37395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矩形 50"/>
          <p:cNvSpPr/>
          <p:nvPr/>
        </p:nvSpPr>
        <p:spPr>
          <a:xfrm>
            <a:off x="344298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/>
          <p:cNvSpPr/>
          <p:nvPr/>
        </p:nvSpPr>
        <p:spPr>
          <a:xfrm>
            <a:off x="351454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3586110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365949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3729018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/>
          <p:cNvSpPr/>
          <p:nvPr/>
        </p:nvSpPr>
        <p:spPr>
          <a:xfrm>
            <a:off x="3798735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3867313" y="4128839"/>
            <a:ext cx="45719" cy="270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24501" y="3445113"/>
            <a:ext cx="3342812" cy="261610"/>
          </a:xfrm>
          <a:prstGeom prst="rect">
            <a:avLst/>
          </a:prstGeom>
          <a:pattFill prst="pct10">
            <a:fgClr>
              <a:schemeClr val="accent1"/>
            </a:fgClr>
            <a:bgClr>
              <a:schemeClr val="bg1"/>
            </a:bgClr>
          </a:patt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zh-CN" altLang="en-US" sz="1100" b="1" dirty="0">
              <a:solidFill>
                <a:schemeClr val="tx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652925" y="4750864"/>
            <a:ext cx="115324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Segments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467544" y="4507501"/>
            <a:ext cx="37387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>
                <a:solidFill>
                  <a:srgbClr val="0070C0"/>
                </a:solidFill>
              </a:rPr>
              <a:t>#1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1416537" y="4507501"/>
            <a:ext cx="628649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>
                <a:solidFill>
                  <a:srgbClr val="0070C0"/>
                </a:solidFill>
              </a:rPr>
              <a:t>#526</a:t>
            </a:r>
            <a:endParaRPr lang="zh-CN" altLang="en-US" sz="1200" dirty="0">
              <a:solidFill>
                <a:srgbClr val="0070C0"/>
              </a:solidFill>
            </a:endParaRPr>
          </a:p>
        </p:txBody>
      </p:sp>
      <p:grpSp>
        <p:nvGrpSpPr>
          <p:cNvPr id="62" name="组合 61"/>
          <p:cNvGrpSpPr/>
          <p:nvPr/>
        </p:nvGrpSpPr>
        <p:grpSpPr>
          <a:xfrm>
            <a:off x="1350095" y="3363838"/>
            <a:ext cx="1008112" cy="468000"/>
            <a:chOff x="2933818" y="2175758"/>
            <a:chExt cx="1008112" cy="468000"/>
          </a:xfrm>
        </p:grpSpPr>
        <p:cxnSp>
          <p:nvCxnSpPr>
            <p:cNvPr id="63" name="直接连接符 62"/>
            <p:cNvCxnSpPr/>
            <p:nvPr/>
          </p:nvCxnSpPr>
          <p:spPr>
            <a:xfrm>
              <a:off x="3005826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直接连接符 63"/>
            <p:cNvCxnSpPr/>
            <p:nvPr/>
          </p:nvCxnSpPr>
          <p:spPr>
            <a:xfrm>
              <a:off x="3867344" y="2175758"/>
              <a:ext cx="0" cy="4680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连接符 64"/>
            <p:cNvCxnSpPr/>
            <p:nvPr/>
          </p:nvCxnSpPr>
          <p:spPr>
            <a:xfrm>
              <a:off x="2933818" y="2303688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/>
            <p:cNvCxnSpPr/>
            <p:nvPr/>
          </p:nvCxnSpPr>
          <p:spPr>
            <a:xfrm>
              <a:off x="2933818" y="2395441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直接连接符 66"/>
            <p:cNvCxnSpPr/>
            <p:nvPr/>
          </p:nvCxnSpPr>
          <p:spPr>
            <a:xfrm>
              <a:off x="3797914" y="2311122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连接符 67"/>
            <p:cNvCxnSpPr/>
            <p:nvPr/>
          </p:nvCxnSpPr>
          <p:spPr>
            <a:xfrm>
              <a:off x="3797914" y="2402875"/>
              <a:ext cx="144016" cy="14401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9" name="文本框 68"/>
          <p:cNvSpPr txBox="1"/>
          <p:nvPr/>
        </p:nvSpPr>
        <p:spPr>
          <a:xfrm>
            <a:off x="1270442" y="3400859"/>
            <a:ext cx="1153244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1200" dirty="0">
                <a:solidFill>
                  <a:srgbClr val="FF0000"/>
                </a:solidFill>
              </a:rPr>
              <a:t>Message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2819291" y="3426893"/>
            <a:ext cx="84739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……</a:t>
            </a:r>
            <a:endParaRPr lang="zh-CN" altLang="en-US" sz="1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2719017" y="4507501"/>
            <a:ext cx="628649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dirty="0">
                <a:solidFill>
                  <a:srgbClr val="FF0000"/>
                </a:solidFill>
              </a:rPr>
              <a:t>#?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82087" y="3835497"/>
            <a:ext cx="1169037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b="1" dirty="0"/>
              <a:t>Len==525Bytes</a:t>
            </a:r>
            <a:endParaRPr lang="zh-CN" altLang="en-US" sz="900" b="1" dirty="0"/>
          </a:p>
        </p:txBody>
      </p:sp>
      <p:pic>
        <p:nvPicPr>
          <p:cNvPr id="80" name="图片 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8502" y="3055470"/>
            <a:ext cx="4734209" cy="1867829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81" name="文本框 80"/>
          <p:cNvSpPr txBox="1"/>
          <p:nvPr/>
        </p:nvSpPr>
        <p:spPr>
          <a:xfrm>
            <a:off x="1650251" y="3835497"/>
            <a:ext cx="1169037" cy="30777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zh-CN" sz="900" b="1" dirty="0"/>
              <a:t>Len==1440Bytes</a:t>
            </a:r>
            <a:endParaRPr lang="zh-CN" altLang="en-US" sz="900" b="1" dirty="0"/>
          </a:p>
        </p:txBody>
      </p:sp>
      <p:cxnSp>
        <p:nvCxnSpPr>
          <p:cNvPr id="83" name="直接箭头连接符 82"/>
          <p:cNvCxnSpPr>
            <a:endCxn id="85" idx="1"/>
          </p:cNvCxnSpPr>
          <p:nvPr/>
        </p:nvCxnSpPr>
        <p:spPr>
          <a:xfrm flipV="1">
            <a:off x="3155979" y="1444883"/>
            <a:ext cx="1055981" cy="406788"/>
          </a:xfrm>
          <a:prstGeom prst="straightConnector1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/>
          <p:cNvSpPr txBox="1"/>
          <p:nvPr/>
        </p:nvSpPr>
        <p:spPr>
          <a:xfrm>
            <a:off x="4211960" y="1275606"/>
            <a:ext cx="4608512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连接理论上能传输的最大字节数是多少？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序号空间：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[0~2</a:t>
            </a:r>
            <a:r>
              <a:rPr lang="en-US" altLang="zh-CN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序号规则：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ACK#(0) == 0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ACK#(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==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Sq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) </a:t>
            </a:r>
            <a:r>
              <a:rPr lang="en-US" altLang="zh-CN" dirty="0"/>
              <a:t>+ </a:t>
            </a:r>
            <a:r>
              <a:rPr lang="en-US" altLang="zh-CN" dirty="0" err="1"/>
              <a:t>L</a:t>
            </a:r>
            <a:r>
              <a:rPr lang="en-US" altLang="zh-CN" baseline="-25000" dirty="0" err="1"/>
              <a:t>segment</a:t>
            </a:r>
            <a:r>
              <a:rPr lang="en-US" altLang="zh-CN" baseline="-25000" dirty="0"/>
              <a:t>(</a:t>
            </a:r>
            <a:r>
              <a:rPr lang="en-US" altLang="zh-CN" baseline="-25000" dirty="0" err="1"/>
              <a:t>i</a:t>
            </a:r>
            <a:r>
              <a:rPr lang="en-US" altLang="zh-CN" baseline="-25000" dirty="0"/>
              <a:t>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报文段长度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期望的下一个报文段</a:t>
            </a:r>
            <a:r>
              <a:rPr lang="zh-CN" altLang="en-US" dirty="0">
                <a:solidFill>
                  <a:srgbClr val="FF0000"/>
                </a:solidFill>
              </a:rPr>
              <a:t>序号</a:t>
            </a:r>
            <a:endParaRPr lang="en-US" altLang="zh-CN" dirty="0">
              <a:solidFill>
                <a:srgbClr val="FF0000"/>
              </a:solidFill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Line 3"/>
          <p:cNvSpPr>
            <a:spLocks noChangeShapeType="1"/>
          </p:cNvSpPr>
          <p:nvPr/>
        </p:nvSpPr>
        <p:spPr bwMode="auto">
          <a:xfrm>
            <a:off x="5799834" y="3714351"/>
            <a:ext cx="1943100" cy="379810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2" name="Line 4"/>
          <p:cNvSpPr>
            <a:spLocks noChangeShapeType="1"/>
          </p:cNvSpPr>
          <p:nvPr/>
        </p:nvSpPr>
        <p:spPr bwMode="auto">
          <a:xfrm>
            <a:off x="5810550" y="2387994"/>
            <a:ext cx="1939528" cy="42862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3" name="Text Box 7"/>
          <p:cNvSpPr txBox="1">
            <a:spLocks noChangeArrowheads="1"/>
          </p:cNvSpPr>
          <p:nvPr/>
        </p:nvSpPr>
        <p:spPr bwMode="auto">
          <a:xfrm>
            <a:off x="4632113" y="2271148"/>
            <a:ext cx="1257019" cy="25853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zh-CN" sz="1200" dirty="0"/>
              <a:t>User types </a:t>
            </a: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endParaRPr lang="en-US" altLang="zh-CN" sz="750" dirty="0"/>
          </a:p>
        </p:txBody>
      </p:sp>
      <p:sp>
        <p:nvSpPr>
          <p:cNvPr id="14" name="Text Box 8"/>
          <p:cNvSpPr txBox="1">
            <a:spLocks noChangeArrowheads="1"/>
          </p:cNvSpPr>
          <p:nvPr/>
        </p:nvSpPr>
        <p:spPr bwMode="auto">
          <a:xfrm>
            <a:off x="4901888" y="3328570"/>
            <a:ext cx="867545" cy="75713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r">
              <a:lnSpc>
                <a:spcPct val="90000"/>
              </a:lnSpc>
            </a:pPr>
            <a:r>
              <a:rPr lang="en-US" altLang="zh-CN" sz="1200" dirty="0"/>
              <a:t>host ACKs</a:t>
            </a:r>
            <a:endParaRPr lang="en-US" altLang="zh-CN" sz="1200" dirty="0"/>
          </a:p>
          <a:p>
            <a:pPr algn="r">
              <a:lnSpc>
                <a:spcPct val="90000"/>
              </a:lnSpc>
            </a:pPr>
            <a:r>
              <a:rPr lang="en-US" altLang="zh-CN" sz="1200" dirty="0"/>
              <a:t>receipt </a:t>
            </a:r>
            <a:endParaRPr lang="en-US" altLang="zh-CN" sz="1200" dirty="0"/>
          </a:p>
          <a:p>
            <a:pPr algn="r">
              <a:lnSpc>
                <a:spcPct val="90000"/>
              </a:lnSpc>
            </a:pPr>
            <a:r>
              <a:rPr lang="en-US" altLang="zh-CN" sz="1200" dirty="0"/>
              <a:t>of echoed</a:t>
            </a:r>
            <a:endParaRPr lang="en-US" altLang="zh-CN" sz="1200" dirty="0"/>
          </a:p>
          <a:p>
            <a:pPr algn="r">
              <a:lnSpc>
                <a:spcPct val="90000"/>
              </a:lnSpc>
            </a:pP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endParaRPr lang="en-US" altLang="zh-CN" sz="750" dirty="0"/>
          </a:p>
        </p:txBody>
      </p:sp>
      <p:sp>
        <p:nvSpPr>
          <p:cNvPr id="15" name="Text Box 9"/>
          <p:cNvSpPr txBox="1">
            <a:spLocks noChangeArrowheads="1"/>
          </p:cNvSpPr>
          <p:nvPr/>
        </p:nvSpPr>
        <p:spPr bwMode="auto">
          <a:xfrm>
            <a:off x="7773523" y="2583486"/>
            <a:ext cx="1306758" cy="64633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/>
            <a:r>
              <a:rPr lang="en-US" altLang="zh-CN" sz="1200" dirty="0"/>
              <a:t>host ACKs</a:t>
            </a:r>
            <a:endParaRPr lang="en-US" altLang="zh-CN" sz="1200" dirty="0"/>
          </a:p>
          <a:p>
            <a:pPr algn="l"/>
            <a:r>
              <a:rPr lang="en-US" altLang="zh-CN" sz="1200" dirty="0"/>
              <a:t>receipt of </a:t>
            </a: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r>
              <a:rPr lang="en-US" altLang="ja-JP" sz="1200" dirty="0"/>
              <a:t>, echoes </a:t>
            </a:r>
            <a:r>
              <a:rPr lang="en-US" altLang="zh-CN" sz="1200" dirty="0"/>
              <a:t>back </a:t>
            </a:r>
            <a:r>
              <a:rPr lang="ja-JP" altLang="en-US" sz="1200" dirty="0"/>
              <a:t>‘</a:t>
            </a:r>
            <a:r>
              <a:rPr lang="en-US" altLang="ja-JP" sz="1200" dirty="0"/>
              <a:t>C</a:t>
            </a:r>
            <a:r>
              <a:rPr lang="ja-JP" altLang="en-US" sz="1200" dirty="0"/>
              <a:t>’</a:t>
            </a:r>
            <a:endParaRPr lang="en-US" altLang="zh-CN" sz="1200" dirty="0"/>
          </a:p>
        </p:txBody>
      </p:sp>
      <p:sp>
        <p:nvSpPr>
          <p:cNvPr id="16" name="Line 10"/>
          <p:cNvSpPr>
            <a:spLocks noChangeShapeType="1"/>
          </p:cNvSpPr>
          <p:nvPr/>
        </p:nvSpPr>
        <p:spPr bwMode="auto">
          <a:xfrm flipH="1">
            <a:off x="5803407" y="2967829"/>
            <a:ext cx="1915715" cy="600075"/>
          </a:xfrm>
          <a:prstGeom prst="line">
            <a:avLst/>
          </a:prstGeom>
          <a:noFill/>
          <a:ln w="28575">
            <a:solidFill>
              <a:schemeClr val="accent2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7" name="Text Box 11"/>
          <p:cNvSpPr txBox="1">
            <a:spLocks noChangeArrowheads="1"/>
          </p:cNvSpPr>
          <p:nvPr/>
        </p:nvSpPr>
        <p:spPr bwMode="auto">
          <a:xfrm>
            <a:off x="5948663" y="4320379"/>
            <a:ext cx="1872820" cy="30008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简单的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telnet</a:t>
            </a:r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交互场景</a:t>
            </a:r>
            <a:endParaRPr lang="en-US" altLang="zh-CN" sz="7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Text Box 13"/>
          <p:cNvSpPr txBox="1">
            <a:spLocks noChangeArrowheads="1"/>
          </p:cNvSpPr>
          <p:nvPr/>
        </p:nvSpPr>
        <p:spPr bwMode="auto">
          <a:xfrm>
            <a:off x="7441706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B</a:t>
            </a:r>
            <a:endParaRPr lang="en-US" sz="1200"/>
          </a:p>
        </p:txBody>
      </p:sp>
      <p:sp>
        <p:nvSpPr>
          <p:cNvPr id="19" name="Text Box 17"/>
          <p:cNvSpPr txBox="1">
            <a:spLocks noChangeArrowheads="1"/>
          </p:cNvSpPr>
          <p:nvPr/>
        </p:nvSpPr>
        <p:spPr bwMode="auto">
          <a:xfrm>
            <a:off x="5514085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1" name="Text Box 19"/>
          <p:cNvSpPr txBox="1">
            <a:spLocks noChangeArrowheads="1"/>
          </p:cNvSpPr>
          <p:nvPr/>
        </p:nvSpPr>
        <p:spPr bwMode="auto">
          <a:xfrm rot="731052">
            <a:off x="5896771" y="2363750"/>
            <a:ext cx="1952779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en-US" altLang="zh-CN" sz="1050" dirty="0"/>
              <a:t>Seq=42, ACK=79, data = </a:t>
            </a:r>
            <a:r>
              <a:rPr lang="ja-JP" altLang="en-US" sz="1050" dirty="0"/>
              <a:t>‘</a:t>
            </a:r>
            <a:r>
              <a:rPr lang="en-US" altLang="ja-JP" sz="1050" dirty="0"/>
              <a:t>C</a:t>
            </a:r>
            <a:r>
              <a:rPr lang="ja-JP" altLang="en-US" sz="1050" dirty="0"/>
              <a:t>’</a:t>
            </a:r>
            <a:endParaRPr lang="en-US" altLang="zh-CN" sz="1050" dirty="0"/>
          </a:p>
        </p:txBody>
      </p:sp>
      <p:sp>
        <p:nvSpPr>
          <p:cNvPr id="23" name="Text Box 21"/>
          <p:cNvSpPr txBox="1">
            <a:spLocks noChangeArrowheads="1"/>
          </p:cNvSpPr>
          <p:nvPr/>
        </p:nvSpPr>
        <p:spPr bwMode="auto">
          <a:xfrm rot="20526830">
            <a:off x="5795226" y="3004125"/>
            <a:ext cx="1955985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en-US" altLang="zh-CN" sz="1050" dirty="0">
                <a:latin typeface="Arial" panose="020B0604020202020204" pitchFamily="34" charset="0"/>
              </a:rPr>
              <a:t>Seq=79, ACK=43, data = </a:t>
            </a:r>
            <a:r>
              <a:rPr lang="ja-JP" altLang="en-US" sz="1050" dirty="0">
                <a:latin typeface="Arial" panose="020B0604020202020204" pitchFamily="34" charset="0"/>
              </a:rPr>
              <a:t>‘</a:t>
            </a:r>
            <a:r>
              <a:rPr lang="en-US" altLang="ja-JP" sz="1050" dirty="0">
                <a:latin typeface="Arial" panose="020B0604020202020204" pitchFamily="34" charset="0"/>
              </a:rPr>
              <a:t>C</a:t>
            </a:r>
            <a:r>
              <a:rPr lang="ja-JP" altLang="en-US" sz="1050" dirty="0">
                <a:latin typeface="Arial" panose="020B0604020202020204" pitchFamily="34" charset="0"/>
              </a:rPr>
              <a:t>’</a:t>
            </a:r>
            <a:endParaRPr lang="en-US" altLang="zh-CN" sz="750" dirty="0">
              <a:latin typeface="Times New Roman" panose="02020603050405020304" pitchFamily="18" charset="0"/>
            </a:endParaRPr>
          </a:p>
        </p:txBody>
      </p:sp>
      <p:sp>
        <p:nvSpPr>
          <p:cNvPr id="25" name="Text Box 23"/>
          <p:cNvSpPr txBox="1">
            <a:spLocks noChangeArrowheads="1"/>
          </p:cNvSpPr>
          <p:nvPr/>
        </p:nvSpPr>
        <p:spPr bwMode="auto">
          <a:xfrm rot="621452">
            <a:off x="6195486" y="3667309"/>
            <a:ext cx="1234633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/>
            <a:r>
              <a:rPr lang="en-US" altLang="zh-CN" sz="1050" dirty="0">
                <a:latin typeface="Arial" panose="020B0604020202020204" pitchFamily="34" charset="0"/>
              </a:rPr>
              <a:t>Seq=43, ACK=80</a:t>
            </a:r>
            <a:endParaRPr lang="en-US" altLang="zh-CN" sz="750" dirty="0">
              <a:latin typeface="Times New Roman" panose="02020603050405020304" pitchFamily="18" charset="0"/>
            </a:endParaRPr>
          </a:p>
        </p:txBody>
      </p:sp>
      <p:sp>
        <p:nvSpPr>
          <p:cNvPr id="26" name="Line 24"/>
          <p:cNvSpPr>
            <a:spLocks noChangeShapeType="1"/>
          </p:cNvSpPr>
          <p:nvPr/>
        </p:nvSpPr>
        <p:spPr bwMode="auto">
          <a:xfrm>
            <a:off x="5793881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7" name="Line 25"/>
          <p:cNvSpPr>
            <a:spLocks noChangeShapeType="1"/>
          </p:cNvSpPr>
          <p:nvPr/>
        </p:nvSpPr>
        <p:spPr bwMode="auto">
          <a:xfrm>
            <a:off x="7790559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8" name="Group 27"/>
          <p:cNvGrpSpPr/>
          <p:nvPr/>
        </p:nvGrpSpPr>
        <p:grpSpPr bwMode="auto">
          <a:xfrm>
            <a:off x="5412881" y="1591467"/>
            <a:ext cx="566738" cy="586978"/>
            <a:chOff x="-44" y="1473"/>
            <a:chExt cx="981" cy="1105"/>
          </a:xfrm>
        </p:grpSpPr>
        <p:pic>
          <p:nvPicPr>
            <p:cNvPr id="2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1" name="Group 30"/>
          <p:cNvGrpSpPr/>
          <p:nvPr/>
        </p:nvGrpSpPr>
        <p:grpSpPr bwMode="auto">
          <a:xfrm flipH="1">
            <a:off x="7559578" y="1621232"/>
            <a:ext cx="591741" cy="646510"/>
            <a:chOff x="-44" y="1473"/>
            <a:chExt cx="981" cy="1105"/>
          </a:xfrm>
        </p:grpSpPr>
        <p:pic>
          <p:nvPicPr>
            <p:cNvPr id="32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cxnSp>
        <p:nvCxnSpPr>
          <p:cNvPr id="34" name="直接箭头连接符 33"/>
          <p:cNvCxnSpPr/>
          <p:nvPr/>
        </p:nvCxnSpPr>
        <p:spPr>
          <a:xfrm>
            <a:off x="6322896" y="2490708"/>
            <a:ext cx="318582" cy="6021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>
            <a:off x="6449137" y="3410919"/>
            <a:ext cx="727333" cy="36813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38" name="图片 3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646574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4" name="arrow.wav"/>
          </p:stSnd>
        </p:sndAc>
      </p:transition>
    </mc:Choice>
    <mc:Fallback>
      <p:transition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7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实验为例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4635687" y="970794"/>
            <a:ext cx="566738" cy="586978"/>
            <a:chOff x="-44" y="1473"/>
            <a:chExt cx="981" cy="1105"/>
          </a:xfrm>
        </p:grpSpPr>
        <p:pic>
          <p:nvPicPr>
            <p:cNvPr id="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/>
            </a:p>
          </p:txBody>
        </p:sp>
      </p:grpSp>
      <p:grpSp>
        <p:nvGrpSpPr>
          <p:cNvPr id="11" name="Group 43"/>
          <p:cNvGrpSpPr/>
          <p:nvPr/>
        </p:nvGrpSpPr>
        <p:grpSpPr bwMode="auto">
          <a:xfrm>
            <a:off x="7090172" y="940595"/>
            <a:ext cx="317897" cy="513160"/>
            <a:chOff x="4140" y="429"/>
            <a:chExt cx="1425" cy="2396"/>
          </a:xfrm>
        </p:grpSpPr>
        <p:sp>
          <p:nvSpPr>
            <p:cNvPr id="12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3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14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5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7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3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8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19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41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0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grpSp>
          <p:nvGrpSpPr>
            <p:cNvPr id="22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9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3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24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  <p:sp>
            <p:nvSpPr>
              <p:cNvPr id="37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6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7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28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29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0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1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3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4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  <p:sp>
          <p:nvSpPr>
            <p:cNvPr id="35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2097504" y="2072292"/>
            <a:ext cx="4840981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350" u="sng" dirty="0">
                <a:solidFill>
                  <a:srgbClr val="0000FF"/>
                </a:solidFill>
                <a:latin typeface="Times New Roman" panose="02020603050405020304" pitchFamily="18" charset="0"/>
              </a:rPr>
              <a:t>http://gaia.cs.umass.edu/wireshark-labs/HTTP-wireshark-file1.html</a:t>
            </a:r>
            <a:endParaRPr lang="zh-CN" altLang="en-US" sz="1350" u="sng" dirty="0"/>
          </a:p>
        </p:txBody>
      </p:sp>
      <p:cxnSp>
        <p:nvCxnSpPr>
          <p:cNvPr id="45" name="直接箭头连接符 44"/>
          <p:cNvCxnSpPr/>
          <p:nvPr/>
        </p:nvCxnSpPr>
        <p:spPr>
          <a:xfrm>
            <a:off x="5328084" y="1240438"/>
            <a:ext cx="1674186" cy="0"/>
          </a:xfrm>
          <a:prstGeom prst="straightConnector1">
            <a:avLst/>
          </a:prstGeom>
          <a:ln w="57150">
            <a:solidFill>
              <a:srgbClr val="0066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矩形 46"/>
          <p:cNvSpPr/>
          <p:nvPr/>
        </p:nvSpPr>
        <p:spPr>
          <a:xfrm>
            <a:off x="4517995" y="1523637"/>
            <a:ext cx="1143806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+mj-lt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+mj-lt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40528" y="1523637"/>
            <a:ext cx="1279844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IP: 128.119.245.12</a:t>
            </a:r>
            <a:endParaRPr lang="en-US" altLang="zh-CN" sz="1050" dirty="0">
              <a:solidFill>
                <a:srgbClr val="0066CC"/>
              </a:solidFill>
              <a:latin typeface="+mj-lt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Port: 80</a:t>
            </a:r>
            <a:endParaRPr lang="zh-CN" altLang="en-US" sz="1050" dirty="0">
              <a:solidFill>
                <a:srgbClr val="0066CC"/>
              </a:solidFill>
              <a:latin typeface="+mj-lt"/>
            </a:endParaRPr>
          </a:p>
        </p:txBody>
      </p: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77" y="2398476"/>
            <a:ext cx="8984846" cy="171792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4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0066CC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的序号、确认号</a:t>
            </a:r>
            <a:endParaRPr lang="en-US" altLang="zh-CN" dirty="0">
              <a:solidFill>
                <a:srgbClr val="0066CC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en-US" altLang="zh-CN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dirty="0">
                <a:solidFill>
                  <a:srgbClr val="C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实验为例</a:t>
            </a:r>
            <a:endParaRPr lang="en-US" altLang="zh-CN" dirty="0">
              <a:solidFill>
                <a:srgbClr val="C0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4635687" y="970794"/>
            <a:ext cx="566738" cy="586978"/>
            <a:chOff x="-44" y="1473"/>
            <a:chExt cx="981" cy="1105"/>
          </a:xfrm>
        </p:grpSpPr>
        <p:pic>
          <p:nvPicPr>
            <p:cNvPr id="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43"/>
          <p:cNvGrpSpPr/>
          <p:nvPr/>
        </p:nvGrpSpPr>
        <p:grpSpPr bwMode="auto">
          <a:xfrm>
            <a:off x="7090172" y="940595"/>
            <a:ext cx="317897" cy="513160"/>
            <a:chOff x="4140" y="429"/>
            <a:chExt cx="1425" cy="2396"/>
          </a:xfrm>
        </p:grpSpPr>
        <p:sp>
          <p:nvSpPr>
            <p:cNvPr id="12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0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4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4517994" y="1523637"/>
            <a:ext cx="17478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6640527" y="1523637"/>
            <a:ext cx="174789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128.119.245.12</a:t>
            </a:r>
            <a:endParaRPr lang="en-US" altLang="zh-CN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80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4680012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7418387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4680012" y="2024884"/>
            <a:ext cx="2738375" cy="168824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364098" y="1969303"/>
            <a:ext cx="131969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[SYN] Seq=0,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4680012" y="2224882"/>
            <a:ext cx="2738375" cy="295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163089" y="2226287"/>
            <a:ext cx="194135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Seq=0, Ack=1,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4734019" y="2563028"/>
            <a:ext cx="2670035" cy="231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5163089" y="2544829"/>
            <a:ext cx="194135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4680012" y="2725047"/>
            <a:ext cx="2738375" cy="2986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5127395" y="2749946"/>
            <a:ext cx="19627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len=300</a:t>
            </a:r>
            <a:endParaRPr lang="zh-CN" altLang="en-US" sz="9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4680012" y="3049249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5127394" y="3086679"/>
            <a:ext cx="1962743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4680012" y="3261488"/>
            <a:ext cx="2738375" cy="26995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022545" y="3305947"/>
            <a:ext cx="21724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len=489</a:t>
            </a:r>
            <a:endParaRPr lang="zh-CN" altLang="en-US" sz="9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4707015" y="3568876"/>
            <a:ext cx="2711372" cy="23267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058875" y="3583711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>
            <a:off x="4680012" y="4132304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4939744" y="4169734"/>
            <a:ext cx="2296929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[FIN,ACK] Seq=490,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>
            <a:off x="4680012" y="4472269"/>
            <a:ext cx="2738375" cy="246726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5058875" y="4501158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左大括号 89"/>
          <p:cNvSpPr/>
          <p:nvPr/>
        </p:nvSpPr>
        <p:spPr>
          <a:xfrm>
            <a:off x="4355976" y="1969303"/>
            <a:ext cx="54006" cy="593726"/>
          </a:xfrm>
          <a:prstGeom prst="leftBrac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014113" y="2139208"/>
            <a:ext cx="1323115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三次握手建立连接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箭头连接符 92"/>
          <p:cNvCxnSpPr/>
          <p:nvPr/>
        </p:nvCxnSpPr>
        <p:spPr>
          <a:xfrm flipH="1">
            <a:off x="4247965" y="2749946"/>
            <a:ext cx="383567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329862" y="2620110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zh-CN" altLang="en-US" sz="10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H="1">
            <a:off x="4247965" y="3531445"/>
            <a:ext cx="383567" cy="0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3329862" y="3409821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endParaRPr lang="zh-CN" altLang="en-US" sz="105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266176" y="4371950"/>
            <a:ext cx="1143038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4247965" y="4481196"/>
            <a:ext cx="383567" cy="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02" y="3132350"/>
            <a:ext cx="1990464" cy="1320206"/>
          </a:xfrm>
          <a:prstGeom prst="rect">
            <a:avLst/>
          </a:prstGeom>
          <a:effectLst>
            <a:glow rad="228600">
              <a:schemeClr val="accent4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的确认和重传机制</a:t>
            </a:r>
            <a:endParaRPr lang="en-US" altLang="zh-CN" sz="1650" dirty="0"/>
          </a:p>
          <a:p>
            <a:pPr lvl="2"/>
            <a:r>
              <a:rPr lang="zh-CN" altLang="en-US" sz="1600" dirty="0"/>
              <a:t>流水线协议</a:t>
            </a:r>
            <a:endParaRPr lang="en-US" altLang="zh-CN" sz="1600" dirty="0"/>
          </a:p>
          <a:p>
            <a:pPr lvl="2"/>
            <a:r>
              <a:rPr lang="en-US" altLang="zh-CN" sz="1600" dirty="0">
                <a:solidFill>
                  <a:srgbClr val="FF0000"/>
                </a:solidFill>
              </a:rPr>
              <a:t>GBN</a:t>
            </a:r>
            <a:r>
              <a:rPr lang="zh-CN" altLang="en-US" sz="1600" dirty="0">
                <a:solidFill>
                  <a:srgbClr val="FF0000"/>
                </a:solidFill>
              </a:rPr>
              <a:t>和</a:t>
            </a:r>
            <a:r>
              <a:rPr lang="en-US" altLang="zh-CN" sz="1600" dirty="0">
                <a:solidFill>
                  <a:srgbClr val="FF0000"/>
                </a:solidFill>
              </a:rPr>
              <a:t>SR</a:t>
            </a:r>
            <a:r>
              <a:rPr lang="zh-CN" altLang="en-US" sz="1600" dirty="0">
                <a:solidFill>
                  <a:srgbClr val="FF0000"/>
                </a:solidFill>
              </a:rPr>
              <a:t>的混合体</a:t>
            </a:r>
            <a:endParaRPr lang="en-US" altLang="zh-CN" sz="1600" dirty="0">
              <a:solidFill>
                <a:srgbClr val="FF0000"/>
              </a:solidFill>
            </a:endParaRPr>
          </a:p>
          <a:p>
            <a:pPr lvl="3"/>
            <a:r>
              <a:rPr lang="zh-CN" altLang="en-US" sz="1400" dirty="0">
                <a:solidFill>
                  <a:srgbClr val="FF0000"/>
                </a:solidFill>
              </a:rPr>
              <a:t>接收方的确认号可能是</a:t>
            </a:r>
            <a:r>
              <a:rPr lang="zh-CN" altLang="en-US" sz="1450" dirty="0">
                <a:solidFill>
                  <a:srgbClr val="FF0000"/>
                </a:solidFill>
                <a:sym typeface="+mn-ea"/>
              </a:rPr>
              <a:t>增长性</a:t>
            </a:r>
            <a:r>
              <a:rPr lang="zh-CN" altLang="en-US" sz="1450" dirty="0">
                <a:solidFill>
                  <a:srgbClr val="FF0000"/>
                </a:solidFill>
              </a:rPr>
              <a:t>的确认（目前采用的主要策略）</a:t>
            </a:r>
            <a:endParaRPr lang="en-US" altLang="zh-CN" sz="1450" dirty="0">
              <a:solidFill>
                <a:srgbClr val="FF0000"/>
              </a:solidFill>
            </a:endParaRPr>
          </a:p>
          <a:p>
            <a:pPr lvl="4"/>
            <a:r>
              <a:rPr lang="zh-CN" altLang="en-US" sz="1450" dirty="0">
                <a:solidFill>
                  <a:srgbClr val="FF0000"/>
                </a:solidFill>
              </a:rPr>
              <a:t>可以跳跃，但不回退</a:t>
            </a:r>
            <a:endParaRPr lang="en-US" altLang="zh-CN" sz="1450" dirty="0">
              <a:solidFill>
                <a:srgbClr val="FF0000"/>
              </a:solidFill>
            </a:endParaRPr>
          </a:p>
          <a:p>
            <a:pPr lvl="3"/>
            <a:r>
              <a:rPr lang="zh-CN" altLang="en-US" sz="1450" dirty="0">
                <a:solidFill>
                  <a:srgbClr val="008000"/>
                </a:solidFill>
              </a:rPr>
              <a:t>选择性的确认（</a:t>
            </a:r>
            <a:r>
              <a:rPr lang="en-US" altLang="zh-CN" sz="1450" dirty="0">
                <a:solidFill>
                  <a:srgbClr val="008000"/>
                </a:solidFill>
              </a:rPr>
              <a:t>TCP</a:t>
            </a:r>
            <a:r>
              <a:rPr lang="zh-CN" altLang="en-US" sz="1450" dirty="0">
                <a:solidFill>
                  <a:srgbClr val="008000"/>
                </a:solidFill>
              </a:rPr>
              <a:t>的新建议，更似选择重传）</a:t>
            </a:r>
            <a:endParaRPr lang="en-US" altLang="zh-CN" sz="1450" dirty="0">
              <a:solidFill>
                <a:srgbClr val="008000"/>
              </a:solidFill>
            </a:endParaRPr>
          </a:p>
          <a:p>
            <a:pPr lvl="2"/>
            <a:r>
              <a:rPr lang="zh-CN" altLang="en-US" sz="1550" dirty="0"/>
              <a:t>此外，接收端也有定时器！</a:t>
            </a:r>
            <a:endParaRPr lang="en-US" altLang="zh-CN" sz="1550" dirty="0"/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4955601" y="1737812"/>
            <a:ext cx="122800" cy="303751"/>
            <a:chOff x="6732240" y="847368"/>
            <a:chExt cx="144016" cy="3562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8" name="矩形 7"/>
            <p:cNvSpPr/>
            <p:nvPr/>
          </p:nvSpPr>
          <p:spPr>
            <a:xfrm>
              <a:off x="6732240" y="847368"/>
              <a:ext cx="144016" cy="144016"/>
            </a:xfrm>
            <a:prstGeom prst="rect">
              <a:avLst/>
            </a:prstGeom>
            <a:solidFill>
              <a:srgbClr val="80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矩形 8"/>
            <p:cNvSpPr/>
            <p:nvPr/>
          </p:nvSpPr>
          <p:spPr>
            <a:xfrm>
              <a:off x="6732240" y="993934"/>
              <a:ext cx="144016" cy="656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6732240" y="1059582"/>
              <a:ext cx="144016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823919" y="1310957"/>
            <a:ext cx="122800" cy="303751"/>
            <a:chOff x="6732240" y="847368"/>
            <a:chExt cx="144016" cy="356230"/>
          </a:xfrm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grpSpPr>
        <p:sp>
          <p:nvSpPr>
            <p:cNvPr id="12" name="矩形 11"/>
            <p:cNvSpPr/>
            <p:nvPr/>
          </p:nvSpPr>
          <p:spPr>
            <a:xfrm>
              <a:off x="6732240" y="847368"/>
              <a:ext cx="144016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/>
            <p:cNvSpPr/>
            <p:nvPr/>
          </p:nvSpPr>
          <p:spPr>
            <a:xfrm>
              <a:off x="6732240" y="993934"/>
              <a:ext cx="144016" cy="65648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/>
          </p:nvSpPr>
          <p:spPr>
            <a:xfrm>
              <a:off x="6732240" y="1059582"/>
              <a:ext cx="144016" cy="144016"/>
            </a:xfrm>
            <a:prstGeom prst="rect">
              <a:avLst/>
            </a:prstGeom>
            <a:solidFill>
              <a:srgbClr val="800000"/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5" name="任意多边形: 形状 14"/>
          <p:cNvSpPr/>
          <p:nvPr/>
        </p:nvSpPr>
        <p:spPr>
          <a:xfrm>
            <a:off x="5105939" y="1199883"/>
            <a:ext cx="2646227" cy="531642"/>
          </a:xfrm>
          <a:custGeom>
            <a:avLst/>
            <a:gdLst>
              <a:gd name="connsiteX0" fmla="*/ 0 w 3103418"/>
              <a:gd name="connsiteY0" fmla="*/ 623494 h 623494"/>
              <a:gd name="connsiteX1" fmla="*/ 1392381 w 3103418"/>
              <a:gd name="connsiteY1" fmla="*/ 13894 h 623494"/>
              <a:gd name="connsiteX2" fmla="*/ 3103418 w 3103418"/>
              <a:gd name="connsiteY2" fmla="*/ 256348 h 62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3418" h="623494">
                <a:moveTo>
                  <a:pt x="0" y="623494"/>
                </a:moveTo>
                <a:cubicBezTo>
                  <a:pt x="437572" y="349289"/>
                  <a:pt x="875145" y="75085"/>
                  <a:pt x="1392381" y="13894"/>
                </a:cubicBezTo>
                <a:cubicBezTo>
                  <a:pt x="1909617" y="-47297"/>
                  <a:pt x="2506517" y="104525"/>
                  <a:pt x="3103418" y="256348"/>
                </a:cubicBezTo>
              </a:path>
            </a:pathLst>
          </a:custGeom>
          <a:noFill/>
          <a:ln w="25400">
            <a:solidFill>
              <a:srgbClr val="FF0000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任意多边形: 形状 15"/>
          <p:cNvSpPr/>
          <p:nvPr/>
        </p:nvSpPr>
        <p:spPr>
          <a:xfrm rot="10800000">
            <a:off x="5108256" y="1715453"/>
            <a:ext cx="2646227" cy="531642"/>
          </a:xfrm>
          <a:custGeom>
            <a:avLst/>
            <a:gdLst>
              <a:gd name="connsiteX0" fmla="*/ 0 w 3103418"/>
              <a:gd name="connsiteY0" fmla="*/ 623494 h 623494"/>
              <a:gd name="connsiteX1" fmla="*/ 1392381 w 3103418"/>
              <a:gd name="connsiteY1" fmla="*/ 13894 h 623494"/>
              <a:gd name="connsiteX2" fmla="*/ 3103418 w 3103418"/>
              <a:gd name="connsiteY2" fmla="*/ 256348 h 62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03418" h="623494">
                <a:moveTo>
                  <a:pt x="0" y="623494"/>
                </a:moveTo>
                <a:cubicBezTo>
                  <a:pt x="437572" y="349289"/>
                  <a:pt x="875145" y="75085"/>
                  <a:pt x="1392381" y="13894"/>
                </a:cubicBezTo>
                <a:cubicBezTo>
                  <a:pt x="1909617" y="-47297"/>
                  <a:pt x="2506517" y="104525"/>
                  <a:pt x="3103418" y="256348"/>
                </a:cubicBezTo>
              </a:path>
            </a:pathLst>
          </a:custGeom>
          <a:noFill/>
          <a:ln w="25400">
            <a:solidFill>
              <a:srgbClr val="0000FF"/>
            </a:solidFill>
            <a:tailEnd type="stealth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6157099" y="1037898"/>
            <a:ext cx="271953" cy="329214"/>
            <a:chOff x="6737226" y="3306881"/>
            <a:chExt cx="271953" cy="329214"/>
          </a:xfrm>
        </p:grpSpPr>
        <p:sp>
          <p:nvSpPr>
            <p:cNvPr id="18" name="矩形 17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矩形 18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468568" y="1305838"/>
            <a:ext cx="271953" cy="329214"/>
            <a:chOff x="6737226" y="3306881"/>
            <a:chExt cx="271953" cy="329214"/>
          </a:xfrm>
        </p:grpSpPr>
        <p:sp>
          <p:nvSpPr>
            <p:cNvPr id="22" name="矩形 21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6893516" y="1097628"/>
            <a:ext cx="271953" cy="360040"/>
            <a:chOff x="8057430" y="2643758"/>
            <a:chExt cx="271953" cy="360040"/>
          </a:xfrm>
        </p:grpSpPr>
        <p:sp>
          <p:nvSpPr>
            <p:cNvPr id="26" name="矩形 25"/>
            <p:cNvSpPr/>
            <p:nvPr/>
          </p:nvSpPr>
          <p:spPr>
            <a:xfrm>
              <a:off x="8168167" y="2692651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/>
            <p:cNvSpPr/>
            <p:nvPr/>
          </p:nvSpPr>
          <p:spPr>
            <a:xfrm>
              <a:off x="8057430" y="2643758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 27"/>
            <p:cNvSpPr/>
            <p:nvPr/>
          </p:nvSpPr>
          <p:spPr>
            <a:xfrm>
              <a:off x="8290399" y="2758198"/>
              <a:ext cx="38984" cy="245600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>
          <a:xfrm>
            <a:off x="6841252" y="1957336"/>
            <a:ext cx="271953" cy="329214"/>
            <a:chOff x="6737226" y="3306881"/>
            <a:chExt cx="271953" cy="329214"/>
          </a:xfrm>
          <a:solidFill>
            <a:srgbClr val="0000FF"/>
          </a:solidFill>
        </p:grpSpPr>
        <p:sp>
          <p:nvSpPr>
            <p:cNvPr id="30" name="矩形 29"/>
            <p:cNvSpPr/>
            <p:nvPr/>
          </p:nvSpPr>
          <p:spPr>
            <a:xfrm>
              <a:off x="6847963" y="3346065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6737226" y="3390495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6970195" y="3306881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5758169" y="2041115"/>
            <a:ext cx="271953" cy="360040"/>
            <a:chOff x="8057430" y="2643758"/>
            <a:chExt cx="271953" cy="360040"/>
          </a:xfrm>
          <a:solidFill>
            <a:srgbClr val="0000FF"/>
          </a:solidFill>
        </p:grpSpPr>
        <p:sp>
          <p:nvSpPr>
            <p:cNvPr id="34" name="矩形 33"/>
            <p:cNvSpPr/>
            <p:nvPr/>
          </p:nvSpPr>
          <p:spPr>
            <a:xfrm>
              <a:off x="8168167" y="2692651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矩形 34"/>
            <p:cNvSpPr/>
            <p:nvPr/>
          </p:nvSpPr>
          <p:spPr>
            <a:xfrm>
              <a:off x="8057430" y="2643758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8290399" y="2758198"/>
              <a:ext cx="38984" cy="245600"/>
            </a:xfrm>
            <a:prstGeom prst="rect">
              <a:avLst/>
            </a:prstGeom>
            <a:grp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椭圆 3"/>
          <p:cNvSpPr/>
          <p:nvPr/>
        </p:nvSpPr>
        <p:spPr>
          <a:xfrm>
            <a:off x="5690223" y="3064439"/>
            <a:ext cx="1073399" cy="531642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GBN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6882977" y="3020009"/>
            <a:ext cx="1073399" cy="53164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rgbClr val="0070C0"/>
                </a:solidFill>
              </a:rPr>
              <a:t>SR</a:t>
            </a:r>
            <a:endParaRPr lang="zh-CN" altLang="en-US" dirty="0">
              <a:solidFill>
                <a:srgbClr val="0070C0"/>
              </a:solidFill>
            </a:endParaRPr>
          </a:p>
        </p:txBody>
      </p:sp>
      <p:sp>
        <p:nvSpPr>
          <p:cNvPr id="38" name="椭圆 37"/>
          <p:cNvSpPr/>
          <p:nvPr/>
        </p:nvSpPr>
        <p:spPr>
          <a:xfrm>
            <a:off x="6300952" y="3955191"/>
            <a:ext cx="1185127" cy="650582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9" name="右大括号 38"/>
          <p:cNvSpPr/>
          <p:nvPr/>
        </p:nvSpPr>
        <p:spPr>
          <a:xfrm rot="5400000">
            <a:off x="6848233" y="3263273"/>
            <a:ext cx="139049" cy="991154"/>
          </a:xfrm>
          <a:prstGeom prst="rightBrace">
            <a:avLst>
              <a:gd name="adj1" fmla="val 63566"/>
              <a:gd name="adj2" fmla="val 50000"/>
            </a:avLst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08402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50" dirty="0"/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1</a:t>
            </a:r>
            <a:r>
              <a:rPr lang="zh-CN" altLang="en-US" sz="1600" dirty="0">
                <a:solidFill>
                  <a:srgbClr val="C00000"/>
                </a:solidFill>
              </a:rPr>
              <a:t>：延迟确认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/>
              <a:t>期望序号的报文段按序到达</a:t>
            </a:r>
            <a:endParaRPr lang="en-US" altLang="zh-CN" sz="1400" dirty="0"/>
          </a:p>
          <a:p>
            <a:pPr lvl="4"/>
            <a:r>
              <a:rPr lang="zh-CN" altLang="en-US" sz="1400" dirty="0"/>
              <a:t>之前的报文段都已经被确认</a:t>
            </a:r>
            <a:endParaRPr lang="en-US" altLang="zh-CN" sz="1400" dirty="0"/>
          </a:p>
          <a:p>
            <a:pPr lvl="3"/>
            <a:r>
              <a:rPr lang="zh-CN" altLang="en-US" sz="1600" dirty="0"/>
              <a:t>确认动作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延迟</a:t>
            </a:r>
            <a:r>
              <a:rPr lang="en-US" altLang="zh-CN" sz="1400" dirty="0"/>
              <a:t>500ms</a:t>
            </a:r>
            <a:r>
              <a:rPr lang="zh-CN" altLang="en-US" sz="1400" dirty="0"/>
              <a:t>确认新到的分组</a:t>
            </a:r>
            <a:endParaRPr lang="en-US" altLang="zh-CN" sz="1400" dirty="0"/>
          </a:p>
          <a:p>
            <a:pPr lvl="4"/>
            <a:r>
              <a:rPr lang="zh-CN" altLang="en-US" sz="1400" dirty="0"/>
              <a:t>为后面的</a:t>
            </a:r>
            <a:r>
              <a:rPr lang="zh-CN" altLang="en-US" sz="1400" dirty="0">
                <a:solidFill>
                  <a:srgbClr val="FF0000"/>
                </a:solidFill>
              </a:rPr>
              <a:t>累积确认</a:t>
            </a:r>
            <a:r>
              <a:rPr lang="zh-CN" altLang="en-US" sz="1400" dirty="0"/>
              <a:t>做准备</a:t>
            </a:r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25126" y="2387994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56282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28661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608457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605135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27457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74154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7" name="右大括号 6"/>
          <p:cNvSpPr/>
          <p:nvPr/>
        </p:nvSpPr>
        <p:spPr>
          <a:xfrm>
            <a:off x="7666639" y="2816619"/>
            <a:ext cx="121853" cy="241185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7785397" y="2800988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0066FF"/>
                </a:solidFill>
              </a:rPr>
              <a:t>500</a:t>
            </a:r>
            <a:r>
              <a:rPr lang="en-US" altLang="zh-CN" sz="1200" dirty="0">
                <a:solidFill>
                  <a:srgbClr val="0066FF"/>
                </a:solidFill>
              </a:rPr>
              <a:t>ms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25126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25126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25126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17982" y="306863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矩形 29"/>
          <p:cNvSpPr/>
          <p:nvPr/>
        </p:nvSpPr>
        <p:spPr>
          <a:xfrm rot="20712716">
            <a:off x="6308588" y="3179427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延迟确认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401853" cy="4017844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00" dirty="0"/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2</a:t>
            </a:r>
            <a:r>
              <a:rPr lang="zh-CN" altLang="en-US" sz="1600" dirty="0">
                <a:solidFill>
                  <a:srgbClr val="C00000"/>
                </a:solidFill>
              </a:rPr>
              <a:t>：累积确认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/>
              <a:t>期望序号的报文段按序到达</a:t>
            </a:r>
            <a:endParaRPr lang="en-US" altLang="zh-CN" sz="1400" dirty="0"/>
          </a:p>
          <a:p>
            <a:pPr lvl="4"/>
            <a:r>
              <a:rPr lang="zh-CN" altLang="en-US" sz="1400" dirty="0"/>
              <a:t>另一个按序报文等待确认</a:t>
            </a:r>
            <a:endParaRPr lang="en-US" altLang="zh-CN" sz="1400" dirty="0"/>
          </a:p>
          <a:p>
            <a:pPr lvl="3"/>
            <a:r>
              <a:rPr lang="zh-CN" altLang="en-US" sz="1600" dirty="0"/>
              <a:t>确认动作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立即发送</a:t>
            </a:r>
            <a:r>
              <a:rPr lang="zh-CN" altLang="en-US" sz="1400" dirty="0">
                <a:solidFill>
                  <a:srgbClr val="FF0000"/>
                </a:solidFill>
              </a:rPr>
              <a:t>单个累积确认，确认两个</a:t>
            </a:r>
            <a:r>
              <a:rPr lang="zh-CN" altLang="en-US" sz="1400" dirty="0"/>
              <a:t>按序报文段</a:t>
            </a:r>
            <a:r>
              <a:rPr lang="en-US" altLang="zh-CN" sz="1400" dirty="0">
                <a:solidFill>
                  <a:srgbClr val="FF0000"/>
                </a:solidFill>
              </a:rPr>
              <a:t>(</a:t>
            </a:r>
            <a:r>
              <a:rPr lang="zh-CN" altLang="en-US" sz="1400" dirty="0">
                <a:solidFill>
                  <a:srgbClr val="FF0000"/>
                </a:solidFill>
              </a:rPr>
              <a:t>不能多！</a:t>
            </a:r>
            <a:r>
              <a:rPr lang="en-US" altLang="zh-CN" sz="1400" dirty="0">
                <a:solidFill>
                  <a:srgbClr val="FF0000"/>
                </a:solidFill>
              </a:rPr>
              <a:t>)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lvl="4"/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599004" y="2387994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30160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02539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82335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79013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6203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48032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7" name="右大括号 6"/>
          <p:cNvSpPr/>
          <p:nvPr/>
        </p:nvSpPr>
        <p:spPr>
          <a:xfrm>
            <a:off x="7640517" y="2816619"/>
            <a:ext cx="121853" cy="241185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7861763" y="2800988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>
                <a:solidFill>
                  <a:srgbClr val="0066FF"/>
                </a:solidFill>
              </a:rPr>
              <a:t>500</a:t>
            </a:r>
            <a:r>
              <a:rPr lang="en-US" altLang="zh-CN" sz="1200" dirty="0">
                <a:solidFill>
                  <a:srgbClr val="0066FF"/>
                </a:solidFill>
              </a:rPr>
              <a:t>ms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599004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599004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599004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591860" y="2826379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591860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599004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07131" y="313863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93365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00" dirty="0"/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2</a:t>
            </a:r>
            <a:r>
              <a:rPr lang="zh-CN" altLang="en-US" sz="1600" dirty="0">
                <a:solidFill>
                  <a:srgbClr val="C00000"/>
                </a:solidFill>
              </a:rPr>
              <a:t>：累积确认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前提：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期望序号的报文段按序到达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另一个按序报文等待确认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3"/>
            <a:r>
              <a:rPr lang="zh-CN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确认动作</a:t>
            </a:r>
            <a:endParaRPr lang="en-US" altLang="zh-CN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4"/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立即发送单个累积确认，确认两个按序报文段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3"/>
            <a:endParaRPr lang="en-US" altLang="zh-CN" sz="1200" dirty="0">
              <a:solidFill>
                <a:srgbClr val="0066CC"/>
              </a:solidFill>
            </a:endParaRPr>
          </a:p>
          <a:p>
            <a:pPr lvl="3"/>
            <a:endParaRPr lang="en-US" altLang="zh-CN" sz="1200" dirty="0">
              <a:solidFill>
                <a:srgbClr val="0066CC"/>
              </a:solidFill>
            </a:endParaRPr>
          </a:p>
          <a:p>
            <a:pPr lvl="3"/>
            <a:endParaRPr lang="en-US" altLang="zh-CN" sz="1200" dirty="0">
              <a:solidFill>
                <a:srgbClr val="0066CC"/>
              </a:solidFill>
            </a:endParaRPr>
          </a:p>
          <a:p>
            <a:pPr lvl="1"/>
            <a:endParaRPr lang="en-US" altLang="zh-CN" sz="1400" dirty="0">
              <a:solidFill>
                <a:srgbClr val="FF0000"/>
              </a:solidFill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3874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6253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6049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2727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5049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1746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2718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2718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2718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949760" y="2759474"/>
            <a:ext cx="1595341" cy="456083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5574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2718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871044" y="3400773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累积确认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743875" y="3662879"/>
            <a:ext cx="3300652" cy="738664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补充：累积确认还可以解决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确认丢失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的问题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 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发送方不会重传分组，这样就可以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累计多个确认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 rot="20712716">
            <a:off x="6093397" y="2873922"/>
            <a:ext cx="883453" cy="25391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 </a:t>
            </a:r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确认丢失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07592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650" dirty="0"/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：累积确认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3</a:t>
            </a:r>
            <a:r>
              <a:rPr lang="zh-CN" altLang="en-US" sz="1600" dirty="0">
                <a:solidFill>
                  <a:srgbClr val="C00000"/>
                </a:solidFill>
              </a:rPr>
              <a:t>：重复确认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r>
              <a:rPr lang="zh-CN" altLang="en-US" sz="1400" dirty="0">
                <a:solidFill>
                  <a:srgbClr val="FF0000"/>
                </a:solidFill>
              </a:rPr>
              <a:t>分组出错，</a:t>
            </a:r>
            <a:r>
              <a:rPr lang="zh-CN" altLang="en-US" sz="1400" dirty="0"/>
              <a:t>或，</a:t>
            </a:r>
            <a:r>
              <a:rPr lang="zh-CN" altLang="en-US" sz="1400" dirty="0">
                <a:solidFill>
                  <a:srgbClr val="FF0000"/>
                </a:solidFill>
              </a:rPr>
              <a:t>比期望序号大的报文段到达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lvl="3"/>
            <a:r>
              <a:rPr lang="zh-CN" altLang="en-US" sz="1600" dirty="0"/>
              <a:t>确认动作：</a:t>
            </a:r>
            <a:r>
              <a:rPr lang="zh-CN" altLang="en-US" sz="1400" dirty="0"/>
              <a:t>立即发送重复确认</a:t>
            </a:r>
            <a:r>
              <a:rPr lang="en-US" altLang="zh-CN" sz="1400" dirty="0"/>
              <a:t>(</a:t>
            </a:r>
            <a:r>
              <a:rPr lang="zh-CN" altLang="en-US" sz="1400" dirty="0"/>
              <a:t>冗余确认</a:t>
            </a:r>
            <a:r>
              <a:rPr lang="en-US" altLang="zh-CN" sz="1400" dirty="0"/>
              <a:t>)</a:t>
            </a:r>
            <a:endParaRPr lang="en-US" altLang="zh-CN" sz="1400" dirty="0"/>
          </a:p>
          <a:p>
            <a:pPr lvl="3"/>
            <a:r>
              <a:rPr lang="zh-CN" altLang="en-US" sz="1600" dirty="0"/>
              <a:t>言外之意：</a:t>
            </a:r>
            <a:r>
              <a:rPr lang="zh-CN" altLang="en-US" dirty="0"/>
              <a:t>我这边分组失序咧</a:t>
            </a:r>
            <a:r>
              <a:rPr lang="en-US" altLang="zh-CN" dirty="0"/>
              <a:t>!  </a:t>
            </a:r>
            <a:r>
              <a:rPr lang="zh-CN" altLang="en-US" dirty="0">
                <a:solidFill>
                  <a:srgbClr val="FF0000"/>
                </a:solidFill>
              </a:rPr>
              <a:t>但我给你的确认号不失序！</a:t>
            </a:r>
            <a:endParaRPr lang="en-US" altLang="zh-CN" dirty="0">
              <a:solidFill>
                <a:srgbClr val="FF0000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15607" y="2404968"/>
            <a:ext cx="1177415" cy="260202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5607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5607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608463" y="2759473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8463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5607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23734" y="313863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重复确认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矩形 30"/>
          <p:cNvSpPr/>
          <p:nvPr/>
        </p:nvSpPr>
        <p:spPr>
          <a:xfrm rot="1536663">
            <a:off x="6673327" y="2524125"/>
            <a:ext cx="29264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endParaRPr lang="zh-CN" altLang="en-US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3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128072" cy="4017844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solidFill>
                  <a:srgbClr val="C00000"/>
                </a:solidFill>
                <a:effectLst/>
              </a:rPr>
              <a:t>TCP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的确认</a:t>
            </a:r>
            <a:r>
              <a:rPr lang="zh-CN" altLang="en-US" dirty="0">
                <a:effectLst/>
              </a:rPr>
              <a:t>和重传机制</a:t>
            </a:r>
            <a:endParaRPr lang="en-US" altLang="zh-CN" sz="1700" dirty="0"/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流水线协议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GBN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SR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的混合体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1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：延迟确认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：累积确认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场景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3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：冗余确认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4</a:t>
            </a:r>
            <a:r>
              <a:rPr lang="zh-CN" altLang="en-US" sz="1600" dirty="0">
                <a:solidFill>
                  <a:srgbClr val="C00000"/>
                </a:solidFill>
              </a:rPr>
              <a:t>：立即确认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dirty="0"/>
              <a:t>前提：失序后最低望序号的报文段到达</a:t>
            </a:r>
            <a:endParaRPr lang="en-US" altLang="zh-CN" dirty="0"/>
          </a:p>
          <a:p>
            <a:pPr lvl="3"/>
            <a:r>
              <a:rPr lang="zh-CN" altLang="en-US" dirty="0"/>
              <a:t>确认动作：立即发送确认</a:t>
            </a:r>
            <a:r>
              <a:rPr lang="en-US" altLang="zh-CN" dirty="0"/>
              <a:t>(</a:t>
            </a:r>
            <a:r>
              <a:rPr lang="zh-CN" altLang="en-US" dirty="0"/>
              <a:t>期望的分组序号</a:t>
            </a:r>
            <a:r>
              <a:rPr lang="en-US" altLang="zh-CN" dirty="0"/>
              <a:t>)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FF0000"/>
                </a:solidFill>
              </a:rPr>
              <a:t>比之前的重复确认号增加了</a:t>
            </a:r>
            <a:endParaRPr lang="en-US" altLang="zh-CN" dirty="0">
              <a:solidFill>
                <a:srgbClr val="FF0000"/>
              </a:solidFill>
            </a:endParaRPr>
          </a:p>
          <a:p>
            <a:pPr lvl="3"/>
            <a:r>
              <a:rPr lang="zh-CN" altLang="en-US" dirty="0"/>
              <a:t>言外之意：网络中有轻度拥塞，这个分组来得真及时，赞！</a:t>
            </a:r>
            <a:endParaRPr lang="en-US" altLang="zh-CN" dirty="0"/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15608" y="2387995"/>
            <a:ext cx="1980008" cy="731444"/>
          </a:xfrm>
          <a:prstGeom prst="line">
            <a:avLst/>
          </a:prstGeom>
          <a:noFill/>
          <a:ln w="28575">
            <a:solidFill>
              <a:srgbClr val="0000FF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5607" y="2330234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5607" y="2252463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608463" y="2759473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8463" y="2985996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ot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5607" y="2529880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23734" y="3088758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FFDDDD"/>
                </a:solidFill>
                <a:latin typeface="+mj-ea"/>
                <a:ea typeface="+mj-ea"/>
              </a:rPr>
              <a:t>重复确认</a:t>
            </a:r>
            <a:endParaRPr lang="zh-CN" altLang="en-US" sz="1050" dirty="0">
              <a:solidFill>
                <a:srgbClr val="FFDDDD"/>
              </a:solidFill>
              <a:latin typeface="+mj-ea"/>
              <a:ea typeface="+mj-ea"/>
            </a:endParaRPr>
          </a:p>
        </p:txBody>
      </p:sp>
      <p:sp>
        <p:nvSpPr>
          <p:cNvPr id="31" name="Line 10"/>
          <p:cNvSpPr>
            <a:spLocks noChangeShapeType="1"/>
          </p:cNvSpPr>
          <p:nvPr/>
        </p:nvSpPr>
        <p:spPr bwMode="auto">
          <a:xfrm flipH="1">
            <a:off x="5608463" y="3146695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2" name="矩形 31"/>
          <p:cNvSpPr/>
          <p:nvPr/>
        </p:nvSpPr>
        <p:spPr>
          <a:xfrm rot="20712716">
            <a:off x="6223734" y="3311856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立即确认</a:t>
            </a:r>
            <a:endParaRPr lang="zh-CN" alt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右中括号 3"/>
          <p:cNvSpPr/>
          <p:nvPr/>
        </p:nvSpPr>
        <p:spPr>
          <a:xfrm>
            <a:off x="3042087" y="2797152"/>
            <a:ext cx="467540" cy="1008112"/>
          </a:xfrm>
          <a:prstGeom prst="rightBracket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4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的确认和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重传机制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发送方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)</a:t>
            </a:r>
            <a:endParaRPr lang="en-US" altLang="zh-CN" sz="1650" dirty="0">
              <a:solidFill>
                <a:srgbClr val="C00000"/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5</a:t>
            </a:r>
            <a:r>
              <a:rPr lang="zh-CN" altLang="en-US" sz="1600" dirty="0">
                <a:solidFill>
                  <a:srgbClr val="C00000"/>
                </a:solidFill>
              </a:rPr>
              <a:t>：快速重传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>
                <a:solidFill>
                  <a:srgbClr val="C00000"/>
                </a:solidFill>
              </a:rPr>
              <a:t>发送方收到</a:t>
            </a:r>
            <a:r>
              <a:rPr lang="en-US" altLang="zh-CN" sz="1400" dirty="0">
                <a:solidFill>
                  <a:srgbClr val="C00000"/>
                </a:solidFill>
              </a:rPr>
              <a:t>3</a:t>
            </a:r>
            <a:r>
              <a:rPr lang="zh-CN" altLang="en-US" sz="1400" dirty="0">
                <a:solidFill>
                  <a:srgbClr val="C00000"/>
                </a:solidFill>
              </a:rPr>
              <a:t>个重复确认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重传动作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超时之前重发报文段</a:t>
            </a:r>
            <a:endParaRPr lang="en-US" altLang="zh-CN" sz="1400" dirty="0"/>
          </a:p>
          <a:p>
            <a:pPr lvl="4"/>
            <a:r>
              <a:rPr lang="zh-CN" altLang="en-US" sz="1400" dirty="0"/>
              <a:t>避免无谓的等待</a:t>
            </a:r>
            <a:endParaRPr lang="en-US" altLang="zh-CN" sz="1400" dirty="0"/>
          </a:p>
          <a:p>
            <a:pPr lvl="3"/>
            <a:r>
              <a:rPr lang="zh-CN" altLang="en-US" sz="1600" dirty="0"/>
              <a:t>言外之意：</a:t>
            </a:r>
            <a:endParaRPr lang="en-US" altLang="zh-CN" sz="1600" dirty="0"/>
          </a:p>
          <a:p>
            <a:pPr lvl="4"/>
            <a:r>
              <a:rPr lang="zh-CN" altLang="en-US" sz="1400" dirty="0"/>
              <a:t>网络中出现了比较糟糕的情况：中度拥塞！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9" name="Line 4"/>
          <p:cNvSpPr>
            <a:spLocks noChangeShapeType="1"/>
          </p:cNvSpPr>
          <p:nvPr/>
        </p:nvSpPr>
        <p:spPr bwMode="auto">
          <a:xfrm>
            <a:off x="5615607" y="2387995"/>
            <a:ext cx="1939528" cy="437303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6" name="Line 4"/>
          <p:cNvSpPr>
            <a:spLocks noChangeShapeType="1"/>
          </p:cNvSpPr>
          <p:nvPr/>
        </p:nvSpPr>
        <p:spPr bwMode="auto">
          <a:xfrm>
            <a:off x="5615607" y="2315366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7" name="Line 4"/>
          <p:cNvSpPr>
            <a:spLocks noChangeShapeType="1"/>
          </p:cNvSpPr>
          <p:nvPr/>
        </p:nvSpPr>
        <p:spPr bwMode="auto">
          <a:xfrm>
            <a:off x="5615607" y="2252463"/>
            <a:ext cx="1347787" cy="297854"/>
          </a:xfrm>
          <a:prstGeom prst="line">
            <a:avLst/>
          </a:prstGeom>
          <a:noFill/>
          <a:ln w="28575">
            <a:solidFill>
              <a:srgbClr val="0066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Line 10"/>
          <p:cNvSpPr>
            <a:spLocks noChangeShapeType="1"/>
          </p:cNvSpPr>
          <p:nvPr/>
        </p:nvSpPr>
        <p:spPr bwMode="auto">
          <a:xfrm flipH="1">
            <a:off x="5608463" y="2759473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0" name="Line 10"/>
          <p:cNvSpPr>
            <a:spLocks noChangeShapeType="1"/>
          </p:cNvSpPr>
          <p:nvPr/>
        </p:nvSpPr>
        <p:spPr bwMode="auto">
          <a:xfrm flipH="1">
            <a:off x="5608463" y="2922789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0" name="Line 4"/>
          <p:cNvSpPr>
            <a:spLocks noChangeShapeType="1"/>
          </p:cNvSpPr>
          <p:nvPr/>
        </p:nvSpPr>
        <p:spPr bwMode="auto">
          <a:xfrm>
            <a:off x="5615607" y="2473767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3" name="Line 10"/>
          <p:cNvSpPr>
            <a:spLocks noChangeShapeType="1"/>
          </p:cNvSpPr>
          <p:nvPr/>
        </p:nvSpPr>
        <p:spPr bwMode="auto">
          <a:xfrm flipH="1">
            <a:off x="5608463" y="2848770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8" name="矩形 7"/>
          <p:cNvSpPr/>
          <p:nvPr/>
        </p:nvSpPr>
        <p:spPr>
          <a:xfrm rot="20712716">
            <a:off x="6244710" y="2976599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C00000"/>
                </a:solidFill>
                <a:latin typeface="+mj-ea"/>
                <a:ea typeface="+mj-ea"/>
              </a:rPr>
              <a:t>重复确认</a:t>
            </a:r>
            <a:endParaRPr lang="zh-CN" altLang="en-US" sz="1050" dirty="0">
              <a:solidFill>
                <a:srgbClr val="C00000"/>
              </a:solidFill>
              <a:latin typeface="+mj-ea"/>
              <a:ea typeface="+mj-ea"/>
            </a:endParaRPr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 flipH="1">
            <a:off x="5608463" y="2622945"/>
            <a:ext cx="1939528" cy="541735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5" name="右大括号 34"/>
          <p:cNvSpPr/>
          <p:nvPr/>
        </p:nvSpPr>
        <p:spPr>
          <a:xfrm rot="10800000">
            <a:off x="5220422" y="2253446"/>
            <a:ext cx="239001" cy="1561636"/>
          </a:xfrm>
          <a:prstGeom prst="rightBrace">
            <a:avLst/>
          </a:prstGeom>
          <a:ln w="19050">
            <a:solidFill>
              <a:srgbClr val="0066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4939836" y="3657607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66FF"/>
                </a:solidFill>
              </a:rPr>
              <a:t>超时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43" name="Line 4"/>
          <p:cNvSpPr>
            <a:spLocks noChangeShapeType="1"/>
          </p:cNvSpPr>
          <p:nvPr/>
        </p:nvSpPr>
        <p:spPr bwMode="auto">
          <a:xfrm>
            <a:off x="5615607" y="3487894"/>
            <a:ext cx="1980009" cy="327188"/>
          </a:xfrm>
          <a:prstGeom prst="line">
            <a:avLst/>
          </a:prstGeom>
          <a:noFill/>
          <a:ln w="28575">
            <a:solidFill>
              <a:srgbClr val="006600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4" name="Line 4"/>
          <p:cNvSpPr>
            <a:spLocks noChangeShapeType="1"/>
          </p:cNvSpPr>
          <p:nvPr/>
        </p:nvSpPr>
        <p:spPr bwMode="auto">
          <a:xfrm>
            <a:off x="5615607" y="3805387"/>
            <a:ext cx="1980009" cy="327188"/>
          </a:xfrm>
          <a:prstGeom prst="line">
            <a:avLst/>
          </a:prstGeom>
          <a:noFill/>
          <a:ln w="28575">
            <a:solidFill>
              <a:srgbClr val="0066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6585371" y="3718346"/>
            <a:ext cx="0" cy="15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2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017844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的序号、确认号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的确认和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重传机制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(</a:t>
            </a:r>
            <a:r>
              <a:rPr lang="zh-CN" altLang="en-US" dirty="0">
                <a:solidFill>
                  <a:srgbClr val="C00000"/>
                </a:solidFill>
                <a:effectLst/>
              </a:rPr>
              <a:t>发送方</a:t>
            </a:r>
            <a:r>
              <a:rPr lang="en-US" altLang="zh-CN" dirty="0">
                <a:solidFill>
                  <a:srgbClr val="C00000"/>
                </a:solidFill>
                <a:effectLst/>
              </a:rPr>
              <a:t>)</a:t>
            </a:r>
            <a:endParaRPr lang="en-US" altLang="zh-CN" sz="1650" dirty="0">
              <a:solidFill>
                <a:srgbClr val="C00000"/>
              </a:solidFill>
            </a:endParaRPr>
          </a:p>
          <a:p>
            <a:pPr lvl="2"/>
            <a:r>
              <a:rPr lang="zh-CN" altLang="en-US" sz="1600" dirty="0">
                <a:solidFill>
                  <a:srgbClr val="C00000"/>
                </a:solidFill>
              </a:rPr>
              <a:t>场景</a:t>
            </a:r>
            <a:r>
              <a:rPr lang="en-US" altLang="zh-CN" sz="1600" dirty="0">
                <a:solidFill>
                  <a:srgbClr val="C00000"/>
                </a:solidFill>
              </a:rPr>
              <a:t>6</a:t>
            </a:r>
            <a:r>
              <a:rPr lang="zh-CN" altLang="en-US" sz="1600" dirty="0">
                <a:solidFill>
                  <a:srgbClr val="C00000"/>
                </a:solidFill>
              </a:rPr>
              <a:t>：加倍超时</a:t>
            </a:r>
            <a:endParaRPr lang="en-US" altLang="zh-CN" sz="16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前提：</a:t>
            </a:r>
            <a:endParaRPr lang="en-US" altLang="zh-CN" sz="1600" dirty="0"/>
          </a:p>
          <a:p>
            <a:pPr lvl="4"/>
            <a:r>
              <a:rPr lang="zh-CN" altLang="en-US" sz="1400" dirty="0"/>
              <a:t>发送方产生一次超时重传</a:t>
            </a:r>
            <a:endParaRPr lang="en-US" altLang="zh-CN" sz="1400" dirty="0"/>
          </a:p>
          <a:p>
            <a:pPr lvl="4"/>
            <a:r>
              <a:rPr lang="zh-CN" altLang="en-US" sz="1400" dirty="0"/>
              <a:t>网络发生了重度拥塞</a:t>
            </a:r>
            <a:r>
              <a:rPr lang="en-US" altLang="zh-CN" sz="1400" dirty="0"/>
              <a:t>…</a:t>
            </a:r>
            <a:endParaRPr lang="en-US" altLang="zh-CN" sz="1400" dirty="0"/>
          </a:p>
          <a:p>
            <a:pPr lvl="3"/>
            <a:r>
              <a:rPr lang="zh-CN" altLang="en-US" sz="1600" dirty="0"/>
              <a:t>动作</a:t>
            </a:r>
            <a:endParaRPr lang="en-US" altLang="zh-CN" sz="1600" dirty="0"/>
          </a:p>
          <a:p>
            <a:pPr lvl="4"/>
            <a:r>
              <a:rPr lang="zh-CN" altLang="en-US" sz="1400" dirty="0"/>
              <a:t>发送方</a:t>
            </a:r>
            <a:r>
              <a:rPr lang="zh-CN" altLang="en-US" sz="1400" dirty="0">
                <a:solidFill>
                  <a:srgbClr val="C00000"/>
                </a:solidFill>
              </a:rPr>
              <a:t>加倍超时间隔</a:t>
            </a:r>
            <a:endParaRPr lang="en-US" altLang="zh-CN" sz="1400" dirty="0">
              <a:solidFill>
                <a:srgbClr val="C00000"/>
              </a:solidFill>
            </a:endParaRPr>
          </a:p>
          <a:p>
            <a:pPr lvl="3"/>
            <a:r>
              <a:rPr lang="zh-CN" altLang="en-US" sz="1600" dirty="0"/>
              <a:t>效果：</a:t>
            </a:r>
            <a:endParaRPr lang="en-US" altLang="zh-CN" sz="1600" dirty="0"/>
          </a:p>
          <a:p>
            <a:pPr lvl="4"/>
            <a:r>
              <a:rPr lang="zh-CN" altLang="en-US" sz="1400" dirty="0"/>
              <a:t>是一种有限形式的拥塞控制</a:t>
            </a:r>
            <a:endParaRPr lang="en-US" altLang="zh-CN" sz="1400" dirty="0"/>
          </a:p>
          <a:p>
            <a:pPr lvl="4"/>
            <a:r>
              <a:rPr lang="zh-CN" altLang="en-US" sz="1400" dirty="0"/>
              <a:t>让发送方适当放缓节奏</a:t>
            </a:r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4" name="Text Box 13"/>
          <p:cNvSpPr txBox="1">
            <a:spLocks noChangeArrowheads="1"/>
          </p:cNvSpPr>
          <p:nvPr/>
        </p:nvSpPr>
        <p:spPr bwMode="auto">
          <a:xfrm>
            <a:off x="7246763" y="1424779"/>
            <a:ext cx="63190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/>
              <a:t>Host B</a:t>
            </a:r>
            <a:endParaRPr lang="en-US" sz="1200" dirty="0"/>
          </a:p>
        </p:txBody>
      </p:sp>
      <p:sp>
        <p:nvSpPr>
          <p:cNvPr id="15" name="Text Box 17"/>
          <p:cNvSpPr txBox="1">
            <a:spLocks noChangeArrowheads="1"/>
          </p:cNvSpPr>
          <p:nvPr/>
        </p:nvSpPr>
        <p:spPr bwMode="auto">
          <a:xfrm>
            <a:off x="5319142" y="1429542"/>
            <a:ext cx="633507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Host A</a:t>
            </a:r>
            <a:endParaRPr lang="en-US" sz="1200"/>
          </a:p>
        </p:txBody>
      </p:sp>
      <p:sp>
        <p:nvSpPr>
          <p:cNvPr id="22" name="Line 24"/>
          <p:cNvSpPr>
            <a:spLocks noChangeShapeType="1"/>
          </p:cNvSpPr>
          <p:nvPr/>
        </p:nvSpPr>
        <p:spPr bwMode="auto">
          <a:xfrm>
            <a:off x="5598938" y="2207019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>
            <a:off x="7595616" y="2246310"/>
            <a:ext cx="0" cy="1940719"/>
          </a:xfrm>
          <a:prstGeom prst="line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grpSp>
        <p:nvGrpSpPr>
          <p:cNvPr id="24" name="Group 27"/>
          <p:cNvGrpSpPr/>
          <p:nvPr/>
        </p:nvGrpSpPr>
        <p:grpSpPr bwMode="auto">
          <a:xfrm>
            <a:off x="5217938" y="1591467"/>
            <a:ext cx="566738" cy="586978"/>
            <a:chOff x="-44" y="1473"/>
            <a:chExt cx="981" cy="1105"/>
          </a:xfrm>
        </p:grpSpPr>
        <p:pic>
          <p:nvPicPr>
            <p:cNvPr id="25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7" name="Group 30"/>
          <p:cNvGrpSpPr/>
          <p:nvPr/>
        </p:nvGrpSpPr>
        <p:grpSpPr bwMode="auto">
          <a:xfrm flipH="1">
            <a:off x="7364635" y="1621232"/>
            <a:ext cx="591741" cy="646510"/>
            <a:chOff x="-44" y="1473"/>
            <a:chExt cx="981" cy="1105"/>
          </a:xfrm>
        </p:grpSpPr>
        <p:pic>
          <p:nvPicPr>
            <p:cNvPr id="28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38" name="Line 4"/>
          <p:cNvSpPr>
            <a:spLocks noChangeShapeType="1"/>
          </p:cNvSpPr>
          <p:nvPr/>
        </p:nvSpPr>
        <p:spPr bwMode="auto">
          <a:xfrm>
            <a:off x="5615607" y="2184002"/>
            <a:ext cx="1939528" cy="428625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4" name="Line 10"/>
          <p:cNvSpPr>
            <a:spLocks noChangeShapeType="1"/>
          </p:cNvSpPr>
          <p:nvPr/>
        </p:nvSpPr>
        <p:spPr bwMode="auto">
          <a:xfrm flipH="1">
            <a:off x="5598938" y="2622945"/>
            <a:ext cx="1949052" cy="803698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5" name="右大括号 34"/>
          <p:cNvSpPr/>
          <p:nvPr/>
        </p:nvSpPr>
        <p:spPr>
          <a:xfrm rot="10800000">
            <a:off x="5226509" y="2184002"/>
            <a:ext cx="239001" cy="873802"/>
          </a:xfrm>
          <a:prstGeom prst="rightBrace">
            <a:avLst/>
          </a:prstGeom>
          <a:ln w="19050">
            <a:solidFill>
              <a:srgbClr val="00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1" name="Text Box 13"/>
          <p:cNvSpPr txBox="1">
            <a:spLocks noChangeArrowheads="1"/>
          </p:cNvSpPr>
          <p:nvPr/>
        </p:nvSpPr>
        <p:spPr bwMode="auto">
          <a:xfrm>
            <a:off x="4937455" y="2922789"/>
            <a:ext cx="492443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zh-CN" altLang="en-US" sz="1200" dirty="0">
                <a:solidFill>
                  <a:srgbClr val="0066FF"/>
                </a:solidFill>
              </a:rPr>
              <a:t>超时</a:t>
            </a:r>
            <a:endParaRPr lang="en-US" sz="1200" dirty="0">
              <a:solidFill>
                <a:srgbClr val="0066FF"/>
              </a:solidFill>
            </a:endParaRPr>
          </a:p>
        </p:txBody>
      </p:sp>
      <p:sp>
        <p:nvSpPr>
          <p:cNvPr id="42" name="右大括号 41"/>
          <p:cNvSpPr/>
          <p:nvPr/>
        </p:nvSpPr>
        <p:spPr>
          <a:xfrm rot="10800000">
            <a:off x="5226509" y="3075407"/>
            <a:ext cx="239001" cy="1454335"/>
          </a:xfrm>
          <a:prstGeom prst="rightBrace">
            <a:avLst/>
          </a:prstGeom>
          <a:ln w="19050">
            <a:solidFill>
              <a:srgbClr val="0066FF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45" name="Line 4"/>
          <p:cNvSpPr>
            <a:spLocks noChangeShapeType="1"/>
          </p:cNvSpPr>
          <p:nvPr/>
        </p:nvSpPr>
        <p:spPr bwMode="auto">
          <a:xfrm>
            <a:off x="5615607" y="3069350"/>
            <a:ext cx="1980009" cy="327188"/>
          </a:xfrm>
          <a:prstGeom prst="line">
            <a:avLst/>
          </a:prstGeom>
          <a:noFill/>
          <a:ln w="28575">
            <a:solidFill>
              <a:srgbClr val="0000FF"/>
            </a:solidFill>
            <a:prstDash val="solid"/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46" name="矩形 45"/>
          <p:cNvSpPr/>
          <p:nvPr/>
        </p:nvSpPr>
        <p:spPr>
          <a:xfrm rot="492074">
            <a:off x="6454428" y="3132738"/>
            <a:ext cx="723275" cy="253916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zh-CN" altLang="en-US" sz="1050" dirty="0">
                <a:solidFill>
                  <a:srgbClr val="0000FF"/>
                </a:solidFill>
                <a:latin typeface="+mj-ea"/>
                <a:ea typeface="+mj-ea"/>
              </a:rPr>
              <a:t>超时重传</a:t>
            </a:r>
            <a:endParaRPr lang="zh-CN" altLang="en-US" sz="1050" dirty="0">
              <a:solidFill>
                <a:srgbClr val="0000FF"/>
              </a:solidFill>
              <a:latin typeface="+mj-ea"/>
              <a:ea typeface="+mj-ea"/>
            </a:endParaRPr>
          </a:p>
        </p:txBody>
      </p:sp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 flipV="1">
            <a:off x="6588224" y="3426643"/>
            <a:ext cx="0" cy="1516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843662"/>
          </a:xfr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3.5.4 TCP</a:t>
            </a:r>
            <a:r>
              <a:rPr lang="zh-CN" altLang="en-US" sz="2000" dirty="0">
                <a:effectLst/>
              </a:rPr>
              <a:t>可靠运输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/>
              <a:t>TCP</a:t>
            </a:r>
            <a:r>
              <a:rPr lang="zh-CN" altLang="en-US" dirty="0"/>
              <a:t>确认和重传策略的小结</a:t>
            </a:r>
            <a:endParaRPr lang="en-US" altLang="zh-CN" dirty="0"/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3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33" name="Group 27"/>
          <p:cNvGrpSpPr/>
          <p:nvPr/>
        </p:nvGrpSpPr>
        <p:grpSpPr bwMode="auto">
          <a:xfrm>
            <a:off x="567829" y="2445970"/>
            <a:ext cx="566738" cy="586978"/>
            <a:chOff x="-44" y="1473"/>
            <a:chExt cx="981" cy="1105"/>
          </a:xfrm>
        </p:grpSpPr>
        <p:pic>
          <p:nvPicPr>
            <p:cNvPr id="36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7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39" name="Group 30"/>
          <p:cNvGrpSpPr/>
          <p:nvPr/>
        </p:nvGrpSpPr>
        <p:grpSpPr bwMode="auto">
          <a:xfrm flipH="1">
            <a:off x="7844221" y="2445970"/>
            <a:ext cx="566737" cy="586978"/>
            <a:chOff x="-44" y="1473"/>
            <a:chExt cx="981" cy="1105"/>
          </a:xfrm>
        </p:grpSpPr>
        <p:pic>
          <p:nvPicPr>
            <p:cNvPr id="40" name="Picture 31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3" name="Freeform 32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248918" y="1779662"/>
            <a:ext cx="2376264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case-R1: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分组按序到达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延迟确认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累计确认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7800" lvl="1"/>
            <a:r>
              <a:rPr lang="en-US" altLang="zh-CN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可以少发一些确认分组</a:t>
            </a:r>
            <a:endParaRPr lang="en-US" altLang="zh-CN" sz="14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80693" y="1779662"/>
            <a:ext cx="2894443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case-S1: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超时事件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pkt(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setTimer(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加倍时间间隔</a:t>
            </a:r>
            <a:endParaRPr lang="en-US" altLang="zh-CN" sz="14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39552" y="2997131"/>
            <a:ext cx="815093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Sender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7646754" y="3010001"/>
            <a:ext cx="921210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Receiver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>
            <a:off x="1663575" y="2771065"/>
            <a:ext cx="5823930" cy="0"/>
          </a:xfrm>
          <a:prstGeom prst="straightConnector1">
            <a:avLst/>
          </a:prstGeom>
          <a:ln w="12700">
            <a:prstDash val="dash"/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/>
          <p:nvPr/>
        </p:nvCxnSpPr>
        <p:spPr>
          <a:xfrm>
            <a:off x="1663575" y="3140732"/>
            <a:ext cx="5823930" cy="0"/>
          </a:xfrm>
          <a:prstGeom prst="straightConnector1">
            <a:avLst/>
          </a:prstGeom>
          <a:ln w="12700">
            <a:solidFill>
              <a:srgbClr val="FF0000"/>
            </a:solidFill>
            <a:prstDash val="dash"/>
            <a:headEnd type="triangle" w="lg" len="lg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/>
          <p:cNvSpPr txBox="1"/>
          <p:nvPr/>
        </p:nvSpPr>
        <p:spPr>
          <a:xfrm>
            <a:off x="2087993" y="2591218"/>
            <a:ext cx="1296144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pkt, sn#==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5578171" y="2950913"/>
            <a:ext cx="1387418" cy="307777"/>
          </a:xfrm>
          <a:prstGeom prst="rect">
            <a:avLst/>
          </a:prstGeom>
          <a:solidFill>
            <a:schemeClr val="bg1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ack, ack#==j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文本框 51"/>
          <p:cNvSpPr txBox="1"/>
          <p:nvPr/>
        </p:nvSpPr>
        <p:spPr>
          <a:xfrm>
            <a:off x="5225867" y="3338186"/>
            <a:ext cx="2812976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case-R2: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分组失序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strike="dblStrike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strike="dblStrike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延迟确认</a:t>
            </a:r>
            <a:endParaRPr lang="en-US" altLang="zh-CN" sz="1400" strike="dblStrike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重复确认最后一个有序分组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8" name="左大括号 7"/>
          <p:cNvSpPr/>
          <p:nvPr/>
        </p:nvSpPr>
        <p:spPr>
          <a:xfrm>
            <a:off x="5111240" y="1976859"/>
            <a:ext cx="158001" cy="2705776"/>
          </a:xfrm>
          <a:prstGeom prst="leftBrace">
            <a:avLst/>
          </a:prstGeom>
          <a:ln w="127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文本框 52"/>
          <p:cNvSpPr txBox="1"/>
          <p:nvPr/>
        </p:nvSpPr>
        <p:spPr>
          <a:xfrm>
            <a:off x="3794653" y="3294044"/>
            <a:ext cx="1372511" cy="30777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ack#</a:t>
            </a:r>
            <a:r>
              <a:rPr lang="zh-CN" altLang="en-US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只会增长</a:t>
            </a:r>
            <a:endParaRPr lang="zh-CN" altLang="en-US" sz="14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1294817" y="3294044"/>
            <a:ext cx="2737944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case-S2: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收到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3+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重复确认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不等超时，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立即重传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pkt(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resetTimer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56" name="文本框 55"/>
          <p:cNvSpPr txBox="1"/>
          <p:nvPr/>
        </p:nvSpPr>
        <p:spPr>
          <a:xfrm>
            <a:off x="1288726" y="4091491"/>
            <a:ext cx="2499836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case-S3: 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发现累计的确认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Kill Timer(</a:t>
            </a:r>
            <a:r>
              <a:rPr lang="en-US" altLang="zh-CN" sz="1400" dirty="0" err="1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7800" lvl="1"/>
            <a:r>
              <a:rPr lang="en-US" altLang="zh-CN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减少不必要的重传</a:t>
            </a:r>
            <a:endParaRPr lang="en-US" altLang="zh-CN" sz="14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7800" lvl="1"/>
            <a:r>
              <a:rPr lang="en-US" altLang="zh-CN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//</a:t>
            </a:r>
            <a:r>
              <a:rPr lang="zh-CN" altLang="en-US" sz="14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可解决确认丢失的问题</a:t>
            </a:r>
            <a:endParaRPr lang="en-US" altLang="zh-CN" sz="14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5225867" y="4156346"/>
            <a:ext cx="3413766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case-R3: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失序后期望的最低序号分组到达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7800" lvl="1"/>
            <a:r>
              <a:rPr lang="en-US" altLang="zh-CN" sz="1400" strike="dblStrike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strike="dblStrike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延迟确认</a:t>
            </a:r>
            <a:endParaRPr lang="en-US" altLang="zh-CN" sz="1400" strike="dblStrike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177800" lvl="1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立即确认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cxnSp>
        <p:nvCxnSpPr>
          <p:cNvPr id="18" name="直接箭头连接符 17"/>
          <p:cNvCxnSpPr/>
          <p:nvPr/>
        </p:nvCxnSpPr>
        <p:spPr>
          <a:xfrm flipH="1">
            <a:off x="3203848" y="3526090"/>
            <a:ext cx="971289" cy="630256"/>
          </a:xfrm>
          <a:prstGeom prst="straightConnector1">
            <a:avLst/>
          </a:prstGeom>
          <a:ln w="15875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1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336703" cy="3779688"/>
          </a:xfr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3.5.3 TCP</a:t>
            </a:r>
            <a:r>
              <a:rPr lang="zh-CN" altLang="en-US" sz="2000" dirty="0">
                <a:effectLst/>
              </a:rPr>
              <a:t>往返时间估计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问题</a:t>
            </a:r>
            <a:r>
              <a:rPr lang="en-US" altLang="zh-CN" dirty="0">
                <a:effectLst/>
              </a:rPr>
              <a:t>1</a:t>
            </a:r>
            <a:r>
              <a:rPr lang="zh-CN" altLang="en-US" dirty="0">
                <a:effectLst/>
              </a:rPr>
              <a:t>：</a:t>
            </a: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协议的发送方如何设置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定时器的时间间隔</a:t>
            </a:r>
            <a:r>
              <a:rPr lang="zh-CN" altLang="en-US" dirty="0">
                <a:effectLst/>
              </a:rPr>
              <a:t>？</a:t>
            </a:r>
            <a:endParaRPr lang="en-US" altLang="zh-CN" dirty="0">
              <a:effectLst/>
            </a:endParaRPr>
          </a:p>
          <a:p>
            <a:pPr lvl="2"/>
            <a:r>
              <a:rPr lang="zh-CN" altLang="en-US" sz="1600" dirty="0"/>
              <a:t>超时时间间隔要大于</a:t>
            </a:r>
            <a:r>
              <a:rPr lang="en-US" altLang="zh-CN" sz="1600" dirty="0"/>
              <a:t>RTT(round time trip)</a:t>
            </a:r>
            <a:r>
              <a:rPr lang="zh-CN" altLang="en-US" sz="1600" dirty="0"/>
              <a:t>！</a:t>
            </a:r>
            <a:endParaRPr lang="en-US" altLang="zh-CN" sz="1600" dirty="0"/>
          </a:p>
          <a:p>
            <a:pPr lvl="2"/>
            <a:r>
              <a:rPr lang="zh-CN" altLang="en-US" sz="1600" dirty="0"/>
              <a:t>但是，</a:t>
            </a:r>
            <a:r>
              <a:rPr lang="en-US" altLang="zh-CN" sz="1600" dirty="0"/>
              <a:t>RTT</a:t>
            </a:r>
            <a:r>
              <a:rPr lang="zh-CN" altLang="en-US" sz="1600" dirty="0"/>
              <a:t>总是在波动！</a:t>
            </a:r>
            <a:endParaRPr lang="en-US" altLang="zh-CN" sz="1600" dirty="0"/>
          </a:p>
          <a:p>
            <a:pPr lvl="2"/>
            <a:endParaRPr lang="en-US" altLang="zh-CN" dirty="0"/>
          </a:p>
          <a:p>
            <a:pPr lvl="2"/>
            <a:r>
              <a:rPr lang="zh-CN" altLang="en-US" dirty="0"/>
              <a:t>超时时间间隔小了会出现什么问题？</a:t>
            </a:r>
            <a:endParaRPr lang="en-US" altLang="zh-CN" dirty="0"/>
          </a:p>
          <a:p>
            <a:pPr lvl="3"/>
            <a:r>
              <a:rPr lang="zh-CN" altLang="en-US" dirty="0"/>
              <a:t>累积确认到达之前，会产生</a:t>
            </a:r>
            <a:r>
              <a:rPr lang="zh-CN" altLang="en-US" dirty="0">
                <a:solidFill>
                  <a:srgbClr val="FF0000"/>
                </a:solidFill>
              </a:rPr>
              <a:t>不必要的重传</a:t>
            </a:r>
            <a:r>
              <a:rPr lang="zh-CN" altLang="en-US" dirty="0"/>
              <a:t>！</a:t>
            </a:r>
            <a:endParaRPr lang="en-US" altLang="zh-CN" dirty="0"/>
          </a:p>
          <a:p>
            <a:pPr lvl="2"/>
            <a:r>
              <a:rPr lang="zh-CN" altLang="en-US" dirty="0"/>
              <a:t>超时时间间隔大的会出现什么问题？</a:t>
            </a:r>
            <a:endParaRPr lang="en-US" altLang="zh-CN" dirty="0"/>
          </a:p>
          <a:p>
            <a:pPr lvl="3"/>
            <a:r>
              <a:rPr lang="zh-CN" altLang="en-US" dirty="0"/>
              <a:t>对</a:t>
            </a:r>
            <a:r>
              <a:rPr lang="zh-CN" altLang="en-US" dirty="0">
                <a:solidFill>
                  <a:srgbClr val="FF0000"/>
                </a:solidFill>
              </a:rPr>
              <a:t>分组丢失的反映迟钝</a:t>
            </a:r>
            <a:r>
              <a:rPr lang="zh-CN" altLang="en-US" dirty="0"/>
              <a:t>，降低了传输效率！</a:t>
            </a:r>
            <a:endParaRPr lang="en-US" altLang="zh-CN" dirty="0"/>
          </a:p>
          <a:p>
            <a:pPr lvl="3"/>
            <a:r>
              <a:rPr lang="zh-CN" altLang="en-US" dirty="0"/>
              <a:t>累积确认、快速重传可以解决一些问题</a:t>
            </a:r>
            <a:endParaRPr lang="en-US" altLang="zh-CN" dirty="0"/>
          </a:p>
          <a:p>
            <a:pPr lvl="3"/>
            <a:r>
              <a:rPr lang="zh-CN" altLang="en-US" dirty="0"/>
              <a:t>但还是要充分估计，不能让超时时间间隔过大！</a:t>
            </a:r>
            <a:endParaRPr lang="en-US" altLang="zh-CN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99222"/>
            <a:ext cx="648072" cy="656712"/>
          </a:xfrm>
          <a:prstGeom prst="rect">
            <a:avLst/>
          </a:prstGeom>
        </p:spPr>
      </p:pic>
      <p:pic>
        <p:nvPicPr>
          <p:cNvPr id="9" name="Picture 4" descr="https://timgsa.baidu.com/timg?image&amp;quality=80&amp;size=b9999_10000&amp;sec=1584339822767&amp;di=0b0adf6f2e26295c7b51ea68caf1039a&amp;imgtype=0&amp;src=http%3A%2F%2Fimg.mp.sohu.com%2Fupload%2F20170812%2Fb94b52f80f7b4698bc99d2bbf1c2f742_th.png"/>
          <p:cNvPicPr>
            <a:picLocks noChangeAspect="1" noChangeArrowheads="1" noCrop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64136" y="1923678"/>
            <a:ext cx="2834074" cy="123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1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912767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3.5.3 TCP</a:t>
            </a:r>
            <a:r>
              <a:rPr lang="zh-CN" altLang="en-US" sz="2000" dirty="0">
                <a:effectLst/>
              </a:rPr>
              <a:t>往返时间估计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问题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：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TCP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协议的发送方如何设置定时器的时间间隔？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超时时间间隔大于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RTT(round time trip)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2"/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但是，</a:t>
            </a:r>
            <a:r>
              <a:rPr lang="en-US" altLang="zh-CN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RTT</a:t>
            </a:r>
            <a:r>
              <a:rPr lang="zh-CN" altLang="en-US" sz="16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</a:rPr>
              <a:t>总是在波动！</a:t>
            </a:r>
            <a:endParaRPr lang="en-US" altLang="zh-CN" sz="1600" dirty="0">
              <a:solidFill>
                <a:schemeClr val="tx1">
                  <a:lumMod val="50000"/>
                  <a:lumOff val="50000"/>
                </a:schemeClr>
              </a:solidFill>
              <a:effectLst/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  <a:effectLst/>
              </a:rPr>
              <a:t>问题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2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：怎样估计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RTT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？</a:t>
            </a:r>
            <a:endParaRPr lang="en-US" altLang="zh-CN" dirty="0">
              <a:solidFill>
                <a:srgbClr val="0070C0"/>
              </a:solidFill>
              <a:effectLst/>
            </a:endParaRPr>
          </a:p>
          <a:p>
            <a:pPr lvl="2"/>
            <a:r>
              <a:rPr lang="en-US" altLang="zh-CN" sz="1600" b="1" dirty="0">
                <a:latin typeface="Courier New" panose="02070309020205020404" pitchFamily="49" charset="0"/>
              </a:rPr>
              <a:t>SampleRTT</a:t>
            </a:r>
            <a:r>
              <a:rPr lang="en-US" altLang="zh-CN" sz="1600" dirty="0"/>
              <a:t>:</a:t>
            </a:r>
            <a:endParaRPr lang="en-US" altLang="zh-CN" sz="1600" dirty="0">
              <a:effectLst/>
            </a:endParaRPr>
          </a:p>
          <a:p>
            <a:pPr lvl="3"/>
            <a:r>
              <a:rPr lang="zh-CN" altLang="en-US" sz="1400" dirty="0"/>
              <a:t>某个报文段被发出，到收到确认的时间间隔</a:t>
            </a:r>
            <a:endParaRPr lang="en-US" altLang="zh-CN" sz="1400" dirty="0"/>
          </a:p>
          <a:p>
            <a:pPr lvl="3"/>
            <a:r>
              <a:rPr lang="en-US" altLang="zh-CN" sz="1400" dirty="0"/>
              <a:t>TCP</a:t>
            </a:r>
            <a:r>
              <a:rPr lang="zh-CN" altLang="en-US" sz="1400" dirty="0"/>
              <a:t>仅在某个时刻做一次</a:t>
            </a:r>
            <a:r>
              <a:rPr lang="en-US" altLang="zh-CN" sz="1400" b="1" dirty="0">
                <a:latin typeface="Courier New" panose="02070309020205020404" pitchFamily="49" charset="0"/>
              </a:rPr>
              <a:t>SampleRTT</a:t>
            </a:r>
            <a:r>
              <a:rPr lang="zh-CN" altLang="en-US" sz="1400" dirty="0"/>
              <a:t>测量</a:t>
            </a:r>
            <a:endParaRPr lang="en-US" altLang="zh-CN" sz="1400" dirty="0"/>
          </a:p>
          <a:p>
            <a:pPr lvl="3"/>
            <a:r>
              <a:rPr lang="en-US" altLang="zh-CN" sz="1400" b="1" dirty="0">
                <a:latin typeface="Courier New" panose="02070309020205020404" pitchFamily="49" charset="0"/>
              </a:rPr>
              <a:t>SampleRTT</a:t>
            </a:r>
            <a:r>
              <a:rPr lang="zh-CN" altLang="en-US" sz="1400" dirty="0"/>
              <a:t>的值也会波动</a:t>
            </a:r>
            <a:endParaRPr lang="en-US" altLang="zh-CN" sz="1400" dirty="0"/>
          </a:p>
          <a:p>
            <a:pPr lvl="3"/>
            <a:r>
              <a:rPr lang="zh-CN" altLang="en-US" sz="1400" dirty="0"/>
              <a:t>因此需要统计学意义上的测量和估计</a:t>
            </a:r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851142"/>
            <a:ext cx="648072" cy="656712"/>
          </a:xfrm>
          <a:prstGeom prst="rect">
            <a:avLst/>
          </a:prstGeom>
        </p:spPr>
      </p:pic>
      <p:sp>
        <p:nvSpPr>
          <p:cNvPr id="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2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99222"/>
            <a:ext cx="648072" cy="656712"/>
          </a:xfrm>
          <a:prstGeom prst="rect">
            <a:avLst/>
          </a:prstGeom>
        </p:spPr>
      </p:pic>
      <p:grpSp>
        <p:nvGrpSpPr>
          <p:cNvPr id="9" name="Group 14"/>
          <p:cNvGrpSpPr/>
          <p:nvPr/>
        </p:nvGrpSpPr>
        <p:grpSpPr bwMode="auto">
          <a:xfrm>
            <a:off x="3491880" y="2067694"/>
            <a:ext cx="4353401" cy="2994867"/>
            <a:chOff x="782" y="1865"/>
            <a:chExt cx="3951" cy="2704"/>
          </a:xfrm>
        </p:grpSpPr>
        <p:pic>
          <p:nvPicPr>
            <p:cNvPr id="10" name="Picture 1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2" y="1865"/>
              <a:ext cx="3951" cy="27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ectangle 13"/>
            <p:cNvSpPr>
              <a:spLocks noChangeArrowheads="1"/>
            </p:cNvSpPr>
            <p:nvPr/>
          </p:nvSpPr>
          <p:spPr bwMode="auto">
            <a:xfrm>
              <a:off x="2055" y="1932"/>
              <a:ext cx="1404" cy="1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defPPr>
                <a:defRPr lang="en-US"/>
              </a:defPPr>
              <a:lvl1pPr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1pPr>
              <a:lvl2pPr marL="4572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2pPr>
              <a:lvl3pPr marL="9144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3pPr>
              <a:lvl4pPr marL="13716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4pPr>
              <a:lvl5pPr marL="1828800" algn="ctr" rtl="0" eaLnBrk="0" fontAlgn="base" hangingPunct="0">
                <a:spcBef>
                  <a:spcPct val="0"/>
                </a:spcBef>
                <a:spcAft>
                  <a:spcPct val="0"/>
                </a:spcAft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5pPr>
              <a:lvl6pPr marL="22860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6pPr>
              <a:lvl7pPr marL="27432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7pPr>
              <a:lvl8pPr marL="32004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8pPr>
              <a:lvl9pPr marL="3657600" algn="l" defTabSz="914400" rtl="0" eaLnBrk="1" latinLnBrk="0" hangingPunct="1">
                <a:defRPr sz="1600" kern="12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  <a:cs typeface="+mn-cs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704855" cy="206779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3.5.3 TCP</a:t>
            </a:r>
            <a:r>
              <a:rPr lang="zh-CN" altLang="en-US" sz="2000" dirty="0">
                <a:effectLst/>
              </a:rPr>
              <a:t>往返时间估计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solidFill>
                  <a:srgbClr val="0070C0"/>
                </a:solidFill>
                <a:effectLst/>
              </a:rPr>
              <a:t>问题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2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：怎样估计</a:t>
            </a:r>
            <a:r>
              <a:rPr lang="en-US" altLang="zh-CN" dirty="0">
                <a:solidFill>
                  <a:srgbClr val="0070C0"/>
                </a:solidFill>
                <a:effectLst/>
              </a:rPr>
              <a:t>RTT</a:t>
            </a:r>
            <a:r>
              <a:rPr lang="zh-CN" altLang="en-US" dirty="0">
                <a:solidFill>
                  <a:srgbClr val="0070C0"/>
                </a:solidFill>
                <a:effectLst/>
              </a:rPr>
              <a:t>？</a:t>
            </a:r>
            <a:endParaRPr lang="en-US" altLang="zh-CN" dirty="0">
              <a:solidFill>
                <a:srgbClr val="0070C0"/>
              </a:solidFill>
              <a:effectLst/>
            </a:endParaRPr>
          </a:p>
          <a:p>
            <a:pPr lvl="2"/>
            <a:r>
              <a:rPr lang="zh-CN" altLang="en-US" sz="1600" dirty="0"/>
              <a:t>指数加权平均移动</a:t>
            </a:r>
            <a:r>
              <a:rPr lang="en-US" altLang="zh-CN" sz="1600" dirty="0"/>
              <a:t>(EWMA)</a:t>
            </a:r>
            <a:endParaRPr lang="en-US" altLang="zh-CN" sz="1600" dirty="0">
              <a:effectLst/>
            </a:endParaRPr>
          </a:p>
          <a:p>
            <a:pPr lvl="2"/>
            <a:r>
              <a:rPr lang="en-US" altLang="zh-CN" sz="1600" b="1" dirty="0">
                <a:latin typeface="Courier New" panose="02070309020205020404" pitchFamily="49" charset="0"/>
              </a:rPr>
              <a:t>EstimatedRTT</a:t>
            </a:r>
            <a:r>
              <a:rPr lang="en-US" altLang="zh-CN" sz="1600" dirty="0">
                <a:solidFill>
                  <a:srgbClr val="0066CC"/>
                </a:solidFill>
              </a:rPr>
              <a:t> </a:t>
            </a:r>
            <a:r>
              <a:rPr lang="en-US" altLang="zh-CN" sz="1600" dirty="0"/>
              <a:t>=</a:t>
            </a:r>
            <a:r>
              <a:rPr lang="en-US" altLang="zh-CN" sz="1600" dirty="0">
                <a:solidFill>
                  <a:srgbClr val="0066CC"/>
                </a:solidFill>
              </a:rPr>
              <a:t> </a:t>
            </a:r>
            <a:r>
              <a:rPr lang="en-US" altLang="zh-CN" sz="1600" b="1" dirty="0">
                <a:latin typeface="Courier New" panose="02070309020205020404" pitchFamily="49" charset="0"/>
              </a:rPr>
              <a:t>(1-</a:t>
            </a:r>
            <a:r>
              <a:rPr lang="en-US" altLang="zh-CN" sz="1600" b="1" dirty="0">
                <a:latin typeface="Courier New" panose="02070309020205020404" pitchFamily="49" charset="0"/>
                <a:sym typeface="Symbol" panose="05050102010706020507" charset="0"/>
              </a:rPr>
              <a:t></a:t>
            </a:r>
            <a:r>
              <a:rPr lang="en-US" altLang="zh-CN" sz="1600" b="1" dirty="0">
                <a:latin typeface="Courier New" panose="02070309020205020404" pitchFamily="49" charset="0"/>
              </a:rPr>
              <a:t>)*EstimatedRTT + </a:t>
            </a:r>
            <a:r>
              <a:rPr lang="en-US" altLang="zh-CN" sz="1600" b="1" dirty="0">
                <a:latin typeface="Courier New" panose="02070309020205020404" pitchFamily="49" charset="0"/>
                <a:sym typeface="Symbol" panose="05050102010706020507" charset="0"/>
              </a:rPr>
              <a:t></a:t>
            </a:r>
            <a:r>
              <a:rPr lang="en-US" altLang="zh-CN" sz="1600" b="1" dirty="0">
                <a:latin typeface="Courier New" panose="02070309020205020404" pitchFamily="49" charset="0"/>
              </a:rPr>
              <a:t>*SampleRTT</a:t>
            </a:r>
            <a:endParaRPr lang="en-US" altLang="zh-CN" sz="1600" b="1" dirty="0">
              <a:latin typeface="Courier New" panose="02070309020205020404" pitchFamily="49" charset="0"/>
            </a:endParaRPr>
          </a:p>
          <a:p>
            <a:pPr lvl="2"/>
            <a:r>
              <a:rPr lang="en-US" altLang="zh-CN" sz="1600" dirty="0">
                <a:solidFill>
                  <a:srgbClr val="FF0000"/>
                </a:solidFill>
              </a:rPr>
              <a:t>RFC 6298: </a:t>
            </a:r>
            <a:r>
              <a:rPr lang="en-US" altLang="zh-CN" sz="1600" b="1" dirty="0">
                <a:latin typeface="Courier New" panose="02070309020205020404" pitchFamily="49" charset="0"/>
                <a:sym typeface="Symbol" panose="05050102010706020507" charset="0"/>
              </a:rPr>
              <a:t>=0.125</a:t>
            </a:r>
            <a:endParaRPr lang="en-US" altLang="zh-CN" sz="1600" dirty="0">
              <a:solidFill>
                <a:srgbClr val="0066CC"/>
              </a:solidFill>
              <a:latin typeface="+mj-lt"/>
              <a:ea typeface="+mj-ea"/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56083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3.5.3 TCP</a:t>
            </a:r>
            <a:r>
              <a:rPr lang="zh-CN" altLang="en-US" sz="2000" dirty="0">
                <a:effectLst/>
              </a:rPr>
              <a:t>往返时间估计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</a:rPr>
              <a:t>问题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3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：怎样估计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RTT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的偏差？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en-US" altLang="zh-CN" sz="1600" b="1" dirty="0" err="1">
                <a:latin typeface="Courier New" panose="02070309020205020404" pitchFamily="49" charset="0"/>
              </a:rPr>
              <a:t>DevRTT</a:t>
            </a:r>
            <a:r>
              <a:rPr lang="en-US" altLang="zh-CN" sz="1600" dirty="0">
                <a:solidFill>
                  <a:srgbClr val="0066CC"/>
                </a:solidFill>
              </a:rPr>
              <a:t> = </a:t>
            </a:r>
            <a:r>
              <a:rPr lang="en-US" altLang="zh-CN" sz="1600" b="1" dirty="0">
                <a:latin typeface="Courier New" panose="02070309020205020404" pitchFamily="49" charset="0"/>
              </a:rPr>
              <a:t>(1-</a:t>
            </a:r>
            <a:r>
              <a:rPr lang="en-US" altLang="zh-CN" sz="1600" b="1" dirty="0">
                <a:latin typeface="Courier New" panose="02070309020205020404" pitchFamily="49" charset="0"/>
                <a:sym typeface="Symbol" panose="05050102010706020507" charset="0"/>
              </a:rPr>
              <a:t></a:t>
            </a:r>
            <a:r>
              <a:rPr lang="en-US" altLang="zh-CN" sz="1600" b="1" dirty="0">
                <a:latin typeface="Courier New" panose="02070309020205020404" pitchFamily="49" charset="0"/>
              </a:rPr>
              <a:t>)*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DevRTT</a:t>
            </a:r>
            <a:r>
              <a:rPr lang="en-US" altLang="zh-CN" sz="1600" b="1" dirty="0">
                <a:latin typeface="Courier New" panose="02070309020205020404" pitchFamily="49" charset="0"/>
              </a:rPr>
              <a:t> + </a:t>
            </a:r>
            <a:r>
              <a:rPr lang="en-US" altLang="zh-CN" sz="1600" b="1" dirty="0">
                <a:latin typeface="Courier New" panose="02070309020205020404" pitchFamily="49" charset="0"/>
                <a:sym typeface="Symbol" panose="05050102010706020507" charset="0"/>
              </a:rPr>
              <a:t></a:t>
            </a:r>
            <a:r>
              <a:rPr lang="en-US" altLang="zh-CN" sz="1600" b="1" dirty="0">
                <a:latin typeface="Courier New" panose="02070309020205020404" pitchFamily="49" charset="0"/>
              </a:rPr>
              <a:t>*|</a:t>
            </a:r>
            <a:r>
              <a:rPr lang="en-US" altLang="zh-CN" sz="1600" b="1" dirty="0" err="1">
                <a:latin typeface="Courier New" panose="02070309020205020404" pitchFamily="49" charset="0"/>
              </a:rPr>
              <a:t>SampleRTT-EstimatedRTT</a:t>
            </a:r>
            <a:r>
              <a:rPr lang="en-US" altLang="zh-CN" sz="1600" b="1" dirty="0">
                <a:latin typeface="Courier New" panose="02070309020205020404" pitchFamily="49" charset="0"/>
              </a:rPr>
              <a:t>|</a:t>
            </a:r>
            <a:endParaRPr lang="en-US" altLang="zh-CN" sz="1600" b="1" dirty="0">
              <a:latin typeface="Courier New" panose="02070309020205020404" pitchFamily="49" charset="0"/>
            </a:endParaRPr>
          </a:p>
          <a:p>
            <a:pPr lvl="2"/>
            <a:r>
              <a:rPr lang="en-US" altLang="zh-CN" sz="1600" dirty="0">
                <a:solidFill>
                  <a:srgbClr val="FF0000"/>
                </a:solidFill>
              </a:rPr>
              <a:t>RFC 6298: </a:t>
            </a:r>
            <a:r>
              <a:rPr lang="en-US" altLang="zh-CN" sz="1600" b="1" dirty="0">
                <a:latin typeface="Courier New" panose="02070309020205020404" pitchFamily="49" charset="0"/>
                <a:sym typeface="Symbol" panose="05050102010706020507" charset="0"/>
              </a:rPr>
              <a:t>=0.25</a:t>
            </a:r>
            <a:endParaRPr lang="en-US" altLang="zh-CN" sz="1600" b="1" dirty="0">
              <a:latin typeface="Courier New" panose="02070309020205020404" pitchFamily="49" charset="0"/>
              <a:sym typeface="Symbol" panose="05050102010706020507" charset="0"/>
            </a:endParaRPr>
          </a:p>
          <a:p>
            <a:pPr lvl="2"/>
            <a:endParaRPr lang="en-US" altLang="zh-CN" b="1" dirty="0">
              <a:solidFill>
                <a:srgbClr val="0066CC"/>
              </a:solidFill>
              <a:latin typeface="Courier New" panose="02070309020205020404" pitchFamily="49" charset="0"/>
              <a:ea typeface="+mj-ea"/>
              <a:sym typeface="Symbol" panose="05050102010706020507" charset="0"/>
            </a:endParaRPr>
          </a:p>
          <a:p>
            <a:pPr lvl="1"/>
            <a:r>
              <a:rPr lang="zh-CN" altLang="en-US" dirty="0">
                <a:solidFill>
                  <a:srgbClr val="0066CC"/>
                </a:solidFill>
                <a:effectLst/>
                <a:sym typeface="Symbol" panose="05050102010706020507" charset="0"/>
              </a:rPr>
              <a:t>问题</a:t>
            </a:r>
            <a:r>
              <a:rPr lang="en-US" altLang="zh-CN" dirty="0">
                <a:solidFill>
                  <a:srgbClr val="0066CC"/>
                </a:solidFill>
                <a:effectLst/>
                <a:sym typeface="Symbol" panose="05050102010706020507" charset="0"/>
              </a:rPr>
              <a:t>4</a:t>
            </a:r>
            <a:r>
              <a:rPr lang="zh-CN" altLang="en-US" dirty="0">
                <a:solidFill>
                  <a:srgbClr val="0066CC"/>
                </a:solidFill>
                <a:effectLst/>
                <a:sym typeface="Symbol" panose="05050102010706020507" charset="0"/>
              </a:rPr>
              <a:t>：怎样设置超时时间间隔？</a:t>
            </a:r>
            <a:endParaRPr lang="en-US" altLang="zh-CN" dirty="0">
              <a:solidFill>
                <a:srgbClr val="0066CC"/>
              </a:solidFill>
              <a:effectLst/>
              <a:sym typeface="Symbol" panose="05050102010706020507" charset="0"/>
            </a:endParaRPr>
          </a:p>
          <a:p>
            <a:pPr lvl="2"/>
            <a:r>
              <a:rPr lang="en-US" altLang="zh-CN" sz="1600" b="1" dirty="0" err="1">
                <a:solidFill>
                  <a:srgbClr val="FF0000"/>
                </a:solidFill>
                <a:latin typeface="Courier New" panose="02070309020205020404" pitchFamily="49" charset="0"/>
                <a:ea typeface="MS PGothic" panose="020B0600070205080204" charset="-128"/>
              </a:rPr>
              <a:t>TimeoutInterval</a:t>
            </a:r>
            <a:r>
              <a:rPr lang="en-US" altLang="zh-CN" sz="1600" b="1" dirty="0">
                <a:latin typeface="Courier New" panose="02070309020205020404" pitchFamily="49" charset="0"/>
                <a:ea typeface="MS PGothic" panose="020B0600070205080204" charset="-128"/>
              </a:rPr>
              <a:t> = </a:t>
            </a:r>
            <a:r>
              <a:rPr lang="en-US" altLang="zh-CN" sz="1600" b="1" dirty="0" err="1">
                <a:latin typeface="Courier New" panose="02070309020205020404" pitchFamily="49" charset="0"/>
                <a:ea typeface="MS PGothic" panose="020B0600070205080204" charset="-128"/>
              </a:rPr>
              <a:t>EstimatedRTT</a:t>
            </a:r>
            <a:r>
              <a:rPr lang="en-US" altLang="zh-CN" sz="1600" b="1" dirty="0">
                <a:latin typeface="Courier New" panose="02070309020205020404" pitchFamily="49" charset="0"/>
                <a:ea typeface="MS PGothic" panose="020B0600070205080204" charset="-128"/>
              </a:rPr>
              <a:t> + 4*</a:t>
            </a:r>
            <a:r>
              <a:rPr lang="en-US" altLang="zh-CN" sz="1600" b="1" dirty="0" err="1">
                <a:latin typeface="Courier New" panose="02070309020205020404" pitchFamily="49" charset="0"/>
                <a:ea typeface="MS PGothic" panose="020B0600070205080204" charset="-128"/>
              </a:rPr>
              <a:t>DevRTT</a:t>
            </a:r>
            <a:endParaRPr lang="en-US" altLang="zh-CN" sz="1600" b="1" dirty="0">
              <a:latin typeface="Courier New" panose="02070309020205020404" pitchFamily="49" charset="0"/>
              <a:ea typeface="MS PGothic" panose="020B0600070205080204" charset="-128"/>
            </a:endParaRPr>
          </a:p>
          <a:p>
            <a:pPr lvl="2"/>
            <a:endParaRPr lang="en-US" altLang="zh-CN" dirty="0">
              <a:solidFill>
                <a:srgbClr val="0066CC"/>
              </a:solidFill>
              <a:effectLst/>
              <a:latin typeface="+mj-lt"/>
              <a:ea typeface="+mj-ea"/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2" name="Text Box 14"/>
          <p:cNvSpPr txBox="1">
            <a:spLocks noChangeArrowheads="1"/>
          </p:cNvSpPr>
          <p:nvPr/>
        </p:nvSpPr>
        <p:spPr bwMode="auto">
          <a:xfrm>
            <a:off x="3542259" y="3616737"/>
            <a:ext cx="1402820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500" dirty="0">
                <a:solidFill>
                  <a:srgbClr val="000099"/>
                </a:solidFill>
              </a:rPr>
              <a:t>estimated RTT</a:t>
            </a:r>
            <a:endParaRPr lang="en-US" sz="1500" dirty="0">
              <a:solidFill>
                <a:srgbClr val="000099"/>
              </a:solidFill>
            </a:endParaRPr>
          </a:p>
        </p:txBody>
      </p:sp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4973116" y="3597171"/>
            <a:ext cx="1531317" cy="3231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r>
              <a:rPr lang="ja-JP" altLang="en-US" sz="1500" dirty="0">
                <a:solidFill>
                  <a:srgbClr val="000099"/>
                </a:solidFill>
              </a:rPr>
              <a:t>“</a:t>
            </a:r>
            <a:r>
              <a:rPr lang="en-US" altLang="ja-JP" sz="1500" dirty="0">
                <a:solidFill>
                  <a:srgbClr val="000099"/>
                </a:solidFill>
              </a:rPr>
              <a:t>safety margin</a:t>
            </a:r>
            <a:r>
              <a:rPr lang="ja-JP" altLang="en-US" sz="1500" dirty="0">
                <a:solidFill>
                  <a:srgbClr val="000099"/>
                </a:solidFill>
              </a:rPr>
              <a:t>”</a:t>
            </a:r>
            <a:endParaRPr lang="en-US" altLang="zh-CN" sz="1500" dirty="0">
              <a:solidFill>
                <a:srgbClr val="000099"/>
              </a:solidFill>
            </a:endParaRPr>
          </a:p>
        </p:txBody>
      </p:sp>
      <p:sp>
        <p:nvSpPr>
          <p:cNvPr id="14" name="Line 17"/>
          <p:cNvSpPr>
            <a:spLocks noChangeShapeType="1"/>
          </p:cNvSpPr>
          <p:nvPr/>
        </p:nvSpPr>
        <p:spPr bwMode="auto">
          <a:xfrm flipV="1">
            <a:off x="4139952" y="3346465"/>
            <a:ext cx="0" cy="334566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5" name="Line 19"/>
          <p:cNvSpPr>
            <a:spLocks noChangeShapeType="1"/>
          </p:cNvSpPr>
          <p:nvPr/>
        </p:nvSpPr>
        <p:spPr bwMode="auto">
          <a:xfrm flipV="1">
            <a:off x="5675585" y="3317373"/>
            <a:ext cx="0" cy="334566"/>
          </a:xfrm>
          <a:prstGeom prst="line">
            <a:avLst/>
          </a:prstGeom>
          <a:noFill/>
          <a:ln w="19050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pic>
        <p:nvPicPr>
          <p:cNvPr id="16" name="Picture 20" descr="alarm_clock_ringing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2726" y="3302460"/>
            <a:ext cx="564356" cy="6215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599222"/>
            <a:ext cx="648072" cy="656712"/>
          </a:xfrm>
          <a:prstGeom prst="rect">
            <a:avLst/>
          </a:prstGeom>
        </p:spPr>
      </p:pic>
      <p:sp>
        <p:nvSpPr>
          <p:cNvPr id="17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8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8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63698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>
                <a:effectLst/>
              </a:rPr>
              <a:t>3.5.2 TCP</a:t>
            </a:r>
            <a:r>
              <a:rPr lang="zh-CN" altLang="en-US" sz="2000" dirty="0">
                <a:effectLst/>
              </a:rPr>
              <a:t>数据封装</a:t>
            </a: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109" name="Rectangle 2"/>
          <p:cNvSpPr>
            <a:spLocks noChangeArrowheads="1"/>
          </p:cNvSpPr>
          <p:nvPr/>
        </p:nvSpPr>
        <p:spPr bwMode="auto">
          <a:xfrm>
            <a:off x="2291549" y="4382473"/>
            <a:ext cx="835326" cy="277509"/>
          </a:xfrm>
          <a:prstGeom prst="rect">
            <a:avLst/>
          </a:prstGeom>
          <a:solidFill>
            <a:srgbClr val="CCFF99"/>
          </a:solidFill>
          <a:ln w="19050">
            <a:solidFill>
              <a:srgbClr val="3333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AutoShape 8"/>
          <p:cNvSpPr>
            <a:spLocks noChangeArrowheads="1"/>
          </p:cNvSpPr>
          <p:nvPr/>
        </p:nvSpPr>
        <p:spPr bwMode="auto">
          <a:xfrm>
            <a:off x="1881460" y="4451414"/>
            <a:ext cx="432811" cy="138755"/>
          </a:xfrm>
          <a:prstGeom prst="leftArrow">
            <a:avLst>
              <a:gd name="adj1" fmla="val 50000"/>
              <a:gd name="adj2" fmla="val 62893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9" name="Rectangle 82"/>
          <p:cNvSpPr>
            <a:spLocks noChangeArrowheads="1"/>
          </p:cNvSpPr>
          <p:nvPr/>
        </p:nvSpPr>
        <p:spPr bwMode="auto">
          <a:xfrm>
            <a:off x="4108274" y="3875451"/>
            <a:ext cx="2934460" cy="271401"/>
          </a:xfrm>
          <a:prstGeom prst="rect">
            <a:avLst/>
          </a:prstGeom>
          <a:solidFill>
            <a:srgbClr val="CCE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1" name="Rectangle 84"/>
          <p:cNvSpPr>
            <a:spLocks noChangeArrowheads="1"/>
          </p:cNvSpPr>
          <p:nvPr/>
        </p:nvSpPr>
        <p:spPr bwMode="auto">
          <a:xfrm>
            <a:off x="4578956" y="3905996"/>
            <a:ext cx="222140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数据载荷</a:t>
            </a:r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应用层报文分段</a:t>
            </a:r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zh-CN" altLang="en-US" sz="90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2" name="Rectangle 85"/>
          <p:cNvSpPr>
            <a:spLocks noChangeArrowheads="1"/>
          </p:cNvSpPr>
          <p:nvPr/>
        </p:nvSpPr>
        <p:spPr bwMode="auto">
          <a:xfrm>
            <a:off x="3135531" y="3861489"/>
            <a:ext cx="958677" cy="278382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3" name="Rectangle 86"/>
          <p:cNvSpPr>
            <a:spLocks noChangeArrowheads="1"/>
          </p:cNvSpPr>
          <p:nvPr/>
        </p:nvSpPr>
        <p:spPr bwMode="auto">
          <a:xfrm>
            <a:off x="3135531" y="3861489"/>
            <a:ext cx="3924515" cy="278382"/>
          </a:xfrm>
          <a:prstGeom prst="rect">
            <a:avLst/>
          </a:prstGeom>
          <a:noFill/>
          <a:ln w="19050">
            <a:solidFill>
              <a:srgbClr val="333399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4" name="Line 87"/>
          <p:cNvSpPr>
            <a:spLocks noChangeShapeType="1"/>
          </p:cNvSpPr>
          <p:nvPr/>
        </p:nvSpPr>
        <p:spPr bwMode="auto">
          <a:xfrm flipH="1">
            <a:off x="4094208" y="3867598"/>
            <a:ext cx="0" cy="2722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5" name="Rectangle 88"/>
          <p:cNvSpPr>
            <a:spLocks noChangeArrowheads="1"/>
          </p:cNvSpPr>
          <p:nvPr/>
        </p:nvSpPr>
        <p:spPr bwMode="auto">
          <a:xfrm>
            <a:off x="3268620" y="3932175"/>
            <a:ext cx="491241" cy="14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6" name="Rectangle 89"/>
          <p:cNvSpPr>
            <a:spLocks noChangeArrowheads="1"/>
          </p:cNvSpPr>
          <p:nvPr/>
        </p:nvSpPr>
        <p:spPr bwMode="auto">
          <a:xfrm>
            <a:off x="3274031" y="3905995"/>
            <a:ext cx="630782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9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  <a:endParaRPr kumimoji="1" lang="zh-CN" altLang="en-US" sz="9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7" name="Rectangle 90"/>
          <p:cNvSpPr>
            <a:spLocks noChangeArrowheads="1"/>
          </p:cNvSpPr>
          <p:nvPr/>
        </p:nvSpPr>
        <p:spPr bwMode="auto">
          <a:xfrm>
            <a:off x="2162787" y="3915595"/>
            <a:ext cx="1111243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kumimoji="1" lang="zh-CN" altLang="en-US" sz="105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  <a:endParaRPr kumimoji="1" lang="zh-CN" altLang="en-US" sz="105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8" name="Rectangle 91"/>
          <p:cNvSpPr>
            <a:spLocks noChangeArrowheads="1"/>
          </p:cNvSpPr>
          <p:nvPr/>
        </p:nvSpPr>
        <p:spPr bwMode="auto">
          <a:xfrm>
            <a:off x="3126875" y="4382473"/>
            <a:ext cx="3933172" cy="277509"/>
          </a:xfrm>
          <a:prstGeom prst="rect">
            <a:avLst/>
          </a:prstGeom>
          <a:solidFill>
            <a:srgbClr val="FFCCFF"/>
          </a:solidFill>
          <a:ln w="19050">
            <a:solidFill>
              <a:srgbClr val="333399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Rectangle 92"/>
          <p:cNvSpPr>
            <a:spLocks noChangeArrowheads="1"/>
          </p:cNvSpPr>
          <p:nvPr/>
        </p:nvSpPr>
        <p:spPr bwMode="auto">
          <a:xfrm>
            <a:off x="4504296" y="4414761"/>
            <a:ext cx="848791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数据载荷</a:t>
            </a:r>
            <a:endParaRPr kumimoji="1" lang="zh-CN" altLang="en-US" sz="105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Rectangle 93"/>
          <p:cNvSpPr>
            <a:spLocks noChangeArrowheads="1"/>
          </p:cNvSpPr>
          <p:nvPr/>
        </p:nvSpPr>
        <p:spPr bwMode="auto">
          <a:xfrm>
            <a:off x="2452771" y="4414761"/>
            <a:ext cx="579486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  <a:endParaRPr kumimoji="1" lang="zh-CN" altLang="en-US" sz="1050" b="1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868477" y="1476000"/>
            <a:ext cx="5714269" cy="2360572"/>
            <a:chOff x="1868477" y="1500917"/>
            <a:chExt cx="5714269" cy="2360572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2066487" y="1926780"/>
              <a:ext cx="10820" cy="151582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1868477" y="2514959"/>
              <a:ext cx="367890" cy="31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7195300" y="1923289"/>
              <a:ext cx="0" cy="1273225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6924712" y="2373587"/>
              <a:ext cx="658034" cy="3166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2263416" y="1925907"/>
              <a:ext cx="4641900" cy="1519319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2269909" y="3445226"/>
              <a:ext cx="4652721" cy="41626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2259088" y="2184217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2267745" y="2439910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2259088" y="269472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2259088" y="2949549"/>
              <a:ext cx="464947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2267745" y="3205241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585449" y="1928525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310407" y="1944476"/>
              <a:ext cx="916117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2256819" y="2712317"/>
              <a:ext cx="634482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3007852" y="2962755"/>
              <a:ext cx="781465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3130121" y="3217080"/>
              <a:ext cx="1931421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3077101" y="1944476"/>
              <a:ext cx="701315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317106" y="2196677"/>
              <a:ext cx="524783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588694" y="2698220"/>
              <a:ext cx="0" cy="50353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213025" y="2962755"/>
              <a:ext cx="1036343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484614" y="2698336"/>
              <a:ext cx="675666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168867" y="2462842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841219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4005482" y="2695602"/>
              <a:ext cx="0" cy="2513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706842" y="2698220"/>
              <a:ext cx="0" cy="25482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855079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295465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415047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43703" y="2698220"/>
              <a:ext cx="0" cy="2504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3023000" y="2703572"/>
              <a:ext cx="526588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422174" y="2692732"/>
              <a:ext cx="193058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2270990" y="1589056"/>
              <a:ext cx="463108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359304" y="1500917"/>
              <a:ext cx="529794" cy="22891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2261252" y="1868311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2261252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2406244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255123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269622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84121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98621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313012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327511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3420104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56509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71008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85507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4000071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414506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28897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3396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578956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723948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486894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01393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15892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30391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44782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5592816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5737808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5882800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027792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172783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6317775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646276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6606677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6751669" y="1758354"/>
              <a:ext cx="0" cy="1099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6896660" y="1795006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2357553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516405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675257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5834109" y="1721702"/>
              <a:ext cx="966251" cy="10995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264035" y="2692732"/>
              <a:ext cx="154729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4132594" y="2692732"/>
              <a:ext cx="153648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977864" y="2692732"/>
              <a:ext cx="150403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832873" y="2692732"/>
              <a:ext cx="160140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674896" y="2692732"/>
              <a:ext cx="154730" cy="2986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1883624" y="1656252"/>
              <a:ext cx="5496688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5736726" y="3211350"/>
              <a:ext cx="2164" cy="23649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046186" y="3217080"/>
              <a:ext cx="686054" cy="2289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6969156" y="191718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6969156" y="3201750"/>
              <a:ext cx="502061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1904183" y="1931143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1912839" y="3438244"/>
              <a:ext cx="3202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7" name="Rectangle 100"/>
          <p:cNvSpPr>
            <a:spLocks noChangeArrowheads="1"/>
          </p:cNvSpPr>
          <p:nvPr/>
        </p:nvSpPr>
        <p:spPr bwMode="auto">
          <a:xfrm>
            <a:off x="1177663" y="4382473"/>
            <a:ext cx="675666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发送在前</a:t>
            </a:r>
            <a:endParaRPr kumimoji="1" lang="zh-CN" altLang="en-US" sz="105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AutoShape 94"/>
          <p:cNvSpPr>
            <a:spLocks noChangeArrowheads="1"/>
          </p:cNvSpPr>
          <p:nvPr/>
        </p:nvSpPr>
        <p:spPr bwMode="auto">
          <a:xfrm rot="16200000">
            <a:off x="3429565" y="4256135"/>
            <a:ext cx="417136" cy="182862"/>
          </a:xfrm>
          <a:prstGeom prst="leftArrow">
            <a:avLst>
              <a:gd name="adj1" fmla="val 50000"/>
              <a:gd name="adj2" fmla="val 70710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333399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2" name="AutoShape 95"/>
          <p:cNvSpPr>
            <a:spLocks noChangeArrowheads="1"/>
          </p:cNvSpPr>
          <p:nvPr/>
        </p:nvSpPr>
        <p:spPr bwMode="auto">
          <a:xfrm rot="16200000">
            <a:off x="5436185" y="4256676"/>
            <a:ext cx="417136" cy="181781"/>
          </a:xfrm>
          <a:prstGeom prst="leftArrow">
            <a:avLst>
              <a:gd name="adj1" fmla="val 50000"/>
              <a:gd name="adj2" fmla="val 71131"/>
            </a:avLst>
          </a:prstGeom>
          <a:solidFill>
            <a:schemeClr val="accent5">
              <a:lumMod val="40000"/>
              <a:lumOff val="60000"/>
            </a:schemeClr>
          </a:solidFill>
          <a:ln w="12700">
            <a:solidFill>
              <a:srgbClr val="333399"/>
            </a:solidFill>
            <a:miter lim="800000"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07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0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" grpId="0" animBg="1"/>
      <p:bldP spid="107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022350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8" name="Rectangle 83"/>
          <p:cNvSpPr>
            <a:spLocks noChangeArrowheads="1"/>
          </p:cNvSpPr>
          <p:nvPr/>
        </p:nvSpPr>
        <p:spPr bwMode="auto">
          <a:xfrm>
            <a:off x="2263416" y="1910687"/>
            <a:ext cx="4633243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源端口和目的端口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字段长度：各占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主要作用：端口是运输层与应用层的服务接口；</a:t>
            </a:r>
            <a:b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           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实现对运输层的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复用和分解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8" grpId="0" animBg="1"/>
      <p:bldP spid="208" grpId="1" animBg="1"/>
      <p:bldP spid="93" grpId="0" animBg="1"/>
      <p:bldP spid="93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897721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连接中传送的数据流中的每一个字节都编上一个序号。序号字段的值则指的是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本报文段所发送的数据的第一个字节的序号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83"/>
          <p:cNvSpPr>
            <a:spLocks noChangeArrowheads="1"/>
          </p:cNvSpPr>
          <p:nvPr/>
        </p:nvSpPr>
        <p:spPr bwMode="auto">
          <a:xfrm>
            <a:off x="2263416" y="2139702"/>
            <a:ext cx="4633243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6" name="图片 9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5" grpId="1" animBg="1"/>
      <p:bldP spid="93" grpId="0" animBg="1"/>
      <p:bldP spid="93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26047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确认号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主要作用：是期望收到对方的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下一个报文段的数据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第一个字节的序号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83"/>
          <p:cNvSpPr>
            <a:spLocks noChangeArrowheads="1"/>
          </p:cNvSpPr>
          <p:nvPr/>
        </p:nvSpPr>
        <p:spPr bwMode="auto">
          <a:xfrm>
            <a:off x="2263416" y="2406963"/>
            <a:ext cx="4633243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6" grpId="1" animBg="1"/>
      <p:bldP spid="93" grpId="0" animBg="1"/>
      <p:bldP spid="9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88819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数据偏移（首部长度）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主要作用：指出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报文段的数据起始处距离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报文段的起始处有多远。</a:t>
            </a:r>
            <a:r>
              <a:rPr lang="zh-CN" altLang="en-US" sz="1350" dirty="0">
                <a:solidFill>
                  <a:srgbClr val="0066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数据偏移</a:t>
            </a:r>
            <a:r>
              <a:rPr lang="zh-CN" altLang="en-US" sz="1350" dirty="0">
                <a:solidFill>
                  <a:srgbClr val="0066CC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的单位不是字节而是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bit (4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字节为计算单位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~word)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83"/>
          <p:cNvSpPr>
            <a:spLocks noChangeArrowheads="1"/>
          </p:cNvSpPr>
          <p:nvPr/>
        </p:nvSpPr>
        <p:spPr bwMode="auto">
          <a:xfrm>
            <a:off x="2269960" y="2658998"/>
            <a:ext cx="567500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  <p:bldP spid="96" grpId="1" animBg="1"/>
      <p:bldP spid="93" grpId="0" animBg="1"/>
      <p:bldP spid="93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028700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72393"/>
            <a:ext cx="4728972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保留字段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主要作用：保留为今后使用，目前均置为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Rectangle 83"/>
          <p:cNvSpPr>
            <a:spLocks noChangeArrowheads="1"/>
          </p:cNvSpPr>
          <p:nvPr/>
        </p:nvSpPr>
        <p:spPr bwMode="auto">
          <a:xfrm>
            <a:off x="2836375" y="2658998"/>
            <a:ext cx="862292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8" grpId="1" animBg="1"/>
      <p:bldP spid="93" grpId="0" animBg="1"/>
      <p:bldP spid="93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10013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紧急比特位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主要作用：当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URG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时，告诉系统此报文段中有紧急数据，应尽快传送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相当于高优先级的数据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Rectangle 83"/>
          <p:cNvSpPr>
            <a:spLocks noChangeArrowheads="1"/>
          </p:cNvSpPr>
          <p:nvPr/>
        </p:nvSpPr>
        <p:spPr bwMode="auto">
          <a:xfrm>
            <a:off x="3689236" y="2651377"/>
            <a:ext cx="162000" cy="288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" grpId="0" animBg="1"/>
      <p:bldP spid="93" grpId="1" animBg="1"/>
      <p:bldP spid="95" grpId="0" animBg="1"/>
      <p:bldP spid="95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01216" cy="5448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10013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确认比特位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主要作用：只有当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 = 1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时确认号字段才有效。当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ACK = 0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时，确认号无效。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Rectangle 83"/>
          <p:cNvSpPr>
            <a:spLocks noChangeArrowheads="1"/>
          </p:cNvSpPr>
          <p:nvPr/>
        </p:nvSpPr>
        <p:spPr bwMode="auto">
          <a:xfrm>
            <a:off x="3841055" y="2643757"/>
            <a:ext cx="162000" cy="288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8" grpId="1" animBg="1"/>
      <p:bldP spid="93" grpId="0" animBg="1"/>
      <p:bldP spid="93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03187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推送比特位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主要作用：接收 推送比特位置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的报文段，就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尽快地交付给接收应用进程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，而不需缓存该报文段。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83"/>
          <p:cNvSpPr>
            <a:spLocks noChangeArrowheads="1"/>
          </p:cNvSpPr>
          <p:nvPr/>
        </p:nvSpPr>
        <p:spPr bwMode="auto">
          <a:xfrm>
            <a:off x="3993192" y="2643757"/>
            <a:ext cx="162000" cy="288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94" grpId="0" animBg="1"/>
      <p:bldP spid="94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99701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复位比特位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主要作用：当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RST = 1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时，表明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连接中出现严重差错（如由于主机崩溃或其他原因），必须释放连接，然后再重新建立运输连接。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83"/>
          <p:cNvSpPr>
            <a:spLocks noChangeArrowheads="1"/>
          </p:cNvSpPr>
          <p:nvPr/>
        </p:nvSpPr>
        <p:spPr bwMode="auto">
          <a:xfrm>
            <a:off x="4144828" y="2643757"/>
            <a:ext cx="162000" cy="288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94" grpId="0" animBg="1"/>
      <p:bldP spid="94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028700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同步比特位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主要作用：同步比特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SYN =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，就表示这是一个连接请求或确认连接的报文段。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83"/>
          <p:cNvSpPr>
            <a:spLocks noChangeArrowheads="1"/>
          </p:cNvSpPr>
          <p:nvPr/>
        </p:nvSpPr>
        <p:spPr bwMode="auto">
          <a:xfrm>
            <a:off x="4281224" y="2643757"/>
            <a:ext cx="162000" cy="288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94" grpId="0" animBg="1"/>
      <p:bldP spid="94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2" y="3310837"/>
              <a:ext cx="104632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终止比特位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bit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主要作用：用来释放一个连接。当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FIN = 1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时，表明此报文段的发送端的数据已发送完毕，并要求</a:t>
            </a:r>
            <a:r>
              <a:rPr lang="zh-CN" altLang="en-US" sz="13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释放运输连接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Rectangle 83"/>
          <p:cNvSpPr>
            <a:spLocks noChangeArrowheads="1"/>
          </p:cNvSpPr>
          <p:nvPr/>
        </p:nvSpPr>
        <p:spPr bwMode="auto">
          <a:xfrm>
            <a:off x="4432860" y="2643757"/>
            <a:ext cx="162000" cy="288000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5" name="图片 9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92" grpId="1" animBg="1"/>
      <p:bldP spid="94" grpId="0" animBg="1"/>
      <p:bldP spid="94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885022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接收窗口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(16bits)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主要作用：窗口字段用于流控制。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连接的一端根据设置的缓存空间大小确定自己的接收窗口大小，然后通知对方以确定对方的发送窗口的上限。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Rectangle 83"/>
          <p:cNvSpPr>
            <a:spLocks noChangeArrowheads="1"/>
          </p:cNvSpPr>
          <p:nvPr/>
        </p:nvSpPr>
        <p:spPr bwMode="auto">
          <a:xfrm>
            <a:off x="4590704" y="2651378"/>
            <a:ext cx="2317857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94" name="图片 9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809" y="4108599"/>
            <a:ext cx="399573" cy="36115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8" grpId="1" animBg="1"/>
      <p:bldP spid="93" grpId="0" animBg="1"/>
      <p:bldP spid="93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891371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检验和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(16bits)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主要作用：检验和字段检验的范围包括首部和数据这两部分。在计算检验和时，要在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报文段的前面加上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字节的伪首部。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Rectangle 83"/>
          <p:cNvSpPr>
            <a:spLocks noChangeArrowheads="1"/>
          </p:cNvSpPr>
          <p:nvPr/>
        </p:nvSpPr>
        <p:spPr bwMode="auto">
          <a:xfrm>
            <a:off x="2283488" y="2916550"/>
            <a:ext cx="2317857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8" grpId="1" animBg="1"/>
      <p:bldP spid="93" grpId="0" animBg="1"/>
      <p:bldP spid="93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2" y="3310837"/>
              <a:ext cx="1006544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0668"/>
            <a:ext cx="4728972" cy="923330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紧急指针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字段长度：占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(16bits)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主要作用：紧急指针指出在本报文段中的紧急数据的最后一个字节的序号。 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Rectangle 83"/>
          <p:cNvSpPr>
            <a:spLocks noChangeArrowheads="1"/>
          </p:cNvSpPr>
          <p:nvPr/>
        </p:nvSpPr>
        <p:spPr bwMode="auto">
          <a:xfrm>
            <a:off x="4596641" y="2916550"/>
            <a:ext cx="2317857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8" grpId="1" animBg="1"/>
      <p:bldP spid="93" grpId="0" animBg="1"/>
      <p:bldP spid="93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4" y="3310837"/>
              <a:ext cx="1035050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88943"/>
            <a:ext cx="4728972" cy="1131079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选项字段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字段长度：可变；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主要作用：（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）最大报文段长度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MSS ~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告诉对方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“我的缓存所能接收的报文段的数据字段的最大长度是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MSS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个字节。其他作用可以参考标准文档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8" name="Rectangle 83"/>
          <p:cNvSpPr>
            <a:spLocks noChangeArrowheads="1"/>
          </p:cNvSpPr>
          <p:nvPr/>
        </p:nvSpPr>
        <p:spPr bwMode="auto">
          <a:xfrm>
            <a:off x="2265316" y="3163054"/>
            <a:ext cx="3471409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8" grpId="0" animBg="1"/>
      <p:bldP spid="268" grpId="1" animBg="1"/>
      <p:bldP spid="93" grpId="0" animBg="1"/>
      <p:bldP spid="93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en-US" altLang="zh-CN" sz="2000" dirty="0"/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3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  <a:p>
            <a:pPr lvl="1">
              <a:spcBef>
                <a:spcPts val="450"/>
              </a:spcBef>
            </a:pPr>
            <a:endParaRPr lang="en-US" altLang="zh-CN" dirty="0">
              <a:solidFill>
                <a:srgbClr val="0066CC"/>
              </a:solidFill>
            </a:endParaRPr>
          </a:p>
        </p:txBody>
      </p:sp>
      <p:grpSp>
        <p:nvGrpSpPr>
          <p:cNvPr id="108" name="组合 107"/>
          <p:cNvGrpSpPr/>
          <p:nvPr/>
        </p:nvGrpSpPr>
        <p:grpSpPr>
          <a:xfrm>
            <a:off x="1868477" y="1476000"/>
            <a:ext cx="5714269" cy="2579612"/>
            <a:chOff x="638176" y="188913"/>
            <a:chExt cx="8383704" cy="4692650"/>
          </a:xfrm>
        </p:grpSpPr>
        <p:sp>
          <p:nvSpPr>
            <p:cNvPr id="110" name="Line 3"/>
            <p:cNvSpPr>
              <a:spLocks noChangeShapeType="1"/>
            </p:cNvSpPr>
            <p:nvPr/>
          </p:nvSpPr>
          <p:spPr bwMode="auto">
            <a:xfrm flipH="1">
              <a:off x="928688" y="963613"/>
              <a:ext cx="15875" cy="2757487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Rectangle 4"/>
            <p:cNvSpPr>
              <a:spLocks noChangeArrowheads="1"/>
            </p:cNvSpPr>
            <p:nvPr/>
          </p:nvSpPr>
          <p:spPr bwMode="auto">
            <a:xfrm>
              <a:off x="638176" y="2033589"/>
              <a:ext cx="539751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TCP</a:t>
              </a:r>
              <a:endParaRPr kumimoji="1" lang="en-US" altLang="zh-CN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Line 5"/>
            <p:cNvSpPr>
              <a:spLocks noChangeShapeType="1"/>
            </p:cNvSpPr>
            <p:nvPr/>
          </p:nvSpPr>
          <p:spPr bwMode="auto">
            <a:xfrm>
              <a:off x="8453438" y="957263"/>
              <a:ext cx="0" cy="2316162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Rectangle 6"/>
            <p:cNvSpPr>
              <a:spLocks noChangeArrowheads="1"/>
            </p:cNvSpPr>
            <p:nvPr/>
          </p:nvSpPr>
          <p:spPr bwMode="auto">
            <a:xfrm>
              <a:off x="8056444" y="1776413"/>
              <a:ext cx="965436" cy="57598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字节的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90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  <a:endParaRPr kumimoji="1" lang="zh-CN" altLang="en-US" sz="90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Rectangle 7"/>
            <p:cNvSpPr>
              <a:spLocks noChangeArrowheads="1"/>
            </p:cNvSpPr>
            <p:nvPr/>
          </p:nvSpPr>
          <p:spPr bwMode="auto">
            <a:xfrm>
              <a:off x="1217613" y="962025"/>
              <a:ext cx="6810375" cy="276383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9"/>
            <p:cNvSpPr/>
            <p:nvPr/>
          </p:nvSpPr>
          <p:spPr bwMode="auto">
            <a:xfrm>
              <a:off x="1227138" y="3725863"/>
              <a:ext cx="6826250" cy="757237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Line 10"/>
            <p:cNvSpPr>
              <a:spLocks noChangeShapeType="1"/>
            </p:cNvSpPr>
            <p:nvPr/>
          </p:nvSpPr>
          <p:spPr bwMode="auto">
            <a:xfrm>
              <a:off x="1211263" y="1431925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Line 11"/>
            <p:cNvSpPr>
              <a:spLocks noChangeShapeType="1"/>
            </p:cNvSpPr>
            <p:nvPr/>
          </p:nvSpPr>
          <p:spPr bwMode="auto">
            <a:xfrm>
              <a:off x="1223963" y="1897063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Line 12"/>
            <p:cNvSpPr>
              <a:spLocks noChangeShapeType="1"/>
            </p:cNvSpPr>
            <p:nvPr/>
          </p:nvSpPr>
          <p:spPr bwMode="auto">
            <a:xfrm>
              <a:off x="1211263" y="236061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Line 13"/>
            <p:cNvSpPr>
              <a:spLocks noChangeShapeType="1"/>
            </p:cNvSpPr>
            <p:nvPr/>
          </p:nvSpPr>
          <p:spPr bwMode="auto">
            <a:xfrm>
              <a:off x="1211263" y="2824163"/>
              <a:ext cx="68214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Line 14"/>
            <p:cNvSpPr>
              <a:spLocks noChangeShapeType="1"/>
            </p:cNvSpPr>
            <p:nvPr/>
          </p:nvSpPr>
          <p:spPr bwMode="auto">
            <a:xfrm>
              <a:off x="1223963" y="3289300"/>
              <a:ext cx="680878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Line 15"/>
            <p:cNvSpPr>
              <a:spLocks noChangeShapeType="1"/>
            </p:cNvSpPr>
            <p:nvPr/>
          </p:nvSpPr>
          <p:spPr bwMode="auto">
            <a:xfrm>
              <a:off x="4624388" y="966788"/>
              <a:ext cx="0" cy="47466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Rectangle 16"/>
            <p:cNvSpPr>
              <a:spLocks noChangeArrowheads="1"/>
            </p:cNvSpPr>
            <p:nvPr/>
          </p:nvSpPr>
          <p:spPr bwMode="auto">
            <a:xfrm>
              <a:off x="5688012" y="995805"/>
              <a:ext cx="134408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  的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Rectangle 17"/>
            <p:cNvSpPr>
              <a:spLocks noChangeArrowheads="1"/>
            </p:cNvSpPr>
            <p:nvPr/>
          </p:nvSpPr>
          <p:spPr bwMode="auto">
            <a:xfrm>
              <a:off x="1207934" y="2392607"/>
              <a:ext cx="930882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数据偏移</a:t>
              </a:r>
              <a:endPara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Rectangle 18"/>
            <p:cNvSpPr>
              <a:spLocks noChangeArrowheads="1"/>
            </p:cNvSpPr>
            <p:nvPr/>
          </p:nvSpPr>
          <p:spPr bwMode="auto">
            <a:xfrm>
              <a:off x="2309813" y="2848187"/>
              <a:ext cx="114652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检   验   和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Rectangle 19"/>
            <p:cNvSpPr>
              <a:spLocks noChangeArrowheads="1"/>
            </p:cNvSpPr>
            <p:nvPr/>
          </p:nvSpPr>
          <p:spPr bwMode="auto">
            <a:xfrm>
              <a:off x="2489200" y="3310837"/>
              <a:ext cx="2833689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    项    （长  度  可  变）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Rectangle 20"/>
            <p:cNvSpPr>
              <a:spLocks noChangeArrowheads="1"/>
            </p:cNvSpPr>
            <p:nvPr/>
          </p:nvSpPr>
          <p:spPr bwMode="auto">
            <a:xfrm>
              <a:off x="2411413" y="995805"/>
              <a:ext cx="1028936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  端  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Rectangle 21"/>
            <p:cNvSpPr>
              <a:spLocks noChangeArrowheads="1"/>
            </p:cNvSpPr>
            <p:nvPr/>
          </p:nvSpPr>
          <p:spPr bwMode="auto">
            <a:xfrm>
              <a:off x="4230690" y="1454591"/>
              <a:ext cx="769937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序   号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Line 22"/>
            <p:cNvSpPr>
              <a:spLocks noChangeShapeType="1"/>
            </p:cNvSpPr>
            <p:nvPr/>
          </p:nvSpPr>
          <p:spPr bwMode="auto">
            <a:xfrm>
              <a:off x="4629150" y="2366963"/>
              <a:ext cx="0" cy="91598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0" name="Rectangle 23"/>
            <p:cNvSpPr>
              <a:spLocks noChangeArrowheads="1"/>
            </p:cNvSpPr>
            <p:nvPr/>
          </p:nvSpPr>
          <p:spPr bwMode="auto">
            <a:xfrm>
              <a:off x="5545138" y="2848187"/>
              <a:ext cx="1520473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紧   急   指   针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1" name="Rectangle 24"/>
            <p:cNvSpPr>
              <a:spLocks noChangeArrowheads="1"/>
            </p:cNvSpPr>
            <p:nvPr/>
          </p:nvSpPr>
          <p:spPr bwMode="auto">
            <a:xfrm>
              <a:off x="5943600" y="2367174"/>
              <a:ext cx="99130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接收窗口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Rectangle 25"/>
            <p:cNvSpPr>
              <a:spLocks noChangeArrowheads="1"/>
            </p:cNvSpPr>
            <p:nvPr/>
          </p:nvSpPr>
          <p:spPr bwMode="auto">
            <a:xfrm>
              <a:off x="4013200" y="1938780"/>
              <a:ext cx="1296988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确    认    号</a:t>
              </a:r>
              <a:endParaRPr kumimoji="1" lang="zh-CN" altLang="en-US" sz="1050" b="1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26"/>
            <p:cNvSpPr>
              <a:spLocks noChangeShapeType="1"/>
            </p:cNvSpPr>
            <p:nvPr/>
          </p:nvSpPr>
          <p:spPr bwMode="auto">
            <a:xfrm>
              <a:off x="206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27"/>
            <p:cNvSpPr>
              <a:spLocks noChangeShapeType="1"/>
            </p:cNvSpPr>
            <p:nvPr/>
          </p:nvSpPr>
          <p:spPr bwMode="auto">
            <a:xfrm>
              <a:off x="3773488" y="2362200"/>
              <a:ext cx="0" cy="457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28"/>
            <p:cNvSpPr>
              <a:spLocks noChangeShapeType="1"/>
            </p:cNvSpPr>
            <p:nvPr/>
          </p:nvSpPr>
          <p:spPr bwMode="auto">
            <a:xfrm>
              <a:off x="3335338" y="2366963"/>
              <a:ext cx="0" cy="4635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29"/>
            <p:cNvSpPr>
              <a:spLocks noChangeShapeType="1"/>
            </p:cNvSpPr>
            <p:nvPr/>
          </p:nvSpPr>
          <p:spPr bwMode="auto">
            <a:xfrm>
              <a:off x="35528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30"/>
            <p:cNvSpPr>
              <a:spLocks noChangeShapeType="1"/>
            </p:cNvSpPr>
            <p:nvPr/>
          </p:nvSpPr>
          <p:spPr bwMode="auto">
            <a:xfrm>
              <a:off x="4198938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31"/>
            <p:cNvSpPr>
              <a:spLocks noChangeShapeType="1"/>
            </p:cNvSpPr>
            <p:nvPr/>
          </p:nvSpPr>
          <p:spPr bwMode="auto">
            <a:xfrm>
              <a:off x="3986213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32"/>
            <p:cNvSpPr>
              <a:spLocks noChangeShapeType="1"/>
            </p:cNvSpPr>
            <p:nvPr/>
          </p:nvSpPr>
          <p:spPr bwMode="auto">
            <a:xfrm>
              <a:off x="4416425" y="2366963"/>
              <a:ext cx="0" cy="4556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Rectangle 33"/>
            <p:cNvSpPr>
              <a:spLocks noChangeArrowheads="1"/>
            </p:cNvSpPr>
            <p:nvPr/>
          </p:nvSpPr>
          <p:spPr bwMode="auto">
            <a:xfrm>
              <a:off x="2332037" y="2376699"/>
              <a:ext cx="772585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保   留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Rectangle 34"/>
            <p:cNvSpPr>
              <a:spLocks noChangeArrowheads="1"/>
            </p:cNvSpPr>
            <p:nvPr/>
          </p:nvSpPr>
          <p:spPr bwMode="auto">
            <a:xfrm>
              <a:off x="4384840" y="2356980"/>
              <a:ext cx="283246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2" name="Line 35"/>
            <p:cNvSpPr>
              <a:spLocks noChangeShapeType="1"/>
            </p:cNvSpPr>
            <p:nvPr/>
          </p:nvSpPr>
          <p:spPr bwMode="auto">
            <a:xfrm>
              <a:off x="1228725" y="349250"/>
              <a:ext cx="6794500" cy="0"/>
            </a:xfrm>
            <a:prstGeom prst="line">
              <a:avLst/>
            </a:prstGeom>
            <a:noFill/>
            <a:ln w="12700">
              <a:solidFill>
                <a:srgbClr val="0000FF"/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3" name="Rectangle 36"/>
            <p:cNvSpPr>
              <a:spLocks noChangeArrowheads="1"/>
            </p:cNvSpPr>
            <p:nvPr/>
          </p:nvSpPr>
          <p:spPr bwMode="auto">
            <a:xfrm>
              <a:off x="4292599" y="188913"/>
              <a:ext cx="777289" cy="41641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</a:t>
              </a:r>
              <a:endParaRPr kumimoji="1" lang="en-US" altLang="zh-CN" sz="1050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Line 37"/>
            <p:cNvSpPr>
              <a:spLocks noChangeShapeType="1"/>
            </p:cNvSpPr>
            <p:nvPr/>
          </p:nvSpPr>
          <p:spPr bwMode="auto">
            <a:xfrm>
              <a:off x="1214438" y="857250"/>
              <a:ext cx="6800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5" name="Line 38"/>
            <p:cNvSpPr>
              <a:spLocks noChangeShapeType="1"/>
            </p:cNvSpPr>
            <p:nvPr/>
          </p:nvSpPr>
          <p:spPr bwMode="auto">
            <a:xfrm>
              <a:off x="121443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6" name="Line 39"/>
            <p:cNvSpPr>
              <a:spLocks noChangeShapeType="1"/>
            </p:cNvSpPr>
            <p:nvPr/>
          </p:nvSpPr>
          <p:spPr bwMode="auto">
            <a:xfrm>
              <a:off x="14271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7" name="Line 40"/>
            <p:cNvSpPr>
              <a:spLocks noChangeShapeType="1"/>
            </p:cNvSpPr>
            <p:nvPr/>
          </p:nvSpPr>
          <p:spPr bwMode="auto">
            <a:xfrm>
              <a:off x="16398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8" name="Line 41"/>
            <p:cNvSpPr>
              <a:spLocks noChangeShapeType="1"/>
            </p:cNvSpPr>
            <p:nvPr/>
          </p:nvSpPr>
          <p:spPr bwMode="auto">
            <a:xfrm>
              <a:off x="18526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9" name="Line 42"/>
            <p:cNvSpPr>
              <a:spLocks noChangeShapeType="1"/>
            </p:cNvSpPr>
            <p:nvPr/>
          </p:nvSpPr>
          <p:spPr bwMode="auto">
            <a:xfrm>
              <a:off x="20653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0" name="Line 43"/>
            <p:cNvSpPr>
              <a:spLocks noChangeShapeType="1"/>
            </p:cNvSpPr>
            <p:nvPr/>
          </p:nvSpPr>
          <p:spPr bwMode="auto">
            <a:xfrm>
              <a:off x="22780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1" name="Line 44"/>
            <p:cNvSpPr>
              <a:spLocks noChangeShapeType="1"/>
            </p:cNvSpPr>
            <p:nvPr/>
          </p:nvSpPr>
          <p:spPr bwMode="auto">
            <a:xfrm>
              <a:off x="24892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27019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46"/>
            <p:cNvSpPr>
              <a:spLocks noChangeShapeType="1"/>
            </p:cNvSpPr>
            <p:nvPr/>
          </p:nvSpPr>
          <p:spPr bwMode="auto">
            <a:xfrm>
              <a:off x="2914650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4" name="Line 47"/>
            <p:cNvSpPr>
              <a:spLocks noChangeShapeType="1"/>
            </p:cNvSpPr>
            <p:nvPr/>
          </p:nvSpPr>
          <p:spPr bwMode="auto">
            <a:xfrm>
              <a:off x="31273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5" name="Line 48"/>
            <p:cNvSpPr>
              <a:spLocks noChangeShapeType="1"/>
            </p:cNvSpPr>
            <p:nvPr/>
          </p:nvSpPr>
          <p:spPr bwMode="auto">
            <a:xfrm>
              <a:off x="33401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49"/>
            <p:cNvSpPr>
              <a:spLocks noChangeShapeType="1"/>
            </p:cNvSpPr>
            <p:nvPr/>
          </p:nvSpPr>
          <p:spPr bwMode="auto">
            <a:xfrm>
              <a:off x="35528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7" name="Line 50"/>
            <p:cNvSpPr>
              <a:spLocks noChangeShapeType="1"/>
            </p:cNvSpPr>
            <p:nvPr/>
          </p:nvSpPr>
          <p:spPr bwMode="auto">
            <a:xfrm>
              <a:off x="37655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8" name="Line 51"/>
            <p:cNvSpPr>
              <a:spLocks noChangeShapeType="1"/>
            </p:cNvSpPr>
            <p:nvPr/>
          </p:nvSpPr>
          <p:spPr bwMode="auto">
            <a:xfrm>
              <a:off x="39782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Line 52"/>
            <p:cNvSpPr>
              <a:spLocks noChangeShapeType="1"/>
            </p:cNvSpPr>
            <p:nvPr/>
          </p:nvSpPr>
          <p:spPr bwMode="auto">
            <a:xfrm>
              <a:off x="41894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Line 53"/>
            <p:cNvSpPr>
              <a:spLocks noChangeShapeType="1"/>
            </p:cNvSpPr>
            <p:nvPr/>
          </p:nvSpPr>
          <p:spPr bwMode="auto">
            <a:xfrm>
              <a:off x="44021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1" name="Line 54"/>
            <p:cNvSpPr>
              <a:spLocks noChangeShapeType="1"/>
            </p:cNvSpPr>
            <p:nvPr/>
          </p:nvSpPr>
          <p:spPr bwMode="auto">
            <a:xfrm>
              <a:off x="4614863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2" name="Line 55"/>
            <p:cNvSpPr>
              <a:spLocks noChangeShapeType="1"/>
            </p:cNvSpPr>
            <p:nvPr/>
          </p:nvSpPr>
          <p:spPr bwMode="auto">
            <a:xfrm>
              <a:off x="48275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3" name="Line 56"/>
            <p:cNvSpPr>
              <a:spLocks noChangeShapeType="1"/>
            </p:cNvSpPr>
            <p:nvPr/>
          </p:nvSpPr>
          <p:spPr bwMode="auto">
            <a:xfrm>
              <a:off x="504031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4" name="Line 57"/>
            <p:cNvSpPr>
              <a:spLocks noChangeShapeType="1"/>
            </p:cNvSpPr>
            <p:nvPr/>
          </p:nvSpPr>
          <p:spPr bwMode="auto">
            <a:xfrm>
              <a:off x="52530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5" name="Line 58"/>
            <p:cNvSpPr>
              <a:spLocks noChangeShapeType="1"/>
            </p:cNvSpPr>
            <p:nvPr/>
          </p:nvSpPr>
          <p:spPr bwMode="auto">
            <a:xfrm>
              <a:off x="54657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6" name="Line 59"/>
            <p:cNvSpPr>
              <a:spLocks noChangeShapeType="1"/>
            </p:cNvSpPr>
            <p:nvPr/>
          </p:nvSpPr>
          <p:spPr bwMode="auto">
            <a:xfrm>
              <a:off x="567848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7" name="Line 60"/>
            <p:cNvSpPr>
              <a:spLocks noChangeShapeType="1"/>
            </p:cNvSpPr>
            <p:nvPr/>
          </p:nvSpPr>
          <p:spPr bwMode="auto">
            <a:xfrm>
              <a:off x="58896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8" name="Line 61"/>
            <p:cNvSpPr>
              <a:spLocks noChangeShapeType="1"/>
            </p:cNvSpPr>
            <p:nvPr/>
          </p:nvSpPr>
          <p:spPr bwMode="auto">
            <a:xfrm>
              <a:off x="61023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9" name="Line 62"/>
            <p:cNvSpPr>
              <a:spLocks noChangeShapeType="1"/>
            </p:cNvSpPr>
            <p:nvPr/>
          </p:nvSpPr>
          <p:spPr bwMode="auto">
            <a:xfrm>
              <a:off x="6315075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0" name="Line 63"/>
            <p:cNvSpPr>
              <a:spLocks noChangeShapeType="1"/>
            </p:cNvSpPr>
            <p:nvPr/>
          </p:nvSpPr>
          <p:spPr bwMode="auto">
            <a:xfrm>
              <a:off x="65278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1" name="Line 64"/>
            <p:cNvSpPr>
              <a:spLocks noChangeShapeType="1"/>
            </p:cNvSpPr>
            <p:nvPr/>
          </p:nvSpPr>
          <p:spPr bwMode="auto">
            <a:xfrm>
              <a:off x="674052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2" name="Line 65"/>
            <p:cNvSpPr>
              <a:spLocks noChangeShapeType="1"/>
            </p:cNvSpPr>
            <p:nvPr/>
          </p:nvSpPr>
          <p:spPr bwMode="auto">
            <a:xfrm>
              <a:off x="695325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3" name="Line 66"/>
            <p:cNvSpPr>
              <a:spLocks noChangeShapeType="1"/>
            </p:cNvSpPr>
            <p:nvPr/>
          </p:nvSpPr>
          <p:spPr bwMode="auto">
            <a:xfrm>
              <a:off x="7165975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4" name="Line 67"/>
            <p:cNvSpPr>
              <a:spLocks noChangeShapeType="1"/>
            </p:cNvSpPr>
            <p:nvPr/>
          </p:nvSpPr>
          <p:spPr bwMode="auto">
            <a:xfrm>
              <a:off x="7378700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5" name="Line 68"/>
            <p:cNvSpPr>
              <a:spLocks noChangeShapeType="1"/>
            </p:cNvSpPr>
            <p:nvPr/>
          </p:nvSpPr>
          <p:spPr bwMode="auto">
            <a:xfrm>
              <a:off x="7589838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6" name="Line 69"/>
            <p:cNvSpPr>
              <a:spLocks noChangeShapeType="1"/>
            </p:cNvSpPr>
            <p:nvPr/>
          </p:nvSpPr>
          <p:spPr bwMode="auto">
            <a:xfrm>
              <a:off x="7802563" y="657225"/>
              <a:ext cx="0" cy="200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7" name="Line 70"/>
            <p:cNvSpPr>
              <a:spLocks noChangeShapeType="1"/>
            </p:cNvSpPr>
            <p:nvPr/>
          </p:nvSpPr>
          <p:spPr bwMode="auto">
            <a:xfrm>
              <a:off x="8015288" y="723900"/>
              <a:ext cx="0" cy="1333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Rectangle 71"/>
            <p:cNvSpPr>
              <a:spLocks noChangeArrowheads="1"/>
            </p:cNvSpPr>
            <p:nvPr/>
          </p:nvSpPr>
          <p:spPr bwMode="auto">
            <a:xfrm>
              <a:off x="1355725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9" name="Rectangle 72"/>
            <p:cNvSpPr>
              <a:spLocks noChangeArrowheads="1"/>
            </p:cNvSpPr>
            <p:nvPr/>
          </p:nvSpPr>
          <p:spPr bwMode="auto">
            <a:xfrm>
              <a:off x="3055938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0" name="Rectangle 73"/>
            <p:cNvSpPr>
              <a:spLocks noChangeArrowheads="1"/>
            </p:cNvSpPr>
            <p:nvPr/>
          </p:nvSpPr>
          <p:spPr bwMode="auto">
            <a:xfrm>
              <a:off x="4756150" y="590550"/>
              <a:ext cx="1417638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Rectangle 74"/>
            <p:cNvSpPr>
              <a:spLocks noChangeArrowheads="1"/>
            </p:cNvSpPr>
            <p:nvPr/>
          </p:nvSpPr>
          <p:spPr bwMode="auto">
            <a:xfrm>
              <a:off x="6456363" y="590550"/>
              <a:ext cx="1417637" cy="2000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2" name="Rectangle 75"/>
            <p:cNvSpPr>
              <a:spLocks noChangeArrowheads="1"/>
            </p:cNvSpPr>
            <p:nvPr/>
          </p:nvSpPr>
          <p:spPr bwMode="auto">
            <a:xfrm>
              <a:off x="4152825" y="2356980"/>
              <a:ext cx="227011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N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3" name="Rectangle 76"/>
            <p:cNvSpPr>
              <a:spLocks noChangeArrowheads="1"/>
            </p:cNvSpPr>
            <p:nvPr/>
          </p:nvSpPr>
          <p:spPr bwMode="auto">
            <a:xfrm>
              <a:off x="3959981" y="2356980"/>
              <a:ext cx="225425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T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Rectangle 77"/>
            <p:cNvSpPr>
              <a:spLocks noChangeArrowheads="1"/>
            </p:cNvSpPr>
            <p:nvPr/>
          </p:nvSpPr>
          <p:spPr bwMode="auto">
            <a:xfrm>
              <a:off x="3732968" y="2356980"/>
              <a:ext cx="220664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H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Rectangle 78"/>
            <p:cNvSpPr>
              <a:spLocks noChangeArrowheads="1"/>
            </p:cNvSpPr>
            <p:nvPr/>
          </p:nvSpPr>
          <p:spPr bwMode="auto">
            <a:xfrm>
              <a:off x="3520244" y="2356980"/>
              <a:ext cx="234950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K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Rectangle 79"/>
            <p:cNvSpPr>
              <a:spLocks noChangeArrowheads="1"/>
            </p:cNvSpPr>
            <p:nvPr/>
          </p:nvSpPr>
          <p:spPr bwMode="auto">
            <a:xfrm>
              <a:off x="3288468" y="2356980"/>
              <a:ext cx="227013" cy="54320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eaLnBrk="0" hangingPunct="0">
                <a:lnSpc>
                  <a:spcPts val="600"/>
                </a:lnSpc>
              </a:pPr>
              <a:r>
                <a:rPr kumimoji="1" lang="en-US" altLang="zh-CN" sz="675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G</a:t>
              </a:r>
              <a:endParaRPr kumimoji="1" lang="en-US" altLang="zh-CN" sz="675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Rectangle 80"/>
            <p:cNvSpPr>
              <a:spLocks noChangeArrowheads="1"/>
            </p:cNvSpPr>
            <p:nvPr/>
          </p:nvSpPr>
          <p:spPr bwMode="auto">
            <a:xfrm>
              <a:off x="660400" y="471488"/>
              <a:ext cx="7675810" cy="37442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</a:t>
              </a:r>
              <a:r>
                <a:rPr kumimoji="1" lang="en-US" altLang="zh-CN" sz="90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0                                8                                16                              24                               32</a:t>
              </a:r>
              <a:endPara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81"/>
            <p:cNvSpPr>
              <a:spLocks noChangeShapeType="1"/>
            </p:cNvSpPr>
            <p:nvPr/>
          </p:nvSpPr>
          <p:spPr bwMode="auto">
            <a:xfrm flipH="1">
              <a:off x="6313488" y="3300413"/>
              <a:ext cx="3175" cy="43021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0" name="Rectangle 83"/>
            <p:cNvSpPr>
              <a:spLocks noChangeArrowheads="1"/>
            </p:cNvSpPr>
            <p:nvPr/>
          </p:nvSpPr>
          <p:spPr bwMode="auto">
            <a:xfrm>
              <a:off x="6767512" y="3310837"/>
              <a:ext cx="1046322" cy="4164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  充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Rectangle 88"/>
            <p:cNvSpPr>
              <a:spLocks noChangeArrowheads="1"/>
            </p:cNvSpPr>
            <p:nvPr/>
          </p:nvSpPr>
          <p:spPr bwMode="auto">
            <a:xfrm>
              <a:off x="2692400" y="4611688"/>
              <a:ext cx="720725" cy="26987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DDDDDD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Line 96"/>
            <p:cNvSpPr>
              <a:spLocks noChangeShapeType="1"/>
            </p:cNvSpPr>
            <p:nvPr/>
          </p:nvSpPr>
          <p:spPr bwMode="auto">
            <a:xfrm>
              <a:off x="8121650" y="9461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97"/>
            <p:cNvSpPr>
              <a:spLocks noChangeShapeType="1"/>
            </p:cNvSpPr>
            <p:nvPr/>
          </p:nvSpPr>
          <p:spPr bwMode="auto">
            <a:xfrm>
              <a:off x="8121650" y="3282950"/>
              <a:ext cx="736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98"/>
            <p:cNvSpPr>
              <a:spLocks noChangeShapeType="1"/>
            </p:cNvSpPr>
            <p:nvPr/>
          </p:nvSpPr>
          <p:spPr bwMode="auto">
            <a:xfrm>
              <a:off x="690563" y="971550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99"/>
            <p:cNvSpPr>
              <a:spLocks noChangeShapeType="1"/>
            </p:cNvSpPr>
            <p:nvPr/>
          </p:nvSpPr>
          <p:spPr bwMode="auto">
            <a:xfrm>
              <a:off x="703263" y="3713163"/>
              <a:ext cx="4699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9" name="Text Box 82"/>
          <p:cNvSpPr txBox="1">
            <a:spLocks noChangeArrowheads="1"/>
          </p:cNvSpPr>
          <p:nvPr/>
        </p:nvSpPr>
        <p:spPr bwMode="auto">
          <a:xfrm>
            <a:off x="3130121" y="3872393"/>
            <a:ext cx="4728972" cy="71558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marL="214630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填充字段</a:t>
            </a:r>
            <a:endParaRPr lang="en-US" altLang="zh-CN" sz="135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字段长度：可变；</a:t>
            </a:r>
            <a:endParaRPr lang="en-US" altLang="zh-CN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530" lvl="1" indent="-214630">
              <a:buFont typeface="Wingdings" panose="05000000000000000000" pitchFamily="2" charset="2"/>
              <a:buChar char="Ø"/>
            </a:pP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主要作用：使整个首部长度是 </a:t>
            </a:r>
            <a:r>
              <a:rPr lang="en-US" altLang="zh-CN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</a:t>
            </a:r>
            <a:r>
              <a:rPr lang="zh-CN" altLang="en-US" sz="13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字节的整数倍。 </a:t>
            </a:r>
            <a:endParaRPr lang="zh-CN" altLang="en-US" sz="13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Rectangle 83"/>
          <p:cNvSpPr>
            <a:spLocks noChangeArrowheads="1"/>
          </p:cNvSpPr>
          <p:nvPr/>
        </p:nvSpPr>
        <p:spPr bwMode="auto">
          <a:xfrm>
            <a:off x="5729105" y="3173119"/>
            <a:ext cx="1175348" cy="259655"/>
          </a:xfrm>
          <a:prstGeom prst="rect">
            <a:avLst/>
          </a:prstGeom>
          <a:noFill/>
          <a:ln w="50800">
            <a:solidFill>
              <a:srgbClr val="FF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35" presetClass="emph" presetSubtype="0" repeatCount="3000" fill="hold" grpId="1" nodeType="after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9" dur="1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5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 tmFilter="0, 0; .2, .5; .8, .5; 1, 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9" dur="250" autoRev="1" fill="hold"/>
                                        <p:tgtEl>
                                          <p:spTgt spid="9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5" grpId="1" animBg="1"/>
      <p:bldP spid="93" grpId="0" animBg="1"/>
      <p:bldP spid="93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altLang="zh-CN" sz="2000" dirty="0"/>
              <a:t>3.5.2 TCP</a:t>
            </a:r>
            <a:r>
              <a:rPr lang="zh-CN" altLang="en-US" sz="2000" dirty="0"/>
              <a:t>数据封装</a:t>
            </a:r>
            <a:endParaRPr lang="zh-CN" altLang="en-US" dirty="0"/>
          </a:p>
        </p:txBody>
      </p:sp>
      <p:pic>
        <p:nvPicPr>
          <p:cNvPr id="92" name="图片 9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2000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2281454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3.5.5 TCP</a:t>
            </a:r>
            <a:r>
              <a:rPr lang="zh-CN" altLang="en-US" sz="2000" dirty="0">
                <a:effectLst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</a:rPr>
              <a:t>量</a:t>
            </a:r>
            <a:r>
              <a:rPr lang="zh-CN" altLang="en-US" sz="2000" dirty="0">
                <a:effectLst/>
              </a:rPr>
              <a:t>控制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目标：</a:t>
            </a:r>
            <a:endParaRPr lang="en-US" altLang="zh-CN" dirty="0">
              <a:effectLst/>
            </a:endParaRPr>
          </a:p>
          <a:p>
            <a:pPr lvl="2"/>
            <a:r>
              <a:rPr lang="zh-CN" altLang="en-US" sz="1600" dirty="0"/>
              <a:t>速度匹配：发送速度不能大于接收速度</a:t>
            </a:r>
            <a:endParaRPr lang="en-US" altLang="zh-CN" sz="1600" dirty="0"/>
          </a:p>
          <a:p>
            <a:pPr lvl="1"/>
            <a:r>
              <a:rPr lang="zh-CN" altLang="en-US" dirty="0">
                <a:effectLst/>
              </a:rPr>
              <a:t>原因：</a:t>
            </a:r>
            <a:endParaRPr lang="en-US" altLang="zh-CN" dirty="0">
              <a:effectLst/>
            </a:endParaRPr>
          </a:p>
          <a:p>
            <a:pPr lvl="2"/>
            <a:r>
              <a:rPr lang="en-US" altLang="zh-CN" sz="1600" dirty="0">
                <a:sym typeface="Wingdings" panose="05000000000000000000" pitchFamily="2" charset="2"/>
              </a:rPr>
              <a:t> </a:t>
            </a:r>
            <a:r>
              <a:rPr lang="zh-CN" altLang="en-US" sz="1600" dirty="0">
                <a:effectLst/>
              </a:rPr>
              <a:t>接收方的</a:t>
            </a:r>
            <a:r>
              <a:rPr lang="zh-CN" altLang="en-US" sz="1600" dirty="0">
                <a:solidFill>
                  <a:srgbClr val="FF0000"/>
                </a:solidFill>
                <a:effectLst/>
              </a:rPr>
              <a:t>缓存空间</a:t>
            </a:r>
            <a:r>
              <a:rPr lang="zh-CN" altLang="en-US" sz="1600" dirty="0">
                <a:effectLst/>
              </a:rPr>
              <a:t>有限</a:t>
            </a:r>
            <a:endParaRPr lang="en-US" altLang="zh-CN" sz="1600" dirty="0">
              <a:effectLst/>
            </a:endParaRPr>
          </a:p>
          <a:p>
            <a:pPr lvl="2"/>
            <a:r>
              <a:rPr lang="en-US" altLang="zh-CN" sz="1600" dirty="0">
                <a:sym typeface="Wingdings" panose="05000000000000000000" pitchFamily="2" charset="2"/>
              </a:rPr>
              <a:t> </a:t>
            </a:r>
            <a:r>
              <a:rPr lang="zh-CN" altLang="en-US" sz="1600" dirty="0"/>
              <a:t>接收方提交数据的速度有限</a:t>
            </a:r>
            <a:endParaRPr lang="en-US" altLang="zh-CN" sz="1600" dirty="0">
              <a:effectLst/>
            </a:endParaRPr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3"/>
            <a:endParaRPr lang="en-US" altLang="zh-CN" dirty="0"/>
          </a:p>
          <a:p>
            <a:pPr lvl="1"/>
            <a:endParaRPr lang="en-US" altLang="zh-CN" sz="1500" dirty="0"/>
          </a:p>
        </p:txBody>
      </p:sp>
      <p:grpSp>
        <p:nvGrpSpPr>
          <p:cNvPr id="21" name="组合 20"/>
          <p:cNvGrpSpPr/>
          <p:nvPr/>
        </p:nvGrpSpPr>
        <p:grpSpPr>
          <a:xfrm>
            <a:off x="1403648" y="3147814"/>
            <a:ext cx="6206368" cy="1810645"/>
            <a:chOff x="1763688" y="3048891"/>
            <a:chExt cx="6206368" cy="1810645"/>
          </a:xfrm>
        </p:grpSpPr>
        <p:pic>
          <p:nvPicPr>
            <p:cNvPr id="8" name="Picture 5" descr="rcvwin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BEBA8EAE-BF5A-486C-A8C5-ECC9F3942E4B}">
                  <a14:imgProps xmlns:a14="http://schemas.microsoft.com/office/drawing/2010/main">
                    <a14:imgLayer r:embed="rId2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11760" y="3147814"/>
              <a:ext cx="4104456" cy="1498453"/>
            </a:xfrm>
            <a:prstGeom prst="roundRect">
              <a:avLst>
                <a:gd name="adj" fmla="val 0"/>
              </a:avLst>
            </a:prstGeom>
            <a:ln>
              <a:noFill/>
            </a:ln>
            <a:effectLst/>
            <a:scene3d>
              <a:camera prst="orthographicFront"/>
              <a:lightRig rig="contrasting" dir="t">
                <a:rot lat="0" lon="0" rev="4200000"/>
              </a:lightRig>
            </a:scene3d>
            <a:sp3d prstMaterial="plastic">
              <a:contourClr>
                <a:srgbClr val="969696"/>
              </a:contourClr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文本框 6"/>
            <p:cNvSpPr txBox="1"/>
            <p:nvPr/>
          </p:nvSpPr>
          <p:spPr>
            <a:xfrm>
              <a:off x="1763688" y="3766235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from IP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5868144" y="3759046"/>
              <a:ext cx="2101912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data to application process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1" name="直接连接符 10"/>
            <p:cNvCxnSpPr/>
            <p:nvPr/>
          </p:nvCxnSpPr>
          <p:spPr>
            <a:xfrm>
              <a:off x="3185560" y="4443958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/>
            <p:cNvCxnSpPr/>
            <p:nvPr/>
          </p:nvCxnSpPr>
          <p:spPr>
            <a:xfrm>
              <a:off x="5508104" y="4443958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/>
            <p:nvPr/>
          </p:nvCxnSpPr>
          <p:spPr>
            <a:xfrm>
              <a:off x="3191656" y="4560121"/>
              <a:ext cx="230425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3707904" y="4597926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RcvBuffer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17" name="直接连接符 16"/>
            <p:cNvCxnSpPr/>
            <p:nvPr/>
          </p:nvCxnSpPr>
          <p:spPr>
            <a:xfrm>
              <a:off x="3203848" y="3147814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4499992" y="3147814"/>
              <a:ext cx="0" cy="232326"/>
            </a:xfrm>
            <a:prstGeom prst="line">
              <a:avLst/>
            </a:prstGeom>
            <a:ln w="158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/>
            <p:nvPr/>
          </p:nvCxnSpPr>
          <p:spPr>
            <a:xfrm>
              <a:off x="3203848" y="3263977"/>
              <a:ext cx="129614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3279664" y="3048891"/>
              <a:ext cx="1152128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100" b="1" dirty="0" err="1">
                  <a:latin typeface="微软雅黑" panose="020B0503020204020204" pitchFamily="34" charset="-122"/>
                  <a:ea typeface="微软雅黑" panose="020B0503020204020204" pitchFamily="34" charset="-122"/>
                </a:rPr>
                <a:t>RcvWindow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24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1212" y="1151174"/>
            <a:ext cx="3654611" cy="213970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4" name="arrow.wav"/>
          </p:stSnd>
        </p:sndAc>
      </p:transition>
    </mc:Choice>
    <mc:Fallback>
      <p:transition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4" grpId="1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4176463" cy="227342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3.5.5 TCP</a:t>
            </a:r>
            <a:r>
              <a:rPr lang="zh-CN" altLang="en-US" sz="2000" dirty="0">
                <a:effectLst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</a:rPr>
              <a:t>量</a:t>
            </a:r>
            <a:r>
              <a:rPr lang="zh-CN" altLang="en-US" sz="2000" dirty="0">
                <a:effectLst/>
              </a:rPr>
              <a:t>控制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机制：</a:t>
            </a:r>
            <a:endParaRPr lang="en-US" altLang="zh-CN" dirty="0">
              <a:effectLst/>
            </a:endParaRPr>
          </a:p>
          <a:p>
            <a:pPr lvl="2" algn="just"/>
            <a:r>
              <a:rPr lang="zh-CN" altLang="en-US" sz="1600" dirty="0"/>
              <a:t>接收窗口：接收缓存中的剩余空间</a:t>
            </a:r>
            <a:endParaRPr lang="en-US" altLang="zh-CN" sz="1600" dirty="0"/>
          </a:p>
          <a:p>
            <a:pPr lvl="2"/>
            <a:r>
              <a:rPr lang="zh-CN" altLang="en-US" sz="1600" dirty="0"/>
              <a:t>接收方在向发送方确认时，</a:t>
            </a:r>
            <a:r>
              <a:rPr lang="zh-CN" altLang="en-US" sz="1600" dirty="0">
                <a:solidFill>
                  <a:srgbClr val="FF0000"/>
                </a:solidFill>
              </a:rPr>
              <a:t>随时告诉</a:t>
            </a:r>
            <a:r>
              <a:rPr lang="zh-CN" altLang="en-US" sz="1600" dirty="0"/>
              <a:t>对方自己接收窗口的大小</a:t>
            </a:r>
            <a:endParaRPr lang="en-US" altLang="zh-CN" sz="1600" dirty="0"/>
          </a:p>
          <a:p>
            <a:pPr lvl="3"/>
            <a:r>
              <a:rPr lang="zh-CN" altLang="en-US" sz="1400" dirty="0"/>
              <a:t>以</a:t>
            </a:r>
            <a:r>
              <a:rPr lang="en-US" altLang="zh-CN" sz="1400" dirty="0"/>
              <a:t>HTTP</a:t>
            </a:r>
            <a:r>
              <a:rPr lang="zh-CN" altLang="en-US" sz="1400" dirty="0"/>
              <a:t>实验为例</a:t>
            </a:r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752" y="3011418"/>
            <a:ext cx="8777729" cy="1512168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矩形 8"/>
          <p:cNvSpPr/>
          <p:nvPr/>
        </p:nvSpPr>
        <p:spPr>
          <a:xfrm>
            <a:off x="5008250" y="3209420"/>
            <a:ext cx="672759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2" name="矩形 11"/>
          <p:cNvSpPr/>
          <p:nvPr/>
        </p:nvSpPr>
        <p:spPr>
          <a:xfrm>
            <a:off x="5811376" y="3344817"/>
            <a:ext cx="704840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4" name="矩形 13"/>
          <p:cNvSpPr/>
          <p:nvPr/>
        </p:nvSpPr>
        <p:spPr>
          <a:xfrm>
            <a:off x="5442186" y="3488404"/>
            <a:ext cx="729081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5" name="矩形 14"/>
          <p:cNvSpPr/>
          <p:nvPr/>
        </p:nvSpPr>
        <p:spPr>
          <a:xfrm>
            <a:off x="5598114" y="3781355"/>
            <a:ext cx="729081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6" name="矩形 15"/>
          <p:cNvSpPr/>
          <p:nvPr/>
        </p:nvSpPr>
        <p:spPr>
          <a:xfrm>
            <a:off x="5724127" y="4352844"/>
            <a:ext cx="729081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7" name="矩形 16"/>
          <p:cNvSpPr/>
          <p:nvPr/>
        </p:nvSpPr>
        <p:spPr>
          <a:xfrm>
            <a:off x="5724128" y="4064129"/>
            <a:ext cx="729080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8" name="矩形 17"/>
          <p:cNvSpPr/>
          <p:nvPr/>
        </p:nvSpPr>
        <p:spPr>
          <a:xfrm>
            <a:off x="6100632" y="4207716"/>
            <a:ext cx="704839" cy="139187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13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9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4089060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3.5.5 TCP</a:t>
            </a:r>
            <a:r>
              <a:rPr lang="zh-CN" altLang="en-US" sz="2000" dirty="0">
                <a:effectLst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</a:rPr>
              <a:t>量</a:t>
            </a:r>
            <a:r>
              <a:rPr lang="zh-CN" altLang="en-US" sz="2000" dirty="0">
                <a:effectLst/>
              </a:rPr>
              <a:t>控制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机制：</a:t>
            </a:r>
            <a:endParaRPr lang="en-US" altLang="zh-CN" dirty="0">
              <a:effectLst/>
            </a:endParaRPr>
          </a:p>
          <a:p>
            <a:pPr lvl="2"/>
            <a:r>
              <a:rPr lang="zh-CN" altLang="en-US" sz="1600" dirty="0"/>
              <a:t>接收窗口：接收缓存中的剩余空间</a:t>
            </a:r>
            <a:endParaRPr lang="en-US" altLang="zh-CN" sz="1600" dirty="0"/>
          </a:p>
          <a:p>
            <a:pPr lvl="2"/>
            <a:r>
              <a:rPr lang="zh-CN" altLang="en-US" sz="1600" dirty="0"/>
              <a:t>接收方在向发送方确认时，</a:t>
            </a:r>
            <a:r>
              <a:rPr lang="zh-CN" altLang="en-US" sz="1600" dirty="0">
                <a:solidFill>
                  <a:srgbClr val="FF0000"/>
                </a:solidFill>
              </a:rPr>
              <a:t>随时告诉对方</a:t>
            </a:r>
            <a:r>
              <a:rPr lang="zh-CN" altLang="en-US" sz="1600" dirty="0"/>
              <a:t>自己接收窗口的大小</a:t>
            </a:r>
            <a:endParaRPr lang="en-US" altLang="zh-CN" sz="1600" dirty="0"/>
          </a:p>
          <a:p>
            <a:pPr lvl="3"/>
            <a:r>
              <a:rPr lang="zh-CN" altLang="en-US" sz="1400" dirty="0"/>
              <a:t>以</a:t>
            </a:r>
            <a:r>
              <a:rPr lang="en-US" altLang="zh-CN" sz="1400" dirty="0"/>
              <a:t>HTTP</a:t>
            </a:r>
            <a:r>
              <a:rPr lang="zh-CN" altLang="en-US" sz="1400" dirty="0"/>
              <a:t>实验为例</a:t>
            </a:r>
            <a:endParaRPr lang="en-US" altLang="zh-CN" sz="1400" dirty="0"/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grpSp>
        <p:nvGrpSpPr>
          <p:cNvPr id="19" name="Group 27"/>
          <p:cNvGrpSpPr/>
          <p:nvPr/>
        </p:nvGrpSpPr>
        <p:grpSpPr bwMode="auto">
          <a:xfrm>
            <a:off x="5357705" y="1186817"/>
            <a:ext cx="566738" cy="586978"/>
            <a:chOff x="-44" y="1473"/>
            <a:chExt cx="981" cy="1105"/>
          </a:xfrm>
        </p:grpSpPr>
        <p:pic>
          <p:nvPicPr>
            <p:cNvPr id="7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 b="1"/>
            </a:p>
          </p:txBody>
        </p:sp>
      </p:grpSp>
      <p:grpSp>
        <p:nvGrpSpPr>
          <p:cNvPr id="20" name="Group 43"/>
          <p:cNvGrpSpPr/>
          <p:nvPr/>
        </p:nvGrpSpPr>
        <p:grpSpPr bwMode="auto">
          <a:xfrm>
            <a:off x="7812194" y="1156618"/>
            <a:ext cx="317899" cy="513160"/>
            <a:chOff x="4140" y="429"/>
            <a:chExt cx="1425" cy="2396"/>
          </a:xfrm>
        </p:grpSpPr>
        <p:sp>
          <p:nvSpPr>
            <p:cNvPr id="47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48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49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50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51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grpSp>
          <p:nvGrpSpPr>
            <p:cNvPr id="52" name="Group 49"/>
            <p:cNvGrpSpPr/>
            <p:nvPr/>
          </p:nvGrpSpPr>
          <p:grpSpPr bwMode="auto">
            <a:xfrm>
              <a:off x="4748" y="668"/>
              <a:ext cx="582" cy="145"/>
              <a:chOff x="613" y="2568"/>
              <a:chExt cx="726" cy="139"/>
            </a:xfrm>
          </p:grpSpPr>
          <p:sp>
            <p:nvSpPr>
              <p:cNvPr id="77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  <p:sp>
            <p:nvSpPr>
              <p:cNvPr id="78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</p:grpSp>
        <p:sp>
          <p:nvSpPr>
            <p:cNvPr id="53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grpSp>
          <p:nvGrpSpPr>
            <p:cNvPr id="54" name="Group 53"/>
            <p:cNvGrpSpPr/>
            <p:nvPr/>
          </p:nvGrpSpPr>
          <p:grpSpPr bwMode="auto">
            <a:xfrm>
              <a:off x="4749" y="995"/>
              <a:ext cx="582" cy="133"/>
              <a:chOff x="616" y="2570"/>
              <a:chExt cx="726" cy="138"/>
            </a:xfrm>
          </p:grpSpPr>
          <p:sp>
            <p:nvSpPr>
              <p:cNvPr id="75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  <p:sp>
            <p:nvSpPr>
              <p:cNvPr id="76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</p:grpSp>
        <p:sp>
          <p:nvSpPr>
            <p:cNvPr id="55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56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grpSp>
          <p:nvGrpSpPr>
            <p:cNvPr id="57" name="Group 58"/>
            <p:cNvGrpSpPr/>
            <p:nvPr/>
          </p:nvGrpSpPr>
          <p:grpSpPr bwMode="auto">
            <a:xfrm>
              <a:off x="4733" y="1640"/>
              <a:ext cx="587" cy="139"/>
              <a:chOff x="611" y="2581"/>
              <a:chExt cx="731" cy="128"/>
            </a:xfrm>
          </p:grpSpPr>
          <p:sp>
            <p:nvSpPr>
              <p:cNvPr id="73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  <p:sp>
            <p:nvSpPr>
              <p:cNvPr id="74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</p:grpSp>
        <p:sp>
          <p:nvSpPr>
            <p:cNvPr id="58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grpSp>
          <p:nvGrpSpPr>
            <p:cNvPr id="59" name="Group 62"/>
            <p:cNvGrpSpPr/>
            <p:nvPr/>
          </p:nvGrpSpPr>
          <p:grpSpPr bwMode="auto">
            <a:xfrm>
              <a:off x="4737" y="1335"/>
              <a:ext cx="582" cy="139"/>
              <a:chOff x="612" y="2576"/>
              <a:chExt cx="725" cy="139"/>
            </a:xfrm>
          </p:grpSpPr>
          <p:sp>
            <p:nvSpPr>
              <p:cNvPr id="71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  <p:sp>
            <p:nvSpPr>
              <p:cNvPr id="72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defPPr>
                  <a:defRPr lang="zh-CN"/>
                </a:defPPr>
                <a:lvl1pPr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1pPr>
                <a:lvl2pPr marL="4572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2pPr>
                <a:lvl3pPr marL="9144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3pPr>
                <a:lvl4pPr marL="13716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4pPr>
                <a:lvl5pPr marL="1828800" algn="l" rtl="0" eaLnBrk="0" fontAlgn="base" hangingPunct="0">
                  <a:spcBef>
                    <a:spcPct val="0"/>
                  </a:spcBef>
                  <a:spcAft>
                    <a:spcPct val="0"/>
                  </a:spcAft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5pPr>
                <a:lvl6pPr marL="22860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6pPr>
                <a:lvl7pPr marL="27432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7pPr>
                <a:lvl8pPr marL="32004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8pPr>
                <a:lvl9pPr marL="3657600" algn="l" defTabSz="914400" rtl="0" eaLnBrk="1" latinLnBrk="0" hangingPunct="1">
                  <a:defRPr kern="1200"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/>
              </a:p>
            </p:txBody>
          </p:sp>
        </p:grpSp>
        <p:sp>
          <p:nvSpPr>
            <p:cNvPr id="60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61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62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63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64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endParaRPr lang="zh-CN" altLang="en-US" sz="1350"/>
            </a:p>
          </p:txBody>
        </p:sp>
        <p:sp>
          <p:nvSpPr>
            <p:cNvPr id="65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66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67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68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69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  <p:sp>
          <p:nvSpPr>
            <p:cNvPr id="70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defPPr>
                <a:defRPr lang="zh-CN"/>
              </a:defPPr>
              <a:lvl1pPr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eaLnBrk="0" fontAlgn="base" hangingPunct="0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/>
            </a:p>
          </p:txBody>
        </p:sp>
      </p:grpSp>
      <p:sp>
        <p:nvSpPr>
          <p:cNvPr id="21" name="矩形 20"/>
          <p:cNvSpPr/>
          <p:nvPr/>
        </p:nvSpPr>
        <p:spPr>
          <a:xfrm>
            <a:off x="5240012" y="1739660"/>
            <a:ext cx="1143806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+mj-lt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+mj-lt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+mj-lt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108580" y="1739660"/>
            <a:ext cx="1279844" cy="41549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r>
              <a:rPr lang="en-US" altLang="zh-CN" sz="1050" dirty="0">
                <a:solidFill>
                  <a:srgbClr val="C00000"/>
                </a:solidFill>
                <a:latin typeface="+mj-lt"/>
              </a:rPr>
              <a:t>IP: 128.119.245.12</a:t>
            </a:r>
            <a:endParaRPr lang="en-US" altLang="zh-CN" sz="1050" dirty="0">
              <a:solidFill>
                <a:srgbClr val="C00000"/>
              </a:solidFill>
              <a:latin typeface="+mj-lt"/>
            </a:endParaRPr>
          </a:p>
          <a:p>
            <a:r>
              <a:rPr lang="en-US" altLang="zh-CN" sz="1050" dirty="0">
                <a:solidFill>
                  <a:srgbClr val="C00000"/>
                </a:solidFill>
                <a:latin typeface="+mj-lt"/>
              </a:rPr>
              <a:t>Port: 80</a:t>
            </a:r>
            <a:endParaRPr lang="zh-CN" altLang="en-US" sz="1050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5402030" y="2132076"/>
            <a:ext cx="0" cy="2815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8140404" y="2132076"/>
            <a:ext cx="0" cy="281593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>
            <a:off x="5402030" y="2240908"/>
            <a:ext cx="2738375" cy="168824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/>
          <p:cNvSpPr/>
          <p:nvPr/>
        </p:nvSpPr>
        <p:spPr>
          <a:xfrm>
            <a:off x="5874758" y="2185326"/>
            <a:ext cx="1901702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[SYN] Seq=0, </a:t>
            </a:r>
            <a:r>
              <a:rPr lang="en-US" altLang="zh-CN" sz="900" dirty="0" err="1">
                <a:solidFill>
                  <a:srgbClr val="0066CC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0066CC"/>
                </a:solidFill>
                <a:latin typeface="+mj-lt"/>
              </a:rPr>
              <a:t>win=8192</a:t>
            </a:r>
            <a:endParaRPr lang="zh-CN" altLang="en-US" sz="900" b="1" dirty="0">
              <a:solidFill>
                <a:srgbClr val="0066CC"/>
              </a:solidFill>
              <a:latin typeface="+mj-lt"/>
            </a:endParaRPr>
          </a:p>
        </p:txBody>
      </p:sp>
      <p:cxnSp>
        <p:nvCxnSpPr>
          <p:cNvPr id="27" name="直接箭头连接符 26"/>
          <p:cNvCxnSpPr/>
          <p:nvPr/>
        </p:nvCxnSpPr>
        <p:spPr>
          <a:xfrm flipH="1">
            <a:off x="5402030" y="2440906"/>
            <a:ext cx="2738375" cy="295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5624502" y="2442310"/>
            <a:ext cx="2412564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C00000"/>
                </a:solidFill>
                <a:latin typeface="+mj-lt"/>
              </a:rPr>
              <a:t>[SYN,ACK]Seq=0, Ack=1, </a:t>
            </a:r>
            <a:r>
              <a:rPr lang="en-US" altLang="zh-CN" sz="900" dirty="0" err="1">
                <a:solidFill>
                  <a:srgbClr val="C00000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C00000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C00000"/>
                </a:solidFill>
                <a:latin typeface="+mj-lt"/>
              </a:rPr>
              <a:t>win=14600</a:t>
            </a:r>
            <a:endParaRPr lang="zh-CN" altLang="en-US" sz="900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5456036" y="2779052"/>
            <a:ext cx="2670035" cy="231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矩形 29"/>
          <p:cNvSpPr/>
          <p:nvPr/>
        </p:nvSpPr>
        <p:spPr>
          <a:xfrm>
            <a:off x="5597951" y="2760852"/>
            <a:ext cx="246566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[SYN,ACK]Seq=1, Ack=1, </a:t>
            </a:r>
            <a:r>
              <a:rPr lang="en-US" altLang="zh-CN" sz="900" dirty="0" err="1">
                <a:solidFill>
                  <a:srgbClr val="0066CC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0066CC"/>
                </a:solidFill>
                <a:latin typeface="+mj-lt"/>
              </a:rPr>
              <a:t>win=66240</a:t>
            </a:r>
            <a:endParaRPr lang="zh-CN" altLang="en-US" sz="900" b="1" dirty="0">
              <a:solidFill>
                <a:srgbClr val="0066CC"/>
              </a:solidFill>
              <a:latin typeface="+mj-lt"/>
            </a:endParaRP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5402030" y="2941070"/>
            <a:ext cx="2738375" cy="2986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5643464" y="2965969"/>
            <a:ext cx="2374640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0000FF"/>
                </a:solidFill>
                <a:latin typeface="+mj-lt"/>
              </a:rPr>
              <a:t>[ACK]Seq=1, Ack=1, </a:t>
            </a:r>
            <a:r>
              <a:rPr lang="en-US" altLang="zh-CN" sz="900" dirty="0" err="1">
                <a:solidFill>
                  <a:srgbClr val="0000FF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0000FF"/>
                </a:solidFill>
                <a:latin typeface="+mj-lt"/>
              </a:rPr>
              <a:t>=300, </a:t>
            </a:r>
            <a:r>
              <a:rPr lang="en-US" altLang="zh-CN" sz="900" b="1" dirty="0">
                <a:solidFill>
                  <a:srgbClr val="0000FF"/>
                </a:solidFill>
                <a:latin typeface="+mj-lt"/>
              </a:rPr>
              <a:t>win= 16560</a:t>
            </a:r>
            <a:endParaRPr lang="zh-CN" altLang="en-US" sz="900" b="1" dirty="0">
              <a:solidFill>
                <a:srgbClr val="0000FF"/>
              </a:solidFill>
              <a:latin typeface="+mj-lt"/>
            </a:endParaRPr>
          </a:p>
        </p:txBody>
      </p:sp>
      <p:cxnSp>
        <p:nvCxnSpPr>
          <p:cNvPr id="33" name="直接箭头连接符 32"/>
          <p:cNvCxnSpPr/>
          <p:nvPr/>
        </p:nvCxnSpPr>
        <p:spPr>
          <a:xfrm flipH="1">
            <a:off x="5402030" y="3265272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5643464" y="3302703"/>
            <a:ext cx="2374640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C00000"/>
                </a:solidFill>
                <a:latin typeface="+mj-lt"/>
              </a:rPr>
              <a:t>[ACK]Seq=1, Ack=301, </a:t>
            </a:r>
            <a:r>
              <a:rPr lang="en-US" altLang="zh-CN" sz="900" dirty="0" err="1">
                <a:solidFill>
                  <a:srgbClr val="C00000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C00000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C00000"/>
                </a:solidFill>
                <a:latin typeface="+mj-lt"/>
              </a:rPr>
              <a:t>win= 15744</a:t>
            </a:r>
            <a:endParaRPr lang="zh-CN" altLang="en-US" sz="900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35" name="直接箭头连接符 34"/>
          <p:cNvCxnSpPr/>
          <p:nvPr/>
        </p:nvCxnSpPr>
        <p:spPr>
          <a:xfrm flipH="1">
            <a:off x="5402030" y="3477512"/>
            <a:ext cx="2738375" cy="26995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/>
          <p:cNvSpPr/>
          <p:nvPr/>
        </p:nvSpPr>
        <p:spPr>
          <a:xfrm>
            <a:off x="5583900" y="3521970"/>
            <a:ext cx="2493767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FF00FF"/>
                </a:solidFill>
                <a:latin typeface="+mj-lt"/>
              </a:rPr>
              <a:t>[ACK]Seq=1, Ack=301, </a:t>
            </a:r>
            <a:r>
              <a:rPr lang="en-US" altLang="zh-CN" sz="900" dirty="0" err="1">
                <a:solidFill>
                  <a:srgbClr val="FF00FF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FF00FF"/>
                </a:solidFill>
                <a:latin typeface="+mj-lt"/>
              </a:rPr>
              <a:t>=489, </a:t>
            </a:r>
            <a:r>
              <a:rPr lang="en-US" altLang="zh-CN" sz="900" b="1" dirty="0">
                <a:solidFill>
                  <a:srgbClr val="FF00FF"/>
                </a:solidFill>
                <a:latin typeface="+mj-lt"/>
              </a:rPr>
              <a:t>win=123</a:t>
            </a:r>
            <a:endParaRPr lang="zh-CN" altLang="en-US" sz="900" b="1" dirty="0">
              <a:solidFill>
                <a:srgbClr val="FF00FF"/>
              </a:solidFill>
              <a:latin typeface="+mj-lt"/>
            </a:endParaRPr>
          </a:p>
        </p:txBody>
      </p:sp>
      <p:cxnSp>
        <p:nvCxnSpPr>
          <p:cNvPr id="37" name="直接箭头连接符 36"/>
          <p:cNvCxnSpPr/>
          <p:nvPr/>
        </p:nvCxnSpPr>
        <p:spPr>
          <a:xfrm>
            <a:off x="5429033" y="3784899"/>
            <a:ext cx="2711372" cy="23267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624502" y="3799734"/>
            <a:ext cx="2412564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[ACK]Seq=301, Ack=490, </a:t>
            </a:r>
            <a:r>
              <a:rPr lang="en-US" altLang="zh-CN" sz="900" dirty="0" err="1">
                <a:solidFill>
                  <a:srgbClr val="0066CC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0066CC"/>
                </a:solidFill>
                <a:latin typeface="+mj-lt"/>
              </a:rPr>
              <a:t>win=65748 </a:t>
            </a:r>
            <a:endParaRPr lang="zh-CN" altLang="en-US" sz="900" b="1" dirty="0">
              <a:solidFill>
                <a:srgbClr val="0066CC"/>
              </a:solidFill>
              <a:latin typeface="+mj-lt"/>
            </a:endParaRPr>
          </a:p>
        </p:txBody>
      </p:sp>
      <p:cxnSp>
        <p:nvCxnSpPr>
          <p:cNvPr id="39" name="直接箭头连接符 38"/>
          <p:cNvCxnSpPr/>
          <p:nvPr/>
        </p:nvCxnSpPr>
        <p:spPr>
          <a:xfrm flipH="1">
            <a:off x="5402030" y="4037286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5488399" y="4074717"/>
            <a:ext cx="2684769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C00000"/>
                </a:solidFill>
                <a:latin typeface="+mj-lt"/>
              </a:rPr>
              <a:t>[FIN,ACK]Seq=490, Ack=301, </a:t>
            </a:r>
            <a:r>
              <a:rPr lang="en-US" altLang="zh-CN" sz="900" dirty="0" err="1">
                <a:solidFill>
                  <a:srgbClr val="C00000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C00000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C00000"/>
                </a:solidFill>
                <a:latin typeface="+mj-lt"/>
              </a:rPr>
              <a:t>win=15744</a:t>
            </a:r>
            <a:endParaRPr lang="zh-CN" altLang="en-US" sz="900" b="1" dirty="0">
              <a:solidFill>
                <a:srgbClr val="C00000"/>
              </a:solidFill>
              <a:latin typeface="+mj-lt"/>
            </a:endParaRP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5402030" y="4377252"/>
            <a:ext cx="2738375" cy="246726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5573122" y="4406140"/>
            <a:ext cx="2515323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[ACK]Seq=301, Ack=491, </a:t>
            </a:r>
            <a:r>
              <a:rPr lang="en-US" altLang="zh-CN" sz="900" dirty="0" err="1">
                <a:solidFill>
                  <a:srgbClr val="0066CC"/>
                </a:solidFill>
                <a:latin typeface="+mj-lt"/>
              </a:rPr>
              <a:t>len</a:t>
            </a:r>
            <a:r>
              <a:rPr lang="en-US" altLang="zh-CN" sz="900" dirty="0">
                <a:solidFill>
                  <a:srgbClr val="0066CC"/>
                </a:solidFill>
                <a:latin typeface="+mj-lt"/>
              </a:rPr>
              <a:t>=0, </a:t>
            </a:r>
            <a:r>
              <a:rPr lang="en-US" altLang="zh-CN" sz="900" b="1" dirty="0">
                <a:solidFill>
                  <a:srgbClr val="0066CC"/>
                </a:solidFill>
                <a:latin typeface="+mj-lt"/>
              </a:rPr>
              <a:t>win=65748</a:t>
            </a:r>
            <a:endParaRPr lang="zh-CN" altLang="en-US" sz="900" b="1" dirty="0">
              <a:solidFill>
                <a:srgbClr val="0066CC"/>
              </a:solidFill>
              <a:latin typeface="+mj-lt"/>
            </a:endParaRPr>
          </a:p>
        </p:txBody>
      </p:sp>
      <p:sp>
        <p:nvSpPr>
          <p:cNvPr id="8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8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8" name="Rectangle 15"/>
          <p:cNvSpPr txBox="1">
            <a:spLocks noChangeArrowheads="1"/>
          </p:cNvSpPr>
          <p:nvPr/>
        </p:nvSpPr>
        <p:spPr bwMode="auto">
          <a:xfrm>
            <a:off x="2804464" y="1518632"/>
            <a:ext cx="3639744" cy="256528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3.5.1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协议概述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3.5.2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3.5.5 TCP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流</a:t>
            </a:r>
            <a:r>
              <a:rPr lang="zh-CN" altLang="en-US" sz="2000" dirty="0">
                <a:solidFill>
                  <a:schemeClr val="bg1">
                    <a:lumMod val="6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量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3.5.6 TCP</a:t>
            </a:r>
            <a:r>
              <a:rPr lang="zh-CN" altLang="en-US" sz="200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sz="2000" dirty="0">
              <a:solidFill>
                <a:srgbClr val="0070C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Picture 46" descr="j0433868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8302" y="1518632"/>
            <a:ext cx="810481" cy="8104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12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72000"/>
            <a:ext cx="7128791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sz="2000" dirty="0">
                <a:effectLst/>
              </a:rPr>
              <a:t>3.5.6 TCP</a:t>
            </a:r>
            <a:r>
              <a:rPr lang="zh-CN" altLang="en-US" sz="2000" dirty="0">
                <a:effectLst/>
              </a:rPr>
              <a:t>连接管理</a:t>
            </a:r>
            <a:endParaRPr lang="en-US" altLang="zh-CN" sz="2000" dirty="0">
              <a:effectLst/>
            </a:endParaRPr>
          </a:p>
          <a:p>
            <a:pPr lvl="1"/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是“面向连接”的运输协议</a:t>
            </a:r>
            <a:endParaRPr lang="en-US" altLang="zh-CN" dirty="0">
              <a:effectLst/>
            </a:endParaRPr>
          </a:p>
          <a:p>
            <a:pPr lvl="2"/>
            <a:r>
              <a:rPr lang="zh-CN" altLang="en-US" sz="1600" dirty="0"/>
              <a:t>运输之前，要先建立“逻辑连接”</a:t>
            </a:r>
            <a:endParaRPr lang="en-US" altLang="zh-CN" sz="1600" dirty="0"/>
          </a:p>
          <a:p>
            <a:pPr lvl="2"/>
            <a:r>
              <a:rPr lang="zh-CN" altLang="en-US" sz="1600" dirty="0"/>
              <a:t>初始化</a:t>
            </a:r>
            <a:r>
              <a:rPr lang="en-US" altLang="zh-CN" sz="1600" dirty="0"/>
              <a:t>TCP</a:t>
            </a:r>
            <a:r>
              <a:rPr lang="zh-CN" altLang="en-US" sz="1600" dirty="0"/>
              <a:t>的参数</a:t>
            </a:r>
            <a:endParaRPr lang="en-US" altLang="zh-CN" sz="1600" dirty="0"/>
          </a:p>
          <a:p>
            <a:pPr lvl="3"/>
            <a:r>
              <a:rPr lang="zh-CN" altLang="en-US" sz="1400" dirty="0"/>
              <a:t>序号</a:t>
            </a:r>
            <a:endParaRPr lang="en-US" altLang="zh-CN" sz="1400" dirty="0"/>
          </a:p>
          <a:p>
            <a:pPr lvl="3"/>
            <a:r>
              <a:rPr lang="zh-CN" altLang="en-US" sz="1400" dirty="0"/>
              <a:t>缓存</a:t>
            </a:r>
            <a:endParaRPr lang="en-US" altLang="zh-CN" sz="1400" dirty="0"/>
          </a:p>
          <a:p>
            <a:pPr lvl="2"/>
            <a:r>
              <a:rPr lang="zh-CN" altLang="en-US" sz="1600" dirty="0"/>
              <a:t>客户端发起连接</a:t>
            </a:r>
            <a:endParaRPr lang="en-US" altLang="zh-CN" sz="1600" dirty="0"/>
          </a:p>
          <a:p>
            <a:pPr lvl="3"/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Socket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clientSocket =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new </a:t>
            </a:r>
            <a:r>
              <a:rPr lang="en-US" altLang="zh-CN" b="1" dirty="0">
                <a:solidFill>
                  <a:srgbClr val="7030A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Socket</a:t>
            </a:r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("</a:t>
            </a:r>
            <a:r>
              <a:rPr lang="en-US" altLang="zh-CN" b="1" dirty="0">
                <a:solidFill>
                  <a:srgbClr val="FF00FF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hostname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, 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"</a:t>
            </a:r>
            <a:r>
              <a:rPr lang="en-US" altLang="zh-CN" b="1" dirty="0">
                <a:solidFill>
                  <a:srgbClr val="FF000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port#</a:t>
            </a:r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");</a:t>
            </a:r>
            <a:endParaRPr lang="en-US" altLang="zh-CN" b="1" dirty="0">
              <a:solidFill>
                <a:schemeClr val="tx1"/>
              </a:solidFill>
              <a:latin typeface="Courier New" panose="02070309020205020404" pitchFamily="49" charset="0"/>
              <a:ea typeface="宋体" panose="02010600030101010101" pitchFamily="2" charset="-122"/>
            </a:endParaRPr>
          </a:p>
          <a:p>
            <a:pPr lvl="2"/>
            <a:r>
              <a:rPr lang="en-US" altLang="zh-CN" sz="1600" dirty="0"/>
              <a:t> </a:t>
            </a:r>
            <a:r>
              <a:rPr lang="zh-CN" altLang="en-US" sz="1600" dirty="0"/>
              <a:t>服务器端等待连接</a:t>
            </a:r>
            <a:endParaRPr lang="en-US" altLang="zh-CN" sz="1600" dirty="0"/>
          </a:p>
          <a:p>
            <a:pPr lvl="3"/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Socket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connectionSocket =</a:t>
            </a:r>
            <a:r>
              <a:rPr lang="en-US" altLang="zh-CN" b="1" dirty="0">
                <a:latin typeface="Courier New" panose="02070309020205020404" pitchFamily="49" charset="0"/>
                <a:ea typeface="宋体" panose="02010600030101010101" pitchFamily="2" charset="-122"/>
              </a:rPr>
              <a:t> </a:t>
            </a:r>
            <a:r>
              <a:rPr lang="en-US" altLang="zh-CN" b="1" dirty="0" err="1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welcomeSocket</a:t>
            </a:r>
            <a:r>
              <a:rPr lang="en-US" altLang="zh-CN" b="1" dirty="0" err="1">
                <a:solidFill>
                  <a:srgbClr val="7030A0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.accept</a:t>
            </a:r>
            <a:r>
              <a:rPr lang="en-US" altLang="zh-CN" b="1" dirty="0">
                <a:solidFill>
                  <a:schemeClr val="tx1"/>
                </a:solidFill>
                <a:latin typeface="Courier New" panose="02070309020205020404" pitchFamily="49" charset="0"/>
                <a:ea typeface="宋体" panose="02010600030101010101" pitchFamily="2" charset="-122"/>
              </a:rPr>
              <a:t>();</a:t>
            </a:r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3"/>
            <a:endParaRPr lang="en-US" altLang="zh-CN" dirty="0">
              <a:solidFill>
                <a:srgbClr val="0066CC"/>
              </a:solidFill>
            </a:endParaRPr>
          </a:p>
          <a:p>
            <a:pPr lvl="1"/>
            <a:endParaRPr lang="en-US" altLang="zh-CN" sz="1500" dirty="0">
              <a:solidFill>
                <a:srgbClr val="FF0000"/>
              </a:solidFill>
            </a:endParaRPr>
          </a:p>
        </p:txBody>
      </p:sp>
      <p:sp>
        <p:nvSpPr>
          <p:cNvPr id="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1" name="arrow.wav"/>
          </p:stSnd>
        </p:sndAc>
      </p:transition>
    </mc:Choice>
    <mc:Fallback>
      <p:transition>
        <p:sndAc>
          <p:stSnd>
            <p:snd r:embed="rId1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995039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>
                <a:effectLst/>
              </a:rPr>
              <a:t>3.5.6 TCP</a:t>
            </a:r>
            <a:r>
              <a:rPr lang="zh-CN" altLang="en-US" sz="2000" dirty="0">
                <a:effectLst/>
              </a:rPr>
              <a:t>连接管理</a:t>
            </a:r>
            <a:endParaRPr lang="en-US" altLang="zh-CN" sz="2000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en-US" altLang="zh-CN" dirty="0">
                <a:effectLst/>
              </a:rPr>
              <a:t>TCP</a:t>
            </a:r>
            <a:r>
              <a:rPr lang="zh-CN" altLang="en-US" dirty="0">
                <a:effectLst/>
              </a:rPr>
              <a:t>是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>
                <a:effectLst/>
              </a:rPr>
              <a:t>面向连接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dirty="0">
                <a:effectLst/>
              </a:rPr>
              <a:t>的运输协议</a:t>
            </a:r>
            <a:endParaRPr lang="en-US" altLang="zh-CN" dirty="0">
              <a:effectLst/>
            </a:endParaRPr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1">
              <a:spcBef>
                <a:spcPts val="450"/>
              </a:spcBef>
            </a:pPr>
            <a:endParaRPr lang="en-US" altLang="zh-CN" sz="1500" dirty="0"/>
          </a:p>
        </p:txBody>
      </p:sp>
      <p:sp>
        <p:nvSpPr>
          <p:cNvPr id="8" name="Rectangle 62"/>
          <p:cNvSpPr>
            <a:spLocks noChangeArrowheads="1"/>
          </p:cNvSpPr>
          <p:nvPr/>
        </p:nvSpPr>
        <p:spPr bwMode="auto">
          <a:xfrm>
            <a:off x="2272717" y="2034071"/>
            <a:ext cx="1709738" cy="1810941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9" name="Rectangle 45"/>
          <p:cNvSpPr>
            <a:spLocks noChangeArrowheads="1"/>
          </p:cNvSpPr>
          <p:nvPr/>
        </p:nvSpPr>
        <p:spPr bwMode="auto">
          <a:xfrm>
            <a:off x="2242951" y="2074552"/>
            <a:ext cx="1702594" cy="1853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10" name="Line 55"/>
          <p:cNvSpPr>
            <a:spLocks noChangeShapeType="1"/>
          </p:cNvSpPr>
          <p:nvPr/>
        </p:nvSpPr>
        <p:spPr bwMode="auto">
          <a:xfrm>
            <a:off x="2242951" y="2405546"/>
            <a:ext cx="17025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1" name="Text Box 6"/>
          <p:cNvSpPr txBox="1">
            <a:spLocks noChangeArrowheads="1"/>
          </p:cNvSpPr>
          <p:nvPr/>
        </p:nvSpPr>
        <p:spPr bwMode="auto">
          <a:xfrm>
            <a:off x="2253667" y="2490081"/>
            <a:ext cx="1751409" cy="12234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230505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>
              <a:defRPr/>
            </a:pPr>
            <a:r>
              <a:rPr lang="en-US" sz="1050" dirty="0"/>
              <a:t>connection state: ESTAB</a:t>
            </a:r>
            <a:endParaRPr lang="en-US" sz="1050" dirty="0"/>
          </a:p>
          <a:p>
            <a:pPr algn="l">
              <a:defRPr/>
            </a:pPr>
            <a:r>
              <a:rPr lang="en-US" sz="1050" dirty="0"/>
              <a:t>connection variables: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seq # client-to-server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         server-to-client</a:t>
            </a:r>
            <a:endParaRPr lang="en-US" sz="1050" dirty="0"/>
          </a:p>
          <a:p>
            <a:pPr lvl="1" algn="l">
              <a:defRPr/>
            </a:pPr>
            <a:r>
              <a:rPr lang="en-US" sz="1050" b="1" dirty="0" err="1">
                <a:latin typeface="Courier New" panose="02070309020205020404" pitchFamily="49" charset="0"/>
              </a:rPr>
              <a:t>rcvBuffer</a:t>
            </a:r>
            <a:r>
              <a:rPr lang="en-US" sz="1050" dirty="0"/>
              <a:t> size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   at </a:t>
            </a:r>
            <a:r>
              <a:rPr lang="en-US" sz="1050" dirty="0" err="1"/>
              <a:t>server,client</a:t>
            </a:r>
            <a:r>
              <a:rPr lang="en-US" sz="1050" dirty="0"/>
              <a:t> 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           </a:t>
            </a:r>
            <a:endParaRPr lang="en-US" sz="1050" dirty="0"/>
          </a:p>
        </p:txBody>
      </p:sp>
      <p:grpSp>
        <p:nvGrpSpPr>
          <p:cNvPr id="12" name="Group 46"/>
          <p:cNvGrpSpPr/>
          <p:nvPr/>
        </p:nvGrpSpPr>
        <p:grpSpPr bwMode="auto">
          <a:xfrm>
            <a:off x="2953754" y="2341253"/>
            <a:ext cx="328613" cy="154781"/>
            <a:chOff x="344" y="1846"/>
            <a:chExt cx="336" cy="130"/>
          </a:xfrm>
        </p:grpSpPr>
        <p:sp>
          <p:nvSpPr>
            <p:cNvPr id="13" name="Rectangle 47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4" name="Rectangle 48"/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5" name="Rectangle 49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16" name="Rectangle 50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17" name="Text Box 54"/>
          <p:cNvSpPr txBox="1">
            <a:spLocks noChangeArrowheads="1"/>
          </p:cNvSpPr>
          <p:nvPr/>
        </p:nvSpPr>
        <p:spPr bwMode="auto">
          <a:xfrm>
            <a:off x="2201279" y="2117416"/>
            <a:ext cx="91255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application</a:t>
            </a:r>
            <a:endParaRPr lang="en-US" sz="1200"/>
          </a:p>
        </p:txBody>
      </p:sp>
      <p:sp>
        <p:nvSpPr>
          <p:cNvPr id="18" name="Line 56"/>
          <p:cNvSpPr>
            <a:spLocks noChangeShapeType="1"/>
          </p:cNvSpPr>
          <p:nvPr/>
        </p:nvSpPr>
        <p:spPr bwMode="auto">
          <a:xfrm>
            <a:off x="2247713" y="3527115"/>
            <a:ext cx="17014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19" name="Text Box 57"/>
          <p:cNvSpPr txBox="1">
            <a:spLocks noChangeArrowheads="1"/>
          </p:cNvSpPr>
          <p:nvPr/>
        </p:nvSpPr>
        <p:spPr bwMode="auto">
          <a:xfrm>
            <a:off x="2211995" y="3578313"/>
            <a:ext cx="73449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network</a:t>
            </a:r>
            <a:endParaRPr lang="en-US" sz="1200"/>
          </a:p>
        </p:txBody>
      </p:sp>
      <p:sp>
        <p:nvSpPr>
          <p:cNvPr id="20" name="Rectangle 58"/>
          <p:cNvSpPr>
            <a:spLocks noChangeArrowheads="1"/>
          </p:cNvSpPr>
          <p:nvPr/>
        </p:nvSpPr>
        <p:spPr bwMode="auto">
          <a:xfrm>
            <a:off x="2221520" y="3843822"/>
            <a:ext cx="1751410" cy="1357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21" name="Line 59"/>
          <p:cNvSpPr>
            <a:spLocks noChangeShapeType="1"/>
          </p:cNvSpPr>
          <p:nvPr/>
        </p:nvSpPr>
        <p:spPr bwMode="auto">
          <a:xfrm>
            <a:off x="2242951" y="3835488"/>
            <a:ext cx="0" cy="17740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2" name="Line 60"/>
          <p:cNvSpPr>
            <a:spLocks noChangeShapeType="1"/>
          </p:cNvSpPr>
          <p:nvPr/>
        </p:nvSpPr>
        <p:spPr bwMode="auto">
          <a:xfrm>
            <a:off x="3940782" y="3814056"/>
            <a:ext cx="0" cy="17740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3" name="Freeform 8"/>
          <p:cNvSpPr/>
          <p:nvPr/>
        </p:nvSpPr>
        <p:spPr bwMode="auto">
          <a:xfrm flipH="1">
            <a:off x="1888145" y="2076934"/>
            <a:ext cx="351235" cy="186809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24" name="Rectangle 63"/>
          <p:cNvSpPr>
            <a:spLocks noChangeArrowheads="1"/>
          </p:cNvSpPr>
          <p:nvPr/>
        </p:nvSpPr>
        <p:spPr bwMode="auto">
          <a:xfrm>
            <a:off x="5499310" y="2038834"/>
            <a:ext cx="1709738" cy="1810941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25" name="Rectangle 64"/>
          <p:cNvSpPr>
            <a:spLocks noChangeArrowheads="1"/>
          </p:cNvSpPr>
          <p:nvPr/>
        </p:nvSpPr>
        <p:spPr bwMode="auto">
          <a:xfrm>
            <a:off x="5469545" y="2079315"/>
            <a:ext cx="1702594" cy="1853804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26" name="Line 65"/>
          <p:cNvSpPr>
            <a:spLocks noChangeShapeType="1"/>
          </p:cNvSpPr>
          <p:nvPr/>
        </p:nvSpPr>
        <p:spPr bwMode="auto">
          <a:xfrm>
            <a:off x="5469545" y="2410309"/>
            <a:ext cx="170259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27" name="Text Box 66"/>
          <p:cNvSpPr txBox="1">
            <a:spLocks noChangeArrowheads="1"/>
          </p:cNvSpPr>
          <p:nvPr/>
        </p:nvSpPr>
        <p:spPr bwMode="auto">
          <a:xfrm>
            <a:off x="5480261" y="2494844"/>
            <a:ext cx="1751409" cy="1223412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230505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>
              <a:defRPr/>
            </a:pPr>
            <a:r>
              <a:rPr lang="en-US" sz="1050" dirty="0"/>
              <a:t>connection state: ESTAB</a:t>
            </a:r>
            <a:endParaRPr lang="en-US" sz="1050" dirty="0"/>
          </a:p>
          <a:p>
            <a:pPr algn="l">
              <a:defRPr/>
            </a:pPr>
            <a:r>
              <a:rPr lang="en-US" sz="1050" dirty="0"/>
              <a:t>connection Variables: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seq # client-to-server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          server-to-client</a:t>
            </a:r>
            <a:endParaRPr lang="en-US" sz="1050" dirty="0"/>
          </a:p>
          <a:p>
            <a:pPr lvl="1" algn="l">
              <a:defRPr/>
            </a:pPr>
            <a:r>
              <a:rPr lang="en-US" sz="1050" b="1" dirty="0" err="1">
                <a:latin typeface="Courier New" panose="02070309020205020404" pitchFamily="49" charset="0"/>
              </a:rPr>
              <a:t>rcvBuffer</a:t>
            </a:r>
            <a:r>
              <a:rPr lang="en-US" sz="1050" dirty="0"/>
              <a:t> size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   at </a:t>
            </a:r>
            <a:r>
              <a:rPr lang="en-US" sz="1050" dirty="0" err="1"/>
              <a:t>server,client</a:t>
            </a:r>
            <a:r>
              <a:rPr lang="en-US" sz="1050" dirty="0"/>
              <a:t> </a:t>
            </a:r>
            <a:endParaRPr lang="en-US" sz="1050" dirty="0"/>
          </a:p>
          <a:p>
            <a:pPr lvl="1" algn="l">
              <a:defRPr/>
            </a:pPr>
            <a:r>
              <a:rPr lang="en-US" sz="1050" dirty="0"/>
              <a:t>           </a:t>
            </a:r>
            <a:endParaRPr lang="en-US" sz="1050" dirty="0"/>
          </a:p>
        </p:txBody>
      </p:sp>
      <p:grpSp>
        <p:nvGrpSpPr>
          <p:cNvPr id="28" name="Group 67"/>
          <p:cNvGrpSpPr/>
          <p:nvPr/>
        </p:nvGrpSpPr>
        <p:grpSpPr bwMode="auto">
          <a:xfrm>
            <a:off x="6180348" y="2346016"/>
            <a:ext cx="328613" cy="154781"/>
            <a:chOff x="344" y="1846"/>
            <a:chExt cx="336" cy="130"/>
          </a:xfrm>
        </p:grpSpPr>
        <p:sp>
          <p:nvSpPr>
            <p:cNvPr id="29" name="Rectangle 68"/>
            <p:cNvSpPr>
              <a:spLocks noChangeArrowheads="1"/>
            </p:cNvSpPr>
            <p:nvPr/>
          </p:nvSpPr>
          <p:spPr bwMode="auto">
            <a:xfrm>
              <a:off x="344" y="1846"/>
              <a:ext cx="336" cy="130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0" name="Rectangle 69"/>
            <p:cNvSpPr>
              <a:spLocks noChangeArrowheads="1"/>
            </p:cNvSpPr>
            <p:nvPr/>
          </p:nvSpPr>
          <p:spPr bwMode="auto">
            <a:xfrm>
              <a:off x="454" y="1863"/>
              <a:ext cx="112" cy="9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1" name="Rectangle 70"/>
            <p:cNvSpPr>
              <a:spLocks noChangeArrowheads="1"/>
            </p:cNvSpPr>
            <p:nvPr/>
          </p:nvSpPr>
          <p:spPr bwMode="auto">
            <a:xfrm>
              <a:off x="578" y="1921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32" name="Rectangle 71"/>
            <p:cNvSpPr>
              <a:spLocks noChangeArrowheads="1"/>
            </p:cNvSpPr>
            <p:nvPr/>
          </p:nvSpPr>
          <p:spPr bwMode="auto">
            <a:xfrm>
              <a:off x="407" y="1922"/>
              <a:ext cx="29" cy="35"/>
            </a:xfrm>
            <a:prstGeom prst="rect">
              <a:avLst/>
            </a:prstGeom>
            <a:solidFill>
              <a:srgbClr val="CC9900"/>
            </a:solidFill>
            <a:ln w="9525">
              <a:solidFill>
                <a:srgbClr val="CC99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33" name="Text Box 72"/>
          <p:cNvSpPr txBox="1">
            <a:spLocks noChangeArrowheads="1"/>
          </p:cNvSpPr>
          <p:nvPr/>
        </p:nvSpPr>
        <p:spPr bwMode="auto">
          <a:xfrm>
            <a:off x="5427873" y="2122178"/>
            <a:ext cx="912558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application</a:t>
            </a:r>
            <a:endParaRPr lang="en-US" sz="1200"/>
          </a:p>
        </p:txBody>
      </p:sp>
      <p:sp>
        <p:nvSpPr>
          <p:cNvPr id="34" name="Line 73"/>
          <p:cNvSpPr>
            <a:spLocks noChangeShapeType="1"/>
          </p:cNvSpPr>
          <p:nvPr/>
        </p:nvSpPr>
        <p:spPr bwMode="auto">
          <a:xfrm>
            <a:off x="5474307" y="3531878"/>
            <a:ext cx="1701404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5" name="Text Box 74"/>
          <p:cNvSpPr txBox="1">
            <a:spLocks noChangeArrowheads="1"/>
          </p:cNvSpPr>
          <p:nvPr/>
        </p:nvSpPr>
        <p:spPr bwMode="auto">
          <a:xfrm>
            <a:off x="5438588" y="3583075"/>
            <a:ext cx="73449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/>
              <a:t>network</a:t>
            </a:r>
            <a:endParaRPr lang="en-US" sz="1200"/>
          </a:p>
        </p:txBody>
      </p:sp>
      <p:sp>
        <p:nvSpPr>
          <p:cNvPr id="36" name="Rectangle 75"/>
          <p:cNvSpPr>
            <a:spLocks noChangeArrowheads="1"/>
          </p:cNvSpPr>
          <p:nvPr/>
        </p:nvSpPr>
        <p:spPr bwMode="auto">
          <a:xfrm>
            <a:off x="5448114" y="3848584"/>
            <a:ext cx="1751410" cy="13573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/>
          </a:p>
        </p:txBody>
      </p:sp>
      <p:sp>
        <p:nvSpPr>
          <p:cNvPr id="37" name="Line 76"/>
          <p:cNvSpPr>
            <a:spLocks noChangeShapeType="1"/>
          </p:cNvSpPr>
          <p:nvPr/>
        </p:nvSpPr>
        <p:spPr bwMode="auto">
          <a:xfrm>
            <a:off x="5469545" y="3840250"/>
            <a:ext cx="0" cy="17740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8" name="Line 77"/>
          <p:cNvSpPr>
            <a:spLocks noChangeShapeType="1"/>
          </p:cNvSpPr>
          <p:nvPr/>
        </p:nvSpPr>
        <p:spPr bwMode="auto">
          <a:xfrm>
            <a:off x="7167376" y="3818819"/>
            <a:ext cx="0" cy="177403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Tahoma" panose="020B0604030504040204" charset="0"/>
              <a:ea typeface="MS PGothic" panose="020B0600070205080204" charset="-128"/>
            </a:endParaRPr>
          </a:p>
        </p:txBody>
      </p:sp>
      <p:sp>
        <p:nvSpPr>
          <p:cNvPr id="39" name="Freeform 78"/>
          <p:cNvSpPr/>
          <p:nvPr/>
        </p:nvSpPr>
        <p:spPr bwMode="auto">
          <a:xfrm>
            <a:off x="7180473" y="2031690"/>
            <a:ext cx="351234" cy="1868091"/>
          </a:xfrm>
          <a:custGeom>
            <a:avLst/>
            <a:gdLst>
              <a:gd name="T0" fmla="*/ 2147483647 w 366"/>
              <a:gd name="T1" fmla="*/ 2147483647 h 1284"/>
              <a:gd name="T2" fmla="*/ 2147483647 w 366"/>
              <a:gd name="T3" fmla="*/ 0 h 1284"/>
              <a:gd name="T4" fmla="*/ 0 w 366"/>
              <a:gd name="T5" fmla="*/ 2147483647 h 1284"/>
              <a:gd name="T6" fmla="*/ 2147483647 w 366"/>
              <a:gd name="T7" fmla="*/ 2147483647 h 1284"/>
              <a:gd name="T8" fmla="*/ 2147483647 w 366"/>
              <a:gd name="T9" fmla="*/ 2147483647 h 1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66" h="1284">
                <a:moveTo>
                  <a:pt x="366" y="1278"/>
                </a:moveTo>
                <a:lnTo>
                  <a:pt x="12" y="0"/>
                </a:lnTo>
                <a:lnTo>
                  <a:pt x="0" y="1224"/>
                </a:lnTo>
                <a:lnTo>
                  <a:pt x="186" y="1284"/>
                </a:lnTo>
                <a:lnTo>
                  <a:pt x="366" y="1278"/>
                </a:lnTo>
                <a:close/>
              </a:path>
            </a:pathLst>
          </a:custGeom>
          <a:gradFill rotWithShape="1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 w="9525">
            <a:solidFill>
              <a:srgbClr val="DDDDDD"/>
            </a:solidFill>
            <a:rou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40" name="Text Box 83"/>
          <p:cNvSpPr txBox="1">
            <a:spLocks noChangeArrowheads="1"/>
          </p:cNvSpPr>
          <p:nvPr/>
        </p:nvSpPr>
        <p:spPr bwMode="auto">
          <a:xfrm>
            <a:off x="1043613" y="4192675"/>
            <a:ext cx="3528388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>
              <a:defRPr/>
            </a:pPr>
            <a:r>
              <a:rPr lang="en-US" sz="1050" b="1" dirty="0">
                <a:latin typeface="Courier New" panose="02070309020205020404" pitchFamily="49" charset="0"/>
              </a:rPr>
              <a:t>Socket clientSocket =   </a:t>
            </a:r>
            <a:endParaRPr lang="en-US" sz="1050" b="1" dirty="0">
              <a:latin typeface="Courier New" panose="02070309020205020404" pitchFamily="49" charset="0"/>
            </a:endParaRPr>
          </a:p>
          <a:p>
            <a:pPr algn="l">
              <a:defRPr/>
            </a:pPr>
            <a:r>
              <a:rPr lang="en-US" sz="1050" b="1" dirty="0">
                <a:latin typeface="Courier New" panose="02070309020205020404" pitchFamily="49" charset="0"/>
              </a:rPr>
              <a:t>  new Socket("hostname", "port number");</a:t>
            </a:r>
            <a:endParaRPr lang="en-US" sz="1050" b="1" dirty="0">
              <a:latin typeface="Courier New" panose="02070309020205020404" pitchFamily="49" charset="0"/>
            </a:endParaRPr>
          </a:p>
        </p:txBody>
      </p:sp>
      <p:sp>
        <p:nvSpPr>
          <p:cNvPr id="41" name="Text Box 85"/>
          <p:cNvSpPr txBox="1">
            <a:spLocks noChangeArrowheads="1"/>
          </p:cNvSpPr>
          <p:nvPr/>
        </p:nvSpPr>
        <p:spPr bwMode="auto">
          <a:xfrm>
            <a:off x="5376675" y="4203390"/>
            <a:ext cx="3033360" cy="430887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 marL="231775" indent="-231775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>
              <a:defRPr/>
            </a:pPr>
            <a:r>
              <a:rPr lang="en-US" sz="1100" b="1" dirty="0">
                <a:latin typeface="Courier New" panose="02070309020205020404" pitchFamily="49" charset="0"/>
              </a:rPr>
              <a:t>Socket connectionSocket = welcomeSocket.accept();</a:t>
            </a:r>
            <a:endParaRPr lang="en-US" sz="1100" b="1" dirty="0">
              <a:latin typeface="Courier New" panose="02070309020205020404" pitchFamily="49" charset="0"/>
            </a:endParaRPr>
          </a:p>
        </p:txBody>
      </p:sp>
      <p:grpSp>
        <p:nvGrpSpPr>
          <p:cNvPr id="42" name="Group 89"/>
          <p:cNvGrpSpPr/>
          <p:nvPr/>
        </p:nvGrpSpPr>
        <p:grpSpPr bwMode="auto">
          <a:xfrm>
            <a:off x="1530957" y="3600934"/>
            <a:ext cx="523875" cy="459581"/>
            <a:chOff x="-44" y="1473"/>
            <a:chExt cx="981" cy="1105"/>
          </a:xfrm>
        </p:grpSpPr>
        <p:pic>
          <p:nvPicPr>
            <p:cNvPr id="43" name="Picture 90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91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45" name="Group 92"/>
          <p:cNvGrpSpPr/>
          <p:nvPr/>
        </p:nvGrpSpPr>
        <p:grpSpPr bwMode="auto">
          <a:xfrm>
            <a:off x="7392405" y="3524734"/>
            <a:ext cx="311944" cy="470297"/>
            <a:chOff x="4140" y="429"/>
            <a:chExt cx="1425" cy="2396"/>
          </a:xfrm>
        </p:grpSpPr>
        <p:sp>
          <p:nvSpPr>
            <p:cNvPr id="46" name="Freeform 93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Rectangle 94"/>
            <p:cNvSpPr>
              <a:spLocks noChangeArrowheads="1"/>
            </p:cNvSpPr>
            <p:nvPr/>
          </p:nvSpPr>
          <p:spPr bwMode="auto">
            <a:xfrm>
              <a:off x="4205" y="429"/>
              <a:ext cx="1050" cy="2287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48" name="Freeform 95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Freeform 96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50" name="Rectangle 97"/>
            <p:cNvSpPr>
              <a:spLocks noChangeArrowheads="1"/>
            </p:cNvSpPr>
            <p:nvPr/>
          </p:nvSpPr>
          <p:spPr bwMode="auto">
            <a:xfrm>
              <a:off x="4211" y="696"/>
              <a:ext cx="598" cy="4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1" name="Group 98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76" name="AutoShape 99"/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7" name="AutoShape 100"/>
              <p:cNvSpPr>
                <a:spLocks noChangeArrowheads="1"/>
              </p:cNvSpPr>
              <p:nvPr/>
            </p:nvSpPr>
            <p:spPr bwMode="auto">
              <a:xfrm>
                <a:off x="628" y="2583"/>
                <a:ext cx="692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2" name="Rectangle 101"/>
            <p:cNvSpPr>
              <a:spLocks noChangeArrowheads="1"/>
            </p:cNvSpPr>
            <p:nvPr/>
          </p:nvSpPr>
          <p:spPr bwMode="auto">
            <a:xfrm>
              <a:off x="4222" y="1017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3" name="Group 102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74" name="AutoShape 103"/>
              <p:cNvSpPr>
                <a:spLocks noChangeArrowheads="1"/>
              </p:cNvSpPr>
              <p:nvPr/>
            </p:nvSpPr>
            <p:spPr bwMode="auto">
              <a:xfrm>
                <a:off x="617" y="2567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5" name="AutoShape 104"/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79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4" name="Rectangle 105"/>
            <p:cNvSpPr>
              <a:spLocks noChangeArrowheads="1"/>
            </p:cNvSpPr>
            <p:nvPr/>
          </p:nvSpPr>
          <p:spPr bwMode="auto">
            <a:xfrm>
              <a:off x="4216" y="1357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55" name="Rectangle 106"/>
            <p:cNvSpPr>
              <a:spLocks noChangeArrowheads="1"/>
            </p:cNvSpPr>
            <p:nvPr/>
          </p:nvSpPr>
          <p:spPr bwMode="auto">
            <a:xfrm>
              <a:off x="4227" y="1654"/>
              <a:ext cx="598" cy="49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56" name="Group 107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72" name="AutoShape 108"/>
              <p:cNvSpPr>
                <a:spLocks noChangeArrowheads="1"/>
              </p:cNvSpPr>
              <p:nvPr/>
            </p:nvSpPr>
            <p:spPr bwMode="auto">
              <a:xfrm>
                <a:off x="611" y="2576"/>
                <a:ext cx="725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3" name="AutoShape 109"/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1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7" name="Freeform 110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58" name="Group 111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70" name="AutoShape 112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5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71" name="AutoShape 113"/>
              <p:cNvSpPr>
                <a:spLocks noChangeArrowheads="1"/>
              </p:cNvSpPr>
              <p:nvPr/>
            </p:nvSpPr>
            <p:spPr bwMode="auto">
              <a:xfrm>
                <a:off x="627" y="2586"/>
                <a:ext cx="691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/>
              </a:p>
            </p:txBody>
          </p:sp>
        </p:grpSp>
        <p:sp>
          <p:nvSpPr>
            <p:cNvPr id="59" name="Rectangle 114"/>
            <p:cNvSpPr>
              <a:spLocks noChangeArrowheads="1"/>
            </p:cNvSpPr>
            <p:nvPr/>
          </p:nvSpPr>
          <p:spPr bwMode="auto">
            <a:xfrm>
              <a:off x="5250" y="429"/>
              <a:ext cx="71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0" name="Freeform 115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1" name="Freeform 116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2" name="Oval 117"/>
            <p:cNvSpPr>
              <a:spLocks noChangeArrowheads="1"/>
            </p:cNvSpPr>
            <p:nvPr/>
          </p:nvSpPr>
          <p:spPr bwMode="auto">
            <a:xfrm>
              <a:off x="5516" y="2613"/>
              <a:ext cx="49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3" name="Freeform 118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4" name="AutoShape 119"/>
            <p:cNvSpPr>
              <a:spLocks noChangeArrowheads="1"/>
            </p:cNvSpPr>
            <p:nvPr/>
          </p:nvSpPr>
          <p:spPr bwMode="auto">
            <a:xfrm>
              <a:off x="4140" y="2679"/>
              <a:ext cx="1197" cy="146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5" name="AutoShape 120"/>
            <p:cNvSpPr>
              <a:spLocks noChangeArrowheads="1"/>
            </p:cNvSpPr>
            <p:nvPr/>
          </p:nvSpPr>
          <p:spPr bwMode="auto">
            <a:xfrm>
              <a:off x="4205" y="2710"/>
              <a:ext cx="1071" cy="85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6" name="Oval 121"/>
            <p:cNvSpPr>
              <a:spLocks noChangeArrowheads="1"/>
            </p:cNvSpPr>
            <p:nvPr/>
          </p:nvSpPr>
          <p:spPr bwMode="auto">
            <a:xfrm>
              <a:off x="4309" y="2382"/>
              <a:ext cx="158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7" name="Oval 122"/>
            <p:cNvSpPr>
              <a:spLocks noChangeArrowheads="1"/>
            </p:cNvSpPr>
            <p:nvPr/>
          </p:nvSpPr>
          <p:spPr bwMode="auto">
            <a:xfrm>
              <a:off x="4488" y="2382"/>
              <a:ext cx="158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8" name="Oval 123"/>
            <p:cNvSpPr>
              <a:spLocks noChangeArrowheads="1"/>
            </p:cNvSpPr>
            <p:nvPr/>
          </p:nvSpPr>
          <p:spPr bwMode="auto">
            <a:xfrm>
              <a:off x="4662" y="2382"/>
              <a:ext cx="158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  <p:sp>
          <p:nvSpPr>
            <p:cNvPr id="69" name="Rectangle 124"/>
            <p:cNvSpPr>
              <a:spLocks noChangeArrowheads="1"/>
            </p:cNvSpPr>
            <p:nvPr/>
          </p:nvSpPr>
          <p:spPr bwMode="auto">
            <a:xfrm>
              <a:off x="5065" y="1836"/>
              <a:ext cx="82" cy="758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/>
            </a:p>
          </p:txBody>
        </p:sp>
      </p:grpSp>
      <p:sp>
        <p:nvSpPr>
          <p:cNvPr id="78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9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0" animBg="1"/>
      <p:bldP spid="79" grpId="1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>
                <a:effectLst/>
              </a:rPr>
              <a:t>3.5.6 TCP</a:t>
            </a:r>
            <a:r>
              <a:rPr lang="zh-CN" altLang="en-US" sz="2000" dirty="0">
                <a:effectLst/>
              </a:rPr>
              <a:t>连接管理</a:t>
            </a:r>
            <a:endParaRPr lang="en-US" altLang="zh-CN" sz="2000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通过握手建立连接</a:t>
            </a:r>
            <a:endParaRPr lang="en-US" altLang="zh-CN" dirty="0">
              <a:effectLst/>
            </a:endParaRPr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1">
              <a:spcBef>
                <a:spcPts val="450"/>
              </a:spcBef>
            </a:pPr>
            <a:endParaRPr lang="en-US" altLang="zh-CN" sz="1500" dirty="0"/>
          </a:p>
        </p:txBody>
      </p:sp>
      <p:sp>
        <p:nvSpPr>
          <p:cNvPr id="78" name="Line 5"/>
          <p:cNvSpPr>
            <a:spLocks noChangeShapeType="1"/>
          </p:cNvSpPr>
          <p:nvPr/>
        </p:nvSpPr>
        <p:spPr bwMode="auto">
          <a:xfrm flipH="1">
            <a:off x="4230299" y="2332210"/>
            <a:ext cx="0" cy="2615804"/>
          </a:xfrm>
          <a:prstGeom prst="line">
            <a:avLst/>
          </a:prstGeom>
          <a:noFill/>
          <a:ln w="9525">
            <a:solidFill>
              <a:srgbClr val="777777"/>
            </a:solidFill>
            <a:prstDash val="lgDash"/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9" name="Group 102"/>
          <p:cNvGrpSpPr/>
          <p:nvPr/>
        </p:nvGrpSpPr>
        <p:grpSpPr bwMode="auto">
          <a:xfrm>
            <a:off x="2924186" y="2277442"/>
            <a:ext cx="3186113" cy="716756"/>
            <a:chOff x="965" y="1363"/>
            <a:chExt cx="2676" cy="602"/>
          </a:xfrm>
        </p:grpSpPr>
        <p:sp>
          <p:nvSpPr>
            <p:cNvPr id="80" name="Line 10"/>
            <p:cNvSpPr>
              <a:spLocks noChangeShapeType="1"/>
            </p:cNvSpPr>
            <p:nvPr/>
          </p:nvSpPr>
          <p:spPr bwMode="auto">
            <a:xfrm>
              <a:off x="2062" y="1502"/>
              <a:ext cx="1579" cy="46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2" name="Rectangle 12"/>
            <p:cNvSpPr>
              <a:spLocks noChangeArrowheads="1"/>
            </p:cNvSpPr>
            <p:nvPr/>
          </p:nvSpPr>
          <p:spPr bwMode="auto">
            <a:xfrm>
              <a:off x="2404" y="1565"/>
              <a:ext cx="1057" cy="2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Text Box 13"/>
            <p:cNvSpPr txBox="1">
              <a:spLocks noChangeArrowheads="1"/>
            </p:cNvSpPr>
            <p:nvPr/>
          </p:nvSpPr>
          <p:spPr bwMode="auto">
            <a:xfrm>
              <a:off x="2355" y="1624"/>
              <a:ext cx="1110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SYN=1, </a:t>
              </a: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</a:t>
              </a: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eq#=x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4" name="Text Box 21"/>
            <p:cNvSpPr txBox="1">
              <a:spLocks noChangeArrowheads="1"/>
            </p:cNvSpPr>
            <p:nvPr/>
          </p:nvSpPr>
          <p:spPr bwMode="auto">
            <a:xfrm>
              <a:off x="965" y="1363"/>
              <a:ext cx="1075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初始化序号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=x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TCP SYN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5" name="Line 22"/>
          <p:cNvSpPr>
            <a:spLocks noChangeShapeType="1"/>
          </p:cNvSpPr>
          <p:nvPr/>
        </p:nvSpPr>
        <p:spPr bwMode="auto">
          <a:xfrm flipH="1">
            <a:off x="6171019" y="2384598"/>
            <a:ext cx="1190" cy="2563416"/>
          </a:xfrm>
          <a:prstGeom prst="line">
            <a:avLst/>
          </a:prstGeom>
          <a:noFill/>
          <a:ln w="9525">
            <a:solidFill>
              <a:srgbClr val="777777"/>
            </a:solidFill>
            <a:prstDash val="lgDash"/>
            <a:round/>
          </a:ln>
          <a:effectLst/>
        </p:spPr>
        <p:txBody>
          <a:bodyPr wrap="none"/>
          <a:lstStyle/>
          <a:p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Text Box 92"/>
          <p:cNvSpPr txBox="1">
            <a:spLocks noChangeArrowheads="1"/>
          </p:cNvSpPr>
          <p:nvPr/>
        </p:nvSpPr>
        <p:spPr bwMode="auto">
          <a:xfrm>
            <a:off x="7657382" y="4513436"/>
            <a:ext cx="63863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ESTAB</a:t>
            </a:r>
            <a:endParaRPr lang="en-US" sz="120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7" name="Group 109"/>
          <p:cNvGrpSpPr/>
          <p:nvPr/>
        </p:nvGrpSpPr>
        <p:grpSpPr bwMode="auto">
          <a:xfrm>
            <a:off x="4227918" y="2779886"/>
            <a:ext cx="3184923" cy="1069181"/>
            <a:chOff x="2060" y="1785"/>
            <a:chExt cx="2675" cy="898"/>
          </a:xfrm>
        </p:grpSpPr>
        <p:sp>
          <p:nvSpPr>
            <p:cNvPr id="88" name="Line 11"/>
            <p:cNvSpPr>
              <a:spLocks noChangeShapeType="1"/>
            </p:cNvSpPr>
            <p:nvPr/>
          </p:nvSpPr>
          <p:spPr bwMode="auto">
            <a:xfrm flipH="1">
              <a:off x="2060" y="2031"/>
              <a:ext cx="1580" cy="65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Rectangle 14"/>
            <p:cNvSpPr>
              <a:spLocks noChangeArrowheads="1"/>
            </p:cNvSpPr>
            <p:nvPr/>
          </p:nvSpPr>
          <p:spPr bwMode="auto">
            <a:xfrm>
              <a:off x="2381" y="2206"/>
              <a:ext cx="896" cy="3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Text Box 83"/>
            <p:cNvSpPr txBox="1">
              <a:spLocks noChangeArrowheads="1"/>
            </p:cNvSpPr>
            <p:nvPr/>
          </p:nvSpPr>
          <p:spPr bwMode="auto">
            <a:xfrm>
              <a:off x="2289" y="2169"/>
              <a:ext cx="1275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ctr"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SYN=1, seq#=y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ACK=1; ack#=x+1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Text Box 93"/>
            <p:cNvSpPr txBox="1">
              <a:spLocks noChangeArrowheads="1"/>
            </p:cNvSpPr>
            <p:nvPr/>
          </p:nvSpPr>
          <p:spPr bwMode="auto">
            <a:xfrm>
              <a:off x="3676" y="1785"/>
              <a:ext cx="1059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初始化序号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y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l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发送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SYN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相应报文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9" name="组合 148"/>
          <p:cNvGrpSpPr/>
          <p:nvPr/>
        </p:nvGrpSpPr>
        <p:grpSpPr>
          <a:xfrm>
            <a:off x="2377918" y="3603798"/>
            <a:ext cx="3745474" cy="850107"/>
            <a:chOff x="1109228" y="4589040"/>
            <a:chExt cx="4993965" cy="1133476"/>
          </a:xfrm>
        </p:grpSpPr>
        <p:sp>
          <p:nvSpPr>
            <p:cNvPr id="93" name="Line 84"/>
            <p:cNvSpPr>
              <a:spLocks noChangeShapeType="1"/>
            </p:cNvSpPr>
            <p:nvPr/>
          </p:nvSpPr>
          <p:spPr bwMode="auto">
            <a:xfrm>
              <a:off x="3596531" y="4987503"/>
              <a:ext cx="2506662" cy="735013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Rectangle 89"/>
            <p:cNvSpPr>
              <a:spLocks noChangeArrowheads="1"/>
            </p:cNvSpPr>
            <p:nvPr/>
          </p:nvSpPr>
          <p:spPr bwMode="auto">
            <a:xfrm>
              <a:off x="3882282" y="5111328"/>
              <a:ext cx="1917704" cy="4286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Text Box 90"/>
            <p:cNvSpPr txBox="1">
              <a:spLocks noChangeArrowheads="1"/>
            </p:cNvSpPr>
            <p:nvPr/>
          </p:nvSpPr>
          <p:spPr bwMode="auto">
            <a:xfrm>
              <a:off x="3882281" y="5184353"/>
              <a:ext cx="2025853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ACK=1, ack#=y+1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Text Box 94"/>
            <p:cNvSpPr txBox="1">
              <a:spLocks noChangeArrowheads="1"/>
            </p:cNvSpPr>
            <p:nvPr/>
          </p:nvSpPr>
          <p:spPr bwMode="auto">
            <a:xfrm>
              <a:off x="1109228" y="4589040"/>
              <a:ext cx="2441267" cy="89870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收到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SYNACK(x) 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表示服务器是活动的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为</a:t>
              </a:r>
              <a:r>
                <a:rPr lang="en-US" altLang="zh-CN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SYNACK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报文段进行确认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该报文段可以包含应用数据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7" name="Text Box 95"/>
          <p:cNvSpPr txBox="1">
            <a:spLocks noChangeArrowheads="1"/>
          </p:cNvSpPr>
          <p:nvPr/>
        </p:nvSpPr>
        <p:spPr bwMode="auto">
          <a:xfrm>
            <a:off x="6109104" y="4276501"/>
            <a:ext cx="1396536" cy="3831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接收到</a:t>
            </a: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ACK(y) 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90000"/>
              </a:lnSpc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表明客户端是活动的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8" name="Group 105"/>
          <p:cNvGrpSpPr/>
          <p:nvPr/>
        </p:nvGrpSpPr>
        <p:grpSpPr bwMode="auto">
          <a:xfrm>
            <a:off x="1838798" y="2306017"/>
            <a:ext cx="877490" cy="550069"/>
            <a:chOff x="182" y="1387"/>
            <a:chExt cx="737" cy="462"/>
          </a:xfrm>
        </p:grpSpPr>
        <p:sp>
          <p:nvSpPr>
            <p:cNvPr id="99" name="Text Box 91"/>
            <p:cNvSpPr txBox="1">
              <a:spLocks noChangeArrowheads="1"/>
            </p:cNvSpPr>
            <p:nvPr/>
          </p:nvSpPr>
          <p:spPr bwMode="auto">
            <a:xfrm>
              <a:off x="182" y="1616"/>
              <a:ext cx="73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SYNSENT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Line 103"/>
            <p:cNvSpPr>
              <a:spLocks noChangeShapeType="1"/>
            </p:cNvSpPr>
            <p:nvPr/>
          </p:nvSpPr>
          <p:spPr bwMode="auto">
            <a:xfrm>
              <a:off x="462" y="1387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1" name="Group 111"/>
          <p:cNvGrpSpPr/>
          <p:nvPr/>
        </p:nvGrpSpPr>
        <p:grpSpPr bwMode="auto">
          <a:xfrm>
            <a:off x="1839988" y="2801317"/>
            <a:ext cx="638175" cy="1241822"/>
            <a:chOff x="183" y="1803"/>
            <a:chExt cx="536" cy="1043"/>
          </a:xfrm>
        </p:grpSpPr>
        <p:sp>
          <p:nvSpPr>
            <p:cNvPr id="102" name="Text Box 16"/>
            <p:cNvSpPr txBox="1">
              <a:spLocks noChangeArrowheads="1"/>
            </p:cNvSpPr>
            <p:nvPr/>
          </p:nvSpPr>
          <p:spPr bwMode="auto">
            <a:xfrm>
              <a:off x="183" y="2613"/>
              <a:ext cx="536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ESTAB</a:t>
              </a:r>
              <a:endParaRPr lang="en-US" sz="120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Line 104"/>
            <p:cNvSpPr>
              <a:spLocks noChangeShapeType="1"/>
            </p:cNvSpPr>
            <p:nvPr/>
          </p:nvSpPr>
          <p:spPr bwMode="auto">
            <a:xfrm>
              <a:off x="465" y="1803"/>
              <a:ext cx="0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4" name="Group 108"/>
          <p:cNvGrpSpPr/>
          <p:nvPr/>
        </p:nvGrpSpPr>
        <p:grpSpPr bwMode="auto">
          <a:xfrm>
            <a:off x="7429971" y="2347690"/>
            <a:ext cx="958453" cy="919162"/>
            <a:chOff x="4878" y="1422"/>
            <a:chExt cx="805" cy="772"/>
          </a:xfrm>
        </p:grpSpPr>
        <p:sp>
          <p:nvSpPr>
            <p:cNvPr id="105" name="Text Box 99"/>
            <p:cNvSpPr txBox="1">
              <a:spLocks noChangeArrowheads="1"/>
            </p:cNvSpPr>
            <p:nvPr/>
          </p:nvSpPr>
          <p:spPr bwMode="auto">
            <a:xfrm>
              <a:off x="4878" y="1961"/>
              <a:ext cx="805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SYN RCVD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Line 106"/>
            <p:cNvSpPr>
              <a:spLocks noChangeShapeType="1"/>
            </p:cNvSpPr>
            <p:nvPr/>
          </p:nvSpPr>
          <p:spPr bwMode="auto">
            <a:xfrm>
              <a:off x="5339" y="1422"/>
              <a:ext cx="0" cy="5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7" name="Line 107"/>
          <p:cNvSpPr>
            <a:spLocks noChangeShapeType="1"/>
          </p:cNvSpPr>
          <p:nvPr/>
        </p:nvSpPr>
        <p:spPr bwMode="auto">
          <a:xfrm>
            <a:off x="7965754" y="3248992"/>
            <a:ext cx="0" cy="127873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8" name="Group 113"/>
          <p:cNvGrpSpPr/>
          <p:nvPr/>
        </p:nvGrpSpPr>
        <p:grpSpPr bwMode="auto">
          <a:xfrm>
            <a:off x="1731641" y="1789286"/>
            <a:ext cx="6574632" cy="577453"/>
            <a:chOff x="99" y="1002"/>
            <a:chExt cx="5522" cy="485"/>
          </a:xfrm>
        </p:grpSpPr>
        <p:sp>
          <p:nvSpPr>
            <p:cNvPr id="109" name="Text Box 114"/>
            <p:cNvSpPr txBox="1">
              <a:spLocks noChangeArrowheads="1"/>
            </p:cNvSpPr>
            <p:nvPr/>
          </p:nvSpPr>
          <p:spPr bwMode="auto">
            <a:xfrm>
              <a:off x="99" y="1002"/>
              <a:ext cx="827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r"/>
              <a:r>
                <a:rPr lang="en-US" altLang="zh-CN" sz="1200" i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 state</a:t>
              </a:r>
              <a:endParaRPr lang="en-US" altLang="zh-CN" sz="1200" i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endParaRPr lang="en-US" altLang="zh-CN" sz="1200" i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Text Box 115"/>
            <p:cNvSpPr txBox="1">
              <a:spLocks noChangeArrowheads="1"/>
            </p:cNvSpPr>
            <p:nvPr/>
          </p:nvSpPr>
          <p:spPr bwMode="auto">
            <a:xfrm>
              <a:off x="193" y="1243"/>
              <a:ext cx="583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LISTEN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Text Box 116"/>
            <p:cNvSpPr txBox="1">
              <a:spLocks noChangeArrowheads="1"/>
            </p:cNvSpPr>
            <p:nvPr/>
          </p:nvSpPr>
          <p:spPr bwMode="auto">
            <a:xfrm>
              <a:off x="4712" y="1013"/>
              <a:ext cx="868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r"/>
              <a:r>
                <a:rPr lang="en-US" altLang="zh-CN" sz="1200" i="1">
                  <a:solidFill>
                    <a:srgbClr val="0000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server state</a:t>
              </a:r>
              <a:endParaRPr lang="en-US" altLang="zh-CN" sz="1200" i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/>
              <a:endParaRPr lang="en-US" altLang="zh-CN" sz="1200" i="1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Text Box 117"/>
            <p:cNvSpPr txBox="1">
              <a:spLocks noChangeArrowheads="1"/>
            </p:cNvSpPr>
            <p:nvPr/>
          </p:nvSpPr>
          <p:spPr bwMode="auto">
            <a:xfrm>
              <a:off x="5038" y="1254"/>
              <a:ext cx="583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LISTEN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3" name="Group 118"/>
            <p:cNvGrpSpPr/>
            <p:nvPr/>
          </p:nvGrpSpPr>
          <p:grpSpPr bwMode="auto">
            <a:xfrm>
              <a:off x="1914" y="1049"/>
              <a:ext cx="405" cy="378"/>
              <a:chOff x="-44" y="1473"/>
              <a:chExt cx="981" cy="1105"/>
            </a:xfrm>
          </p:grpSpPr>
          <p:pic>
            <p:nvPicPr>
              <p:cNvPr id="147" name="Picture 119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8" name="Freeform 120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967 w 356"/>
                  <a:gd name="T3" fmla="*/ 50 h 368"/>
                  <a:gd name="T4" fmla="*/ 1147 w 356"/>
                  <a:gd name="T5" fmla="*/ 1052 h 368"/>
                  <a:gd name="T6" fmla="*/ 253 w 356"/>
                  <a:gd name="T7" fmla="*/ 1316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21"/>
            <p:cNvGrpSpPr/>
            <p:nvPr/>
          </p:nvGrpSpPr>
          <p:grpSpPr bwMode="auto">
            <a:xfrm>
              <a:off x="3572" y="1051"/>
              <a:ext cx="212" cy="323"/>
              <a:chOff x="4140" y="429"/>
              <a:chExt cx="1425" cy="2396"/>
            </a:xfrm>
          </p:grpSpPr>
          <p:sp>
            <p:nvSpPr>
              <p:cNvPr id="115" name="Freeform 122"/>
              <p:cNvSpPr/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6 w 354"/>
                  <a:gd name="T1" fmla="*/ 0 h 2742"/>
                  <a:gd name="T2" fmla="*/ 145 w 354"/>
                  <a:gd name="T3" fmla="*/ 164 h 2742"/>
                  <a:gd name="T4" fmla="*/ 142 w 354"/>
                  <a:gd name="T5" fmla="*/ 1268 h 2742"/>
                  <a:gd name="T6" fmla="*/ 0 w 354"/>
                  <a:gd name="T7" fmla="*/ 1325 h 2742"/>
                  <a:gd name="T8" fmla="*/ 26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6" name="Rectangle 123"/>
              <p:cNvSpPr>
                <a:spLocks noChangeArrowheads="1"/>
              </p:cNvSpPr>
              <p:nvPr/>
            </p:nvSpPr>
            <p:spPr bwMode="auto">
              <a:xfrm>
                <a:off x="4207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7" name="Freeform 124"/>
              <p:cNvSpPr/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3 w 211"/>
                  <a:gd name="T1" fmla="*/ 0 h 2537"/>
                  <a:gd name="T2" fmla="*/ 87 w 211"/>
                  <a:gd name="T3" fmla="*/ 106 h 2537"/>
                  <a:gd name="T4" fmla="*/ 3 w 211"/>
                  <a:gd name="T5" fmla="*/ 1208 h 2537"/>
                  <a:gd name="T6" fmla="*/ 3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8" name="Freeform 125"/>
              <p:cNvSpPr/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2 h 226"/>
                  <a:gd name="T4" fmla="*/ 135 w 328"/>
                  <a:gd name="T5" fmla="*/ 110 h 226"/>
                  <a:gd name="T6" fmla="*/ 0 w 328"/>
                  <a:gd name="T7" fmla="*/ 4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19" name="Rectangle 126"/>
              <p:cNvSpPr>
                <a:spLocks noChangeArrowheads="1"/>
              </p:cNvSpPr>
              <p:nvPr/>
            </p:nvSpPr>
            <p:spPr bwMode="auto">
              <a:xfrm>
                <a:off x="4214" y="696"/>
                <a:ext cx="592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0" name="Group 127"/>
              <p:cNvGrpSpPr/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5" name="AutoShape 128"/>
                <p:cNvSpPr>
                  <a:spLocks noChangeArrowheads="1"/>
                </p:cNvSpPr>
                <p:nvPr/>
              </p:nvSpPr>
              <p:spPr bwMode="auto">
                <a:xfrm>
                  <a:off x="617" y="2566"/>
                  <a:ext cx="721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6" name="AutoShape 129"/>
                <p:cNvSpPr>
                  <a:spLocks noChangeArrowheads="1"/>
                </p:cNvSpPr>
                <p:nvPr/>
              </p:nvSpPr>
              <p:spPr bwMode="auto">
                <a:xfrm>
                  <a:off x="634" y="2581"/>
                  <a:ext cx="688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1" name="Rectangle 130"/>
              <p:cNvSpPr>
                <a:spLocks noChangeArrowheads="1"/>
              </p:cNvSpPr>
              <p:nvPr/>
            </p:nvSpPr>
            <p:spPr bwMode="auto">
              <a:xfrm>
                <a:off x="4221" y="1022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2" name="Group 131"/>
              <p:cNvGrpSpPr/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3" name="AutoShape 132"/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30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4" name="AutoShape 133"/>
                <p:cNvSpPr>
                  <a:spLocks noChangeArrowheads="1"/>
                </p:cNvSpPr>
                <p:nvPr/>
              </p:nvSpPr>
              <p:spPr bwMode="auto">
                <a:xfrm>
                  <a:off x="628" y="2582"/>
                  <a:ext cx="696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3" name="Rectangle 134"/>
              <p:cNvSpPr>
                <a:spLocks noChangeArrowheads="1"/>
              </p:cNvSpPr>
              <p:nvPr/>
            </p:nvSpPr>
            <p:spPr bwMode="auto">
              <a:xfrm>
                <a:off x="4214" y="1356"/>
                <a:ext cx="598" cy="45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4" name="Rectangle 135"/>
              <p:cNvSpPr>
                <a:spLocks noChangeArrowheads="1"/>
              </p:cNvSpPr>
              <p:nvPr/>
            </p:nvSpPr>
            <p:spPr bwMode="auto">
              <a:xfrm>
                <a:off x="4227" y="1653"/>
                <a:ext cx="598" cy="52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5" name="Group 136"/>
              <p:cNvGrpSpPr/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1" name="AutoShape 137"/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0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2" name="AutoShape 138"/>
                <p:cNvSpPr>
                  <a:spLocks noChangeArrowheads="1"/>
                </p:cNvSpPr>
                <p:nvPr/>
              </p:nvSpPr>
              <p:spPr bwMode="auto">
                <a:xfrm>
                  <a:off x="635" y="2585"/>
                  <a:ext cx="687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6" name="Freeform 139"/>
              <p:cNvSpPr/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36 w 328"/>
                  <a:gd name="T3" fmla="*/ 61 h 226"/>
                  <a:gd name="T4" fmla="*/ 135 w 328"/>
                  <a:gd name="T5" fmla="*/ 108 h 226"/>
                  <a:gd name="T6" fmla="*/ 0 w 328"/>
                  <a:gd name="T7" fmla="*/ 4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grpSp>
            <p:nvGrpSpPr>
              <p:cNvPr id="127" name="Group 140"/>
              <p:cNvGrpSpPr/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9" name="AutoShape 141"/>
                <p:cNvSpPr>
                  <a:spLocks noChangeArrowheads="1"/>
                </p:cNvSpPr>
                <p:nvPr/>
              </p:nvSpPr>
              <p:spPr bwMode="auto">
                <a:xfrm>
                  <a:off x="613" y="2568"/>
                  <a:ext cx="728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40" name="AutoShape 142"/>
                <p:cNvSpPr>
                  <a:spLocks noChangeArrowheads="1"/>
                </p:cNvSpPr>
                <p:nvPr/>
              </p:nvSpPr>
              <p:spPr bwMode="auto">
                <a:xfrm>
                  <a:off x="630" y="2582"/>
                  <a:ext cx="695" cy="11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1pPr>
                  <a:lvl2pPr marL="742950" indent="-28575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2pPr>
                  <a:lvl3pPr marL="11430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3pPr>
                  <a:lvl4pPr marL="16002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4pPr>
                  <a:lvl5pPr marL="2057400" indent="-228600"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5pPr>
                  <a:lvl6pPr marL="25146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6pPr>
                  <a:lvl7pPr marL="29718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7pPr>
                  <a:lvl8pPr marL="34290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8pPr>
                  <a:lvl9pPr marL="3886200" indent="-228600" algn="ctr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1600">
                      <a:solidFill>
                        <a:schemeClr val="tx1"/>
                      </a:solidFill>
                      <a:latin typeface="Tahoma" panose="020B0604030504040204" charset="0"/>
                      <a:ea typeface="MS PGothic" panose="020B0600070205080204" charset="-128"/>
                    </a:defRPr>
                  </a:lvl9pPr>
                </a:lstStyle>
                <a:p>
                  <a:endParaRPr lang="zh-CN" altLang="zh-CN" sz="120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28" name="Rectangle 143"/>
              <p:cNvSpPr>
                <a:spLocks noChangeArrowheads="1"/>
              </p:cNvSpPr>
              <p:nvPr/>
            </p:nvSpPr>
            <p:spPr bwMode="auto">
              <a:xfrm>
                <a:off x="5249" y="429"/>
                <a:ext cx="67" cy="2292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9" name="Freeform 144"/>
              <p:cNvSpPr/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20 w 296"/>
                  <a:gd name="T3" fmla="*/ 69 h 256"/>
                  <a:gd name="T4" fmla="*/ 122 w 296"/>
                  <a:gd name="T5" fmla="*/ 122 h 256"/>
                  <a:gd name="T6" fmla="*/ 0 w 296"/>
                  <a:gd name="T7" fmla="*/ 4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0" name="Freeform 145"/>
              <p:cNvSpPr/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26 w 304"/>
                  <a:gd name="T3" fmla="*/ 79 h 288"/>
                  <a:gd name="T4" fmla="*/ 118 w 304"/>
                  <a:gd name="T5" fmla="*/ 139 h 288"/>
                  <a:gd name="T6" fmla="*/ 3 w 304"/>
                  <a:gd name="T7" fmla="*/ 6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1" name="Oval 146"/>
              <p:cNvSpPr>
                <a:spLocks noChangeArrowheads="1"/>
              </p:cNvSpPr>
              <p:nvPr/>
            </p:nvSpPr>
            <p:spPr bwMode="auto">
              <a:xfrm>
                <a:off x="5518" y="2610"/>
                <a:ext cx="47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2" name="Freeform 147"/>
              <p:cNvSpPr/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51 h 240"/>
                  <a:gd name="T2" fmla="*/ 2 w 306"/>
                  <a:gd name="T3" fmla="*/ 116 h 240"/>
                  <a:gd name="T4" fmla="*/ 126 w 306"/>
                  <a:gd name="T5" fmla="*/ 53 h 240"/>
                  <a:gd name="T6" fmla="*/ 123 w 306"/>
                  <a:gd name="T7" fmla="*/ 0 h 240"/>
                  <a:gd name="T8" fmla="*/ 0 w 306"/>
                  <a:gd name="T9" fmla="*/ 5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3" name="AutoShape 148"/>
              <p:cNvSpPr>
                <a:spLocks noChangeArrowheads="1"/>
              </p:cNvSpPr>
              <p:nvPr/>
            </p:nvSpPr>
            <p:spPr bwMode="auto">
              <a:xfrm>
                <a:off x="4140" y="2677"/>
                <a:ext cx="1196" cy="148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4" name="AutoShape 149"/>
              <p:cNvSpPr>
                <a:spLocks noChangeArrowheads="1"/>
              </p:cNvSpPr>
              <p:nvPr/>
            </p:nvSpPr>
            <p:spPr bwMode="auto">
              <a:xfrm>
                <a:off x="4207" y="2714"/>
                <a:ext cx="1069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Oval 150"/>
              <p:cNvSpPr>
                <a:spLocks noChangeArrowheads="1"/>
              </p:cNvSpPr>
              <p:nvPr/>
            </p:nvSpPr>
            <p:spPr bwMode="auto">
              <a:xfrm>
                <a:off x="4308" y="2380"/>
                <a:ext cx="155" cy="148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6" name="Oval 151"/>
              <p:cNvSpPr>
                <a:spLocks noChangeArrowheads="1"/>
              </p:cNvSpPr>
              <p:nvPr/>
            </p:nvSpPr>
            <p:spPr bwMode="auto">
              <a:xfrm>
                <a:off x="4483" y="2387"/>
                <a:ext cx="161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endParaRPr lang="zh-CN" altLang="zh-CN" sz="135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37" name="Oval 152"/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5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8" name="Rectangle 153"/>
              <p:cNvSpPr>
                <a:spLocks noChangeArrowheads="1"/>
              </p:cNvSpPr>
              <p:nvPr/>
            </p:nvSpPr>
            <p:spPr bwMode="auto">
              <a:xfrm>
                <a:off x="5061" y="1838"/>
                <a:ext cx="87" cy="757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75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6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 animBg="1"/>
      <p:bldP spid="76" grpId="1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spcBef>
                <a:spcPts val="450"/>
              </a:spcBef>
            </a:pPr>
            <a:r>
              <a:rPr lang="en-US" altLang="zh-CN" sz="2000" dirty="0">
                <a:effectLst/>
              </a:rPr>
              <a:t>3.5.6 TCP</a:t>
            </a:r>
            <a:r>
              <a:rPr lang="zh-CN" altLang="en-US" sz="2000" dirty="0">
                <a:effectLst/>
              </a:rPr>
              <a:t>连接管理</a:t>
            </a:r>
            <a:endParaRPr lang="en-US" altLang="zh-CN" sz="2000" dirty="0">
              <a:effectLst/>
            </a:endParaRPr>
          </a:p>
          <a:p>
            <a:pPr lvl="1">
              <a:spcBef>
                <a:spcPts val="450"/>
              </a:spcBef>
            </a:pPr>
            <a:r>
              <a:rPr lang="zh-CN" altLang="en-US" dirty="0">
                <a:effectLst/>
              </a:rPr>
              <a:t>关闭连接</a:t>
            </a:r>
            <a:endParaRPr lang="en-US" altLang="zh-CN" dirty="0">
              <a:effectLst/>
            </a:endParaRPr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3">
              <a:spcBef>
                <a:spcPts val="450"/>
              </a:spcBef>
            </a:pPr>
            <a:endParaRPr lang="en-US" altLang="zh-CN" dirty="0"/>
          </a:p>
          <a:p>
            <a:pPr lvl="1">
              <a:spcBef>
                <a:spcPts val="450"/>
              </a:spcBef>
            </a:pPr>
            <a:endParaRPr lang="en-US" altLang="zh-CN" sz="1500" dirty="0"/>
          </a:p>
        </p:txBody>
      </p:sp>
      <p:sp>
        <p:nvSpPr>
          <p:cNvPr id="149" name="Line 4"/>
          <p:cNvSpPr>
            <a:spLocks noChangeShapeType="1"/>
          </p:cNvSpPr>
          <p:nvPr/>
        </p:nvSpPr>
        <p:spPr bwMode="auto">
          <a:xfrm flipH="1">
            <a:off x="4517701" y="1972641"/>
            <a:ext cx="1190" cy="2961084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0" name="Line 10"/>
          <p:cNvSpPr>
            <a:spLocks noChangeShapeType="1"/>
          </p:cNvSpPr>
          <p:nvPr/>
        </p:nvSpPr>
        <p:spPr bwMode="auto">
          <a:xfrm flipH="1">
            <a:off x="6459610" y="2025029"/>
            <a:ext cx="1191" cy="2563415"/>
          </a:xfrm>
          <a:prstGeom prst="line">
            <a:avLst/>
          </a:prstGeom>
          <a:noFill/>
          <a:ln w="9525">
            <a:solidFill>
              <a:srgbClr val="777777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51" name="Group 74"/>
          <p:cNvGrpSpPr/>
          <p:nvPr/>
        </p:nvGrpSpPr>
        <p:grpSpPr bwMode="auto">
          <a:xfrm>
            <a:off x="2322189" y="2483419"/>
            <a:ext cx="1051322" cy="665560"/>
            <a:chOff x="343" y="1740"/>
            <a:chExt cx="883" cy="559"/>
          </a:xfrm>
        </p:grpSpPr>
        <p:sp>
          <p:nvSpPr>
            <p:cNvPr id="152" name="Text Box 34"/>
            <p:cNvSpPr txBox="1">
              <a:spLocks noChangeArrowheads="1"/>
            </p:cNvSpPr>
            <p:nvPr/>
          </p:nvSpPr>
          <p:spPr bwMode="auto">
            <a:xfrm>
              <a:off x="343" y="2066"/>
              <a:ext cx="883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FIN_WAIT_2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3" name="Line 35"/>
            <p:cNvSpPr>
              <a:spLocks noChangeShapeType="1"/>
            </p:cNvSpPr>
            <p:nvPr/>
          </p:nvSpPr>
          <p:spPr bwMode="auto">
            <a:xfrm>
              <a:off x="634" y="1740"/>
              <a:ext cx="0" cy="3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4" name="Group 73"/>
          <p:cNvGrpSpPr/>
          <p:nvPr/>
        </p:nvGrpSpPr>
        <p:grpSpPr bwMode="auto">
          <a:xfrm>
            <a:off x="7295428" y="1988119"/>
            <a:ext cx="1120378" cy="745332"/>
            <a:chOff x="4520" y="1324"/>
            <a:chExt cx="941" cy="626"/>
          </a:xfrm>
        </p:grpSpPr>
        <p:sp>
          <p:nvSpPr>
            <p:cNvPr id="155" name="Text Box 37"/>
            <p:cNvSpPr txBox="1">
              <a:spLocks noChangeArrowheads="1"/>
            </p:cNvSpPr>
            <p:nvPr/>
          </p:nvSpPr>
          <p:spPr bwMode="auto">
            <a:xfrm>
              <a:off x="4520" y="1717"/>
              <a:ext cx="941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CLOSE_WAIT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6" name="Line 38"/>
            <p:cNvSpPr>
              <a:spLocks noChangeShapeType="1"/>
            </p:cNvSpPr>
            <p:nvPr/>
          </p:nvSpPr>
          <p:spPr bwMode="auto">
            <a:xfrm>
              <a:off x="5171" y="1324"/>
              <a:ext cx="0" cy="4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7" name="Group 75"/>
          <p:cNvGrpSpPr/>
          <p:nvPr/>
        </p:nvGrpSpPr>
        <p:grpSpPr bwMode="auto">
          <a:xfrm>
            <a:off x="4548657" y="3368055"/>
            <a:ext cx="1871663" cy="381001"/>
            <a:chOff x="2213" y="2483"/>
            <a:chExt cx="1572" cy="320"/>
          </a:xfrm>
        </p:grpSpPr>
        <p:sp>
          <p:nvSpPr>
            <p:cNvPr id="158" name="Line 41"/>
            <p:cNvSpPr>
              <a:spLocks noChangeShapeType="1"/>
            </p:cNvSpPr>
            <p:nvPr/>
          </p:nvSpPr>
          <p:spPr bwMode="auto">
            <a:xfrm flipH="1">
              <a:off x="2213" y="2483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9" name="Rectangle 42"/>
            <p:cNvSpPr>
              <a:spLocks noChangeArrowheads="1"/>
            </p:cNvSpPr>
            <p:nvPr/>
          </p:nvSpPr>
          <p:spPr bwMode="auto">
            <a:xfrm>
              <a:off x="2491" y="2568"/>
              <a:ext cx="1105" cy="22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0" name="Text Box 43"/>
            <p:cNvSpPr txBox="1">
              <a:spLocks noChangeArrowheads="1"/>
            </p:cNvSpPr>
            <p:nvPr/>
          </p:nvSpPr>
          <p:spPr bwMode="auto">
            <a:xfrm>
              <a:off x="2546" y="2562"/>
              <a:ext cx="1067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FIN=1, seq#=y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2" name="Line 44"/>
          <p:cNvSpPr>
            <a:spLocks noChangeShapeType="1"/>
          </p:cNvSpPr>
          <p:nvPr/>
        </p:nvSpPr>
        <p:spPr bwMode="auto">
          <a:xfrm>
            <a:off x="4571278" y="3845494"/>
            <a:ext cx="1881188" cy="43696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3" name="Rectangle 46"/>
          <p:cNvSpPr>
            <a:spLocks noChangeArrowheads="1"/>
          </p:cNvSpPr>
          <p:nvPr/>
        </p:nvSpPr>
        <p:spPr bwMode="auto">
          <a:xfrm>
            <a:off x="4760589" y="3977654"/>
            <a:ext cx="1452562" cy="2452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4" name="Text Box 47"/>
          <p:cNvSpPr txBox="1">
            <a:spLocks noChangeArrowheads="1"/>
          </p:cNvSpPr>
          <p:nvPr/>
        </p:nvSpPr>
        <p:spPr bwMode="auto">
          <a:xfrm>
            <a:off x="4776187" y="3967906"/>
            <a:ext cx="1519390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ACK=1; ack#=y+1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6" name="Line 13"/>
          <p:cNvSpPr>
            <a:spLocks noChangeShapeType="1"/>
          </p:cNvSpPr>
          <p:nvPr/>
        </p:nvSpPr>
        <p:spPr bwMode="auto">
          <a:xfrm flipH="1">
            <a:off x="4516511" y="2588197"/>
            <a:ext cx="1881188" cy="436960"/>
          </a:xfrm>
          <a:prstGeom prst="line">
            <a:avLst/>
          </a:prstGeom>
          <a:noFill/>
          <a:ln w="28575">
            <a:solidFill>
              <a:srgbClr val="000099"/>
            </a:solidFill>
            <a:round/>
            <a:tailEnd type="triangle" w="med" len="med"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7" name="Rectangle 14"/>
          <p:cNvSpPr>
            <a:spLocks noChangeArrowheads="1"/>
          </p:cNvSpPr>
          <p:nvPr/>
        </p:nvSpPr>
        <p:spPr bwMode="auto">
          <a:xfrm>
            <a:off x="4760589" y="2688210"/>
            <a:ext cx="1429545" cy="24526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none" anchor="ctr"/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8" name="Text Box 15"/>
          <p:cNvSpPr txBox="1">
            <a:spLocks noChangeArrowheads="1"/>
          </p:cNvSpPr>
          <p:nvPr/>
        </p:nvSpPr>
        <p:spPr bwMode="auto">
          <a:xfrm>
            <a:off x="4751064" y="2665958"/>
            <a:ext cx="1516184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ACK=1; ack#=x+1</a:t>
            </a:r>
            <a:endParaRPr lang="en-US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9" name="Text Box 21"/>
          <p:cNvSpPr txBox="1">
            <a:spLocks noChangeArrowheads="1"/>
          </p:cNvSpPr>
          <p:nvPr/>
        </p:nvSpPr>
        <p:spPr bwMode="auto">
          <a:xfrm>
            <a:off x="3155625" y="2871566"/>
            <a:ext cx="1358505" cy="3833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r">
              <a:lnSpc>
                <a:spcPct val="90000"/>
              </a:lnSpc>
              <a:defRPr/>
            </a:pPr>
            <a:r>
              <a:rPr 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等待服务器端</a:t>
            </a:r>
            <a:endParaRPr lang="en-US" altLang="zh-CN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>
              <a:lnSpc>
                <a:spcPct val="90000"/>
              </a:lnSpc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关闭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0" name="Text Box 49"/>
          <p:cNvSpPr txBox="1">
            <a:spLocks noChangeArrowheads="1"/>
          </p:cNvSpPr>
          <p:nvPr/>
        </p:nvSpPr>
        <p:spPr bwMode="auto">
          <a:xfrm>
            <a:off x="6485409" y="2854194"/>
            <a:ext cx="1262063" cy="23812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l">
              <a:lnSpc>
                <a:spcPct val="90000"/>
              </a:lnSpc>
              <a:defRPr/>
            </a:pPr>
            <a:r>
              <a:rPr lang="zh-CN" altLang="en-US" sz="10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仍然可以传输数据</a:t>
            </a:r>
            <a:endParaRPr lang="en-US" sz="10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1" name="Group 78"/>
          <p:cNvGrpSpPr/>
          <p:nvPr/>
        </p:nvGrpSpPr>
        <p:grpSpPr bwMode="auto">
          <a:xfrm>
            <a:off x="6458421" y="2685825"/>
            <a:ext cx="1970485" cy="1182291"/>
            <a:chOff x="3817" y="1910"/>
            <a:chExt cx="1655" cy="993"/>
          </a:xfrm>
        </p:grpSpPr>
        <p:sp>
          <p:nvSpPr>
            <p:cNvPr id="172" name="Text Box 50"/>
            <p:cNvSpPr txBox="1">
              <a:spLocks noChangeArrowheads="1"/>
            </p:cNvSpPr>
            <p:nvPr/>
          </p:nvSpPr>
          <p:spPr bwMode="auto">
            <a:xfrm>
              <a:off x="3817" y="2703"/>
              <a:ext cx="947" cy="20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l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不能再发送数据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3" name="Group 76"/>
            <p:cNvGrpSpPr/>
            <p:nvPr/>
          </p:nvGrpSpPr>
          <p:grpSpPr bwMode="auto">
            <a:xfrm>
              <a:off x="4691" y="1910"/>
              <a:ext cx="781" cy="744"/>
              <a:chOff x="4691" y="1910"/>
              <a:chExt cx="781" cy="744"/>
            </a:xfrm>
          </p:grpSpPr>
          <p:sp>
            <p:nvSpPr>
              <p:cNvPr id="174" name="Line 39"/>
              <p:cNvSpPr>
                <a:spLocks noChangeShapeType="1"/>
              </p:cNvSpPr>
              <p:nvPr/>
            </p:nvSpPr>
            <p:spPr bwMode="auto">
              <a:xfrm>
                <a:off x="5167" y="1910"/>
                <a:ext cx="0" cy="5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Text Box 55"/>
              <p:cNvSpPr txBox="1">
                <a:spLocks noChangeArrowheads="1"/>
              </p:cNvSpPr>
              <p:nvPr/>
            </p:nvSpPr>
            <p:spPr bwMode="auto">
              <a:xfrm>
                <a:off x="4691" y="2421"/>
                <a:ext cx="781" cy="23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pPr>
                  <a:defRPr/>
                </a:pPr>
                <a:r>
                  <a:rPr lang="en-US" sz="12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LAST_ACK</a:t>
                </a:r>
                <a:endParaRPr lang="en-US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76" name="Group 82"/>
          <p:cNvGrpSpPr/>
          <p:nvPr/>
        </p:nvGrpSpPr>
        <p:grpSpPr bwMode="auto">
          <a:xfrm>
            <a:off x="7645473" y="3571650"/>
            <a:ext cx="775097" cy="942976"/>
            <a:chOff x="4814" y="2654"/>
            <a:chExt cx="651" cy="792"/>
          </a:xfrm>
        </p:grpSpPr>
        <p:sp>
          <p:nvSpPr>
            <p:cNvPr id="177" name="Text Box 11"/>
            <p:cNvSpPr txBox="1">
              <a:spLocks noChangeArrowheads="1"/>
            </p:cNvSpPr>
            <p:nvPr/>
          </p:nvSpPr>
          <p:spPr bwMode="auto">
            <a:xfrm>
              <a:off x="4814" y="3213"/>
              <a:ext cx="651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CLOSED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78" name="Line 57"/>
            <p:cNvSpPr>
              <a:spLocks noChangeShapeType="1"/>
            </p:cNvSpPr>
            <p:nvPr/>
          </p:nvSpPr>
          <p:spPr bwMode="auto">
            <a:xfrm>
              <a:off x="5173" y="2654"/>
              <a:ext cx="0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9" name="Group 77"/>
          <p:cNvGrpSpPr/>
          <p:nvPr/>
        </p:nvGrpSpPr>
        <p:grpSpPr bwMode="auto">
          <a:xfrm>
            <a:off x="2353145" y="3115641"/>
            <a:ext cx="1132284" cy="808435"/>
            <a:chOff x="369" y="2271"/>
            <a:chExt cx="951" cy="679"/>
          </a:xfrm>
        </p:grpSpPr>
        <p:sp>
          <p:nvSpPr>
            <p:cNvPr id="180" name="Text Box 58"/>
            <p:cNvSpPr txBox="1">
              <a:spLocks noChangeArrowheads="1"/>
            </p:cNvSpPr>
            <p:nvPr/>
          </p:nvSpPr>
          <p:spPr bwMode="auto">
            <a:xfrm>
              <a:off x="369" y="2717"/>
              <a:ext cx="951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TIMED_WAIT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1" name="Line 60"/>
            <p:cNvSpPr>
              <a:spLocks noChangeShapeType="1"/>
            </p:cNvSpPr>
            <p:nvPr/>
          </p:nvSpPr>
          <p:spPr bwMode="auto">
            <a:xfrm>
              <a:off x="638" y="2271"/>
              <a:ext cx="0" cy="48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2" name="Group 81"/>
          <p:cNvGrpSpPr/>
          <p:nvPr/>
        </p:nvGrpSpPr>
        <p:grpSpPr bwMode="auto">
          <a:xfrm>
            <a:off x="2419820" y="3776438"/>
            <a:ext cx="2120503" cy="1171576"/>
            <a:chOff x="425" y="2826"/>
            <a:chExt cx="1781" cy="984"/>
          </a:xfrm>
        </p:grpSpPr>
        <p:sp>
          <p:nvSpPr>
            <p:cNvPr id="183" name="Line 52"/>
            <p:cNvSpPr>
              <a:spLocks noChangeShapeType="1"/>
            </p:cNvSpPr>
            <p:nvPr/>
          </p:nvSpPr>
          <p:spPr bwMode="auto">
            <a:xfrm>
              <a:off x="1820" y="2833"/>
              <a:ext cx="4" cy="90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4" name="Text Box 51"/>
            <p:cNvSpPr txBox="1">
              <a:spLocks noChangeArrowheads="1"/>
            </p:cNvSpPr>
            <p:nvPr/>
          </p:nvSpPr>
          <p:spPr bwMode="auto">
            <a:xfrm>
              <a:off x="707" y="3179"/>
              <a:ext cx="1499" cy="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定时：</a:t>
              </a:r>
              <a:r>
                <a:rPr 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倍报文段生命周期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5" name="Line 53"/>
            <p:cNvSpPr>
              <a:spLocks noChangeShapeType="1"/>
            </p:cNvSpPr>
            <p:nvPr/>
          </p:nvSpPr>
          <p:spPr bwMode="auto">
            <a:xfrm>
              <a:off x="1742" y="2826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6" name="Line 54"/>
            <p:cNvSpPr>
              <a:spLocks noChangeShapeType="1"/>
            </p:cNvSpPr>
            <p:nvPr/>
          </p:nvSpPr>
          <p:spPr bwMode="auto">
            <a:xfrm>
              <a:off x="1759" y="3738"/>
              <a:ext cx="1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7" name="Text Box 59"/>
            <p:cNvSpPr txBox="1">
              <a:spLocks noChangeArrowheads="1"/>
            </p:cNvSpPr>
            <p:nvPr/>
          </p:nvSpPr>
          <p:spPr bwMode="auto">
            <a:xfrm>
              <a:off x="425" y="3577"/>
              <a:ext cx="651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CLOSED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8" name="Line 61"/>
            <p:cNvSpPr>
              <a:spLocks noChangeShapeType="1"/>
            </p:cNvSpPr>
            <p:nvPr/>
          </p:nvSpPr>
          <p:spPr bwMode="auto">
            <a:xfrm>
              <a:off x="631" y="2918"/>
              <a:ext cx="3" cy="69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9" name="Group 71"/>
          <p:cNvGrpSpPr/>
          <p:nvPr/>
        </p:nvGrpSpPr>
        <p:grpSpPr bwMode="auto">
          <a:xfrm>
            <a:off x="2326951" y="1946447"/>
            <a:ext cx="1051322" cy="550069"/>
            <a:chOff x="347" y="1289"/>
            <a:chExt cx="883" cy="462"/>
          </a:xfrm>
        </p:grpSpPr>
        <p:sp>
          <p:nvSpPr>
            <p:cNvPr id="190" name="Text Box 31"/>
            <p:cNvSpPr txBox="1">
              <a:spLocks noChangeArrowheads="1"/>
            </p:cNvSpPr>
            <p:nvPr/>
          </p:nvSpPr>
          <p:spPr bwMode="auto">
            <a:xfrm>
              <a:off x="347" y="1518"/>
              <a:ext cx="883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FIN_WAIT_1</a:t>
              </a: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1" name="Line 32"/>
            <p:cNvSpPr>
              <a:spLocks noChangeShapeType="1"/>
            </p:cNvSpPr>
            <p:nvPr/>
          </p:nvSpPr>
          <p:spPr bwMode="auto">
            <a:xfrm>
              <a:off x="630" y="1289"/>
              <a:ext cx="0" cy="2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2" name="Group 70"/>
          <p:cNvGrpSpPr/>
          <p:nvPr/>
        </p:nvGrpSpPr>
        <p:grpSpPr bwMode="auto">
          <a:xfrm>
            <a:off x="2817488" y="1986930"/>
            <a:ext cx="3581400" cy="642938"/>
            <a:chOff x="759" y="1323"/>
            <a:chExt cx="3008" cy="540"/>
          </a:xfrm>
        </p:grpSpPr>
        <p:sp>
          <p:nvSpPr>
            <p:cNvPr id="193" name="Line 6"/>
            <p:cNvSpPr>
              <a:spLocks noChangeShapeType="1"/>
            </p:cNvSpPr>
            <p:nvPr/>
          </p:nvSpPr>
          <p:spPr bwMode="auto">
            <a:xfrm>
              <a:off x="2195" y="1442"/>
              <a:ext cx="1572" cy="32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4" name="Rectangle 7"/>
            <p:cNvSpPr>
              <a:spLocks noChangeArrowheads="1"/>
            </p:cNvSpPr>
            <p:nvPr/>
          </p:nvSpPr>
          <p:spPr bwMode="auto">
            <a:xfrm>
              <a:off x="2509" y="1369"/>
              <a:ext cx="1102" cy="36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5" name="Text Box 8"/>
            <p:cNvSpPr txBox="1">
              <a:spLocks noChangeArrowheads="1"/>
            </p:cNvSpPr>
            <p:nvPr/>
          </p:nvSpPr>
          <p:spPr bwMode="auto">
            <a:xfrm>
              <a:off x="2509" y="1493"/>
              <a:ext cx="1064" cy="23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FIN=1, seq#=x</a:t>
              </a:r>
              <a:endParaRPr lang="en-US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6" name="Text Box 9"/>
            <p:cNvSpPr txBox="1">
              <a:spLocks noChangeArrowheads="1"/>
            </p:cNvSpPr>
            <p:nvPr/>
          </p:nvSpPr>
          <p:spPr bwMode="auto">
            <a:xfrm>
              <a:off x="1209" y="1541"/>
              <a:ext cx="913" cy="32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不能发数据</a:t>
              </a:r>
              <a:endParaRPr lang="en-US" altLang="zh-CN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r">
                <a:lnSpc>
                  <a:spcPct val="90000"/>
                </a:lnSpc>
                <a:defRPr/>
              </a:pPr>
              <a:r>
                <a:rPr lang="zh-CN" altLang="en-US" sz="10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可以接收数据</a:t>
              </a:r>
              <a:endParaRPr lang="en-US" sz="10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7" name="Text Box 67"/>
            <p:cNvSpPr txBox="1">
              <a:spLocks noChangeArrowheads="1"/>
            </p:cNvSpPr>
            <p:nvPr/>
          </p:nvSpPr>
          <p:spPr bwMode="auto">
            <a:xfrm>
              <a:off x="759" y="1323"/>
              <a:ext cx="1185" cy="213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>
                <a:defRPr/>
              </a:pPr>
              <a:r>
                <a:rPr lang="en-US" sz="1050">
                  <a:latin typeface="微软雅黑" panose="020B0503020204020204" pitchFamily="34" charset="-122"/>
                  <a:ea typeface="微软雅黑" panose="020B0503020204020204" pitchFamily="34" charset="-122"/>
                </a:rPr>
                <a:t>clientSocket.close()</a:t>
              </a:r>
              <a:endParaRPr lang="en-US" sz="10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98" name="Text Box 84"/>
          <p:cNvSpPr txBox="1">
            <a:spLocks noChangeArrowheads="1"/>
          </p:cNvSpPr>
          <p:nvPr/>
        </p:nvSpPr>
        <p:spPr bwMode="auto">
          <a:xfrm>
            <a:off x="2173058" y="1438051"/>
            <a:ext cx="984950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r"/>
            <a:r>
              <a:rPr lang="en-US" altLang="zh-CN" sz="1200" i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client state</a:t>
            </a:r>
            <a:endParaRPr lang="en-US" altLang="zh-CN" sz="1200" i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en-US" altLang="zh-CN" sz="1200" i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9" name="Text Box 85"/>
          <p:cNvSpPr txBox="1">
            <a:spLocks noChangeArrowheads="1"/>
          </p:cNvSpPr>
          <p:nvPr/>
        </p:nvSpPr>
        <p:spPr bwMode="auto">
          <a:xfrm>
            <a:off x="7323530" y="1451148"/>
            <a:ext cx="1033937" cy="46166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 algn="r"/>
            <a:r>
              <a:rPr lang="en-US" altLang="zh-CN" sz="1200" i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server state</a:t>
            </a:r>
            <a:endParaRPr lang="en-US" altLang="zh-CN" sz="1200" i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r"/>
            <a:endParaRPr lang="en-US" altLang="zh-CN" sz="1200" i="1" dirty="0">
              <a:solidFill>
                <a:srgbClr val="0000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0" name="Text Box 86"/>
          <p:cNvSpPr txBox="1">
            <a:spLocks noChangeArrowheads="1"/>
          </p:cNvSpPr>
          <p:nvPr/>
        </p:nvSpPr>
        <p:spPr bwMode="auto">
          <a:xfrm>
            <a:off x="7740723" y="1738088"/>
            <a:ext cx="63863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ESTAB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1" name="Text Box 87"/>
          <p:cNvSpPr txBox="1">
            <a:spLocks noChangeArrowheads="1"/>
          </p:cNvSpPr>
          <p:nvPr/>
        </p:nvSpPr>
        <p:spPr bwMode="auto">
          <a:xfrm>
            <a:off x="2313854" y="1724992"/>
            <a:ext cx="638636" cy="27699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1pPr>
            <a:lvl2pPr marL="742950" indent="-28575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2pPr>
            <a:lvl3pPr marL="11430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3pPr>
            <a:lvl4pPr marL="16002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4pPr>
            <a:lvl5pPr marL="2057400" indent="-228600"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ahoma" panose="020B0604030504040204" charset="0"/>
                <a:ea typeface="MS PGothic" panose="020B0600070205080204" charset="-128"/>
              </a:defRPr>
            </a:lvl9pPr>
          </a:lstStyle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ESTAB</a:t>
            </a: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02" name="Group 88"/>
          <p:cNvGrpSpPr/>
          <p:nvPr/>
        </p:nvGrpSpPr>
        <p:grpSpPr bwMode="auto">
          <a:xfrm>
            <a:off x="4268860" y="1494011"/>
            <a:ext cx="482204" cy="450056"/>
            <a:chOff x="-44" y="1473"/>
            <a:chExt cx="981" cy="1105"/>
          </a:xfrm>
        </p:grpSpPr>
        <p:pic>
          <p:nvPicPr>
            <p:cNvPr id="203" name="Picture 89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04" name="Freeform 90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5" name="Group 91"/>
          <p:cNvGrpSpPr/>
          <p:nvPr/>
        </p:nvGrpSpPr>
        <p:grpSpPr bwMode="auto">
          <a:xfrm>
            <a:off x="6242916" y="1496391"/>
            <a:ext cx="252413" cy="384572"/>
            <a:chOff x="4140" y="429"/>
            <a:chExt cx="1425" cy="2396"/>
          </a:xfrm>
        </p:grpSpPr>
        <p:sp>
          <p:nvSpPr>
            <p:cNvPr id="206" name="Freeform 92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Rectangle 93"/>
            <p:cNvSpPr>
              <a:spLocks noChangeArrowheads="1"/>
            </p:cNvSpPr>
            <p:nvPr/>
          </p:nvSpPr>
          <p:spPr bwMode="auto">
            <a:xfrm>
              <a:off x="4207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Freeform 94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Freeform 95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Rectangle 96"/>
            <p:cNvSpPr>
              <a:spLocks noChangeArrowheads="1"/>
            </p:cNvSpPr>
            <p:nvPr/>
          </p:nvSpPr>
          <p:spPr bwMode="auto">
            <a:xfrm>
              <a:off x="4214" y="696"/>
              <a:ext cx="592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1" name="Group 97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6" name="AutoShape 98"/>
              <p:cNvSpPr>
                <a:spLocks noChangeArrowheads="1"/>
              </p:cNvSpPr>
              <p:nvPr/>
            </p:nvSpPr>
            <p:spPr bwMode="auto">
              <a:xfrm>
                <a:off x="617" y="2566"/>
                <a:ext cx="721" cy="142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7" name="AutoShape 99"/>
              <p:cNvSpPr>
                <a:spLocks noChangeArrowheads="1"/>
              </p:cNvSpPr>
              <p:nvPr/>
            </p:nvSpPr>
            <p:spPr bwMode="auto">
              <a:xfrm>
                <a:off x="634" y="2581"/>
                <a:ext cx="688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2" name="Rectangle 100"/>
            <p:cNvSpPr>
              <a:spLocks noChangeArrowheads="1"/>
            </p:cNvSpPr>
            <p:nvPr/>
          </p:nvSpPr>
          <p:spPr bwMode="auto">
            <a:xfrm>
              <a:off x="4221" y="1022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3" name="Group 101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4" name="AutoShape 102"/>
              <p:cNvSpPr>
                <a:spLocks noChangeArrowheads="1"/>
              </p:cNvSpPr>
              <p:nvPr/>
            </p:nvSpPr>
            <p:spPr bwMode="auto">
              <a:xfrm>
                <a:off x="611" y="2567"/>
                <a:ext cx="73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5" name="AutoShape 103"/>
              <p:cNvSpPr>
                <a:spLocks noChangeArrowheads="1"/>
              </p:cNvSpPr>
              <p:nvPr/>
            </p:nvSpPr>
            <p:spPr bwMode="auto">
              <a:xfrm>
                <a:off x="628" y="2582"/>
                <a:ext cx="69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4" name="Rectangle 104"/>
            <p:cNvSpPr>
              <a:spLocks noChangeArrowheads="1"/>
            </p:cNvSpPr>
            <p:nvPr/>
          </p:nvSpPr>
          <p:spPr bwMode="auto">
            <a:xfrm>
              <a:off x="4214" y="1356"/>
              <a:ext cx="598" cy="45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Rectangle 105"/>
            <p:cNvSpPr>
              <a:spLocks noChangeArrowheads="1"/>
            </p:cNvSpPr>
            <p:nvPr/>
          </p:nvSpPr>
          <p:spPr bwMode="auto">
            <a:xfrm>
              <a:off x="4227" y="1653"/>
              <a:ext cx="598" cy="5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6" name="Group 106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2" name="AutoShape 107"/>
              <p:cNvSpPr>
                <a:spLocks noChangeArrowheads="1"/>
              </p:cNvSpPr>
              <p:nvPr/>
            </p:nvSpPr>
            <p:spPr bwMode="auto">
              <a:xfrm>
                <a:off x="618" y="2571"/>
                <a:ext cx="720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3" name="AutoShape 108"/>
              <p:cNvSpPr>
                <a:spLocks noChangeArrowheads="1"/>
              </p:cNvSpPr>
              <p:nvPr/>
            </p:nvSpPr>
            <p:spPr bwMode="auto">
              <a:xfrm>
                <a:off x="635" y="2585"/>
                <a:ext cx="687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7" name="Freeform 109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18" name="Group 110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0" name="AutoShape 111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1" name="AutoShape 112"/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5" cy="11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1pPr>
                <a:lvl2pPr marL="742950" indent="-28575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2pPr>
                <a:lvl3pPr marL="11430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3pPr>
                <a:lvl4pPr marL="16002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4pPr>
                <a:lvl5pPr marL="2057400" indent="-228600"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5pPr>
                <a:lvl6pPr marL="25146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6pPr>
                <a:lvl7pPr marL="29718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7pPr>
                <a:lvl8pPr marL="34290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8pPr>
                <a:lvl9pPr marL="3886200" indent="-228600" algn="ctr" eaLnBrk="0" fontAlgn="base" hangingPunct="0">
                  <a:spcBef>
                    <a:spcPct val="0"/>
                  </a:spcBef>
                  <a:spcAft>
                    <a:spcPct val="0"/>
                  </a:spcAft>
                  <a:defRPr sz="1600">
                    <a:solidFill>
                      <a:schemeClr val="tx1"/>
                    </a:solidFill>
                    <a:latin typeface="Tahoma" panose="020B0604030504040204" charset="0"/>
                    <a:ea typeface="MS PGothic" panose="020B0600070205080204" charset="-128"/>
                  </a:defRPr>
                </a:lvl9pPr>
              </a:lstStyle>
              <a:p>
                <a:endParaRPr lang="zh-CN" altLang="zh-CN" sz="12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19" name="Rectangle 113"/>
            <p:cNvSpPr>
              <a:spLocks noChangeArrowheads="1"/>
            </p:cNvSpPr>
            <p:nvPr/>
          </p:nvSpPr>
          <p:spPr bwMode="auto">
            <a:xfrm>
              <a:off x="5249" y="429"/>
              <a:ext cx="67" cy="2292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Freeform 114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Freeform 115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Oval 116"/>
            <p:cNvSpPr>
              <a:spLocks noChangeArrowheads="1"/>
            </p:cNvSpPr>
            <p:nvPr/>
          </p:nvSpPr>
          <p:spPr bwMode="auto"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Freeform 117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4" name="AutoShape 118"/>
            <p:cNvSpPr>
              <a:spLocks noChangeArrowheads="1"/>
            </p:cNvSpPr>
            <p:nvPr/>
          </p:nvSpPr>
          <p:spPr bwMode="auto">
            <a:xfrm>
              <a:off x="4140" y="2677"/>
              <a:ext cx="1196" cy="148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5" name="AutoShape 119"/>
            <p:cNvSpPr>
              <a:spLocks noChangeArrowheads="1"/>
            </p:cNvSpPr>
            <p:nvPr/>
          </p:nvSpPr>
          <p:spPr bwMode="auto">
            <a:xfrm>
              <a:off x="4207" y="2714"/>
              <a:ext cx="1069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Oval 120"/>
            <p:cNvSpPr>
              <a:spLocks noChangeArrowheads="1"/>
            </p:cNvSpPr>
            <p:nvPr/>
          </p:nvSpPr>
          <p:spPr bwMode="auto"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7" name="Oval 121"/>
            <p:cNvSpPr>
              <a:spLocks noChangeArrowheads="1"/>
            </p:cNvSpPr>
            <p:nvPr/>
          </p:nvSpPr>
          <p:spPr bwMode="auto"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pPr eaLnBrk="1" hangingPunct="1"/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28" name="Oval 122"/>
            <p:cNvSpPr>
              <a:spLocks noChangeArrowheads="1"/>
            </p:cNvSpPr>
            <p:nvPr/>
          </p:nvSpPr>
          <p:spPr bwMode="auto"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9" name="Rectangle 123"/>
            <p:cNvSpPr>
              <a:spLocks noChangeArrowheads="1"/>
            </p:cNvSpPr>
            <p:nvPr/>
          </p:nvSpPr>
          <p:spPr bwMode="auto"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1pPr>
              <a:lvl2pPr marL="742950" indent="-28575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2pPr>
              <a:lvl3pPr marL="11430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3pPr>
              <a:lvl4pPr marL="16002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4pPr>
              <a:lvl5pPr marL="2057400" indent="-228600"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sz="1600">
                  <a:solidFill>
                    <a:schemeClr val="tx1"/>
                  </a:solidFill>
                  <a:latin typeface="Tahoma" panose="020B0604030504040204" charset="0"/>
                  <a:ea typeface="MS PGothic" panose="020B060007020508020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9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2" name="arrow.wav"/>
          </p:stSnd>
        </p:sndAc>
      </p:transition>
    </mc:Choice>
    <mc:Fallback>
      <p:transition>
        <p:sndAc>
          <p:stSnd>
            <p:snd r:embed="rId2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5" grpId="1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3.5 </a:t>
            </a:r>
            <a:r>
              <a:rPr lang="zh-CN" altLang="en-US" dirty="0"/>
              <a:t>面向连接的运输：</a:t>
            </a:r>
            <a:r>
              <a:rPr lang="en-US" altLang="zh-CN" dirty="0"/>
              <a:t>TCP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3.5.4 TCP</a:t>
            </a:r>
            <a:r>
              <a:rPr lang="zh-CN" altLang="en-US" sz="2000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sz="2000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/>
            <a:r>
              <a:rPr lang="en-US" altLang="zh-CN" strike="dbl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TCP</a:t>
            </a:r>
            <a:r>
              <a:rPr lang="zh-CN" altLang="en-US" strike="dblStrike" dirty="0">
                <a:solidFill>
                  <a:schemeClr val="tx1">
                    <a:lumMod val="50000"/>
                    <a:lumOff val="50000"/>
                  </a:schemeClr>
                </a:solidFill>
              </a:rPr>
              <a:t>的序号、确认号</a:t>
            </a:r>
            <a:endParaRPr lang="en-US" altLang="zh-CN" strike="dblStrike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以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HTTP</a:t>
            </a:r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实验为例</a:t>
            </a:r>
            <a:endParaRPr lang="en-US" altLang="zh-CN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建立在连接的基础上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的连接管理</a:t>
            </a:r>
            <a:endParaRPr lang="en-US" altLang="zh-CN" dirty="0"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2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3">
              <a:lnSpc>
                <a:spcPct val="100000"/>
              </a:lnSpc>
              <a:spcBef>
                <a:spcPts val="600"/>
              </a:spcBef>
            </a:pP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altLang="zh-CN" sz="15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Group 27"/>
          <p:cNvGrpSpPr/>
          <p:nvPr/>
        </p:nvGrpSpPr>
        <p:grpSpPr bwMode="auto">
          <a:xfrm>
            <a:off x="4957652" y="970794"/>
            <a:ext cx="566738" cy="586978"/>
            <a:chOff x="-44" y="1473"/>
            <a:chExt cx="981" cy="1105"/>
          </a:xfrm>
        </p:grpSpPr>
        <p:pic>
          <p:nvPicPr>
            <p:cNvPr id="9" name="Picture 28" descr="desktop_computer_stylized_medium"/>
            <p:cNvPicPr>
              <a:picLocks noChangeAspect="1" noChangeArrowheads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Freeform 29"/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967 w 356"/>
                <a:gd name="T3" fmla="*/ 50 h 368"/>
                <a:gd name="T4" fmla="*/ 1147 w 356"/>
                <a:gd name="T5" fmla="*/ 1052 h 368"/>
                <a:gd name="T6" fmla="*/ 253 w 356"/>
                <a:gd name="T7" fmla="*/ 1316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1" name="Group 43"/>
          <p:cNvGrpSpPr/>
          <p:nvPr/>
        </p:nvGrpSpPr>
        <p:grpSpPr bwMode="auto">
          <a:xfrm>
            <a:off x="7412137" y="940595"/>
            <a:ext cx="317897" cy="513160"/>
            <a:chOff x="4140" y="429"/>
            <a:chExt cx="1425" cy="2396"/>
          </a:xfrm>
        </p:grpSpPr>
        <p:sp>
          <p:nvSpPr>
            <p:cNvPr id="12" name="Freeform 44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4 w 354"/>
                <a:gd name="T1" fmla="*/ 0 h 2742"/>
                <a:gd name="T2" fmla="*/ 19 w 354"/>
                <a:gd name="T3" fmla="*/ 32 h 2742"/>
                <a:gd name="T4" fmla="*/ 19 w 354"/>
                <a:gd name="T5" fmla="*/ 246 h 2742"/>
                <a:gd name="T6" fmla="*/ 0 w 354"/>
                <a:gd name="T7" fmla="*/ 258 h 2742"/>
                <a:gd name="T8" fmla="*/ 4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" name="Rectangle 45"/>
            <p:cNvSpPr>
              <a:spLocks noChangeArrowheads="1"/>
            </p:cNvSpPr>
            <p:nvPr/>
          </p:nvSpPr>
          <p:spPr bwMode="auto">
            <a:xfrm>
              <a:off x="4204" y="429"/>
              <a:ext cx="1051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Freeform 46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11 w 211"/>
                <a:gd name="T3" fmla="*/ 21 h 2537"/>
                <a:gd name="T4" fmla="*/ 2 w 211"/>
                <a:gd name="T5" fmla="*/ 235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5" name="Freeform 47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3 h 226"/>
                <a:gd name="T4" fmla="*/ 18 w 328"/>
                <a:gd name="T5" fmla="*/ 23 h 226"/>
                <a:gd name="T6" fmla="*/ 0 w 328"/>
                <a:gd name="T7" fmla="*/ 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Rectangle 48"/>
            <p:cNvSpPr>
              <a:spLocks noChangeArrowheads="1"/>
            </p:cNvSpPr>
            <p:nvPr/>
          </p:nvSpPr>
          <p:spPr bwMode="auto">
            <a:xfrm>
              <a:off x="4209" y="690"/>
              <a:ext cx="598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7" name="Group 49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42" name="AutoShape 50"/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6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" name="AutoShape 51"/>
              <p:cNvSpPr>
                <a:spLocks noChangeArrowheads="1"/>
              </p:cNvSpPr>
              <p:nvPr/>
            </p:nvSpPr>
            <p:spPr bwMode="auto">
              <a:xfrm>
                <a:off x="627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8" name="Rectangle 52"/>
            <p:cNvSpPr>
              <a:spLocks noChangeArrowheads="1"/>
            </p:cNvSpPr>
            <p:nvPr/>
          </p:nvSpPr>
          <p:spPr bwMode="auto">
            <a:xfrm>
              <a:off x="4225" y="1018"/>
              <a:ext cx="592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9" name="Group 53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40" name="AutoShape 54"/>
              <p:cNvSpPr>
                <a:spLocks noChangeArrowheads="1"/>
              </p:cNvSpPr>
              <p:nvPr/>
            </p:nvSpPr>
            <p:spPr bwMode="auto">
              <a:xfrm>
                <a:off x="616" y="2570"/>
                <a:ext cx="726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AutoShape 55"/>
              <p:cNvSpPr>
                <a:spLocks noChangeArrowheads="1"/>
              </p:cNvSpPr>
              <p:nvPr/>
            </p:nvSpPr>
            <p:spPr bwMode="auto">
              <a:xfrm>
                <a:off x="629" y="2587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0" name="Rectangle 56"/>
            <p:cNvSpPr>
              <a:spLocks noChangeArrowheads="1"/>
            </p:cNvSpPr>
            <p:nvPr/>
          </p:nvSpPr>
          <p:spPr bwMode="auto">
            <a:xfrm>
              <a:off x="4215" y="1357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Rectangle 57"/>
            <p:cNvSpPr>
              <a:spLocks noChangeArrowheads="1"/>
            </p:cNvSpPr>
            <p:nvPr/>
          </p:nvSpPr>
          <p:spPr bwMode="auto">
            <a:xfrm>
              <a:off x="4225" y="1658"/>
              <a:ext cx="598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" name="Group 58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8" name="AutoShape 59"/>
              <p:cNvSpPr>
                <a:spLocks noChangeArrowheads="1"/>
              </p:cNvSpPr>
              <p:nvPr/>
            </p:nvSpPr>
            <p:spPr bwMode="auto">
              <a:xfrm>
                <a:off x="611" y="2581"/>
                <a:ext cx="731" cy="12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9" name="AutoShape 60"/>
              <p:cNvSpPr>
                <a:spLocks noChangeArrowheads="1"/>
              </p:cNvSpPr>
              <p:nvPr/>
            </p:nvSpPr>
            <p:spPr bwMode="auto">
              <a:xfrm>
                <a:off x="624" y="2586"/>
                <a:ext cx="698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3" name="Freeform 61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8 w 328"/>
                <a:gd name="T3" fmla="*/ 12 h 226"/>
                <a:gd name="T4" fmla="*/ 18 w 328"/>
                <a:gd name="T5" fmla="*/ 21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4" name="Group 62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6" name="AutoShape 63"/>
              <p:cNvSpPr>
                <a:spLocks noChangeArrowheads="1"/>
              </p:cNvSpPr>
              <p:nvPr/>
            </p:nvSpPr>
            <p:spPr bwMode="auto">
              <a:xfrm>
                <a:off x="612" y="2576"/>
                <a:ext cx="725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7" name="AutoShape 64"/>
              <p:cNvSpPr>
                <a:spLocks noChangeArrowheads="1"/>
              </p:cNvSpPr>
              <p:nvPr/>
            </p:nvSpPr>
            <p:spPr bwMode="auto">
              <a:xfrm>
                <a:off x="626" y="2587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SzPct val="65000"/>
                  <a:buFont typeface="Wingdings" panose="05000000000000000000" pitchFamily="2" charset="2"/>
                  <a:buChar char="v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1pPr>
                <a:lvl2pPr marL="742950" indent="-285750">
                  <a:lnSpc>
                    <a:spcPct val="85000"/>
                  </a:lnSpc>
                  <a:spcBef>
                    <a:spcPct val="20000"/>
                  </a:spcBef>
                  <a:buClr>
                    <a:srgbClr val="000099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charset="-128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MS PGothic" panose="020B0600070205080204" charset="-128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MS PGothic" panose="020B0600070205080204" charset="-128"/>
                  </a:defRPr>
                </a:lvl9pPr>
              </a:lstStyle>
              <a:p>
                <a:pPr>
                  <a:lnSpc>
                    <a:spcPct val="100000"/>
                  </a:lnSpc>
                  <a:buClr>
                    <a:schemeClr val="accent2"/>
                  </a:buClr>
                  <a:buSzPct val="85000"/>
                  <a:buFont typeface="ZapfDingbats" pitchFamily="82" charset="2"/>
                  <a:buNone/>
                </a:pPr>
                <a:endParaRPr lang="zh-CN" altLang="zh-CN" sz="15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5" name="Rectangle 65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Freeform 66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7 w 296"/>
                <a:gd name="T3" fmla="*/ 12 h 256"/>
                <a:gd name="T4" fmla="*/ 17 w 296"/>
                <a:gd name="T5" fmla="*/ 23 h 256"/>
                <a:gd name="T6" fmla="*/ 0 w 296"/>
                <a:gd name="T7" fmla="*/ 8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" name="Freeform 67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8 w 304"/>
                <a:gd name="T3" fmla="*/ 16 h 288"/>
                <a:gd name="T4" fmla="*/ 16 w 304"/>
                <a:gd name="T5" fmla="*/ 28 h 288"/>
                <a:gd name="T6" fmla="*/ 2 w 304"/>
                <a:gd name="T7" fmla="*/ 1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" name="Oval 68"/>
            <p:cNvSpPr>
              <a:spLocks noChangeArrowheads="1"/>
            </p:cNvSpPr>
            <p:nvPr/>
          </p:nvSpPr>
          <p:spPr bwMode="auto">
            <a:xfrm>
              <a:off x="5517" y="2614"/>
              <a:ext cx="48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Freeform 69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11 h 240"/>
                <a:gd name="T2" fmla="*/ 2 w 306"/>
                <a:gd name="T3" fmla="*/ 23 h 240"/>
                <a:gd name="T4" fmla="*/ 18 w 306"/>
                <a:gd name="T5" fmla="*/ 11 h 240"/>
                <a:gd name="T6" fmla="*/ 17 w 306"/>
                <a:gd name="T7" fmla="*/ 0 h 240"/>
                <a:gd name="T8" fmla="*/ 0 w 306"/>
                <a:gd name="T9" fmla="*/ 1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AutoShape 70"/>
            <p:cNvSpPr>
              <a:spLocks noChangeArrowheads="1"/>
            </p:cNvSpPr>
            <p:nvPr/>
          </p:nvSpPr>
          <p:spPr bwMode="auto">
            <a:xfrm>
              <a:off x="4140" y="2680"/>
              <a:ext cx="1201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AutoShape 71"/>
            <p:cNvSpPr>
              <a:spLocks noChangeArrowheads="1"/>
            </p:cNvSpPr>
            <p:nvPr/>
          </p:nvSpPr>
          <p:spPr bwMode="auto">
            <a:xfrm>
              <a:off x="4204" y="2708"/>
              <a:ext cx="1073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Oval 72"/>
            <p:cNvSpPr>
              <a:spLocks noChangeArrowheads="1"/>
            </p:cNvSpPr>
            <p:nvPr/>
          </p:nvSpPr>
          <p:spPr bwMode="auto">
            <a:xfrm>
              <a:off x="4305" y="2380"/>
              <a:ext cx="160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Oval 73"/>
            <p:cNvSpPr>
              <a:spLocks noChangeArrowheads="1"/>
            </p:cNvSpPr>
            <p:nvPr/>
          </p:nvSpPr>
          <p:spPr bwMode="auto">
            <a:xfrm>
              <a:off x="4487" y="2386"/>
              <a:ext cx="160" cy="139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zh-CN" altLang="zh-CN" sz="135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34" name="Oval 74"/>
            <p:cNvSpPr>
              <a:spLocks noChangeArrowheads="1"/>
            </p:cNvSpPr>
            <p:nvPr/>
          </p:nvSpPr>
          <p:spPr bwMode="auto">
            <a:xfrm>
              <a:off x="4663" y="2380"/>
              <a:ext cx="155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Rectangle 75"/>
            <p:cNvSpPr>
              <a:spLocks noChangeArrowheads="1"/>
            </p:cNvSpPr>
            <p:nvPr/>
          </p:nvSpPr>
          <p:spPr bwMode="auto">
            <a:xfrm>
              <a:off x="5063" y="1835"/>
              <a:ext cx="85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SzPct val="65000"/>
                <a:buFont typeface="Wingdings" panose="05000000000000000000" pitchFamily="2" charset="2"/>
                <a:buChar char="v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1pPr>
              <a:lvl2pPr marL="742950" indent="-285750">
                <a:lnSpc>
                  <a:spcPct val="85000"/>
                </a:lnSpc>
                <a:spcBef>
                  <a:spcPct val="20000"/>
                </a:spcBef>
                <a:buClr>
                  <a:srgbClr val="000099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charset="-128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MS PGothic" panose="020B0600070205080204" charset="-128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  <a:ea typeface="MS PGothic" panose="020B0600070205080204" charset="-128"/>
                </a:defRPr>
              </a:lvl9pPr>
            </a:lstStyle>
            <a:p>
              <a:pPr>
                <a:lnSpc>
                  <a:spcPct val="100000"/>
                </a:lnSpc>
                <a:buClr>
                  <a:schemeClr val="accent2"/>
                </a:buClr>
                <a:buSzPct val="85000"/>
                <a:buFont typeface="ZapfDingbats" pitchFamily="82" charset="2"/>
                <a:buNone/>
              </a:pPr>
              <a:endParaRPr lang="zh-CN" altLang="zh-CN" sz="15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矩形 46"/>
          <p:cNvSpPr/>
          <p:nvPr/>
        </p:nvSpPr>
        <p:spPr>
          <a:xfrm>
            <a:off x="4839959" y="1523637"/>
            <a:ext cx="1747889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172.20.60.13</a:t>
            </a:r>
            <a:endParaRPr lang="en-US" altLang="zh-CN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49753</a:t>
            </a:r>
            <a:endParaRPr lang="zh-CN" altLang="en-US" sz="105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7216593" y="1523637"/>
            <a:ext cx="174789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IP: 128.119.245.12</a:t>
            </a:r>
            <a:endParaRPr lang="en-US" altLang="zh-CN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05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Port: 80</a:t>
            </a:r>
            <a:endParaRPr lang="zh-CN" altLang="en-US" sz="105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6" name="直接箭头连接符 45"/>
          <p:cNvCxnSpPr/>
          <p:nvPr/>
        </p:nvCxnSpPr>
        <p:spPr>
          <a:xfrm>
            <a:off x="5001977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>
            <a:off x="7740352" y="1916052"/>
            <a:ext cx="0" cy="310397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>
            <a:off x="5001977" y="2024884"/>
            <a:ext cx="2738375" cy="168824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矩形 52"/>
          <p:cNvSpPr/>
          <p:nvPr/>
        </p:nvSpPr>
        <p:spPr>
          <a:xfrm>
            <a:off x="5686063" y="1969303"/>
            <a:ext cx="131969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[SYN] Seq=0,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4" name="直接箭头连接符 53"/>
          <p:cNvCxnSpPr/>
          <p:nvPr/>
        </p:nvCxnSpPr>
        <p:spPr>
          <a:xfrm flipH="1">
            <a:off x="5001977" y="2224882"/>
            <a:ext cx="2738375" cy="295048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5485054" y="2226287"/>
            <a:ext cx="1941358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Seq=0, Ack=1,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0" name="直接箭头连接符 59"/>
          <p:cNvCxnSpPr/>
          <p:nvPr/>
        </p:nvCxnSpPr>
        <p:spPr>
          <a:xfrm>
            <a:off x="5055984" y="2563028"/>
            <a:ext cx="2670035" cy="231948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/>
          <p:cNvSpPr/>
          <p:nvPr/>
        </p:nvSpPr>
        <p:spPr>
          <a:xfrm>
            <a:off x="5485054" y="2544829"/>
            <a:ext cx="1941356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[SYN,ACK] Seq=1, Ack=1,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4" name="直接箭头连接符 63"/>
          <p:cNvCxnSpPr/>
          <p:nvPr/>
        </p:nvCxnSpPr>
        <p:spPr>
          <a:xfrm>
            <a:off x="5001977" y="2725047"/>
            <a:ext cx="2738375" cy="298645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/>
          <p:cNvSpPr/>
          <p:nvPr/>
        </p:nvSpPr>
        <p:spPr>
          <a:xfrm>
            <a:off x="5449360" y="2749946"/>
            <a:ext cx="19627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Seq=1, Ack=1, len=300</a:t>
            </a:r>
            <a:endParaRPr lang="zh-CN" altLang="en-US" sz="90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5001977" y="3049249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5449359" y="3086679"/>
            <a:ext cx="1962743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8" name="直接箭头连接符 67"/>
          <p:cNvCxnSpPr/>
          <p:nvPr/>
        </p:nvCxnSpPr>
        <p:spPr>
          <a:xfrm flipH="1">
            <a:off x="5001977" y="3261488"/>
            <a:ext cx="2738375" cy="269957"/>
          </a:xfrm>
          <a:prstGeom prst="straightConnector1">
            <a:avLst/>
          </a:prstGeom>
          <a:ln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矩形 68"/>
          <p:cNvSpPr/>
          <p:nvPr/>
        </p:nvSpPr>
        <p:spPr>
          <a:xfrm>
            <a:off x="5344510" y="3305947"/>
            <a:ext cx="217244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[ACK]Seq=1, Ack=301, len=489</a:t>
            </a:r>
            <a:endParaRPr lang="zh-CN" altLang="en-US" sz="90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>
            <a:off x="5028980" y="3568876"/>
            <a:ext cx="2711372" cy="232673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5380840" y="3583711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Ack=490,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2" name="直接箭头连接符 81"/>
          <p:cNvCxnSpPr/>
          <p:nvPr/>
        </p:nvCxnSpPr>
        <p:spPr>
          <a:xfrm flipH="1">
            <a:off x="5001977" y="4132304"/>
            <a:ext cx="2738375" cy="320252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矩形 82"/>
          <p:cNvSpPr/>
          <p:nvPr/>
        </p:nvSpPr>
        <p:spPr>
          <a:xfrm>
            <a:off x="5261709" y="4169734"/>
            <a:ext cx="2296929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[FIN,ACK] Seq=490, Ack=301, len=0</a:t>
            </a:r>
            <a:endParaRPr lang="zh-CN" altLang="en-US" sz="9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4" name="直接箭头连接符 83"/>
          <p:cNvCxnSpPr/>
          <p:nvPr/>
        </p:nvCxnSpPr>
        <p:spPr>
          <a:xfrm>
            <a:off x="5001977" y="4472269"/>
            <a:ext cx="2738375" cy="246726"/>
          </a:xfrm>
          <a:prstGeom prst="straightConnector1">
            <a:avLst/>
          </a:prstGeom>
          <a:ln>
            <a:solidFill>
              <a:srgbClr val="0066C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矩形 84"/>
          <p:cNvSpPr/>
          <p:nvPr/>
        </p:nvSpPr>
        <p:spPr>
          <a:xfrm>
            <a:off x="5380840" y="4501158"/>
            <a:ext cx="2099781" cy="2308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zh-CN" sz="9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[ACK] Seq=301, Ack=491, len=0</a:t>
            </a:r>
            <a:endParaRPr lang="zh-CN" altLang="en-US" sz="9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左大括号 89"/>
          <p:cNvSpPr/>
          <p:nvPr/>
        </p:nvSpPr>
        <p:spPr>
          <a:xfrm>
            <a:off x="4677941" y="1969303"/>
            <a:ext cx="54006" cy="593726"/>
          </a:xfrm>
          <a:prstGeom prst="leftBrace">
            <a:avLst/>
          </a:prstGeom>
          <a:ln w="19050">
            <a:solidFill>
              <a:srgbClr val="0066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1" name="矩形 90"/>
          <p:cNvSpPr/>
          <p:nvPr/>
        </p:nvSpPr>
        <p:spPr>
          <a:xfrm>
            <a:off x="3336078" y="2139208"/>
            <a:ext cx="1323115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三次握手建立连接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3" name="直接箭头连接符 92"/>
          <p:cNvCxnSpPr/>
          <p:nvPr/>
        </p:nvCxnSpPr>
        <p:spPr>
          <a:xfrm flipH="1">
            <a:off x="4569930" y="2749946"/>
            <a:ext cx="383567" cy="0"/>
          </a:xfrm>
          <a:prstGeom prst="straightConnector1">
            <a:avLst/>
          </a:prstGeom>
          <a:ln w="19050">
            <a:solidFill>
              <a:srgbClr val="00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矩形 93"/>
          <p:cNvSpPr/>
          <p:nvPr/>
        </p:nvSpPr>
        <p:spPr>
          <a:xfrm>
            <a:off x="3651827" y="2620110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请求</a:t>
            </a:r>
            <a:endParaRPr lang="zh-CN" altLang="en-US" sz="1050" dirty="0">
              <a:solidFill>
                <a:srgbClr val="00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5" name="直接箭头连接符 94"/>
          <p:cNvCxnSpPr/>
          <p:nvPr/>
        </p:nvCxnSpPr>
        <p:spPr>
          <a:xfrm flipH="1">
            <a:off x="4569930" y="3531445"/>
            <a:ext cx="383567" cy="0"/>
          </a:xfrm>
          <a:prstGeom prst="straightConnector1">
            <a:avLst/>
          </a:prstGeom>
          <a:ln w="19050">
            <a:solidFill>
              <a:srgbClr val="FF00FF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矩形 95"/>
          <p:cNvSpPr/>
          <p:nvPr/>
        </p:nvSpPr>
        <p:spPr>
          <a:xfrm>
            <a:off x="3651827" y="3409821"/>
            <a:ext cx="986206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en-US" altLang="zh-CN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en-US" sz="1050" dirty="0">
                <a:solidFill>
                  <a:srgbClr val="FF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响应</a:t>
            </a:r>
            <a:endParaRPr lang="zh-CN" altLang="en-US" sz="1050" dirty="0">
              <a:solidFill>
                <a:srgbClr val="FF00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588141" y="4371950"/>
            <a:ext cx="1143038" cy="253916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050" dirty="0">
                <a:solidFill>
                  <a:srgbClr val="00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  <a:endParaRPr lang="zh-CN" altLang="en-US" sz="1050" dirty="0">
              <a:solidFill>
                <a:srgbClr val="0066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9" name="直接箭头连接符 98"/>
          <p:cNvCxnSpPr/>
          <p:nvPr/>
        </p:nvCxnSpPr>
        <p:spPr>
          <a:xfrm flipH="1">
            <a:off x="4569930" y="4481196"/>
            <a:ext cx="383567" cy="0"/>
          </a:xfrm>
          <a:prstGeom prst="straightConnector1">
            <a:avLst/>
          </a:prstGeom>
          <a:ln w="19050">
            <a:solidFill>
              <a:srgbClr val="0066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73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802" y="3132350"/>
            <a:ext cx="1990464" cy="1320206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/>
          <p:cNvSpPr>
            <a:spLocks noGrp="1" noChangeArrowheads="1"/>
          </p:cNvSpPr>
          <p:nvPr>
            <p:ph type="title"/>
          </p:nvPr>
        </p:nvSpPr>
        <p:spPr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ctr" anchorCtr="0" compatLnSpc="1">
            <a:normAutofit/>
          </a:bodyPr>
          <a:lstStyle/>
          <a:p>
            <a:r>
              <a:rPr lang="zh-CN" altLang="en-US" dirty="0">
                <a:solidFill>
                  <a:srgbClr val="C00000"/>
                </a:solidFill>
                <a:effectLst/>
              </a:rPr>
              <a:t>本讲总结</a:t>
            </a:r>
            <a:endParaRPr lang="en-US" altLang="zh-CN" dirty="0">
              <a:solidFill>
                <a:srgbClr val="C00000"/>
              </a:solidFill>
              <a:effectLst/>
            </a:endParaRPr>
          </a:p>
        </p:txBody>
      </p:sp>
      <p:sp>
        <p:nvSpPr>
          <p:cNvPr id="4" name="灯片编号占位符 2"/>
          <p:cNvSpPr txBox="1"/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</a:fld>
            <a:endParaRPr lang="en-US" altLang="zh-CN" dirty="0"/>
          </a:p>
        </p:txBody>
      </p:sp>
      <p:sp>
        <p:nvSpPr>
          <p:cNvPr id="5" name="AutoShape 5"/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5033715" y="1149539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可靠运输</a:t>
            </a:r>
            <a:endParaRPr lang="en-US" altLang="zh-CN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796136" y="2988842"/>
            <a:ext cx="1569660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zh-CN" altLang="en-US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往返时间估计</a:t>
            </a:r>
            <a:endParaRPr lang="en-US" altLang="zh-CN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339752" y="1163556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数据封装</a:t>
            </a:r>
            <a:endParaRPr lang="en-US" altLang="zh-CN" dirty="0">
              <a:solidFill>
                <a:schemeClr val="accent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53732" y="3287532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流量控制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624582" y="3852601"/>
            <a:ext cx="1524841" cy="3693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altLang="zh-CN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连接管理</a:t>
            </a:r>
            <a:endParaRPr lang="en-US" altLang="zh-CN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0" name="图片 9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561867"/>
            <a:ext cx="3396398" cy="1323439"/>
          </a:xfrm>
          <a:prstGeom prst="rect">
            <a:avLst/>
          </a:prstGeom>
        </p:spPr>
      </p:pic>
      <p:pic>
        <p:nvPicPr>
          <p:cNvPr id="101" name="图片 100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86" y="2248061"/>
            <a:ext cx="1224137" cy="1224137"/>
          </a:xfrm>
          <a:prstGeom prst="rect">
            <a:avLst/>
          </a:prstGeom>
          <a:effectLst>
            <a:glow rad="1320800">
              <a:schemeClr val="accent5">
                <a:lumMod val="75000"/>
                <a:alpha val="23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03" name="矩形 102"/>
          <p:cNvSpPr/>
          <p:nvPr/>
        </p:nvSpPr>
        <p:spPr>
          <a:xfrm>
            <a:off x="5645783" y="1566262"/>
            <a:ext cx="1872208" cy="13234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Checksum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序号</a:t>
            </a:r>
            <a:r>
              <a:rPr lang="en-US" altLang="zh-CN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确认号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确认和重传策略</a:t>
            </a: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定时器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超时重传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/>
          <p:cNvSpPr/>
          <p:nvPr/>
        </p:nvSpPr>
        <p:spPr>
          <a:xfrm>
            <a:off x="4020625" y="4263250"/>
            <a:ext cx="1872208" cy="53860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三次握手</a:t>
            </a:r>
            <a:endParaRPr lang="en-US" altLang="zh-CN" sz="12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结束连接</a:t>
            </a:r>
            <a:endParaRPr lang="en-US" altLang="zh-CN" sz="1200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/>
          <p:cNvSpPr/>
          <p:nvPr/>
        </p:nvSpPr>
        <p:spPr>
          <a:xfrm>
            <a:off x="6034468" y="3423167"/>
            <a:ext cx="1872208" cy="132343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估计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r>
              <a:rPr lang="en-US" altLang="zh-CN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RTT</a:t>
            </a: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偏差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rgbClr val="008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设定定时间隔</a:t>
            </a: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zh-CN" sz="12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/>
          <p:cNvSpPr/>
          <p:nvPr/>
        </p:nvSpPr>
        <p:spPr>
          <a:xfrm>
            <a:off x="1927098" y="3712224"/>
            <a:ext cx="1524841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marL="171450" indent="-17145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告知对方</a:t>
            </a:r>
            <a:r>
              <a:rPr lang="en-US" altLang="zh-CN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</a:t>
            </a:r>
            <a:r>
              <a:rPr lang="zh-CN" altLang="en-US" sz="1200" dirty="0">
                <a:solidFill>
                  <a:schemeClr val="bg2">
                    <a:lumMod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我的接收窗口大小</a:t>
            </a:r>
            <a:endParaRPr lang="en-US" altLang="zh-CN" sz="1200" dirty="0">
              <a:solidFill>
                <a:schemeClr val="bg2">
                  <a:lumMod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3" name="arrow.wav"/>
          </p:stSnd>
        </p:sndAc>
      </p:transition>
    </mc:Choice>
    <mc:Fallback>
      <p:transition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530" indent="-214630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  <a:endParaRPr lang="en-US" altLang="zh-CN" sz="4500" dirty="0"/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下课铃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956376" y="4231337"/>
            <a:ext cx="487363" cy="4873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>
        <p:sndAc>
          <p:stSnd>
            <p:snd r:embed="rId5" name="arrow.wav"/>
          </p:stSnd>
        </p:sndAc>
      </p:transition>
    </mc:Choice>
    <mc:Fallback>
      <p:transition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6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tags/tag1.xml><?xml version="1.0" encoding="utf-8"?>
<p:tagLst xmlns:p="http://schemas.openxmlformats.org/presentationml/2006/main">
  <p:tag name="KSO_WPP_MARK_KEY" val="0a99632a-6f1d-4014-b37d-90327c0123a2"/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0</TotalTime>
  <Words>13346</Words>
  <Application>WPS 演示</Application>
  <PresentationFormat>全屏显示(16:9)</PresentationFormat>
  <Paragraphs>2179</Paragraphs>
  <Slides>57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76" baseType="lpstr">
      <vt:lpstr>Arial</vt:lpstr>
      <vt:lpstr>宋体</vt:lpstr>
      <vt:lpstr>Wingdings</vt:lpstr>
      <vt:lpstr>微软雅黑</vt:lpstr>
      <vt:lpstr>Times New Roman</vt:lpstr>
      <vt:lpstr>Tahoma</vt:lpstr>
      <vt:lpstr>MS PGothic</vt:lpstr>
      <vt:lpstr>等线</vt:lpstr>
      <vt:lpstr>Arial Unicode MS</vt:lpstr>
      <vt:lpstr>等线 Light</vt:lpstr>
      <vt:lpstr>Calibri</vt:lpstr>
      <vt:lpstr>Gill Sans MT</vt:lpstr>
      <vt:lpstr>Comic Sans MS</vt:lpstr>
      <vt:lpstr>ZapfDingbats</vt:lpstr>
      <vt:lpstr>Courier New</vt:lpstr>
      <vt:lpstr>Symbol</vt:lpstr>
      <vt:lpstr>黑体</vt:lpstr>
      <vt:lpstr>华文新魏</vt:lpstr>
      <vt:lpstr>Office 主题​​</vt:lpstr>
      <vt:lpstr>计算机网络</vt:lpstr>
      <vt:lpstr>知识回顾</vt:lpstr>
      <vt:lpstr>PowerPoint 演示文稿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3.5 面向连接的运输：TCP</vt:lpstr>
      <vt:lpstr>本讲总结</vt:lpstr>
      <vt:lpstr>Q &amp; 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传输</cp:lastModifiedBy>
  <cp:revision>65</cp:revision>
  <dcterms:created xsi:type="dcterms:W3CDTF">2020-03-19T09:54:00Z</dcterms:created>
  <dcterms:modified xsi:type="dcterms:W3CDTF">2025-03-24T06:41:09Z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E278A420548A449293447A8AE8F5777F</vt:lpwstr>
  </property>
  <property fmtid="{D5CDD505-2E9C-101B-9397-08002B2CF9AE}" pid="3" name="KSOProductBuildVer">
    <vt:lpwstr>2052-11.1.0.12375</vt:lpwstr>
  </property>
</Properties>
</file>