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55"/>
  </p:notesMasterIdLst>
  <p:handoutMasterIdLst>
    <p:handoutMasterId r:id="rId56"/>
  </p:handoutMasterIdLst>
  <p:sldIdLst>
    <p:sldId id="319" r:id="rId2"/>
    <p:sldId id="454" r:id="rId3"/>
    <p:sldId id="792" r:id="rId4"/>
    <p:sldId id="793" r:id="rId5"/>
    <p:sldId id="794" r:id="rId6"/>
    <p:sldId id="795" r:id="rId7"/>
    <p:sldId id="446" r:id="rId8"/>
    <p:sldId id="447" r:id="rId9"/>
    <p:sldId id="796" r:id="rId10"/>
    <p:sldId id="797" r:id="rId11"/>
    <p:sldId id="798" r:id="rId12"/>
    <p:sldId id="799" r:id="rId13"/>
    <p:sldId id="800" r:id="rId14"/>
    <p:sldId id="444" r:id="rId15"/>
    <p:sldId id="311" r:id="rId16"/>
    <p:sldId id="312" r:id="rId17"/>
    <p:sldId id="321" r:id="rId18"/>
    <p:sldId id="315" r:id="rId19"/>
    <p:sldId id="316" r:id="rId20"/>
    <p:sldId id="317" r:id="rId21"/>
    <p:sldId id="318" r:id="rId22"/>
    <p:sldId id="439" r:id="rId23"/>
    <p:sldId id="440" r:id="rId24"/>
    <p:sldId id="44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443" r:id="rId33"/>
    <p:sldId id="332" r:id="rId34"/>
    <p:sldId id="333" r:id="rId35"/>
    <p:sldId id="334" r:id="rId36"/>
    <p:sldId id="335" r:id="rId37"/>
    <p:sldId id="336" r:id="rId38"/>
    <p:sldId id="337" r:id="rId39"/>
    <p:sldId id="338" r:id="rId40"/>
    <p:sldId id="339" r:id="rId41"/>
    <p:sldId id="340" r:id="rId42"/>
    <p:sldId id="341" r:id="rId43"/>
    <p:sldId id="342" r:id="rId44"/>
    <p:sldId id="343" r:id="rId45"/>
    <p:sldId id="344" r:id="rId46"/>
    <p:sldId id="345" r:id="rId47"/>
    <p:sldId id="346" r:id="rId48"/>
    <p:sldId id="347" r:id="rId49"/>
    <p:sldId id="348" r:id="rId50"/>
    <p:sldId id="349" r:id="rId51"/>
    <p:sldId id="350" r:id="rId52"/>
    <p:sldId id="351" r:id="rId53"/>
    <p:sldId id="296" r:id="rId54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18601"/>
    <a:srgbClr val="008000"/>
    <a:srgbClr val="800000"/>
    <a:srgbClr val="FF33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15" autoAdjust="0"/>
  </p:normalViewPr>
  <p:slideViewPr>
    <p:cSldViewPr>
      <p:cViewPr varScale="1">
        <p:scale>
          <a:sx n="151" d="100"/>
          <a:sy n="151" d="100"/>
        </p:scale>
        <p:origin x="130" y="101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695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2443059" y="3448764"/>
            <a:ext cx="4145166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16: 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 简介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8617B-A121-4385-A203-242C6BC735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91880" y="156795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630B487-DD99-4A2B-B020-D23EDADB6562}"/>
              </a:ext>
            </a:extLst>
          </p:cNvPr>
          <p:cNvSpPr/>
          <p:nvPr userDrawn="1"/>
        </p:nvSpPr>
        <p:spPr>
          <a:xfrm>
            <a:off x="2752441" y="1560574"/>
            <a:ext cx="455954" cy="455954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23274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1A68F3B8-0E79-4654-B7A4-5714D5DFA6E8}"/>
              </a:ext>
            </a:extLst>
          </p:cNvPr>
          <p:cNvSpPr txBox="1">
            <a:spLocks/>
          </p:cNvSpPr>
          <p:nvPr userDrawn="1"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9A3CF8F5-86DF-4727-8D35-061BD4CCDA4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7E4D0-8682-42B7-956D-6D481AC54E75}" type="datetime1">
              <a:rPr lang="zh-CN" altLang="en-US" smtClean="0"/>
              <a:t>2025/4/14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252370"/>
      </p:ext>
    </p:extLst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  <p:sldLayoutId id="2147483749" r:id="rId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0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3.gif"/><Relationship Id="rId7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45.png"/><Relationship Id="rId4" Type="http://schemas.openxmlformats.org/officeDocument/2006/relationships/image" Target="../media/image44.jpeg"/><Relationship Id="rId9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jpeg"/><Relationship Id="rId9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8.wmf"/><Relationship Id="rId10" Type="http://schemas.openxmlformats.org/officeDocument/2006/relationships/audio" Target="../media/audio1.wav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8.bin"/><Relationship Id="rId9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0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9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z="2400" dirty="0"/>
              <a:t>网络层复习总结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1</a:t>
            </a:r>
            <a:r>
              <a:rPr lang="zh-CN" altLang="en-US" sz="2200" dirty="0">
                <a:effectLst/>
              </a:rPr>
              <a:t>：网络层服务和协议</a:t>
            </a:r>
            <a:endParaRPr lang="en-US" altLang="zh-CN" sz="2200" dirty="0"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sz="1900" dirty="0">
                <a:effectLst/>
              </a:rPr>
              <a:t>提供</a:t>
            </a:r>
            <a:r>
              <a:rPr lang="zh-CN" altLang="en-US" sz="1900" dirty="0">
                <a:solidFill>
                  <a:srgbClr val="FF0000"/>
                </a:solidFill>
                <a:effectLst/>
              </a:rPr>
              <a:t>主机之间</a:t>
            </a:r>
            <a:r>
              <a:rPr lang="zh-CN" altLang="en-US" sz="1900" dirty="0">
                <a:effectLst/>
              </a:rPr>
              <a:t>的逻辑通信</a:t>
            </a:r>
            <a:endParaRPr lang="en-US" altLang="zh-CN" sz="1900" dirty="0"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sz="1900" dirty="0">
                <a:effectLst/>
              </a:rPr>
              <a:t>在</a:t>
            </a:r>
            <a:r>
              <a:rPr lang="zh-CN" altLang="en-US" sz="1900" dirty="0">
                <a:solidFill>
                  <a:srgbClr val="FF3300"/>
                </a:solidFill>
                <a:effectLst/>
              </a:rPr>
              <a:t>端系统</a:t>
            </a:r>
            <a:r>
              <a:rPr lang="zh-CN" altLang="en-US" sz="1900" dirty="0">
                <a:effectLst/>
              </a:rPr>
              <a:t>中</a:t>
            </a:r>
            <a:endParaRPr lang="en-US" altLang="zh-CN" sz="1900" dirty="0"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/>
              <a:t>发送方：</a:t>
            </a:r>
            <a:r>
              <a:rPr lang="zh-CN" altLang="en-US" sz="1500" dirty="0"/>
              <a:t>将报文段封装成</a:t>
            </a:r>
            <a:r>
              <a:rPr lang="zh-CN" altLang="en-US" sz="1500" dirty="0">
                <a:solidFill>
                  <a:srgbClr val="FF0000"/>
                </a:solidFill>
              </a:rPr>
              <a:t>数据报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提交给数据链路层</a:t>
            </a:r>
            <a:endParaRPr lang="en-US" altLang="zh-CN" sz="1500" dirty="0"/>
          </a:p>
          <a:p>
            <a:pPr lvl="2">
              <a:lnSpc>
                <a:spcPct val="110000"/>
              </a:lnSpc>
            </a:pPr>
            <a:r>
              <a:rPr lang="zh-CN" altLang="en-US" sz="1700" dirty="0">
                <a:effectLst/>
              </a:rPr>
              <a:t>接收方：</a:t>
            </a:r>
            <a:r>
              <a:rPr lang="zh-CN" altLang="en-US" sz="1500" dirty="0">
                <a:effectLst/>
              </a:rPr>
              <a:t>将数据报解析成报文</a:t>
            </a:r>
            <a:r>
              <a:rPr lang="zh-CN" altLang="en-US" sz="1500" dirty="0"/>
              <a:t>段</a:t>
            </a:r>
            <a:endParaRPr lang="en-US" altLang="zh-CN" sz="1500" dirty="0">
              <a:effectLst/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提交给运输层</a:t>
            </a:r>
            <a:endParaRPr lang="en-US" altLang="zh-CN" sz="1500" dirty="0"/>
          </a:p>
          <a:p>
            <a:pPr lvl="1">
              <a:lnSpc>
                <a:spcPct val="110000"/>
              </a:lnSpc>
            </a:pPr>
            <a:r>
              <a:rPr lang="zh-CN" altLang="en-US" dirty="0">
                <a:effectLst/>
              </a:rPr>
              <a:t>在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网络核心节点</a:t>
            </a:r>
            <a:r>
              <a:rPr lang="zh-CN" altLang="en-US" dirty="0">
                <a:effectLst/>
              </a:rPr>
              <a:t>中</a:t>
            </a:r>
            <a:endParaRPr lang="en-US" altLang="zh-CN" dirty="0"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sz="1700" dirty="0">
                <a:solidFill>
                  <a:srgbClr val="FF3300"/>
                </a:solidFill>
              </a:rPr>
              <a:t>路由器</a:t>
            </a:r>
            <a:endParaRPr lang="en-US" altLang="zh-CN" sz="1700" dirty="0">
              <a:solidFill>
                <a:srgbClr val="FF3300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转发数据报</a:t>
            </a:r>
            <a:endParaRPr lang="en-US" altLang="zh-CN" sz="1500" dirty="0"/>
          </a:p>
          <a:p>
            <a:pPr lvl="3">
              <a:lnSpc>
                <a:spcPct val="110000"/>
              </a:lnSpc>
            </a:pPr>
            <a:r>
              <a:rPr lang="zh-CN" altLang="en-US" sz="1500" dirty="0">
                <a:effectLst/>
              </a:rPr>
              <a:t>交付到目的主机</a:t>
            </a:r>
            <a:endParaRPr lang="en-US" altLang="zh-CN" sz="1500" dirty="0">
              <a:effectLst/>
            </a:endParaRPr>
          </a:p>
          <a:p>
            <a:pPr lvl="1"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1036" name="Freeform 1285"/>
          <p:cNvSpPr>
            <a:spLocks/>
          </p:cNvSpPr>
          <p:nvPr/>
        </p:nvSpPr>
        <p:spPr bwMode="auto">
          <a:xfrm>
            <a:off x="6123719" y="2980680"/>
            <a:ext cx="985838" cy="506015"/>
          </a:xfrm>
          <a:custGeom>
            <a:avLst/>
            <a:gdLst>
              <a:gd name="T0" fmla="*/ 962699688 w 828"/>
              <a:gd name="T1" fmla="*/ 75604631 h 425"/>
              <a:gd name="T2" fmla="*/ 932457813 w 828"/>
              <a:gd name="T3" fmla="*/ 75604631 h 425"/>
              <a:gd name="T4" fmla="*/ 317539688 w 828"/>
              <a:gd name="T5" fmla="*/ 80644940 h 425"/>
              <a:gd name="T6" fmla="*/ 15120938 w 828"/>
              <a:gd name="T7" fmla="*/ 317539452 h 425"/>
              <a:gd name="T8" fmla="*/ 231854375 w 828"/>
              <a:gd name="T9" fmla="*/ 690522301 h 425"/>
              <a:gd name="T10" fmla="*/ 735885625 w 828"/>
              <a:gd name="T11" fmla="*/ 967739283 h 425"/>
              <a:gd name="T12" fmla="*/ 1360884375 w 828"/>
              <a:gd name="T13" fmla="*/ 1048384223 h 425"/>
              <a:gd name="T14" fmla="*/ 1759069063 w 828"/>
              <a:gd name="T15" fmla="*/ 831650946 h 425"/>
              <a:gd name="T16" fmla="*/ 1955641250 w 828"/>
              <a:gd name="T17" fmla="*/ 428426245 h 425"/>
              <a:gd name="T18" fmla="*/ 1995963750 w 828"/>
              <a:gd name="T19" fmla="*/ 55443396 h 425"/>
              <a:gd name="T20" fmla="*/ 1411287500 w 828"/>
              <a:gd name="T21" fmla="*/ 95765867 h 425"/>
              <a:gd name="T22" fmla="*/ 962699688 w 828"/>
              <a:gd name="T23" fmla="*/ 75604631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7" name="Freeform 1286"/>
          <p:cNvSpPr>
            <a:spLocks/>
          </p:cNvSpPr>
          <p:nvPr/>
        </p:nvSpPr>
        <p:spPr bwMode="auto">
          <a:xfrm>
            <a:off x="6138007" y="1836489"/>
            <a:ext cx="1297781" cy="844154"/>
          </a:xfrm>
          <a:custGeom>
            <a:avLst/>
            <a:gdLst>
              <a:gd name="T0" fmla="*/ 2147483647 w 765"/>
              <a:gd name="T1" fmla="*/ 216468667 h 459"/>
              <a:gd name="T2" fmla="*/ 2147483647 w 765"/>
              <a:gd name="T3" fmla="*/ 1551366543 h 459"/>
              <a:gd name="T4" fmla="*/ 1422336583 w 765"/>
              <a:gd name="T5" fmla="*/ 2147483647 h 459"/>
              <a:gd name="T6" fmla="*/ 204652469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763656690 h 459"/>
              <a:gd name="T22" fmla="*/ 2147483647 w 765"/>
              <a:gd name="T23" fmla="*/ 21646866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8" name="Freeform 1287"/>
          <p:cNvSpPr>
            <a:spLocks/>
          </p:cNvSpPr>
          <p:nvPr/>
        </p:nvSpPr>
        <p:spPr bwMode="auto">
          <a:xfrm>
            <a:off x="4772360" y="1617414"/>
            <a:ext cx="1302544" cy="803672"/>
          </a:xfrm>
          <a:custGeom>
            <a:avLst/>
            <a:gdLst>
              <a:gd name="T0" fmla="*/ 2141398689 w 1036"/>
              <a:gd name="T1" fmla="*/ 27720938 h 675"/>
              <a:gd name="T2" fmla="*/ 1289897173 w 1036"/>
              <a:gd name="T3" fmla="*/ 133567550 h 675"/>
              <a:gd name="T4" fmla="*/ 682886640 w 1036"/>
              <a:gd name="T5" fmla="*/ 325099514 h 675"/>
              <a:gd name="T6" fmla="*/ 505842949 w 1036"/>
              <a:gd name="T7" fmla="*/ 577115257 h 675"/>
              <a:gd name="T8" fmla="*/ 70255220 w 1036"/>
              <a:gd name="T9" fmla="*/ 748485962 h 675"/>
              <a:gd name="T10" fmla="*/ 59015122 w 1036"/>
              <a:gd name="T11" fmla="*/ 1156751465 h 675"/>
              <a:gd name="T12" fmla="*/ 435586053 w 1036"/>
              <a:gd name="T13" fmla="*/ 1232356188 h 675"/>
              <a:gd name="T14" fmla="*/ 1517527171 w 1036"/>
              <a:gd name="T15" fmla="*/ 1232356188 h 675"/>
              <a:gd name="T16" fmla="*/ 1975595095 w 1036"/>
              <a:gd name="T17" fmla="*/ 1398686578 h 675"/>
              <a:gd name="T18" fmla="*/ 2147483647 w 1036"/>
              <a:gd name="T19" fmla="*/ 1655742635 h 675"/>
              <a:gd name="T20" fmla="*/ 2147483647 w 1036"/>
              <a:gd name="T21" fmla="*/ 1665823265 h 675"/>
              <a:gd name="T22" fmla="*/ 2147483647 w 1036"/>
              <a:gd name="T23" fmla="*/ 1519654134 h 675"/>
              <a:gd name="T24" fmla="*/ 2147483647 w 1036"/>
              <a:gd name="T25" fmla="*/ 1121469261 h 675"/>
              <a:gd name="T26" fmla="*/ 2147483647 w 1036"/>
              <a:gd name="T27" fmla="*/ 733365017 h 675"/>
              <a:gd name="T28" fmla="*/ 2147483647 w 1036"/>
              <a:gd name="T29" fmla="*/ 269656051 h 675"/>
              <a:gd name="T30" fmla="*/ 2147483647 w 1036"/>
              <a:gd name="T31" fmla="*/ 42841882 h 675"/>
              <a:gd name="T32" fmla="*/ 2147483647 w 1036"/>
              <a:gd name="T33" fmla="*/ 7559679 h 675"/>
              <a:gd name="T34" fmla="*/ 2141398689 w 1036"/>
              <a:gd name="T35" fmla="*/ 27720938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039" name="Group 1288"/>
          <p:cNvGrpSpPr>
            <a:grpSpLocks/>
          </p:cNvGrpSpPr>
          <p:nvPr/>
        </p:nvGrpSpPr>
        <p:grpSpPr bwMode="auto">
          <a:xfrm>
            <a:off x="4829510" y="2566342"/>
            <a:ext cx="1094185" cy="700088"/>
            <a:chOff x="2889" y="1631"/>
            <a:chExt cx="980" cy="743"/>
          </a:xfrm>
        </p:grpSpPr>
        <p:sp>
          <p:nvSpPr>
            <p:cNvPr id="1040" name="Rectangle 128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041" name="AutoShape 129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solidFill>
                  <a:srgbClr val="00CCFF"/>
                </a:solidFill>
              </a:endParaRPr>
            </a:p>
          </p:txBody>
        </p:sp>
      </p:grpSp>
      <p:sp>
        <p:nvSpPr>
          <p:cNvPr id="1042" name="Line 1291"/>
          <p:cNvSpPr>
            <a:spLocks noChangeShapeType="1"/>
          </p:cNvSpPr>
          <p:nvPr/>
        </p:nvSpPr>
        <p:spPr bwMode="auto">
          <a:xfrm>
            <a:off x="6417804" y="3194992"/>
            <a:ext cx="122635" cy="9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3" name="Line 1292"/>
          <p:cNvSpPr>
            <a:spLocks noChangeShapeType="1"/>
          </p:cNvSpPr>
          <p:nvPr/>
        </p:nvSpPr>
        <p:spPr bwMode="auto">
          <a:xfrm>
            <a:off x="6490432" y="3135461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4" name="Line 1293"/>
          <p:cNvSpPr>
            <a:spLocks noChangeShapeType="1"/>
          </p:cNvSpPr>
          <p:nvPr/>
        </p:nvSpPr>
        <p:spPr bwMode="auto">
          <a:xfrm flipV="1">
            <a:off x="6667834" y="3199755"/>
            <a:ext cx="101204" cy="785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5" name="Line 1294"/>
          <p:cNvSpPr>
            <a:spLocks noChangeShapeType="1"/>
          </p:cNvSpPr>
          <p:nvPr/>
        </p:nvSpPr>
        <p:spPr bwMode="auto">
          <a:xfrm>
            <a:off x="5691522" y="3140224"/>
            <a:ext cx="50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6" name="Line 1295"/>
          <p:cNvSpPr>
            <a:spLocks noChangeShapeType="1"/>
          </p:cNvSpPr>
          <p:nvPr/>
        </p:nvSpPr>
        <p:spPr bwMode="auto">
          <a:xfrm>
            <a:off x="5912978" y="2275830"/>
            <a:ext cx="382191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7" name="Line 1296"/>
          <p:cNvSpPr>
            <a:spLocks noChangeShapeType="1"/>
          </p:cNvSpPr>
          <p:nvPr/>
        </p:nvSpPr>
        <p:spPr bwMode="auto">
          <a:xfrm>
            <a:off x="5587938" y="2137717"/>
            <a:ext cx="11430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8" name="Freeform 1297"/>
          <p:cNvSpPr>
            <a:spLocks/>
          </p:cNvSpPr>
          <p:nvPr/>
        </p:nvSpPr>
        <p:spPr bwMode="auto">
          <a:xfrm>
            <a:off x="4993816" y="3618855"/>
            <a:ext cx="2309813" cy="1248965"/>
          </a:xfrm>
          <a:custGeom>
            <a:avLst/>
            <a:gdLst>
              <a:gd name="T0" fmla="*/ 2147483647 w 1940"/>
              <a:gd name="T1" fmla="*/ 65524043 h 1049"/>
              <a:gd name="T2" fmla="*/ 1902718763 w 1940"/>
              <a:gd name="T3" fmla="*/ 315018643 h 1049"/>
              <a:gd name="T4" fmla="*/ 1229836250 w 1940"/>
              <a:gd name="T5" fmla="*/ 171370574 h 1049"/>
              <a:gd name="T6" fmla="*/ 398184688 w 1940"/>
              <a:gd name="T7" fmla="*/ 254534911 h 1049"/>
              <a:gd name="T8" fmla="*/ 35282188 w 1940"/>
              <a:gd name="T9" fmla="*/ 980339693 h 1049"/>
              <a:gd name="T10" fmla="*/ 178931888 w 1940"/>
              <a:gd name="T11" fmla="*/ 1633060760 h 1049"/>
              <a:gd name="T12" fmla="*/ 725805000 w 1940"/>
              <a:gd name="T13" fmla="*/ 1779229778 h 1049"/>
              <a:gd name="T14" fmla="*/ 1431448750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1799391022 h 1049"/>
              <a:gd name="T24" fmla="*/ 2147483647 w 1940"/>
              <a:gd name="T25" fmla="*/ 632558235 h 1049"/>
              <a:gd name="T26" fmla="*/ 2147483647 w 1940"/>
              <a:gd name="T27" fmla="*/ 287297726 h 1049"/>
              <a:gd name="T28" fmla="*/ 2147483647 w 1940"/>
              <a:gd name="T29" fmla="*/ 37801539 h 1049"/>
              <a:gd name="T30" fmla="*/ 2147483647 w 1940"/>
              <a:gd name="T31" fmla="*/ 65524043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49" name="Line 1298"/>
          <p:cNvSpPr>
            <a:spLocks noChangeShapeType="1"/>
          </p:cNvSpPr>
          <p:nvPr/>
        </p:nvSpPr>
        <p:spPr bwMode="auto">
          <a:xfrm rot="16200000" flipV="1">
            <a:off x="6718436" y="4273103"/>
            <a:ext cx="355997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0" name="Line 1299"/>
          <p:cNvSpPr>
            <a:spLocks noChangeShapeType="1"/>
          </p:cNvSpPr>
          <p:nvPr/>
        </p:nvSpPr>
        <p:spPr bwMode="auto">
          <a:xfrm rot="5400000" flipV="1">
            <a:off x="6864289" y="4415383"/>
            <a:ext cx="2381" cy="64294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1" name="Line 1300"/>
          <p:cNvSpPr>
            <a:spLocks noChangeShapeType="1"/>
          </p:cNvSpPr>
          <p:nvPr/>
        </p:nvSpPr>
        <p:spPr bwMode="auto">
          <a:xfrm rot="16200000" flipH="1">
            <a:off x="6945250" y="4114155"/>
            <a:ext cx="145256" cy="5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2" name="Line 1301"/>
          <p:cNvSpPr>
            <a:spLocks noChangeShapeType="1"/>
          </p:cNvSpPr>
          <p:nvPr/>
        </p:nvSpPr>
        <p:spPr bwMode="auto">
          <a:xfrm>
            <a:off x="6389229" y="3858170"/>
            <a:ext cx="292894" cy="138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3" name="Line 1302"/>
          <p:cNvSpPr>
            <a:spLocks noChangeShapeType="1"/>
          </p:cNvSpPr>
          <p:nvPr/>
        </p:nvSpPr>
        <p:spPr bwMode="auto">
          <a:xfrm flipV="1">
            <a:off x="5923694" y="3848645"/>
            <a:ext cx="241697" cy="1488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4" name="Line 1303"/>
          <p:cNvSpPr>
            <a:spLocks noChangeShapeType="1"/>
          </p:cNvSpPr>
          <p:nvPr/>
        </p:nvSpPr>
        <p:spPr bwMode="auto">
          <a:xfrm flipV="1">
            <a:off x="5955841" y="4067720"/>
            <a:ext cx="728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5" name="Line 1305"/>
          <p:cNvSpPr>
            <a:spLocks noChangeShapeType="1"/>
          </p:cNvSpPr>
          <p:nvPr/>
        </p:nvSpPr>
        <p:spPr bwMode="auto">
          <a:xfrm>
            <a:off x="5446254" y="3915320"/>
            <a:ext cx="175022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6" name="Line 1306"/>
          <p:cNvSpPr>
            <a:spLocks noChangeShapeType="1"/>
          </p:cNvSpPr>
          <p:nvPr/>
        </p:nvSpPr>
        <p:spPr bwMode="auto">
          <a:xfrm flipV="1">
            <a:off x="5252182" y="4092724"/>
            <a:ext cx="302419" cy="75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7" name="Line 1309"/>
          <p:cNvSpPr>
            <a:spLocks noChangeShapeType="1"/>
          </p:cNvSpPr>
          <p:nvPr/>
        </p:nvSpPr>
        <p:spPr bwMode="auto">
          <a:xfrm flipH="1">
            <a:off x="5571269" y="4134395"/>
            <a:ext cx="13335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8" name="Line 1310"/>
          <p:cNvSpPr>
            <a:spLocks noChangeShapeType="1"/>
          </p:cNvSpPr>
          <p:nvPr/>
        </p:nvSpPr>
        <p:spPr bwMode="auto">
          <a:xfrm flipH="1" flipV="1">
            <a:off x="5866545" y="4122489"/>
            <a:ext cx="1190" cy="1654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9" name="Line 1311"/>
          <p:cNvSpPr>
            <a:spLocks noChangeShapeType="1"/>
          </p:cNvSpPr>
          <p:nvPr/>
        </p:nvSpPr>
        <p:spPr bwMode="auto">
          <a:xfrm>
            <a:off x="5928457" y="4124871"/>
            <a:ext cx="377428" cy="2024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0" name="Line 1313"/>
          <p:cNvSpPr>
            <a:spLocks noChangeShapeType="1"/>
          </p:cNvSpPr>
          <p:nvPr/>
        </p:nvSpPr>
        <p:spPr bwMode="auto">
          <a:xfrm>
            <a:off x="5581985" y="2977108"/>
            <a:ext cx="0" cy="98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1" name="Line 1314"/>
          <p:cNvSpPr>
            <a:spLocks noChangeShapeType="1"/>
          </p:cNvSpPr>
          <p:nvPr/>
        </p:nvSpPr>
        <p:spPr bwMode="auto">
          <a:xfrm flipV="1">
            <a:off x="6553535" y="2204392"/>
            <a:ext cx="92869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2" name="Line 1315"/>
          <p:cNvSpPr>
            <a:spLocks noChangeShapeType="1"/>
          </p:cNvSpPr>
          <p:nvPr/>
        </p:nvSpPr>
        <p:spPr bwMode="auto">
          <a:xfrm>
            <a:off x="6424947" y="2334170"/>
            <a:ext cx="0" cy="61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3" name="Line 1316"/>
          <p:cNvSpPr>
            <a:spLocks noChangeShapeType="1"/>
          </p:cNvSpPr>
          <p:nvPr/>
        </p:nvSpPr>
        <p:spPr bwMode="auto">
          <a:xfrm flipV="1">
            <a:off x="6553535" y="2256780"/>
            <a:ext cx="197644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4" name="Line 1317"/>
          <p:cNvSpPr>
            <a:spLocks noChangeShapeType="1"/>
          </p:cNvSpPr>
          <p:nvPr/>
        </p:nvSpPr>
        <p:spPr bwMode="auto">
          <a:xfrm>
            <a:off x="6827378" y="2255589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5" name="Line 1318"/>
          <p:cNvSpPr>
            <a:spLocks noChangeShapeType="1"/>
          </p:cNvSpPr>
          <p:nvPr/>
        </p:nvSpPr>
        <p:spPr bwMode="auto">
          <a:xfrm>
            <a:off x="6567822" y="2485380"/>
            <a:ext cx="1416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6" name="Line 1319"/>
          <p:cNvSpPr>
            <a:spLocks noChangeShapeType="1"/>
          </p:cNvSpPr>
          <p:nvPr/>
        </p:nvSpPr>
        <p:spPr bwMode="auto">
          <a:xfrm flipV="1">
            <a:off x="5289091" y="3135462"/>
            <a:ext cx="126206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7" name="Line 1320"/>
          <p:cNvSpPr>
            <a:spLocks noChangeShapeType="1"/>
          </p:cNvSpPr>
          <p:nvPr/>
        </p:nvSpPr>
        <p:spPr bwMode="auto">
          <a:xfrm>
            <a:off x="6983351" y="2478236"/>
            <a:ext cx="13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8" name="Line 1321"/>
          <p:cNvSpPr>
            <a:spLocks noChangeShapeType="1"/>
          </p:cNvSpPr>
          <p:nvPr/>
        </p:nvSpPr>
        <p:spPr bwMode="auto">
          <a:xfrm flipH="1">
            <a:off x="6342795" y="2535386"/>
            <a:ext cx="73819" cy="52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9" name="Line 1322"/>
          <p:cNvSpPr>
            <a:spLocks noChangeShapeType="1"/>
          </p:cNvSpPr>
          <p:nvPr/>
        </p:nvSpPr>
        <p:spPr bwMode="auto">
          <a:xfrm flipH="1">
            <a:off x="6786897" y="2535387"/>
            <a:ext cx="83344" cy="5453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70" name="Line 1323"/>
          <p:cNvSpPr>
            <a:spLocks noChangeShapeType="1"/>
          </p:cNvSpPr>
          <p:nvPr/>
        </p:nvSpPr>
        <p:spPr bwMode="auto">
          <a:xfrm flipV="1">
            <a:off x="6324935" y="3391446"/>
            <a:ext cx="170260" cy="3274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grpSp>
        <p:nvGrpSpPr>
          <p:cNvPr id="1071" name="Group 1324"/>
          <p:cNvGrpSpPr>
            <a:grpSpLocks/>
          </p:cNvGrpSpPr>
          <p:nvPr/>
        </p:nvGrpSpPr>
        <p:grpSpPr bwMode="auto">
          <a:xfrm flipH="1">
            <a:off x="5202176" y="3735536"/>
            <a:ext cx="310753" cy="279797"/>
            <a:chOff x="2839" y="3501"/>
            <a:chExt cx="755" cy="803"/>
          </a:xfrm>
        </p:grpSpPr>
        <p:pic>
          <p:nvPicPr>
            <p:cNvPr id="1072" name="Picture 1325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3" name="Freeform 1326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74" name="Group 1327"/>
          <p:cNvGrpSpPr>
            <a:grpSpLocks/>
          </p:cNvGrpSpPr>
          <p:nvPr/>
        </p:nvGrpSpPr>
        <p:grpSpPr bwMode="auto">
          <a:xfrm flipH="1">
            <a:off x="4964051" y="4051051"/>
            <a:ext cx="361950" cy="304800"/>
            <a:chOff x="2839" y="3501"/>
            <a:chExt cx="755" cy="803"/>
          </a:xfrm>
        </p:grpSpPr>
        <p:pic>
          <p:nvPicPr>
            <p:cNvPr id="1075" name="Picture 1328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6" name="Freeform 1329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77" name="Group 1330"/>
          <p:cNvGrpSpPr>
            <a:grpSpLocks/>
          </p:cNvGrpSpPr>
          <p:nvPr/>
        </p:nvGrpSpPr>
        <p:grpSpPr bwMode="auto">
          <a:xfrm flipH="1">
            <a:off x="5322428" y="4277270"/>
            <a:ext cx="320279" cy="261938"/>
            <a:chOff x="2839" y="3501"/>
            <a:chExt cx="755" cy="803"/>
          </a:xfrm>
        </p:grpSpPr>
        <p:pic>
          <p:nvPicPr>
            <p:cNvPr id="1078" name="Picture 1331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9" name="Freeform 133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80" name="Group 1333"/>
          <p:cNvGrpSpPr>
            <a:grpSpLocks/>
          </p:cNvGrpSpPr>
          <p:nvPr/>
        </p:nvGrpSpPr>
        <p:grpSpPr bwMode="auto">
          <a:xfrm>
            <a:off x="5783201" y="4264174"/>
            <a:ext cx="320278" cy="263128"/>
            <a:chOff x="2839" y="3501"/>
            <a:chExt cx="755" cy="803"/>
          </a:xfrm>
        </p:grpSpPr>
        <p:pic>
          <p:nvPicPr>
            <p:cNvPr id="1081" name="Picture 1334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2" name="Freeform 1335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pic>
        <p:nvPicPr>
          <p:cNvPr id="1083" name="Picture 1336" descr="car_icon_smal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229" y="1625749"/>
            <a:ext cx="636985" cy="1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84" name="Group 1337"/>
          <p:cNvGrpSpPr>
            <a:grpSpLocks/>
          </p:cNvGrpSpPr>
          <p:nvPr/>
        </p:nvGrpSpPr>
        <p:grpSpPr bwMode="auto">
          <a:xfrm>
            <a:off x="5080732" y="1494780"/>
            <a:ext cx="311944" cy="289322"/>
            <a:chOff x="2751" y="1851"/>
            <a:chExt cx="462" cy="478"/>
          </a:xfrm>
        </p:grpSpPr>
        <p:pic>
          <p:nvPicPr>
            <p:cNvPr id="1085" name="Picture 1338" descr="iphone_stylized_smal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6" name="Picture 1339" descr="antenna_radiation_styliz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7" name="Group 1340"/>
          <p:cNvGrpSpPr>
            <a:grpSpLocks/>
          </p:cNvGrpSpPr>
          <p:nvPr/>
        </p:nvGrpSpPr>
        <p:grpSpPr bwMode="auto">
          <a:xfrm>
            <a:off x="6638070" y="2131764"/>
            <a:ext cx="292894" cy="127397"/>
            <a:chOff x="4650" y="1129"/>
            <a:chExt cx="246" cy="95"/>
          </a:xfrm>
        </p:grpSpPr>
        <p:sp>
          <p:nvSpPr>
            <p:cNvPr id="108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8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091" name="Group 1344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094" name="Freeform 134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95" name="Freeform 134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092" name="Line 1347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093" name="Line 1348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96" name="Group 1349"/>
          <p:cNvGrpSpPr>
            <a:grpSpLocks/>
          </p:cNvGrpSpPr>
          <p:nvPr/>
        </p:nvGrpSpPr>
        <p:grpSpPr bwMode="auto">
          <a:xfrm>
            <a:off x="6692838" y="2403227"/>
            <a:ext cx="292894" cy="132160"/>
            <a:chOff x="4650" y="1129"/>
            <a:chExt cx="246" cy="95"/>
          </a:xfrm>
        </p:grpSpPr>
        <p:sp>
          <p:nvSpPr>
            <p:cNvPr id="109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00" name="Group 1353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03" name="Freeform 135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04" name="Freeform 135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01" name="Line 1356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02" name="Line 1357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5" name="Group 1358"/>
          <p:cNvGrpSpPr>
            <a:grpSpLocks/>
          </p:cNvGrpSpPr>
          <p:nvPr/>
        </p:nvGrpSpPr>
        <p:grpSpPr bwMode="auto">
          <a:xfrm>
            <a:off x="6273738" y="2205583"/>
            <a:ext cx="292894" cy="127397"/>
            <a:chOff x="4650" y="1129"/>
            <a:chExt cx="246" cy="95"/>
          </a:xfrm>
        </p:grpSpPr>
        <p:sp>
          <p:nvSpPr>
            <p:cNvPr id="1106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07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08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09" name="Group 136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12" name="Freeform 136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13" name="Freeform 136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10" name="Line 136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" name="Line 136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4" name="Group 1367"/>
          <p:cNvGrpSpPr>
            <a:grpSpLocks/>
          </p:cNvGrpSpPr>
          <p:nvPr/>
        </p:nvGrpSpPr>
        <p:grpSpPr bwMode="auto">
          <a:xfrm>
            <a:off x="6282072" y="2403227"/>
            <a:ext cx="292894" cy="127397"/>
            <a:chOff x="4650" y="1129"/>
            <a:chExt cx="246" cy="95"/>
          </a:xfrm>
        </p:grpSpPr>
        <p:sp>
          <p:nvSpPr>
            <p:cNvPr id="111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1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1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18" name="Group 1371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21" name="Freeform 137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22" name="Freeform 137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19" name="Line 1374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20" name="Line 1375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23" name="Line 1376"/>
          <p:cNvSpPr>
            <a:spLocks noChangeShapeType="1"/>
          </p:cNvSpPr>
          <p:nvPr/>
        </p:nvSpPr>
        <p:spPr bwMode="auto">
          <a:xfrm>
            <a:off x="7129797" y="2477045"/>
            <a:ext cx="1333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grpSp>
        <p:nvGrpSpPr>
          <p:cNvPr id="1124" name="Group 1377"/>
          <p:cNvGrpSpPr>
            <a:grpSpLocks/>
          </p:cNvGrpSpPr>
          <p:nvPr/>
        </p:nvGrpSpPr>
        <p:grpSpPr bwMode="auto">
          <a:xfrm>
            <a:off x="6421376" y="3268811"/>
            <a:ext cx="364331" cy="152400"/>
            <a:chOff x="4650" y="1129"/>
            <a:chExt cx="246" cy="95"/>
          </a:xfrm>
        </p:grpSpPr>
        <p:sp>
          <p:nvSpPr>
            <p:cNvPr id="112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2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2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28" name="Group 1381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31" name="Freeform 138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32" name="Freeform 138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29" name="Line 1384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30" name="Line 1385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33" name="Group 1386"/>
          <p:cNvGrpSpPr>
            <a:grpSpLocks/>
          </p:cNvGrpSpPr>
          <p:nvPr/>
        </p:nvGrpSpPr>
        <p:grpSpPr bwMode="auto">
          <a:xfrm>
            <a:off x="6182060" y="3058070"/>
            <a:ext cx="364331" cy="152400"/>
            <a:chOff x="4650" y="1129"/>
            <a:chExt cx="246" cy="95"/>
          </a:xfrm>
        </p:grpSpPr>
        <p:sp>
          <p:nvSpPr>
            <p:cNvPr id="113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37" name="Group 1390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40" name="Freeform 139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41" name="Freeform 139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38" name="Line 1393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39" name="Line 1394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42" name="Group 1395"/>
          <p:cNvGrpSpPr>
            <a:grpSpLocks/>
          </p:cNvGrpSpPr>
          <p:nvPr/>
        </p:nvGrpSpPr>
        <p:grpSpPr bwMode="auto">
          <a:xfrm>
            <a:off x="6678551" y="3067595"/>
            <a:ext cx="364331" cy="152400"/>
            <a:chOff x="4650" y="1129"/>
            <a:chExt cx="246" cy="95"/>
          </a:xfrm>
        </p:grpSpPr>
        <p:sp>
          <p:nvSpPr>
            <p:cNvPr id="114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4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4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46" name="Group 139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49" name="Freeform 140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50" name="Freeform 140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47" name="Line 140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48" name="Line 140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51" name="Group 1404"/>
          <p:cNvGrpSpPr>
            <a:grpSpLocks/>
          </p:cNvGrpSpPr>
          <p:nvPr/>
        </p:nvGrpSpPr>
        <p:grpSpPr bwMode="auto">
          <a:xfrm>
            <a:off x="6092763" y="3714105"/>
            <a:ext cx="464344" cy="182165"/>
            <a:chOff x="4650" y="1129"/>
            <a:chExt cx="246" cy="95"/>
          </a:xfrm>
        </p:grpSpPr>
        <p:sp>
          <p:nvSpPr>
            <p:cNvPr id="115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5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5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55" name="Group 1408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58" name="Freeform 140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59" name="Freeform 141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56" name="Line 1411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" name="Line 1412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60" name="Group 1413"/>
          <p:cNvGrpSpPr>
            <a:grpSpLocks/>
          </p:cNvGrpSpPr>
          <p:nvPr/>
        </p:nvGrpSpPr>
        <p:grpSpPr bwMode="auto">
          <a:xfrm>
            <a:off x="6567822" y="3937943"/>
            <a:ext cx="464344" cy="182165"/>
            <a:chOff x="4650" y="1129"/>
            <a:chExt cx="246" cy="95"/>
          </a:xfrm>
        </p:grpSpPr>
        <p:sp>
          <p:nvSpPr>
            <p:cNvPr id="116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64" name="Group 1417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67" name="Freeform 141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68" name="Freeform 141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65" name="Line 1420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66" name="Line 1421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69" name="Group 1422"/>
          <p:cNvGrpSpPr>
            <a:grpSpLocks/>
          </p:cNvGrpSpPr>
          <p:nvPr/>
        </p:nvGrpSpPr>
        <p:grpSpPr bwMode="auto">
          <a:xfrm>
            <a:off x="5555791" y="3971280"/>
            <a:ext cx="464344" cy="182165"/>
            <a:chOff x="4650" y="1129"/>
            <a:chExt cx="246" cy="95"/>
          </a:xfrm>
        </p:grpSpPr>
        <p:sp>
          <p:nvSpPr>
            <p:cNvPr id="1170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1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2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73" name="Group 1426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76" name="Freeform 142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77" name="Freeform 142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74" name="Line 1429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75" name="Line 1430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78" name="Group 1431"/>
          <p:cNvGrpSpPr>
            <a:grpSpLocks/>
          </p:cNvGrpSpPr>
          <p:nvPr/>
        </p:nvGrpSpPr>
        <p:grpSpPr bwMode="auto">
          <a:xfrm>
            <a:off x="5410535" y="3065214"/>
            <a:ext cx="292894" cy="127397"/>
            <a:chOff x="4650" y="1129"/>
            <a:chExt cx="246" cy="95"/>
          </a:xfrm>
        </p:grpSpPr>
        <p:sp>
          <p:nvSpPr>
            <p:cNvPr id="117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82" name="Group 1435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85" name="Freeform 143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86" name="Freeform 143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83" name="Line 1438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84" name="Line 1439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87" name="Group 1440"/>
          <p:cNvGrpSpPr>
            <a:grpSpLocks/>
          </p:cNvGrpSpPr>
          <p:nvPr/>
        </p:nvGrpSpPr>
        <p:grpSpPr bwMode="auto">
          <a:xfrm>
            <a:off x="5635563" y="2200821"/>
            <a:ext cx="292894" cy="127397"/>
            <a:chOff x="4650" y="1129"/>
            <a:chExt cx="246" cy="95"/>
          </a:xfrm>
        </p:grpSpPr>
        <p:sp>
          <p:nvSpPr>
            <p:cNvPr id="118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9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91" name="Group 1444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94" name="Freeform 144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95" name="Freeform 144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92" name="Line 1447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93" name="Line 1448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96" name="Group 1449"/>
          <p:cNvGrpSpPr>
            <a:grpSpLocks/>
          </p:cNvGrpSpPr>
          <p:nvPr/>
        </p:nvGrpSpPr>
        <p:grpSpPr bwMode="auto">
          <a:xfrm>
            <a:off x="5079541" y="2960439"/>
            <a:ext cx="379810" cy="264319"/>
            <a:chOff x="2967" y="478"/>
            <a:chExt cx="788" cy="625"/>
          </a:xfrm>
        </p:grpSpPr>
        <p:pic>
          <p:nvPicPr>
            <p:cNvPr id="1197" name="Picture 1450" descr="access_point_stylized_small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8" name="Picture 1451" descr="antenna_radiation_styliz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99" name="Group 1452"/>
          <p:cNvGrpSpPr>
            <a:grpSpLocks/>
          </p:cNvGrpSpPr>
          <p:nvPr/>
        </p:nvGrpSpPr>
        <p:grpSpPr bwMode="auto">
          <a:xfrm>
            <a:off x="6220160" y="4087962"/>
            <a:ext cx="422672" cy="315515"/>
            <a:chOff x="2967" y="478"/>
            <a:chExt cx="788" cy="625"/>
          </a:xfrm>
        </p:grpSpPr>
        <p:pic>
          <p:nvPicPr>
            <p:cNvPr id="1200" name="Picture 1453" descr="access_point_stylized_small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1" name="Picture 1454" descr="antenna_radiation_stylized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02" name="Group 1455"/>
          <p:cNvGrpSpPr>
            <a:grpSpLocks/>
          </p:cNvGrpSpPr>
          <p:nvPr/>
        </p:nvGrpSpPr>
        <p:grpSpPr bwMode="auto">
          <a:xfrm>
            <a:off x="5416488" y="1718618"/>
            <a:ext cx="342900" cy="473869"/>
            <a:chOff x="742" y="2409"/>
            <a:chExt cx="576" cy="881"/>
          </a:xfrm>
        </p:grpSpPr>
        <p:grpSp>
          <p:nvGrpSpPr>
            <p:cNvPr id="1203" name="Group 1456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206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7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8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9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0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1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2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3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4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5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6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7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8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9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20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pic>
          <p:nvPicPr>
            <p:cNvPr id="1204" name="Picture 1472" descr="cell_tower_radiation copy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5" name="Oval 1473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21" name="Group 1474"/>
          <p:cNvGrpSpPr>
            <a:grpSpLocks/>
          </p:cNvGrpSpPr>
          <p:nvPr/>
        </p:nvGrpSpPr>
        <p:grpSpPr bwMode="auto">
          <a:xfrm>
            <a:off x="7051216" y="4086770"/>
            <a:ext cx="170260" cy="360760"/>
            <a:chOff x="4140" y="429"/>
            <a:chExt cx="1425" cy="2396"/>
          </a:xfrm>
        </p:grpSpPr>
        <p:sp>
          <p:nvSpPr>
            <p:cNvPr id="1222" name="Freeform 147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3" name="Rectangle 1476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24" name="Freeform 147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5" name="Freeform 147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6" name="Rectangle 1479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27" name="Group 148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52" name="AutoShape 148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53" name="AutoShape 1482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28" name="Rectangle 1483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29" name="Group 148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50" name="AutoShape 1485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51" name="AutoShape 1486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0" name="Rectangle 1487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1" name="Rectangle 1488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32" name="Group 148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48" name="AutoShape 1490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49" name="AutoShape 1491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3" name="Freeform 149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34" name="Group 149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46" name="AutoShape 1494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47" name="AutoShape 1495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5" name="Rectangle 1496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6" name="Freeform 149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7" name="Freeform 149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8" name="Oval 1499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9" name="Freeform 150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0" name="AutoShape 1501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1" name="AutoShape 1502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2" name="Oval 1503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3" name="Oval 1504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44" name="Oval 1505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5" name="Rectangle 1506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54" name="Group 1507"/>
          <p:cNvGrpSpPr>
            <a:grpSpLocks/>
          </p:cNvGrpSpPr>
          <p:nvPr/>
        </p:nvGrpSpPr>
        <p:grpSpPr bwMode="auto">
          <a:xfrm>
            <a:off x="6814282" y="4312989"/>
            <a:ext cx="170259" cy="360760"/>
            <a:chOff x="4140" y="429"/>
            <a:chExt cx="1425" cy="2396"/>
          </a:xfrm>
        </p:grpSpPr>
        <p:sp>
          <p:nvSpPr>
            <p:cNvPr id="1255" name="Freeform 150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6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57" name="Freeform 151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8" name="Freeform 151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9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0" name="Group 151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85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6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1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2" name="Group 151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83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4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3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64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5" name="Group 152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81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2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6" name="Freeform 152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67" name="Group 152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79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0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8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69" name="Freeform 153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0" name="Freeform 153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1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2" name="Freeform 153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3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4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5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6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77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8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87" name="Group 1540"/>
          <p:cNvGrpSpPr>
            <a:grpSpLocks/>
          </p:cNvGrpSpPr>
          <p:nvPr/>
        </p:nvGrpSpPr>
        <p:grpSpPr bwMode="auto">
          <a:xfrm>
            <a:off x="4847370" y="1867445"/>
            <a:ext cx="401240" cy="305991"/>
            <a:chOff x="877" y="1008"/>
            <a:chExt cx="2747" cy="2591"/>
          </a:xfrm>
        </p:grpSpPr>
        <p:pic>
          <p:nvPicPr>
            <p:cNvPr id="1288" name="Picture 1541" descr="antenna_stylized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9" name="Picture 1542" descr="laptop_keyboard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0" name="Freeform 1543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291" name="Picture 1544" descr="screen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2" name="Freeform 1545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3" name="Freeform 1546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4" name="Freeform 1547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5" name="Freeform 1548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6" name="Freeform 1549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7" name="Freeform 1550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98" name="Group 1551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05" name="Freeform 1552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6" name="Freeform 1553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7" name="Freeform 1554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8" name="Freeform 1555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9" name="Freeform 1556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10" name="Freeform 1557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299" name="Freeform 1558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0" name="Freeform 1559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1" name="Freeform 1560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2" name="Freeform 1561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3" name="Freeform 1562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4" name="Freeform 1563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11" name="Group 1564"/>
          <p:cNvGrpSpPr>
            <a:grpSpLocks/>
          </p:cNvGrpSpPr>
          <p:nvPr/>
        </p:nvGrpSpPr>
        <p:grpSpPr bwMode="auto">
          <a:xfrm>
            <a:off x="6024898" y="4449912"/>
            <a:ext cx="355997" cy="305990"/>
            <a:chOff x="877" y="1008"/>
            <a:chExt cx="2747" cy="2591"/>
          </a:xfrm>
        </p:grpSpPr>
        <p:pic>
          <p:nvPicPr>
            <p:cNvPr id="1312" name="Picture 1565" descr="antenna_styliz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3" name="Picture 1566" descr="laptop_keyboard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4" name="Freeform 156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15" name="Picture 1568" descr="screen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6" name="Freeform 156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7" name="Freeform 157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8" name="Freeform 157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9" name="Freeform 157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0" name="Freeform 157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1" name="Freeform 157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22" name="Group 157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29" name="Freeform 157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0" name="Freeform 157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1" name="Freeform 157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2" name="Freeform 157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3" name="Freeform 158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4" name="Freeform 158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23" name="Freeform 158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4" name="Freeform 158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5" name="Freeform 158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6" name="Freeform 158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7" name="Freeform 158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8" name="Freeform 158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5" name="Group 1588"/>
          <p:cNvGrpSpPr>
            <a:grpSpLocks/>
          </p:cNvGrpSpPr>
          <p:nvPr/>
        </p:nvGrpSpPr>
        <p:grpSpPr bwMode="auto">
          <a:xfrm>
            <a:off x="5041441" y="2616349"/>
            <a:ext cx="333375" cy="305990"/>
            <a:chOff x="877" y="1008"/>
            <a:chExt cx="2747" cy="2591"/>
          </a:xfrm>
        </p:grpSpPr>
        <p:pic>
          <p:nvPicPr>
            <p:cNvPr id="1336" name="Picture 1589" descr="antenna_stylized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" name="Picture 1590" descr="laptop_keyboard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8" name="Freeform 1591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39" name="Picture 1592" descr="screen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0" name="Freeform 1593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1" name="Freeform 1594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2" name="Freeform 1595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3" name="Freeform 1596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4" name="Freeform 1597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5" name="Freeform 1598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46" name="Group 1599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53" name="Freeform 1600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4" name="Freeform 1601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5" name="Freeform 1602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6" name="Freeform 1603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7" name="Freeform 1604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8" name="Freeform 1605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47" name="Freeform 1606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8" name="Freeform 1607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9" name="Freeform 1608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0" name="Freeform 1609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1" name="Freeform 1610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2" name="Freeform 1611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59" name="Group 1612"/>
          <p:cNvGrpSpPr>
            <a:grpSpLocks/>
          </p:cNvGrpSpPr>
          <p:nvPr/>
        </p:nvGrpSpPr>
        <p:grpSpPr bwMode="auto">
          <a:xfrm flipH="1">
            <a:off x="5326001" y="2752080"/>
            <a:ext cx="310753" cy="279797"/>
            <a:chOff x="2839" y="3501"/>
            <a:chExt cx="755" cy="803"/>
          </a:xfrm>
        </p:grpSpPr>
        <p:pic>
          <p:nvPicPr>
            <p:cNvPr id="1360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1" name="Freeform 161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362" name="Group 1615"/>
          <p:cNvGrpSpPr>
            <a:grpSpLocks/>
          </p:cNvGrpSpPr>
          <p:nvPr/>
        </p:nvGrpSpPr>
        <p:grpSpPr bwMode="auto">
          <a:xfrm>
            <a:off x="6351129" y="4402287"/>
            <a:ext cx="355997" cy="305990"/>
            <a:chOff x="877" y="1008"/>
            <a:chExt cx="2747" cy="2591"/>
          </a:xfrm>
        </p:grpSpPr>
        <p:pic>
          <p:nvPicPr>
            <p:cNvPr id="1363" name="Picture 1616" descr="antenna_styliz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4" name="Picture 1617" descr="laptop_keyboard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5" name="Freeform 1618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66" name="Picture 1619" descr="screen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7" name="Freeform 1620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8" name="Freeform 1621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9" name="Freeform 1622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0" name="Freeform 1623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1" name="Freeform 1624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2" name="Freeform 1625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73" name="Group 1626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80" name="Freeform 162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1" name="Freeform 162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2" name="Freeform 162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3" name="Freeform 163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4" name="Freeform 163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5" name="Freeform 163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74" name="Freeform 1633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5" name="Freeform 1634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6" name="Freeform 1635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7" name="Freeform 1636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8" name="Freeform 1637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9" name="Freeform 1638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86" name="Group 1046"/>
          <p:cNvGrpSpPr>
            <a:grpSpLocks/>
          </p:cNvGrpSpPr>
          <p:nvPr/>
        </p:nvGrpSpPr>
        <p:grpSpPr bwMode="auto">
          <a:xfrm>
            <a:off x="5112881" y="1199505"/>
            <a:ext cx="841773" cy="747713"/>
            <a:chOff x="3402" y="719"/>
            <a:chExt cx="707" cy="628"/>
          </a:xfrm>
        </p:grpSpPr>
        <p:sp>
          <p:nvSpPr>
            <p:cNvPr id="1387" name="Freeform 1030"/>
            <p:cNvSpPr>
              <a:spLocks/>
            </p:cNvSpPr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88" name="Group 310"/>
            <p:cNvGrpSpPr>
              <a:grpSpLocks/>
            </p:cNvGrpSpPr>
            <p:nvPr/>
          </p:nvGrpSpPr>
          <p:grpSpPr bwMode="auto">
            <a:xfrm>
              <a:off x="3512" y="719"/>
              <a:ext cx="597" cy="570"/>
              <a:chOff x="2919" y="969"/>
              <a:chExt cx="597" cy="570"/>
            </a:xfrm>
          </p:grpSpPr>
          <p:sp>
            <p:nvSpPr>
              <p:cNvPr id="1389" name="Rectangle 311"/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0" name="Rectangle 312"/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1" name="Rectangle 313"/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2" name="Text Box 314"/>
              <p:cNvSpPr txBox="1">
                <a:spLocks noChangeArrowheads="1"/>
              </p:cNvSpPr>
              <p:nvPr/>
            </p:nvSpPr>
            <p:spPr bwMode="auto">
              <a:xfrm>
                <a:off x="2919" y="977"/>
                <a:ext cx="597" cy="5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750" dirty="0"/>
                  <a:t>application</a:t>
                </a:r>
              </a:p>
              <a:p>
                <a:pPr algn="ctr"/>
                <a:r>
                  <a:rPr lang="en-US" altLang="zh-CN" sz="750" dirty="0"/>
                  <a:t>transport</a:t>
                </a:r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data link</a:t>
                </a:r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  <p:sp>
            <p:nvSpPr>
              <p:cNvPr id="1393" name="Line 315"/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94" name="Line 316"/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95" name="Line 317"/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96" name="Line 318"/>
              <p:cNvSpPr>
                <a:spLocks noChangeShapeType="1"/>
              </p:cNvSpPr>
              <p:nvPr/>
            </p:nvSpPr>
            <p:spPr bwMode="auto">
              <a:xfrm>
                <a:off x="3003" y="111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397" name="Group 1047"/>
          <p:cNvGrpSpPr>
            <a:grpSpLocks/>
          </p:cNvGrpSpPr>
          <p:nvPr/>
        </p:nvGrpSpPr>
        <p:grpSpPr bwMode="auto">
          <a:xfrm>
            <a:off x="7134558" y="3454548"/>
            <a:ext cx="854869" cy="747713"/>
            <a:chOff x="3402" y="719"/>
            <a:chExt cx="718" cy="628"/>
          </a:xfrm>
        </p:grpSpPr>
        <p:sp>
          <p:nvSpPr>
            <p:cNvPr id="1398" name="Freeform 1048"/>
            <p:cNvSpPr>
              <a:spLocks/>
            </p:cNvSpPr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99" name="Group 1049"/>
            <p:cNvGrpSpPr>
              <a:grpSpLocks/>
            </p:cNvGrpSpPr>
            <p:nvPr/>
          </p:nvGrpSpPr>
          <p:grpSpPr bwMode="auto">
            <a:xfrm>
              <a:off x="3549" y="719"/>
              <a:ext cx="571" cy="571"/>
              <a:chOff x="2956" y="969"/>
              <a:chExt cx="571" cy="571"/>
            </a:xfrm>
          </p:grpSpPr>
          <p:sp>
            <p:nvSpPr>
              <p:cNvPr id="1400" name="Rectangle 1050"/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1" name="Rectangle 1051"/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2" name="Rectangle 1052"/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3" name="Text Box 1053"/>
              <p:cNvSpPr txBox="1">
                <a:spLocks noChangeArrowheads="1"/>
              </p:cNvSpPr>
              <p:nvPr/>
            </p:nvSpPr>
            <p:spPr bwMode="auto">
              <a:xfrm>
                <a:off x="2956" y="978"/>
                <a:ext cx="571" cy="5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750" dirty="0"/>
                  <a:t>application</a:t>
                </a:r>
              </a:p>
              <a:p>
                <a:pPr algn="ctr"/>
                <a:r>
                  <a:rPr lang="en-US" altLang="zh-CN" sz="750" dirty="0"/>
                  <a:t>transport</a:t>
                </a:r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data link</a:t>
                </a:r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  <p:sp>
            <p:nvSpPr>
              <p:cNvPr id="1404" name="Line 1054"/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05" name="Line 1055"/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06" name="Line 1056"/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07" name="Line 1057"/>
              <p:cNvSpPr>
                <a:spLocks noChangeShapeType="1"/>
              </p:cNvSpPr>
              <p:nvPr/>
            </p:nvSpPr>
            <p:spPr bwMode="auto">
              <a:xfrm>
                <a:off x="3003" y="110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408" name="Group 1278"/>
          <p:cNvGrpSpPr>
            <a:grpSpLocks/>
          </p:cNvGrpSpPr>
          <p:nvPr/>
        </p:nvGrpSpPr>
        <p:grpSpPr bwMode="auto">
          <a:xfrm>
            <a:off x="5452207" y="1666230"/>
            <a:ext cx="1909763" cy="2599135"/>
            <a:chOff x="3674" y="1148"/>
            <a:chExt cx="1604" cy="2183"/>
          </a:xfrm>
        </p:grpSpPr>
        <p:grpSp>
          <p:nvGrpSpPr>
            <p:cNvPr id="1409" name="Group 433"/>
            <p:cNvGrpSpPr>
              <a:grpSpLocks/>
            </p:cNvGrpSpPr>
            <p:nvPr/>
          </p:nvGrpSpPr>
          <p:grpSpPr bwMode="auto">
            <a:xfrm>
              <a:off x="3701" y="1305"/>
              <a:ext cx="513" cy="465"/>
              <a:chOff x="3937" y="633"/>
              <a:chExt cx="513" cy="465"/>
            </a:xfrm>
          </p:grpSpPr>
          <p:sp>
            <p:nvSpPr>
              <p:cNvPr id="1630" name="Line 434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1" name="Line 435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2" name="Oval 436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33" name="Line 437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4" name="Line 438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5" name="Rectangle 439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636" name="Oval 440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637" name="Group 441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48" name="Line 4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49" name="Line 44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50" name="Line 4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638" name="Group 445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45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46" name="Line 4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47" name="Line 44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639" name="Rectangle 449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40" name="Rectangle 450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41" name="Line 451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42" name="Line 452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43" name="Rectangle 453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350">
                  <a:solidFill>
                    <a:srgbClr val="CC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44" name="Text Box 454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0" name="Group 1058"/>
            <p:cNvGrpSpPr>
              <a:grpSpLocks/>
            </p:cNvGrpSpPr>
            <p:nvPr/>
          </p:nvGrpSpPr>
          <p:grpSpPr bwMode="auto">
            <a:xfrm>
              <a:off x="4207" y="1532"/>
              <a:ext cx="513" cy="465"/>
              <a:chOff x="3937" y="633"/>
              <a:chExt cx="513" cy="465"/>
            </a:xfrm>
          </p:grpSpPr>
          <p:sp>
            <p:nvSpPr>
              <p:cNvPr id="1609" name="Line 1059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0" name="Line 1060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1" name="Oval 1061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12" name="Line 1062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3" name="Line 1063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4" name="Rectangle 1064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615" name="Oval 1065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616" name="Group 1066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27" name="Line 106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28" name="Line 106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29" name="Line 106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617" name="Group 1070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24" name="Line 107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25" name="Line 107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26" name="Line 107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618" name="Rectangle 1074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19" name="Rectangle 1075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20" name="Line 1076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21" name="Line 1077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22" name="Rectangle 1078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23" name="Text Box 1079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1" name="Group 1080"/>
            <p:cNvGrpSpPr>
              <a:grpSpLocks/>
            </p:cNvGrpSpPr>
            <p:nvPr/>
          </p:nvGrpSpPr>
          <p:grpSpPr bwMode="auto">
            <a:xfrm>
              <a:off x="4661" y="1148"/>
              <a:ext cx="513" cy="465"/>
              <a:chOff x="3937" y="633"/>
              <a:chExt cx="513" cy="465"/>
            </a:xfrm>
          </p:grpSpPr>
          <p:sp>
            <p:nvSpPr>
              <p:cNvPr id="1588" name="Line 1081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9" name="Line 1082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0" name="Oval 1083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1" name="Line 1084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2" name="Line 1085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3" name="Rectangle 1086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94" name="Oval 1087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95" name="Group 1088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06" name="Line 108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07" name="Line 109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08" name="Line 109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96" name="Group 1092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03" name="Line 109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04" name="Line 109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05" name="Line 109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97" name="Rectangle 1096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8" name="Rectangle 1097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9" name="Line 1098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00" name="Line 1099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01" name="Rectangle 1100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02" name="Text Box 1101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2" name="Group 1102"/>
            <p:cNvGrpSpPr>
              <a:grpSpLocks/>
            </p:cNvGrpSpPr>
            <p:nvPr/>
          </p:nvGrpSpPr>
          <p:grpSpPr bwMode="auto">
            <a:xfrm>
              <a:off x="4702" y="1523"/>
              <a:ext cx="513" cy="465"/>
              <a:chOff x="3937" y="633"/>
              <a:chExt cx="513" cy="465"/>
            </a:xfrm>
          </p:grpSpPr>
          <p:sp>
            <p:nvSpPr>
              <p:cNvPr id="1567" name="Line 1103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8" name="Line 1104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9" name="Oval 1105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0" name="Line 1106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1" name="Line 1107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2" name="Rectangle 1108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73" name="Oval 1109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74" name="Group 1110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85" name="Line 111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86" name="Line 111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87" name="Line 111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75" name="Group 1114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82" name="Line 111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83" name="Line 111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84" name="Line 111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76" name="Rectangle 1118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7" name="Rectangle 1119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8" name="Line 1120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9" name="Line 1121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0" name="Rectangle 1122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81" name="Text Box 1123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 dirty="0"/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 dirty="0"/>
                  <a:t>data link</a:t>
                </a:r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</p:grpSp>
        <p:grpSp>
          <p:nvGrpSpPr>
            <p:cNvPr id="1413" name="Group 1124"/>
            <p:cNvGrpSpPr>
              <a:grpSpLocks/>
            </p:cNvGrpSpPr>
            <p:nvPr/>
          </p:nvGrpSpPr>
          <p:grpSpPr bwMode="auto">
            <a:xfrm>
              <a:off x="4197" y="1157"/>
              <a:ext cx="513" cy="465"/>
              <a:chOff x="3937" y="633"/>
              <a:chExt cx="513" cy="465"/>
            </a:xfrm>
          </p:grpSpPr>
          <p:sp>
            <p:nvSpPr>
              <p:cNvPr id="1546" name="Line 1125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7" name="Line 1126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8" name="Oval 1127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49" name="Line 1128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0" name="Line 1129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1" name="Rectangle 1130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52" name="Oval 1131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53" name="Group 1132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64" name="Line 113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5" name="Line 113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6" name="Line 113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54" name="Group 1136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61" name="Line 113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2" name="Line 113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3" name="Line 113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55" name="Rectangle 1140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56" name="Rectangle 1141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57" name="Line 1142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8" name="Line 1143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9" name="Rectangle 1144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60" name="Text Box 1145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4" name="Group 1146"/>
            <p:cNvGrpSpPr>
              <a:grpSpLocks/>
            </p:cNvGrpSpPr>
            <p:nvPr/>
          </p:nvGrpSpPr>
          <p:grpSpPr bwMode="auto">
            <a:xfrm>
              <a:off x="4389" y="2239"/>
              <a:ext cx="513" cy="465"/>
              <a:chOff x="3937" y="633"/>
              <a:chExt cx="513" cy="465"/>
            </a:xfrm>
          </p:grpSpPr>
          <p:sp>
            <p:nvSpPr>
              <p:cNvPr id="1525" name="Line 1147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6" name="Line 1148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7" name="Oval 1149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28" name="Line 1150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9" name="Line 1151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0" name="Rectangle 1152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31" name="Oval 1153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32" name="Group 1154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43" name="Line 11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44" name="Line 11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45" name="Line 11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33" name="Group 1158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40" name="Line 11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41" name="Line 11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42" name="Line 116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34" name="Rectangle 1162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5" name="Rectangle 1163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6" name="Line 1164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7" name="Line 1165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8" name="Rectangle 1166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9" name="Text Box 1167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5" name="Group 1168"/>
            <p:cNvGrpSpPr>
              <a:grpSpLocks/>
            </p:cNvGrpSpPr>
            <p:nvPr/>
          </p:nvGrpSpPr>
          <p:grpSpPr bwMode="auto">
            <a:xfrm>
              <a:off x="4765" y="1995"/>
              <a:ext cx="513" cy="465"/>
              <a:chOff x="3937" y="633"/>
              <a:chExt cx="513" cy="465"/>
            </a:xfrm>
          </p:grpSpPr>
          <p:sp>
            <p:nvSpPr>
              <p:cNvPr id="1504" name="Line 1169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5" name="Line 1170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6" name="Oval 1171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07" name="Line 1172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8" name="Line 1173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9" name="Rectangle 1174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10" name="Oval 1175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11" name="Group 1176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22" name="Line 117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23" name="Line 117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24" name="Line 117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12" name="Group 1180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19" name="Line 118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20" name="Line 118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21" name="Line 118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13" name="Rectangle 1184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4" name="Rectangle 1185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5" name="Line 1186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6" name="Line 1187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7" name="Rectangle 1188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8" name="Text Box 1189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6" name="Group 1190"/>
            <p:cNvGrpSpPr>
              <a:grpSpLocks/>
            </p:cNvGrpSpPr>
            <p:nvPr/>
          </p:nvGrpSpPr>
          <p:grpSpPr bwMode="auto">
            <a:xfrm>
              <a:off x="4128" y="2003"/>
              <a:ext cx="513" cy="465"/>
              <a:chOff x="3937" y="633"/>
              <a:chExt cx="513" cy="465"/>
            </a:xfrm>
          </p:grpSpPr>
          <p:sp>
            <p:nvSpPr>
              <p:cNvPr id="1483" name="Line 1191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4" name="Line 1192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5" name="Oval 1193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86" name="Line 1194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7" name="Line 1195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8" name="Rectangle 1196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89" name="Oval 1197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90" name="Group 1198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01" name="Line 119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02" name="Line 120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03" name="Line 120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491" name="Group 1202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98" name="Line 120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99" name="Line 120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00" name="Line 120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92" name="Rectangle 1206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3" name="Rectangle 1207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4" name="Line 1208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5" name="Line 1209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6" name="Rectangle 1210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7" name="Text Box 1211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7" name="Group 1212"/>
            <p:cNvGrpSpPr>
              <a:grpSpLocks/>
            </p:cNvGrpSpPr>
            <p:nvPr/>
          </p:nvGrpSpPr>
          <p:grpSpPr bwMode="auto">
            <a:xfrm>
              <a:off x="4608" y="2771"/>
              <a:ext cx="513" cy="465"/>
              <a:chOff x="3937" y="633"/>
              <a:chExt cx="513" cy="465"/>
            </a:xfrm>
          </p:grpSpPr>
          <p:sp>
            <p:nvSpPr>
              <p:cNvPr id="1462" name="Line 1213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3" name="Line 1214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4" name="Oval 1215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65" name="Line 1216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6" name="Line 1217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7" name="Rectangle 1218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68" name="Oval 1219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69" name="Group 1220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80" name="Line 122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81" name="Line 122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82" name="Line 122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470" name="Group 1224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77" name="Line 122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78" name="Line 122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79" name="Line 122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71" name="Rectangle 1228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2" name="Rectangle 1229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3" name="Line 1230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4" name="Line 1231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5" name="Rectangle 1232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6" name="Text Box 1233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8" name="Group 1234"/>
            <p:cNvGrpSpPr>
              <a:grpSpLocks/>
            </p:cNvGrpSpPr>
            <p:nvPr/>
          </p:nvGrpSpPr>
          <p:grpSpPr bwMode="auto">
            <a:xfrm>
              <a:off x="4119" y="2640"/>
              <a:ext cx="513" cy="465"/>
              <a:chOff x="3937" y="633"/>
              <a:chExt cx="513" cy="465"/>
            </a:xfrm>
          </p:grpSpPr>
          <p:sp>
            <p:nvSpPr>
              <p:cNvPr id="1441" name="Line 1235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2" name="Line 1236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3" name="Oval 1237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44" name="Line 1238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5" name="Line 1239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6" name="Rectangle 1240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47" name="Oval 1241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48" name="Group 1242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59" name="Line 124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60" name="Line 124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61" name="Line 124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449" name="Group 1246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56" name="Line 124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7" name="Line 124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8" name="Line 124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50" name="Rectangle 1250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1" name="Rectangle 1251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2" name="Line 1252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3" name="Line 1253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4" name="Rectangle 1254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5" name="Text Box 1255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9" name="Group 1256"/>
            <p:cNvGrpSpPr>
              <a:grpSpLocks/>
            </p:cNvGrpSpPr>
            <p:nvPr/>
          </p:nvGrpSpPr>
          <p:grpSpPr bwMode="auto">
            <a:xfrm>
              <a:off x="3674" y="2866"/>
              <a:ext cx="513" cy="465"/>
              <a:chOff x="3937" y="633"/>
              <a:chExt cx="513" cy="465"/>
            </a:xfrm>
          </p:grpSpPr>
          <p:sp>
            <p:nvSpPr>
              <p:cNvPr id="1420" name="Line 1257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1" name="Line 1258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2" name="Oval 1259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23" name="Line 1260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4" name="Line 1261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5" name="Rectangle 1262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26" name="Oval 1263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27" name="Group 1264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38" name="Line 12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39" name="Line 12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0" name="Line 12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428" name="Group 1268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35" name="Line 12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36" name="Line 12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37" name="Line 12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29" name="Rectangle 1272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0" name="Rectangle 1273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1" name="Line 1274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2" name="Line 1275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3" name="Rectangle 1276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4" name="Text Box 1277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</p:grp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797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网络层复习总结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2</a:t>
            </a:r>
            <a:r>
              <a:rPr lang="zh-CN" altLang="en-US" sz="2200" dirty="0">
                <a:effectLst/>
              </a:rPr>
              <a:t>：路由器的职责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1" name="Rectangle 3">
            <a:extLst>
              <a:ext uri="{FF2B5EF4-FFF2-40B4-BE49-F238E27FC236}">
                <a16:creationId xmlns:a16="http://schemas.microsoft.com/office/drawing/2014/main" id="{7873911C-8330-4160-80C2-683E4C0CF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520249"/>
            <a:ext cx="1864633" cy="6933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分组转发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路由选择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24" name="Group 177">
            <a:extLst>
              <a:ext uri="{FF2B5EF4-FFF2-40B4-BE49-F238E27FC236}">
                <a16:creationId xmlns:a16="http://schemas.microsoft.com/office/drawing/2014/main" id="{A8589A6D-3F75-47C8-AFBB-8AEAA5BC9084}"/>
              </a:ext>
            </a:extLst>
          </p:cNvPr>
          <p:cNvGrpSpPr>
            <a:grpSpLocks/>
          </p:cNvGrpSpPr>
          <p:nvPr/>
        </p:nvGrpSpPr>
        <p:grpSpPr bwMode="auto">
          <a:xfrm>
            <a:off x="5716526" y="3238897"/>
            <a:ext cx="2135981" cy="1110853"/>
            <a:chOff x="3787" y="2683"/>
            <a:chExt cx="1794" cy="933"/>
          </a:xfrm>
        </p:grpSpPr>
        <p:sp>
          <p:nvSpPr>
            <p:cNvPr id="625" name="Freeform 2">
              <a:extLst>
                <a:ext uri="{FF2B5EF4-FFF2-40B4-BE49-F238E27FC236}">
                  <a16:creationId xmlns:a16="http://schemas.microsoft.com/office/drawing/2014/main" id="{C6D5CD29-C901-4E05-B625-D228A6CFA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683"/>
              <a:ext cx="1794" cy="933"/>
            </a:xfrm>
            <a:custGeom>
              <a:avLst/>
              <a:gdLst>
                <a:gd name="T0" fmla="*/ 6 w 1794"/>
                <a:gd name="T1" fmla="*/ 483 h 933"/>
                <a:gd name="T2" fmla="*/ 108 w 1794"/>
                <a:gd name="T3" fmla="*/ 125 h 933"/>
                <a:gd name="T4" fmla="*/ 559 w 1794"/>
                <a:gd name="T5" fmla="*/ 100 h 933"/>
                <a:gd name="T6" fmla="*/ 1128 w 1794"/>
                <a:gd name="T7" fmla="*/ 29 h 933"/>
                <a:gd name="T8" fmla="*/ 1716 w 1794"/>
                <a:gd name="T9" fmla="*/ 275 h 933"/>
                <a:gd name="T10" fmla="*/ 1596 w 1794"/>
                <a:gd name="T11" fmla="*/ 827 h 933"/>
                <a:gd name="T12" fmla="*/ 1380 w 1794"/>
                <a:gd name="T13" fmla="*/ 911 h 933"/>
                <a:gd name="T14" fmla="*/ 840 w 1794"/>
                <a:gd name="T15" fmla="*/ 929 h 933"/>
                <a:gd name="T16" fmla="*/ 414 w 1794"/>
                <a:gd name="T17" fmla="*/ 911 h 933"/>
                <a:gd name="T18" fmla="*/ 143 w 1794"/>
                <a:gd name="T19" fmla="*/ 832 h 933"/>
                <a:gd name="T20" fmla="*/ 6 w 1794"/>
                <a:gd name="T21" fmla="*/ 48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6" name="Freeform 6">
              <a:extLst>
                <a:ext uri="{FF2B5EF4-FFF2-40B4-BE49-F238E27FC236}">
                  <a16:creationId xmlns:a16="http://schemas.microsoft.com/office/drawing/2014/main" id="{942AC375-1E25-468C-A506-B46A213F3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2874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27" name="Group 7">
              <a:extLst>
                <a:ext uri="{FF2B5EF4-FFF2-40B4-BE49-F238E27FC236}">
                  <a16:creationId xmlns:a16="http://schemas.microsoft.com/office/drawing/2014/main" id="{3BD0378A-23B8-464D-A9FE-F8919B3D07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8" y="2984"/>
              <a:ext cx="316" cy="147"/>
              <a:chOff x="3600" y="219"/>
              <a:chExt cx="360" cy="175"/>
            </a:xfrm>
          </p:grpSpPr>
          <p:sp>
            <p:nvSpPr>
              <p:cNvPr id="707" name="Oval 8">
                <a:extLst>
                  <a:ext uri="{FF2B5EF4-FFF2-40B4-BE49-F238E27FC236}">
                    <a16:creationId xmlns:a16="http://schemas.microsoft.com/office/drawing/2014/main" id="{BED4272A-49FD-458A-87F4-B873ADBEF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8" name="Line 9">
                <a:extLst>
                  <a:ext uri="{FF2B5EF4-FFF2-40B4-BE49-F238E27FC236}">
                    <a16:creationId xmlns:a16="http://schemas.microsoft.com/office/drawing/2014/main" id="{EC786167-3422-42D1-B125-3E80BC1A3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9" name="Line 10">
                <a:extLst>
                  <a:ext uri="{FF2B5EF4-FFF2-40B4-BE49-F238E27FC236}">
                    <a16:creationId xmlns:a16="http://schemas.microsoft.com/office/drawing/2014/main" id="{97661692-78CF-4E5A-BDA8-04A460764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0" name="Rectangle 11">
                <a:extLst>
                  <a:ext uri="{FF2B5EF4-FFF2-40B4-BE49-F238E27FC236}">
                    <a16:creationId xmlns:a16="http://schemas.microsoft.com/office/drawing/2014/main" id="{F5E3A2A9-DFB8-4D9F-82C6-7F6127F87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1" name="Oval 12">
                <a:extLst>
                  <a:ext uri="{FF2B5EF4-FFF2-40B4-BE49-F238E27FC236}">
                    <a16:creationId xmlns:a16="http://schemas.microsoft.com/office/drawing/2014/main" id="{59A78DC8-68B4-45D1-A67E-DB54D5CC1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12" name="Group 13">
                <a:extLst>
                  <a:ext uri="{FF2B5EF4-FFF2-40B4-BE49-F238E27FC236}">
                    <a16:creationId xmlns:a16="http://schemas.microsoft.com/office/drawing/2014/main" id="{DC9F0E60-DBD0-41ED-B1A6-3EBE8724C3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717" name="Line 14">
                  <a:extLst>
                    <a:ext uri="{FF2B5EF4-FFF2-40B4-BE49-F238E27FC236}">
                      <a16:creationId xmlns:a16="http://schemas.microsoft.com/office/drawing/2014/main" id="{EAE13701-72A1-426A-B23D-C3B989B0CE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8" name="Line 15">
                  <a:extLst>
                    <a:ext uri="{FF2B5EF4-FFF2-40B4-BE49-F238E27FC236}">
                      <a16:creationId xmlns:a16="http://schemas.microsoft.com/office/drawing/2014/main" id="{D187B762-E6E8-414A-B054-DE04DCFA0F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9" name="Line 16">
                  <a:extLst>
                    <a:ext uri="{FF2B5EF4-FFF2-40B4-BE49-F238E27FC236}">
                      <a16:creationId xmlns:a16="http://schemas.microsoft.com/office/drawing/2014/main" id="{290B58E6-FCEC-4D46-BCE7-8D5C6413C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13" name="Group 17">
                <a:extLst>
                  <a:ext uri="{FF2B5EF4-FFF2-40B4-BE49-F238E27FC236}">
                    <a16:creationId xmlns:a16="http://schemas.microsoft.com/office/drawing/2014/main" id="{DB9C5118-3137-4F08-93F1-9215CB897B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714" name="Line 18">
                  <a:extLst>
                    <a:ext uri="{FF2B5EF4-FFF2-40B4-BE49-F238E27FC236}">
                      <a16:creationId xmlns:a16="http://schemas.microsoft.com/office/drawing/2014/main" id="{2175665C-4583-412F-BCDB-1CE04F867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5" name="Line 19">
                  <a:extLst>
                    <a:ext uri="{FF2B5EF4-FFF2-40B4-BE49-F238E27FC236}">
                      <a16:creationId xmlns:a16="http://schemas.microsoft.com/office/drawing/2014/main" id="{7C962621-3AD2-41E0-8EE4-2AE6C53627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6" name="Line 20">
                  <a:extLst>
                    <a:ext uri="{FF2B5EF4-FFF2-40B4-BE49-F238E27FC236}">
                      <a16:creationId xmlns:a16="http://schemas.microsoft.com/office/drawing/2014/main" id="{AFEB6DE0-181E-4E61-A349-EA4D8B84C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28" name="Group 21">
              <a:extLst>
                <a:ext uri="{FF2B5EF4-FFF2-40B4-BE49-F238E27FC236}">
                  <a16:creationId xmlns:a16="http://schemas.microsoft.com/office/drawing/2014/main" id="{FB33D093-07BE-4E59-A3AE-0E28B50C9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0" y="3386"/>
              <a:ext cx="316" cy="147"/>
              <a:chOff x="3600" y="219"/>
              <a:chExt cx="360" cy="175"/>
            </a:xfrm>
          </p:grpSpPr>
          <p:sp>
            <p:nvSpPr>
              <p:cNvPr id="694" name="Oval 22">
                <a:extLst>
                  <a:ext uri="{FF2B5EF4-FFF2-40B4-BE49-F238E27FC236}">
                    <a16:creationId xmlns:a16="http://schemas.microsoft.com/office/drawing/2014/main" id="{5DF34129-87C4-4B35-A64A-63AB0DCC9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5" name="Line 23">
                <a:extLst>
                  <a:ext uri="{FF2B5EF4-FFF2-40B4-BE49-F238E27FC236}">
                    <a16:creationId xmlns:a16="http://schemas.microsoft.com/office/drawing/2014/main" id="{0441AAA4-7BC5-4E28-9955-674EA7210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6" name="Line 24">
                <a:extLst>
                  <a:ext uri="{FF2B5EF4-FFF2-40B4-BE49-F238E27FC236}">
                    <a16:creationId xmlns:a16="http://schemas.microsoft.com/office/drawing/2014/main" id="{B4D2B41A-7147-4AD0-A0AA-2522F9E622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7" name="Rectangle 25">
                <a:extLst>
                  <a:ext uri="{FF2B5EF4-FFF2-40B4-BE49-F238E27FC236}">
                    <a16:creationId xmlns:a16="http://schemas.microsoft.com/office/drawing/2014/main" id="{F944CAA3-47FF-4868-8018-6762004B5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8" name="Oval 26">
                <a:extLst>
                  <a:ext uri="{FF2B5EF4-FFF2-40B4-BE49-F238E27FC236}">
                    <a16:creationId xmlns:a16="http://schemas.microsoft.com/office/drawing/2014/main" id="{3F77AE0F-7EE1-4AB3-A7A0-F449BFC83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99" name="Group 27">
                <a:extLst>
                  <a:ext uri="{FF2B5EF4-FFF2-40B4-BE49-F238E27FC236}">
                    <a16:creationId xmlns:a16="http://schemas.microsoft.com/office/drawing/2014/main" id="{46192E92-BFA7-4EE5-B825-BBA4A1ADD5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704" name="Line 28">
                  <a:extLst>
                    <a:ext uri="{FF2B5EF4-FFF2-40B4-BE49-F238E27FC236}">
                      <a16:creationId xmlns:a16="http://schemas.microsoft.com/office/drawing/2014/main" id="{36BC4EAD-35C6-45F9-AAEF-2FF2A686F1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5" name="Line 29">
                  <a:extLst>
                    <a:ext uri="{FF2B5EF4-FFF2-40B4-BE49-F238E27FC236}">
                      <a16:creationId xmlns:a16="http://schemas.microsoft.com/office/drawing/2014/main" id="{D4926818-87DE-44BA-B8BB-F39AE76ABE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6" name="Line 30">
                  <a:extLst>
                    <a:ext uri="{FF2B5EF4-FFF2-40B4-BE49-F238E27FC236}">
                      <a16:creationId xmlns:a16="http://schemas.microsoft.com/office/drawing/2014/main" id="{FED9DA0C-D4D1-4E6A-A082-FB0CFDDE93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00" name="Group 31">
                <a:extLst>
                  <a:ext uri="{FF2B5EF4-FFF2-40B4-BE49-F238E27FC236}">
                    <a16:creationId xmlns:a16="http://schemas.microsoft.com/office/drawing/2014/main" id="{6F24E23B-52CC-4651-BDC9-07E1F626D1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701" name="Line 32">
                  <a:extLst>
                    <a:ext uri="{FF2B5EF4-FFF2-40B4-BE49-F238E27FC236}">
                      <a16:creationId xmlns:a16="http://schemas.microsoft.com/office/drawing/2014/main" id="{07D5B4AF-A1FF-4498-842A-A0AFCAEC82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2" name="Line 33">
                  <a:extLst>
                    <a:ext uri="{FF2B5EF4-FFF2-40B4-BE49-F238E27FC236}">
                      <a16:creationId xmlns:a16="http://schemas.microsoft.com/office/drawing/2014/main" id="{4EBF6B7A-FFD8-4248-8A11-BA786849BE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3" name="Line 34">
                  <a:extLst>
                    <a:ext uri="{FF2B5EF4-FFF2-40B4-BE49-F238E27FC236}">
                      <a16:creationId xmlns:a16="http://schemas.microsoft.com/office/drawing/2014/main" id="{827C40E5-61E9-42BF-93F5-06DFFF4B55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29" name="Group 35">
              <a:extLst>
                <a:ext uri="{FF2B5EF4-FFF2-40B4-BE49-F238E27FC236}">
                  <a16:creationId xmlns:a16="http://schemas.microsoft.com/office/drawing/2014/main" id="{5AABDA01-6DBA-44B9-A787-40BA8370CF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5" y="2792"/>
              <a:ext cx="316" cy="147"/>
              <a:chOff x="3600" y="219"/>
              <a:chExt cx="360" cy="175"/>
            </a:xfrm>
          </p:grpSpPr>
          <p:sp>
            <p:nvSpPr>
              <p:cNvPr id="681" name="Oval 36">
                <a:extLst>
                  <a:ext uri="{FF2B5EF4-FFF2-40B4-BE49-F238E27FC236}">
                    <a16:creationId xmlns:a16="http://schemas.microsoft.com/office/drawing/2014/main" id="{119DCBEA-95A5-45CA-8197-BB1265BA5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2" name="Line 37">
                <a:extLst>
                  <a:ext uri="{FF2B5EF4-FFF2-40B4-BE49-F238E27FC236}">
                    <a16:creationId xmlns:a16="http://schemas.microsoft.com/office/drawing/2014/main" id="{5914188E-C0DB-4235-BF56-913A46775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3" name="Line 38">
                <a:extLst>
                  <a:ext uri="{FF2B5EF4-FFF2-40B4-BE49-F238E27FC236}">
                    <a16:creationId xmlns:a16="http://schemas.microsoft.com/office/drawing/2014/main" id="{0F869CF4-3E84-4894-8360-F63B9040C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4" name="Rectangle 39">
                <a:extLst>
                  <a:ext uri="{FF2B5EF4-FFF2-40B4-BE49-F238E27FC236}">
                    <a16:creationId xmlns:a16="http://schemas.microsoft.com/office/drawing/2014/main" id="{9DFDB081-ED2C-4758-80F3-0429C015B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5" name="Oval 40">
                <a:extLst>
                  <a:ext uri="{FF2B5EF4-FFF2-40B4-BE49-F238E27FC236}">
                    <a16:creationId xmlns:a16="http://schemas.microsoft.com/office/drawing/2014/main" id="{09E1B8A7-0D9C-468F-B018-984C46DC0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86" name="Group 41">
                <a:extLst>
                  <a:ext uri="{FF2B5EF4-FFF2-40B4-BE49-F238E27FC236}">
                    <a16:creationId xmlns:a16="http://schemas.microsoft.com/office/drawing/2014/main" id="{DEFD6F32-8575-4947-8C33-AD3A1CC645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91" name="Line 42">
                  <a:extLst>
                    <a:ext uri="{FF2B5EF4-FFF2-40B4-BE49-F238E27FC236}">
                      <a16:creationId xmlns:a16="http://schemas.microsoft.com/office/drawing/2014/main" id="{69C5AFD3-097B-406C-B77D-0D0F67B5B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2" name="Line 43">
                  <a:extLst>
                    <a:ext uri="{FF2B5EF4-FFF2-40B4-BE49-F238E27FC236}">
                      <a16:creationId xmlns:a16="http://schemas.microsoft.com/office/drawing/2014/main" id="{DAFF9277-EB9E-44D2-B8D0-C7B510FAB7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3" name="Line 44">
                  <a:extLst>
                    <a:ext uri="{FF2B5EF4-FFF2-40B4-BE49-F238E27FC236}">
                      <a16:creationId xmlns:a16="http://schemas.microsoft.com/office/drawing/2014/main" id="{2D36774C-B2F8-4CB9-AED9-9C5200579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87" name="Group 45">
                <a:extLst>
                  <a:ext uri="{FF2B5EF4-FFF2-40B4-BE49-F238E27FC236}">
                    <a16:creationId xmlns:a16="http://schemas.microsoft.com/office/drawing/2014/main" id="{A349C7A9-6456-48CE-B661-376A93D6C2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88" name="Line 46">
                  <a:extLst>
                    <a:ext uri="{FF2B5EF4-FFF2-40B4-BE49-F238E27FC236}">
                      <a16:creationId xmlns:a16="http://schemas.microsoft.com/office/drawing/2014/main" id="{BED5032B-DF83-4639-90AE-3E322FDED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9" name="Line 47">
                  <a:extLst>
                    <a:ext uri="{FF2B5EF4-FFF2-40B4-BE49-F238E27FC236}">
                      <a16:creationId xmlns:a16="http://schemas.microsoft.com/office/drawing/2014/main" id="{FEA71612-C336-4A6F-81A1-71EB81E5A3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0" name="Line 48">
                  <a:extLst>
                    <a:ext uri="{FF2B5EF4-FFF2-40B4-BE49-F238E27FC236}">
                      <a16:creationId xmlns:a16="http://schemas.microsoft.com/office/drawing/2014/main" id="{7768C129-2AFA-465C-8274-07A6890CE6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30" name="Group 49">
              <a:extLst>
                <a:ext uri="{FF2B5EF4-FFF2-40B4-BE49-F238E27FC236}">
                  <a16:creationId xmlns:a16="http://schemas.microsoft.com/office/drawing/2014/main" id="{B4BEFE94-61C4-4890-8E73-2C560C6457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6" y="3211"/>
              <a:ext cx="315" cy="147"/>
              <a:chOff x="3600" y="219"/>
              <a:chExt cx="360" cy="175"/>
            </a:xfrm>
          </p:grpSpPr>
          <p:sp>
            <p:nvSpPr>
              <p:cNvPr id="668" name="Oval 50">
                <a:extLst>
                  <a:ext uri="{FF2B5EF4-FFF2-40B4-BE49-F238E27FC236}">
                    <a16:creationId xmlns:a16="http://schemas.microsoft.com/office/drawing/2014/main" id="{87DF8C17-C733-44E7-A43D-4258DABA5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9" name="Line 51">
                <a:extLst>
                  <a:ext uri="{FF2B5EF4-FFF2-40B4-BE49-F238E27FC236}">
                    <a16:creationId xmlns:a16="http://schemas.microsoft.com/office/drawing/2014/main" id="{29092994-10B2-4D82-9BE6-DDA25EC53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0" name="Line 52">
                <a:extLst>
                  <a:ext uri="{FF2B5EF4-FFF2-40B4-BE49-F238E27FC236}">
                    <a16:creationId xmlns:a16="http://schemas.microsoft.com/office/drawing/2014/main" id="{201CFE54-F8B5-4AAF-AE0B-A489C65D7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1" name="Rectangle 53">
                <a:extLst>
                  <a:ext uri="{FF2B5EF4-FFF2-40B4-BE49-F238E27FC236}">
                    <a16:creationId xmlns:a16="http://schemas.microsoft.com/office/drawing/2014/main" id="{088D6E4A-BF75-4648-81F4-CCF74A1A2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2" name="Oval 54">
                <a:extLst>
                  <a:ext uri="{FF2B5EF4-FFF2-40B4-BE49-F238E27FC236}">
                    <a16:creationId xmlns:a16="http://schemas.microsoft.com/office/drawing/2014/main" id="{F0C1E27F-1AF8-41AA-BA2D-608E98AF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73" name="Group 55">
                <a:extLst>
                  <a:ext uri="{FF2B5EF4-FFF2-40B4-BE49-F238E27FC236}">
                    <a16:creationId xmlns:a16="http://schemas.microsoft.com/office/drawing/2014/main" id="{142C6525-ED6C-42B2-86AC-ADF84AF5CC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78" name="Line 56">
                  <a:extLst>
                    <a:ext uri="{FF2B5EF4-FFF2-40B4-BE49-F238E27FC236}">
                      <a16:creationId xmlns:a16="http://schemas.microsoft.com/office/drawing/2014/main" id="{93B74F8F-790D-47FF-9263-DD0FC1BAE4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9" name="Line 57">
                  <a:extLst>
                    <a:ext uri="{FF2B5EF4-FFF2-40B4-BE49-F238E27FC236}">
                      <a16:creationId xmlns:a16="http://schemas.microsoft.com/office/drawing/2014/main" id="{9289302F-4BBE-4578-902A-12C561364E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0" name="Line 58">
                  <a:extLst>
                    <a:ext uri="{FF2B5EF4-FFF2-40B4-BE49-F238E27FC236}">
                      <a16:creationId xmlns:a16="http://schemas.microsoft.com/office/drawing/2014/main" id="{E3F2484A-8E1B-417D-886C-2FB26389F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74" name="Group 59">
                <a:extLst>
                  <a:ext uri="{FF2B5EF4-FFF2-40B4-BE49-F238E27FC236}">
                    <a16:creationId xmlns:a16="http://schemas.microsoft.com/office/drawing/2014/main" id="{D788F98F-8400-4574-8E16-5C499AFFBF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75" name="Line 60">
                  <a:extLst>
                    <a:ext uri="{FF2B5EF4-FFF2-40B4-BE49-F238E27FC236}">
                      <a16:creationId xmlns:a16="http://schemas.microsoft.com/office/drawing/2014/main" id="{E489ECC7-67C6-44A6-BFF2-64C193301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6" name="Line 61">
                  <a:extLst>
                    <a:ext uri="{FF2B5EF4-FFF2-40B4-BE49-F238E27FC236}">
                      <a16:creationId xmlns:a16="http://schemas.microsoft.com/office/drawing/2014/main" id="{426442B8-AC92-4424-AF94-D4BDF2A69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7" name="Line 62">
                  <a:extLst>
                    <a:ext uri="{FF2B5EF4-FFF2-40B4-BE49-F238E27FC236}">
                      <a16:creationId xmlns:a16="http://schemas.microsoft.com/office/drawing/2014/main" id="{32CF989F-E853-444D-96DE-B011EDB1B1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31" name="Group 63">
              <a:extLst>
                <a:ext uri="{FF2B5EF4-FFF2-40B4-BE49-F238E27FC236}">
                  <a16:creationId xmlns:a16="http://schemas.microsoft.com/office/drawing/2014/main" id="{225C99DB-327A-4B6D-8044-56908D73D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" y="3398"/>
              <a:ext cx="316" cy="147"/>
              <a:chOff x="3600" y="219"/>
              <a:chExt cx="360" cy="175"/>
            </a:xfrm>
          </p:grpSpPr>
          <p:sp>
            <p:nvSpPr>
              <p:cNvPr id="655" name="Oval 64">
                <a:extLst>
                  <a:ext uri="{FF2B5EF4-FFF2-40B4-BE49-F238E27FC236}">
                    <a16:creationId xmlns:a16="http://schemas.microsoft.com/office/drawing/2014/main" id="{041BDA6A-D68C-46D7-8FDD-53EDD7CB4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6" name="Line 65">
                <a:extLst>
                  <a:ext uri="{FF2B5EF4-FFF2-40B4-BE49-F238E27FC236}">
                    <a16:creationId xmlns:a16="http://schemas.microsoft.com/office/drawing/2014/main" id="{18C6E33D-608B-4746-B9F7-514278184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7" name="Line 66">
                <a:extLst>
                  <a:ext uri="{FF2B5EF4-FFF2-40B4-BE49-F238E27FC236}">
                    <a16:creationId xmlns:a16="http://schemas.microsoft.com/office/drawing/2014/main" id="{4A0D3738-F9D9-4DE9-9D6F-27B514076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8" name="Rectangle 67">
                <a:extLst>
                  <a:ext uri="{FF2B5EF4-FFF2-40B4-BE49-F238E27FC236}">
                    <a16:creationId xmlns:a16="http://schemas.microsoft.com/office/drawing/2014/main" id="{0B3B35AE-4E1C-449F-A89B-10214A325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9" name="Oval 68">
                <a:extLst>
                  <a:ext uri="{FF2B5EF4-FFF2-40B4-BE49-F238E27FC236}">
                    <a16:creationId xmlns:a16="http://schemas.microsoft.com/office/drawing/2014/main" id="{FFD3785C-4CEA-4E18-B101-DA430DD4D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60" name="Group 69">
                <a:extLst>
                  <a:ext uri="{FF2B5EF4-FFF2-40B4-BE49-F238E27FC236}">
                    <a16:creationId xmlns:a16="http://schemas.microsoft.com/office/drawing/2014/main" id="{D3F26B85-7EA4-4CCA-A32C-480333358B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65" name="Line 70">
                  <a:extLst>
                    <a:ext uri="{FF2B5EF4-FFF2-40B4-BE49-F238E27FC236}">
                      <a16:creationId xmlns:a16="http://schemas.microsoft.com/office/drawing/2014/main" id="{60B14D47-F644-4B80-BF1A-B534EBAB3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6" name="Line 71">
                  <a:extLst>
                    <a:ext uri="{FF2B5EF4-FFF2-40B4-BE49-F238E27FC236}">
                      <a16:creationId xmlns:a16="http://schemas.microsoft.com/office/drawing/2014/main" id="{5970A753-81EB-4E8C-BB8D-0DE6792BD7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7" name="Line 72">
                  <a:extLst>
                    <a:ext uri="{FF2B5EF4-FFF2-40B4-BE49-F238E27FC236}">
                      <a16:creationId xmlns:a16="http://schemas.microsoft.com/office/drawing/2014/main" id="{D4AE11ED-0DE3-4FAB-85F1-CB17474DD6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61" name="Group 73">
                <a:extLst>
                  <a:ext uri="{FF2B5EF4-FFF2-40B4-BE49-F238E27FC236}">
                    <a16:creationId xmlns:a16="http://schemas.microsoft.com/office/drawing/2014/main" id="{0C28309C-3A1D-4B4D-A82D-6E667EA291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62" name="Line 74">
                  <a:extLst>
                    <a:ext uri="{FF2B5EF4-FFF2-40B4-BE49-F238E27FC236}">
                      <a16:creationId xmlns:a16="http://schemas.microsoft.com/office/drawing/2014/main" id="{2D6D5347-1F48-4992-9F76-B7840B40AA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3" name="Line 75">
                  <a:extLst>
                    <a:ext uri="{FF2B5EF4-FFF2-40B4-BE49-F238E27FC236}">
                      <a16:creationId xmlns:a16="http://schemas.microsoft.com/office/drawing/2014/main" id="{BD99529F-FE4D-4ECA-B9DA-7A5C7ED18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4" name="Line 76">
                  <a:extLst>
                    <a:ext uri="{FF2B5EF4-FFF2-40B4-BE49-F238E27FC236}">
                      <a16:creationId xmlns:a16="http://schemas.microsoft.com/office/drawing/2014/main" id="{2478741F-065D-4904-8E1F-10D855BFD7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32" name="Group 77">
              <a:extLst>
                <a:ext uri="{FF2B5EF4-FFF2-40B4-BE49-F238E27FC236}">
                  <a16:creationId xmlns:a16="http://schemas.microsoft.com/office/drawing/2014/main" id="{C45C1144-DA5B-4272-A5B0-3AB8BBE932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6" y="2985"/>
              <a:ext cx="316" cy="147"/>
              <a:chOff x="3600" y="219"/>
              <a:chExt cx="360" cy="175"/>
            </a:xfrm>
          </p:grpSpPr>
          <p:sp>
            <p:nvSpPr>
              <p:cNvPr id="642" name="Oval 78">
                <a:extLst>
                  <a:ext uri="{FF2B5EF4-FFF2-40B4-BE49-F238E27FC236}">
                    <a16:creationId xmlns:a16="http://schemas.microsoft.com/office/drawing/2014/main" id="{9B699C91-F71F-4B84-89C1-775D95E70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3" name="Line 79">
                <a:extLst>
                  <a:ext uri="{FF2B5EF4-FFF2-40B4-BE49-F238E27FC236}">
                    <a16:creationId xmlns:a16="http://schemas.microsoft.com/office/drawing/2014/main" id="{9B62ACB2-F7D3-400A-9425-DE904423E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4" name="Line 80">
                <a:extLst>
                  <a:ext uri="{FF2B5EF4-FFF2-40B4-BE49-F238E27FC236}">
                    <a16:creationId xmlns:a16="http://schemas.microsoft.com/office/drawing/2014/main" id="{85CCC174-AD86-42EA-97A0-1EC64675BA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5" name="Rectangle 81">
                <a:extLst>
                  <a:ext uri="{FF2B5EF4-FFF2-40B4-BE49-F238E27FC236}">
                    <a16:creationId xmlns:a16="http://schemas.microsoft.com/office/drawing/2014/main" id="{5A4F8566-5FEC-4D21-9776-A9FFD8AB8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6" name="Oval 82">
                <a:extLst>
                  <a:ext uri="{FF2B5EF4-FFF2-40B4-BE49-F238E27FC236}">
                    <a16:creationId xmlns:a16="http://schemas.microsoft.com/office/drawing/2014/main" id="{523A9202-21D8-4C7A-BF55-DCD97377C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47" name="Group 83">
                <a:extLst>
                  <a:ext uri="{FF2B5EF4-FFF2-40B4-BE49-F238E27FC236}">
                    <a16:creationId xmlns:a16="http://schemas.microsoft.com/office/drawing/2014/main" id="{65089FFC-001D-4A59-9E6A-233F6F1B63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52" name="Line 84">
                  <a:extLst>
                    <a:ext uri="{FF2B5EF4-FFF2-40B4-BE49-F238E27FC236}">
                      <a16:creationId xmlns:a16="http://schemas.microsoft.com/office/drawing/2014/main" id="{8F9443D8-8C89-4221-A9A0-4E9DE0A9A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3" name="Line 85">
                  <a:extLst>
                    <a:ext uri="{FF2B5EF4-FFF2-40B4-BE49-F238E27FC236}">
                      <a16:creationId xmlns:a16="http://schemas.microsoft.com/office/drawing/2014/main" id="{C2E73B15-1136-415A-9160-0C0FFE129A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4" name="Line 86">
                  <a:extLst>
                    <a:ext uri="{FF2B5EF4-FFF2-40B4-BE49-F238E27FC236}">
                      <a16:creationId xmlns:a16="http://schemas.microsoft.com/office/drawing/2014/main" id="{89C17E08-F8ED-4CBB-A7A8-276F726EB0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48" name="Group 87">
                <a:extLst>
                  <a:ext uri="{FF2B5EF4-FFF2-40B4-BE49-F238E27FC236}">
                    <a16:creationId xmlns:a16="http://schemas.microsoft.com/office/drawing/2014/main" id="{9CA28788-C672-4878-A381-7FA7953417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49" name="Line 88">
                  <a:extLst>
                    <a:ext uri="{FF2B5EF4-FFF2-40B4-BE49-F238E27FC236}">
                      <a16:creationId xmlns:a16="http://schemas.microsoft.com/office/drawing/2014/main" id="{650515A6-B0AB-4B44-BC9B-209CA251FF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0" name="Line 89">
                  <a:extLst>
                    <a:ext uri="{FF2B5EF4-FFF2-40B4-BE49-F238E27FC236}">
                      <a16:creationId xmlns:a16="http://schemas.microsoft.com/office/drawing/2014/main" id="{1ED5AED3-286B-4116-ADA5-724FFEBE4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1" name="Line 90">
                  <a:extLst>
                    <a:ext uri="{FF2B5EF4-FFF2-40B4-BE49-F238E27FC236}">
                      <a16:creationId xmlns:a16="http://schemas.microsoft.com/office/drawing/2014/main" id="{97010A9F-5F6B-4E94-A118-E4B073FC3C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33" name="Freeform 91">
              <a:extLst>
                <a:ext uri="{FF2B5EF4-FFF2-40B4-BE49-F238E27FC236}">
                  <a16:creationId xmlns:a16="http://schemas.microsoft.com/office/drawing/2014/main" id="{DE0D7610-2F5B-4AEF-874E-672DDC108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2870"/>
              <a:ext cx="318" cy="194"/>
            </a:xfrm>
            <a:custGeom>
              <a:avLst/>
              <a:gdLst>
                <a:gd name="T0" fmla="*/ 0 w 318"/>
                <a:gd name="T1" fmla="*/ 0 h 194"/>
                <a:gd name="T2" fmla="*/ 318 w 318"/>
                <a:gd name="T3" fmla="*/ 194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4" name="Freeform 92">
              <a:extLst>
                <a:ext uri="{FF2B5EF4-FFF2-40B4-BE49-F238E27FC236}">
                  <a16:creationId xmlns:a16="http://schemas.microsoft.com/office/drawing/2014/main" id="{9B8FF423-7951-4CF7-8976-9307EBFEC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3117"/>
              <a:ext cx="303" cy="150"/>
            </a:xfrm>
            <a:custGeom>
              <a:avLst/>
              <a:gdLst>
                <a:gd name="T0" fmla="*/ 0 w 294"/>
                <a:gd name="T1" fmla="*/ 0 h 174"/>
                <a:gd name="T2" fmla="*/ 303 w 294"/>
                <a:gd name="T3" fmla="*/ 150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5" name="Freeform 93">
              <a:extLst>
                <a:ext uri="{FF2B5EF4-FFF2-40B4-BE49-F238E27FC236}">
                  <a16:creationId xmlns:a16="http://schemas.microsoft.com/office/drawing/2014/main" id="{892FBD31-E3BB-4AED-B20C-72C16844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1" y="3102"/>
              <a:ext cx="396" cy="156"/>
            </a:xfrm>
            <a:custGeom>
              <a:avLst/>
              <a:gdLst>
                <a:gd name="T0" fmla="*/ 0 w 378"/>
                <a:gd name="T1" fmla="*/ 156 h 174"/>
                <a:gd name="T2" fmla="*/ 396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6" name="Freeform 94">
              <a:extLst>
                <a:ext uri="{FF2B5EF4-FFF2-40B4-BE49-F238E27FC236}">
                  <a16:creationId xmlns:a16="http://schemas.microsoft.com/office/drawing/2014/main" id="{A50BB6D3-DE51-47FE-8E0E-71FE1C7F3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1" y="3136"/>
              <a:ext cx="130" cy="320"/>
            </a:xfrm>
            <a:custGeom>
              <a:avLst/>
              <a:gdLst>
                <a:gd name="T0" fmla="*/ 0 w 118"/>
                <a:gd name="T1" fmla="*/ 320 h 500"/>
                <a:gd name="T2" fmla="*/ 130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7" name="Freeform 95">
              <a:extLst>
                <a:ext uri="{FF2B5EF4-FFF2-40B4-BE49-F238E27FC236}">
                  <a16:creationId xmlns:a16="http://schemas.microsoft.com/office/drawing/2014/main" id="{1A8EA92A-F273-44D2-85D4-09EEAD68E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" y="3472"/>
              <a:ext cx="464" cy="47"/>
            </a:xfrm>
            <a:custGeom>
              <a:avLst/>
              <a:gdLst>
                <a:gd name="T0" fmla="*/ 464 w 370"/>
                <a:gd name="T1" fmla="*/ 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8" name="Freeform 96">
              <a:extLst>
                <a:ext uri="{FF2B5EF4-FFF2-40B4-BE49-F238E27FC236}">
                  <a16:creationId xmlns:a16="http://schemas.microsoft.com/office/drawing/2014/main" id="{C7851DB1-A098-4FED-B3F4-D9341E33E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3132"/>
              <a:ext cx="122" cy="268"/>
            </a:xfrm>
            <a:custGeom>
              <a:avLst/>
              <a:gdLst>
                <a:gd name="T0" fmla="*/ 112 w 176"/>
                <a:gd name="T1" fmla="*/ 265 h 412"/>
                <a:gd name="T2" fmla="*/ 122 w 176"/>
                <a:gd name="T3" fmla="*/ 268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9" name="Text Box 100">
              <a:extLst>
                <a:ext uri="{FF2B5EF4-FFF2-40B4-BE49-F238E27FC236}">
                  <a16:creationId xmlns:a16="http://schemas.microsoft.com/office/drawing/2014/main" id="{33FEDE44-3FD8-4043-8D42-8C823C235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6" y="2808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40" name="Text Box 101">
              <a:extLst>
                <a:ext uri="{FF2B5EF4-FFF2-40B4-BE49-F238E27FC236}">
                  <a16:creationId xmlns:a16="http://schemas.microsoft.com/office/drawing/2014/main" id="{85B58893-3349-4EAF-8923-03E6ABB84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" y="3084"/>
              <a:ext cx="2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641" name="Text Box 102">
              <a:extLst>
                <a:ext uri="{FF2B5EF4-FFF2-40B4-BE49-F238E27FC236}">
                  <a16:creationId xmlns:a16="http://schemas.microsoft.com/office/drawing/2014/main" id="{AD2132AC-17B2-4068-B4F0-E8C5797E6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4" y="3130"/>
              <a:ext cx="2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sp>
        <p:nvSpPr>
          <p:cNvPr id="720" name="Text Box 106">
            <a:extLst>
              <a:ext uri="{FF2B5EF4-FFF2-40B4-BE49-F238E27FC236}">
                <a16:creationId xmlns:a16="http://schemas.microsoft.com/office/drawing/2014/main" id="{5CC383D7-A12E-454B-A4E1-2F154E287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8657" y="2940050"/>
            <a:ext cx="12618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到达分组：首部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21" name="Group 179">
            <a:extLst>
              <a:ext uri="{FF2B5EF4-FFF2-40B4-BE49-F238E27FC236}">
                <a16:creationId xmlns:a16="http://schemas.microsoft.com/office/drawing/2014/main" id="{E080801E-9DDA-478E-8F19-40609D22968A}"/>
              </a:ext>
            </a:extLst>
          </p:cNvPr>
          <p:cNvGrpSpPr>
            <a:grpSpLocks/>
          </p:cNvGrpSpPr>
          <p:nvPr/>
        </p:nvGrpSpPr>
        <p:grpSpPr bwMode="auto">
          <a:xfrm>
            <a:off x="4589003" y="942181"/>
            <a:ext cx="1738313" cy="2715816"/>
            <a:chOff x="2840" y="754"/>
            <a:chExt cx="1460" cy="2281"/>
          </a:xfrm>
        </p:grpSpPr>
        <p:sp>
          <p:nvSpPr>
            <p:cNvPr id="722" name="Freeform 3">
              <a:extLst>
                <a:ext uri="{FF2B5EF4-FFF2-40B4-BE49-F238E27FC236}">
                  <a16:creationId xmlns:a16="http://schemas.microsoft.com/office/drawing/2014/main" id="{D149A2F0-25D6-4A29-9C92-D9F478F71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2219"/>
              <a:ext cx="1443" cy="816"/>
            </a:xfrm>
            <a:custGeom>
              <a:avLst/>
              <a:gdLst>
                <a:gd name="T0" fmla="*/ 0 w 1443"/>
                <a:gd name="T1" fmla="*/ 0 h 816"/>
                <a:gd name="T2" fmla="*/ 1076 w 1443"/>
                <a:gd name="T3" fmla="*/ 782 h 816"/>
                <a:gd name="T4" fmla="*/ 1320 w 1443"/>
                <a:gd name="T5" fmla="*/ 788 h 816"/>
                <a:gd name="T6" fmla="*/ 1443 w 1443"/>
                <a:gd name="T7" fmla="*/ 5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3" name="Rectangle 4">
              <a:extLst>
                <a:ext uri="{FF2B5EF4-FFF2-40B4-BE49-F238E27FC236}">
                  <a16:creationId xmlns:a16="http://schemas.microsoft.com/office/drawing/2014/main" id="{448D003C-37C6-412D-B04C-E328C7330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754"/>
              <a:ext cx="1460" cy="147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4" name="Oval 5">
              <a:extLst>
                <a:ext uri="{FF2B5EF4-FFF2-40B4-BE49-F238E27FC236}">
                  <a16:creationId xmlns:a16="http://schemas.microsoft.com/office/drawing/2014/main" id="{4781BF13-2222-46E3-9F92-F518D4BC2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" y="787"/>
              <a:ext cx="1320" cy="38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5" name="Text Box 108">
              <a:extLst>
                <a:ext uri="{FF2B5EF4-FFF2-40B4-BE49-F238E27FC236}">
                  <a16:creationId xmlns:a16="http://schemas.microsoft.com/office/drawing/2014/main" id="{DA01DB77-7743-4F14-92BF-B29FD748A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" y="886"/>
              <a:ext cx="11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路由选择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6" name="Rectangle 109">
              <a:extLst>
                <a:ext uri="{FF2B5EF4-FFF2-40B4-BE49-F238E27FC236}">
                  <a16:creationId xmlns:a16="http://schemas.microsoft.com/office/drawing/2014/main" id="{E77FE906-DF05-459D-8FFD-C1E6861E6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1357"/>
              <a:ext cx="1263" cy="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7" name="Text Box 110">
              <a:extLst>
                <a:ext uri="{FF2B5EF4-FFF2-40B4-BE49-F238E27FC236}">
                  <a16:creationId xmlns:a16="http://schemas.microsoft.com/office/drawing/2014/main" id="{20ABAFF6-EAC6-4E7C-BD1E-758A6A626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4" y="1327"/>
              <a:ext cx="111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本地转发表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8" name="Text Box 111">
              <a:extLst>
                <a:ext uri="{FF2B5EF4-FFF2-40B4-BE49-F238E27FC236}">
                  <a16:creationId xmlns:a16="http://schemas.microsoft.com/office/drawing/2014/main" id="{0F929D59-C733-4EA4-AE9D-360BE54E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0" y="1483"/>
              <a:ext cx="76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首部值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9" name="Text Box 112">
              <a:extLst>
                <a:ext uri="{FF2B5EF4-FFF2-40B4-BE49-F238E27FC236}">
                  <a16:creationId xmlns:a16="http://schemas.microsoft.com/office/drawing/2014/main" id="{E957DBC1-1AB3-4A99-9BF7-072A4A86C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1484"/>
              <a:ext cx="65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输出链路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0" name="Line 113">
              <a:extLst>
                <a:ext uri="{FF2B5EF4-FFF2-40B4-BE49-F238E27FC236}">
                  <a16:creationId xmlns:a16="http://schemas.microsoft.com/office/drawing/2014/main" id="{339A4027-9723-4988-8879-7D2E0EC1E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4" y="1491"/>
              <a:ext cx="5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1" name="Text Box 114">
              <a:extLst>
                <a:ext uri="{FF2B5EF4-FFF2-40B4-BE49-F238E27FC236}">
                  <a16:creationId xmlns:a16="http://schemas.microsoft.com/office/drawing/2014/main" id="{7B161F27-2FBD-4FF6-9789-062B66E57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1662"/>
              <a:ext cx="38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0100</a:t>
              </a: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0101</a:t>
              </a: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</a:p>
          </p:txBody>
        </p:sp>
        <p:sp>
          <p:nvSpPr>
            <p:cNvPr id="732" name="Text Box 115">
              <a:extLst>
                <a:ext uri="{FF2B5EF4-FFF2-40B4-BE49-F238E27FC236}">
                  <a16:creationId xmlns:a16="http://schemas.microsoft.com/office/drawing/2014/main" id="{6F99372B-BE65-49D1-9345-81B2FCA80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3" y="1662"/>
              <a:ext cx="212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33" name="Line 116">
              <a:extLst>
                <a:ext uri="{FF2B5EF4-FFF2-40B4-BE49-F238E27FC236}">
                  <a16:creationId xmlns:a16="http://schemas.microsoft.com/office/drawing/2014/main" id="{C064E64E-0A51-40AF-A2F8-8690650A7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3" y="1653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4" name="Line 117">
              <a:extLst>
                <a:ext uri="{FF2B5EF4-FFF2-40B4-BE49-F238E27FC236}">
                  <a16:creationId xmlns:a16="http://schemas.microsoft.com/office/drawing/2014/main" id="{705C2A3A-0843-43D5-AEB0-6F6D4F91D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1497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5" name="AutoShape 118">
              <a:extLst>
                <a:ext uri="{FF2B5EF4-FFF2-40B4-BE49-F238E27FC236}">
                  <a16:creationId xmlns:a16="http://schemas.microsoft.com/office/drawing/2014/main" id="{31FD482B-37CC-4FCE-8FF1-DEA97356A8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19" y="1173"/>
              <a:ext cx="151" cy="172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36" name="Freeform 120">
            <a:extLst>
              <a:ext uri="{FF2B5EF4-FFF2-40B4-BE49-F238E27FC236}">
                <a16:creationId xmlns:a16="http://schemas.microsoft.com/office/drawing/2014/main" id="{BD7B9045-6A6F-4D20-86E2-F0E9C5B8C052}"/>
              </a:ext>
            </a:extLst>
          </p:cNvPr>
          <p:cNvSpPr>
            <a:spLocks/>
          </p:cNvSpPr>
          <p:nvPr/>
        </p:nvSpPr>
        <p:spPr bwMode="auto">
          <a:xfrm>
            <a:off x="5735576" y="3640137"/>
            <a:ext cx="659606" cy="198835"/>
          </a:xfrm>
          <a:custGeom>
            <a:avLst/>
            <a:gdLst>
              <a:gd name="T0" fmla="*/ 0 w 554"/>
              <a:gd name="T1" fmla="*/ 10 h 167"/>
              <a:gd name="T2" fmla="*/ 324 w 554"/>
              <a:gd name="T3" fmla="*/ 26 h 167"/>
              <a:gd name="T4" fmla="*/ 554 w 554"/>
              <a:gd name="T5" fmla="*/ 167 h 167"/>
              <a:gd name="T6" fmla="*/ 0 60000 65536"/>
              <a:gd name="T7" fmla="*/ 0 60000 65536"/>
              <a:gd name="T8" fmla="*/ 0 60000 65536"/>
              <a:gd name="T9" fmla="*/ 0 w 554"/>
              <a:gd name="T10" fmla="*/ 0 h 167"/>
              <a:gd name="T11" fmla="*/ 554 w 554"/>
              <a:gd name="T12" fmla="*/ 167 h 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37" name="Group 172">
            <a:extLst>
              <a:ext uri="{FF2B5EF4-FFF2-40B4-BE49-F238E27FC236}">
                <a16:creationId xmlns:a16="http://schemas.microsoft.com/office/drawing/2014/main" id="{7CBDD3CF-6344-4A1A-951A-D662E3E606C1}"/>
              </a:ext>
            </a:extLst>
          </p:cNvPr>
          <p:cNvGrpSpPr>
            <a:grpSpLocks/>
          </p:cNvGrpSpPr>
          <p:nvPr/>
        </p:nvGrpSpPr>
        <p:grpSpPr bwMode="auto">
          <a:xfrm>
            <a:off x="6728557" y="2774554"/>
            <a:ext cx="433388" cy="611981"/>
            <a:chOff x="4637" y="2293"/>
            <a:chExt cx="364" cy="514"/>
          </a:xfrm>
        </p:grpSpPr>
        <p:sp>
          <p:nvSpPr>
            <p:cNvPr id="738" name="Freeform 122">
              <a:extLst>
                <a:ext uri="{FF2B5EF4-FFF2-40B4-BE49-F238E27FC236}">
                  <a16:creationId xmlns:a16="http://schemas.microsoft.com/office/drawing/2014/main" id="{DAE199DF-2C76-4EAB-A02F-9922537D51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37" y="2573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271 w 1443"/>
                <a:gd name="T3" fmla="*/ 224 h 816"/>
                <a:gd name="T4" fmla="*/ 333 w 1443"/>
                <a:gd name="T5" fmla="*/ 226 h 816"/>
                <a:gd name="T6" fmla="*/ 364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39" name="Group 126">
              <a:extLst>
                <a:ext uri="{FF2B5EF4-FFF2-40B4-BE49-F238E27FC236}">
                  <a16:creationId xmlns:a16="http://schemas.microsoft.com/office/drawing/2014/main" id="{91FE15C4-722F-4343-82A5-9D744C6DEF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2" y="2293"/>
              <a:ext cx="347" cy="285"/>
              <a:chOff x="2886" y="1668"/>
              <a:chExt cx="347" cy="285"/>
            </a:xfrm>
          </p:grpSpPr>
          <p:sp>
            <p:nvSpPr>
              <p:cNvPr id="740" name="Rectangle 127">
                <a:extLst>
                  <a:ext uri="{FF2B5EF4-FFF2-40B4-BE49-F238E27FC236}">
                    <a16:creationId xmlns:a16="http://schemas.microsoft.com/office/drawing/2014/main" id="{32842F3C-84C4-4028-B749-50A22A7EF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1" name="Oval 128">
                <a:extLst>
                  <a:ext uri="{FF2B5EF4-FFF2-40B4-BE49-F238E27FC236}">
                    <a16:creationId xmlns:a16="http://schemas.microsoft.com/office/drawing/2014/main" id="{2F788E9C-7D18-497D-BC7F-234DE34D0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2" name="Rectangle 129">
                <a:extLst>
                  <a:ext uri="{FF2B5EF4-FFF2-40B4-BE49-F238E27FC236}">
                    <a16:creationId xmlns:a16="http://schemas.microsoft.com/office/drawing/2014/main" id="{7DCED26E-9292-4B78-87C0-554B58EE3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3" name="Line 130">
                <a:extLst>
                  <a:ext uri="{FF2B5EF4-FFF2-40B4-BE49-F238E27FC236}">
                    <a16:creationId xmlns:a16="http://schemas.microsoft.com/office/drawing/2014/main" id="{6E598D11-634E-49D0-9847-33C755781B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4" name="Line 131">
                <a:extLst>
                  <a:ext uri="{FF2B5EF4-FFF2-40B4-BE49-F238E27FC236}">
                    <a16:creationId xmlns:a16="http://schemas.microsoft.com/office/drawing/2014/main" id="{7DD6EEEA-EAC7-4CBA-B0B7-264E8F02E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5" name="Line 132">
                <a:extLst>
                  <a:ext uri="{FF2B5EF4-FFF2-40B4-BE49-F238E27FC236}">
                    <a16:creationId xmlns:a16="http://schemas.microsoft.com/office/drawing/2014/main" id="{FF89FE51-7B01-4A45-AF12-DA6444879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6" name="AutoShape 133">
                <a:extLst>
                  <a:ext uri="{FF2B5EF4-FFF2-40B4-BE49-F238E27FC236}">
                    <a16:creationId xmlns:a16="http://schemas.microsoft.com/office/drawing/2014/main" id="{13644B82-384D-48F1-9A4F-BA8C20A15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47" name="Group 171">
            <a:extLst>
              <a:ext uri="{FF2B5EF4-FFF2-40B4-BE49-F238E27FC236}">
                <a16:creationId xmlns:a16="http://schemas.microsoft.com/office/drawing/2014/main" id="{E5A9E85A-2977-4E82-9594-5711D781BFA8}"/>
              </a:ext>
            </a:extLst>
          </p:cNvPr>
          <p:cNvGrpSpPr>
            <a:grpSpLocks/>
          </p:cNvGrpSpPr>
          <p:nvPr/>
        </p:nvGrpSpPr>
        <p:grpSpPr bwMode="auto">
          <a:xfrm>
            <a:off x="7486984" y="2979341"/>
            <a:ext cx="433388" cy="620315"/>
            <a:chOff x="5274" y="2465"/>
            <a:chExt cx="364" cy="521"/>
          </a:xfrm>
        </p:grpSpPr>
        <p:sp>
          <p:nvSpPr>
            <p:cNvPr id="748" name="Freeform 121">
              <a:extLst>
                <a:ext uri="{FF2B5EF4-FFF2-40B4-BE49-F238E27FC236}">
                  <a16:creationId xmlns:a16="http://schemas.microsoft.com/office/drawing/2014/main" id="{BC869E71-FA7C-4261-81A5-50ECFDDA82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74" y="2752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271 w 1443"/>
                <a:gd name="T3" fmla="*/ 224 h 816"/>
                <a:gd name="T4" fmla="*/ 333 w 1443"/>
                <a:gd name="T5" fmla="*/ 226 h 816"/>
                <a:gd name="T6" fmla="*/ 364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49" name="Group 134">
              <a:extLst>
                <a:ext uri="{FF2B5EF4-FFF2-40B4-BE49-F238E27FC236}">
                  <a16:creationId xmlns:a16="http://schemas.microsoft.com/office/drawing/2014/main" id="{33B9FAE6-F9FA-4EE6-AFE7-CD40C86B51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0" y="2465"/>
              <a:ext cx="347" cy="285"/>
              <a:chOff x="2886" y="1668"/>
              <a:chExt cx="347" cy="285"/>
            </a:xfrm>
          </p:grpSpPr>
          <p:sp>
            <p:nvSpPr>
              <p:cNvPr id="750" name="Rectangle 135">
                <a:extLst>
                  <a:ext uri="{FF2B5EF4-FFF2-40B4-BE49-F238E27FC236}">
                    <a16:creationId xmlns:a16="http://schemas.microsoft.com/office/drawing/2014/main" id="{928C3424-92B0-46D4-BE6F-3ACB7CBA9D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1" name="Oval 136">
                <a:extLst>
                  <a:ext uri="{FF2B5EF4-FFF2-40B4-BE49-F238E27FC236}">
                    <a16:creationId xmlns:a16="http://schemas.microsoft.com/office/drawing/2014/main" id="{1DE92CAE-02A5-41DF-B2B0-B8073A062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2" name="Rectangle 137">
                <a:extLst>
                  <a:ext uri="{FF2B5EF4-FFF2-40B4-BE49-F238E27FC236}">
                    <a16:creationId xmlns:a16="http://schemas.microsoft.com/office/drawing/2014/main" id="{D8F5B365-7C42-46AA-B7F4-0AB819EB6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3" name="Line 138">
                <a:extLst>
                  <a:ext uri="{FF2B5EF4-FFF2-40B4-BE49-F238E27FC236}">
                    <a16:creationId xmlns:a16="http://schemas.microsoft.com/office/drawing/2014/main" id="{3FA5ABEA-0C8B-46EC-AEB7-3C91F59E8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4" name="Line 139">
                <a:extLst>
                  <a:ext uri="{FF2B5EF4-FFF2-40B4-BE49-F238E27FC236}">
                    <a16:creationId xmlns:a16="http://schemas.microsoft.com/office/drawing/2014/main" id="{F50A61C2-6BE2-4EB5-B664-FEB2B0F8F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5" name="Line 140">
                <a:extLst>
                  <a:ext uri="{FF2B5EF4-FFF2-40B4-BE49-F238E27FC236}">
                    <a16:creationId xmlns:a16="http://schemas.microsoft.com/office/drawing/2014/main" id="{DBEA7927-5AEB-4BAF-9E28-2345D8D22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6" name="AutoShape 141">
                <a:extLst>
                  <a:ext uri="{FF2B5EF4-FFF2-40B4-BE49-F238E27FC236}">
                    <a16:creationId xmlns:a16="http://schemas.microsoft.com/office/drawing/2014/main" id="{EE362AF2-7090-425C-8FFC-5CE872B5E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7" name="Group 170">
            <a:extLst>
              <a:ext uri="{FF2B5EF4-FFF2-40B4-BE49-F238E27FC236}">
                <a16:creationId xmlns:a16="http://schemas.microsoft.com/office/drawing/2014/main" id="{14C58687-565F-469A-BE9C-2C126CDF9029}"/>
              </a:ext>
            </a:extLst>
          </p:cNvPr>
          <p:cNvGrpSpPr>
            <a:grpSpLocks/>
          </p:cNvGrpSpPr>
          <p:nvPr/>
        </p:nvGrpSpPr>
        <p:grpSpPr bwMode="auto">
          <a:xfrm>
            <a:off x="7216714" y="4267597"/>
            <a:ext cx="420290" cy="608409"/>
            <a:chOff x="5047" y="3547"/>
            <a:chExt cx="353" cy="511"/>
          </a:xfrm>
        </p:grpSpPr>
        <p:sp>
          <p:nvSpPr>
            <p:cNvPr id="758" name="Freeform 123">
              <a:extLst>
                <a:ext uri="{FF2B5EF4-FFF2-40B4-BE49-F238E27FC236}">
                  <a16:creationId xmlns:a16="http://schemas.microsoft.com/office/drawing/2014/main" id="{3CBF1CB8-9E21-4491-9332-5F0CC1CD1FDC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058" y="3547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24 h 816"/>
                <a:gd name="T4" fmla="*/ 313 w 1443"/>
                <a:gd name="T5" fmla="*/ 226 h 816"/>
                <a:gd name="T6" fmla="*/ 342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59" name="Group 142">
              <a:extLst>
                <a:ext uri="{FF2B5EF4-FFF2-40B4-BE49-F238E27FC236}">
                  <a16:creationId xmlns:a16="http://schemas.microsoft.com/office/drawing/2014/main" id="{F8D76689-C914-467C-90DA-4CB847D06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7" y="3773"/>
              <a:ext cx="347" cy="285"/>
              <a:chOff x="2886" y="1668"/>
              <a:chExt cx="347" cy="285"/>
            </a:xfrm>
          </p:grpSpPr>
          <p:sp>
            <p:nvSpPr>
              <p:cNvPr id="760" name="Rectangle 143">
                <a:extLst>
                  <a:ext uri="{FF2B5EF4-FFF2-40B4-BE49-F238E27FC236}">
                    <a16:creationId xmlns:a16="http://schemas.microsoft.com/office/drawing/2014/main" id="{A6B02E0D-E720-4A6D-8105-CA395A2E4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1" name="Oval 144">
                <a:extLst>
                  <a:ext uri="{FF2B5EF4-FFF2-40B4-BE49-F238E27FC236}">
                    <a16:creationId xmlns:a16="http://schemas.microsoft.com/office/drawing/2014/main" id="{CB1DBC83-003C-416A-B417-94321D6C2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2" name="Rectangle 145">
                <a:extLst>
                  <a:ext uri="{FF2B5EF4-FFF2-40B4-BE49-F238E27FC236}">
                    <a16:creationId xmlns:a16="http://schemas.microsoft.com/office/drawing/2014/main" id="{6A6BE1F5-4115-4328-B4E8-9F9E04C16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3" name="Line 146">
                <a:extLst>
                  <a:ext uri="{FF2B5EF4-FFF2-40B4-BE49-F238E27FC236}">
                    <a16:creationId xmlns:a16="http://schemas.microsoft.com/office/drawing/2014/main" id="{097B6CCA-94E0-428E-BE10-B44CD7EBC7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4" name="Line 147">
                <a:extLst>
                  <a:ext uri="{FF2B5EF4-FFF2-40B4-BE49-F238E27FC236}">
                    <a16:creationId xmlns:a16="http://schemas.microsoft.com/office/drawing/2014/main" id="{9264E1E1-FBEF-48C8-8DA2-C610C08FF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5" name="Line 148">
                <a:extLst>
                  <a:ext uri="{FF2B5EF4-FFF2-40B4-BE49-F238E27FC236}">
                    <a16:creationId xmlns:a16="http://schemas.microsoft.com/office/drawing/2014/main" id="{63E37A54-E798-4FFD-BDCE-42ED39F66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6" name="AutoShape 149">
                <a:extLst>
                  <a:ext uri="{FF2B5EF4-FFF2-40B4-BE49-F238E27FC236}">
                    <a16:creationId xmlns:a16="http://schemas.microsoft.com/office/drawing/2014/main" id="{16A72DDE-92C4-4F9F-B5B7-91D761A92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67" name="Group 173">
            <a:extLst>
              <a:ext uri="{FF2B5EF4-FFF2-40B4-BE49-F238E27FC236}">
                <a16:creationId xmlns:a16="http://schemas.microsoft.com/office/drawing/2014/main" id="{F3DECDE0-8F2B-45FA-848B-769C32176E74}"/>
              </a:ext>
            </a:extLst>
          </p:cNvPr>
          <p:cNvGrpSpPr>
            <a:grpSpLocks/>
          </p:cNvGrpSpPr>
          <p:nvPr/>
        </p:nvGrpSpPr>
        <p:grpSpPr bwMode="auto">
          <a:xfrm>
            <a:off x="6695219" y="4036616"/>
            <a:ext cx="413147" cy="675084"/>
            <a:chOff x="4609" y="3353"/>
            <a:chExt cx="347" cy="567"/>
          </a:xfrm>
        </p:grpSpPr>
        <p:sp>
          <p:nvSpPr>
            <p:cNvPr id="768" name="Freeform 125">
              <a:extLst>
                <a:ext uri="{FF2B5EF4-FFF2-40B4-BE49-F238E27FC236}">
                  <a16:creationId xmlns:a16="http://schemas.microsoft.com/office/drawing/2014/main" id="{FD706F48-87E0-4B3E-9ACB-D5B0D4FA1A6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611" y="3353"/>
              <a:ext cx="342" cy="285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73 h 816"/>
                <a:gd name="T4" fmla="*/ 313 w 1443"/>
                <a:gd name="T5" fmla="*/ 275 h 816"/>
                <a:gd name="T6" fmla="*/ 342 w 1443"/>
                <a:gd name="T7" fmla="*/ 2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69" name="Group 150">
              <a:extLst>
                <a:ext uri="{FF2B5EF4-FFF2-40B4-BE49-F238E27FC236}">
                  <a16:creationId xmlns:a16="http://schemas.microsoft.com/office/drawing/2014/main" id="{1B8C0FFF-3C96-4AD7-918F-3FE68F5BB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9" y="3635"/>
              <a:ext cx="347" cy="285"/>
              <a:chOff x="2886" y="1668"/>
              <a:chExt cx="347" cy="285"/>
            </a:xfrm>
          </p:grpSpPr>
          <p:sp>
            <p:nvSpPr>
              <p:cNvPr id="770" name="Rectangle 151">
                <a:extLst>
                  <a:ext uri="{FF2B5EF4-FFF2-40B4-BE49-F238E27FC236}">
                    <a16:creationId xmlns:a16="http://schemas.microsoft.com/office/drawing/2014/main" id="{3BA66704-8861-4154-B1FE-D4EC3A0EE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1" name="Oval 152">
                <a:extLst>
                  <a:ext uri="{FF2B5EF4-FFF2-40B4-BE49-F238E27FC236}">
                    <a16:creationId xmlns:a16="http://schemas.microsoft.com/office/drawing/2014/main" id="{F7A2B7F5-50AC-4B7C-9543-B6D86B2A4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2" name="Rectangle 153">
                <a:extLst>
                  <a:ext uri="{FF2B5EF4-FFF2-40B4-BE49-F238E27FC236}">
                    <a16:creationId xmlns:a16="http://schemas.microsoft.com/office/drawing/2014/main" id="{2002F8A2-1529-40C2-A1C6-B6653572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3" name="Line 154">
                <a:extLst>
                  <a:ext uri="{FF2B5EF4-FFF2-40B4-BE49-F238E27FC236}">
                    <a16:creationId xmlns:a16="http://schemas.microsoft.com/office/drawing/2014/main" id="{A68A7E7C-A1C6-4900-9869-75EFF278E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4" name="Line 155">
                <a:extLst>
                  <a:ext uri="{FF2B5EF4-FFF2-40B4-BE49-F238E27FC236}">
                    <a16:creationId xmlns:a16="http://schemas.microsoft.com/office/drawing/2014/main" id="{C5A4F73E-EF5C-403A-9157-1CBE8BB4B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5" name="Line 156">
                <a:extLst>
                  <a:ext uri="{FF2B5EF4-FFF2-40B4-BE49-F238E27FC236}">
                    <a16:creationId xmlns:a16="http://schemas.microsoft.com/office/drawing/2014/main" id="{7EFBCB68-77D7-48A5-B032-CEFB200F8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6" name="AutoShape 157">
                <a:extLst>
                  <a:ext uri="{FF2B5EF4-FFF2-40B4-BE49-F238E27FC236}">
                    <a16:creationId xmlns:a16="http://schemas.microsoft.com/office/drawing/2014/main" id="{A44D4E47-4C15-4DFB-A635-8291BEF84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77" name="Group 174">
            <a:extLst>
              <a:ext uri="{FF2B5EF4-FFF2-40B4-BE49-F238E27FC236}">
                <a16:creationId xmlns:a16="http://schemas.microsoft.com/office/drawing/2014/main" id="{872F321C-B37F-43D0-92DE-B2A89B9047F5}"/>
              </a:ext>
            </a:extLst>
          </p:cNvPr>
          <p:cNvGrpSpPr>
            <a:grpSpLocks/>
          </p:cNvGrpSpPr>
          <p:nvPr/>
        </p:nvGrpSpPr>
        <p:grpSpPr bwMode="auto">
          <a:xfrm>
            <a:off x="6203491" y="4255691"/>
            <a:ext cx="421481" cy="600075"/>
            <a:chOff x="4196" y="3537"/>
            <a:chExt cx="354" cy="504"/>
          </a:xfrm>
        </p:grpSpPr>
        <p:sp>
          <p:nvSpPr>
            <p:cNvPr id="778" name="Freeform 124">
              <a:extLst>
                <a:ext uri="{FF2B5EF4-FFF2-40B4-BE49-F238E27FC236}">
                  <a16:creationId xmlns:a16="http://schemas.microsoft.com/office/drawing/2014/main" id="{4BFE5E84-4A56-4988-8DD5-F1194101C42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208" y="3537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24 h 816"/>
                <a:gd name="T4" fmla="*/ 313 w 1443"/>
                <a:gd name="T5" fmla="*/ 226 h 816"/>
                <a:gd name="T6" fmla="*/ 342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79" name="Group 158">
              <a:extLst>
                <a:ext uri="{FF2B5EF4-FFF2-40B4-BE49-F238E27FC236}">
                  <a16:creationId xmlns:a16="http://schemas.microsoft.com/office/drawing/2014/main" id="{852953D0-476F-48DD-9B77-87306C2EF1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6" y="3756"/>
              <a:ext cx="347" cy="285"/>
              <a:chOff x="2886" y="1668"/>
              <a:chExt cx="347" cy="285"/>
            </a:xfrm>
          </p:grpSpPr>
          <p:sp>
            <p:nvSpPr>
              <p:cNvPr id="780" name="Rectangle 159">
                <a:extLst>
                  <a:ext uri="{FF2B5EF4-FFF2-40B4-BE49-F238E27FC236}">
                    <a16:creationId xmlns:a16="http://schemas.microsoft.com/office/drawing/2014/main" id="{38FD4C29-D912-4B47-A546-5C927CB26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1" name="Oval 160">
                <a:extLst>
                  <a:ext uri="{FF2B5EF4-FFF2-40B4-BE49-F238E27FC236}">
                    <a16:creationId xmlns:a16="http://schemas.microsoft.com/office/drawing/2014/main" id="{4116E81D-AB55-435F-BAFE-0092B8294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2" name="Rectangle 161">
                <a:extLst>
                  <a:ext uri="{FF2B5EF4-FFF2-40B4-BE49-F238E27FC236}">
                    <a16:creationId xmlns:a16="http://schemas.microsoft.com/office/drawing/2014/main" id="{379DA93F-8149-44EF-BE5E-5D69139D4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3" name="Line 162">
                <a:extLst>
                  <a:ext uri="{FF2B5EF4-FFF2-40B4-BE49-F238E27FC236}">
                    <a16:creationId xmlns:a16="http://schemas.microsoft.com/office/drawing/2014/main" id="{D70D2EE0-D419-4F7A-A828-E70E87BED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4" name="Line 163">
                <a:extLst>
                  <a:ext uri="{FF2B5EF4-FFF2-40B4-BE49-F238E27FC236}">
                    <a16:creationId xmlns:a16="http://schemas.microsoft.com/office/drawing/2014/main" id="{7752BA0F-9FA3-47A4-B970-47B12A89C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5" name="Line 164">
                <a:extLst>
                  <a:ext uri="{FF2B5EF4-FFF2-40B4-BE49-F238E27FC236}">
                    <a16:creationId xmlns:a16="http://schemas.microsoft.com/office/drawing/2014/main" id="{9647583B-DF4A-448A-9A8D-149CB3504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6" name="AutoShape 165">
                <a:extLst>
                  <a:ext uri="{FF2B5EF4-FFF2-40B4-BE49-F238E27FC236}">
                    <a16:creationId xmlns:a16="http://schemas.microsoft.com/office/drawing/2014/main" id="{D38D069C-7253-49EA-BD47-F732ADDBD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87" name="Rectangle 181">
            <a:extLst>
              <a:ext uri="{FF2B5EF4-FFF2-40B4-BE49-F238E27FC236}">
                <a16:creationId xmlns:a16="http://schemas.microsoft.com/office/drawing/2014/main" id="{9B9BF3FB-433F-4B0F-856C-AB5A18E51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743" y="2338784"/>
            <a:ext cx="594122" cy="12620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" name="Line 119">
            <a:extLst>
              <a:ext uri="{FF2B5EF4-FFF2-40B4-BE49-F238E27FC236}">
                <a16:creationId xmlns:a16="http://schemas.microsoft.com/office/drawing/2014/main" id="{80563DF0-00E4-4A7D-AB01-0F053A052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4329" y="2464988"/>
            <a:ext cx="265508" cy="10156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9" name="Line 99">
            <a:extLst>
              <a:ext uri="{FF2B5EF4-FFF2-40B4-BE49-F238E27FC236}">
                <a16:creationId xmlns:a16="http://schemas.microsoft.com/office/drawing/2014/main" id="{C66D7DA6-FA60-4D29-83AA-E856FD5BC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2676" y="3600847"/>
            <a:ext cx="316706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90" name="Group 183">
            <a:extLst>
              <a:ext uri="{FF2B5EF4-FFF2-40B4-BE49-F238E27FC236}">
                <a16:creationId xmlns:a16="http://schemas.microsoft.com/office/drawing/2014/main" id="{CAD285AB-D73C-43F3-8E94-BB82312CC0E6}"/>
              </a:ext>
            </a:extLst>
          </p:cNvPr>
          <p:cNvGrpSpPr>
            <a:grpSpLocks/>
          </p:cNvGrpSpPr>
          <p:nvPr/>
        </p:nvGrpSpPr>
        <p:grpSpPr bwMode="auto">
          <a:xfrm>
            <a:off x="4623530" y="3484168"/>
            <a:ext cx="889396" cy="230981"/>
            <a:chOff x="2869" y="2889"/>
            <a:chExt cx="747" cy="194"/>
          </a:xfrm>
        </p:grpSpPr>
        <p:sp>
          <p:nvSpPr>
            <p:cNvPr id="791" name="Rectangle 97">
              <a:extLst>
                <a:ext uri="{FF2B5EF4-FFF2-40B4-BE49-F238E27FC236}">
                  <a16:creationId xmlns:a16="http://schemas.microsoft.com/office/drawing/2014/main" id="{41B54E55-D90C-438C-BC0E-17FE0D38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4" y="2889"/>
              <a:ext cx="728" cy="1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2" name="Rectangle 98">
              <a:extLst>
                <a:ext uri="{FF2B5EF4-FFF2-40B4-BE49-F238E27FC236}">
                  <a16:creationId xmlns:a16="http://schemas.microsoft.com/office/drawing/2014/main" id="{3A046C24-4CD4-46D0-B4F5-2000BB1BB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" y="2904"/>
              <a:ext cx="723" cy="15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3" name="Rectangle 104">
              <a:extLst>
                <a:ext uri="{FF2B5EF4-FFF2-40B4-BE49-F238E27FC236}">
                  <a16:creationId xmlns:a16="http://schemas.microsoft.com/office/drawing/2014/main" id="{141007E5-6248-45E1-8A63-EC215AE1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2906"/>
              <a:ext cx="269" cy="1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4" name="Text Box 105">
              <a:extLst>
                <a:ext uri="{FF2B5EF4-FFF2-40B4-BE49-F238E27FC236}">
                  <a16:creationId xmlns:a16="http://schemas.microsoft.com/office/drawing/2014/main" id="{B8D9C1FB-8AE1-4C10-8B11-F3CE0DA30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" y="2889"/>
              <a:ext cx="3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</a:p>
          </p:txBody>
        </p:sp>
      </p:grpSp>
      <p:sp>
        <p:nvSpPr>
          <p:cNvPr id="795" name="Line 107">
            <a:extLst>
              <a:ext uri="{FF2B5EF4-FFF2-40B4-BE49-F238E27FC236}">
                <a16:creationId xmlns:a16="http://schemas.microsoft.com/office/drawing/2014/main" id="{C01DD0A2-28E4-4701-85C8-5A8FCBF84E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9270" y="3698478"/>
            <a:ext cx="10120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6" name="Line 119">
            <a:extLst>
              <a:ext uri="{FF2B5EF4-FFF2-40B4-BE49-F238E27FC236}">
                <a16:creationId xmlns:a16="http://schemas.microsoft.com/office/drawing/2014/main" id="{0F43B330-323F-4610-962E-B587AFF6B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6901" y="3263900"/>
            <a:ext cx="296465" cy="2107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7" name="直接连接符 796">
            <a:extLst>
              <a:ext uri="{FF2B5EF4-FFF2-40B4-BE49-F238E27FC236}">
                <a16:creationId xmlns:a16="http://schemas.microsoft.com/office/drawing/2014/main" id="{865891CF-BC96-4A14-B357-7C2425B09DAA}"/>
              </a:ext>
            </a:extLst>
          </p:cNvPr>
          <p:cNvCxnSpPr/>
          <p:nvPr/>
        </p:nvCxnSpPr>
        <p:spPr>
          <a:xfrm flipH="1" flipV="1">
            <a:off x="6423660" y="1866900"/>
            <a:ext cx="6050" cy="11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直接连接符 797">
            <a:extLst>
              <a:ext uri="{FF2B5EF4-FFF2-40B4-BE49-F238E27FC236}">
                <a16:creationId xmlns:a16="http://schemas.microsoft.com/office/drawing/2014/main" id="{F02600F6-D1AB-4946-B359-CC4BAA3AFD7F}"/>
              </a:ext>
            </a:extLst>
          </p:cNvPr>
          <p:cNvCxnSpPr>
            <a:cxnSpLocks/>
          </p:cNvCxnSpPr>
          <p:nvPr/>
        </p:nvCxnSpPr>
        <p:spPr>
          <a:xfrm>
            <a:off x="6392800" y="1453555"/>
            <a:ext cx="170759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" name="TextBox 232">
            <a:extLst>
              <a:ext uri="{FF2B5EF4-FFF2-40B4-BE49-F238E27FC236}">
                <a16:creationId xmlns:a16="http://schemas.microsoft.com/office/drawing/2014/main" id="{5D13C12F-DB5C-4FA7-905D-CAD1011FE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458" y="1489236"/>
            <a:ext cx="1212918" cy="28469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14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数据平面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0" name="TextBox 233">
            <a:extLst>
              <a:ext uri="{FF2B5EF4-FFF2-40B4-BE49-F238E27FC236}">
                <a16:creationId xmlns:a16="http://schemas.microsoft.com/office/drawing/2014/main" id="{719E6DA1-D3DF-4A2F-A1A7-9A10E908E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2906" y="1155018"/>
            <a:ext cx="876817" cy="2713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ts val="14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控制平面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9103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网络层复习总结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sz="2200" dirty="0">
                <a:solidFill>
                  <a:srgbClr val="FF0000"/>
                </a:solidFill>
                <a:effectLst/>
              </a:rPr>
              <a:t>3</a:t>
            </a:r>
            <a:r>
              <a:rPr lang="zh-CN" altLang="en-US" sz="2200" dirty="0">
                <a:solidFill>
                  <a:srgbClr val="FF0000"/>
                </a:solidFill>
                <a:effectLst/>
              </a:rPr>
              <a:t>：</a:t>
            </a:r>
            <a:r>
              <a:rPr lang="en-US" altLang="zh-CN" sz="2200" dirty="0">
                <a:solidFill>
                  <a:srgbClr val="FF0000"/>
                </a:solidFill>
                <a:effectLst/>
              </a:rPr>
              <a:t>IP</a:t>
            </a:r>
            <a:r>
              <a:rPr lang="zh-CN" altLang="en-US" sz="2200" dirty="0">
                <a:solidFill>
                  <a:srgbClr val="FF0000"/>
                </a:solidFill>
                <a:effectLst/>
              </a:rPr>
              <a:t>数据报封装</a:t>
            </a:r>
            <a:r>
              <a:rPr lang="en-US" altLang="zh-CN" sz="2200" dirty="0">
                <a:solidFill>
                  <a:srgbClr val="FF0000"/>
                </a:solidFill>
                <a:effectLst/>
              </a:rPr>
              <a:t>(IPv4)</a:t>
            </a:r>
            <a:endParaRPr lang="zh-CN" altLang="en-US" dirty="0">
              <a:solidFill>
                <a:srgbClr val="FF0000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" name="Line 3">
            <a:extLst>
              <a:ext uri="{FF2B5EF4-FFF2-40B4-BE49-F238E27FC236}">
                <a16:creationId xmlns:a16="http://schemas.microsoft.com/office/drawing/2014/main" id="{01B63DAC-DDF3-4ED3-86CB-33EBEA7B9D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1480" y="1901863"/>
            <a:ext cx="10820" cy="1515827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Rectangle 4">
            <a:extLst>
              <a:ext uri="{FF2B5EF4-FFF2-40B4-BE49-F238E27FC236}">
                <a16:creationId xmlns:a16="http://schemas.microsoft.com/office/drawing/2014/main" id="{0CBF8B02-338E-425F-84C0-AC5B03717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322" y="2518545"/>
            <a:ext cx="521778" cy="20582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</a:pPr>
            <a:r>
              <a:rPr kumimoji="1" lang="en-US" altLang="zh-C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186" name="Line 5">
            <a:extLst>
              <a:ext uri="{FF2B5EF4-FFF2-40B4-BE49-F238E27FC236}">
                <a16:creationId xmlns:a16="http://schemas.microsoft.com/office/drawing/2014/main" id="{B151B023-72F9-44DB-AB95-5E93B069CE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0293" y="1898372"/>
            <a:ext cx="0" cy="1273225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Rectangle 6">
            <a:extLst>
              <a:ext uri="{FF2B5EF4-FFF2-40B4-BE49-F238E27FC236}">
                <a16:creationId xmlns:a16="http://schemas.microsoft.com/office/drawing/2014/main" id="{26DD5793-F02D-4580-A88B-FB6B39F4B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7213" y="2357541"/>
            <a:ext cx="650018" cy="3443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lnSpc>
                <a:spcPct val="90000"/>
              </a:lnSpc>
            </a:pPr>
            <a:r>
              <a:rPr kumimoji="1" lang="en-US" altLang="zh-C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  <a:p>
            <a:pPr algn="ctr" eaLnBrk="0" hangingPunct="0">
              <a:lnSpc>
                <a:spcPct val="90000"/>
              </a:lnSpc>
            </a:pP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固定首部</a:t>
            </a:r>
          </a:p>
        </p:txBody>
      </p:sp>
      <p:sp>
        <p:nvSpPr>
          <p:cNvPr id="188" name="Rectangle 7">
            <a:extLst>
              <a:ext uri="{FF2B5EF4-FFF2-40B4-BE49-F238E27FC236}">
                <a16:creationId xmlns:a16="http://schemas.microsoft.com/office/drawing/2014/main" id="{7EE9753F-64A6-4F56-9C90-628E38062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409" y="1900990"/>
            <a:ext cx="4641900" cy="1519318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Freeform 9">
            <a:extLst>
              <a:ext uri="{FF2B5EF4-FFF2-40B4-BE49-F238E27FC236}">
                <a16:creationId xmlns:a16="http://schemas.microsoft.com/office/drawing/2014/main" id="{32493C4E-4E1B-4491-9733-F43D96F19A2A}"/>
              </a:ext>
            </a:extLst>
          </p:cNvPr>
          <p:cNvSpPr>
            <a:spLocks/>
          </p:cNvSpPr>
          <p:nvPr/>
        </p:nvSpPr>
        <p:spPr bwMode="auto">
          <a:xfrm>
            <a:off x="2144901" y="3453948"/>
            <a:ext cx="4652720" cy="382623"/>
          </a:xfrm>
          <a:custGeom>
            <a:avLst/>
            <a:gdLst>
              <a:gd name="T0" fmla="*/ 0 w 4626"/>
              <a:gd name="T1" fmla="*/ 0 h 544"/>
              <a:gd name="T2" fmla="*/ 861 w 4626"/>
              <a:gd name="T3" fmla="*/ 544 h 544"/>
              <a:gd name="T4" fmla="*/ 1814 w 4626"/>
              <a:gd name="T5" fmla="*/ 544 h 544"/>
              <a:gd name="T6" fmla="*/ 4626 w 4626"/>
              <a:gd name="T7" fmla="*/ 0 h 544"/>
              <a:gd name="T8" fmla="*/ 0 w 4626"/>
              <a:gd name="T9" fmla="*/ 0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26" h="544">
                <a:moveTo>
                  <a:pt x="0" y="0"/>
                </a:moveTo>
                <a:lnTo>
                  <a:pt x="861" y="544"/>
                </a:lnTo>
                <a:lnTo>
                  <a:pt x="1814" y="544"/>
                </a:lnTo>
                <a:lnTo>
                  <a:pt x="4626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FFCC">
                  <a:gamma/>
                  <a:shade val="69804"/>
                  <a:invGamma/>
                </a:srgbClr>
              </a:gs>
              <a:gs pos="100000">
                <a:srgbClr val="FFFF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Line 10">
            <a:extLst>
              <a:ext uri="{FF2B5EF4-FFF2-40B4-BE49-F238E27FC236}">
                <a16:creationId xmlns:a16="http://schemas.microsoft.com/office/drawing/2014/main" id="{6F93C8EE-52AB-44A9-BEBE-2E90013F8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081" y="2159300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Line 11">
            <a:extLst>
              <a:ext uri="{FF2B5EF4-FFF2-40B4-BE49-F238E27FC236}">
                <a16:creationId xmlns:a16="http://schemas.microsoft.com/office/drawing/2014/main" id="{DBD7EE56-55D8-4377-8351-1D9ED71EB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2738" y="2414993"/>
            <a:ext cx="464081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Line 12">
            <a:extLst>
              <a:ext uri="{FF2B5EF4-FFF2-40B4-BE49-F238E27FC236}">
                <a16:creationId xmlns:a16="http://schemas.microsoft.com/office/drawing/2014/main" id="{27A88D5A-40F1-4FED-8378-C777D42E4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081" y="2669812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Line 13">
            <a:extLst>
              <a:ext uri="{FF2B5EF4-FFF2-40B4-BE49-F238E27FC236}">
                <a16:creationId xmlns:a16="http://schemas.microsoft.com/office/drawing/2014/main" id="{CA1961E0-5268-44A5-9628-4C349901D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081" y="2924632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Line 14">
            <a:extLst>
              <a:ext uri="{FF2B5EF4-FFF2-40B4-BE49-F238E27FC236}">
                <a16:creationId xmlns:a16="http://schemas.microsoft.com/office/drawing/2014/main" id="{6FB2606E-DDF4-4066-AAFF-173CFD9F4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2738" y="3180324"/>
            <a:ext cx="464081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Line 15">
            <a:extLst>
              <a:ext uri="{FF2B5EF4-FFF2-40B4-BE49-F238E27FC236}">
                <a16:creationId xmlns:a16="http://schemas.microsoft.com/office/drawing/2014/main" id="{E25372A8-0FD0-468B-BB59-49B5FB776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441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Line 35">
            <a:extLst>
              <a:ext uri="{FF2B5EF4-FFF2-40B4-BE49-F238E27FC236}">
                <a16:creationId xmlns:a16="http://schemas.microsoft.com/office/drawing/2014/main" id="{ED8D6F38-8E3D-4447-AEEC-99DD0882E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983" y="1564139"/>
            <a:ext cx="46310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Rectangle 36">
            <a:extLst>
              <a:ext uri="{FF2B5EF4-FFF2-40B4-BE49-F238E27FC236}">
                <a16:creationId xmlns:a16="http://schemas.microsoft.com/office/drawing/2014/main" id="{2A07A739-3727-43DE-972A-AC906E859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8551" y="1371446"/>
            <a:ext cx="595516" cy="228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 bits</a:t>
            </a:r>
          </a:p>
        </p:txBody>
      </p: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ECED2553-2F2F-4D3A-84E9-3796EF083D0B}"/>
              </a:ext>
            </a:extLst>
          </p:cNvPr>
          <p:cNvGrpSpPr/>
          <p:nvPr/>
        </p:nvGrpSpPr>
        <p:grpSpPr>
          <a:xfrm>
            <a:off x="1765733" y="1606091"/>
            <a:ext cx="5078416" cy="206822"/>
            <a:chOff x="1765733" y="1636571"/>
            <a:chExt cx="5078416" cy="206822"/>
          </a:xfrm>
        </p:grpSpPr>
        <p:sp>
          <p:nvSpPr>
            <p:cNvPr id="199" name="Line 37">
              <a:extLst>
                <a:ext uri="{FF2B5EF4-FFF2-40B4-BE49-F238E27FC236}">
                  <a16:creationId xmlns:a16="http://schemas.microsoft.com/office/drawing/2014/main" id="{2628DD7B-B543-472F-9366-06ED3DC4B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246" y="1843393"/>
              <a:ext cx="4635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38">
              <a:extLst>
                <a:ext uri="{FF2B5EF4-FFF2-40B4-BE49-F238E27FC236}">
                  <a16:creationId xmlns:a16="http://schemas.microsoft.com/office/drawing/2014/main" id="{6FC07AA9-65AA-4791-AECE-602948EA3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246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Line 39">
              <a:extLst>
                <a:ext uri="{FF2B5EF4-FFF2-40B4-BE49-F238E27FC236}">
                  <a16:creationId xmlns:a16="http://schemas.microsoft.com/office/drawing/2014/main" id="{928BE8BA-959D-4778-953A-9E14C116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237" y="1799982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40">
              <a:extLst>
                <a:ext uri="{FF2B5EF4-FFF2-40B4-BE49-F238E27FC236}">
                  <a16:creationId xmlns:a16="http://schemas.microsoft.com/office/drawing/2014/main" id="{09ACB3C6-265D-4545-834A-D5CC0F4E5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229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41">
              <a:extLst>
                <a:ext uri="{FF2B5EF4-FFF2-40B4-BE49-F238E27FC236}">
                  <a16:creationId xmlns:a16="http://schemas.microsoft.com/office/drawing/2014/main" id="{F5F4E3C4-1AAD-440E-ABE2-53CB802DF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122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42">
              <a:extLst>
                <a:ext uri="{FF2B5EF4-FFF2-40B4-BE49-F238E27FC236}">
                  <a16:creationId xmlns:a16="http://schemas.microsoft.com/office/drawing/2014/main" id="{5B1579DB-371E-4A7E-B4B2-5904E9246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6212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43">
              <a:extLst>
                <a:ext uri="{FF2B5EF4-FFF2-40B4-BE49-F238E27FC236}">
                  <a16:creationId xmlns:a16="http://schemas.microsoft.com/office/drawing/2014/main" id="{1F8A1A04-CE59-4F06-BDE1-2F6EE7F0E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120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44">
              <a:extLst>
                <a:ext uri="{FF2B5EF4-FFF2-40B4-BE49-F238E27FC236}">
                  <a16:creationId xmlns:a16="http://schemas.microsoft.com/office/drawing/2014/main" id="{9740D07D-630F-47F9-B290-8ABE2B573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11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Line 45">
              <a:extLst>
                <a:ext uri="{FF2B5EF4-FFF2-40B4-BE49-F238E27FC236}">
                  <a16:creationId xmlns:a16="http://schemas.microsoft.com/office/drawing/2014/main" id="{4D7F47C6-871E-45CE-B923-BB8AABD4D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010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46">
              <a:extLst>
                <a:ext uri="{FF2B5EF4-FFF2-40B4-BE49-F238E27FC236}">
                  <a16:creationId xmlns:a16="http://schemas.microsoft.com/office/drawing/2014/main" id="{87E21CA9-4984-4353-BBFD-3028E7706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097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Line 47">
              <a:extLst>
                <a:ext uri="{FF2B5EF4-FFF2-40B4-BE49-F238E27FC236}">
                  <a16:creationId xmlns:a16="http://schemas.microsoft.com/office/drawing/2014/main" id="{56160792-56CB-41B0-9CF2-CDA9C1D74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008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Line 48">
              <a:extLst>
                <a:ext uri="{FF2B5EF4-FFF2-40B4-BE49-F238E27FC236}">
                  <a16:creationId xmlns:a16="http://schemas.microsoft.com/office/drawing/2014/main" id="{7ED8D2BD-F75D-43EC-B3D3-95F5795AF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08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Line 49">
              <a:extLst>
                <a:ext uri="{FF2B5EF4-FFF2-40B4-BE49-F238E27FC236}">
                  <a16:creationId xmlns:a16="http://schemas.microsoft.com/office/drawing/2014/main" id="{0A0BBD62-F4BE-4386-A23D-CBB92A34C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072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Line 50">
              <a:extLst>
                <a:ext uri="{FF2B5EF4-FFF2-40B4-BE49-F238E27FC236}">
                  <a16:creationId xmlns:a16="http://schemas.microsoft.com/office/drawing/2014/main" id="{BB8D3FDB-8A3F-4400-AE1E-6B48CE6AD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06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Line 51">
              <a:extLst>
                <a:ext uri="{FF2B5EF4-FFF2-40B4-BE49-F238E27FC236}">
                  <a16:creationId xmlns:a16="http://schemas.microsoft.com/office/drawing/2014/main" id="{4FF32806-1580-4E31-9BFE-6AC831841D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05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Line 52">
              <a:extLst>
                <a:ext uri="{FF2B5EF4-FFF2-40B4-BE49-F238E27FC236}">
                  <a16:creationId xmlns:a16="http://schemas.microsoft.com/office/drawing/2014/main" id="{EEC39FC7-2929-43BF-82F0-5A67E87D9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396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Line 53">
              <a:extLst>
                <a:ext uri="{FF2B5EF4-FFF2-40B4-BE49-F238E27FC236}">
                  <a16:creationId xmlns:a16="http://schemas.microsoft.com/office/drawing/2014/main" id="{EF6067FB-3642-4227-8217-267E72219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95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54">
              <a:extLst>
                <a:ext uri="{FF2B5EF4-FFF2-40B4-BE49-F238E27FC236}">
                  <a16:creationId xmlns:a16="http://schemas.microsoft.com/office/drawing/2014/main" id="{C979BD41-7B2C-40E9-8F3A-1A4D04F51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3949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55">
              <a:extLst>
                <a:ext uri="{FF2B5EF4-FFF2-40B4-BE49-F238E27FC236}">
                  <a16:creationId xmlns:a16="http://schemas.microsoft.com/office/drawing/2014/main" id="{A0999AB4-E01D-47D8-8BCB-4A7559F36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894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56">
              <a:extLst>
                <a:ext uri="{FF2B5EF4-FFF2-40B4-BE49-F238E27FC236}">
                  <a16:creationId xmlns:a16="http://schemas.microsoft.com/office/drawing/2014/main" id="{D8A9470F-F73A-4565-8734-E1DA0F12A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93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Line 57">
              <a:extLst>
                <a:ext uri="{FF2B5EF4-FFF2-40B4-BE49-F238E27FC236}">
                  <a16:creationId xmlns:a16="http://schemas.microsoft.com/office/drawing/2014/main" id="{383B737F-40E4-4FC7-9791-2AF147738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892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58">
              <a:extLst>
                <a:ext uri="{FF2B5EF4-FFF2-40B4-BE49-F238E27FC236}">
                  <a16:creationId xmlns:a16="http://schemas.microsoft.com/office/drawing/2014/main" id="{45E990C5-87A8-4664-8B0D-DC8191548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3916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Line 59">
              <a:extLst>
                <a:ext uri="{FF2B5EF4-FFF2-40B4-BE49-F238E27FC236}">
                  <a16:creationId xmlns:a16="http://schemas.microsoft.com/office/drawing/2014/main" id="{7E0DB950-77A3-47C5-A81F-D1F60C250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890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60">
              <a:extLst>
                <a:ext uri="{FF2B5EF4-FFF2-40B4-BE49-F238E27FC236}">
                  <a16:creationId xmlns:a16="http://schemas.microsoft.com/office/drawing/2014/main" id="{A89FB743-6685-4972-A67E-4562DDF5A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2817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61">
              <a:extLst>
                <a:ext uri="{FF2B5EF4-FFF2-40B4-BE49-F238E27FC236}">
                  <a16:creationId xmlns:a16="http://schemas.microsoft.com/office/drawing/2014/main" id="{82078006-86AE-4A34-A3A4-D3D8746F6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7809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Line 62">
              <a:extLst>
                <a:ext uri="{FF2B5EF4-FFF2-40B4-BE49-F238E27FC236}">
                  <a16:creationId xmlns:a16="http://schemas.microsoft.com/office/drawing/2014/main" id="{DC767EEB-345C-4EDD-B06F-C9F2879AB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2801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Line 63">
              <a:extLst>
                <a:ext uri="{FF2B5EF4-FFF2-40B4-BE49-F238E27FC236}">
                  <a16:creationId xmlns:a16="http://schemas.microsoft.com/office/drawing/2014/main" id="{47AE3A65-956D-4F5C-A775-DA36DA278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779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Line 64">
              <a:extLst>
                <a:ext uri="{FF2B5EF4-FFF2-40B4-BE49-F238E27FC236}">
                  <a16:creationId xmlns:a16="http://schemas.microsoft.com/office/drawing/2014/main" id="{2CD3CAEA-377A-4ECB-91C2-BF8B6BDF9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78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Line 65">
              <a:extLst>
                <a:ext uri="{FF2B5EF4-FFF2-40B4-BE49-F238E27FC236}">
                  <a16:creationId xmlns:a16="http://schemas.microsoft.com/office/drawing/2014/main" id="{4689507B-B6BC-44DC-A328-F908BE919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7776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Line 66">
              <a:extLst>
                <a:ext uri="{FF2B5EF4-FFF2-40B4-BE49-F238E27FC236}">
                  <a16:creationId xmlns:a16="http://schemas.microsoft.com/office/drawing/2014/main" id="{1934447B-E3B3-4FF6-AD91-BB5A02649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767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Line 67">
              <a:extLst>
                <a:ext uri="{FF2B5EF4-FFF2-40B4-BE49-F238E27FC236}">
                  <a16:creationId xmlns:a16="http://schemas.microsoft.com/office/drawing/2014/main" id="{A50DED11-DF5C-4D6B-B44B-3CD0893E4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776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Line 68">
              <a:extLst>
                <a:ext uri="{FF2B5EF4-FFF2-40B4-BE49-F238E27FC236}">
                  <a16:creationId xmlns:a16="http://schemas.microsoft.com/office/drawing/2014/main" id="{D339B270-AC2E-4577-893F-DB5FD919D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167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Line 69">
              <a:extLst>
                <a:ext uri="{FF2B5EF4-FFF2-40B4-BE49-F238E27FC236}">
                  <a16:creationId xmlns:a16="http://schemas.microsoft.com/office/drawing/2014/main" id="{BE336D68-250D-41A8-98BE-FEE40AA0B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666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Line 70">
              <a:extLst>
                <a:ext uri="{FF2B5EF4-FFF2-40B4-BE49-F238E27FC236}">
                  <a16:creationId xmlns:a16="http://schemas.microsoft.com/office/drawing/2014/main" id="{813475E6-43B4-49AE-BFA9-694B4B45E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1653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Rectangle 80">
              <a:extLst>
                <a:ext uri="{FF2B5EF4-FFF2-40B4-BE49-F238E27FC236}">
                  <a16:creationId xmlns:a16="http://schemas.microsoft.com/office/drawing/2014/main" id="{3FF38BCA-34DC-46B3-89B7-4B7509E67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733" y="1636571"/>
              <a:ext cx="5078416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  </a:t>
              </a:r>
              <a:r>
                <a:rPr kumimoji="1"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0                                8                                16                              24                          31</a:t>
              </a:r>
            </a:p>
          </p:txBody>
        </p:sp>
      </p:grpSp>
      <p:sp>
        <p:nvSpPr>
          <p:cNvPr id="234" name="Line 96">
            <a:extLst>
              <a:ext uri="{FF2B5EF4-FFF2-40B4-BE49-F238E27FC236}">
                <a16:creationId xmlns:a16="http://schemas.microsoft.com/office/drawing/2014/main" id="{20F12152-89B1-4EB4-9C1D-2E19AAF69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4149" y="1892263"/>
            <a:ext cx="32014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" name="Line 97">
            <a:extLst>
              <a:ext uri="{FF2B5EF4-FFF2-40B4-BE49-F238E27FC236}">
                <a16:creationId xmlns:a16="http://schemas.microsoft.com/office/drawing/2014/main" id="{99C8D06E-8864-4B9A-B50D-7D0BC689A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4148" y="3176833"/>
            <a:ext cx="320141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" name="Line 98">
            <a:extLst>
              <a:ext uri="{FF2B5EF4-FFF2-40B4-BE49-F238E27FC236}">
                <a16:creationId xmlns:a16="http://schemas.microsoft.com/office/drawing/2014/main" id="{4083A633-51E8-48E5-95C2-A7EDB4EAA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9176" y="1906226"/>
            <a:ext cx="3202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7" name="Line 99">
            <a:extLst>
              <a:ext uri="{FF2B5EF4-FFF2-40B4-BE49-F238E27FC236}">
                <a16:creationId xmlns:a16="http://schemas.microsoft.com/office/drawing/2014/main" id="{F488D259-28EE-48F6-8060-84EDEAF76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832" y="3413327"/>
            <a:ext cx="3202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Line 15">
            <a:extLst>
              <a:ext uri="{FF2B5EF4-FFF2-40B4-BE49-F238E27FC236}">
                <a16:creationId xmlns:a16="http://schemas.microsoft.com/office/drawing/2014/main" id="{48F7A9CB-6D09-486A-A1D4-947386347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8801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Line 15">
            <a:extLst>
              <a:ext uri="{FF2B5EF4-FFF2-40B4-BE49-F238E27FC236}">
                <a16:creationId xmlns:a16="http://schemas.microsoft.com/office/drawing/2014/main" id="{028A5A3F-671C-4BD9-A16A-5996B5AEC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441" y="2159290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Line 15">
            <a:extLst>
              <a:ext uri="{FF2B5EF4-FFF2-40B4-BE49-F238E27FC236}">
                <a16:creationId xmlns:a16="http://schemas.microsoft.com/office/drawing/2014/main" id="{7C1D1BD7-A50E-4D7D-BDCD-F8058A594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967" y="2153056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Line 15">
            <a:extLst>
              <a:ext uri="{FF2B5EF4-FFF2-40B4-BE49-F238E27FC236}">
                <a16:creationId xmlns:a16="http://schemas.microsoft.com/office/drawing/2014/main" id="{52B80460-87C1-4655-B936-28C0C914B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3874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Line 15">
            <a:extLst>
              <a:ext uri="{FF2B5EF4-FFF2-40B4-BE49-F238E27FC236}">
                <a16:creationId xmlns:a16="http://schemas.microsoft.com/office/drawing/2014/main" id="{66EC7120-38AB-42D9-917C-16CAD95AA1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3874" y="2414993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Line 15">
            <a:extLst>
              <a:ext uri="{FF2B5EF4-FFF2-40B4-BE49-F238E27FC236}">
                <a16:creationId xmlns:a16="http://schemas.microsoft.com/office/drawing/2014/main" id="{B0840FD8-6EFB-497C-B214-51999FD75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441" y="2410504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Line 15">
            <a:extLst>
              <a:ext uri="{FF2B5EF4-FFF2-40B4-BE49-F238E27FC236}">
                <a16:creationId xmlns:a16="http://schemas.microsoft.com/office/drawing/2014/main" id="{2647E17C-CB40-40C1-8588-3F6242D3E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157" y="317159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B060FA78-2209-4ECF-AEA6-41ABC9467BC4}"/>
              </a:ext>
            </a:extLst>
          </p:cNvPr>
          <p:cNvGrpSpPr/>
          <p:nvPr/>
        </p:nvGrpSpPr>
        <p:grpSpPr>
          <a:xfrm>
            <a:off x="2149674" y="1919559"/>
            <a:ext cx="4459415" cy="1500658"/>
            <a:chOff x="2149674" y="1919559"/>
            <a:chExt cx="4459415" cy="1500658"/>
          </a:xfrm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246" name="Rectangle 16">
              <a:extLst>
                <a:ext uri="{FF2B5EF4-FFF2-40B4-BE49-F238E27FC236}">
                  <a16:creationId xmlns:a16="http://schemas.microsoft.com/office/drawing/2014/main" id="{B4F57908-16C1-4F0D-AC4B-50C72513E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005" y="1919559"/>
              <a:ext cx="1185422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数据报长度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Rectangle 18">
              <a:extLst>
                <a:ext uri="{FF2B5EF4-FFF2-40B4-BE49-F238E27FC236}">
                  <a16:creationId xmlns:a16="http://schemas.microsoft.com/office/drawing/2014/main" id="{673674D6-4364-472A-8E34-F5EB914DB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891" y="2438983"/>
              <a:ext cx="810319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首部检验和</a:t>
              </a:r>
            </a:p>
          </p:txBody>
        </p:sp>
        <p:sp>
          <p:nvSpPr>
            <p:cNvPr id="248" name="Rectangle 19">
              <a:extLst>
                <a:ext uri="{FF2B5EF4-FFF2-40B4-BE49-F238E27FC236}">
                  <a16:creationId xmlns:a16="http://schemas.microsoft.com/office/drawing/2014/main" id="{6DAFA442-B684-4D50-A295-566AE6233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043" y="3185291"/>
              <a:ext cx="1931421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选项字段（如果有的话）</a:t>
              </a:r>
            </a:p>
          </p:txBody>
        </p:sp>
        <p:sp>
          <p:nvSpPr>
            <p:cNvPr id="249" name="Rectangle 20">
              <a:extLst>
                <a:ext uri="{FF2B5EF4-FFF2-40B4-BE49-F238E27FC236}">
                  <a16:creationId xmlns:a16="http://schemas.microsoft.com/office/drawing/2014/main" id="{63EC6838-B60B-4AC1-962C-22E223D02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892" y="1919559"/>
              <a:ext cx="71920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服务类型</a:t>
              </a:r>
            </a:p>
          </p:txBody>
        </p:sp>
        <p:sp>
          <p:nvSpPr>
            <p:cNvPr id="250" name="Rectangle 21">
              <a:extLst>
                <a:ext uri="{FF2B5EF4-FFF2-40B4-BE49-F238E27FC236}">
                  <a16:creationId xmlns:a16="http://schemas.microsoft.com/office/drawing/2014/main" id="{C7143215-080F-4011-81D3-F019D3922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490" y="2172088"/>
              <a:ext cx="534870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标志</a:t>
              </a:r>
            </a:p>
          </p:txBody>
        </p:sp>
        <p:sp>
          <p:nvSpPr>
            <p:cNvPr id="251" name="Rectangle 25">
              <a:extLst>
                <a:ext uri="{FF2B5EF4-FFF2-40B4-BE49-F238E27FC236}">
                  <a16:creationId xmlns:a16="http://schemas.microsoft.com/office/drawing/2014/main" id="{E9564983-AEAD-458B-A9C0-CC3B876A1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010" y="2431740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生存次数</a:t>
              </a:r>
            </a:p>
          </p:txBody>
        </p:sp>
        <p:sp>
          <p:nvSpPr>
            <p:cNvPr id="252" name="Rectangle 21">
              <a:extLst>
                <a:ext uri="{FF2B5EF4-FFF2-40B4-BE49-F238E27FC236}">
                  <a16:creationId xmlns:a16="http://schemas.microsoft.com/office/drawing/2014/main" id="{C5E38F34-96BE-4804-81E1-E4728F974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436" y="2171760"/>
              <a:ext cx="8086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16bit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标识</a:t>
              </a:r>
            </a:p>
          </p:txBody>
        </p:sp>
        <p:sp>
          <p:nvSpPr>
            <p:cNvPr id="253" name="Rectangle 25">
              <a:extLst>
                <a:ext uri="{FF2B5EF4-FFF2-40B4-BE49-F238E27FC236}">
                  <a16:creationId xmlns:a16="http://schemas.microsoft.com/office/drawing/2014/main" id="{A8B3EB9A-39F4-4B8A-B7D1-ED7E2D5DC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149" y="2431740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上层协议</a:t>
              </a:r>
            </a:p>
          </p:txBody>
        </p:sp>
        <p:sp>
          <p:nvSpPr>
            <p:cNvPr id="254" name="Rectangle 18">
              <a:extLst>
                <a:ext uri="{FF2B5EF4-FFF2-40B4-BE49-F238E27FC236}">
                  <a16:creationId xmlns:a16="http://schemas.microsoft.com/office/drawing/2014/main" id="{038FC5B2-055B-4716-84EB-BD28F9E29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525" y="2693751"/>
              <a:ext cx="1132523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32bits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  <p:sp>
          <p:nvSpPr>
            <p:cNvPr id="255" name="Rectangle 18">
              <a:extLst>
                <a:ext uri="{FF2B5EF4-FFF2-40B4-BE49-F238E27FC236}">
                  <a16:creationId xmlns:a16="http://schemas.microsoft.com/office/drawing/2014/main" id="{26917F09-E2D5-4591-A063-6A9B89B60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067" y="2943502"/>
              <a:ext cx="1267175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32bits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  <p:sp>
          <p:nvSpPr>
            <p:cNvPr id="256" name="Rectangle 20">
              <a:extLst>
                <a:ext uri="{FF2B5EF4-FFF2-40B4-BE49-F238E27FC236}">
                  <a16:creationId xmlns:a16="http://schemas.microsoft.com/office/drawing/2014/main" id="{463B6C60-60DE-4621-A1EC-EE2EB155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9674" y="1926029"/>
              <a:ext cx="577108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</a:t>
              </a:r>
            </a:p>
          </p:txBody>
        </p:sp>
        <p:sp>
          <p:nvSpPr>
            <p:cNvPr id="257" name="Rectangle 20">
              <a:extLst>
                <a:ext uri="{FF2B5EF4-FFF2-40B4-BE49-F238E27FC236}">
                  <a16:creationId xmlns:a16="http://schemas.microsoft.com/office/drawing/2014/main" id="{A873E265-27F2-471C-BF88-72D1D8958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2444" y="1926029"/>
              <a:ext cx="710363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首部长度</a:t>
              </a:r>
            </a:p>
          </p:txBody>
        </p:sp>
        <p:sp>
          <p:nvSpPr>
            <p:cNvPr id="258" name="Rectangle 21">
              <a:extLst>
                <a:ext uri="{FF2B5EF4-FFF2-40B4-BE49-F238E27FC236}">
                  <a16:creationId xmlns:a16="http://schemas.microsoft.com/office/drawing/2014/main" id="{5A93105B-43FF-4B8F-B45D-4591BA8BC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4219" y="3191307"/>
              <a:ext cx="534870" cy="22891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充</a:t>
              </a:r>
            </a:p>
          </p:txBody>
        </p:sp>
        <p:sp>
          <p:nvSpPr>
            <p:cNvPr id="259" name="Rectangle 21">
              <a:extLst>
                <a:ext uri="{FF2B5EF4-FFF2-40B4-BE49-F238E27FC236}">
                  <a16:creationId xmlns:a16="http://schemas.microsoft.com/office/drawing/2014/main" id="{E177AED6-2D44-46D2-95FB-2C82A2938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037" y="2171760"/>
              <a:ext cx="1174174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13bit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片偏移</a:t>
              </a:r>
            </a:p>
          </p:txBody>
        </p:sp>
      </p:grpSp>
      <p:sp>
        <p:nvSpPr>
          <p:cNvPr id="260" name="Rectangle 86">
            <a:extLst>
              <a:ext uri="{FF2B5EF4-FFF2-40B4-BE49-F238E27FC236}">
                <a16:creationId xmlns:a16="http://schemas.microsoft.com/office/drawing/2014/main" id="{6C75F454-52A2-42E1-8185-5B31C1194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507" y="3861489"/>
            <a:ext cx="787090" cy="368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752BD200-0BB3-46E2-8794-0AABC7CB5E36}"/>
              </a:ext>
            </a:extLst>
          </p:cNvPr>
          <p:cNvSpPr/>
          <p:nvPr/>
        </p:nvSpPr>
        <p:spPr>
          <a:xfrm>
            <a:off x="3787596" y="3861230"/>
            <a:ext cx="3736721" cy="368432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Rectangle 2">
            <a:extLst>
              <a:ext uri="{FF2B5EF4-FFF2-40B4-BE49-F238E27FC236}">
                <a16:creationId xmlns:a16="http://schemas.microsoft.com/office/drawing/2014/main" id="{468EB615-56AE-4583-A515-9824220ED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744" y="4526489"/>
            <a:ext cx="835325" cy="277509"/>
          </a:xfrm>
          <a:prstGeom prst="rect">
            <a:avLst/>
          </a:prstGeom>
          <a:solidFill>
            <a:srgbClr val="CCFF99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Rectangle 86">
            <a:extLst>
              <a:ext uri="{FF2B5EF4-FFF2-40B4-BE49-F238E27FC236}">
                <a16:creationId xmlns:a16="http://schemas.microsoft.com/office/drawing/2014/main" id="{5A5084B0-6798-48EE-AC4C-A3461015F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402" y="3906093"/>
            <a:ext cx="2118759" cy="278382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Line 87">
            <a:extLst>
              <a:ext uri="{FF2B5EF4-FFF2-40B4-BE49-F238E27FC236}">
                <a16:creationId xmlns:a16="http://schemas.microsoft.com/office/drawing/2014/main" id="{61818A28-3339-40C1-9C31-4D258C1BD9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5403" y="3912203"/>
            <a:ext cx="0" cy="2722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Rectangle 88">
            <a:extLst>
              <a:ext uri="{FF2B5EF4-FFF2-40B4-BE49-F238E27FC236}">
                <a16:creationId xmlns:a16="http://schemas.microsoft.com/office/drawing/2014/main" id="{E29EEA4F-C01E-4E34-8F35-508D1045F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815" y="3932176"/>
            <a:ext cx="491240" cy="14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Rectangle 89">
            <a:extLst>
              <a:ext uri="{FF2B5EF4-FFF2-40B4-BE49-F238E27FC236}">
                <a16:creationId xmlns:a16="http://schemas.microsoft.com/office/drawing/2014/main" id="{02312BC0-F838-4A37-B35A-C0C965AC5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226" y="3939902"/>
            <a:ext cx="579486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267" name="Rectangle 90">
            <a:extLst>
              <a:ext uri="{FF2B5EF4-FFF2-40B4-BE49-F238E27FC236}">
                <a16:creationId xmlns:a16="http://schemas.microsoft.com/office/drawing/2014/main" id="{B0959C04-1AE1-4FBF-B8FB-F31AE59F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495" y="3920056"/>
            <a:ext cx="693940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268" name="Rectangle 91">
            <a:extLst>
              <a:ext uri="{FF2B5EF4-FFF2-40B4-BE49-F238E27FC236}">
                <a16:creationId xmlns:a16="http://schemas.microsoft.com/office/drawing/2014/main" id="{151F071F-ECFA-45AE-8D44-A5AA6E912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070" y="4526489"/>
            <a:ext cx="4526247" cy="277509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9" name="Rectangle 92">
            <a:extLst>
              <a:ext uri="{FF2B5EF4-FFF2-40B4-BE49-F238E27FC236}">
                <a16:creationId xmlns:a16="http://schemas.microsoft.com/office/drawing/2014/main" id="{DA50AD5A-6C3D-4C6E-9682-A27A7CCD1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490" y="4558778"/>
            <a:ext cx="714139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270" name="Rectangle 93">
            <a:extLst>
              <a:ext uri="{FF2B5EF4-FFF2-40B4-BE49-F238E27FC236}">
                <a16:creationId xmlns:a16="http://schemas.microsoft.com/office/drawing/2014/main" id="{D9206481-B01E-4EAE-A7C9-8CE14A499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966" y="4558778"/>
            <a:ext cx="541014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帧首部</a:t>
            </a:r>
          </a:p>
        </p:txBody>
      </p:sp>
      <p:sp>
        <p:nvSpPr>
          <p:cNvPr id="271" name="Line 87">
            <a:extLst>
              <a:ext uri="{FF2B5EF4-FFF2-40B4-BE49-F238E27FC236}">
                <a16:creationId xmlns:a16="http://schemas.microsoft.com/office/drawing/2014/main" id="{BA1AEBC1-A2DF-48AB-9E8C-F351521544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4930" y="3905834"/>
            <a:ext cx="0" cy="27227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2" name="Rectangle 89">
            <a:extLst>
              <a:ext uri="{FF2B5EF4-FFF2-40B4-BE49-F238E27FC236}">
                <a16:creationId xmlns:a16="http://schemas.microsoft.com/office/drawing/2014/main" id="{2264D162-BFBB-4C85-A658-2747BDE90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2444" y="3950599"/>
            <a:ext cx="714139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报文段首部</a:t>
            </a:r>
          </a:p>
        </p:txBody>
      </p:sp>
      <p:sp>
        <p:nvSpPr>
          <p:cNvPr id="273" name="Rectangle 84">
            <a:extLst>
              <a:ext uri="{FF2B5EF4-FFF2-40B4-BE49-F238E27FC236}">
                <a16:creationId xmlns:a16="http://schemas.microsoft.com/office/drawing/2014/main" id="{A6064233-22FD-4B42-A429-11F03025A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778" y="3945426"/>
            <a:ext cx="1052373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TCP/UDP </a:t>
            </a:r>
            <a:r>
              <a:rPr kumimoji="1"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</a:p>
        </p:txBody>
      </p:sp>
      <p:sp>
        <p:nvSpPr>
          <p:cNvPr id="274" name="AutoShape 94">
            <a:extLst>
              <a:ext uri="{FF2B5EF4-FFF2-40B4-BE49-F238E27FC236}">
                <a16:creationId xmlns:a16="http://schemas.microsoft.com/office/drawing/2014/main" id="{AEC396AF-E526-4A26-B75F-863F863FD8B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25149" y="4322201"/>
            <a:ext cx="187968" cy="129670"/>
          </a:xfrm>
          <a:prstGeom prst="leftArrow">
            <a:avLst>
              <a:gd name="adj1" fmla="val 50000"/>
              <a:gd name="adj2" fmla="val 70710"/>
            </a:avLst>
          </a:prstGeom>
          <a:solidFill>
            <a:schemeClr val="tx1">
              <a:lumMod val="50000"/>
              <a:lumOff val="50000"/>
              <a:alpha val="42999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Rectangle 82">
            <a:extLst>
              <a:ext uri="{FF2B5EF4-FFF2-40B4-BE49-F238E27FC236}">
                <a16:creationId xmlns:a16="http://schemas.microsoft.com/office/drawing/2014/main" id="{FA9C446B-4F61-472F-ACF7-39EA27825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81" y="3920056"/>
            <a:ext cx="970817" cy="27140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altLang="zh-CN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ICMP </a:t>
            </a:r>
            <a:r>
              <a:rPr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</a:p>
        </p:txBody>
      </p:sp>
      <p:sp>
        <p:nvSpPr>
          <p:cNvPr id="276" name="Rectangle 86">
            <a:extLst>
              <a:ext uri="{FF2B5EF4-FFF2-40B4-BE49-F238E27FC236}">
                <a16:creationId xmlns:a16="http://schemas.microsoft.com/office/drawing/2014/main" id="{2DE3B70D-CD96-4C5B-B4B4-BC4C61EF0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756" y="3906093"/>
            <a:ext cx="976342" cy="278382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7" name="Rectangle 90">
            <a:extLst>
              <a:ext uri="{FF2B5EF4-FFF2-40B4-BE49-F238E27FC236}">
                <a16:creationId xmlns:a16="http://schemas.microsoft.com/office/drawing/2014/main" id="{E91CCE5F-FA2E-422E-9E31-9ADB556AA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423" y="3920056"/>
            <a:ext cx="334758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endParaRPr kumimoji="1" lang="zh-CN" altLang="en-US" sz="105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1222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网络层复习总结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3</a:t>
            </a:r>
            <a:r>
              <a:rPr lang="zh-CN" altLang="en-US" sz="2200" dirty="0">
                <a:effectLst/>
              </a:rPr>
              <a:t>：</a:t>
            </a:r>
            <a:r>
              <a:rPr lang="en-US" altLang="zh-CN" sz="2200" dirty="0">
                <a:effectLst/>
              </a:rPr>
              <a:t>IP</a:t>
            </a:r>
            <a:r>
              <a:rPr lang="zh-CN" altLang="en-US" sz="2200" dirty="0">
                <a:effectLst/>
              </a:rPr>
              <a:t>数据报封装</a:t>
            </a:r>
            <a:r>
              <a:rPr lang="en-US" altLang="zh-CN" sz="2200" dirty="0">
                <a:effectLst/>
              </a:rPr>
              <a:t>(IPv6)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4ABA09A-2CF7-4715-899F-C13DA77B8926}"/>
              </a:ext>
            </a:extLst>
          </p:cNvPr>
          <p:cNvGrpSpPr/>
          <p:nvPr/>
        </p:nvGrpSpPr>
        <p:grpSpPr>
          <a:xfrm>
            <a:off x="2771800" y="1813968"/>
            <a:ext cx="3264695" cy="2361341"/>
            <a:chOff x="2119313" y="3263900"/>
            <a:chExt cx="4845050" cy="3162830"/>
          </a:xfrm>
        </p:grpSpPr>
        <p:sp>
          <p:nvSpPr>
            <p:cNvPr id="101" name="Rectangle 80">
              <a:extLst>
                <a:ext uri="{FF2B5EF4-FFF2-40B4-BE49-F238E27FC236}">
                  <a16:creationId xmlns:a16="http://schemas.microsoft.com/office/drawing/2014/main" id="{D447938D-D783-4A99-8714-16ACBD43D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6150" y="3263900"/>
              <a:ext cx="4748213" cy="2817813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2" name="Rectangle 56">
              <a:extLst>
                <a:ext uri="{FF2B5EF4-FFF2-40B4-BE49-F238E27FC236}">
                  <a16:creationId xmlns:a16="http://schemas.microsoft.com/office/drawing/2014/main" id="{28A63D31-A278-47D2-8928-DCED39023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538" y="3344863"/>
              <a:ext cx="4748212" cy="28178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3" name="Line 60">
              <a:extLst>
                <a:ext uri="{FF2B5EF4-FFF2-40B4-BE49-F238E27FC236}">
                  <a16:creationId xmlns:a16="http://schemas.microsoft.com/office/drawing/2014/main" id="{7CC365FE-A3CD-4712-ADC3-4E81BF71E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125" y="3654425"/>
              <a:ext cx="47275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4" name="Line 61">
              <a:extLst>
                <a:ext uri="{FF2B5EF4-FFF2-40B4-BE49-F238E27FC236}">
                  <a16:creationId xmlns:a16="http://schemas.microsoft.com/office/drawing/2014/main" id="{92DE11BF-5783-44FC-B9DF-BFD4E3033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000" y="3354388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5" name="Line 63">
              <a:extLst>
                <a:ext uri="{FF2B5EF4-FFF2-40B4-BE49-F238E27FC236}">
                  <a16:creationId xmlns:a16="http://schemas.microsoft.com/office/drawing/2014/main" id="{EAFAB216-5618-49E7-A707-611440E02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2975" y="3351213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6" name="Line 64">
              <a:extLst>
                <a:ext uri="{FF2B5EF4-FFF2-40B4-BE49-F238E27FC236}">
                  <a16:creationId xmlns:a16="http://schemas.microsoft.com/office/drawing/2014/main" id="{56402A69-1EF0-410E-9938-72A54813F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0075" y="3649663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7" name="Line 65">
              <a:extLst>
                <a:ext uri="{FF2B5EF4-FFF2-40B4-BE49-F238E27FC236}">
                  <a16:creationId xmlns:a16="http://schemas.microsoft.com/office/drawing/2014/main" id="{7BDFA3BE-08E1-4DBC-AD95-29AAAD3607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250" y="3652838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8" name="Line 66">
              <a:extLst>
                <a:ext uri="{FF2B5EF4-FFF2-40B4-BE49-F238E27FC236}">
                  <a16:creationId xmlns:a16="http://schemas.microsoft.com/office/drawing/2014/main" id="{1682DE04-B0E8-4A50-A526-311AC7223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0425" y="5175250"/>
              <a:ext cx="4760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9" name="Line 67">
              <a:extLst>
                <a:ext uri="{FF2B5EF4-FFF2-40B4-BE49-F238E27FC236}">
                  <a16:creationId xmlns:a16="http://schemas.microsoft.com/office/drawing/2014/main" id="{A1922355-F1E3-4612-BA19-67C758536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888" y="4535488"/>
              <a:ext cx="4760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0" name="Line 68">
              <a:extLst>
                <a:ext uri="{FF2B5EF4-FFF2-40B4-BE49-F238E27FC236}">
                  <a16:creationId xmlns:a16="http://schemas.microsoft.com/office/drawing/2014/main" id="{BCEF2022-8432-46F5-8479-8A82B0B0C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3952875"/>
              <a:ext cx="4760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1" name="Text Box 69">
              <a:extLst>
                <a:ext uri="{FF2B5EF4-FFF2-40B4-BE49-F238E27FC236}">
                  <a16:creationId xmlns:a16="http://schemas.microsoft.com/office/drawing/2014/main" id="{D7E0A673-CB9E-49CD-98B4-D19EA2498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9193" y="5549285"/>
              <a:ext cx="1315439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载荷数据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2" name="Text Box 70">
              <a:extLst>
                <a:ext uri="{FF2B5EF4-FFF2-40B4-BE49-F238E27FC236}">
                  <a16:creationId xmlns:a16="http://schemas.microsoft.com/office/drawing/2014/main" id="{001EDEA9-0D4B-406D-AF91-5DA2D8D21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828" y="4793575"/>
              <a:ext cx="1689072" cy="183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目的地址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(128 bits)</a:t>
              </a:r>
            </a:p>
          </p:txBody>
        </p:sp>
        <p:sp>
          <p:nvSpPr>
            <p:cNvPr id="113" name="Text Box 71">
              <a:extLst>
                <a:ext uri="{FF2B5EF4-FFF2-40B4-BE49-F238E27FC236}">
                  <a16:creationId xmlns:a16="http://schemas.microsoft.com/office/drawing/2014/main" id="{D7CE62E7-C9E4-4AF5-A90A-ED84CE0A04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948" y="4201949"/>
              <a:ext cx="1489240" cy="183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源地址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(128 bits)</a:t>
              </a:r>
            </a:p>
          </p:txBody>
        </p:sp>
        <p:sp>
          <p:nvSpPr>
            <p:cNvPr id="114" name="Text Box 72">
              <a:extLst>
                <a:ext uri="{FF2B5EF4-FFF2-40B4-BE49-F238E27FC236}">
                  <a16:creationId xmlns:a16="http://schemas.microsoft.com/office/drawing/2014/main" id="{354B05C0-E9C4-43D9-85D7-A8EEABE46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284" y="3703178"/>
              <a:ext cx="1199003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有效载荷长度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5" name="Text Box 73">
              <a:extLst>
                <a:ext uri="{FF2B5EF4-FFF2-40B4-BE49-F238E27FC236}">
                  <a16:creationId xmlns:a16="http://schemas.microsoft.com/office/drawing/2014/main" id="{025B20AD-9B2C-4E07-82AA-749B53E3D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0523" y="3711115"/>
              <a:ext cx="999169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下一个首部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6" name="Text Box 74">
              <a:extLst>
                <a:ext uri="{FF2B5EF4-FFF2-40B4-BE49-F238E27FC236}">
                  <a16:creationId xmlns:a16="http://schemas.microsoft.com/office/drawing/2014/main" id="{84CC2F77-AC85-46F0-8007-A75EDFA0A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9927" y="3696829"/>
              <a:ext cx="599504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跳限制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7" name="Text Box 75">
              <a:extLst>
                <a:ext uri="{FF2B5EF4-FFF2-40B4-BE49-F238E27FC236}">
                  <a16:creationId xmlns:a16="http://schemas.microsoft.com/office/drawing/2014/main" id="{6DEBEC54-B7DA-49AB-BC7B-B207E82B5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9626" y="3405722"/>
              <a:ext cx="599504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流标签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8" name="Text Box 76">
              <a:extLst>
                <a:ext uri="{FF2B5EF4-FFF2-40B4-BE49-F238E27FC236}">
                  <a16:creationId xmlns:a16="http://schemas.microsoft.com/office/drawing/2014/main" id="{E9D84A86-5F1C-4F5A-B958-D05824860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064" y="3391432"/>
              <a:ext cx="399667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类型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9" name="Text Box 77">
              <a:extLst>
                <a:ext uri="{FF2B5EF4-FFF2-40B4-BE49-F238E27FC236}">
                  <a16:creationId xmlns:a16="http://schemas.microsoft.com/office/drawing/2014/main" id="{271AB783-0854-4A7C-A0E6-092DDA0F9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2315" y="3399370"/>
              <a:ext cx="399670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0" name="Line 79">
              <a:extLst>
                <a:ext uri="{FF2B5EF4-FFF2-40B4-BE49-F238E27FC236}">
                  <a16:creationId xmlns:a16="http://schemas.microsoft.com/office/drawing/2014/main" id="{354023D9-DF7A-4E16-A538-D36A98089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9313" y="6400800"/>
              <a:ext cx="48164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1" name="Text Box 78">
              <a:extLst>
                <a:ext uri="{FF2B5EF4-FFF2-40B4-BE49-F238E27FC236}">
                  <a16:creationId xmlns:a16="http://schemas.microsoft.com/office/drawing/2014/main" id="{7DD65F93-2D14-4F2F-869F-052264B37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6256" y="6210302"/>
              <a:ext cx="639945" cy="216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32 bits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418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网络层复习总结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sz="2200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sz="2200" dirty="0">
                <a:solidFill>
                  <a:srgbClr val="FF0000"/>
                </a:solidFill>
                <a:effectLst/>
              </a:rPr>
              <a:t>4</a:t>
            </a:r>
            <a:r>
              <a:rPr lang="zh-CN" altLang="en-US" sz="2200" dirty="0">
                <a:solidFill>
                  <a:srgbClr val="FF0000"/>
                </a:solidFill>
                <a:effectLst/>
              </a:rPr>
              <a:t>：</a:t>
            </a:r>
            <a:r>
              <a:rPr lang="en-US" altLang="zh-CN" sz="2200" dirty="0">
                <a:solidFill>
                  <a:srgbClr val="FF0000"/>
                </a:solidFill>
              </a:rPr>
              <a:t>IPv4</a:t>
            </a:r>
            <a:r>
              <a:rPr lang="zh-CN" altLang="en-US" sz="2200" dirty="0">
                <a:solidFill>
                  <a:srgbClr val="FF0000"/>
                </a:solidFill>
              </a:rPr>
              <a:t>网络编址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zh-CN" altLang="en-US" sz="1650" dirty="0"/>
              <a:t>老方法：</a:t>
            </a:r>
            <a:r>
              <a:rPr lang="en-US" altLang="zh-CN" sz="1650" dirty="0"/>
              <a:t>IP</a:t>
            </a:r>
            <a:r>
              <a:rPr lang="zh-CN" altLang="en-US" sz="1650" dirty="0"/>
              <a:t>地址分为四类，根据规模划分子网</a:t>
            </a:r>
            <a:endParaRPr lang="en-US" altLang="zh-CN" sz="1650" dirty="0"/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A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0</a:t>
            </a:r>
            <a:r>
              <a:rPr lang="en-US" altLang="zh-CN" sz="1350" dirty="0">
                <a:solidFill>
                  <a:srgbClr val="0066CC"/>
                </a:solidFill>
              </a:rPr>
              <a:t>.0.0.0-</a:t>
            </a:r>
            <a:r>
              <a:rPr lang="en-US" altLang="zh-CN" sz="1350" dirty="0">
                <a:solidFill>
                  <a:srgbClr val="FF0000"/>
                </a:solidFill>
              </a:rPr>
              <a:t>127</a:t>
            </a:r>
            <a:r>
              <a:rPr lang="en-US" altLang="zh-CN" sz="1350" dirty="0">
                <a:solidFill>
                  <a:srgbClr val="0066CC"/>
                </a:solidFill>
              </a:rPr>
              <a:t>.0.0.0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126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 16777214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B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128.0</a:t>
            </a:r>
            <a:r>
              <a:rPr lang="en-US" altLang="zh-CN" sz="1350" dirty="0">
                <a:solidFill>
                  <a:srgbClr val="0066CC"/>
                </a:solidFill>
              </a:rPr>
              <a:t>.0.0-</a:t>
            </a:r>
            <a:r>
              <a:rPr lang="en-US" altLang="zh-CN" sz="1350" dirty="0">
                <a:solidFill>
                  <a:srgbClr val="FF0000"/>
                </a:solidFill>
              </a:rPr>
              <a:t>191.254</a:t>
            </a:r>
            <a:r>
              <a:rPr lang="en-US" altLang="zh-CN" sz="1350" dirty="0">
                <a:solidFill>
                  <a:srgbClr val="0066CC"/>
                </a:solidFill>
              </a:rPr>
              <a:t>.0.0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16256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×65534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C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192.0.0</a:t>
            </a:r>
            <a:r>
              <a:rPr lang="en-US" altLang="zh-CN" sz="1350" dirty="0">
                <a:solidFill>
                  <a:srgbClr val="0066CC"/>
                </a:solidFill>
              </a:rPr>
              <a:t>.0-</a:t>
            </a:r>
            <a:r>
              <a:rPr lang="en-US" altLang="zh-CN" sz="1350" dirty="0">
                <a:solidFill>
                  <a:srgbClr val="FF0000"/>
                </a:solidFill>
              </a:rPr>
              <a:t>223.254.254</a:t>
            </a:r>
            <a:r>
              <a:rPr lang="en-US" altLang="zh-CN" sz="1350" dirty="0">
                <a:solidFill>
                  <a:srgbClr val="0066CC"/>
                </a:solidFill>
              </a:rPr>
              <a:t>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2064512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×254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D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0066CC"/>
                </a:solidFill>
              </a:rPr>
              <a:t>224-254</a:t>
            </a:r>
            <a:r>
              <a:rPr lang="zh-CN" altLang="en-US" sz="1350" dirty="0">
                <a:solidFill>
                  <a:srgbClr val="0066CC"/>
                </a:solidFill>
              </a:rPr>
              <a:t>，用于组播和调查等特殊用途</a:t>
            </a:r>
            <a:endParaRPr lang="en-US" altLang="zh-CN" sz="1350" dirty="0">
              <a:solidFill>
                <a:srgbClr val="0066CC"/>
              </a:solidFill>
            </a:endParaRPr>
          </a:p>
          <a:p>
            <a:r>
              <a:rPr lang="zh-CN" altLang="en-US" sz="1650" dirty="0"/>
              <a:t>新方法：</a:t>
            </a:r>
            <a:endParaRPr lang="en-US" altLang="zh-CN" sz="1650" dirty="0"/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CIDR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C</a:t>
            </a:r>
            <a:r>
              <a:rPr lang="en-US" altLang="zh-CN" sz="1350" dirty="0">
                <a:solidFill>
                  <a:srgbClr val="0066CC"/>
                </a:solidFill>
              </a:rPr>
              <a:t>lassless </a:t>
            </a:r>
            <a:r>
              <a:rPr lang="en-US" altLang="zh-CN" sz="1350" dirty="0" err="1">
                <a:solidFill>
                  <a:srgbClr val="FF0000"/>
                </a:solidFill>
              </a:rPr>
              <a:t>I</a:t>
            </a:r>
            <a:r>
              <a:rPr lang="en-US" altLang="zh-CN" sz="1350" dirty="0" err="1">
                <a:solidFill>
                  <a:srgbClr val="0066CC"/>
                </a:solidFill>
              </a:rPr>
              <a:t>nter</a:t>
            </a:r>
            <a:r>
              <a:rPr lang="en-US" altLang="zh-CN" sz="1350" dirty="0" err="1">
                <a:solidFill>
                  <a:srgbClr val="FF0000"/>
                </a:solidFill>
              </a:rPr>
              <a:t>D</a:t>
            </a:r>
            <a:r>
              <a:rPr lang="en-US" altLang="zh-CN" sz="1350" dirty="0" err="1">
                <a:solidFill>
                  <a:srgbClr val="0066CC"/>
                </a:solidFill>
              </a:rPr>
              <a:t>omain</a:t>
            </a:r>
            <a:r>
              <a:rPr lang="en-US" altLang="zh-CN" sz="1350" dirty="0">
                <a:solidFill>
                  <a:srgbClr val="0066CC"/>
                </a:solidFill>
              </a:rPr>
              <a:t> </a:t>
            </a:r>
            <a:r>
              <a:rPr lang="en-US" altLang="zh-CN" sz="1350" dirty="0">
                <a:solidFill>
                  <a:srgbClr val="FF0000"/>
                </a:solidFill>
              </a:rPr>
              <a:t>R</a:t>
            </a:r>
            <a:r>
              <a:rPr lang="en-US" altLang="zh-CN" sz="1350" dirty="0">
                <a:solidFill>
                  <a:srgbClr val="0066CC"/>
                </a:solidFill>
              </a:rPr>
              <a:t>outing</a:t>
            </a:r>
            <a:r>
              <a:rPr lang="zh-CN" altLang="en-US" sz="1350" dirty="0">
                <a:solidFill>
                  <a:srgbClr val="0066CC"/>
                </a:solidFill>
              </a:rPr>
              <a:t>，无类别域间路由选择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</a:rPr>
              <a:t>子网标识部分的长度任意选择</a:t>
            </a:r>
            <a:r>
              <a:rPr lang="en-US" altLang="zh-CN" sz="1350" dirty="0">
                <a:solidFill>
                  <a:srgbClr val="0066CC"/>
                </a:solidFill>
              </a:rPr>
              <a:t>(</a:t>
            </a:r>
            <a:r>
              <a:rPr lang="zh-CN" altLang="en-US" sz="1350" dirty="0">
                <a:solidFill>
                  <a:srgbClr val="0066CC"/>
                </a:solidFill>
              </a:rPr>
              <a:t>不对子网分类</a:t>
            </a:r>
            <a:r>
              <a:rPr lang="en-US" altLang="zh-CN" sz="1350" dirty="0">
                <a:solidFill>
                  <a:srgbClr val="0066CC"/>
                </a:solidFill>
              </a:rPr>
              <a:t>)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</a:rPr>
              <a:t>地址格式：</a:t>
            </a:r>
            <a:r>
              <a:rPr lang="en-US" altLang="zh-CN" sz="1350" dirty="0" err="1">
                <a:solidFill>
                  <a:srgbClr val="0066CC"/>
                </a:solidFill>
              </a:rPr>
              <a:t>a.b.c.d</a:t>
            </a:r>
            <a:r>
              <a:rPr lang="en-US" altLang="zh-CN" sz="1350" dirty="0">
                <a:solidFill>
                  <a:srgbClr val="0066CC"/>
                </a:solidFill>
              </a:rPr>
              <a:t> / x </a:t>
            </a:r>
            <a:r>
              <a:rPr lang="zh-CN" altLang="en-US" sz="1350" dirty="0">
                <a:solidFill>
                  <a:srgbClr val="0066CC"/>
                </a:solidFill>
              </a:rPr>
              <a:t>；</a:t>
            </a:r>
            <a:r>
              <a:rPr lang="en-US" altLang="zh-CN" sz="1350" dirty="0">
                <a:solidFill>
                  <a:srgbClr val="0066CC"/>
                </a:solidFill>
              </a:rPr>
              <a:t>x </a:t>
            </a:r>
            <a:r>
              <a:rPr lang="zh-CN" altLang="en-US" sz="1350" dirty="0">
                <a:solidFill>
                  <a:srgbClr val="0066CC"/>
                </a:solidFill>
              </a:rPr>
              <a:t>是子网标识的长度</a:t>
            </a:r>
            <a:r>
              <a:rPr lang="en-US" altLang="zh-CN" sz="1350" dirty="0">
                <a:solidFill>
                  <a:srgbClr val="0066CC"/>
                </a:solidFill>
              </a:rPr>
              <a:t>(</a:t>
            </a:r>
            <a:r>
              <a:rPr lang="zh-CN" altLang="en-US" sz="1350" dirty="0">
                <a:solidFill>
                  <a:srgbClr val="0066CC"/>
                </a:solidFill>
              </a:rPr>
              <a:t>子网掩码</a:t>
            </a:r>
            <a:r>
              <a:rPr lang="en-US" altLang="zh-CN" sz="1350" dirty="0">
                <a:solidFill>
                  <a:srgbClr val="0066CC"/>
                </a:solidFill>
              </a:rPr>
              <a:t>) </a:t>
            </a: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76EAE69B-DEB8-47DE-BA97-3B3B80D7A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515" y="4214305"/>
            <a:ext cx="5009705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" panose="02027200000000000000" pitchFamily="18" charset="0"/>
              </a:rPr>
              <a:t>11001000 00010111 0001000</a:t>
            </a:r>
            <a:r>
              <a:rPr lang="en-US" altLang="zh-CN" sz="1800" b="1" dirty="0">
                <a:solidFill>
                  <a:srgbClr val="0066FF"/>
                </a:solidFill>
                <a:latin typeface="Courier" panose="02027200000000000000" pitchFamily="18" charset="0"/>
              </a:rPr>
              <a:t>0 00000000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F9D22BB3-F362-4D63-807C-16BEABFCD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791" y="4207501"/>
            <a:ext cx="1470274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500" dirty="0"/>
              <a:t>200.23.16.0/23</a:t>
            </a:r>
            <a:endParaRPr lang="en-US" altLang="zh-CN" sz="12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8798F5C-FA9A-49DB-B302-B8EAE6C9B4E9}"/>
              </a:ext>
            </a:extLst>
          </p:cNvPr>
          <p:cNvGrpSpPr/>
          <p:nvPr/>
        </p:nvGrpSpPr>
        <p:grpSpPr>
          <a:xfrm>
            <a:off x="1000003" y="3993660"/>
            <a:ext cx="3386623" cy="300082"/>
            <a:chOff x="1428154" y="5051628"/>
            <a:chExt cx="4219575" cy="400108"/>
          </a:xfrm>
        </p:grpSpPr>
        <p:sp>
          <p:nvSpPr>
            <p:cNvPr id="31" name="Text Box 6">
              <a:extLst>
                <a:ext uri="{FF2B5EF4-FFF2-40B4-BE49-F238E27FC236}">
                  <a16:creationId xmlns:a16="http://schemas.microsoft.com/office/drawing/2014/main" id="{F027AAE5-90BE-4CE9-8918-9832F9AF3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513" y="5051628"/>
              <a:ext cx="1378118" cy="400108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350" dirty="0">
                  <a:solidFill>
                    <a:srgbClr val="FF0000"/>
                  </a:solidFill>
                </a:rPr>
                <a:t>Subnet part</a:t>
              </a:r>
            </a:p>
          </p:txBody>
        </p:sp>
        <p:sp>
          <p:nvSpPr>
            <p:cNvPr id="32" name="Line 8">
              <a:extLst>
                <a:ext uri="{FF2B5EF4-FFF2-40B4-BE49-F238E27FC236}">
                  <a16:creationId xmlns:a16="http://schemas.microsoft.com/office/drawing/2014/main" id="{E759FDBB-B457-4614-A3CA-70000425C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6892" y="5247407"/>
              <a:ext cx="162083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DEA9ADA4-58E9-422B-8320-A4AC6EB36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8154" y="5237882"/>
              <a:ext cx="14382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BCE737D-8633-4B03-8986-D63A600E0372}"/>
              </a:ext>
            </a:extLst>
          </p:cNvPr>
          <p:cNvGrpSpPr/>
          <p:nvPr/>
        </p:nvGrpSpPr>
        <p:grpSpPr>
          <a:xfrm>
            <a:off x="4466080" y="3924739"/>
            <a:ext cx="1294209" cy="300082"/>
            <a:chOff x="5687417" y="5088185"/>
            <a:chExt cx="1725612" cy="400110"/>
          </a:xfrm>
        </p:grpSpPr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2F6C694D-88A7-4715-B132-1C4F1987B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6994" y="5088185"/>
              <a:ext cx="1328983" cy="400110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350" dirty="0">
                  <a:solidFill>
                    <a:srgbClr val="0066FF"/>
                  </a:solidFill>
                </a:rPr>
                <a:t>Host part</a:t>
              </a:r>
            </a:p>
          </p:txBody>
        </p:sp>
        <p:sp>
          <p:nvSpPr>
            <p:cNvPr id="36" name="Line 11">
              <a:extLst>
                <a:ext uri="{FF2B5EF4-FFF2-40B4-BE49-F238E27FC236}">
                  <a16:creationId xmlns:a16="http://schemas.microsoft.com/office/drawing/2014/main" id="{4296375A-48D9-4A5C-840A-81914D06E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7717" y="5405388"/>
              <a:ext cx="595312" cy="0"/>
            </a:xfrm>
            <a:prstGeom prst="line">
              <a:avLst/>
            </a:prstGeom>
            <a:noFill/>
            <a:ln w="25400">
              <a:solidFill>
                <a:srgbClr val="0066FF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7" name="Line 15">
              <a:extLst>
                <a:ext uri="{FF2B5EF4-FFF2-40B4-BE49-F238E27FC236}">
                  <a16:creationId xmlns:a16="http://schemas.microsoft.com/office/drawing/2014/main" id="{8C93890A-D2B6-4B8A-BA9A-40AA6163DC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87417" y="5393010"/>
              <a:ext cx="647700" cy="0"/>
            </a:xfrm>
            <a:prstGeom prst="line">
              <a:avLst/>
            </a:prstGeom>
            <a:noFill/>
            <a:ln w="25400">
              <a:solidFill>
                <a:srgbClr val="0066FF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38" name="Text Box 61">
            <a:extLst>
              <a:ext uri="{FF2B5EF4-FFF2-40B4-BE49-F238E27FC236}">
                <a16:creationId xmlns:a16="http://schemas.microsoft.com/office/drawing/2014/main" id="{1D9E0EC9-2A88-483F-9B57-337A3CA63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958" y="4626484"/>
            <a:ext cx="1973107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mask</a:t>
            </a:r>
            <a:r>
              <a:rPr lang="en-US" altLang="zh-CN" sz="1500" dirty="0"/>
              <a:t>: 255.255.254.0</a:t>
            </a:r>
          </a:p>
        </p:txBody>
      </p:sp>
      <p:sp>
        <p:nvSpPr>
          <p:cNvPr id="39" name="Text Box 5">
            <a:extLst>
              <a:ext uri="{FF2B5EF4-FFF2-40B4-BE49-F238E27FC236}">
                <a16:creationId xmlns:a16="http://schemas.microsoft.com/office/drawing/2014/main" id="{FCF8A608-D8E1-4432-88DB-7327D60F3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131" y="4626484"/>
            <a:ext cx="5403726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0000"/>
                </a:solidFill>
                <a:ea typeface="MS PGothic" panose="020B0600070205080204" pitchFamily="34" charset="-128"/>
              </a:defRPr>
            </a:lvl1pPr>
            <a:lvl2pPr marL="742950" indent="-285750">
              <a:defRPr sz="2400">
                <a:ea typeface="MS PGothic" panose="020B0600070205080204" pitchFamily="34" charset="-128"/>
              </a:defRPr>
            </a:lvl2pPr>
            <a:lvl3pPr marL="1143000" indent="-228600">
              <a:defRPr sz="2400">
                <a:ea typeface="MS PGothic" panose="020B0600070205080204" pitchFamily="34" charset="-128"/>
              </a:defRPr>
            </a:lvl3pPr>
            <a:lvl4pPr marL="1600200" indent="-228600">
              <a:defRPr sz="2400">
                <a:ea typeface="MS PGothic" panose="020B0600070205080204" pitchFamily="34" charset="-128"/>
              </a:defRPr>
            </a:lvl4pPr>
            <a:lvl5pPr marL="2057400" indent="-228600">
              <a:defRPr sz="2400"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dirty="0">
                <a:latin typeface="Courier" panose="02027200000000000000" pitchFamily="18" charset="0"/>
              </a:rPr>
              <a:t>11111111 11111111 1111111</a:t>
            </a:r>
            <a:r>
              <a:rPr lang="en-US" altLang="zh-CN" sz="1800" b="1" dirty="0">
                <a:solidFill>
                  <a:srgbClr val="0066FF"/>
                </a:solidFill>
                <a:latin typeface="Courier" panose="02027200000000000000" pitchFamily="18" charset="0"/>
              </a:rPr>
              <a:t>0 00000000</a:t>
            </a:r>
          </a:p>
        </p:txBody>
      </p:sp>
    </p:spTree>
    <p:extLst>
      <p:ext uri="{BB962C8B-B14F-4D97-AF65-F5344CB8AC3E}">
        <p14:creationId xmlns:p14="http://schemas.microsoft.com/office/powerpoint/2010/main" val="2120001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包括学院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7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个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编号为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①-⑦)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，每个学院最多有主机设备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500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台，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en-US" sz="1400" dirty="0">
                <a:effectLst/>
              </a:rPr>
              <a:t>还有</a:t>
            </a:r>
            <a:r>
              <a:rPr lang="zh-CN" altLang="zh-CN" sz="1400" dirty="0">
                <a:effectLst/>
              </a:rPr>
              <a:t>直属机关部门</a:t>
            </a:r>
            <a:r>
              <a:rPr lang="en-US" altLang="zh-CN" sz="1400" dirty="0">
                <a:effectLst/>
              </a:rPr>
              <a:t>8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1-8)</a:t>
            </a:r>
            <a:r>
              <a:rPr lang="zh-CN" altLang="zh-CN" sz="1400" dirty="0">
                <a:effectLst/>
              </a:rPr>
              <a:t>每个机关部门最多有主机设备</a:t>
            </a:r>
            <a:r>
              <a:rPr lang="en-US" altLang="zh-CN" sz="1400" dirty="0">
                <a:effectLst/>
              </a:rPr>
              <a:t>60</a:t>
            </a:r>
            <a:r>
              <a:rPr lang="zh-CN" altLang="zh-CN" sz="1400" dirty="0">
                <a:effectLst/>
              </a:rPr>
              <a:t>台。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按分层结构为各部门和学院规划子网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学院和部门的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地址段按升序排列</a:t>
            </a:r>
            <a:r>
              <a:rPr lang="en-US" altLang="zh-CN" sz="1400" dirty="0">
                <a:effectLst/>
              </a:rPr>
              <a:t>)</a:t>
            </a:r>
            <a:r>
              <a:rPr lang="zh-CN" altLang="zh-CN" sz="1400" dirty="0">
                <a:effectLst/>
              </a:rPr>
              <a:t>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请</a:t>
            </a:r>
            <a:r>
              <a:rPr lang="zh-CN" altLang="en-US" sz="1400" dirty="0">
                <a:effectLst/>
              </a:rPr>
              <a:t>为</a:t>
            </a:r>
            <a:r>
              <a:rPr lang="zh-CN" altLang="zh-CN" sz="1400" dirty="0">
                <a:effectLst/>
              </a:rPr>
              <a:t>所有学院与部门</a:t>
            </a:r>
            <a:r>
              <a:rPr lang="zh-CN" altLang="en-US" sz="1400" dirty="0">
                <a:effectLst/>
              </a:rPr>
              <a:t>分配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地址段。</a:t>
            </a:r>
            <a:endParaRPr lang="zh-CN" altLang="en-US" sz="1400" dirty="0"/>
          </a:p>
          <a:p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地址段以</a:t>
            </a:r>
            <a:r>
              <a:rPr lang="en-US" altLang="zh-CN" sz="1400" dirty="0">
                <a:effectLst/>
              </a:rPr>
              <a:t>CIDR</a:t>
            </a:r>
            <a:r>
              <a:rPr lang="zh-CN" altLang="zh-CN" sz="1400" dirty="0">
                <a:effectLst/>
              </a:rPr>
              <a:t>记法表示</a:t>
            </a:r>
            <a:r>
              <a:rPr lang="en-US" altLang="zh-CN" sz="1400" dirty="0">
                <a:effectLst/>
              </a:rPr>
              <a:t>a.b.c.d/x</a:t>
            </a:r>
            <a:r>
              <a:rPr lang="zh-CN" altLang="zh-CN" sz="1400" dirty="0">
                <a:effectLst/>
              </a:rPr>
              <a:t>，如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zh-CN" sz="1400" dirty="0">
                <a:effectLst/>
              </a:rPr>
              <a:t>。</a:t>
            </a:r>
            <a:endParaRPr lang="en-US" altLang="zh-CN" sz="1400" dirty="0">
              <a:effectLst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3BEE03-961F-4556-8C2C-C1271F0D7D72}"/>
              </a:ext>
            </a:extLst>
          </p:cNvPr>
          <p:cNvGraphicFramePr>
            <a:graphicFrameLocks noGrp="1"/>
          </p:cNvGraphicFramePr>
          <p:nvPr/>
        </p:nvGraphicFramePr>
        <p:xfrm>
          <a:off x="712953" y="2715766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2783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202.23.48.0/20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0011 </a:t>
                      </a:r>
                      <a:r>
                        <a:rPr lang="en-US" altLang="zh-C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2F8CC5-9965-4465-AABE-7C901422E804}"/>
              </a:ext>
            </a:extLst>
          </p:cNvPr>
          <p:cNvGraphicFramePr>
            <a:graphicFrameLocks noGrp="1"/>
          </p:cNvGraphicFramePr>
          <p:nvPr/>
        </p:nvGraphicFramePr>
        <p:xfrm>
          <a:off x="827583" y="3137272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29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 000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194A00D-20F3-472C-8BB3-4FED92064AE4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3513058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66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001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7286D0F-7A64-481A-BE33-8CEB369C2F15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3898391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010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C5415BB-C073-483A-B471-9CC3D7750313}"/>
              </a:ext>
            </a:extLst>
          </p:cNvPr>
          <p:cNvCxnSpPr>
            <a:cxnSpLocks/>
          </p:cNvCxnSpPr>
          <p:nvPr/>
        </p:nvCxnSpPr>
        <p:spPr>
          <a:xfrm>
            <a:off x="5610592" y="3401938"/>
            <a:ext cx="10081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EBFDC513-F5DD-4B2E-AC64-19282BECE9A8}"/>
              </a:ext>
            </a:extLst>
          </p:cNvPr>
          <p:cNvSpPr/>
          <p:nvPr/>
        </p:nvSpPr>
        <p:spPr>
          <a:xfrm>
            <a:off x="4921520" y="1203598"/>
            <a:ext cx="658592" cy="288032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351B6F57-3C2B-48B7-BCFC-CC74F0318058}"/>
              </a:ext>
            </a:extLst>
          </p:cNvPr>
          <p:cNvCxnSpPr>
            <a:cxnSpLocks/>
            <a:stCxn id="28" idx="3"/>
            <a:endCxn id="6" idx="3"/>
          </p:cNvCxnSpPr>
          <p:nvPr/>
        </p:nvCxnSpPr>
        <p:spPr>
          <a:xfrm>
            <a:off x="5580112" y="1347614"/>
            <a:ext cx="1387909" cy="1975078"/>
          </a:xfrm>
          <a:prstGeom prst="bentConnector3">
            <a:avLst>
              <a:gd name="adj1" fmla="val 116471"/>
            </a:avLst>
          </a:prstGeom>
          <a:ln w="19050">
            <a:solidFill>
              <a:srgbClr val="00B0F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61B86BD-DEC2-41B8-9B42-E8F3904BF80F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4293981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……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8402827C-3835-4614-A164-724B51B07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13" y="1119733"/>
            <a:ext cx="1141048" cy="743794"/>
          </a:xfrm>
          <a:prstGeom prst="rect">
            <a:avLst/>
          </a:prstGeom>
          <a:ln w="22225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0960BD7-D2AC-42E2-BEFD-A8A0C870AB22}"/>
              </a:ext>
            </a:extLst>
          </p:cNvPr>
          <p:cNvCxnSpPr>
            <a:cxnSpLocks/>
          </p:cNvCxnSpPr>
          <p:nvPr/>
        </p:nvCxnSpPr>
        <p:spPr>
          <a:xfrm>
            <a:off x="4860032" y="3795886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E4905D1-BA3C-4B8C-9B7A-B70705FF10B7}"/>
              </a:ext>
            </a:extLst>
          </p:cNvPr>
          <p:cNvCxnSpPr>
            <a:cxnSpLocks/>
          </p:cNvCxnSpPr>
          <p:nvPr/>
        </p:nvCxnSpPr>
        <p:spPr>
          <a:xfrm>
            <a:off x="4860032" y="4155926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8D9A27A-C396-4380-A0F3-27B2B992A97B}"/>
              </a:ext>
            </a:extLst>
          </p:cNvPr>
          <p:cNvCxnSpPr>
            <a:cxnSpLocks/>
          </p:cNvCxnSpPr>
          <p:nvPr/>
        </p:nvCxnSpPr>
        <p:spPr>
          <a:xfrm>
            <a:off x="4860032" y="4549874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36D396AD-0402-4F75-BD71-79DC5931F0D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C7519F9F-3D7B-4E56-9973-B28BCEA47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4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包括学院</a:t>
            </a:r>
            <a:r>
              <a:rPr lang="en-US" altLang="zh-CN" sz="1400" dirty="0">
                <a:effectLst/>
              </a:rPr>
              <a:t>7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①-⑦)</a:t>
            </a:r>
            <a:r>
              <a:rPr lang="zh-CN" altLang="zh-CN" sz="1400" dirty="0">
                <a:effectLst/>
              </a:rPr>
              <a:t>，每个学院最多有主机设备</a:t>
            </a:r>
            <a:r>
              <a:rPr lang="en-US" altLang="zh-CN" sz="1400" dirty="0">
                <a:effectLst/>
              </a:rPr>
              <a:t>500</a:t>
            </a:r>
            <a:r>
              <a:rPr lang="zh-CN" altLang="zh-CN" sz="1400" dirty="0">
                <a:effectLst/>
              </a:rPr>
              <a:t>台，</a:t>
            </a:r>
            <a:endParaRPr lang="en-US" altLang="zh-CN" sz="1400" dirty="0">
              <a:effectLst/>
            </a:endParaRPr>
          </a:p>
          <a:p>
            <a:r>
              <a:rPr lang="zh-CN" altLang="en-US" sz="1400" dirty="0">
                <a:solidFill>
                  <a:srgbClr val="C00000"/>
                </a:solidFill>
                <a:effectLst/>
              </a:rPr>
              <a:t>还有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直属机关部门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8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个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编号为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1-8)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每个机关部门最多有主机设备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60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台。</a:t>
            </a:r>
            <a:endParaRPr lang="en-US" altLang="zh-CN" sz="1400" dirty="0">
              <a:solidFill>
                <a:srgbClr val="C0000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按分层结构为各部门和学院规划子网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学院和部门的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地址段按升序排列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请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为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所有学院与部门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分配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地址段。</a:t>
            </a:r>
            <a:endParaRPr lang="zh-CN" altLang="en-US" sz="1400" dirty="0">
              <a:solidFill>
                <a:srgbClr val="0070C0"/>
              </a:solidFill>
            </a:endParaRPr>
          </a:p>
          <a:p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地址段以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CIDR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记法表示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a.b.c.d/x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，如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202.23.48.0/20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3BEE03-961F-4556-8C2C-C1271F0D7D72}"/>
              </a:ext>
            </a:extLst>
          </p:cNvPr>
          <p:cNvGraphicFramePr>
            <a:graphicFrameLocks noGrp="1"/>
          </p:cNvGraphicFramePr>
          <p:nvPr/>
        </p:nvGraphicFramePr>
        <p:xfrm>
          <a:off x="712953" y="2715766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2783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202.23.48.0/20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0011 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2F8CC5-9965-4465-AABE-7C901422E804}"/>
              </a:ext>
            </a:extLst>
          </p:cNvPr>
          <p:cNvGraphicFramePr>
            <a:graphicFrameLocks noGrp="1"/>
          </p:cNvGraphicFramePr>
          <p:nvPr/>
        </p:nvGraphicFramePr>
        <p:xfrm>
          <a:off x="827583" y="3137272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6443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29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202.23.</a:t>
                      </a:r>
                      <a:r>
                        <a:rPr lang="en-US" altLang="zh-CN" u="sng" dirty="0">
                          <a:solidFill>
                            <a:srgbClr val="FFFF00"/>
                          </a:solidFill>
                        </a:rPr>
                        <a:t> 48 .0/23</a:t>
                      </a:r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 000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0B63BAD4-D389-48E5-BA5D-75DF6C7DBFC5}"/>
              </a:ext>
            </a:extLst>
          </p:cNvPr>
          <p:cNvGraphicFramePr>
            <a:graphicFrameLocks noGrp="1"/>
          </p:cNvGraphicFramePr>
          <p:nvPr/>
        </p:nvGraphicFramePr>
        <p:xfrm>
          <a:off x="1084426" y="3723878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43358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202.23.</a:t>
                      </a:r>
                      <a:r>
                        <a:rPr lang="en-US" altLang="zh-CN" u="sng" dirty="0">
                          <a:solidFill>
                            <a:schemeClr val="bg1"/>
                          </a:solidFill>
                        </a:rPr>
                        <a:t> 48 .0/23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5449BC66-A291-46A0-98A7-C43B92BDA650}"/>
              </a:ext>
            </a:extLst>
          </p:cNvPr>
          <p:cNvSpPr/>
          <p:nvPr/>
        </p:nvSpPr>
        <p:spPr>
          <a:xfrm>
            <a:off x="5641370" y="1498543"/>
            <a:ext cx="586814" cy="2880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743B9C9C-BB2B-4F97-A416-5A118AD7BC66}"/>
              </a:ext>
            </a:extLst>
          </p:cNvPr>
          <p:cNvCxnSpPr>
            <a:cxnSpLocks/>
            <a:stCxn id="53" idx="3"/>
            <a:endCxn id="20" idx="3"/>
          </p:cNvCxnSpPr>
          <p:nvPr/>
        </p:nvCxnSpPr>
        <p:spPr>
          <a:xfrm>
            <a:off x="6228184" y="1642559"/>
            <a:ext cx="1111310" cy="2665623"/>
          </a:xfrm>
          <a:prstGeom prst="bentConnector3">
            <a:avLst>
              <a:gd name="adj1" fmla="val 120570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71D645DC-84C9-4DAF-937B-D0BC049D719B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4122762"/>
          <a:ext cx="607986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？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D1A40F7B-3CD5-480B-A85D-4C2BF1343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843" y="1320002"/>
            <a:ext cx="526588" cy="343256"/>
          </a:xfrm>
          <a:prstGeom prst="rect">
            <a:avLst/>
          </a:prstGeom>
          <a:ln w="22225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21C2ED4-92C5-4643-9775-A538D5DE6CAE}"/>
              </a:ext>
            </a:extLst>
          </p:cNvPr>
          <p:cNvCxnSpPr>
            <a:cxnSpLocks/>
          </p:cNvCxnSpPr>
          <p:nvPr/>
        </p:nvCxnSpPr>
        <p:spPr>
          <a:xfrm>
            <a:off x="6444208" y="4371950"/>
            <a:ext cx="5421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9F569BC-230A-4B42-9712-485651AD3A30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4530938"/>
          <a:ext cx="607986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？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9540CAF-6105-4125-88FF-3D5B224DBB9E}"/>
              </a:ext>
            </a:extLst>
          </p:cNvPr>
          <p:cNvCxnSpPr>
            <a:cxnSpLocks/>
          </p:cNvCxnSpPr>
          <p:nvPr/>
        </p:nvCxnSpPr>
        <p:spPr>
          <a:xfrm>
            <a:off x="5209322" y="4803998"/>
            <a:ext cx="123488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11C301A7-A630-4B0F-8E34-D0291074CC4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551C915D-5F26-4AFF-88C2-8D410B6F1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395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网络层复习总结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5</a:t>
            </a:r>
            <a:r>
              <a:rPr lang="zh-CN" altLang="en-US" sz="2200" dirty="0">
                <a:effectLst/>
              </a:rPr>
              <a:t>：</a:t>
            </a:r>
            <a:r>
              <a:rPr lang="en-US" altLang="zh-CN" sz="2200" dirty="0"/>
              <a:t>DHCP</a:t>
            </a:r>
            <a:r>
              <a:rPr lang="zh-CN" altLang="en-US" sz="2200" dirty="0"/>
              <a:t>动态主机配置协议</a:t>
            </a: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9D234BD-DC94-41CD-A035-BF1D2E5003AE}"/>
              </a:ext>
            </a:extLst>
          </p:cNvPr>
          <p:cNvGrpSpPr/>
          <p:nvPr/>
        </p:nvGrpSpPr>
        <p:grpSpPr>
          <a:xfrm>
            <a:off x="4152157" y="1437624"/>
            <a:ext cx="4308275" cy="3472227"/>
            <a:chOff x="2719253" y="1436018"/>
            <a:chExt cx="6209015" cy="5127979"/>
          </a:xfrm>
        </p:grpSpPr>
        <p:grpSp>
          <p:nvGrpSpPr>
            <p:cNvPr id="29" name="Group 4">
              <a:extLst>
                <a:ext uri="{FF2B5EF4-FFF2-40B4-BE49-F238E27FC236}">
                  <a16:creationId xmlns:a16="http://schemas.microsoft.com/office/drawing/2014/main" id="{8DE1EDEE-71D2-4FE5-B422-4393B92B7615}"/>
                </a:ext>
              </a:extLst>
            </p:cNvPr>
            <p:cNvGrpSpPr/>
            <p:nvPr/>
          </p:nvGrpSpPr>
          <p:grpSpPr bwMode="auto">
            <a:xfrm>
              <a:off x="8212063" y="1839243"/>
              <a:ext cx="460375" cy="492125"/>
              <a:chOff x="2870" y="1518"/>
              <a:chExt cx="292" cy="320"/>
            </a:xfrm>
          </p:grpSpPr>
          <p:graphicFrame>
            <p:nvGraphicFramePr>
              <p:cNvPr id="58" name="Object 5">
                <a:extLst>
                  <a:ext uri="{FF2B5EF4-FFF2-40B4-BE49-F238E27FC236}">
                    <a16:creationId xmlns:a16="http://schemas.microsoft.com/office/drawing/2014/main" id="{C77EBA28-CDAA-4020-A201-DC62BAFFD4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8" r:id="rId3" imgW="11601450" imgH="11791950" progId="">
                      <p:embed/>
                    </p:oleObj>
                  </mc:Choice>
                  <mc:Fallback>
                    <p:oleObj r:id="rId3" imgW="11601450" imgH="11791950" progId="">
                      <p:embed/>
                      <p:pic>
                        <p:nvPicPr>
                          <p:cNvPr id="58" name="Object 5">
                            <a:extLst>
                              <a:ext uri="{FF2B5EF4-FFF2-40B4-BE49-F238E27FC236}">
                                <a16:creationId xmlns:a16="http://schemas.microsoft.com/office/drawing/2014/main" id="{C77EBA28-CDAA-4020-A201-DC62BAFFD40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Object 6">
                <a:extLst>
                  <a:ext uri="{FF2B5EF4-FFF2-40B4-BE49-F238E27FC236}">
                    <a16:creationId xmlns:a16="http://schemas.microsoft.com/office/drawing/2014/main" id="{5224C9DB-7F6D-4B8F-AA44-56E200150EE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" r:id="rId5" imgW="17716500" imgH="16754475" progId="">
                      <p:embed/>
                    </p:oleObj>
                  </mc:Choice>
                  <mc:Fallback>
                    <p:oleObj r:id="rId5" imgW="17716500" imgH="16754475" progId="">
                      <p:embed/>
                      <p:pic>
                        <p:nvPicPr>
                          <p:cNvPr id="59" name="Object 6">
                            <a:extLst>
                              <a:ext uri="{FF2B5EF4-FFF2-40B4-BE49-F238E27FC236}">
                                <a16:creationId xmlns:a16="http://schemas.microsoft.com/office/drawing/2014/main" id="{5224C9DB-7F6D-4B8F-AA44-56E200150EE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" name="Text Box 7">
              <a:extLst>
                <a:ext uri="{FF2B5EF4-FFF2-40B4-BE49-F238E27FC236}">
                  <a16:creationId xmlns:a16="http://schemas.microsoft.com/office/drawing/2014/main" id="{82C5CF2B-0FFD-4987-B0E1-D22AF67A6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9253" y="1436018"/>
              <a:ext cx="2257549" cy="374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050" b="1" dirty="0">
                  <a:solidFill>
                    <a:srgbClr val="0000FF"/>
                  </a:solidFill>
                  <a:latin typeface="+mn-lt"/>
                </a:rPr>
                <a:t>DHCP server: 223.1.2.5</a:t>
              </a:r>
            </a:p>
          </p:txBody>
        </p:sp>
        <p:sp>
          <p:nvSpPr>
            <p:cNvPr id="31" name="Text Box 8">
              <a:extLst>
                <a:ext uri="{FF2B5EF4-FFF2-40B4-BE49-F238E27FC236}">
                  <a16:creationId xmlns:a16="http://schemas.microsoft.com/office/drawing/2014/main" id="{CAFA8987-EF59-4EF2-8D8C-68606682C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06" y="1436018"/>
              <a:ext cx="1566862" cy="374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050" b="1" dirty="0">
                  <a:solidFill>
                    <a:srgbClr val="0000FF"/>
                  </a:solidFill>
                  <a:latin typeface="+mn-lt"/>
                </a:rPr>
                <a:t>Arriving client</a:t>
              </a:r>
              <a:endParaRPr lang="en-US" altLang="zh-CN" sz="1200" b="1" dirty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32" name="Line 9">
              <a:extLst>
                <a:ext uri="{FF2B5EF4-FFF2-40B4-BE49-F238E27FC236}">
                  <a16:creationId xmlns:a16="http://schemas.microsoft.com/office/drawing/2014/main" id="{06DECDCF-BA52-4DE7-A5C0-80D07B666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5325" y="2307556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3" name="Line 10">
              <a:extLst>
                <a:ext uri="{FF2B5EF4-FFF2-40B4-BE49-F238E27FC236}">
                  <a16:creationId xmlns:a16="http://schemas.microsoft.com/office/drawing/2014/main" id="{831C5852-FAF6-4717-B554-E9F591CAA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988" y="2263106"/>
              <a:ext cx="0" cy="376078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966B3C34-32C5-4B8B-A1A2-6849DF1D6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7950" y="2339306"/>
              <a:ext cx="0" cy="376237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343FE72D-3377-4DC5-A4B0-CBEBEF650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888" y="3031456"/>
              <a:ext cx="0" cy="1906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6" name="Text Box 13">
              <a:extLst>
                <a:ext uri="{FF2B5EF4-FFF2-40B4-BE49-F238E27FC236}">
                  <a16:creationId xmlns:a16="http://schemas.microsoft.com/office/drawing/2014/main" id="{F69111FF-79BA-4C13-B683-6FE4FCC0D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125" y="4906293"/>
              <a:ext cx="560388" cy="393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788">
                  <a:latin typeface="+mn-lt"/>
                </a:rPr>
                <a:t>time</a:t>
              </a:r>
              <a:endParaRPr lang="en-US" altLang="zh-CN" sz="1200">
                <a:latin typeface="+mn-lt"/>
              </a:endParaRPr>
            </a:p>
          </p:txBody>
        </p:sp>
        <p:grpSp>
          <p:nvGrpSpPr>
            <p:cNvPr id="37" name="Group 14">
              <a:extLst>
                <a:ext uri="{FF2B5EF4-FFF2-40B4-BE49-F238E27FC236}">
                  <a16:creationId xmlns:a16="http://schemas.microsoft.com/office/drawing/2014/main" id="{8445DE50-6D8D-40D8-8A51-46892BCEF839}"/>
                </a:ext>
              </a:extLst>
            </p:cNvPr>
            <p:cNvGrpSpPr/>
            <p:nvPr/>
          </p:nvGrpSpPr>
          <p:grpSpPr bwMode="auto">
            <a:xfrm>
              <a:off x="3740075" y="1829718"/>
              <a:ext cx="182563" cy="400050"/>
              <a:chOff x="4180" y="783"/>
              <a:chExt cx="150" cy="307"/>
            </a:xfrm>
          </p:grpSpPr>
          <p:sp>
            <p:nvSpPr>
              <p:cNvPr id="50" name="AutoShape 15">
                <a:extLst>
                  <a:ext uri="{FF2B5EF4-FFF2-40B4-BE49-F238E27FC236}">
                    <a16:creationId xmlns:a16="http://schemas.microsoft.com/office/drawing/2014/main" id="{97E8AEAA-02CB-414F-A6D2-B3B0532CC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1" name="Rectangle 16">
                <a:extLst>
                  <a:ext uri="{FF2B5EF4-FFF2-40B4-BE49-F238E27FC236}">
                    <a16:creationId xmlns:a16="http://schemas.microsoft.com/office/drawing/2014/main" id="{1A010F53-7461-4872-BE73-EEECF8D06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2" name="Rectangle 17">
                <a:extLst>
                  <a:ext uri="{FF2B5EF4-FFF2-40B4-BE49-F238E27FC236}">
                    <a16:creationId xmlns:a16="http://schemas.microsoft.com/office/drawing/2014/main" id="{2D7C8A14-5177-4842-BE05-63BBFEC74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3" name="AutoShape 18">
                <a:extLst>
                  <a:ext uri="{FF2B5EF4-FFF2-40B4-BE49-F238E27FC236}">
                    <a16:creationId xmlns:a16="http://schemas.microsoft.com/office/drawing/2014/main" id="{B703E370-3753-48CF-8AB1-234D8EB3F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4" name="Line 19">
                <a:extLst>
                  <a:ext uri="{FF2B5EF4-FFF2-40B4-BE49-F238E27FC236}">
                    <a16:creationId xmlns:a16="http://schemas.microsoft.com/office/drawing/2014/main" id="{4425D263-2BE1-4D5D-959F-C0AAD7255C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55" name="Line 20">
                <a:extLst>
                  <a:ext uri="{FF2B5EF4-FFF2-40B4-BE49-F238E27FC236}">
                    <a16:creationId xmlns:a16="http://schemas.microsoft.com/office/drawing/2014/main" id="{CB6E9CFC-5837-4CB0-A4F7-BBE07EBAF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56" name="Rectangle 21">
                <a:extLst>
                  <a:ext uri="{FF2B5EF4-FFF2-40B4-BE49-F238E27FC236}">
                    <a16:creationId xmlns:a16="http://schemas.microsoft.com/office/drawing/2014/main" id="{8F0998C7-9EF4-4575-9E75-6D996DD280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7" name="Rectangle 22">
                <a:extLst>
                  <a:ext uri="{FF2B5EF4-FFF2-40B4-BE49-F238E27FC236}">
                    <a16:creationId xmlns:a16="http://schemas.microsoft.com/office/drawing/2014/main" id="{4C12772E-6463-4D0D-9493-06F1C216E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</p:grpSp>
        <p:grpSp>
          <p:nvGrpSpPr>
            <p:cNvPr id="38" name="Group 23">
              <a:extLst>
                <a:ext uri="{FF2B5EF4-FFF2-40B4-BE49-F238E27FC236}">
                  <a16:creationId xmlns:a16="http://schemas.microsoft.com/office/drawing/2014/main" id="{F219BC1A-882C-4412-9C2F-34F92DD47BE7}"/>
                </a:ext>
              </a:extLst>
            </p:cNvPr>
            <p:cNvGrpSpPr/>
            <p:nvPr/>
          </p:nvGrpSpPr>
          <p:grpSpPr bwMode="auto">
            <a:xfrm>
              <a:off x="5364088" y="1442369"/>
              <a:ext cx="2673350" cy="1258615"/>
              <a:chOff x="11865" y="3885"/>
              <a:chExt cx="3720" cy="1421"/>
            </a:xfrm>
          </p:grpSpPr>
          <p:sp>
            <p:nvSpPr>
              <p:cNvPr id="48" name="Text Box 24">
                <a:extLst>
                  <a:ext uri="{FF2B5EF4-FFF2-40B4-BE49-F238E27FC236}">
                    <a16:creationId xmlns:a16="http://schemas.microsoft.com/office/drawing/2014/main" id="{D27B4495-7FAB-46B8-AEA0-953C09B061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825" b="1" dirty="0">
                    <a:latin typeface="+mn-lt"/>
                  </a:rPr>
                  <a:t>DHCP discover</a:t>
                </a:r>
              </a:p>
            </p:txBody>
          </p:sp>
          <p:sp>
            <p:nvSpPr>
              <p:cNvPr id="49" name="Text Box 25">
                <a:extLst>
                  <a:ext uri="{FF2B5EF4-FFF2-40B4-BE49-F238E27FC236}">
                    <a16:creationId xmlns:a16="http://schemas.microsoft.com/office/drawing/2014/main" id="{1EE7C041-EFCA-4207-9DD3-A8AB2C4D4E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10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825" dirty="0" err="1">
                    <a:latin typeface="+mn-lt"/>
                  </a:rPr>
                  <a:t>src</a:t>
                </a:r>
                <a:r>
                  <a:rPr lang="en-US" altLang="zh-CN" sz="825" dirty="0">
                    <a:latin typeface="+mn-lt"/>
                  </a:rPr>
                  <a:t> : 0.0.0.0, 68     </a:t>
                </a:r>
              </a:p>
              <a:p>
                <a:pPr eaLnBrk="0" hangingPunct="0"/>
                <a:r>
                  <a:rPr lang="en-US" altLang="zh-CN" sz="825" dirty="0" err="1">
                    <a:latin typeface="+mn-lt"/>
                  </a:rPr>
                  <a:t>dest</a:t>
                </a:r>
                <a:r>
                  <a:rPr lang="en-US" altLang="zh-CN" sz="825" dirty="0">
                    <a:latin typeface="+mn-lt"/>
                  </a:rPr>
                  <a:t>.: </a:t>
                </a:r>
                <a:r>
                  <a:rPr lang="en-US" altLang="zh-CN" sz="825" dirty="0">
                    <a:solidFill>
                      <a:srgbClr val="FF0000"/>
                    </a:solidFill>
                    <a:latin typeface="+mn-lt"/>
                  </a:rPr>
                  <a:t>255.255.255.255</a:t>
                </a:r>
                <a:r>
                  <a:rPr lang="en-US" altLang="zh-CN" sz="825" dirty="0">
                    <a:latin typeface="+mn-lt"/>
                  </a:rPr>
                  <a:t>,67</a:t>
                </a:r>
              </a:p>
              <a:p>
                <a:pPr eaLnBrk="0" hangingPunct="0"/>
                <a:r>
                  <a:rPr lang="en-US" altLang="zh-CN" sz="825" dirty="0" err="1">
                    <a:latin typeface="+mn-lt"/>
                  </a:rPr>
                  <a:t>yiaddr</a:t>
                </a:r>
                <a:r>
                  <a:rPr lang="en-US" altLang="zh-CN" sz="825" dirty="0">
                    <a:latin typeface="+mn-lt"/>
                  </a:rPr>
                  <a:t>:    0.0.0.0</a:t>
                </a:r>
              </a:p>
              <a:p>
                <a:pPr eaLnBrk="0" hangingPunct="0"/>
                <a:r>
                  <a:rPr lang="en-US" altLang="zh-CN" sz="825" dirty="0">
                    <a:latin typeface="+mn-lt"/>
                  </a:rPr>
                  <a:t>transaction ID: 654</a:t>
                </a:r>
                <a:endParaRPr lang="en-US" altLang="zh-CN" sz="1200" dirty="0">
                  <a:latin typeface="+mn-lt"/>
                </a:endParaRPr>
              </a:p>
            </p:txBody>
          </p:sp>
        </p:grpSp>
        <p:sp>
          <p:nvSpPr>
            <p:cNvPr id="39" name="Line 26">
              <a:extLst>
                <a:ext uri="{FF2B5EF4-FFF2-40B4-BE49-F238E27FC236}">
                  <a16:creationId xmlns:a16="http://schemas.microsoft.com/office/drawing/2014/main" id="{EBAFE220-37F0-4D0B-B175-7A0B73459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188" y="3293393"/>
              <a:ext cx="4395787" cy="538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0" name="Text Box 27">
              <a:extLst>
                <a:ext uri="{FF2B5EF4-FFF2-40B4-BE49-F238E27FC236}">
                  <a16:creationId xmlns:a16="http://schemas.microsoft.com/office/drawing/2014/main" id="{1FF5BF82-069D-494C-96F4-F988367A6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8664" y="2779856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offer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41" name="Text Box 28">
              <a:extLst>
                <a:ext uri="{FF2B5EF4-FFF2-40B4-BE49-F238E27FC236}">
                  <a16:creationId xmlns:a16="http://schemas.microsoft.com/office/drawing/2014/main" id="{F584E6B2-3A29-4C51-B9A9-A72B67971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7187" y="3042921"/>
              <a:ext cx="2424112" cy="10788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dirty="0" err="1">
                  <a:latin typeface="+mn-lt"/>
                </a:rPr>
                <a:t>src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00FF"/>
                  </a:solidFill>
                  <a:latin typeface="+mn-lt"/>
                </a:rPr>
                <a:t>223.1.2.5</a:t>
              </a:r>
              <a:r>
                <a:rPr lang="en-US" altLang="zh-CN" sz="825" dirty="0">
                  <a:latin typeface="+mn-lt"/>
                </a:rPr>
                <a:t>, 67      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dest</a:t>
              </a:r>
              <a:r>
                <a:rPr lang="en-US" altLang="zh-CN" sz="825" dirty="0">
                  <a:latin typeface="+mn-lt"/>
                </a:rPr>
                <a:t>:  </a:t>
              </a:r>
              <a:r>
                <a:rPr lang="en-US" altLang="zh-CN" sz="825" dirty="0">
                  <a:solidFill>
                    <a:srgbClr val="C00000"/>
                  </a:solidFill>
                  <a:latin typeface="+mn-lt"/>
                </a:rPr>
                <a:t>255.255.255.255</a:t>
              </a:r>
              <a:r>
                <a:rPr lang="en-US" altLang="zh-CN" sz="825" dirty="0">
                  <a:latin typeface="+mn-lt"/>
                </a:rPr>
                <a:t>, 68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yiaddrr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transaction ID: 654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Lifetime: 3600 </a:t>
              </a:r>
              <a:r>
                <a:rPr lang="en-US" altLang="zh-CN" sz="825" dirty="0" err="1">
                  <a:latin typeface="+mn-lt"/>
                </a:rPr>
                <a:t>secs</a:t>
              </a:r>
              <a:endParaRPr lang="en-US" altLang="zh-CN" sz="525" dirty="0">
                <a:latin typeface="+mn-lt"/>
              </a:endParaRPr>
            </a:p>
          </p:txBody>
        </p:sp>
        <p:sp>
          <p:nvSpPr>
            <p:cNvPr id="42" name="Line 29">
              <a:extLst>
                <a:ext uri="{FF2B5EF4-FFF2-40B4-BE49-F238E27FC236}">
                  <a16:creationId xmlns:a16="http://schemas.microsoft.com/office/drawing/2014/main" id="{A19DD036-5B1C-43F8-B46E-778F4103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0238" y="4522118"/>
              <a:ext cx="4395787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3" name="Text Box 30">
              <a:extLst>
                <a:ext uri="{FF2B5EF4-FFF2-40B4-BE49-F238E27FC236}">
                  <a16:creationId xmlns:a16="http://schemas.microsoft.com/office/drawing/2014/main" id="{A710E83E-B79B-4802-802B-D9A9BC272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7175" y="3924479"/>
              <a:ext cx="1379537" cy="3286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request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44" name="Text Box 31">
              <a:extLst>
                <a:ext uri="{FF2B5EF4-FFF2-40B4-BE49-F238E27FC236}">
                  <a16:creationId xmlns:a16="http://schemas.microsoft.com/office/drawing/2014/main" id="{47D7523D-57D9-4038-913D-243451AFB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806" y="4198255"/>
              <a:ext cx="2757487" cy="1037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>
                  <a:latin typeface="+mn-lt"/>
                </a:rPr>
                <a:t>src:  0.0.0.0, 68     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dest::  255.255.255.255, 67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yiaddrr: </a:t>
              </a:r>
              <a:r>
                <a:rPr lang="en-US" altLang="zh-CN" sz="825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transaction ID: 655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Lifetime: 3600 secs</a:t>
              </a:r>
              <a:endParaRPr lang="en-US" altLang="zh-CN" sz="1200">
                <a:latin typeface="+mn-lt"/>
              </a:endParaRPr>
            </a:p>
          </p:txBody>
        </p:sp>
        <p:sp>
          <p:nvSpPr>
            <p:cNvPr id="45" name="Line 32">
              <a:extLst>
                <a:ext uri="{FF2B5EF4-FFF2-40B4-BE49-F238E27FC236}">
                  <a16:creationId xmlns:a16="http://schemas.microsoft.com/office/drawing/2014/main" id="{921A324F-FFD5-41D7-BCD3-BD152AF79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963" y="5552406"/>
              <a:ext cx="4395787" cy="5381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6" name="Text Box 33">
              <a:extLst>
                <a:ext uri="{FF2B5EF4-FFF2-40B4-BE49-F238E27FC236}">
                  <a16:creationId xmlns:a16="http://schemas.microsoft.com/office/drawing/2014/main" id="{C7FDAE7E-3392-4229-A7B2-61212835C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997" y="5255380"/>
              <a:ext cx="1379537" cy="3286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ACK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47" name="Text Box 34">
              <a:extLst>
                <a:ext uri="{FF2B5EF4-FFF2-40B4-BE49-F238E27FC236}">
                  <a16:creationId xmlns:a16="http://schemas.microsoft.com/office/drawing/2014/main" id="{C5AAE150-BFE9-435C-848A-2A94E171F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8198" y="5526726"/>
              <a:ext cx="2412999" cy="1037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dirty="0" err="1">
                  <a:latin typeface="+mn-lt"/>
                </a:rPr>
                <a:t>src</a:t>
              </a:r>
              <a:r>
                <a:rPr lang="en-US" altLang="zh-CN" sz="825" dirty="0">
                  <a:latin typeface="+mn-lt"/>
                </a:rPr>
                <a:t>: 223.1.2.5, 67      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dest</a:t>
              </a:r>
              <a:r>
                <a:rPr lang="en-US" altLang="zh-CN" sz="825" dirty="0">
                  <a:latin typeface="+mn-lt"/>
                </a:rPr>
                <a:t>:  255.255.255.255, 68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yiaddrr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transaction ID: 655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Lifetime: 3600 secs</a:t>
              </a:r>
              <a:endParaRPr lang="en-US" altLang="zh-CN" sz="675" dirty="0">
                <a:latin typeface="+mn-lt"/>
              </a:endParaRPr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674DE9C3-1FD0-4929-A471-3963C83FECAF}"/>
              </a:ext>
            </a:extLst>
          </p:cNvPr>
          <p:cNvSpPr/>
          <p:nvPr/>
        </p:nvSpPr>
        <p:spPr>
          <a:xfrm>
            <a:off x="1807554" y="4394682"/>
            <a:ext cx="2387192" cy="300082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255.255.255.255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是广播地址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7962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网络层复习总结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6</a:t>
            </a:r>
            <a:r>
              <a:rPr lang="zh-CN" altLang="en-US" sz="2200" dirty="0">
                <a:effectLst/>
              </a:rPr>
              <a:t>：</a:t>
            </a:r>
            <a:r>
              <a:rPr lang="en-US" altLang="zh-CN" sz="2200" dirty="0"/>
              <a:t>NAT</a:t>
            </a:r>
            <a:r>
              <a:rPr lang="zh-CN" altLang="en-US" sz="2200" dirty="0"/>
              <a:t>网络地址转换</a:t>
            </a:r>
            <a:r>
              <a:rPr lang="en-US" altLang="zh-CN" sz="2200" dirty="0"/>
              <a:t>(IPv4)</a:t>
            </a:r>
            <a:endParaRPr lang="zh-CN" altLang="en-US" sz="2200" dirty="0"/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1" name="Group 159">
            <a:extLst>
              <a:ext uri="{FF2B5EF4-FFF2-40B4-BE49-F238E27FC236}">
                <a16:creationId xmlns:a16="http://schemas.microsoft.com/office/drawing/2014/main" id="{1A1EF52B-28C6-454D-8977-602ED8B28EB0}"/>
              </a:ext>
            </a:extLst>
          </p:cNvPr>
          <p:cNvGrpSpPr/>
          <p:nvPr/>
        </p:nvGrpSpPr>
        <p:grpSpPr bwMode="auto">
          <a:xfrm flipH="1">
            <a:off x="6798469" y="3246853"/>
            <a:ext cx="481013" cy="419100"/>
            <a:chOff x="-44" y="1473"/>
            <a:chExt cx="981" cy="1105"/>
          </a:xfrm>
        </p:grpSpPr>
        <p:pic>
          <p:nvPicPr>
            <p:cNvPr id="62" name="Picture 160" descr="desktop_computer_stylized_medium">
              <a:extLst>
                <a:ext uri="{FF2B5EF4-FFF2-40B4-BE49-F238E27FC236}">
                  <a16:creationId xmlns:a16="http://schemas.microsoft.com/office/drawing/2014/main" id="{E6C3D48D-FCDC-4646-B65A-776F40A359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Freeform 161">
              <a:extLst>
                <a:ext uri="{FF2B5EF4-FFF2-40B4-BE49-F238E27FC236}">
                  <a16:creationId xmlns:a16="http://schemas.microsoft.com/office/drawing/2014/main" id="{F3D41159-6005-4A83-B9D6-A0E99909B6BA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64" name="Group 162">
            <a:extLst>
              <a:ext uri="{FF2B5EF4-FFF2-40B4-BE49-F238E27FC236}">
                <a16:creationId xmlns:a16="http://schemas.microsoft.com/office/drawing/2014/main" id="{A7F63C4F-490E-41D1-B89C-A646C24BC46A}"/>
              </a:ext>
            </a:extLst>
          </p:cNvPr>
          <p:cNvGrpSpPr/>
          <p:nvPr/>
        </p:nvGrpSpPr>
        <p:grpSpPr bwMode="auto">
          <a:xfrm flipH="1">
            <a:off x="6804422" y="3812400"/>
            <a:ext cx="481013" cy="419100"/>
            <a:chOff x="-44" y="1473"/>
            <a:chExt cx="981" cy="1105"/>
          </a:xfrm>
        </p:grpSpPr>
        <p:pic>
          <p:nvPicPr>
            <p:cNvPr id="65" name="Picture 163" descr="desktop_computer_stylized_medium">
              <a:extLst>
                <a:ext uri="{FF2B5EF4-FFF2-40B4-BE49-F238E27FC236}">
                  <a16:creationId xmlns:a16="http://schemas.microsoft.com/office/drawing/2014/main" id="{F043FAFD-43C9-45E0-8513-A7F8C590D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164">
              <a:extLst>
                <a:ext uri="{FF2B5EF4-FFF2-40B4-BE49-F238E27FC236}">
                  <a16:creationId xmlns:a16="http://schemas.microsoft.com/office/drawing/2014/main" id="{8DEC396F-AA97-41A9-9039-6C663024CB67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67" name="Freeform 139">
            <a:extLst>
              <a:ext uri="{FF2B5EF4-FFF2-40B4-BE49-F238E27FC236}">
                <a16:creationId xmlns:a16="http://schemas.microsoft.com/office/drawing/2014/main" id="{10A6FA0A-9DAB-4A38-A8F8-A8B4A2E54933}"/>
              </a:ext>
            </a:extLst>
          </p:cNvPr>
          <p:cNvSpPr/>
          <p:nvPr/>
        </p:nvSpPr>
        <p:spPr bwMode="auto">
          <a:xfrm>
            <a:off x="1277541" y="2944434"/>
            <a:ext cx="3067050" cy="1016794"/>
          </a:xfrm>
          <a:custGeom>
            <a:avLst/>
            <a:gdLst>
              <a:gd name="T0" fmla="*/ 2147483647 w 2269"/>
              <a:gd name="T1" fmla="*/ 2147483647 h 854"/>
              <a:gd name="T2" fmla="*/ 2147483647 w 2269"/>
              <a:gd name="T3" fmla="*/ 2147483647 h 854"/>
              <a:gd name="T4" fmla="*/ 2147483647 w 2269"/>
              <a:gd name="T5" fmla="*/ 2147483647 h 854"/>
              <a:gd name="T6" fmla="*/ 2147483647 w 2269"/>
              <a:gd name="T7" fmla="*/ 2147483647 h 854"/>
              <a:gd name="T8" fmla="*/ 2147483647 w 2269"/>
              <a:gd name="T9" fmla="*/ 2147483647 h 854"/>
              <a:gd name="T10" fmla="*/ 2147483647 w 2269"/>
              <a:gd name="T11" fmla="*/ 2147483647 h 854"/>
              <a:gd name="T12" fmla="*/ 2147483647 w 2269"/>
              <a:gd name="T13" fmla="*/ 2147483647 h 8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8" name="Freeform 29">
            <a:extLst>
              <a:ext uri="{FF2B5EF4-FFF2-40B4-BE49-F238E27FC236}">
                <a16:creationId xmlns:a16="http://schemas.microsoft.com/office/drawing/2014/main" id="{834CB89A-71D6-4835-B45E-F403FCFA0677}"/>
              </a:ext>
            </a:extLst>
          </p:cNvPr>
          <p:cNvSpPr/>
          <p:nvPr/>
        </p:nvSpPr>
        <p:spPr bwMode="auto">
          <a:xfrm>
            <a:off x="4494610" y="2397937"/>
            <a:ext cx="2803922" cy="202287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>
              <a:alpha val="64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9" name="Line 32">
            <a:extLst>
              <a:ext uri="{FF2B5EF4-FFF2-40B4-BE49-F238E27FC236}">
                <a16:creationId xmlns:a16="http://schemas.microsoft.com/office/drawing/2014/main" id="{FE19BE61-23AA-49CB-8DDD-110911E2D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0335" y="3389728"/>
            <a:ext cx="213002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0" name="Line 34">
            <a:extLst>
              <a:ext uri="{FF2B5EF4-FFF2-40B4-BE49-F238E27FC236}">
                <a16:creationId xmlns:a16="http://schemas.microsoft.com/office/drawing/2014/main" id="{4FAE05AC-067C-4282-8197-AF006E8CF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0362" y="2828944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1" name="Line 35">
            <a:extLst>
              <a:ext uri="{FF2B5EF4-FFF2-40B4-BE49-F238E27FC236}">
                <a16:creationId xmlns:a16="http://schemas.microsoft.com/office/drawing/2014/main" id="{BDD5F66C-319E-4A95-845F-E0DEB5A806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5125" y="3957656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2" name="Text Box 36">
            <a:extLst>
              <a:ext uri="{FF2B5EF4-FFF2-40B4-BE49-F238E27FC236}">
                <a16:creationId xmlns:a16="http://schemas.microsoft.com/office/drawing/2014/main" id="{6C95F890-9C56-4CDC-BB12-7409AEB5B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469" y="2626538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10.0.0.1</a:t>
            </a:r>
          </a:p>
        </p:txBody>
      </p:sp>
      <p:sp>
        <p:nvSpPr>
          <p:cNvPr id="73" name="Text Box 37">
            <a:extLst>
              <a:ext uri="{FF2B5EF4-FFF2-40B4-BE49-F238E27FC236}">
                <a16:creationId xmlns:a16="http://schemas.microsoft.com/office/drawing/2014/main" id="{152064B6-1AA9-4431-A577-9A7987006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4719" y="3202801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dirty="0"/>
              <a:t>10.0.0.2</a:t>
            </a:r>
          </a:p>
        </p:txBody>
      </p:sp>
      <p:sp>
        <p:nvSpPr>
          <p:cNvPr id="74" name="Text Box 38">
            <a:extLst>
              <a:ext uri="{FF2B5EF4-FFF2-40B4-BE49-F238E27FC236}">
                <a16:creationId xmlns:a16="http://schemas.microsoft.com/office/drawing/2014/main" id="{CD02B4C6-F0A8-43CE-B9BA-643F47DEE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144" y="3874313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10.0.0.3</a:t>
            </a:r>
          </a:p>
        </p:txBody>
      </p:sp>
      <p:sp>
        <p:nvSpPr>
          <p:cNvPr id="75" name="Text Box 54">
            <a:extLst>
              <a:ext uri="{FF2B5EF4-FFF2-40B4-BE49-F238E27FC236}">
                <a16:creationId xmlns:a16="http://schemas.microsoft.com/office/drawing/2014/main" id="{42DC6807-E4A5-4A64-BB07-0ACA2E0CF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425" y="3069451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10.0.0.4</a:t>
            </a:r>
          </a:p>
        </p:txBody>
      </p:sp>
      <p:sp>
        <p:nvSpPr>
          <p:cNvPr id="76" name="Line 55">
            <a:extLst>
              <a:ext uri="{FF2B5EF4-FFF2-40B4-BE49-F238E27FC236}">
                <a16:creationId xmlns:a16="http://schemas.microsoft.com/office/drawing/2014/main" id="{5384679E-759F-4D57-83D1-ED56E4DB0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36294" y="3261140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7" name="Text Box 56">
            <a:extLst>
              <a:ext uri="{FF2B5EF4-FFF2-40B4-BE49-F238E27FC236}">
                <a16:creationId xmlns:a16="http://schemas.microsoft.com/office/drawing/2014/main" id="{B93D72F4-C15D-4AF2-BA02-C96B07149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682" y="3487360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138.76.29.7</a:t>
            </a:r>
          </a:p>
        </p:txBody>
      </p:sp>
      <p:sp>
        <p:nvSpPr>
          <p:cNvPr id="78" name="Line 57">
            <a:extLst>
              <a:ext uri="{FF2B5EF4-FFF2-40B4-BE49-F238E27FC236}">
                <a16:creationId xmlns:a16="http://schemas.microsoft.com/office/drawing/2014/main" id="{166A1016-CC13-4A48-A321-44B9CD6E40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1463" y="3439734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79" name="Group 59">
            <a:extLst>
              <a:ext uri="{FF2B5EF4-FFF2-40B4-BE49-F238E27FC236}">
                <a16:creationId xmlns:a16="http://schemas.microsoft.com/office/drawing/2014/main" id="{9BF08EAA-C309-414F-8F30-6677E3B52216}"/>
              </a:ext>
            </a:extLst>
          </p:cNvPr>
          <p:cNvGrpSpPr/>
          <p:nvPr/>
        </p:nvGrpSpPr>
        <p:grpSpPr bwMode="auto">
          <a:xfrm>
            <a:off x="5932344" y="1603196"/>
            <a:ext cx="1876425" cy="1041797"/>
            <a:chOff x="3944" y="989"/>
            <a:chExt cx="1576" cy="875"/>
          </a:xfrm>
        </p:grpSpPr>
        <p:sp>
          <p:nvSpPr>
            <p:cNvPr id="80" name="Text Box 53">
              <a:extLst>
                <a:ext uri="{FF2B5EF4-FFF2-40B4-BE49-F238E27FC236}">
                  <a16:creationId xmlns:a16="http://schemas.microsoft.com/office/drawing/2014/main" id="{A941E755-0D72-413F-97FC-9F5A2823D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989"/>
              <a:ext cx="1399" cy="5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lnSpc>
                  <a:spcPct val="85000"/>
                </a:lnSpc>
                <a:defRPr/>
              </a:pPr>
              <a:r>
                <a:rPr lang="en-US" sz="1350" b="1" i="1" dirty="0">
                  <a:solidFill>
                    <a:srgbClr val="CC0000"/>
                  </a:solidFill>
                </a:rPr>
                <a:t>1:</a:t>
              </a:r>
              <a:r>
                <a:rPr lang="en-US" sz="1350" dirty="0">
                  <a:solidFill>
                    <a:srgbClr val="FF0000"/>
                  </a:solidFill>
                </a:rPr>
                <a:t> </a:t>
              </a:r>
              <a:r>
                <a:rPr lang="en-US" sz="1350" dirty="0">
                  <a:solidFill>
                    <a:srgbClr val="000099"/>
                  </a:solidFill>
                </a:rPr>
                <a:t>host 10.0.0.1 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sends datagram to 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128.119.40.186, 80</a:t>
              </a:r>
            </a:p>
          </p:txBody>
        </p:sp>
        <p:sp>
          <p:nvSpPr>
            <p:cNvPr id="81" name="Line 58">
              <a:extLst>
                <a:ext uri="{FF2B5EF4-FFF2-40B4-BE49-F238E27FC236}">
                  <a16:creationId xmlns:a16="http://schemas.microsoft.com/office/drawing/2014/main" id="{F72CE1AD-C3BB-4D97-A699-20F33C923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4" y="1105"/>
              <a:ext cx="197" cy="75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82" name="Freeform 67">
            <a:extLst>
              <a:ext uri="{FF2B5EF4-FFF2-40B4-BE49-F238E27FC236}">
                <a16:creationId xmlns:a16="http://schemas.microsoft.com/office/drawing/2014/main" id="{DFB57141-2E9F-4E5A-A40A-EA9E2389ADB6}"/>
              </a:ext>
            </a:extLst>
          </p:cNvPr>
          <p:cNvSpPr/>
          <p:nvPr/>
        </p:nvSpPr>
        <p:spPr bwMode="auto">
          <a:xfrm>
            <a:off x="2949349" y="2589630"/>
            <a:ext cx="2848995" cy="735805"/>
          </a:xfrm>
          <a:custGeom>
            <a:avLst/>
            <a:gdLst>
              <a:gd name="T0" fmla="*/ 0 w 2433"/>
              <a:gd name="T1" fmla="*/ 2147483647 h 965"/>
              <a:gd name="T2" fmla="*/ 2147483647 w 2433"/>
              <a:gd name="T3" fmla="*/ 2147483647 h 965"/>
              <a:gd name="T4" fmla="*/ 2147483647 w 2433"/>
              <a:gd name="T5" fmla="*/ 2147483647 h 965"/>
              <a:gd name="T6" fmla="*/ 2147483647 w 2433"/>
              <a:gd name="T7" fmla="*/ 2147483647 h 965"/>
              <a:gd name="T8" fmla="*/ 2147483647 w 2433"/>
              <a:gd name="T9" fmla="*/ 2147483647 h 965"/>
              <a:gd name="T10" fmla="*/ 2147483647 w 2433"/>
              <a:gd name="T11" fmla="*/ 2147483647 h 965"/>
              <a:gd name="T12" fmla="*/ 0 w 2433"/>
              <a:gd name="T13" fmla="*/ 2147483647 h 9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bg1"/>
              </a:gs>
            </a:gsLst>
            <a:lin ang="5400000" scaled="1"/>
          </a:gradFill>
          <a:ln w="3175" cap="flat" cmpd="sng">
            <a:solidFill>
              <a:schemeClr val="hlink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83" name="Rectangle 62">
            <a:extLst>
              <a:ext uri="{FF2B5EF4-FFF2-40B4-BE49-F238E27FC236}">
                <a16:creationId xmlns:a16="http://schemas.microsoft.com/office/drawing/2014/main" id="{3E0B3D06-E08B-4203-989B-5C57F5825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873" y="1615179"/>
            <a:ext cx="2838450" cy="10156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350"/>
          </a:p>
        </p:txBody>
      </p:sp>
      <p:sp>
        <p:nvSpPr>
          <p:cNvPr id="84" name="Text Box 60">
            <a:extLst>
              <a:ext uri="{FF2B5EF4-FFF2-40B4-BE49-F238E27FC236}">
                <a16:creationId xmlns:a16="http://schemas.microsoft.com/office/drawing/2014/main" id="{6436FAA3-7BF2-477E-BA03-BE728CBC6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342" y="1605655"/>
            <a:ext cx="2449613" cy="57195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spcBef>
                <a:spcPts val="450"/>
              </a:spcBef>
              <a:defRPr/>
            </a:pPr>
            <a:r>
              <a:rPr lang="en-US" sz="1350" dirty="0">
                <a:solidFill>
                  <a:srgbClr val="FF00FF"/>
                </a:solidFill>
                <a:latin typeface="+mj-lt"/>
                <a:ea typeface="+mj-ea"/>
              </a:rPr>
              <a:t>NAT </a:t>
            </a:r>
            <a:r>
              <a:rPr lang="zh-CN" altLang="en-US" sz="1350" dirty="0">
                <a:solidFill>
                  <a:srgbClr val="FF00FF"/>
                </a:solidFill>
                <a:latin typeface="+mj-lt"/>
                <a:ea typeface="+mj-ea"/>
              </a:rPr>
              <a:t>端口</a:t>
            </a:r>
            <a:r>
              <a:rPr lang="en-US" altLang="zh-CN" sz="1350" dirty="0">
                <a:solidFill>
                  <a:srgbClr val="FF00FF"/>
                </a:solidFill>
                <a:latin typeface="+mj-lt"/>
                <a:ea typeface="+mj-ea"/>
              </a:rPr>
              <a:t>/</a:t>
            </a:r>
            <a:r>
              <a:rPr lang="zh-CN" altLang="en-US" sz="1350" dirty="0">
                <a:solidFill>
                  <a:srgbClr val="FF00FF"/>
                </a:solidFill>
                <a:latin typeface="+mj-lt"/>
                <a:ea typeface="+mj-ea"/>
              </a:rPr>
              <a:t>地址映射表</a:t>
            </a:r>
            <a:endParaRPr lang="en-US" sz="1350" dirty="0">
              <a:solidFill>
                <a:srgbClr val="FF00FF"/>
              </a:solidFill>
              <a:latin typeface="+mj-lt"/>
              <a:ea typeface="+mj-ea"/>
            </a:endParaRPr>
          </a:p>
          <a:p>
            <a:pPr algn="ctr">
              <a:spcBef>
                <a:spcPts val="450"/>
              </a:spcBef>
              <a:defRPr/>
            </a:pPr>
            <a:r>
              <a:rPr lang="zh-CN" altLang="en-US" sz="1350" dirty="0">
                <a:latin typeface="+mj-lt"/>
                <a:ea typeface="+mj-ea"/>
              </a:rPr>
              <a:t>广域网地址</a:t>
            </a:r>
            <a:r>
              <a:rPr lang="en-US" sz="1350" dirty="0">
                <a:latin typeface="+mj-lt"/>
                <a:ea typeface="+mj-ea"/>
              </a:rPr>
              <a:t>        </a:t>
            </a:r>
            <a:r>
              <a:rPr lang="zh-CN" altLang="en-US" sz="1350" dirty="0">
                <a:latin typeface="+mj-lt"/>
                <a:ea typeface="+mj-ea"/>
              </a:rPr>
              <a:t>局域网地址</a:t>
            </a:r>
            <a:endParaRPr lang="en-US" sz="1350" dirty="0">
              <a:latin typeface="+mj-lt"/>
              <a:ea typeface="+mj-ea"/>
            </a:endParaRPr>
          </a:p>
        </p:txBody>
      </p:sp>
      <p:sp>
        <p:nvSpPr>
          <p:cNvPr id="85" name="Line 63">
            <a:extLst>
              <a:ext uri="{FF2B5EF4-FFF2-40B4-BE49-F238E27FC236}">
                <a16:creationId xmlns:a16="http://schemas.microsoft.com/office/drawing/2014/main" id="{D3588EF0-04F3-47AE-9F33-11B864BA5C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3873" y="1894976"/>
            <a:ext cx="2843213" cy="83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86" name="Line 64">
            <a:extLst>
              <a:ext uri="{FF2B5EF4-FFF2-40B4-BE49-F238E27FC236}">
                <a16:creationId xmlns:a16="http://schemas.microsoft.com/office/drawing/2014/main" id="{1E71DCFF-7392-4E0E-B7EE-AB98505E9C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54589" y="2103336"/>
            <a:ext cx="2812256" cy="83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87" name="Line 65">
            <a:extLst>
              <a:ext uri="{FF2B5EF4-FFF2-40B4-BE49-F238E27FC236}">
                <a16:creationId xmlns:a16="http://schemas.microsoft.com/office/drawing/2014/main" id="{4DAC449C-218B-4E75-86B7-F4CDA51E7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6930" y="1911646"/>
            <a:ext cx="2381" cy="716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88" name="Text Box 61">
            <a:extLst>
              <a:ext uri="{FF2B5EF4-FFF2-40B4-BE49-F238E27FC236}">
                <a16:creationId xmlns:a16="http://schemas.microsoft.com/office/drawing/2014/main" id="{E4BD056A-44F6-4C99-BAA5-611E795C9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576" y="2117623"/>
            <a:ext cx="2848857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350" dirty="0">
                <a:solidFill>
                  <a:srgbClr val="FF6600"/>
                </a:solidFill>
              </a:rPr>
              <a:t>138.76.29.7</a:t>
            </a:r>
            <a:r>
              <a:rPr lang="en-US" altLang="zh-CN" sz="1350" dirty="0">
                <a:solidFill>
                  <a:srgbClr val="CC0000"/>
                </a:solidFill>
              </a:rPr>
              <a:t>, </a:t>
            </a:r>
            <a:r>
              <a:rPr lang="en-US" altLang="zh-CN" sz="1350" dirty="0"/>
              <a:t>5001</a:t>
            </a:r>
            <a:r>
              <a:rPr lang="en-US" altLang="zh-CN" sz="1350" dirty="0">
                <a:solidFill>
                  <a:srgbClr val="CC0000"/>
                </a:solidFill>
              </a:rPr>
              <a:t>   </a:t>
            </a:r>
            <a:r>
              <a:rPr lang="en-US" altLang="zh-CN" sz="1350" dirty="0">
                <a:solidFill>
                  <a:srgbClr val="FF8181"/>
                </a:solidFill>
              </a:rPr>
              <a:t>10.0.0.1</a:t>
            </a:r>
            <a:r>
              <a:rPr lang="en-US" altLang="zh-CN" sz="1350" dirty="0">
                <a:solidFill>
                  <a:srgbClr val="CC0000"/>
                </a:solidFill>
              </a:rPr>
              <a:t>, </a:t>
            </a:r>
            <a:r>
              <a:rPr lang="en-US" altLang="zh-CN" sz="1350" dirty="0"/>
              <a:t>3345</a:t>
            </a:r>
          </a:p>
          <a:p>
            <a:pPr algn="ctr"/>
            <a:r>
              <a:rPr lang="en-US" altLang="zh-CN" sz="1350" dirty="0"/>
              <a:t>……                                         ……</a:t>
            </a:r>
          </a:p>
        </p:txBody>
      </p:sp>
      <p:grpSp>
        <p:nvGrpSpPr>
          <p:cNvPr id="89" name="Group 135">
            <a:extLst>
              <a:ext uri="{FF2B5EF4-FFF2-40B4-BE49-F238E27FC236}">
                <a16:creationId xmlns:a16="http://schemas.microsoft.com/office/drawing/2014/main" id="{A2AAFD3E-663D-4405-BAB4-C0EF161BCCEA}"/>
              </a:ext>
            </a:extLst>
          </p:cNvPr>
          <p:cNvGrpSpPr/>
          <p:nvPr/>
        </p:nvGrpSpPr>
        <p:grpSpPr bwMode="auto">
          <a:xfrm>
            <a:off x="4717257" y="2782510"/>
            <a:ext cx="2088356" cy="1252538"/>
            <a:chOff x="3002" y="2417"/>
            <a:chExt cx="1754" cy="1052"/>
          </a:xfrm>
        </p:grpSpPr>
        <p:sp>
          <p:nvSpPr>
            <p:cNvPr id="90" name="Rectangle 91">
              <a:extLst>
                <a:ext uri="{FF2B5EF4-FFF2-40B4-BE49-F238E27FC236}">
                  <a16:creationId xmlns:a16="http://schemas.microsoft.com/office/drawing/2014/main" id="{0E967ED9-9B60-48FB-8BCD-A00F64C97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051"/>
              <a:ext cx="1175" cy="25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91" name="Text Box 92">
              <a:extLst>
                <a:ext uri="{FF2B5EF4-FFF2-40B4-BE49-F238E27FC236}">
                  <a16:creationId xmlns:a16="http://schemas.microsoft.com/office/drawing/2014/main" id="{BDE2B7D0-BF9F-430C-91C4-2504B70DB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" y="3042"/>
              <a:ext cx="1112" cy="4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S: 128.119.40.186, 80 </a:t>
              </a:r>
            </a:p>
            <a:p>
              <a:r>
                <a:rPr lang="en-US" altLang="zh-CN" sz="900" b="1" dirty="0"/>
                <a:t>D: 10.0.0.1, 3345</a:t>
              </a:r>
            </a:p>
            <a:p>
              <a:endParaRPr lang="en-US" altLang="zh-CN" sz="900" dirty="0"/>
            </a:p>
          </p:txBody>
        </p:sp>
        <p:grpSp>
          <p:nvGrpSpPr>
            <p:cNvPr id="92" name="Group 93">
              <a:extLst>
                <a:ext uri="{FF2B5EF4-FFF2-40B4-BE49-F238E27FC236}">
                  <a16:creationId xmlns:a16="http://schemas.microsoft.com/office/drawing/2014/main" id="{0328FA9B-38FA-48DB-87F5-B00CE21E9836}"/>
                </a:ext>
              </a:extLst>
            </p:cNvPr>
            <p:cNvGrpSpPr/>
            <p:nvPr/>
          </p:nvGrpSpPr>
          <p:grpSpPr bwMode="auto"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101" name="Freeform 94">
                <a:extLst>
                  <a:ext uri="{FF2B5EF4-FFF2-40B4-BE49-F238E27FC236}">
                    <a16:creationId xmlns:a16="http://schemas.microsoft.com/office/drawing/2014/main" id="{F00E0D45-A67A-4CB1-9267-A0E665BA32BC}"/>
                  </a:ext>
                </a:extLst>
              </p:cNvPr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02" name="Line 95">
                <a:extLst>
                  <a:ext uri="{FF2B5EF4-FFF2-40B4-BE49-F238E27FC236}">
                    <a16:creationId xmlns:a16="http://schemas.microsoft.com/office/drawing/2014/main" id="{46BCD9B4-E89D-47CD-8940-3C3A2170D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3" name="Line 96">
                <a:extLst>
                  <a:ext uri="{FF2B5EF4-FFF2-40B4-BE49-F238E27FC236}">
                    <a16:creationId xmlns:a16="http://schemas.microsoft.com/office/drawing/2014/main" id="{1CE0A6DD-F1D3-4A79-BA01-F9F245A28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93" name="Group 97">
              <a:extLst>
                <a:ext uri="{FF2B5EF4-FFF2-40B4-BE49-F238E27FC236}">
                  <a16:creationId xmlns:a16="http://schemas.microsoft.com/office/drawing/2014/main" id="{D28F04FC-67C6-45B8-ABC6-46CD125D0094}"/>
                </a:ext>
              </a:extLst>
            </p:cNvPr>
            <p:cNvGrpSpPr/>
            <p:nvPr/>
          </p:nvGrpSpPr>
          <p:grpSpPr bwMode="auto"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98" name="Freeform 98">
                <a:extLst>
                  <a:ext uri="{FF2B5EF4-FFF2-40B4-BE49-F238E27FC236}">
                    <a16:creationId xmlns:a16="http://schemas.microsoft.com/office/drawing/2014/main" id="{A9EF22F0-639E-4DE1-871D-DE1E4B2E3116}"/>
                  </a:ext>
                </a:extLst>
              </p:cNvPr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99" name="Line 99">
                <a:extLst>
                  <a:ext uri="{FF2B5EF4-FFF2-40B4-BE49-F238E27FC236}">
                    <a16:creationId xmlns:a16="http://schemas.microsoft.com/office/drawing/2014/main" id="{3BEEAF79-C26C-4683-AC5A-930AC7166B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0" name="Line 100">
                <a:extLst>
                  <a:ext uri="{FF2B5EF4-FFF2-40B4-BE49-F238E27FC236}">
                    <a16:creationId xmlns:a16="http://schemas.microsoft.com/office/drawing/2014/main" id="{054D2CED-BFB5-4C94-BCB5-BECBF3CF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94" name="Freeform 101">
              <a:extLst>
                <a:ext uri="{FF2B5EF4-FFF2-40B4-BE49-F238E27FC236}">
                  <a16:creationId xmlns:a16="http://schemas.microsoft.com/office/drawing/2014/main" id="{327C1DD0-B5EE-4019-B508-28B5F10599D9}"/>
                </a:ext>
              </a:extLst>
            </p:cNvPr>
            <p:cNvSpPr/>
            <p:nvPr/>
          </p:nvSpPr>
          <p:spPr bwMode="auto">
            <a:xfrm>
              <a:off x="4179" y="2417"/>
              <a:ext cx="577" cy="768"/>
            </a:xfrm>
            <a:custGeom>
              <a:avLst/>
              <a:gdLst>
                <a:gd name="T0" fmla="*/ 577 w 577"/>
                <a:gd name="T1" fmla="*/ 0 h 768"/>
                <a:gd name="T2" fmla="*/ 342 w 577"/>
                <a:gd name="T3" fmla="*/ 0 h 768"/>
                <a:gd name="T4" fmla="*/ 342 w 577"/>
                <a:gd name="T5" fmla="*/ 768 h 768"/>
                <a:gd name="T6" fmla="*/ 0 w 577"/>
                <a:gd name="T7" fmla="*/ 760 h 7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38100" cap="flat" cmpd="sng">
              <a:solidFill>
                <a:srgbClr val="C0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95" name="Group 102">
              <a:extLst>
                <a:ext uri="{FF2B5EF4-FFF2-40B4-BE49-F238E27FC236}">
                  <a16:creationId xmlns:a16="http://schemas.microsoft.com/office/drawing/2014/main" id="{59EFE3E7-35B0-49BD-A5E7-87BC9F43B15E}"/>
                </a:ext>
              </a:extLst>
            </p:cNvPr>
            <p:cNvGrpSpPr/>
            <p:nvPr/>
          </p:nvGrpSpPr>
          <p:grpSpPr bwMode="auto">
            <a:xfrm>
              <a:off x="4240" y="3061"/>
              <a:ext cx="250" cy="252"/>
              <a:chOff x="5140" y="400"/>
              <a:chExt cx="250" cy="252"/>
            </a:xfrm>
          </p:grpSpPr>
          <p:sp>
            <p:nvSpPr>
              <p:cNvPr id="96" name="Oval 103">
                <a:extLst>
                  <a:ext uri="{FF2B5EF4-FFF2-40B4-BE49-F238E27FC236}">
                    <a16:creationId xmlns:a16="http://schemas.microsoft.com/office/drawing/2014/main" id="{9A2FCB6A-77A2-4B32-B6EC-F13BD2F29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97" name="Text Box 104">
                <a:extLst>
                  <a:ext uri="{FF2B5EF4-FFF2-40B4-BE49-F238E27FC236}">
                    <a16:creationId xmlns:a16="http://schemas.microsoft.com/office/drawing/2014/main" id="{F19A4424-475C-4D48-BDFD-91EF24A5A1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4</a:t>
                </a:r>
              </a:p>
            </p:txBody>
          </p:sp>
        </p:grpSp>
      </p:grpSp>
      <p:grpSp>
        <p:nvGrpSpPr>
          <p:cNvPr id="104" name="Group 108">
            <a:extLst>
              <a:ext uri="{FF2B5EF4-FFF2-40B4-BE49-F238E27FC236}">
                <a16:creationId xmlns:a16="http://schemas.microsoft.com/office/drawing/2014/main" id="{F7D0D33C-9ACC-48BA-A432-6EF49627BDB1}"/>
              </a:ext>
            </a:extLst>
          </p:cNvPr>
          <p:cNvGrpSpPr/>
          <p:nvPr/>
        </p:nvGrpSpPr>
        <p:grpSpPr bwMode="auto">
          <a:xfrm>
            <a:off x="2291954" y="2945625"/>
            <a:ext cx="1872853" cy="425053"/>
            <a:chOff x="1026" y="3559"/>
            <a:chExt cx="1573" cy="357"/>
          </a:xfrm>
        </p:grpSpPr>
        <p:grpSp>
          <p:nvGrpSpPr>
            <p:cNvPr id="105" name="Group 68">
              <a:extLst>
                <a:ext uri="{FF2B5EF4-FFF2-40B4-BE49-F238E27FC236}">
                  <a16:creationId xmlns:a16="http://schemas.microsoft.com/office/drawing/2014/main" id="{187F3E3F-D934-43BB-ACB6-6A986C961685}"/>
                </a:ext>
              </a:extLst>
            </p:cNvPr>
            <p:cNvGrpSpPr/>
            <p:nvPr/>
          </p:nvGrpSpPr>
          <p:grpSpPr bwMode="auto"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110" name="Rectangle 69">
                <a:extLst>
                  <a:ext uri="{FF2B5EF4-FFF2-40B4-BE49-F238E27FC236}">
                    <a16:creationId xmlns:a16="http://schemas.microsoft.com/office/drawing/2014/main" id="{4CB3E992-2523-4A76-8F8F-D1C7EE76EE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11" name="Text Box 70">
                <a:extLst>
                  <a:ext uri="{FF2B5EF4-FFF2-40B4-BE49-F238E27FC236}">
                    <a16:creationId xmlns:a16="http://schemas.microsoft.com/office/drawing/2014/main" id="{7853EE24-D076-4A22-BC04-9FB316A63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900" b="1" dirty="0"/>
                  <a:t>S: 138.76.29.7, 5001</a:t>
                </a:r>
              </a:p>
              <a:p>
                <a:pPr>
                  <a:defRPr/>
                </a:pPr>
                <a:r>
                  <a:rPr lang="en-US" sz="900" dirty="0"/>
                  <a:t>D: 128.119.40.186, 80</a:t>
                </a:r>
              </a:p>
            </p:txBody>
          </p:sp>
          <p:grpSp>
            <p:nvGrpSpPr>
              <p:cNvPr id="112" name="Group 71">
                <a:extLst>
                  <a:ext uri="{FF2B5EF4-FFF2-40B4-BE49-F238E27FC236}">
                    <a16:creationId xmlns:a16="http://schemas.microsoft.com/office/drawing/2014/main" id="{AA35C5F9-0D43-4168-8AB0-3BAEF21A2E6D}"/>
                  </a:ext>
                </a:extLst>
              </p:cNvPr>
              <p:cNvGrpSpPr/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17" name="Freeform 72">
                  <a:extLst>
                    <a:ext uri="{FF2B5EF4-FFF2-40B4-BE49-F238E27FC236}">
                      <a16:creationId xmlns:a16="http://schemas.microsoft.com/office/drawing/2014/main" id="{55FA52B9-C5DA-413C-9EC6-9615A0A48999}"/>
                    </a:ext>
                  </a:extLst>
                </p:cNvPr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118" name="Line 73">
                  <a:extLst>
                    <a:ext uri="{FF2B5EF4-FFF2-40B4-BE49-F238E27FC236}">
                      <a16:creationId xmlns:a16="http://schemas.microsoft.com/office/drawing/2014/main" id="{D2044FFB-9F62-4144-8522-747A1F51FC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119" name="Line 74">
                  <a:extLst>
                    <a:ext uri="{FF2B5EF4-FFF2-40B4-BE49-F238E27FC236}">
                      <a16:creationId xmlns:a16="http://schemas.microsoft.com/office/drawing/2014/main" id="{AB565C9F-3829-4D10-B068-0B0B66CB35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113" name="Group 75">
                <a:extLst>
                  <a:ext uri="{FF2B5EF4-FFF2-40B4-BE49-F238E27FC236}">
                    <a16:creationId xmlns:a16="http://schemas.microsoft.com/office/drawing/2014/main" id="{6C556387-6CF6-43A1-9CA4-6BC9C1A1BFD5}"/>
                  </a:ext>
                </a:extLst>
              </p:cNvPr>
              <p:cNvGrpSpPr/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14" name="Freeform 76">
                  <a:extLst>
                    <a:ext uri="{FF2B5EF4-FFF2-40B4-BE49-F238E27FC236}">
                      <a16:creationId xmlns:a16="http://schemas.microsoft.com/office/drawing/2014/main" id="{16638964-BDB5-4204-84DB-8D9AEA7D2E05}"/>
                    </a:ext>
                  </a:extLst>
                </p:cNvPr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115" name="Line 77">
                  <a:extLst>
                    <a:ext uri="{FF2B5EF4-FFF2-40B4-BE49-F238E27FC236}">
                      <a16:creationId xmlns:a16="http://schemas.microsoft.com/office/drawing/2014/main" id="{324B0E1B-C7B6-4648-BE64-599AD7742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0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116" name="Line 78">
                  <a:extLst>
                    <a:ext uri="{FF2B5EF4-FFF2-40B4-BE49-F238E27FC236}">
                      <a16:creationId xmlns:a16="http://schemas.microsoft.com/office/drawing/2014/main" id="{7A199027-715B-44A2-B866-26992B6AAE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  <p:sp>
          <p:nvSpPr>
            <p:cNvPr id="106" name="Line 79">
              <a:extLst>
                <a:ext uri="{FF2B5EF4-FFF2-40B4-BE49-F238E27FC236}">
                  <a16:creationId xmlns:a16="http://schemas.microsoft.com/office/drawing/2014/main" id="{0F848320-B13C-4177-A21E-0E1F109E5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6" y="3729"/>
              <a:ext cx="37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107" name="Group 105">
              <a:extLst>
                <a:ext uri="{FF2B5EF4-FFF2-40B4-BE49-F238E27FC236}">
                  <a16:creationId xmlns:a16="http://schemas.microsoft.com/office/drawing/2014/main" id="{D2EDA0CD-4820-43F6-9E1D-84E861F240B7}"/>
                </a:ext>
              </a:extLst>
            </p:cNvPr>
            <p:cNvGrpSpPr/>
            <p:nvPr/>
          </p:nvGrpSpPr>
          <p:grpSpPr bwMode="auto">
            <a:xfrm>
              <a:off x="1143" y="3613"/>
              <a:ext cx="250" cy="252"/>
              <a:chOff x="5140" y="400"/>
              <a:chExt cx="250" cy="252"/>
            </a:xfrm>
          </p:grpSpPr>
          <p:sp>
            <p:nvSpPr>
              <p:cNvPr id="108" name="Oval 106">
                <a:extLst>
                  <a:ext uri="{FF2B5EF4-FFF2-40B4-BE49-F238E27FC236}">
                    <a16:creationId xmlns:a16="http://schemas.microsoft.com/office/drawing/2014/main" id="{DB4FA080-914A-485A-A6C6-0DBDE5055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09" name="Text Box 107">
                <a:extLst>
                  <a:ext uri="{FF2B5EF4-FFF2-40B4-BE49-F238E27FC236}">
                    <a16:creationId xmlns:a16="http://schemas.microsoft.com/office/drawing/2014/main" id="{FF52547F-ACAE-4650-A2E1-A1FD92AB52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120" name="Group 112">
            <a:extLst>
              <a:ext uri="{FF2B5EF4-FFF2-40B4-BE49-F238E27FC236}">
                <a16:creationId xmlns:a16="http://schemas.microsoft.com/office/drawing/2014/main" id="{2C9BD4A5-F5FF-45C3-AA4E-BC51E57E7C52}"/>
              </a:ext>
            </a:extLst>
          </p:cNvPr>
          <p:cNvGrpSpPr/>
          <p:nvPr/>
        </p:nvGrpSpPr>
        <p:grpSpPr bwMode="auto">
          <a:xfrm>
            <a:off x="1201342" y="1922878"/>
            <a:ext cx="3832622" cy="1151334"/>
            <a:chOff x="49" y="1695"/>
            <a:chExt cx="3219" cy="967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382D4758-580C-45D1-BBD1-F0B985D76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" y="1695"/>
              <a:ext cx="1367" cy="96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lnSpc>
                  <a:spcPct val="85000"/>
                </a:lnSpc>
                <a:defRPr/>
              </a:pPr>
              <a:r>
                <a:rPr lang="en-US" sz="1350" b="1" i="1" dirty="0">
                  <a:solidFill>
                    <a:srgbClr val="CC0000"/>
                  </a:solidFill>
                </a:rPr>
                <a:t>2:</a:t>
              </a:r>
              <a:r>
                <a:rPr lang="en-US" sz="1350" dirty="0">
                  <a:solidFill>
                    <a:srgbClr val="FF0000"/>
                  </a:solidFill>
                </a:rPr>
                <a:t> </a:t>
              </a:r>
              <a:r>
                <a:rPr lang="en-US" sz="1350" dirty="0">
                  <a:solidFill>
                    <a:srgbClr val="000099"/>
                  </a:solidFill>
                </a:rPr>
                <a:t>NAT router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changes datagram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source </a:t>
              </a:r>
              <a:r>
                <a:rPr lang="en-US" sz="1350" dirty="0" err="1">
                  <a:solidFill>
                    <a:srgbClr val="000099"/>
                  </a:solidFill>
                </a:rPr>
                <a:t>addr</a:t>
              </a:r>
              <a:r>
                <a:rPr lang="en-US" sz="1350" dirty="0">
                  <a:solidFill>
                    <a:srgbClr val="000099"/>
                  </a:solidFill>
                </a:rPr>
                <a:t> from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10.0.0.1, 3345 to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138.76.29.7, 5001,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updates table</a:t>
              </a:r>
            </a:p>
          </p:txBody>
        </p:sp>
        <p:sp>
          <p:nvSpPr>
            <p:cNvPr id="122" name="Line 83">
              <a:extLst>
                <a:ext uri="{FF2B5EF4-FFF2-40B4-BE49-F238E27FC236}">
                  <a16:creationId xmlns:a16="http://schemas.microsoft.com/office/drawing/2014/main" id="{3EB0667E-A870-4B24-BF9A-E0DAB8B21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5" y="2243"/>
              <a:ext cx="147" cy="35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3" name="Line 110">
              <a:extLst>
                <a:ext uri="{FF2B5EF4-FFF2-40B4-BE49-F238E27FC236}">
                  <a16:creationId xmlns:a16="http://schemas.microsoft.com/office/drawing/2014/main" id="{48101A15-8D26-4D08-82C1-4B3B6CE90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2057"/>
              <a:ext cx="690" cy="18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4" name="Line 111">
              <a:extLst>
                <a:ext uri="{FF2B5EF4-FFF2-40B4-BE49-F238E27FC236}">
                  <a16:creationId xmlns:a16="http://schemas.microsoft.com/office/drawing/2014/main" id="{84C8E41A-DC86-4E94-BE28-123EE2D5C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2068"/>
              <a:ext cx="1993" cy="17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25" name="Group 129">
            <a:extLst>
              <a:ext uri="{FF2B5EF4-FFF2-40B4-BE49-F238E27FC236}">
                <a16:creationId xmlns:a16="http://schemas.microsoft.com/office/drawing/2014/main" id="{8852DB9F-F570-4B43-B18C-311122416B5C}"/>
              </a:ext>
            </a:extLst>
          </p:cNvPr>
          <p:cNvGrpSpPr/>
          <p:nvPr/>
        </p:nvGrpSpPr>
        <p:grpSpPr bwMode="auto">
          <a:xfrm>
            <a:off x="2163366" y="3717153"/>
            <a:ext cx="1853803" cy="551260"/>
            <a:chOff x="1163" y="3752"/>
            <a:chExt cx="1557" cy="463"/>
          </a:xfrm>
        </p:grpSpPr>
        <p:sp>
          <p:nvSpPr>
            <p:cNvPr id="126" name="Rectangle 115">
              <a:extLst>
                <a:ext uri="{FF2B5EF4-FFF2-40B4-BE49-F238E27FC236}">
                  <a16:creationId xmlns:a16="http://schemas.microsoft.com/office/drawing/2014/main" id="{FDEC2DBB-DABF-4932-8A2A-9DF9635ED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" y="3796"/>
              <a:ext cx="1183" cy="256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" name="Text Box 116">
              <a:extLst>
                <a:ext uri="{FF2B5EF4-FFF2-40B4-BE49-F238E27FC236}">
                  <a16:creationId xmlns:a16="http://schemas.microsoft.com/office/drawing/2014/main" id="{E8DC2D9A-73B6-49D7-B53B-7CB3976B6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788"/>
              <a:ext cx="1120" cy="4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S: 128.119.40.186, 80 </a:t>
              </a:r>
            </a:p>
            <a:p>
              <a:r>
                <a:rPr lang="en-US" altLang="zh-CN" sz="900" b="1" dirty="0"/>
                <a:t>D: 138.76.29.7, 5001</a:t>
              </a:r>
            </a:p>
            <a:p>
              <a:endParaRPr lang="en-US" altLang="zh-CN" sz="900" dirty="0"/>
            </a:p>
          </p:txBody>
        </p:sp>
        <p:grpSp>
          <p:nvGrpSpPr>
            <p:cNvPr id="128" name="Group 117">
              <a:extLst>
                <a:ext uri="{FF2B5EF4-FFF2-40B4-BE49-F238E27FC236}">
                  <a16:creationId xmlns:a16="http://schemas.microsoft.com/office/drawing/2014/main" id="{833807FB-B572-4013-9C1E-29110B5443BD}"/>
                </a:ext>
              </a:extLst>
            </p:cNvPr>
            <p:cNvGrpSpPr/>
            <p:nvPr/>
          </p:nvGrpSpPr>
          <p:grpSpPr bwMode="auto"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137" name="Freeform 118">
                <a:extLst>
                  <a:ext uri="{FF2B5EF4-FFF2-40B4-BE49-F238E27FC236}">
                    <a16:creationId xmlns:a16="http://schemas.microsoft.com/office/drawing/2014/main" id="{8635B728-FAC6-4750-9910-712CC4DE84B9}"/>
                  </a:ext>
                </a:extLst>
              </p:cNvPr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8" name="Line 119">
                <a:extLst>
                  <a:ext uri="{FF2B5EF4-FFF2-40B4-BE49-F238E27FC236}">
                    <a16:creationId xmlns:a16="http://schemas.microsoft.com/office/drawing/2014/main" id="{A1DCD830-02B1-434A-ACF7-6700F14BD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39" name="Line 120">
                <a:extLst>
                  <a:ext uri="{FF2B5EF4-FFF2-40B4-BE49-F238E27FC236}">
                    <a16:creationId xmlns:a16="http://schemas.microsoft.com/office/drawing/2014/main" id="{7F79A6A1-8E6D-4DDC-A50A-039E59B84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29" name="Group 121">
              <a:extLst>
                <a:ext uri="{FF2B5EF4-FFF2-40B4-BE49-F238E27FC236}">
                  <a16:creationId xmlns:a16="http://schemas.microsoft.com/office/drawing/2014/main" id="{AF2513D1-2828-4C28-A151-D6C9C5778E49}"/>
                </a:ext>
              </a:extLst>
            </p:cNvPr>
            <p:cNvGrpSpPr/>
            <p:nvPr/>
          </p:nvGrpSpPr>
          <p:grpSpPr bwMode="auto"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134" name="Freeform 122">
                <a:extLst>
                  <a:ext uri="{FF2B5EF4-FFF2-40B4-BE49-F238E27FC236}">
                    <a16:creationId xmlns:a16="http://schemas.microsoft.com/office/drawing/2014/main" id="{CC079FB9-1A51-4F5B-A55F-739056268927}"/>
                  </a:ext>
                </a:extLst>
              </p:cNvPr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5" name="Line 123">
                <a:extLst>
                  <a:ext uri="{FF2B5EF4-FFF2-40B4-BE49-F238E27FC236}">
                    <a16:creationId xmlns:a16="http://schemas.microsoft.com/office/drawing/2014/main" id="{21843023-97DB-4324-B72F-15E93A2EA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36" name="Line 124">
                <a:extLst>
                  <a:ext uri="{FF2B5EF4-FFF2-40B4-BE49-F238E27FC236}">
                    <a16:creationId xmlns:a16="http://schemas.microsoft.com/office/drawing/2014/main" id="{7049D823-8B7E-4588-9468-AC0A9EB2D5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130" name="Line 125">
              <a:extLst>
                <a:ext uri="{FF2B5EF4-FFF2-40B4-BE49-F238E27FC236}">
                  <a16:creationId xmlns:a16="http://schemas.microsoft.com/office/drawing/2014/main" id="{74689305-788D-46B3-B19B-1F2A193B26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3931"/>
              <a:ext cx="376" cy="0"/>
            </a:xfrm>
            <a:prstGeom prst="line">
              <a:avLst/>
            </a:prstGeom>
            <a:noFill/>
            <a:ln w="34925">
              <a:solidFill>
                <a:srgbClr val="C0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131" name="Group 126">
              <a:extLst>
                <a:ext uri="{FF2B5EF4-FFF2-40B4-BE49-F238E27FC236}">
                  <a16:creationId xmlns:a16="http://schemas.microsoft.com/office/drawing/2014/main" id="{547BA45F-5CA1-48F8-B5BB-653245F5F3A9}"/>
                </a:ext>
              </a:extLst>
            </p:cNvPr>
            <p:cNvGrpSpPr/>
            <p:nvPr/>
          </p:nvGrpSpPr>
          <p:grpSpPr bwMode="auto">
            <a:xfrm>
              <a:off x="2409" y="3815"/>
              <a:ext cx="250" cy="252"/>
              <a:chOff x="5140" y="400"/>
              <a:chExt cx="250" cy="252"/>
            </a:xfrm>
          </p:grpSpPr>
          <p:sp>
            <p:nvSpPr>
              <p:cNvPr id="132" name="Oval 127">
                <a:extLst>
                  <a:ext uri="{FF2B5EF4-FFF2-40B4-BE49-F238E27FC236}">
                    <a16:creationId xmlns:a16="http://schemas.microsoft.com/office/drawing/2014/main" id="{FBA55966-9A75-455F-9B41-F77085B12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3" name="Text Box 128">
                <a:extLst>
                  <a:ext uri="{FF2B5EF4-FFF2-40B4-BE49-F238E27FC236}">
                    <a16:creationId xmlns:a16="http://schemas.microsoft.com/office/drawing/2014/main" id="{E660CCE3-D0C1-40EB-8CDC-8894D2E3B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3</a:t>
                </a:r>
              </a:p>
            </p:txBody>
          </p:sp>
        </p:grpSp>
      </p:grpSp>
      <p:sp>
        <p:nvSpPr>
          <p:cNvPr id="140" name="Text Box 131">
            <a:extLst>
              <a:ext uri="{FF2B5EF4-FFF2-40B4-BE49-F238E27FC236}">
                <a16:creationId xmlns:a16="http://schemas.microsoft.com/office/drawing/2014/main" id="{8EA5931B-181D-4713-9B3D-3DF8F01C3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1219" y="4083863"/>
            <a:ext cx="1627369" cy="6220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1350" b="1" i="1">
                <a:solidFill>
                  <a:srgbClr val="CC0000"/>
                </a:solidFill>
              </a:rPr>
              <a:t>3:</a:t>
            </a:r>
            <a:r>
              <a:rPr lang="en-US" sz="1350">
                <a:solidFill>
                  <a:srgbClr val="FF0000"/>
                </a:solidFill>
              </a:rPr>
              <a:t> </a:t>
            </a:r>
            <a:r>
              <a:rPr lang="en-US" sz="1350">
                <a:solidFill>
                  <a:srgbClr val="000099"/>
                </a:solidFill>
              </a:rPr>
              <a:t>reply arrives</a:t>
            </a:r>
          </a:p>
          <a:p>
            <a:pPr>
              <a:lnSpc>
                <a:spcPct val="85000"/>
              </a:lnSpc>
              <a:defRPr/>
            </a:pPr>
            <a:r>
              <a:rPr lang="en-US" sz="1350">
                <a:solidFill>
                  <a:srgbClr val="000099"/>
                </a:solidFill>
              </a:rPr>
              <a:t> dest. address:</a:t>
            </a:r>
          </a:p>
          <a:p>
            <a:pPr>
              <a:lnSpc>
                <a:spcPct val="85000"/>
              </a:lnSpc>
              <a:defRPr/>
            </a:pPr>
            <a:r>
              <a:rPr lang="en-US" sz="1350">
                <a:solidFill>
                  <a:srgbClr val="000099"/>
                </a:solidFill>
              </a:rPr>
              <a:t> 138.76.29.7, 5001</a:t>
            </a:r>
          </a:p>
        </p:txBody>
      </p:sp>
      <p:sp>
        <p:nvSpPr>
          <p:cNvPr id="141" name="Text Box 136">
            <a:extLst>
              <a:ext uri="{FF2B5EF4-FFF2-40B4-BE49-F238E27FC236}">
                <a16:creationId xmlns:a16="http://schemas.microsoft.com/office/drawing/2014/main" id="{EB544182-412B-42E5-BCDD-D7029A7AF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398" y="3972893"/>
            <a:ext cx="2925801" cy="7986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350" b="1" i="1" dirty="0">
                <a:solidFill>
                  <a:srgbClr val="CC0000"/>
                </a:solidFill>
              </a:rPr>
              <a:t>4:</a:t>
            </a:r>
            <a:r>
              <a:rPr lang="en-US" altLang="zh-CN" sz="1350" dirty="0">
                <a:solidFill>
                  <a:srgbClr val="FF0000"/>
                </a:solidFill>
              </a:rPr>
              <a:t> </a:t>
            </a:r>
            <a:r>
              <a:rPr lang="en-US" altLang="zh-CN" sz="1350" dirty="0">
                <a:solidFill>
                  <a:srgbClr val="000099"/>
                </a:solidFill>
              </a:rPr>
              <a:t>NAT router</a:t>
            </a:r>
          </a:p>
          <a:p>
            <a:pPr>
              <a:lnSpc>
                <a:spcPct val="85000"/>
              </a:lnSpc>
            </a:pPr>
            <a:r>
              <a:rPr lang="en-US" altLang="zh-CN" sz="1350" dirty="0">
                <a:solidFill>
                  <a:srgbClr val="000099"/>
                </a:solidFill>
              </a:rPr>
              <a:t>changes datagram</a:t>
            </a:r>
          </a:p>
          <a:p>
            <a:pPr>
              <a:lnSpc>
                <a:spcPct val="85000"/>
              </a:lnSpc>
            </a:pPr>
            <a:r>
              <a:rPr lang="en-US" altLang="zh-CN" sz="1350" dirty="0" err="1">
                <a:solidFill>
                  <a:srgbClr val="000099"/>
                </a:solidFill>
              </a:rPr>
              <a:t>dest</a:t>
            </a:r>
            <a:r>
              <a:rPr lang="en-US" altLang="zh-CN" sz="1350" dirty="0">
                <a:solidFill>
                  <a:srgbClr val="000099"/>
                </a:solidFill>
              </a:rPr>
              <a:t> </a:t>
            </a:r>
            <a:r>
              <a:rPr lang="en-US" altLang="zh-CN" sz="1350" dirty="0" err="1">
                <a:solidFill>
                  <a:srgbClr val="000099"/>
                </a:solidFill>
              </a:rPr>
              <a:t>addr</a:t>
            </a:r>
            <a:r>
              <a:rPr lang="en-US" altLang="zh-CN" sz="1350" dirty="0">
                <a:solidFill>
                  <a:srgbClr val="000099"/>
                </a:solidFill>
              </a:rPr>
              <a:t> from</a:t>
            </a:r>
          </a:p>
          <a:p>
            <a:pPr>
              <a:lnSpc>
                <a:spcPct val="85000"/>
              </a:lnSpc>
            </a:pPr>
            <a:r>
              <a:rPr lang="en-US" altLang="zh-CN" sz="1350" dirty="0">
                <a:solidFill>
                  <a:srgbClr val="000099"/>
                </a:solidFill>
              </a:rPr>
              <a:t>138.76.29.7, 5001 to 10.0.0.1, 3345</a:t>
            </a:r>
          </a:p>
        </p:txBody>
      </p:sp>
      <p:sp>
        <p:nvSpPr>
          <p:cNvPr id="142" name="Line 138">
            <a:extLst>
              <a:ext uri="{FF2B5EF4-FFF2-40B4-BE49-F238E27FC236}">
                <a16:creationId xmlns:a16="http://schemas.microsoft.com/office/drawing/2014/main" id="{24D89A81-4E68-46A3-B2A9-9F78C5444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9763" y="3411159"/>
            <a:ext cx="2269331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43" name="Group 143">
            <a:extLst>
              <a:ext uri="{FF2B5EF4-FFF2-40B4-BE49-F238E27FC236}">
                <a16:creationId xmlns:a16="http://schemas.microsoft.com/office/drawing/2014/main" id="{D5A38DAD-10F4-4210-9D2A-EB97C9462782}"/>
              </a:ext>
            </a:extLst>
          </p:cNvPr>
          <p:cNvGrpSpPr/>
          <p:nvPr/>
        </p:nvGrpSpPr>
        <p:grpSpPr bwMode="auto">
          <a:xfrm>
            <a:off x="4169569" y="3277809"/>
            <a:ext cx="440531" cy="242888"/>
            <a:chOff x="4396" y="1245"/>
            <a:chExt cx="672" cy="248"/>
          </a:xfrm>
        </p:grpSpPr>
        <p:sp>
          <p:nvSpPr>
            <p:cNvPr id="144" name="Oval 407">
              <a:extLst>
                <a:ext uri="{FF2B5EF4-FFF2-40B4-BE49-F238E27FC236}">
                  <a16:creationId xmlns:a16="http://schemas.microsoft.com/office/drawing/2014/main" id="{C1B72A38-7C72-4943-8A8F-C1958FBD1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5" name="Rectangle 410">
              <a:extLst>
                <a:ext uri="{FF2B5EF4-FFF2-40B4-BE49-F238E27FC236}">
                  <a16:creationId xmlns:a16="http://schemas.microsoft.com/office/drawing/2014/main" id="{31DEE859-1064-4FCE-989B-CD9C23D88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6" name="Oval 411">
              <a:extLst>
                <a:ext uri="{FF2B5EF4-FFF2-40B4-BE49-F238E27FC236}">
                  <a16:creationId xmlns:a16="http://schemas.microsoft.com/office/drawing/2014/main" id="{F610C2FA-32CA-4413-B7CF-FCE545B65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47" name="Group 147">
              <a:extLst>
                <a:ext uri="{FF2B5EF4-FFF2-40B4-BE49-F238E27FC236}">
                  <a16:creationId xmlns:a16="http://schemas.microsoft.com/office/drawing/2014/main" id="{370AA061-125E-47F6-B0C1-F1DEF6328E42}"/>
                </a:ext>
              </a:extLst>
            </p:cNvPr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0" name="Freeform 148">
                <a:extLst>
                  <a:ext uri="{FF2B5EF4-FFF2-40B4-BE49-F238E27FC236}">
                    <a16:creationId xmlns:a16="http://schemas.microsoft.com/office/drawing/2014/main" id="{D722C2A5-3D58-428F-9CF0-0D227B27DA68}"/>
                  </a:ext>
                </a:extLst>
              </p:cNvPr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1" name="Freeform 149">
                <a:extLst>
                  <a:ext uri="{FF2B5EF4-FFF2-40B4-BE49-F238E27FC236}">
                    <a16:creationId xmlns:a16="http://schemas.microsoft.com/office/drawing/2014/main" id="{E1025824-5E45-4576-971E-6936DECD70DE}"/>
                  </a:ext>
                </a:extLst>
              </p:cNvPr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48" name="Line 150">
              <a:extLst>
                <a:ext uri="{FF2B5EF4-FFF2-40B4-BE49-F238E27FC236}">
                  <a16:creationId xmlns:a16="http://schemas.microsoft.com/office/drawing/2014/main" id="{513164B9-AD74-4BD8-A634-3FB553930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49" name="Line 151">
              <a:extLst>
                <a:ext uri="{FF2B5EF4-FFF2-40B4-BE49-F238E27FC236}">
                  <a16:creationId xmlns:a16="http://schemas.microsoft.com/office/drawing/2014/main" id="{BAD77087-8028-4500-9707-FDEA08104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52" name="Group 156">
            <a:extLst>
              <a:ext uri="{FF2B5EF4-FFF2-40B4-BE49-F238E27FC236}">
                <a16:creationId xmlns:a16="http://schemas.microsoft.com/office/drawing/2014/main" id="{3F193585-5500-411B-9DFF-38866C018BA5}"/>
              </a:ext>
            </a:extLst>
          </p:cNvPr>
          <p:cNvGrpSpPr/>
          <p:nvPr/>
        </p:nvGrpSpPr>
        <p:grpSpPr bwMode="auto">
          <a:xfrm flipH="1">
            <a:off x="6790135" y="2689640"/>
            <a:ext cx="481013" cy="419100"/>
            <a:chOff x="-44" y="1473"/>
            <a:chExt cx="981" cy="1105"/>
          </a:xfrm>
        </p:grpSpPr>
        <p:pic>
          <p:nvPicPr>
            <p:cNvPr id="153" name="Picture 157" descr="desktop_computer_stylized_medium">
              <a:extLst>
                <a:ext uri="{FF2B5EF4-FFF2-40B4-BE49-F238E27FC236}">
                  <a16:creationId xmlns:a16="http://schemas.microsoft.com/office/drawing/2014/main" id="{F8C06A22-841D-435E-8946-BB59C551BE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4" name="Freeform 158">
              <a:extLst>
                <a:ext uri="{FF2B5EF4-FFF2-40B4-BE49-F238E27FC236}">
                  <a16:creationId xmlns:a16="http://schemas.microsoft.com/office/drawing/2014/main" id="{296A358B-2561-400D-BA8C-022B788A1CCF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55" name="Line 32">
            <a:extLst>
              <a:ext uri="{FF2B5EF4-FFF2-40B4-BE49-F238E27FC236}">
                <a16:creationId xmlns:a16="http://schemas.microsoft.com/office/drawing/2014/main" id="{18780B24-7579-4FA2-8757-5C978D3CF9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2979" y="3384965"/>
            <a:ext cx="16430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56" name="Group 88">
            <a:extLst>
              <a:ext uri="{FF2B5EF4-FFF2-40B4-BE49-F238E27FC236}">
                <a16:creationId xmlns:a16="http://schemas.microsoft.com/office/drawing/2014/main" id="{C27B61AF-7C73-4FD9-9DA7-AB01CA97EB01}"/>
              </a:ext>
            </a:extLst>
          </p:cNvPr>
          <p:cNvGrpSpPr/>
          <p:nvPr/>
        </p:nvGrpSpPr>
        <p:grpSpPr bwMode="auto">
          <a:xfrm>
            <a:off x="5102074" y="2632638"/>
            <a:ext cx="1403747" cy="729853"/>
            <a:chOff x="3550" y="2055"/>
            <a:chExt cx="1179" cy="613"/>
          </a:xfrm>
        </p:grpSpPr>
        <p:grpSp>
          <p:nvGrpSpPr>
            <p:cNvPr id="157" name="Group 50">
              <a:extLst>
                <a:ext uri="{FF2B5EF4-FFF2-40B4-BE49-F238E27FC236}">
                  <a16:creationId xmlns:a16="http://schemas.microsoft.com/office/drawing/2014/main" id="{A6513893-61A6-444E-A452-A29E6DACFFAC}"/>
                </a:ext>
              </a:extLst>
            </p:cNvPr>
            <p:cNvGrpSpPr/>
            <p:nvPr/>
          </p:nvGrpSpPr>
          <p:grpSpPr bwMode="auto">
            <a:xfrm>
              <a:off x="3550" y="2055"/>
              <a:ext cx="1179" cy="357"/>
              <a:chOff x="4380" y="786"/>
              <a:chExt cx="1108" cy="357"/>
            </a:xfrm>
          </p:grpSpPr>
          <p:sp>
            <p:nvSpPr>
              <p:cNvPr id="162" name="Rectangle 40">
                <a:extLst>
                  <a:ext uri="{FF2B5EF4-FFF2-40B4-BE49-F238E27FC236}">
                    <a16:creationId xmlns:a16="http://schemas.microsoft.com/office/drawing/2014/main" id="{F905CB02-7346-41AD-AAE1-CE900A345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4" y="830"/>
                <a:ext cx="1104" cy="256"/>
              </a:xfrm>
              <a:prstGeom prst="rect">
                <a:avLst/>
              </a:prstGeom>
              <a:solidFill>
                <a:srgbClr val="FFDDDD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3" name="Text Box 39">
                <a:extLst>
                  <a:ext uri="{FF2B5EF4-FFF2-40B4-BE49-F238E27FC236}">
                    <a16:creationId xmlns:a16="http://schemas.microsoft.com/office/drawing/2014/main" id="{6364A421-1314-4A1F-B3EC-1F1A70B778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0" y="813"/>
                <a:ext cx="1045" cy="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900" b="1" dirty="0"/>
                  <a:t>S: 10.0.0.1, 3345</a:t>
                </a:r>
              </a:p>
              <a:p>
                <a:pPr>
                  <a:defRPr/>
                </a:pPr>
                <a:r>
                  <a:rPr lang="en-US" sz="900" dirty="0"/>
                  <a:t>D: 128.119.40.186, 80</a:t>
                </a:r>
              </a:p>
            </p:txBody>
          </p:sp>
          <p:grpSp>
            <p:nvGrpSpPr>
              <p:cNvPr id="164" name="Group 44">
                <a:extLst>
                  <a:ext uri="{FF2B5EF4-FFF2-40B4-BE49-F238E27FC236}">
                    <a16:creationId xmlns:a16="http://schemas.microsoft.com/office/drawing/2014/main" id="{F398D438-B94A-4EA9-BF13-8C5C50EEE856}"/>
                  </a:ext>
                </a:extLst>
              </p:cNvPr>
              <p:cNvGrpSpPr/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69" name="Freeform 43">
                  <a:extLst>
                    <a:ext uri="{FF2B5EF4-FFF2-40B4-BE49-F238E27FC236}">
                      <a16:creationId xmlns:a16="http://schemas.microsoft.com/office/drawing/2014/main" id="{7A98E17F-9087-470F-8B42-5D6084D8C7F3}"/>
                    </a:ext>
                  </a:extLst>
                </p:cNvPr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170" name="Line 41">
                  <a:extLst>
                    <a:ext uri="{FF2B5EF4-FFF2-40B4-BE49-F238E27FC236}">
                      <a16:creationId xmlns:a16="http://schemas.microsoft.com/office/drawing/2014/main" id="{4EB348F6-3A01-4733-B482-49F5A3C75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171" name="Line 42">
                  <a:extLst>
                    <a:ext uri="{FF2B5EF4-FFF2-40B4-BE49-F238E27FC236}">
                      <a16:creationId xmlns:a16="http://schemas.microsoft.com/office/drawing/2014/main" id="{3C9F213F-16BB-4D39-A38B-7EC4B53819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165" name="Group 45">
                <a:extLst>
                  <a:ext uri="{FF2B5EF4-FFF2-40B4-BE49-F238E27FC236}">
                    <a16:creationId xmlns:a16="http://schemas.microsoft.com/office/drawing/2014/main" id="{A6ABB244-1067-451E-9870-F2B8546D2EC3}"/>
                  </a:ext>
                </a:extLst>
              </p:cNvPr>
              <p:cNvGrpSpPr/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66" name="Freeform 46">
                  <a:extLst>
                    <a:ext uri="{FF2B5EF4-FFF2-40B4-BE49-F238E27FC236}">
                      <a16:creationId xmlns:a16="http://schemas.microsoft.com/office/drawing/2014/main" id="{FA46E7CD-B791-495A-85B3-850924D20567}"/>
                    </a:ext>
                  </a:extLst>
                </p:cNvPr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167" name="Line 47">
                  <a:extLst>
                    <a:ext uri="{FF2B5EF4-FFF2-40B4-BE49-F238E27FC236}">
                      <a16:creationId xmlns:a16="http://schemas.microsoft.com/office/drawing/2014/main" id="{28C56C76-B339-4B9A-992E-ED7D666761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168" name="Line 48">
                  <a:extLst>
                    <a:ext uri="{FF2B5EF4-FFF2-40B4-BE49-F238E27FC236}">
                      <a16:creationId xmlns:a16="http://schemas.microsoft.com/office/drawing/2014/main" id="{E599A07B-FC1C-4D33-99B2-D78E61404A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  <p:sp>
          <p:nvSpPr>
            <p:cNvPr id="158" name="Freeform 51">
              <a:extLst>
                <a:ext uri="{FF2B5EF4-FFF2-40B4-BE49-F238E27FC236}">
                  <a16:creationId xmlns:a16="http://schemas.microsoft.com/office/drawing/2014/main" id="{FC20E3C2-0E1D-488F-A8C9-2E2C08EE6944}"/>
                </a:ext>
              </a:extLst>
            </p:cNvPr>
            <p:cNvSpPr/>
            <p:nvPr/>
          </p:nvSpPr>
          <p:spPr bwMode="auto">
            <a:xfrm>
              <a:off x="3573" y="2364"/>
              <a:ext cx="564" cy="286"/>
            </a:xfrm>
            <a:custGeom>
              <a:avLst/>
              <a:gdLst>
                <a:gd name="T0" fmla="*/ 0 w 417"/>
                <a:gd name="T1" fmla="*/ 964 h 264"/>
                <a:gd name="T2" fmla="*/ 1888 w 417"/>
                <a:gd name="T3" fmla="*/ 964 h 264"/>
                <a:gd name="T4" fmla="*/ 1888 w 417"/>
                <a:gd name="T5" fmla="*/ 0 h 2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34925" cap="flat" cmpd="sng">
              <a:solidFill>
                <a:srgbClr val="FF66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59" name="Group 87">
              <a:extLst>
                <a:ext uri="{FF2B5EF4-FFF2-40B4-BE49-F238E27FC236}">
                  <a16:creationId xmlns:a16="http://schemas.microsoft.com/office/drawing/2014/main" id="{5B59BCC5-BB0A-4240-9A17-0A6FC0EF20FD}"/>
                </a:ext>
              </a:extLst>
            </p:cNvPr>
            <p:cNvGrpSpPr/>
            <p:nvPr/>
          </p:nvGrpSpPr>
          <p:grpSpPr bwMode="auto">
            <a:xfrm>
              <a:off x="4032" y="2416"/>
              <a:ext cx="250" cy="252"/>
              <a:chOff x="5140" y="400"/>
              <a:chExt cx="250" cy="252"/>
            </a:xfrm>
          </p:grpSpPr>
          <p:sp>
            <p:nvSpPr>
              <p:cNvPr id="160" name="Oval 86">
                <a:extLst>
                  <a:ext uri="{FF2B5EF4-FFF2-40B4-BE49-F238E27FC236}">
                    <a16:creationId xmlns:a16="http://schemas.microsoft.com/office/drawing/2014/main" id="{DD51B177-E38D-4A4A-BA9E-1E38248EC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1" name="Text Box 52">
                <a:extLst>
                  <a:ext uri="{FF2B5EF4-FFF2-40B4-BE49-F238E27FC236}">
                    <a16:creationId xmlns:a16="http://schemas.microsoft.com/office/drawing/2014/main" id="{A0F8AE99-0A8E-42BF-8797-A518B3D93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1</a:t>
                </a:r>
              </a:p>
            </p:txBody>
          </p:sp>
        </p:grpSp>
      </p:grp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F07BEF80-BB10-4311-919B-7D59A932C488}"/>
              </a:ext>
            </a:extLst>
          </p:cNvPr>
          <p:cNvCxnSpPr/>
          <p:nvPr/>
        </p:nvCxnSpPr>
        <p:spPr>
          <a:xfrm>
            <a:off x="6716074" y="2841751"/>
            <a:ext cx="4763" cy="112871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780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网络层复习总结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rgbClr val="FF6600"/>
                </a:solidFill>
              </a:rPr>
              <a:t>知识点</a:t>
            </a:r>
            <a:r>
              <a:rPr lang="en-US" altLang="zh-CN" sz="2200" dirty="0">
                <a:solidFill>
                  <a:srgbClr val="FF6600"/>
                </a:solidFill>
              </a:rPr>
              <a:t>7</a:t>
            </a:r>
            <a:r>
              <a:rPr lang="zh-CN" altLang="en-US" sz="2200" dirty="0">
                <a:solidFill>
                  <a:srgbClr val="FF6600"/>
                </a:solidFill>
              </a:rPr>
              <a:t>：</a:t>
            </a:r>
            <a:r>
              <a:rPr lang="en-US" altLang="zh-CN" sz="2200" dirty="0">
                <a:solidFill>
                  <a:srgbClr val="FF6600"/>
                </a:solidFill>
              </a:rPr>
              <a:t>ICMP</a:t>
            </a:r>
            <a:r>
              <a:rPr lang="zh-CN" altLang="en-US" sz="2200" dirty="0">
                <a:solidFill>
                  <a:srgbClr val="FF6600"/>
                </a:solidFill>
              </a:rPr>
              <a:t>因特网控制报文协议</a:t>
            </a:r>
            <a:endParaRPr lang="en-US" altLang="zh-CN" sz="2200" dirty="0">
              <a:solidFill>
                <a:srgbClr val="FF66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RFC 7 92</a:t>
            </a: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Ping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Tracert/Traceroute</a:t>
            </a:r>
            <a:endParaRPr lang="zh-CN" altLang="en-US" sz="20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5" name="Text Box 4">
            <a:extLst>
              <a:ext uri="{FF2B5EF4-FFF2-40B4-BE49-F238E27FC236}">
                <a16:creationId xmlns:a16="http://schemas.microsoft.com/office/drawing/2014/main" id="{4AEA6F2D-F70A-4DA9-80D1-6F682993A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3481" y="1513603"/>
            <a:ext cx="2637260" cy="300082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description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0       0        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回显应答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(ping)</a:t>
            </a: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目标网络不可达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3       1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目标主机不可达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3       2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目标协议不可达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3       3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目标端口不可达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3       6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目标网络未知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3       7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目标主机未知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源抑制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拥塞控制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8       0        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回显请求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(ping)</a:t>
            </a: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路由器通告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路由器发现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     0         TTL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过期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     0         IP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首部损坏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6" name="图片 175">
            <a:extLst>
              <a:ext uri="{FF2B5EF4-FFF2-40B4-BE49-F238E27FC236}">
                <a16:creationId xmlns:a16="http://schemas.microsoft.com/office/drawing/2014/main" id="{1832CCA9-42E3-4AE6-A5BF-8D9EF1B5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923678"/>
            <a:ext cx="4279763" cy="18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9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网络层复习总结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8</a:t>
            </a:r>
            <a:r>
              <a:rPr lang="zh-CN" altLang="en-US" sz="2200" dirty="0">
                <a:effectLst/>
              </a:rPr>
              <a:t>：</a:t>
            </a:r>
            <a:r>
              <a:rPr lang="zh-CN" altLang="en-US" sz="2200" dirty="0"/>
              <a:t>路由选择算法</a:t>
            </a:r>
            <a:endParaRPr lang="en-US" altLang="zh-CN" sz="2200" dirty="0"/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a </a:t>
            </a:r>
            <a:r>
              <a:rPr lang="zh-CN" altLang="en-US" sz="2000" dirty="0"/>
              <a:t>链路状态</a:t>
            </a:r>
            <a:endParaRPr lang="en-US" altLang="zh-CN" sz="2000" dirty="0"/>
          </a:p>
          <a:p>
            <a:pPr lvl="2">
              <a:lnSpc>
                <a:spcPct val="110000"/>
              </a:lnSpc>
            </a:pPr>
            <a:r>
              <a:rPr lang="zh-CN" altLang="en-US" sz="1800" dirty="0"/>
              <a:t>输入：图</a:t>
            </a:r>
            <a:endParaRPr lang="en-US" altLang="zh-CN" sz="1800" dirty="0"/>
          </a:p>
          <a:p>
            <a:pPr lvl="2">
              <a:lnSpc>
                <a:spcPct val="110000"/>
              </a:lnSpc>
            </a:pPr>
            <a:r>
              <a:rPr lang="zh-CN" altLang="en-US" sz="1800" dirty="0"/>
              <a:t>输出：最小生成树</a:t>
            </a:r>
            <a:endParaRPr lang="en-US" altLang="zh-CN" sz="1800" dirty="0"/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b </a:t>
            </a:r>
            <a:r>
              <a:rPr lang="zh-CN" altLang="en-US" sz="2000" dirty="0"/>
              <a:t>距离向量</a:t>
            </a:r>
            <a:endParaRPr lang="en-US" altLang="zh-CN" sz="2000" dirty="0"/>
          </a:p>
          <a:p>
            <a:pPr marL="685800" lvl="2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{</a:t>
            </a:r>
          </a:p>
          <a:p>
            <a:pPr marL="1028700" lvl="3" indent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邻居交换信息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1028700" lvl="3" indent="0">
              <a:lnSpc>
                <a:spcPct val="1100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Bellman-Ford</a:t>
            </a:r>
            <a:r>
              <a:rPr lang="zh-CN" altLang="en-US" sz="1600" dirty="0">
                <a:solidFill>
                  <a:schemeClr val="tx1"/>
                </a:solidFill>
              </a:rPr>
              <a:t>方程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1028700" lvl="3" indent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更新</a:t>
            </a:r>
            <a:r>
              <a:rPr lang="zh-CN" alt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距离向量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685800" lvl="2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  <a:effectLst/>
              </a:rPr>
              <a:t>}</a:t>
            </a: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E3332D-CC43-46DE-90CE-FC87F57BD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1131590"/>
            <a:ext cx="1626460" cy="10528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B4828C5-78B0-45D0-A3F7-73254E576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54" y="2571750"/>
            <a:ext cx="1800200" cy="1140266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F4AB9D12-09A7-45B2-91E0-509F6AE432DC}"/>
              </a:ext>
            </a:extLst>
          </p:cNvPr>
          <p:cNvSpPr/>
          <p:nvPr/>
        </p:nvSpPr>
        <p:spPr>
          <a:xfrm>
            <a:off x="7293442" y="2249102"/>
            <a:ext cx="216024" cy="2618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129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2407456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A876F-8879-4050-83C3-6549DF94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Figure of</a:t>
            </a:r>
            <a:r>
              <a:rPr lang="zh-CN" altLang="en-US" dirty="0"/>
              <a:t> </a:t>
            </a:r>
            <a:r>
              <a:rPr lang="en-US" altLang="zh-CN" dirty="0"/>
              <a:t>Today</a:t>
            </a:r>
            <a:endParaRPr lang="zh-CN" altLang="en-US" dirty="0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4278E697-1208-4931-95CB-B7AB0130D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275606"/>
            <a:ext cx="4361681" cy="290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CA8CDD1-20E6-4C45-AC71-14D192901552}"/>
              </a:ext>
            </a:extLst>
          </p:cNvPr>
          <p:cNvSpPr txBox="1"/>
          <p:nvPr/>
        </p:nvSpPr>
        <p:spPr>
          <a:xfrm>
            <a:off x="3952229" y="4299942"/>
            <a:ext cx="4161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Bob Metcalfe, 2022 ACM Turing Award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9365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7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第五章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: 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链路层</a:t>
            </a:r>
            <a:endParaRPr lang="en-US" altLang="zh-CN" dirty="0">
              <a:solidFill>
                <a:srgbClr val="C00000"/>
              </a:solidFill>
              <a:effectLst/>
            </a:endParaRPr>
          </a:p>
        </p:txBody>
      </p:sp>
      <p:sp>
        <p:nvSpPr>
          <p:cNvPr id="359426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2483767" y="987574"/>
            <a:ext cx="4896545" cy="3779688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0066CC"/>
                </a:solidFill>
              </a:rPr>
              <a:t>教学目标 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</a:rPr>
              <a:t>理解链路层的服务原理 </a:t>
            </a:r>
            <a:endParaRPr lang="en-US" altLang="zh-TW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错误检测</a:t>
            </a:r>
            <a:r>
              <a:rPr lang="en-US" altLang="zh-TW" dirty="0">
                <a:solidFill>
                  <a:srgbClr val="C00000"/>
                </a:solidFill>
              </a:rPr>
              <a:t>, </a:t>
            </a:r>
            <a:r>
              <a:rPr lang="zh-CN" altLang="en-US" dirty="0">
                <a:solidFill>
                  <a:srgbClr val="C00000"/>
                </a:solidFill>
              </a:rPr>
              <a:t>恢复</a:t>
            </a:r>
            <a:endParaRPr lang="en-US" altLang="zh-TW" dirty="0">
              <a:solidFill>
                <a:srgbClr val="C00000"/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广播信道分享</a:t>
            </a:r>
            <a:r>
              <a:rPr lang="en-US" altLang="zh-TW" dirty="0">
                <a:solidFill>
                  <a:srgbClr val="C00000"/>
                </a:solidFill>
              </a:rPr>
              <a:t>: </a:t>
            </a:r>
            <a:r>
              <a:rPr lang="zh-CN" altLang="en-US" dirty="0">
                <a:solidFill>
                  <a:srgbClr val="C00000"/>
                </a:solidFill>
              </a:rPr>
              <a:t>多址访问</a:t>
            </a:r>
            <a:endParaRPr lang="en-US" altLang="zh-TW" dirty="0">
              <a:solidFill>
                <a:srgbClr val="C00000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链路层编址</a:t>
            </a:r>
            <a:endParaRPr lang="en-US" altLang="zh-TW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可靠数据传输</a:t>
            </a:r>
            <a:r>
              <a:rPr lang="en-US" altLang="zh-TW" dirty="0">
                <a:solidFill>
                  <a:srgbClr val="0066CC"/>
                </a:solidFill>
              </a:rPr>
              <a:t>, flow control: </a:t>
            </a:r>
            <a:r>
              <a:rPr lang="en-US" altLang="zh-TW" i="1" dirty="0">
                <a:solidFill>
                  <a:srgbClr val="0066CC"/>
                </a:solidFill>
              </a:rPr>
              <a:t>done!</a:t>
            </a:r>
            <a:endParaRPr lang="en-US" altLang="zh-TW" dirty="0">
              <a:solidFill>
                <a:srgbClr val="0066CC"/>
              </a:solidFill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</a:rPr>
              <a:t>各种链路层协议的实现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信道划分协议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随机访问协议：以太网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轮流协议</a:t>
            </a:r>
            <a:endParaRPr lang="en-US" altLang="zh-TW" dirty="0">
              <a:solidFill>
                <a:srgbClr val="0066CC"/>
              </a:solidFill>
            </a:endParaRPr>
          </a:p>
        </p:txBody>
      </p:sp>
      <p:pic>
        <p:nvPicPr>
          <p:cNvPr id="7" name="Picture 7" descr="rad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58" y="1419622"/>
            <a:ext cx="948944" cy="9361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735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第五章：数据链路层</a:t>
            </a:r>
            <a:endParaRPr lang="en-US" altLang="zh-CN" dirty="0">
              <a:solidFill>
                <a:srgbClr val="C00000"/>
              </a:solidFill>
              <a:effectLst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83C5891-7B54-491D-A58C-9081255BC5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链路层概述</a:t>
            </a:r>
            <a:endParaRPr lang="en-US" altLang="zh-CN" dirty="0"/>
          </a:p>
          <a:p>
            <a:r>
              <a:rPr lang="en-US" altLang="zh-CN" dirty="0"/>
              <a:t>5.2 </a:t>
            </a:r>
            <a:r>
              <a:rPr lang="zh-CN" altLang="en-US" dirty="0"/>
              <a:t>差错检验和纠正</a:t>
            </a:r>
            <a:r>
              <a:rPr lang="en-US" altLang="zh-CN" dirty="0"/>
              <a:t> 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5.3 </a:t>
            </a:r>
            <a:r>
              <a:rPr lang="zh-CN" altLang="en-US" dirty="0">
                <a:solidFill>
                  <a:srgbClr val="C00000"/>
                </a:solidFill>
              </a:rPr>
              <a:t>多址访问协议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5.4 </a:t>
            </a:r>
            <a:r>
              <a:rPr lang="zh-CN" altLang="en-US" dirty="0">
                <a:solidFill>
                  <a:srgbClr val="C00000"/>
                </a:solidFill>
              </a:rPr>
              <a:t>局域交换网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5.5 </a:t>
            </a:r>
            <a:r>
              <a:rPr lang="zh-CN" altLang="en-US" dirty="0">
                <a:solidFill>
                  <a:schemeClr val="tx1"/>
                </a:solidFill>
              </a:rPr>
              <a:t>链路虚拟化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5.6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数据中心网络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/>
              <a:t>5.7 </a:t>
            </a:r>
            <a:r>
              <a:rPr lang="zh-CN" altLang="en-US" dirty="0"/>
              <a:t>自底向上的回顾</a:t>
            </a:r>
            <a:r>
              <a:rPr lang="en-US" altLang="zh-CN" dirty="0"/>
              <a:t>: </a:t>
            </a:r>
            <a:r>
              <a:rPr lang="zh-CN" altLang="en-US" dirty="0"/>
              <a:t>以</a:t>
            </a:r>
            <a:r>
              <a:rPr lang="en-US" altLang="zh-CN" dirty="0"/>
              <a:t>Web</a:t>
            </a:r>
            <a:r>
              <a:rPr lang="zh-CN" altLang="en-US" dirty="0"/>
              <a:t>请求为例</a:t>
            </a:r>
          </a:p>
        </p:txBody>
      </p:sp>
    </p:spTree>
    <p:extLst>
      <p:ext uri="{BB962C8B-B14F-4D97-AF65-F5344CB8AC3E}">
        <p14:creationId xmlns:p14="http://schemas.microsoft.com/office/powerpoint/2010/main" val="4081331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5.1 </a:t>
            </a:r>
            <a:r>
              <a:rPr lang="zh-CN" altLang="en-US" sz="2200" dirty="0"/>
              <a:t>链路层概述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5.2 </a:t>
            </a:r>
            <a:r>
              <a:rPr lang="zh-CN" altLang="en-US" sz="2200" dirty="0"/>
              <a:t>差错检验和纠正 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5.3 </a:t>
            </a:r>
            <a:r>
              <a:rPr lang="zh-CN" altLang="en-US" sz="2200" dirty="0"/>
              <a:t>多址访问协议</a:t>
            </a:r>
          </a:p>
        </p:txBody>
      </p:sp>
    </p:spTree>
    <p:extLst>
      <p:ext uri="{BB962C8B-B14F-4D97-AF65-F5344CB8AC3E}">
        <p14:creationId xmlns:p14="http://schemas.microsoft.com/office/powerpoint/2010/main" val="719480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5.1 </a:t>
            </a:r>
            <a:r>
              <a:rPr lang="zh-CN" altLang="en-US" dirty="0"/>
              <a:t>链路层概述</a:t>
            </a:r>
            <a:endParaRPr lang="en-US" altLang="zh-CN" dirty="0"/>
          </a:p>
        </p:txBody>
      </p:sp>
      <p:sp>
        <p:nvSpPr>
          <p:cNvPr id="27443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基本概念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</a:t>
            </a:r>
          </a:p>
        </p:txBody>
      </p:sp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539552" y="1412642"/>
            <a:ext cx="3493070" cy="335462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主机和路由器：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endParaRPr lang="en-US" altLang="zh-TW" sz="15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相邻结点的通信信道：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wired links</a:t>
            </a:r>
          </a:p>
          <a:p>
            <a:pPr lvl="1"/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wireless links</a:t>
            </a:r>
          </a:p>
          <a:p>
            <a:pPr lvl="1"/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LANs</a:t>
            </a:r>
            <a:endParaRPr lang="en-US" altLang="zh-TW" sz="1350" b="1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链路层的数据分组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帧 </a:t>
            </a:r>
            <a:r>
              <a:rPr lang="en-US" altLang="zh-CN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frame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封装网络层的数据报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4711" name="Text Box 279"/>
          <p:cNvSpPr txBox="1">
            <a:spLocks noChangeArrowheads="1"/>
          </p:cNvSpPr>
          <p:nvPr/>
        </p:nvSpPr>
        <p:spPr bwMode="auto">
          <a:xfrm>
            <a:off x="683568" y="3780502"/>
            <a:ext cx="2613515" cy="50783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链路层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负责将数据报从链路的一个结点传输到相邻的另一个结点</a:t>
            </a:r>
            <a:endParaRPr lang="en-US" altLang="zh-CN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6D2000-7C67-4B78-8E00-F8BDBB8E5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015736"/>
            <a:ext cx="3493071" cy="39356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4784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effectLst/>
              </a:rPr>
              <a:t>5.1 </a:t>
            </a:r>
            <a:r>
              <a:rPr lang="zh-CN" altLang="en-US" dirty="0">
                <a:effectLst/>
              </a:rPr>
              <a:t>链路层概述</a:t>
            </a:r>
            <a:endParaRPr lang="en-US" altLang="zh-CN" dirty="0">
              <a:effectLst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链路层的背景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68648" name="Rectangle 8"/>
          <p:cNvSpPr>
            <a:spLocks noChangeArrowheads="1"/>
          </p:cNvSpPr>
          <p:nvPr/>
        </p:nvSpPr>
        <p:spPr bwMode="auto">
          <a:xfrm>
            <a:off x="899592" y="1419622"/>
            <a:ext cx="5779294" cy="187220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不同的链路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当中使用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不同的协议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来传输数据报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e.g., </a:t>
            </a:r>
          </a:p>
          <a:p>
            <a:pPr lvl="1">
              <a:spcBef>
                <a:spcPts val="600"/>
              </a:spcBef>
            </a:pPr>
            <a:r>
              <a:rPr lang="zh-CN" altLang="en-US" sz="15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第一个链路以太网</a:t>
            </a:r>
            <a:r>
              <a:rPr lang="en-US" altLang="zh-TW" sz="15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Ethernet </a:t>
            </a:r>
          </a:p>
          <a:p>
            <a:pPr lvl="1">
              <a:spcBef>
                <a:spcPts val="600"/>
              </a:spcBef>
            </a:pPr>
            <a:r>
              <a:rPr lang="zh-CN" altLang="en-US" sz="15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第二个链路是帧中继网络</a:t>
            </a:r>
            <a:r>
              <a:rPr lang="en-US" altLang="zh-TW" sz="15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sz="15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第三个网络是</a:t>
            </a:r>
            <a:r>
              <a:rPr lang="en-US" altLang="zh-TW" sz="15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802.11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不同的链路提供的服务也不同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4788024" y="2211710"/>
            <a:ext cx="3637086" cy="226192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50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通过交通来类比</a:t>
            </a:r>
            <a:r>
              <a:rPr lang="en-US" altLang="zh-CN" sz="150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从重庆到三亚旅行</a:t>
            </a:r>
            <a:endParaRPr lang="en-US" altLang="zh-CN" sz="12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火车</a:t>
            </a:r>
            <a:r>
              <a:rPr lang="en-US" altLang="zh-CN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从重庆到北海</a:t>
            </a:r>
            <a:endParaRPr lang="en-US" altLang="zh-CN" sz="12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轮船</a:t>
            </a:r>
            <a:r>
              <a:rPr lang="en-US" altLang="zh-CN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从北海到海口</a:t>
            </a:r>
            <a:endParaRPr lang="en-US" altLang="zh-CN" sz="12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大巴</a:t>
            </a:r>
            <a:r>
              <a:rPr lang="en-US" altLang="zh-CN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从海口到三亚</a:t>
            </a:r>
            <a:endParaRPr lang="en-US" altLang="zh-CN" sz="12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旅客 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datagram</a:t>
            </a: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旅程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communication link</a:t>
            </a: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运输模式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link layer protocol</a:t>
            </a:r>
          </a:p>
          <a:p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旅游中介 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135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routing algorithm</a:t>
            </a:r>
          </a:p>
          <a:p>
            <a:pPr lvl="1"/>
            <a:endParaRPr lang="en-US" altLang="zh-CN" sz="1200" dirty="0">
              <a:solidFill>
                <a:srgbClr val="CC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232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5.1 </a:t>
            </a:r>
            <a:r>
              <a:rPr lang="zh-CN" altLang="en-US" dirty="0"/>
              <a:t>链路层概述</a:t>
            </a:r>
            <a:endParaRPr lang="en-US" altLang="zh-CN" dirty="0"/>
          </a:p>
        </p:txBody>
      </p:sp>
      <p:sp>
        <p:nvSpPr>
          <p:cNvPr id="3696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416423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链路层的服务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69668" name="Rectangle 4"/>
          <p:cNvSpPr>
            <a:spLocks noChangeArrowheads="1"/>
          </p:cNvSpPr>
          <p:nvPr/>
        </p:nvSpPr>
        <p:spPr bwMode="auto">
          <a:xfrm>
            <a:off x="899592" y="1403997"/>
            <a:ext cx="6912768" cy="318397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成帧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链路接入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将数据报封装成帧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加上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尾部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字段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多路访问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接入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地址用于标识发送结点和接收节点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lvl="2">
              <a:spcBef>
                <a:spcPts val="600"/>
              </a:spcBef>
            </a:pP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地址不同于</a:t>
            </a:r>
            <a:r>
              <a:rPr lang="en-US" altLang="zh-TW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TW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相邻结点间的可靠传输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可靠传输的基本原理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第三章已经学习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)!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在错误率低的链路中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光纤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某类双绞线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中不需提供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无线链路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较高的错误率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TW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上层有端到端的可靠运输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(TCP)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，为什么还需要链路层的可靠传输</a:t>
            </a:r>
            <a:r>
              <a:rPr lang="en-US" altLang="zh-TW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838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5.1 </a:t>
            </a:r>
            <a:r>
              <a:rPr lang="zh-CN" altLang="en-US" dirty="0"/>
              <a:t>链路层概述</a:t>
            </a:r>
            <a:endParaRPr lang="en-US" altLang="zh-CN" dirty="0"/>
          </a:p>
        </p:txBody>
      </p:sp>
      <p:sp>
        <p:nvSpPr>
          <p:cNvPr id="370691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链路层的服务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70692" name="Rectangle 4"/>
          <p:cNvSpPr>
            <a:spLocks noChangeArrowheads="1"/>
          </p:cNvSpPr>
          <p:nvPr/>
        </p:nvSpPr>
        <p:spPr bwMode="auto">
          <a:xfrm>
            <a:off x="971600" y="1343025"/>
            <a:ext cx="5829300" cy="361831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流控制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匹配相邻结点的 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差错检验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由信号衰减、噪声等产生差错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接收结点需要检测是否出现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丢弃错误帧</a:t>
            </a:r>
            <a:endParaRPr lang="en-US" altLang="zh-TW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告知发送结点重传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差错恢复（可选）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接收结点可以发现并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修复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不需发送结点进行重传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半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全双工 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(duplexing)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半双工：结点不能在发送的时候同时接收数据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8251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760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435846"/>
            <a:ext cx="1013222" cy="1013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1761" name="Picture 4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561" y="3402508"/>
            <a:ext cx="857250" cy="878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Freeform 92"/>
          <p:cNvSpPr>
            <a:spLocks/>
          </p:cNvSpPr>
          <p:nvPr/>
        </p:nvSpPr>
        <p:spPr bwMode="auto">
          <a:xfrm>
            <a:off x="5781815" y="1378527"/>
            <a:ext cx="1731169" cy="2271713"/>
          </a:xfrm>
          <a:custGeom>
            <a:avLst/>
            <a:gdLst>
              <a:gd name="T0" fmla="*/ 0 w 1454"/>
              <a:gd name="T1" fmla="*/ 2147483647 h 1908"/>
              <a:gd name="T2" fmla="*/ 50403125 w 1454"/>
              <a:gd name="T3" fmla="*/ 2147483647 h 1908"/>
              <a:gd name="T4" fmla="*/ 708164700 w 1454"/>
              <a:gd name="T5" fmla="*/ 0 h 1908"/>
              <a:gd name="T6" fmla="*/ 2147483647 w 1454"/>
              <a:gd name="T7" fmla="*/ 758567825 h 1908"/>
              <a:gd name="T8" fmla="*/ 2147483647 w 1454"/>
              <a:gd name="T9" fmla="*/ 2147483647 h 1908"/>
              <a:gd name="T10" fmla="*/ 624998750 w 1454"/>
              <a:gd name="T11" fmla="*/ 2147483647 h 1908"/>
              <a:gd name="T12" fmla="*/ 0 w 1454"/>
              <a:gd name="T13" fmla="*/ 2147483647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4" h="1908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50000">
                <a:schemeClr val="bg1"/>
              </a:gs>
              <a:gs pos="100000">
                <a:srgbClr val="000099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grpSp>
        <p:nvGrpSpPr>
          <p:cNvPr id="54" name="Group 89"/>
          <p:cNvGrpSpPr>
            <a:grpSpLocks/>
          </p:cNvGrpSpPr>
          <p:nvPr/>
        </p:nvGrpSpPr>
        <p:grpSpPr bwMode="auto">
          <a:xfrm>
            <a:off x="5394176" y="3275111"/>
            <a:ext cx="832247" cy="821531"/>
            <a:chOff x="-44" y="1473"/>
            <a:chExt cx="981" cy="1105"/>
          </a:xfrm>
        </p:grpSpPr>
        <p:pic>
          <p:nvPicPr>
            <p:cNvPr id="55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5.1 </a:t>
            </a:r>
            <a:r>
              <a:rPr lang="zh-CN" altLang="en-US" dirty="0"/>
              <a:t>链路层概述</a:t>
            </a:r>
            <a:endParaRPr lang="en-US" altLang="zh-CN" dirty="0"/>
          </a:p>
        </p:txBody>
      </p:sp>
      <p:sp>
        <p:nvSpPr>
          <p:cNvPr id="3717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链路层协议在何处实现？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71716" name="Rectangle 4"/>
          <p:cNvSpPr>
            <a:spLocks noChangeArrowheads="1"/>
          </p:cNvSpPr>
          <p:nvPr/>
        </p:nvSpPr>
        <p:spPr bwMode="auto">
          <a:xfrm>
            <a:off x="903091" y="1476989"/>
            <a:ext cx="3762424" cy="303897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在每个主机上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链路层协议在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适配器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上部署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TW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a.k.a. </a:t>
            </a:r>
            <a:r>
              <a:rPr lang="en-US" altLang="zh-TW" sz="1200" i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network interface card</a:t>
            </a:r>
            <a:r>
              <a:rPr lang="en-US" altLang="zh-TW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NIC</a:t>
            </a:r>
          </a:p>
          <a:p>
            <a:pPr lvl="2">
              <a:spcBef>
                <a:spcPts val="600"/>
              </a:spcBef>
            </a:pP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Ethernet card, </a:t>
            </a:r>
          </a:p>
          <a:p>
            <a:pPr lvl="2">
              <a:spcBef>
                <a:spcPts val="600"/>
              </a:spcBef>
            </a:pP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PCMCI card </a:t>
            </a:r>
          </a:p>
          <a:p>
            <a:pPr lvl="2">
              <a:spcBef>
                <a:spcPts val="600"/>
              </a:spcBef>
            </a:pP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802.11 (</a:t>
            </a:r>
            <a:r>
              <a:rPr lang="en-US" altLang="zh-TW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card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适配器上还包括物理层协议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通过系统总线接入系统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是软件、硬件的组合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固件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(firmware)</a:t>
            </a:r>
            <a:endParaRPr lang="zh-TW" altLang="en-US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1717" name="Rectangle 5"/>
          <p:cNvSpPr>
            <a:spLocks noChangeArrowheads="1"/>
          </p:cNvSpPr>
          <p:nvPr/>
        </p:nvSpPr>
        <p:spPr bwMode="auto">
          <a:xfrm>
            <a:off x="6116886" y="1417736"/>
            <a:ext cx="1377553" cy="18014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18" name="Rectangle 6"/>
          <p:cNvSpPr>
            <a:spLocks noChangeArrowheads="1"/>
          </p:cNvSpPr>
          <p:nvPr/>
        </p:nvSpPr>
        <p:spPr bwMode="auto">
          <a:xfrm>
            <a:off x="6453832" y="2871490"/>
            <a:ext cx="500063" cy="2119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19" name="Rectangle 7"/>
          <p:cNvSpPr>
            <a:spLocks noChangeArrowheads="1"/>
          </p:cNvSpPr>
          <p:nvPr/>
        </p:nvSpPr>
        <p:spPr bwMode="auto">
          <a:xfrm>
            <a:off x="6453832" y="2430958"/>
            <a:ext cx="492919" cy="38933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dirty="0">
                <a:ea typeface="+mj-ea"/>
              </a:rPr>
              <a:t>controller</a:t>
            </a:r>
          </a:p>
        </p:txBody>
      </p:sp>
      <p:sp>
        <p:nvSpPr>
          <p:cNvPr id="371720" name="Text Box 8"/>
          <p:cNvSpPr txBox="1">
            <a:spLocks noChangeArrowheads="1"/>
          </p:cNvSpPr>
          <p:nvPr/>
        </p:nvSpPr>
        <p:spPr bwMode="auto">
          <a:xfrm>
            <a:off x="6297206" y="2878633"/>
            <a:ext cx="8002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900">
                <a:ea typeface="+mj-ea"/>
              </a:rPr>
              <a:t>physical</a:t>
            </a:r>
          </a:p>
          <a:p>
            <a:pPr algn="ctr"/>
            <a:r>
              <a:rPr lang="en-US" altLang="zh-CN" sz="900">
                <a:ea typeface="+mj-ea"/>
              </a:rPr>
              <a:t>transmission</a:t>
            </a:r>
          </a:p>
        </p:txBody>
      </p:sp>
      <p:sp>
        <p:nvSpPr>
          <p:cNvPr id="371721" name="Freeform 9"/>
          <p:cNvSpPr>
            <a:spLocks/>
          </p:cNvSpPr>
          <p:nvPr/>
        </p:nvSpPr>
        <p:spPr bwMode="auto">
          <a:xfrm>
            <a:off x="6493123" y="2070199"/>
            <a:ext cx="150019" cy="345281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30 h 478"/>
              <a:gd name="T4" fmla="*/ 361 w 361"/>
              <a:gd name="T5" fmla="*/ 230 h 478"/>
              <a:gd name="T6" fmla="*/ 359 w 361"/>
              <a:gd name="T7" fmla="*/ 478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22" name="Line 10"/>
          <p:cNvSpPr>
            <a:spLocks noChangeShapeType="1"/>
          </p:cNvSpPr>
          <p:nvPr/>
        </p:nvSpPr>
        <p:spPr bwMode="auto">
          <a:xfrm>
            <a:off x="6391920" y="2199977"/>
            <a:ext cx="1019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23" name="Line 11"/>
          <p:cNvSpPr>
            <a:spLocks noChangeShapeType="1"/>
          </p:cNvSpPr>
          <p:nvPr/>
        </p:nvSpPr>
        <p:spPr bwMode="auto">
          <a:xfrm flipV="1">
            <a:off x="6688386" y="2205929"/>
            <a:ext cx="0" cy="2250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24" name="Rectangle 12"/>
          <p:cNvSpPr>
            <a:spLocks noChangeArrowheads="1"/>
          </p:cNvSpPr>
          <p:nvPr/>
        </p:nvSpPr>
        <p:spPr bwMode="auto">
          <a:xfrm>
            <a:off x="6308576" y="1682055"/>
            <a:ext cx="492919" cy="38933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>
                <a:ea typeface="+mj-ea"/>
              </a:rPr>
              <a:t>cpu</a:t>
            </a:r>
          </a:p>
        </p:txBody>
      </p:sp>
      <p:sp>
        <p:nvSpPr>
          <p:cNvPr id="371725" name="Rectangle 13"/>
          <p:cNvSpPr>
            <a:spLocks noChangeArrowheads="1"/>
          </p:cNvSpPr>
          <p:nvPr/>
        </p:nvSpPr>
        <p:spPr bwMode="auto">
          <a:xfrm>
            <a:off x="6922939" y="1683245"/>
            <a:ext cx="492919" cy="38933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>
                <a:ea typeface="+mj-ea"/>
              </a:rPr>
              <a:t>memory</a:t>
            </a:r>
          </a:p>
        </p:txBody>
      </p:sp>
      <p:sp>
        <p:nvSpPr>
          <p:cNvPr id="371726" name="Line 14"/>
          <p:cNvSpPr>
            <a:spLocks noChangeShapeType="1"/>
          </p:cNvSpPr>
          <p:nvPr/>
        </p:nvSpPr>
        <p:spPr bwMode="auto">
          <a:xfrm flipH="1" flipV="1">
            <a:off x="6535986" y="2072580"/>
            <a:ext cx="1190" cy="127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27" name="Line 15"/>
          <p:cNvSpPr>
            <a:spLocks noChangeShapeType="1"/>
          </p:cNvSpPr>
          <p:nvPr/>
        </p:nvSpPr>
        <p:spPr bwMode="auto">
          <a:xfrm flipH="1" flipV="1">
            <a:off x="7190830" y="2073770"/>
            <a:ext cx="1190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28" name="Text Box 16"/>
          <p:cNvSpPr txBox="1">
            <a:spLocks noChangeArrowheads="1"/>
          </p:cNvSpPr>
          <p:nvPr/>
        </p:nvSpPr>
        <p:spPr bwMode="auto">
          <a:xfrm>
            <a:off x="7526586" y="2296417"/>
            <a:ext cx="65114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900" i="1">
                <a:ea typeface="+mj-ea"/>
              </a:rPr>
              <a:t>host </a:t>
            </a:r>
          </a:p>
          <a:p>
            <a:r>
              <a:rPr lang="en-US" altLang="zh-CN" sz="900" i="1">
                <a:ea typeface="+mj-ea"/>
              </a:rPr>
              <a:t>bus </a:t>
            </a:r>
          </a:p>
          <a:p>
            <a:r>
              <a:rPr lang="en-US" altLang="zh-CN" sz="900" i="1">
                <a:ea typeface="+mj-ea"/>
              </a:rPr>
              <a:t>(e.g., PCI)</a:t>
            </a:r>
          </a:p>
        </p:txBody>
      </p:sp>
      <p:sp>
        <p:nvSpPr>
          <p:cNvPr id="371729" name="Line 17"/>
          <p:cNvSpPr>
            <a:spLocks noChangeShapeType="1"/>
          </p:cNvSpPr>
          <p:nvPr/>
        </p:nvSpPr>
        <p:spPr bwMode="auto">
          <a:xfrm flipH="1">
            <a:off x="6688386" y="2661939"/>
            <a:ext cx="9525" cy="25479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30" name="Line 18"/>
          <p:cNvSpPr>
            <a:spLocks noChangeShapeType="1"/>
          </p:cNvSpPr>
          <p:nvPr/>
        </p:nvSpPr>
        <p:spPr bwMode="auto">
          <a:xfrm>
            <a:off x="6687195" y="3061989"/>
            <a:ext cx="0" cy="27503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31" name="Line 19"/>
          <p:cNvSpPr>
            <a:spLocks noChangeShapeType="1"/>
          </p:cNvSpPr>
          <p:nvPr/>
        </p:nvSpPr>
        <p:spPr bwMode="auto">
          <a:xfrm flipH="1" flipV="1">
            <a:off x="7284888" y="2203548"/>
            <a:ext cx="286941" cy="2012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32" name="Text Box 20"/>
          <p:cNvSpPr txBox="1">
            <a:spLocks noChangeArrowheads="1"/>
          </p:cNvSpPr>
          <p:nvPr/>
        </p:nvSpPr>
        <p:spPr bwMode="auto">
          <a:xfrm>
            <a:off x="6991995" y="3473945"/>
            <a:ext cx="9973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900" i="1">
                <a:ea typeface="+mj-ea"/>
              </a:rPr>
              <a:t>network adapter</a:t>
            </a:r>
          </a:p>
          <a:p>
            <a:r>
              <a:rPr lang="en-US" altLang="zh-CN" sz="900" i="1">
                <a:ea typeface="+mj-ea"/>
              </a:rPr>
              <a:t>card</a:t>
            </a:r>
          </a:p>
        </p:txBody>
      </p:sp>
      <p:sp>
        <p:nvSpPr>
          <p:cNvPr id="371733" name="Line 21"/>
          <p:cNvSpPr>
            <a:spLocks noChangeShapeType="1"/>
          </p:cNvSpPr>
          <p:nvPr/>
        </p:nvSpPr>
        <p:spPr bwMode="auto">
          <a:xfrm flipH="1" flipV="1">
            <a:off x="7147967" y="2966740"/>
            <a:ext cx="203597" cy="5631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71735" name="Rectangle 23"/>
          <p:cNvSpPr>
            <a:spLocks noChangeArrowheads="1"/>
          </p:cNvSpPr>
          <p:nvPr/>
        </p:nvSpPr>
        <p:spPr bwMode="auto">
          <a:xfrm>
            <a:off x="6283573" y="2347615"/>
            <a:ext cx="841772" cy="81200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ea typeface="+mj-ea"/>
            </a:endParaRPr>
          </a:p>
        </p:txBody>
      </p:sp>
      <p:grpSp>
        <p:nvGrpSpPr>
          <p:cNvPr id="371736" name="Group 24"/>
          <p:cNvGrpSpPr>
            <a:grpSpLocks/>
          </p:cNvGrpSpPr>
          <p:nvPr/>
        </p:nvGrpSpPr>
        <p:grpSpPr bwMode="auto">
          <a:xfrm>
            <a:off x="5314404" y="1514177"/>
            <a:ext cx="1123950" cy="1549003"/>
            <a:chOff x="2671" y="1728"/>
            <a:chExt cx="944" cy="1301"/>
          </a:xfrm>
        </p:grpSpPr>
        <p:sp>
          <p:nvSpPr>
            <p:cNvPr id="371737" name="Freeform 25"/>
            <p:cNvSpPr>
              <a:spLocks/>
            </p:cNvSpPr>
            <p:nvPr/>
          </p:nvSpPr>
          <p:spPr bwMode="auto">
            <a:xfrm>
              <a:off x="3225" y="2509"/>
              <a:ext cx="390" cy="520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0" h="52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38" name="Freeform 26"/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39" name="Rectangle 27"/>
            <p:cNvSpPr>
              <a:spLocks noChangeArrowheads="1"/>
            </p:cNvSpPr>
            <p:nvPr/>
          </p:nvSpPr>
          <p:spPr bwMode="auto">
            <a:xfrm>
              <a:off x="2737" y="1775"/>
              <a:ext cx="489" cy="5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0" name="Text Box 28"/>
            <p:cNvSpPr txBox="1">
              <a:spLocks noChangeArrowheads="1"/>
            </p:cNvSpPr>
            <p:nvPr/>
          </p:nvSpPr>
          <p:spPr bwMode="auto">
            <a:xfrm>
              <a:off x="2671" y="1728"/>
              <a:ext cx="612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900">
                  <a:ea typeface="+mj-ea"/>
                </a:rPr>
                <a:t>application</a:t>
              </a:r>
            </a:p>
            <a:p>
              <a:pPr algn="ctr"/>
              <a:r>
                <a:rPr lang="en-US" altLang="zh-CN" sz="900">
                  <a:ea typeface="+mj-ea"/>
                </a:rPr>
                <a:t>transport</a:t>
              </a:r>
            </a:p>
            <a:p>
              <a:pPr algn="ctr"/>
              <a:r>
                <a:rPr lang="en-US" altLang="zh-CN" sz="900">
                  <a:ea typeface="+mj-ea"/>
                </a:rPr>
                <a:t>network</a:t>
              </a:r>
            </a:p>
            <a:p>
              <a:pPr algn="ctr"/>
              <a:r>
                <a:rPr lang="en-US" altLang="zh-CN" sz="900">
                  <a:ea typeface="+mj-ea"/>
                </a:rPr>
                <a:t>link</a:t>
              </a:r>
            </a:p>
          </p:txBody>
        </p:sp>
        <p:sp>
          <p:nvSpPr>
            <p:cNvPr id="371741" name="Line 29"/>
            <p:cNvSpPr>
              <a:spLocks noChangeShapeType="1"/>
            </p:cNvSpPr>
            <p:nvPr/>
          </p:nvSpPr>
          <p:spPr bwMode="auto">
            <a:xfrm>
              <a:off x="2737" y="18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2" name="Line 30"/>
            <p:cNvSpPr>
              <a:spLocks noChangeShapeType="1"/>
            </p:cNvSpPr>
            <p:nvPr/>
          </p:nvSpPr>
          <p:spPr bwMode="auto">
            <a:xfrm>
              <a:off x="2737" y="199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3" name="Line 31"/>
            <p:cNvSpPr>
              <a:spLocks noChangeShapeType="1"/>
            </p:cNvSpPr>
            <p:nvPr/>
          </p:nvSpPr>
          <p:spPr bwMode="auto">
            <a:xfrm>
              <a:off x="2735" y="20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4" name="Line 32"/>
            <p:cNvSpPr>
              <a:spLocks noChangeShapeType="1"/>
            </p:cNvSpPr>
            <p:nvPr/>
          </p:nvSpPr>
          <p:spPr bwMode="auto">
            <a:xfrm>
              <a:off x="2738" y="2206"/>
              <a:ext cx="4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5" name="Rectangle 33"/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6" name="Line 34"/>
            <p:cNvSpPr>
              <a:spLocks noChangeShapeType="1"/>
            </p:cNvSpPr>
            <p:nvPr/>
          </p:nvSpPr>
          <p:spPr bwMode="auto">
            <a:xfrm>
              <a:off x="2738" y="222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7" name="Line 35"/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8" name="Rectangle 36"/>
            <p:cNvSpPr>
              <a:spLocks noChangeArrowheads="1"/>
            </p:cNvSpPr>
            <p:nvPr/>
          </p:nvSpPr>
          <p:spPr bwMode="auto">
            <a:xfrm>
              <a:off x="2737" y="2415"/>
              <a:ext cx="489" cy="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49" name="Text Box 37"/>
            <p:cNvSpPr txBox="1">
              <a:spLocks noChangeArrowheads="1"/>
            </p:cNvSpPr>
            <p:nvPr/>
          </p:nvSpPr>
          <p:spPr bwMode="auto">
            <a:xfrm>
              <a:off x="2735" y="2345"/>
              <a:ext cx="485" cy="6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en-US" altLang="zh-CN" sz="900" dirty="0">
                <a:ea typeface="+mj-ea"/>
              </a:endParaRPr>
            </a:p>
            <a:p>
              <a:pPr algn="ctr"/>
              <a:endParaRPr lang="en-US" altLang="zh-CN" sz="900" dirty="0">
                <a:ea typeface="+mj-ea"/>
              </a:endParaRPr>
            </a:p>
            <a:p>
              <a:pPr algn="ctr"/>
              <a:endParaRPr lang="en-US" altLang="zh-CN" sz="900" dirty="0">
                <a:ea typeface="+mj-ea"/>
              </a:endParaRPr>
            </a:p>
            <a:p>
              <a:pPr algn="ctr"/>
              <a:r>
                <a:rPr lang="en-US" altLang="zh-CN" sz="900" dirty="0">
                  <a:solidFill>
                    <a:srgbClr val="FF0000"/>
                  </a:solidFill>
                  <a:ea typeface="+mj-ea"/>
                </a:rPr>
                <a:t>link</a:t>
              </a:r>
            </a:p>
            <a:p>
              <a:pPr algn="ctr"/>
              <a:r>
                <a:rPr lang="en-US" altLang="zh-CN" sz="900" dirty="0">
                  <a:ea typeface="+mj-ea"/>
                </a:rPr>
                <a:t>physical</a:t>
              </a:r>
            </a:p>
          </p:txBody>
        </p:sp>
        <p:sp>
          <p:nvSpPr>
            <p:cNvPr id="371750" name="Line 38"/>
            <p:cNvSpPr>
              <a:spLocks noChangeShapeType="1"/>
            </p:cNvSpPr>
            <p:nvPr/>
          </p:nvSpPr>
          <p:spPr bwMode="auto">
            <a:xfrm>
              <a:off x="2737" y="252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51" name="Line 39"/>
            <p:cNvSpPr>
              <a:spLocks noChangeShapeType="1"/>
            </p:cNvSpPr>
            <p:nvPr/>
          </p:nvSpPr>
          <p:spPr bwMode="auto">
            <a:xfrm>
              <a:off x="2737" y="263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52" name="Line 40"/>
            <p:cNvSpPr>
              <a:spLocks noChangeShapeType="1"/>
            </p:cNvSpPr>
            <p:nvPr/>
          </p:nvSpPr>
          <p:spPr bwMode="auto">
            <a:xfrm>
              <a:off x="2735" y="272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53" name="Line 41"/>
            <p:cNvSpPr>
              <a:spLocks noChangeShapeType="1"/>
            </p:cNvSpPr>
            <p:nvPr/>
          </p:nvSpPr>
          <p:spPr bwMode="auto">
            <a:xfrm>
              <a:off x="2733" y="283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54" name="Rectangle 42"/>
            <p:cNvSpPr>
              <a:spLocks noChangeArrowheads="1"/>
            </p:cNvSpPr>
            <p:nvPr/>
          </p:nvSpPr>
          <p:spPr bwMode="auto">
            <a:xfrm>
              <a:off x="2719" y="2390"/>
              <a:ext cx="518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55" name="Line 43"/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56" name="Line 44"/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57" name="Rectangle 45"/>
            <p:cNvSpPr>
              <a:spLocks noChangeArrowheads="1"/>
            </p:cNvSpPr>
            <p:nvPr/>
          </p:nvSpPr>
          <p:spPr bwMode="auto">
            <a:xfrm>
              <a:off x="2736" y="1778"/>
              <a:ext cx="490" cy="43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1758" name="Rectangle 46"/>
            <p:cNvSpPr>
              <a:spLocks noChangeArrowheads="1"/>
            </p:cNvSpPr>
            <p:nvPr/>
          </p:nvSpPr>
          <p:spPr bwMode="auto">
            <a:xfrm>
              <a:off x="2733" y="2721"/>
              <a:ext cx="489" cy="21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100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5.1 </a:t>
            </a:r>
            <a:r>
              <a:rPr lang="zh-CN" altLang="en-US" dirty="0"/>
              <a:t>链路层概述</a:t>
            </a:r>
            <a:endParaRPr lang="en-US" altLang="zh-CN" dirty="0"/>
          </a:p>
        </p:txBody>
      </p:sp>
      <p:sp>
        <p:nvSpPr>
          <p:cNvPr id="372739" name="Rectangle 3"/>
          <p:cNvSpPr>
            <a:spLocks noGrp="1" noChangeArrowheads="1"/>
          </p:cNvSpPr>
          <p:nvPr>
            <p:ph sz="half" idx="1"/>
          </p:nvPr>
        </p:nvSpPr>
        <p:spPr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网络适配器之间的通信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72740" name="Rectangle 4"/>
          <p:cNvSpPr>
            <a:spLocks noChangeArrowheads="1"/>
          </p:cNvSpPr>
          <p:nvPr/>
        </p:nvSpPr>
        <p:spPr bwMode="auto">
          <a:xfrm>
            <a:off x="971601" y="3205162"/>
            <a:ext cx="3626446" cy="1451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发送方：</a:t>
            </a:r>
            <a:endParaRPr lang="en-US" altLang="zh-TW" sz="15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将网络层的数据报封装成帧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增加字段，实现：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 checking, </a:t>
            </a:r>
            <a:r>
              <a:rPr lang="en-US" altLang="zh-TW" sz="12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</a:t>
            </a:r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 </a:t>
            </a:r>
          </a:p>
          <a:p>
            <a:pPr lvl="2"/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 control</a:t>
            </a:r>
            <a:r>
              <a:rPr lang="en-US" altLang="zh-TW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en-US" altLang="zh-TW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lvl="2"/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etc.</a:t>
            </a:r>
          </a:p>
        </p:txBody>
      </p:sp>
      <p:sp>
        <p:nvSpPr>
          <p:cNvPr id="372741" name="Rectangle 5"/>
          <p:cNvSpPr>
            <a:spLocks noChangeArrowheads="1"/>
          </p:cNvSpPr>
          <p:nvPr/>
        </p:nvSpPr>
        <p:spPr bwMode="auto">
          <a:xfrm>
            <a:off x="4417100" y="3205162"/>
            <a:ext cx="3841733" cy="145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TW" sz="15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 checking</a:t>
            </a:r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TW" sz="12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</a:t>
            </a:r>
            <a:r>
              <a:rPr lang="en-US" altLang="zh-TW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en-US" altLang="zh-TW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lvl="2"/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 control</a:t>
            </a:r>
            <a:r>
              <a:rPr lang="en-US" altLang="zh-TW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en-US" altLang="zh-TW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lvl="2"/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TW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将帧解析成数据报提交给网络层</a:t>
            </a:r>
            <a:endParaRPr lang="zh-TW" altLang="en-US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91880" y="1108760"/>
            <a:ext cx="4888706" cy="1942089"/>
            <a:chOff x="1258888" y="1517650"/>
            <a:chExt cx="6518275" cy="2589451"/>
          </a:xfrm>
        </p:grpSpPr>
        <p:sp>
          <p:nvSpPr>
            <p:cNvPr id="372742" name="Rectangle 6"/>
            <p:cNvSpPr>
              <a:spLocks noChangeArrowheads="1"/>
            </p:cNvSpPr>
            <p:nvPr/>
          </p:nvSpPr>
          <p:spPr bwMode="auto">
            <a:xfrm>
              <a:off x="4365465" y="3554304"/>
              <a:ext cx="1444625" cy="212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43" name="Rectangle 7"/>
            <p:cNvSpPr>
              <a:spLocks noChangeArrowheads="1"/>
            </p:cNvSpPr>
            <p:nvPr/>
          </p:nvSpPr>
          <p:spPr bwMode="auto">
            <a:xfrm>
              <a:off x="1957388" y="1517650"/>
              <a:ext cx="1944687" cy="1770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44" name="Line 8"/>
            <p:cNvSpPr>
              <a:spLocks noChangeShapeType="1"/>
            </p:cNvSpPr>
            <p:nvPr/>
          </p:nvSpPr>
          <p:spPr bwMode="auto">
            <a:xfrm>
              <a:off x="2052638" y="2036763"/>
              <a:ext cx="0" cy="393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45" name="Rectangle 9"/>
            <p:cNvSpPr>
              <a:spLocks noChangeArrowheads="1"/>
            </p:cNvSpPr>
            <p:nvPr/>
          </p:nvSpPr>
          <p:spPr bwMode="auto">
            <a:xfrm>
              <a:off x="2193925" y="2357438"/>
              <a:ext cx="1187450" cy="866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46" name="Rectangle 10"/>
            <p:cNvSpPr>
              <a:spLocks noChangeArrowheads="1"/>
            </p:cNvSpPr>
            <p:nvPr/>
          </p:nvSpPr>
          <p:spPr bwMode="auto">
            <a:xfrm>
              <a:off x="2435225" y="2917825"/>
              <a:ext cx="704850" cy="2254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47" name="Rectangle 11"/>
            <p:cNvSpPr>
              <a:spLocks noChangeArrowheads="1"/>
            </p:cNvSpPr>
            <p:nvPr/>
          </p:nvSpPr>
          <p:spPr bwMode="auto">
            <a:xfrm>
              <a:off x="2435225" y="2446338"/>
              <a:ext cx="695325" cy="415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>
                  <a:ea typeface="+mj-ea"/>
                </a:rPr>
                <a:t>controller</a:t>
              </a:r>
            </a:p>
          </p:txBody>
        </p:sp>
        <p:sp>
          <p:nvSpPr>
            <p:cNvPr id="372748" name="Line 12"/>
            <p:cNvSpPr>
              <a:spLocks noChangeShapeType="1"/>
            </p:cNvSpPr>
            <p:nvPr/>
          </p:nvSpPr>
          <p:spPr bwMode="auto">
            <a:xfrm>
              <a:off x="2346325" y="2200275"/>
              <a:ext cx="1438275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49" name="Line 13"/>
            <p:cNvSpPr>
              <a:spLocks noChangeShapeType="1"/>
            </p:cNvSpPr>
            <p:nvPr/>
          </p:nvSpPr>
          <p:spPr bwMode="auto">
            <a:xfrm flipV="1">
              <a:off x="2763838" y="2206625"/>
              <a:ext cx="0" cy="239713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50" name="Rectangle 14"/>
            <p:cNvSpPr>
              <a:spLocks noChangeArrowheads="1"/>
            </p:cNvSpPr>
            <p:nvPr/>
          </p:nvSpPr>
          <p:spPr bwMode="auto">
            <a:xfrm>
              <a:off x="2228850" y="1646238"/>
              <a:ext cx="695325" cy="415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050">
                <a:ea typeface="+mj-ea"/>
              </a:endParaRPr>
            </a:p>
          </p:txBody>
        </p:sp>
        <p:sp>
          <p:nvSpPr>
            <p:cNvPr id="372751" name="Rectangle 15"/>
            <p:cNvSpPr>
              <a:spLocks noChangeArrowheads="1"/>
            </p:cNvSpPr>
            <p:nvPr/>
          </p:nvSpPr>
          <p:spPr bwMode="auto">
            <a:xfrm>
              <a:off x="3095625" y="1647825"/>
              <a:ext cx="695325" cy="415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050">
                <a:ea typeface="+mj-ea"/>
              </a:endParaRPr>
            </a:p>
          </p:txBody>
        </p:sp>
        <p:sp>
          <p:nvSpPr>
            <p:cNvPr id="372752" name="Line 16"/>
            <p:cNvSpPr>
              <a:spLocks noChangeShapeType="1"/>
            </p:cNvSpPr>
            <p:nvPr/>
          </p:nvSpPr>
          <p:spPr bwMode="auto">
            <a:xfrm flipH="1" flipV="1">
              <a:off x="2551113" y="2062163"/>
              <a:ext cx="1587" cy="138112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53" name="Line 17"/>
            <p:cNvSpPr>
              <a:spLocks noChangeShapeType="1"/>
            </p:cNvSpPr>
            <p:nvPr/>
          </p:nvSpPr>
          <p:spPr bwMode="auto">
            <a:xfrm flipH="1" flipV="1">
              <a:off x="3475038" y="2065338"/>
              <a:ext cx="0" cy="136525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54" name="Rectangle 18"/>
            <p:cNvSpPr>
              <a:spLocks noChangeArrowheads="1"/>
            </p:cNvSpPr>
            <p:nvPr/>
          </p:nvSpPr>
          <p:spPr bwMode="auto">
            <a:xfrm>
              <a:off x="5832475" y="1574800"/>
              <a:ext cx="1944688" cy="17319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55" name="Rectangle 19"/>
            <p:cNvSpPr>
              <a:spLocks noChangeArrowheads="1"/>
            </p:cNvSpPr>
            <p:nvPr/>
          </p:nvSpPr>
          <p:spPr bwMode="auto">
            <a:xfrm>
              <a:off x="6069013" y="2376488"/>
              <a:ext cx="1187450" cy="866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56" name="Rectangle 20"/>
            <p:cNvSpPr>
              <a:spLocks noChangeArrowheads="1"/>
            </p:cNvSpPr>
            <p:nvPr/>
          </p:nvSpPr>
          <p:spPr bwMode="auto">
            <a:xfrm>
              <a:off x="6310313" y="2936875"/>
              <a:ext cx="703262" cy="2254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57" name="Rectangle 21"/>
            <p:cNvSpPr>
              <a:spLocks noChangeArrowheads="1"/>
            </p:cNvSpPr>
            <p:nvPr/>
          </p:nvSpPr>
          <p:spPr bwMode="auto">
            <a:xfrm>
              <a:off x="6310313" y="2465388"/>
              <a:ext cx="695325" cy="415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>
                  <a:ea typeface="+mj-ea"/>
                </a:rPr>
                <a:t>controller</a:t>
              </a:r>
            </a:p>
          </p:txBody>
        </p:sp>
        <p:sp>
          <p:nvSpPr>
            <p:cNvPr id="372758" name="Line 22"/>
            <p:cNvSpPr>
              <a:spLocks noChangeShapeType="1"/>
            </p:cNvSpPr>
            <p:nvPr/>
          </p:nvSpPr>
          <p:spPr bwMode="auto">
            <a:xfrm>
              <a:off x="6221413" y="2219325"/>
              <a:ext cx="1438275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59" name="Line 23"/>
            <p:cNvSpPr>
              <a:spLocks noChangeShapeType="1"/>
            </p:cNvSpPr>
            <p:nvPr/>
          </p:nvSpPr>
          <p:spPr bwMode="auto">
            <a:xfrm flipV="1">
              <a:off x="6638925" y="2225675"/>
              <a:ext cx="0" cy="239713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60" name="Rectangle 24"/>
            <p:cNvSpPr>
              <a:spLocks noChangeArrowheads="1"/>
            </p:cNvSpPr>
            <p:nvPr/>
          </p:nvSpPr>
          <p:spPr bwMode="auto">
            <a:xfrm>
              <a:off x="6103938" y="1665288"/>
              <a:ext cx="695325" cy="415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050">
                <a:ea typeface="+mj-ea"/>
              </a:endParaRPr>
            </a:p>
          </p:txBody>
        </p:sp>
        <p:sp>
          <p:nvSpPr>
            <p:cNvPr id="372761" name="Rectangle 25"/>
            <p:cNvSpPr>
              <a:spLocks noChangeArrowheads="1"/>
            </p:cNvSpPr>
            <p:nvPr/>
          </p:nvSpPr>
          <p:spPr bwMode="auto">
            <a:xfrm>
              <a:off x="6970713" y="1666875"/>
              <a:ext cx="695325" cy="415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050">
                <a:ea typeface="+mj-ea"/>
              </a:endParaRPr>
            </a:p>
          </p:txBody>
        </p:sp>
        <p:sp>
          <p:nvSpPr>
            <p:cNvPr id="372762" name="Line 26"/>
            <p:cNvSpPr>
              <a:spLocks noChangeShapeType="1"/>
            </p:cNvSpPr>
            <p:nvPr/>
          </p:nvSpPr>
          <p:spPr bwMode="auto">
            <a:xfrm flipH="1" flipV="1">
              <a:off x="6426200" y="2081213"/>
              <a:ext cx="1588" cy="138112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63" name="Line 27"/>
            <p:cNvSpPr>
              <a:spLocks noChangeShapeType="1"/>
            </p:cNvSpPr>
            <p:nvPr/>
          </p:nvSpPr>
          <p:spPr bwMode="auto">
            <a:xfrm flipH="1" flipV="1">
              <a:off x="7350125" y="2084388"/>
              <a:ext cx="0" cy="136525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64" name="Text Box 28"/>
            <p:cNvSpPr txBox="1">
              <a:spLocks noChangeArrowheads="1"/>
            </p:cNvSpPr>
            <p:nvPr/>
          </p:nvSpPr>
          <p:spPr bwMode="auto">
            <a:xfrm>
              <a:off x="1935163" y="3203575"/>
              <a:ext cx="13768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i="1">
                  <a:solidFill>
                    <a:srgbClr val="0000FF"/>
                  </a:solidFill>
                  <a:ea typeface="+mj-ea"/>
                </a:rPr>
                <a:t>sending host</a:t>
              </a:r>
            </a:p>
          </p:txBody>
        </p:sp>
        <p:sp>
          <p:nvSpPr>
            <p:cNvPr id="372765" name="Text Box 29"/>
            <p:cNvSpPr txBox="1">
              <a:spLocks noChangeArrowheads="1"/>
            </p:cNvSpPr>
            <p:nvPr/>
          </p:nvSpPr>
          <p:spPr bwMode="auto">
            <a:xfrm>
              <a:off x="5727700" y="3201988"/>
              <a:ext cx="14709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i="1">
                  <a:solidFill>
                    <a:srgbClr val="0000FF"/>
                  </a:solidFill>
                  <a:ea typeface="+mj-ea"/>
                </a:rPr>
                <a:t>receiving host</a:t>
              </a:r>
            </a:p>
          </p:txBody>
        </p:sp>
        <p:grpSp>
          <p:nvGrpSpPr>
            <p:cNvPr id="372777" name="Group 41"/>
            <p:cNvGrpSpPr>
              <a:grpSpLocks/>
            </p:cNvGrpSpPr>
            <p:nvPr/>
          </p:nvGrpSpPr>
          <p:grpSpPr bwMode="auto">
            <a:xfrm>
              <a:off x="1258888" y="2051053"/>
              <a:ext cx="1023937" cy="307976"/>
              <a:chOff x="918" y="1201"/>
              <a:chExt cx="520" cy="194"/>
            </a:xfrm>
          </p:grpSpPr>
          <p:sp>
            <p:nvSpPr>
              <p:cNvPr id="372766" name="Rectangle 30"/>
              <p:cNvSpPr>
                <a:spLocks noChangeArrowheads="1"/>
              </p:cNvSpPr>
              <p:nvPr/>
            </p:nvSpPr>
            <p:spPr bwMode="auto">
              <a:xfrm>
                <a:off x="953" y="1239"/>
                <a:ext cx="452" cy="107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ea typeface="+mj-ea"/>
                </a:endParaRPr>
              </a:p>
            </p:txBody>
          </p:sp>
          <p:sp>
            <p:nvSpPr>
              <p:cNvPr id="372767" name="Text Box 31"/>
              <p:cNvSpPr txBox="1">
                <a:spLocks noChangeArrowheads="1"/>
              </p:cNvSpPr>
              <p:nvPr/>
            </p:nvSpPr>
            <p:spPr bwMode="auto">
              <a:xfrm>
                <a:off x="918" y="1201"/>
                <a:ext cx="520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900" dirty="0">
                    <a:solidFill>
                      <a:srgbClr val="FFFF00"/>
                    </a:solidFill>
                    <a:ea typeface="+mj-ea"/>
                  </a:rPr>
                  <a:t>datagram</a:t>
                </a:r>
              </a:p>
            </p:txBody>
          </p:sp>
        </p:grpSp>
        <p:sp>
          <p:nvSpPr>
            <p:cNvPr id="372768" name="Line 32"/>
            <p:cNvSpPr>
              <a:spLocks noChangeShapeType="1"/>
            </p:cNvSpPr>
            <p:nvPr/>
          </p:nvSpPr>
          <p:spPr bwMode="auto">
            <a:xfrm>
              <a:off x="5961063" y="1982788"/>
              <a:ext cx="0" cy="392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71" name="Freeform 35"/>
            <p:cNvSpPr>
              <a:spLocks/>
            </p:cNvSpPr>
            <p:nvPr/>
          </p:nvSpPr>
          <p:spPr bwMode="auto">
            <a:xfrm>
              <a:off x="2768600" y="3048000"/>
              <a:ext cx="3883025" cy="447675"/>
            </a:xfrm>
            <a:custGeom>
              <a:avLst/>
              <a:gdLst>
                <a:gd name="T0" fmla="*/ 0 w 2597"/>
                <a:gd name="T1" fmla="*/ 0 h 384"/>
                <a:gd name="T2" fmla="*/ 0 w 2597"/>
                <a:gd name="T3" fmla="*/ 384 h 384"/>
                <a:gd name="T4" fmla="*/ 2597 w 2597"/>
                <a:gd name="T5" fmla="*/ 384 h 384"/>
                <a:gd name="T6" fmla="*/ 2597 w 2597"/>
                <a:gd name="T7" fmla="*/ 18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7" h="384">
                  <a:moveTo>
                    <a:pt x="0" y="0"/>
                  </a:moveTo>
                  <a:lnTo>
                    <a:pt x="0" y="384"/>
                  </a:lnTo>
                  <a:lnTo>
                    <a:pt x="2597" y="384"/>
                  </a:lnTo>
                  <a:lnTo>
                    <a:pt x="2597" y="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72" name="Rectangle 36"/>
            <p:cNvSpPr>
              <a:spLocks noChangeArrowheads="1"/>
            </p:cNvSpPr>
            <p:nvPr/>
          </p:nvSpPr>
          <p:spPr bwMode="auto">
            <a:xfrm>
              <a:off x="4500563" y="3573463"/>
              <a:ext cx="935037" cy="1698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73" name="Text Box 37"/>
            <p:cNvSpPr txBox="1">
              <a:spLocks noChangeArrowheads="1"/>
            </p:cNvSpPr>
            <p:nvPr/>
          </p:nvSpPr>
          <p:spPr bwMode="auto">
            <a:xfrm>
              <a:off x="4527548" y="3514725"/>
              <a:ext cx="953215" cy="307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900" dirty="0">
                  <a:solidFill>
                    <a:srgbClr val="FFFF00"/>
                  </a:solidFill>
                  <a:ea typeface="+mj-ea"/>
                </a:rPr>
                <a:t>datagram</a:t>
              </a:r>
            </a:p>
          </p:txBody>
        </p:sp>
        <p:sp>
          <p:nvSpPr>
            <p:cNvPr id="372774" name="Line 38"/>
            <p:cNvSpPr>
              <a:spLocks noChangeShapeType="1"/>
            </p:cNvSpPr>
            <p:nvPr/>
          </p:nvSpPr>
          <p:spPr bwMode="auto">
            <a:xfrm>
              <a:off x="5780801" y="3656013"/>
              <a:ext cx="276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72775" name="Text Box 39"/>
            <p:cNvSpPr txBox="1">
              <a:spLocks noChangeArrowheads="1"/>
            </p:cNvSpPr>
            <p:nvPr/>
          </p:nvSpPr>
          <p:spPr bwMode="auto">
            <a:xfrm>
              <a:off x="4704951" y="3737769"/>
              <a:ext cx="89273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200" b="1" i="1" dirty="0">
                  <a:solidFill>
                    <a:srgbClr val="FF0000"/>
                  </a:solidFill>
                  <a:ea typeface="+mj-ea"/>
                </a:rPr>
                <a:t>frame</a:t>
              </a:r>
            </a:p>
          </p:txBody>
        </p:sp>
        <p:grpSp>
          <p:nvGrpSpPr>
            <p:cNvPr id="372778" name="Group 42"/>
            <p:cNvGrpSpPr>
              <a:grpSpLocks/>
            </p:cNvGrpSpPr>
            <p:nvPr/>
          </p:nvGrpSpPr>
          <p:grpSpPr bwMode="auto">
            <a:xfrm>
              <a:off x="5165725" y="2051053"/>
              <a:ext cx="1023938" cy="307976"/>
              <a:chOff x="918" y="1201"/>
              <a:chExt cx="520" cy="194"/>
            </a:xfrm>
          </p:grpSpPr>
          <p:sp>
            <p:nvSpPr>
              <p:cNvPr id="372779" name="Rectangle 43"/>
              <p:cNvSpPr>
                <a:spLocks noChangeArrowheads="1"/>
              </p:cNvSpPr>
              <p:nvPr/>
            </p:nvSpPr>
            <p:spPr bwMode="auto">
              <a:xfrm>
                <a:off x="953" y="1239"/>
                <a:ext cx="452" cy="107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ea typeface="+mj-ea"/>
                </a:endParaRPr>
              </a:p>
            </p:txBody>
          </p:sp>
          <p:sp>
            <p:nvSpPr>
              <p:cNvPr id="372780" name="Text Box 44"/>
              <p:cNvSpPr txBox="1">
                <a:spLocks noChangeArrowheads="1"/>
              </p:cNvSpPr>
              <p:nvPr/>
            </p:nvSpPr>
            <p:spPr bwMode="auto">
              <a:xfrm>
                <a:off x="918" y="1201"/>
                <a:ext cx="520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900" dirty="0">
                    <a:solidFill>
                      <a:srgbClr val="FFFF00"/>
                    </a:solidFill>
                    <a:ea typeface="+mj-ea"/>
                  </a:rPr>
                  <a:t>datagram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7884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5.1 </a:t>
            </a:r>
            <a:r>
              <a:rPr lang="zh-CN" altLang="en-US" sz="2200" dirty="0"/>
              <a:t>链路层概述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5.2 </a:t>
            </a:r>
            <a:r>
              <a:rPr lang="zh-CN" altLang="en-US" sz="2200" dirty="0"/>
              <a:t>差错检验和纠正 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5.3 </a:t>
            </a:r>
            <a:r>
              <a:rPr lang="zh-CN" altLang="en-US" sz="2200" dirty="0"/>
              <a:t>多址访问协议</a:t>
            </a:r>
          </a:p>
        </p:txBody>
      </p:sp>
    </p:spTree>
    <p:extLst>
      <p:ext uri="{BB962C8B-B14F-4D97-AF65-F5344CB8AC3E}">
        <p14:creationId xmlns:p14="http://schemas.microsoft.com/office/powerpoint/2010/main" val="1513407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差错检验和纠正 </a:t>
            </a:r>
            <a:endParaRPr lang="en-US" altLang="zh-CN" dirty="0"/>
          </a:p>
        </p:txBody>
      </p:sp>
      <p:sp>
        <p:nvSpPr>
          <p:cNvPr id="350293" name="Rectangle 85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5.2.0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差错检验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50294" name="Text Box 86"/>
          <p:cNvSpPr txBox="1">
            <a:spLocks noChangeArrowheads="1"/>
          </p:cNvSpPr>
          <p:nvPr/>
        </p:nvSpPr>
        <p:spPr bwMode="auto">
          <a:xfrm>
            <a:off x="899592" y="1413099"/>
            <a:ext cx="4590510" cy="115416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EDC =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差错检验和恢复比特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(redundancy)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     =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保护首部信息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600"/>
              </a:spcBef>
            </a:pP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差错检验并不是</a:t>
            </a:r>
            <a:r>
              <a:rPr lang="en-US" altLang="zh-CN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 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</a:t>
            </a:r>
            <a:r>
              <a:rPr lang="en-US" altLang="zh-CN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pPr marL="351000" lvl="1" indent="135000" eaLnBrk="0" hangingPunct="0">
              <a:spcBef>
                <a:spcPts val="600"/>
              </a:spcBef>
              <a:buFontTx/>
              <a:buChar char="•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可能未检测出差错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有一定的概率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350295" name="Picture 87" descr="521 Error Detec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633013"/>
            <a:ext cx="3954893" cy="216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16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差错检验和纠正 </a:t>
            </a:r>
            <a:endParaRPr lang="en-US" altLang="zh-CN" dirty="0"/>
          </a:p>
        </p:txBody>
      </p:sp>
      <p:sp>
        <p:nvSpPr>
          <p:cNvPr id="379907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66CC"/>
                </a:solidFill>
                <a:effectLst/>
              </a:rPr>
              <a:t>5.2.1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奇偶校验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379908" name="Picture 4" descr="522 Single Bit Parit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14" y="2294846"/>
            <a:ext cx="1957388" cy="6810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9909" name="Text Box 5"/>
          <p:cNvSpPr txBox="1">
            <a:spLocks noChangeArrowheads="1"/>
          </p:cNvSpPr>
          <p:nvPr/>
        </p:nvSpPr>
        <p:spPr bwMode="auto">
          <a:xfrm>
            <a:off x="825952" y="1511719"/>
            <a:ext cx="2114550" cy="59503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450"/>
              </a:spcBef>
            </a:pPr>
            <a:r>
              <a:rPr lang="zh-CN" altLang="en-US" sz="15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单个奇偶校验位</a:t>
            </a:r>
            <a:r>
              <a:rPr lang="en-US" altLang="zh-CN" sz="15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 eaLnBrk="0" hangingPunct="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检测单个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9910" name="Picture 6" descr="523 Double Bit Par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46857"/>
            <a:ext cx="2688773" cy="2949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9911" name="Text Box 7"/>
          <p:cNvSpPr txBox="1">
            <a:spLocks noChangeArrowheads="1"/>
          </p:cNvSpPr>
          <p:nvPr/>
        </p:nvSpPr>
        <p:spPr bwMode="auto">
          <a:xfrm>
            <a:off x="3995936" y="990919"/>
            <a:ext cx="2567179" cy="60785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spcBef>
                <a:spcPts val="600"/>
              </a:spcBef>
              <a:defRPr sz="2000" u="sng">
                <a:solidFill>
                  <a:srgbClr val="FF0000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二维奇偶校验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350" u="none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检测和恢复单个比特差错</a:t>
            </a:r>
            <a:endParaRPr lang="en-US" altLang="zh-CN" sz="1350" u="none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9912" name="Oval 8"/>
          <p:cNvSpPr>
            <a:spLocks noChangeArrowheads="1"/>
          </p:cNvSpPr>
          <p:nvPr/>
        </p:nvSpPr>
        <p:spPr bwMode="auto">
          <a:xfrm>
            <a:off x="4755356" y="3917157"/>
            <a:ext cx="109538" cy="12620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9914" name="Oval 10"/>
          <p:cNvSpPr>
            <a:spLocks noChangeArrowheads="1"/>
          </p:cNvSpPr>
          <p:nvPr/>
        </p:nvSpPr>
        <p:spPr bwMode="auto">
          <a:xfrm>
            <a:off x="6000750" y="3913585"/>
            <a:ext cx="109538" cy="12620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9916" name="Text Box 12"/>
          <p:cNvSpPr txBox="1">
            <a:spLocks noChangeArrowheads="1"/>
          </p:cNvSpPr>
          <p:nvPr/>
        </p:nvSpPr>
        <p:spPr bwMode="auto">
          <a:xfrm>
            <a:off x="1396109" y="3155043"/>
            <a:ext cx="1666875" cy="61170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Odd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：奇数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Even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：偶数</a:t>
            </a:r>
          </a:p>
        </p:txBody>
      </p:sp>
    </p:spTree>
    <p:extLst>
      <p:ext uri="{BB962C8B-B14F-4D97-AF65-F5344CB8AC3E}">
        <p14:creationId xmlns:p14="http://schemas.microsoft.com/office/powerpoint/2010/main" val="3830630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差错检验和纠正 </a:t>
            </a:r>
            <a:endParaRPr lang="en-US" altLang="zh-CN" dirty="0"/>
          </a:p>
        </p:txBody>
      </p:sp>
      <p:sp>
        <p:nvSpPr>
          <p:cNvPr id="380931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5.2.2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因特网检验和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80932" name="Rectangle 4"/>
          <p:cNvSpPr>
            <a:spLocks noChangeArrowheads="1"/>
          </p:cNvSpPr>
          <p:nvPr/>
        </p:nvSpPr>
        <p:spPr bwMode="auto">
          <a:xfrm>
            <a:off x="1158624" y="1998279"/>
            <a:ext cx="2981328" cy="179760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r>
              <a:rPr lang="en-US" altLang="zh-TW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TW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把报文段分成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16bit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的整数序列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16bit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的整数序列求和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将检验和封装到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TCP/UDP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Tx/>
              <a:buNone/>
            </a:pPr>
            <a:endParaRPr lang="en-US" altLang="zh-TW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endParaRPr lang="zh-TW" altLang="en-US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0933" name="Rectangle 5"/>
          <p:cNvSpPr>
            <a:spLocks noChangeArrowheads="1"/>
          </p:cNvSpPr>
          <p:nvPr/>
        </p:nvSpPr>
        <p:spPr bwMode="auto">
          <a:xfrm>
            <a:off x="4440066" y="1998279"/>
            <a:ext cx="3372294" cy="179760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r>
              <a:rPr lang="en-US" altLang="zh-TW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TW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计算接收报文段的检验和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与首部中的检验和字段进行比对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不同：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error detected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 no error detected. </a:t>
            </a:r>
          </a:p>
          <a:p>
            <a:pPr lvl="2"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是不是绝对没出错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 </a:t>
            </a:r>
            <a:endParaRPr lang="en-US" altLang="zh-TW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0934" name="Rectangle 6"/>
          <p:cNvSpPr>
            <a:spLocks noChangeArrowheads="1"/>
          </p:cNvSpPr>
          <p:nvPr/>
        </p:nvSpPr>
        <p:spPr bwMode="auto">
          <a:xfrm>
            <a:off x="1147667" y="1491630"/>
            <a:ext cx="5943600" cy="3446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检测数据分组的差错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9201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差错检验和纠正 </a:t>
            </a:r>
            <a:endParaRPr lang="en-US" altLang="zh-CN" dirty="0"/>
          </a:p>
        </p:txBody>
      </p:sp>
      <p:sp>
        <p:nvSpPr>
          <p:cNvPr id="381955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5.2.3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循环冗余校验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81956" name="Rectangle 4"/>
          <p:cNvSpPr>
            <a:spLocks noChangeArrowheads="1"/>
          </p:cNvSpPr>
          <p:nvPr/>
        </p:nvSpPr>
        <p:spPr bwMode="auto">
          <a:xfrm>
            <a:off x="899592" y="1491630"/>
            <a:ext cx="5829300" cy="316835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将数据分组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看作一个二进制整数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双方协商一个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r+1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生成多项式，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TW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en-US" altLang="zh-CN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的最高比特位为</a:t>
            </a:r>
            <a:r>
              <a:rPr lang="en-US" altLang="zh-CN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TW" sz="12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选择长度为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的附加比特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使得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&lt;D,R&gt;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除法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接收方也知道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&lt;D,R&gt;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除以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如果余数不为零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TW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error detected!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可以检测小于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r+1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个比特的差错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广泛应用于多种链路协议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TW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(Ethernet, 802.11 WiFi, ATM)</a:t>
            </a:r>
          </a:p>
        </p:txBody>
      </p:sp>
      <p:pic>
        <p:nvPicPr>
          <p:cNvPr id="381957" name="Picture 5" descr="524 CRC cod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005" y="2499742"/>
            <a:ext cx="3140143" cy="86864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447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差错检验和纠正 </a:t>
            </a:r>
            <a:endParaRPr lang="en-US" altLang="zh-CN" dirty="0"/>
          </a:p>
        </p:txBody>
      </p:sp>
      <p:sp>
        <p:nvSpPr>
          <p:cNvPr id="382979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5.2.3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循环冗余校验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382983" name="Picture 7" descr="525 CRC 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761" y="1347614"/>
            <a:ext cx="2689622" cy="3257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2984" name="Rectangle 8"/>
          <p:cNvSpPr>
            <a:spLocks noChangeArrowheads="1"/>
          </p:cNvSpPr>
          <p:nvPr/>
        </p:nvSpPr>
        <p:spPr bwMode="auto">
          <a:xfrm>
            <a:off x="1150937" y="1563638"/>
            <a:ext cx="2608660" cy="174780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期望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TW" sz="18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Tx/>
              <a:buNone/>
            </a:pP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TW" sz="1500" b="1" baseline="26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TW" sz="1500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XOR R = </a:t>
            </a:r>
            <a:r>
              <a:rPr lang="en-US" altLang="zh-TW" sz="1500" dirty="0" err="1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nG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TW" sz="18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Tx/>
              <a:buNone/>
            </a:pP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TW" sz="1500" baseline="26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TW" sz="1500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TW" sz="1500" dirty="0" err="1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nG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XOR R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用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TW" sz="1500" baseline="26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TW" sz="1500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除以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得到余数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TW" sz="18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81802" y="3669823"/>
            <a:ext cx="2483800" cy="697336"/>
            <a:chOff x="971600" y="4683125"/>
            <a:chExt cx="2998738" cy="929780"/>
          </a:xfrm>
        </p:grpSpPr>
        <p:sp>
          <p:nvSpPr>
            <p:cNvPr id="382985" name="Text Box 9"/>
            <p:cNvSpPr txBox="1">
              <a:spLocks noChangeArrowheads="1"/>
            </p:cNvSpPr>
            <p:nvPr/>
          </p:nvSpPr>
          <p:spPr bwMode="auto">
            <a:xfrm>
              <a:off x="1143000" y="4843464"/>
              <a:ext cx="2751138" cy="769441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zh-CN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lang="en-US" altLang="zh-CN" sz="135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= remainder[           ]</a:t>
              </a:r>
            </a:p>
          </p:txBody>
        </p:sp>
        <p:sp>
          <p:nvSpPr>
            <p:cNvPr id="382986" name="Text Box 10"/>
            <p:cNvSpPr txBox="1">
              <a:spLocks noChangeArrowheads="1"/>
            </p:cNvSpPr>
            <p:nvPr/>
          </p:nvSpPr>
          <p:spPr bwMode="auto">
            <a:xfrm>
              <a:off x="2494400" y="4683125"/>
              <a:ext cx="1336674" cy="861774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baseline="260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r>
                <a:rPr lang="en-US" altLang="zh-CN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baseline="300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</a:p>
            <a:p>
              <a:pPr algn="ctr" eaLnBrk="0" hangingPunct="0"/>
              <a:r>
                <a:rPr lang="en-US" altLang="zh-CN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</a:p>
          </p:txBody>
        </p:sp>
        <p:sp>
          <p:nvSpPr>
            <p:cNvPr id="382987" name="Line 11"/>
            <p:cNvSpPr>
              <a:spLocks noChangeShapeType="1"/>
            </p:cNvSpPr>
            <p:nvPr/>
          </p:nvSpPr>
          <p:spPr bwMode="auto">
            <a:xfrm>
              <a:off x="2860948" y="5099050"/>
              <a:ext cx="631825" cy="0"/>
            </a:xfrm>
            <a:prstGeom prst="line">
              <a:avLst/>
            </a:prstGeom>
            <a:noFill/>
            <a:ln w="19050">
              <a:solidFill>
                <a:srgbClr val="0066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2988" name="Rectangle 12"/>
            <p:cNvSpPr>
              <a:spLocks noChangeArrowheads="1"/>
            </p:cNvSpPr>
            <p:nvPr/>
          </p:nvSpPr>
          <p:spPr bwMode="auto">
            <a:xfrm>
              <a:off x="971600" y="4721225"/>
              <a:ext cx="2998738" cy="79289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0366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差错检验和纠正 </a:t>
            </a:r>
            <a:endParaRPr lang="en-US" altLang="zh-CN" dirty="0"/>
          </a:p>
        </p:txBody>
      </p:sp>
      <p:sp>
        <p:nvSpPr>
          <p:cNvPr id="384003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5.2.3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循环冗余校验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e.g.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384005" name="Group 5"/>
          <p:cNvGrpSpPr>
            <a:grpSpLocks/>
          </p:cNvGrpSpPr>
          <p:nvPr/>
        </p:nvGrpSpPr>
        <p:grpSpPr bwMode="auto">
          <a:xfrm>
            <a:off x="3203848" y="987574"/>
            <a:ext cx="4856560" cy="621506"/>
            <a:chOff x="438" y="1091"/>
            <a:chExt cx="4079" cy="522"/>
          </a:xfrm>
        </p:grpSpPr>
        <p:sp>
          <p:nvSpPr>
            <p:cNvPr id="384006" name="Rectangle 6"/>
            <p:cNvSpPr>
              <a:spLocks noChangeArrowheads="1"/>
            </p:cNvSpPr>
            <p:nvPr/>
          </p:nvSpPr>
          <p:spPr bwMode="auto">
            <a:xfrm>
              <a:off x="438" y="1260"/>
              <a:ext cx="957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1350" b="1" dirty="0" err="1">
                  <a:solidFill>
                    <a:schemeClr val="accent2"/>
                  </a:solidFill>
                  <a:ea typeface="+mj-ea"/>
                </a:rPr>
                <a:t>xor</a:t>
              </a:r>
              <a:r>
                <a:rPr lang="en-US" altLang="zh-CN" sz="1350" b="1" dirty="0">
                  <a:ea typeface="+mj-ea"/>
                </a:rPr>
                <a:t> </a:t>
              </a:r>
              <a:r>
                <a:rPr lang="en-US" altLang="zh-CN" sz="1350" b="1" dirty="0">
                  <a:solidFill>
                    <a:schemeClr val="bg2"/>
                  </a:solidFill>
                  <a:ea typeface="+mj-ea"/>
                </a:rPr>
                <a:t>110101</a:t>
              </a:r>
            </a:p>
          </p:txBody>
        </p:sp>
        <p:sp>
          <p:nvSpPr>
            <p:cNvPr id="384007" name="Rectangle 7"/>
            <p:cNvSpPr>
              <a:spLocks noChangeArrowheads="1"/>
            </p:cNvSpPr>
            <p:nvPr/>
          </p:nvSpPr>
          <p:spPr bwMode="auto">
            <a:xfrm>
              <a:off x="707" y="1091"/>
              <a:ext cx="673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1350" b="1">
                  <a:ea typeface="+mj-ea"/>
                </a:rPr>
                <a:t>111011</a:t>
              </a:r>
            </a:p>
          </p:txBody>
        </p:sp>
        <p:sp>
          <p:nvSpPr>
            <p:cNvPr id="384008" name="Line 8"/>
            <p:cNvSpPr>
              <a:spLocks noChangeShapeType="1"/>
            </p:cNvSpPr>
            <p:nvPr/>
          </p:nvSpPr>
          <p:spPr bwMode="auto">
            <a:xfrm>
              <a:off x="748" y="1428"/>
              <a:ext cx="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84009" name="Rectangle 9"/>
            <p:cNvSpPr>
              <a:spLocks noChangeArrowheads="1"/>
            </p:cNvSpPr>
            <p:nvPr/>
          </p:nvSpPr>
          <p:spPr bwMode="auto">
            <a:xfrm>
              <a:off x="708" y="1445"/>
              <a:ext cx="673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1350" b="1" dirty="0">
                  <a:solidFill>
                    <a:srgbClr val="FF0000"/>
                  </a:solidFill>
                  <a:ea typeface="+mj-ea"/>
                </a:rPr>
                <a:t>001110</a:t>
              </a:r>
            </a:p>
          </p:txBody>
        </p:sp>
        <p:sp>
          <p:nvSpPr>
            <p:cNvPr id="384010" name="Line 10"/>
            <p:cNvSpPr>
              <a:spLocks noChangeShapeType="1"/>
            </p:cNvSpPr>
            <p:nvPr/>
          </p:nvSpPr>
          <p:spPr bwMode="auto">
            <a:xfrm>
              <a:off x="1486" y="1336"/>
              <a:ext cx="37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ea typeface="+mj-ea"/>
              </a:endParaRPr>
            </a:p>
          </p:txBody>
        </p:sp>
        <p:sp>
          <p:nvSpPr>
            <p:cNvPr id="384011" name="Rectangle 11"/>
            <p:cNvSpPr>
              <a:spLocks noChangeArrowheads="1"/>
            </p:cNvSpPr>
            <p:nvPr/>
          </p:nvSpPr>
          <p:spPr bwMode="auto">
            <a:xfrm>
              <a:off x="1930" y="1215"/>
              <a:ext cx="2587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1350" b="1" dirty="0">
                  <a:ea typeface="+mj-ea"/>
                </a:rPr>
                <a:t>111011 </a:t>
              </a:r>
              <a:r>
                <a:rPr lang="en-US" altLang="zh-CN" sz="1350" b="1" dirty="0" err="1">
                  <a:solidFill>
                    <a:schemeClr val="accent2"/>
                  </a:solidFill>
                  <a:ea typeface="+mj-ea"/>
                </a:rPr>
                <a:t>xor</a:t>
              </a:r>
              <a:r>
                <a:rPr lang="en-US" altLang="zh-CN" sz="1350" b="1" dirty="0">
                  <a:ea typeface="+mj-ea"/>
                </a:rPr>
                <a:t> </a:t>
              </a:r>
              <a:r>
                <a:rPr lang="en-US" altLang="zh-CN" sz="1350" b="1" dirty="0">
                  <a:solidFill>
                    <a:schemeClr val="bg2"/>
                  </a:solidFill>
                  <a:ea typeface="+mj-ea"/>
                </a:rPr>
                <a:t>110101</a:t>
              </a:r>
              <a:r>
                <a:rPr lang="en-US" altLang="zh-CN" sz="1350" b="1" dirty="0">
                  <a:ea typeface="+mj-ea"/>
                </a:rPr>
                <a:t>=</a:t>
              </a:r>
              <a:r>
                <a:rPr lang="en-US" altLang="zh-CN" sz="1350" b="1" dirty="0">
                  <a:solidFill>
                    <a:schemeClr val="bg2"/>
                  </a:solidFill>
                  <a:ea typeface="+mj-ea"/>
                </a:rPr>
                <a:t> </a:t>
              </a:r>
              <a:r>
                <a:rPr lang="en-US" altLang="zh-CN" sz="1350" b="1" dirty="0">
                  <a:solidFill>
                    <a:srgbClr val="FF0000"/>
                  </a:solidFill>
                  <a:ea typeface="+mj-ea"/>
                </a:rPr>
                <a:t>001110</a:t>
              </a:r>
            </a:p>
          </p:txBody>
        </p:sp>
      </p:grpSp>
      <p:sp>
        <p:nvSpPr>
          <p:cNvPr id="384013" name="Rectangle 13"/>
          <p:cNvSpPr>
            <a:spLocks noChangeArrowheads="1"/>
          </p:cNvSpPr>
          <p:nvPr/>
        </p:nvSpPr>
        <p:spPr bwMode="auto">
          <a:xfrm>
            <a:off x="3239566" y="1636465"/>
            <a:ext cx="5113735" cy="309324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14" name="Line 14"/>
          <p:cNvSpPr>
            <a:spLocks noChangeShapeType="1"/>
          </p:cNvSpPr>
          <p:nvPr/>
        </p:nvSpPr>
        <p:spPr bwMode="auto">
          <a:xfrm>
            <a:off x="5026694" y="1921024"/>
            <a:ext cx="1931194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15" name="Freeform 15"/>
          <p:cNvSpPr>
            <a:spLocks/>
          </p:cNvSpPr>
          <p:nvPr/>
        </p:nvSpPr>
        <p:spPr bwMode="auto">
          <a:xfrm>
            <a:off x="4910013" y="1919834"/>
            <a:ext cx="160735" cy="307181"/>
          </a:xfrm>
          <a:custGeom>
            <a:avLst/>
            <a:gdLst>
              <a:gd name="T0" fmla="*/ 62 w 81"/>
              <a:gd name="T1" fmla="*/ 0 h 169"/>
              <a:gd name="T2" fmla="*/ 71 w 81"/>
              <a:gd name="T3" fmla="*/ 71 h 169"/>
              <a:gd name="T4" fmla="*/ 0 w 81"/>
              <a:gd name="T5" fmla="*/ 169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" h="169">
                <a:moveTo>
                  <a:pt x="62" y="0"/>
                </a:moveTo>
                <a:cubicBezTo>
                  <a:pt x="71" y="21"/>
                  <a:pt x="81" y="43"/>
                  <a:pt x="71" y="71"/>
                </a:cubicBezTo>
                <a:cubicBezTo>
                  <a:pt x="61" y="99"/>
                  <a:pt x="30" y="134"/>
                  <a:pt x="0" y="169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16" name="Rectangle 16"/>
          <p:cNvSpPr>
            <a:spLocks noChangeArrowheads="1"/>
          </p:cNvSpPr>
          <p:nvPr/>
        </p:nvSpPr>
        <p:spPr bwMode="auto">
          <a:xfrm>
            <a:off x="4140869" y="1984127"/>
            <a:ext cx="801291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rgbClr val="FF0000"/>
                </a:solidFill>
                <a:ea typeface="+mj-ea"/>
              </a:rPr>
              <a:t>110101</a:t>
            </a:r>
          </a:p>
        </p:txBody>
      </p:sp>
      <p:sp>
        <p:nvSpPr>
          <p:cNvPr id="384017" name="Rectangle 17"/>
          <p:cNvSpPr>
            <a:spLocks noChangeArrowheads="1"/>
          </p:cNvSpPr>
          <p:nvPr/>
        </p:nvSpPr>
        <p:spPr bwMode="auto">
          <a:xfrm>
            <a:off x="5143375" y="1961982"/>
            <a:ext cx="1015604" cy="210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rgbClr val="0000FF"/>
                </a:solidFill>
                <a:ea typeface="+mj-ea"/>
              </a:rPr>
              <a:t>1010001101</a:t>
            </a:r>
            <a:endParaRPr lang="en-US" altLang="zh-CN" sz="1350" b="1" dirty="0">
              <a:solidFill>
                <a:srgbClr val="33CC33"/>
              </a:solidFill>
              <a:ea typeface="+mj-ea"/>
            </a:endParaRPr>
          </a:p>
        </p:txBody>
      </p:sp>
      <p:sp>
        <p:nvSpPr>
          <p:cNvPr id="384018" name="Rectangle 18"/>
          <p:cNvSpPr>
            <a:spLocks noChangeArrowheads="1"/>
          </p:cNvSpPr>
          <p:nvPr/>
        </p:nvSpPr>
        <p:spPr bwMode="auto">
          <a:xfrm>
            <a:off x="5152900" y="2166292"/>
            <a:ext cx="801291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chemeClr val="bg2"/>
                </a:solidFill>
                <a:ea typeface="+mj-ea"/>
              </a:rPr>
              <a:t>110101</a:t>
            </a:r>
          </a:p>
        </p:txBody>
      </p:sp>
      <p:sp>
        <p:nvSpPr>
          <p:cNvPr id="384022" name="Rectangle 22"/>
          <p:cNvSpPr>
            <a:spLocks noChangeArrowheads="1"/>
          </p:cNvSpPr>
          <p:nvPr/>
        </p:nvSpPr>
        <p:spPr bwMode="auto">
          <a:xfrm>
            <a:off x="3246709" y="1919834"/>
            <a:ext cx="981075" cy="31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 b="1" dirty="0">
                <a:solidFill>
                  <a:srgbClr val="FF0000"/>
                </a:solidFill>
                <a:ea typeface="+mj-ea"/>
              </a:rPr>
              <a:t>除数：</a:t>
            </a:r>
            <a:r>
              <a:rPr lang="en-US" altLang="zh-CN" sz="1350" b="1" dirty="0">
                <a:solidFill>
                  <a:srgbClr val="FF0000"/>
                </a:solidFill>
                <a:ea typeface="+mj-ea"/>
              </a:rPr>
              <a:t>G→</a:t>
            </a:r>
          </a:p>
        </p:txBody>
      </p:sp>
      <p:sp>
        <p:nvSpPr>
          <p:cNvPr id="384023" name="Rectangle 23"/>
          <p:cNvSpPr>
            <a:spLocks noChangeArrowheads="1"/>
          </p:cNvSpPr>
          <p:nvPr/>
        </p:nvSpPr>
        <p:spPr bwMode="auto">
          <a:xfrm>
            <a:off x="5249341" y="2619921"/>
            <a:ext cx="801291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chemeClr val="bg2"/>
                </a:solidFill>
                <a:ea typeface="+mj-ea"/>
              </a:rPr>
              <a:t>110101</a:t>
            </a:r>
          </a:p>
        </p:txBody>
      </p:sp>
      <p:sp>
        <p:nvSpPr>
          <p:cNvPr id="384024" name="Line 24"/>
          <p:cNvSpPr>
            <a:spLocks noChangeShapeType="1"/>
          </p:cNvSpPr>
          <p:nvPr/>
        </p:nvSpPr>
        <p:spPr bwMode="auto">
          <a:xfrm>
            <a:off x="5152900" y="2380637"/>
            <a:ext cx="642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26" name="Line 26"/>
          <p:cNvSpPr>
            <a:spLocks noChangeShapeType="1"/>
          </p:cNvSpPr>
          <p:nvPr/>
        </p:nvSpPr>
        <p:spPr bwMode="auto">
          <a:xfrm>
            <a:off x="5238104" y="2830661"/>
            <a:ext cx="642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28" name="Line 28"/>
          <p:cNvSpPr>
            <a:spLocks noChangeShapeType="1"/>
          </p:cNvSpPr>
          <p:nvPr/>
        </p:nvSpPr>
        <p:spPr bwMode="auto">
          <a:xfrm>
            <a:off x="4625453" y="2193677"/>
            <a:ext cx="558404" cy="8453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29" name="Line 29"/>
          <p:cNvSpPr>
            <a:spLocks noChangeShapeType="1"/>
          </p:cNvSpPr>
          <p:nvPr/>
        </p:nvSpPr>
        <p:spPr bwMode="auto">
          <a:xfrm>
            <a:off x="4679032" y="2224633"/>
            <a:ext cx="600075" cy="4762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0" name="Line 30"/>
          <p:cNvSpPr>
            <a:spLocks noChangeShapeType="1"/>
          </p:cNvSpPr>
          <p:nvPr/>
        </p:nvSpPr>
        <p:spPr bwMode="auto">
          <a:xfrm>
            <a:off x="5852843" y="2172246"/>
            <a:ext cx="0" cy="211931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1" name="Rectangle 31"/>
          <p:cNvSpPr>
            <a:spLocks noChangeArrowheads="1"/>
          </p:cNvSpPr>
          <p:nvPr/>
        </p:nvSpPr>
        <p:spPr bwMode="auto">
          <a:xfrm>
            <a:off x="5452938" y="2884240"/>
            <a:ext cx="484584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ea typeface="+mj-ea"/>
              </a:rPr>
              <a:t>1110</a:t>
            </a:r>
          </a:p>
        </p:txBody>
      </p:sp>
      <p:sp>
        <p:nvSpPr>
          <p:cNvPr id="384032" name="Line 32"/>
          <p:cNvSpPr>
            <a:spLocks noChangeShapeType="1"/>
          </p:cNvSpPr>
          <p:nvPr/>
        </p:nvSpPr>
        <p:spPr bwMode="auto">
          <a:xfrm>
            <a:off x="5954308" y="2171055"/>
            <a:ext cx="0" cy="685800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3" name="Line 33"/>
          <p:cNvSpPr>
            <a:spLocks noChangeShapeType="1"/>
          </p:cNvSpPr>
          <p:nvPr/>
        </p:nvSpPr>
        <p:spPr bwMode="auto">
          <a:xfrm>
            <a:off x="6051939" y="2175817"/>
            <a:ext cx="0" cy="685800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4" name="Line 34"/>
          <p:cNvSpPr>
            <a:spLocks noChangeShapeType="1"/>
          </p:cNvSpPr>
          <p:nvPr/>
        </p:nvSpPr>
        <p:spPr bwMode="auto">
          <a:xfrm>
            <a:off x="6156046" y="2182961"/>
            <a:ext cx="0" cy="1065610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5" name="Line 35"/>
          <p:cNvSpPr>
            <a:spLocks noChangeShapeType="1"/>
          </p:cNvSpPr>
          <p:nvPr/>
        </p:nvSpPr>
        <p:spPr bwMode="auto">
          <a:xfrm>
            <a:off x="6251058" y="2179390"/>
            <a:ext cx="0" cy="1121569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6" name="Line 36"/>
          <p:cNvSpPr>
            <a:spLocks noChangeShapeType="1"/>
          </p:cNvSpPr>
          <p:nvPr/>
        </p:nvSpPr>
        <p:spPr bwMode="auto">
          <a:xfrm>
            <a:off x="6347022" y="2175817"/>
            <a:ext cx="0" cy="1519238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7" name="Line 37"/>
          <p:cNvSpPr>
            <a:spLocks noChangeShapeType="1"/>
          </p:cNvSpPr>
          <p:nvPr/>
        </p:nvSpPr>
        <p:spPr bwMode="auto">
          <a:xfrm>
            <a:off x="6442987" y="2182961"/>
            <a:ext cx="0" cy="1512094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8" name="Line 38"/>
          <p:cNvSpPr>
            <a:spLocks noChangeShapeType="1"/>
          </p:cNvSpPr>
          <p:nvPr/>
        </p:nvSpPr>
        <p:spPr bwMode="auto">
          <a:xfrm>
            <a:off x="6535571" y="2174388"/>
            <a:ext cx="0" cy="1935005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39" name="Line 39"/>
          <p:cNvSpPr>
            <a:spLocks noChangeShapeType="1"/>
          </p:cNvSpPr>
          <p:nvPr/>
        </p:nvSpPr>
        <p:spPr bwMode="auto">
          <a:xfrm>
            <a:off x="6634631" y="2188914"/>
            <a:ext cx="0" cy="2243138"/>
          </a:xfrm>
          <a:prstGeom prst="line">
            <a:avLst/>
          </a:prstGeom>
          <a:noFill/>
          <a:ln w="28575">
            <a:solidFill>
              <a:srgbClr val="FF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40" name="Rectangle 40"/>
          <p:cNvSpPr>
            <a:spLocks noChangeArrowheads="1"/>
          </p:cNvSpPr>
          <p:nvPr/>
        </p:nvSpPr>
        <p:spPr bwMode="auto">
          <a:xfrm>
            <a:off x="5449366" y="3072358"/>
            <a:ext cx="801291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chemeClr val="bg2"/>
                </a:solidFill>
                <a:ea typeface="+mj-ea"/>
              </a:rPr>
              <a:t>110101</a:t>
            </a:r>
          </a:p>
        </p:txBody>
      </p:sp>
      <p:sp>
        <p:nvSpPr>
          <p:cNvPr id="384041" name="Line 41"/>
          <p:cNvSpPr>
            <a:spLocks noChangeShapeType="1"/>
          </p:cNvSpPr>
          <p:nvPr/>
        </p:nvSpPr>
        <p:spPr bwMode="auto">
          <a:xfrm>
            <a:off x="5454128" y="3287861"/>
            <a:ext cx="642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42" name="Rectangle 42"/>
          <p:cNvSpPr>
            <a:spLocks noChangeArrowheads="1"/>
          </p:cNvSpPr>
          <p:nvPr/>
        </p:nvSpPr>
        <p:spPr bwMode="auto">
          <a:xfrm>
            <a:off x="5633674" y="3316436"/>
            <a:ext cx="484523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ea typeface="+mj-ea"/>
              </a:rPr>
              <a:t>1111</a:t>
            </a:r>
          </a:p>
        </p:txBody>
      </p:sp>
      <p:sp>
        <p:nvSpPr>
          <p:cNvPr id="384043" name="Rectangle 43"/>
          <p:cNvSpPr>
            <a:spLocks noChangeArrowheads="1"/>
          </p:cNvSpPr>
          <p:nvPr/>
        </p:nvSpPr>
        <p:spPr bwMode="auto">
          <a:xfrm>
            <a:off x="5640818" y="3495030"/>
            <a:ext cx="801291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chemeClr val="bg2"/>
                </a:solidFill>
                <a:ea typeface="+mj-ea"/>
              </a:rPr>
              <a:t>110101</a:t>
            </a:r>
          </a:p>
        </p:txBody>
      </p:sp>
      <p:sp>
        <p:nvSpPr>
          <p:cNvPr id="384045" name="Line 45"/>
          <p:cNvSpPr>
            <a:spLocks noChangeShapeType="1"/>
          </p:cNvSpPr>
          <p:nvPr/>
        </p:nvSpPr>
        <p:spPr bwMode="auto">
          <a:xfrm>
            <a:off x="5616146" y="3702199"/>
            <a:ext cx="642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46" name="Rectangle 46"/>
          <p:cNvSpPr>
            <a:spLocks noChangeArrowheads="1"/>
          </p:cNvSpPr>
          <p:nvPr/>
        </p:nvSpPr>
        <p:spPr bwMode="auto">
          <a:xfrm>
            <a:off x="5830842" y="3716486"/>
            <a:ext cx="47202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ea typeface="+mj-ea"/>
              </a:rPr>
              <a:t>1011</a:t>
            </a:r>
          </a:p>
        </p:txBody>
      </p:sp>
      <p:sp>
        <p:nvSpPr>
          <p:cNvPr id="384047" name="Rectangle 47"/>
          <p:cNvSpPr>
            <a:spLocks noChangeArrowheads="1"/>
          </p:cNvSpPr>
          <p:nvPr/>
        </p:nvSpPr>
        <p:spPr bwMode="auto">
          <a:xfrm>
            <a:off x="5837986" y="3885555"/>
            <a:ext cx="801291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chemeClr val="bg2"/>
                </a:solidFill>
                <a:ea typeface="+mj-ea"/>
              </a:rPr>
              <a:t>110101</a:t>
            </a:r>
          </a:p>
        </p:txBody>
      </p:sp>
      <p:sp>
        <p:nvSpPr>
          <p:cNvPr id="384049" name="Line 49"/>
          <p:cNvSpPr>
            <a:spLocks noChangeShapeType="1"/>
          </p:cNvSpPr>
          <p:nvPr/>
        </p:nvSpPr>
        <p:spPr bwMode="auto">
          <a:xfrm>
            <a:off x="5923234" y="4098677"/>
            <a:ext cx="642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50" name="Rectangle 50"/>
          <p:cNvSpPr>
            <a:spLocks noChangeArrowheads="1"/>
          </p:cNvSpPr>
          <p:nvPr/>
        </p:nvSpPr>
        <p:spPr bwMode="auto">
          <a:xfrm>
            <a:off x="5920466" y="4117727"/>
            <a:ext cx="605497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ea typeface="+mj-ea"/>
              </a:rPr>
              <a:t>11001</a:t>
            </a:r>
          </a:p>
        </p:txBody>
      </p:sp>
      <p:sp>
        <p:nvSpPr>
          <p:cNvPr id="384051" name="Rectangle 51"/>
          <p:cNvSpPr>
            <a:spLocks noChangeArrowheads="1"/>
          </p:cNvSpPr>
          <p:nvPr/>
        </p:nvSpPr>
        <p:spPr bwMode="auto">
          <a:xfrm>
            <a:off x="5928324" y="4274890"/>
            <a:ext cx="801291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chemeClr val="bg2"/>
                </a:solidFill>
                <a:ea typeface="+mj-ea"/>
              </a:rPr>
              <a:t>110101</a:t>
            </a:r>
          </a:p>
        </p:txBody>
      </p:sp>
      <p:sp>
        <p:nvSpPr>
          <p:cNvPr id="384052" name="Line 52"/>
          <p:cNvSpPr>
            <a:spLocks noChangeShapeType="1"/>
          </p:cNvSpPr>
          <p:nvPr/>
        </p:nvSpPr>
        <p:spPr bwMode="auto">
          <a:xfrm>
            <a:off x="6044678" y="4466580"/>
            <a:ext cx="642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53" name="Rectangle 53"/>
          <p:cNvSpPr>
            <a:spLocks noChangeArrowheads="1"/>
          </p:cNvSpPr>
          <p:nvPr/>
        </p:nvSpPr>
        <p:spPr bwMode="auto">
          <a:xfrm>
            <a:off x="6123022" y="4497536"/>
            <a:ext cx="481909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solidFill>
                  <a:srgbClr val="FF5050"/>
                </a:solidFill>
                <a:ea typeface="+mj-ea"/>
              </a:rPr>
              <a:t>0111</a:t>
            </a:r>
          </a:p>
        </p:txBody>
      </p:sp>
      <p:sp>
        <p:nvSpPr>
          <p:cNvPr id="384054" name="Rectangle 54"/>
          <p:cNvSpPr>
            <a:spLocks noChangeArrowheads="1"/>
          </p:cNvSpPr>
          <p:nvPr/>
        </p:nvSpPr>
        <p:spPr bwMode="auto">
          <a:xfrm>
            <a:off x="6938838" y="1581696"/>
            <a:ext cx="981075" cy="31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350" b="1" dirty="0">
                <a:solidFill>
                  <a:schemeClr val="accent2"/>
                </a:solidFill>
                <a:ea typeface="+mj-ea"/>
              </a:rPr>
              <a:t>←Q </a:t>
            </a:r>
            <a:r>
              <a:rPr lang="zh-CN" altLang="en-US" sz="1350" b="1" dirty="0">
                <a:solidFill>
                  <a:schemeClr val="accent2"/>
                </a:solidFill>
                <a:ea typeface="+mj-ea"/>
              </a:rPr>
              <a:t>商</a:t>
            </a:r>
          </a:p>
        </p:txBody>
      </p:sp>
      <p:sp>
        <p:nvSpPr>
          <p:cNvPr id="384055" name="Rectangle 55"/>
          <p:cNvSpPr>
            <a:spLocks noChangeArrowheads="1"/>
          </p:cNvSpPr>
          <p:nvPr/>
        </p:nvSpPr>
        <p:spPr bwMode="auto">
          <a:xfrm>
            <a:off x="6938838" y="1887687"/>
            <a:ext cx="1414463" cy="31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350" b="1" dirty="0">
                <a:ea typeface="+mj-ea"/>
              </a:rPr>
              <a:t>←</a:t>
            </a:r>
            <a:r>
              <a:rPr lang="en-US" altLang="zh-CN" sz="1350" b="1" dirty="0">
                <a:solidFill>
                  <a:srgbClr val="33CC33"/>
                </a:solidFill>
                <a:ea typeface="+mj-ea"/>
              </a:rPr>
              <a:t>2</a:t>
            </a:r>
            <a:r>
              <a:rPr lang="en-US" altLang="zh-CN" sz="1350" b="1" baseline="30000" dirty="0">
                <a:solidFill>
                  <a:srgbClr val="33CC33"/>
                </a:solidFill>
                <a:ea typeface="+mj-ea"/>
              </a:rPr>
              <a:t>r</a:t>
            </a:r>
            <a:r>
              <a:rPr lang="en-US" altLang="zh-CN" sz="1350" b="1" dirty="0">
                <a:solidFill>
                  <a:srgbClr val="FF99CC"/>
                </a:solidFill>
                <a:ea typeface="+mj-ea"/>
              </a:rPr>
              <a:t>X</a:t>
            </a:r>
            <a:r>
              <a:rPr lang="en-US" altLang="zh-CN" sz="1350" b="1" dirty="0">
                <a:ea typeface="+mj-ea"/>
              </a:rPr>
              <a:t>D(</a:t>
            </a:r>
            <a:r>
              <a:rPr lang="zh-CN" altLang="en-US" sz="1350" b="1" dirty="0">
                <a:ea typeface="+mj-ea"/>
              </a:rPr>
              <a:t>被除数</a:t>
            </a:r>
            <a:r>
              <a:rPr lang="en-US" altLang="zh-CN" sz="1350" b="1" dirty="0">
                <a:ea typeface="+mj-ea"/>
              </a:rPr>
              <a:t>)</a:t>
            </a:r>
            <a:endParaRPr lang="zh-CN" altLang="en-US" sz="1350" b="1" baseline="30000" dirty="0">
              <a:ea typeface="+mj-ea"/>
            </a:endParaRPr>
          </a:p>
        </p:txBody>
      </p:sp>
      <p:sp>
        <p:nvSpPr>
          <p:cNvPr id="384056" name="Rectangle 56"/>
          <p:cNvSpPr>
            <a:spLocks noChangeArrowheads="1"/>
          </p:cNvSpPr>
          <p:nvPr/>
        </p:nvSpPr>
        <p:spPr bwMode="auto">
          <a:xfrm>
            <a:off x="6831682" y="4432053"/>
            <a:ext cx="1182291" cy="31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350" b="1" dirty="0">
                <a:solidFill>
                  <a:srgbClr val="FF5050"/>
                </a:solidFill>
                <a:ea typeface="+mj-ea"/>
              </a:rPr>
              <a:t>←R(</a:t>
            </a:r>
            <a:r>
              <a:rPr lang="zh-CN" altLang="en-US" sz="1350" b="1" dirty="0">
                <a:solidFill>
                  <a:srgbClr val="FF5050"/>
                </a:solidFill>
                <a:ea typeface="+mj-ea"/>
              </a:rPr>
              <a:t>余数</a:t>
            </a:r>
            <a:r>
              <a:rPr lang="en-US" altLang="zh-CN" sz="1350" b="1" dirty="0">
                <a:solidFill>
                  <a:srgbClr val="FF5050"/>
                </a:solidFill>
                <a:ea typeface="+mj-ea"/>
              </a:rPr>
              <a:t>)</a:t>
            </a:r>
            <a:endParaRPr lang="zh-CN" altLang="en-US" sz="1350" b="1" baseline="30000" dirty="0">
              <a:solidFill>
                <a:srgbClr val="FF5050"/>
              </a:solidFill>
              <a:ea typeface="+mj-ea"/>
            </a:endParaRPr>
          </a:p>
        </p:txBody>
      </p:sp>
      <p:sp>
        <p:nvSpPr>
          <p:cNvPr id="384057" name="Line 57"/>
          <p:cNvSpPr>
            <a:spLocks noChangeShapeType="1"/>
          </p:cNvSpPr>
          <p:nvPr/>
        </p:nvSpPr>
        <p:spPr bwMode="auto">
          <a:xfrm>
            <a:off x="4677841" y="2213917"/>
            <a:ext cx="822722" cy="97274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58" name="Line 58"/>
          <p:cNvSpPr>
            <a:spLocks noChangeShapeType="1"/>
          </p:cNvSpPr>
          <p:nvPr/>
        </p:nvSpPr>
        <p:spPr bwMode="auto">
          <a:xfrm>
            <a:off x="4634978" y="2205584"/>
            <a:ext cx="1034654" cy="135136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59" name="Line 59"/>
          <p:cNvSpPr>
            <a:spLocks noChangeShapeType="1"/>
          </p:cNvSpPr>
          <p:nvPr/>
        </p:nvSpPr>
        <p:spPr bwMode="auto">
          <a:xfrm>
            <a:off x="4604022" y="2225823"/>
            <a:ext cx="1234679" cy="1709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60" name="Line 60"/>
          <p:cNvSpPr>
            <a:spLocks noChangeShapeType="1"/>
          </p:cNvSpPr>
          <p:nvPr/>
        </p:nvSpPr>
        <p:spPr bwMode="auto">
          <a:xfrm>
            <a:off x="4614739" y="2257971"/>
            <a:ext cx="1352346" cy="210145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>
              <a:ea typeface="+mj-ea"/>
            </a:endParaRPr>
          </a:p>
        </p:txBody>
      </p:sp>
      <p:sp>
        <p:nvSpPr>
          <p:cNvPr id="384061" name="Rectangle 61"/>
          <p:cNvSpPr>
            <a:spLocks noChangeArrowheads="1"/>
          </p:cNvSpPr>
          <p:nvPr/>
        </p:nvSpPr>
        <p:spPr bwMode="auto">
          <a:xfrm>
            <a:off x="3308418" y="4317751"/>
            <a:ext cx="2658666" cy="360759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350" b="1" dirty="0">
                <a:solidFill>
                  <a:schemeClr val="accent2"/>
                </a:solidFill>
                <a:ea typeface="+mj-ea"/>
              </a:rPr>
              <a:t>Frame</a:t>
            </a:r>
            <a:r>
              <a:rPr lang="zh-CN" altLang="en-US" sz="1350" b="1" dirty="0">
                <a:solidFill>
                  <a:schemeClr val="accent2"/>
                </a:solidFill>
                <a:ea typeface="+mj-ea"/>
              </a:rPr>
              <a:t>：</a:t>
            </a:r>
            <a:r>
              <a:rPr lang="en-US" altLang="zh-CN" sz="1350" b="1" dirty="0">
                <a:solidFill>
                  <a:srgbClr val="0000FF"/>
                </a:solidFill>
                <a:ea typeface="+mj-ea"/>
              </a:rPr>
              <a:t>1010001101</a:t>
            </a:r>
            <a:r>
              <a:rPr lang="en-US" altLang="zh-CN" sz="1350" b="1" dirty="0">
                <a:ea typeface="+mj-ea"/>
              </a:rPr>
              <a:t> </a:t>
            </a:r>
            <a:r>
              <a:rPr lang="en-US" altLang="zh-CN" sz="1350" b="1" dirty="0">
                <a:solidFill>
                  <a:srgbClr val="FF5050"/>
                </a:solidFill>
                <a:ea typeface="+mj-ea"/>
              </a:rPr>
              <a:t>01110 </a:t>
            </a:r>
          </a:p>
        </p:txBody>
      </p:sp>
      <p:sp>
        <p:nvSpPr>
          <p:cNvPr id="2" name="矩形 1"/>
          <p:cNvSpPr/>
          <p:nvPr/>
        </p:nvSpPr>
        <p:spPr>
          <a:xfrm>
            <a:off x="6093495" y="1928583"/>
            <a:ext cx="66556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350" b="1" dirty="0">
                <a:solidFill>
                  <a:srgbClr val="33CC33"/>
                </a:solidFill>
              </a:rPr>
              <a:t>00000</a:t>
            </a:r>
          </a:p>
        </p:txBody>
      </p:sp>
      <p:sp>
        <p:nvSpPr>
          <p:cNvPr id="3" name="矩形 2"/>
          <p:cNvSpPr/>
          <p:nvPr/>
        </p:nvSpPr>
        <p:spPr>
          <a:xfrm>
            <a:off x="5670152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1</a:t>
            </a:r>
            <a:endParaRPr lang="zh-CN" altLang="en-US" sz="1350" dirty="0"/>
          </a:p>
        </p:txBody>
      </p:sp>
      <p:sp>
        <p:nvSpPr>
          <p:cNvPr id="67" name="矩形 66"/>
          <p:cNvSpPr/>
          <p:nvPr/>
        </p:nvSpPr>
        <p:spPr>
          <a:xfrm>
            <a:off x="5763287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1</a:t>
            </a:r>
            <a:endParaRPr lang="zh-CN" altLang="en-US" sz="1350" dirty="0"/>
          </a:p>
        </p:txBody>
      </p:sp>
      <p:sp>
        <p:nvSpPr>
          <p:cNvPr id="68" name="矩形 67"/>
          <p:cNvSpPr/>
          <p:nvPr/>
        </p:nvSpPr>
        <p:spPr>
          <a:xfrm>
            <a:off x="5865149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0</a:t>
            </a:r>
            <a:endParaRPr lang="zh-CN" altLang="en-US" sz="1350" dirty="0"/>
          </a:p>
        </p:txBody>
      </p:sp>
      <p:sp>
        <p:nvSpPr>
          <p:cNvPr id="69" name="矩形 68"/>
          <p:cNvSpPr/>
          <p:nvPr/>
        </p:nvSpPr>
        <p:spPr>
          <a:xfrm>
            <a:off x="5968404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1</a:t>
            </a:r>
            <a:endParaRPr lang="zh-CN" altLang="en-US" sz="1350" dirty="0"/>
          </a:p>
        </p:txBody>
      </p:sp>
      <p:sp>
        <p:nvSpPr>
          <p:cNvPr id="70" name="矩形 69"/>
          <p:cNvSpPr/>
          <p:nvPr/>
        </p:nvSpPr>
        <p:spPr>
          <a:xfrm>
            <a:off x="6070266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0</a:t>
            </a:r>
            <a:endParaRPr lang="zh-CN" altLang="en-US" sz="1350" dirty="0"/>
          </a:p>
        </p:txBody>
      </p:sp>
      <p:sp>
        <p:nvSpPr>
          <p:cNvPr id="71" name="矩形 70"/>
          <p:cNvSpPr/>
          <p:nvPr/>
        </p:nvSpPr>
        <p:spPr>
          <a:xfrm>
            <a:off x="6162146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1</a:t>
            </a:r>
            <a:endParaRPr lang="zh-CN" altLang="en-US" sz="1350" dirty="0"/>
          </a:p>
        </p:txBody>
      </p:sp>
      <p:sp>
        <p:nvSpPr>
          <p:cNvPr id="72" name="矩形 71"/>
          <p:cNvSpPr/>
          <p:nvPr/>
        </p:nvSpPr>
        <p:spPr>
          <a:xfrm>
            <a:off x="6255807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0</a:t>
            </a:r>
            <a:endParaRPr lang="zh-CN" altLang="en-US" sz="1350" dirty="0"/>
          </a:p>
        </p:txBody>
      </p:sp>
      <p:sp>
        <p:nvSpPr>
          <p:cNvPr id="73" name="矩形 72"/>
          <p:cNvSpPr/>
          <p:nvPr/>
        </p:nvSpPr>
        <p:spPr>
          <a:xfrm>
            <a:off x="6353305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1</a:t>
            </a:r>
            <a:endParaRPr lang="zh-CN" altLang="en-US" sz="1350" dirty="0"/>
          </a:p>
        </p:txBody>
      </p:sp>
      <p:sp>
        <p:nvSpPr>
          <p:cNvPr id="74" name="矩形 73"/>
          <p:cNvSpPr/>
          <p:nvPr/>
        </p:nvSpPr>
        <p:spPr>
          <a:xfrm>
            <a:off x="6451161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1</a:t>
            </a:r>
            <a:endParaRPr lang="zh-CN" altLang="en-US" sz="1350" dirty="0"/>
          </a:p>
        </p:txBody>
      </p:sp>
      <p:sp>
        <p:nvSpPr>
          <p:cNvPr id="75" name="矩形 74"/>
          <p:cNvSpPr/>
          <p:nvPr/>
        </p:nvSpPr>
        <p:spPr>
          <a:xfrm>
            <a:off x="6546463" y="1690074"/>
            <a:ext cx="125675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350" b="1" dirty="0">
                <a:solidFill>
                  <a:schemeClr val="accent2"/>
                </a:solidFill>
              </a:rPr>
              <a:t>0</a:t>
            </a:r>
            <a:endParaRPr lang="zh-CN" altLang="en-US" sz="1350" dirty="0"/>
          </a:p>
        </p:txBody>
      </p:sp>
      <p:sp>
        <p:nvSpPr>
          <p:cNvPr id="4" name="矩形 3"/>
          <p:cNvSpPr/>
          <p:nvPr/>
        </p:nvSpPr>
        <p:spPr>
          <a:xfrm>
            <a:off x="5717914" y="2369263"/>
            <a:ext cx="2808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350" b="1" dirty="0"/>
              <a:t>1</a:t>
            </a:r>
          </a:p>
        </p:txBody>
      </p:sp>
      <p:sp>
        <p:nvSpPr>
          <p:cNvPr id="77" name="Rectangle 25"/>
          <p:cNvSpPr>
            <a:spLocks noChangeArrowheads="1"/>
          </p:cNvSpPr>
          <p:nvPr/>
        </p:nvSpPr>
        <p:spPr bwMode="auto">
          <a:xfrm>
            <a:off x="5249341" y="2418705"/>
            <a:ext cx="801291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350" b="1" dirty="0">
                <a:ea typeface="+mj-ea"/>
              </a:rPr>
              <a:t>11101</a:t>
            </a:r>
          </a:p>
        </p:txBody>
      </p:sp>
      <p:sp>
        <p:nvSpPr>
          <p:cNvPr id="79" name="矩形 78"/>
          <p:cNvSpPr/>
          <p:nvPr/>
        </p:nvSpPr>
        <p:spPr>
          <a:xfrm>
            <a:off x="5827102" y="2838347"/>
            <a:ext cx="195738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b="1" dirty="0"/>
              <a:t>1</a:t>
            </a:r>
            <a:endParaRPr lang="zh-CN" altLang="en-US" sz="1350" dirty="0"/>
          </a:p>
        </p:txBody>
      </p:sp>
      <p:sp>
        <p:nvSpPr>
          <p:cNvPr id="81" name="矩形 80"/>
          <p:cNvSpPr/>
          <p:nvPr/>
        </p:nvSpPr>
        <p:spPr>
          <a:xfrm>
            <a:off x="5911401" y="2840467"/>
            <a:ext cx="2808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/>
              <a:t>0</a:t>
            </a:r>
            <a:endParaRPr lang="zh-CN" altLang="en-US" sz="1350" dirty="0"/>
          </a:p>
        </p:txBody>
      </p:sp>
      <p:sp>
        <p:nvSpPr>
          <p:cNvPr id="83" name="矩形 82"/>
          <p:cNvSpPr/>
          <p:nvPr/>
        </p:nvSpPr>
        <p:spPr>
          <a:xfrm>
            <a:off x="6010943" y="3272509"/>
            <a:ext cx="2808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/>
              <a:t>1</a:t>
            </a:r>
            <a:endParaRPr lang="zh-CN" altLang="en-US" sz="1350" dirty="0"/>
          </a:p>
        </p:txBody>
      </p:sp>
      <p:sp>
        <p:nvSpPr>
          <p:cNvPr id="84" name="矩形 83"/>
          <p:cNvSpPr/>
          <p:nvPr/>
        </p:nvSpPr>
        <p:spPr>
          <a:xfrm>
            <a:off x="6108664" y="3268579"/>
            <a:ext cx="2808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/>
              <a:t>0</a:t>
            </a:r>
            <a:endParaRPr lang="zh-CN" altLang="en-US" sz="1350" dirty="0"/>
          </a:p>
        </p:txBody>
      </p:sp>
      <p:sp>
        <p:nvSpPr>
          <p:cNvPr id="85" name="矩形 84"/>
          <p:cNvSpPr/>
          <p:nvPr/>
        </p:nvSpPr>
        <p:spPr>
          <a:xfrm>
            <a:off x="6208859" y="3664029"/>
            <a:ext cx="2808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/>
              <a:t>0</a:t>
            </a:r>
            <a:endParaRPr lang="zh-CN" altLang="en-US" sz="1350" dirty="0"/>
          </a:p>
        </p:txBody>
      </p:sp>
      <p:sp>
        <p:nvSpPr>
          <p:cNvPr id="87" name="矩形 86"/>
          <p:cNvSpPr/>
          <p:nvPr/>
        </p:nvSpPr>
        <p:spPr>
          <a:xfrm>
            <a:off x="6307635" y="3668666"/>
            <a:ext cx="2808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/>
              <a:t>0</a:t>
            </a:r>
            <a:endParaRPr lang="zh-CN" altLang="en-US" sz="1350" dirty="0"/>
          </a:p>
        </p:txBody>
      </p:sp>
      <p:sp>
        <p:nvSpPr>
          <p:cNvPr id="88" name="矩形 87"/>
          <p:cNvSpPr/>
          <p:nvPr/>
        </p:nvSpPr>
        <p:spPr>
          <a:xfrm>
            <a:off x="6393111" y="4068841"/>
            <a:ext cx="2808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/>
              <a:t>0</a:t>
            </a:r>
            <a:endParaRPr lang="zh-CN" altLang="en-US" sz="1350" dirty="0"/>
          </a:p>
        </p:txBody>
      </p:sp>
      <p:sp>
        <p:nvSpPr>
          <p:cNvPr id="89" name="矩形 88"/>
          <p:cNvSpPr/>
          <p:nvPr/>
        </p:nvSpPr>
        <p:spPr>
          <a:xfrm>
            <a:off x="6497378" y="4449785"/>
            <a:ext cx="2808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>
                <a:solidFill>
                  <a:srgbClr val="FF5050"/>
                </a:solidFill>
              </a:rPr>
              <a:t>0</a:t>
            </a:r>
            <a:endParaRPr lang="zh-CN" altLang="en-US" sz="1350" dirty="0">
              <a:solidFill>
                <a:srgbClr val="FF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89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40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8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8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8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8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8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8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8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8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8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8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8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38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38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38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38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8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8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38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3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38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38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38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38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3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38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38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38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38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500"/>
                                        <p:tgtEl>
                                          <p:spTgt spid="38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38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38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38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13" grpId="0" animBg="1"/>
      <p:bldP spid="384014" grpId="0" animBg="1"/>
      <p:bldP spid="384015" grpId="0" animBg="1"/>
      <p:bldP spid="384016" grpId="0"/>
      <p:bldP spid="384017" grpId="0"/>
      <p:bldP spid="384018" grpId="0"/>
      <p:bldP spid="384022" grpId="0"/>
      <p:bldP spid="384023" grpId="0"/>
      <p:bldP spid="384024" grpId="0" animBg="1"/>
      <p:bldP spid="384026" grpId="0" animBg="1"/>
      <p:bldP spid="384028" grpId="0" animBg="1"/>
      <p:bldP spid="384029" grpId="0" animBg="1"/>
      <p:bldP spid="384030" grpId="0" animBg="1"/>
      <p:bldP spid="384031" grpId="0"/>
      <p:bldP spid="384032" grpId="0" animBg="1"/>
      <p:bldP spid="384033" grpId="0" animBg="1"/>
      <p:bldP spid="384034" grpId="0" animBg="1"/>
      <p:bldP spid="384035" grpId="0" animBg="1"/>
      <p:bldP spid="384036" grpId="0" animBg="1"/>
      <p:bldP spid="384037" grpId="0" animBg="1"/>
      <p:bldP spid="384038" grpId="0" animBg="1"/>
      <p:bldP spid="384039" grpId="0" animBg="1"/>
      <p:bldP spid="384040" grpId="0"/>
      <p:bldP spid="384041" grpId="0" animBg="1"/>
      <p:bldP spid="384042" grpId="0"/>
      <p:bldP spid="384043" grpId="0"/>
      <p:bldP spid="384045" grpId="0" animBg="1"/>
      <p:bldP spid="384046" grpId="0"/>
      <p:bldP spid="384047" grpId="0"/>
      <p:bldP spid="384049" grpId="0" animBg="1"/>
      <p:bldP spid="384050" grpId="0"/>
      <p:bldP spid="384051" grpId="0"/>
      <p:bldP spid="384052" grpId="0" animBg="1"/>
      <p:bldP spid="384053" grpId="0"/>
      <p:bldP spid="384054" grpId="0"/>
      <p:bldP spid="384055" grpId="0"/>
      <p:bldP spid="384056" grpId="0"/>
      <p:bldP spid="384057" grpId="0" animBg="1"/>
      <p:bldP spid="384058" grpId="0" animBg="1"/>
      <p:bldP spid="384059" grpId="0" animBg="1"/>
      <p:bldP spid="384060" grpId="0" animBg="1"/>
      <p:bldP spid="384061" grpId="0" animBg="1"/>
      <p:bldP spid="2" grpId="0"/>
      <p:bldP spid="3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4" grpId="0"/>
      <p:bldP spid="77" grpId="0"/>
      <p:bldP spid="79" grpId="0"/>
      <p:bldP spid="81" grpId="0"/>
      <p:bldP spid="83" grpId="0"/>
      <p:bldP spid="84" grpId="0"/>
      <p:bldP spid="85" grpId="0"/>
      <p:bldP spid="87" grpId="0"/>
      <p:bldP spid="88" grpId="0"/>
      <p:bldP spid="8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差错检验和纠正 </a:t>
            </a:r>
            <a:endParaRPr lang="en-US" altLang="zh-CN" dirty="0"/>
          </a:p>
        </p:txBody>
      </p:sp>
      <p:sp>
        <p:nvSpPr>
          <p:cNvPr id="385027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5.2.3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循环冗余校验：更多用途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CRC32: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压缩文件检验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CRC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可作为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hash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函数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385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211710"/>
            <a:ext cx="5372100" cy="2350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5030" name="Rectangle 6"/>
          <p:cNvSpPr>
            <a:spLocks noChangeArrowheads="1"/>
          </p:cNvSpPr>
          <p:nvPr/>
        </p:nvSpPr>
        <p:spPr bwMode="auto">
          <a:xfrm>
            <a:off x="6805281" y="3219822"/>
            <a:ext cx="432197" cy="59464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1220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5.1 </a:t>
            </a:r>
            <a:r>
              <a:rPr lang="zh-CN" altLang="en-US" sz="2200" dirty="0"/>
              <a:t>链路层概述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5.2 </a:t>
            </a:r>
            <a:r>
              <a:rPr lang="zh-CN" altLang="en-US" sz="2200" dirty="0"/>
              <a:t>差错检验和纠正 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5.3 </a:t>
            </a:r>
            <a:r>
              <a:rPr lang="zh-CN" altLang="en-US" sz="2200" dirty="0"/>
              <a:t>多址访问协议</a:t>
            </a:r>
          </a:p>
        </p:txBody>
      </p:sp>
    </p:spTree>
    <p:extLst>
      <p:ext uri="{BB962C8B-B14F-4D97-AF65-F5344CB8AC3E}">
        <p14:creationId xmlns:p14="http://schemas.microsoft.com/office/powerpoint/2010/main" val="1036723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278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401383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多址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多路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访问链路和协议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78590" name="Rectangle 62"/>
          <p:cNvSpPr>
            <a:spLocks noChangeArrowheads="1"/>
          </p:cNvSpPr>
          <p:nvPr/>
        </p:nvSpPr>
        <p:spPr bwMode="auto">
          <a:xfrm>
            <a:off x="1043854" y="1399675"/>
            <a:ext cx="5829300" cy="225385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两种类型的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点对点链路：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链路一端的单个发送方和另一端的单个接收方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PPP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：拨号接入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HDLC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：高级数据链路控制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广播链路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共享链路和物理媒介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Ethernet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：以太网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802.11 wireless LAN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350" dirty="0" err="1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无线局域网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45827" y="3886861"/>
            <a:ext cx="982991" cy="1148074"/>
            <a:chOff x="4585243" y="4790332"/>
            <a:chExt cx="1310655" cy="1530765"/>
          </a:xfrm>
        </p:grpSpPr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4809702" y="5831732"/>
              <a:ext cx="1086196" cy="489365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050" i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shared RF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050" i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(satellite) </a:t>
              </a:r>
            </a:p>
          </p:txBody>
        </p:sp>
        <p:grpSp>
          <p:nvGrpSpPr>
            <p:cNvPr id="17" name="Group 382"/>
            <p:cNvGrpSpPr>
              <a:grpSpLocks/>
            </p:cNvGrpSpPr>
            <p:nvPr/>
          </p:nvGrpSpPr>
          <p:grpSpPr bwMode="auto">
            <a:xfrm>
              <a:off x="4585243" y="5503119"/>
              <a:ext cx="288925" cy="220663"/>
              <a:chOff x="2274" y="2821"/>
              <a:chExt cx="215" cy="238"/>
            </a:xfrm>
          </p:grpSpPr>
          <p:sp>
            <p:nvSpPr>
              <p:cNvPr id="18" name="Freeform 383"/>
              <p:cNvSpPr>
                <a:spLocks noEditPoints="1"/>
              </p:cNvSpPr>
              <p:nvPr/>
            </p:nvSpPr>
            <p:spPr bwMode="auto">
              <a:xfrm>
                <a:off x="2274" y="3034"/>
                <a:ext cx="215" cy="25"/>
              </a:xfrm>
              <a:custGeom>
                <a:avLst/>
                <a:gdLst>
                  <a:gd name="T0" fmla="*/ 1 w 430"/>
                  <a:gd name="T1" fmla="*/ 1 h 50"/>
                  <a:gd name="T2" fmla="*/ 0 w 430"/>
                  <a:gd name="T3" fmla="*/ 1 h 50"/>
                  <a:gd name="T4" fmla="*/ 0 w 430"/>
                  <a:gd name="T5" fmla="*/ 2 h 50"/>
                  <a:gd name="T6" fmla="*/ 14 w 430"/>
                  <a:gd name="T7" fmla="*/ 2 h 50"/>
                  <a:gd name="T8" fmla="*/ 14 w 430"/>
                  <a:gd name="T9" fmla="*/ 1 h 50"/>
                  <a:gd name="T10" fmla="*/ 12 w 430"/>
                  <a:gd name="T11" fmla="*/ 1 h 50"/>
                  <a:gd name="T12" fmla="*/ 12 w 430"/>
                  <a:gd name="T13" fmla="*/ 0 h 50"/>
                  <a:gd name="T14" fmla="*/ 1 w 430"/>
                  <a:gd name="T15" fmla="*/ 0 h 50"/>
                  <a:gd name="T16" fmla="*/ 1 w 430"/>
                  <a:gd name="T17" fmla="*/ 1 h 50"/>
                  <a:gd name="T18" fmla="*/ 12 w 430"/>
                  <a:gd name="T19" fmla="*/ 1 h 50"/>
                  <a:gd name="T20" fmla="*/ 2 w 430"/>
                  <a:gd name="T21" fmla="*/ 1 h 50"/>
                  <a:gd name="T22" fmla="*/ 12 w 430"/>
                  <a:gd name="T23" fmla="*/ 1 h 5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30" h="5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  <a:close/>
                    <a:moveTo>
                      <a:pt x="376" y="18"/>
                    </a:moveTo>
                    <a:lnTo>
                      <a:pt x="33" y="18"/>
                    </a:lnTo>
                    <a:lnTo>
                      <a:pt x="376" y="18"/>
                    </a:lnTo>
                    <a:close/>
                  </a:path>
                </a:pathLst>
              </a:cu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384"/>
              <p:cNvSpPr>
                <a:spLocks noChangeShapeType="1"/>
              </p:cNvSpPr>
              <p:nvPr/>
            </p:nvSpPr>
            <p:spPr bwMode="auto">
              <a:xfrm>
                <a:off x="2317" y="2951"/>
                <a:ext cx="30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Freeform 385"/>
              <p:cNvSpPr>
                <a:spLocks/>
              </p:cNvSpPr>
              <p:nvPr/>
            </p:nvSpPr>
            <p:spPr bwMode="auto">
              <a:xfrm>
                <a:off x="2317" y="2923"/>
                <a:ext cx="44" cy="109"/>
              </a:xfrm>
              <a:custGeom>
                <a:avLst/>
                <a:gdLst>
                  <a:gd name="T0" fmla="*/ 3 w 87"/>
                  <a:gd name="T1" fmla="*/ 6 h 219"/>
                  <a:gd name="T2" fmla="*/ 0 w 87"/>
                  <a:gd name="T3" fmla="*/ 1 h 219"/>
                  <a:gd name="T4" fmla="*/ 1 w 87"/>
                  <a:gd name="T5" fmla="*/ 0 h 2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219">
                    <a:moveTo>
                      <a:pt x="87" y="219"/>
                    </a:moveTo>
                    <a:lnTo>
                      <a:pt x="0" y="55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386"/>
              <p:cNvSpPr>
                <a:spLocks noChangeShapeType="1"/>
              </p:cNvSpPr>
              <p:nvPr/>
            </p:nvSpPr>
            <p:spPr bwMode="auto">
              <a:xfrm flipV="1">
                <a:off x="2300" y="2951"/>
                <a:ext cx="47" cy="8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Freeform 387"/>
              <p:cNvSpPr>
                <a:spLocks/>
              </p:cNvSpPr>
              <p:nvPr/>
            </p:nvSpPr>
            <p:spPr bwMode="auto">
              <a:xfrm>
                <a:off x="2317" y="3005"/>
                <a:ext cx="86" cy="27"/>
              </a:xfrm>
              <a:custGeom>
                <a:avLst/>
                <a:gdLst>
                  <a:gd name="T0" fmla="*/ 1 w 172"/>
                  <a:gd name="T1" fmla="*/ 1 h 55"/>
                  <a:gd name="T2" fmla="*/ 0 w 172"/>
                  <a:gd name="T3" fmla="*/ 0 h 55"/>
                  <a:gd name="T4" fmla="*/ 6 w 172"/>
                  <a:gd name="T5" fmla="*/ 0 h 55"/>
                  <a:gd name="T6" fmla="*/ 5 w 172"/>
                  <a:gd name="T7" fmla="*/ 1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2" h="55">
                    <a:moveTo>
                      <a:pt x="28" y="55"/>
                    </a:moveTo>
                    <a:lnTo>
                      <a:pt x="0" y="0"/>
                    </a:lnTo>
                    <a:lnTo>
                      <a:pt x="172" y="0"/>
                    </a:lnTo>
                    <a:lnTo>
                      <a:pt x="146" y="55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388"/>
              <p:cNvSpPr>
                <a:spLocks noChangeShapeType="1"/>
              </p:cNvSpPr>
              <p:nvPr/>
            </p:nvSpPr>
            <p:spPr bwMode="auto">
              <a:xfrm flipH="1" flipV="1">
                <a:off x="2375" y="2960"/>
                <a:ext cx="46" cy="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Freeform 389"/>
              <p:cNvSpPr>
                <a:spLocks/>
              </p:cNvSpPr>
              <p:nvPr/>
            </p:nvSpPr>
            <p:spPr bwMode="auto">
              <a:xfrm>
                <a:off x="2274" y="3034"/>
                <a:ext cx="215" cy="25"/>
              </a:xfrm>
              <a:custGeom>
                <a:avLst/>
                <a:gdLst>
                  <a:gd name="T0" fmla="*/ 1 w 430"/>
                  <a:gd name="T1" fmla="*/ 1 h 50"/>
                  <a:gd name="T2" fmla="*/ 0 w 430"/>
                  <a:gd name="T3" fmla="*/ 1 h 50"/>
                  <a:gd name="T4" fmla="*/ 0 w 430"/>
                  <a:gd name="T5" fmla="*/ 2 h 50"/>
                  <a:gd name="T6" fmla="*/ 14 w 430"/>
                  <a:gd name="T7" fmla="*/ 2 h 50"/>
                  <a:gd name="T8" fmla="*/ 14 w 430"/>
                  <a:gd name="T9" fmla="*/ 1 h 50"/>
                  <a:gd name="T10" fmla="*/ 12 w 430"/>
                  <a:gd name="T11" fmla="*/ 1 h 50"/>
                  <a:gd name="T12" fmla="*/ 12 w 430"/>
                  <a:gd name="T13" fmla="*/ 0 h 50"/>
                  <a:gd name="T14" fmla="*/ 1 w 430"/>
                  <a:gd name="T15" fmla="*/ 0 h 50"/>
                  <a:gd name="T16" fmla="*/ 1 w 430"/>
                  <a:gd name="T17" fmla="*/ 1 h 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0" h="5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Freeform 390"/>
              <p:cNvSpPr>
                <a:spLocks/>
              </p:cNvSpPr>
              <p:nvPr/>
            </p:nvSpPr>
            <p:spPr bwMode="auto">
              <a:xfrm>
                <a:off x="2290" y="3043"/>
                <a:ext cx="171" cy="1"/>
              </a:xfrm>
              <a:custGeom>
                <a:avLst/>
                <a:gdLst>
                  <a:gd name="T0" fmla="*/ 10 w 343"/>
                  <a:gd name="T1" fmla="*/ 0 h 1"/>
                  <a:gd name="T2" fmla="*/ 0 w 343"/>
                  <a:gd name="T3" fmla="*/ 0 h 1"/>
                  <a:gd name="T4" fmla="*/ 10 w 34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3" h="1">
                    <a:moveTo>
                      <a:pt x="343" y="0"/>
                    </a:moveTo>
                    <a:lnTo>
                      <a:pt x="0" y="0"/>
                    </a:lnTo>
                    <a:lnTo>
                      <a:pt x="343" y="0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Rectangle 391"/>
              <p:cNvSpPr>
                <a:spLocks noChangeArrowheads="1"/>
              </p:cNvSpPr>
              <p:nvPr/>
            </p:nvSpPr>
            <p:spPr bwMode="auto">
              <a:xfrm>
                <a:off x="2347" y="2951"/>
                <a:ext cx="27" cy="83"/>
              </a:xfrm>
              <a:prstGeom prst="rect">
                <a:avLst/>
              </a:prstGeom>
              <a:solidFill>
                <a:srgbClr val="3333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Freeform 392"/>
              <p:cNvSpPr>
                <a:spLocks noEditPoints="1"/>
              </p:cNvSpPr>
              <p:nvPr/>
            </p:nvSpPr>
            <p:spPr bwMode="auto">
              <a:xfrm>
                <a:off x="2281" y="2821"/>
                <a:ext cx="208" cy="175"/>
              </a:xfrm>
              <a:custGeom>
                <a:avLst/>
                <a:gdLst>
                  <a:gd name="T0" fmla="*/ 1 w 415"/>
                  <a:gd name="T1" fmla="*/ 1 h 350"/>
                  <a:gd name="T2" fmla="*/ 1 w 415"/>
                  <a:gd name="T3" fmla="*/ 3 h 350"/>
                  <a:gd name="T4" fmla="*/ 1 w 415"/>
                  <a:gd name="T5" fmla="*/ 5 h 350"/>
                  <a:gd name="T6" fmla="*/ 2 w 415"/>
                  <a:gd name="T7" fmla="*/ 6 h 350"/>
                  <a:gd name="T8" fmla="*/ 4 w 415"/>
                  <a:gd name="T9" fmla="*/ 8 h 350"/>
                  <a:gd name="T10" fmla="*/ 5 w 415"/>
                  <a:gd name="T11" fmla="*/ 9 h 350"/>
                  <a:gd name="T12" fmla="*/ 7 w 415"/>
                  <a:gd name="T13" fmla="*/ 10 h 350"/>
                  <a:gd name="T14" fmla="*/ 9 w 415"/>
                  <a:gd name="T15" fmla="*/ 11 h 350"/>
                  <a:gd name="T16" fmla="*/ 11 w 415"/>
                  <a:gd name="T17" fmla="*/ 11 h 350"/>
                  <a:gd name="T18" fmla="*/ 12 w 415"/>
                  <a:gd name="T19" fmla="*/ 11 h 350"/>
                  <a:gd name="T20" fmla="*/ 13 w 415"/>
                  <a:gd name="T21" fmla="*/ 10 h 350"/>
                  <a:gd name="T22" fmla="*/ 13 w 415"/>
                  <a:gd name="T23" fmla="*/ 10 h 350"/>
                  <a:gd name="T24" fmla="*/ 12 w 415"/>
                  <a:gd name="T25" fmla="*/ 10 h 350"/>
                  <a:gd name="T26" fmla="*/ 11 w 415"/>
                  <a:gd name="T27" fmla="*/ 10 h 350"/>
                  <a:gd name="T28" fmla="*/ 10 w 415"/>
                  <a:gd name="T29" fmla="*/ 9 h 350"/>
                  <a:gd name="T30" fmla="*/ 8 w 415"/>
                  <a:gd name="T31" fmla="*/ 9 h 350"/>
                  <a:gd name="T32" fmla="*/ 6 w 415"/>
                  <a:gd name="T33" fmla="*/ 7 h 350"/>
                  <a:gd name="T34" fmla="*/ 4 w 415"/>
                  <a:gd name="T35" fmla="*/ 6 h 350"/>
                  <a:gd name="T36" fmla="*/ 3 w 415"/>
                  <a:gd name="T37" fmla="*/ 5 h 350"/>
                  <a:gd name="T38" fmla="*/ 2 w 415"/>
                  <a:gd name="T39" fmla="*/ 3 h 350"/>
                  <a:gd name="T40" fmla="*/ 1 w 415"/>
                  <a:gd name="T41" fmla="*/ 2 h 350"/>
                  <a:gd name="T42" fmla="*/ 1 w 415"/>
                  <a:gd name="T43" fmla="*/ 1 h 350"/>
                  <a:gd name="T44" fmla="*/ 1 w 415"/>
                  <a:gd name="T45" fmla="*/ 1 h 350"/>
                  <a:gd name="T46" fmla="*/ 1 w 415"/>
                  <a:gd name="T47" fmla="*/ 0 h 350"/>
                  <a:gd name="T48" fmla="*/ 2 w 415"/>
                  <a:gd name="T49" fmla="*/ 1 h 350"/>
                  <a:gd name="T50" fmla="*/ 4 w 415"/>
                  <a:gd name="T51" fmla="*/ 1 h 350"/>
                  <a:gd name="T52" fmla="*/ 5 w 415"/>
                  <a:gd name="T53" fmla="*/ 2 h 350"/>
                  <a:gd name="T54" fmla="*/ 7 w 415"/>
                  <a:gd name="T55" fmla="*/ 3 h 350"/>
                  <a:gd name="T56" fmla="*/ 9 w 415"/>
                  <a:gd name="T57" fmla="*/ 4 h 350"/>
                  <a:gd name="T58" fmla="*/ 11 w 415"/>
                  <a:gd name="T59" fmla="*/ 5 h 350"/>
                  <a:gd name="T60" fmla="*/ 12 w 415"/>
                  <a:gd name="T61" fmla="*/ 7 h 350"/>
                  <a:gd name="T62" fmla="*/ 13 w 415"/>
                  <a:gd name="T63" fmla="*/ 8 h 350"/>
                  <a:gd name="T64" fmla="*/ 13 w 415"/>
                  <a:gd name="T65" fmla="*/ 9 h 350"/>
                  <a:gd name="T66" fmla="*/ 13 w 415"/>
                  <a:gd name="T67" fmla="*/ 10 h 350"/>
                  <a:gd name="T68" fmla="*/ 13 w 415"/>
                  <a:gd name="T69" fmla="*/ 10 h 350"/>
                  <a:gd name="T70" fmla="*/ 12 w 415"/>
                  <a:gd name="T71" fmla="*/ 10 h 350"/>
                  <a:gd name="T72" fmla="*/ 11 w 415"/>
                  <a:gd name="T73" fmla="*/ 10 h 350"/>
                  <a:gd name="T74" fmla="*/ 9 w 415"/>
                  <a:gd name="T75" fmla="*/ 9 h 350"/>
                  <a:gd name="T76" fmla="*/ 7 w 415"/>
                  <a:gd name="T77" fmla="*/ 8 h 350"/>
                  <a:gd name="T78" fmla="*/ 5 w 415"/>
                  <a:gd name="T79" fmla="*/ 7 h 350"/>
                  <a:gd name="T80" fmla="*/ 4 w 415"/>
                  <a:gd name="T81" fmla="*/ 5 h 350"/>
                  <a:gd name="T82" fmla="*/ 2 w 415"/>
                  <a:gd name="T83" fmla="*/ 4 h 350"/>
                  <a:gd name="T84" fmla="*/ 1 w 415"/>
                  <a:gd name="T85" fmla="*/ 3 h 350"/>
                  <a:gd name="T86" fmla="*/ 1 w 415"/>
                  <a:gd name="T87" fmla="*/ 2 h 350"/>
                  <a:gd name="T88" fmla="*/ 1 w 415"/>
                  <a:gd name="T89" fmla="*/ 1 h 35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415" h="350">
                    <a:moveTo>
                      <a:pt x="8" y="12"/>
                    </a:moveTo>
                    <a:lnTo>
                      <a:pt x="1" y="32"/>
                    </a:lnTo>
                    <a:lnTo>
                      <a:pt x="0" y="53"/>
                    </a:lnTo>
                    <a:lnTo>
                      <a:pt x="3" y="78"/>
                    </a:lnTo>
                    <a:lnTo>
                      <a:pt x="8" y="103"/>
                    </a:lnTo>
                    <a:lnTo>
                      <a:pt x="18" y="130"/>
                    </a:lnTo>
                    <a:lnTo>
                      <a:pt x="34" y="158"/>
                    </a:lnTo>
                    <a:lnTo>
                      <a:pt x="51" y="185"/>
                    </a:lnTo>
                    <a:lnTo>
                      <a:pt x="73" y="211"/>
                    </a:lnTo>
                    <a:lnTo>
                      <a:pt x="97" y="236"/>
                    </a:lnTo>
                    <a:lnTo>
                      <a:pt x="124" y="261"/>
                    </a:lnTo>
                    <a:lnTo>
                      <a:pt x="151" y="282"/>
                    </a:lnTo>
                    <a:lnTo>
                      <a:pt x="182" y="302"/>
                    </a:lnTo>
                    <a:lnTo>
                      <a:pt x="212" y="318"/>
                    </a:lnTo>
                    <a:lnTo>
                      <a:pt x="242" y="332"/>
                    </a:lnTo>
                    <a:lnTo>
                      <a:pt x="270" y="341"/>
                    </a:lnTo>
                    <a:lnTo>
                      <a:pt x="299" y="346"/>
                    </a:lnTo>
                    <a:lnTo>
                      <a:pt x="325" y="350"/>
                    </a:lnTo>
                    <a:lnTo>
                      <a:pt x="349" y="346"/>
                    </a:lnTo>
                    <a:lnTo>
                      <a:pt x="371" y="341"/>
                    </a:lnTo>
                    <a:lnTo>
                      <a:pt x="388" y="332"/>
                    </a:lnTo>
                    <a:lnTo>
                      <a:pt x="402" y="318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  <a:moveTo>
                      <a:pt x="8" y="12"/>
                    </a:moveTo>
                    <a:lnTo>
                      <a:pt x="14" y="5"/>
                    </a:lnTo>
                    <a:lnTo>
                      <a:pt x="24" y="0"/>
                    </a:lnTo>
                    <a:lnTo>
                      <a:pt x="38" y="0"/>
                    </a:lnTo>
                    <a:lnTo>
                      <a:pt x="56" y="2"/>
                    </a:lnTo>
                    <a:lnTo>
                      <a:pt x="77" y="7"/>
                    </a:lnTo>
                    <a:lnTo>
                      <a:pt x="100" y="16"/>
                    </a:lnTo>
                    <a:lnTo>
                      <a:pt x="126" y="26"/>
                    </a:lnTo>
                    <a:lnTo>
                      <a:pt x="153" y="41"/>
                    </a:lnTo>
                    <a:lnTo>
                      <a:pt x="182" y="57"/>
                    </a:lnTo>
                    <a:lnTo>
                      <a:pt x="210" y="74"/>
                    </a:lnTo>
                    <a:lnTo>
                      <a:pt x="239" y="94"/>
                    </a:lnTo>
                    <a:lnTo>
                      <a:pt x="268" y="115"/>
                    </a:lnTo>
                    <a:lnTo>
                      <a:pt x="295" y="138"/>
                    </a:lnTo>
                    <a:lnTo>
                      <a:pt x="321" y="160"/>
                    </a:lnTo>
                    <a:lnTo>
                      <a:pt x="345" y="183"/>
                    </a:lnTo>
                    <a:lnTo>
                      <a:pt x="365" y="204"/>
                    </a:lnTo>
                    <a:lnTo>
                      <a:pt x="382" y="226"/>
                    </a:lnTo>
                    <a:lnTo>
                      <a:pt x="396" y="245"/>
                    </a:lnTo>
                    <a:lnTo>
                      <a:pt x="406" y="263"/>
                    </a:lnTo>
                    <a:lnTo>
                      <a:pt x="412" y="279"/>
                    </a:lnTo>
                    <a:lnTo>
                      <a:pt x="415" y="291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Line 393"/>
              <p:cNvSpPr>
                <a:spLocks noChangeShapeType="1"/>
              </p:cNvSpPr>
              <p:nvPr/>
            </p:nvSpPr>
            <p:spPr bwMode="auto">
              <a:xfrm flipH="1" flipV="1">
                <a:off x="2285" y="2824"/>
                <a:ext cx="136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394"/>
              <p:cNvSpPr>
                <a:spLocks noChangeShapeType="1"/>
              </p:cNvSpPr>
              <p:nvPr/>
            </p:nvSpPr>
            <p:spPr bwMode="auto">
              <a:xfrm flipH="1">
                <a:off x="2372" y="2826"/>
                <a:ext cx="49" cy="10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395"/>
              <p:cNvSpPr>
                <a:spLocks noChangeShapeType="1"/>
              </p:cNvSpPr>
              <p:nvPr/>
            </p:nvSpPr>
            <p:spPr bwMode="auto">
              <a:xfrm>
                <a:off x="2421" y="2826"/>
                <a:ext cx="67" cy="14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396"/>
              <p:cNvSpPr>
                <a:spLocks/>
              </p:cNvSpPr>
              <p:nvPr/>
            </p:nvSpPr>
            <p:spPr bwMode="auto">
              <a:xfrm>
                <a:off x="2349" y="2902"/>
                <a:ext cx="51" cy="40"/>
              </a:xfrm>
              <a:custGeom>
                <a:avLst/>
                <a:gdLst>
                  <a:gd name="T0" fmla="*/ 0 w 101"/>
                  <a:gd name="T1" fmla="*/ 1 h 80"/>
                  <a:gd name="T2" fmla="*/ 1 w 101"/>
                  <a:gd name="T3" fmla="*/ 0 h 80"/>
                  <a:gd name="T4" fmla="*/ 1 w 101"/>
                  <a:gd name="T5" fmla="*/ 1 h 80"/>
                  <a:gd name="T6" fmla="*/ 1 w 101"/>
                  <a:gd name="T7" fmla="*/ 1 h 80"/>
                  <a:gd name="T8" fmla="*/ 2 w 101"/>
                  <a:gd name="T9" fmla="*/ 1 h 80"/>
                  <a:gd name="T10" fmla="*/ 2 w 101"/>
                  <a:gd name="T11" fmla="*/ 1 h 80"/>
                  <a:gd name="T12" fmla="*/ 3 w 101"/>
                  <a:gd name="T13" fmla="*/ 1 h 80"/>
                  <a:gd name="T14" fmla="*/ 3 w 101"/>
                  <a:gd name="T15" fmla="*/ 2 h 80"/>
                  <a:gd name="T16" fmla="*/ 3 w 101"/>
                  <a:gd name="T17" fmla="*/ 2 h 80"/>
                  <a:gd name="T18" fmla="*/ 4 w 101"/>
                  <a:gd name="T19" fmla="*/ 2 h 80"/>
                  <a:gd name="T20" fmla="*/ 4 w 101"/>
                  <a:gd name="T21" fmla="*/ 3 h 80"/>
                  <a:gd name="T22" fmla="*/ 4 w 101"/>
                  <a:gd name="T23" fmla="*/ 3 h 80"/>
                  <a:gd name="T24" fmla="*/ 4 w 101"/>
                  <a:gd name="T25" fmla="*/ 3 h 80"/>
                  <a:gd name="T26" fmla="*/ 3 w 101"/>
                  <a:gd name="T27" fmla="*/ 3 h 80"/>
                  <a:gd name="T28" fmla="*/ 3 w 101"/>
                  <a:gd name="T29" fmla="*/ 3 h 80"/>
                  <a:gd name="T30" fmla="*/ 3 w 101"/>
                  <a:gd name="T31" fmla="*/ 3 h 80"/>
                  <a:gd name="T32" fmla="*/ 2 w 101"/>
                  <a:gd name="T33" fmla="*/ 2 h 80"/>
                  <a:gd name="T34" fmla="*/ 2 w 101"/>
                  <a:gd name="T35" fmla="*/ 2 h 80"/>
                  <a:gd name="T36" fmla="*/ 1 w 101"/>
                  <a:gd name="T37" fmla="*/ 2 h 80"/>
                  <a:gd name="T38" fmla="*/ 1 w 101"/>
                  <a:gd name="T39" fmla="*/ 1 h 80"/>
                  <a:gd name="T40" fmla="*/ 1 w 101"/>
                  <a:gd name="T41" fmla="*/ 1 h 80"/>
                  <a:gd name="T42" fmla="*/ 0 w 101"/>
                  <a:gd name="T43" fmla="*/ 1 h 80"/>
                  <a:gd name="T44" fmla="*/ 0 w 101"/>
                  <a:gd name="T45" fmla="*/ 1 h 8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01" h="80">
                    <a:moveTo>
                      <a:pt x="0" y="3"/>
                    </a:moveTo>
                    <a:lnTo>
                      <a:pt x="4" y="0"/>
                    </a:lnTo>
                    <a:lnTo>
                      <a:pt x="13" y="1"/>
                    </a:lnTo>
                    <a:lnTo>
                      <a:pt x="24" y="3"/>
                    </a:lnTo>
                    <a:lnTo>
                      <a:pt x="37" y="10"/>
                    </a:lnTo>
                    <a:lnTo>
                      <a:pt x="51" y="19"/>
                    </a:lnTo>
                    <a:lnTo>
                      <a:pt x="66" y="30"/>
                    </a:lnTo>
                    <a:lnTo>
                      <a:pt x="79" y="40"/>
                    </a:lnTo>
                    <a:lnTo>
                      <a:pt x="90" y="51"/>
                    </a:lnTo>
                    <a:lnTo>
                      <a:pt x="97" y="62"/>
                    </a:lnTo>
                    <a:lnTo>
                      <a:pt x="101" y="71"/>
                    </a:lnTo>
                    <a:lnTo>
                      <a:pt x="101" y="76"/>
                    </a:lnTo>
                    <a:lnTo>
                      <a:pt x="97" y="80"/>
                    </a:lnTo>
                    <a:lnTo>
                      <a:pt x="90" y="78"/>
                    </a:lnTo>
                    <a:lnTo>
                      <a:pt x="79" y="74"/>
                    </a:lnTo>
                    <a:lnTo>
                      <a:pt x="66" y="69"/>
                    </a:lnTo>
                    <a:lnTo>
                      <a:pt x="51" y="60"/>
                    </a:lnTo>
                    <a:lnTo>
                      <a:pt x="37" y="49"/>
                    </a:lnTo>
                    <a:lnTo>
                      <a:pt x="23" y="39"/>
                    </a:lnTo>
                    <a:lnTo>
                      <a:pt x="13" y="28"/>
                    </a:lnTo>
                    <a:lnTo>
                      <a:pt x="4" y="17"/>
                    </a:lnTo>
                    <a:lnTo>
                      <a:pt x="0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" name="Group 398"/>
            <p:cNvGrpSpPr>
              <a:grpSpLocks/>
            </p:cNvGrpSpPr>
            <p:nvPr/>
          </p:nvGrpSpPr>
          <p:grpSpPr bwMode="auto">
            <a:xfrm>
              <a:off x="5091655" y="5484069"/>
              <a:ext cx="223838" cy="254000"/>
              <a:chOff x="2274" y="2821"/>
              <a:chExt cx="215" cy="238"/>
            </a:xfrm>
          </p:grpSpPr>
          <p:sp>
            <p:nvSpPr>
              <p:cNvPr id="33" name="Freeform 399"/>
              <p:cNvSpPr>
                <a:spLocks noEditPoints="1"/>
              </p:cNvSpPr>
              <p:nvPr/>
            </p:nvSpPr>
            <p:spPr bwMode="auto">
              <a:xfrm>
                <a:off x="2274" y="3034"/>
                <a:ext cx="215" cy="25"/>
              </a:xfrm>
              <a:custGeom>
                <a:avLst/>
                <a:gdLst>
                  <a:gd name="T0" fmla="*/ 1 w 430"/>
                  <a:gd name="T1" fmla="*/ 1 h 50"/>
                  <a:gd name="T2" fmla="*/ 0 w 430"/>
                  <a:gd name="T3" fmla="*/ 1 h 50"/>
                  <a:gd name="T4" fmla="*/ 0 w 430"/>
                  <a:gd name="T5" fmla="*/ 2 h 50"/>
                  <a:gd name="T6" fmla="*/ 14 w 430"/>
                  <a:gd name="T7" fmla="*/ 2 h 50"/>
                  <a:gd name="T8" fmla="*/ 14 w 430"/>
                  <a:gd name="T9" fmla="*/ 1 h 50"/>
                  <a:gd name="T10" fmla="*/ 12 w 430"/>
                  <a:gd name="T11" fmla="*/ 1 h 50"/>
                  <a:gd name="T12" fmla="*/ 12 w 430"/>
                  <a:gd name="T13" fmla="*/ 0 h 50"/>
                  <a:gd name="T14" fmla="*/ 1 w 430"/>
                  <a:gd name="T15" fmla="*/ 0 h 50"/>
                  <a:gd name="T16" fmla="*/ 1 w 430"/>
                  <a:gd name="T17" fmla="*/ 1 h 50"/>
                  <a:gd name="T18" fmla="*/ 12 w 430"/>
                  <a:gd name="T19" fmla="*/ 1 h 50"/>
                  <a:gd name="T20" fmla="*/ 2 w 430"/>
                  <a:gd name="T21" fmla="*/ 1 h 50"/>
                  <a:gd name="T22" fmla="*/ 12 w 430"/>
                  <a:gd name="T23" fmla="*/ 1 h 5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30" h="5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  <a:close/>
                    <a:moveTo>
                      <a:pt x="376" y="18"/>
                    </a:moveTo>
                    <a:lnTo>
                      <a:pt x="33" y="18"/>
                    </a:lnTo>
                    <a:lnTo>
                      <a:pt x="376" y="18"/>
                    </a:lnTo>
                    <a:close/>
                  </a:path>
                </a:pathLst>
              </a:cu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400"/>
              <p:cNvSpPr>
                <a:spLocks noChangeShapeType="1"/>
              </p:cNvSpPr>
              <p:nvPr/>
            </p:nvSpPr>
            <p:spPr bwMode="auto">
              <a:xfrm>
                <a:off x="2317" y="2951"/>
                <a:ext cx="30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Freeform 401"/>
              <p:cNvSpPr>
                <a:spLocks/>
              </p:cNvSpPr>
              <p:nvPr/>
            </p:nvSpPr>
            <p:spPr bwMode="auto">
              <a:xfrm>
                <a:off x="2317" y="2923"/>
                <a:ext cx="44" cy="109"/>
              </a:xfrm>
              <a:custGeom>
                <a:avLst/>
                <a:gdLst>
                  <a:gd name="T0" fmla="*/ 3 w 87"/>
                  <a:gd name="T1" fmla="*/ 6 h 219"/>
                  <a:gd name="T2" fmla="*/ 0 w 87"/>
                  <a:gd name="T3" fmla="*/ 1 h 219"/>
                  <a:gd name="T4" fmla="*/ 1 w 87"/>
                  <a:gd name="T5" fmla="*/ 0 h 2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219">
                    <a:moveTo>
                      <a:pt x="87" y="219"/>
                    </a:moveTo>
                    <a:lnTo>
                      <a:pt x="0" y="55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Line 402"/>
              <p:cNvSpPr>
                <a:spLocks noChangeShapeType="1"/>
              </p:cNvSpPr>
              <p:nvPr/>
            </p:nvSpPr>
            <p:spPr bwMode="auto">
              <a:xfrm flipV="1">
                <a:off x="2300" y="2951"/>
                <a:ext cx="47" cy="8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Freeform 403"/>
              <p:cNvSpPr>
                <a:spLocks/>
              </p:cNvSpPr>
              <p:nvPr/>
            </p:nvSpPr>
            <p:spPr bwMode="auto">
              <a:xfrm>
                <a:off x="2317" y="3005"/>
                <a:ext cx="86" cy="27"/>
              </a:xfrm>
              <a:custGeom>
                <a:avLst/>
                <a:gdLst>
                  <a:gd name="T0" fmla="*/ 1 w 172"/>
                  <a:gd name="T1" fmla="*/ 1 h 55"/>
                  <a:gd name="T2" fmla="*/ 0 w 172"/>
                  <a:gd name="T3" fmla="*/ 0 h 55"/>
                  <a:gd name="T4" fmla="*/ 6 w 172"/>
                  <a:gd name="T5" fmla="*/ 0 h 55"/>
                  <a:gd name="T6" fmla="*/ 5 w 172"/>
                  <a:gd name="T7" fmla="*/ 1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2" h="55">
                    <a:moveTo>
                      <a:pt x="28" y="55"/>
                    </a:moveTo>
                    <a:lnTo>
                      <a:pt x="0" y="0"/>
                    </a:lnTo>
                    <a:lnTo>
                      <a:pt x="172" y="0"/>
                    </a:lnTo>
                    <a:lnTo>
                      <a:pt x="146" y="55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404"/>
              <p:cNvSpPr>
                <a:spLocks noChangeShapeType="1"/>
              </p:cNvSpPr>
              <p:nvPr/>
            </p:nvSpPr>
            <p:spPr bwMode="auto">
              <a:xfrm flipH="1" flipV="1">
                <a:off x="2375" y="2960"/>
                <a:ext cx="46" cy="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Freeform 405"/>
              <p:cNvSpPr>
                <a:spLocks/>
              </p:cNvSpPr>
              <p:nvPr/>
            </p:nvSpPr>
            <p:spPr bwMode="auto">
              <a:xfrm>
                <a:off x="2274" y="3034"/>
                <a:ext cx="215" cy="25"/>
              </a:xfrm>
              <a:custGeom>
                <a:avLst/>
                <a:gdLst>
                  <a:gd name="T0" fmla="*/ 1 w 430"/>
                  <a:gd name="T1" fmla="*/ 1 h 50"/>
                  <a:gd name="T2" fmla="*/ 0 w 430"/>
                  <a:gd name="T3" fmla="*/ 1 h 50"/>
                  <a:gd name="T4" fmla="*/ 0 w 430"/>
                  <a:gd name="T5" fmla="*/ 2 h 50"/>
                  <a:gd name="T6" fmla="*/ 14 w 430"/>
                  <a:gd name="T7" fmla="*/ 2 h 50"/>
                  <a:gd name="T8" fmla="*/ 14 w 430"/>
                  <a:gd name="T9" fmla="*/ 1 h 50"/>
                  <a:gd name="T10" fmla="*/ 12 w 430"/>
                  <a:gd name="T11" fmla="*/ 1 h 50"/>
                  <a:gd name="T12" fmla="*/ 12 w 430"/>
                  <a:gd name="T13" fmla="*/ 0 h 50"/>
                  <a:gd name="T14" fmla="*/ 1 w 430"/>
                  <a:gd name="T15" fmla="*/ 0 h 50"/>
                  <a:gd name="T16" fmla="*/ 1 w 430"/>
                  <a:gd name="T17" fmla="*/ 1 h 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0" h="5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Freeform 406"/>
              <p:cNvSpPr>
                <a:spLocks/>
              </p:cNvSpPr>
              <p:nvPr/>
            </p:nvSpPr>
            <p:spPr bwMode="auto">
              <a:xfrm>
                <a:off x="2290" y="3043"/>
                <a:ext cx="171" cy="1"/>
              </a:xfrm>
              <a:custGeom>
                <a:avLst/>
                <a:gdLst>
                  <a:gd name="T0" fmla="*/ 10 w 343"/>
                  <a:gd name="T1" fmla="*/ 0 h 1"/>
                  <a:gd name="T2" fmla="*/ 0 w 343"/>
                  <a:gd name="T3" fmla="*/ 0 h 1"/>
                  <a:gd name="T4" fmla="*/ 10 w 34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3" h="1">
                    <a:moveTo>
                      <a:pt x="343" y="0"/>
                    </a:moveTo>
                    <a:lnTo>
                      <a:pt x="0" y="0"/>
                    </a:lnTo>
                    <a:lnTo>
                      <a:pt x="343" y="0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Rectangle 407"/>
              <p:cNvSpPr>
                <a:spLocks noChangeArrowheads="1"/>
              </p:cNvSpPr>
              <p:nvPr/>
            </p:nvSpPr>
            <p:spPr bwMode="auto">
              <a:xfrm>
                <a:off x="2347" y="2951"/>
                <a:ext cx="27" cy="83"/>
              </a:xfrm>
              <a:prstGeom prst="rect">
                <a:avLst/>
              </a:prstGeom>
              <a:solidFill>
                <a:srgbClr val="3333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Freeform 408"/>
              <p:cNvSpPr>
                <a:spLocks noEditPoints="1"/>
              </p:cNvSpPr>
              <p:nvPr/>
            </p:nvSpPr>
            <p:spPr bwMode="auto">
              <a:xfrm>
                <a:off x="2281" y="2821"/>
                <a:ext cx="208" cy="175"/>
              </a:xfrm>
              <a:custGeom>
                <a:avLst/>
                <a:gdLst>
                  <a:gd name="T0" fmla="*/ 1 w 415"/>
                  <a:gd name="T1" fmla="*/ 1 h 350"/>
                  <a:gd name="T2" fmla="*/ 1 w 415"/>
                  <a:gd name="T3" fmla="*/ 3 h 350"/>
                  <a:gd name="T4" fmla="*/ 1 w 415"/>
                  <a:gd name="T5" fmla="*/ 5 h 350"/>
                  <a:gd name="T6" fmla="*/ 2 w 415"/>
                  <a:gd name="T7" fmla="*/ 6 h 350"/>
                  <a:gd name="T8" fmla="*/ 4 w 415"/>
                  <a:gd name="T9" fmla="*/ 8 h 350"/>
                  <a:gd name="T10" fmla="*/ 5 w 415"/>
                  <a:gd name="T11" fmla="*/ 9 h 350"/>
                  <a:gd name="T12" fmla="*/ 7 w 415"/>
                  <a:gd name="T13" fmla="*/ 10 h 350"/>
                  <a:gd name="T14" fmla="*/ 9 w 415"/>
                  <a:gd name="T15" fmla="*/ 11 h 350"/>
                  <a:gd name="T16" fmla="*/ 11 w 415"/>
                  <a:gd name="T17" fmla="*/ 11 h 350"/>
                  <a:gd name="T18" fmla="*/ 12 w 415"/>
                  <a:gd name="T19" fmla="*/ 11 h 350"/>
                  <a:gd name="T20" fmla="*/ 13 w 415"/>
                  <a:gd name="T21" fmla="*/ 10 h 350"/>
                  <a:gd name="T22" fmla="*/ 13 w 415"/>
                  <a:gd name="T23" fmla="*/ 10 h 350"/>
                  <a:gd name="T24" fmla="*/ 12 w 415"/>
                  <a:gd name="T25" fmla="*/ 10 h 350"/>
                  <a:gd name="T26" fmla="*/ 11 w 415"/>
                  <a:gd name="T27" fmla="*/ 10 h 350"/>
                  <a:gd name="T28" fmla="*/ 10 w 415"/>
                  <a:gd name="T29" fmla="*/ 9 h 350"/>
                  <a:gd name="T30" fmla="*/ 8 w 415"/>
                  <a:gd name="T31" fmla="*/ 9 h 350"/>
                  <a:gd name="T32" fmla="*/ 6 w 415"/>
                  <a:gd name="T33" fmla="*/ 7 h 350"/>
                  <a:gd name="T34" fmla="*/ 4 w 415"/>
                  <a:gd name="T35" fmla="*/ 6 h 350"/>
                  <a:gd name="T36" fmla="*/ 3 w 415"/>
                  <a:gd name="T37" fmla="*/ 5 h 350"/>
                  <a:gd name="T38" fmla="*/ 2 w 415"/>
                  <a:gd name="T39" fmla="*/ 3 h 350"/>
                  <a:gd name="T40" fmla="*/ 1 w 415"/>
                  <a:gd name="T41" fmla="*/ 2 h 350"/>
                  <a:gd name="T42" fmla="*/ 1 w 415"/>
                  <a:gd name="T43" fmla="*/ 1 h 350"/>
                  <a:gd name="T44" fmla="*/ 1 w 415"/>
                  <a:gd name="T45" fmla="*/ 1 h 350"/>
                  <a:gd name="T46" fmla="*/ 1 w 415"/>
                  <a:gd name="T47" fmla="*/ 0 h 350"/>
                  <a:gd name="T48" fmla="*/ 2 w 415"/>
                  <a:gd name="T49" fmla="*/ 1 h 350"/>
                  <a:gd name="T50" fmla="*/ 4 w 415"/>
                  <a:gd name="T51" fmla="*/ 1 h 350"/>
                  <a:gd name="T52" fmla="*/ 5 w 415"/>
                  <a:gd name="T53" fmla="*/ 2 h 350"/>
                  <a:gd name="T54" fmla="*/ 7 w 415"/>
                  <a:gd name="T55" fmla="*/ 3 h 350"/>
                  <a:gd name="T56" fmla="*/ 9 w 415"/>
                  <a:gd name="T57" fmla="*/ 4 h 350"/>
                  <a:gd name="T58" fmla="*/ 11 w 415"/>
                  <a:gd name="T59" fmla="*/ 5 h 350"/>
                  <a:gd name="T60" fmla="*/ 12 w 415"/>
                  <a:gd name="T61" fmla="*/ 7 h 350"/>
                  <a:gd name="T62" fmla="*/ 13 w 415"/>
                  <a:gd name="T63" fmla="*/ 8 h 350"/>
                  <a:gd name="T64" fmla="*/ 13 w 415"/>
                  <a:gd name="T65" fmla="*/ 9 h 350"/>
                  <a:gd name="T66" fmla="*/ 13 w 415"/>
                  <a:gd name="T67" fmla="*/ 10 h 350"/>
                  <a:gd name="T68" fmla="*/ 13 w 415"/>
                  <a:gd name="T69" fmla="*/ 10 h 350"/>
                  <a:gd name="T70" fmla="*/ 12 w 415"/>
                  <a:gd name="T71" fmla="*/ 10 h 350"/>
                  <a:gd name="T72" fmla="*/ 11 w 415"/>
                  <a:gd name="T73" fmla="*/ 10 h 350"/>
                  <a:gd name="T74" fmla="*/ 9 w 415"/>
                  <a:gd name="T75" fmla="*/ 9 h 350"/>
                  <a:gd name="T76" fmla="*/ 7 w 415"/>
                  <a:gd name="T77" fmla="*/ 8 h 350"/>
                  <a:gd name="T78" fmla="*/ 5 w 415"/>
                  <a:gd name="T79" fmla="*/ 7 h 350"/>
                  <a:gd name="T80" fmla="*/ 4 w 415"/>
                  <a:gd name="T81" fmla="*/ 5 h 350"/>
                  <a:gd name="T82" fmla="*/ 2 w 415"/>
                  <a:gd name="T83" fmla="*/ 4 h 350"/>
                  <a:gd name="T84" fmla="*/ 1 w 415"/>
                  <a:gd name="T85" fmla="*/ 3 h 350"/>
                  <a:gd name="T86" fmla="*/ 1 w 415"/>
                  <a:gd name="T87" fmla="*/ 2 h 350"/>
                  <a:gd name="T88" fmla="*/ 1 w 415"/>
                  <a:gd name="T89" fmla="*/ 1 h 35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415" h="350">
                    <a:moveTo>
                      <a:pt x="8" y="12"/>
                    </a:moveTo>
                    <a:lnTo>
                      <a:pt x="1" y="32"/>
                    </a:lnTo>
                    <a:lnTo>
                      <a:pt x="0" y="53"/>
                    </a:lnTo>
                    <a:lnTo>
                      <a:pt x="3" y="78"/>
                    </a:lnTo>
                    <a:lnTo>
                      <a:pt x="8" y="103"/>
                    </a:lnTo>
                    <a:lnTo>
                      <a:pt x="18" y="130"/>
                    </a:lnTo>
                    <a:lnTo>
                      <a:pt x="34" y="158"/>
                    </a:lnTo>
                    <a:lnTo>
                      <a:pt x="51" y="185"/>
                    </a:lnTo>
                    <a:lnTo>
                      <a:pt x="73" y="211"/>
                    </a:lnTo>
                    <a:lnTo>
                      <a:pt x="97" y="236"/>
                    </a:lnTo>
                    <a:lnTo>
                      <a:pt x="124" y="261"/>
                    </a:lnTo>
                    <a:lnTo>
                      <a:pt x="151" y="282"/>
                    </a:lnTo>
                    <a:lnTo>
                      <a:pt x="182" y="302"/>
                    </a:lnTo>
                    <a:lnTo>
                      <a:pt x="212" y="318"/>
                    </a:lnTo>
                    <a:lnTo>
                      <a:pt x="242" y="332"/>
                    </a:lnTo>
                    <a:lnTo>
                      <a:pt x="270" y="341"/>
                    </a:lnTo>
                    <a:lnTo>
                      <a:pt x="299" y="346"/>
                    </a:lnTo>
                    <a:lnTo>
                      <a:pt x="325" y="350"/>
                    </a:lnTo>
                    <a:lnTo>
                      <a:pt x="349" y="346"/>
                    </a:lnTo>
                    <a:lnTo>
                      <a:pt x="371" y="341"/>
                    </a:lnTo>
                    <a:lnTo>
                      <a:pt x="388" y="332"/>
                    </a:lnTo>
                    <a:lnTo>
                      <a:pt x="402" y="318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  <a:moveTo>
                      <a:pt x="8" y="12"/>
                    </a:moveTo>
                    <a:lnTo>
                      <a:pt x="14" y="5"/>
                    </a:lnTo>
                    <a:lnTo>
                      <a:pt x="24" y="0"/>
                    </a:lnTo>
                    <a:lnTo>
                      <a:pt x="38" y="0"/>
                    </a:lnTo>
                    <a:lnTo>
                      <a:pt x="56" y="2"/>
                    </a:lnTo>
                    <a:lnTo>
                      <a:pt x="77" y="7"/>
                    </a:lnTo>
                    <a:lnTo>
                      <a:pt x="100" y="16"/>
                    </a:lnTo>
                    <a:lnTo>
                      <a:pt x="126" y="26"/>
                    </a:lnTo>
                    <a:lnTo>
                      <a:pt x="153" y="41"/>
                    </a:lnTo>
                    <a:lnTo>
                      <a:pt x="182" y="57"/>
                    </a:lnTo>
                    <a:lnTo>
                      <a:pt x="210" y="74"/>
                    </a:lnTo>
                    <a:lnTo>
                      <a:pt x="239" y="94"/>
                    </a:lnTo>
                    <a:lnTo>
                      <a:pt x="268" y="115"/>
                    </a:lnTo>
                    <a:lnTo>
                      <a:pt x="295" y="138"/>
                    </a:lnTo>
                    <a:lnTo>
                      <a:pt x="321" y="160"/>
                    </a:lnTo>
                    <a:lnTo>
                      <a:pt x="345" y="183"/>
                    </a:lnTo>
                    <a:lnTo>
                      <a:pt x="365" y="204"/>
                    </a:lnTo>
                    <a:lnTo>
                      <a:pt x="382" y="226"/>
                    </a:lnTo>
                    <a:lnTo>
                      <a:pt x="396" y="245"/>
                    </a:lnTo>
                    <a:lnTo>
                      <a:pt x="406" y="263"/>
                    </a:lnTo>
                    <a:lnTo>
                      <a:pt x="412" y="279"/>
                    </a:lnTo>
                    <a:lnTo>
                      <a:pt x="415" y="291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409"/>
              <p:cNvSpPr>
                <a:spLocks noChangeShapeType="1"/>
              </p:cNvSpPr>
              <p:nvPr/>
            </p:nvSpPr>
            <p:spPr bwMode="auto">
              <a:xfrm flipH="1" flipV="1">
                <a:off x="2285" y="2824"/>
                <a:ext cx="136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Line 410"/>
              <p:cNvSpPr>
                <a:spLocks noChangeShapeType="1"/>
              </p:cNvSpPr>
              <p:nvPr/>
            </p:nvSpPr>
            <p:spPr bwMode="auto">
              <a:xfrm flipH="1">
                <a:off x="2372" y="2826"/>
                <a:ext cx="49" cy="10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411"/>
              <p:cNvSpPr>
                <a:spLocks noChangeShapeType="1"/>
              </p:cNvSpPr>
              <p:nvPr/>
            </p:nvSpPr>
            <p:spPr bwMode="auto">
              <a:xfrm>
                <a:off x="2421" y="2826"/>
                <a:ext cx="67" cy="14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412"/>
              <p:cNvSpPr>
                <a:spLocks/>
              </p:cNvSpPr>
              <p:nvPr/>
            </p:nvSpPr>
            <p:spPr bwMode="auto">
              <a:xfrm>
                <a:off x="2349" y="2902"/>
                <a:ext cx="51" cy="40"/>
              </a:xfrm>
              <a:custGeom>
                <a:avLst/>
                <a:gdLst>
                  <a:gd name="T0" fmla="*/ 0 w 101"/>
                  <a:gd name="T1" fmla="*/ 1 h 80"/>
                  <a:gd name="T2" fmla="*/ 1 w 101"/>
                  <a:gd name="T3" fmla="*/ 0 h 80"/>
                  <a:gd name="T4" fmla="*/ 1 w 101"/>
                  <a:gd name="T5" fmla="*/ 1 h 80"/>
                  <a:gd name="T6" fmla="*/ 1 w 101"/>
                  <a:gd name="T7" fmla="*/ 1 h 80"/>
                  <a:gd name="T8" fmla="*/ 2 w 101"/>
                  <a:gd name="T9" fmla="*/ 1 h 80"/>
                  <a:gd name="T10" fmla="*/ 2 w 101"/>
                  <a:gd name="T11" fmla="*/ 1 h 80"/>
                  <a:gd name="T12" fmla="*/ 3 w 101"/>
                  <a:gd name="T13" fmla="*/ 1 h 80"/>
                  <a:gd name="T14" fmla="*/ 3 w 101"/>
                  <a:gd name="T15" fmla="*/ 2 h 80"/>
                  <a:gd name="T16" fmla="*/ 3 w 101"/>
                  <a:gd name="T17" fmla="*/ 2 h 80"/>
                  <a:gd name="T18" fmla="*/ 4 w 101"/>
                  <a:gd name="T19" fmla="*/ 2 h 80"/>
                  <a:gd name="T20" fmla="*/ 4 w 101"/>
                  <a:gd name="T21" fmla="*/ 3 h 80"/>
                  <a:gd name="T22" fmla="*/ 4 w 101"/>
                  <a:gd name="T23" fmla="*/ 3 h 80"/>
                  <a:gd name="T24" fmla="*/ 4 w 101"/>
                  <a:gd name="T25" fmla="*/ 3 h 80"/>
                  <a:gd name="T26" fmla="*/ 3 w 101"/>
                  <a:gd name="T27" fmla="*/ 3 h 80"/>
                  <a:gd name="T28" fmla="*/ 3 w 101"/>
                  <a:gd name="T29" fmla="*/ 3 h 80"/>
                  <a:gd name="T30" fmla="*/ 3 w 101"/>
                  <a:gd name="T31" fmla="*/ 3 h 80"/>
                  <a:gd name="T32" fmla="*/ 2 w 101"/>
                  <a:gd name="T33" fmla="*/ 2 h 80"/>
                  <a:gd name="T34" fmla="*/ 2 w 101"/>
                  <a:gd name="T35" fmla="*/ 2 h 80"/>
                  <a:gd name="T36" fmla="*/ 1 w 101"/>
                  <a:gd name="T37" fmla="*/ 2 h 80"/>
                  <a:gd name="T38" fmla="*/ 1 w 101"/>
                  <a:gd name="T39" fmla="*/ 1 h 80"/>
                  <a:gd name="T40" fmla="*/ 1 w 101"/>
                  <a:gd name="T41" fmla="*/ 1 h 80"/>
                  <a:gd name="T42" fmla="*/ 0 w 101"/>
                  <a:gd name="T43" fmla="*/ 1 h 80"/>
                  <a:gd name="T44" fmla="*/ 0 w 101"/>
                  <a:gd name="T45" fmla="*/ 1 h 8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01" h="80">
                    <a:moveTo>
                      <a:pt x="0" y="3"/>
                    </a:moveTo>
                    <a:lnTo>
                      <a:pt x="4" y="0"/>
                    </a:lnTo>
                    <a:lnTo>
                      <a:pt x="13" y="1"/>
                    </a:lnTo>
                    <a:lnTo>
                      <a:pt x="24" y="3"/>
                    </a:lnTo>
                    <a:lnTo>
                      <a:pt x="37" y="10"/>
                    </a:lnTo>
                    <a:lnTo>
                      <a:pt x="51" y="19"/>
                    </a:lnTo>
                    <a:lnTo>
                      <a:pt x="66" y="30"/>
                    </a:lnTo>
                    <a:lnTo>
                      <a:pt x="79" y="40"/>
                    </a:lnTo>
                    <a:lnTo>
                      <a:pt x="90" y="51"/>
                    </a:lnTo>
                    <a:lnTo>
                      <a:pt x="97" y="62"/>
                    </a:lnTo>
                    <a:lnTo>
                      <a:pt x="101" y="71"/>
                    </a:lnTo>
                    <a:lnTo>
                      <a:pt x="101" y="76"/>
                    </a:lnTo>
                    <a:lnTo>
                      <a:pt x="97" y="80"/>
                    </a:lnTo>
                    <a:lnTo>
                      <a:pt x="90" y="78"/>
                    </a:lnTo>
                    <a:lnTo>
                      <a:pt x="79" y="74"/>
                    </a:lnTo>
                    <a:lnTo>
                      <a:pt x="66" y="69"/>
                    </a:lnTo>
                    <a:lnTo>
                      <a:pt x="51" y="60"/>
                    </a:lnTo>
                    <a:lnTo>
                      <a:pt x="37" y="49"/>
                    </a:lnTo>
                    <a:lnTo>
                      <a:pt x="23" y="39"/>
                    </a:lnTo>
                    <a:lnTo>
                      <a:pt x="13" y="28"/>
                    </a:lnTo>
                    <a:lnTo>
                      <a:pt x="4" y="17"/>
                    </a:lnTo>
                    <a:lnTo>
                      <a:pt x="0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Group 413"/>
            <p:cNvGrpSpPr>
              <a:grpSpLocks/>
            </p:cNvGrpSpPr>
            <p:nvPr/>
          </p:nvGrpSpPr>
          <p:grpSpPr bwMode="auto">
            <a:xfrm flipH="1">
              <a:off x="5471068" y="5512644"/>
              <a:ext cx="298450" cy="211138"/>
              <a:chOff x="2274" y="2821"/>
              <a:chExt cx="215" cy="238"/>
            </a:xfrm>
          </p:grpSpPr>
          <p:sp>
            <p:nvSpPr>
              <p:cNvPr id="48" name="Freeform 414"/>
              <p:cNvSpPr>
                <a:spLocks noEditPoints="1"/>
              </p:cNvSpPr>
              <p:nvPr/>
            </p:nvSpPr>
            <p:spPr bwMode="auto">
              <a:xfrm>
                <a:off x="2274" y="3034"/>
                <a:ext cx="215" cy="25"/>
              </a:xfrm>
              <a:custGeom>
                <a:avLst/>
                <a:gdLst>
                  <a:gd name="T0" fmla="*/ 1 w 430"/>
                  <a:gd name="T1" fmla="*/ 1 h 50"/>
                  <a:gd name="T2" fmla="*/ 0 w 430"/>
                  <a:gd name="T3" fmla="*/ 1 h 50"/>
                  <a:gd name="T4" fmla="*/ 0 w 430"/>
                  <a:gd name="T5" fmla="*/ 2 h 50"/>
                  <a:gd name="T6" fmla="*/ 14 w 430"/>
                  <a:gd name="T7" fmla="*/ 2 h 50"/>
                  <a:gd name="T8" fmla="*/ 14 w 430"/>
                  <a:gd name="T9" fmla="*/ 1 h 50"/>
                  <a:gd name="T10" fmla="*/ 12 w 430"/>
                  <a:gd name="T11" fmla="*/ 1 h 50"/>
                  <a:gd name="T12" fmla="*/ 12 w 430"/>
                  <a:gd name="T13" fmla="*/ 0 h 50"/>
                  <a:gd name="T14" fmla="*/ 1 w 430"/>
                  <a:gd name="T15" fmla="*/ 0 h 50"/>
                  <a:gd name="T16" fmla="*/ 1 w 430"/>
                  <a:gd name="T17" fmla="*/ 1 h 50"/>
                  <a:gd name="T18" fmla="*/ 12 w 430"/>
                  <a:gd name="T19" fmla="*/ 1 h 50"/>
                  <a:gd name="T20" fmla="*/ 2 w 430"/>
                  <a:gd name="T21" fmla="*/ 1 h 50"/>
                  <a:gd name="T22" fmla="*/ 12 w 430"/>
                  <a:gd name="T23" fmla="*/ 1 h 5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30" h="5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  <a:close/>
                    <a:moveTo>
                      <a:pt x="376" y="18"/>
                    </a:moveTo>
                    <a:lnTo>
                      <a:pt x="33" y="18"/>
                    </a:lnTo>
                    <a:lnTo>
                      <a:pt x="376" y="18"/>
                    </a:lnTo>
                    <a:close/>
                  </a:path>
                </a:pathLst>
              </a:cu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Line 415"/>
              <p:cNvSpPr>
                <a:spLocks noChangeShapeType="1"/>
              </p:cNvSpPr>
              <p:nvPr/>
            </p:nvSpPr>
            <p:spPr bwMode="auto">
              <a:xfrm>
                <a:off x="2317" y="2951"/>
                <a:ext cx="30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Freeform 416"/>
              <p:cNvSpPr>
                <a:spLocks/>
              </p:cNvSpPr>
              <p:nvPr/>
            </p:nvSpPr>
            <p:spPr bwMode="auto">
              <a:xfrm>
                <a:off x="2317" y="2923"/>
                <a:ext cx="44" cy="109"/>
              </a:xfrm>
              <a:custGeom>
                <a:avLst/>
                <a:gdLst>
                  <a:gd name="T0" fmla="*/ 3 w 87"/>
                  <a:gd name="T1" fmla="*/ 6 h 219"/>
                  <a:gd name="T2" fmla="*/ 0 w 87"/>
                  <a:gd name="T3" fmla="*/ 1 h 219"/>
                  <a:gd name="T4" fmla="*/ 1 w 87"/>
                  <a:gd name="T5" fmla="*/ 0 h 2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219">
                    <a:moveTo>
                      <a:pt x="87" y="219"/>
                    </a:moveTo>
                    <a:lnTo>
                      <a:pt x="0" y="55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417"/>
              <p:cNvSpPr>
                <a:spLocks noChangeShapeType="1"/>
              </p:cNvSpPr>
              <p:nvPr/>
            </p:nvSpPr>
            <p:spPr bwMode="auto">
              <a:xfrm flipV="1">
                <a:off x="2300" y="2951"/>
                <a:ext cx="47" cy="8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Freeform 418"/>
              <p:cNvSpPr>
                <a:spLocks/>
              </p:cNvSpPr>
              <p:nvPr/>
            </p:nvSpPr>
            <p:spPr bwMode="auto">
              <a:xfrm>
                <a:off x="2317" y="3005"/>
                <a:ext cx="86" cy="27"/>
              </a:xfrm>
              <a:custGeom>
                <a:avLst/>
                <a:gdLst>
                  <a:gd name="T0" fmla="*/ 1 w 172"/>
                  <a:gd name="T1" fmla="*/ 1 h 55"/>
                  <a:gd name="T2" fmla="*/ 0 w 172"/>
                  <a:gd name="T3" fmla="*/ 0 h 55"/>
                  <a:gd name="T4" fmla="*/ 6 w 172"/>
                  <a:gd name="T5" fmla="*/ 0 h 55"/>
                  <a:gd name="T6" fmla="*/ 5 w 172"/>
                  <a:gd name="T7" fmla="*/ 1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2" h="55">
                    <a:moveTo>
                      <a:pt x="28" y="55"/>
                    </a:moveTo>
                    <a:lnTo>
                      <a:pt x="0" y="0"/>
                    </a:lnTo>
                    <a:lnTo>
                      <a:pt x="172" y="0"/>
                    </a:lnTo>
                    <a:lnTo>
                      <a:pt x="146" y="55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419"/>
              <p:cNvSpPr>
                <a:spLocks noChangeShapeType="1"/>
              </p:cNvSpPr>
              <p:nvPr/>
            </p:nvSpPr>
            <p:spPr bwMode="auto">
              <a:xfrm flipH="1" flipV="1">
                <a:off x="2375" y="2960"/>
                <a:ext cx="46" cy="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Freeform 420"/>
              <p:cNvSpPr>
                <a:spLocks/>
              </p:cNvSpPr>
              <p:nvPr/>
            </p:nvSpPr>
            <p:spPr bwMode="auto">
              <a:xfrm>
                <a:off x="2274" y="3034"/>
                <a:ext cx="215" cy="25"/>
              </a:xfrm>
              <a:custGeom>
                <a:avLst/>
                <a:gdLst>
                  <a:gd name="T0" fmla="*/ 1 w 430"/>
                  <a:gd name="T1" fmla="*/ 1 h 50"/>
                  <a:gd name="T2" fmla="*/ 0 w 430"/>
                  <a:gd name="T3" fmla="*/ 1 h 50"/>
                  <a:gd name="T4" fmla="*/ 0 w 430"/>
                  <a:gd name="T5" fmla="*/ 2 h 50"/>
                  <a:gd name="T6" fmla="*/ 14 w 430"/>
                  <a:gd name="T7" fmla="*/ 2 h 50"/>
                  <a:gd name="T8" fmla="*/ 14 w 430"/>
                  <a:gd name="T9" fmla="*/ 1 h 50"/>
                  <a:gd name="T10" fmla="*/ 12 w 430"/>
                  <a:gd name="T11" fmla="*/ 1 h 50"/>
                  <a:gd name="T12" fmla="*/ 12 w 430"/>
                  <a:gd name="T13" fmla="*/ 0 h 50"/>
                  <a:gd name="T14" fmla="*/ 1 w 430"/>
                  <a:gd name="T15" fmla="*/ 0 h 50"/>
                  <a:gd name="T16" fmla="*/ 1 w 430"/>
                  <a:gd name="T17" fmla="*/ 1 h 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0" h="5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Freeform 421"/>
              <p:cNvSpPr>
                <a:spLocks/>
              </p:cNvSpPr>
              <p:nvPr/>
            </p:nvSpPr>
            <p:spPr bwMode="auto">
              <a:xfrm>
                <a:off x="2290" y="3043"/>
                <a:ext cx="171" cy="1"/>
              </a:xfrm>
              <a:custGeom>
                <a:avLst/>
                <a:gdLst>
                  <a:gd name="T0" fmla="*/ 10 w 343"/>
                  <a:gd name="T1" fmla="*/ 0 h 1"/>
                  <a:gd name="T2" fmla="*/ 0 w 343"/>
                  <a:gd name="T3" fmla="*/ 0 h 1"/>
                  <a:gd name="T4" fmla="*/ 10 w 34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3" h="1">
                    <a:moveTo>
                      <a:pt x="343" y="0"/>
                    </a:moveTo>
                    <a:lnTo>
                      <a:pt x="0" y="0"/>
                    </a:lnTo>
                    <a:lnTo>
                      <a:pt x="343" y="0"/>
                    </a:lnTo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Rectangle 422"/>
              <p:cNvSpPr>
                <a:spLocks noChangeArrowheads="1"/>
              </p:cNvSpPr>
              <p:nvPr/>
            </p:nvSpPr>
            <p:spPr bwMode="auto">
              <a:xfrm>
                <a:off x="2347" y="2951"/>
                <a:ext cx="27" cy="83"/>
              </a:xfrm>
              <a:prstGeom prst="rect">
                <a:avLst/>
              </a:prstGeom>
              <a:solidFill>
                <a:srgbClr val="3333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Freeform 423"/>
              <p:cNvSpPr>
                <a:spLocks noEditPoints="1"/>
              </p:cNvSpPr>
              <p:nvPr/>
            </p:nvSpPr>
            <p:spPr bwMode="auto">
              <a:xfrm>
                <a:off x="2281" y="2821"/>
                <a:ext cx="208" cy="175"/>
              </a:xfrm>
              <a:custGeom>
                <a:avLst/>
                <a:gdLst>
                  <a:gd name="T0" fmla="*/ 1 w 415"/>
                  <a:gd name="T1" fmla="*/ 1 h 350"/>
                  <a:gd name="T2" fmla="*/ 1 w 415"/>
                  <a:gd name="T3" fmla="*/ 3 h 350"/>
                  <a:gd name="T4" fmla="*/ 1 w 415"/>
                  <a:gd name="T5" fmla="*/ 5 h 350"/>
                  <a:gd name="T6" fmla="*/ 2 w 415"/>
                  <a:gd name="T7" fmla="*/ 6 h 350"/>
                  <a:gd name="T8" fmla="*/ 4 w 415"/>
                  <a:gd name="T9" fmla="*/ 8 h 350"/>
                  <a:gd name="T10" fmla="*/ 5 w 415"/>
                  <a:gd name="T11" fmla="*/ 9 h 350"/>
                  <a:gd name="T12" fmla="*/ 7 w 415"/>
                  <a:gd name="T13" fmla="*/ 10 h 350"/>
                  <a:gd name="T14" fmla="*/ 9 w 415"/>
                  <a:gd name="T15" fmla="*/ 11 h 350"/>
                  <a:gd name="T16" fmla="*/ 11 w 415"/>
                  <a:gd name="T17" fmla="*/ 11 h 350"/>
                  <a:gd name="T18" fmla="*/ 12 w 415"/>
                  <a:gd name="T19" fmla="*/ 11 h 350"/>
                  <a:gd name="T20" fmla="*/ 13 w 415"/>
                  <a:gd name="T21" fmla="*/ 10 h 350"/>
                  <a:gd name="T22" fmla="*/ 13 w 415"/>
                  <a:gd name="T23" fmla="*/ 10 h 350"/>
                  <a:gd name="T24" fmla="*/ 12 w 415"/>
                  <a:gd name="T25" fmla="*/ 10 h 350"/>
                  <a:gd name="T26" fmla="*/ 11 w 415"/>
                  <a:gd name="T27" fmla="*/ 10 h 350"/>
                  <a:gd name="T28" fmla="*/ 10 w 415"/>
                  <a:gd name="T29" fmla="*/ 9 h 350"/>
                  <a:gd name="T30" fmla="*/ 8 w 415"/>
                  <a:gd name="T31" fmla="*/ 9 h 350"/>
                  <a:gd name="T32" fmla="*/ 6 w 415"/>
                  <a:gd name="T33" fmla="*/ 7 h 350"/>
                  <a:gd name="T34" fmla="*/ 4 w 415"/>
                  <a:gd name="T35" fmla="*/ 6 h 350"/>
                  <a:gd name="T36" fmla="*/ 3 w 415"/>
                  <a:gd name="T37" fmla="*/ 5 h 350"/>
                  <a:gd name="T38" fmla="*/ 2 w 415"/>
                  <a:gd name="T39" fmla="*/ 3 h 350"/>
                  <a:gd name="T40" fmla="*/ 1 w 415"/>
                  <a:gd name="T41" fmla="*/ 2 h 350"/>
                  <a:gd name="T42" fmla="*/ 1 w 415"/>
                  <a:gd name="T43" fmla="*/ 1 h 350"/>
                  <a:gd name="T44" fmla="*/ 1 w 415"/>
                  <a:gd name="T45" fmla="*/ 1 h 350"/>
                  <a:gd name="T46" fmla="*/ 1 w 415"/>
                  <a:gd name="T47" fmla="*/ 0 h 350"/>
                  <a:gd name="T48" fmla="*/ 2 w 415"/>
                  <a:gd name="T49" fmla="*/ 1 h 350"/>
                  <a:gd name="T50" fmla="*/ 4 w 415"/>
                  <a:gd name="T51" fmla="*/ 1 h 350"/>
                  <a:gd name="T52" fmla="*/ 5 w 415"/>
                  <a:gd name="T53" fmla="*/ 2 h 350"/>
                  <a:gd name="T54" fmla="*/ 7 w 415"/>
                  <a:gd name="T55" fmla="*/ 3 h 350"/>
                  <a:gd name="T56" fmla="*/ 9 w 415"/>
                  <a:gd name="T57" fmla="*/ 4 h 350"/>
                  <a:gd name="T58" fmla="*/ 11 w 415"/>
                  <a:gd name="T59" fmla="*/ 5 h 350"/>
                  <a:gd name="T60" fmla="*/ 12 w 415"/>
                  <a:gd name="T61" fmla="*/ 7 h 350"/>
                  <a:gd name="T62" fmla="*/ 13 w 415"/>
                  <a:gd name="T63" fmla="*/ 8 h 350"/>
                  <a:gd name="T64" fmla="*/ 13 w 415"/>
                  <a:gd name="T65" fmla="*/ 9 h 350"/>
                  <a:gd name="T66" fmla="*/ 13 w 415"/>
                  <a:gd name="T67" fmla="*/ 10 h 350"/>
                  <a:gd name="T68" fmla="*/ 13 w 415"/>
                  <a:gd name="T69" fmla="*/ 10 h 350"/>
                  <a:gd name="T70" fmla="*/ 12 w 415"/>
                  <a:gd name="T71" fmla="*/ 10 h 350"/>
                  <a:gd name="T72" fmla="*/ 11 w 415"/>
                  <a:gd name="T73" fmla="*/ 10 h 350"/>
                  <a:gd name="T74" fmla="*/ 9 w 415"/>
                  <a:gd name="T75" fmla="*/ 9 h 350"/>
                  <a:gd name="T76" fmla="*/ 7 w 415"/>
                  <a:gd name="T77" fmla="*/ 8 h 350"/>
                  <a:gd name="T78" fmla="*/ 5 w 415"/>
                  <a:gd name="T79" fmla="*/ 7 h 350"/>
                  <a:gd name="T80" fmla="*/ 4 w 415"/>
                  <a:gd name="T81" fmla="*/ 5 h 350"/>
                  <a:gd name="T82" fmla="*/ 2 w 415"/>
                  <a:gd name="T83" fmla="*/ 4 h 350"/>
                  <a:gd name="T84" fmla="*/ 1 w 415"/>
                  <a:gd name="T85" fmla="*/ 3 h 350"/>
                  <a:gd name="T86" fmla="*/ 1 w 415"/>
                  <a:gd name="T87" fmla="*/ 2 h 350"/>
                  <a:gd name="T88" fmla="*/ 1 w 415"/>
                  <a:gd name="T89" fmla="*/ 1 h 35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415" h="350">
                    <a:moveTo>
                      <a:pt x="8" y="12"/>
                    </a:moveTo>
                    <a:lnTo>
                      <a:pt x="1" y="32"/>
                    </a:lnTo>
                    <a:lnTo>
                      <a:pt x="0" y="53"/>
                    </a:lnTo>
                    <a:lnTo>
                      <a:pt x="3" y="78"/>
                    </a:lnTo>
                    <a:lnTo>
                      <a:pt x="8" y="103"/>
                    </a:lnTo>
                    <a:lnTo>
                      <a:pt x="18" y="130"/>
                    </a:lnTo>
                    <a:lnTo>
                      <a:pt x="34" y="158"/>
                    </a:lnTo>
                    <a:lnTo>
                      <a:pt x="51" y="185"/>
                    </a:lnTo>
                    <a:lnTo>
                      <a:pt x="73" y="211"/>
                    </a:lnTo>
                    <a:lnTo>
                      <a:pt x="97" y="236"/>
                    </a:lnTo>
                    <a:lnTo>
                      <a:pt x="124" y="261"/>
                    </a:lnTo>
                    <a:lnTo>
                      <a:pt x="151" y="282"/>
                    </a:lnTo>
                    <a:lnTo>
                      <a:pt x="182" y="302"/>
                    </a:lnTo>
                    <a:lnTo>
                      <a:pt x="212" y="318"/>
                    </a:lnTo>
                    <a:lnTo>
                      <a:pt x="242" y="332"/>
                    </a:lnTo>
                    <a:lnTo>
                      <a:pt x="270" y="341"/>
                    </a:lnTo>
                    <a:lnTo>
                      <a:pt x="299" y="346"/>
                    </a:lnTo>
                    <a:lnTo>
                      <a:pt x="325" y="350"/>
                    </a:lnTo>
                    <a:lnTo>
                      <a:pt x="349" y="346"/>
                    </a:lnTo>
                    <a:lnTo>
                      <a:pt x="371" y="341"/>
                    </a:lnTo>
                    <a:lnTo>
                      <a:pt x="388" y="332"/>
                    </a:lnTo>
                    <a:lnTo>
                      <a:pt x="402" y="318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  <a:moveTo>
                      <a:pt x="8" y="12"/>
                    </a:moveTo>
                    <a:lnTo>
                      <a:pt x="14" y="5"/>
                    </a:lnTo>
                    <a:lnTo>
                      <a:pt x="24" y="0"/>
                    </a:lnTo>
                    <a:lnTo>
                      <a:pt x="38" y="0"/>
                    </a:lnTo>
                    <a:lnTo>
                      <a:pt x="56" y="2"/>
                    </a:lnTo>
                    <a:lnTo>
                      <a:pt x="77" y="7"/>
                    </a:lnTo>
                    <a:lnTo>
                      <a:pt x="100" y="16"/>
                    </a:lnTo>
                    <a:lnTo>
                      <a:pt x="126" y="26"/>
                    </a:lnTo>
                    <a:lnTo>
                      <a:pt x="153" y="41"/>
                    </a:lnTo>
                    <a:lnTo>
                      <a:pt x="182" y="57"/>
                    </a:lnTo>
                    <a:lnTo>
                      <a:pt x="210" y="74"/>
                    </a:lnTo>
                    <a:lnTo>
                      <a:pt x="239" y="94"/>
                    </a:lnTo>
                    <a:lnTo>
                      <a:pt x="268" y="115"/>
                    </a:lnTo>
                    <a:lnTo>
                      <a:pt x="295" y="138"/>
                    </a:lnTo>
                    <a:lnTo>
                      <a:pt x="321" y="160"/>
                    </a:lnTo>
                    <a:lnTo>
                      <a:pt x="345" y="183"/>
                    </a:lnTo>
                    <a:lnTo>
                      <a:pt x="365" y="204"/>
                    </a:lnTo>
                    <a:lnTo>
                      <a:pt x="382" y="226"/>
                    </a:lnTo>
                    <a:lnTo>
                      <a:pt x="396" y="245"/>
                    </a:lnTo>
                    <a:lnTo>
                      <a:pt x="406" y="263"/>
                    </a:lnTo>
                    <a:lnTo>
                      <a:pt x="412" y="279"/>
                    </a:lnTo>
                    <a:lnTo>
                      <a:pt x="415" y="291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424"/>
              <p:cNvSpPr>
                <a:spLocks noChangeShapeType="1"/>
              </p:cNvSpPr>
              <p:nvPr/>
            </p:nvSpPr>
            <p:spPr bwMode="auto">
              <a:xfrm flipH="1" flipV="1">
                <a:off x="2285" y="2824"/>
                <a:ext cx="136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Line 425"/>
              <p:cNvSpPr>
                <a:spLocks noChangeShapeType="1"/>
              </p:cNvSpPr>
              <p:nvPr/>
            </p:nvSpPr>
            <p:spPr bwMode="auto">
              <a:xfrm flipH="1">
                <a:off x="2372" y="2826"/>
                <a:ext cx="49" cy="10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Line 426"/>
              <p:cNvSpPr>
                <a:spLocks noChangeShapeType="1"/>
              </p:cNvSpPr>
              <p:nvPr/>
            </p:nvSpPr>
            <p:spPr bwMode="auto">
              <a:xfrm>
                <a:off x="2421" y="2826"/>
                <a:ext cx="67" cy="14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Freeform 427"/>
              <p:cNvSpPr>
                <a:spLocks/>
              </p:cNvSpPr>
              <p:nvPr/>
            </p:nvSpPr>
            <p:spPr bwMode="auto">
              <a:xfrm>
                <a:off x="2349" y="2902"/>
                <a:ext cx="51" cy="40"/>
              </a:xfrm>
              <a:custGeom>
                <a:avLst/>
                <a:gdLst>
                  <a:gd name="T0" fmla="*/ 0 w 101"/>
                  <a:gd name="T1" fmla="*/ 1 h 80"/>
                  <a:gd name="T2" fmla="*/ 1 w 101"/>
                  <a:gd name="T3" fmla="*/ 0 h 80"/>
                  <a:gd name="T4" fmla="*/ 1 w 101"/>
                  <a:gd name="T5" fmla="*/ 1 h 80"/>
                  <a:gd name="T6" fmla="*/ 1 w 101"/>
                  <a:gd name="T7" fmla="*/ 1 h 80"/>
                  <a:gd name="T8" fmla="*/ 2 w 101"/>
                  <a:gd name="T9" fmla="*/ 1 h 80"/>
                  <a:gd name="T10" fmla="*/ 2 w 101"/>
                  <a:gd name="T11" fmla="*/ 1 h 80"/>
                  <a:gd name="T12" fmla="*/ 3 w 101"/>
                  <a:gd name="T13" fmla="*/ 1 h 80"/>
                  <a:gd name="T14" fmla="*/ 3 w 101"/>
                  <a:gd name="T15" fmla="*/ 2 h 80"/>
                  <a:gd name="T16" fmla="*/ 3 w 101"/>
                  <a:gd name="T17" fmla="*/ 2 h 80"/>
                  <a:gd name="T18" fmla="*/ 4 w 101"/>
                  <a:gd name="T19" fmla="*/ 2 h 80"/>
                  <a:gd name="T20" fmla="*/ 4 w 101"/>
                  <a:gd name="T21" fmla="*/ 3 h 80"/>
                  <a:gd name="T22" fmla="*/ 4 w 101"/>
                  <a:gd name="T23" fmla="*/ 3 h 80"/>
                  <a:gd name="T24" fmla="*/ 4 w 101"/>
                  <a:gd name="T25" fmla="*/ 3 h 80"/>
                  <a:gd name="T26" fmla="*/ 3 w 101"/>
                  <a:gd name="T27" fmla="*/ 3 h 80"/>
                  <a:gd name="T28" fmla="*/ 3 w 101"/>
                  <a:gd name="T29" fmla="*/ 3 h 80"/>
                  <a:gd name="T30" fmla="*/ 3 w 101"/>
                  <a:gd name="T31" fmla="*/ 3 h 80"/>
                  <a:gd name="T32" fmla="*/ 2 w 101"/>
                  <a:gd name="T33" fmla="*/ 2 h 80"/>
                  <a:gd name="T34" fmla="*/ 2 w 101"/>
                  <a:gd name="T35" fmla="*/ 2 h 80"/>
                  <a:gd name="T36" fmla="*/ 1 w 101"/>
                  <a:gd name="T37" fmla="*/ 2 h 80"/>
                  <a:gd name="T38" fmla="*/ 1 w 101"/>
                  <a:gd name="T39" fmla="*/ 1 h 80"/>
                  <a:gd name="T40" fmla="*/ 1 w 101"/>
                  <a:gd name="T41" fmla="*/ 1 h 80"/>
                  <a:gd name="T42" fmla="*/ 0 w 101"/>
                  <a:gd name="T43" fmla="*/ 1 h 80"/>
                  <a:gd name="T44" fmla="*/ 0 w 101"/>
                  <a:gd name="T45" fmla="*/ 1 h 8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01" h="80">
                    <a:moveTo>
                      <a:pt x="0" y="3"/>
                    </a:moveTo>
                    <a:lnTo>
                      <a:pt x="4" y="0"/>
                    </a:lnTo>
                    <a:lnTo>
                      <a:pt x="13" y="1"/>
                    </a:lnTo>
                    <a:lnTo>
                      <a:pt x="24" y="3"/>
                    </a:lnTo>
                    <a:lnTo>
                      <a:pt x="37" y="10"/>
                    </a:lnTo>
                    <a:lnTo>
                      <a:pt x="51" y="19"/>
                    </a:lnTo>
                    <a:lnTo>
                      <a:pt x="66" y="30"/>
                    </a:lnTo>
                    <a:lnTo>
                      <a:pt x="79" y="40"/>
                    </a:lnTo>
                    <a:lnTo>
                      <a:pt x="90" y="51"/>
                    </a:lnTo>
                    <a:lnTo>
                      <a:pt x="97" y="62"/>
                    </a:lnTo>
                    <a:lnTo>
                      <a:pt x="101" y="71"/>
                    </a:lnTo>
                    <a:lnTo>
                      <a:pt x="101" y="76"/>
                    </a:lnTo>
                    <a:lnTo>
                      <a:pt x="97" y="80"/>
                    </a:lnTo>
                    <a:lnTo>
                      <a:pt x="90" y="78"/>
                    </a:lnTo>
                    <a:lnTo>
                      <a:pt x="79" y="74"/>
                    </a:lnTo>
                    <a:lnTo>
                      <a:pt x="66" y="69"/>
                    </a:lnTo>
                    <a:lnTo>
                      <a:pt x="51" y="60"/>
                    </a:lnTo>
                    <a:lnTo>
                      <a:pt x="37" y="49"/>
                    </a:lnTo>
                    <a:lnTo>
                      <a:pt x="23" y="39"/>
                    </a:lnTo>
                    <a:lnTo>
                      <a:pt x="13" y="28"/>
                    </a:lnTo>
                    <a:lnTo>
                      <a:pt x="4" y="17"/>
                    </a:lnTo>
                    <a:lnTo>
                      <a:pt x="0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33FF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62" name="Picture 429" descr="MMj03957750000[1]"/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8293" y="4790332"/>
              <a:ext cx="561975" cy="47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组合 4"/>
          <p:cNvGrpSpPr/>
          <p:nvPr/>
        </p:nvGrpSpPr>
        <p:grpSpPr>
          <a:xfrm>
            <a:off x="6007660" y="3722939"/>
            <a:ext cx="1614546" cy="1353285"/>
            <a:chOff x="6232236" y="4709369"/>
            <a:chExt cx="2152728" cy="1804380"/>
          </a:xfrm>
        </p:grpSpPr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6232236" y="5841257"/>
              <a:ext cx="2152728" cy="67249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050" i="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humans at a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050" i="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cocktail party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050" i="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(shared air, acoustical)</a:t>
              </a:r>
            </a:p>
          </p:txBody>
        </p:sp>
        <p:pic>
          <p:nvPicPr>
            <p:cNvPr id="63" name="Picture 432" descr="cocktai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5768" y="4709369"/>
              <a:ext cx="2030412" cy="1041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组合 2"/>
          <p:cNvGrpSpPr/>
          <p:nvPr/>
        </p:nvGrpSpPr>
        <p:grpSpPr>
          <a:xfrm>
            <a:off x="2781625" y="3563763"/>
            <a:ext cx="1358065" cy="1489783"/>
            <a:chOff x="2497973" y="4326782"/>
            <a:chExt cx="1810753" cy="1986377"/>
          </a:xfrm>
        </p:grpSpPr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2497973" y="5823794"/>
              <a:ext cx="1810753" cy="489365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050" i="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shared RF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050" i="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(e.g., 802.11 WiFi)</a:t>
              </a:r>
            </a:p>
          </p:txBody>
        </p:sp>
        <p:grpSp>
          <p:nvGrpSpPr>
            <p:cNvPr id="70" name="Group 621"/>
            <p:cNvGrpSpPr>
              <a:grpSpLocks/>
            </p:cNvGrpSpPr>
            <p:nvPr/>
          </p:nvGrpSpPr>
          <p:grpSpPr bwMode="auto">
            <a:xfrm>
              <a:off x="2815180" y="4326782"/>
              <a:ext cx="635000" cy="485775"/>
              <a:chOff x="3061" y="2530"/>
              <a:chExt cx="400" cy="306"/>
            </a:xfrm>
          </p:grpSpPr>
          <p:grpSp>
            <p:nvGrpSpPr>
              <p:cNvPr id="71" name="Group 494"/>
              <p:cNvGrpSpPr>
                <a:grpSpLocks/>
              </p:cNvGrpSpPr>
              <p:nvPr/>
            </p:nvGrpSpPr>
            <p:grpSpPr bwMode="auto">
              <a:xfrm>
                <a:off x="3061" y="2530"/>
                <a:ext cx="327" cy="81"/>
                <a:chOff x="2199" y="955"/>
                <a:chExt cx="2547" cy="506"/>
              </a:xfrm>
            </p:grpSpPr>
            <p:sp>
              <p:nvSpPr>
                <p:cNvPr id="96" name="Freeform 495"/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7" name="Freeform 496"/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Freeform 497"/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" name="Freeform 498"/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Freeform 499"/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82 w 646"/>
                    <a:gd name="T1" fmla="*/ 529 h 300"/>
                    <a:gd name="T2" fmla="*/ 543 w 646"/>
                    <a:gd name="T3" fmla="*/ 447 h 300"/>
                    <a:gd name="T4" fmla="*/ 675 w 646"/>
                    <a:gd name="T5" fmla="*/ 337 h 300"/>
                    <a:gd name="T6" fmla="*/ 698 w 646"/>
                    <a:gd name="T7" fmla="*/ 188 h 300"/>
                    <a:gd name="T8" fmla="*/ 511 w 646"/>
                    <a:gd name="T9" fmla="*/ 106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" name="Freeform 500"/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72" name="Picture 549" descr="laptop_keyboard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3109" y="2736"/>
                <a:ext cx="245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" name="Freeform 550"/>
              <p:cNvSpPr>
                <a:spLocks/>
              </p:cNvSpPr>
              <p:nvPr/>
            </p:nvSpPr>
            <p:spPr bwMode="auto">
              <a:xfrm>
                <a:off x="3190" y="2638"/>
                <a:ext cx="197" cy="131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4" name="Picture 551" descr="screen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0" y="2641"/>
                <a:ext cx="179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552"/>
              <p:cNvSpPr>
                <a:spLocks/>
              </p:cNvSpPr>
              <p:nvPr/>
            </p:nvSpPr>
            <p:spPr bwMode="auto">
              <a:xfrm>
                <a:off x="3226" y="2634"/>
                <a:ext cx="167" cy="25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Freeform 553"/>
              <p:cNvSpPr>
                <a:spLocks/>
              </p:cNvSpPr>
              <p:nvPr/>
            </p:nvSpPr>
            <p:spPr bwMode="auto">
              <a:xfrm>
                <a:off x="3189" y="2634"/>
                <a:ext cx="46" cy="102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Freeform 554"/>
              <p:cNvSpPr>
                <a:spLocks/>
              </p:cNvSpPr>
              <p:nvPr/>
            </p:nvSpPr>
            <p:spPr bwMode="auto">
              <a:xfrm>
                <a:off x="3342" y="2652"/>
                <a:ext cx="50" cy="117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Freeform 555"/>
              <p:cNvSpPr>
                <a:spLocks/>
              </p:cNvSpPr>
              <p:nvPr/>
            </p:nvSpPr>
            <p:spPr bwMode="auto">
              <a:xfrm>
                <a:off x="3188" y="2730"/>
                <a:ext cx="183" cy="40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Freeform 556"/>
              <p:cNvSpPr>
                <a:spLocks/>
              </p:cNvSpPr>
              <p:nvPr/>
            </p:nvSpPr>
            <p:spPr bwMode="auto">
              <a:xfrm>
                <a:off x="3347" y="2653"/>
                <a:ext cx="47" cy="118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0 h 1659"/>
                  <a:gd name="T6" fmla="*/ 0 w 637"/>
                  <a:gd name="T7" fmla="*/ 0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Freeform 557"/>
              <p:cNvSpPr>
                <a:spLocks/>
              </p:cNvSpPr>
              <p:nvPr/>
            </p:nvSpPr>
            <p:spPr bwMode="auto">
              <a:xfrm>
                <a:off x="3188" y="2736"/>
                <a:ext cx="163" cy="39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0 h 550"/>
                  <a:gd name="T4" fmla="*/ 0 w 2216"/>
                  <a:gd name="T5" fmla="*/ 0 h 550"/>
                  <a:gd name="T6" fmla="*/ 0 w 2216"/>
                  <a:gd name="T7" fmla="*/ 0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1" name="Group 558"/>
              <p:cNvGrpSpPr>
                <a:grpSpLocks/>
              </p:cNvGrpSpPr>
              <p:nvPr/>
            </p:nvGrpSpPr>
            <p:grpSpPr bwMode="auto">
              <a:xfrm>
                <a:off x="3186" y="2777"/>
                <a:ext cx="55" cy="24"/>
                <a:chOff x="1740" y="2642"/>
                <a:chExt cx="752" cy="327"/>
              </a:xfrm>
            </p:grpSpPr>
            <p:sp>
              <p:nvSpPr>
                <p:cNvPr id="90" name="Freeform 559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1" name="Freeform 560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" name="Freeform 561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3" name="Freeform 562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" name="Freeform 563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" name="Freeform 564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Freeform 565"/>
              <p:cNvSpPr>
                <a:spLocks/>
              </p:cNvSpPr>
              <p:nvPr/>
            </p:nvSpPr>
            <p:spPr bwMode="auto">
              <a:xfrm>
                <a:off x="3280" y="2781"/>
                <a:ext cx="67" cy="51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Freeform 566"/>
              <p:cNvSpPr>
                <a:spLocks/>
              </p:cNvSpPr>
              <p:nvPr/>
            </p:nvSpPr>
            <p:spPr bwMode="auto">
              <a:xfrm>
                <a:off x="3109" y="2785"/>
                <a:ext cx="171" cy="4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567"/>
              <p:cNvSpPr>
                <a:spLocks/>
              </p:cNvSpPr>
              <p:nvPr/>
            </p:nvSpPr>
            <p:spPr bwMode="auto">
              <a:xfrm>
                <a:off x="3110" y="2776"/>
                <a:ext cx="1" cy="10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568"/>
              <p:cNvSpPr>
                <a:spLocks/>
              </p:cNvSpPr>
              <p:nvPr/>
            </p:nvSpPr>
            <p:spPr bwMode="auto">
              <a:xfrm>
                <a:off x="3110" y="2738"/>
                <a:ext cx="79" cy="39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Freeform 569"/>
              <p:cNvSpPr>
                <a:spLocks/>
              </p:cNvSpPr>
              <p:nvPr/>
            </p:nvSpPr>
            <p:spPr bwMode="auto">
              <a:xfrm>
                <a:off x="3115" y="2778"/>
                <a:ext cx="162" cy="4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570"/>
              <p:cNvSpPr>
                <a:spLocks/>
              </p:cNvSpPr>
              <p:nvPr/>
            </p:nvSpPr>
            <p:spPr bwMode="auto">
              <a:xfrm flipV="1">
                <a:off x="3277" y="2775"/>
                <a:ext cx="66" cy="4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Freeform 589"/>
              <p:cNvSpPr>
                <a:spLocks/>
              </p:cNvSpPr>
              <p:nvPr/>
            </p:nvSpPr>
            <p:spPr bwMode="auto">
              <a:xfrm>
                <a:off x="3382" y="2736"/>
                <a:ext cx="1" cy="10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Freeform 590"/>
              <p:cNvSpPr>
                <a:spLocks/>
              </p:cNvSpPr>
              <p:nvPr/>
            </p:nvSpPr>
            <p:spPr bwMode="auto">
              <a:xfrm>
                <a:off x="3382" y="2698"/>
                <a:ext cx="79" cy="39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632"/>
            <p:cNvGrpSpPr>
              <a:grpSpLocks/>
            </p:cNvGrpSpPr>
            <p:nvPr/>
          </p:nvGrpSpPr>
          <p:grpSpPr bwMode="auto">
            <a:xfrm>
              <a:off x="3702593" y="4495057"/>
              <a:ext cx="536575" cy="401637"/>
              <a:chOff x="3328" y="2543"/>
              <a:chExt cx="338" cy="253"/>
            </a:xfrm>
          </p:grpSpPr>
          <p:grpSp>
            <p:nvGrpSpPr>
              <p:cNvPr id="103" name="Group 487"/>
              <p:cNvGrpSpPr>
                <a:grpSpLocks/>
              </p:cNvGrpSpPr>
              <p:nvPr/>
            </p:nvGrpSpPr>
            <p:grpSpPr bwMode="auto">
              <a:xfrm>
                <a:off x="3328" y="2543"/>
                <a:ext cx="327" cy="81"/>
                <a:chOff x="2199" y="955"/>
                <a:chExt cx="2547" cy="506"/>
              </a:xfrm>
            </p:grpSpPr>
            <p:sp>
              <p:nvSpPr>
                <p:cNvPr id="124" name="Freeform 488"/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Freeform 489"/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6" name="Freeform 490"/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7" name="Freeform 491"/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Freeform 492"/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82 w 646"/>
                    <a:gd name="T1" fmla="*/ 529 h 300"/>
                    <a:gd name="T2" fmla="*/ 543 w 646"/>
                    <a:gd name="T3" fmla="*/ 447 h 300"/>
                    <a:gd name="T4" fmla="*/ 675 w 646"/>
                    <a:gd name="T5" fmla="*/ 337 h 300"/>
                    <a:gd name="T6" fmla="*/ 698 w 646"/>
                    <a:gd name="T7" fmla="*/ 188 h 300"/>
                    <a:gd name="T8" fmla="*/ 511 w 646"/>
                    <a:gd name="T9" fmla="*/ 106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9" name="Freeform 493"/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104" name="Picture 571" descr="laptop_keyboard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3381" y="2696"/>
                <a:ext cx="245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" name="Freeform 572"/>
              <p:cNvSpPr>
                <a:spLocks/>
              </p:cNvSpPr>
              <p:nvPr/>
            </p:nvSpPr>
            <p:spPr bwMode="auto">
              <a:xfrm>
                <a:off x="3462" y="2598"/>
                <a:ext cx="197" cy="131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6" name="Picture 573" descr="screen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72" y="2601"/>
                <a:ext cx="179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74"/>
              <p:cNvSpPr>
                <a:spLocks/>
              </p:cNvSpPr>
              <p:nvPr/>
            </p:nvSpPr>
            <p:spPr bwMode="auto">
              <a:xfrm>
                <a:off x="3498" y="2594"/>
                <a:ext cx="167" cy="25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575"/>
              <p:cNvSpPr>
                <a:spLocks/>
              </p:cNvSpPr>
              <p:nvPr/>
            </p:nvSpPr>
            <p:spPr bwMode="auto">
              <a:xfrm>
                <a:off x="3461" y="2594"/>
                <a:ext cx="46" cy="102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576"/>
              <p:cNvSpPr>
                <a:spLocks/>
              </p:cNvSpPr>
              <p:nvPr/>
            </p:nvSpPr>
            <p:spPr bwMode="auto">
              <a:xfrm>
                <a:off x="3614" y="2612"/>
                <a:ext cx="50" cy="117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577"/>
              <p:cNvSpPr>
                <a:spLocks/>
              </p:cNvSpPr>
              <p:nvPr/>
            </p:nvSpPr>
            <p:spPr bwMode="auto">
              <a:xfrm>
                <a:off x="3460" y="2690"/>
                <a:ext cx="183" cy="40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578"/>
              <p:cNvSpPr>
                <a:spLocks/>
              </p:cNvSpPr>
              <p:nvPr/>
            </p:nvSpPr>
            <p:spPr bwMode="auto">
              <a:xfrm>
                <a:off x="3619" y="2613"/>
                <a:ext cx="47" cy="118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0 h 1659"/>
                  <a:gd name="T6" fmla="*/ 0 w 637"/>
                  <a:gd name="T7" fmla="*/ 0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Freeform 579"/>
              <p:cNvSpPr>
                <a:spLocks/>
              </p:cNvSpPr>
              <p:nvPr/>
            </p:nvSpPr>
            <p:spPr bwMode="auto">
              <a:xfrm>
                <a:off x="3460" y="2696"/>
                <a:ext cx="163" cy="39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0 h 550"/>
                  <a:gd name="T4" fmla="*/ 0 w 2216"/>
                  <a:gd name="T5" fmla="*/ 0 h 550"/>
                  <a:gd name="T6" fmla="*/ 0 w 2216"/>
                  <a:gd name="T7" fmla="*/ 0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3" name="Group 580"/>
              <p:cNvGrpSpPr>
                <a:grpSpLocks/>
              </p:cNvGrpSpPr>
              <p:nvPr/>
            </p:nvGrpSpPr>
            <p:grpSpPr bwMode="auto">
              <a:xfrm>
                <a:off x="3458" y="2737"/>
                <a:ext cx="55" cy="24"/>
                <a:chOff x="1740" y="2642"/>
                <a:chExt cx="752" cy="327"/>
              </a:xfrm>
            </p:grpSpPr>
            <p:sp>
              <p:nvSpPr>
                <p:cNvPr id="118" name="Freeform 581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Freeform 582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0" name="Freeform 583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Freeform 584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Freeform 585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3" name="Freeform 586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4" name="Freeform 587"/>
              <p:cNvSpPr>
                <a:spLocks/>
              </p:cNvSpPr>
              <p:nvPr/>
            </p:nvSpPr>
            <p:spPr bwMode="auto">
              <a:xfrm>
                <a:off x="3552" y="2741"/>
                <a:ext cx="67" cy="51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Freeform 588"/>
              <p:cNvSpPr>
                <a:spLocks/>
              </p:cNvSpPr>
              <p:nvPr/>
            </p:nvSpPr>
            <p:spPr bwMode="auto">
              <a:xfrm>
                <a:off x="3381" y="2745"/>
                <a:ext cx="171" cy="4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591"/>
              <p:cNvSpPr>
                <a:spLocks/>
              </p:cNvSpPr>
              <p:nvPr/>
            </p:nvSpPr>
            <p:spPr bwMode="auto">
              <a:xfrm>
                <a:off x="3387" y="2738"/>
                <a:ext cx="162" cy="4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592"/>
              <p:cNvSpPr>
                <a:spLocks/>
              </p:cNvSpPr>
              <p:nvPr/>
            </p:nvSpPr>
            <p:spPr bwMode="auto">
              <a:xfrm flipV="1">
                <a:off x="3549" y="2735"/>
                <a:ext cx="66" cy="4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631"/>
            <p:cNvGrpSpPr>
              <a:grpSpLocks/>
            </p:cNvGrpSpPr>
            <p:nvPr/>
          </p:nvGrpSpPr>
          <p:grpSpPr bwMode="auto">
            <a:xfrm>
              <a:off x="3085055" y="4755407"/>
              <a:ext cx="585788" cy="419100"/>
              <a:chOff x="5096" y="2218"/>
              <a:chExt cx="369" cy="264"/>
            </a:xfrm>
          </p:grpSpPr>
          <p:grpSp>
            <p:nvGrpSpPr>
              <p:cNvPr id="131" name="Group 622"/>
              <p:cNvGrpSpPr>
                <a:grpSpLocks/>
              </p:cNvGrpSpPr>
              <p:nvPr/>
            </p:nvGrpSpPr>
            <p:grpSpPr bwMode="auto">
              <a:xfrm>
                <a:off x="5096" y="2218"/>
                <a:ext cx="327" cy="81"/>
                <a:chOff x="2199" y="955"/>
                <a:chExt cx="2547" cy="506"/>
              </a:xfrm>
            </p:grpSpPr>
            <p:sp>
              <p:nvSpPr>
                <p:cNvPr id="134" name="Freeform 623"/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5" name="Freeform 624"/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6" name="Freeform 625"/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7" name="Freeform 626"/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8" name="Freeform 627"/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82 w 646"/>
                    <a:gd name="T1" fmla="*/ 529 h 300"/>
                    <a:gd name="T2" fmla="*/ 543 w 646"/>
                    <a:gd name="T3" fmla="*/ 447 h 300"/>
                    <a:gd name="T4" fmla="*/ 675 w 646"/>
                    <a:gd name="T5" fmla="*/ 337 h 300"/>
                    <a:gd name="T6" fmla="*/ 698 w 646"/>
                    <a:gd name="T7" fmla="*/ 188 h 300"/>
                    <a:gd name="T8" fmla="*/ 511 w 646"/>
                    <a:gd name="T9" fmla="*/ 106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9" name="Freeform 628"/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132" name="Picture 629" descr="access_point_stylized_small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2" y="2250"/>
                <a:ext cx="273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" name="Picture 630" descr="access_point_stylized_small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5" y="2251"/>
                <a:ext cx="2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0" name="Group 633"/>
            <p:cNvGrpSpPr>
              <a:grpSpLocks/>
            </p:cNvGrpSpPr>
            <p:nvPr/>
          </p:nvGrpSpPr>
          <p:grpSpPr bwMode="auto">
            <a:xfrm>
              <a:off x="2786605" y="5180857"/>
              <a:ext cx="635000" cy="485775"/>
              <a:chOff x="3061" y="2530"/>
              <a:chExt cx="400" cy="306"/>
            </a:xfrm>
          </p:grpSpPr>
          <p:grpSp>
            <p:nvGrpSpPr>
              <p:cNvPr id="141" name="Group 634"/>
              <p:cNvGrpSpPr>
                <a:grpSpLocks/>
              </p:cNvGrpSpPr>
              <p:nvPr/>
            </p:nvGrpSpPr>
            <p:grpSpPr bwMode="auto">
              <a:xfrm>
                <a:off x="3061" y="2530"/>
                <a:ext cx="327" cy="81"/>
                <a:chOff x="2199" y="955"/>
                <a:chExt cx="2547" cy="506"/>
              </a:xfrm>
            </p:grpSpPr>
            <p:sp>
              <p:nvSpPr>
                <p:cNvPr id="166" name="Freeform 635"/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7" name="Freeform 636"/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8" name="Freeform 637"/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9" name="Freeform 638"/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0" name="Freeform 639"/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82 w 646"/>
                    <a:gd name="T1" fmla="*/ 529 h 300"/>
                    <a:gd name="T2" fmla="*/ 543 w 646"/>
                    <a:gd name="T3" fmla="*/ 447 h 300"/>
                    <a:gd name="T4" fmla="*/ 675 w 646"/>
                    <a:gd name="T5" fmla="*/ 337 h 300"/>
                    <a:gd name="T6" fmla="*/ 698 w 646"/>
                    <a:gd name="T7" fmla="*/ 188 h 300"/>
                    <a:gd name="T8" fmla="*/ 511 w 646"/>
                    <a:gd name="T9" fmla="*/ 106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1" name="Freeform 640"/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142" name="Picture 641" descr="laptop_keyboard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3109" y="2736"/>
                <a:ext cx="245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642"/>
              <p:cNvSpPr>
                <a:spLocks/>
              </p:cNvSpPr>
              <p:nvPr/>
            </p:nvSpPr>
            <p:spPr bwMode="auto">
              <a:xfrm>
                <a:off x="3190" y="2638"/>
                <a:ext cx="197" cy="131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44" name="Picture 643" descr="screen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0" y="2641"/>
                <a:ext cx="179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5" name="Freeform 644"/>
              <p:cNvSpPr>
                <a:spLocks/>
              </p:cNvSpPr>
              <p:nvPr/>
            </p:nvSpPr>
            <p:spPr bwMode="auto">
              <a:xfrm>
                <a:off x="3226" y="2634"/>
                <a:ext cx="167" cy="25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Freeform 645"/>
              <p:cNvSpPr>
                <a:spLocks/>
              </p:cNvSpPr>
              <p:nvPr/>
            </p:nvSpPr>
            <p:spPr bwMode="auto">
              <a:xfrm>
                <a:off x="3189" y="2634"/>
                <a:ext cx="46" cy="102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Freeform 646"/>
              <p:cNvSpPr>
                <a:spLocks/>
              </p:cNvSpPr>
              <p:nvPr/>
            </p:nvSpPr>
            <p:spPr bwMode="auto">
              <a:xfrm>
                <a:off x="3342" y="2652"/>
                <a:ext cx="50" cy="117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Freeform 647"/>
              <p:cNvSpPr>
                <a:spLocks/>
              </p:cNvSpPr>
              <p:nvPr/>
            </p:nvSpPr>
            <p:spPr bwMode="auto">
              <a:xfrm>
                <a:off x="3188" y="2730"/>
                <a:ext cx="183" cy="40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Freeform 648"/>
              <p:cNvSpPr>
                <a:spLocks/>
              </p:cNvSpPr>
              <p:nvPr/>
            </p:nvSpPr>
            <p:spPr bwMode="auto">
              <a:xfrm>
                <a:off x="3347" y="2653"/>
                <a:ext cx="47" cy="118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0 h 1659"/>
                  <a:gd name="T6" fmla="*/ 0 w 637"/>
                  <a:gd name="T7" fmla="*/ 0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Freeform 649"/>
              <p:cNvSpPr>
                <a:spLocks/>
              </p:cNvSpPr>
              <p:nvPr/>
            </p:nvSpPr>
            <p:spPr bwMode="auto">
              <a:xfrm>
                <a:off x="3188" y="2736"/>
                <a:ext cx="163" cy="39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0 h 550"/>
                  <a:gd name="T4" fmla="*/ 0 w 2216"/>
                  <a:gd name="T5" fmla="*/ 0 h 550"/>
                  <a:gd name="T6" fmla="*/ 0 w 2216"/>
                  <a:gd name="T7" fmla="*/ 0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1" name="Group 650"/>
              <p:cNvGrpSpPr>
                <a:grpSpLocks/>
              </p:cNvGrpSpPr>
              <p:nvPr/>
            </p:nvGrpSpPr>
            <p:grpSpPr bwMode="auto">
              <a:xfrm>
                <a:off x="3186" y="2777"/>
                <a:ext cx="55" cy="24"/>
                <a:chOff x="1740" y="2642"/>
                <a:chExt cx="752" cy="327"/>
              </a:xfrm>
            </p:grpSpPr>
            <p:sp>
              <p:nvSpPr>
                <p:cNvPr id="160" name="Freeform 651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1" name="Freeform 652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2" name="Freeform 653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3" name="Freeform 654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4" name="Freeform 655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5" name="Freeform 656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52" name="Freeform 657"/>
              <p:cNvSpPr>
                <a:spLocks/>
              </p:cNvSpPr>
              <p:nvPr/>
            </p:nvSpPr>
            <p:spPr bwMode="auto">
              <a:xfrm>
                <a:off x="3280" y="2781"/>
                <a:ext cx="67" cy="51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Freeform 658"/>
              <p:cNvSpPr>
                <a:spLocks/>
              </p:cNvSpPr>
              <p:nvPr/>
            </p:nvSpPr>
            <p:spPr bwMode="auto">
              <a:xfrm>
                <a:off x="3109" y="2785"/>
                <a:ext cx="171" cy="4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Freeform 659"/>
              <p:cNvSpPr>
                <a:spLocks/>
              </p:cNvSpPr>
              <p:nvPr/>
            </p:nvSpPr>
            <p:spPr bwMode="auto">
              <a:xfrm>
                <a:off x="3110" y="2776"/>
                <a:ext cx="1" cy="10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Freeform 660"/>
              <p:cNvSpPr>
                <a:spLocks/>
              </p:cNvSpPr>
              <p:nvPr/>
            </p:nvSpPr>
            <p:spPr bwMode="auto">
              <a:xfrm>
                <a:off x="3110" y="2738"/>
                <a:ext cx="79" cy="39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Freeform 661"/>
              <p:cNvSpPr>
                <a:spLocks/>
              </p:cNvSpPr>
              <p:nvPr/>
            </p:nvSpPr>
            <p:spPr bwMode="auto">
              <a:xfrm>
                <a:off x="3115" y="2778"/>
                <a:ext cx="162" cy="4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Freeform 662"/>
              <p:cNvSpPr>
                <a:spLocks/>
              </p:cNvSpPr>
              <p:nvPr/>
            </p:nvSpPr>
            <p:spPr bwMode="auto">
              <a:xfrm flipV="1">
                <a:off x="3277" y="2775"/>
                <a:ext cx="66" cy="4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Freeform 663"/>
              <p:cNvSpPr>
                <a:spLocks/>
              </p:cNvSpPr>
              <p:nvPr/>
            </p:nvSpPr>
            <p:spPr bwMode="auto">
              <a:xfrm>
                <a:off x="3382" y="2736"/>
                <a:ext cx="1" cy="10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Freeform 664"/>
              <p:cNvSpPr>
                <a:spLocks/>
              </p:cNvSpPr>
              <p:nvPr/>
            </p:nvSpPr>
            <p:spPr bwMode="auto">
              <a:xfrm>
                <a:off x="3382" y="2698"/>
                <a:ext cx="79" cy="39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665"/>
            <p:cNvGrpSpPr>
              <a:grpSpLocks/>
            </p:cNvGrpSpPr>
            <p:nvPr/>
          </p:nvGrpSpPr>
          <p:grpSpPr bwMode="auto">
            <a:xfrm>
              <a:off x="3269205" y="5236419"/>
              <a:ext cx="635000" cy="485775"/>
              <a:chOff x="3061" y="2530"/>
              <a:chExt cx="400" cy="306"/>
            </a:xfrm>
          </p:grpSpPr>
          <p:grpSp>
            <p:nvGrpSpPr>
              <p:cNvPr id="173" name="Group 666"/>
              <p:cNvGrpSpPr>
                <a:grpSpLocks/>
              </p:cNvGrpSpPr>
              <p:nvPr/>
            </p:nvGrpSpPr>
            <p:grpSpPr bwMode="auto">
              <a:xfrm>
                <a:off x="3061" y="2530"/>
                <a:ext cx="327" cy="81"/>
                <a:chOff x="2199" y="955"/>
                <a:chExt cx="2547" cy="506"/>
              </a:xfrm>
            </p:grpSpPr>
            <p:sp>
              <p:nvSpPr>
                <p:cNvPr id="198" name="Freeform 667"/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9" name="Freeform 668"/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0" name="Freeform 669"/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Freeform 670"/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2" name="Freeform 671"/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82 w 646"/>
                    <a:gd name="T1" fmla="*/ 529 h 300"/>
                    <a:gd name="T2" fmla="*/ 543 w 646"/>
                    <a:gd name="T3" fmla="*/ 447 h 300"/>
                    <a:gd name="T4" fmla="*/ 675 w 646"/>
                    <a:gd name="T5" fmla="*/ 337 h 300"/>
                    <a:gd name="T6" fmla="*/ 698 w 646"/>
                    <a:gd name="T7" fmla="*/ 188 h 300"/>
                    <a:gd name="T8" fmla="*/ 511 w 646"/>
                    <a:gd name="T9" fmla="*/ 106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3" name="Freeform 672"/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174" name="Picture 673" descr="laptop_keyboard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3109" y="2736"/>
                <a:ext cx="245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" name="Freeform 674"/>
              <p:cNvSpPr>
                <a:spLocks/>
              </p:cNvSpPr>
              <p:nvPr/>
            </p:nvSpPr>
            <p:spPr bwMode="auto">
              <a:xfrm>
                <a:off x="3190" y="2638"/>
                <a:ext cx="197" cy="131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76" name="Picture 675" descr="screen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0" y="2641"/>
                <a:ext cx="179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7" name="Freeform 676"/>
              <p:cNvSpPr>
                <a:spLocks/>
              </p:cNvSpPr>
              <p:nvPr/>
            </p:nvSpPr>
            <p:spPr bwMode="auto">
              <a:xfrm>
                <a:off x="3226" y="2634"/>
                <a:ext cx="167" cy="25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Freeform 677"/>
              <p:cNvSpPr>
                <a:spLocks/>
              </p:cNvSpPr>
              <p:nvPr/>
            </p:nvSpPr>
            <p:spPr bwMode="auto">
              <a:xfrm>
                <a:off x="3189" y="2634"/>
                <a:ext cx="46" cy="102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Freeform 678"/>
              <p:cNvSpPr>
                <a:spLocks/>
              </p:cNvSpPr>
              <p:nvPr/>
            </p:nvSpPr>
            <p:spPr bwMode="auto">
              <a:xfrm>
                <a:off x="3342" y="2652"/>
                <a:ext cx="50" cy="117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Freeform 679"/>
              <p:cNvSpPr>
                <a:spLocks/>
              </p:cNvSpPr>
              <p:nvPr/>
            </p:nvSpPr>
            <p:spPr bwMode="auto">
              <a:xfrm>
                <a:off x="3188" y="2730"/>
                <a:ext cx="183" cy="40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680"/>
              <p:cNvSpPr>
                <a:spLocks/>
              </p:cNvSpPr>
              <p:nvPr/>
            </p:nvSpPr>
            <p:spPr bwMode="auto">
              <a:xfrm>
                <a:off x="3347" y="2653"/>
                <a:ext cx="47" cy="118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0 h 1659"/>
                  <a:gd name="T6" fmla="*/ 0 w 637"/>
                  <a:gd name="T7" fmla="*/ 0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681"/>
              <p:cNvSpPr>
                <a:spLocks/>
              </p:cNvSpPr>
              <p:nvPr/>
            </p:nvSpPr>
            <p:spPr bwMode="auto">
              <a:xfrm>
                <a:off x="3188" y="2736"/>
                <a:ext cx="163" cy="39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0 h 550"/>
                  <a:gd name="T4" fmla="*/ 0 w 2216"/>
                  <a:gd name="T5" fmla="*/ 0 h 550"/>
                  <a:gd name="T6" fmla="*/ 0 w 2216"/>
                  <a:gd name="T7" fmla="*/ 0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3" name="Group 682"/>
              <p:cNvGrpSpPr>
                <a:grpSpLocks/>
              </p:cNvGrpSpPr>
              <p:nvPr/>
            </p:nvGrpSpPr>
            <p:grpSpPr bwMode="auto">
              <a:xfrm>
                <a:off x="3186" y="2777"/>
                <a:ext cx="55" cy="24"/>
                <a:chOff x="1740" y="2642"/>
                <a:chExt cx="752" cy="327"/>
              </a:xfrm>
            </p:grpSpPr>
            <p:sp>
              <p:nvSpPr>
                <p:cNvPr id="192" name="Freeform 683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3" name="Freeform 684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4" name="Freeform 685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5" name="Freeform 686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6" name="Freeform 687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7" name="Freeform 688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4" name="Freeform 689"/>
              <p:cNvSpPr>
                <a:spLocks/>
              </p:cNvSpPr>
              <p:nvPr/>
            </p:nvSpPr>
            <p:spPr bwMode="auto">
              <a:xfrm>
                <a:off x="3280" y="2781"/>
                <a:ext cx="67" cy="51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690"/>
              <p:cNvSpPr>
                <a:spLocks/>
              </p:cNvSpPr>
              <p:nvPr/>
            </p:nvSpPr>
            <p:spPr bwMode="auto">
              <a:xfrm>
                <a:off x="3109" y="2785"/>
                <a:ext cx="171" cy="4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691"/>
              <p:cNvSpPr>
                <a:spLocks/>
              </p:cNvSpPr>
              <p:nvPr/>
            </p:nvSpPr>
            <p:spPr bwMode="auto">
              <a:xfrm>
                <a:off x="3110" y="2776"/>
                <a:ext cx="1" cy="10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Freeform 692"/>
              <p:cNvSpPr>
                <a:spLocks/>
              </p:cNvSpPr>
              <p:nvPr/>
            </p:nvSpPr>
            <p:spPr bwMode="auto">
              <a:xfrm>
                <a:off x="3110" y="2738"/>
                <a:ext cx="79" cy="39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Freeform 693"/>
              <p:cNvSpPr>
                <a:spLocks/>
              </p:cNvSpPr>
              <p:nvPr/>
            </p:nvSpPr>
            <p:spPr bwMode="auto">
              <a:xfrm>
                <a:off x="3115" y="2778"/>
                <a:ext cx="162" cy="4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Freeform 694"/>
              <p:cNvSpPr>
                <a:spLocks/>
              </p:cNvSpPr>
              <p:nvPr/>
            </p:nvSpPr>
            <p:spPr bwMode="auto">
              <a:xfrm flipV="1">
                <a:off x="3277" y="2775"/>
                <a:ext cx="66" cy="4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Freeform 695"/>
              <p:cNvSpPr>
                <a:spLocks/>
              </p:cNvSpPr>
              <p:nvPr/>
            </p:nvSpPr>
            <p:spPr bwMode="auto">
              <a:xfrm>
                <a:off x="3382" y="2736"/>
                <a:ext cx="1" cy="10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Freeform 696"/>
              <p:cNvSpPr>
                <a:spLocks/>
              </p:cNvSpPr>
              <p:nvPr/>
            </p:nvSpPr>
            <p:spPr bwMode="auto">
              <a:xfrm>
                <a:off x="3382" y="2698"/>
                <a:ext cx="79" cy="39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939445" y="3604630"/>
            <a:ext cx="1313180" cy="1436205"/>
            <a:chOff x="635597" y="4409332"/>
            <a:chExt cx="1750906" cy="1914940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635597" y="5834907"/>
              <a:ext cx="1750906" cy="489365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050" i="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shared wire (e.g.,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050" i="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cabled Ethernet)</a:t>
              </a:r>
            </a:p>
          </p:txBody>
        </p:sp>
        <p:sp>
          <p:nvSpPr>
            <p:cNvPr id="13" name="Line 173"/>
            <p:cNvSpPr>
              <a:spLocks noChangeShapeType="1"/>
            </p:cNvSpPr>
            <p:nvPr/>
          </p:nvSpPr>
          <p:spPr bwMode="auto">
            <a:xfrm flipH="1">
              <a:off x="1321343" y="4663332"/>
              <a:ext cx="466725" cy="890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74"/>
            <p:cNvSpPr>
              <a:spLocks noChangeShapeType="1"/>
            </p:cNvSpPr>
            <p:nvPr/>
          </p:nvSpPr>
          <p:spPr bwMode="auto">
            <a:xfrm>
              <a:off x="1303880" y="5134819"/>
              <a:ext cx="242888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75"/>
            <p:cNvSpPr>
              <a:spLocks noChangeShapeType="1"/>
            </p:cNvSpPr>
            <p:nvPr/>
          </p:nvSpPr>
          <p:spPr bwMode="auto">
            <a:xfrm>
              <a:off x="1168943" y="5471369"/>
              <a:ext cx="1905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76"/>
            <p:cNvSpPr>
              <a:spLocks noChangeShapeType="1"/>
            </p:cNvSpPr>
            <p:nvPr/>
          </p:nvSpPr>
          <p:spPr bwMode="auto">
            <a:xfrm flipV="1">
              <a:off x="1613443" y="4995119"/>
              <a:ext cx="177800" cy="7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434"/>
            <p:cNvSpPr>
              <a:spLocks noChangeShapeType="1"/>
            </p:cNvSpPr>
            <p:nvPr/>
          </p:nvSpPr>
          <p:spPr bwMode="auto">
            <a:xfrm>
              <a:off x="1484855" y="4768107"/>
              <a:ext cx="242888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435"/>
            <p:cNvSpPr>
              <a:spLocks noChangeShapeType="1"/>
            </p:cNvSpPr>
            <p:nvPr/>
          </p:nvSpPr>
          <p:spPr bwMode="auto">
            <a:xfrm>
              <a:off x="1484855" y="4768107"/>
              <a:ext cx="242888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436"/>
            <p:cNvSpPr>
              <a:spLocks noChangeShapeType="1"/>
            </p:cNvSpPr>
            <p:nvPr/>
          </p:nvSpPr>
          <p:spPr bwMode="auto">
            <a:xfrm>
              <a:off x="1416593" y="5404694"/>
              <a:ext cx="1905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7" name="Group 506"/>
            <p:cNvGrpSpPr>
              <a:grpSpLocks/>
            </p:cNvGrpSpPr>
            <p:nvPr/>
          </p:nvGrpSpPr>
          <p:grpSpPr bwMode="auto">
            <a:xfrm flipH="1">
              <a:off x="754605" y="5280869"/>
              <a:ext cx="501650" cy="512763"/>
              <a:chOff x="2839" y="3501"/>
              <a:chExt cx="755" cy="803"/>
            </a:xfrm>
          </p:grpSpPr>
          <p:pic>
            <p:nvPicPr>
              <p:cNvPr id="68" name="Picture 50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" name="Freeform 50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4" name="Group 699"/>
            <p:cNvGrpSpPr>
              <a:grpSpLocks/>
            </p:cNvGrpSpPr>
            <p:nvPr/>
          </p:nvGrpSpPr>
          <p:grpSpPr bwMode="auto">
            <a:xfrm flipH="1">
              <a:off x="908593" y="4836369"/>
              <a:ext cx="501650" cy="512763"/>
              <a:chOff x="2839" y="3501"/>
              <a:chExt cx="755" cy="803"/>
            </a:xfrm>
          </p:grpSpPr>
          <p:pic>
            <p:nvPicPr>
              <p:cNvPr id="205" name="Picture 7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6" name="Freeform 7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7" name="Group 702"/>
            <p:cNvGrpSpPr>
              <a:grpSpLocks/>
            </p:cNvGrpSpPr>
            <p:nvPr/>
          </p:nvGrpSpPr>
          <p:grpSpPr bwMode="auto">
            <a:xfrm flipH="1">
              <a:off x="1059405" y="4409332"/>
              <a:ext cx="501650" cy="512762"/>
              <a:chOff x="2839" y="3501"/>
              <a:chExt cx="755" cy="803"/>
            </a:xfrm>
          </p:grpSpPr>
          <p:pic>
            <p:nvPicPr>
              <p:cNvPr id="208" name="Picture 70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9" name="Freeform 70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0" name="Group 705"/>
            <p:cNvGrpSpPr>
              <a:grpSpLocks/>
            </p:cNvGrpSpPr>
            <p:nvPr/>
          </p:nvGrpSpPr>
          <p:grpSpPr bwMode="auto">
            <a:xfrm>
              <a:off x="1732505" y="4796682"/>
              <a:ext cx="501650" cy="512762"/>
              <a:chOff x="2839" y="3501"/>
              <a:chExt cx="755" cy="803"/>
            </a:xfrm>
          </p:grpSpPr>
          <p:pic>
            <p:nvPicPr>
              <p:cNvPr id="211" name="Picture 70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2" name="Freeform 707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3" name="Group 708"/>
            <p:cNvGrpSpPr>
              <a:grpSpLocks/>
            </p:cNvGrpSpPr>
            <p:nvPr/>
          </p:nvGrpSpPr>
          <p:grpSpPr bwMode="auto">
            <a:xfrm>
              <a:off x="1534068" y="5236419"/>
              <a:ext cx="501650" cy="512763"/>
              <a:chOff x="2839" y="3501"/>
              <a:chExt cx="755" cy="803"/>
            </a:xfrm>
          </p:grpSpPr>
          <p:pic>
            <p:nvPicPr>
              <p:cNvPr id="214" name="Picture 70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" name="Freeform 710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4695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89123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多址访问协议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89124" name="Rectangle 4"/>
          <p:cNvSpPr>
            <a:spLocks noChangeArrowheads="1"/>
          </p:cNvSpPr>
          <p:nvPr/>
        </p:nvSpPr>
        <p:spPr bwMode="auto">
          <a:xfrm>
            <a:off x="899592" y="1402803"/>
            <a:ext cx="6102678" cy="336445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只有一个信道，供多对通信实体访问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两个以上的并发通信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干扰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碰撞：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如果同一时刻两个以上的结点同时发送信息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信号纠缠在一起</a:t>
            </a: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发送的数据帧都会出错</a:t>
            </a:r>
            <a:r>
              <a: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丢失</a:t>
            </a:r>
            <a:r>
              <a: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TW" sz="1500" i="1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multiple access protocol</a:t>
            </a:r>
            <a:endParaRPr lang="en-US" altLang="zh-TW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分布式的算法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结点怎么共享链路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如：确定哪个结点在什么时候可以发送数据</a:t>
            </a:r>
            <a:endParaRPr lang="en-US" altLang="zh-TW" sz="12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结点之间的协同也使用相同的链路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!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没有“带外信道”进行协同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6159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0147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理想的多路访问协议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90148" name="Rectangle 4"/>
          <p:cNvSpPr>
            <a:spLocks noChangeArrowheads="1"/>
          </p:cNvSpPr>
          <p:nvPr/>
        </p:nvSpPr>
        <p:spPr bwMode="auto">
          <a:xfrm>
            <a:off x="1043608" y="1419622"/>
            <a:ext cx="5829300" cy="224313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设广播信道的带宽为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bps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Tx/>
              <a:buNone/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当结点需要传输数据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它可以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充分利用带宽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lvl="1">
              <a:spcBef>
                <a:spcPts val="600"/>
              </a:spcBef>
              <a:buFontTx/>
              <a:buNone/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个结点需要传输数据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每个结点可以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平均使用带宽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R/M</a:t>
            </a:r>
          </a:p>
          <a:p>
            <a:pPr lvl="1">
              <a:spcBef>
                <a:spcPts val="600"/>
              </a:spcBef>
              <a:buFontTx/>
              <a:buNone/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完全分布式控制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2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不需要特殊的结点来协调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不需要主持人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不需要时钟同步、划分时隙</a:t>
            </a:r>
            <a:endParaRPr lang="en-US" altLang="zh-TW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buFontTx/>
              <a:buNone/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简单、易于实现</a:t>
            </a:r>
            <a:endParaRPr lang="en-US" altLang="zh-TW" sz="18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499992" y="3215302"/>
            <a:ext cx="3744416" cy="158869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en-US" altLang="zh-CN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给每个人讲话的机会</a:t>
            </a:r>
            <a:endParaRPr lang="en-US" altLang="zh-CN" sz="1350" dirty="0">
              <a:solidFill>
                <a:srgbClr val="008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该你讲话时你才说话</a:t>
            </a:r>
            <a:endParaRPr lang="en-US" altLang="zh-CN" sz="1350" dirty="0">
              <a:solidFill>
                <a:srgbClr val="008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不要一个人独占整个谈话</a:t>
            </a:r>
            <a:endParaRPr lang="en-US" altLang="zh-CN" sz="1350" dirty="0">
              <a:solidFill>
                <a:srgbClr val="008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如果有问题请举手</a:t>
            </a:r>
            <a:endParaRPr lang="en-US" altLang="zh-CN" sz="1350" dirty="0">
              <a:solidFill>
                <a:srgbClr val="008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有人讲话时请不要打断</a:t>
            </a:r>
            <a:endParaRPr lang="en-US" altLang="zh-CN" sz="1350" dirty="0">
              <a:solidFill>
                <a:srgbClr val="008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350" dirty="0">
                <a:solidFill>
                  <a:srgbClr val="008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当其他人讲话时请不要睡觉</a:t>
            </a:r>
            <a:endParaRPr lang="en-US" altLang="zh-TW" sz="1350" dirty="0">
              <a:solidFill>
                <a:srgbClr val="008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859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11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多址访问协议：分类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91172" name="Rectangle 4"/>
          <p:cNvSpPr>
            <a:spLocks noChangeArrowheads="1"/>
          </p:cNvSpPr>
          <p:nvPr/>
        </p:nvSpPr>
        <p:spPr bwMode="auto">
          <a:xfrm>
            <a:off x="1043608" y="1458459"/>
            <a:ext cx="5829300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Channel Partitioning(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信道划分协议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将信道划分为小的分片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pieces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时隙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频段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将每个信道分片分配给特定的用途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各行其道，避免撞车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pPr>
              <a:spcBef>
                <a:spcPts val="600"/>
              </a:spcBef>
            </a:pP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Random Access(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随机访问协议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信道不进行划分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允许产生碰撞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重点是怎么从碰撞中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5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Taking turns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轮流协议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结点按次序轮流传送数据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3193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219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461662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5.3.1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信道划分多址访问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TDMA</a:t>
            </a:r>
          </a:p>
        </p:txBody>
      </p:sp>
      <p:sp>
        <p:nvSpPr>
          <p:cNvPr id="392196" name="Rectangle 4"/>
          <p:cNvSpPr>
            <a:spLocks noChangeArrowheads="1"/>
          </p:cNvSpPr>
          <p:nvPr/>
        </p:nvSpPr>
        <p:spPr bwMode="auto">
          <a:xfrm>
            <a:off x="1008556" y="1419823"/>
            <a:ext cx="5829300" cy="219789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TDMA: time division multiple access</a:t>
            </a:r>
            <a:r>
              <a:rPr lang="en-US" altLang="zh-TW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分时多址访问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按照时间的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回合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来访问链路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每个结点分配固定长度的时间间隙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(time slot)</a:t>
            </a: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(length = pkt trans time) in each round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没有发送数据的时隙就空闲起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是一种浪费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如下图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6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个端点的局域网，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时隙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1,3,4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发送了分组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时隙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2,5,6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空闲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TW" sz="18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23728" y="3782872"/>
            <a:ext cx="4563665" cy="746107"/>
            <a:chOff x="1788765" y="4383393"/>
            <a:chExt cx="6084887" cy="994808"/>
          </a:xfrm>
        </p:grpSpPr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788765" y="5269218"/>
              <a:ext cx="60848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011015" y="5042205"/>
              <a:ext cx="479425" cy="2301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969865" y="5042205"/>
              <a:ext cx="479425" cy="2301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444527" y="5042205"/>
              <a:ext cx="479425" cy="2301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012602" y="4929493"/>
              <a:ext cx="0" cy="3381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4878040" y="4932668"/>
              <a:ext cx="0" cy="338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2111026" y="5008869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i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3057177" y="4994580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i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7" name="Text Box 25"/>
            <p:cNvSpPr txBox="1">
              <a:spLocks noChangeArrowheads="1"/>
            </p:cNvSpPr>
            <p:nvPr/>
          </p:nvSpPr>
          <p:spPr bwMode="auto">
            <a:xfrm>
              <a:off x="3522314" y="5000930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i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8" name="Rectangle 26"/>
            <p:cNvSpPr>
              <a:spLocks noChangeArrowheads="1"/>
            </p:cNvSpPr>
            <p:nvPr/>
          </p:nvSpPr>
          <p:spPr bwMode="auto">
            <a:xfrm>
              <a:off x="4868515" y="5037443"/>
              <a:ext cx="479425" cy="23018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27"/>
            <p:cNvSpPr>
              <a:spLocks noChangeArrowheads="1"/>
            </p:cNvSpPr>
            <p:nvPr/>
          </p:nvSpPr>
          <p:spPr bwMode="auto">
            <a:xfrm>
              <a:off x="5827365" y="5037443"/>
              <a:ext cx="479425" cy="230187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6302027" y="5037443"/>
              <a:ext cx="479425" cy="23018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9"/>
            <p:cNvSpPr>
              <a:spLocks noChangeShapeType="1"/>
            </p:cNvSpPr>
            <p:nvPr/>
          </p:nvSpPr>
          <p:spPr bwMode="auto">
            <a:xfrm>
              <a:off x="4870102" y="4924730"/>
              <a:ext cx="0" cy="338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30"/>
            <p:cNvSpPr txBox="1">
              <a:spLocks noChangeArrowheads="1"/>
            </p:cNvSpPr>
            <p:nvPr/>
          </p:nvSpPr>
          <p:spPr bwMode="auto">
            <a:xfrm>
              <a:off x="4968527" y="5004106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i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3" name="Text Box 31"/>
            <p:cNvSpPr txBox="1">
              <a:spLocks noChangeArrowheads="1"/>
            </p:cNvSpPr>
            <p:nvPr/>
          </p:nvSpPr>
          <p:spPr bwMode="auto">
            <a:xfrm>
              <a:off x="5914677" y="4989818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i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24" name="Text Box 32"/>
            <p:cNvSpPr txBox="1">
              <a:spLocks noChangeArrowheads="1"/>
            </p:cNvSpPr>
            <p:nvPr/>
          </p:nvSpPr>
          <p:spPr bwMode="auto">
            <a:xfrm>
              <a:off x="6379815" y="4996168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i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5" name="Line 34"/>
            <p:cNvSpPr>
              <a:spLocks noChangeShapeType="1"/>
            </p:cNvSpPr>
            <p:nvPr/>
          </p:nvSpPr>
          <p:spPr bwMode="auto">
            <a:xfrm>
              <a:off x="2493615" y="5034268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35"/>
            <p:cNvSpPr>
              <a:spLocks noChangeShapeType="1"/>
            </p:cNvSpPr>
            <p:nvPr/>
          </p:nvSpPr>
          <p:spPr bwMode="auto">
            <a:xfrm>
              <a:off x="2969865" y="5039030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36"/>
            <p:cNvSpPr>
              <a:spLocks noChangeShapeType="1"/>
            </p:cNvSpPr>
            <p:nvPr/>
          </p:nvSpPr>
          <p:spPr bwMode="auto">
            <a:xfrm>
              <a:off x="3446115" y="5039030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37"/>
            <p:cNvSpPr>
              <a:spLocks noChangeShapeType="1"/>
            </p:cNvSpPr>
            <p:nvPr/>
          </p:nvSpPr>
          <p:spPr bwMode="auto">
            <a:xfrm>
              <a:off x="3922365" y="5039030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38"/>
            <p:cNvSpPr>
              <a:spLocks noChangeShapeType="1"/>
            </p:cNvSpPr>
            <p:nvPr/>
          </p:nvSpPr>
          <p:spPr bwMode="auto">
            <a:xfrm>
              <a:off x="4403377" y="5029505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9"/>
            <p:cNvSpPr>
              <a:spLocks noChangeShapeType="1"/>
            </p:cNvSpPr>
            <p:nvPr/>
          </p:nvSpPr>
          <p:spPr bwMode="auto">
            <a:xfrm>
              <a:off x="5351115" y="5034268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40"/>
            <p:cNvSpPr>
              <a:spLocks noChangeShapeType="1"/>
            </p:cNvSpPr>
            <p:nvPr/>
          </p:nvSpPr>
          <p:spPr bwMode="auto">
            <a:xfrm>
              <a:off x="6298852" y="5029505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41"/>
            <p:cNvSpPr>
              <a:spLocks noChangeShapeType="1"/>
            </p:cNvSpPr>
            <p:nvPr/>
          </p:nvSpPr>
          <p:spPr bwMode="auto">
            <a:xfrm>
              <a:off x="7246590" y="5024743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>
              <a:off x="6779865" y="5034268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43"/>
            <p:cNvSpPr>
              <a:spLocks noChangeShapeType="1"/>
            </p:cNvSpPr>
            <p:nvPr/>
          </p:nvSpPr>
          <p:spPr bwMode="auto">
            <a:xfrm>
              <a:off x="7727602" y="4939018"/>
              <a:ext cx="0" cy="338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44"/>
            <p:cNvSpPr>
              <a:spLocks noChangeShapeType="1"/>
            </p:cNvSpPr>
            <p:nvPr/>
          </p:nvSpPr>
          <p:spPr bwMode="auto">
            <a:xfrm>
              <a:off x="5827365" y="5034268"/>
              <a:ext cx="0" cy="238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45"/>
            <p:cNvSpPr txBox="1">
              <a:spLocks noChangeArrowheads="1"/>
            </p:cNvSpPr>
            <p:nvPr/>
          </p:nvSpPr>
          <p:spPr bwMode="auto">
            <a:xfrm>
              <a:off x="3057177" y="4410380"/>
              <a:ext cx="816891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i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6-slot</a:t>
              </a:r>
            </a:p>
            <a:p>
              <a:pPr>
                <a:defRPr/>
              </a:pPr>
              <a:r>
                <a:rPr lang="en-US" sz="1200" i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frame</a:t>
              </a:r>
            </a:p>
          </p:txBody>
        </p:sp>
        <p:sp>
          <p:nvSpPr>
            <p:cNvPr id="37" name="Line 46"/>
            <p:cNvSpPr>
              <a:spLocks noChangeShapeType="1"/>
            </p:cNvSpPr>
            <p:nvPr/>
          </p:nvSpPr>
          <p:spPr bwMode="auto">
            <a:xfrm>
              <a:off x="3868390" y="4746930"/>
              <a:ext cx="989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47"/>
            <p:cNvSpPr>
              <a:spLocks noChangeShapeType="1"/>
            </p:cNvSpPr>
            <p:nvPr/>
          </p:nvSpPr>
          <p:spPr bwMode="auto">
            <a:xfrm flipH="1">
              <a:off x="2023715" y="4742168"/>
              <a:ext cx="989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48"/>
            <p:cNvSpPr>
              <a:spLocks noChangeShapeType="1"/>
            </p:cNvSpPr>
            <p:nvPr/>
          </p:nvSpPr>
          <p:spPr bwMode="auto">
            <a:xfrm>
              <a:off x="2003077" y="4654855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49"/>
            <p:cNvSpPr>
              <a:spLocks noChangeShapeType="1"/>
            </p:cNvSpPr>
            <p:nvPr/>
          </p:nvSpPr>
          <p:spPr bwMode="auto">
            <a:xfrm>
              <a:off x="4862165" y="464533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 Box 51"/>
            <p:cNvSpPr txBox="1">
              <a:spLocks noChangeArrowheads="1"/>
            </p:cNvSpPr>
            <p:nvPr/>
          </p:nvSpPr>
          <p:spPr bwMode="auto">
            <a:xfrm>
              <a:off x="5921027" y="4383393"/>
              <a:ext cx="816891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6-slot</a:t>
              </a:r>
            </a:p>
            <a:p>
              <a:pPr>
                <a:defRPr/>
              </a:pPr>
              <a:r>
                <a:rPr lang="en-US" sz="1200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frame</a:t>
              </a:r>
            </a:p>
          </p:txBody>
        </p:sp>
        <p:sp>
          <p:nvSpPr>
            <p:cNvPr id="42" name="Line 52"/>
            <p:cNvSpPr>
              <a:spLocks noChangeShapeType="1"/>
            </p:cNvSpPr>
            <p:nvPr/>
          </p:nvSpPr>
          <p:spPr bwMode="auto">
            <a:xfrm>
              <a:off x="6732240" y="4753280"/>
              <a:ext cx="989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53"/>
            <p:cNvSpPr>
              <a:spLocks noChangeShapeType="1"/>
            </p:cNvSpPr>
            <p:nvPr/>
          </p:nvSpPr>
          <p:spPr bwMode="auto">
            <a:xfrm flipH="1">
              <a:off x="4887565" y="4748518"/>
              <a:ext cx="989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55"/>
            <p:cNvSpPr>
              <a:spLocks noChangeShapeType="1"/>
            </p:cNvSpPr>
            <p:nvPr/>
          </p:nvSpPr>
          <p:spPr bwMode="auto">
            <a:xfrm>
              <a:off x="7726015" y="46183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noFill/>
                </a14:hiddenFill>
              </a:ex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i="1" kern="12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769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3221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5.3.1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信道划分多址访问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FDMA</a:t>
            </a:r>
          </a:p>
        </p:txBody>
      </p:sp>
      <p:sp>
        <p:nvSpPr>
          <p:cNvPr id="393222" name="Rectangle 6"/>
          <p:cNvSpPr>
            <a:spLocks noChangeArrowheads="1"/>
          </p:cNvSpPr>
          <p:nvPr/>
        </p:nvSpPr>
        <p:spPr bwMode="auto">
          <a:xfrm>
            <a:off x="864394" y="1406920"/>
            <a:ext cx="6587925" cy="197167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TW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FDMA: frequency division multiple access</a:t>
            </a:r>
            <a:r>
              <a:rPr lang="en-US" altLang="zh-TW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分频多址访问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18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信道根据频谱划分成若干个频段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每个结点使用固定的频段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不发送数据的结点所在的频段空闲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如右下图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6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个结点的局域网，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频段</a:t>
            </a:r>
            <a:r>
              <a:rPr lang="en-US" altLang="zh-TW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1,3,4 </a:t>
            </a: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发送分组</a:t>
            </a:r>
            <a:r>
              <a:rPr lang="en-US" altLang="zh-TW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频段</a:t>
            </a:r>
            <a:r>
              <a:rPr lang="en-US" altLang="zh-TW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2,5,6 </a:t>
            </a: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空闲</a:t>
            </a:r>
            <a:r>
              <a:rPr lang="en-US" altLang="zh-TW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630705" y="3009047"/>
            <a:ext cx="2875192" cy="1830608"/>
            <a:chOff x="4344163" y="3772665"/>
            <a:chExt cx="3833588" cy="2440810"/>
          </a:xfrm>
        </p:grpSpPr>
        <p:sp>
          <p:nvSpPr>
            <p:cNvPr id="393223" name="Rectangle 7"/>
            <p:cNvSpPr>
              <a:spLocks noChangeArrowheads="1"/>
            </p:cNvSpPr>
            <p:nvPr/>
          </p:nvSpPr>
          <p:spPr bwMode="auto">
            <a:xfrm>
              <a:off x="4808538" y="3962400"/>
              <a:ext cx="627062" cy="22510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24" name="Line 8"/>
            <p:cNvSpPr>
              <a:spLocks noChangeShapeType="1"/>
            </p:cNvSpPr>
            <p:nvPr/>
          </p:nvSpPr>
          <p:spPr bwMode="auto">
            <a:xfrm flipV="1">
              <a:off x="4806950" y="5067300"/>
              <a:ext cx="6223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25" name="Line 9"/>
            <p:cNvSpPr>
              <a:spLocks noChangeShapeType="1"/>
            </p:cNvSpPr>
            <p:nvPr/>
          </p:nvSpPr>
          <p:spPr bwMode="auto">
            <a:xfrm flipV="1">
              <a:off x="4802188" y="5459413"/>
              <a:ext cx="631825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26" name="Line 10"/>
            <p:cNvSpPr>
              <a:spLocks noChangeShapeType="1"/>
            </p:cNvSpPr>
            <p:nvPr/>
          </p:nvSpPr>
          <p:spPr bwMode="auto">
            <a:xfrm flipV="1">
              <a:off x="4806950" y="5845175"/>
              <a:ext cx="627063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27" name="Line 11"/>
            <p:cNvSpPr>
              <a:spLocks noChangeShapeType="1"/>
            </p:cNvSpPr>
            <p:nvPr/>
          </p:nvSpPr>
          <p:spPr bwMode="auto">
            <a:xfrm flipV="1">
              <a:off x="4802188" y="4681538"/>
              <a:ext cx="631825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28" name="Line 12"/>
            <p:cNvSpPr>
              <a:spLocks noChangeShapeType="1"/>
            </p:cNvSpPr>
            <p:nvPr/>
          </p:nvSpPr>
          <p:spPr bwMode="auto">
            <a:xfrm flipV="1">
              <a:off x="4806950" y="4295775"/>
              <a:ext cx="631825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29" name="Line 13"/>
            <p:cNvSpPr>
              <a:spLocks noChangeShapeType="1"/>
            </p:cNvSpPr>
            <p:nvPr/>
          </p:nvSpPr>
          <p:spPr bwMode="auto">
            <a:xfrm>
              <a:off x="5527675" y="4235450"/>
              <a:ext cx="2228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30" name="Freeform 14"/>
            <p:cNvSpPr>
              <a:spLocks/>
            </p:cNvSpPr>
            <p:nvPr/>
          </p:nvSpPr>
          <p:spPr bwMode="auto">
            <a:xfrm>
              <a:off x="5675313" y="4116388"/>
              <a:ext cx="1728787" cy="114300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31" name="Line 15"/>
            <p:cNvSpPr>
              <a:spLocks noChangeShapeType="1"/>
            </p:cNvSpPr>
            <p:nvPr/>
          </p:nvSpPr>
          <p:spPr bwMode="auto">
            <a:xfrm>
              <a:off x="5575300" y="4638675"/>
              <a:ext cx="2228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32" name="Line 16"/>
            <p:cNvSpPr>
              <a:spLocks noChangeShapeType="1"/>
            </p:cNvSpPr>
            <p:nvPr/>
          </p:nvSpPr>
          <p:spPr bwMode="auto">
            <a:xfrm>
              <a:off x="5575300" y="5037138"/>
              <a:ext cx="2228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33" name="Freeform 17"/>
            <p:cNvSpPr>
              <a:spLocks/>
            </p:cNvSpPr>
            <p:nvPr/>
          </p:nvSpPr>
          <p:spPr bwMode="auto">
            <a:xfrm>
              <a:off x="5722938" y="4918075"/>
              <a:ext cx="1728787" cy="114300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FF0000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grpSp>
          <p:nvGrpSpPr>
            <p:cNvPr id="393234" name="Group 18"/>
            <p:cNvGrpSpPr>
              <a:grpSpLocks/>
            </p:cNvGrpSpPr>
            <p:nvPr/>
          </p:nvGrpSpPr>
          <p:grpSpPr bwMode="auto">
            <a:xfrm>
              <a:off x="5592763" y="5322888"/>
              <a:ext cx="2228850" cy="119062"/>
              <a:chOff x="1884" y="2826"/>
              <a:chExt cx="1404" cy="75"/>
            </a:xfrm>
          </p:grpSpPr>
          <p:sp>
            <p:nvSpPr>
              <p:cNvPr id="393235" name="Line 19"/>
              <p:cNvSpPr>
                <a:spLocks noChangeShapeType="1"/>
              </p:cNvSpPr>
              <p:nvPr/>
            </p:nvSpPr>
            <p:spPr bwMode="auto">
              <a:xfrm>
                <a:off x="1884" y="2901"/>
                <a:ext cx="14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+mj-lt"/>
                  <a:ea typeface="+mj-ea"/>
                </a:endParaRPr>
              </a:p>
            </p:txBody>
          </p:sp>
          <p:sp>
            <p:nvSpPr>
              <p:cNvPr id="393236" name="Freeform 20"/>
              <p:cNvSpPr>
                <a:spLocks/>
              </p:cNvSpPr>
              <p:nvPr/>
            </p:nvSpPr>
            <p:spPr bwMode="auto">
              <a:xfrm>
                <a:off x="1977" y="2826"/>
                <a:ext cx="1089" cy="72"/>
              </a:xfrm>
              <a:custGeom>
                <a:avLst/>
                <a:gdLst>
                  <a:gd name="T0" fmla="*/ 0 w 1089"/>
                  <a:gd name="T1" fmla="*/ 72 h 72"/>
                  <a:gd name="T2" fmla="*/ 0 w 1089"/>
                  <a:gd name="T3" fmla="*/ 3 h 72"/>
                  <a:gd name="T4" fmla="*/ 1089 w 1089"/>
                  <a:gd name="T5" fmla="*/ 0 h 72"/>
                  <a:gd name="T6" fmla="*/ 1089 w 1089"/>
                  <a:gd name="T7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9" h="72">
                    <a:moveTo>
                      <a:pt x="0" y="72"/>
                    </a:moveTo>
                    <a:lnTo>
                      <a:pt x="0" y="3"/>
                    </a:lnTo>
                    <a:lnTo>
                      <a:pt x="1089" y="0"/>
                    </a:lnTo>
                    <a:lnTo>
                      <a:pt x="1089" y="72"/>
                    </a:lnTo>
                  </a:path>
                </a:pathLst>
              </a:custGeom>
              <a:solidFill>
                <a:srgbClr val="00CC66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+mj-lt"/>
                  <a:ea typeface="+mj-ea"/>
                </a:endParaRPr>
              </a:p>
            </p:txBody>
          </p:sp>
        </p:grpSp>
        <p:sp>
          <p:nvSpPr>
            <p:cNvPr id="393237" name="Line 21"/>
            <p:cNvSpPr>
              <a:spLocks noChangeShapeType="1"/>
            </p:cNvSpPr>
            <p:nvPr/>
          </p:nvSpPr>
          <p:spPr bwMode="auto">
            <a:xfrm>
              <a:off x="5622925" y="5848350"/>
              <a:ext cx="2228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38" name="Line 22"/>
            <p:cNvSpPr>
              <a:spLocks noChangeShapeType="1"/>
            </p:cNvSpPr>
            <p:nvPr/>
          </p:nvSpPr>
          <p:spPr bwMode="auto">
            <a:xfrm>
              <a:off x="5629275" y="6178550"/>
              <a:ext cx="2228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39" name="Text Box 23"/>
            <p:cNvSpPr txBox="1">
              <a:spLocks noChangeArrowheads="1"/>
            </p:cNvSpPr>
            <p:nvPr/>
          </p:nvSpPr>
          <p:spPr bwMode="auto">
            <a:xfrm rot="16200000">
              <a:off x="3617469" y="4794222"/>
              <a:ext cx="1853498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350">
                  <a:latin typeface="+mj-lt"/>
                  <a:ea typeface="+mj-ea"/>
                </a:rPr>
                <a:t>frequency bands</a:t>
              </a:r>
            </a:p>
          </p:txBody>
        </p:sp>
        <p:sp>
          <p:nvSpPr>
            <p:cNvPr id="393240" name="Text Box 24"/>
            <p:cNvSpPr txBox="1">
              <a:spLocks noChangeArrowheads="1"/>
            </p:cNvSpPr>
            <p:nvPr/>
          </p:nvSpPr>
          <p:spPr bwMode="auto">
            <a:xfrm rot="67766">
              <a:off x="7508337" y="3772665"/>
              <a:ext cx="669414" cy="40010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350" dirty="0">
                  <a:solidFill>
                    <a:srgbClr val="0066CC"/>
                  </a:solidFill>
                  <a:latin typeface="+mj-lt"/>
                  <a:ea typeface="+mj-ea"/>
                </a:rPr>
                <a:t>time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10309" y="3421026"/>
            <a:ext cx="2588419" cy="1488281"/>
            <a:chOff x="474663" y="4094163"/>
            <a:chExt cx="3451225" cy="1984375"/>
          </a:xfrm>
        </p:grpSpPr>
        <p:sp>
          <p:nvSpPr>
            <p:cNvPr id="393241" name="Freeform 25"/>
            <p:cNvSpPr>
              <a:spLocks/>
            </p:cNvSpPr>
            <p:nvPr/>
          </p:nvSpPr>
          <p:spPr bwMode="auto">
            <a:xfrm>
              <a:off x="2212975" y="4171950"/>
              <a:ext cx="595313" cy="1538288"/>
            </a:xfrm>
            <a:custGeom>
              <a:avLst/>
              <a:gdLst>
                <a:gd name="T0" fmla="*/ 375 w 375"/>
                <a:gd name="T1" fmla="*/ 0 h 969"/>
                <a:gd name="T2" fmla="*/ 0 w 375"/>
                <a:gd name="T3" fmla="*/ 485 h 969"/>
                <a:gd name="T4" fmla="*/ 375 w 375"/>
                <a:gd name="T5" fmla="*/ 969 h 969"/>
                <a:gd name="T6" fmla="*/ 375 w 375"/>
                <a:gd name="T7" fmla="*/ 0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5" h="969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cmpd="sng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grpSp>
          <p:nvGrpSpPr>
            <p:cNvPr id="393242" name="Group 26"/>
            <p:cNvGrpSpPr>
              <a:grpSpLocks/>
            </p:cNvGrpSpPr>
            <p:nvPr/>
          </p:nvGrpSpPr>
          <p:grpSpPr bwMode="auto">
            <a:xfrm>
              <a:off x="474663" y="4810125"/>
              <a:ext cx="1666875" cy="314325"/>
              <a:chOff x="1614" y="1494"/>
              <a:chExt cx="1050" cy="198"/>
            </a:xfrm>
          </p:grpSpPr>
          <p:sp>
            <p:nvSpPr>
              <p:cNvPr id="393243" name="Rectangle 27"/>
              <p:cNvSpPr>
                <a:spLocks noChangeArrowheads="1"/>
              </p:cNvSpPr>
              <p:nvPr/>
            </p:nvSpPr>
            <p:spPr bwMode="auto">
              <a:xfrm>
                <a:off x="2358" y="1500"/>
                <a:ext cx="168" cy="17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+mj-lt"/>
                  <a:ea typeface="+mj-ea"/>
                </a:endParaRPr>
              </a:p>
            </p:txBody>
          </p:sp>
          <p:sp>
            <p:nvSpPr>
              <p:cNvPr id="393244" name="Freeform 28"/>
              <p:cNvSpPr>
                <a:spLocks/>
              </p:cNvSpPr>
              <p:nvPr/>
            </p:nvSpPr>
            <p:spPr bwMode="auto">
              <a:xfrm>
                <a:off x="1614" y="1494"/>
                <a:ext cx="896" cy="198"/>
              </a:xfrm>
              <a:custGeom>
                <a:avLst/>
                <a:gdLst>
                  <a:gd name="T0" fmla="*/ 18 w 896"/>
                  <a:gd name="T1" fmla="*/ 0 h 198"/>
                  <a:gd name="T2" fmla="*/ 0 w 896"/>
                  <a:gd name="T3" fmla="*/ 96 h 198"/>
                  <a:gd name="T4" fmla="*/ 18 w 896"/>
                  <a:gd name="T5" fmla="*/ 198 h 198"/>
                  <a:gd name="T6" fmla="*/ 774 w 896"/>
                  <a:gd name="T7" fmla="*/ 198 h 198"/>
                  <a:gd name="T8" fmla="*/ 750 w 896"/>
                  <a:gd name="T9" fmla="*/ 90 h 198"/>
                  <a:gd name="T10" fmla="*/ 774 w 896"/>
                  <a:gd name="T11" fmla="*/ 0 h 198"/>
                  <a:gd name="T12" fmla="*/ 18 w 896"/>
                  <a:gd name="T13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6" h="198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5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+mj-lt"/>
                  <a:ea typeface="+mj-ea"/>
                </a:endParaRPr>
              </a:p>
            </p:txBody>
          </p:sp>
          <p:sp>
            <p:nvSpPr>
              <p:cNvPr id="393245" name="Oval 29"/>
              <p:cNvSpPr>
                <a:spLocks noChangeArrowheads="1"/>
              </p:cNvSpPr>
              <p:nvPr/>
            </p:nvSpPr>
            <p:spPr bwMode="auto"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+mj-lt"/>
                  <a:ea typeface="+mj-ea"/>
                </a:endParaRPr>
              </a:p>
            </p:txBody>
          </p:sp>
          <p:sp>
            <p:nvSpPr>
              <p:cNvPr id="393246" name="Line 30"/>
              <p:cNvSpPr>
                <a:spLocks noChangeShapeType="1"/>
              </p:cNvSpPr>
              <p:nvPr/>
            </p:nvSpPr>
            <p:spPr bwMode="auto">
              <a:xfrm>
                <a:off x="2526" y="1584"/>
                <a:ext cx="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+mj-lt"/>
                  <a:ea typeface="+mj-ea"/>
                </a:endParaRPr>
              </a:p>
            </p:txBody>
          </p:sp>
        </p:grpSp>
        <p:sp>
          <p:nvSpPr>
            <p:cNvPr id="393247" name="Freeform 31"/>
            <p:cNvSpPr>
              <a:spLocks/>
            </p:cNvSpPr>
            <p:nvPr/>
          </p:nvSpPr>
          <p:spPr bwMode="auto">
            <a:xfrm>
              <a:off x="2984500" y="4864100"/>
              <a:ext cx="892175" cy="173038"/>
            </a:xfrm>
            <a:custGeom>
              <a:avLst/>
              <a:gdLst>
                <a:gd name="T0" fmla="*/ 4 w 562"/>
                <a:gd name="T1" fmla="*/ 264 h 266"/>
                <a:gd name="T2" fmla="*/ 52 w 562"/>
                <a:gd name="T3" fmla="*/ 6 h 266"/>
                <a:gd name="T4" fmla="*/ 108 w 562"/>
                <a:gd name="T5" fmla="*/ 266 h 266"/>
                <a:gd name="T6" fmla="*/ 174 w 562"/>
                <a:gd name="T7" fmla="*/ 0 h 266"/>
                <a:gd name="T8" fmla="*/ 228 w 562"/>
                <a:gd name="T9" fmla="*/ 264 h 266"/>
                <a:gd name="T10" fmla="*/ 288 w 562"/>
                <a:gd name="T11" fmla="*/ 8 h 266"/>
                <a:gd name="T12" fmla="*/ 354 w 562"/>
                <a:gd name="T13" fmla="*/ 266 h 266"/>
                <a:gd name="T14" fmla="*/ 402 w 562"/>
                <a:gd name="T15" fmla="*/ 8 h 266"/>
                <a:gd name="T16" fmla="*/ 464 w 562"/>
                <a:gd name="T17" fmla="*/ 264 h 266"/>
                <a:gd name="T18" fmla="*/ 506 w 562"/>
                <a:gd name="T19" fmla="*/ 6 h 266"/>
                <a:gd name="T20" fmla="*/ 556 w 562"/>
                <a:gd name="T21" fmla="*/ 26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48" name="Freeform 32"/>
            <p:cNvSpPr>
              <a:spLocks/>
            </p:cNvSpPr>
            <p:nvPr/>
          </p:nvSpPr>
          <p:spPr bwMode="auto">
            <a:xfrm>
              <a:off x="3027363" y="4094163"/>
              <a:ext cx="427037" cy="219075"/>
            </a:xfrm>
            <a:custGeom>
              <a:avLst/>
              <a:gdLst>
                <a:gd name="T0" fmla="*/ 4 w 562"/>
                <a:gd name="T1" fmla="*/ 264 h 266"/>
                <a:gd name="T2" fmla="*/ 52 w 562"/>
                <a:gd name="T3" fmla="*/ 6 h 266"/>
                <a:gd name="T4" fmla="*/ 108 w 562"/>
                <a:gd name="T5" fmla="*/ 266 h 266"/>
                <a:gd name="T6" fmla="*/ 174 w 562"/>
                <a:gd name="T7" fmla="*/ 0 h 266"/>
                <a:gd name="T8" fmla="*/ 228 w 562"/>
                <a:gd name="T9" fmla="*/ 264 h 266"/>
                <a:gd name="T10" fmla="*/ 288 w 562"/>
                <a:gd name="T11" fmla="*/ 8 h 266"/>
                <a:gd name="T12" fmla="*/ 354 w 562"/>
                <a:gd name="T13" fmla="*/ 266 h 266"/>
                <a:gd name="T14" fmla="*/ 402 w 562"/>
                <a:gd name="T15" fmla="*/ 8 h 266"/>
                <a:gd name="T16" fmla="*/ 464 w 562"/>
                <a:gd name="T17" fmla="*/ 264 h 266"/>
                <a:gd name="T18" fmla="*/ 506 w 562"/>
                <a:gd name="T19" fmla="*/ 6 h 266"/>
                <a:gd name="T20" fmla="*/ 556 w 562"/>
                <a:gd name="T21" fmla="*/ 26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49" name="Freeform 33"/>
            <p:cNvSpPr>
              <a:spLocks/>
            </p:cNvSpPr>
            <p:nvPr/>
          </p:nvSpPr>
          <p:spPr bwMode="auto">
            <a:xfrm>
              <a:off x="2936875" y="5892800"/>
              <a:ext cx="989013" cy="185738"/>
            </a:xfrm>
            <a:custGeom>
              <a:avLst/>
              <a:gdLst>
                <a:gd name="T0" fmla="*/ 20 w 623"/>
                <a:gd name="T1" fmla="*/ 113 h 117"/>
                <a:gd name="T2" fmla="*/ 114 w 623"/>
                <a:gd name="T3" fmla="*/ 2 h 117"/>
                <a:gd name="T4" fmla="*/ 256 w 623"/>
                <a:gd name="T5" fmla="*/ 114 h 117"/>
                <a:gd name="T6" fmla="*/ 394 w 623"/>
                <a:gd name="T7" fmla="*/ 0 h 117"/>
                <a:gd name="T8" fmla="*/ 522 w 623"/>
                <a:gd name="T9" fmla="*/ 116 h 117"/>
                <a:gd name="T10" fmla="*/ 616 w 623"/>
                <a:gd name="T11" fmla="*/ 1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3" h="117">
                  <a:moveTo>
                    <a:pt x="20" y="113"/>
                  </a:moveTo>
                  <a:cubicBezTo>
                    <a:pt x="44" y="68"/>
                    <a:pt x="0" y="1"/>
                    <a:pt x="114" y="2"/>
                  </a:cubicBezTo>
                  <a:cubicBezTo>
                    <a:pt x="233" y="1"/>
                    <a:pt x="144" y="114"/>
                    <a:pt x="256" y="114"/>
                  </a:cubicBezTo>
                  <a:cubicBezTo>
                    <a:pt x="368" y="114"/>
                    <a:pt x="288" y="0"/>
                    <a:pt x="394" y="0"/>
                  </a:cubicBezTo>
                  <a:cubicBezTo>
                    <a:pt x="500" y="0"/>
                    <a:pt x="421" y="117"/>
                    <a:pt x="522" y="116"/>
                  </a:cubicBezTo>
                  <a:cubicBezTo>
                    <a:pt x="623" y="115"/>
                    <a:pt x="570" y="64"/>
                    <a:pt x="616" y="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3250" name="Text Box 34"/>
            <p:cNvSpPr txBox="1">
              <a:spLocks noChangeArrowheads="1"/>
            </p:cNvSpPr>
            <p:nvPr/>
          </p:nvSpPr>
          <p:spPr bwMode="auto">
            <a:xfrm>
              <a:off x="623888" y="5527675"/>
              <a:ext cx="1274281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350" dirty="0">
                  <a:solidFill>
                    <a:srgbClr val="0066CC"/>
                  </a:solidFill>
                  <a:latin typeface="+mj-lt"/>
                  <a:ea typeface="+mj-ea"/>
                </a:rPr>
                <a:t>FDM cable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0907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4243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5.3.1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信道划分多址访问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CDMA</a:t>
            </a:r>
          </a:p>
        </p:txBody>
      </p:sp>
      <p:sp>
        <p:nvSpPr>
          <p:cNvPr id="394245" name="Rectangle 5"/>
          <p:cNvSpPr>
            <a:spLocks noChangeArrowheads="1"/>
          </p:cNvSpPr>
          <p:nvPr/>
        </p:nvSpPr>
        <p:spPr bwMode="auto">
          <a:xfrm>
            <a:off x="1115588" y="1491630"/>
            <a:ext cx="6167438" cy="165258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TW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DMA: 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en-US" altLang="zh-TW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division multiple access</a:t>
            </a:r>
            <a:r>
              <a:rPr lang="en-US" altLang="zh-TW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码分多址访问</a:t>
            </a:r>
            <a:r>
              <a:rPr lang="en-US" altLang="zh-CN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为每个接入的结点分配一个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更多内容参见第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章：移动网络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3337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TDMA, FDMA, CDMA: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比拟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395270" name="Picture 6" descr="CLIPART_OF_15186_SM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789" y="1412081"/>
            <a:ext cx="2214563" cy="221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4516041" y="1113235"/>
            <a:ext cx="2756297" cy="1406128"/>
            <a:chOff x="4497388" y="1484313"/>
            <a:chExt cx="3675062" cy="1874837"/>
          </a:xfrm>
        </p:grpSpPr>
        <p:pic>
          <p:nvPicPr>
            <p:cNvPr id="395271" name="Picture 7" descr="CLIPART_OF_10927_SM_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7388" y="1485900"/>
              <a:ext cx="1873250" cy="1873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5272" name="Picture 8" descr="CLIPART_OF_10927_SM_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7613" y="1557338"/>
              <a:ext cx="1874837" cy="17414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5273" name="Line 9"/>
            <p:cNvSpPr>
              <a:spLocks noChangeShapeType="1"/>
            </p:cNvSpPr>
            <p:nvPr/>
          </p:nvSpPr>
          <p:spPr bwMode="auto">
            <a:xfrm>
              <a:off x="5859463" y="1484313"/>
              <a:ext cx="0" cy="180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395274" name="Line 10"/>
            <p:cNvSpPr>
              <a:spLocks noChangeShapeType="1"/>
            </p:cNvSpPr>
            <p:nvPr/>
          </p:nvSpPr>
          <p:spPr bwMode="auto">
            <a:xfrm>
              <a:off x="6805613" y="1484313"/>
              <a:ext cx="0" cy="180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</p:grpSp>
      <p:pic>
        <p:nvPicPr>
          <p:cNvPr id="395275" name="Picture 11" descr="CLIPART_OF_15195_SM_548426BB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157" y="3071813"/>
            <a:ext cx="2070497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5277" name="Picture 13" descr="j043158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528" y="2228903"/>
            <a:ext cx="377429" cy="37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278" name="AutoShape 14"/>
          <p:cNvSpPr>
            <a:spLocks noChangeArrowheads="1"/>
          </p:cNvSpPr>
          <p:nvPr/>
        </p:nvSpPr>
        <p:spPr bwMode="auto">
          <a:xfrm>
            <a:off x="5004198" y="2909888"/>
            <a:ext cx="378619" cy="270272"/>
          </a:xfrm>
          <a:prstGeom prst="wedgeEllipseCallout">
            <a:avLst>
              <a:gd name="adj1" fmla="val -17296"/>
              <a:gd name="adj2" fmla="val 109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1200">
                <a:latin typeface="+mj-lt"/>
                <a:ea typeface="+mj-ea"/>
              </a:rPr>
              <a:t>hi</a:t>
            </a:r>
          </a:p>
        </p:txBody>
      </p:sp>
      <p:sp>
        <p:nvSpPr>
          <p:cNvPr id="395279" name="AutoShape 15"/>
          <p:cNvSpPr>
            <a:spLocks noChangeArrowheads="1"/>
          </p:cNvSpPr>
          <p:nvPr/>
        </p:nvSpPr>
        <p:spPr bwMode="auto">
          <a:xfrm>
            <a:off x="6516292" y="2856310"/>
            <a:ext cx="782240" cy="378619"/>
          </a:xfrm>
          <a:prstGeom prst="wedgeEllipseCallout">
            <a:avLst>
              <a:gd name="adj1" fmla="val -34171"/>
              <a:gd name="adj2" fmla="val 927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1200">
                <a:latin typeface="+mj-lt"/>
                <a:ea typeface="+mj-ea"/>
              </a:rPr>
              <a:t>hello</a:t>
            </a:r>
          </a:p>
        </p:txBody>
      </p:sp>
      <p:sp>
        <p:nvSpPr>
          <p:cNvPr id="395280" name="AutoShape 16"/>
          <p:cNvSpPr>
            <a:spLocks noChangeArrowheads="1"/>
          </p:cNvSpPr>
          <p:nvPr/>
        </p:nvSpPr>
        <p:spPr bwMode="auto">
          <a:xfrm>
            <a:off x="5598319" y="2747963"/>
            <a:ext cx="701873" cy="270272"/>
          </a:xfrm>
          <a:prstGeom prst="wedgeEllipseCallout">
            <a:avLst>
              <a:gd name="adj1" fmla="val -29116"/>
              <a:gd name="adj2" fmla="val 10991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1200" dirty="0">
                <a:latin typeface="+mj-lt"/>
                <a:ea typeface="+mj-ea"/>
              </a:rPr>
              <a:t>你好</a:t>
            </a:r>
          </a:p>
        </p:txBody>
      </p:sp>
      <p:sp>
        <p:nvSpPr>
          <p:cNvPr id="395281" name="AutoShape 17"/>
          <p:cNvSpPr>
            <a:spLocks noChangeArrowheads="1"/>
          </p:cNvSpPr>
          <p:nvPr/>
        </p:nvSpPr>
        <p:spPr bwMode="auto">
          <a:xfrm>
            <a:off x="3437335" y="3126581"/>
            <a:ext cx="1078706" cy="323850"/>
          </a:xfrm>
          <a:prstGeom prst="wedgeEllipseCallout">
            <a:avLst>
              <a:gd name="adj1" fmla="val 78588"/>
              <a:gd name="adj2" fmla="val 6507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1200" dirty="0">
                <a:latin typeface="+mj-lt"/>
                <a:ea typeface="+mj-ea"/>
              </a:rPr>
              <a:t>早上好</a:t>
            </a:r>
          </a:p>
        </p:txBody>
      </p:sp>
      <p:sp>
        <p:nvSpPr>
          <p:cNvPr id="395282" name="AutoShape 18"/>
          <p:cNvSpPr>
            <a:spLocks noChangeArrowheads="1"/>
          </p:cNvSpPr>
          <p:nvPr/>
        </p:nvSpPr>
        <p:spPr bwMode="auto">
          <a:xfrm>
            <a:off x="6678216" y="3936207"/>
            <a:ext cx="1026319" cy="270272"/>
          </a:xfrm>
          <a:prstGeom prst="wedgeEllipseCallout">
            <a:avLst>
              <a:gd name="adj1" fmla="val -72157"/>
              <a:gd name="adj2" fmla="val -77315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1200" i="1" dirty="0" err="1">
                <a:latin typeface="+mj-lt"/>
                <a:ea typeface="+mj-ea"/>
              </a:rPr>
              <a:t>saludos</a:t>
            </a:r>
            <a:r>
              <a:rPr lang="en-US" altLang="zh-CN" sz="1200" dirty="0">
                <a:latin typeface="+mj-lt"/>
                <a:ea typeface="+mj-ea"/>
              </a:rPr>
              <a:t> </a:t>
            </a:r>
          </a:p>
        </p:txBody>
      </p:sp>
      <p:sp>
        <p:nvSpPr>
          <p:cNvPr id="395283" name="AutoShape 19"/>
          <p:cNvSpPr>
            <a:spLocks noChangeArrowheads="1"/>
          </p:cNvSpPr>
          <p:nvPr/>
        </p:nvSpPr>
        <p:spPr bwMode="auto">
          <a:xfrm>
            <a:off x="3383757" y="3989785"/>
            <a:ext cx="1189435" cy="377428"/>
          </a:xfrm>
          <a:prstGeom prst="wedgeEllipseCallout">
            <a:avLst>
              <a:gd name="adj1" fmla="val 76125"/>
              <a:gd name="adj2" fmla="val -80282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altLang="zh-CN" sz="1200" dirty="0">
                <a:latin typeface="+mj-lt"/>
                <a:ea typeface="+mj-ea"/>
              </a:rPr>
              <a:t>gracias </a:t>
            </a:r>
          </a:p>
        </p:txBody>
      </p:sp>
      <p:sp>
        <p:nvSpPr>
          <p:cNvPr id="395285" name="AutoShape 21"/>
          <p:cNvSpPr>
            <a:spLocks noChangeArrowheads="1"/>
          </p:cNvSpPr>
          <p:nvPr/>
        </p:nvSpPr>
        <p:spPr bwMode="auto">
          <a:xfrm>
            <a:off x="5813822" y="4300538"/>
            <a:ext cx="917972" cy="323850"/>
          </a:xfrm>
          <a:prstGeom prst="wedgeRoundRectCallout">
            <a:avLst>
              <a:gd name="adj1" fmla="val -59079"/>
              <a:gd name="adj2" fmla="val -10735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zh-CN" sz="1350">
              <a:latin typeface="+mj-lt"/>
              <a:ea typeface="+mj-ea"/>
            </a:endParaRPr>
          </a:p>
        </p:txBody>
      </p:sp>
      <p:pic>
        <p:nvPicPr>
          <p:cNvPr id="395286" name="Picture 2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260" y="4366022"/>
            <a:ext cx="765572" cy="194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3062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629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5.3.2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随机多址访问协议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96293" name="Rectangle 5"/>
          <p:cNvSpPr>
            <a:spLocks noChangeArrowheads="1"/>
          </p:cNvSpPr>
          <p:nvPr/>
        </p:nvSpPr>
        <p:spPr bwMode="auto">
          <a:xfrm>
            <a:off x="971600" y="1419622"/>
            <a:ext cx="6161298" cy="325812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当结点需要发送数据时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利用链路的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全带宽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来发送数据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不需要结点之间事先协调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两个以上的结点传输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➜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产生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碰撞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随机多址访问协议将规约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怎样检测碰撞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怎样从碰撞中恢复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(e.g.,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延迟一下传输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随机多址访问协议的案例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时隙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ALOHA</a:t>
            </a: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ALOHA</a:t>
            </a: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CSMA, CSMA/CD, CSMA/CA</a:t>
            </a:r>
          </a:p>
        </p:txBody>
      </p:sp>
    </p:spTree>
    <p:extLst>
      <p:ext uri="{BB962C8B-B14F-4D97-AF65-F5344CB8AC3E}">
        <p14:creationId xmlns:p14="http://schemas.microsoft.com/office/powerpoint/2010/main" val="3995019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8339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时隙</a:t>
            </a:r>
            <a:r>
              <a:rPr lang="en-US" altLang="zh-TW" dirty="0">
                <a:solidFill>
                  <a:srgbClr val="0066CC"/>
                </a:solidFill>
                <a:effectLst/>
              </a:rPr>
              <a:t>ALOHA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98340" name="Rectangle 4"/>
          <p:cNvSpPr>
            <a:spLocks noChangeArrowheads="1"/>
          </p:cNvSpPr>
          <p:nvPr/>
        </p:nvSpPr>
        <p:spPr bwMode="auto">
          <a:xfrm>
            <a:off x="1043608" y="1419622"/>
            <a:ext cx="3249216" cy="280831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zh-CN" altLang="en-US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TW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TW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所有帧的长度相同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划分成等长的时隙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t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时隙为传输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个帧的时间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t= L/R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结点只能在时隙开始时传输帧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结点必须保持时钟同步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如果两个结点在一个时隙内传数据，所有结点都可以检测到碰撞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8341" name="Rectangle 5"/>
          <p:cNvSpPr>
            <a:spLocks noChangeArrowheads="1"/>
          </p:cNvSpPr>
          <p:nvPr/>
        </p:nvSpPr>
        <p:spPr bwMode="auto">
          <a:xfrm>
            <a:off x="4572000" y="2450053"/>
            <a:ext cx="3249216" cy="239617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zh-CN" altLang="en-US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TW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TW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当结点准备传输一个帧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如果没有碰撞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结点就在下一个时隙传输该帧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如果产生碰撞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结点就以概率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重传帧直到成功传输完该帧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64470" y="987574"/>
            <a:ext cx="1569340" cy="1541904"/>
            <a:chOff x="6228879" y="3933056"/>
            <a:chExt cx="2092453" cy="2055872"/>
          </a:xfrm>
        </p:grpSpPr>
        <p:pic>
          <p:nvPicPr>
            <p:cNvPr id="398342" name="Picture 6" descr="150px-NormanAbramson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216" y="3933056"/>
              <a:ext cx="1184275" cy="165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8343" name="Rectangle 7"/>
            <p:cNvSpPr>
              <a:spLocks noChangeArrowheads="1"/>
            </p:cNvSpPr>
            <p:nvPr/>
          </p:nvSpPr>
          <p:spPr bwMode="auto">
            <a:xfrm>
              <a:off x="6228879" y="5588819"/>
              <a:ext cx="2092453" cy="40010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Norm Abramson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2505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7315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时隙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ALOHA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：示例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397316" name="Rectangle 4"/>
          <p:cNvSpPr>
            <a:spLocks noChangeArrowheads="1"/>
          </p:cNvSpPr>
          <p:nvPr/>
        </p:nvSpPr>
        <p:spPr bwMode="auto">
          <a:xfrm>
            <a:off x="1637110" y="3186987"/>
            <a:ext cx="2857500" cy="154499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单个活动结点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可充分利用带宽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TDMA)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分布式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endParaRPr lang="zh-TW" altLang="en-US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7317" name="Rectangle 5"/>
          <p:cNvSpPr>
            <a:spLocks noChangeArrowheads="1"/>
          </p:cNvSpPr>
          <p:nvPr/>
        </p:nvSpPr>
        <p:spPr bwMode="auto">
          <a:xfrm>
            <a:off x="4608910" y="3186989"/>
            <a:ext cx="3203450" cy="154500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碰撞后要等待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浪费时隙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空闲时隙：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结点需要快速检测出碰撞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结点需要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时钟同步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Group 64"/>
          <p:cNvGrpSpPr>
            <a:grpSpLocks/>
          </p:cNvGrpSpPr>
          <p:nvPr/>
        </p:nvGrpSpPr>
        <p:grpSpPr bwMode="auto">
          <a:xfrm>
            <a:off x="2051720" y="1635646"/>
            <a:ext cx="4539854" cy="1478757"/>
            <a:chOff x="648" y="899"/>
            <a:chExt cx="3813" cy="1242"/>
          </a:xfrm>
        </p:grpSpPr>
        <p:grpSp>
          <p:nvGrpSpPr>
            <p:cNvPr id="11" name="Group 9"/>
            <p:cNvGrpSpPr>
              <a:grpSpLocks/>
            </p:cNvGrpSpPr>
            <p:nvPr/>
          </p:nvGrpSpPr>
          <p:grpSpPr bwMode="auto">
            <a:xfrm>
              <a:off x="1193" y="899"/>
              <a:ext cx="283" cy="213"/>
              <a:chOff x="1185" y="903"/>
              <a:chExt cx="283" cy="213"/>
            </a:xfrm>
          </p:grpSpPr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3" name="Text Box 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1</a:t>
                </a:r>
              </a:p>
            </p:txBody>
          </p:sp>
        </p:grpSp>
        <p:grpSp>
          <p:nvGrpSpPr>
            <p:cNvPr id="12" name="Group 10"/>
            <p:cNvGrpSpPr>
              <a:grpSpLocks/>
            </p:cNvGrpSpPr>
            <p:nvPr/>
          </p:nvGrpSpPr>
          <p:grpSpPr bwMode="auto">
            <a:xfrm>
              <a:off x="1811" y="901"/>
              <a:ext cx="283" cy="213"/>
              <a:chOff x="1185" y="903"/>
              <a:chExt cx="283" cy="213"/>
            </a:xfrm>
          </p:grpSpPr>
          <p:sp>
            <p:nvSpPr>
              <p:cNvPr id="60" name="Rectangle 11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1" name="Text Box 12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1</a:t>
                </a:r>
              </a:p>
            </p:txBody>
          </p:sp>
        </p:grpSp>
        <p:grpSp>
          <p:nvGrpSpPr>
            <p:cNvPr id="13" name="Group 13"/>
            <p:cNvGrpSpPr>
              <a:grpSpLocks/>
            </p:cNvGrpSpPr>
            <p:nvPr/>
          </p:nvGrpSpPr>
          <p:grpSpPr bwMode="auto">
            <a:xfrm>
              <a:off x="2779" y="902"/>
              <a:ext cx="283" cy="213"/>
              <a:chOff x="1185" y="903"/>
              <a:chExt cx="283" cy="213"/>
            </a:xfrm>
          </p:grpSpPr>
          <p:sp>
            <p:nvSpPr>
              <p:cNvPr id="58" name="Rectangle 14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59" name="Text Box 15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1</a:t>
                </a:r>
              </a:p>
            </p:txBody>
          </p:sp>
        </p:grpSp>
        <p:grpSp>
          <p:nvGrpSpPr>
            <p:cNvPr id="14" name="Group 16"/>
            <p:cNvGrpSpPr>
              <a:grpSpLocks/>
            </p:cNvGrpSpPr>
            <p:nvPr/>
          </p:nvGrpSpPr>
          <p:grpSpPr bwMode="auto">
            <a:xfrm>
              <a:off x="3419" y="899"/>
              <a:ext cx="283" cy="213"/>
              <a:chOff x="1185" y="903"/>
              <a:chExt cx="283" cy="213"/>
            </a:xfrm>
          </p:grpSpPr>
          <p:sp>
            <p:nvSpPr>
              <p:cNvPr id="56" name="Rectangle 1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57" name="Text Box 1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 dirty="0">
                    <a:latin typeface="Arial" charset="0"/>
                  </a:rPr>
                  <a:t>1</a:t>
                </a:r>
              </a:p>
            </p:txBody>
          </p:sp>
        </p:grpSp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1194" y="1225"/>
              <a:ext cx="283" cy="213"/>
              <a:chOff x="4584" y="1229"/>
              <a:chExt cx="283" cy="213"/>
            </a:xfrm>
          </p:grpSpPr>
          <p:sp>
            <p:nvSpPr>
              <p:cNvPr id="54" name="Rectangle 20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55" name="Text Box 21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2</a:t>
                </a:r>
              </a:p>
            </p:txBody>
          </p:sp>
        </p:grpSp>
        <p:grpSp>
          <p:nvGrpSpPr>
            <p:cNvPr id="16" name="Group 31"/>
            <p:cNvGrpSpPr>
              <a:grpSpLocks/>
            </p:cNvGrpSpPr>
            <p:nvPr/>
          </p:nvGrpSpPr>
          <p:grpSpPr bwMode="auto">
            <a:xfrm>
              <a:off x="1195" y="1546"/>
              <a:ext cx="283" cy="213"/>
              <a:chOff x="4827" y="1591"/>
              <a:chExt cx="283" cy="213"/>
            </a:xfrm>
          </p:grpSpPr>
          <p:sp>
            <p:nvSpPr>
              <p:cNvPr id="52" name="Rectangle 22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53" name="Text Box 23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3</a:t>
                </a:r>
              </a:p>
            </p:txBody>
          </p:sp>
        </p:grpSp>
        <p:grpSp>
          <p:nvGrpSpPr>
            <p:cNvPr id="17" name="Group 25"/>
            <p:cNvGrpSpPr>
              <a:grpSpLocks/>
            </p:cNvGrpSpPr>
            <p:nvPr/>
          </p:nvGrpSpPr>
          <p:grpSpPr bwMode="auto">
            <a:xfrm>
              <a:off x="1817" y="1226"/>
              <a:ext cx="283" cy="213"/>
              <a:chOff x="4584" y="1229"/>
              <a:chExt cx="283" cy="213"/>
            </a:xfrm>
          </p:grpSpPr>
          <p:sp>
            <p:nvSpPr>
              <p:cNvPr id="50" name="Rectangle 26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51" name="Text Box 27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2</a:t>
                </a:r>
              </a:p>
            </p:txBody>
          </p:sp>
        </p:grpSp>
        <p:grpSp>
          <p:nvGrpSpPr>
            <p:cNvPr id="18" name="Group 28"/>
            <p:cNvGrpSpPr>
              <a:grpSpLocks/>
            </p:cNvGrpSpPr>
            <p:nvPr/>
          </p:nvGrpSpPr>
          <p:grpSpPr bwMode="auto">
            <a:xfrm>
              <a:off x="2143" y="1227"/>
              <a:ext cx="283" cy="213"/>
              <a:chOff x="4584" y="1229"/>
              <a:chExt cx="283" cy="213"/>
            </a:xfrm>
          </p:grpSpPr>
          <p:sp>
            <p:nvSpPr>
              <p:cNvPr id="48" name="Rectangle 29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49" name="Text Box 30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2</a:t>
                </a:r>
              </a:p>
            </p:txBody>
          </p:sp>
        </p:grpSp>
        <p:grpSp>
          <p:nvGrpSpPr>
            <p:cNvPr id="19" name="Group 32"/>
            <p:cNvGrpSpPr>
              <a:grpSpLocks/>
            </p:cNvGrpSpPr>
            <p:nvPr/>
          </p:nvGrpSpPr>
          <p:grpSpPr bwMode="auto">
            <a:xfrm>
              <a:off x="2780" y="1547"/>
              <a:ext cx="283" cy="213"/>
              <a:chOff x="4827" y="1591"/>
              <a:chExt cx="283" cy="213"/>
            </a:xfrm>
          </p:grpSpPr>
          <p:sp>
            <p:nvSpPr>
              <p:cNvPr id="46" name="Rectangle 33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47" name="Text Box 34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3</a:t>
                </a:r>
              </a:p>
            </p:txBody>
          </p:sp>
        </p:grpSp>
        <p:grpSp>
          <p:nvGrpSpPr>
            <p:cNvPr id="20" name="Group 35"/>
            <p:cNvGrpSpPr>
              <a:grpSpLocks/>
            </p:cNvGrpSpPr>
            <p:nvPr/>
          </p:nvGrpSpPr>
          <p:grpSpPr bwMode="auto">
            <a:xfrm>
              <a:off x="3732" y="1548"/>
              <a:ext cx="283" cy="213"/>
              <a:chOff x="4827" y="1591"/>
              <a:chExt cx="283" cy="213"/>
            </a:xfrm>
          </p:grpSpPr>
          <p:sp>
            <p:nvSpPr>
              <p:cNvPr id="44" name="Rectangle 36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45" name="Text Box 37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21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50" b="1" i="0">
                    <a:latin typeface="Arial" charset="0"/>
                  </a:rPr>
                  <a:t>3</a:t>
                </a:r>
              </a:p>
            </p:txBody>
          </p:sp>
        </p:grpSp>
        <p:sp>
          <p:nvSpPr>
            <p:cNvPr id="21" name="Text Box 38"/>
            <p:cNvSpPr txBox="1">
              <a:spLocks noChangeArrowheads="1"/>
            </p:cNvSpPr>
            <p:nvPr/>
          </p:nvSpPr>
          <p:spPr bwMode="auto">
            <a:xfrm>
              <a:off x="659" y="921"/>
              <a:ext cx="50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50" i="0" dirty="0">
                  <a:latin typeface="Arial" charset="0"/>
                </a:rPr>
                <a:t>node 1</a:t>
              </a:r>
            </a:p>
          </p:txBody>
        </p:sp>
        <p:sp>
          <p:nvSpPr>
            <p:cNvPr id="22" name="Text Box 39"/>
            <p:cNvSpPr txBox="1">
              <a:spLocks noChangeArrowheads="1"/>
            </p:cNvSpPr>
            <p:nvPr/>
          </p:nvSpPr>
          <p:spPr bwMode="auto">
            <a:xfrm>
              <a:off x="648" y="1245"/>
              <a:ext cx="50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50" i="0">
                  <a:latin typeface="Arial" charset="0"/>
                </a:rPr>
                <a:t>node 2</a:t>
              </a:r>
            </a:p>
          </p:txBody>
        </p:sp>
        <p:sp>
          <p:nvSpPr>
            <p:cNvPr id="23" name="Text Box 40"/>
            <p:cNvSpPr txBox="1">
              <a:spLocks noChangeArrowheads="1"/>
            </p:cNvSpPr>
            <p:nvPr/>
          </p:nvSpPr>
          <p:spPr bwMode="auto">
            <a:xfrm>
              <a:off x="677" y="1562"/>
              <a:ext cx="50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50" i="0">
                  <a:latin typeface="Arial" charset="0"/>
                </a:rPr>
                <a:t>node 3</a:t>
              </a:r>
            </a:p>
          </p:txBody>
        </p:sp>
        <p:sp>
          <p:nvSpPr>
            <p:cNvPr id="24" name="Line 41"/>
            <p:cNvSpPr>
              <a:spLocks noChangeShapeType="1"/>
            </p:cNvSpPr>
            <p:nvPr/>
          </p:nvSpPr>
          <p:spPr bwMode="auto">
            <a:xfrm>
              <a:off x="1179" y="1882"/>
              <a:ext cx="32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" name="Line 42"/>
            <p:cNvSpPr>
              <a:spLocks noChangeShapeType="1"/>
            </p:cNvSpPr>
            <p:nvPr/>
          </p:nvSpPr>
          <p:spPr bwMode="auto">
            <a:xfrm>
              <a:off x="1181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6" name="Line 43"/>
            <p:cNvSpPr>
              <a:spLocks noChangeShapeType="1"/>
            </p:cNvSpPr>
            <p:nvPr/>
          </p:nvSpPr>
          <p:spPr bwMode="auto">
            <a:xfrm>
              <a:off x="1496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7" name="Line 44"/>
            <p:cNvSpPr>
              <a:spLocks noChangeShapeType="1"/>
            </p:cNvSpPr>
            <p:nvPr/>
          </p:nvSpPr>
          <p:spPr bwMode="auto">
            <a:xfrm>
              <a:off x="1813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8" name="Line 45"/>
            <p:cNvSpPr>
              <a:spLocks noChangeShapeType="1"/>
            </p:cNvSpPr>
            <p:nvPr/>
          </p:nvSpPr>
          <p:spPr bwMode="auto">
            <a:xfrm>
              <a:off x="2132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9" name="Line 46"/>
            <p:cNvSpPr>
              <a:spLocks noChangeShapeType="1"/>
            </p:cNvSpPr>
            <p:nvPr/>
          </p:nvSpPr>
          <p:spPr bwMode="auto">
            <a:xfrm>
              <a:off x="2450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0" name="Line 47"/>
            <p:cNvSpPr>
              <a:spLocks noChangeShapeType="1"/>
            </p:cNvSpPr>
            <p:nvPr/>
          </p:nvSpPr>
          <p:spPr bwMode="auto">
            <a:xfrm>
              <a:off x="2770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1" name="Line 48"/>
            <p:cNvSpPr>
              <a:spLocks noChangeShapeType="1"/>
            </p:cNvSpPr>
            <p:nvPr/>
          </p:nvSpPr>
          <p:spPr bwMode="auto">
            <a:xfrm>
              <a:off x="3088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2" name="Line 49"/>
            <p:cNvSpPr>
              <a:spLocks noChangeShapeType="1"/>
            </p:cNvSpPr>
            <p:nvPr/>
          </p:nvSpPr>
          <p:spPr bwMode="auto">
            <a:xfrm>
              <a:off x="3406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3" name="Line 50"/>
            <p:cNvSpPr>
              <a:spLocks noChangeShapeType="1"/>
            </p:cNvSpPr>
            <p:nvPr/>
          </p:nvSpPr>
          <p:spPr bwMode="auto">
            <a:xfrm>
              <a:off x="3726" y="1815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4" name="Line 51"/>
            <p:cNvSpPr>
              <a:spLocks noChangeShapeType="1"/>
            </p:cNvSpPr>
            <p:nvPr/>
          </p:nvSpPr>
          <p:spPr bwMode="auto">
            <a:xfrm>
              <a:off x="4034" y="1813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5" name="Text Box 54"/>
            <p:cNvSpPr txBox="1">
              <a:spLocks noChangeArrowheads="1"/>
            </p:cNvSpPr>
            <p:nvPr/>
          </p:nvSpPr>
          <p:spPr bwMode="auto">
            <a:xfrm>
              <a:off x="1220" y="1883"/>
              <a:ext cx="260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 dirty="0">
                  <a:solidFill>
                    <a:srgbClr val="000099"/>
                  </a:solidFill>
                  <a:latin typeface="Arial" charset="0"/>
                </a:rPr>
                <a:t>C</a:t>
              </a:r>
            </a:p>
          </p:txBody>
        </p:sp>
        <p:sp>
          <p:nvSpPr>
            <p:cNvPr id="36" name="Text Box 55"/>
            <p:cNvSpPr txBox="1">
              <a:spLocks noChangeArrowheads="1"/>
            </p:cNvSpPr>
            <p:nvPr/>
          </p:nvSpPr>
          <p:spPr bwMode="auto">
            <a:xfrm>
              <a:off x="1862" y="1889"/>
              <a:ext cx="260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 dirty="0">
                  <a:solidFill>
                    <a:srgbClr val="000099"/>
                  </a:solidFill>
                  <a:latin typeface="Arial" charset="0"/>
                </a:rPr>
                <a:t>C</a:t>
              </a:r>
            </a:p>
          </p:txBody>
        </p:sp>
        <p:sp>
          <p:nvSpPr>
            <p:cNvPr id="37" name="Text Box 56"/>
            <p:cNvSpPr txBox="1">
              <a:spLocks noChangeArrowheads="1"/>
            </p:cNvSpPr>
            <p:nvPr/>
          </p:nvSpPr>
          <p:spPr bwMode="auto">
            <a:xfrm>
              <a:off x="2816" y="1889"/>
              <a:ext cx="260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>
                  <a:solidFill>
                    <a:srgbClr val="000099"/>
                  </a:solidFill>
                  <a:latin typeface="Arial" charset="0"/>
                </a:rPr>
                <a:t>C</a:t>
              </a:r>
            </a:p>
          </p:txBody>
        </p:sp>
        <p:sp>
          <p:nvSpPr>
            <p:cNvPr id="38" name="Text Box 58"/>
            <p:cNvSpPr txBox="1">
              <a:spLocks noChangeArrowheads="1"/>
            </p:cNvSpPr>
            <p:nvPr/>
          </p:nvSpPr>
          <p:spPr bwMode="auto">
            <a:xfrm>
              <a:off x="2186" y="1889"/>
              <a:ext cx="252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>
                  <a:solidFill>
                    <a:srgbClr val="000099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39" name="Text Box 59"/>
            <p:cNvSpPr txBox="1">
              <a:spLocks noChangeArrowheads="1"/>
            </p:cNvSpPr>
            <p:nvPr/>
          </p:nvSpPr>
          <p:spPr bwMode="auto">
            <a:xfrm>
              <a:off x="3446" y="1889"/>
              <a:ext cx="252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>
                  <a:solidFill>
                    <a:srgbClr val="000099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40" name="Text Box 60"/>
            <p:cNvSpPr txBox="1">
              <a:spLocks noChangeArrowheads="1"/>
            </p:cNvSpPr>
            <p:nvPr/>
          </p:nvSpPr>
          <p:spPr bwMode="auto">
            <a:xfrm>
              <a:off x="3752" y="1883"/>
              <a:ext cx="252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>
                  <a:solidFill>
                    <a:srgbClr val="000099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41" name="Text Box 61"/>
            <p:cNvSpPr txBox="1">
              <a:spLocks noChangeArrowheads="1"/>
            </p:cNvSpPr>
            <p:nvPr/>
          </p:nvSpPr>
          <p:spPr bwMode="auto">
            <a:xfrm>
              <a:off x="1544" y="1883"/>
              <a:ext cx="252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>
                  <a:solidFill>
                    <a:srgbClr val="000099"/>
                  </a:solidFill>
                  <a:latin typeface="Arial" charset="0"/>
                </a:rPr>
                <a:t>E</a:t>
              </a:r>
            </a:p>
          </p:txBody>
        </p:sp>
        <p:sp>
          <p:nvSpPr>
            <p:cNvPr id="42" name="Text Box 62"/>
            <p:cNvSpPr txBox="1">
              <a:spLocks noChangeArrowheads="1"/>
            </p:cNvSpPr>
            <p:nvPr/>
          </p:nvSpPr>
          <p:spPr bwMode="auto">
            <a:xfrm>
              <a:off x="2504" y="1889"/>
              <a:ext cx="252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>
                  <a:solidFill>
                    <a:srgbClr val="000099"/>
                  </a:solidFill>
                  <a:latin typeface="Arial" charset="0"/>
                </a:rPr>
                <a:t>E</a:t>
              </a:r>
            </a:p>
          </p:txBody>
        </p:sp>
        <p:sp>
          <p:nvSpPr>
            <p:cNvPr id="43" name="Text Box 63"/>
            <p:cNvSpPr txBox="1">
              <a:spLocks noChangeArrowheads="1"/>
            </p:cNvSpPr>
            <p:nvPr/>
          </p:nvSpPr>
          <p:spPr bwMode="auto">
            <a:xfrm>
              <a:off x="3134" y="1889"/>
              <a:ext cx="252" cy="25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350" i="0">
                  <a:solidFill>
                    <a:srgbClr val="000099"/>
                  </a:solidFill>
                  <a:latin typeface="Arial" charset="0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9336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39936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405104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纯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ALOHA</a:t>
            </a:r>
          </a:p>
        </p:txBody>
      </p:sp>
      <p:sp>
        <p:nvSpPr>
          <p:cNvPr id="399364" name="Rectangle 4"/>
          <p:cNvSpPr>
            <a:spLocks noChangeArrowheads="1"/>
          </p:cNvSpPr>
          <p:nvPr/>
        </p:nvSpPr>
        <p:spPr bwMode="auto">
          <a:xfrm>
            <a:off x="899592" y="1409499"/>
            <a:ext cx="6257925" cy="174433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非时隙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Aloha: 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更简单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不需要时钟同步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当帧封装好，待发送时：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马上发送该帧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不需要等待到时隙的开始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增加了碰撞的概率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如下图：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TW" sz="1350" baseline="-25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时刻发送的帧与其他时刻发送的帧产生了碰撞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4" descr="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145372"/>
            <a:ext cx="4048400" cy="1639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0223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038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471225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CSMA 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载波监听多址访问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</p:txBody>
      </p:sp>
      <p:sp>
        <p:nvSpPr>
          <p:cNvPr id="400391" name="Rectangle 7"/>
          <p:cNvSpPr>
            <a:spLocks noChangeArrowheads="1"/>
          </p:cNvSpPr>
          <p:nvPr/>
        </p:nvSpPr>
        <p:spPr bwMode="auto">
          <a:xfrm>
            <a:off x="1043608" y="1510679"/>
            <a:ext cx="5513785" cy="15657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TW" sz="1500" b="1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CSMA</a:t>
            </a:r>
            <a:r>
              <a:rPr lang="en-US" altLang="zh-TW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传输之前先监听信道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如果信道空闲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整个帧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如果信道忙碌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推迟发送帧</a:t>
            </a:r>
            <a:b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打个比方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不要打断别人讲话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246186" y="1517233"/>
            <a:ext cx="1357313" cy="2245057"/>
            <a:chOff x="6588125" y="2708275"/>
            <a:chExt cx="1809750" cy="2993408"/>
          </a:xfrm>
        </p:grpSpPr>
        <p:pic>
          <p:nvPicPr>
            <p:cNvPr id="400392" name="Picture 8" descr="image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8125" y="2708275"/>
              <a:ext cx="1809750" cy="2524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393" name="Rectangle 9"/>
            <p:cNvSpPr>
              <a:spLocks noChangeArrowheads="1"/>
            </p:cNvSpPr>
            <p:nvPr/>
          </p:nvSpPr>
          <p:spPr bwMode="auto">
            <a:xfrm>
              <a:off x="6708170" y="5301574"/>
              <a:ext cx="1549997" cy="40010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350" dirty="0">
                  <a:ea typeface="+mj-ea"/>
                </a:rPr>
                <a:t>Bob Metcalfe</a:t>
              </a:r>
              <a:endParaRPr lang="en-US" altLang="zh-CN" sz="1350" dirty="0"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344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1411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>
                <a:solidFill>
                  <a:srgbClr val="0066CC"/>
                </a:solidFill>
                <a:effectLst/>
              </a:rPr>
              <a:t>CSMA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的碰撞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401413" name="Rectangle 5"/>
          <p:cNvSpPr>
            <a:spLocks noChangeArrowheads="1"/>
          </p:cNvSpPr>
          <p:nvPr/>
        </p:nvSpPr>
        <p:spPr bwMode="auto">
          <a:xfrm>
            <a:off x="785813" y="1492565"/>
            <a:ext cx="2845594" cy="89255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监听，仍然会产生碰撞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214313" indent="-214313" eaLnBrk="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传输时延产生“异步”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 eaLnBrk="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如右图：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1414" name="Rectangle 6"/>
          <p:cNvSpPr>
            <a:spLocks noChangeArrowheads="1"/>
          </p:cNvSpPr>
          <p:nvPr/>
        </p:nvSpPr>
        <p:spPr bwMode="auto">
          <a:xfrm>
            <a:off x="785813" y="2451883"/>
            <a:ext cx="2624138" cy="60785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碰撞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257175" indent="-257175" eaLnBrk="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整个数据帧就会丢失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可惜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401416" name="Rectangle 8"/>
          <p:cNvSpPr>
            <a:spLocks noChangeArrowheads="1"/>
          </p:cNvSpPr>
          <p:nvPr/>
        </p:nvSpPr>
        <p:spPr bwMode="auto">
          <a:xfrm>
            <a:off x="785813" y="3209268"/>
            <a:ext cx="3101579" cy="60785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214313" indent="-214313" eaLnBrk="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距离和传播时延对碰撞检测的作用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3" descr="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560" y="991791"/>
            <a:ext cx="3215878" cy="3787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5283994" y="743918"/>
            <a:ext cx="19264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spatial layout of nodes </a:t>
            </a:r>
            <a:endParaRPr lang="en-US" altLang="zh-CN" sz="1500" dirty="0">
              <a:latin typeface="Arial" panose="020B0604020202020204" pitchFamily="34" charset="0"/>
            </a:endParaRPr>
          </a:p>
        </p:txBody>
      </p:sp>
      <p:sp>
        <p:nvSpPr>
          <p:cNvPr id="14" name="Rectangle 87"/>
          <p:cNvSpPr>
            <a:spLocks noChangeArrowheads="1"/>
          </p:cNvSpPr>
          <p:nvPr/>
        </p:nvSpPr>
        <p:spPr bwMode="auto">
          <a:xfrm>
            <a:off x="4763692" y="1914526"/>
            <a:ext cx="2802731" cy="19288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350">
              <a:latin typeface="Comic Sans MS" panose="030F0702030302020204" pitchFamily="66" charset="0"/>
            </a:endParaRPr>
          </a:p>
        </p:txBody>
      </p:sp>
      <p:sp>
        <p:nvSpPr>
          <p:cNvPr id="15" name="Rectangle 88"/>
          <p:cNvSpPr>
            <a:spLocks noChangeArrowheads="1"/>
          </p:cNvSpPr>
          <p:nvPr/>
        </p:nvSpPr>
        <p:spPr bwMode="auto">
          <a:xfrm>
            <a:off x="4769644" y="2107407"/>
            <a:ext cx="2794397" cy="19288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350">
              <a:latin typeface="Comic Sans MS" panose="030F0702030302020204" pitchFamily="66" charset="0"/>
            </a:endParaRPr>
          </a:p>
        </p:txBody>
      </p:sp>
      <p:sp>
        <p:nvSpPr>
          <p:cNvPr id="16" name="Rectangle 90"/>
          <p:cNvSpPr>
            <a:spLocks noChangeArrowheads="1"/>
          </p:cNvSpPr>
          <p:nvPr/>
        </p:nvSpPr>
        <p:spPr bwMode="auto">
          <a:xfrm>
            <a:off x="4741069" y="2296716"/>
            <a:ext cx="2822972" cy="12180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350">
              <a:latin typeface="Comic Sans MS" panose="030F0702030302020204" pitchFamily="66" charset="0"/>
            </a:endParaRPr>
          </a:p>
        </p:txBody>
      </p:sp>
      <p:sp>
        <p:nvSpPr>
          <p:cNvPr id="17" name="Rectangle 91"/>
          <p:cNvSpPr>
            <a:spLocks noChangeArrowheads="1"/>
          </p:cNvSpPr>
          <p:nvPr/>
        </p:nvSpPr>
        <p:spPr bwMode="auto">
          <a:xfrm>
            <a:off x="4720828" y="3502819"/>
            <a:ext cx="2842022" cy="127393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350">
              <a:latin typeface="Comic Sans MS" panose="030F0702030302020204" pitchFamily="66" charset="0"/>
            </a:endParaRPr>
          </a:p>
        </p:txBody>
      </p:sp>
      <p:sp>
        <p:nvSpPr>
          <p:cNvPr id="18" name="Rectangle 92"/>
          <p:cNvSpPr>
            <a:spLocks noChangeArrowheads="1"/>
          </p:cNvSpPr>
          <p:nvPr/>
        </p:nvSpPr>
        <p:spPr bwMode="auto">
          <a:xfrm>
            <a:off x="4661298" y="936104"/>
            <a:ext cx="3030140" cy="976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350">
              <a:latin typeface="Comic Sans MS" panose="030F0702030302020204" pitchFamily="66" charset="0"/>
            </a:endParaRPr>
          </a:p>
        </p:txBody>
      </p:sp>
      <p:grpSp>
        <p:nvGrpSpPr>
          <p:cNvPr id="19" name="Group 98"/>
          <p:cNvGrpSpPr>
            <a:grpSpLocks/>
          </p:cNvGrpSpPr>
          <p:nvPr/>
        </p:nvGrpSpPr>
        <p:grpSpPr bwMode="auto">
          <a:xfrm>
            <a:off x="4854179" y="1020142"/>
            <a:ext cx="2634853" cy="471488"/>
            <a:chOff x="3117" y="180"/>
            <a:chExt cx="2213" cy="396"/>
          </a:xfrm>
        </p:grpSpPr>
        <p:grpSp>
          <p:nvGrpSpPr>
            <p:cNvPr id="20" name="Group 67"/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35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" name="Freeform 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1" name="Group 70"/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33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Freeform 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2" name="Group 73"/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31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Freeform 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3" name="Group 76"/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29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Freeform 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24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25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26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27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28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974598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3" grpId="0"/>
      <p:bldP spid="401414" grpId="0"/>
      <p:bldP spid="401416" grpId="0"/>
      <p:bldP spid="14" grpId="0" animBg="1"/>
      <p:bldP spid="15" grpId="0" animBg="1"/>
      <p:bldP spid="16" grpId="0" animBg="1"/>
      <p:bldP spid="1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2435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solidFill>
                  <a:srgbClr val="0066CC"/>
                </a:solidFill>
                <a:effectLst/>
              </a:rPr>
              <a:t>CSMA/CD 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碰撞检测</a:t>
            </a:r>
            <a:r>
              <a:rPr lang="en-US" altLang="en-US" dirty="0">
                <a:solidFill>
                  <a:srgbClr val="0066CC"/>
                </a:solidFill>
                <a:effectLst/>
              </a:rPr>
              <a:t>)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402441" name="Rectangle 9"/>
          <p:cNvSpPr>
            <a:spLocks noChangeArrowheads="1"/>
          </p:cNvSpPr>
          <p:nvPr/>
        </p:nvSpPr>
        <p:spPr bwMode="auto">
          <a:xfrm>
            <a:off x="891183" y="1484557"/>
            <a:ext cx="3577828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CSMA/CD: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载波监听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碰撞检测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在较短的时间检测到碰撞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终止碰撞的传输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避免信道的浪费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碰撞检测功能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在有线网络中容易实现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比较发送和接收信号</a:t>
            </a:r>
            <a:endParaRPr lang="en-US" altLang="zh-TW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在无线网络中难以检测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接收信号衰减严重</a:t>
            </a:r>
            <a:r>
              <a:rPr lang="en-US" altLang="zh-TW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比方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一个礼貌的健谈者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4572001" y="843558"/>
            <a:ext cx="3325415" cy="2967038"/>
            <a:chOff x="1855788" y="1446213"/>
            <a:chExt cx="4433887" cy="3956050"/>
          </a:xfrm>
        </p:grpSpPr>
        <p:pic>
          <p:nvPicPr>
            <p:cNvPr id="33" name="Picture 3" descr="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5788" y="1531938"/>
              <a:ext cx="4433887" cy="387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2041525" y="1446213"/>
              <a:ext cx="4135438" cy="1211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187575" y="1595438"/>
              <a:ext cx="3711575" cy="1036637"/>
              <a:chOff x="2187575" y="1595438"/>
              <a:chExt cx="3711575" cy="1036637"/>
            </a:xfrm>
          </p:grpSpPr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2778124" y="1595438"/>
                <a:ext cx="256857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spatial layout of nodes </a:t>
                </a:r>
                <a:endParaRPr lang="en-US" altLang="zh-CN" sz="1500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7" name="Group 30"/>
              <p:cNvGrpSpPr>
                <a:grpSpLocks/>
              </p:cNvGrpSpPr>
              <p:nvPr/>
            </p:nvGrpSpPr>
            <p:grpSpPr bwMode="auto">
              <a:xfrm>
                <a:off x="2541588" y="1985963"/>
                <a:ext cx="3263900" cy="195262"/>
                <a:chOff x="4220" y="1231"/>
                <a:chExt cx="1989" cy="90"/>
              </a:xfrm>
            </p:grpSpPr>
            <p:sp>
              <p:nvSpPr>
                <p:cNvPr id="50" name="Line 23"/>
                <p:cNvSpPr>
                  <a:spLocks noChangeShapeType="1"/>
                </p:cNvSpPr>
                <p:nvPr/>
              </p:nvSpPr>
              <p:spPr bwMode="auto">
                <a:xfrm>
                  <a:off x="4220" y="1232"/>
                  <a:ext cx="198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1" name="Line 24"/>
                <p:cNvSpPr>
                  <a:spLocks noChangeShapeType="1"/>
                </p:cNvSpPr>
                <p:nvPr/>
              </p:nvSpPr>
              <p:spPr bwMode="auto">
                <a:xfrm>
                  <a:off x="4220" y="1231"/>
                  <a:ext cx="0" cy="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2" name="Line 25"/>
                <p:cNvSpPr>
                  <a:spLocks noChangeShapeType="1"/>
                </p:cNvSpPr>
                <p:nvPr/>
              </p:nvSpPr>
              <p:spPr bwMode="auto">
                <a:xfrm>
                  <a:off x="4886" y="1234"/>
                  <a:ext cx="0" cy="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3" name="Line 26"/>
                <p:cNvSpPr>
                  <a:spLocks noChangeShapeType="1"/>
                </p:cNvSpPr>
                <p:nvPr/>
              </p:nvSpPr>
              <p:spPr bwMode="auto">
                <a:xfrm>
                  <a:off x="5489" y="1234"/>
                  <a:ext cx="0" cy="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4" name="Line 27"/>
                <p:cNvSpPr>
                  <a:spLocks noChangeShapeType="1"/>
                </p:cNvSpPr>
                <p:nvPr/>
              </p:nvSpPr>
              <p:spPr bwMode="auto">
                <a:xfrm>
                  <a:off x="6200" y="1231"/>
                  <a:ext cx="0" cy="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8" name="Group 11"/>
              <p:cNvGrpSpPr>
                <a:grpSpLocks/>
              </p:cNvGrpSpPr>
              <p:nvPr/>
            </p:nvGrpSpPr>
            <p:grpSpPr bwMode="auto">
              <a:xfrm flipH="1">
                <a:off x="2187575" y="2119313"/>
                <a:ext cx="501650" cy="512762"/>
                <a:chOff x="2839" y="3501"/>
                <a:chExt cx="755" cy="803"/>
              </a:xfrm>
            </p:grpSpPr>
            <p:pic>
              <p:nvPicPr>
                <p:cNvPr id="48" name="Picture 12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9" name="Freeform 13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9" name="Group 14"/>
              <p:cNvGrpSpPr>
                <a:grpSpLocks/>
              </p:cNvGrpSpPr>
              <p:nvPr/>
            </p:nvGrpSpPr>
            <p:grpSpPr bwMode="auto">
              <a:xfrm flipH="1">
                <a:off x="3279775" y="2101850"/>
                <a:ext cx="501650" cy="512763"/>
                <a:chOff x="2839" y="3501"/>
                <a:chExt cx="755" cy="803"/>
              </a:xfrm>
            </p:grpSpPr>
            <p:pic>
              <p:nvPicPr>
                <p:cNvPr id="46" name="Picture 1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" name="Freeform 16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40" name="Group 17"/>
              <p:cNvGrpSpPr>
                <a:grpSpLocks/>
              </p:cNvGrpSpPr>
              <p:nvPr/>
            </p:nvGrpSpPr>
            <p:grpSpPr bwMode="auto">
              <a:xfrm flipH="1">
                <a:off x="4278313" y="2092325"/>
                <a:ext cx="501650" cy="512763"/>
                <a:chOff x="2839" y="3501"/>
                <a:chExt cx="755" cy="803"/>
              </a:xfrm>
            </p:grpSpPr>
            <p:pic>
              <p:nvPicPr>
                <p:cNvPr id="44" name="Picture 18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5" name="Freeform 19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41" name="Group 20"/>
              <p:cNvGrpSpPr>
                <a:grpSpLocks/>
              </p:cNvGrpSpPr>
              <p:nvPr/>
            </p:nvGrpSpPr>
            <p:grpSpPr bwMode="auto">
              <a:xfrm flipH="1">
                <a:off x="5397500" y="2106613"/>
                <a:ext cx="501650" cy="512762"/>
                <a:chOff x="2839" y="3501"/>
                <a:chExt cx="755" cy="803"/>
              </a:xfrm>
            </p:grpSpPr>
            <p:pic>
              <p:nvPicPr>
                <p:cNvPr id="42" name="Picture 21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" name="Freeform 22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2308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243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solidFill>
                  <a:srgbClr val="0066CC"/>
                </a:solidFill>
                <a:effectLst/>
              </a:rPr>
              <a:t>CSMA/CD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算法描述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55" name="Rectangle 3"/>
          <p:cNvSpPr txBox="1">
            <a:spLocks noChangeArrowheads="1"/>
          </p:cNvSpPr>
          <p:nvPr/>
        </p:nvSpPr>
        <p:spPr bwMode="auto">
          <a:xfrm>
            <a:off x="1006227" y="1434112"/>
            <a:ext cx="3421757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indent="-179388">
              <a:spcBef>
                <a:spcPts val="600"/>
              </a:spcBef>
              <a:buFont typeface="Wingdings" charset="0"/>
              <a:buNone/>
              <a:defRPr/>
            </a:pP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网卡接收到网络层的数据报，封装成帧</a:t>
            </a:r>
            <a:endParaRPr lang="en-US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388" indent="-179388">
              <a:spcBef>
                <a:spcPts val="600"/>
              </a:spcBef>
              <a:buFont typeface="Wingdings" charset="0"/>
              <a:buNone/>
              <a:defRPr/>
            </a:pP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如果网卡检测到信道是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空闲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则开始传输帧；</a:t>
            </a:r>
            <a:b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如果信道是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繁忙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则等到信道空闲后再传输</a:t>
            </a: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179388" indent="-179388">
              <a:spcBef>
                <a:spcPts val="600"/>
              </a:spcBef>
              <a:buFont typeface="Wingdings" charset="0"/>
              <a:buNone/>
              <a:defRPr/>
            </a:pP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如果网卡在传输帧的整个过程中没有检测到其他帧的传输</a:t>
            </a:r>
            <a:r>
              <a:rPr 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则网卡成功传输该帧；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388" indent="-179388">
              <a:spcBef>
                <a:spcPts val="600"/>
              </a:spcBef>
              <a:buNone/>
              <a:defRPr/>
            </a:pP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如果网卡检测到其他帧的传输，则取消发送该帧，并发送一个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拥堵信号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(jam signal)</a:t>
            </a:r>
            <a:endParaRPr lang="en-US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4"/>
          <p:cNvSpPr txBox="1">
            <a:spLocks noChangeArrowheads="1"/>
          </p:cNvSpPr>
          <p:nvPr/>
        </p:nvSpPr>
        <p:spPr>
          <a:xfrm>
            <a:off x="4716016" y="1434112"/>
            <a:ext cx="3421757" cy="3606849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indent="-179388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取消之后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网卡等待一个随机时间量，然后返回步骤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 (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二进制指数回退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500" i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en-US" altLang="zh-CN" sz="1350" i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次碰撞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网卡从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{0,1,2, …, 2</a:t>
            </a:r>
            <a:r>
              <a:rPr lang="en-US" altLang="zh-CN" sz="1350" b="1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-1}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中随机选择一个数</a:t>
            </a:r>
            <a:r>
              <a:rPr lang="en-US" altLang="zh-CN" sz="1350" i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K,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K</a:t>
            </a:r>
            <a:r>
              <a:rPr lang="el-GR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·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比特时间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后返回步骤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比特时间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1Gbps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，每比特时间是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1350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-9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K=1023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则等待时间 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 = 1023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1350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-9</a:t>
            </a:r>
            <a:b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= 50 </a:t>
            </a:r>
            <a:r>
              <a:rPr lang="el-GR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10013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3459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>
                <a:solidFill>
                  <a:srgbClr val="0066CC"/>
                </a:solidFill>
                <a:effectLst/>
              </a:rPr>
              <a:t>5.3.3</a:t>
            </a:r>
            <a:r>
              <a:rPr lang="zh-TW" altLang="en-US" dirty="0">
                <a:solidFill>
                  <a:srgbClr val="0066CC"/>
                </a:solidFill>
                <a:effectLst/>
              </a:rPr>
              <a:t>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轮流多址访问协议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403460" name="Rectangle 4"/>
          <p:cNvSpPr>
            <a:spLocks noChangeArrowheads="1"/>
          </p:cNvSpPr>
          <p:nvPr/>
        </p:nvSpPr>
        <p:spPr bwMode="auto">
          <a:xfrm>
            <a:off x="1043608" y="1463775"/>
            <a:ext cx="5829300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信道划分多址访问协议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TW" sz="18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在负荷高的时候：信道利用率、公平性等都比较好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在负荷低的时候：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信道访问的产生时延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空闲时隙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哪怕只有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个活动结点，链路的利用率也只有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1/N</a:t>
            </a:r>
            <a:r>
              <a:rPr lang="en-US" altLang="zh-TW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随机多址访问协议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负荷低的时候：效率高，单个结点可以利用整个带宽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负荷高的时候：经常发送碰撞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轮流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TW" sz="18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无论负荷高还是低，都可以有效利用网络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9147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4483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>
                <a:solidFill>
                  <a:srgbClr val="0066CC"/>
                </a:solidFill>
                <a:effectLst/>
              </a:rPr>
              <a:t>5.3.3</a:t>
            </a:r>
            <a:r>
              <a:rPr lang="zh-TW" altLang="en-US" dirty="0">
                <a:solidFill>
                  <a:srgbClr val="0066CC"/>
                </a:solidFill>
                <a:effectLst/>
              </a:rPr>
              <a:t>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轮流多址访问协议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404485" name="Rectangle 5"/>
          <p:cNvSpPr>
            <a:spLocks noChangeArrowheads="1"/>
          </p:cNvSpPr>
          <p:nvPr/>
        </p:nvSpPr>
        <p:spPr bwMode="auto">
          <a:xfrm>
            <a:off x="1091616" y="1444228"/>
            <a:ext cx="3882417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Polling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500" b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b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b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轮询</a:t>
            </a:r>
            <a:r>
              <a:rPr lang="en-US" altLang="zh-CN" sz="1500" b="1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主结点按次序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邀请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从发送数据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主要用与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哑终端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TW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引入轮询时延</a:t>
            </a:r>
            <a:endParaRPr lang="en-US" altLang="zh-TW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单点故障问题</a:t>
            </a:r>
            <a:r>
              <a:rPr lang="en-US" altLang="zh-TW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(master)</a:t>
            </a:r>
            <a:endParaRPr lang="en-US" altLang="zh-TW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04486" name="Object 6"/>
          <p:cNvGraphicFramePr>
            <a:graphicFrameLocks noChangeAspect="1"/>
          </p:cNvGraphicFramePr>
          <p:nvPr/>
        </p:nvGraphicFramePr>
        <p:xfrm>
          <a:off x="5570935" y="1834754"/>
          <a:ext cx="391715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404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935" y="1834754"/>
                        <a:ext cx="391715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87" name="Line 7"/>
          <p:cNvSpPr>
            <a:spLocks noChangeShapeType="1"/>
          </p:cNvSpPr>
          <p:nvPr/>
        </p:nvSpPr>
        <p:spPr bwMode="auto">
          <a:xfrm flipH="1">
            <a:off x="5466160" y="2038350"/>
            <a:ext cx="695325" cy="1329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+mj-lt"/>
              <a:ea typeface="+mj-ea"/>
            </a:endParaRPr>
          </a:p>
        </p:txBody>
      </p:sp>
      <p:sp>
        <p:nvSpPr>
          <p:cNvPr id="404488" name="Line 8"/>
          <p:cNvSpPr>
            <a:spLocks noChangeShapeType="1"/>
          </p:cNvSpPr>
          <p:nvPr/>
        </p:nvSpPr>
        <p:spPr bwMode="auto">
          <a:xfrm>
            <a:off x="5947172" y="20764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+mj-lt"/>
              <a:ea typeface="+mj-ea"/>
            </a:endParaRPr>
          </a:p>
        </p:txBody>
      </p:sp>
      <p:sp>
        <p:nvSpPr>
          <p:cNvPr id="404489" name="Line 9"/>
          <p:cNvSpPr>
            <a:spLocks noChangeShapeType="1"/>
          </p:cNvSpPr>
          <p:nvPr/>
        </p:nvSpPr>
        <p:spPr bwMode="auto">
          <a:xfrm>
            <a:off x="6059091" y="2237185"/>
            <a:ext cx="644128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+mj-lt"/>
              <a:ea typeface="+mj-ea"/>
            </a:endParaRPr>
          </a:p>
        </p:txBody>
      </p:sp>
      <p:graphicFrame>
        <p:nvGraphicFramePr>
          <p:cNvPr id="404490" name="Object 10"/>
          <p:cNvGraphicFramePr>
            <a:graphicFrameLocks noChangeAspect="1"/>
          </p:cNvGraphicFramePr>
          <p:nvPr/>
        </p:nvGraphicFramePr>
        <p:xfrm>
          <a:off x="6628210" y="2009776"/>
          <a:ext cx="391715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404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8210" y="2009776"/>
                        <a:ext cx="391715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1" name="Object 11"/>
          <p:cNvGraphicFramePr>
            <a:graphicFrameLocks noChangeAspect="1"/>
          </p:cNvGraphicFramePr>
          <p:nvPr/>
        </p:nvGraphicFramePr>
        <p:xfrm>
          <a:off x="5367338" y="2231232"/>
          <a:ext cx="391716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" name="Clip" r:id="rId7" imgW="1305000" imgH="1085760" progId="MS_ClipArt_Gallery.2">
                  <p:embed/>
                </p:oleObj>
              </mc:Choice>
              <mc:Fallback>
                <p:oleObj name="Clip" r:id="rId7" imgW="1305000" imgH="1085760" progId="MS_ClipArt_Gallery.2">
                  <p:embed/>
                  <p:pic>
                    <p:nvPicPr>
                      <p:cNvPr id="4044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7338" y="2231232"/>
                        <a:ext cx="391716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2" name="Line 12"/>
          <p:cNvSpPr>
            <a:spLocks noChangeShapeType="1"/>
          </p:cNvSpPr>
          <p:nvPr/>
        </p:nvSpPr>
        <p:spPr bwMode="auto">
          <a:xfrm>
            <a:off x="5743575" y="2472929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+mj-lt"/>
              <a:ea typeface="+mj-ea"/>
            </a:endParaRPr>
          </a:p>
        </p:txBody>
      </p:sp>
      <p:graphicFrame>
        <p:nvGraphicFramePr>
          <p:cNvPr id="404493" name="Object 13"/>
          <p:cNvGraphicFramePr>
            <a:graphicFrameLocks noChangeAspect="1"/>
          </p:cNvGraphicFramePr>
          <p:nvPr/>
        </p:nvGraphicFramePr>
        <p:xfrm>
          <a:off x="5163742" y="2627710"/>
          <a:ext cx="391715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" name="Clip" r:id="rId8" imgW="1305000" imgH="1085760" progId="MS_ClipArt_Gallery.2">
                  <p:embed/>
                </p:oleObj>
              </mc:Choice>
              <mc:Fallback>
                <p:oleObj name="Clip" r:id="rId8" imgW="1305000" imgH="1085760" progId="MS_ClipArt_Gallery.2">
                  <p:embed/>
                  <p:pic>
                    <p:nvPicPr>
                      <p:cNvPr id="40449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3742" y="2627710"/>
                        <a:ext cx="391715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4" name="Line 14"/>
          <p:cNvSpPr>
            <a:spLocks noChangeShapeType="1"/>
          </p:cNvSpPr>
          <p:nvPr/>
        </p:nvSpPr>
        <p:spPr bwMode="auto">
          <a:xfrm>
            <a:off x="5539979" y="2869406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+mj-lt"/>
              <a:ea typeface="+mj-ea"/>
            </a:endParaRPr>
          </a:p>
        </p:txBody>
      </p:sp>
      <p:graphicFrame>
        <p:nvGraphicFramePr>
          <p:cNvPr id="404495" name="Object 15"/>
          <p:cNvGraphicFramePr>
            <a:graphicFrameLocks noChangeAspect="1"/>
          </p:cNvGraphicFramePr>
          <p:nvPr/>
        </p:nvGraphicFramePr>
        <p:xfrm>
          <a:off x="4960144" y="3024188"/>
          <a:ext cx="391716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" name="Clip" r:id="rId9" imgW="1305000" imgH="1085760" progId="MS_ClipArt_Gallery.2">
                  <p:embed/>
                </p:oleObj>
              </mc:Choice>
              <mc:Fallback>
                <p:oleObj name="Clip" r:id="rId9" imgW="1305000" imgH="1085760" progId="MS_ClipArt_Gallery.2">
                  <p:embed/>
                  <p:pic>
                    <p:nvPicPr>
                      <p:cNvPr id="40449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144" y="3024188"/>
                        <a:ext cx="391716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6" name="Line 16"/>
          <p:cNvSpPr>
            <a:spLocks noChangeShapeType="1"/>
          </p:cNvSpPr>
          <p:nvPr/>
        </p:nvSpPr>
        <p:spPr bwMode="auto">
          <a:xfrm>
            <a:off x="5336381" y="3265885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+mj-lt"/>
              <a:ea typeface="+mj-ea"/>
            </a:endParaRPr>
          </a:p>
        </p:txBody>
      </p:sp>
      <p:sp>
        <p:nvSpPr>
          <p:cNvPr id="404497" name="Text Box 17"/>
          <p:cNvSpPr txBox="1">
            <a:spLocks noChangeArrowheads="1"/>
          </p:cNvSpPr>
          <p:nvPr/>
        </p:nvSpPr>
        <p:spPr bwMode="auto">
          <a:xfrm>
            <a:off x="6463904" y="2356247"/>
            <a:ext cx="110158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350" dirty="0">
                <a:latin typeface="+mj-lt"/>
                <a:ea typeface="+mj-ea"/>
              </a:rPr>
              <a:t>主结点</a:t>
            </a:r>
            <a:endParaRPr lang="en-US" altLang="zh-CN" sz="1350" dirty="0">
              <a:latin typeface="+mj-lt"/>
              <a:ea typeface="+mj-ea"/>
            </a:endParaRPr>
          </a:p>
          <a:p>
            <a:pPr eaLnBrk="0" hangingPunct="0"/>
            <a:r>
              <a:rPr lang="en-US" altLang="zh-CN" sz="1350" dirty="0">
                <a:latin typeface="+mj-lt"/>
                <a:ea typeface="+mj-ea"/>
              </a:rPr>
              <a:t>master node</a:t>
            </a:r>
          </a:p>
        </p:txBody>
      </p:sp>
      <p:sp>
        <p:nvSpPr>
          <p:cNvPr id="404498" name="Text Box 18"/>
          <p:cNvSpPr txBox="1">
            <a:spLocks noChangeArrowheads="1"/>
          </p:cNvSpPr>
          <p:nvPr/>
        </p:nvSpPr>
        <p:spPr bwMode="auto">
          <a:xfrm>
            <a:off x="4786313" y="3533775"/>
            <a:ext cx="704039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350" dirty="0">
                <a:latin typeface="+mj-lt"/>
                <a:ea typeface="+mj-ea"/>
              </a:rPr>
              <a:t>从结点</a:t>
            </a:r>
            <a:endParaRPr lang="en-US" altLang="zh-CN" sz="1350" dirty="0">
              <a:latin typeface="+mj-lt"/>
              <a:ea typeface="+mj-ea"/>
            </a:endParaRPr>
          </a:p>
        </p:txBody>
      </p:sp>
      <p:grpSp>
        <p:nvGrpSpPr>
          <p:cNvPr id="404499" name="Group 19"/>
          <p:cNvGrpSpPr>
            <a:grpSpLocks/>
          </p:cNvGrpSpPr>
          <p:nvPr/>
        </p:nvGrpSpPr>
        <p:grpSpPr bwMode="auto">
          <a:xfrm>
            <a:off x="6618685" y="1981197"/>
            <a:ext cx="439340" cy="277415"/>
            <a:chOff x="4212" y="2867"/>
            <a:chExt cx="369" cy="233"/>
          </a:xfrm>
        </p:grpSpPr>
        <p:sp>
          <p:nvSpPr>
            <p:cNvPr id="404500" name="Rectangle 20"/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404501" name="Text Box 21"/>
            <p:cNvSpPr txBox="1">
              <a:spLocks noChangeArrowheads="1"/>
            </p:cNvSpPr>
            <p:nvPr/>
          </p:nvSpPr>
          <p:spPr bwMode="auto">
            <a:xfrm>
              <a:off x="4227" y="2867"/>
              <a:ext cx="3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>
                  <a:solidFill>
                    <a:schemeClr val="bg1"/>
                  </a:solidFill>
                  <a:latin typeface="+mj-lt"/>
                  <a:ea typeface="+mj-ea"/>
                </a:rPr>
                <a:t>poll</a:t>
              </a:r>
            </a:p>
          </p:txBody>
        </p:sp>
      </p:grpSp>
      <p:grpSp>
        <p:nvGrpSpPr>
          <p:cNvPr id="404502" name="Group 22"/>
          <p:cNvGrpSpPr>
            <a:grpSpLocks/>
          </p:cNvGrpSpPr>
          <p:nvPr/>
        </p:nvGrpSpPr>
        <p:grpSpPr bwMode="auto">
          <a:xfrm>
            <a:off x="5155404" y="2672954"/>
            <a:ext cx="467916" cy="277416"/>
            <a:chOff x="4415" y="2367"/>
            <a:chExt cx="393" cy="233"/>
          </a:xfrm>
        </p:grpSpPr>
        <p:sp>
          <p:nvSpPr>
            <p:cNvPr id="404503" name="Rectangle 23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404504" name="Text Box 24"/>
            <p:cNvSpPr txBox="1">
              <a:spLocks noChangeArrowheads="1"/>
            </p:cNvSpPr>
            <p:nvPr/>
          </p:nvSpPr>
          <p:spPr bwMode="auto">
            <a:xfrm>
              <a:off x="4415" y="2367"/>
              <a:ext cx="3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>
                  <a:solidFill>
                    <a:schemeClr val="bg1"/>
                  </a:solidFill>
                  <a:latin typeface="+mj-lt"/>
                  <a:ea typeface="+mj-ea"/>
                </a:rPr>
                <a:t>data</a:t>
              </a:r>
            </a:p>
          </p:txBody>
        </p:sp>
      </p:grpSp>
      <p:grpSp>
        <p:nvGrpSpPr>
          <p:cNvPr id="404505" name="Group 25"/>
          <p:cNvGrpSpPr>
            <a:grpSpLocks/>
          </p:cNvGrpSpPr>
          <p:nvPr/>
        </p:nvGrpSpPr>
        <p:grpSpPr bwMode="auto">
          <a:xfrm>
            <a:off x="5535213" y="1834754"/>
            <a:ext cx="467915" cy="277416"/>
            <a:chOff x="4415" y="2367"/>
            <a:chExt cx="393" cy="233"/>
          </a:xfrm>
        </p:grpSpPr>
        <p:sp>
          <p:nvSpPr>
            <p:cNvPr id="404506" name="Rectangle 26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  <a:ea typeface="+mj-ea"/>
              </a:endParaRPr>
            </a:p>
          </p:txBody>
        </p:sp>
        <p:sp>
          <p:nvSpPr>
            <p:cNvPr id="404507" name="Text Box 27"/>
            <p:cNvSpPr txBox="1">
              <a:spLocks noChangeArrowheads="1"/>
            </p:cNvSpPr>
            <p:nvPr/>
          </p:nvSpPr>
          <p:spPr bwMode="auto">
            <a:xfrm>
              <a:off x="4415" y="2367"/>
              <a:ext cx="3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>
                  <a:solidFill>
                    <a:schemeClr val="bg1"/>
                  </a:solidFill>
                  <a:latin typeface="+mj-lt"/>
                  <a:ea typeface="+mj-ea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159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L -0.09254 -1.85185E-6 L -0.07882 -0.03495 L -0.1526 -0.03495 " pathEditMode="relative" ptsTypes="AAAA">
                                      <p:cBhvr>
                                        <p:cTn id="9" dur="2000" fill="hold"/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7.40741E-7 L 0.07119 -0.00162 L 0.0599 0.03171 L 0.15122 0.03009 " pathEditMode="relative" ptsTypes="AAAA">
                                      <p:cBhvr>
                                        <p:cTn id="18" dur="2000" fill="hold"/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08872 -1.85185E-6 L -0.14375 0.14167 L -0.21753 0.14167 " pathEditMode="relative" ptsTypes="AAAA">
                                      <p:cBhvr>
                                        <p:cTn id="28" dur="2000" fill="hold"/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2963E-6 L 0.07135 -0.00161 L 0.11754 -0.13171 L 0.21129 -0.13333 " pathEditMode="relative" ptsTypes="AAAA">
                                      <p:cBhvr>
                                        <p:cTn id="37" dur="2000" fill="hold"/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5507" name="Rectangle 3"/>
          <p:cNvSpPr>
            <a:spLocks noGrp="1" noChangeArrowheads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>
                <a:solidFill>
                  <a:srgbClr val="0066CC"/>
                </a:solidFill>
                <a:effectLst/>
              </a:rPr>
              <a:t>5.3.3</a:t>
            </a:r>
            <a:r>
              <a:rPr lang="zh-TW" altLang="en-US" dirty="0">
                <a:solidFill>
                  <a:srgbClr val="0066CC"/>
                </a:solidFill>
                <a:effectLst/>
              </a:rPr>
              <a:t>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轮流多址访问协议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405531" name="Rectangle 27"/>
          <p:cNvSpPr>
            <a:spLocks noChangeArrowheads="1"/>
          </p:cNvSpPr>
          <p:nvPr/>
        </p:nvSpPr>
        <p:spPr bwMode="auto">
          <a:xfrm>
            <a:off x="1046872" y="1490067"/>
            <a:ext cx="3165088" cy="33742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Token-passing(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令牌传递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8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按照次序传递令牌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得到令牌的结点可以传数据</a:t>
            </a:r>
            <a:r>
              <a:rPr lang="en-US" altLang="zh-CN" sz="12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令牌信息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小的帧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spcBef>
                <a:spcPts val="600"/>
              </a:spcBef>
            </a:pP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token overhead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单点故障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(token)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8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405532" name="Object 28"/>
          <p:cNvGraphicFramePr>
            <a:graphicFrameLocks noChangeAspect="1"/>
          </p:cNvGraphicFramePr>
          <p:nvPr/>
        </p:nvGraphicFramePr>
        <p:xfrm>
          <a:off x="5686425" y="1579960"/>
          <a:ext cx="391716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40553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425" y="1579960"/>
                        <a:ext cx="391716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33" name="Oval 29"/>
          <p:cNvSpPr>
            <a:spLocks noChangeArrowheads="1"/>
          </p:cNvSpPr>
          <p:nvPr/>
        </p:nvSpPr>
        <p:spPr bwMode="auto">
          <a:xfrm>
            <a:off x="5163742" y="1963341"/>
            <a:ext cx="1534715" cy="208359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+mj-lt"/>
              <a:ea typeface="+mj-ea"/>
            </a:endParaRPr>
          </a:p>
        </p:txBody>
      </p:sp>
      <p:graphicFrame>
        <p:nvGraphicFramePr>
          <p:cNvPr id="405534" name="Object 30"/>
          <p:cNvGraphicFramePr>
            <a:graphicFrameLocks noChangeAspect="1"/>
          </p:cNvGraphicFramePr>
          <p:nvPr/>
        </p:nvGraphicFramePr>
        <p:xfrm>
          <a:off x="5774531" y="4145757"/>
          <a:ext cx="391716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40553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531" y="4145757"/>
                        <a:ext cx="391716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5" name="Object 31"/>
          <p:cNvGraphicFramePr>
            <a:graphicFrameLocks noChangeAspect="1"/>
          </p:cNvGraphicFramePr>
          <p:nvPr/>
        </p:nvGraphicFramePr>
        <p:xfrm>
          <a:off x="4679156" y="2793207"/>
          <a:ext cx="391716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" name="Clip" r:id="rId7" imgW="1305000" imgH="1085760" progId="MS_ClipArt_Gallery.2">
                  <p:embed/>
                </p:oleObj>
              </mc:Choice>
              <mc:Fallback>
                <p:oleObj name="Clip" r:id="rId7" imgW="1305000" imgH="1085760" progId="MS_ClipArt_Gallery.2">
                  <p:embed/>
                  <p:pic>
                    <p:nvPicPr>
                      <p:cNvPr id="40553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156" y="2793207"/>
                        <a:ext cx="391716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6" name="Object 32"/>
          <p:cNvGraphicFramePr>
            <a:graphicFrameLocks noChangeAspect="1"/>
          </p:cNvGraphicFramePr>
          <p:nvPr/>
        </p:nvGraphicFramePr>
        <p:xfrm>
          <a:off x="6806804" y="2761060"/>
          <a:ext cx="391715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9" name="Clip" r:id="rId8" imgW="1305000" imgH="1085760" progId="MS_ClipArt_Gallery.2">
                  <p:embed/>
                </p:oleObj>
              </mc:Choice>
              <mc:Fallback>
                <p:oleObj name="Clip" r:id="rId8" imgW="1305000" imgH="1085760" progId="MS_ClipArt_Gallery.2">
                  <p:embed/>
                  <p:pic>
                    <p:nvPicPr>
                      <p:cNvPr id="40553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804" y="2761060"/>
                        <a:ext cx="391715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37" name="Rectangle 33"/>
          <p:cNvSpPr>
            <a:spLocks noChangeArrowheads="1"/>
          </p:cNvSpPr>
          <p:nvPr/>
        </p:nvSpPr>
        <p:spPr bwMode="auto">
          <a:xfrm>
            <a:off x="5797154" y="1294210"/>
            <a:ext cx="205978" cy="240506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350">
                <a:solidFill>
                  <a:schemeClr val="bg1"/>
                </a:solidFill>
                <a:latin typeface="+mj-lt"/>
                <a:ea typeface="+mj-ea"/>
              </a:rPr>
              <a:t>T</a:t>
            </a:r>
          </a:p>
        </p:txBody>
      </p:sp>
      <p:sp>
        <p:nvSpPr>
          <p:cNvPr id="405538" name="Rectangle 34"/>
          <p:cNvSpPr>
            <a:spLocks noChangeArrowheads="1"/>
          </p:cNvSpPr>
          <p:nvPr/>
        </p:nvSpPr>
        <p:spPr bwMode="auto">
          <a:xfrm>
            <a:off x="5605463" y="4506517"/>
            <a:ext cx="608410" cy="240506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350">
                <a:solidFill>
                  <a:schemeClr val="bg1"/>
                </a:solidFill>
                <a:latin typeface="+mj-lt"/>
                <a:ea typeface="+mj-ea"/>
              </a:rPr>
              <a:t>data</a:t>
            </a:r>
          </a:p>
        </p:txBody>
      </p:sp>
      <p:sp>
        <p:nvSpPr>
          <p:cNvPr id="405539" name="Text Box 35"/>
          <p:cNvSpPr txBox="1">
            <a:spLocks noChangeArrowheads="1"/>
          </p:cNvSpPr>
          <p:nvPr/>
        </p:nvSpPr>
        <p:spPr bwMode="auto">
          <a:xfrm>
            <a:off x="4399360" y="2313385"/>
            <a:ext cx="79220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350">
                <a:latin typeface="+mj-lt"/>
                <a:ea typeface="+mj-ea"/>
              </a:rPr>
              <a:t>(nothing</a:t>
            </a:r>
          </a:p>
          <a:p>
            <a:pPr eaLnBrk="0" hangingPunct="0"/>
            <a:r>
              <a:rPr lang="en-US" altLang="zh-CN" sz="1350">
                <a:latin typeface="+mj-lt"/>
                <a:ea typeface="+mj-ea"/>
              </a:rPr>
              <a:t>to send)</a:t>
            </a:r>
          </a:p>
        </p:txBody>
      </p:sp>
      <p:sp>
        <p:nvSpPr>
          <p:cNvPr id="405540" name="Rectangle 36"/>
          <p:cNvSpPr>
            <a:spLocks noChangeArrowheads="1"/>
          </p:cNvSpPr>
          <p:nvPr/>
        </p:nvSpPr>
        <p:spPr bwMode="auto">
          <a:xfrm>
            <a:off x="4772025" y="2807494"/>
            <a:ext cx="205979" cy="240506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350">
                <a:solidFill>
                  <a:schemeClr val="bg1"/>
                </a:solidFill>
                <a:latin typeface="+mj-lt"/>
                <a:ea typeface="+mj-ea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249909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0.03657 C 0.00694 0.06435 0.00121 0.09282 0.00139 0.10509 C 0.00156 0.11736 0.00659 0.10694 0.00017 0.10995 C -0.00625 0.11296 -0.02361 0.11273 -0.03733 0.12338 C -0.05105 0.13403 -0.06945 0.14444 -0.0823 0.17338 C -0.09514 0.20231 -0.1033 0.27847 -0.11476 0.29676 C -0.12622 0.31505 -0.14341 0.28611 -0.15105 0.28333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1" y="1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1354 -0.0044 0.02708 -0.0088 0.03506 0.00671 C 0.04305 0.02222 0.04236 0.06875 0.04756 0.09328 C 0.05277 0.11782 0.05538 0.13402 0.06631 0.15347 C 0.07725 0.17291 0.09982 0.19861 0.11371 0.20995 C 0.1276 0.22129 0.1434 0.20926 0.15 0.22176 C 0.15659 0.23426 0.1552 0.25949 0.15381 0.28495 " pathEditMode="relative" ptsTypes="aaaaaaA">
                                      <p:cBhvr>
                                        <p:cTn id="19" dur="20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19 -0.0581 0.00763 -0.09167 0.01371 -0.10926 C 0.01979 -0.12685 0.04114 -0.11273 0.05503 -0.1294 C 0.06892 -0.14607 0.0875 -0.1794 0.09756 -0.20926 C 0.10763 -0.23912 0.11371 -0.27824 0.1151 -0.30926 C 0.11649 -0.34028 0.11371 -0.36783 0.10625 -0.39607 C 0.09878 -0.42431 0.08454 -0.45949 0.06996 -0.4794 C 0.05538 -0.49931 0.03142 -0.50996 0.01875 -0.51598 C 0.00607 -0.52199 0.0052 -0.51875 -0.00625 -0.51598 C -0.01771 -0.5132 -0.03698 -0.51135 -0.05 -0.49931 C -0.06303 -0.48727 -0.07605 -0.46343 -0.0849 -0.44422 C -0.09375 -0.425 -0.10018 -0.4044 -0.10365 -0.38426 C -0.10712 -0.36412 -0.10556 -0.34375 -0.10625 -0.32269 C -0.10695 -0.30162 -0.11025 -0.27801 -0.10747 -0.25764 C -0.10469 -0.23727 -0.09705 -0.21852 -0.08994 -0.20093 C -0.08282 -0.18334 -0.07553 -0.1669 -0.06494 -0.15255 C -0.05434 -0.1382 -0.03768 -0.12107 -0.02622 -0.11435 C -0.01476 -0.10764 -0.00174 -0.11806 0.00381 -0.11273 C 0.00937 -0.10741 0.00677 -0.09931 0.00746 -0.08264 C 0.00816 -0.06598 0.00781 -0.03935 0.00746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3" y="-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37" grpId="0" animBg="1"/>
      <p:bldP spid="405537" grpId="1" animBg="1"/>
      <p:bldP spid="405538" grpId="0" animBg="1"/>
      <p:bldP spid="405538" grpId="1" animBg="1"/>
      <p:bldP spid="405539" grpId="0"/>
      <p:bldP spid="405540" grpId="0" animBg="1"/>
      <p:bldP spid="405540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多址访问协议 </a:t>
            </a:r>
            <a:endParaRPr lang="en-US" altLang="zh-CN" dirty="0"/>
          </a:p>
        </p:txBody>
      </p:sp>
      <p:sp>
        <p:nvSpPr>
          <p:cNvPr id="406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5" y="987574"/>
            <a:ext cx="7525518" cy="504056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 </a:t>
            </a:r>
            <a:r>
              <a:rPr lang="zh-CN" altLang="en-US" dirty="0">
                <a:effectLst/>
              </a:rPr>
              <a:t>多址访问协议总结</a:t>
            </a:r>
            <a:endParaRPr lang="en-US" altLang="en-US" dirty="0">
              <a:effectLst/>
            </a:endParaRPr>
          </a:p>
        </p:txBody>
      </p:sp>
      <p:sp>
        <p:nvSpPr>
          <p:cNvPr id="406543" name="Rectangle 15"/>
          <p:cNvSpPr>
            <a:spLocks noChangeArrowheads="1"/>
          </p:cNvSpPr>
          <p:nvPr/>
        </p:nvSpPr>
        <p:spPr bwMode="auto">
          <a:xfrm>
            <a:off x="1043608" y="1491630"/>
            <a:ext cx="5829300" cy="320362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信道划分</a:t>
            </a:r>
            <a:r>
              <a:rPr lang="en-US" altLang="zh-TW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分时</a:t>
            </a:r>
            <a:r>
              <a:rPr lang="en-US" altLang="zh-TW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分频</a:t>
            </a:r>
            <a:endParaRPr lang="en-US" altLang="zh-TW" sz="135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随机访问</a:t>
            </a:r>
            <a:r>
              <a:rPr lang="en-US" altLang="zh-TW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(dynamic), </a:t>
            </a: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ALOHA, S-ALOHA, CSMA, CSMA/CD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载波监听</a:t>
            </a:r>
            <a:r>
              <a:rPr lang="en-US" altLang="zh-TW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easy in some technologies (wire), hard in others (wireless)</a:t>
            </a: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CSMA/CD used in 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Ethernet</a:t>
            </a: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CSMA/CA used in </a:t>
            </a:r>
            <a:r>
              <a:rPr lang="en-US" altLang="zh-TW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802.11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轮流访问</a:t>
            </a:r>
            <a:endParaRPr lang="en-US" altLang="zh-TW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polling, token passing</a:t>
            </a:r>
          </a:p>
          <a:p>
            <a:pPr lvl="1">
              <a:spcBef>
                <a:spcPts val="600"/>
              </a:spcBef>
            </a:pPr>
            <a:r>
              <a:rPr lang="en-US" altLang="zh-TW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Bluetooth, FDDI, IBM Token Ring </a:t>
            </a:r>
          </a:p>
        </p:txBody>
      </p:sp>
    </p:spTree>
    <p:extLst>
      <p:ext uri="{BB962C8B-B14F-4D97-AF65-F5344CB8AC3E}">
        <p14:creationId xmlns:p14="http://schemas.microsoft.com/office/powerpoint/2010/main" val="103445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2025/4/14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下课铃">
            <a:hlinkClick r:id="" action="ppaction://media"/>
            <a:extLst>
              <a:ext uri="{FF2B5EF4-FFF2-40B4-BE49-F238E27FC236}">
                <a16:creationId xmlns:a16="http://schemas.microsoft.com/office/drawing/2014/main" id="{48B1AFA7-2A5D-4FE2-BF61-5179C502C9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5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E25467C6-F7F9-47B8-AE23-3C87BB8AD566}" vid="{BC9338DA-AB37-4861-BD4C-BC6C68590DDB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1511</TotalTime>
  <Words>3747</Words>
  <Application>Microsoft Office PowerPoint</Application>
  <PresentationFormat>全屏显示(16:9)</PresentationFormat>
  <Paragraphs>836</Paragraphs>
  <Slides>53</Slides>
  <Notes>3</Notes>
  <HiddenSlides>0</HiddenSlides>
  <MMClips>1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Courier</vt:lpstr>
      <vt:lpstr>等线</vt:lpstr>
      <vt:lpstr>等线 Light</vt:lpstr>
      <vt:lpstr>宋体</vt:lpstr>
      <vt:lpstr>微软雅黑</vt:lpstr>
      <vt:lpstr>Arial</vt:lpstr>
      <vt:lpstr>Calibri</vt:lpstr>
      <vt:lpstr>Comic Sans MS</vt:lpstr>
      <vt:lpstr>Times New Roman</vt:lpstr>
      <vt:lpstr>Wingdings</vt:lpstr>
      <vt:lpstr>Office 主题​​</vt:lpstr>
      <vt:lpstr>Clip</vt:lpstr>
      <vt:lpstr>计算机网络</vt:lpstr>
      <vt:lpstr>网络层复习总结</vt:lpstr>
      <vt:lpstr>网络层复习总结</vt:lpstr>
      <vt:lpstr>网络层复习总结</vt:lpstr>
      <vt:lpstr>网络层复习总结</vt:lpstr>
      <vt:lpstr>网络层复习总结</vt:lpstr>
      <vt:lpstr>例题：</vt:lpstr>
      <vt:lpstr>例题：</vt:lpstr>
      <vt:lpstr>网络层复习总结</vt:lpstr>
      <vt:lpstr>网络层复习总结</vt:lpstr>
      <vt:lpstr>网络层复习总结</vt:lpstr>
      <vt:lpstr>网络层复习总结</vt:lpstr>
      <vt:lpstr>计算机网络</vt:lpstr>
      <vt:lpstr>Figure of Today</vt:lpstr>
      <vt:lpstr>第五章: 链路层</vt:lpstr>
      <vt:lpstr>第五章：数据链路层</vt:lpstr>
      <vt:lpstr>PowerPoint 演示文稿</vt:lpstr>
      <vt:lpstr>5.1 链路层概述</vt:lpstr>
      <vt:lpstr>5.1 链路层概述</vt:lpstr>
      <vt:lpstr>5.1 链路层概述</vt:lpstr>
      <vt:lpstr>5.1 链路层概述</vt:lpstr>
      <vt:lpstr>5.1 链路层概述</vt:lpstr>
      <vt:lpstr>5.1 链路层概述</vt:lpstr>
      <vt:lpstr>PowerPoint 演示文稿</vt:lpstr>
      <vt:lpstr>5.2 差错检验和纠正 </vt:lpstr>
      <vt:lpstr>5.2 差错检验和纠正 </vt:lpstr>
      <vt:lpstr>5.2 差错检验和纠正 </vt:lpstr>
      <vt:lpstr>5.2 差错检验和纠正 </vt:lpstr>
      <vt:lpstr>5.2 差错检验和纠正 </vt:lpstr>
      <vt:lpstr>5.2 差错检验和纠正 </vt:lpstr>
      <vt:lpstr>5.2 差错检验和纠正 </vt:lpstr>
      <vt:lpstr>PowerPoint 演示文稿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5.3 多址访问协议 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Haibo</dc:creator>
  <cp:lastModifiedBy>cistecoram</cp:lastModifiedBy>
  <cp:revision>38</cp:revision>
  <dcterms:created xsi:type="dcterms:W3CDTF">2020-04-14T07:30:11Z</dcterms:created>
  <dcterms:modified xsi:type="dcterms:W3CDTF">2025-04-14T02:25:05Z</dcterms:modified>
</cp:coreProperties>
</file>