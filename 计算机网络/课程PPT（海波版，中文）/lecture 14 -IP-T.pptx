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  <p:sldMasterId id="2147483751" r:id="rId2"/>
  </p:sldMasterIdLst>
  <p:notesMasterIdLst>
    <p:notesMasterId r:id="rId57"/>
  </p:notesMasterIdLst>
  <p:handoutMasterIdLst>
    <p:handoutMasterId r:id="rId58"/>
  </p:handoutMasterIdLst>
  <p:sldIdLst>
    <p:sldId id="319" r:id="rId3"/>
    <p:sldId id="448" r:id="rId4"/>
    <p:sldId id="269" r:id="rId5"/>
    <p:sldId id="270" r:id="rId6"/>
    <p:sldId id="271" r:id="rId7"/>
    <p:sldId id="446" r:id="rId8"/>
    <p:sldId id="447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449" r:id="rId20"/>
    <p:sldId id="451" r:id="rId21"/>
    <p:sldId id="283" r:id="rId22"/>
    <p:sldId id="284" r:id="rId23"/>
    <p:sldId id="285" r:id="rId24"/>
    <p:sldId id="286" r:id="rId25"/>
    <p:sldId id="287" r:id="rId26"/>
    <p:sldId id="288" r:id="rId27"/>
    <p:sldId id="788" r:id="rId28"/>
    <p:sldId id="289" r:id="rId29"/>
    <p:sldId id="290" r:id="rId30"/>
    <p:sldId id="291" r:id="rId31"/>
    <p:sldId id="292" r:id="rId32"/>
    <p:sldId id="787" r:id="rId33"/>
    <p:sldId id="452" r:id="rId34"/>
    <p:sldId id="294" r:id="rId35"/>
    <p:sldId id="295" r:id="rId36"/>
    <p:sldId id="450" r:id="rId37"/>
    <p:sldId id="297" r:id="rId38"/>
    <p:sldId id="782" r:id="rId39"/>
    <p:sldId id="783" r:id="rId40"/>
    <p:sldId id="298" r:id="rId41"/>
    <p:sldId id="299" r:id="rId42"/>
    <p:sldId id="300" r:id="rId43"/>
    <p:sldId id="789" r:id="rId44"/>
    <p:sldId id="784" r:id="rId45"/>
    <p:sldId id="785" r:id="rId46"/>
    <p:sldId id="453" r:id="rId47"/>
    <p:sldId id="302" r:id="rId48"/>
    <p:sldId id="303" r:id="rId49"/>
    <p:sldId id="304" r:id="rId50"/>
    <p:sldId id="305" r:id="rId51"/>
    <p:sldId id="306" r:id="rId52"/>
    <p:sldId id="777" r:id="rId53"/>
    <p:sldId id="778" r:id="rId54"/>
    <p:sldId id="786" r:id="rId55"/>
    <p:sldId id="296" r:id="rId56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E18601"/>
    <a:srgbClr val="008000"/>
    <a:srgbClr val="8000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15" autoAdjust="0"/>
  </p:normalViewPr>
  <p:slideViewPr>
    <p:cSldViewPr>
      <p:cViewPr varScale="1">
        <p:scale>
          <a:sx n="127" d="100"/>
          <a:sy n="127" d="100"/>
        </p:scale>
        <p:origin x="125" y="643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2362" y="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14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B1D16-4475-44FE-96BB-A43551D4376B}" type="datetime1">
              <a:rPr lang="zh-CN" altLang="en-US" smtClean="0"/>
              <a:t>2025/4/7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264603"/>
      </p:ext>
    </p:extLst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200150"/>
            <a:ext cx="3810000" cy="34861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200150"/>
            <a:ext cx="3810000" cy="34861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2CE2F07-E849-4686-B43C-E716295ECC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E61F6BC-C17A-4312-AC5B-39E9C553E9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4850606"/>
            <a:ext cx="2895600" cy="21550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1C40F42-3DE3-4F5F-BCE3-E8763B1922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4-</a:t>
            </a:r>
            <a:fld id="{4550D74A-5DCD-4EE6-B279-09945A356A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712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13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400869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204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4.3 </a:t>
            </a:r>
            <a:r>
              <a:rPr lang="zh-CN" altLang="en-US" dirty="0"/>
              <a:t>网际协议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3101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525518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3801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94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490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BD829-0573-405D-84C6-2587D0D6172D}" type="datetime1">
              <a:rPr lang="zh-CN" altLang="en-US" smtClean="0"/>
              <a:t>2025/4/7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70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13.xml"/><Relationship Id="rId9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  <p:sldLayoutId id="2147483749" r:id="rId8"/>
    <p:sldLayoutId id="2147483750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1" name="arrow.wav"/>
          </p:stSnd>
        </p:sndAc>
      </p:transition>
    </mc:Choice>
    <mc:Fallback xmlns="">
      <p:transition spd="slow">
        <p:fade/>
        <p:sndAc>
          <p:stSnd>
            <p:snd r:embed="rId12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32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9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ann.org/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2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audio" Target="../media/audio1.wav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11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5.bin"/><Relationship Id="rId1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5" Type="http://schemas.openxmlformats.org/officeDocument/2006/relationships/audio" Target="../media/audio1.wav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22B21-4AA2-4E62-A9D7-89BB4D71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3AD0F-D67C-4997-9AAC-B4F1376E63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IP </a:t>
            </a:r>
            <a:r>
              <a:rPr lang="zh-CN" altLang="en-US" dirty="0"/>
              <a:t>数据报封装  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IP </a:t>
            </a:r>
            <a:r>
              <a:rPr lang="zh-CN" altLang="en-US" dirty="0"/>
              <a:t>数据报分片</a:t>
            </a:r>
            <a:endParaRPr lang="en-US" altLang="zh-CN" dirty="0"/>
          </a:p>
          <a:p>
            <a:pPr lvl="1"/>
            <a:r>
              <a:rPr lang="en-US" altLang="zh-CN" dirty="0"/>
              <a:t>ID</a:t>
            </a:r>
          </a:p>
          <a:p>
            <a:pPr lvl="1"/>
            <a:r>
              <a:rPr lang="en-US" altLang="zh-CN" dirty="0"/>
              <a:t>Flag</a:t>
            </a:r>
          </a:p>
          <a:p>
            <a:pPr lvl="1"/>
            <a:r>
              <a:rPr lang="en-US" altLang="zh-CN" dirty="0"/>
              <a:t>offset</a:t>
            </a:r>
          </a:p>
          <a:p>
            <a:endParaRPr lang="en-US" altLang="zh-CN" dirty="0"/>
          </a:p>
          <a:p>
            <a:r>
              <a:rPr lang="en-US" altLang="zh-CN" dirty="0"/>
              <a:t>IPv4</a:t>
            </a:r>
            <a:r>
              <a:rPr lang="zh-CN" altLang="en-US" dirty="0"/>
              <a:t>网络编址</a:t>
            </a:r>
            <a:endParaRPr lang="en-US" altLang="zh-CN" dirty="0"/>
          </a:p>
          <a:p>
            <a:pPr lvl="1"/>
            <a:r>
              <a:rPr lang="en-US" altLang="zh-CN" dirty="0"/>
              <a:t>CIDR</a:t>
            </a:r>
            <a:endParaRPr lang="zh-CN" altLang="en-US" dirty="0"/>
          </a:p>
        </p:txBody>
      </p:sp>
      <p:pic>
        <p:nvPicPr>
          <p:cNvPr id="149" name="图片 148">
            <a:extLst>
              <a:ext uri="{FF2B5EF4-FFF2-40B4-BE49-F238E27FC236}">
                <a16:creationId xmlns:a16="http://schemas.microsoft.com/office/drawing/2014/main" id="{CD924F7A-5658-4384-BE87-D3ED5FF22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2824306"/>
            <a:ext cx="2623347" cy="2210413"/>
          </a:xfrm>
          <a:prstGeom prst="rect">
            <a:avLst/>
          </a:prstGeom>
        </p:spPr>
      </p:pic>
      <p:pic>
        <p:nvPicPr>
          <p:cNvPr id="229" name="图片 228">
            <a:extLst>
              <a:ext uri="{FF2B5EF4-FFF2-40B4-BE49-F238E27FC236}">
                <a16:creationId xmlns:a16="http://schemas.microsoft.com/office/drawing/2014/main" id="{463B11FD-796F-4331-825E-58DDAA03E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786529"/>
            <a:ext cx="4498719" cy="2067571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BFEE9194-D0CD-4642-A2E9-F001B4AC8E5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ABD46751-3018-4B42-99A8-296153EA2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131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4.3.3 IPv4</a:t>
            </a:r>
            <a:r>
              <a:rPr lang="zh-CN" altLang="en-US" dirty="0">
                <a:effectLst/>
              </a:rPr>
              <a:t>网络编址</a:t>
            </a:r>
            <a:endParaRPr lang="en-US" altLang="zh-CN" dirty="0">
              <a:effectLst/>
            </a:endParaRPr>
          </a:p>
          <a:p>
            <a:r>
              <a:rPr lang="zh-CN" altLang="en-US" sz="1650" dirty="0"/>
              <a:t>老方法：</a:t>
            </a:r>
            <a:r>
              <a:rPr lang="en-US" altLang="zh-CN" sz="1650" dirty="0"/>
              <a:t>IP</a:t>
            </a:r>
            <a:r>
              <a:rPr lang="zh-CN" altLang="en-US" sz="1650" dirty="0"/>
              <a:t>地址分为四类，根据规模划分子网</a:t>
            </a:r>
            <a:endParaRPr lang="en-US" altLang="zh-CN" sz="1650" dirty="0"/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A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0</a:t>
            </a:r>
            <a:r>
              <a:rPr lang="en-US" altLang="zh-CN" sz="1350" dirty="0">
                <a:solidFill>
                  <a:srgbClr val="0066CC"/>
                </a:solidFill>
              </a:rPr>
              <a:t>.0.0.0-</a:t>
            </a:r>
            <a:r>
              <a:rPr lang="en-US" altLang="zh-CN" sz="1350" dirty="0">
                <a:solidFill>
                  <a:srgbClr val="FF0000"/>
                </a:solidFill>
              </a:rPr>
              <a:t>127</a:t>
            </a:r>
            <a:r>
              <a:rPr lang="en-US" altLang="zh-CN" sz="1350" dirty="0">
                <a:solidFill>
                  <a:srgbClr val="0066CC"/>
                </a:solidFill>
              </a:rPr>
              <a:t>.0.0.0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126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 16777214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B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128.0</a:t>
            </a:r>
            <a:r>
              <a:rPr lang="en-US" altLang="zh-CN" sz="1350" dirty="0">
                <a:solidFill>
                  <a:srgbClr val="0066CC"/>
                </a:solidFill>
              </a:rPr>
              <a:t>.0.0-</a:t>
            </a:r>
            <a:r>
              <a:rPr lang="en-US" altLang="zh-CN" sz="1350" dirty="0">
                <a:solidFill>
                  <a:srgbClr val="FF0000"/>
                </a:solidFill>
              </a:rPr>
              <a:t>191.254</a:t>
            </a:r>
            <a:r>
              <a:rPr lang="en-US" altLang="zh-CN" sz="1350" dirty="0">
                <a:solidFill>
                  <a:srgbClr val="0066CC"/>
                </a:solidFill>
              </a:rPr>
              <a:t>.0.0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16256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×65534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C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192.0.0</a:t>
            </a:r>
            <a:r>
              <a:rPr lang="en-US" altLang="zh-CN" sz="1350" dirty="0">
                <a:solidFill>
                  <a:srgbClr val="0066CC"/>
                </a:solidFill>
              </a:rPr>
              <a:t>.0-</a:t>
            </a:r>
            <a:r>
              <a:rPr lang="en-US" altLang="zh-CN" sz="1350" dirty="0">
                <a:solidFill>
                  <a:srgbClr val="FF0000"/>
                </a:solidFill>
              </a:rPr>
              <a:t>223.254.254</a:t>
            </a:r>
            <a:r>
              <a:rPr lang="en-US" altLang="zh-CN" sz="1350" dirty="0">
                <a:solidFill>
                  <a:srgbClr val="0066CC"/>
                </a:solidFill>
              </a:rPr>
              <a:t>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2064512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×254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D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0066CC"/>
                </a:solidFill>
              </a:rPr>
              <a:t>224-254</a:t>
            </a:r>
            <a:r>
              <a:rPr lang="zh-CN" altLang="en-US" sz="1350" dirty="0">
                <a:solidFill>
                  <a:srgbClr val="0066CC"/>
                </a:solidFill>
              </a:rPr>
              <a:t>，用于组播和调查等特殊用途</a:t>
            </a:r>
            <a:endParaRPr lang="en-US" altLang="zh-CN" sz="1350" dirty="0">
              <a:solidFill>
                <a:srgbClr val="0066CC"/>
              </a:solidFill>
            </a:endParaRPr>
          </a:p>
          <a:p>
            <a:r>
              <a:rPr lang="zh-CN" altLang="en-US" sz="1650" dirty="0"/>
              <a:t>新方法：</a:t>
            </a:r>
            <a:endParaRPr lang="en-US" altLang="zh-CN" sz="1650" dirty="0"/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CIDR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C</a:t>
            </a:r>
            <a:r>
              <a:rPr lang="en-US" altLang="zh-CN" sz="1350" dirty="0">
                <a:solidFill>
                  <a:srgbClr val="0066CC"/>
                </a:solidFill>
              </a:rPr>
              <a:t>lassless </a:t>
            </a:r>
            <a:r>
              <a:rPr lang="en-US" altLang="zh-CN" sz="1350" dirty="0">
                <a:solidFill>
                  <a:srgbClr val="FF0000"/>
                </a:solidFill>
              </a:rPr>
              <a:t>I</a:t>
            </a:r>
            <a:r>
              <a:rPr lang="en-US" altLang="zh-CN" sz="1350" dirty="0">
                <a:solidFill>
                  <a:srgbClr val="0066CC"/>
                </a:solidFill>
              </a:rPr>
              <a:t>nter</a:t>
            </a:r>
            <a:r>
              <a:rPr lang="en-US" altLang="zh-CN" sz="1350" dirty="0">
                <a:solidFill>
                  <a:srgbClr val="FF0000"/>
                </a:solidFill>
              </a:rPr>
              <a:t>D</a:t>
            </a:r>
            <a:r>
              <a:rPr lang="en-US" altLang="zh-CN" sz="1350" dirty="0">
                <a:solidFill>
                  <a:srgbClr val="0066CC"/>
                </a:solidFill>
              </a:rPr>
              <a:t>omain </a:t>
            </a:r>
            <a:r>
              <a:rPr lang="en-US" altLang="zh-CN" sz="1350" dirty="0">
                <a:solidFill>
                  <a:srgbClr val="FF0000"/>
                </a:solidFill>
              </a:rPr>
              <a:t>R</a:t>
            </a:r>
            <a:r>
              <a:rPr lang="en-US" altLang="zh-CN" sz="1350" dirty="0">
                <a:solidFill>
                  <a:srgbClr val="0066CC"/>
                </a:solidFill>
              </a:rPr>
              <a:t>outing</a:t>
            </a:r>
            <a:r>
              <a:rPr lang="zh-CN" altLang="en-US" sz="1350" dirty="0">
                <a:solidFill>
                  <a:srgbClr val="0066CC"/>
                </a:solidFill>
              </a:rPr>
              <a:t>，无类别域间路由选择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</a:rPr>
              <a:t>子网标识部分的长度任意选择</a:t>
            </a:r>
            <a:r>
              <a:rPr lang="en-US" altLang="zh-CN" sz="1350" dirty="0">
                <a:solidFill>
                  <a:srgbClr val="0066CC"/>
                </a:solidFill>
              </a:rPr>
              <a:t>(</a:t>
            </a:r>
            <a:r>
              <a:rPr lang="zh-CN" altLang="en-US" sz="1350" dirty="0">
                <a:solidFill>
                  <a:srgbClr val="0066CC"/>
                </a:solidFill>
              </a:rPr>
              <a:t>不对子网分类</a:t>
            </a:r>
            <a:r>
              <a:rPr lang="en-US" altLang="zh-CN" sz="1350" dirty="0">
                <a:solidFill>
                  <a:srgbClr val="0066CC"/>
                </a:solidFill>
              </a:rPr>
              <a:t>)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</a:rPr>
              <a:t>地址格式：</a:t>
            </a:r>
            <a:r>
              <a:rPr lang="en-US" altLang="zh-CN" sz="1350" dirty="0">
                <a:solidFill>
                  <a:srgbClr val="0066CC"/>
                </a:solidFill>
              </a:rPr>
              <a:t>a.b.c.d / x </a:t>
            </a:r>
            <a:r>
              <a:rPr lang="zh-CN" altLang="en-US" sz="1350" dirty="0">
                <a:solidFill>
                  <a:srgbClr val="0066CC"/>
                </a:solidFill>
              </a:rPr>
              <a:t>；</a:t>
            </a:r>
            <a:r>
              <a:rPr lang="en-US" altLang="zh-CN" sz="1350" dirty="0">
                <a:solidFill>
                  <a:srgbClr val="0066CC"/>
                </a:solidFill>
              </a:rPr>
              <a:t>x </a:t>
            </a:r>
            <a:r>
              <a:rPr lang="zh-CN" altLang="en-US" sz="1350" dirty="0">
                <a:solidFill>
                  <a:srgbClr val="0066CC"/>
                </a:solidFill>
              </a:rPr>
              <a:t>是子网标识的长度</a:t>
            </a:r>
            <a:r>
              <a:rPr lang="en-US" altLang="zh-CN" sz="1350" dirty="0">
                <a:solidFill>
                  <a:srgbClr val="0066CC"/>
                </a:solidFill>
              </a:rPr>
              <a:t>(</a:t>
            </a:r>
            <a:r>
              <a:rPr lang="zh-CN" altLang="en-US" sz="1350" dirty="0">
                <a:solidFill>
                  <a:srgbClr val="0066CC"/>
                </a:solidFill>
              </a:rPr>
              <a:t>子网掩码</a:t>
            </a:r>
            <a:r>
              <a:rPr lang="en-US" altLang="zh-CN" sz="1350" dirty="0">
                <a:solidFill>
                  <a:srgbClr val="0066CC"/>
                </a:solidFill>
              </a:rPr>
              <a:t>) </a:t>
            </a:r>
          </a:p>
          <a:p>
            <a:endParaRPr lang="en-US" altLang="zh-CN" sz="16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74" name="Text Box 5"/>
          <p:cNvSpPr txBox="1">
            <a:spLocks noChangeArrowheads="1"/>
          </p:cNvSpPr>
          <p:nvPr/>
        </p:nvSpPr>
        <p:spPr bwMode="auto">
          <a:xfrm>
            <a:off x="1395412" y="4191577"/>
            <a:ext cx="5009705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" panose="02027200000000000000" pitchFamily="18" charset="0"/>
              </a:rPr>
              <a:t>11001000 00010111 0001000</a:t>
            </a:r>
            <a:r>
              <a:rPr lang="en-US" altLang="zh-CN" sz="1800" b="1" dirty="0">
                <a:solidFill>
                  <a:srgbClr val="0066FF"/>
                </a:solidFill>
                <a:latin typeface="Courier" panose="02027200000000000000" pitchFamily="18" charset="0"/>
              </a:rPr>
              <a:t>0 00000000</a:t>
            </a:r>
          </a:p>
        </p:txBody>
      </p:sp>
      <p:sp>
        <p:nvSpPr>
          <p:cNvPr id="79" name="Text Box 12"/>
          <p:cNvSpPr txBox="1">
            <a:spLocks noChangeArrowheads="1"/>
          </p:cNvSpPr>
          <p:nvPr/>
        </p:nvSpPr>
        <p:spPr bwMode="auto">
          <a:xfrm>
            <a:off x="6906688" y="4184773"/>
            <a:ext cx="1470274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500" dirty="0"/>
              <a:t>200.23.16.0/23</a:t>
            </a:r>
            <a:endParaRPr lang="en-US" altLang="zh-CN" sz="1200" dirty="0"/>
          </a:p>
        </p:txBody>
      </p:sp>
      <p:grpSp>
        <p:nvGrpSpPr>
          <p:cNvPr id="7" name="组合 6"/>
          <p:cNvGrpSpPr/>
          <p:nvPr/>
        </p:nvGrpSpPr>
        <p:grpSpPr>
          <a:xfrm>
            <a:off x="1485900" y="3970932"/>
            <a:ext cx="3386623" cy="300082"/>
            <a:chOff x="1428154" y="5051628"/>
            <a:chExt cx="4219575" cy="400108"/>
          </a:xfrm>
        </p:grpSpPr>
        <p:sp>
          <p:nvSpPr>
            <p:cNvPr id="75" name="Text Box 6"/>
            <p:cNvSpPr txBox="1">
              <a:spLocks noChangeArrowheads="1"/>
            </p:cNvSpPr>
            <p:nvPr/>
          </p:nvSpPr>
          <p:spPr bwMode="auto">
            <a:xfrm>
              <a:off x="2774513" y="5051628"/>
              <a:ext cx="1378118" cy="400108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350" dirty="0">
                  <a:solidFill>
                    <a:srgbClr val="FF0000"/>
                  </a:solidFill>
                </a:rPr>
                <a:t>Subnet part</a:t>
              </a:r>
            </a:p>
          </p:txBody>
        </p:sp>
        <p:sp>
          <p:nvSpPr>
            <p:cNvPr id="77" name="Line 8"/>
            <p:cNvSpPr>
              <a:spLocks noChangeShapeType="1"/>
            </p:cNvSpPr>
            <p:nvPr/>
          </p:nvSpPr>
          <p:spPr bwMode="auto">
            <a:xfrm>
              <a:off x="4026892" y="5247407"/>
              <a:ext cx="162083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0" name="Line 14"/>
            <p:cNvSpPr>
              <a:spLocks noChangeShapeType="1"/>
            </p:cNvSpPr>
            <p:nvPr/>
          </p:nvSpPr>
          <p:spPr bwMode="auto">
            <a:xfrm flipH="1">
              <a:off x="1428154" y="5237882"/>
              <a:ext cx="14382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51977" y="3902011"/>
            <a:ext cx="1294209" cy="300082"/>
            <a:chOff x="5687417" y="5088185"/>
            <a:chExt cx="1725612" cy="400110"/>
          </a:xfrm>
        </p:grpSpPr>
        <p:sp>
          <p:nvSpPr>
            <p:cNvPr id="76" name="Text Box 7"/>
            <p:cNvSpPr txBox="1">
              <a:spLocks noChangeArrowheads="1"/>
            </p:cNvSpPr>
            <p:nvPr/>
          </p:nvSpPr>
          <p:spPr bwMode="auto">
            <a:xfrm>
              <a:off x="5896994" y="5088185"/>
              <a:ext cx="1328983" cy="400110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350" dirty="0">
                  <a:solidFill>
                    <a:srgbClr val="0066FF"/>
                  </a:solidFill>
                </a:rPr>
                <a:t>Host part</a:t>
              </a: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 flipV="1">
              <a:off x="6817717" y="5405388"/>
              <a:ext cx="595312" cy="0"/>
            </a:xfrm>
            <a:prstGeom prst="line">
              <a:avLst/>
            </a:prstGeom>
            <a:noFill/>
            <a:ln w="25400">
              <a:solidFill>
                <a:srgbClr val="0066FF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2" name="Line 15"/>
            <p:cNvSpPr>
              <a:spLocks noChangeShapeType="1"/>
            </p:cNvSpPr>
            <p:nvPr/>
          </p:nvSpPr>
          <p:spPr bwMode="auto">
            <a:xfrm flipH="1">
              <a:off x="5687417" y="5393010"/>
              <a:ext cx="647700" cy="0"/>
            </a:xfrm>
            <a:prstGeom prst="line">
              <a:avLst/>
            </a:prstGeom>
            <a:noFill/>
            <a:ln w="25400">
              <a:solidFill>
                <a:srgbClr val="0066FF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84" name="Text Box 61"/>
          <p:cNvSpPr txBox="1">
            <a:spLocks noChangeArrowheads="1"/>
          </p:cNvSpPr>
          <p:nvPr/>
        </p:nvSpPr>
        <p:spPr bwMode="auto">
          <a:xfrm>
            <a:off x="6403855" y="4603756"/>
            <a:ext cx="1973107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mask</a:t>
            </a:r>
            <a:r>
              <a:rPr lang="en-US" altLang="zh-CN" sz="1500" dirty="0"/>
              <a:t>: 255.255.254.0</a:t>
            </a:r>
          </a:p>
        </p:txBody>
      </p:sp>
      <p:sp>
        <p:nvSpPr>
          <p:cNvPr id="85" name="Text Box 5"/>
          <p:cNvSpPr txBox="1">
            <a:spLocks noChangeArrowheads="1"/>
          </p:cNvSpPr>
          <p:nvPr/>
        </p:nvSpPr>
        <p:spPr bwMode="auto">
          <a:xfrm>
            <a:off x="1384028" y="4603756"/>
            <a:ext cx="5403726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0000"/>
                </a:solidFill>
                <a:ea typeface="MS PGothic" panose="020B0600070205080204" pitchFamily="34" charset="-128"/>
              </a:defRPr>
            </a:lvl1pPr>
            <a:lvl2pPr marL="742950" indent="-285750">
              <a:defRPr sz="2400">
                <a:ea typeface="MS PGothic" panose="020B0600070205080204" pitchFamily="34" charset="-128"/>
              </a:defRPr>
            </a:lvl2pPr>
            <a:lvl3pPr marL="1143000" indent="-228600">
              <a:defRPr sz="2400">
                <a:ea typeface="MS PGothic" panose="020B0600070205080204" pitchFamily="34" charset="-128"/>
              </a:defRPr>
            </a:lvl3pPr>
            <a:lvl4pPr marL="1600200" indent="-228600">
              <a:defRPr sz="2400">
                <a:ea typeface="MS PGothic" panose="020B0600070205080204" pitchFamily="34" charset="-128"/>
              </a:defRPr>
            </a:lvl4pPr>
            <a:lvl5pPr marL="2057400" indent="-228600">
              <a:defRPr sz="2400"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dirty="0">
                <a:latin typeface="Courier" panose="02027200000000000000" pitchFamily="18" charset="0"/>
              </a:rPr>
              <a:t>11111111 11111111 1111111</a:t>
            </a:r>
            <a:r>
              <a:rPr lang="en-US" altLang="zh-CN" sz="1800" b="1" dirty="0">
                <a:solidFill>
                  <a:srgbClr val="0066FF"/>
                </a:solidFill>
                <a:latin typeface="Courier" panose="02027200000000000000" pitchFamily="18" charset="0"/>
              </a:rPr>
              <a:t>0 00000000</a:t>
            </a: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9C5F6498-A03C-45CB-BC26-1E277F667DE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D39CFA66-A674-4EC7-9B3A-B473CC25F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9" grpId="0"/>
      <p:bldP spid="84" grpId="0"/>
      <p:bldP spid="85" grpId="0"/>
      <p:bldP spid="18" grpId="0" animBg="1"/>
      <p:bldP spid="1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4.3.3 IPv4</a:t>
            </a:r>
            <a:r>
              <a:rPr lang="zh-CN" altLang="en-US" dirty="0">
                <a:effectLst/>
              </a:rPr>
              <a:t>网络编址</a:t>
            </a:r>
            <a:endParaRPr lang="en-US" altLang="zh-CN" dirty="0">
              <a:effectLst/>
            </a:endParaRPr>
          </a:p>
          <a:p>
            <a:r>
              <a:rPr lang="zh-CN" altLang="en-US" sz="1800" dirty="0">
                <a:solidFill>
                  <a:srgbClr val="FF0000"/>
                </a:solidFill>
                <a:effectLst/>
              </a:rPr>
              <a:t>问题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：组织机构怎么获得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IP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地址块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子网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？</a:t>
            </a:r>
            <a:endParaRPr lang="en-US" altLang="zh-CN" sz="1800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从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ISP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的地址空间中来获得一个地址块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例子：均分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8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块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827584" y="2426520"/>
            <a:ext cx="8208911" cy="182357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ISP's block       11001000  00010111  0001</a:t>
            </a:r>
            <a:r>
              <a:rPr lang="en-US" altLang="zh-CN" sz="1350" b="1" u="sng" dirty="0">
                <a:solidFill>
                  <a:srgbClr val="000099"/>
                </a:solidFill>
                <a:latin typeface="Courier"/>
                <a:cs typeface="Courier New" panose="02070309020205020404" pitchFamily="49" charset="0"/>
              </a:rPr>
              <a:t>000</a:t>
            </a:r>
            <a:r>
              <a:rPr lang="en-US" altLang="zh-CN" sz="1350" b="1" dirty="0">
                <a:solidFill>
                  <a:srgbClr val="000099"/>
                </a:solidFill>
                <a:latin typeface="Courier"/>
                <a:cs typeface="Courier New" panose="02070309020205020404" pitchFamily="49" charset="0"/>
              </a:rPr>
              <a:t>0   00000000    200.23.16.0/20</a:t>
            </a:r>
            <a:r>
              <a:rPr lang="en-US" altLang="zh-CN" sz="1350" b="1" dirty="0">
                <a:solidFill>
                  <a:schemeClr val="accent2"/>
                </a:solidFill>
                <a:latin typeface="Courier"/>
                <a:cs typeface="Courier New" panose="02070309020205020404" pitchFamily="49" charset="0"/>
              </a:rPr>
              <a:t> </a:t>
            </a:r>
          </a:p>
          <a:p>
            <a:endParaRPr lang="en-US" altLang="zh-CN" sz="1350" b="1" dirty="0">
              <a:latin typeface="Courier"/>
              <a:cs typeface="Courier New" panose="02070309020205020404" pitchFamily="49" charset="0"/>
            </a:endParaRPr>
          </a:p>
          <a:p>
            <a:r>
              <a:rPr lang="en-US" altLang="zh-CN" sz="1350" b="1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Organization 0    </a:t>
            </a:r>
            <a:r>
              <a:rPr lang="en-US" altLang="zh-CN" sz="1350" b="1" u="sng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11001000  00010111  0001000</a:t>
            </a:r>
            <a:r>
              <a:rPr lang="en-US" altLang="zh-CN" sz="1050" b="1" u="sng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 </a:t>
            </a:r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0  00000000    200.23.16.0/23 </a:t>
            </a:r>
          </a:p>
          <a:p>
            <a:r>
              <a:rPr lang="en-US" altLang="zh-CN" sz="1350" b="1" dirty="0">
                <a:solidFill>
                  <a:srgbClr val="FF6600"/>
                </a:solidFill>
                <a:latin typeface="Courier"/>
                <a:cs typeface="Courier New" panose="02070309020205020404" pitchFamily="49" charset="0"/>
              </a:rPr>
              <a:t>Organization 1</a:t>
            </a:r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    </a:t>
            </a:r>
            <a:r>
              <a:rPr lang="en-US" altLang="zh-CN" sz="1350" b="1" u="sng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11001000  00010111  0001001</a:t>
            </a:r>
            <a:r>
              <a:rPr lang="en-US" altLang="zh-CN" sz="1050" b="1" u="sng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 </a:t>
            </a:r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0  00000000    200.23.18.0/23 </a:t>
            </a:r>
          </a:p>
          <a:p>
            <a:r>
              <a:rPr lang="en-US" altLang="zh-CN" sz="1350" b="1" dirty="0">
                <a:solidFill>
                  <a:srgbClr val="00B050"/>
                </a:solidFill>
                <a:latin typeface="Courier"/>
                <a:cs typeface="Courier New" panose="02070309020205020404" pitchFamily="49" charset="0"/>
              </a:rPr>
              <a:t>Organization 2    </a:t>
            </a:r>
            <a:r>
              <a:rPr lang="en-US" altLang="zh-CN" sz="1350" b="1" u="sng" dirty="0">
                <a:solidFill>
                  <a:srgbClr val="00B050"/>
                </a:solidFill>
                <a:latin typeface="Courier"/>
                <a:cs typeface="Courier New" panose="02070309020205020404" pitchFamily="49" charset="0"/>
              </a:rPr>
              <a:t>11001000  00010111  0001010</a:t>
            </a:r>
            <a:r>
              <a:rPr lang="en-US" altLang="zh-CN" sz="1050" b="1" u="sng" dirty="0">
                <a:solidFill>
                  <a:srgbClr val="00B050"/>
                </a:solidFill>
                <a:latin typeface="Courier"/>
                <a:cs typeface="Courier New" panose="02070309020205020404" pitchFamily="49" charset="0"/>
              </a:rPr>
              <a:t> </a:t>
            </a:r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0  00000000    200.23.20.0/23 </a:t>
            </a:r>
          </a:p>
          <a:p>
            <a:r>
              <a:rPr lang="en-US" altLang="zh-CN" sz="13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cs typeface="Courier New" panose="02070309020205020404" pitchFamily="49" charset="0"/>
              </a:rPr>
              <a:t>   ......                     ......              ...          ......</a:t>
            </a:r>
          </a:p>
          <a:p>
            <a:r>
              <a:rPr lang="en-US" altLang="zh-CN" sz="1350" b="1" dirty="0">
                <a:solidFill>
                  <a:srgbClr val="9900CC"/>
                </a:solidFill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Organization 7</a:t>
            </a:r>
            <a:r>
              <a:rPr lang="en-US" altLang="zh-CN" sz="1350" b="1" dirty="0"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1350" b="1" u="sng" dirty="0">
                <a:solidFill>
                  <a:srgbClr val="9900CC"/>
                </a:solidFill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11001000  00010111  0001</a:t>
            </a:r>
            <a:r>
              <a:rPr lang="en-US" altLang="zh-CN" sz="1350" b="1" u="sng" spc="120" dirty="0">
                <a:solidFill>
                  <a:srgbClr val="9900CC"/>
                </a:solidFill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111</a:t>
            </a:r>
            <a:r>
              <a:rPr lang="en-US" altLang="zh-CN" sz="100" b="1" u="sng" spc="120" dirty="0">
                <a:solidFill>
                  <a:srgbClr val="9900CC"/>
                </a:solidFill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350" b="1" dirty="0"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0  00000000    200.23.30.0/23</a:t>
            </a:r>
            <a:r>
              <a:rPr lang="en-US" altLang="zh-CN" sz="1800" b="1" dirty="0"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</a:p>
          <a:p>
            <a:endParaRPr lang="en-US" altLang="zh-CN" sz="1350" b="1" dirty="0">
              <a:latin typeface="Courier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13803" y="4287892"/>
            <a:ext cx="3930240" cy="338554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问题：每个组织的地址空间是多大？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61599" y="2870332"/>
            <a:ext cx="318513" cy="1080120"/>
          </a:xfrm>
          <a:prstGeom prst="rect">
            <a:avLst/>
          </a:prstGeom>
          <a:noFill/>
          <a:ln w="31750"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006F66-2D07-4594-915D-8C9C4955E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857606"/>
            <a:ext cx="1722650" cy="1142574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AF24B44-DD0E-42D0-B35F-D3844E9262EC}"/>
              </a:ext>
            </a:extLst>
          </p:cNvPr>
          <p:cNvSpPr/>
          <p:nvPr/>
        </p:nvSpPr>
        <p:spPr>
          <a:xfrm>
            <a:off x="7833806" y="2870332"/>
            <a:ext cx="318513" cy="1080120"/>
          </a:xfrm>
          <a:prstGeom prst="rect">
            <a:avLst/>
          </a:prstGeom>
          <a:noFill/>
          <a:ln w="31750"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65A2C3F3-61B5-4281-B86D-4F0340AFAB0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F3666936-5827-48B4-9770-E2F6170D6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 animBg="1"/>
      <p:bldP spid="11" grpId="0" animBg="1"/>
      <p:bldP spid="13" grpId="0" animBg="1"/>
      <p:bldP spid="1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包括学院</a:t>
            </a:r>
            <a:r>
              <a:rPr lang="en-US" altLang="zh-CN" sz="1400" dirty="0">
                <a:effectLst/>
              </a:rPr>
              <a:t>7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①-⑦)</a:t>
            </a:r>
            <a:r>
              <a:rPr lang="zh-CN" altLang="zh-CN" sz="1400" dirty="0">
                <a:effectLst/>
              </a:rPr>
              <a:t>，每个学院最多有主机设备</a:t>
            </a:r>
            <a:r>
              <a:rPr lang="en-US" altLang="zh-CN" sz="1400" dirty="0">
                <a:effectLst/>
              </a:rPr>
              <a:t>500</a:t>
            </a:r>
            <a:r>
              <a:rPr lang="zh-CN" altLang="zh-CN" sz="1400" dirty="0">
                <a:effectLst/>
              </a:rPr>
              <a:t>台，</a:t>
            </a:r>
            <a:endParaRPr lang="en-US" altLang="zh-CN" sz="1400" dirty="0">
              <a:effectLst/>
            </a:endParaRPr>
          </a:p>
          <a:p>
            <a:r>
              <a:rPr lang="zh-CN" altLang="en-US" sz="1400" dirty="0">
                <a:effectLst/>
              </a:rPr>
              <a:t>还有</a:t>
            </a:r>
            <a:r>
              <a:rPr lang="zh-CN" altLang="zh-CN" sz="1400" dirty="0">
                <a:effectLst/>
              </a:rPr>
              <a:t>直属机关部门</a:t>
            </a:r>
            <a:r>
              <a:rPr lang="en-US" altLang="zh-CN" sz="1400" dirty="0">
                <a:effectLst/>
              </a:rPr>
              <a:t>8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1-8)</a:t>
            </a:r>
            <a:r>
              <a:rPr lang="zh-CN" altLang="zh-CN" sz="1400" dirty="0">
                <a:effectLst/>
              </a:rPr>
              <a:t>每个机关部门最多有主机设备</a:t>
            </a:r>
            <a:r>
              <a:rPr lang="en-US" altLang="zh-CN" sz="1400" dirty="0">
                <a:effectLst/>
              </a:rPr>
              <a:t>60</a:t>
            </a:r>
            <a:r>
              <a:rPr lang="zh-CN" altLang="zh-CN" sz="1400" dirty="0">
                <a:effectLst/>
              </a:rPr>
              <a:t>台。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按分层结构为各部门和学院规划子网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学院和部门的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地址段按升序排列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请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为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所有学院与部门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分配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地址段。</a:t>
            </a:r>
            <a:endParaRPr lang="zh-CN" altLang="en-US" sz="1400" dirty="0">
              <a:solidFill>
                <a:srgbClr val="0070C0"/>
              </a:solidFill>
            </a:endParaRPr>
          </a:p>
          <a:p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地址段以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CIDR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记法表示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a.b.c.d/x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，如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202.23.48.0/20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F1E11970-78E4-4636-A7C9-688F62C17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003798"/>
            <a:ext cx="2491201" cy="1623894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A23014F-3ABF-420F-9436-1E2B65E770FA}"/>
              </a:ext>
            </a:extLst>
          </p:cNvPr>
          <p:cNvCxnSpPr>
            <a:cxnSpLocks/>
          </p:cNvCxnSpPr>
          <p:nvPr/>
        </p:nvCxnSpPr>
        <p:spPr>
          <a:xfrm>
            <a:off x="3851920" y="4011910"/>
            <a:ext cx="187220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>
            <a:extLst>
              <a:ext uri="{FF2B5EF4-FFF2-40B4-BE49-F238E27FC236}">
                <a16:creationId xmlns:a16="http://schemas.microsoft.com/office/drawing/2014/main" id="{257923F9-0D5E-4A30-9ADF-50567F947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057" y="3723878"/>
            <a:ext cx="1129826" cy="73647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64" name="等腰三角形 63">
            <a:extLst>
              <a:ext uri="{FF2B5EF4-FFF2-40B4-BE49-F238E27FC236}">
                <a16:creationId xmlns:a16="http://schemas.microsoft.com/office/drawing/2014/main" id="{CE8AAF47-BFEE-41F2-ADCB-5A4C25118A64}"/>
              </a:ext>
            </a:extLst>
          </p:cNvPr>
          <p:cNvSpPr/>
          <p:nvPr/>
        </p:nvSpPr>
        <p:spPr>
          <a:xfrm rot="18212630">
            <a:off x="2907681" y="3204897"/>
            <a:ext cx="759973" cy="1102944"/>
          </a:xfrm>
          <a:prstGeom prst="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灯片编号占位符 2">
            <a:extLst>
              <a:ext uri="{FF2B5EF4-FFF2-40B4-BE49-F238E27FC236}">
                <a16:creationId xmlns:a16="http://schemas.microsoft.com/office/drawing/2014/main" id="{7F3BC278-17E8-41B7-997E-2533953CB36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66" name="AutoShape 5">
            <a:extLst>
              <a:ext uri="{FF2B5EF4-FFF2-40B4-BE49-F238E27FC236}">
                <a16:creationId xmlns:a16="http://schemas.microsoft.com/office/drawing/2014/main" id="{93B08453-C808-49F8-8415-DF841B2FD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包括学院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7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个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编号为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①-⑦)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，每个学院最多有主机设备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500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台，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en-US" sz="1400" dirty="0">
                <a:effectLst/>
              </a:rPr>
              <a:t>还有</a:t>
            </a:r>
            <a:r>
              <a:rPr lang="zh-CN" altLang="zh-CN" sz="1400" dirty="0">
                <a:effectLst/>
              </a:rPr>
              <a:t>直属机关部门</a:t>
            </a:r>
            <a:r>
              <a:rPr lang="en-US" altLang="zh-CN" sz="1400" dirty="0">
                <a:effectLst/>
              </a:rPr>
              <a:t>8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1-8)</a:t>
            </a:r>
            <a:r>
              <a:rPr lang="zh-CN" altLang="zh-CN" sz="1400" dirty="0">
                <a:effectLst/>
              </a:rPr>
              <a:t>每个机关部门最多有主机设备</a:t>
            </a:r>
            <a:r>
              <a:rPr lang="en-US" altLang="zh-CN" sz="1400" dirty="0">
                <a:effectLst/>
              </a:rPr>
              <a:t>60</a:t>
            </a:r>
            <a:r>
              <a:rPr lang="zh-CN" altLang="zh-CN" sz="1400" dirty="0">
                <a:effectLst/>
              </a:rPr>
              <a:t>台。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按分层结构为各部门和学院规划子网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学院和部门的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地址段按升序排列</a:t>
            </a:r>
            <a:r>
              <a:rPr lang="en-US" altLang="zh-CN" sz="1400" dirty="0">
                <a:effectLst/>
              </a:rPr>
              <a:t>)</a:t>
            </a:r>
            <a:r>
              <a:rPr lang="zh-CN" altLang="zh-CN" sz="1400" dirty="0">
                <a:effectLst/>
              </a:rPr>
              <a:t>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请</a:t>
            </a:r>
            <a:r>
              <a:rPr lang="zh-CN" altLang="en-US" sz="1400" dirty="0">
                <a:effectLst/>
              </a:rPr>
              <a:t>为</a:t>
            </a:r>
            <a:r>
              <a:rPr lang="zh-CN" altLang="zh-CN" sz="1400" dirty="0">
                <a:effectLst/>
              </a:rPr>
              <a:t>所有学院与部门</a:t>
            </a:r>
            <a:r>
              <a:rPr lang="zh-CN" altLang="en-US" sz="1400" dirty="0">
                <a:effectLst/>
              </a:rPr>
              <a:t>分配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地址段。</a:t>
            </a:r>
            <a:endParaRPr lang="zh-CN" altLang="en-US" sz="1400" dirty="0"/>
          </a:p>
          <a:p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地址段以</a:t>
            </a:r>
            <a:r>
              <a:rPr lang="en-US" altLang="zh-CN" sz="1400" dirty="0">
                <a:effectLst/>
              </a:rPr>
              <a:t>CIDR</a:t>
            </a:r>
            <a:r>
              <a:rPr lang="zh-CN" altLang="zh-CN" sz="1400" dirty="0">
                <a:effectLst/>
              </a:rPr>
              <a:t>记法表示</a:t>
            </a:r>
            <a:r>
              <a:rPr lang="en-US" altLang="zh-CN" sz="1400" dirty="0">
                <a:effectLst/>
              </a:rPr>
              <a:t>a.b.c.d/x</a:t>
            </a:r>
            <a:r>
              <a:rPr lang="zh-CN" altLang="zh-CN" sz="1400" dirty="0">
                <a:effectLst/>
              </a:rPr>
              <a:t>，如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zh-CN" sz="1400" dirty="0">
                <a:effectLst/>
              </a:rPr>
              <a:t>。</a:t>
            </a:r>
            <a:endParaRPr lang="en-US" altLang="zh-CN" sz="1400" dirty="0">
              <a:effectLst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3BEE03-961F-4556-8C2C-C1271F0D7D72}"/>
              </a:ext>
            </a:extLst>
          </p:cNvPr>
          <p:cNvGraphicFramePr>
            <a:graphicFrameLocks noGrp="1"/>
          </p:cNvGraphicFramePr>
          <p:nvPr/>
        </p:nvGraphicFramePr>
        <p:xfrm>
          <a:off x="712953" y="2715766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2783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202.23.48.0/20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0011 </a:t>
                      </a:r>
                      <a:r>
                        <a:rPr lang="en-US" altLang="zh-C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2F8CC5-9965-4465-AABE-7C901422E804}"/>
              </a:ext>
            </a:extLst>
          </p:cNvPr>
          <p:cNvGraphicFramePr>
            <a:graphicFrameLocks noGrp="1"/>
          </p:cNvGraphicFramePr>
          <p:nvPr/>
        </p:nvGraphicFramePr>
        <p:xfrm>
          <a:off x="827583" y="3137272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29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 000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194A00D-20F3-472C-8BB3-4FED92064AE4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3513058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66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001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7286D0F-7A64-481A-BE33-8CEB369C2F15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3898391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010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C5415BB-C073-483A-B471-9CC3D7750313}"/>
              </a:ext>
            </a:extLst>
          </p:cNvPr>
          <p:cNvCxnSpPr>
            <a:cxnSpLocks/>
          </p:cNvCxnSpPr>
          <p:nvPr/>
        </p:nvCxnSpPr>
        <p:spPr>
          <a:xfrm>
            <a:off x="5610592" y="3401938"/>
            <a:ext cx="10081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EBFDC513-F5DD-4B2E-AC64-19282BECE9A8}"/>
              </a:ext>
            </a:extLst>
          </p:cNvPr>
          <p:cNvSpPr/>
          <p:nvPr/>
        </p:nvSpPr>
        <p:spPr>
          <a:xfrm>
            <a:off x="4921520" y="1203598"/>
            <a:ext cx="658592" cy="288032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351B6F57-3C2B-48B7-BCFC-CC74F0318058}"/>
              </a:ext>
            </a:extLst>
          </p:cNvPr>
          <p:cNvCxnSpPr>
            <a:cxnSpLocks/>
            <a:stCxn id="28" idx="3"/>
            <a:endCxn id="6" idx="3"/>
          </p:cNvCxnSpPr>
          <p:nvPr/>
        </p:nvCxnSpPr>
        <p:spPr>
          <a:xfrm>
            <a:off x="5580112" y="1347614"/>
            <a:ext cx="1387909" cy="1975078"/>
          </a:xfrm>
          <a:prstGeom prst="bentConnector3">
            <a:avLst>
              <a:gd name="adj1" fmla="val 116471"/>
            </a:avLst>
          </a:prstGeom>
          <a:ln w="19050">
            <a:solidFill>
              <a:srgbClr val="00B0F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61B86BD-DEC2-41B8-9B42-E8F3904BF80F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4293981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……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8402827C-3835-4614-A164-724B51B07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13" y="1119733"/>
            <a:ext cx="1141048" cy="743794"/>
          </a:xfrm>
          <a:prstGeom prst="rect">
            <a:avLst/>
          </a:prstGeom>
          <a:ln w="22225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0960BD7-D2AC-42E2-BEFD-A8A0C870AB22}"/>
              </a:ext>
            </a:extLst>
          </p:cNvPr>
          <p:cNvCxnSpPr>
            <a:cxnSpLocks/>
          </p:cNvCxnSpPr>
          <p:nvPr/>
        </p:nvCxnSpPr>
        <p:spPr>
          <a:xfrm>
            <a:off x="4860032" y="3795886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E4905D1-BA3C-4B8C-9B7A-B70705FF10B7}"/>
              </a:ext>
            </a:extLst>
          </p:cNvPr>
          <p:cNvCxnSpPr>
            <a:cxnSpLocks/>
          </p:cNvCxnSpPr>
          <p:nvPr/>
        </p:nvCxnSpPr>
        <p:spPr>
          <a:xfrm>
            <a:off x="4860032" y="4155926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8D9A27A-C396-4380-A0F3-27B2B992A97B}"/>
              </a:ext>
            </a:extLst>
          </p:cNvPr>
          <p:cNvCxnSpPr>
            <a:cxnSpLocks/>
          </p:cNvCxnSpPr>
          <p:nvPr/>
        </p:nvCxnSpPr>
        <p:spPr>
          <a:xfrm>
            <a:off x="4860032" y="4549874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36D396AD-0402-4F75-BD71-79DC5931F0D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C7519F9F-3D7B-4E56-9973-B28BCEA47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4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包括学院</a:t>
            </a:r>
            <a:r>
              <a:rPr lang="en-US" altLang="zh-CN" sz="1400" dirty="0">
                <a:effectLst/>
              </a:rPr>
              <a:t>7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①-⑦)</a:t>
            </a:r>
            <a:r>
              <a:rPr lang="zh-CN" altLang="zh-CN" sz="1400" dirty="0">
                <a:effectLst/>
              </a:rPr>
              <a:t>，每个学院最多有主机设备</a:t>
            </a:r>
            <a:r>
              <a:rPr lang="en-US" altLang="zh-CN" sz="1400" dirty="0">
                <a:effectLst/>
              </a:rPr>
              <a:t>500</a:t>
            </a:r>
            <a:r>
              <a:rPr lang="zh-CN" altLang="zh-CN" sz="1400" dirty="0">
                <a:effectLst/>
              </a:rPr>
              <a:t>台，</a:t>
            </a:r>
            <a:endParaRPr lang="en-US" altLang="zh-CN" sz="1400" dirty="0">
              <a:effectLst/>
            </a:endParaRPr>
          </a:p>
          <a:p>
            <a:r>
              <a:rPr lang="zh-CN" altLang="en-US" sz="1400" dirty="0">
                <a:solidFill>
                  <a:srgbClr val="C00000"/>
                </a:solidFill>
                <a:effectLst/>
              </a:rPr>
              <a:t>还有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直属机关部门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8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个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编号为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1-8)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每个机关部门最多有主机设备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60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台。</a:t>
            </a:r>
            <a:endParaRPr lang="en-US" altLang="zh-CN" sz="1400" dirty="0">
              <a:solidFill>
                <a:srgbClr val="C0000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按分层结构为各部门和学院规划子网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学院和部门的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地址段按升序排列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请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为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所有学院与部门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分配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地址段。</a:t>
            </a:r>
            <a:endParaRPr lang="zh-CN" altLang="en-US" sz="1400" dirty="0">
              <a:solidFill>
                <a:srgbClr val="0070C0"/>
              </a:solidFill>
            </a:endParaRPr>
          </a:p>
          <a:p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地址段以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CIDR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记法表示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a.b.c.d/x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，如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202.23.48.0/20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3BEE03-961F-4556-8C2C-C1271F0D7D72}"/>
              </a:ext>
            </a:extLst>
          </p:cNvPr>
          <p:cNvGraphicFramePr>
            <a:graphicFrameLocks noGrp="1"/>
          </p:cNvGraphicFramePr>
          <p:nvPr/>
        </p:nvGraphicFramePr>
        <p:xfrm>
          <a:off x="712953" y="2715766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2783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202.23.48.0/20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0011 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2F8CC5-9965-4465-AABE-7C901422E804}"/>
              </a:ext>
            </a:extLst>
          </p:cNvPr>
          <p:cNvGraphicFramePr>
            <a:graphicFrameLocks noGrp="1"/>
          </p:cNvGraphicFramePr>
          <p:nvPr/>
        </p:nvGraphicFramePr>
        <p:xfrm>
          <a:off x="827583" y="3137272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6443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29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202.23.</a:t>
                      </a:r>
                      <a:r>
                        <a:rPr lang="en-US" altLang="zh-CN" u="sng" dirty="0">
                          <a:solidFill>
                            <a:srgbClr val="FFFF00"/>
                          </a:solidFill>
                        </a:rPr>
                        <a:t> 48 .0/23</a:t>
                      </a:r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 000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0B63BAD4-D389-48E5-BA5D-75DF6C7DBFC5}"/>
              </a:ext>
            </a:extLst>
          </p:cNvPr>
          <p:cNvGraphicFramePr>
            <a:graphicFrameLocks noGrp="1"/>
          </p:cNvGraphicFramePr>
          <p:nvPr/>
        </p:nvGraphicFramePr>
        <p:xfrm>
          <a:off x="1084426" y="3723878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43358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202.23.</a:t>
                      </a:r>
                      <a:r>
                        <a:rPr lang="en-US" altLang="zh-CN" u="sng" dirty="0">
                          <a:solidFill>
                            <a:schemeClr val="bg1"/>
                          </a:solidFill>
                        </a:rPr>
                        <a:t> 48 .0/23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5449BC66-A291-46A0-98A7-C43B92BDA650}"/>
              </a:ext>
            </a:extLst>
          </p:cNvPr>
          <p:cNvSpPr/>
          <p:nvPr/>
        </p:nvSpPr>
        <p:spPr>
          <a:xfrm>
            <a:off x="5641370" y="1498543"/>
            <a:ext cx="586814" cy="2880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743B9C9C-BB2B-4F97-A416-5A118AD7BC66}"/>
              </a:ext>
            </a:extLst>
          </p:cNvPr>
          <p:cNvCxnSpPr>
            <a:cxnSpLocks/>
            <a:stCxn id="53" idx="3"/>
            <a:endCxn id="20" idx="3"/>
          </p:cNvCxnSpPr>
          <p:nvPr/>
        </p:nvCxnSpPr>
        <p:spPr>
          <a:xfrm>
            <a:off x="6228184" y="1642559"/>
            <a:ext cx="1111310" cy="2665623"/>
          </a:xfrm>
          <a:prstGeom prst="bentConnector3">
            <a:avLst>
              <a:gd name="adj1" fmla="val 120570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71D645DC-84C9-4DAF-937B-D0BC049D719B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4122762"/>
          <a:ext cx="607986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？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D1A40F7B-3CD5-480B-A85D-4C2BF1343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843" y="1320002"/>
            <a:ext cx="526588" cy="343256"/>
          </a:xfrm>
          <a:prstGeom prst="rect">
            <a:avLst/>
          </a:prstGeom>
          <a:ln w="22225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21C2ED4-92C5-4643-9775-A538D5DE6CAE}"/>
              </a:ext>
            </a:extLst>
          </p:cNvPr>
          <p:cNvCxnSpPr>
            <a:cxnSpLocks/>
          </p:cNvCxnSpPr>
          <p:nvPr/>
        </p:nvCxnSpPr>
        <p:spPr>
          <a:xfrm>
            <a:off x="6444208" y="4371950"/>
            <a:ext cx="5421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9F569BC-230A-4B42-9712-485651AD3A30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4530938"/>
          <a:ext cx="607986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？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9540CAF-6105-4125-88FF-3D5B224DBB9E}"/>
              </a:ext>
            </a:extLst>
          </p:cNvPr>
          <p:cNvCxnSpPr>
            <a:cxnSpLocks/>
          </p:cNvCxnSpPr>
          <p:nvPr/>
        </p:nvCxnSpPr>
        <p:spPr>
          <a:xfrm>
            <a:off x="5209322" y="4803998"/>
            <a:ext cx="123488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11C301A7-A630-4B0F-8E34-D0291074CC4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551C915D-5F26-4AFF-88C2-8D410B6F1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395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4.3.3 IPv4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网络编址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问题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1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：组织机构怎么获得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地址块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子网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？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分层编址的优点：路由聚集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17694" y="2126853"/>
            <a:ext cx="5934075" cy="2749153"/>
            <a:chOff x="899592" y="2503488"/>
            <a:chExt cx="7912100" cy="3665537"/>
          </a:xfrm>
        </p:grpSpPr>
        <p:sp>
          <p:nvSpPr>
            <p:cNvPr id="13" name="Freeform 3"/>
            <p:cNvSpPr/>
            <p:nvPr/>
          </p:nvSpPr>
          <p:spPr bwMode="auto">
            <a:xfrm>
              <a:off x="5373167" y="4121150"/>
              <a:ext cx="2019300" cy="295275"/>
            </a:xfrm>
            <a:custGeom>
              <a:avLst/>
              <a:gdLst>
                <a:gd name="T0" fmla="*/ 0 w 1272"/>
                <a:gd name="T1" fmla="*/ 0 h 186"/>
                <a:gd name="T2" fmla="*/ 2147483647 w 1272"/>
                <a:gd name="T3" fmla="*/ 2147483647 h 1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72" h="186">
                  <a:moveTo>
                    <a:pt x="0" y="0"/>
                  </a:moveTo>
                  <a:lnTo>
                    <a:pt x="1272" y="18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4"/>
            <p:cNvSpPr>
              <a:spLocks noChangeShapeType="1"/>
            </p:cNvSpPr>
            <p:nvPr/>
          </p:nvSpPr>
          <p:spPr bwMode="auto">
            <a:xfrm flipV="1">
              <a:off x="3030017" y="4397375"/>
              <a:ext cx="89535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" name="Line 5"/>
            <p:cNvSpPr>
              <a:spLocks noChangeShapeType="1"/>
            </p:cNvSpPr>
            <p:nvPr/>
          </p:nvSpPr>
          <p:spPr bwMode="auto">
            <a:xfrm>
              <a:off x="3058592" y="3768725"/>
              <a:ext cx="752475" cy="1714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3125267" y="2987675"/>
              <a:ext cx="847725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3771380" y="3567113"/>
              <a:ext cx="1773237" cy="979487"/>
            </a:xfrm>
            <a:custGeom>
              <a:avLst/>
              <a:gdLst>
                <a:gd name="T0" fmla="*/ 2147483647 w 1117"/>
                <a:gd name="T1" fmla="*/ 2147483647 h 617"/>
                <a:gd name="T2" fmla="*/ 2147483647 w 1117"/>
                <a:gd name="T3" fmla="*/ 2147483647 h 617"/>
                <a:gd name="T4" fmla="*/ 2147483647 w 1117"/>
                <a:gd name="T5" fmla="*/ 2147483647 h 617"/>
                <a:gd name="T6" fmla="*/ 2147483647 w 1117"/>
                <a:gd name="T7" fmla="*/ 2147483647 h 617"/>
                <a:gd name="T8" fmla="*/ 2147483647 w 1117"/>
                <a:gd name="T9" fmla="*/ 2147483647 h 617"/>
                <a:gd name="T10" fmla="*/ 2147483647 w 1117"/>
                <a:gd name="T11" fmla="*/ 2147483647 h 617"/>
                <a:gd name="T12" fmla="*/ 2147483647 w 1117"/>
                <a:gd name="T13" fmla="*/ 2147483647 h 617"/>
                <a:gd name="T14" fmla="*/ 2147483647 w 1117"/>
                <a:gd name="T15" fmla="*/ 2147483647 h 617"/>
                <a:gd name="T16" fmla="*/ 2147483647 w 1117"/>
                <a:gd name="T17" fmla="*/ 2147483647 h 617"/>
                <a:gd name="T18" fmla="*/ 2147483647 w 1117"/>
                <a:gd name="T19" fmla="*/ 2147483647 h 617"/>
                <a:gd name="T20" fmla="*/ 2147483647 w 1117"/>
                <a:gd name="T21" fmla="*/ 2147483647 h 617"/>
                <a:gd name="T22" fmla="*/ 2147483647 w 1117"/>
                <a:gd name="T23" fmla="*/ 2147483647 h 6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7" h="617">
                  <a:moveTo>
                    <a:pt x="439" y="97"/>
                  </a:moveTo>
                  <a:cubicBezTo>
                    <a:pt x="358" y="85"/>
                    <a:pt x="269" y="23"/>
                    <a:pt x="205" y="19"/>
                  </a:cubicBezTo>
                  <a:cubicBezTo>
                    <a:pt x="141" y="15"/>
                    <a:pt x="89" y="0"/>
                    <a:pt x="55" y="73"/>
                  </a:cubicBezTo>
                  <a:cubicBezTo>
                    <a:pt x="21" y="146"/>
                    <a:pt x="0" y="371"/>
                    <a:pt x="4" y="456"/>
                  </a:cubicBezTo>
                  <a:cubicBezTo>
                    <a:pt x="8" y="541"/>
                    <a:pt x="3" y="560"/>
                    <a:pt x="77" y="582"/>
                  </a:cubicBezTo>
                  <a:cubicBezTo>
                    <a:pt x="152" y="604"/>
                    <a:pt x="350" y="582"/>
                    <a:pt x="451" y="587"/>
                  </a:cubicBezTo>
                  <a:cubicBezTo>
                    <a:pt x="552" y="592"/>
                    <a:pt x="606" y="617"/>
                    <a:pt x="685" y="613"/>
                  </a:cubicBezTo>
                  <a:cubicBezTo>
                    <a:pt x="764" y="609"/>
                    <a:pt x="856" y="612"/>
                    <a:pt x="925" y="565"/>
                  </a:cubicBezTo>
                  <a:cubicBezTo>
                    <a:pt x="994" y="518"/>
                    <a:pt x="1081" y="401"/>
                    <a:pt x="1099" y="330"/>
                  </a:cubicBezTo>
                  <a:cubicBezTo>
                    <a:pt x="1117" y="259"/>
                    <a:pt x="1104" y="178"/>
                    <a:pt x="1036" y="138"/>
                  </a:cubicBezTo>
                  <a:cubicBezTo>
                    <a:pt x="968" y="98"/>
                    <a:pt x="790" y="98"/>
                    <a:pt x="691" y="91"/>
                  </a:cubicBezTo>
                  <a:cubicBezTo>
                    <a:pt x="592" y="84"/>
                    <a:pt x="520" y="109"/>
                    <a:pt x="439" y="97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5604943" y="3294063"/>
              <a:ext cx="1787243" cy="9848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ja-JP" altLang="en-US" sz="1050"/>
                <a:t>“</a:t>
              </a:r>
              <a:r>
                <a:rPr lang="en-US" altLang="ja-JP" sz="1050"/>
                <a:t>Send me anything</a:t>
              </a:r>
            </a:p>
            <a:p>
              <a:r>
                <a:rPr lang="en-US" altLang="zh-CN" sz="1050"/>
                <a:t>with addresses </a:t>
              </a:r>
            </a:p>
            <a:p>
              <a:r>
                <a:rPr lang="en-US" altLang="zh-CN" sz="1050"/>
                <a:t>beginning </a:t>
              </a:r>
            </a:p>
            <a:p>
              <a:r>
                <a:rPr lang="en-US" altLang="zh-CN" sz="1050"/>
                <a:t>200.23.16.0/20</a:t>
              </a:r>
              <a:r>
                <a:rPr lang="ja-JP" altLang="en-US" sz="1050"/>
                <a:t>”</a:t>
              </a:r>
              <a:endParaRPr lang="en-US" altLang="zh-CN" sz="1050"/>
            </a:p>
          </p:txBody>
        </p:sp>
        <p:grpSp>
          <p:nvGrpSpPr>
            <p:cNvPr id="20" name="Group 9"/>
            <p:cNvGrpSpPr/>
            <p:nvPr/>
          </p:nvGrpSpPr>
          <p:grpSpPr bwMode="auto">
            <a:xfrm>
              <a:off x="956742" y="2760660"/>
              <a:ext cx="2338388" cy="409574"/>
              <a:chOff x="1004" y="1639"/>
              <a:chExt cx="1473" cy="258"/>
            </a:xfrm>
          </p:grpSpPr>
          <p:sp>
            <p:nvSpPr>
              <p:cNvPr id="21" name="Freeform 10"/>
              <p:cNvSpPr/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" name="Text Box 11"/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1014" cy="233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/>
                  <a:t>200.23.16.0/23</a:t>
                </a:r>
                <a:endParaRPr lang="en-US" altLang="zh-CN" sz="1350"/>
              </a:p>
            </p:txBody>
          </p:sp>
        </p:grpSp>
        <p:grpSp>
          <p:nvGrpSpPr>
            <p:cNvPr id="23" name="Group 12"/>
            <p:cNvGrpSpPr/>
            <p:nvPr/>
          </p:nvGrpSpPr>
          <p:grpSpPr bwMode="auto">
            <a:xfrm>
              <a:off x="985317" y="3351210"/>
              <a:ext cx="2338388" cy="409574"/>
              <a:chOff x="1004" y="1639"/>
              <a:chExt cx="1473" cy="258"/>
            </a:xfrm>
          </p:grpSpPr>
          <p:sp>
            <p:nvSpPr>
              <p:cNvPr id="24" name="Freeform 13"/>
              <p:cNvSpPr/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Text Box 14"/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1014" cy="233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/>
                  <a:t>200.23.18.0/23</a:t>
                </a:r>
                <a:endParaRPr lang="en-US" altLang="zh-CN" sz="1350"/>
              </a:p>
            </p:txBody>
          </p:sp>
        </p:grpSp>
        <p:grpSp>
          <p:nvGrpSpPr>
            <p:cNvPr id="26" name="Group 15"/>
            <p:cNvGrpSpPr/>
            <p:nvPr/>
          </p:nvGrpSpPr>
          <p:grpSpPr bwMode="auto">
            <a:xfrm>
              <a:off x="899592" y="4770435"/>
              <a:ext cx="2338388" cy="409574"/>
              <a:chOff x="1004" y="1639"/>
              <a:chExt cx="1473" cy="258"/>
            </a:xfrm>
          </p:grpSpPr>
          <p:sp>
            <p:nvSpPr>
              <p:cNvPr id="27" name="Freeform 16"/>
              <p:cNvSpPr/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Text Box 17"/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1014" cy="233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/>
                  <a:t>200.23.30.0/23</a:t>
                </a:r>
                <a:endParaRPr lang="en-US" altLang="zh-CN" sz="1350"/>
              </a:p>
            </p:txBody>
          </p:sp>
        </p:grpSp>
        <p:sp>
          <p:nvSpPr>
            <p:cNvPr id="29" name="Text Box 18"/>
            <p:cNvSpPr txBox="1">
              <a:spLocks noChangeArrowheads="1"/>
            </p:cNvSpPr>
            <p:nvPr/>
          </p:nvSpPr>
          <p:spPr bwMode="auto">
            <a:xfrm>
              <a:off x="3804717" y="3998913"/>
              <a:ext cx="1584195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050" dirty="0"/>
                <a:t>Fly-By-Night-ISP</a:t>
              </a:r>
              <a:endParaRPr lang="en-US" altLang="zh-CN" sz="1350" dirty="0"/>
            </a:p>
          </p:txBody>
        </p:sp>
        <p:sp>
          <p:nvSpPr>
            <p:cNvPr id="30" name="Freeform 19"/>
            <p:cNvSpPr/>
            <p:nvPr/>
          </p:nvSpPr>
          <p:spPr bwMode="auto">
            <a:xfrm>
              <a:off x="7367067" y="3095625"/>
              <a:ext cx="1444625" cy="2714625"/>
            </a:xfrm>
            <a:custGeom>
              <a:avLst/>
              <a:gdLst>
                <a:gd name="T0" fmla="*/ 2147483647 w 910"/>
                <a:gd name="T1" fmla="*/ 2147483647 h 1710"/>
                <a:gd name="T2" fmla="*/ 2147483647 w 910"/>
                <a:gd name="T3" fmla="*/ 2147483647 h 1710"/>
                <a:gd name="T4" fmla="*/ 2147483647 w 910"/>
                <a:gd name="T5" fmla="*/ 2147483647 h 1710"/>
                <a:gd name="T6" fmla="*/ 2147483647 w 910"/>
                <a:gd name="T7" fmla="*/ 2147483647 h 1710"/>
                <a:gd name="T8" fmla="*/ 2147483647 w 910"/>
                <a:gd name="T9" fmla="*/ 2147483647 h 1710"/>
                <a:gd name="T10" fmla="*/ 2147483647 w 910"/>
                <a:gd name="T11" fmla="*/ 2147483647 h 1710"/>
                <a:gd name="T12" fmla="*/ 2147483647 w 910"/>
                <a:gd name="T13" fmla="*/ 2147483647 h 1710"/>
                <a:gd name="T14" fmla="*/ 2147483647 w 910"/>
                <a:gd name="T15" fmla="*/ 2147483647 h 1710"/>
                <a:gd name="T16" fmla="*/ 2147483647 w 910"/>
                <a:gd name="T17" fmla="*/ 2147483647 h 1710"/>
                <a:gd name="T18" fmla="*/ 2147483647 w 910"/>
                <a:gd name="T19" fmla="*/ 2147483647 h 1710"/>
                <a:gd name="T20" fmla="*/ 2147483647 w 910"/>
                <a:gd name="T21" fmla="*/ 2147483647 h 1710"/>
                <a:gd name="T22" fmla="*/ 2147483647 w 910"/>
                <a:gd name="T23" fmla="*/ 2147483647 h 171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10" h="1710">
                  <a:moveTo>
                    <a:pt x="766" y="38"/>
                  </a:moveTo>
                  <a:cubicBezTo>
                    <a:pt x="714" y="0"/>
                    <a:pt x="520" y="186"/>
                    <a:pt x="411" y="282"/>
                  </a:cubicBezTo>
                  <a:cubicBezTo>
                    <a:pt x="302" y="378"/>
                    <a:pt x="180" y="490"/>
                    <a:pt x="115" y="611"/>
                  </a:cubicBezTo>
                  <a:cubicBezTo>
                    <a:pt x="49" y="732"/>
                    <a:pt x="0" y="907"/>
                    <a:pt x="14" y="1008"/>
                  </a:cubicBezTo>
                  <a:cubicBezTo>
                    <a:pt x="28" y="1108"/>
                    <a:pt x="127" y="1139"/>
                    <a:pt x="198" y="1214"/>
                  </a:cubicBezTo>
                  <a:cubicBezTo>
                    <a:pt x="269" y="1288"/>
                    <a:pt x="328" y="1380"/>
                    <a:pt x="435" y="1456"/>
                  </a:cubicBezTo>
                  <a:cubicBezTo>
                    <a:pt x="542" y="1533"/>
                    <a:pt x="768" y="1710"/>
                    <a:pt x="839" y="1674"/>
                  </a:cubicBezTo>
                  <a:cubicBezTo>
                    <a:pt x="910" y="1638"/>
                    <a:pt x="863" y="1328"/>
                    <a:pt x="863" y="1239"/>
                  </a:cubicBezTo>
                  <a:cubicBezTo>
                    <a:pt x="863" y="1150"/>
                    <a:pt x="868" y="1189"/>
                    <a:pt x="839" y="1139"/>
                  </a:cubicBezTo>
                  <a:cubicBezTo>
                    <a:pt x="809" y="1090"/>
                    <a:pt x="703" y="1045"/>
                    <a:pt x="684" y="940"/>
                  </a:cubicBezTo>
                  <a:cubicBezTo>
                    <a:pt x="665" y="835"/>
                    <a:pt x="710" y="659"/>
                    <a:pt x="724" y="509"/>
                  </a:cubicBezTo>
                  <a:cubicBezTo>
                    <a:pt x="738" y="359"/>
                    <a:pt x="818" y="76"/>
                    <a:pt x="766" y="38"/>
                  </a:cubicBezTo>
                  <a:close/>
                </a:path>
              </a:pathLst>
            </a:custGeom>
            <a:gradFill rotWithShape="1">
              <a:gsLst>
                <a:gs pos="0">
                  <a:srgbClr val="66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" name="Text Box 20"/>
            <p:cNvSpPr txBox="1">
              <a:spLocks noChangeArrowheads="1"/>
            </p:cNvSpPr>
            <p:nvPr/>
          </p:nvSpPr>
          <p:spPr bwMode="auto">
            <a:xfrm>
              <a:off x="956743" y="2503488"/>
              <a:ext cx="141748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Organization 0</a:t>
              </a:r>
            </a:p>
          </p:txBody>
        </p:sp>
        <p:sp>
          <p:nvSpPr>
            <p:cNvPr id="32" name="Text Box 21"/>
            <p:cNvSpPr txBox="1">
              <a:spLocks noChangeArrowheads="1"/>
            </p:cNvSpPr>
            <p:nvPr/>
          </p:nvSpPr>
          <p:spPr bwMode="auto">
            <a:xfrm>
              <a:off x="985317" y="4513262"/>
              <a:ext cx="141748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Organization 7</a:t>
              </a:r>
            </a:p>
          </p:txBody>
        </p:sp>
        <p:sp>
          <p:nvSpPr>
            <p:cNvPr id="33" name="Text Box 22"/>
            <p:cNvSpPr txBox="1">
              <a:spLocks noChangeArrowheads="1"/>
            </p:cNvSpPr>
            <p:nvPr/>
          </p:nvSpPr>
          <p:spPr bwMode="auto">
            <a:xfrm>
              <a:off x="7605192" y="4322763"/>
              <a:ext cx="85536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Internet</a:t>
              </a:r>
            </a:p>
          </p:txBody>
        </p:sp>
        <p:sp>
          <p:nvSpPr>
            <p:cNvPr id="34" name="Text Box 23"/>
            <p:cNvSpPr txBox="1">
              <a:spLocks noChangeArrowheads="1"/>
            </p:cNvSpPr>
            <p:nvPr/>
          </p:nvSpPr>
          <p:spPr bwMode="auto">
            <a:xfrm>
              <a:off x="966267" y="3151188"/>
              <a:ext cx="141748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Organization 1</a:t>
              </a:r>
            </a:p>
          </p:txBody>
        </p:sp>
        <p:sp>
          <p:nvSpPr>
            <p:cNvPr id="35" name="Freeform 24"/>
            <p:cNvSpPr/>
            <p:nvPr/>
          </p:nvSpPr>
          <p:spPr bwMode="auto">
            <a:xfrm>
              <a:off x="3714230" y="4881563"/>
              <a:ext cx="1773237" cy="979487"/>
            </a:xfrm>
            <a:custGeom>
              <a:avLst/>
              <a:gdLst>
                <a:gd name="T0" fmla="*/ 2147483647 w 1117"/>
                <a:gd name="T1" fmla="*/ 2147483647 h 617"/>
                <a:gd name="T2" fmla="*/ 2147483647 w 1117"/>
                <a:gd name="T3" fmla="*/ 2147483647 h 617"/>
                <a:gd name="T4" fmla="*/ 2147483647 w 1117"/>
                <a:gd name="T5" fmla="*/ 2147483647 h 617"/>
                <a:gd name="T6" fmla="*/ 2147483647 w 1117"/>
                <a:gd name="T7" fmla="*/ 2147483647 h 617"/>
                <a:gd name="T8" fmla="*/ 2147483647 w 1117"/>
                <a:gd name="T9" fmla="*/ 2147483647 h 617"/>
                <a:gd name="T10" fmla="*/ 2147483647 w 1117"/>
                <a:gd name="T11" fmla="*/ 2147483647 h 617"/>
                <a:gd name="T12" fmla="*/ 2147483647 w 1117"/>
                <a:gd name="T13" fmla="*/ 2147483647 h 617"/>
                <a:gd name="T14" fmla="*/ 2147483647 w 1117"/>
                <a:gd name="T15" fmla="*/ 2147483647 h 617"/>
                <a:gd name="T16" fmla="*/ 2147483647 w 1117"/>
                <a:gd name="T17" fmla="*/ 2147483647 h 617"/>
                <a:gd name="T18" fmla="*/ 2147483647 w 1117"/>
                <a:gd name="T19" fmla="*/ 2147483647 h 617"/>
                <a:gd name="T20" fmla="*/ 2147483647 w 1117"/>
                <a:gd name="T21" fmla="*/ 2147483647 h 617"/>
                <a:gd name="T22" fmla="*/ 2147483647 w 1117"/>
                <a:gd name="T23" fmla="*/ 2147483647 h 6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7" h="617">
                  <a:moveTo>
                    <a:pt x="439" y="97"/>
                  </a:moveTo>
                  <a:cubicBezTo>
                    <a:pt x="358" y="85"/>
                    <a:pt x="269" y="23"/>
                    <a:pt x="205" y="19"/>
                  </a:cubicBezTo>
                  <a:cubicBezTo>
                    <a:pt x="141" y="15"/>
                    <a:pt x="89" y="0"/>
                    <a:pt x="55" y="73"/>
                  </a:cubicBezTo>
                  <a:cubicBezTo>
                    <a:pt x="21" y="146"/>
                    <a:pt x="0" y="371"/>
                    <a:pt x="4" y="456"/>
                  </a:cubicBezTo>
                  <a:cubicBezTo>
                    <a:pt x="8" y="541"/>
                    <a:pt x="3" y="560"/>
                    <a:pt x="77" y="582"/>
                  </a:cubicBezTo>
                  <a:cubicBezTo>
                    <a:pt x="152" y="604"/>
                    <a:pt x="350" y="582"/>
                    <a:pt x="451" y="587"/>
                  </a:cubicBezTo>
                  <a:cubicBezTo>
                    <a:pt x="552" y="592"/>
                    <a:pt x="606" y="617"/>
                    <a:pt x="685" y="613"/>
                  </a:cubicBezTo>
                  <a:cubicBezTo>
                    <a:pt x="764" y="609"/>
                    <a:pt x="856" y="612"/>
                    <a:pt x="925" y="565"/>
                  </a:cubicBezTo>
                  <a:cubicBezTo>
                    <a:pt x="994" y="518"/>
                    <a:pt x="1081" y="401"/>
                    <a:pt x="1099" y="330"/>
                  </a:cubicBezTo>
                  <a:cubicBezTo>
                    <a:pt x="1117" y="259"/>
                    <a:pt x="1104" y="178"/>
                    <a:pt x="1036" y="138"/>
                  </a:cubicBezTo>
                  <a:cubicBezTo>
                    <a:pt x="968" y="98"/>
                    <a:pt x="790" y="98"/>
                    <a:pt x="691" y="91"/>
                  </a:cubicBezTo>
                  <a:cubicBezTo>
                    <a:pt x="592" y="84"/>
                    <a:pt x="520" y="109"/>
                    <a:pt x="439" y="97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4014267" y="5256213"/>
              <a:ext cx="1094745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050"/>
                <a:t>ISPs-R-Us</a:t>
              </a:r>
              <a:endParaRPr lang="en-US" altLang="zh-CN" sz="1350"/>
            </a:p>
          </p:txBody>
        </p:sp>
        <p:sp>
          <p:nvSpPr>
            <p:cNvPr id="37" name="Freeform 26"/>
            <p:cNvSpPr/>
            <p:nvPr/>
          </p:nvSpPr>
          <p:spPr bwMode="auto">
            <a:xfrm flipV="1">
              <a:off x="5439842" y="4902200"/>
              <a:ext cx="2019300" cy="295275"/>
            </a:xfrm>
            <a:custGeom>
              <a:avLst/>
              <a:gdLst>
                <a:gd name="T0" fmla="*/ 0 w 1272"/>
                <a:gd name="T1" fmla="*/ 0 h 186"/>
                <a:gd name="T2" fmla="*/ 2147483647 w 1272"/>
                <a:gd name="T3" fmla="*/ 2147483647 h 1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72" h="186">
                  <a:moveTo>
                    <a:pt x="0" y="0"/>
                  </a:moveTo>
                  <a:lnTo>
                    <a:pt x="1272" y="18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" name="Line 27"/>
            <p:cNvSpPr>
              <a:spLocks noChangeShapeType="1"/>
            </p:cNvSpPr>
            <p:nvPr/>
          </p:nvSpPr>
          <p:spPr bwMode="auto">
            <a:xfrm>
              <a:off x="3230042" y="5445125"/>
              <a:ext cx="485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9" name="Line 28"/>
            <p:cNvSpPr>
              <a:spLocks noChangeShapeType="1"/>
            </p:cNvSpPr>
            <p:nvPr/>
          </p:nvSpPr>
          <p:spPr bwMode="auto">
            <a:xfrm flipV="1">
              <a:off x="3077642" y="5511800"/>
              <a:ext cx="638175" cy="1714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V="1">
              <a:off x="3515792" y="5759450"/>
              <a:ext cx="247650" cy="409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41" name="Text Box 30"/>
            <p:cNvSpPr txBox="1">
              <a:spLocks noChangeArrowheads="1"/>
            </p:cNvSpPr>
            <p:nvPr/>
          </p:nvSpPr>
          <p:spPr bwMode="auto">
            <a:xfrm>
              <a:off x="5728767" y="5151438"/>
              <a:ext cx="1787243" cy="9848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ja-JP" altLang="en-US" sz="1050"/>
                <a:t>“</a:t>
              </a:r>
              <a:r>
                <a:rPr lang="en-US" altLang="ja-JP" sz="1050"/>
                <a:t>Send me anything</a:t>
              </a:r>
            </a:p>
            <a:p>
              <a:r>
                <a:rPr lang="en-US" altLang="zh-CN" sz="1050"/>
                <a:t>with addresses </a:t>
              </a:r>
            </a:p>
            <a:p>
              <a:r>
                <a:rPr lang="en-US" altLang="zh-CN" sz="1050"/>
                <a:t>beginning </a:t>
              </a:r>
            </a:p>
            <a:p>
              <a:r>
                <a:rPr lang="en-US" altLang="zh-CN" sz="1050"/>
                <a:t>199.31.0.0/16</a:t>
              </a:r>
              <a:r>
                <a:rPr lang="ja-JP" altLang="en-US" sz="1050"/>
                <a:t>”</a:t>
              </a:r>
              <a:endParaRPr lang="en-US" altLang="zh-CN" sz="1050"/>
            </a:p>
          </p:txBody>
        </p:sp>
        <p:grpSp>
          <p:nvGrpSpPr>
            <p:cNvPr id="42" name="Group 31"/>
            <p:cNvGrpSpPr/>
            <p:nvPr/>
          </p:nvGrpSpPr>
          <p:grpSpPr bwMode="auto">
            <a:xfrm>
              <a:off x="1004367" y="3941760"/>
              <a:ext cx="2338388" cy="409574"/>
              <a:chOff x="1004" y="1639"/>
              <a:chExt cx="1473" cy="258"/>
            </a:xfrm>
          </p:grpSpPr>
          <p:sp>
            <p:nvSpPr>
              <p:cNvPr id="43" name="Freeform 32"/>
              <p:cNvSpPr/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4" name="Text Box 33"/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1014" cy="233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/>
                  <a:t>200.23.20.0/23</a:t>
                </a:r>
                <a:endParaRPr lang="en-US" altLang="zh-CN" sz="1350"/>
              </a:p>
            </p:txBody>
          </p:sp>
        </p:grpSp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985317" y="3741739"/>
              <a:ext cx="141748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Organization 2</a:t>
              </a:r>
            </a:p>
          </p:txBody>
        </p:sp>
        <p:grpSp>
          <p:nvGrpSpPr>
            <p:cNvPr id="46" name="Group 35"/>
            <p:cNvGrpSpPr/>
            <p:nvPr/>
          </p:nvGrpSpPr>
          <p:grpSpPr bwMode="auto">
            <a:xfrm>
              <a:off x="2353742" y="4198941"/>
              <a:ext cx="320675" cy="696913"/>
              <a:chOff x="870" y="2941"/>
              <a:chExt cx="202" cy="439"/>
            </a:xfrm>
          </p:grpSpPr>
          <p:sp>
            <p:nvSpPr>
              <p:cNvPr id="47" name="Text Box 36"/>
              <p:cNvSpPr txBox="1">
                <a:spLocks noChangeArrowheads="1"/>
              </p:cNvSpPr>
              <p:nvPr/>
            </p:nvSpPr>
            <p:spPr bwMode="auto">
              <a:xfrm>
                <a:off x="872" y="2941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  <p:sp>
            <p:nvSpPr>
              <p:cNvPr id="48" name="Text Box 37"/>
              <p:cNvSpPr txBox="1">
                <a:spLocks noChangeArrowheads="1"/>
              </p:cNvSpPr>
              <p:nvPr/>
            </p:nvSpPr>
            <p:spPr bwMode="auto">
              <a:xfrm>
                <a:off x="870" y="3026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  <p:sp>
            <p:nvSpPr>
              <p:cNvPr id="49" name="Text Box 38"/>
              <p:cNvSpPr txBox="1">
                <a:spLocks noChangeArrowheads="1"/>
              </p:cNvSpPr>
              <p:nvPr/>
            </p:nvSpPr>
            <p:spPr bwMode="auto">
              <a:xfrm>
                <a:off x="871" y="3109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</p:grpSp>
        <p:grpSp>
          <p:nvGrpSpPr>
            <p:cNvPr id="50" name="Group 39"/>
            <p:cNvGrpSpPr/>
            <p:nvPr/>
          </p:nvGrpSpPr>
          <p:grpSpPr bwMode="auto">
            <a:xfrm>
              <a:off x="3382442" y="3903666"/>
              <a:ext cx="320675" cy="696913"/>
              <a:chOff x="870" y="2941"/>
              <a:chExt cx="202" cy="439"/>
            </a:xfrm>
          </p:grpSpPr>
          <p:sp>
            <p:nvSpPr>
              <p:cNvPr id="51" name="Text Box 40"/>
              <p:cNvSpPr txBox="1">
                <a:spLocks noChangeArrowheads="1"/>
              </p:cNvSpPr>
              <p:nvPr/>
            </p:nvSpPr>
            <p:spPr bwMode="auto">
              <a:xfrm>
                <a:off x="872" y="2941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870" y="3026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  <p:sp>
            <p:nvSpPr>
              <p:cNvPr id="53" name="Text Box 42"/>
              <p:cNvSpPr txBox="1">
                <a:spLocks noChangeArrowheads="1"/>
              </p:cNvSpPr>
              <p:nvPr/>
            </p:nvSpPr>
            <p:spPr bwMode="auto">
              <a:xfrm>
                <a:off x="871" y="3109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</p:grpSp>
      </p:grpSp>
      <p:sp>
        <p:nvSpPr>
          <p:cNvPr id="54" name="灯片编号占位符 2">
            <a:extLst>
              <a:ext uri="{FF2B5EF4-FFF2-40B4-BE49-F238E27FC236}">
                <a16:creationId xmlns:a16="http://schemas.microsoft.com/office/drawing/2014/main" id="{26ECD420-E726-4701-BAB4-F8E48DB76B7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2BB37A6D-4FB6-405E-8759-D2AF4960A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4.3.3 IPv4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网络编址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问题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1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：组织机构怎么获得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地址块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子网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？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分层编址的优点：路由聚集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13" name="Freeform 3"/>
          <p:cNvSpPr/>
          <p:nvPr/>
        </p:nvSpPr>
        <p:spPr bwMode="auto">
          <a:xfrm>
            <a:off x="5172875" y="3340100"/>
            <a:ext cx="1514475" cy="221456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" name="Line 4"/>
          <p:cNvSpPr>
            <a:spLocks noChangeShapeType="1"/>
          </p:cNvSpPr>
          <p:nvPr/>
        </p:nvSpPr>
        <p:spPr bwMode="auto">
          <a:xfrm flipV="1">
            <a:off x="3415513" y="3547268"/>
            <a:ext cx="671513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3436945" y="3075781"/>
            <a:ext cx="564356" cy="128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3486951" y="2489993"/>
            <a:ext cx="635794" cy="571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7" name="Freeform 7"/>
          <p:cNvSpPr/>
          <p:nvPr/>
        </p:nvSpPr>
        <p:spPr bwMode="auto">
          <a:xfrm>
            <a:off x="3971535" y="2924572"/>
            <a:ext cx="1329928" cy="734615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5346707" y="2719784"/>
            <a:ext cx="1340432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ja-JP" altLang="en-US" sz="1050" dirty="0"/>
              <a:t>“</a:t>
            </a:r>
            <a:r>
              <a:rPr lang="en-US" altLang="ja-JP" sz="1050" dirty="0"/>
              <a:t>Send me anything</a:t>
            </a:r>
          </a:p>
          <a:p>
            <a:r>
              <a:rPr lang="en-US" altLang="zh-CN" sz="1050" dirty="0"/>
              <a:t>with addresses </a:t>
            </a:r>
          </a:p>
          <a:p>
            <a:r>
              <a:rPr lang="en-US" altLang="zh-CN" sz="1050" dirty="0"/>
              <a:t>beginning </a:t>
            </a:r>
          </a:p>
          <a:p>
            <a:r>
              <a:rPr lang="en-US" altLang="zh-CN" sz="1050" dirty="0">
                <a:solidFill>
                  <a:srgbClr val="FF0000"/>
                </a:solidFill>
              </a:rPr>
              <a:t>200.23.16.0/20</a:t>
            </a:r>
            <a:r>
              <a:rPr lang="ja-JP" altLang="en-US" sz="1050" dirty="0">
                <a:solidFill>
                  <a:srgbClr val="FF0000"/>
                </a:solidFill>
              </a:rPr>
              <a:t>”</a:t>
            </a:r>
            <a:endParaRPr lang="en-US" altLang="zh-CN" sz="1050" dirty="0">
              <a:solidFill>
                <a:srgbClr val="FF0000"/>
              </a:solidFill>
            </a:endParaRPr>
          </a:p>
        </p:txBody>
      </p:sp>
      <p:grpSp>
        <p:nvGrpSpPr>
          <p:cNvPr id="20" name="Group 9"/>
          <p:cNvGrpSpPr/>
          <p:nvPr/>
        </p:nvGrpSpPr>
        <p:grpSpPr bwMode="auto">
          <a:xfrm>
            <a:off x="1860557" y="2319735"/>
            <a:ext cx="1753791" cy="307181"/>
            <a:chOff x="1004" y="1639"/>
            <a:chExt cx="1473" cy="258"/>
          </a:xfrm>
        </p:grpSpPr>
        <p:sp>
          <p:nvSpPr>
            <p:cNvPr id="21" name="Freeform 10"/>
            <p:cNvSpPr/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1226" y="1664"/>
              <a:ext cx="1014" cy="23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200.23.16.0/23</a:t>
              </a:r>
              <a:endParaRPr lang="en-US" altLang="zh-CN" sz="1350"/>
            </a:p>
          </p:txBody>
        </p:sp>
      </p:grpSp>
      <p:grpSp>
        <p:nvGrpSpPr>
          <p:cNvPr id="23" name="Group 12"/>
          <p:cNvGrpSpPr/>
          <p:nvPr/>
        </p:nvGrpSpPr>
        <p:grpSpPr bwMode="auto">
          <a:xfrm>
            <a:off x="1881988" y="2762648"/>
            <a:ext cx="1753791" cy="307181"/>
            <a:chOff x="1004" y="1639"/>
            <a:chExt cx="1473" cy="258"/>
          </a:xfrm>
        </p:grpSpPr>
        <p:sp>
          <p:nvSpPr>
            <p:cNvPr id="24" name="Freeform 13"/>
            <p:cNvSpPr/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1226" y="1664"/>
              <a:ext cx="1014" cy="23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200.23.18.0/23</a:t>
              </a:r>
              <a:endParaRPr lang="en-US" altLang="zh-CN" sz="1350"/>
            </a:p>
          </p:txBody>
        </p:sp>
      </p:grpSp>
      <p:grpSp>
        <p:nvGrpSpPr>
          <p:cNvPr id="26" name="Group 15"/>
          <p:cNvGrpSpPr/>
          <p:nvPr/>
        </p:nvGrpSpPr>
        <p:grpSpPr bwMode="auto">
          <a:xfrm>
            <a:off x="1817694" y="3827067"/>
            <a:ext cx="1753791" cy="307181"/>
            <a:chOff x="1004" y="1639"/>
            <a:chExt cx="1473" cy="258"/>
          </a:xfrm>
        </p:grpSpPr>
        <p:sp>
          <p:nvSpPr>
            <p:cNvPr id="27" name="Freeform 16"/>
            <p:cNvSpPr/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Text Box 17"/>
            <p:cNvSpPr txBox="1">
              <a:spLocks noChangeArrowheads="1"/>
            </p:cNvSpPr>
            <p:nvPr/>
          </p:nvSpPr>
          <p:spPr bwMode="auto">
            <a:xfrm>
              <a:off x="1226" y="1664"/>
              <a:ext cx="1014" cy="23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200.23.30.0/23</a:t>
              </a:r>
              <a:endParaRPr lang="en-US" altLang="zh-CN" sz="1350"/>
            </a:p>
          </p:txBody>
        </p:sp>
      </p:grp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3996538" y="3248422"/>
            <a:ext cx="1188146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050" dirty="0"/>
              <a:t>Fly-By-Night-ISP</a:t>
            </a:r>
            <a:endParaRPr lang="en-US" altLang="zh-CN" sz="1350" dirty="0"/>
          </a:p>
        </p:txBody>
      </p:sp>
      <p:sp>
        <p:nvSpPr>
          <p:cNvPr id="30" name="Freeform 19"/>
          <p:cNvSpPr/>
          <p:nvPr/>
        </p:nvSpPr>
        <p:spPr bwMode="auto">
          <a:xfrm>
            <a:off x="6668301" y="2570956"/>
            <a:ext cx="1083469" cy="2035969"/>
          </a:xfrm>
          <a:custGeom>
            <a:avLst/>
            <a:gdLst>
              <a:gd name="T0" fmla="*/ 2147483647 w 910"/>
              <a:gd name="T1" fmla="*/ 2147483647 h 1710"/>
              <a:gd name="T2" fmla="*/ 2147483647 w 910"/>
              <a:gd name="T3" fmla="*/ 2147483647 h 1710"/>
              <a:gd name="T4" fmla="*/ 2147483647 w 910"/>
              <a:gd name="T5" fmla="*/ 2147483647 h 1710"/>
              <a:gd name="T6" fmla="*/ 2147483647 w 910"/>
              <a:gd name="T7" fmla="*/ 2147483647 h 1710"/>
              <a:gd name="T8" fmla="*/ 2147483647 w 910"/>
              <a:gd name="T9" fmla="*/ 2147483647 h 1710"/>
              <a:gd name="T10" fmla="*/ 2147483647 w 910"/>
              <a:gd name="T11" fmla="*/ 2147483647 h 1710"/>
              <a:gd name="T12" fmla="*/ 2147483647 w 910"/>
              <a:gd name="T13" fmla="*/ 2147483647 h 1710"/>
              <a:gd name="T14" fmla="*/ 2147483647 w 910"/>
              <a:gd name="T15" fmla="*/ 2147483647 h 1710"/>
              <a:gd name="T16" fmla="*/ 2147483647 w 910"/>
              <a:gd name="T17" fmla="*/ 2147483647 h 1710"/>
              <a:gd name="T18" fmla="*/ 2147483647 w 910"/>
              <a:gd name="T19" fmla="*/ 2147483647 h 1710"/>
              <a:gd name="T20" fmla="*/ 2147483647 w 910"/>
              <a:gd name="T21" fmla="*/ 2147483647 h 1710"/>
              <a:gd name="T22" fmla="*/ 2147483647 w 910"/>
              <a:gd name="T23" fmla="*/ 2147483647 h 171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1860557" y="2126853"/>
            <a:ext cx="106311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Organization 0</a:t>
            </a: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1881988" y="3634184"/>
            <a:ext cx="106311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Organization 7</a:t>
            </a: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6846894" y="3491309"/>
            <a:ext cx="64152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Internet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1867700" y="2612628"/>
            <a:ext cx="106311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Organization 1</a:t>
            </a:r>
          </a:p>
        </p:txBody>
      </p:sp>
      <p:sp>
        <p:nvSpPr>
          <p:cNvPr id="35" name="Freeform 24"/>
          <p:cNvSpPr/>
          <p:nvPr/>
        </p:nvSpPr>
        <p:spPr bwMode="auto">
          <a:xfrm>
            <a:off x="3928673" y="3910410"/>
            <a:ext cx="1329928" cy="734615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4153701" y="4191397"/>
            <a:ext cx="821059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050"/>
              <a:t>ISPs-R-Us</a:t>
            </a:r>
            <a:endParaRPr lang="en-US" altLang="zh-CN" sz="1350"/>
          </a:p>
        </p:txBody>
      </p:sp>
      <p:sp>
        <p:nvSpPr>
          <p:cNvPr id="37" name="Freeform 26"/>
          <p:cNvSpPr/>
          <p:nvPr/>
        </p:nvSpPr>
        <p:spPr bwMode="auto">
          <a:xfrm flipV="1">
            <a:off x="5222882" y="3925888"/>
            <a:ext cx="1514475" cy="221456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8" name="Line 27"/>
          <p:cNvSpPr>
            <a:spLocks noChangeShapeType="1"/>
          </p:cNvSpPr>
          <p:nvPr/>
        </p:nvSpPr>
        <p:spPr bwMode="auto">
          <a:xfrm>
            <a:off x="3565532" y="4333081"/>
            <a:ext cx="36433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 flipV="1">
            <a:off x="3451232" y="4383087"/>
            <a:ext cx="478631" cy="128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40" name="Line 29"/>
          <p:cNvSpPr>
            <a:spLocks noChangeShapeType="1"/>
          </p:cNvSpPr>
          <p:nvPr/>
        </p:nvSpPr>
        <p:spPr bwMode="auto">
          <a:xfrm flipV="1">
            <a:off x="3779844" y="4568825"/>
            <a:ext cx="185738" cy="3071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41" name="Text Box 30"/>
          <p:cNvSpPr txBox="1">
            <a:spLocks noChangeArrowheads="1"/>
          </p:cNvSpPr>
          <p:nvPr/>
        </p:nvSpPr>
        <p:spPr bwMode="auto">
          <a:xfrm>
            <a:off x="5439574" y="4112816"/>
            <a:ext cx="2156762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ja-JP" altLang="en-US" sz="1050" dirty="0"/>
              <a:t>“</a:t>
            </a:r>
            <a:r>
              <a:rPr lang="en-US" altLang="ja-JP" sz="1050" dirty="0"/>
              <a:t>Send me anything</a:t>
            </a:r>
          </a:p>
          <a:p>
            <a:r>
              <a:rPr lang="en-US" altLang="zh-CN" sz="1050" dirty="0"/>
              <a:t>with addresses </a:t>
            </a:r>
          </a:p>
          <a:p>
            <a:r>
              <a:rPr lang="en-US" altLang="zh-CN" sz="1050" dirty="0"/>
              <a:t>beginning 199.31.0.0/16</a:t>
            </a:r>
            <a:r>
              <a:rPr lang="ja-JP" altLang="en-US" sz="1050" dirty="0"/>
              <a:t>” </a:t>
            </a:r>
            <a:r>
              <a:rPr lang="en-US" altLang="zh-CN" sz="1050" dirty="0"/>
              <a:t>or</a:t>
            </a:r>
          </a:p>
          <a:p>
            <a:r>
              <a:rPr lang="en-US" altLang="zh-CN" sz="1050" dirty="0">
                <a:solidFill>
                  <a:srgbClr val="FF0000"/>
                </a:solidFill>
              </a:rPr>
              <a:t>200.23.18.0/23</a:t>
            </a:r>
          </a:p>
        </p:txBody>
      </p:sp>
      <p:grpSp>
        <p:nvGrpSpPr>
          <p:cNvPr id="42" name="Group 31"/>
          <p:cNvGrpSpPr/>
          <p:nvPr/>
        </p:nvGrpSpPr>
        <p:grpSpPr bwMode="auto">
          <a:xfrm>
            <a:off x="1896275" y="3205560"/>
            <a:ext cx="1753791" cy="307181"/>
            <a:chOff x="1004" y="1639"/>
            <a:chExt cx="1473" cy="258"/>
          </a:xfrm>
        </p:grpSpPr>
        <p:sp>
          <p:nvSpPr>
            <p:cNvPr id="43" name="Freeform 32"/>
            <p:cNvSpPr/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4" name="Text Box 33"/>
            <p:cNvSpPr txBox="1">
              <a:spLocks noChangeArrowheads="1"/>
            </p:cNvSpPr>
            <p:nvPr/>
          </p:nvSpPr>
          <p:spPr bwMode="auto">
            <a:xfrm>
              <a:off x="1226" y="1664"/>
              <a:ext cx="1014" cy="23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200.23.20.0/23</a:t>
              </a:r>
              <a:endParaRPr lang="en-US" altLang="zh-CN" sz="1350"/>
            </a:p>
          </p:txBody>
        </p:sp>
      </p:grpSp>
      <p:sp>
        <p:nvSpPr>
          <p:cNvPr id="45" name="Text Box 34"/>
          <p:cNvSpPr txBox="1">
            <a:spLocks noChangeArrowheads="1"/>
          </p:cNvSpPr>
          <p:nvPr/>
        </p:nvSpPr>
        <p:spPr bwMode="auto">
          <a:xfrm>
            <a:off x="1881988" y="3055541"/>
            <a:ext cx="106311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Organization 2</a:t>
            </a:r>
          </a:p>
        </p:txBody>
      </p:sp>
      <p:grpSp>
        <p:nvGrpSpPr>
          <p:cNvPr id="46" name="Group 35"/>
          <p:cNvGrpSpPr/>
          <p:nvPr/>
        </p:nvGrpSpPr>
        <p:grpSpPr bwMode="auto">
          <a:xfrm>
            <a:off x="2908306" y="3398440"/>
            <a:ext cx="240506" cy="522685"/>
            <a:chOff x="870" y="2941"/>
            <a:chExt cx="202" cy="439"/>
          </a:xfrm>
        </p:grpSpPr>
        <p:sp>
          <p:nvSpPr>
            <p:cNvPr id="47" name="Text Box 36"/>
            <p:cNvSpPr txBox="1">
              <a:spLocks noChangeArrowheads="1"/>
            </p:cNvSpPr>
            <p:nvPr/>
          </p:nvSpPr>
          <p:spPr bwMode="auto">
            <a:xfrm>
              <a:off x="872" y="2941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  <p:sp>
          <p:nvSpPr>
            <p:cNvPr id="48" name="Text Box 37"/>
            <p:cNvSpPr txBox="1">
              <a:spLocks noChangeArrowheads="1"/>
            </p:cNvSpPr>
            <p:nvPr/>
          </p:nvSpPr>
          <p:spPr bwMode="auto">
            <a:xfrm>
              <a:off x="870" y="3026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  <p:sp>
          <p:nvSpPr>
            <p:cNvPr id="49" name="Text Box 38"/>
            <p:cNvSpPr txBox="1">
              <a:spLocks noChangeArrowheads="1"/>
            </p:cNvSpPr>
            <p:nvPr/>
          </p:nvSpPr>
          <p:spPr bwMode="auto">
            <a:xfrm>
              <a:off x="871" y="3109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</p:grpSp>
      <p:grpSp>
        <p:nvGrpSpPr>
          <p:cNvPr id="50" name="Group 39"/>
          <p:cNvGrpSpPr/>
          <p:nvPr/>
        </p:nvGrpSpPr>
        <p:grpSpPr bwMode="auto">
          <a:xfrm>
            <a:off x="3679831" y="3176984"/>
            <a:ext cx="240506" cy="522685"/>
            <a:chOff x="870" y="2941"/>
            <a:chExt cx="202" cy="439"/>
          </a:xfrm>
        </p:grpSpPr>
        <p:sp>
          <p:nvSpPr>
            <p:cNvPr id="51" name="Text Box 40"/>
            <p:cNvSpPr txBox="1">
              <a:spLocks noChangeArrowheads="1"/>
            </p:cNvSpPr>
            <p:nvPr/>
          </p:nvSpPr>
          <p:spPr bwMode="auto">
            <a:xfrm>
              <a:off x="872" y="2941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  <p:sp>
          <p:nvSpPr>
            <p:cNvPr id="52" name="Text Box 41"/>
            <p:cNvSpPr txBox="1">
              <a:spLocks noChangeArrowheads="1"/>
            </p:cNvSpPr>
            <p:nvPr/>
          </p:nvSpPr>
          <p:spPr bwMode="auto">
            <a:xfrm>
              <a:off x="870" y="3026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  <p:sp>
          <p:nvSpPr>
            <p:cNvPr id="53" name="Text Box 42"/>
            <p:cNvSpPr txBox="1">
              <a:spLocks noChangeArrowheads="1"/>
            </p:cNvSpPr>
            <p:nvPr/>
          </p:nvSpPr>
          <p:spPr bwMode="auto">
            <a:xfrm>
              <a:off x="871" y="3109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</p:grpSp>
      <p:sp>
        <p:nvSpPr>
          <p:cNvPr id="7" name="任意多边形 6"/>
          <p:cNvSpPr/>
          <p:nvPr/>
        </p:nvSpPr>
        <p:spPr>
          <a:xfrm>
            <a:off x="1592835" y="2935288"/>
            <a:ext cx="1879028" cy="1682897"/>
          </a:xfrm>
          <a:custGeom>
            <a:avLst/>
            <a:gdLst>
              <a:gd name="connsiteX0" fmla="*/ 543220 w 2505370"/>
              <a:gd name="connsiteY0" fmla="*/ 0 h 2243863"/>
              <a:gd name="connsiteX1" fmla="*/ 295 w 2505370"/>
              <a:gd name="connsiteY1" fmla="*/ 1371600 h 2243863"/>
              <a:gd name="connsiteX2" fmla="*/ 505120 w 2505370"/>
              <a:gd name="connsiteY2" fmla="*/ 2190750 h 2243863"/>
              <a:gd name="connsiteX3" fmla="*/ 2505370 w 2505370"/>
              <a:gd name="connsiteY3" fmla="*/ 2095500 h 2243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5370" h="2243863">
                <a:moveTo>
                  <a:pt x="543220" y="0"/>
                </a:moveTo>
                <a:cubicBezTo>
                  <a:pt x="274932" y="503237"/>
                  <a:pt x="6645" y="1006475"/>
                  <a:pt x="295" y="1371600"/>
                </a:cubicBezTo>
                <a:cubicBezTo>
                  <a:pt x="-6055" y="1736725"/>
                  <a:pt x="87607" y="2070100"/>
                  <a:pt x="505120" y="2190750"/>
                </a:cubicBezTo>
                <a:cubicBezTo>
                  <a:pt x="922633" y="2311400"/>
                  <a:pt x="1714001" y="2203450"/>
                  <a:pt x="2505370" y="2095500"/>
                </a:cubicBezTo>
              </a:path>
            </a:pathLst>
          </a:cu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4" name="灯片编号占位符 2">
            <a:extLst>
              <a:ext uri="{FF2B5EF4-FFF2-40B4-BE49-F238E27FC236}">
                <a16:creationId xmlns:a16="http://schemas.microsoft.com/office/drawing/2014/main" id="{B51115DF-94FA-4BEA-80A7-930AF448A37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349B6932-D490-4E8E-906B-6EA04AE55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4.3.3 IPv4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网络编址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问题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1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：组织机构怎么获得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地址块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子网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？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rgbClr val="FF0000"/>
                </a:solidFill>
                <a:effectLst/>
              </a:rPr>
              <a:t>问题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：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ISP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从哪里获得地址块？</a:t>
            </a:r>
            <a:endParaRPr lang="en-US" altLang="zh-CN" sz="1800" dirty="0">
              <a:solidFill>
                <a:srgbClr val="FF0000"/>
              </a:solidFill>
              <a:effectLst/>
            </a:endParaRPr>
          </a:p>
          <a:p>
            <a:pPr lvl="1"/>
            <a:r>
              <a:rPr lang="en-US" altLang="zh-CN" sz="1600" dirty="0">
                <a:solidFill>
                  <a:srgbClr val="FF0000"/>
                </a:solidFill>
                <a:effectLst/>
              </a:rPr>
              <a:t>ICANN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 Internet Corporation for Assigned Names and Numbers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http://www.icann.org/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因特网名字和编号分配机构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)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分配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管理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DNS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注册域名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解决争端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……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C349DD-2EAF-49DE-93CF-0F891EA2F0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859782"/>
            <a:ext cx="1512168" cy="12034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8403C278-5B3E-4485-AA7F-4AA1910F8E6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546D8941-0F35-4DA3-9DA5-FEEF566DC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4.3.3 IPv4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网络编址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rgbClr val="FF0000"/>
                </a:solidFill>
                <a:effectLst/>
              </a:rPr>
              <a:t>问题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3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：主机怎么获得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IP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地址？</a:t>
            </a:r>
            <a:endParaRPr lang="en-US" altLang="zh-CN" sz="1800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方式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：手工配置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Windows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control-panel-&gt;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network-&gt;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configuration-&gt;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tcp/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properties</a:t>
            </a: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Unix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etc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rc.config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329" y="1660177"/>
            <a:ext cx="2957513" cy="3071813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80216101-91E7-480E-A69A-7E0E335717C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</a:t>
            </a:r>
            <a:fld id="{5A4F2AFE-40E9-47D7-93C1-1557BE766B14}" type="slidenum"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06A56DF5-900D-41A6-9377-089BC3EF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4.3.3 IPv4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网络编址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rgbClr val="FF0000"/>
                </a:solidFill>
                <a:effectLst/>
              </a:rPr>
              <a:t>问题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3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：主机怎么获得</a:t>
            </a:r>
            <a:r>
              <a:rPr lang="en-US" altLang="zh-CN" sz="1800" dirty="0">
                <a:solidFill>
                  <a:srgbClr val="FF0000"/>
                </a:solidFill>
                <a:effectLst/>
              </a:rPr>
              <a:t>IP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地址？</a:t>
            </a:r>
            <a:endParaRPr lang="en-US" altLang="zh-CN" sz="1800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方式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：动态配置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DHCP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pitchFamily="34" charset="-128"/>
              </a:rPr>
              <a:t> Dynamic Host 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pitchFamily="34" charset="-128"/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pitchFamily="34" charset="-128"/>
              </a:rPr>
              <a:t>Configuration Protocol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MS PGothic" panose="020B0600070205080204" pitchFamily="34" charset="-128"/>
              </a:rPr>
              <a:t>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pitchFamily="34" charset="-128"/>
              </a:rPr>
              <a:t>plug-and-play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MS PGothic" panose="020B0600070205080204" pitchFamily="34" charset="-128"/>
              </a:rPr>
              <a:t>”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301" y="1660177"/>
            <a:ext cx="2957513" cy="3071813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1403DBB1-2C47-42B0-9748-EE2BB8AEE94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</a:t>
            </a:r>
            <a:fld id="{5A4F2AFE-40E9-47D7-93C1-1557BE766B14}" type="slidenum"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55B56CF-25D7-4FC1-8BAD-C8024BA91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4.3.3 IPv4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网络编址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altLang="zh-CN" sz="1800" dirty="0">
                <a:solidFill>
                  <a:srgbClr val="FF0000"/>
                </a:solidFill>
                <a:effectLst/>
              </a:rPr>
              <a:t>DHCP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动态主机配置协议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r>
              <a:rPr lang="en-US" altLang="zh-CN" sz="1600" dirty="0">
                <a:solidFill>
                  <a:srgbClr val="FF0000"/>
                </a:solidFill>
                <a:effectLst/>
              </a:rPr>
              <a:t>RFC 2131</a:t>
            </a:r>
          </a:p>
          <a:p>
            <a:pPr lvl="1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目标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允许入网计算机自动地从网络中获得并动态配置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主机地址会变化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地址可以</a:t>
            </a:r>
            <a:r>
              <a:rPr lang="zh-CN" altLang="en-US" sz="1400" dirty="0">
                <a:solidFill>
                  <a:srgbClr val="FF0000"/>
                </a:solidFill>
                <a:effectLst/>
              </a:rPr>
              <a:t>更好地重用</a:t>
            </a:r>
            <a:endParaRPr lang="en-US" altLang="zh-CN" sz="1400" dirty="0">
              <a:solidFill>
                <a:srgbClr val="FF0000"/>
              </a:solidFill>
              <a:effectLst/>
            </a:endParaRP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适用于间歇式加入网络的主机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(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如移动式终端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)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DHCP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一览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</a:t>
            </a: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入网主机广播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“DHCP discover”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报文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[optional]</a:t>
            </a:r>
          </a:p>
          <a:p>
            <a:pPr lvl="2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DHCP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服务器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给主机反馈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“DHCP offer”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报文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[optional]</a:t>
            </a: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主机通过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“DHCP request”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报文请求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DHCP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服务器通过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 “DHCP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ack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”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报文向主机返回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946F29F8-9037-4372-B110-D1B0D46F5A5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</a:t>
            </a:r>
            <a:fld id="{5A4F2AFE-40E9-47D7-93C1-1557BE766B14}" type="slidenum"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E3A4B7FA-22E1-48BE-8486-1E975B71A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525518" cy="1293877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4.3.3 IPv4</a:t>
            </a:r>
            <a:r>
              <a:rPr lang="zh-CN" altLang="en-US" dirty="0">
                <a:effectLst/>
              </a:rPr>
              <a:t>网络编址</a:t>
            </a:r>
            <a:endParaRPr lang="en-US" altLang="zh-CN" dirty="0">
              <a:effectLst/>
            </a:endParaRPr>
          </a:p>
          <a:p>
            <a:r>
              <a:rPr lang="en-US" altLang="zh-CN" sz="1800" dirty="0">
                <a:solidFill>
                  <a:srgbClr val="FF0000"/>
                </a:solidFill>
                <a:effectLst/>
              </a:rPr>
              <a:t>DHCP</a:t>
            </a:r>
            <a:r>
              <a:rPr lang="en-US" altLang="zh-CN" sz="1800" dirty="0">
                <a:effectLst/>
              </a:rPr>
              <a:t>: </a:t>
            </a:r>
            <a:r>
              <a:rPr lang="zh-CN" altLang="en-US" sz="1800" dirty="0">
                <a:effectLst/>
              </a:rPr>
              <a:t>动态主机配置协议</a:t>
            </a:r>
            <a:endParaRPr lang="en-US" altLang="zh-CN" sz="1800" dirty="0">
              <a:effectLst/>
            </a:endParaRPr>
          </a:p>
          <a:p>
            <a:pPr lvl="1"/>
            <a:r>
              <a:rPr lang="zh-CN" altLang="en-US" sz="1600" dirty="0">
                <a:effectLst/>
              </a:rPr>
              <a:t>协议工作的场景：</a:t>
            </a:r>
            <a:r>
              <a:rPr lang="en-US" altLang="zh-CN" sz="1600" dirty="0">
                <a:effectLst/>
              </a:rPr>
              <a:t>Client-Server</a:t>
            </a:r>
            <a:r>
              <a:rPr lang="zh-CN" altLang="en-US" sz="1600" dirty="0">
                <a:effectLst/>
              </a:rPr>
              <a:t>模式</a:t>
            </a:r>
            <a:endParaRPr lang="en-US" altLang="zh-CN" sz="1600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427685" y="2366218"/>
            <a:ext cx="5565378" cy="2365772"/>
            <a:chOff x="1712913" y="2866926"/>
            <a:chExt cx="7420503" cy="3154362"/>
          </a:xfrm>
        </p:grpSpPr>
        <p:sp>
          <p:nvSpPr>
            <p:cNvPr id="8" name="Freeform 4"/>
            <p:cNvSpPr/>
            <p:nvPr/>
          </p:nvSpPr>
          <p:spPr bwMode="auto">
            <a:xfrm>
              <a:off x="1712913" y="2866926"/>
              <a:ext cx="1941512" cy="2049462"/>
            </a:xfrm>
            <a:custGeom>
              <a:avLst/>
              <a:gdLst>
                <a:gd name="T0" fmla="*/ 1906587 w 1223"/>
                <a:gd name="T1" fmla="*/ 1200150 h 1291"/>
                <a:gd name="T2" fmla="*/ 1114425 w 1223"/>
                <a:gd name="T3" fmla="*/ 1063625 h 1291"/>
                <a:gd name="T4" fmla="*/ 965200 w 1223"/>
                <a:gd name="T5" fmla="*/ 163512 h 1291"/>
                <a:gd name="T6" fmla="*/ 531812 w 1223"/>
                <a:gd name="T7" fmla="*/ 82550 h 1291"/>
                <a:gd name="T8" fmla="*/ 103187 w 1223"/>
                <a:gd name="T9" fmla="*/ 130175 h 1291"/>
                <a:gd name="T10" fmla="*/ 65087 w 1223"/>
                <a:gd name="T11" fmla="*/ 863600 h 1291"/>
                <a:gd name="T12" fmla="*/ 60325 w 1223"/>
                <a:gd name="T13" fmla="*/ 1192212 h 1291"/>
                <a:gd name="T14" fmla="*/ 36512 w 1223"/>
                <a:gd name="T15" fmla="*/ 1492249 h 1291"/>
                <a:gd name="T16" fmla="*/ 26987 w 1223"/>
                <a:gd name="T17" fmla="*/ 1768475 h 1291"/>
                <a:gd name="T18" fmla="*/ 203200 w 1223"/>
                <a:gd name="T19" fmla="*/ 1935162 h 1291"/>
                <a:gd name="T20" fmla="*/ 955675 w 1223"/>
                <a:gd name="T21" fmla="*/ 1973262 h 1291"/>
                <a:gd name="T22" fmla="*/ 1089025 w 1223"/>
                <a:gd name="T23" fmla="*/ 1476374 h 1291"/>
                <a:gd name="T24" fmla="*/ 1868487 w 1223"/>
                <a:gd name="T25" fmla="*/ 1454149 h 1291"/>
                <a:gd name="T26" fmla="*/ 1906587 w 1223"/>
                <a:gd name="T27" fmla="*/ 1200150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23"/>
                <a:gd name="T43" fmla="*/ 0 h 1291"/>
                <a:gd name="T44" fmla="*/ 1223 w 1223"/>
                <a:gd name="T45" fmla="*/ 1291 h 12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Freeform 5"/>
            <p:cNvSpPr/>
            <p:nvPr/>
          </p:nvSpPr>
          <p:spPr bwMode="auto">
            <a:xfrm>
              <a:off x="4229100" y="3154263"/>
              <a:ext cx="1906588" cy="1958975"/>
            </a:xfrm>
            <a:custGeom>
              <a:avLst/>
              <a:gdLst>
                <a:gd name="T0" fmla="*/ 39688 w 1201"/>
                <a:gd name="T1" fmla="*/ 1125537 h 1234"/>
                <a:gd name="T2" fmla="*/ 835025 w 1201"/>
                <a:gd name="T3" fmla="*/ 1238250 h 1234"/>
                <a:gd name="T4" fmla="*/ 973138 w 1201"/>
                <a:gd name="T5" fmla="*/ 1800225 h 1234"/>
                <a:gd name="T6" fmla="*/ 1501775 w 1201"/>
                <a:gd name="T7" fmla="*/ 1952625 h 1234"/>
                <a:gd name="T8" fmla="*/ 1858963 w 1201"/>
                <a:gd name="T9" fmla="*/ 1757363 h 1234"/>
                <a:gd name="T10" fmla="*/ 1787526 w 1201"/>
                <a:gd name="T11" fmla="*/ 1419225 h 1234"/>
                <a:gd name="T12" fmla="*/ 1768476 w 1201"/>
                <a:gd name="T13" fmla="*/ 1100137 h 1234"/>
                <a:gd name="T14" fmla="*/ 1744663 w 1201"/>
                <a:gd name="T15" fmla="*/ 671512 h 1234"/>
                <a:gd name="T16" fmla="*/ 1811338 w 1201"/>
                <a:gd name="T17" fmla="*/ 342900 h 1234"/>
                <a:gd name="T18" fmla="*/ 1749426 w 1201"/>
                <a:gd name="T19" fmla="*/ 52388 h 1234"/>
                <a:gd name="T20" fmla="*/ 1025525 w 1201"/>
                <a:gd name="T21" fmla="*/ 128587 h 1234"/>
                <a:gd name="T22" fmla="*/ 849313 w 1201"/>
                <a:gd name="T23" fmla="*/ 823913 h 1234"/>
                <a:gd name="T24" fmla="*/ 69850 w 1201"/>
                <a:gd name="T25" fmla="*/ 869950 h 1234"/>
                <a:gd name="T26" fmla="*/ 39688 w 1201"/>
                <a:gd name="T27" fmla="*/ 1125537 h 12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1"/>
                <a:gd name="T43" fmla="*/ 0 h 1234"/>
                <a:gd name="T44" fmla="*/ 1201 w 1201"/>
                <a:gd name="T45" fmla="*/ 1234 h 12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Freeform 6"/>
            <p:cNvSpPr/>
            <p:nvPr/>
          </p:nvSpPr>
          <p:spPr bwMode="auto">
            <a:xfrm>
              <a:off x="2921000" y="4530626"/>
              <a:ext cx="2055813" cy="1490662"/>
            </a:xfrm>
            <a:custGeom>
              <a:avLst/>
              <a:gdLst>
                <a:gd name="T0" fmla="*/ 952500 w 1295"/>
                <a:gd name="T1" fmla="*/ 47625 h 939"/>
                <a:gd name="T2" fmla="*/ 833438 w 1295"/>
                <a:gd name="T3" fmla="*/ 623887 h 939"/>
                <a:gd name="T4" fmla="*/ 128588 w 1295"/>
                <a:gd name="T5" fmla="*/ 747712 h 939"/>
                <a:gd name="T6" fmla="*/ 61913 w 1295"/>
                <a:gd name="T7" fmla="*/ 1357312 h 939"/>
                <a:gd name="T8" fmla="*/ 328613 w 1295"/>
                <a:gd name="T9" fmla="*/ 1471612 h 939"/>
                <a:gd name="T10" fmla="*/ 681038 w 1295"/>
                <a:gd name="T11" fmla="*/ 1471612 h 939"/>
                <a:gd name="T12" fmla="*/ 1119188 w 1295"/>
                <a:gd name="T13" fmla="*/ 1414462 h 939"/>
                <a:gd name="T14" fmla="*/ 1947863 w 1295"/>
                <a:gd name="T15" fmla="*/ 1347787 h 939"/>
                <a:gd name="T16" fmla="*/ 1766888 w 1295"/>
                <a:gd name="T17" fmla="*/ 728662 h 939"/>
                <a:gd name="T18" fmla="*/ 1233488 w 1295"/>
                <a:gd name="T19" fmla="*/ 576262 h 939"/>
                <a:gd name="T20" fmla="*/ 1209675 w 1295"/>
                <a:gd name="T21" fmla="*/ 66675 h 939"/>
                <a:gd name="T22" fmla="*/ 952500 w 1295"/>
                <a:gd name="T23" fmla="*/ 47625 h 9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5"/>
                <a:gd name="T37" fmla="*/ 0 h 939"/>
                <a:gd name="T38" fmla="*/ 1295 w 1295"/>
                <a:gd name="T39" fmla="*/ 939 h 9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5" h="939">
                  <a:moveTo>
                    <a:pt x="600" y="30"/>
                  </a:moveTo>
                  <a:cubicBezTo>
                    <a:pt x="486" y="60"/>
                    <a:pt x="610" y="247"/>
                    <a:pt x="525" y="393"/>
                  </a:cubicBezTo>
                  <a:cubicBezTo>
                    <a:pt x="439" y="467"/>
                    <a:pt x="162" y="394"/>
                    <a:pt x="81" y="471"/>
                  </a:cubicBezTo>
                  <a:cubicBezTo>
                    <a:pt x="0" y="548"/>
                    <a:pt x="18" y="779"/>
                    <a:pt x="39" y="855"/>
                  </a:cubicBezTo>
                  <a:cubicBezTo>
                    <a:pt x="60" y="931"/>
                    <a:pt x="142" y="915"/>
                    <a:pt x="207" y="927"/>
                  </a:cubicBezTo>
                  <a:cubicBezTo>
                    <a:pt x="272" y="939"/>
                    <a:pt x="346" y="933"/>
                    <a:pt x="429" y="927"/>
                  </a:cubicBezTo>
                  <a:cubicBezTo>
                    <a:pt x="512" y="921"/>
                    <a:pt x="572" y="904"/>
                    <a:pt x="705" y="891"/>
                  </a:cubicBezTo>
                  <a:cubicBezTo>
                    <a:pt x="838" y="878"/>
                    <a:pt x="1159" y="921"/>
                    <a:pt x="1227" y="849"/>
                  </a:cubicBezTo>
                  <a:cubicBezTo>
                    <a:pt x="1295" y="777"/>
                    <a:pt x="1188" y="540"/>
                    <a:pt x="1113" y="459"/>
                  </a:cubicBezTo>
                  <a:cubicBezTo>
                    <a:pt x="1038" y="378"/>
                    <a:pt x="835" y="432"/>
                    <a:pt x="777" y="363"/>
                  </a:cubicBezTo>
                  <a:cubicBezTo>
                    <a:pt x="719" y="294"/>
                    <a:pt x="791" y="97"/>
                    <a:pt x="762" y="42"/>
                  </a:cubicBezTo>
                  <a:cubicBezTo>
                    <a:pt x="708" y="15"/>
                    <a:pt x="714" y="0"/>
                    <a:pt x="600" y="30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11" name="Object 7"/>
            <p:cNvGraphicFramePr>
              <a:graphicFrameLocks noChangeAspect="1"/>
            </p:cNvGraphicFramePr>
            <p:nvPr/>
          </p:nvGraphicFramePr>
          <p:xfrm>
            <a:off x="1790700" y="297170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" name="Clip" r:id="rId4" imgW="18192750" imgH="15087600" progId="MS_ClipArt_Gallery.2">
                    <p:embed/>
                  </p:oleObj>
                </mc:Choice>
                <mc:Fallback>
                  <p:oleObj name="Clip" r:id="rId4" imgW="18192750" imgH="15087600" progId="MS_ClipArt_Gallery.2">
                    <p:embed/>
                    <p:pic>
                      <p:nvPicPr>
                        <p:cNvPr id="1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0700" y="297170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351088" y="3344763"/>
              <a:ext cx="277812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2641600" y="3330476"/>
              <a:ext cx="0" cy="1290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2351088" y="3989288"/>
              <a:ext cx="277812" cy="3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2360613" y="4616351"/>
              <a:ext cx="273050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1790700" y="363845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7" name="Clip" r:id="rId6" imgW="18192750" imgH="15087600" progId="MS_ClipArt_Gallery.2">
                    <p:embed/>
                  </p:oleObj>
                </mc:Choice>
                <mc:Fallback>
                  <p:oleObj name="Clip" r:id="rId6" imgW="18192750" imgH="15087600" progId="MS_ClipArt_Gallery.2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0700" y="363845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3"/>
            <p:cNvGraphicFramePr>
              <a:graphicFrameLocks noChangeAspect="1"/>
            </p:cNvGraphicFramePr>
            <p:nvPr/>
          </p:nvGraphicFramePr>
          <p:xfrm>
            <a:off x="1790700" y="424805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" name="Clip" r:id="rId7" imgW="18192750" imgH="15087600" progId="MS_ClipArt_Gallery.2">
                    <p:embed/>
                  </p:oleObj>
                </mc:Choice>
                <mc:Fallback>
                  <p:oleObj name="Clip" r:id="rId7" imgW="18192750" imgH="15087600" progId="MS_ClipArt_Gallery.2">
                    <p:embed/>
                    <p:pic>
                      <p:nvPicPr>
                        <p:cNvPr id="1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0700" y="424805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2641600" y="4187726"/>
              <a:ext cx="1035050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9" name="Group 15"/>
            <p:cNvGrpSpPr/>
            <p:nvPr/>
          </p:nvGrpSpPr>
          <p:grpSpPr bwMode="auto">
            <a:xfrm>
              <a:off x="3584575" y="4152801"/>
              <a:ext cx="711200" cy="381000"/>
              <a:chOff x="3600" y="219"/>
              <a:chExt cx="360" cy="175"/>
            </a:xfrm>
          </p:grpSpPr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Oval 20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5" name="Group 21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0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" name="Line 2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Line 2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6" name="Group 25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8" name="Line 2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" name="Line 2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309813" y="3019326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223.1.1.1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30"/>
            <p:cNvSpPr>
              <a:spLocks noChangeArrowheads="1"/>
            </p:cNvSpPr>
            <p:nvPr/>
          </p:nvSpPr>
          <p:spPr bwMode="auto">
            <a:xfrm>
              <a:off x="2397125" y="3740051"/>
              <a:ext cx="309563" cy="1809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2387600" y="3647977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223.1.1.2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Text Box 32"/>
            <p:cNvSpPr txBox="1">
              <a:spLocks noChangeArrowheads="1"/>
            </p:cNvSpPr>
            <p:nvPr/>
          </p:nvSpPr>
          <p:spPr bwMode="auto">
            <a:xfrm>
              <a:off x="2195513" y="4600476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223.1.1.3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2986088" y="3928963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223.1.1.4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4189413" y="4197251"/>
              <a:ext cx="1016000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4062413" y="3919438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223.1.2.9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 flipH="1">
              <a:off x="5213350" y="3501926"/>
              <a:ext cx="0" cy="1290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41" name="Object 37"/>
            <p:cNvGraphicFramePr>
              <a:graphicFrameLocks noChangeAspect="1"/>
            </p:cNvGraphicFramePr>
            <p:nvPr/>
          </p:nvGraphicFramePr>
          <p:xfrm>
            <a:off x="5391150" y="3209826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" name="Clip" r:id="rId8" imgW="18192750" imgH="15087600" progId="MS_ClipArt_Gallery.2">
                    <p:embed/>
                  </p:oleObj>
                </mc:Choice>
                <mc:Fallback>
                  <p:oleObj name="Clip" r:id="rId8" imgW="18192750" imgH="15087600" progId="MS_ClipArt_Gallery.2">
                    <p:embed/>
                    <p:pic>
                      <p:nvPicPr>
                        <p:cNvPr id="41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1150" y="3209826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5213350" y="3506688"/>
              <a:ext cx="234950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43" name="Object 39"/>
            <p:cNvGraphicFramePr>
              <a:graphicFrameLocks noChangeAspect="1"/>
            </p:cNvGraphicFramePr>
            <p:nvPr/>
          </p:nvGraphicFramePr>
          <p:xfrm>
            <a:off x="5395913" y="459095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" name="Clip" r:id="rId9" imgW="18192750" imgH="15087600" progId="MS_ClipArt_Gallery.2">
                    <p:embed/>
                  </p:oleObj>
                </mc:Choice>
                <mc:Fallback>
                  <p:oleObj name="Clip" r:id="rId9" imgW="18192750" imgH="15087600" progId="MS_ClipArt_Gallery.2">
                    <p:embed/>
                    <p:pic>
                      <p:nvPicPr>
                        <p:cNvPr id="43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5913" y="459095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5213350" y="4778276"/>
              <a:ext cx="234950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5159375" y="4513163"/>
              <a:ext cx="171450" cy="1809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Text Box 42"/>
            <p:cNvSpPr txBox="1">
              <a:spLocks noChangeArrowheads="1"/>
            </p:cNvSpPr>
            <p:nvPr/>
          </p:nvSpPr>
          <p:spPr bwMode="auto">
            <a:xfrm>
              <a:off x="4573587" y="4400451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223.1.2.2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Text Box 43"/>
            <p:cNvSpPr txBox="1">
              <a:spLocks noChangeArrowheads="1"/>
            </p:cNvSpPr>
            <p:nvPr/>
          </p:nvSpPr>
          <p:spPr bwMode="auto">
            <a:xfrm>
              <a:off x="5297489" y="2908201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223.1.2.1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 flipH="1">
              <a:off x="3951288" y="4535388"/>
              <a:ext cx="0" cy="7191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 flipH="1">
              <a:off x="3294063" y="5254526"/>
              <a:ext cx="1185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 flipH="1" flipV="1">
              <a:off x="3290888" y="5246588"/>
              <a:ext cx="3175" cy="241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 flipH="1" flipV="1">
              <a:off x="4467225" y="5251351"/>
              <a:ext cx="3175" cy="241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52" name="Object 48"/>
            <p:cNvGraphicFramePr>
              <a:graphicFrameLocks noChangeAspect="1"/>
            </p:cNvGraphicFramePr>
            <p:nvPr/>
          </p:nvGraphicFramePr>
          <p:xfrm>
            <a:off x="4252913" y="541010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" name="Clip" r:id="rId10" imgW="18192750" imgH="15087600" progId="MS_ClipArt_Gallery.2">
                    <p:embed/>
                  </p:oleObj>
                </mc:Choice>
                <mc:Fallback>
                  <p:oleObj name="Clip" r:id="rId10" imgW="18192750" imgH="15087600" progId="MS_ClipArt_Gallery.2">
                    <p:embed/>
                    <p:pic>
                      <p:nvPicPr>
                        <p:cNvPr id="52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2913" y="541010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49"/>
            <p:cNvGraphicFramePr>
              <a:graphicFrameLocks noChangeAspect="1"/>
            </p:cNvGraphicFramePr>
            <p:nvPr/>
          </p:nvGraphicFramePr>
          <p:xfrm>
            <a:off x="2995613" y="5424388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" name="Clip" r:id="rId11" imgW="18192750" imgH="15087600" progId="MS_ClipArt_Gallery.2">
                    <p:embed/>
                  </p:oleObj>
                </mc:Choice>
                <mc:Fallback>
                  <p:oleObj name="Clip" r:id="rId11" imgW="18192750" imgH="15087600" progId="MS_ClipArt_Gallery.2">
                    <p:embed/>
                    <p:pic>
                      <p:nvPicPr>
                        <p:cNvPr id="53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613" y="5424388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Text Box 50"/>
            <p:cNvSpPr txBox="1">
              <a:spLocks noChangeArrowheads="1"/>
            </p:cNvSpPr>
            <p:nvPr/>
          </p:nvSpPr>
          <p:spPr bwMode="auto">
            <a:xfrm>
              <a:off x="4471987" y="5100538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223.1.3.2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Text Box 51"/>
            <p:cNvSpPr txBox="1">
              <a:spLocks noChangeArrowheads="1"/>
            </p:cNvSpPr>
            <p:nvPr/>
          </p:nvSpPr>
          <p:spPr bwMode="auto">
            <a:xfrm>
              <a:off x="2295525" y="5138638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223.1.3.1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3887788" y="4668738"/>
              <a:ext cx="128587" cy="1809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Text Box 53"/>
            <p:cNvSpPr txBox="1">
              <a:spLocks noChangeArrowheads="1"/>
            </p:cNvSpPr>
            <p:nvPr/>
          </p:nvSpPr>
          <p:spPr bwMode="auto">
            <a:xfrm>
              <a:off x="3322638" y="4603651"/>
              <a:ext cx="121229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223.1.3.27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8" name="Group 54"/>
            <p:cNvGrpSpPr/>
            <p:nvPr/>
          </p:nvGrpSpPr>
          <p:grpSpPr bwMode="auto">
            <a:xfrm>
              <a:off x="1890709" y="2933603"/>
              <a:ext cx="434974" cy="430213"/>
              <a:chOff x="2822" y="1181"/>
              <a:chExt cx="274" cy="271"/>
            </a:xfrm>
          </p:grpSpPr>
          <p:sp>
            <p:nvSpPr>
              <p:cNvPr id="59" name="Rectangle 55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Text Box 56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7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1" name="Group 57"/>
            <p:cNvGrpSpPr/>
            <p:nvPr/>
          </p:nvGrpSpPr>
          <p:grpSpPr bwMode="auto">
            <a:xfrm>
              <a:off x="1881189" y="4171853"/>
              <a:ext cx="407987" cy="430213"/>
              <a:chOff x="2822" y="1181"/>
              <a:chExt cx="257" cy="271"/>
            </a:xfrm>
          </p:grpSpPr>
          <p:sp>
            <p:nvSpPr>
              <p:cNvPr id="62" name="Rectangle 58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Text Box 59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5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4" name="Group 60"/>
            <p:cNvGrpSpPr/>
            <p:nvPr/>
          </p:nvGrpSpPr>
          <p:grpSpPr bwMode="auto">
            <a:xfrm>
              <a:off x="5491163" y="4533803"/>
              <a:ext cx="406400" cy="430213"/>
              <a:chOff x="2822" y="1181"/>
              <a:chExt cx="256" cy="271"/>
            </a:xfrm>
          </p:grpSpPr>
          <p:sp>
            <p:nvSpPr>
              <p:cNvPr id="65" name="Rectangle 61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Text Box 62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5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E</a:t>
                </a:r>
                <a:endPara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7" name="Line 64"/>
            <p:cNvSpPr>
              <a:spLocks noChangeShapeType="1"/>
            </p:cNvSpPr>
            <p:nvPr/>
          </p:nvSpPr>
          <p:spPr bwMode="auto">
            <a:xfrm>
              <a:off x="4851400" y="3671788"/>
              <a:ext cx="334963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8" name="Freeform 65"/>
            <p:cNvSpPr/>
            <p:nvPr/>
          </p:nvSpPr>
          <p:spPr bwMode="auto">
            <a:xfrm>
              <a:off x="4664075" y="3544788"/>
              <a:ext cx="361950" cy="180975"/>
            </a:xfrm>
            <a:custGeom>
              <a:avLst/>
              <a:gdLst>
                <a:gd name="T0" fmla="*/ 139700 w 228"/>
                <a:gd name="T1" fmla="*/ 0 h 114"/>
                <a:gd name="T2" fmla="*/ 0 w 228"/>
                <a:gd name="T3" fmla="*/ 180975 h 114"/>
                <a:gd name="T4" fmla="*/ 220663 w 228"/>
                <a:gd name="T5" fmla="*/ 180975 h 114"/>
                <a:gd name="T6" fmla="*/ 361950 w 228"/>
                <a:gd name="T7" fmla="*/ 0 h 114"/>
                <a:gd name="T8" fmla="*/ 139700 w 228"/>
                <a:gd name="T9" fmla="*/ 0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8"/>
                <a:gd name="T16" fmla="*/ 0 h 114"/>
                <a:gd name="T17" fmla="*/ 228 w 228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8" h="114">
                  <a:moveTo>
                    <a:pt x="88" y="0"/>
                  </a:moveTo>
                  <a:lnTo>
                    <a:pt x="0" y="114"/>
                  </a:lnTo>
                  <a:lnTo>
                    <a:pt x="139" y="114"/>
                  </a:lnTo>
                  <a:lnTo>
                    <a:pt x="228" y="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" name="Rectangle 66"/>
            <p:cNvSpPr>
              <a:spLocks noChangeArrowheads="1"/>
            </p:cNvSpPr>
            <p:nvPr/>
          </p:nvSpPr>
          <p:spPr bwMode="auto">
            <a:xfrm>
              <a:off x="4848225" y="2952651"/>
              <a:ext cx="166688" cy="598487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Rectangle 67"/>
            <p:cNvSpPr>
              <a:spLocks noChangeArrowheads="1"/>
            </p:cNvSpPr>
            <p:nvPr/>
          </p:nvSpPr>
          <p:spPr bwMode="auto">
            <a:xfrm>
              <a:off x="4664075" y="3124101"/>
              <a:ext cx="231775" cy="598487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Rectangle 68"/>
            <p:cNvSpPr>
              <a:spLocks noChangeArrowheads="1"/>
            </p:cNvSpPr>
            <p:nvPr/>
          </p:nvSpPr>
          <p:spPr bwMode="auto">
            <a:xfrm>
              <a:off x="4652963" y="3124101"/>
              <a:ext cx="231775" cy="598487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Freeform 69"/>
            <p:cNvSpPr/>
            <p:nvPr/>
          </p:nvSpPr>
          <p:spPr bwMode="auto">
            <a:xfrm>
              <a:off x="4664075" y="2944713"/>
              <a:ext cx="361950" cy="182563"/>
            </a:xfrm>
            <a:custGeom>
              <a:avLst/>
              <a:gdLst>
                <a:gd name="T0" fmla="*/ 139700 w 228"/>
                <a:gd name="T1" fmla="*/ 0 h 115"/>
                <a:gd name="T2" fmla="*/ 0 w 228"/>
                <a:gd name="T3" fmla="*/ 182563 h 115"/>
                <a:gd name="T4" fmla="*/ 220663 w 228"/>
                <a:gd name="T5" fmla="*/ 182563 h 115"/>
                <a:gd name="T6" fmla="*/ 361950 w 228"/>
                <a:gd name="T7" fmla="*/ 0 h 115"/>
                <a:gd name="T8" fmla="*/ 139700 w 228"/>
                <a:gd name="T9" fmla="*/ 0 h 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8"/>
                <a:gd name="T16" fmla="*/ 0 h 115"/>
                <a:gd name="T17" fmla="*/ 228 w 228"/>
                <a:gd name="T18" fmla="*/ 115 h 1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8" h="115">
                  <a:moveTo>
                    <a:pt x="88" y="0"/>
                  </a:moveTo>
                  <a:lnTo>
                    <a:pt x="0" y="115"/>
                  </a:lnTo>
                  <a:lnTo>
                    <a:pt x="139" y="115"/>
                  </a:lnTo>
                  <a:lnTo>
                    <a:pt x="228" y="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Freeform 70"/>
            <p:cNvSpPr/>
            <p:nvPr/>
          </p:nvSpPr>
          <p:spPr bwMode="auto">
            <a:xfrm>
              <a:off x="4664075" y="2944713"/>
              <a:ext cx="361950" cy="182563"/>
            </a:xfrm>
            <a:custGeom>
              <a:avLst/>
              <a:gdLst>
                <a:gd name="T0" fmla="*/ 139700 w 228"/>
                <a:gd name="T1" fmla="*/ 0 h 115"/>
                <a:gd name="T2" fmla="*/ 0 w 228"/>
                <a:gd name="T3" fmla="*/ 182563 h 115"/>
                <a:gd name="T4" fmla="*/ 220663 w 228"/>
                <a:gd name="T5" fmla="*/ 182563 h 115"/>
                <a:gd name="T6" fmla="*/ 361950 w 228"/>
                <a:gd name="T7" fmla="*/ 0 h 115"/>
                <a:gd name="T8" fmla="*/ 139700 w 228"/>
                <a:gd name="T9" fmla="*/ 0 h 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8"/>
                <a:gd name="T16" fmla="*/ 0 h 115"/>
                <a:gd name="T17" fmla="*/ 228 w 228"/>
                <a:gd name="T18" fmla="*/ 115 h 1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8" h="115">
                  <a:moveTo>
                    <a:pt x="88" y="0"/>
                  </a:moveTo>
                  <a:lnTo>
                    <a:pt x="0" y="115"/>
                  </a:lnTo>
                  <a:lnTo>
                    <a:pt x="139" y="115"/>
                  </a:lnTo>
                  <a:lnTo>
                    <a:pt x="228" y="0"/>
                  </a:lnTo>
                  <a:lnTo>
                    <a:pt x="88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>
              <a:off x="5026025" y="2959001"/>
              <a:ext cx="1588" cy="5857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 flipH="1">
              <a:off x="4895850" y="3544788"/>
              <a:ext cx="130175" cy="17780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Rectangle 73"/>
            <p:cNvSpPr>
              <a:spLocks noChangeArrowheads="1"/>
            </p:cNvSpPr>
            <p:nvPr/>
          </p:nvSpPr>
          <p:spPr bwMode="auto">
            <a:xfrm>
              <a:off x="4694238" y="3201888"/>
              <a:ext cx="153987" cy="342900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Rectangle 74"/>
            <p:cNvSpPr>
              <a:spLocks noChangeArrowheads="1"/>
            </p:cNvSpPr>
            <p:nvPr/>
          </p:nvSpPr>
          <p:spPr bwMode="auto">
            <a:xfrm>
              <a:off x="4694238" y="3201888"/>
              <a:ext cx="153987" cy="342900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Rectangle 75"/>
            <p:cNvSpPr>
              <a:spLocks noChangeArrowheads="1"/>
            </p:cNvSpPr>
            <p:nvPr/>
          </p:nvSpPr>
          <p:spPr bwMode="auto">
            <a:xfrm>
              <a:off x="4714875" y="3305076"/>
              <a:ext cx="115888" cy="1238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Rectangle 76"/>
            <p:cNvSpPr>
              <a:spLocks noChangeArrowheads="1"/>
            </p:cNvSpPr>
            <p:nvPr/>
          </p:nvSpPr>
          <p:spPr bwMode="auto">
            <a:xfrm>
              <a:off x="3952875" y="2957413"/>
              <a:ext cx="71395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DHCP </a:t>
              </a:r>
              <a:endPara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Rectangle 77"/>
            <p:cNvSpPr>
              <a:spLocks noChangeArrowheads="1"/>
            </p:cNvSpPr>
            <p:nvPr/>
          </p:nvSpPr>
          <p:spPr bwMode="auto">
            <a:xfrm>
              <a:off x="4664075" y="2957413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3952875" y="3222526"/>
              <a:ext cx="64120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server</a:t>
              </a:r>
              <a:endPara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4584699" y="3222526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4541838" y="4781451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5" name="Group 91"/>
            <p:cNvGrpSpPr/>
            <p:nvPr/>
          </p:nvGrpSpPr>
          <p:grpSpPr bwMode="auto">
            <a:xfrm>
              <a:off x="6269038" y="3762276"/>
              <a:ext cx="676275" cy="674687"/>
              <a:chOff x="2870" y="1518"/>
              <a:chExt cx="292" cy="320"/>
            </a:xfrm>
          </p:grpSpPr>
          <p:graphicFrame>
            <p:nvGraphicFramePr>
              <p:cNvPr id="86" name="Object 9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3" name="Clip" r:id="rId12" imgW="11601450" imgH="11791950" progId="MS_ClipArt_Gallery.2">
                      <p:embed/>
                    </p:oleObj>
                  </mc:Choice>
                  <mc:Fallback>
                    <p:oleObj name="Clip" r:id="rId12" imgW="11601450" imgH="11791950" progId="MS_ClipArt_Gallery.2">
                      <p:embed/>
                      <p:pic>
                        <p:nvPicPr>
                          <p:cNvPr id="86" name="Object 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" name="Object 9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4" name="Clip" r:id="rId14" imgW="17716500" imgH="16754475" progId="MS_ClipArt_Gallery.2">
                      <p:embed/>
                    </p:oleObj>
                  </mc:Choice>
                  <mc:Fallback>
                    <p:oleObj name="Clip" r:id="rId14" imgW="17716500" imgH="16754475" progId="MS_ClipArt_Gallery.2">
                      <p:embed/>
                      <p:pic>
                        <p:nvPicPr>
                          <p:cNvPr id="87" name="Object 9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8" name="Rectangle 94"/>
            <p:cNvSpPr>
              <a:spLocks noChangeArrowheads="1"/>
            </p:cNvSpPr>
            <p:nvPr/>
          </p:nvSpPr>
          <p:spPr bwMode="auto">
            <a:xfrm>
              <a:off x="6457950" y="4433788"/>
              <a:ext cx="2675466" cy="830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arriving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DHCP client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needs address in this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network</a:t>
              </a:r>
              <a:endPara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" name="Freeform 95"/>
            <p:cNvSpPr>
              <a:spLocks noEditPoints="1"/>
            </p:cNvSpPr>
            <p:nvPr/>
          </p:nvSpPr>
          <p:spPr bwMode="auto">
            <a:xfrm>
              <a:off x="5629275" y="4022626"/>
              <a:ext cx="706438" cy="171450"/>
            </a:xfrm>
            <a:custGeom>
              <a:avLst/>
              <a:gdLst>
                <a:gd name="T0" fmla="*/ 696913 w 445"/>
                <a:gd name="T1" fmla="*/ 100012 h 108"/>
                <a:gd name="T2" fmla="*/ 139700 w 445"/>
                <a:gd name="T3" fmla="*/ 100012 h 108"/>
                <a:gd name="T4" fmla="*/ 136525 w 445"/>
                <a:gd name="T5" fmla="*/ 95250 h 108"/>
                <a:gd name="T6" fmla="*/ 133350 w 445"/>
                <a:gd name="T7" fmla="*/ 95250 h 108"/>
                <a:gd name="T8" fmla="*/ 130175 w 445"/>
                <a:gd name="T9" fmla="*/ 92075 h 108"/>
                <a:gd name="T10" fmla="*/ 130175 w 445"/>
                <a:gd name="T11" fmla="*/ 85725 h 108"/>
                <a:gd name="T12" fmla="*/ 130175 w 445"/>
                <a:gd name="T13" fmla="*/ 82550 h 108"/>
                <a:gd name="T14" fmla="*/ 133350 w 445"/>
                <a:gd name="T15" fmla="*/ 79375 h 108"/>
                <a:gd name="T16" fmla="*/ 136525 w 445"/>
                <a:gd name="T17" fmla="*/ 79375 h 108"/>
                <a:gd name="T18" fmla="*/ 139700 w 445"/>
                <a:gd name="T19" fmla="*/ 76200 h 108"/>
                <a:gd name="T20" fmla="*/ 696913 w 445"/>
                <a:gd name="T21" fmla="*/ 76200 h 108"/>
                <a:gd name="T22" fmla="*/ 700088 w 445"/>
                <a:gd name="T23" fmla="*/ 79375 h 108"/>
                <a:gd name="T24" fmla="*/ 703263 w 445"/>
                <a:gd name="T25" fmla="*/ 79375 h 108"/>
                <a:gd name="T26" fmla="*/ 706438 w 445"/>
                <a:gd name="T27" fmla="*/ 82550 h 108"/>
                <a:gd name="T28" fmla="*/ 706438 w 445"/>
                <a:gd name="T29" fmla="*/ 85725 h 108"/>
                <a:gd name="T30" fmla="*/ 706438 w 445"/>
                <a:gd name="T31" fmla="*/ 92075 h 108"/>
                <a:gd name="T32" fmla="*/ 703263 w 445"/>
                <a:gd name="T33" fmla="*/ 95250 h 108"/>
                <a:gd name="T34" fmla="*/ 700088 w 445"/>
                <a:gd name="T35" fmla="*/ 95250 h 108"/>
                <a:gd name="T36" fmla="*/ 696913 w 445"/>
                <a:gd name="T37" fmla="*/ 100012 h 108"/>
                <a:gd name="T38" fmla="*/ 696913 w 445"/>
                <a:gd name="T39" fmla="*/ 100012 h 108"/>
                <a:gd name="T40" fmla="*/ 169863 w 445"/>
                <a:gd name="T41" fmla="*/ 171450 h 108"/>
                <a:gd name="T42" fmla="*/ 0 w 445"/>
                <a:gd name="T43" fmla="*/ 85725 h 108"/>
                <a:gd name="T44" fmla="*/ 169863 w 445"/>
                <a:gd name="T45" fmla="*/ 0 h 108"/>
                <a:gd name="T46" fmla="*/ 169863 w 445"/>
                <a:gd name="T47" fmla="*/ 171450 h 10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45"/>
                <a:gd name="T73" fmla="*/ 0 h 108"/>
                <a:gd name="T74" fmla="*/ 445 w 445"/>
                <a:gd name="T75" fmla="*/ 108 h 10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45" h="108">
                  <a:moveTo>
                    <a:pt x="439" y="63"/>
                  </a:moveTo>
                  <a:lnTo>
                    <a:pt x="88" y="63"/>
                  </a:lnTo>
                  <a:lnTo>
                    <a:pt x="86" y="60"/>
                  </a:lnTo>
                  <a:lnTo>
                    <a:pt x="84" y="60"/>
                  </a:lnTo>
                  <a:lnTo>
                    <a:pt x="82" y="58"/>
                  </a:lnTo>
                  <a:lnTo>
                    <a:pt x="82" y="54"/>
                  </a:lnTo>
                  <a:lnTo>
                    <a:pt x="82" y="52"/>
                  </a:lnTo>
                  <a:lnTo>
                    <a:pt x="84" y="50"/>
                  </a:lnTo>
                  <a:lnTo>
                    <a:pt x="86" y="50"/>
                  </a:lnTo>
                  <a:lnTo>
                    <a:pt x="88" y="48"/>
                  </a:lnTo>
                  <a:lnTo>
                    <a:pt x="439" y="48"/>
                  </a:lnTo>
                  <a:lnTo>
                    <a:pt x="441" y="50"/>
                  </a:lnTo>
                  <a:lnTo>
                    <a:pt x="443" y="50"/>
                  </a:lnTo>
                  <a:lnTo>
                    <a:pt x="445" y="52"/>
                  </a:lnTo>
                  <a:lnTo>
                    <a:pt x="445" y="54"/>
                  </a:lnTo>
                  <a:lnTo>
                    <a:pt x="445" y="58"/>
                  </a:lnTo>
                  <a:lnTo>
                    <a:pt x="443" y="60"/>
                  </a:lnTo>
                  <a:lnTo>
                    <a:pt x="441" y="60"/>
                  </a:lnTo>
                  <a:lnTo>
                    <a:pt x="439" y="63"/>
                  </a:lnTo>
                  <a:close/>
                  <a:moveTo>
                    <a:pt x="107" y="108"/>
                  </a:moveTo>
                  <a:lnTo>
                    <a:pt x="0" y="54"/>
                  </a:lnTo>
                  <a:lnTo>
                    <a:pt x="107" y="0"/>
                  </a:lnTo>
                  <a:lnTo>
                    <a:pt x="107" y="108"/>
                  </a:lnTo>
                  <a:close/>
                </a:path>
              </a:pathLst>
            </a:custGeom>
            <a:solidFill>
              <a:srgbClr val="FF0000"/>
            </a:solidFill>
            <a:ln w="3175">
              <a:solidFill>
                <a:srgbClr val="FF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90" name="灯片编号占位符 2">
            <a:extLst>
              <a:ext uri="{FF2B5EF4-FFF2-40B4-BE49-F238E27FC236}">
                <a16:creationId xmlns:a16="http://schemas.microsoft.com/office/drawing/2014/main" id="{28ECCBD4-4D0F-4402-B062-878BD15D689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</a:t>
            </a:r>
            <a:fld id="{5A4F2AFE-40E9-47D7-93C1-1557BE766B14}" type="slidenum"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AutoShape 5">
            <a:extLst>
              <a:ext uri="{FF2B5EF4-FFF2-40B4-BE49-F238E27FC236}">
                <a16:creationId xmlns:a16="http://schemas.microsoft.com/office/drawing/2014/main" id="{913D8701-1582-4EFF-8617-28FC468BE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4.3.3 IPv4</a:t>
            </a:r>
            <a:r>
              <a:rPr lang="zh-CN" altLang="en-US" dirty="0">
                <a:effectLst/>
              </a:rPr>
              <a:t>网络编址</a:t>
            </a:r>
            <a:endParaRPr lang="en-US" altLang="zh-CN" dirty="0">
              <a:effectLst/>
            </a:endParaRPr>
          </a:p>
          <a:p>
            <a:r>
              <a:rPr lang="en-US" altLang="zh-CN" sz="1800" dirty="0">
                <a:solidFill>
                  <a:srgbClr val="C00000"/>
                </a:solidFill>
                <a:effectLst/>
              </a:rPr>
              <a:t>DHCP</a:t>
            </a:r>
            <a:r>
              <a:rPr lang="en-US" altLang="zh-CN" sz="1800" dirty="0">
                <a:effectLst/>
              </a:rPr>
              <a:t>: </a:t>
            </a:r>
            <a:r>
              <a:rPr lang="zh-CN" altLang="en-US" sz="1800" dirty="0">
                <a:effectLst/>
              </a:rPr>
              <a:t>动态主机配置协议</a:t>
            </a:r>
            <a:endParaRPr lang="en-US" altLang="zh-CN" sz="1800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工作流程</a:t>
            </a:r>
            <a:endParaRPr lang="en-US" altLang="zh-CN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152157" y="1437624"/>
            <a:ext cx="4308275" cy="3472227"/>
            <a:chOff x="2719253" y="1436018"/>
            <a:chExt cx="6209015" cy="5127979"/>
          </a:xfrm>
        </p:grpSpPr>
        <p:grpSp>
          <p:nvGrpSpPr>
            <p:cNvPr id="90" name="Group 4"/>
            <p:cNvGrpSpPr/>
            <p:nvPr/>
          </p:nvGrpSpPr>
          <p:grpSpPr bwMode="auto">
            <a:xfrm>
              <a:off x="8212063" y="1839243"/>
              <a:ext cx="460375" cy="492125"/>
              <a:chOff x="2870" y="1518"/>
              <a:chExt cx="292" cy="320"/>
            </a:xfrm>
          </p:grpSpPr>
          <p:graphicFrame>
            <p:nvGraphicFramePr>
              <p:cNvPr id="91" name="Object 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0" r:id="rId4" imgW="11601450" imgH="11791950" progId="">
                      <p:embed/>
                    </p:oleObj>
                  </mc:Choice>
                  <mc:Fallback>
                    <p:oleObj r:id="rId4" imgW="11601450" imgH="11791950" progId="">
                      <p:embed/>
                      <p:pic>
                        <p:nvPicPr>
                          <p:cNvPr id="91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" name="Object 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1" r:id="rId6" imgW="17716500" imgH="16754475" progId="">
                      <p:embed/>
                    </p:oleObj>
                  </mc:Choice>
                  <mc:Fallback>
                    <p:oleObj r:id="rId6" imgW="17716500" imgH="16754475" progId="">
                      <p:embed/>
                      <p:pic>
                        <p:nvPicPr>
                          <p:cNvPr id="9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3" name="Text Box 7"/>
            <p:cNvSpPr txBox="1">
              <a:spLocks noChangeArrowheads="1"/>
            </p:cNvSpPr>
            <p:nvPr/>
          </p:nvSpPr>
          <p:spPr bwMode="auto">
            <a:xfrm>
              <a:off x="2719253" y="1436018"/>
              <a:ext cx="2257549" cy="374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DHCP server: 223.1.2.5</a:t>
              </a:r>
            </a:p>
          </p:txBody>
        </p:sp>
        <p:sp>
          <p:nvSpPr>
            <p:cNvPr id="94" name="Text Box 8"/>
            <p:cNvSpPr txBox="1">
              <a:spLocks noChangeArrowheads="1"/>
            </p:cNvSpPr>
            <p:nvPr/>
          </p:nvSpPr>
          <p:spPr bwMode="auto">
            <a:xfrm>
              <a:off x="7361406" y="1436018"/>
              <a:ext cx="1566862" cy="374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Arriving client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Line 9"/>
            <p:cNvSpPr>
              <a:spLocks noChangeShapeType="1"/>
            </p:cNvSpPr>
            <p:nvPr/>
          </p:nvSpPr>
          <p:spPr bwMode="auto">
            <a:xfrm flipH="1">
              <a:off x="3835325" y="2307556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Line 10"/>
            <p:cNvSpPr>
              <a:spLocks noChangeShapeType="1"/>
            </p:cNvSpPr>
            <p:nvPr/>
          </p:nvSpPr>
          <p:spPr bwMode="auto">
            <a:xfrm>
              <a:off x="3801988" y="2263106"/>
              <a:ext cx="0" cy="376078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7" name="Line 11"/>
            <p:cNvSpPr>
              <a:spLocks noChangeShapeType="1"/>
            </p:cNvSpPr>
            <p:nvPr/>
          </p:nvSpPr>
          <p:spPr bwMode="auto">
            <a:xfrm>
              <a:off x="8327950" y="2339306"/>
              <a:ext cx="0" cy="376237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8" name="Line 12"/>
            <p:cNvSpPr>
              <a:spLocks noChangeShapeType="1"/>
            </p:cNvSpPr>
            <p:nvPr/>
          </p:nvSpPr>
          <p:spPr bwMode="auto">
            <a:xfrm>
              <a:off x="3382888" y="3031456"/>
              <a:ext cx="0" cy="1906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9" name="Text Box 13"/>
            <p:cNvSpPr txBox="1">
              <a:spLocks noChangeArrowheads="1"/>
            </p:cNvSpPr>
            <p:nvPr/>
          </p:nvSpPr>
          <p:spPr bwMode="auto">
            <a:xfrm>
              <a:off x="3124125" y="4906293"/>
              <a:ext cx="560388" cy="393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8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time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0" name="Group 14"/>
            <p:cNvGrpSpPr/>
            <p:nvPr/>
          </p:nvGrpSpPr>
          <p:grpSpPr bwMode="auto">
            <a:xfrm>
              <a:off x="3740075" y="1829718"/>
              <a:ext cx="182563" cy="400050"/>
              <a:chOff x="4180" y="783"/>
              <a:chExt cx="150" cy="307"/>
            </a:xfrm>
          </p:grpSpPr>
          <p:sp>
            <p:nvSpPr>
              <p:cNvPr id="101" name="AutoShape 15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" name="Rectangle 16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" name="Rectangle 17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" name="AutoShape 18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" name="Line 19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" name="Line 20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" name="Rectangle 21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8" name="Rectangle 22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9" name="Group 23"/>
            <p:cNvGrpSpPr/>
            <p:nvPr/>
          </p:nvGrpSpPr>
          <p:grpSpPr bwMode="auto">
            <a:xfrm>
              <a:off x="5364088" y="1442369"/>
              <a:ext cx="2673350" cy="1258615"/>
              <a:chOff x="11865" y="3885"/>
              <a:chExt cx="3720" cy="1421"/>
            </a:xfrm>
          </p:grpSpPr>
          <p:sp>
            <p:nvSpPr>
              <p:cNvPr id="110" name="Text Box 24"/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25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DHCP discover</a:t>
                </a:r>
              </a:p>
            </p:txBody>
          </p:sp>
          <p:sp>
            <p:nvSpPr>
              <p:cNvPr id="111" name="Text Box 25"/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10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25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src</a:t>
                </a:r>
                <a:r>
                  <a:rPr kumimoji="0" lang="en-US" altLang="zh-CN" sz="82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 : 0.0.0.0, 68     </a:t>
                </a:r>
              </a:p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25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dest</a:t>
                </a:r>
                <a:r>
                  <a:rPr kumimoji="0" lang="en-US" altLang="zh-CN" sz="82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.: </a:t>
                </a:r>
                <a:r>
                  <a:rPr kumimoji="0" lang="en-US" altLang="zh-CN" sz="825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255.255.255.255</a:t>
                </a:r>
                <a:r>
                  <a:rPr kumimoji="0" lang="en-US" altLang="zh-CN" sz="82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,67</a:t>
                </a:r>
              </a:p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25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yiaddr</a:t>
                </a:r>
                <a:r>
                  <a:rPr kumimoji="0" lang="en-US" altLang="zh-CN" sz="82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:    0.0.0.0</a:t>
                </a:r>
              </a:p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2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宋体" panose="02010600030101010101" pitchFamily="2" charset="-122"/>
                    <a:cs typeface="+mn-cs"/>
                  </a:rPr>
                  <a:t>transaction ID: 654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12" name="Line 26"/>
            <p:cNvSpPr>
              <a:spLocks noChangeShapeType="1"/>
            </p:cNvSpPr>
            <p:nvPr/>
          </p:nvSpPr>
          <p:spPr bwMode="auto">
            <a:xfrm>
              <a:off x="3878188" y="3293393"/>
              <a:ext cx="4395787" cy="538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Text Box 27"/>
            <p:cNvSpPr txBox="1">
              <a:spLocks noChangeArrowheads="1"/>
            </p:cNvSpPr>
            <p:nvPr/>
          </p:nvSpPr>
          <p:spPr bwMode="auto">
            <a:xfrm>
              <a:off x="5138664" y="2779856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DHCP offer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Text Box 28"/>
            <p:cNvSpPr txBox="1">
              <a:spLocks noChangeArrowheads="1"/>
            </p:cNvSpPr>
            <p:nvPr/>
          </p:nvSpPr>
          <p:spPr bwMode="auto">
            <a:xfrm>
              <a:off x="5437187" y="3042921"/>
              <a:ext cx="2424112" cy="10788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src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: 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223.1.2.5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, 67      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dest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:  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255.255.255.255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, 68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yiaddrr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: 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223.1.2.4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transaction ID: 654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Lifetime: 3600 </a:t>
              </a:r>
              <a:r>
                <a:rPr kumimoji="0" lang="en-US" altLang="zh-CN" sz="825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secs</a:t>
              </a:r>
              <a:endParaRPr kumimoji="0" lang="en-US" altLang="zh-CN" sz="5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Line 29"/>
            <p:cNvSpPr>
              <a:spLocks noChangeShapeType="1"/>
            </p:cNvSpPr>
            <p:nvPr/>
          </p:nvSpPr>
          <p:spPr bwMode="auto">
            <a:xfrm flipH="1">
              <a:off x="3770238" y="4522118"/>
              <a:ext cx="4395787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Text Box 30"/>
            <p:cNvSpPr txBox="1">
              <a:spLocks noChangeArrowheads="1"/>
            </p:cNvSpPr>
            <p:nvPr/>
          </p:nvSpPr>
          <p:spPr bwMode="auto">
            <a:xfrm>
              <a:off x="4007175" y="3924479"/>
              <a:ext cx="1379537" cy="3286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DHCP request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7" name="Text Box 31"/>
            <p:cNvSpPr txBox="1">
              <a:spLocks noChangeArrowheads="1"/>
            </p:cNvSpPr>
            <p:nvPr/>
          </p:nvSpPr>
          <p:spPr bwMode="auto">
            <a:xfrm>
              <a:off x="4104806" y="4198255"/>
              <a:ext cx="2757487" cy="1037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src:  0.0.0.0, 68     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dest::  255.255.255.255, 67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yiaddrr: </a:t>
              </a:r>
              <a:r>
                <a:rPr kumimoji="0" lang="en-US" altLang="zh-CN" sz="825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223.1.2.4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transaction ID: 655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Lifetime: 3600 secs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32"/>
            <p:cNvSpPr>
              <a:spLocks noChangeShapeType="1"/>
            </p:cNvSpPr>
            <p:nvPr/>
          </p:nvSpPr>
          <p:spPr bwMode="auto">
            <a:xfrm>
              <a:off x="3855963" y="5552406"/>
              <a:ext cx="4395787" cy="5381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Text Box 33"/>
            <p:cNvSpPr txBox="1">
              <a:spLocks noChangeArrowheads="1"/>
            </p:cNvSpPr>
            <p:nvPr/>
          </p:nvSpPr>
          <p:spPr bwMode="auto">
            <a:xfrm>
              <a:off x="5461997" y="5255380"/>
              <a:ext cx="1379537" cy="3286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DHCP ACK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Text Box 34"/>
            <p:cNvSpPr txBox="1">
              <a:spLocks noChangeArrowheads="1"/>
            </p:cNvSpPr>
            <p:nvPr/>
          </p:nvSpPr>
          <p:spPr bwMode="auto">
            <a:xfrm>
              <a:off x="5538198" y="5526726"/>
              <a:ext cx="2412999" cy="1037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src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: 223.1.2.5, 67      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dest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:  255.255.255.255, 68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yiaddrr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: </a:t>
              </a: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223.1.2.4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transaction ID: 655</a:t>
              </a:r>
            </a:p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2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宋体" panose="02010600030101010101" pitchFamily="2" charset="-122"/>
                  <a:cs typeface="+mn-cs"/>
                </a:rPr>
                <a:t>Lifetime: 3600 secs</a:t>
              </a:r>
              <a:endPara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1807554" y="4394682"/>
            <a:ext cx="2438488" cy="300082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255.255.255.255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是广播地址 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灯片编号占位符 2">
            <a:extLst>
              <a:ext uri="{FF2B5EF4-FFF2-40B4-BE49-F238E27FC236}">
                <a16:creationId xmlns:a16="http://schemas.microsoft.com/office/drawing/2014/main" id="{5556EEF5-90BE-46A4-BCA1-59BAAA38AF1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</a:t>
            </a:r>
            <a:fld id="{5A4F2AFE-40E9-47D7-93C1-1557BE766B14}" type="slidenum"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CA8DCDF8-F50E-4555-B9E0-A4AA33DB3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4.3.3 IPv4</a:t>
            </a:r>
            <a:r>
              <a:rPr lang="zh-CN" altLang="en-US" dirty="0">
                <a:effectLst/>
              </a:rPr>
              <a:t>网络编址</a:t>
            </a:r>
            <a:endParaRPr lang="en-US" altLang="zh-CN" dirty="0">
              <a:effectLst/>
            </a:endParaRPr>
          </a:p>
          <a:p>
            <a:r>
              <a:rPr lang="en-US" altLang="zh-CN" sz="1800" dirty="0">
                <a:solidFill>
                  <a:srgbClr val="C00000"/>
                </a:solidFill>
                <a:effectLst/>
              </a:rPr>
              <a:t>DHCP</a:t>
            </a:r>
            <a:r>
              <a:rPr lang="en-US" altLang="zh-CN" sz="1800" dirty="0">
                <a:effectLst/>
              </a:rPr>
              <a:t>: </a:t>
            </a:r>
            <a:r>
              <a:rPr lang="zh-CN" altLang="en-US" sz="1800" dirty="0">
                <a:effectLst/>
              </a:rPr>
              <a:t>动态主机配置协议</a:t>
            </a:r>
            <a:endParaRPr lang="en-US" altLang="zh-CN" sz="1800" dirty="0">
              <a:effectLst/>
            </a:endParaRPr>
          </a:p>
          <a:p>
            <a:pPr lvl="1"/>
            <a:r>
              <a:rPr lang="en-US" altLang="zh-CN" dirty="0">
                <a:effectLst/>
              </a:rPr>
              <a:t>DHCP</a:t>
            </a:r>
            <a:r>
              <a:rPr lang="zh-CN" altLang="en-US" dirty="0">
                <a:effectLst/>
              </a:rPr>
              <a:t>协议不仅仅配置</a:t>
            </a:r>
            <a:r>
              <a:rPr lang="en-US" altLang="zh-CN" dirty="0">
                <a:effectLst/>
              </a:rPr>
              <a:t>IP</a:t>
            </a:r>
            <a:r>
              <a:rPr lang="zh-CN" altLang="en-US" dirty="0">
                <a:effectLst/>
              </a:rPr>
              <a:t>地址，还有其他重要的联网参数：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网关地址</a:t>
            </a:r>
            <a:r>
              <a:rPr lang="en-US" altLang="zh-CN" dirty="0"/>
              <a:t>(</a:t>
            </a:r>
            <a:r>
              <a:rPr lang="zh-CN" altLang="en-US" dirty="0"/>
              <a:t>邻接路由器网络接口的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DNS</a:t>
            </a:r>
            <a:r>
              <a:rPr lang="zh-CN" altLang="en-US" dirty="0"/>
              <a:t>服务器</a:t>
            </a:r>
            <a:endParaRPr lang="en-US" altLang="zh-CN" dirty="0"/>
          </a:p>
          <a:p>
            <a:pPr lvl="2"/>
            <a:r>
              <a:rPr lang="zh-CN" altLang="en-US" dirty="0"/>
              <a:t>子网掩码</a:t>
            </a:r>
            <a:endParaRPr lang="en-US" altLang="zh-CN" dirty="0"/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1982B915-5D4E-4657-BC12-C35A8528853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</a:t>
            </a:r>
            <a:fld id="{5A4F2AFE-40E9-47D7-93C1-1557BE766B14}" type="slidenum"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4A5D7D0D-4997-49F3-A217-223B58FAD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4.3.3 IPv4</a:t>
            </a:r>
            <a:r>
              <a:rPr lang="zh-CN" altLang="en-US" dirty="0">
                <a:effectLst/>
              </a:rPr>
              <a:t>网络编址</a:t>
            </a:r>
            <a:endParaRPr lang="en-US" altLang="zh-CN" dirty="0">
              <a:effectLst/>
            </a:endParaRPr>
          </a:p>
          <a:p>
            <a:r>
              <a:rPr lang="en-US" altLang="zh-CN" sz="1800" dirty="0">
                <a:solidFill>
                  <a:srgbClr val="C00000"/>
                </a:solidFill>
                <a:effectLst/>
              </a:rPr>
              <a:t>DHCP</a:t>
            </a:r>
            <a:r>
              <a:rPr lang="en-US" altLang="zh-CN" sz="1800" dirty="0">
                <a:effectLst/>
              </a:rPr>
              <a:t>: </a:t>
            </a:r>
            <a:r>
              <a:rPr lang="zh-CN" altLang="en-US" sz="1800" dirty="0">
                <a:effectLst/>
              </a:rPr>
              <a:t>动态主机配置协议</a:t>
            </a:r>
            <a:endParaRPr lang="en-US" altLang="zh-CN" sz="1800" dirty="0">
              <a:effectLst/>
            </a:endParaRPr>
          </a:p>
          <a:p>
            <a:pPr lvl="1"/>
            <a:r>
              <a:rPr lang="en-US" altLang="zh-CN" dirty="0">
                <a:effectLst/>
              </a:rPr>
              <a:t>DHCP</a:t>
            </a:r>
            <a:r>
              <a:rPr lang="zh-CN" altLang="en-US" dirty="0">
                <a:effectLst/>
              </a:rPr>
              <a:t>工作的协议栈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工作在应用层</a:t>
            </a:r>
            <a:endParaRPr lang="en-US" altLang="zh-CN" dirty="0"/>
          </a:p>
          <a:p>
            <a:pPr lvl="3"/>
            <a:r>
              <a:rPr lang="en-US" altLang="zh-CN" dirty="0"/>
              <a:t>port</a:t>
            </a:r>
            <a:r>
              <a:rPr lang="zh-CN" altLang="en-US" dirty="0"/>
              <a:t>：</a:t>
            </a:r>
            <a:r>
              <a:rPr lang="en-US" altLang="zh-CN" dirty="0"/>
              <a:t>67</a:t>
            </a:r>
            <a:r>
              <a:rPr lang="zh-CN" altLang="en-US" dirty="0"/>
              <a:t>、</a:t>
            </a:r>
            <a:r>
              <a:rPr lang="en-US" altLang="zh-CN" dirty="0"/>
              <a:t>68</a:t>
            </a:r>
          </a:p>
          <a:p>
            <a:pPr lvl="2"/>
            <a:r>
              <a:rPr lang="zh-CN" altLang="en-US" dirty="0">
                <a:effectLst/>
              </a:rPr>
              <a:t>传输层：</a:t>
            </a:r>
            <a:r>
              <a:rPr lang="en-US" altLang="zh-CN" dirty="0">
                <a:effectLst/>
              </a:rPr>
              <a:t>UDP</a:t>
            </a:r>
          </a:p>
        </p:txBody>
      </p:sp>
      <p:sp>
        <p:nvSpPr>
          <p:cNvPr id="8" name="Freeform 3"/>
          <p:cNvSpPr/>
          <p:nvPr/>
        </p:nvSpPr>
        <p:spPr bwMode="auto">
          <a:xfrm>
            <a:off x="4992291" y="1815666"/>
            <a:ext cx="2665809" cy="2065735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Line 36"/>
          <p:cNvSpPr>
            <a:spLocks noChangeShapeType="1"/>
          </p:cNvSpPr>
          <p:nvPr/>
        </p:nvSpPr>
        <p:spPr bwMode="auto">
          <a:xfrm flipV="1">
            <a:off x="7243763" y="2619339"/>
            <a:ext cx="116681" cy="107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6411516" y="2749116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Line 44"/>
          <p:cNvSpPr>
            <a:spLocks noChangeShapeType="1"/>
          </p:cNvSpPr>
          <p:nvPr/>
        </p:nvSpPr>
        <p:spPr bwMode="auto">
          <a:xfrm flipV="1">
            <a:off x="7355682" y="2512183"/>
            <a:ext cx="103585" cy="107156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V="1">
            <a:off x="6872288" y="2913423"/>
            <a:ext cx="384572" cy="459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334125" y="3719476"/>
            <a:ext cx="1572866" cy="71558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+mn-cs"/>
              </a:rPr>
              <a:t>router with DHCP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+mn-cs"/>
              </a:rPr>
              <a:t>server built into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+mn-cs"/>
              </a:rPr>
              <a:t>router</a:t>
            </a:r>
          </a:p>
        </p:txBody>
      </p:sp>
      <p:sp>
        <p:nvSpPr>
          <p:cNvPr id="14" name="Text Box 155"/>
          <p:cNvSpPr txBox="1">
            <a:spLocks noChangeArrowheads="1"/>
          </p:cNvSpPr>
          <p:nvPr/>
        </p:nvSpPr>
        <p:spPr bwMode="auto">
          <a:xfrm>
            <a:off x="6908006" y="3207507"/>
            <a:ext cx="785813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168.1.1.1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15" name="Group 186"/>
          <p:cNvGrpSpPr/>
          <p:nvPr/>
        </p:nvGrpSpPr>
        <p:grpSpPr bwMode="auto">
          <a:xfrm>
            <a:off x="6767513" y="2693157"/>
            <a:ext cx="722710" cy="225028"/>
            <a:chOff x="4410" y="1365"/>
            <a:chExt cx="663" cy="224"/>
          </a:xfrm>
        </p:grpSpPr>
        <p:sp>
          <p:nvSpPr>
            <p:cNvPr id="16" name="Rectangle 187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AutoShape 188"/>
            <p:cNvSpPr>
              <a:spLocks noChangeArrowheads="1"/>
            </p:cNvSpPr>
            <p:nvPr/>
          </p:nvSpPr>
          <p:spPr bwMode="auto">
            <a:xfrm>
              <a:off x="4410" y="1369"/>
              <a:ext cx="663" cy="134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8" name="Freeform 189"/>
            <p:cNvSpPr/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Freeform 190"/>
            <p:cNvSpPr/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210 h 63"/>
                <a:gd name="T2" fmla="*/ 716 w 280"/>
                <a:gd name="T3" fmla="*/ 204 h 63"/>
                <a:gd name="T4" fmla="*/ 4225 w 280"/>
                <a:gd name="T5" fmla="*/ 0 h 63"/>
                <a:gd name="T6" fmla="*/ 5394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Freeform 191"/>
            <p:cNvSpPr/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1" name="Group 192"/>
          <p:cNvGrpSpPr/>
          <p:nvPr/>
        </p:nvGrpSpPr>
        <p:grpSpPr bwMode="auto">
          <a:xfrm>
            <a:off x="6418660" y="3388482"/>
            <a:ext cx="800100" cy="304800"/>
            <a:chOff x="4396" y="1245"/>
            <a:chExt cx="672" cy="248"/>
          </a:xfrm>
        </p:grpSpPr>
        <p:sp>
          <p:nvSpPr>
            <p:cNvPr id="2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5" name="Group 196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8" name="Freeform 197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Freeform 198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" name="Line 199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27" name="Line 200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0" name="Group 201"/>
          <p:cNvGrpSpPr/>
          <p:nvPr/>
        </p:nvGrpSpPr>
        <p:grpSpPr bwMode="auto">
          <a:xfrm>
            <a:off x="6442472" y="3242035"/>
            <a:ext cx="317897" cy="485775"/>
            <a:chOff x="4140" y="429"/>
            <a:chExt cx="1425" cy="2396"/>
          </a:xfrm>
        </p:grpSpPr>
        <p:sp>
          <p:nvSpPr>
            <p:cNvPr id="31" name="Freeform 202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Rectangle 203"/>
            <p:cNvSpPr>
              <a:spLocks noChangeArrowheads="1"/>
            </p:cNvSpPr>
            <p:nvPr/>
          </p:nvSpPr>
          <p:spPr bwMode="auto"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3" name="Freeform 204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" name="Freeform 205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Rectangle 206"/>
            <p:cNvSpPr>
              <a:spLocks noChangeArrowheads="1"/>
            </p:cNvSpPr>
            <p:nvPr/>
          </p:nvSpPr>
          <p:spPr bwMode="auto">
            <a:xfrm>
              <a:off x="4209" y="693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6" name="Group 207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1" name="AutoShape 208"/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AutoShape 209"/>
              <p:cNvSpPr>
                <a:spLocks noChangeArrowheads="1"/>
              </p:cNvSpPr>
              <p:nvPr/>
            </p:nvSpPr>
            <p:spPr bwMode="auto"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" name="Rectangle 210"/>
            <p:cNvSpPr>
              <a:spLocks noChangeArrowheads="1"/>
            </p:cNvSpPr>
            <p:nvPr/>
          </p:nvSpPr>
          <p:spPr bwMode="auto">
            <a:xfrm>
              <a:off x="4225" y="1016"/>
              <a:ext cx="592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8" name="Group 211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9" name="AutoShape 212"/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0" name="AutoShape 213"/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Rectangle 214"/>
            <p:cNvSpPr>
              <a:spLocks noChangeArrowheads="1"/>
            </p:cNvSpPr>
            <p:nvPr/>
          </p:nvSpPr>
          <p:spPr bwMode="auto">
            <a:xfrm>
              <a:off x="4215" y="1357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Rectangle 215"/>
            <p:cNvSpPr>
              <a:spLocks noChangeArrowheads="1"/>
            </p:cNvSpPr>
            <p:nvPr/>
          </p:nvSpPr>
          <p:spPr bwMode="auto">
            <a:xfrm>
              <a:off x="4225" y="1656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1" name="Group 216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7" name="AutoShape 2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218"/>
              <p:cNvSpPr>
                <a:spLocks noChangeArrowheads="1"/>
              </p:cNvSpPr>
              <p:nvPr/>
            </p:nvSpPr>
            <p:spPr bwMode="auto"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2" name="Freeform 219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43" name="Group 220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5" name="AutoShape 221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222"/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" name="Rectangle 223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Freeform 224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Freeform 225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Oval 226"/>
            <p:cNvSpPr>
              <a:spLocks noChangeArrowheads="1"/>
            </p:cNvSpPr>
            <p:nvPr/>
          </p:nvSpPr>
          <p:spPr bwMode="auto"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" name="Freeform 227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AutoShape 228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AutoShape 229"/>
            <p:cNvSpPr>
              <a:spLocks noChangeArrowheads="1"/>
            </p:cNvSpPr>
            <p:nvPr/>
          </p:nvSpPr>
          <p:spPr bwMode="auto"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Oval 230"/>
            <p:cNvSpPr>
              <a:spLocks noChangeArrowheads="1"/>
            </p:cNvSpPr>
            <p:nvPr/>
          </p:nvSpPr>
          <p:spPr bwMode="auto"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Oval 231"/>
            <p:cNvSpPr>
              <a:spLocks noChangeArrowheads="1"/>
            </p:cNvSpPr>
            <p:nvPr/>
          </p:nvSpPr>
          <p:spPr bwMode="auto"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3" name="Oval 232"/>
            <p:cNvSpPr>
              <a:spLocks noChangeArrowheads="1"/>
            </p:cNvSpPr>
            <p:nvPr/>
          </p:nvSpPr>
          <p:spPr bwMode="auto"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4" name="Rectangle 233"/>
            <p:cNvSpPr>
              <a:spLocks noChangeArrowheads="1"/>
            </p:cNvSpPr>
            <p:nvPr/>
          </p:nvSpPr>
          <p:spPr bwMode="auto"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63" name="Group 234"/>
          <p:cNvGrpSpPr/>
          <p:nvPr/>
        </p:nvGrpSpPr>
        <p:grpSpPr bwMode="auto">
          <a:xfrm>
            <a:off x="5895975" y="2465747"/>
            <a:ext cx="638175" cy="461963"/>
            <a:chOff x="4420" y="878"/>
            <a:chExt cx="614" cy="458"/>
          </a:xfrm>
        </p:grpSpPr>
        <p:pic>
          <p:nvPicPr>
            <p:cNvPr id="64" name="Picture 235" descr="laptop_keyboard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236"/>
            <p:cNvSpPr/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66" name="Picture 237" descr="screen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238"/>
            <p:cNvSpPr/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8" name="Freeform 239"/>
            <p:cNvSpPr/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" name="Freeform 240"/>
            <p:cNvSpPr/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" name="Freeform 241"/>
            <p:cNvSpPr/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" name="Freeform 242"/>
            <p:cNvSpPr/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" name="Freeform 243"/>
            <p:cNvSpPr/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73" name="Group 244"/>
            <p:cNvGrpSpPr/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80" name="Freeform 245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Freeform 246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Freeform 247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Freeform 248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Freeform 249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Freeform 250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4" name="Freeform 251"/>
            <p:cNvSpPr/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Freeform 252"/>
            <p:cNvSpPr/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Freeform 253"/>
            <p:cNvSpPr/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7" name="Freeform 254"/>
            <p:cNvSpPr/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Freeform 255"/>
            <p:cNvSpPr/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" name="Freeform 256"/>
            <p:cNvSpPr/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7" name="AutoShape 34"/>
          <p:cNvSpPr>
            <a:spLocks noChangeArrowheads="1"/>
          </p:cNvSpPr>
          <p:nvPr/>
        </p:nvSpPr>
        <p:spPr bwMode="auto">
          <a:xfrm>
            <a:off x="5035154" y="2560998"/>
            <a:ext cx="732234" cy="36433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8" name="Group 45"/>
          <p:cNvGrpSpPr/>
          <p:nvPr/>
        </p:nvGrpSpPr>
        <p:grpSpPr bwMode="auto">
          <a:xfrm>
            <a:off x="5308997" y="1688270"/>
            <a:ext cx="732234" cy="1095375"/>
            <a:chOff x="651" y="681"/>
            <a:chExt cx="615" cy="920"/>
          </a:xfrm>
        </p:grpSpPr>
        <p:sp>
          <p:nvSpPr>
            <p:cNvPr id="89" name="Freeform 46"/>
            <p:cNvSpPr/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65999"/>
                  </a:schemeClr>
                </a:gs>
                <a:gs pos="100000">
                  <a:srgbClr val="000099">
                    <a:alpha val="67000"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90" name="Group 47"/>
            <p:cNvGrpSpPr/>
            <p:nvPr/>
          </p:nvGrpSpPr>
          <p:grpSpPr bwMode="auto">
            <a:xfrm>
              <a:off x="651" y="681"/>
              <a:ext cx="523" cy="853"/>
              <a:chOff x="569" y="2954"/>
              <a:chExt cx="523" cy="853"/>
            </a:xfrm>
          </p:grpSpPr>
          <p:sp>
            <p:nvSpPr>
              <p:cNvPr id="91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Text Box 49"/>
              <p:cNvSpPr txBox="1">
                <a:spLocks noChangeArrowheads="1"/>
              </p:cNvSpPr>
              <p:nvPr/>
            </p:nvSpPr>
            <p:spPr bwMode="auto">
              <a:xfrm>
                <a:off x="572" y="2954"/>
                <a:ext cx="520" cy="8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IP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Phy</a:t>
                </a:r>
              </a:p>
            </p:txBody>
          </p:sp>
          <p:sp>
            <p:nvSpPr>
              <p:cNvPr id="93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4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5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6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97" name="Group 54"/>
          <p:cNvGrpSpPr/>
          <p:nvPr/>
        </p:nvGrpSpPr>
        <p:grpSpPr bwMode="auto">
          <a:xfrm>
            <a:off x="4802981" y="1732335"/>
            <a:ext cx="456009" cy="207169"/>
            <a:chOff x="844" y="3337"/>
            <a:chExt cx="383" cy="174"/>
          </a:xfrm>
        </p:grpSpPr>
        <p:sp>
          <p:nvSpPr>
            <p:cNvPr id="98" name="Rectangle 55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9" name="Text Box 56"/>
            <p:cNvSpPr txBox="1">
              <a:spLocks noChangeArrowheads="1"/>
            </p:cNvSpPr>
            <p:nvPr/>
          </p:nvSpPr>
          <p:spPr bwMode="auto">
            <a:xfrm>
              <a:off x="844" y="3337"/>
              <a:ext cx="383" cy="1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rPr>
                <a:t>DHCP</a:t>
              </a:r>
            </a:p>
          </p:txBody>
        </p:sp>
      </p:grpSp>
      <p:grpSp>
        <p:nvGrpSpPr>
          <p:cNvPr id="100" name="Group 57"/>
          <p:cNvGrpSpPr/>
          <p:nvPr/>
        </p:nvGrpSpPr>
        <p:grpSpPr bwMode="auto">
          <a:xfrm>
            <a:off x="4462463" y="1746610"/>
            <a:ext cx="810816" cy="875110"/>
            <a:chOff x="42" y="744"/>
            <a:chExt cx="681" cy="735"/>
          </a:xfrm>
        </p:grpSpPr>
        <p:grpSp>
          <p:nvGrpSpPr>
            <p:cNvPr id="101" name="Group 58"/>
            <p:cNvGrpSpPr/>
            <p:nvPr/>
          </p:nvGrpSpPr>
          <p:grpSpPr bwMode="auto">
            <a:xfrm>
              <a:off x="42" y="886"/>
              <a:ext cx="681" cy="482"/>
              <a:chOff x="42" y="886"/>
              <a:chExt cx="681" cy="482"/>
            </a:xfrm>
          </p:grpSpPr>
          <p:grpSp>
            <p:nvGrpSpPr>
              <p:cNvPr id="103" name="Group 59"/>
              <p:cNvGrpSpPr/>
              <p:nvPr/>
            </p:nvGrpSpPr>
            <p:grpSpPr bwMode="auto">
              <a:xfrm>
                <a:off x="278" y="886"/>
                <a:ext cx="420" cy="168"/>
                <a:chOff x="740" y="3209"/>
                <a:chExt cx="420" cy="168"/>
              </a:xfrm>
            </p:grpSpPr>
            <p:grpSp>
              <p:nvGrpSpPr>
                <p:cNvPr id="128" name="Group 60"/>
                <p:cNvGrpSpPr/>
                <p:nvPr/>
              </p:nvGrpSpPr>
              <p:grpSpPr bwMode="auto">
                <a:xfrm>
                  <a:off x="794" y="3209"/>
                  <a:ext cx="366" cy="168"/>
                  <a:chOff x="844" y="3337"/>
                  <a:chExt cx="366" cy="168"/>
                </a:xfrm>
              </p:grpSpPr>
              <p:sp>
                <p:nvSpPr>
                  <p:cNvPr id="131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32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129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0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04" name="Group 65"/>
              <p:cNvGrpSpPr/>
              <p:nvPr/>
            </p:nvGrpSpPr>
            <p:grpSpPr bwMode="auto">
              <a:xfrm>
                <a:off x="278" y="1034"/>
                <a:ext cx="420" cy="168"/>
                <a:chOff x="836" y="3305"/>
                <a:chExt cx="420" cy="168"/>
              </a:xfrm>
            </p:grpSpPr>
            <p:grpSp>
              <p:nvGrpSpPr>
                <p:cNvPr id="122" name="Group 66"/>
                <p:cNvGrpSpPr/>
                <p:nvPr/>
              </p:nvGrpSpPr>
              <p:grpSpPr bwMode="auto">
                <a:xfrm>
                  <a:off x="890" y="3305"/>
                  <a:ext cx="366" cy="168"/>
                  <a:chOff x="844" y="3337"/>
                  <a:chExt cx="366" cy="168"/>
                </a:xfrm>
              </p:grpSpPr>
              <p:sp>
                <p:nvSpPr>
                  <p:cNvPr id="126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7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23" name="Group 69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4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25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05" name="Group 72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20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1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06" name="Group 75"/>
              <p:cNvGrpSpPr/>
              <p:nvPr/>
            </p:nvGrpSpPr>
            <p:grpSpPr bwMode="auto">
              <a:xfrm>
                <a:off x="42" y="1200"/>
                <a:ext cx="681" cy="168"/>
                <a:chOff x="504" y="3523"/>
                <a:chExt cx="681" cy="168"/>
              </a:xfrm>
            </p:grpSpPr>
            <p:grpSp>
              <p:nvGrpSpPr>
                <p:cNvPr id="107" name="Group 76"/>
                <p:cNvGrpSpPr/>
                <p:nvPr/>
              </p:nvGrpSpPr>
              <p:grpSpPr bwMode="auto">
                <a:xfrm>
                  <a:off x="623" y="3523"/>
                  <a:ext cx="533" cy="168"/>
                  <a:chOff x="723" y="3453"/>
                  <a:chExt cx="533" cy="168"/>
                </a:xfrm>
              </p:grpSpPr>
              <p:grpSp>
                <p:nvGrpSpPr>
                  <p:cNvPr id="111" name="Group 77"/>
                  <p:cNvGrpSpPr/>
                  <p:nvPr/>
                </p:nvGrpSpPr>
                <p:grpSpPr bwMode="auto">
                  <a:xfrm>
                    <a:off x="836" y="3453"/>
                    <a:ext cx="420" cy="168"/>
                    <a:chOff x="836" y="3305"/>
                    <a:chExt cx="420" cy="168"/>
                  </a:xfrm>
                </p:grpSpPr>
                <p:grpSp>
                  <p:nvGrpSpPr>
                    <p:cNvPr id="114" name="Group 78"/>
                    <p:cNvGrpSpPr/>
                    <p:nvPr/>
                  </p:nvGrpSpPr>
                  <p:grpSpPr bwMode="auto">
                    <a:xfrm>
                      <a:off x="890" y="3305"/>
                      <a:ext cx="366" cy="168"/>
                      <a:chOff x="844" y="3337"/>
                      <a:chExt cx="366" cy="168"/>
                    </a:xfrm>
                  </p:grpSpPr>
                  <p:sp>
                    <p:nvSpPr>
                      <p:cNvPr id="118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MS PGothic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19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66" cy="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9pPr>
                      </a:lstStyle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MS PGothic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15" name="Group 81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16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MS PGothic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17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MS PGothic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12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3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08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9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0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02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133" name="Group 90"/>
          <p:cNvGrpSpPr/>
          <p:nvPr/>
        </p:nvGrpSpPr>
        <p:grpSpPr bwMode="auto">
          <a:xfrm>
            <a:off x="4900613" y="2652681"/>
            <a:ext cx="810816" cy="207169"/>
            <a:chOff x="504" y="3523"/>
            <a:chExt cx="681" cy="174"/>
          </a:xfrm>
        </p:grpSpPr>
        <p:grpSp>
          <p:nvGrpSpPr>
            <p:cNvPr id="134" name="Group 91"/>
            <p:cNvGrpSpPr/>
            <p:nvPr/>
          </p:nvGrpSpPr>
          <p:grpSpPr bwMode="auto">
            <a:xfrm>
              <a:off x="623" y="3523"/>
              <a:ext cx="550" cy="174"/>
              <a:chOff x="723" y="3453"/>
              <a:chExt cx="550" cy="174"/>
            </a:xfrm>
          </p:grpSpPr>
          <p:grpSp>
            <p:nvGrpSpPr>
              <p:cNvPr id="138" name="Group 92"/>
              <p:cNvGrpSpPr/>
              <p:nvPr/>
            </p:nvGrpSpPr>
            <p:grpSpPr bwMode="auto">
              <a:xfrm>
                <a:off x="836" y="3453"/>
                <a:ext cx="437" cy="174"/>
                <a:chOff x="836" y="3305"/>
                <a:chExt cx="437" cy="174"/>
              </a:xfrm>
            </p:grpSpPr>
            <p:grpSp>
              <p:nvGrpSpPr>
                <p:cNvPr id="141" name="Group 93"/>
                <p:cNvGrpSpPr/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45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6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2" name="Group 96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3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4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sp>
            <p:nvSpPr>
              <p:cNvPr id="139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6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7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147" name="Group 104"/>
          <p:cNvGrpSpPr/>
          <p:nvPr/>
        </p:nvGrpSpPr>
        <p:grpSpPr bwMode="auto">
          <a:xfrm>
            <a:off x="5520929" y="3171790"/>
            <a:ext cx="987028" cy="1015604"/>
            <a:chOff x="931" y="1941"/>
            <a:chExt cx="829" cy="853"/>
          </a:xfrm>
        </p:grpSpPr>
        <p:sp>
          <p:nvSpPr>
            <p:cNvPr id="148" name="Freeform 105"/>
            <p:cNvSpPr/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64998"/>
                  </a:schemeClr>
                </a:gs>
                <a:gs pos="100000">
                  <a:srgbClr val="000099">
                    <a:alpha val="64998"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49" name="Group 106"/>
            <p:cNvGrpSpPr/>
            <p:nvPr/>
          </p:nvGrpSpPr>
          <p:grpSpPr bwMode="auto">
            <a:xfrm>
              <a:off x="931" y="1941"/>
              <a:ext cx="523" cy="853"/>
              <a:chOff x="569" y="2954"/>
              <a:chExt cx="523" cy="853"/>
            </a:xfrm>
          </p:grpSpPr>
          <p:sp>
            <p:nvSpPr>
              <p:cNvPr id="150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1" name="Text Box 108"/>
              <p:cNvSpPr txBox="1">
                <a:spLocks noChangeArrowheads="1"/>
              </p:cNvSpPr>
              <p:nvPr/>
            </p:nvSpPr>
            <p:spPr bwMode="auto">
              <a:xfrm>
                <a:off x="572" y="2954"/>
                <a:ext cx="520" cy="8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IP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Phy</a:t>
                </a:r>
              </a:p>
            </p:txBody>
          </p:sp>
          <p:sp>
            <p:nvSpPr>
              <p:cNvPr id="152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53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54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55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156" name="Group 113"/>
          <p:cNvGrpSpPr/>
          <p:nvPr/>
        </p:nvGrpSpPr>
        <p:grpSpPr bwMode="auto">
          <a:xfrm>
            <a:off x="4667250" y="3096779"/>
            <a:ext cx="810816" cy="913210"/>
            <a:chOff x="1404" y="3105"/>
            <a:chExt cx="681" cy="767"/>
          </a:xfrm>
        </p:grpSpPr>
        <p:grpSp>
          <p:nvGrpSpPr>
            <p:cNvPr id="157" name="Group 114"/>
            <p:cNvGrpSpPr/>
            <p:nvPr/>
          </p:nvGrpSpPr>
          <p:grpSpPr bwMode="auto">
            <a:xfrm>
              <a:off x="1404" y="3355"/>
              <a:ext cx="681" cy="482"/>
              <a:chOff x="42" y="886"/>
              <a:chExt cx="681" cy="482"/>
            </a:xfrm>
          </p:grpSpPr>
          <p:grpSp>
            <p:nvGrpSpPr>
              <p:cNvPr id="162" name="Group 115"/>
              <p:cNvGrpSpPr/>
              <p:nvPr/>
            </p:nvGrpSpPr>
            <p:grpSpPr bwMode="auto">
              <a:xfrm>
                <a:off x="278" y="886"/>
                <a:ext cx="420" cy="168"/>
                <a:chOff x="740" y="3209"/>
                <a:chExt cx="420" cy="168"/>
              </a:xfrm>
            </p:grpSpPr>
            <p:grpSp>
              <p:nvGrpSpPr>
                <p:cNvPr id="187" name="Group 116"/>
                <p:cNvGrpSpPr/>
                <p:nvPr/>
              </p:nvGrpSpPr>
              <p:grpSpPr bwMode="auto">
                <a:xfrm>
                  <a:off x="794" y="3209"/>
                  <a:ext cx="366" cy="168"/>
                  <a:chOff x="844" y="3337"/>
                  <a:chExt cx="366" cy="168"/>
                </a:xfrm>
              </p:grpSpPr>
              <p:sp>
                <p:nvSpPr>
                  <p:cNvPr id="19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9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188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63" name="Group 121"/>
              <p:cNvGrpSpPr/>
              <p:nvPr/>
            </p:nvGrpSpPr>
            <p:grpSpPr bwMode="auto">
              <a:xfrm>
                <a:off x="278" y="1034"/>
                <a:ext cx="420" cy="168"/>
                <a:chOff x="836" y="3305"/>
                <a:chExt cx="420" cy="168"/>
              </a:xfrm>
            </p:grpSpPr>
            <p:grpSp>
              <p:nvGrpSpPr>
                <p:cNvPr id="181" name="Group 122"/>
                <p:cNvGrpSpPr/>
                <p:nvPr/>
              </p:nvGrpSpPr>
              <p:grpSpPr bwMode="auto">
                <a:xfrm>
                  <a:off x="890" y="3305"/>
                  <a:ext cx="366" cy="168"/>
                  <a:chOff x="844" y="3337"/>
                  <a:chExt cx="366" cy="168"/>
                </a:xfrm>
              </p:grpSpPr>
              <p:sp>
                <p:nvSpPr>
                  <p:cNvPr id="185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8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82" name="Group 125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8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8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64" name="Group 128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0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65" name="Group 131"/>
              <p:cNvGrpSpPr/>
              <p:nvPr/>
            </p:nvGrpSpPr>
            <p:grpSpPr bwMode="auto">
              <a:xfrm>
                <a:off x="42" y="1200"/>
                <a:ext cx="681" cy="168"/>
                <a:chOff x="504" y="3523"/>
                <a:chExt cx="681" cy="168"/>
              </a:xfrm>
            </p:grpSpPr>
            <p:grpSp>
              <p:nvGrpSpPr>
                <p:cNvPr id="166" name="Group 132"/>
                <p:cNvGrpSpPr/>
                <p:nvPr/>
              </p:nvGrpSpPr>
              <p:grpSpPr bwMode="auto">
                <a:xfrm>
                  <a:off x="623" y="3523"/>
                  <a:ext cx="533" cy="168"/>
                  <a:chOff x="723" y="3453"/>
                  <a:chExt cx="533" cy="168"/>
                </a:xfrm>
              </p:grpSpPr>
              <p:grpSp>
                <p:nvGrpSpPr>
                  <p:cNvPr id="170" name="Group 133"/>
                  <p:cNvGrpSpPr/>
                  <p:nvPr/>
                </p:nvGrpSpPr>
                <p:grpSpPr bwMode="auto">
                  <a:xfrm>
                    <a:off x="836" y="3453"/>
                    <a:ext cx="420" cy="168"/>
                    <a:chOff x="836" y="3305"/>
                    <a:chExt cx="420" cy="168"/>
                  </a:xfrm>
                </p:grpSpPr>
                <p:grpSp>
                  <p:nvGrpSpPr>
                    <p:cNvPr id="173" name="Group 134"/>
                    <p:cNvGrpSpPr/>
                    <p:nvPr/>
                  </p:nvGrpSpPr>
                  <p:grpSpPr bwMode="auto">
                    <a:xfrm>
                      <a:off x="890" y="3305"/>
                      <a:ext cx="366" cy="168"/>
                      <a:chOff x="844" y="3337"/>
                      <a:chExt cx="366" cy="168"/>
                    </a:xfrm>
                  </p:grpSpPr>
                  <p:sp>
                    <p:nvSpPr>
                      <p:cNvPr id="177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MS PGothic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78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66" cy="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9pPr>
                      </a:lstStyle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MS PGothic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74" name="Group 137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75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MS PGothic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76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MS PGothic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7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72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zh-C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6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68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69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58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59" name="Group 146"/>
            <p:cNvGrpSpPr/>
            <p:nvPr/>
          </p:nvGrpSpPr>
          <p:grpSpPr bwMode="auto">
            <a:xfrm>
              <a:off x="1695" y="3227"/>
              <a:ext cx="366" cy="168"/>
              <a:chOff x="844" y="3337"/>
              <a:chExt cx="366" cy="168"/>
            </a:xfrm>
          </p:grpSpPr>
          <p:sp>
            <p:nvSpPr>
              <p:cNvPr id="160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61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66" cy="1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charset="0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192" name="Group 149"/>
          <p:cNvGrpSpPr/>
          <p:nvPr/>
        </p:nvGrpSpPr>
        <p:grpSpPr bwMode="auto">
          <a:xfrm>
            <a:off x="5014912" y="3244428"/>
            <a:ext cx="456009" cy="207169"/>
            <a:chOff x="844" y="3337"/>
            <a:chExt cx="383" cy="174"/>
          </a:xfrm>
        </p:grpSpPr>
        <p:sp>
          <p:nvSpPr>
            <p:cNvPr id="193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94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83" cy="1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charset="0"/>
                  <a:cs typeface="+mn-cs"/>
                </a:rPr>
                <a:t>DHCP</a:t>
              </a:r>
            </a:p>
          </p:txBody>
        </p:sp>
      </p:grpSp>
      <p:sp>
        <p:nvSpPr>
          <p:cNvPr id="195" name="灯片编号占位符 2">
            <a:extLst>
              <a:ext uri="{FF2B5EF4-FFF2-40B4-BE49-F238E27FC236}">
                <a16:creationId xmlns:a16="http://schemas.microsoft.com/office/drawing/2014/main" id="{FB3210AA-5872-4AFC-8770-11729C17EC0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</a:t>
            </a:r>
            <a:fld id="{5A4F2AFE-40E9-47D7-93C1-1557BE766B14}" type="slidenum"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6" name="AutoShape 5">
            <a:extLst>
              <a:ext uri="{FF2B5EF4-FFF2-40B4-BE49-F238E27FC236}">
                <a16:creationId xmlns:a16="http://schemas.microsoft.com/office/drawing/2014/main" id="{FF59A26F-28EE-4899-980E-6C7E93842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81481E-6 L 0.26823 -0.00138 L 0.10834 0.27292 L -0.01805 0.2713 " pathEditMode="relative" rAng="0" ptsTypes="AAAA">
                                      <p:cBhvr>
                                        <p:cTn id="57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1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196" grpId="0" animBg="1"/>
      <p:bldP spid="19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dirty="0"/>
              <a:t>4.3 IP: </a:t>
            </a:r>
            <a:r>
              <a:rPr lang="zh-CN" altLang="en-US" sz="2400" dirty="0"/>
              <a:t>网际协议</a:t>
            </a:r>
          </a:p>
        </p:txBody>
      </p:sp>
    </p:spTree>
    <p:extLst>
      <p:ext uri="{BB962C8B-B14F-4D97-AF65-F5344CB8AC3E}">
        <p14:creationId xmlns:p14="http://schemas.microsoft.com/office/powerpoint/2010/main" val="301649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8" name="Rectangle 15"/>
          <p:cNvSpPr txBox="1">
            <a:spLocks noChangeArrowheads="1"/>
          </p:cNvSpPr>
          <p:nvPr/>
        </p:nvSpPr>
        <p:spPr bwMode="auto">
          <a:xfrm>
            <a:off x="3240000" y="1440000"/>
            <a:ext cx="3774894" cy="2520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4.3.1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数据报格式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4.3.2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数据报分片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4.3.3 IPv4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网络编址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4.3.4 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网络地址转换</a:t>
            </a:r>
            <a:endParaRPr lang="en-US" altLang="zh-CN" sz="20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4.3.5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控制报文协议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4.3.6 IPV6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简要介绍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BD139F-F077-4829-A8A8-60336E8DC6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25935"/>
            <a:ext cx="1668571" cy="1491630"/>
          </a:xfrm>
          <a:prstGeom prst="rect">
            <a:avLst/>
          </a:prstGeom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CE94D031-D1FD-4D64-B5AF-24FC9892281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251E08A4-A7EF-4545-B830-5955A8316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735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</p:txBody>
      </p:sp>
      <p:sp>
        <p:nvSpPr>
          <p:cNvPr id="51" name="Freeform 80"/>
          <p:cNvSpPr/>
          <p:nvPr/>
        </p:nvSpPr>
        <p:spPr bwMode="auto">
          <a:xfrm>
            <a:off x="4342879" y="1671269"/>
            <a:ext cx="2803922" cy="202287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2" name="Freeform 4"/>
          <p:cNvSpPr/>
          <p:nvPr/>
        </p:nvSpPr>
        <p:spPr bwMode="auto">
          <a:xfrm>
            <a:off x="1228204" y="2202289"/>
            <a:ext cx="2887266" cy="1069181"/>
          </a:xfrm>
          <a:custGeom>
            <a:avLst/>
            <a:gdLst>
              <a:gd name="T0" fmla="*/ 2147483647 w 2425"/>
              <a:gd name="T1" fmla="*/ 2147483647 h 898"/>
              <a:gd name="T2" fmla="*/ 2147483647 w 2425"/>
              <a:gd name="T3" fmla="*/ 2147483647 h 898"/>
              <a:gd name="T4" fmla="*/ 2147483647 w 2425"/>
              <a:gd name="T5" fmla="*/ 2147483647 h 898"/>
              <a:gd name="T6" fmla="*/ 2147483647 w 2425"/>
              <a:gd name="T7" fmla="*/ 2147483647 h 898"/>
              <a:gd name="T8" fmla="*/ 2147483647 w 2425"/>
              <a:gd name="T9" fmla="*/ 2147483647 h 898"/>
              <a:gd name="T10" fmla="*/ 2147483647 w 2425"/>
              <a:gd name="T11" fmla="*/ 2147483647 h 898"/>
              <a:gd name="T12" fmla="*/ 2147483647 w 2425"/>
              <a:gd name="T13" fmla="*/ 2147483647 h 898"/>
              <a:gd name="T14" fmla="*/ 2147483647 w 2425"/>
              <a:gd name="T15" fmla="*/ 2147483647 h 8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25" h="898">
                <a:moveTo>
                  <a:pt x="2056" y="289"/>
                </a:moveTo>
                <a:cubicBezTo>
                  <a:pt x="1826" y="223"/>
                  <a:pt x="1133" y="113"/>
                  <a:pt x="810" y="75"/>
                </a:cubicBezTo>
                <a:cubicBezTo>
                  <a:pt x="487" y="37"/>
                  <a:pt x="230" y="0"/>
                  <a:pt x="115" y="60"/>
                </a:cubicBezTo>
                <a:cubicBezTo>
                  <a:pt x="0" y="120"/>
                  <a:pt x="121" y="301"/>
                  <a:pt x="121" y="433"/>
                </a:cubicBezTo>
                <a:cubicBezTo>
                  <a:pt x="121" y="565"/>
                  <a:pt x="25" y="802"/>
                  <a:pt x="115" y="850"/>
                </a:cubicBezTo>
                <a:cubicBezTo>
                  <a:pt x="205" y="898"/>
                  <a:pt x="316" y="784"/>
                  <a:pt x="662" y="721"/>
                </a:cubicBezTo>
                <a:cubicBezTo>
                  <a:pt x="1008" y="658"/>
                  <a:pt x="1961" y="544"/>
                  <a:pt x="2193" y="472"/>
                </a:cubicBezTo>
                <a:cubicBezTo>
                  <a:pt x="2425" y="400"/>
                  <a:pt x="2292" y="327"/>
                  <a:pt x="2056" y="289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Line 8"/>
          <p:cNvSpPr>
            <a:spLocks noChangeShapeType="1"/>
          </p:cNvSpPr>
          <p:nvPr/>
        </p:nvSpPr>
        <p:spPr bwMode="auto">
          <a:xfrm>
            <a:off x="4428603" y="2663059"/>
            <a:ext cx="2046685" cy="2619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54" name="Line 9"/>
          <p:cNvSpPr>
            <a:spLocks noChangeShapeType="1"/>
          </p:cNvSpPr>
          <p:nvPr/>
        </p:nvSpPr>
        <p:spPr bwMode="auto">
          <a:xfrm flipH="1">
            <a:off x="6486004" y="2692826"/>
            <a:ext cx="22502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55" name="Line 10"/>
          <p:cNvSpPr>
            <a:spLocks noChangeShapeType="1"/>
          </p:cNvSpPr>
          <p:nvPr/>
        </p:nvSpPr>
        <p:spPr bwMode="auto">
          <a:xfrm>
            <a:off x="6558632" y="2102276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56" name="Line 11"/>
          <p:cNvSpPr>
            <a:spLocks noChangeShapeType="1"/>
          </p:cNvSpPr>
          <p:nvPr/>
        </p:nvSpPr>
        <p:spPr bwMode="auto">
          <a:xfrm flipV="1">
            <a:off x="6563395" y="3230988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57" name="Text Box 12"/>
          <p:cNvSpPr txBox="1">
            <a:spLocks noChangeArrowheads="1"/>
          </p:cNvSpPr>
          <p:nvPr/>
        </p:nvSpPr>
        <p:spPr bwMode="auto">
          <a:xfrm>
            <a:off x="7027739" y="1899870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10.0.0.1</a:t>
            </a:r>
          </a:p>
        </p:txBody>
      </p:sp>
      <p:sp>
        <p:nvSpPr>
          <p:cNvPr id="58" name="Text Box 13"/>
          <p:cNvSpPr txBox="1">
            <a:spLocks noChangeArrowheads="1"/>
          </p:cNvSpPr>
          <p:nvPr/>
        </p:nvSpPr>
        <p:spPr bwMode="auto">
          <a:xfrm>
            <a:off x="7122989" y="2476133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10.0.0.2</a:t>
            </a:r>
          </a:p>
        </p:txBody>
      </p:sp>
      <p:sp>
        <p:nvSpPr>
          <p:cNvPr id="59" name="Text Box 14"/>
          <p:cNvSpPr txBox="1">
            <a:spLocks noChangeArrowheads="1"/>
          </p:cNvSpPr>
          <p:nvPr/>
        </p:nvSpPr>
        <p:spPr bwMode="auto">
          <a:xfrm>
            <a:off x="7086079" y="3080970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10.0.0.3</a:t>
            </a:r>
          </a:p>
        </p:txBody>
      </p:sp>
      <p:sp>
        <p:nvSpPr>
          <p:cNvPr id="60" name="Text Box 15"/>
          <p:cNvSpPr txBox="1">
            <a:spLocks noChangeArrowheads="1"/>
          </p:cNvSpPr>
          <p:nvPr/>
        </p:nvSpPr>
        <p:spPr bwMode="auto">
          <a:xfrm>
            <a:off x="4391695" y="2267773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10.0.0.4</a:t>
            </a:r>
          </a:p>
        </p:txBody>
      </p:sp>
      <p:sp>
        <p:nvSpPr>
          <p:cNvPr id="61" name="Line 16"/>
          <p:cNvSpPr>
            <a:spLocks noChangeShapeType="1"/>
          </p:cNvSpPr>
          <p:nvPr/>
        </p:nvSpPr>
        <p:spPr bwMode="auto">
          <a:xfrm flipH="1">
            <a:off x="4484564" y="2476133"/>
            <a:ext cx="64294" cy="964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62" name="Text Box 17"/>
          <p:cNvSpPr txBox="1">
            <a:spLocks noChangeArrowheads="1"/>
          </p:cNvSpPr>
          <p:nvPr/>
        </p:nvSpPr>
        <p:spPr bwMode="auto">
          <a:xfrm>
            <a:off x="2971279" y="2760692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138.76.29.7</a:t>
            </a:r>
          </a:p>
        </p:txBody>
      </p:sp>
      <p:sp>
        <p:nvSpPr>
          <p:cNvPr id="63" name="Line 18"/>
          <p:cNvSpPr>
            <a:spLocks noChangeShapeType="1"/>
          </p:cNvSpPr>
          <p:nvPr/>
        </p:nvSpPr>
        <p:spPr bwMode="auto">
          <a:xfrm flipH="1">
            <a:off x="3854723" y="2721401"/>
            <a:ext cx="64294" cy="964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64" name="Line 79"/>
          <p:cNvSpPr>
            <a:spLocks noChangeShapeType="1"/>
          </p:cNvSpPr>
          <p:nvPr/>
        </p:nvSpPr>
        <p:spPr bwMode="auto">
          <a:xfrm>
            <a:off x="1758033" y="2684491"/>
            <a:ext cx="2269331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65" name="Text Box 81"/>
          <p:cNvSpPr txBox="1">
            <a:spLocks noChangeArrowheads="1"/>
          </p:cNvSpPr>
          <p:nvPr/>
        </p:nvSpPr>
        <p:spPr bwMode="auto">
          <a:xfrm>
            <a:off x="4734600" y="1523632"/>
            <a:ext cx="1771639" cy="71558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1350" dirty="0"/>
              <a:t>local network</a:t>
            </a:r>
          </a:p>
          <a:p>
            <a:pPr algn="ctr">
              <a:defRPr/>
            </a:pPr>
            <a:r>
              <a:rPr lang="en-US" sz="1350" dirty="0"/>
              <a:t>(e.g., home network)</a:t>
            </a:r>
          </a:p>
          <a:p>
            <a:pPr algn="ctr">
              <a:defRPr/>
            </a:pPr>
            <a:r>
              <a:rPr lang="en-US" sz="1350" dirty="0"/>
              <a:t>10.0.0/24</a:t>
            </a:r>
          </a:p>
        </p:txBody>
      </p:sp>
      <p:sp>
        <p:nvSpPr>
          <p:cNvPr id="66" name="Line 82"/>
          <p:cNvSpPr>
            <a:spLocks noChangeShapeType="1"/>
          </p:cNvSpPr>
          <p:nvPr/>
        </p:nvSpPr>
        <p:spPr bwMode="auto">
          <a:xfrm>
            <a:off x="6466954" y="1692701"/>
            <a:ext cx="10394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67" name="Line 83"/>
          <p:cNvSpPr>
            <a:spLocks noChangeShapeType="1"/>
          </p:cNvSpPr>
          <p:nvPr/>
        </p:nvSpPr>
        <p:spPr bwMode="auto">
          <a:xfrm>
            <a:off x="4253582" y="1587926"/>
            <a:ext cx="0" cy="8108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68" name="Line 84"/>
          <p:cNvSpPr>
            <a:spLocks noChangeShapeType="1"/>
          </p:cNvSpPr>
          <p:nvPr/>
        </p:nvSpPr>
        <p:spPr bwMode="auto">
          <a:xfrm flipH="1" flipV="1">
            <a:off x="4358358" y="1683176"/>
            <a:ext cx="6738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69" name="Line 86"/>
          <p:cNvSpPr>
            <a:spLocks noChangeShapeType="1"/>
          </p:cNvSpPr>
          <p:nvPr/>
        </p:nvSpPr>
        <p:spPr bwMode="auto">
          <a:xfrm>
            <a:off x="3161779" y="1692701"/>
            <a:ext cx="10394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0" name="Line 87"/>
          <p:cNvSpPr>
            <a:spLocks noChangeShapeType="1"/>
          </p:cNvSpPr>
          <p:nvPr/>
        </p:nvSpPr>
        <p:spPr bwMode="auto">
          <a:xfrm flipH="1" flipV="1">
            <a:off x="1803276" y="1683176"/>
            <a:ext cx="6738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1" name="Text Box 88"/>
          <p:cNvSpPr txBox="1">
            <a:spLocks noChangeArrowheads="1"/>
          </p:cNvSpPr>
          <p:nvPr/>
        </p:nvSpPr>
        <p:spPr bwMode="auto">
          <a:xfrm>
            <a:off x="2442722" y="1514108"/>
            <a:ext cx="771365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1350"/>
              <a:t>rest of</a:t>
            </a:r>
          </a:p>
          <a:p>
            <a:pPr algn="ctr">
              <a:defRPr/>
            </a:pPr>
            <a:r>
              <a:rPr lang="en-US" sz="1350"/>
              <a:t>Internet</a:t>
            </a:r>
          </a:p>
        </p:txBody>
      </p:sp>
      <p:sp>
        <p:nvSpPr>
          <p:cNvPr id="72" name="Text Box 90"/>
          <p:cNvSpPr txBox="1">
            <a:spLocks noChangeArrowheads="1"/>
          </p:cNvSpPr>
          <p:nvPr/>
        </p:nvSpPr>
        <p:spPr bwMode="auto">
          <a:xfrm>
            <a:off x="4423841" y="3652674"/>
            <a:ext cx="2496196" cy="87953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1500" dirty="0">
                <a:latin typeface="+mj-lt"/>
              </a:rPr>
              <a:t>datagrams with source or </a:t>
            </a:r>
          </a:p>
          <a:p>
            <a:pPr>
              <a:lnSpc>
                <a:spcPct val="85000"/>
              </a:lnSpc>
              <a:defRPr/>
            </a:pPr>
            <a:r>
              <a:rPr lang="en-US" sz="1500" dirty="0">
                <a:latin typeface="+mj-lt"/>
              </a:rPr>
              <a:t>destination in this network</a:t>
            </a:r>
          </a:p>
          <a:p>
            <a:pPr>
              <a:lnSpc>
                <a:spcPct val="85000"/>
              </a:lnSpc>
              <a:defRPr/>
            </a:pPr>
            <a:r>
              <a:rPr lang="en-US" sz="1500" dirty="0">
                <a:latin typeface="+mj-lt"/>
              </a:rPr>
              <a:t>have 10.0.0/24 address for </a:t>
            </a:r>
          </a:p>
          <a:p>
            <a:pPr>
              <a:lnSpc>
                <a:spcPct val="85000"/>
              </a:lnSpc>
              <a:defRPr/>
            </a:pPr>
            <a:r>
              <a:rPr lang="en-US" sz="1500" dirty="0">
                <a:latin typeface="+mj-lt"/>
              </a:rPr>
              <a:t>source, destination (as usual)</a:t>
            </a:r>
          </a:p>
        </p:txBody>
      </p:sp>
      <p:sp>
        <p:nvSpPr>
          <p:cNvPr id="73" name="Text Box 92"/>
          <p:cNvSpPr txBox="1">
            <a:spLocks noChangeArrowheads="1"/>
          </p:cNvSpPr>
          <p:nvPr/>
        </p:nvSpPr>
        <p:spPr bwMode="auto">
          <a:xfrm>
            <a:off x="1306786" y="3656246"/>
            <a:ext cx="2887265" cy="1075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r">
              <a:lnSpc>
                <a:spcPct val="85000"/>
              </a:lnSpc>
              <a:defRPr/>
            </a:pPr>
            <a:r>
              <a:rPr lang="en-US" sz="1500" i="1" dirty="0">
                <a:solidFill>
                  <a:srgbClr val="CC0000"/>
                </a:solidFill>
                <a:latin typeface="+mj-lt"/>
              </a:rPr>
              <a:t>all</a:t>
            </a:r>
            <a:r>
              <a:rPr lang="en-US" sz="1500" dirty="0">
                <a:solidFill>
                  <a:srgbClr val="CC0000"/>
                </a:solidFill>
                <a:latin typeface="+mj-lt"/>
              </a:rPr>
              <a:t> </a:t>
            </a:r>
            <a:r>
              <a:rPr lang="en-US" sz="1500" dirty="0">
                <a:latin typeface="+mj-lt"/>
              </a:rPr>
              <a:t>datagrams </a:t>
            </a:r>
            <a:r>
              <a:rPr lang="en-US" sz="1500" i="1" dirty="0">
                <a:solidFill>
                  <a:srgbClr val="CC0000"/>
                </a:solidFill>
                <a:latin typeface="+mj-lt"/>
              </a:rPr>
              <a:t>leaving</a:t>
            </a:r>
            <a:r>
              <a:rPr lang="en-US" sz="1500" dirty="0">
                <a:latin typeface="+mj-lt"/>
              </a:rPr>
              <a:t> local</a:t>
            </a:r>
          </a:p>
          <a:p>
            <a:pPr algn="r">
              <a:lnSpc>
                <a:spcPct val="85000"/>
              </a:lnSpc>
              <a:defRPr/>
            </a:pPr>
            <a:r>
              <a:rPr lang="en-US" sz="1500" dirty="0">
                <a:latin typeface="+mj-lt"/>
              </a:rPr>
              <a:t>network have </a:t>
            </a:r>
            <a:r>
              <a:rPr lang="en-US" sz="1500" i="1" dirty="0">
                <a:solidFill>
                  <a:srgbClr val="CC0000"/>
                </a:solidFill>
                <a:latin typeface="+mj-lt"/>
              </a:rPr>
              <a:t>same</a:t>
            </a:r>
            <a:r>
              <a:rPr lang="en-US" sz="1500" dirty="0">
                <a:latin typeface="+mj-lt"/>
              </a:rPr>
              <a:t> single source NAT IP address: 138.76.29.7,different source port numbers </a:t>
            </a:r>
          </a:p>
        </p:txBody>
      </p:sp>
      <p:sp>
        <p:nvSpPr>
          <p:cNvPr id="74" name="Line 96"/>
          <p:cNvSpPr>
            <a:spLocks noChangeShapeType="1"/>
          </p:cNvSpPr>
          <p:nvPr/>
        </p:nvSpPr>
        <p:spPr bwMode="auto">
          <a:xfrm flipV="1">
            <a:off x="4841752" y="2728544"/>
            <a:ext cx="428357" cy="94675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5" name="Line 97"/>
          <p:cNvSpPr>
            <a:spLocks noChangeShapeType="1"/>
          </p:cNvSpPr>
          <p:nvPr/>
        </p:nvSpPr>
        <p:spPr bwMode="auto">
          <a:xfrm flipV="1">
            <a:off x="3258221" y="2950744"/>
            <a:ext cx="473106" cy="697167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76" name="Group 98"/>
          <p:cNvGrpSpPr/>
          <p:nvPr/>
        </p:nvGrpSpPr>
        <p:grpSpPr bwMode="auto">
          <a:xfrm>
            <a:off x="3953545" y="2561857"/>
            <a:ext cx="675084" cy="260747"/>
            <a:chOff x="4396" y="1245"/>
            <a:chExt cx="672" cy="248"/>
          </a:xfrm>
        </p:grpSpPr>
        <p:sp>
          <p:nvSpPr>
            <p:cNvPr id="77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9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80" name="Group 102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84" name="Freeform 103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Freeform 104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82" name="Line 105"/>
            <p:cNvSpPr>
              <a:spLocks noChangeShapeType="1"/>
            </p:cNvSpPr>
            <p:nvPr/>
          </p:nvSpPr>
          <p:spPr bwMode="auto">
            <a:xfrm>
              <a:off x="4400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3" name="Line 106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86" name="Group 107"/>
          <p:cNvGrpSpPr/>
          <p:nvPr/>
        </p:nvGrpSpPr>
        <p:grpSpPr bwMode="auto">
          <a:xfrm flipH="1">
            <a:off x="6633641" y="1947495"/>
            <a:ext cx="481013" cy="419100"/>
            <a:chOff x="-44" y="1473"/>
            <a:chExt cx="981" cy="1105"/>
          </a:xfrm>
        </p:grpSpPr>
        <p:pic>
          <p:nvPicPr>
            <p:cNvPr id="87" name="Picture 108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Freeform 10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89" name="Group 110"/>
          <p:cNvGrpSpPr/>
          <p:nvPr/>
        </p:nvGrpSpPr>
        <p:grpSpPr bwMode="auto">
          <a:xfrm flipH="1">
            <a:off x="6663407" y="2454701"/>
            <a:ext cx="481013" cy="419100"/>
            <a:chOff x="-44" y="1473"/>
            <a:chExt cx="981" cy="1105"/>
          </a:xfrm>
        </p:grpSpPr>
        <p:pic>
          <p:nvPicPr>
            <p:cNvPr id="90" name="Picture 111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11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92" name="Group 113"/>
          <p:cNvGrpSpPr/>
          <p:nvPr/>
        </p:nvGrpSpPr>
        <p:grpSpPr bwMode="auto">
          <a:xfrm flipH="1">
            <a:off x="6669360" y="3020247"/>
            <a:ext cx="481013" cy="419100"/>
            <a:chOff x="-44" y="1473"/>
            <a:chExt cx="981" cy="1105"/>
          </a:xfrm>
        </p:grpSpPr>
        <p:pic>
          <p:nvPicPr>
            <p:cNvPr id="93" name="Picture 114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Freeform 115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cxnSp>
        <p:nvCxnSpPr>
          <p:cNvPr id="8" name="直接连接符 7"/>
          <p:cNvCxnSpPr>
            <a:stCxn id="55" idx="0"/>
            <a:endCxn id="56" idx="0"/>
          </p:cNvCxnSpPr>
          <p:nvPr/>
        </p:nvCxnSpPr>
        <p:spPr>
          <a:xfrm>
            <a:off x="6558632" y="2102276"/>
            <a:ext cx="4763" cy="112871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914254" y="2950745"/>
            <a:ext cx="1107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/>
              <a:t>NAT Router</a:t>
            </a:r>
            <a:endParaRPr lang="zh-CN" altLang="en-US" sz="1350" b="1" dirty="0"/>
          </a:p>
        </p:txBody>
      </p:sp>
      <p:sp>
        <p:nvSpPr>
          <p:cNvPr id="49" name="灯片编号占位符 2">
            <a:extLst>
              <a:ext uri="{FF2B5EF4-FFF2-40B4-BE49-F238E27FC236}">
                <a16:creationId xmlns:a16="http://schemas.microsoft.com/office/drawing/2014/main" id="{2C78781A-4240-4C80-935F-B7AA2235E67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4FE9EE75-6876-4F31-B3CB-4623542B4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图片 2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272">
            <a:off x="5830744" y="1337850"/>
            <a:ext cx="2347589" cy="369207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</p:txBody>
      </p:sp>
      <p:sp>
        <p:nvSpPr>
          <p:cNvPr id="195" name="Freeform 80"/>
          <p:cNvSpPr/>
          <p:nvPr/>
        </p:nvSpPr>
        <p:spPr bwMode="auto">
          <a:xfrm>
            <a:off x="4338304" y="1665001"/>
            <a:ext cx="2803922" cy="202287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rgbClr val="0066CC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6" name="Freeform 4"/>
          <p:cNvSpPr/>
          <p:nvPr/>
        </p:nvSpPr>
        <p:spPr bwMode="auto">
          <a:xfrm>
            <a:off x="1223628" y="2196021"/>
            <a:ext cx="2887266" cy="1069181"/>
          </a:xfrm>
          <a:custGeom>
            <a:avLst/>
            <a:gdLst>
              <a:gd name="T0" fmla="*/ 2147483647 w 2425"/>
              <a:gd name="T1" fmla="*/ 2147483647 h 898"/>
              <a:gd name="T2" fmla="*/ 2147483647 w 2425"/>
              <a:gd name="T3" fmla="*/ 2147483647 h 898"/>
              <a:gd name="T4" fmla="*/ 2147483647 w 2425"/>
              <a:gd name="T5" fmla="*/ 2147483647 h 898"/>
              <a:gd name="T6" fmla="*/ 2147483647 w 2425"/>
              <a:gd name="T7" fmla="*/ 2147483647 h 898"/>
              <a:gd name="T8" fmla="*/ 2147483647 w 2425"/>
              <a:gd name="T9" fmla="*/ 2147483647 h 898"/>
              <a:gd name="T10" fmla="*/ 2147483647 w 2425"/>
              <a:gd name="T11" fmla="*/ 2147483647 h 898"/>
              <a:gd name="T12" fmla="*/ 2147483647 w 2425"/>
              <a:gd name="T13" fmla="*/ 2147483647 h 898"/>
              <a:gd name="T14" fmla="*/ 2147483647 w 2425"/>
              <a:gd name="T15" fmla="*/ 2147483647 h 8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25" h="898">
                <a:moveTo>
                  <a:pt x="2056" y="289"/>
                </a:moveTo>
                <a:cubicBezTo>
                  <a:pt x="1826" y="223"/>
                  <a:pt x="1133" y="113"/>
                  <a:pt x="810" y="75"/>
                </a:cubicBezTo>
                <a:cubicBezTo>
                  <a:pt x="487" y="37"/>
                  <a:pt x="230" y="0"/>
                  <a:pt x="115" y="60"/>
                </a:cubicBezTo>
                <a:cubicBezTo>
                  <a:pt x="0" y="120"/>
                  <a:pt x="121" y="301"/>
                  <a:pt x="121" y="433"/>
                </a:cubicBezTo>
                <a:cubicBezTo>
                  <a:pt x="121" y="565"/>
                  <a:pt x="25" y="802"/>
                  <a:pt x="115" y="850"/>
                </a:cubicBezTo>
                <a:cubicBezTo>
                  <a:pt x="205" y="898"/>
                  <a:pt x="316" y="784"/>
                  <a:pt x="662" y="721"/>
                </a:cubicBezTo>
                <a:cubicBezTo>
                  <a:pt x="1008" y="658"/>
                  <a:pt x="1961" y="544"/>
                  <a:pt x="2193" y="472"/>
                </a:cubicBezTo>
                <a:cubicBezTo>
                  <a:pt x="2425" y="400"/>
                  <a:pt x="2292" y="327"/>
                  <a:pt x="2056" y="289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7" name="Line 8"/>
          <p:cNvSpPr>
            <a:spLocks noChangeShapeType="1"/>
          </p:cNvSpPr>
          <p:nvPr/>
        </p:nvSpPr>
        <p:spPr bwMode="auto">
          <a:xfrm>
            <a:off x="4424028" y="2656792"/>
            <a:ext cx="2088023" cy="344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98" name="Line 9"/>
          <p:cNvSpPr>
            <a:spLocks noChangeShapeType="1"/>
          </p:cNvSpPr>
          <p:nvPr/>
        </p:nvSpPr>
        <p:spPr bwMode="auto">
          <a:xfrm flipH="1">
            <a:off x="6481428" y="2686558"/>
            <a:ext cx="22502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99" name="Line 10"/>
          <p:cNvSpPr>
            <a:spLocks noChangeShapeType="1"/>
          </p:cNvSpPr>
          <p:nvPr/>
        </p:nvSpPr>
        <p:spPr bwMode="auto">
          <a:xfrm>
            <a:off x="6554056" y="2096008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00" name="Line 11"/>
          <p:cNvSpPr>
            <a:spLocks noChangeShapeType="1"/>
          </p:cNvSpPr>
          <p:nvPr/>
        </p:nvSpPr>
        <p:spPr bwMode="auto">
          <a:xfrm flipV="1">
            <a:off x="6558819" y="3224720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01" name="Text Box 12"/>
          <p:cNvSpPr txBox="1">
            <a:spLocks noChangeArrowheads="1"/>
          </p:cNvSpPr>
          <p:nvPr/>
        </p:nvSpPr>
        <p:spPr bwMode="auto">
          <a:xfrm>
            <a:off x="7023163" y="1893602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10.0.0.1</a:t>
            </a:r>
          </a:p>
        </p:txBody>
      </p:sp>
      <p:sp>
        <p:nvSpPr>
          <p:cNvPr id="202" name="Text Box 13"/>
          <p:cNvSpPr txBox="1">
            <a:spLocks noChangeArrowheads="1"/>
          </p:cNvSpPr>
          <p:nvPr/>
        </p:nvSpPr>
        <p:spPr bwMode="auto">
          <a:xfrm>
            <a:off x="7118413" y="2469865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10.0.0.2</a:t>
            </a:r>
          </a:p>
        </p:txBody>
      </p:sp>
      <p:sp>
        <p:nvSpPr>
          <p:cNvPr id="203" name="Text Box 14"/>
          <p:cNvSpPr txBox="1">
            <a:spLocks noChangeArrowheads="1"/>
          </p:cNvSpPr>
          <p:nvPr/>
        </p:nvSpPr>
        <p:spPr bwMode="auto">
          <a:xfrm>
            <a:off x="7081503" y="3074702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10.0.0.3</a:t>
            </a:r>
          </a:p>
        </p:txBody>
      </p:sp>
      <p:sp>
        <p:nvSpPr>
          <p:cNvPr id="206" name="Text Box 17"/>
          <p:cNvSpPr txBox="1">
            <a:spLocks noChangeArrowheads="1"/>
          </p:cNvSpPr>
          <p:nvPr/>
        </p:nvSpPr>
        <p:spPr bwMode="auto">
          <a:xfrm>
            <a:off x="2966704" y="2754424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138.76.29.7</a:t>
            </a:r>
          </a:p>
        </p:txBody>
      </p:sp>
      <p:sp>
        <p:nvSpPr>
          <p:cNvPr id="207" name="Line 18"/>
          <p:cNvSpPr>
            <a:spLocks noChangeShapeType="1"/>
          </p:cNvSpPr>
          <p:nvPr/>
        </p:nvSpPr>
        <p:spPr bwMode="auto">
          <a:xfrm flipH="1">
            <a:off x="3850147" y="2715133"/>
            <a:ext cx="64294" cy="964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08" name="Line 79"/>
          <p:cNvSpPr>
            <a:spLocks noChangeShapeType="1"/>
          </p:cNvSpPr>
          <p:nvPr/>
        </p:nvSpPr>
        <p:spPr bwMode="auto">
          <a:xfrm>
            <a:off x="1753457" y="2678223"/>
            <a:ext cx="2269331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11" name="Line 83"/>
          <p:cNvSpPr>
            <a:spLocks noChangeShapeType="1"/>
          </p:cNvSpPr>
          <p:nvPr/>
        </p:nvSpPr>
        <p:spPr bwMode="auto">
          <a:xfrm>
            <a:off x="4249007" y="1581658"/>
            <a:ext cx="0" cy="8108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13" name="Line 86"/>
          <p:cNvSpPr>
            <a:spLocks noChangeShapeType="1"/>
          </p:cNvSpPr>
          <p:nvPr/>
        </p:nvSpPr>
        <p:spPr bwMode="auto">
          <a:xfrm>
            <a:off x="3157203" y="1686433"/>
            <a:ext cx="10394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14" name="Line 87"/>
          <p:cNvSpPr>
            <a:spLocks noChangeShapeType="1"/>
          </p:cNvSpPr>
          <p:nvPr/>
        </p:nvSpPr>
        <p:spPr bwMode="auto">
          <a:xfrm flipH="1" flipV="1">
            <a:off x="1798701" y="1676908"/>
            <a:ext cx="6738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15" name="Text Box 88"/>
          <p:cNvSpPr txBox="1">
            <a:spLocks noChangeArrowheads="1"/>
          </p:cNvSpPr>
          <p:nvPr/>
        </p:nvSpPr>
        <p:spPr bwMode="auto">
          <a:xfrm>
            <a:off x="2438146" y="1507840"/>
            <a:ext cx="771365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1350"/>
              <a:t>rest of</a:t>
            </a:r>
          </a:p>
          <a:p>
            <a:pPr algn="ctr">
              <a:defRPr/>
            </a:pPr>
            <a:r>
              <a:rPr lang="en-US" sz="1350"/>
              <a:t>Internet</a:t>
            </a:r>
          </a:p>
        </p:txBody>
      </p:sp>
      <p:grpSp>
        <p:nvGrpSpPr>
          <p:cNvPr id="220" name="Group 98"/>
          <p:cNvGrpSpPr/>
          <p:nvPr/>
        </p:nvGrpSpPr>
        <p:grpSpPr bwMode="auto">
          <a:xfrm>
            <a:off x="3948969" y="2555589"/>
            <a:ext cx="675084" cy="260747"/>
            <a:chOff x="4396" y="1245"/>
            <a:chExt cx="672" cy="248"/>
          </a:xfrm>
        </p:grpSpPr>
        <p:sp>
          <p:nvSpPr>
            <p:cNvPr id="221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2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3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24" name="Group 102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27" name="Freeform 103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Freeform 104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25" name="Line 105"/>
            <p:cNvSpPr>
              <a:spLocks noChangeShapeType="1"/>
            </p:cNvSpPr>
            <p:nvPr/>
          </p:nvSpPr>
          <p:spPr bwMode="auto">
            <a:xfrm>
              <a:off x="4400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26" name="Line 106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229" name="Group 107"/>
          <p:cNvGrpSpPr/>
          <p:nvPr/>
        </p:nvGrpSpPr>
        <p:grpSpPr bwMode="auto">
          <a:xfrm flipH="1">
            <a:off x="6629065" y="1941227"/>
            <a:ext cx="481013" cy="419100"/>
            <a:chOff x="-44" y="1473"/>
            <a:chExt cx="981" cy="1105"/>
          </a:xfrm>
        </p:grpSpPr>
        <p:pic>
          <p:nvPicPr>
            <p:cNvPr id="230" name="Picture 108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1" name="Freeform 10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32" name="Group 110"/>
          <p:cNvGrpSpPr/>
          <p:nvPr/>
        </p:nvGrpSpPr>
        <p:grpSpPr bwMode="auto">
          <a:xfrm flipH="1">
            <a:off x="6658831" y="2448433"/>
            <a:ext cx="481013" cy="419100"/>
            <a:chOff x="-44" y="1473"/>
            <a:chExt cx="981" cy="1105"/>
          </a:xfrm>
        </p:grpSpPr>
        <p:pic>
          <p:nvPicPr>
            <p:cNvPr id="233" name="Picture 111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4" name="Freeform 11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35" name="Group 113"/>
          <p:cNvGrpSpPr/>
          <p:nvPr/>
        </p:nvGrpSpPr>
        <p:grpSpPr bwMode="auto">
          <a:xfrm flipH="1">
            <a:off x="6664784" y="3013979"/>
            <a:ext cx="481013" cy="419100"/>
            <a:chOff x="-44" y="1473"/>
            <a:chExt cx="981" cy="1105"/>
          </a:xfrm>
        </p:grpSpPr>
        <p:pic>
          <p:nvPicPr>
            <p:cNvPr id="236" name="Picture 114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7" name="Freeform 115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cxnSp>
        <p:nvCxnSpPr>
          <p:cNvPr id="239" name="直接连接符 238"/>
          <p:cNvCxnSpPr/>
          <p:nvPr/>
        </p:nvCxnSpPr>
        <p:spPr>
          <a:xfrm>
            <a:off x="6558632" y="2096008"/>
            <a:ext cx="4763" cy="112871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94FDEA12-542B-4584-B511-BDA876C52A1B}"/>
              </a:ext>
            </a:extLst>
          </p:cNvPr>
          <p:cNvSpPr/>
          <p:nvPr/>
        </p:nvSpPr>
        <p:spPr>
          <a:xfrm>
            <a:off x="3914254" y="2950745"/>
            <a:ext cx="1107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b="1" dirty="0"/>
              <a:t>NAT Router</a:t>
            </a:r>
            <a:endParaRPr lang="zh-CN" altLang="en-US" sz="1350" b="1" dirty="0"/>
          </a:p>
        </p:txBody>
      </p:sp>
      <p:sp>
        <p:nvSpPr>
          <p:cNvPr id="43" name="灯片编号占位符 2">
            <a:extLst>
              <a:ext uri="{FF2B5EF4-FFF2-40B4-BE49-F238E27FC236}">
                <a16:creationId xmlns:a16="http://schemas.microsoft.com/office/drawing/2014/main" id="{9825244E-BAFE-472D-9F2D-6F546B7CC1B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44" name="AutoShape 5">
            <a:extLst>
              <a:ext uri="{FF2B5EF4-FFF2-40B4-BE49-F238E27FC236}">
                <a16:creationId xmlns:a16="http://schemas.microsoft.com/office/drawing/2014/main" id="{4AB74CF6-7F82-4428-9B65-740A8ADF6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动机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sz="1650" dirty="0">
                <a:solidFill>
                  <a:srgbClr val="0066CC"/>
                </a:solidFill>
              </a:rPr>
              <a:t>多个用户可以使用一个</a:t>
            </a:r>
            <a:r>
              <a:rPr lang="zh-CN" altLang="en-US" sz="1650" dirty="0">
                <a:solidFill>
                  <a:srgbClr val="FF0000"/>
                </a:solidFill>
              </a:rPr>
              <a:t>公网</a:t>
            </a:r>
            <a:r>
              <a:rPr lang="en-US" altLang="zh-CN" sz="1650" dirty="0">
                <a:solidFill>
                  <a:srgbClr val="FF0000"/>
                </a:solidFill>
              </a:rPr>
              <a:t>IP</a:t>
            </a:r>
            <a:r>
              <a:rPr lang="zh-CN" altLang="en-US" sz="1650" dirty="0">
                <a:solidFill>
                  <a:srgbClr val="0066CC"/>
                </a:solidFill>
              </a:rPr>
              <a:t>接入互联网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r>
              <a:rPr lang="zh-CN" altLang="en-US" sz="1650" dirty="0">
                <a:solidFill>
                  <a:srgbClr val="0066CC"/>
                </a:solidFill>
              </a:rPr>
              <a:t>不需要再从</a:t>
            </a:r>
            <a:r>
              <a:rPr lang="en-US" altLang="zh-CN" sz="1650" dirty="0">
                <a:solidFill>
                  <a:srgbClr val="0066CC"/>
                </a:solidFill>
              </a:rPr>
              <a:t>ISP</a:t>
            </a:r>
            <a:r>
              <a:rPr lang="zh-CN" altLang="en-US" sz="1650" dirty="0">
                <a:solidFill>
                  <a:srgbClr val="0066CC"/>
                </a:solidFill>
              </a:rPr>
              <a:t>获得地址段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r>
              <a:rPr lang="zh-CN" altLang="en-US" sz="1650" dirty="0">
                <a:solidFill>
                  <a:srgbClr val="0066CC"/>
                </a:solidFill>
              </a:rPr>
              <a:t>内部设备的地址更改不需要告知外部网络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r>
              <a:rPr lang="zh-CN" altLang="en-US" sz="1650" dirty="0">
                <a:solidFill>
                  <a:srgbClr val="0066CC"/>
                </a:solidFill>
              </a:rPr>
              <a:t>更换</a:t>
            </a:r>
            <a:r>
              <a:rPr lang="en-US" altLang="zh-CN" sz="1650" dirty="0">
                <a:solidFill>
                  <a:srgbClr val="0066CC"/>
                </a:solidFill>
              </a:rPr>
              <a:t>ISP</a:t>
            </a:r>
            <a:r>
              <a:rPr lang="zh-CN" altLang="en-US" sz="1650" dirty="0">
                <a:solidFill>
                  <a:srgbClr val="0066CC"/>
                </a:solidFill>
              </a:rPr>
              <a:t>后，内网的地址不需要变更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r>
              <a:rPr lang="zh-CN" altLang="en-US" sz="1650" dirty="0">
                <a:solidFill>
                  <a:srgbClr val="0066CC"/>
                </a:solidFill>
              </a:rPr>
              <a:t>内网的结构被屏蔽</a:t>
            </a:r>
            <a:r>
              <a:rPr lang="en-US" altLang="zh-CN" sz="1650" dirty="0">
                <a:solidFill>
                  <a:srgbClr val="0066CC"/>
                </a:solidFill>
              </a:rPr>
              <a:t>(</a:t>
            </a:r>
            <a:r>
              <a:rPr lang="zh-CN" altLang="en-US" sz="1650" dirty="0">
                <a:solidFill>
                  <a:srgbClr val="0066CC"/>
                </a:solidFill>
              </a:rPr>
              <a:t>出于安全的考虑</a:t>
            </a:r>
            <a:r>
              <a:rPr lang="en-US" altLang="zh-CN" sz="1650" dirty="0">
                <a:solidFill>
                  <a:srgbClr val="0066CC"/>
                </a:solidFill>
              </a:rPr>
              <a:t>)</a:t>
            </a:r>
          </a:p>
          <a:p>
            <a:pPr lvl="2"/>
            <a:r>
              <a:rPr lang="en-US" altLang="zh-CN" sz="1650" dirty="0">
                <a:solidFill>
                  <a:srgbClr val="0066CC"/>
                </a:solidFill>
              </a:rPr>
              <a:t>……</a:t>
            </a:r>
          </a:p>
          <a:p>
            <a:pPr lvl="2"/>
            <a:endParaRPr lang="en-US" altLang="zh-CN" sz="1650" dirty="0">
              <a:solidFill>
                <a:srgbClr val="0066CC"/>
              </a:solidFill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B99C9546-90F5-418A-A8BA-96A347FABAA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C41A9E6A-E12E-4ED6-847A-D1BCB07F1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实现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sz="1800" dirty="0">
                <a:solidFill>
                  <a:srgbClr val="0066CC"/>
                </a:solidFill>
              </a:rPr>
              <a:t>端口</a:t>
            </a:r>
            <a:r>
              <a:rPr lang="en-US" altLang="zh-CN" sz="1800" dirty="0">
                <a:solidFill>
                  <a:srgbClr val="0066CC"/>
                </a:solidFill>
              </a:rPr>
              <a:t>/</a:t>
            </a:r>
            <a:r>
              <a:rPr lang="zh-CN" altLang="en-US" sz="1800" dirty="0">
                <a:solidFill>
                  <a:srgbClr val="0066CC"/>
                </a:solidFill>
              </a:rPr>
              <a:t>地址映射</a:t>
            </a:r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8" name="Freeform 139"/>
          <p:cNvSpPr/>
          <p:nvPr/>
        </p:nvSpPr>
        <p:spPr bwMode="auto">
          <a:xfrm>
            <a:off x="1277541" y="2944434"/>
            <a:ext cx="3067050" cy="1016794"/>
          </a:xfrm>
          <a:custGeom>
            <a:avLst/>
            <a:gdLst>
              <a:gd name="T0" fmla="*/ 2147483647 w 2269"/>
              <a:gd name="T1" fmla="*/ 2147483647 h 854"/>
              <a:gd name="T2" fmla="*/ 2147483647 w 2269"/>
              <a:gd name="T3" fmla="*/ 2147483647 h 854"/>
              <a:gd name="T4" fmla="*/ 2147483647 w 2269"/>
              <a:gd name="T5" fmla="*/ 2147483647 h 854"/>
              <a:gd name="T6" fmla="*/ 2147483647 w 2269"/>
              <a:gd name="T7" fmla="*/ 2147483647 h 854"/>
              <a:gd name="T8" fmla="*/ 2147483647 w 2269"/>
              <a:gd name="T9" fmla="*/ 2147483647 h 854"/>
              <a:gd name="T10" fmla="*/ 2147483647 w 2269"/>
              <a:gd name="T11" fmla="*/ 2147483647 h 854"/>
              <a:gd name="T12" fmla="*/ 2147483647 w 2269"/>
              <a:gd name="T13" fmla="*/ 2147483647 h 8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Freeform 29"/>
          <p:cNvSpPr/>
          <p:nvPr/>
        </p:nvSpPr>
        <p:spPr bwMode="auto">
          <a:xfrm>
            <a:off x="4494610" y="2397937"/>
            <a:ext cx="2803922" cy="202287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" name="Line 32"/>
          <p:cNvSpPr>
            <a:spLocks noChangeShapeType="1"/>
          </p:cNvSpPr>
          <p:nvPr/>
        </p:nvSpPr>
        <p:spPr bwMode="auto">
          <a:xfrm>
            <a:off x="4580335" y="3389728"/>
            <a:ext cx="213479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" name="Line 34"/>
          <p:cNvSpPr>
            <a:spLocks noChangeShapeType="1"/>
          </p:cNvSpPr>
          <p:nvPr/>
        </p:nvSpPr>
        <p:spPr bwMode="auto">
          <a:xfrm>
            <a:off x="6710362" y="2828944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2" name="Line 35"/>
          <p:cNvSpPr>
            <a:spLocks noChangeShapeType="1"/>
          </p:cNvSpPr>
          <p:nvPr/>
        </p:nvSpPr>
        <p:spPr bwMode="auto">
          <a:xfrm flipV="1">
            <a:off x="6715125" y="3957656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3" name="Text Box 36"/>
          <p:cNvSpPr txBox="1">
            <a:spLocks noChangeArrowheads="1"/>
          </p:cNvSpPr>
          <p:nvPr/>
        </p:nvSpPr>
        <p:spPr bwMode="auto">
          <a:xfrm>
            <a:off x="7179469" y="2626538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10.0.0.1</a:t>
            </a:r>
          </a:p>
        </p:txBody>
      </p:sp>
      <p:sp>
        <p:nvSpPr>
          <p:cNvPr id="14" name="Text Box 37"/>
          <p:cNvSpPr txBox="1">
            <a:spLocks noChangeArrowheads="1"/>
          </p:cNvSpPr>
          <p:nvPr/>
        </p:nvSpPr>
        <p:spPr bwMode="auto">
          <a:xfrm>
            <a:off x="7274719" y="3202801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10.0.0.2</a:t>
            </a:r>
          </a:p>
        </p:txBody>
      </p:sp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7246144" y="3874313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10.0.0.3</a:t>
            </a: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>
            <a:off x="4543425" y="3069451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10.0.0.4</a:t>
            </a:r>
          </a:p>
        </p:txBody>
      </p:sp>
      <p:sp>
        <p:nvSpPr>
          <p:cNvPr id="33" name="Line 55"/>
          <p:cNvSpPr>
            <a:spLocks noChangeShapeType="1"/>
          </p:cNvSpPr>
          <p:nvPr/>
        </p:nvSpPr>
        <p:spPr bwMode="auto">
          <a:xfrm flipH="1">
            <a:off x="4636294" y="3261140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34" name="Text Box 56"/>
          <p:cNvSpPr txBox="1">
            <a:spLocks noChangeArrowheads="1"/>
          </p:cNvSpPr>
          <p:nvPr/>
        </p:nvSpPr>
        <p:spPr bwMode="auto">
          <a:xfrm>
            <a:off x="3164682" y="3487360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dirty="0"/>
              <a:t>138.76.29.7</a:t>
            </a:r>
          </a:p>
        </p:txBody>
      </p:sp>
      <p:sp>
        <p:nvSpPr>
          <p:cNvPr id="35" name="Line 57"/>
          <p:cNvSpPr>
            <a:spLocks noChangeShapeType="1"/>
          </p:cNvSpPr>
          <p:nvPr/>
        </p:nvSpPr>
        <p:spPr bwMode="auto">
          <a:xfrm flipH="1">
            <a:off x="4081463" y="3439734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0" name="Line 138"/>
          <p:cNvSpPr>
            <a:spLocks noChangeShapeType="1"/>
          </p:cNvSpPr>
          <p:nvPr/>
        </p:nvSpPr>
        <p:spPr bwMode="auto">
          <a:xfrm>
            <a:off x="1909763" y="3411159"/>
            <a:ext cx="2269331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01" name="Group 143"/>
          <p:cNvGrpSpPr/>
          <p:nvPr/>
        </p:nvGrpSpPr>
        <p:grpSpPr bwMode="auto">
          <a:xfrm>
            <a:off x="4169569" y="3277809"/>
            <a:ext cx="440531" cy="242888"/>
            <a:chOff x="4396" y="1245"/>
            <a:chExt cx="672" cy="248"/>
          </a:xfrm>
        </p:grpSpPr>
        <p:sp>
          <p:nvSpPr>
            <p:cNvPr id="10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05" name="Group 147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08" name="Freeform 148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9" name="Freeform 149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06" name="Line 150"/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07" name="Line 151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10" name="Group 156"/>
          <p:cNvGrpSpPr/>
          <p:nvPr/>
        </p:nvGrpSpPr>
        <p:grpSpPr bwMode="auto">
          <a:xfrm flipH="1">
            <a:off x="6790135" y="2689640"/>
            <a:ext cx="481013" cy="419100"/>
            <a:chOff x="-44" y="1473"/>
            <a:chExt cx="981" cy="1105"/>
          </a:xfrm>
        </p:grpSpPr>
        <p:pic>
          <p:nvPicPr>
            <p:cNvPr id="111" name="Picture 157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" name="Freeform 158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13" name="Group 159"/>
          <p:cNvGrpSpPr/>
          <p:nvPr/>
        </p:nvGrpSpPr>
        <p:grpSpPr bwMode="auto">
          <a:xfrm flipH="1">
            <a:off x="6798469" y="3246853"/>
            <a:ext cx="481013" cy="419100"/>
            <a:chOff x="-44" y="1473"/>
            <a:chExt cx="981" cy="1105"/>
          </a:xfrm>
        </p:grpSpPr>
        <p:pic>
          <p:nvPicPr>
            <p:cNvPr id="114" name="Picture 160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16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16" name="Group 162"/>
          <p:cNvGrpSpPr/>
          <p:nvPr/>
        </p:nvGrpSpPr>
        <p:grpSpPr bwMode="auto">
          <a:xfrm flipH="1">
            <a:off x="6804422" y="3812400"/>
            <a:ext cx="481013" cy="419100"/>
            <a:chOff x="-44" y="1473"/>
            <a:chExt cx="981" cy="1105"/>
          </a:xfrm>
        </p:grpSpPr>
        <p:pic>
          <p:nvPicPr>
            <p:cNvPr id="117" name="Picture 163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Freeform 164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19" name="Line 32"/>
          <p:cNvSpPr>
            <a:spLocks noChangeShapeType="1"/>
          </p:cNvSpPr>
          <p:nvPr/>
        </p:nvSpPr>
        <p:spPr bwMode="auto">
          <a:xfrm>
            <a:off x="6682979" y="3384965"/>
            <a:ext cx="16430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cxnSp>
        <p:nvCxnSpPr>
          <p:cNvPr id="120" name="直接连接符 119"/>
          <p:cNvCxnSpPr/>
          <p:nvPr/>
        </p:nvCxnSpPr>
        <p:spPr>
          <a:xfrm>
            <a:off x="6716074" y="2841751"/>
            <a:ext cx="4763" cy="112871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灯片编号占位符 2">
            <a:extLst>
              <a:ext uri="{FF2B5EF4-FFF2-40B4-BE49-F238E27FC236}">
                <a16:creationId xmlns:a16="http://schemas.microsoft.com/office/drawing/2014/main" id="{79133C70-864C-490B-B0E3-5039FAC0806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599B5A88-37C4-4482-8CDB-52A68E5E0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59"/>
          <p:cNvGrpSpPr/>
          <p:nvPr/>
        </p:nvGrpSpPr>
        <p:grpSpPr bwMode="auto">
          <a:xfrm flipH="1">
            <a:off x="6798469" y="3246853"/>
            <a:ext cx="481013" cy="419100"/>
            <a:chOff x="-44" y="1473"/>
            <a:chExt cx="981" cy="1105"/>
          </a:xfrm>
        </p:grpSpPr>
        <p:pic>
          <p:nvPicPr>
            <p:cNvPr id="114" name="Picture 160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16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16" name="Group 162"/>
          <p:cNvGrpSpPr/>
          <p:nvPr/>
        </p:nvGrpSpPr>
        <p:grpSpPr bwMode="auto">
          <a:xfrm flipH="1">
            <a:off x="6804422" y="3812400"/>
            <a:ext cx="481013" cy="419100"/>
            <a:chOff x="-44" y="1473"/>
            <a:chExt cx="981" cy="1105"/>
          </a:xfrm>
        </p:grpSpPr>
        <p:pic>
          <p:nvPicPr>
            <p:cNvPr id="117" name="Picture 163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Freeform 164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实现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8" name="Freeform 139"/>
          <p:cNvSpPr/>
          <p:nvPr/>
        </p:nvSpPr>
        <p:spPr bwMode="auto">
          <a:xfrm>
            <a:off x="1277541" y="2944434"/>
            <a:ext cx="3067050" cy="1016794"/>
          </a:xfrm>
          <a:custGeom>
            <a:avLst/>
            <a:gdLst>
              <a:gd name="T0" fmla="*/ 2147483647 w 2269"/>
              <a:gd name="T1" fmla="*/ 2147483647 h 854"/>
              <a:gd name="T2" fmla="*/ 2147483647 w 2269"/>
              <a:gd name="T3" fmla="*/ 2147483647 h 854"/>
              <a:gd name="T4" fmla="*/ 2147483647 w 2269"/>
              <a:gd name="T5" fmla="*/ 2147483647 h 854"/>
              <a:gd name="T6" fmla="*/ 2147483647 w 2269"/>
              <a:gd name="T7" fmla="*/ 2147483647 h 854"/>
              <a:gd name="T8" fmla="*/ 2147483647 w 2269"/>
              <a:gd name="T9" fmla="*/ 2147483647 h 854"/>
              <a:gd name="T10" fmla="*/ 2147483647 w 2269"/>
              <a:gd name="T11" fmla="*/ 2147483647 h 854"/>
              <a:gd name="T12" fmla="*/ 2147483647 w 2269"/>
              <a:gd name="T13" fmla="*/ 2147483647 h 8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Freeform 29"/>
          <p:cNvSpPr/>
          <p:nvPr/>
        </p:nvSpPr>
        <p:spPr bwMode="auto">
          <a:xfrm>
            <a:off x="4494610" y="2397937"/>
            <a:ext cx="2803922" cy="202287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>
              <a:alpha val="64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" name="Line 32"/>
          <p:cNvSpPr>
            <a:spLocks noChangeShapeType="1"/>
          </p:cNvSpPr>
          <p:nvPr/>
        </p:nvSpPr>
        <p:spPr bwMode="auto">
          <a:xfrm>
            <a:off x="4580335" y="3389728"/>
            <a:ext cx="213002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" name="Line 34"/>
          <p:cNvSpPr>
            <a:spLocks noChangeShapeType="1"/>
          </p:cNvSpPr>
          <p:nvPr/>
        </p:nvSpPr>
        <p:spPr bwMode="auto">
          <a:xfrm>
            <a:off x="6710362" y="2828944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2" name="Line 35"/>
          <p:cNvSpPr>
            <a:spLocks noChangeShapeType="1"/>
          </p:cNvSpPr>
          <p:nvPr/>
        </p:nvSpPr>
        <p:spPr bwMode="auto">
          <a:xfrm flipV="1">
            <a:off x="6715125" y="3957656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3" name="Text Box 36"/>
          <p:cNvSpPr txBox="1">
            <a:spLocks noChangeArrowheads="1"/>
          </p:cNvSpPr>
          <p:nvPr/>
        </p:nvSpPr>
        <p:spPr bwMode="auto">
          <a:xfrm>
            <a:off x="7179469" y="2626538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10.0.0.1</a:t>
            </a:r>
          </a:p>
        </p:txBody>
      </p:sp>
      <p:sp>
        <p:nvSpPr>
          <p:cNvPr id="14" name="Text Box 37"/>
          <p:cNvSpPr txBox="1">
            <a:spLocks noChangeArrowheads="1"/>
          </p:cNvSpPr>
          <p:nvPr/>
        </p:nvSpPr>
        <p:spPr bwMode="auto">
          <a:xfrm>
            <a:off x="7274719" y="3202801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dirty="0"/>
              <a:t>10.0.0.2</a:t>
            </a:r>
          </a:p>
        </p:txBody>
      </p:sp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7246144" y="3874313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10.0.0.3</a:t>
            </a: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>
            <a:off x="4543425" y="3069451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10.0.0.4</a:t>
            </a:r>
          </a:p>
        </p:txBody>
      </p:sp>
      <p:sp>
        <p:nvSpPr>
          <p:cNvPr id="33" name="Line 55"/>
          <p:cNvSpPr>
            <a:spLocks noChangeShapeType="1"/>
          </p:cNvSpPr>
          <p:nvPr/>
        </p:nvSpPr>
        <p:spPr bwMode="auto">
          <a:xfrm flipH="1">
            <a:off x="4636294" y="3261140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34" name="Text Box 56"/>
          <p:cNvSpPr txBox="1">
            <a:spLocks noChangeArrowheads="1"/>
          </p:cNvSpPr>
          <p:nvPr/>
        </p:nvSpPr>
        <p:spPr bwMode="auto">
          <a:xfrm>
            <a:off x="3164682" y="3487360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138.76.29.7</a:t>
            </a:r>
          </a:p>
        </p:txBody>
      </p:sp>
      <p:sp>
        <p:nvSpPr>
          <p:cNvPr id="35" name="Line 57"/>
          <p:cNvSpPr>
            <a:spLocks noChangeShapeType="1"/>
          </p:cNvSpPr>
          <p:nvPr/>
        </p:nvSpPr>
        <p:spPr bwMode="auto">
          <a:xfrm flipH="1">
            <a:off x="4081463" y="3439734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36" name="Group 59"/>
          <p:cNvGrpSpPr/>
          <p:nvPr/>
        </p:nvGrpSpPr>
        <p:grpSpPr bwMode="auto">
          <a:xfrm>
            <a:off x="5932344" y="1603196"/>
            <a:ext cx="1876425" cy="1041797"/>
            <a:chOff x="3944" y="989"/>
            <a:chExt cx="1576" cy="875"/>
          </a:xfrm>
        </p:grpSpPr>
        <p:sp>
          <p:nvSpPr>
            <p:cNvPr id="37" name="Text Box 53"/>
            <p:cNvSpPr txBox="1">
              <a:spLocks noChangeArrowheads="1"/>
            </p:cNvSpPr>
            <p:nvPr/>
          </p:nvSpPr>
          <p:spPr bwMode="auto">
            <a:xfrm>
              <a:off x="4121" y="989"/>
              <a:ext cx="1399" cy="5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lnSpc>
                  <a:spcPct val="85000"/>
                </a:lnSpc>
                <a:defRPr/>
              </a:pPr>
              <a:r>
                <a:rPr lang="en-US" sz="1350" b="1" i="1" dirty="0">
                  <a:solidFill>
                    <a:srgbClr val="CC0000"/>
                  </a:solidFill>
                </a:rPr>
                <a:t>1:</a:t>
              </a:r>
              <a:r>
                <a:rPr lang="en-US" sz="1350" dirty="0">
                  <a:solidFill>
                    <a:srgbClr val="FF0000"/>
                  </a:solidFill>
                </a:rPr>
                <a:t> </a:t>
              </a:r>
              <a:r>
                <a:rPr lang="en-US" sz="1350" dirty="0">
                  <a:solidFill>
                    <a:srgbClr val="000099"/>
                  </a:solidFill>
                </a:rPr>
                <a:t>host 10.0.0.1 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sends datagram to 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128.119.40.186, 80</a:t>
              </a:r>
            </a:p>
          </p:txBody>
        </p:sp>
        <p:sp>
          <p:nvSpPr>
            <p:cNvPr id="38" name="Line 58"/>
            <p:cNvSpPr>
              <a:spLocks noChangeShapeType="1"/>
            </p:cNvSpPr>
            <p:nvPr/>
          </p:nvSpPr>
          <p:spPr bwMode="auto">
            <a:xfrm flipH="1">
              <a:off x="3944" y="1105"/>
              <a:ext cx="197" cy="75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39" name="Freeform 67"/>
          <p:cNvSpPr/>
          <p:nvPr/>
        </p:nvSpPr>
        <p:spPr bwMode="auto">
          <a:xfrm>
            <a:off x="2949349" y="2589630"/>
            <a:ext cx="2848995" cy="735805"/>
          </a:xfrm>
          <a:custGeom>
            <a:avLst/>
            <a:gdLst>
              <a:gd name="T0" fmla="*/ 0 w 2433"/>
              <a:gd name="T1" fmla="*/ 2147483647 h 965"/>
              <a:gd name="T2" fmla="*/ 2147483647 w 2433"/>
              <a:gd name="T3" fmla="*/ 2147483647 h 965"/>
              <a:gd name="T4" fmla="*/ 2147483647 w 2433"/>
              <a:gd name="T5" fmla="*/ 2147483647 h 965"/>
              <a:gd name="T6" fmla="*/ 2147483647 w 2433"/>
              <a:gd name="T7" fmla="*/ 2147483647 h 965"/>
              <a:gd name="T8" fmla="*/ 2147483647 w 2433"/>
              <a:gd name="T9" fmla="*/ 2147483647 h 965"/>
              <a:gd name="T10" fmla="*/ 2147483647 w 2433"/>
              <a:gd name="T11" fmla="*/ 2147483647 h 965"/>
              <a:gd name="T12" fmla="*/ 0 w 2433"/>
              <a:gd name="T13" fmla="*/ 2147483647 h 9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bg1"/>
              </a:gs>
            </a:gsLst>
            <a:lin ang="5400000" scaled="1"/>
          </a:gradFill>
          <a:ln w="3175" cap="flat" cmpd="sng">
            <a:solidFill>
              <a:schemeClr val="hlink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0" name="Rectangle 62"/>
          <p:cNvSpPr>
            <a:spLocks noChangeArrowheads="1"/>
          </p:cNvSpPr>
          <p:nvPr/>
        </p:nvSpPr>
        <p:spPr bwMode="auto">
          <a:xfrm>
            <a:off x="2943873" y="1615179"/>
            <a:ext cx="2838450" cy="10156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350"/>
          </a:p>
        </p:txBody>
      </p:sp>
      <p:sp>
        <p:nvSpPr>
          <p:cNvPr id="41" name="Text Box 60"/>
          <p:cNvSpPr txBox="1">
            <a:spLocks noChangeArrowheads="1"/>
          </p:cNvSpPr>
          <p:nvPr/>
        </p:nvSpPr>
        <p:spPr bwMode="auto">
          <a:xfrm>
            <a:off x="3226342" y="1605655"/>
            <a:ext cx="2449613" cy="57195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spcBef>
                <a:spcPts val="450"/>
              </a:spcBef>
              <a:defRPr/>
            </a:pPr>
            <a:r>
              <a:rPr lang="en-US" sz="1350" dirty="0">
                <a:solidFill>
                  <a:srgbClr val="FF00FF"/>
                </a:solidFill>
                <a:latin typeface="+mj-lt"/>
                <a:ea typeface="+mj-ea"/>
              </a:rPr>
              <a:t>NAT </a:t>
            </a:r>
            <a:r>
              <a:rPr lang="zh-CN" altLang="en-US" sz="1350" dirty="0">
                <a:solidFill>
                  <a:srgbClr val="FF00FF"/>
                </a:solidFill>
                <a:latin typeface="+mj-lt"/>
                <a:ea typeface="+mj-ea"/>
              </a:rPr>
              <a:t>端口</a:t>
            </a:r>
            <a:r>
              <a:rPr lang="en-US" altLang="zh-CN" sz="1350" dirty="0">
                <a:solidFill>
                  <a:srgbClr val="FF00FF"/>
                </a:solidFill>
                <a:latin typeface="+mj-lt"/>
                <a:ea typeface="+mj-ea"/>
              </a:rPr>
              <a:t>/</a:t>
            </a:r>
            <a:r>
              <a:rPr lang="zh-CN" altLang="en-US" sz="1350" dirty="0">
                <a:solidFill>
                  <a:srgbClr val="FF00FF"/>
                </a:solidFill>
                <a:latin typeface="+mj-lt"/>
                <a:ea typeface="+mj-ea"/>
              </a:rPr>
              <a:t>地址映射表</a:t>
            </a:r>
            <a:endParaRPr lang="en-US" sz="1350" dirty="0">
              <a:solidFill>
                <a:srgbClr val="FF00FF"/>
              </a:solidFill>
              <a:latin typeface="+mj-lt"/>
              <a:ea typeface="+mj-ea"/>
            </a:endParaRPr>
          </a:p>
          <a:p>
            <a:pPr algn="ctr">
              <a:spcBef>
                <a:spcPts val="450"/>
              </a:spcBef>
              <a:defRPr/>
            </a:pPr>
            <a:r>
              <a:rPr lang="zh-CN" altLang="en-US" sz="1350" dirty="0">
                <a:latin typeface="+mj-lt"/>
                <a:ea typeface="+mj-ea"/>
              </a:rPr>
              <a:t>广域网地址</a:t>
            </a:r>
            <a:r>
              <a:rPr lang="en-US" sz="1350" dirty="0">
                <a:latin typeface="+mj-lt"/>
                <a:ea typeface="+mj-ea"/>
              </a:rPr>
              <a:t>        </a:t>
            </a:r>
            <a:r>
              <a:rPr lang="zh-CN" altLang="en-US" sz="1350" dirty="0">
                <a:latin typeface="+mj-lt"/>
                <a:ea typeface="+mj-ea"/>
              </a:rPr>
              <a:t>局域网地址</a:t>
            </a:r>
            <a:endParaRPr lang="en-US" sz="1350" dirty="0">
              <a:latin typeface="+mj-lt"/>
              <a:ea typeface="+mj-ea"/>
            </a:endParaRPr>
          </a:p>
        </p:txBody>
      </p:sp>
      <p:sp>
        <p:nvSpPr>
          <p:cNvPr id="42" name="Line 63"/>
          <p:cNvSpPr>
            <a:spLocks noChangeShapeType="1"/>
          </p:cNvSpPr>
          <p:nvPr/>
        </p:nvSpPr>
        <p:spPr bwMode="auto">
          <a:xfrm flipV="1">
            <a:off x="2943873" y="1894976"/>
            <a:ext cx="2843213" cy="83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43" name="Line 64"/>
          <p:cNvSpPr>
            <a:spLocks noChangeShapeType="1"/>
          </p:cNvSpPr>
          <p:nvPr/>
        </p:nvSpPr>
        <p:spPr bwMode="auto">
          <a:xfrm flipV="1">
            <a:off x="2954589" y="2103336"/>
            <a:ext cx="2812256" cy="83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44" name="Line 65"/>
          <p:cNvSpPr>
            <a:spLocks noChangeShapeType="1"/>
          </p:cNvSpPr>
          <p:nvPr/>
        </p:nvSpPr>
        <p:spPr bwMode="auto">
          <a:xfrm>
            <a:off x="4536930" y="1911646"/>
            <a:ext cx="2381" cy="716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45" name="Text Box 61"/>
          <p:cNvSpPr txBox="1">
            <a:spLocks noChangeArrowheads="1"/>
          </p:cNvSpPr>
          <p:nvPr/>
        </p:nvSpPr>
        <p:spPr bwMode="auto">
          <a:xfrm>
            <a:off x="2950576" y="2117623"/>
            <a:ext cx="2848857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350" dirty="0">
                <a:solidFill>
                  <a:srgbClr val="FF6600"/>
                </a:solidFill>
              </a:rPr>
              <a:t>138.76.29.7</a:t>
            </a:r>
            <a:r>
              <a:rPr lang="en-US" altLang="zh-CN" sz="1350" dirty="0">
                <a:solidFill>
                  <a:srgbClr val="CC0000"/>
                </a:solidFill>
              </a:rPr>
              <a:t>, </a:t>
            </a:r>
            <a:r>
              <a:rPr lang="en-US" altLang="zh-CN" sz="1350" dirty="0"/>
              <a:t>5001</a:t>
            </a:r>
            <a:r>
              <a:rPr lang="en-US" altLang="zh-CN" sz="1350" dirty="0">
                <a:solidFill>
                  <a:srgbClr val="CC0000"/>
                </a:solidFill>
              </a:rPr>
              <a:t>   </a:t>
            </a:r>
            <a:r>
              <a:rPr lang="en-US" altLang="zh-CN" sz="1350" dirty="0">
                <a:solidFill>
                  <a:srgbClr val="FF8181"/>
                </a:solidFill>
              </a:rPr>
              <a:t>10.0.0.1</a:t>
            </a:r>
            <a:r>
              <a:rPr lang="en-US" altLang="zh-CN" sz="1350" dirty="0">
                <a:solidFill>
                  <a:srgbClr val="CC0000"/>
                </a:solidFill>
              </a:rPr>
              <a:t>, </a:t>
            </a:r>
            <a:r>
              <a:rPr lang="en-US" altLang="zh-CN" sz="1350" dirty="0"/>
              <a:t>3345</a:t>
            </a:r>
          </a:p>
          <a:p>
            <a:pPr algn="ctr"/>
            <a:r>
              <a:rPr lang="en-US" altLang="zh-CN" sz="1350" dirty="0"/>
              <a:t>……                                         ……</a:t>
            </a:r>
          </a:p>
        </p:txBody>
      </p:sp>
      <p:grpSp>
        <p:nvGrpSpPr>
          <p:cNvPr id="46" name="Group 135"/>
          <p:cNvGrpSpPr/>
          <p:nvPr/>
        </p:nvGrpSpPr>
        <p:grpSpPr bwMode="auto">
          <a:xfrm>
            <a:off x="4717257" y="2782510"/>
            <a:ext cx="2088356" cy="1252538"/>
            <a:chOff x="3002" y="2417"/>
            <a:chExt cx="1754" cy="1052"/>
          </a:xfrm>
        </p:grpSpPr>
        <p:sp>
          <p:nvSpPr>
            <p:cNvPr id="47" name="Rectangle 91"/>
            <p:cNvSpPr>
              <a:spLocks noChangeArrowheads="1"/>
            </p:cNvSpPr>
            <p:nvPr/>
          </p:nvSpPr>
          <p:spPr bwMode="auto">
            <a:xfrm>
              <a:off x="3002" y="3051"/>
              <a:ext cx="1175" cy="25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48" name="Text Box 92"/>
            <p:cNvSpPr txBox="1">
              <a:spLocks noChangeArrowheads="1"/>
            </p:cNvSpPr>
            <p:nvPr/>
          </p:nvSpPr>
          <p:spPr bwMode="auto">
            <a:xfrm>
              <a:off x="3104" y="3042"/>
              <a:ext cx="1112" cy="4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S: 128.119.40.186, 80 </a:t>
              </a:r>
            </a:p>
            <a:p>
              <a:r>
                <a:rPr lang="en-US" altLang="zh-CN" sz="900" b="1" dirty="0"/>
                <a:t>D: 10.0.0.1, 3345</a:t>
              </a:r>
            </a:p>
            <a:p>
              <a:endParaRPr lang="en-US" altLang="zh-CN" sz="900" dirty="0"/>
            </a:p>
          </p:txBody>
        </p:sp>
        <p:grpSp>
          <p:nvGrpSpPr>
            <p:cNvPr id="49" name="Group 93"/>
            <p:cNvGrpSpPr/>
            <p:nvPr/>
          </p:nvGrpSpPr>
          <p:grpSpPr bwMode="auto"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58" name="Freeform 94"/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59" name="Line 95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60" name="Line 96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50" name="Group 97"/>
            <p:cNvGrpSpPr/>
            <p:nvPr/>
          </p:nvGrpSpPr>
          <p:grpSpPr bwMode="auto"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55" name="Freeform 98"/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56" name="Line 99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57" name="Line 100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51" name="Freeform 101"/>
            <p:cNvSpPr/>
            <p:nvPr/>
          </p:nvSpPr>
          <p:spPr bwMode="auto">
            <a:xfrm>
              <a:off x="4179" y="2417"/>
              <a:ext cx="577" cy="768"/>
            </a:xfrm>
            <a:custGeom>
              <a:avLst/>
              <a:gdLst>
                <a:gd name="T0" fmla="*/ 577 w 577"/>
                <a:gd name="T1" fmla="*/ 0 h 768"/>
                <a:gd name="T2" fmla="*/ 342 w 577"/>
                <a:gd name="T3" fmla="*/ 0 h 768"/>
                <a:gd name="T4" fmla="*/ 342 w 577"/>
                <a:gd name="T5" fmla="*/ 768 h 768"/>
                <a:gd name="T6" fmla="*/ 0 w 577"/>
                <a:gd name="T7" fmla="*/ 760 h 7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38100" cap="flat" cmpd="sng">
              <a:solidFill>
                <a:srgbClr val="C0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52" name="Group 102"/>
            <p:cNvGrpSpPr/>
            <p:nvPr/>
          </p:nvGrpSpPr>
          <p:grpSpPr bwMode="auto">
            <a:xfrm>
              <a:off x="4240" y="3061"/>
              <a:ext cx="250" cy="252"/>
              <a:chOff x="5140" y="400"/>
              <a:chExt cx="250" cy="252"/>
            </a:xfrm>
          </p:grpSpPr>
          <p:sp>
            <p:nvSpPr>
              <p:cNvPr id="53" name="Oval 103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54" name="Text Box 104"/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4</a:t>
                </a:r>
              </a:p>
            </p:txBody>
          </p:sp>
        </p:grpSp>
      </p:grpSp>
      <p:grpSp>
        <p:nvGrpSpPr>
          <p:cNvPr id="61" name="Group 108"/>
          <p:cNvGrpSpPr/>
          <p:nvPr/>
        </p:nvGrpSpPr>
        <p:grpSpPr bwMode="auto">
          <a:xfrm>
            <a:off x="2291954" y="2945625"/>
            <a:ext cx="1872853" cy="425053"/>
            <a:chOff x="1026" y="3559"/>
            <a:chExt cx="1573" cy="357"/>
          </a:xfrm>
        </p:grpSpPr>
        <p:grpSp>
          <p:nvGrpSpPr>
            <p:cNvPr id="62" name="Group 68"/>
            <p:cNvGrpSpPr/>
            <p:nvPr/>
          </p:nvGrpSpPr>
          <p:grpSpPr bwMode="auto"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67" name="Rectangle 69"/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8" name="Text Box 70"/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900" b="1" dirty="0"/>
                  <a:t>S: 138.76.29.7, 5001</a:t>
                </a:r>
              </a:p>
              <a:p>
                <a:pPr>
                  <a:defRPr/>
                </a:pPr>
                <a:r>
                  <a:rPr lang="en-US" sz="900" dirty="0"/>
                  <a:t>D: 128.119.40.186, 80</a:t>
                </a:r>
              </a:p>
            </p:txBody>
          </p:sp>
          <p:grpSp>
            <p:nvGrpSpPr>
              <p:cNvPr id="69" name="Group 71"/>
              <p:cNvGrpSpPr/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74" name="Freeform 72"/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75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76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70" name="Group 75"/>
              <p:cNvGrpSpPr/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71" name="Freeform 76"/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72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5510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73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  <p:sp>
          <p:nvSpPr>
            <p:cNvPr id="63" name="Line 79"/>
            <p:cNvSpPr>
              <a:spLocks noChangeShapeType="1"/>
            </p:cNvSpPr>
            <p:nvPr/>
          </p:nvSpPr>
          <p:spPr bwMode="auto">
            <a:xfrm flipH="1">
              <a:off x="1026" y="3729"/>
              <a:ext cx="37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64" name="Group 105"/>
            <p:cNvGrpSpPr/>
            <p:nvPr/>
          </p:nvGrpSpPr>
          <p:grpSpPr bwMode="auto">
            <a:xfrm>
              <a:off x="1143" y="3613"/>
              <a:ext cx="250" cy="252"/>
              <a:chOff x="5140" y="400"/>
              <a:chExt cx="250" cy="252"/>
            </a:xfrm>
          </p:grpSpPr>
          <p:sp>
            <p:nvSpPr>
              <p:cNvPr id="65" name="Oval 106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6" name="Text Box 107"/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77" name="Group 112"/>
          <p:cNvGrpSpPr/>
          <p:nvPr/>
        </p:nvGrpSpPr>
        <p:grpSpPr bwMode="auto">
          <a:xfrm>
            <a:off x="1201342" y="1922878"/>
            <a:ext cx="3832622" cy="1151334"/>
            <a:chOff x="49" y="1695"/>
            <a:chExt cx="3219" cy="967"/>
          </a:xfrm>
        </p:grpSpPr>
        <p:sp>
          <p:nvSpPr>
            <p:cNvPr id="78" name="Text Box 82"/>
            <p:cNvSpPr txBox="1">
              <a:spLocks noChangeArrowheads="1"/>
            </p:cNvSpPr>
            <p:nvPr/>
          </p:nvSpPr>
          <p:spPr bwMode="auto">
            <a:xfrm>
              <a:off x="49" y="1695"/>
              <a:ext cx="1367" cy="96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lnSpc>
                  <a:spcPct val="85000"/>
                </a:lnSpc>
                <a:defRPr/>
              </a:pPr>
              <a:r>
                <a:rPr lang="en-US" sz="1350" b="1" i="1" dirty="0">
                  <a:solidFill>
                    <a:srgbClr val="CC0000"/>
                  </a:solidFill>
                </a:rPr>
                <a:t>2:</a:t>
              </a:r>
              <a:r>
                <a:rPr lang="en-US" sz="1350" dirty="0">
                  <a:solidFill>
                    <a:srgbClr val="FF0000"/>
                  </a:solidFill>
                </a:rPr>
                <a:t> </a:t>
              </a:r>
              <a:r>
                <a:rPr lang="en-US" sz="1350" dirty="0">
                  <a:solidFill>
                    <a:srgbClr val="000099"/>
                  </a:solidFill>
                </a:rPr>
                <a:t>NAT router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changes datagram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source </a:t>
              </a:r>
              <a:r>
                <a:rPr lang="en-US" sz="1350" dirty="0" err="1">
                  <a:solidFill>
                    <a:srgbClr val="000099"/>
                  </a:solidFill>
                </a:rPr>
                <a:t>addr</a:t>
              </a:r>
              <a:r>
                <a:rPr lang="en-US" sz="1350" dirty="0">
                  <a:solidFill>
                    <a:srgbClr val="000099"/>
                  </a:solidFill>
                </a:rPr>
                <a:t> from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10.0.0.1, 3345 to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138.76.29.7, 5001,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updates table</a:t>
              </a:r>
            </a:p>
          </p:txBody>
        </p:sp>
        <p:sp>
          <p:nvSpPr>
            <p:cNvPr id="79" name="Line 83"/>
            <p:cNvSpPr>
              <a:spLocks noChangeShapeType="1"/>
            </p:cNvSpPr>
            <p:nvPr/>
          </p:nvSpPr>
          <p:spPr bwMode="auto">
            <a:xfrm>
              <a:off x="1285" y="2243"/>
              <a:ext cx="147" cy="35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0" name="Line 110"/>
            <p:cNvSpPr>
              <a:spLocks noChangeShapeType="1"/>
            </p:cNvSpPr>
            <p:nvPr/>
          </p:nvSpPr>
          <p:spPr bwMode="auto">
            <a:xfrm flipV="1">
              <a:off x="1275" y="2057"/>
              <a:ext cx="690" cy="18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2" name="Line 111"/>
            <p:cNvSpPr>
              <a:spLocks noChangeShapeType="1"/>
            </p:cNvSpPr>
            <p:nvPr/>
          </p:nvSpPr>
          <p:spPr bwMode="auto">
            <a:xfrm flipV="1">
              <a:off x="1275" y="2068"/>
              <a:ext cx="1993" cy="17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83" name="Group 129"/>
          <p:cNvGrpSpPr/>
          <p:nvPr/>
        </p:nvGrpSpPr>
        <p:grpSpPr bwMode="auto">
          <a:xfrm>
            <a:off x="2163366" y="3717153"/>
            <a:ext cx="1853803" cy="551260"/>
            <a:chOff x="1163" y="3752"/>
            <a:chExt cx="1557" cy="463"/>
          </a:xfrm>
        </p:grpSpPr>
        <p:sp>
          <p:nvSpPr>
            <p:cNvPr id="84" name="Rectangle 115"/>
            <p:cNvSpPr>
              <a:spLocks noChangeArrowheads="1"/>
            </p:cNvSpPr>
            <p:nvPr/>
          </p:nvSpPr>
          <p:spPr bwMode="auto">
            <a:xfrm>
              <a:off x="1163" y="3796"/>
              <a:ext cx="1183" cy="256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85" name="Text Box 116"/>
            <p:cNvSpPr txBox="1">
              <a:spLocks noChangeArrowheads="1"/>
            </p:cNvSpPr>
            <p:nvPr/>
          </p:nvSpPr>
          <p:spPr bwMode="auto">
            <a:xfrm>
              <a:off x="1281" y="3788"/>
              <a:ext cx="1120" cy="4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S: 128.119.40.186, 80 </a:t>
              </a:r>
            </a:p>
            <a:p>
              <a:r>
                <a:rPr lang="en-US" altLang="zh-CN" sz="900" b="1" dirty="0"/>
                <a:t>D: 138.76.29.7, 5001</a:t>
              </a:r>
            </a:p>
            <a:p>
              <a:endParaRPr lang="en-US" altLang="zh-CN" sz="900" dirty="0"/>
            </a:p>
          </p:txBody>
        </p:sp>
        <p:grpSp>
          <p:nvGrpSpPr>
            <p:cNvPr id="86" name="Group 117"/>
            <p:cNvGrpSpPr/>
            <p:nvPr/>
          </p:nvGrpSpPr>
          <p:grpSpPr bwMode="auto"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95" name="Freeform 118"/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96" name="Line 119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7" name="Line 120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87" name="Group 121"/>
            <p:cNvGrpSpPr/>
            <p:nvPr/>
          </p:nvGrpSpPr>
          <p:grpSpPr bwMode="auto"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92" name="Freeform 122"/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93" name="Line 123"/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4" name="Line 124"/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88" name="Line 125"/>
            <p:cNvSpPr>
              <a:spLocks noChangeShapeType="1"/>
            </p:cNvSpPr>
            <p:nvPr/>
          </p:nvSpPr>
          <p:spPr bwMode="auto">
            <a:xfrm flipH="1">
              <a:off x="2344" y="3931"/>
              <a:ext cx="376" cy="0"/>
            </a:xfrm>
            <a:prstGeom prst="line">
              <a:avLst/>
            </a:prstGeom>
            <a:noFill/>
            <a:ln w="34925">
              <a:solidFill>
                <a:srgbClr val="C0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89" name="Group 126"/>
            <p:cNvGrpSpPr/>
            <p:nvPr/>
          </p:nvGrpSpPr>
          <p:grpSpPr bwMode="auto">
            <a:xfrm>
              <a:off x="2409" y="3815"/>
              <a:ext cx="250" cy="252"/>
              <a:chOff x="5140" y="400"/>
              <a:chExt cx="250" cy="252"/>
            </a:xfrm>
          </p:grpSpPr>
          <p:sp>
            <p:nvSpPr>
              <p:cNvPr id="90" name="Oval 127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91" name="Text Box 128"/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3</a:t>
                </a:r>
              </a:p>
            </p:txBody>
          </p:sp>
        </p:grpSp>
      </p:grpSp>
      <p:sp>
        <p:nvSpPr>
          <p:cNvPr id="98" name="Text Box 131"/>
          <p:cNvSpPr txBox="1">
            <a:spLocks noChangeArrowheads="1"/>
          </p:cNvSpPr>
          <p:nvPr/>
        </p:nvSpPr>
        <p:spPr bwMode="auto">
          <a:xfrm>
            <a:off x="2131219" y="4083863"/>
            <a:ext cx="1627369" cy="6220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1350" b="1" i="1">
                <a:solidFill>
                  <a:srgbClr val="CC0000"/>
                </a:solidFill>
              </a:rPr>
              <a:t>3:</a:t>
            </a:r>
            <a:r>
              <a:rPr lang="en-US" sz="1350">
                <a:solidFill>
                  <a:srgbClr val="FF0000"/>
                </a:solidFill>
              </a:rPr>
              <a:t> </a:t>
            </a:r>
            <a:r>
              <a:rPr lang="en-US" sz="1350">
                <a:solidFill>
                  <a:srgbClr val="000099"/>
                </a:solidFill>
              </a:rPr>
              <a:t>reply arrives</a:t>
            </a:r>
          </a:p>
          <a:p>
            <a:pPr>
              <a:lnSpc>
                <a:spcPct val="85000"/>
              </a:lnSpc>
              <a:defRPr/>
            </a:pPr>
            <a:r>
              <a:rPr lang="en-US" sz="1350">
                <a:solidFill>
                  <a:srgbClr val="000099"/>
                </a:solidFill>
              </a:rPr>
              <a:t> dest. address:</a:t>
            </a:r>
          </a:p>
          <a:p>
            <a:pPr>
              <a:lnSpc>
                <a:spcPct val="85000"/>
              </a:lnSpc>
              <a:defRPr/>
            </a:pPr>
            <a:r>
              <a:rPr lang="en-US" sz="1350">
                <a:solidFill>
                  <a:srgbClr val="000099"/>
                </a:solidFill>
              </a:rPr>
              <a:t> 138.76.29.7, 5001</a:t>
            </a:r>
          </a:p>
        </p:txBody>
      </p:sp>
      <p:sp>
        <p:nvSpPr>
          <p:cNvPr id="99" name="Text Box 136"/>
          <p:cNvSpPr txBox="1">
            <a:spLocks noChangeArrowheads="1"/>
          </p:cNvSpPr>
          <p:nvPr/>
        </p:nvSpPr>
        <p:spPr bwMode="auto">
          <a:xfrm>
            <a:off x="4699398" y="3972893"/>
            <a:ext cx="2925801" cy="7986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350" b="1" i="1" dirty="0">
                <a:solidFill>
                  <a:srgbClr val="CC0000"/>
                </a:solidFill>
              </a:rPr>
              <a:t>4:</a:t>
            </a:r>
            <a:r>
              <a:rPr lang="en-US" altLang="zh-CN" sz="1350" dirty="0">
                <a:solidFill>
                  <a:srgbClr val="FF0000"/>
                </a:solidFill>
              </a:rPr>
              <a:t> </a:t>
            </a:r>
            <a:r>
              <a:rPr lang="en-US" altLang="zh-CN" sz="1350" dirty="0">
                <a:solidFill>
                  <a:srgbClr val="000099"/>
                </a:solidFill>
              </a:rPr>
              <a:t>NAT router</a:t>
            </a:r>
          </a:p>
          <a:p>
            <a:pPr>
              <a:lnSpc>
                <a:spcPct val="85000"/>
              </a:lnSpc>
            </a:pPr>
            <a:r>
              <a:rPr lang="en-US" altLang="zh-CN" sz="1350" dirty="0">
                <a:solidFill>
                  <a:srgbClr val="000099"/>
                </a:solidFill>
              </a:rPr>
              <a:t>changes datagram</a:t>
            </a:r>
          </a:p>
          <a:p>
            <a:pPr>
              <a:lnSpc>
                <a:spcPct val="85000"/>
              </a:lnSpc>
            </a:pPr>
            <a:r>
              <a:rPr lang="en-US" altLang="zh-CN" sz="1350" dirty="0" err="1">
                <a:solidFill>
                  <a:srgbClr val="000099"/>
                </a:solidFill>
              </a:rPr>
              <a:t>dest</a:t>
            </a:r>
            <a:r>
              <a:rPr lang="en-US" altLang="zh-CN" sz="1350" dirty="0">
                <a:solidFill>
                  <a:srgbClr val="000099"/>
                </a:solidFill>
              </a:rPr>
              <a:t> </a:t>
            </a:r>
            <a:r>
              <a:rPr lang="en-US" altLang="zh-CN" sz="1350" dirty="0" err="1">
                <a:solidFill>
                  <a:srgbClr val="000099"/>
                </a:solidFill>
              </a:rPr>
              <a:t>addr</a:t>
            </a:r>
            <a:r>
              <a:rPr lang="en-US" altLang="zh-CN" sz="1350" dirty="0">
                <a:solidFill>
                  <a:srgbClr val="000099"/>
                </a:solidFill>
              </a:rPr>
              <a:t> from</a:t>
            </a:r>
          </a:p>
          <a:p>
            <a:pPr>
              <a:lnSpc>
                <a:spcPct val="85000"/>
              </a:lnSpc>
            </a:pPr>
            <a:r>
              <a:rPr lang="en-US" altLang="zh-CN" sz="1350" dirty="0">
                <a:solidFill>
                  <a:srgbClr val="000099"/>
                </a:solidFill>
              </a:rPr>
              <a:t>138.76.29.7, 5001 to 10.0.0.1, 3345</a:t>
            </a:r>
          </a:p>
        </p:txBody>
      </p:sp>
      <p:sp>
        <p:nvSpPr>
          <p:cNvPr id="100" name="Line 138"/>
          <p:cNvSpPr>
            <a:spLocks noChangeShapeType="1"/>
          </p:cNvSpPr>
          <p:nvPr/>
        </p:nvSpPr>
        <p:spPr bwMode="auto">
          <a:xfrm>
            <a:off x="1909763" y="3411159"/>
            <a:ext cx="2269331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01" name="Group 143"/>
          <p:cNvGrpSpPr/>
          <p:nvPr/>
        </p:nvGrpSpPr>
        <p:grpSpPr bwMode="auto">
          <a:xfrm>
            <a:off x="4169569" y="3277809"/>
            <a:ext cx="440531" cy="242888"/>
            <a:chOff x="4396" y="1245"/>
            <a:chExt cx="672" cy="248"/>
          </a:xfrm>
        </p:grpSpPr>
        <p:sp>
          <p:nvSpPr>
            <p:cNvPr id="10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05" name="Group 147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08" name="Freeform 148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9" name="Freeform 149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06" name="Line 150"/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07" name="Line 151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10" name="Group 156"/>
          <p:cNvGrpSpPr/>
          <p:nvPr/>
        </p:nvGrpSpPr>
        <p:grpSpPr bwMode="auto">
          <a:xfrm flipH="1">
            <a:off x="6790135" y="2689640"/>
            <a:ext cx="481013" cy="419100"/>
            <a:chOff x="-44" y="1473"/>
            <a:chExt cx="981" cy="1105"/>
          </a:xfrm>
        </p:grpSpPr>
        <p:pic>
          <p:nvPicPr>
            <p:cNvPr id="111" name="Picture 157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" name="Freeform 158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19" name="Line 32"/>
          <p:cNvSpPr>
            <a:spLocks noChangeShapeType="1"/>
          </p:cNvSpPr>
          <p:nvPr/>
        </p:nvSpPr>
        <p:spPr bwMode="auto">
          <a:xfrm>
            <a:off x="6682979" y="3384965"/>
            <a:ext cx="16430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6" name="Group 88"/>
          <p:cNvGrpSpPr/>
          <p:nvPr/>
        </p:nvGrpSpPr>
        <p:grpSpPr bwMode="auto">
          <a:xfrm>
            <a:off x="5102074" y="2632638"/>
            <a:ext cx="1403747" cy="729853"/>
            <a:chOff x="3550" y="2055"/>
            <a:chExt cx="1179" cy="613"/>
          </a:xfrm>
        </p:grpSpPr>
        <p:grpSp>
          <p:nvGrpSpPr>
            <p:cNvPr id="17" name="Group 50"/>
            <p:cNvGrpSpPr/>
            <p:nvPr/>
          </p:nvGrpSpPr>
          <p:grpSpPr bwMode="auto">
            <a:xfrm>
              <a:off x="3550" y="2055"/>
              <a:ext cx="1179" cy="357"/>
              <a:chOff x="4380" y="786"/>
              <a:chExt cx="1108" cy="357"/>
            </a:xfrm>
          </p:grpSpPr>
          <p:sp>
            <p:nvSpPr>
              <p:cNvPr id="22" name="Rectangle 40"/>
              <p:cNvSpPr>
                <a:spLocks noChangeArrowheads="1"/>
              </p:cNvSpPr>
              <p:nvPr/>
            </p:nvSpPr>
            <p:spPr bwMode="auto">
              <a:xfrm>
                <a:off x="4384" y="830"/>
                <a:ext cx="1104" cy="256"/>
              </a:xfrm>
              <a:prstGeom prst="rect">
                <a:avLst/>
              </a:prstGeom>
              <a:solidFill>
                <a:srgbClr val="FFDDDD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23" name="Text Box 39"/>
              <p:cNvSpPr txBox="1">
                <a:spLocks noChangeArrowheads="1"/>
              </p:cNvSpPr>
              <p:nvPr/>
            </p:nvSpPr>
            <p:spPr bwMode="auto">
              <a:xfrm>
                <a:off x="4380" y="813"/>
                <a:ext cx="1045" cy="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900" b="1" dirty="0"/>
                  <a:t>S: 10.0.0.1, 3345</a:t>
                </a:r>
              </a:p>
              <a:p>
                <a:pPr>
                  <a:defRPr/>
                </a:pPr>
                <a:r>
                  <a:rPr lang="en-US" sz="900" dirty="0"/>
                  <a:t>D: 128.119.40.186, 80</a:t>
                </a:r>
              </a:p>
            </p:txBody>
          </p:sp>
          <p:grpSp>
            <p:nvGrpSpPr>
              <p:cNvPr id="24" name="Group 44"/>
              <p:cNvGrpSpPr/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29" name="Freeform 43"/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31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25" name="Group 45"/>
              <p:cNvGrpSpPr/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26" name="Freeform 46"/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27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8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  <p:sp>
          <p:nvSpPr>
            <p:cNvPr id="18" name="Freeform 51"/>
            <p:cNvSpPr/>
            <p:nvPr/>
          </p:nvSpPr>
          <p:spPr bwMode="auto">
            <a:xfrm>
              <a:off x="3573" y="2364"/>
              <a:ext cx="564" cy="286"/>
            </a:xfrm>
            <a:custGeom>
              <a:avLst/>
              <a:gdLst>
                <a:gd name="T0" fmla="*/ 0 w 417"/>
                <a:gd name="T1" fmla="*/ 964 h 264"/>
                <a:gd name="T2" fmla="*/ 1888 w 417"/>
                <a:gd name="T3" fmla="*/ 964 h 264"/>
                <a:gd name="T4" fmla="*/ 1888 w 417"/>
                <a:gd name="T5" fmla="*/ 0 h 2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34925" cap="flat" cmpd="sng">
              <a:solidFill>
                <a:srgbClr val="FF66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9" name="Group 87"/>
            <p:cNvGrpSpPr/>
            <p:nvPr/>
          </p:nvGrpSpPr>
          <p:grpSpPr bwMode="auto">
            <a:xfrm>
              <a:off x="4032" y="2416"/>
              <a:ext cx="250" cy="252"/>
              <a:chOff x="5140" y="400"/>
              <a:chExt cx="250" cy="252"/>
            </a:xfrm>
          </p:grpSpPr>
          <p:sp>
            <p:nvSpPr>
              <p:cNvPr id="20" name="Oval 86"/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21" name="Text Box 52"/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1</a:t>
                </a:r>
              </a:p>
            </p:txBody>
          </p:sp>
        </p:grpSp>
      </p:grpSp>
      <p:cxnSp>
        <p:nvCxnSpPr>
          <p:cNvPr id="120" name="直接连接符 119"/>
          <p:cNvCxnSpPr/>
          <p:nvPr/>
        </p:nvCxnSpPr>
        <p:spPr>
          <a:xfrm>
            <a:off x="6716074" y="2841751"/>
            <a:ext cx="4763" cy="112871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灯片编号占位符 2">
            <a:extLst>
              <a:ext uri="{FF2B5EF4-FFF2-40B4-BE49-F238E27FC236}">
                <a16:creationId xmlns:a16="http://schemas.microsoft.com/office/drawing/2014/main" id="{70345E45-F19A-4899-97A0-4359EC5AF3B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122" name="AutoShape 5">
            <a:extLst>
              <a:ext uri="{FF2B5EF4-FFF2-40B4-BE49-F238E27FC236}">
                <a16:creationId xmlns:a16="http://schemas.microsoft.com/office/drawing/2014/main" id="{E3EB5643-0166-4D40-913D-0142DAD83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5" grpId="1"/>
      <p:bldP spid="98" grpId="0"/>
      <p:bldP spid="99" grpId="0"/>
      <p:bldP spid="122" grpId="0" animBg="1"/>
      <p:bldP spid="12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415592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争议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sz="1800" dirty="0">
                <a:solidFill>
                  <a:srgbClr val="FF0000"/>
                </a:solidFill>
              </a:rPr>
              <a:t>优势</a:t>
            </a:r>
            <a:r>
              <a:rPr lang="zh-CN" altLang="en-US" sz="1800" dirty="0">
                <a:solidFill>
                  <a:srgbClr val="0066CC"/>
                </a:solidFill>
              </a:rPr>
              <a:t>：有效解决</a:t>
            </a:r>
            <a:r>
              <a:rPr lang="en-US" altLang="zh-CN" sz="1800" dirty="0">
                <a:solidFill>
                  <a:srgbClr val="0066CC"/>
                </a:solidFill>
              </a:rPr>
              <a:t>IPv4</a:t>
            </a:r>
            <a:r>
              <a:rPr lang="zh-CN" altLang="en-US" sz="1800" dirty="0">
                <a:solidFill>
                  <a:srgbClr val="0066CC"/>
                </a:solidFill>
              </a:rPr>
              <a:t>地址空间的问题</a:t>
            </a:r>
            <a:endParaRPr lang="en-US" altLang="zh-CN" sz="1800" dirty="0">
              <a:solidFill>
                <a:srgbClr val="0066CC"/>
              </a:solidFill>
            </a:endParaRPr>
          </a:p>
          <a:p>
            <a:pPr lvl="2"/>
            <a:r>
              <a:rPr lang="zh-CN" altLang="en-US" sz="1800" dirty="0">
                <a:solidFill>
                  <a:srgbClr val="FF0000"/>
                </a:solidFill>
              </a:rPr>
              <a:t>问题</a:t>
            </a:r>
            <a:r>
              <a:rPr lang="zh-CN" altLang="en-US" sz="1800" dirty="0">
                <a:solidFill>
                  <a:srgbClr val="0066CC"/>
                </a:solidFill>
              </a:rPr>
              <a:t>：</a:t>
            </a:r>
            <a:r>
              <a:rPr lang="en-US" altLang="zh-CN" sz="1800" dirty="0">
                <a:solidFill>
                  <a:srgbClr val="0066CC"/>
                </a:solidFill>
              </a:rPr>
              <a:t>IETF</a:t>
            </a:r>
            <a:r>
              <a:rPr lang="zh-CN" altLang="en-US" sz="1800" dirty="0">
                <a:solidFill>
                  <a:srgbClr val="0066CC"/>
                </a:solidFill>
              </a:rPr>
              <a:t>对</a:t>
            </a:r>
            <a:r>
              <a:rPr lang="en-US" altLang="zh-CN" sz="1800" dirty="0">
                <a:solidFill>
                  <a:srgbClr val="0066CC"/>
                </a:solidFill>
              </a:rPr>
              <a:t>NAT</a:t>
            </a:r>
            <a:r>
              <a:rPr lang="zh-CN" altLang="en-US" sz="1800" dirty="0">
                <a:solidFill>
                  <a:srgbClr val="0066CC"/>
                </a:solidFill>
              </a:rPr>
              <a:t>提出了质疑</a:t>
            </a:r>
            <a:endParaRPr lang="en-US" altLang="zh-CN" sz="1800" dirty="0">
              <a:solidFill>
                <a:srgbClr val="0066CC"/>
              </a:solidFill>
            </a:endParaRPr>
          </a:p>
          <a:p>
            <a:pPr lvl="3"/>
            <a:r>
              <a:rPr lang="zh-CN" altLang="en-US" sz="1650" dirty="0">
                <a:solidFill>
                  <a:srgbClr val="0066CC"/>
                </a:solidFill>
              </a:rPr>
              <a:t>路由器应该仅仅工作在网络层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4"/>
            <a:r>
              <a:rPr lang="zh-CN" altLang="en-US" sz="1500" dirty="0">
                <a:solidFill>
                  <a:srgbClr val="0066CC"/>
                </a:solidFill>
              </a:rPr>
              <a:t>但是</a:t>
            </a:r>
            <a:r>
              <a:rPr lang="en-US" altLang="zh-CN" sz="1500" dirty="0">
                <a:solidFill>
                  <a:srgbClr val="0066CC"/>
                </a:solidFill>
              </a:rPr>
              <a:t>NAT Router</a:t>
            </a:r>
            <a:r>
              <a:rPr lang="zh-CN" altLang="en-US" sz="1500" dirty="0">
                <a:solidFill>
                  <a:srgbClr val="0066CC"/>
                </a:solidFill>
              </a:rPr>
              <a:t>触及了运输层</a:t>
            </a:r>
            <a:r>
              <a:rPr lang="en-US" altLang="zh-CN" sz="1500" dirty="0">
                <a:solidFill>
                  <a:srgbClr val="0066CC"/>
                </a:solidFill>
              </a:rPr>
              <a:t>(</a:t>
            </a:r>
            <a:r>
              <a:rPr lang="zh-CN" altLang="en-US" sz="1500" dirty="0">
                <a:solidFill>
                  <a:srgbClr val="0066CC"/>
                </a:solidFill>
              </a:rPr>
              <a:t>端口</a:t>
            </a:r>
            <a:r>
              <a:rPr lang="en-US" altLang="zh-CN" sz="1500" dirty="0">
                <a:solidFill>
                  <a:srgbClr val="0066CC"/>
                </a:solidFill>
              </a:rPr>
              <a:t>)</a:t>
            </a:r>
            <a:r>
              <a:rPr lang="zh-CN" altLang="en-US" sz="1500" dirty="0">
                <a:solidFill>
                  <a:srgbClr val="0066CC"/>
                </a:solidFill>
              </a:rPr>
              <a:t>！</a:t>
            </a:r>
            <a:endParaRPr lang="en-US" altLang="zh-CN" sz="1500" dirty="0">
              <a:solidFill>
                <a:srgbClr val="0066CC"/>
              </a:solidFill>
            </a:endParaRPr>
          </a:p>
          <a:p>
            <a:pPr lvl="3"/>
            <a:r>
              <a:rPr lang="zh-CN" altLang="en-US" sz="1650" dirty="0">
                <a:solidFill>
                  <a:srgbClr val="0066CC"/>
                </a:solidFill>
              </a:rPr>
              <a:t>端口号原本是用作进程编址的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3"/>
            <a:r>
              <a:rPr lang="en-US" altLang="zh-CN" sz="1650" dirty="0">
                <a:solidFill>
                  <a:srgbClr val="0066CC"/>
                </a:solidFill>
              </a:rPr>
              <a:t>NAT</a:t>
            </a:r>
            <a:r>
              <a:rPr lang="zh-CN" altLang="en-US" sz="1650" dirty="0">
                <a:solidFill>
                  <a:srgbClr val="0066CC"/>
                </a:solidFill>
              </a:rPr>
              <a:t>违反了端到端原则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4"/>
            <a:r>
              <a:rPr lang="zh-CN" altLang="en-US" sz="1500" dirty="0">
                <a:solidFill>
                  <a:srgbClr val="0066CC"/>
                </a:solidFill>
              </a:rPr>
              <a:t>主机之间应该直接对话</a:t>
            </a:r>
            <a:endParaRPr lang="en-US" altLang="zh-CN" sz="1500" dirty="0">
              <a:solidFill>
                <a:srgbClr val="0066CC"/>
              </a:solidFill>
            </a:endParaRPr>
          </a:p>
          <a:p>
            <a:pPr lvl="4"/>
            <a:r>
              <a:rPr lang="zh-CN" altLang="en-US" sz="1500" dirty="0">
                <a:solidFill>
                  <a:srgbClr val="0066CC"/>
                </a:solidFill>
              </a:rPr>
              <a:t>节点不应介入修改</a:t>
            </a:r>
            <a:r>
              <a:rPr lang="en-US" altLang="zh-CN" sz="1500" dirty="0">
                <a:solidFill>
                  <a:srgbClr val="0066CC"/>
                </a:solidFill>
              </a:rPr>
              <a:t>IP</a:t>
            </a:r>
            <a:r>
              <a:rPr lang="zh-CN" altLang="en-US" sz="1500" dirty="0">
                <a:solidFill>
                  <a:srgbClr val="0066CC"/>
                </a:solidFill>
              </a:rPr>
              <a:t>地址和端口号</a:t>
            </a:r>
            <a:endParaRPr lang="en-US" altLang="zh-CN" sz="1500" dirty="0">
              <a:solidFill>
                <a:srgbClr val="0066CC"/>
              </a:solidFill>
            </a:endParaRPr>
          </a:p>
          <a:p>
            <a:pPr lvl="3"/>
            <a:r>
              <a:rPr lang="en-US" altLang="zh-CN" sz="1650" dirty="0">
                <a:solidFill>
                  <a:srgbClr val="0066CC"/>
                </a:solidFill>
              </a:rPr>
              <a:t>IPv4</a:t>
            </a:r>
            <a:r>
              <a:rPr lang="zh-CN" altLang="en-US" sz="1650" dirty="0">
                <a:solidFill>
                  <a:srgbClr val="0066CC"/>
                </a:solidFill>
              </a:rPr>
              <a:t>的地址空间应该过度到</a:t>
            </a:r>
            <a:r>
              <a:rPr lang="en-US" altLang="zh-CN" sz="1650" dirty="0">
                <a:solidFill>
                  <a:srgbClr val="0066CC"/>
                </a:solidFill>
              </a:rPr>
              <a:t>IPv6</a:t>
            </a:r>
            <a:r>
              <a:rPr lang="zh-CN" altLang="en-US" sz="1650" dirty="0">
                <a:solidFill>
                  <a:srgbClr val="0066CC"/>
                </a:solidFill>
              </a:rPr>
              <a:t>来解决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Anyway</a:t>
            </a:r>
            <a:r>
              <a:rPr lang="zh-CN" altLang="en-US" dirty="0">
                <a:solidFill>
                  <a:srgbClr val="0066CC"/>
                </a:solidFill>
              </a:rPr>
              <a:t>，</a:t>
            </a:r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已经成为因特网的重要组件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6DF68C7C-EE09-494C-B785-523CEC33F08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998942E-7350-41F5-B6C9-E5A19AB71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67C9E-CAA0-4900-8661-3ABD8808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F698C2-C339-47CA-976B-D298EC1215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NAT</a:t>
            </a:r>
            <a:r>
              <a:rPr lang="zh-CN" altLang="en-US" dirty="0"/>
              <a:t>内网地址段：根据规模有三种类别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743BC43-94FD-45FF-9D5B-A3AF976CDAA9}"/>
              </a:ext>
            </a:extLst>
          </p:cNvPr>
          <p:cNvGrpSpPr/>
          <p:nvPr/>
        </p:nvGrpSpPr>
        <p:grpSpPr>
          <a:xfrm>
            <a:off x="2195736" y="1656047"/>
            <a:ext cx="2016224" cy="1224136"/>
            <a:chOff x="1403648" y="1653282"/>
            <a:chExt cx="2016224" cy="1224136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" name="云形 3">
              <a:extLst>
                <a:ext uri="{FF2B5EF4-FFF2-40B4-BE49-F238E27FC236}">
                  <a16:creationId xmlns:a16="http://schemas.microsoft.com/office/drawing/2014/main" id="{965ADAD8-313B-418D-864C-3F5E6538AFD6}"/>
                </a:ext>
              </a:extLst>
            </p:cNvPr>
            <p:cNvSpPr/>
            <p:nvPr/>
          </p:nvSpPr>
          <p:spPr>
            <a:xfrm>
              <a:off x="1403648" y="1653282"/>
              <a:ext cx="2016224" cy="1224136"/>
            </a:xfrm>
            <a:prstGeom prst="cloud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513D3CE-4A13-4401-9C2C-6E517E2331EF}"/>
                </a:ext>
              </a:extLst>
            </p:cNvPr>
            <p:cNvSpPr txBox="1"/>
            <p:nvPr/>
          </p:nvSpPr>
          <p:spPr>
            <a:xfrm>
              <a:off x="1667913" y="2067694"/>
              <a:ext cx="1402948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00FF"/>
                  </a:solidFill>
                  <a:latin typeface="Arial Black" panose="020B0A04020102020204" pitchFamily="34" charset="0"/>
                </a:rPr>
                <a:t>10.</a:t>
              </a:r>
              <a:r>
                <a:rPr lang="en-US" altLang="zh-CN" dirty="0">
                  <a:latin typeface="Arial Black" panose="020B0A04020102020204" pitchFamily="34" charset="0"/>
                </a:rPr>
                <a:t>0.0.0</a:t>
              </a:r>
              <a:r>
                <a:rPr lang="en-US" altLang="zh-CN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/8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7465424-C9A1-43B0-A7F0-89219A14318E}"/>
              </a:ext>
            </a:extLst>
          </p:cNvPr>
          <p:cNvGrpSpPr/>
          <p:nvPr/>
        </p:nvGrpSpPr>
        <p:grpSpPr>
          <a:xfrm>
            <a:off x="4988895" y="2070459"/>
            <a:ext cx="1887362" cy="864096"/>
            <a:chOff x="4124798" y="2643758"/>
            <a:chExt cx="1887362" cy="864096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" name="云形 4">
              <a:extLst>
                <a:ext uri="{FF2B5EF4-FFF2-40B4-BE49-F238E27FC236}">
                  <a16:creationId xmlns:a16="http://schemas.microsoft.com/office/drawing/2014/main" id="{1971E5F9-5490-4B86-B158-24FBE7FBDA48}"/>
                </a:ext>
              </a:extLst>
            </p:cNvPr>
            <p:cNvSpPr/>
            <p:nvPr/>
          </p:nvSpPr>
          <p:spPr>
            <a:xfrm>
              <a:off x="4124798" y="2643758"/>
              <a:ext cx="1887362" cy="864096"/>
            </a:xfrm>
            <a:prstGeom prst="cloud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7A6D890-A40B-4A8C-827A-3517228CDC2F}"/>
                </a:ext>
              </a:extLst>
            </p:cNvPr>
            <p:cNvSpPr txBox="1"/>
            <p:nvPr/>
          </p:nvSpPr>
          <p:spPr>
            <a:xfrm>
              <a:off x="4321319" y="2877418"/>
              <a:ext cx="1494320" cy="30777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0000FF"/>
                  </a:solidFill>
                  <a:latin typeface="Arial Black" panose="020B0A04020102020204" pitchFamily="34" charset="0"/>
                </a:rPr>
                <a:t>172.1</a:t>
              </a:r>
              <a:r>
                <a:rPr lang="en-US" altLang="zh-CN" sz="1400" dirty="0">
                  <a:latin typeface="Arial Black" panose="020B0A04020102020204" pitchFamily="34" charset="0"/>
                </a:rPr>
                <a:t>6.0.0</a:t>
              </a:r>
              <a:r>
                <a:rPr lang="en-US" altLang="zh-CN" sz="1400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/12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E47C55C-DBDD-4EF7-8644-2B973BD21220}"/>
              </a:ext>
            </a:extLst>
          </p:cNvPr>
          <p:cNvGrpSpPr/>
          <p:nvPr/>
        </p:nvGrpSpPr>
        <p:grpSpPr>
          <a:xfrm>
            <a:off x="6418384" y="3646564"/>
            <a:ext cx="1407758" cy="720080"/>
            <a:chOff x="6562530" y="3147814"/>
            <a:chExt cx="1407758" cy="72008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" name="云形 5">
              <a:extLst>
                <a:ext uri="{FF2B5EF4-FFF2-40B4-BE49-F238E27FC236}">
                  <a16:creationId xmlns:a16="http://schemas.microsoft.com/office/drawing/2014/main" id="{925AC056-BFF9-44C4-B5D7-513E9DBC19F3}"/>
                </a:ext>
              </a:extLst>
            </p:cNvPr>
            <p:cNvSpPr/>
            <p:nvPr/>
          </p:nvSpPr>
          <p:spPr>
            <a:xfrm>
              <a:off x="6588226" y="3147814"/>
              <a:ext cx="1368150" cy="720080"/>
            </a:xfrm>
            <a:prstGeom prst="cloud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 sz="1200" b="1" dirty="0">
                <a:solidFill>
                  <a:srgbClr val="0000FF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ED665FF-3303-4162-9537-ECF96E532F83}"/>
                </a:ext>
              </a:extLst>
            </p:cNvPr>
            <p:cNvSpPr txBox="1"/>
            <p:nvPr/>
          </p:nvSpPr>
          <p:spPr>
            <a:xfrm>
              <a:off x="6562530" y="3353965"/>
              <a:ext cx="1407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rgbClr val="0000FF"/>
                  </a:solidFill>
                  <a:latin typeface="Arial Black" panose="020B0A04020102020204" pitchFamily="34" charset="0"/>
                </a:rPr>
                <a:t>192.168.</a:t>
              </a:r>
              <a:r>
                <a:rPr lang="en-US" altLang="zh-CN" sz="1200" dirty="0">
                  <a:latin typeface="Arial Black" panose="020B0A04020102020204" pitchFamily="34" charset="0"/>
                </a:rPr>
                <a:t>0.0</a:t>
              </a:r>
              <a:r>
                <a:rPr lang="en-US" altLang="zh-CN" sz="1200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/16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C90C44A-F434-4CDA-93D2-8152273ECB69}"/>
              </a:ext>
            </a:extLst>
          </p:cNvPr>
          <p:cNvSpPr txBox="1"/>
          <p:nvPr/>
        </p:nvSpPr>
        <p:spPr>
          <a:xfrm>
            <a:off x="1960736" y="268429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 Black" panose="020B0A04020102020204" pitchFamily="34" charset="0"/>
              </a:rPr>
              <a:t>2</a:t>
            </a:r>
            <a:r>
              <a:rPr lang="en-US" altLang="zh-CN" b="1" baseline="30000" dirty="0">
                <a:latin typeface="Arial Black" panose="020B0A04020102020204" pitchFamily="34" charset="0"/>
              </a:rPr>
              <a:t>24</a:t>
            </a:r>
            <a:endParaRPr lang="zh-CN" altLang="en-US" b="1" baseline="30000" dirty="0">
              <a:latin typeface="Arial Black" panose="020B0A040201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CE57D8-06E8-49A2-9D38-B26E11EA4433}"/>
              </a:ext>
            </a:extLst>
          </p:cNvPr>
          <p:cNvSpPr txBox="1"/>
          <p:nvPr/>
        </p:nvSpPr>
        <p:spPr>
          <a:xfrm>
            <a:off x="4460309" y="265636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 Black" panose="020B0A04020102020204" pitchFamily="34" charset="0"/>
              </a:rPr>
              <a:t>2</a:t>
            </a:r>
            <a:r>
              <a:rPr lang="en-US" altLang="zh-CN" b="1" baseline="30000" dirty="0">
                <a:latin typeface="Arial Black" panose="020B0A04020102020204" pitchFamily="34" charset="0"/>
              </a:rPr>
              <a:t>20</a:t>
            </a:r>
            <a:endParaRPr lang="zh-CN" altLang="en-US" b="1" baseline="30000" dirty="0">
              <a:latin typeface="Arial Black" panose="020B0A040201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7798C3-BC3B-48FC-8DDA-26703220141C}"/>
              </a:ext>
            </a:extLst>
          </p:cNvPr>
          <p:cNvSpPr txBox="1"/>
          <p:nvPr/>
        </p:nvSpPr>
        <p:spPr>
          <a:xfrm>
            <a:off x="6564704" y="339078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 Black" panose="020B0A04020102020204" pitchFamily="34" charset="0"/>
              </a:rPr>
              <a:t>2</a:t>
            </a:r>
            <a:r>
              <a:rPr lang="en-US" altLang="zh-CN" b="1" baseline="30000" dirty="0">
                <a:latin typeface="Arial Black" panose="020B0A04020102020204" pitchFamily="34" charset="0"/>
              </a:rPr>
              <a:t>16</a:t>
            </a:r>
            <a:endParaRPr lang="zh-CN" altLang="en-US" b="1" baseline="30000" dirty="0">
              <a:latin typeface="Arial Black" panose="020B0A04020102020204" pitchFamily="34" charset="0"/>
            </a:endParaRPr>
          </a:p>
        </p:txBody>
      </p:sp>
      <p:sp>
        <p:nvSpPr>
          <p:cNvPr id="13" name="云形 12">
            <a:extLst>
              <a:ext uri="{FF2B5EF4-FFF2-40B4-BE49-F238E27FC236}">
                <a16:creationId xmlns:a16="http://schemas.microsoft.com/office/drawing/2014/main" id="{2D4643F0-5BCA-453C-884D-BB0AA5B57725}"/>
              </a:ext>
            </a:extLst>
          </p:cNvPr>
          <p:cNvSpPr/>
          <p:nvPr/>
        </p:nvSpPr>
        <p:spPr>
          <a:xfrm>
            <a:off x="2232605" y="3870659"/>
            <a:ext cx="1800200" cy="99197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Internet</a:t>
            </a:r>
            <a:endParaRPr lang="zh-CN" altLang="en-US" b="1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6D4FAE-5A3D-49A1-B7F3-234EFE3F5F91}"/>
              </a:ext>
            </a:extLst>
          </p:cNvPr>
          <p:cNvCxnSpPr>
            <a:stCxn id="4" idx="1"/>
            <a:endCxn id="13" idx="3"/>
          </p:cNvCxnSpPr>
          <p:nvPr/>
        </p:nvCxnSpPr>
        <p:spPr>
          <a:xfrm flipH="1">
            <a:off x="3132705" y="2878880"/>
            <a:ext cx="71143" cy="10484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F91C9B9-F653-4E17-B583-6B79BE6DFFB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923928" y="2933635"/>
            <a:ext cx="2008648" cy="10810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BFA829A-009A-4C4C-9F17-64CA0F97C08B}"/>
              </a:ext>
            </a:extLst>
          </p:cNvPr>
          <p:cNvCxnSpPr>
            <a:stCxn id="9" idx="1"/>
            <a:endCxn id="13" idx="0"/>
          </p:cNvCxnSpPr>
          <p:nvPr/>
        </p:nvCxnSpPr>
        <p:spPr>
          <a:xfrm flipH="1">
            <a:off x="4031305" y="3991215"/>
            <a:ext cx="2387079" cy="375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143">
            <a:extLst>
              <a:ext uri="{FF2B5EF4-FFF2-40B4-BE49-F238E27FC236}">
                <a16:creationId xmlns:a16="http://schemas.microsoft.com/office/drawing/2014/main" id="{2EEF6FE1-99EE-46AB-B065-B516F87A2B7D}"/>
              </a:ext>
            </a:extLst>
          </p:cNvPr>
          <p:cNvGrpSpPr/>
          <p:nvPr/>
        </p:nvGrpSpPr>
        <p:grpSpPr bwMode="auto">
          <a:xfrm>
            <a:off x="2980247" y="2924017"/>
            <a:ext cx="440531" cy="242888"/>
            <a:chOff x="4396" y="1245"/>
            <a:chExt cx="672" cy="248"/>
          </a:xfrm>
        </p:grpSpPr>
        <p:sp>
          <p:nvSpPr>
            <p:cNvPr id="27" name="Oval 407">
              <a:extLst>
                <a:ext uri="{FF2B5EF4-FFF2-40B4-BE49-F238E27FC236}">
                  <a16:creationId xmlns:a16="http://schemas.microsoft.com/office/drawing/2014/main" id="{4EF1D8B8-1201-410A-B35A-8468451C3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410">
              <a:extLst>
                <a:ext uri="{FF2B5EF4-FFF2-40B4-BE49-F238E27FC236}">
                  <a16:creationId xmlns:a16="http://schemas.microsoft.com/office/drawing/2014/main" id="{E8E68D05-77BA-436A-A171-1787678B7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9" name="Oval 411">
              <a:extLst>
                <a:ext uri="{FF2B5EF4-FFF2-40B4-BE49-F238E27FC236}">
                  <a16:creationId xmlns:a16="http://schemas.microsoft.com/office/drawing/2014/main" id="{EBC0F157-EBA9-4E3B-B19F-68A99BBBB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0" name="Group 147">
              <a:extLst>
                <a:ext uri="{FF2B5EF4-FFF2-40B4-BE49-F238E27FC236}">
                  <a16:creationId xmlns:a16="http://schemas.microsoft.com/office/drawing/2014/main" id="{FF9A4D57-39DA-45FA-8B94-212A8431AF96}"/>
                </a:ext>
              </a:extLst>
            </p:cNvPr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33" name="Freeform 148">
                <a:extLst>
                  <a:ext uri="{FF2B5EF4-FFF2-40B4-BE49-F238E27FC236}">
                    <a16:creationId xmlns:a16="http://schemas.microsoft.com/office/drawing/2014/main" id="{8F7F469A-DDF9-4DD2-A7BF-81D4E8AE459E}"/>
                  </a:ext>
                </a:extLst>
              </p:cNvPr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" name="Freeform 149">
                <a:extLst>
                  <a:ext uri="{FF2B5EF4-FFF2-40B4-BE49-F238E27FC236}">
                    <a16:creationId xmlns:a16="http://schemas.microsoft.com/office/drawing/2014/main" id="{9E2221DF-AB94-4A81-89E8-972669D972BD}"/>
                  </a:ext>
                </a:extLst>
              </p:cNvPr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31" name="Line 150">
              <a:extLst>
                <a:ext uri="{FF2B5EF4-FFF2-40B4-BE49-F238E27FC236}">
                  <a16:creationId xmlns:a16="http://schemas.microsoft.com/office/drawing/2014/main" id="{B4A1ED78-DBCE-4B20-9A11-27DCDCB64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2" name="Line 151">
              <a:extLst>
                <a:ext uri="{FF2B5EF4-FFF2-40B4-BE49-F238E27FC236}">
                  <a16:creationId xmlns:a16="http://schemas.microsoft.com/office/drawing/2014/main" id="{72843727-17F2-45B4-8F28-E4613211C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5" name="Group 143">
            <a:extLst>
              <a:ext uri="{FF2B5EF4-FFF2-40B4-BE49-F238E27FC236}">
                <a16:creationId xmlns:a16="http://schemas.microsoft.com/office/drawing/2014/main" id="{BA1F9405-CBC8-4E16-8720-FB27AF516EC6}"/>
              </a:ext>
            </a:extLst>
          </p:cNvPr>
          <p:cNvGrpSpPr/>
          <p:nvPr/>
        </p:nvGrpSpPr>
        <p:grpSpPr bwMode="auto">
          <a:xfrm>
            <a:off x="5364088" y="2988007"/>
            <a:ext cx="440531" cy="242888"/>
            <a:chOff x="4396" y="1245"/>
            <a:chExt cx="672" cy="248"/>
          </a:xfrm>
        </p:grpSpPr>
        <p:sp>
          <p:nvSpPr>
            <p:cNvPr id="36" name="Oval 407">
              <a:extLst>
                <a:ext uri="{FF2B5EF4-FFF2-40B4-BE49-F238E27FC236}">
                  <a16:creationId xmlns:a16="http://schemas.microsoft.com/office/drawing/2014/main" id="{18839FCC-BB1F-47E8-8640-0020DAE27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410">
              <a:extLst>
                <a:ext uri="{FF2B5EF4-FFF2-40B4-BE49-F238E27FC236}">
                  <a16:creationId xmlns:a16="http://schemas.microsoft.com/office/drawing/2014/main" id="{4E2533AF-B07B-40B0-A0CD-9E5F53C78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8" name="Oval 411">
              <a:extLst>
                <a:ext uri="{FF2B5EF4-FFF2-40B4-BE49-F238E27FC236}">
                  <a16:creationId xmlns:a16="http://schemas.microsoft.com/office/drawing/2014/main" id="{505B313D-7338-47B1-8071-FDEA7E8D6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9" name="Group 147">
              <a:extLst>
                <a:ext uri="{FF2B5EF4-FFF2-40B4-BE49-F238E27FC236}">
                  <a16:creationId xmlns:a16="http://schemas.microsoft.com/office/drawing/2014/main" id="{0A4D781E-9C69-4915-8C9F-1B535BD60248}"/>
                </a:ext>
              </a:extLst>
            </p:cNvPr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42" name="Freeform 148">
                <a:extLst>
                  <a:ext uri="{FF2B5EF4-FFF2-40B4-BE49-F238E27FC236}">
                    <a16:creationId xmlns:a16="http://schemas.microsoft.com/office/drawing/2014/main" id="{7353DDAB-2991-4866-AE4E-313CFE8E662B}"/>
                  </a:ext>
                </a:extLst>
              </p:cNvPr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" name="Freeform 149">
                <a:extLst>
                  <a:ext uri="{FF2B5EF4-FFF2-40B4-BE49-F238E27FC236}">
                    <a16:creationId xmlns:a16="http://schemas.microsoft.com/office/drawing/2014/main" id="{1A62F182-6EE1-4E51-BBA8-C1B0A4961133}"/>
                  </a:ext>
                </a:extLst>
              </p:cNvPr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40" name="Line 150">
              <a:extLst>
                <a:ext uri="{FF2B5EF4-FFF2-40B4-BE49-F238E27FC236}">
                  <a16:creationId xmlns:a16="http://schemas.microsoft.com/office/drawing/2014/main" id="{400DCBC2-6F79-4272-A4DF-B0F9A7892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41" name="Line 151">
              <a:extLst>
                <a:ext uri="{FF2B5EF4-FFF2-40B4-BE49-F238E27FC236}">
                  <a16:creationId xmlns:a16="http://schemas.microsoft.com/office/drawing/2014/main" id="{3BF62F82-80E1-48A5-B931-0AD576786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44" name="Group 143">
            <a:extLst>
              <a:ext uri="{FF2B5EF4-FFF2-40B4-BE49-F238E27FC236}">
                <a16:creationId xmlns:a16="http://schemas.microsoft.com/office/drawing/2014/main" id="{C3562929-86FA-45D8-9B70-B9DE8D18C5A3}"/>
              </a:ext>
            </a:extLst>
          </p:cNvPr>
          <p:cNvGrpSpPr/>
          <p:nvPr/>
        </p:nvGrpSpPr>
        <p:grpSpPr bwMode="auto">
          <a:xfrm>
            <a:off x="5862043" y="3947142"/>
            <a:ext cx="440531" cy="242888"/>
            <a:chOff x="4396" y="1245"/>
            <a:chExt cx="672" cy="248"/>
          </a:xfrm>
        </p:grpSpPr>
        <p:sp>
          <p:nvSpPr>
            <p:cNvPr id="45" name="Oval 407">
              <a:extLst>
                <a:ext uri="{FF2B5EF4-FFF2-40B4-BE49-F238E27FC236}">
                  <a16:creationId xmlns:a16="http://schemas.microsoft.com/office/drawing/2014/main" id="{FE033112-45BD-487F-B109-B65CC6822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410">
              <a:extLst>
                <a:ext uri="{FF2B5EF4-FFF2-40B4-BE49-F238E27FC236}">
                  <a16:creationId xmlns:a16="http://schemas.microsoft.com/office/drawing/2014/main" id="{9B259C12-7B99-4747-A952-583457B0A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7" name="Oval 411">
              <a:extLst>
                <a:ext uri="{FF2B5EF4-FFF2-40B4-BE49-F238E27FC236}">
                  <a16:creationId xmlns:a16="http://schemas.microsoft.com/office/drawing/2014/main" id="{B625427B-EBEF-4ABE-AB63-59A593BA6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8" name="Group 147">
              <a:extLst>
                <a:ext uri="{FF2B5EF4-FFF2-40B4-BE49-F238E27FC236}">
                  <a16:creationId xmlns:a16="http://schemas.microsoft.com/office/drawing/2014/main" id="{E80390B8-DA78-4246-8A6B-96E9BAE1C1CB}"/>
                </a:ext>
              </a:extLst>
            </p:cNvPr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51" name="Freeform 148">
                <a:extLst>
                  <a:ext uri="{FF2B5EF4-FFF2-40B4-BE49-F238E27FC236}">
                    <a16:creationId xmlns:a16="http://schemas.microsoft.com/office/drawing/2014/main" id="{077BB893-4613-468E-950E-359BAFCBD3F9}"/>
                  </a:ext>
                </a:extLst>
              </p:cNvPr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Freeform 149">
                <a:extLst>
                  <a:ext uri="{FF2B5EF4-FFF2-40B4-BE49-F238E27FC236}">
                    <a16:creationId xmlns:a16="http://schemas.microsoft.com/office/drawing/2014/main" id="{7D4E3C99-ACBE-4CC7-8361-F63D521C25EB}"/>
                  </a:ext>
                </a:extLst>
              </p:cNvPr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49" name="Line 150">
              <a:extLst>
                <a:ext uri="{FF2B5EF4-FFF2-40B4-BE49-F238E27FC236}">
                  <a16:creationId xmlns:a16="http://schemas.microsoft.com/office/drawing/2014/main" id="{91EC4F55-25E9-4946-B9D7-91EB24691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50" name="Line 151">
              <a:extLst>
                <a:ext uri="{FF2B5EF4-FFF2-40B4-BE49-F238E27FC236}">
                  <a16:creationId xmlns:a16="http://schemas.microsoft.com/office/drawing/2014/main" id="{C4DD1EEE-31BD-41AB-8434-CFAA91179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8C0EA8B4-2217-49AA-B0C5-554FD5F2E73A}"/>
              </a:ext>
            </a:extLst>
          </p:cNvPr>
          <p:cNvSpPr txBox="1"/>
          <p:nvPr/>
        </p:nvSpPr>
        <p:spPr>
          <a:xfrm>
            <a:off x="3199069" y="3112992"/>
            <a:ext cx="1100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Arial Black" panose="020B0A04020102020204" pitchFamily="34" charset="0"/>
              </a:rPr>
              <a:t>NAT router</a:t>
            </a:r>
            <a:endParaRPr lang="zh-CN" altLang="en-US" sz="12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8287579-3793-41DB-862D-B34C9D9FBCEC}"/>
              </a:ext>
            </a:extLst>
          </p:cNvPr>
          <p:cNvSpPr txBox="1"/>
          <p:nvPr/>
        </p:nvSpPr>
        <p:spPr>
          <a:xfrm>
            <a:off x="5240426" y="3232386"/>
            <a:ext cx="1100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Arial Black" panose="020B0A04020102020204" pitchFamily="34" charset="0"/>
              </a:rPr>
              <a:t>NAT router</a:t>
            </a:r>
            <a:endParaRPr lang="zh-CN" altLang="en-US" sz="12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4DE6A73-3023-4506-A17C-4835733B61AF}"/>
              </a:ext>
            </a:extLst>
          </p:cNvPr>
          <p:cNvSpPr txBox="1"/>
          <p:nvPr/>
        </p:nvSpPr>
        <p:spPr>
          <a:xfrm>
            <a:off x="5344035" y="4211251"/>
            <a:ext cx="1100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Arial Black" panose="020B0A04020102020204" pitchFamily="34" charset="0"/>
              </a:rPr>
              <a:t>NAT router</a:t>
            </a:r>
            <a:endParaRPr lang="zh-CN" altLang="en-US" sz="12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1ED54E3-45C3-4022-A347-27950773437F}"/>
              </a:ext>
            </a:extLst>
          </p:cNvPr>
          <p:cNvSpPr txBox="1"/>
          <p:nvPr/>
        </p:nvSpPr>
        <p:spPr>
          <a:xfrm>
            <a:off x="611520" y="1819726"/>
            <a:ext cx="1503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大型企业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D978174-DA03-4D12-99C1-BD1EA1BE0C03}"/>
              </a:ext>
            </a:extLst>
          </p:cNvPr>
          <p:cNvSpPr txBox="1"/>
          <p:nvPr/>
        </p:nvSpPr>
        <p:spPr>
          <a:xfrm>
            <a:off x="6875976" y="1988922"/>
            <a:ext cx="1503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中型企业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58907F5-B56E-4E95-BB90-6987AE5A2731}"/>
              </a:ext>
            </a:extLst>
          </p:cNvPr>
          <p:cNvSpPr txBox="1"/>
          <p:nvPr/>
        </p:nvSpPr>
        <p:spPr>
          <a:xfrm>
            <a:off x="6348491" y="4483151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小型企业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家庭</a:t>
            </a:r>
          </a:p>
        </p:txBody>
      </p:sp>
    </p:spTree>
    <p:extLst>
      <p:ext uri="{BB962C8B-B14F-4D97-AF65-F5344CB8AC3E}">
        <p14:creationId xmlns:p14="http://schemas.microsoft.com/office/powerpoint/2010/main" val="939457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穿越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问题：外网的客户端怎么主动连接</a:t>
            </a:r>
            <a:r>
              <a:rPr lang="en-US" altLang="zh-CN" dirty="0">
                <a:solidFill>
                  <a:srgbClr val="FF0000"/>
                </a:solidFill>
              </a:rPr>
              <a:t>NAT</a:t>
            </a:r>
            <a:r>
              <a:rPr lang="zh-CN" altLang="en-US" dirty="0">
                <a:solidFill>
                  <a:srgbClr val="FF0000"/>
                </a:solidFill>
              </a:rPr>
              <a:t>内网的服务器？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8" name="Freeform 29"/>
          <p:cNvSpPr/>
          <p:nvPr/>
        </p:nvSpPr>
        <p:spPr bwMode="auto">
          <a:xfrm>
            <a:off x="5935991" y="2227381"/>
            <a:ext cx="1257300" cy="1865709"/>
          </a:xfrm>
          <a:custGeom>
            <a:avLst/>
            <a:gdLst>
              <a:gd name="T0" fmla="*/ 2147483647 w 1056"/>
              <a:gd name="T1" fmla="*/ 2147483647 h 1567"/>
              <a:gd name="T2" fmla="*/ 2147483647 w 1056"/>
              <a:gd name="T3" fmla="*/ 2147483647 h 1567"/>
              <a:gd name="T4" fmla="*/ 2147483647 w 1056"/>
              <a:gd name="T5" fmla="*/ 2147483647 h 1567"/>
              <a:gd name="T6" fmla="*/ 2147483647 w 1056"/>
              <a:gd name="T7" fmla="*/ 2147483647 h 1567"/>
              <a:gd name="T8" fmla="*/ 2147483647 w 1056"/>
              <a:gd name="T9" fmla="*/ 2147483647 h 1567"/>
              <a:gd name="T10" fmla="*/ 2147483647 w 1056"/>
              <a:gd name="T11" fmla="*/ 2147483647 h 1567"/>
              <a:gd name="T12" fmla="*/ 2147483647 w 1056"/>
              <a:gd name="T13" fmla="*/ 2147483647 h 1567"/>
              <a:gd name="T14" fmla="*/ 2147483647 w 1056"/>
              <a:gd name="T15" fmla="*/ 2147483647 h 1567"/>
              <a:gd name="T16" fmla="*/ 2147483647 w 1056"/>
              <a:gd name="T17" fmla="*/ 2147483647 h 1567"/>
              <a:gd name="T18" fmla="*/ 2147483647 w 1056"/>
              <a:gd name="T19" fmla="*/ 2147483647 h 1567"/>
              <a:gd name="T20" fmla="*/ 2147483647 w 1056"/>
              <a:gd name="T21" fmla="*/ 2147483647 h 1567"/>
              <a:gd name="T22" fmla="*/ 2147483647 w 1056"/>
              <a:gd name="T23" fmla="*/ 2147483647 h 1567"/>
              <a:gd name="T24" fmla="*/ 2147483647 w 1056"/>
              <a:gd name="T25" fmla="*/ 2147483647 h 156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56" h="1567">
                <a:moveTo>
                  <a:pt x="109" y="676"/>
                </a:moveTo>
                <a:cubicBezTo>
                  <a:pt x="199" y="644"/>
                  <a:pt x="527" y="657"/>
                  <a:pt x="598" y="647"/>
                </a:cubicBezTo>
                <a:cubicBezTo>
                  <a:pt x="669" y="637"/>
                  <a:pt x="538" y="694"/>
                  <a:pt x="533" y="614"/>
                </a:cubicBezTo>
                <a:cubicBezTo>
                  <a:pt x="527" y="534"/>
                  <a:pt x="522" y="265"/>
                  <a:pt x="566" y="169"/>
                </a:cubicBezTo>
                <a:cubicBezTo>
                  <a:pt x="610" y="73"/>
                  <a:pt x="721" y="51"/>
                  <a:pt x="795" y="38"/>
                </a:cubicBezTo>
                <a:cubicBezTo>
                  <a:pt x="869" y="25"/>
                  <a:pt x="981" y="0"/>
                  <a:pt x="1013" y="90"/>
                </a:cubicBezTo>
                <a:cubicBezTo>
                  <a:pt x="1045" y="180"/>
                  <a:pt x="988" y="448"/>
                  <a:pt x="987" y="579"/>
                </a:cubicBezTo>
                <a:cubicBezTo>
                  <a:pt x="986" y="710"/>
                  <a:pt x="1005" y="730"/>
                  <a:pt x="1005" y="875"/>
                </a:cubicBezTo>
                <a:cubicBezTo>
                  <a:pt x="1005" y="1020"/>
                  <a:pt x="1056" y="1351"/>
                  <a:pt x="987" y="1451"/>
                </a:cubicBezTo>
                <a:cubicBezTo>
                  <a:pt x="918" y="1551"/>
                  <a:pt x="678" y="1567"/>
                  <a:pt x="592" y="1478"/>
                </a:cubicBezTo>
                <a:cubicBezTo>
                  <a:pt x="506" y="1389"/>
                  <a:pt x="562" y="1026"/>
                  <a:pt x="473" y="919"/>
                </a:cubicBezTo>
                <a:cubicBezTo>
                  <a:pt x="384" y="812"/>
                  <a:pt x="122" y="878"/>
                  <a:pt x="61" y="838"/>
                </a:cubicBezTo>
                <a:cubicBezTo>
                  <a:pt x="0" y="798"/>
                  <a:pt x="26" y="710"/>
                  <a:pt x="109" y="67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Line 35"/>
          <p:cNvSpPr>
            <a:spLocks noChangeShapeType="1"/>
          </p:cNvSpPr>
          <p:nvPr/>
        </p:nvSpPr>
        <p:spPr bwMode="auto">
          <a:xfrm>
            <a:off x="6705134" y="2547658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" name="Line 36"/>
          <p:cNvSpPr>
            <a:spLocks noChangeShapeType="1"/>
          </p:cNvSpPr>
          <p:nvPr/>
        </p:nvSpPr>
        <p:spPr bwMode="auto">
          <a:xfrm flipV="1">
            <a:off x="6625363" y="3676371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6528922" y="2085697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dirty="0"/>
              <a:t>10.0.0.1</a:t>
            </a:r>
          </a:p>
        </p:txBody>
      </p:sp>
      <p:sp>
        <p:nvSpPr>
          <p:cNvPr id="12" name="Text Box 56"/>
          <p:cNvSpPr txBox="1">
            <a:spLocks noChangeArrowheads="1"/>
          </p:cNvSpPr>
          <p:nvPr/>
        </p:nvSpPr>
        <p:spPr bwMode="auto">
          <a:xfrm>
            <a:off x="5950278" y="2797690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10.0.0.4</a:t>
            </a:r>
          </a:p>
        </p:txBody>
      </p:sp>
      <p:sp>
        <p:nvSpPr>
          <p:cNvPr id="13" name="Line 57"/>
          <p:cNvSpPr>
            <a:spLocks noChangeShapeType="1"/>
          </p:cNvSpPr>
          <p:nvPr/>
        </p:nvSpPr>
        <p:spPr bwMode="auto">
          <a:xfrm flipH="1">
            <a:off x="6043147" y="2989381"/>
            <a:ext cx="64294" cy="964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4" name="Line 58"/>
          <p:cNvSpPr>
            <a:spLocks noChangeShapeType="1"/>
          </p:cNvSpPr>
          <p:nvPr/>
        </p:nvSpPr>
        <p:spPr bwMode="auto">
          <a:xfrm flipH="1">
            <a:off x="5488316" y="3167975"/>
            <a:ext cx="64294" cy="964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5" name="Text Box 88"/>
          <p:cNvSpPr txBox="1">
            <a:spLocks noChangeArrowheads="1"/>
          </p:cNvSpPr>
          <p:nvPr/>
        </p:nvSpPr>
        <p:spPr bwMode="auto">
          <a:xfrm>
            <a:off x="5534290" y="3251319"/>
            <a:ext cx="636713" cy="4455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350" dirty="0">
                <a:solidFill>
                  <a:srgbClr val="CC0000"/>
                </a:solidFill>
              </a:rPr>
              <a:t>NAT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350" dirty="0">
                <a:solidFill>
                  <a:srgbClr val="CC0000"/>
                </a:solidFill>
              </a:rPr>
              <a:t>router</a:t>
            </a:r>
          </a:p>
        </p:txBody>
      </p:sp>
      <p:sp>
        <p:nvSpPr>
          <p:cNvPr id="16" name="Text Box 89"/>
          <p:cNvSpPr txBox="1">
            <a:spLocks noChangeArrowheads="1"/>
          </p:cNvSpPr>
          <p:nvPr/>
        </p:nvSpPr>
        <p:spPr bwMode="auto">
          <a:xfrm>
            <a:off x="4571535" y="3215600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dirty="0"/>
              <a:t>138.76.29.7</a:t>
            </a:r>
          </a:p>
        </p:txBody>
      </p:sp>
      <p:sp>
        <p:nvSpPr>
          <p:cNvPr id="17" name="Line 100"/>
          <p:cNvSpPr>
            <a:spLocks noChangeShapeType="1"/>
          </p:cNvSpPr>
          <p:nvPr/>
        </p:nvSpPr>
        <p:spPr bwMode="auto">
          <a:xfrm>
            <a:off x="5358538" y="3154877"/>
            <a:ext cx="30122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" name="Text Box 102"/>
          <p:cNvSpPr txBox="1">
            <a:spLocks noChangeArrowheads="1"/>
          </p:cNvSpPr>
          <p:nvPr/>
        </p:nvSpPr>
        <p:spPr bwMode="auto">
          <a:xfrm>
            <a:off x="4384607" y="2224999"/>
            <a:ext cx="588623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client</a:t>
            </a:r>
          </a:p>
        </p:txBody>
      </p:sp>
      <p:sp>
        <p:nvSpPr>
          <p:cNvPr id="19" name="Text Box 103"/>
          <p:cNvSpPr txBox="1">
            <a:spLocks noChangeArrowheads="1"/>
          </p:cNvSpPr>
          <p:nvPr/>
        </p:nvSpPr>
        <p:spPr bwMode="auto">
          <a:xfrm>
            <a:off x="4851332" y="2391687"/>
            <a:ext cx="35618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400">
                <a:solidFill>
                  <a:srgbClr val="000099"/>
                </a:solidFill>
              </a:rPr>
              <a:t>?</a:t>
            </a:r>
          </a:p>
        </p:txBody>
      </p:sp>
      <p:sp>
        <p:nvSpPr>
          <p:cNvPr id="20" name="Line 104"/>
          <p:cNvSpPr>
            <a:spLocks noChangeShapeType="1"/>
          </p:cNvSpPr>
          <p:nvPr/>
        </p:nvSpPr>
        <p:spPr bwMode="auto">
          <a:xfrm>
            <a:off x="4839426" y="2852459"/>
            <a:ext cx="301228" cy="2083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21" name="Group 116"/>
          <p:cNvGrpSpPr/>
          <p:nvPr/>
        </p:nvGrpSpPr>
        <p:grpSpPr bwMode="auto">
          <a:xfrm>
            <a:off x="5591901" y="2990571"/>
            <a:ext cx="440531" cy="242888"/>
            <a:chOff x="4396" y="1245"/>
            <a:chExt cx="672" cy="248"/>
          </a:xfrm>
        </p:grpSpPr>
        <p:sp>
          <p:nvSpPr>
            <p:cNvPr id="2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cs typeface="Arial" panose="020B0604020202020204" pitchFamily="34" charset="0"/>
              </a:endParaRPr>
            </a:p>
          </p:txBody>
        </p:sp>
        <p:sp>
          <p:nvSpPr>
            <p:cNvPr id="2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cs typeface="Arial" panose="020B0604020202020204" pitchFamily="34" charset="0"/>
              </a:endParaRPr>
            </a:p>
          </p:txBody>
        </p:sp>
        <p:sp>
          <p:nvSpPr>
            <p:cNvPr id="2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cs typeface="Arial" panose="020B0604020202020204" pitchFamily="34" charset="0"/>
              </a:endParaRPr>
            </a:p>
          </p:txBody>
        </p:sp>
        <p:grpSp>
          <p:nvGrpSpPr>
            <p:cNvPr id="25" name="Group 120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8" name="Freeform 121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" name="Freeform 122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6" name="Line 123"/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7" name="Line 124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0" name="Group 128"/>
          <p:cNvGrpSpPr/>
          <p:nvPr/>
        </p:nvGrpSpPr>
        <p:grpSpPr bwMode="auto">
          <a:xfrm>
            <a:off x="4365557" y="2577425"/>
            <a:ext cx="514350" cy="486965"/>
            <a:chOff x="-44" y="1473"/>
            <a:chExt cx="981" cy="1105"/>
          </a:xfrm>
        </p:grpSpPr>
        <p:pic>
          <p:nvPicPr>
            <p:cNvPr id="31" name="Picture 129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130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3" name="Group 131"/>
          <p:cNvGrpSpPr/>
          <p:nvPr/>
        </p:nvGrpSpPr>
        <p:grpSpPr bwMode="auto">
          <a:xfrm flipH="1">
            <a:off x="6681322" y="2960806"/>
            <a:ext cx="481013" cy="419100"/>
            <a:chOff x="-44" y="1473"/>
            <a:chExt cx="981" cy="1105"/>
          </a:xfrm>
        </p:grpSpPr>
        <p:pic>
          <p:nvPicPr>
            <p:cNvPr id="34" name="Picture 132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133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6" name="Group 134"/>
          <p:cNvGrpSpPr/>
          <p:nvPr/>
        </p:nvGrpSpPr>
        <p:grpSpPr bwMode="auto">
          <a:xfrm flipH="1">
            <a:off x="6662272" y="3533496"/>
            <a:ext cx="481013" cy="419100"/>
            <a:chOff x="-44" y="1473"/>
            <a:chExt cx="981" cy="1105"/>
          </a:xfrm>
        </p:grpSpPr>
        <p:pic>
          <p:nvPicPr>
            <p:cNvPr id="37" name="Picture 135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13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9" name="Line 137"/>
          <p:cNvSpPr>
            <a:spLocks noChangeShapeType="1"/>
          </p:cNvSpPr>
          <p:nvPr/>
        </p:nvSpPr>
        <p:spPr bwMode="auto">
          <a:xfrm>
            <a:off x="6027669" y="3129875"/>
            <a:ext cx="650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40" name="Group 138"/>
          <p:cNvGrpSpPr/>
          <p:nvPr/>
        </p:nvGrpSpPr>
        <p:grpSpPr bwMode="auto">
          <a:xfrm>
            <a:off x="6794432" y="2359540"/>
            <a:ext cx="259556" cy="467916"/>
            <a:chOff x="4140" y="429"/>
            <a:chExt cx="1425" cy="2396"/>
          </a:xfrm>
        </p:grpSpPr>
        <p:sp>
          <p:nvSpPr>
            <p:cNvPr id="41" name="Freeform 139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Rectangle 140"/>
            <p:cNvSpPr>
              <a:spLocks noChangeArrowheads="1"/>
            </p:cNvSpPr>
            <p:nvPr/>
          </p:nvSpPr>
          <p:spPr bwMode="auto">
            <a:xfrm>
              <a:off x="4205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43" name="Freeform 141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Freeform 142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Rectangle 143"/>
            <p:cNvSpPr>
              <a:spLocks noChangeArrowheads="1"/>
            </p:cNvSpPr>
            <p:nvPr/>
          </p:nvSpPr>
          <p:spPr bwMode="auto">
            <a:xfrm>
              <a:off x="4212" y="691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46" name="Group 144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1" name="AutoShape 145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72" name="AutoShape 146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47" name="Rectangle 147"/>
            <p:cNvSpPr>
              <a:spLocks noChangeArrowheads="1"/>
            </p:cNvSpPr>
            <p:nvPr/>
          </p:nvSpPr>
          <p:spPr bwMode="auto">
            <a:xfrm>
              <a:off x="4225" y="102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48" name="Group 148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" name="AutoShape 149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70" name="AutoShape 150"/>
              <p:cNvSpPr>
                <a:spLocks noChangeArrowheads="1"/>
              </p:cNvSpPr>
              <p:nvPr/>
            </p:nvSpPr>
            <p:spPr bwMode="auto">
              <a:xfrm>
                <a:off x="631" y="2589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218" y="1356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225" y="1654"/>
              <a:ext cx="601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51" name="Group 153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7" name="AutoShape 154"/>
              <p:cNvSpPr>
                <a:spLocks noChangeArrowheads="1"/>
              </p:cNvSpPr>
              <p:nvPr/>
            </p:nvSpPr>
            <p:spPr bwMode="auto">
              <a:xfrm>
                <a:off x="614" y="2576"/>
                <a:ext cx="725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8" name="AutoShape 155"/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52" name="Freeform 156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3" name="Group 157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5" name="AutoShape 158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6" name="AutoShape 159"/>
              <p:cNvSpPr>
                <a:spLocks noChangeArrowheads="1"/>
              </p:cNvSpPr>
              <p:nvPr/>
            </p:nvSpPr>
            <p:spPr bwMode="auto">
              <a:xfrm>
                <a:off x="633" y="2585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54" name="Rectangle 160"/>
            <p:cNvSpPr>
              <a:spLocks noChangeArrowheads="1"/>
            </p:cNvSpPr>
            <p:nvPr/>
          </p:nvSpPr>
          <p:spPr bwMode="auto">
            <a:xfrm>
              <a:off x="5251" y="429"/>
              <a:ext cx="65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5" name="Freeform 161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Freeform 162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Oval 163"/>
            <p:cNvSpPr>
              <a:spLocks noChangeArrowheads="1"/>
            </p:cNvSpPr>
            <p:nvPr/>
          </p:nvSpPr>
          <p:spPr bwMode="auto">
            <a:xfrm>
              <a:off x="5519" y="2612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8" name="Freeform 164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AutoShape 165"/>
            <p:cNvSpPr>
              <a:spLocks noChangeArrowheads="1"/>
            </p:cNvSpPr>
            <p:nvPr/>
          </p:nvSpPr>
          <p:spPr bwMode="auto">
            <a:xfrm>
              <a:off x="4140" y="2679"/>
              <a:ext cx="1196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0" name="AutoShape 166"/>
            <p:cNvSpPr>
              <a:spLocks noChangeArrowheads="1"/>
            </p:cNvSpPr>
            <p:nvPr/>
          </p:nvSpPr>
          <p:spPr bwMode="auto">
            <a:xfrm>
              <a:off x="4205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1" name="Oval 167"/>
            <p:cNvSpPr>
              <a:spLocks noChangeArrowheads="1"/>
            </p:cNvSpPr>
            <p:nvPr/>
          </p:nvSpPr>
          <p:spPr bwMode="auto">
            <a:xfrm>
              <a:off x="4310" y="2386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2" name="Oval 168"/>
            <p:cNvSpPr>
              <a:spLocks noChangeArrowheads="1"/>
            </p:cNvSpPr>
            <p:nvPr/>
          </p:nvSpPr>
          <p:spPr bwMode="auto">
            <a:xfrm>
              <a:off x="4486" y="2386"/>
              <a:ext cx="157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3" name="Oval 169"/>
            <p:cNvSpPr>
              <a:spLocks noChangeArrowheads="1"/>
            </p:cNvSpPr>
            <p:nvPr/>
          </p:nvSpPr>
          <p:spPr bwMode="auto">
            <a:xfrm>
              <a:off x="4663" y="2380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4" name="Rectangle 170"/>
            <p:cNvSpPr>
              <a:spLocks noChangeArrowheads="1"/>
            </p:cNvSpPr>
            <p:nvPr/>
          </p:nvSpPr>
          <p:spPr bwMode="auto">
            <a:xfrm>
              <a:off x="5062" y="1837"/>
              <a:ext cx="85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sp>
        <p:nvSpPr>
          <p:cNvPr id="73" name="Line 137"/>
          <p:cNvSpPr>
            <a:spLocks noChangeShapeType="1"/>
          </p:cNvSpPr>
          <p:nvPr/>
        </p:nvSpPr>
        <p:spPr bwMode="auto">
          <a:xfrm>
            <a:off x="6643222" y="3138209"/>
            <a:ext cx="9286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cxnSp>
        <p:nvCxnSpPr>
          <p:cNvPr id="74" name="直接连接符 73"/>
          <p:cNvCxnSpPr>
            <a:endCxn id="10" idx="0"/>
          </p:cNvCxnSpPr>
          <p:nvPr/>
        </p:nvCxnSpPr>
        <p:spPr>
          <a:xfrm flipH="1">
            <a:off x="6625363" y="2540184"/>
            <a:ext cx="52629" cy="11361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灯片编号占位符 2">
            <a:extLst>
              <a:ext uri="{FF2B5EF4-FFF2-40B4-BE49-F238E27FC236}">
                <a16:creationId xmlns:a16="http://schemas.microsoft.com/office/drawing/2014/main" id="{37DF7A00-2F47-4E1B-8AD5-98FE18C031B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76" name="AutoShape 5">
            <a:extLst>
              <a:ext uri="{FF2B5EF4-FFF2-40B4-BE49-F238E27FC236}">
                <a16:creationId xmlns:a16="http://schemas.microsoft.com/office/drawing/2014/main" id="{9AF2B083-FD01-4F09-87B1-22D6049D4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穿越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问题：外网的客户端怎么主动连接</a:t>
            </a:r>
            <a:r>
              <a:rPr lang="en-US" altLang="zh-CN" dirty="0">
                <a:solidFill>
                  <a:srgbClr val="FF0000"/>
                </a:solidFill>
              </a:rPr>
              <a:t>NAT</a:t>
            </a:r>
            <a:r>
              <a:rPr lang="zh-CN" altLang="en-US" dirty="0">
                <a:solidFill>
                  <a:srgbClr val="FF0000"/>
                </a:solidFill>
              </a:rPr>
              <a:t>内网的服务器？</a:t>
            </a:r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8" name="Freeform 29"/>
          <p:cNvSpPr/>
          <p:nvPr/>
        </p:nvSpPr>
        <p:spPr bwMode="auto">
          <a:xfrm>
            <a:off x="6584063" y="2227381"/>
            <a:ext cx="1257300" cy="1865709"/>
          </a:xfrm>
          <a:custGeom>
            <a:avLst/>
            <a:gdLst>
              <a:gd name="T0" fmla="*/ 2147483647 w 1056"/>
              <a:gd name="T1" fmla="*/ 2147483647 h 1567"/>
              <a:gd name="T2" fmla="*/ 2147483647 w 1056"/>
              <a:gd name="T3" fmla="*/ 2147483647 h 1567"/>
              <a:gd name="T4" fmla="*/ 2147483647 w 1056"/>
              <a:gd name="T5" fmla="*/ 2147483647 h 1567"/>
              <a:gd name="T6" fmla="*/ 2147483647 w 1056"/>
              <a:gd name="T7" fmla="*/ 2147483647 h 1567"/>
              <a:gd name="T8" fmla="*/ 2147483647 w 1056"/>
              <a:gd name="T9" fmla="*/ 2147483647 h 1567"/>
              <a:gd name="T10" fmla="*/ 2147483647 w 1056"/>
              <a:gd name="T11" fmla="*/ 2147483647 h 1567"/>
              <a:gd name="T12" fmla="*/ 2147483647 w 1056"/>
              <a:gd name="T13" fmla="*/ 2147483647 h 1567"/>
              <a:gd name="T14" fmla="*/ 2147483647 w 1056"/>
              <a:gd name="T15" fmla="*/ 2147483647 h 1567"/>
              <a:gd name="T16" fmla="*/ 2147483647 w 1056"/>
              <a:gd name="T17" fmla="*/ 2147483647 h 1567"/>
              <a:gd name="T18" fmla="*/ 2147483647 w 1056"/>
              <a:gd name="T19" fmla="*/ 2147483647 h 1567"/>
              <a:gd name="T20" fmla="*/ 2147483647 w 1056"/>
              <a:gd name="T21" fmla="*/ 2147483647 h 1567"/>
              <a:gd name="T22" fmla="*/ 2147483647 w 1056"/>
              <a:gd name="T23" fmla="*/ 2147483647 h 1567"/>
              <a:gd name="T24" fmla="*/ 2147483647 w 1056"/>
              <a:gd name="T25" fmla="*/ 2147483647 h 156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56" h="1567">
                <a:moveTo>
                  <a:pt x="109" y="676"/>
                </a:moveTo>
                <a:cubicBezTo>
                  <a:pt x="199" y="644"/>
                  <a:pt x="527" y="657"/>
                  <a:pt x="598" y="647"/>
                </a:cubicBezTo>
                <a:cubicBezTo>
                  <a:pt x="669" y="637"/>
                  <a:pt x="538" y="694"/>
                  <a:pt x="533" y="614"/>
                </a:cubicBezTo>
                <a:cubicBezTo>
                  <a:pt x="527" y="534"/>
                  <a:pt x="522" y="265"/>
                  <a:pt x="566" y="169"/>
                </a:cubicBezTo>
                <a:cubicBezTo>
                  <a:pt x="610" y="73"/>
                  <a:pt x="721" y="51"/>
                  <a:pt x="795" y="38"/>
                </a:cubicBezTo>
                <a:cubicBezTo>
                  <a:pt x="869" y="25"/>
                  <a:pt x="981" y="0"/>
                  <a:pt x="1013" y="90"/>
                </a:cubicBezTo>
                <a:cubicBezTo>
                  <a:pt x="1045" y="180"/>
                  <a:pt x="988" y="448"/>
                  <a:pt x="987" y="579"/>
                </a:cubicBezTo>
                <a:cubicBezTo>
                  <a:pt x="986" y="710"/>
                  <a:pt x="1005" y="730"/>
                  <a:pt x="1005" y="875"/>
                </a:cubicBezTo>
                <a:cubicBezTo>
                  <a:pt x="1005" y="1020"/>
                  <a:pt x="1056" y="1351"/>
                  <a:pt x="987" y="1451"/>
                </a:cubicBezTo>
                <a:cubicBezTo>
                  <a:pt x="918" y="1551"/>
                  <a:pt x="678" y="1567"/>
                  <a:pt x="592" y="1478"/>
                </a:cubicBezTo>
                <a:cubicBezTo>
                  <a:pt x="506" y="1389"/>
                  <a:pt x="562" y="1026"/>
                  <a:pt x="473" y="919"/>
                </a:cubicBezTo>
                <a:cubicBezTo>
                  <a:pt x="384" y="812"/>
                  <a:pt x="122" y="878"/>
                  <a:pt x="61" y="838"/>
                </a:cubicBezTo>
                <a:cubicBezTo>
                  <a:pt x="0" y="798"/>
                  <a:pt x="26" y="710"/>
                  <a:pt x="109" y="67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Line 35"/>
          <p:cNvSpPr>
            <a:spLocks noChangeShapeType="1"/>
          </p:cNvSpPr>
          <p:nvPr/>
        </p:nvSpPr>
        <p:spPr bwMode="auto">
          <a:xfrm>
            <a:off x="7353206" y="2547658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" name="Line 36"/>
          <p:cNvSpPr>
            <a:spLocks noChangeShapeType="1"/>
          </p:cNvSpPr>
          <p:nvPr/>
        </p:nvSpPr>
        <p:spPr bwMode="auto">
          <a:xfrm flipV="1">
            <a:off x="7273435" y="3676371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7176994" y="2085697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10.0.0.1</a:t>
            </a:r>
          </a:p>
        </p:txBody>
      </p:sp>
      <p:sp>
        <p:nvSpPr>
          <p:cNvPr id="12" name="Text Box 56"/>
          <p:cNvSpPr txBox="1">
            <a:spLocks noChangeArrowheads="1"/>
          </p:cNvSpPr>
          <p:nvPr/>
        </p:nvSpPr>
        <p:spPr bwMode="auto">
          <a:xfrm>
            <a:off x="6598350" y="2797690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10.0.0.4</a:t>
            </a:r>
          </a:p>
        </p:txBody>
      </p:sp>
      <p:sp>
        <p:nvSpPr>
          <p:cNvPr id="13" name="Line 57"/>
          <p:cNvSpPr>
            <a:spLocks noChangeShapeType="1"/>
          </p:cNvSpPr>
          <p:nvPr/>
        </p:nvSpPr>
        <p:spPr bwMode="auto">
          <a:xfrm flipH="1">
            <a:off x="6691219" y="2989381"/>
            <a:ext cx="64294" cy="964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4" name="Line 58"/>
          <p:cNvSpPr>
            <a:spLocks noChangeShapeType="1"/>
          </p:cNvSpPr>
          <p:nvPr/>
        </p:nvSpPr>
        <p:spPr bwMode="auto">
          <a:xfrm flipH="1">
            <a:off x="6136388" y="3167975"/>
            <a:ext cx="64294" cy="964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5" name="Text Box 88"/>
          <p:cNvSpPr txBox="1">
            <a:spLocks noChangeArrowheads="1"/>
          </p:cNvSpPr>
          <p:nvPr/>
        </p:nvSpPr>
        <p:spPr bwMode="auto">
          <a:xfrm>
            <a:off x="6182362" y="3251319"/>
            <a:ext cx="636713" cy="4455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350" dirty="0">
                <a:solidFill>
                  <a:srgbClr val="CC0000"/>
                </a:solidFill>
              </a:rPr>
              <a:t>NAT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350" dirty="0">
                <a:solidFill>
                  <a:srgbClr val="CC0000"/>
                </a:solidFill>
              </a:rPr>
              <a:t>router</a:t>
            </a:r>
          </a:p>
        </p:txBody>
      </p:sp>
      <p:sp>
        <p:nvSpPr>
          <p:cNvPr id="16" name="Text Box 89"/>
          <p:cNvSpPr txBox="1">
            <a:spLocks noChangeArrowheads="1"/>
          </p:cNvSpPr>
          <p:nvPr/>
        </p:nvSpPr>
        <p:spPr bwMode="auto">
          <a:xfrm>
            <a:off x="5219607" y="3215600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dirty="0"/>
              <a:t>138.76.29.7</a:t>
            </a:r>
          </a:p>
        </p:txBody>
      </p:sp>
      <p:sp>
        <p:nvSpPr>
          <p:cNvPr id="17" name="Line 100"/>
          <p:cNvSpPr>
            <a:spLocks noChangeShapeType="1"/>
          </p:cNvSpPr>
          <p:nvPr/>
        </p:nvSpPr>
        <p:spPr bwMode="auto">
          <a:xfrm>
            <a:off x="6006610" y="3154877"/>
            <a:ext cx="30122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" name="Text Box 102"/>
          <p:cNvSpPr txBox="1">
            <a:spLocks noChangeArrowheads="1"/>
          </p:cNvSpPr>
          <p:nvPr/>
        </p:nvSpPr>
        <p:spPr bwMode="auto">
          <a:xfrm>
            <a:off x="5032679" y="2224999"/>
            <a:ext cx="636713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 b="1" dirty="0"/>
              <a:t>client</a:t>
            </a:r>
          </a:p>
        </p:txBody>
      </p:sp>
      <p:sp>
        <p:nvSpPr>
          <p:cNvPr id="19" name="Text Box 103"/>
          <p:cNvSpPr txBox="1">
            <a:spLocks noChangeArrowheads="1"/>
          </p:cNvSpPr>
          <p:nvPr/>
        </p:nvSpPr>
        <p:spPr bwMode="auto">
          <a:xfrm>
            <a:off x="5499404" y="2391687"/>
            <a:ext cx="35618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400">
                <a:solidFill>
                  <a:srgbClr val="000099"/>
                </a:solidFill>
              </a:rPr>
              <a:t>?</a:t>
            </a:r>
          </a:p>
        </p:txBody>
      </p:sp>
      <p:sp>
        <p:nvSpPr>
          <p:cNvPr id="20" name="Line 104"/>
          <p:cNvSpPr>
            <a:spLocks noChangeShapeType="1"/>
          </p:cNvSpPr>
          <p:nvPr/>
        </p:nvSpPr>
        <p:spPr bwMode="auto">
          <a:xfrm>
            <a:off x="5487498" y="2852459"/>
            <a:ext cx="301228" cy="2083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21" name="Group 116"/>
          <p:cNvGrpSpPr/>
          <p:nvPr/>
        </p:nvGrpSpPr>
        <p:grpSpPr bwMode="auto">
          <a:xfrm>
            <a:off x="6239973" y="2990571"/>
            <a:ext cx="440531" cy="242888"/>
            <a:chOff x="4396" y="1245"/>
            <a:chExt cx="672" cy="248"/>
          </a:xfrm>
        </p:grpSpPr>
        <p:sp>
          <p:nvSpPr>
            <p:cNvPr id="2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cs typeface="Arial" panose="020B0604020202020204" pitchFamily="34" charset="0"/>
              </a:endParaRPr>
            </a:p>
          </p:txBody>
        </p:sp>
        <p:sp>
          <p:nvSpPr>
            <p:cNvPr id="2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cs typeface="Arial" panose="020B0604020202020204" pitchFamily="34" charset="0"/>
              </a:endParaRPr>
            </a:p>
          </p:txBody>
        </p:sp>
        <p:sp>
          <p:nvSpPr>
            <p:cNvPr id="2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cs typeface="Arial" panose="020B0604020202020204" pitchFamily="34" charset="0"/>
              </a:endParaRPr>
            </a:p>
          </p:txBody>
        </p:sp>
        <p:grpSp>
          <p:nvGrpSpPr>
            <p:cNvPr id="25" name="Group 120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8" name="Freeform 121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" name="Freeform 122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6" name="Line 123"/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7" name="Line 124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0" name="Group 128"/>
          <p:cNvGrpSpPr/>
          <p:nvPr/>
        </p:nvGrpSpPr>
        <p:grpSpPr bwMode="auto">
          <a:xfrm>
            <a:off x="5013629" y="2577425"/>
            <a:ext cx="514350" cy="486965"/>
            <a:chOff x="-44" y="1473"/>
            <a:chExt cx="981" cy="1105"/>
          </a:xfrm>
        </p:grpSpPr>
        <p:pic>
          <p:nvPicPr>
            <p:cNvPr id="31" name="Picture 129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130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3" name="Group 131"/>
          <p:cNvGrpSpPr/>
          <p:nvPr/>
        </p:nvGrpSpPr>
        <p:grpSpPr bwMode="auto">
          <a:xfrm flipH="1">
            <a:off x="7329394" y="2960806"/>
            <a:ext cx="481013" cy="419100"/>
            <a:chOff x="-44" y="1473"/>
            <a:chExt cx="981" cy="1105"/>
          </a:xfrm>
        </p:grpSpPr>
        <p:pic>
          <p:nvPicPr>
            <p:cNvPr id="34" name="Picture 132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133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9" name="Line 137"/>
          <p:cNvSpPr>
            <a:spLocks noChangeShapeType="1"/>
          </p:cNvSpPr>
          <p:nvPr/>
        </p:nvSpPr>
        <p:spPr bwMode="auto">
          <a:xfrm>
            <a:off x="6675741" y="3129875"/>
            <a:ext cx="650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40" name="Group 138"/>
          <p:cNvGrpSpPr/>
          <p:nvPr/>
        </p:nvGrpSpPr>
        <p:grpSpPr bwMode="auto">
          <a:xfrm>
            <a:off x="7442504" y="2359540"/>
            <a:ext cx="259556" cy="467916"/>
            <a:chOff x="4140" y="429"/>
            <a:chExt cx="1425" cy="2396"/>
          </a:xfrm>
        </p:grpSpPr>
        <p:sp>
          <p:nvSpPr>
            <p:cNvPr id="41" name="Freeform 139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Rectangle 140"/>
            <p:cNvSpPr>
              <a:spLocks noChangeArrowheads="1"/>
            </p:cNvSpPr>
            <p:nvPr/>
          </p:nvSpPr>
          <p:spPr bwMode="auto">
            <a:xfrm>
              <a:off x="4205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43" name="Freeform 141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Freeform 142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Rectangle 143"/>
            <p:cNvSpPr>
              <a:spLocks noChangeArrowheads="1"/>
            </p:cNvSpPr>
            <p:nvPr/>
          </p:nvSpPr>
          <p:spPr bwMode="auto">
            <a:xfrm>
              <a:off x="4212" y="691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46" name="Group 144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1" name="AutoShape 145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72" name="AutoShape 146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47" name="Rectangle 147"/>
            <p:cNvSpPr>
              <a:spLocks noChangeArrowheads="1"/>
            </p:cNvSpPr>
            <p:nvPr/>
          </p:nvSpPr>
          <p:spPr bwMode="auto">
            <a:xfrm>
              <a:off x="4225" y="102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48" name="Group 148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" name="AutoShape 149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70" name="AutoShape 150"/>
              <p:cNvSpPr>
                <a:spLocks noChangeArrowheads="1"/>
              </p:cNvSpPr>
              <p:nvPr/>
            </p:nvSpPr>
            <p:spPr bwMode="auto">
              <a:xfrm>
                <a:off x="631" y="2589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218" y="1356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225" y="1654"/>
              <a:ext cx="601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51" name="Group 153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7" name="AutoShape 154"/>
              <p:cNvSpPr>
                <a:spLocks noChangeArrowheads="1"/>
              </p:cNvSpPr>
              <p:nvPr/>
            </p:nvSpPr>
            <p:spPr bwMode="auto">
              <a:xfrm>
                <a:off x="614" y="2576"/>
                <a:ext cx="725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8" name="AutoShape 155"/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52" name="Freeform 156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3" name="Group 157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5" name="AutoShape 158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6" name="AutoShape 159"/>
              <p:cNvSpPr>
                <a:spLocks noChangeArrowheads="1"/>
              </p:cNvSpPr>
              <p:nvPr/>
            </p:nvSpPr>
            <p:spPr bwMode="auto">
              <a:xfrm>
                <a:off x="633" y="2585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54" name="Rectangle 160"/>
            <p:cNvSpPr>
              <a:spLocks noChangeArrowheads="1"/>
            </p:cNvSpPr>
            <p:nvPr/>
          </p:nvSpPr>
          <p:spPr bwMode="auto">
            <a:xfrm>
              <a:off x="5251" y="429"/>
              <a:ext cx="65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5" name="Freeform 161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Freeform 162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Oval 163"/>
            <p:cNvSpPr>
              <a:spLocks noChangeArrowheads="1"/>
            </p:cNvSpPr>
            <p:nvPr/>
          </p:nvSpPr>
          <p:spPr bwMode="auto">
            <a:xfrm>
              <a:off x="5519" y="2612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8" name="Freeform 164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AutoShape 165"/>
            <p:cNvSpPr>
              <a:spLocks noChangeArrowheads="1"/>
            </p:cNvSpPr>
            <p:nvPr/>
          </p:nvSpPr>
          <p:spPr bwMode="auto">
            <a:xfrm>
              <a:off x="4140" y="2679"/>
              <a:ext cx="1196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0" name="AutoShape 166"/>
            <p:cNvSpPr>
              <a:spLocks noChangeArrowheads="1"/>
            </p:cNvSpPr>
            <p:nvPr/>
          </p:nvSpPr>
          <p:spPr bwMode="auto">
            <a:xfrm>
              <a:off x="4205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1" name="Oval 167"/>
            <p:cNvSpPr>
              <a:spLocks noChangeArrowheads="1"/>
            </p:cNvSpPr>
            <p:nvPr/>
          </p:nvSpPr>
          <p:spPr bwMode="auto">
            <a:xfrm>
              <a:off x="4310" y="2386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2" name="Oval 168"/>
            <p:cNvSpPr>
              <a:spLocks noChangeArrowheads="1"/>
            </p:cNvSpPr>
            <p:nvPr/>
          </p:nvSpPr>
          <p:spPr bwMode="auto">
            <a:xfrm>
              <a:off x="4486" y="2386"/>
              <a:ext cx="157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3" name="Oval 169"/>
            <p:cNvSpPr>
              <a:spLocks noChangeArrowheads="1"/>
            </p:cNvSpPr>
            <p:nvPr/>
          </p:nvSpPr>
          <p:spPr bwMode="auto">
            <a:xfrm>
              <a:off x="4663" y="2380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4" name="Rectangle 170"/>
            <p:cNvSpPr>
              <a:spLocks noChangeArrowheads="1"/>
            </p:cNvSpPr>
            <p:nvPr/>
          </p:nvSpPr>
          <p:spPr bwMode="auto">
            <a:xfrm>
              <a:off x="5062" y="1837"/>
              <a:ext cx="85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sp>
        <p:nvSpPr>
          <p:cNvPr id="73" name="Line 137"/>
          <p:cNvSpPr>
            <a:spLocks noChangeShapeType="1"/>
          </p:cNvSpPr>
          <p:nvPr/>
        </p:nvSpPr>
        <p:spPr bwMode="auto">
          <a:xfrm>
            <a:off x="7291294" y="3138209"/>
            <a:ext cx="9286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cxnSp>
        <p:nvCxnSpPr>
          <p:cNvPr id="74" name="直接连接符 73"/>
          <p:cNvCxnSpPr>
            <a:endCxn id="10" idx="0"/>
          </p:cNvCxnSpPr>
          <p:nvPr/>
        </p:nvCxnSpPr>
        <p:spPr>
          <a:xfrm flipH="1">
            <a:off x="7273435" y="2540184"/>
            <a:ext cx="52629" cy="11361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296000" y="2160000"/>
            <a:ext cx="3544547" cy="2400657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NAT Router</a:t>
            </a: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静态配置</a:t>
            </a: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endParaRPr lang="en-US" altLang="zh-CN" sz="15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0013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15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ip138.76.29.7 + port 80</a:t>
            </a:r>
            <a:b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to</a:t>
            </a:r>
            <a:b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内网：</a:t>
            </a: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ip10.0.0.1 + port 80</a:t>
            </a:r>
            <a:b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5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ip138.76.29.7 + port 8080</a:t>
            </a:r>
            <a:b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to </a:t>
            </a:r>
            <a:b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内网：</a:t>
            </a: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ip10.0.0.2 + port 80</a:t>
            </a:r>
          </a:p>
        </p:txBody>
      </p:sp>
      <p:sp>
        <p:nvSpPr>
          <p:cNvPr id="76" name="灯片编号占位符 2">
            <a:extLst>
              <a:ext uri="{FF2B5EF4-FFF2-40B4-BE49-F238E27FC236}">
                <a16:creationId xmlns:a16="http://schemas.microsoft.com/office/drawing/2014/main" id="{F4131C97-2075-470A-96F0-3879F35F91E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77" name="AutoShape 5">
            <a:extLst>
              <a:ext uri="{FF2B5EF4-FFF2-40B4-BE49-F238E27FC236}">
                <a16:creationId xmlns:a16="http://schemas.microsoft.com/office/drawing/2014/main" id="{49326D8E-5A0D-4D0B-BB75-E24A4CAA5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8" name="Text Box 37">
            <a:extLst>
              <a:ext uri="{FF2B5EF4-FFF2-40B4-BE49-F238E27FC236}">
                <a16:creationId xmlns:a16="http://schemas.microsoft.com/office/drawing/2014/main" id="{07A90910-C568-4B09-8AF3-18DE38129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6994" y="4017444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dirty="0"/>
              <a:t>10.0.0.2</a:t>
            </a:r>
          </a:p>
        </p:txBody>
      </p:sp>
      <p:grpSp>
        <p:nvGrpSpPr>
          <p:cNvPr id="79" name="Group 138">
            <a:extLst>
              <a:ext uri="{FF2B5EF4-FFF2-40B4-BE49-F238E27FC236}">
                <a16:creationId xmlns:a16="http://schemas.microsoft.com/office/drawing/2014/main" id="{4FE2A6F3-C530-47C5-8C42-C44E355A8609}"/>
              </a:ext>
            </a:extLst>
          </p:cNvPr>
          <p:cNvGrpSpPr/>
          <p:nvPr/>
        </p:nvGrpSpPr>
        <p:grpSpPr bwMode="auto">
          <a:xfrm>
            <a:off x="7442504" y="3562491"/>
            <a:ext cx="259556" cy="467916"/>
            <a:chOff x="4140" y="429"/>
            <a:chExt cx="1425" cy="2396"/>
          </a:xfrm>
        </p:grpSpPr>
        <p:sp>
          <p:nvSpPr>
            <p:cNvPr id="80" name="Freeform 139">
              <a:extLst>
                <a:ext uri="{FF2B5EF4-FFF2-40B4-BE49-F238E27FC236}">
                  <a16:creationId xmlns:a16="http://schemas.microsoft.com/office/drawing/2014/main" id="{EE2B5310-BBE1-4A8E-A04A-445496B397FE}"/>
                </a:ext>
              </a:extLst>
            </p:cNvPr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1" name="Rectangle 140">
              <a:extLst>
                <a:ext uri="{FF2B5EF4-FFF2-40B4-BE49-F238E27FC236}">
                  <a16:creationId xmlns:a16="http://schemas.microsoft.com/office/drawing/2014/main" id="{C155B73A-1A17-484D-AA96-07724331D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82" name="Freeform 141">
              <a:extLst>
                <a:ext uri="{FF2B5EF4-FFF2-40B4-BE49-F238E27FC236}">
                  <a16:creationId xmlns:a16="http://schemas.microsoft.com/office/drawing/2014/main" id="{AF7ECCFE-2021-4014-AA76-8837DB22CC11}"/>
                </a:ext>
              </a:extLst>
            </p:cNvPr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3" name="Freeform 142">
              <a:extLst>
                <a:ext uri="{FF2B5EF4-FFF2-40B4-BE49-F238E27FC236}">
                  <a16:creationId xmlns:a16="http://schemas.microsoft.com/office/drawing/2014/main" id="{6EA4308E-A249-4B45-A3CC-A602F56F2564}"/>
                </a:ext>
              </a:extLst>
            </p:cNvPr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4" name="Rectangle 143">
              <a:extLst>
                <a:ext uri="{FF2B5EF4-FFF2-40B4-BE49-F238E27FC236}">
                  <a16:creationId xmlns:a16="http://schemas.microsoft.com/office/drawing/2014/main" id="{378B0620-418D-4218-A396-807A50831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1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85" name="Group 144">
              <a:extLst>
                <a:ext uri="{FF2B5EF4-FFF2-40B4-BE49-F238E27FC236}">
                  <a16:creationId xmlns:a16="http://schemas.microsoft.com/office/drawing/2014/main" id="{0A44EC31-5322-4D0E-9224-3B97742CED0B}"/>
                </a:ext>
              </a:extLst>
            </p:cNvPr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0" name="AutoShape 145">
                <a:extLst>
                  <a:ext uri="{FF2B5EF4-FFF2-40B4-BE49-F238E27FC236}">
                    <a16:creationId xmlns:a16="http://schemas.microsoft.com/office/drawing/2014/main" id="{6D166E34-3FB5-4827-B13F-40B9AC56A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11" name="AutoShape 146">
                <a:extLst>
                  <a:ext uri="{FF2B5EF4-FFF2-40B4-BE49-F238E27FC236}">
                    <a16:creationId xmlns:a16="http://schemas.microsoft.com/office/drawing/2014/main" id="{950245CA-1BAC-4F21-853F-F3819933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86" name="Rectangle 147">
              <a:extLst>
                <a:ext uri="{FF2B5EF4-FFF2-40B4-BE49-F238E27FC236}">
                  <a16:creationId xmlns:a16="http://schemas.microsoft.com/office/drawing/2014/main" id="{4C655948-CD62-4525-B47D-F675EFD45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87" name="Group 148">
              <a:extLst>
                <a:ext uri="{FF2B5EF4-FFF2-40B4-BE49-F238E27FC236}">
                  <a16:creationId xmlns:a16="http://schemas.microsoft.com/office/drawing/2014/main" id="{7DCC17ED-0C57-41E5-BDFA-D63566661CD4}"/>
                </a:ext>
              </a:extLst>
            </p:cNvPr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8" name="AutoShape 149">
                <a:extLst>
                  <a:ext uri="{FF2B5EF4-FFF2-40B4-BE49-F238E27FC236}">
                    <a16:creationId xmlns:a16="http://schemas.microsoft.com/office/drawing/2014/main" id="{2A2FAA64-A72A-4E31-A692-9B929A95D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09" name="AutoShape 150">
                <a:extLst>
                  <a:ext uri="{FF2B5EF4-FFF2-40B4-BE49-F238E27FC236}">
                    <a16:creationId xmlns:a16="http://schemas.microsoft.com/office/drawing/2014/main" id="{37EA2A99-CC8D-483D-AFCB-D0D8FE69B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9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88" name="Rectangle 151">
              <a:extLst>
                <a:ext uri="{FF2B5EF4-FFF2-40B4-BE49-F238E27FC236}">
                  <a16:creationId xmlns:a16="http://schemas.microsoft.com/office/drawing/2014/main" id="{FD488F68-1F40-4113-816C-608099B70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6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89" name="Rectangle 152">
              <a:extLst>
                <a:ext uri="{FF2B5EF4-FFF2-40B4-BE49-F238E27FC236}">
                  <a16:creationId xmlns:a16="http://schemas.microsoft.com/office/drawing/2014/main" id="{FF579F16-82FD-4A06-8C17-D28B3E14D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601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90" name="Group 153">
              <a:extLst>
                <a:ext uri="{FF2B5EF4-FFF2-40B4-BE49-F238E27FC236}">
                  <a16:creationId xmlns:a16="http://schemas.microsoft.com/office/drawing/2014/main" id="{170B98FA-25FB-4F54-953B-C13959E2BD88}"/>
                </a:ext>
              </a:extLst>
            </p:cNvPr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6" name="AutoShape 154">
                <a:extLst>
                  <a:ext uri="{FF2B5EF4-FFF2-40B4-BE49-F238E27FC236}">
                    <a16:creationId xmlns:a16="http://schemas.microsoft.com/office/drawing/2014/main" id="{A1208FFA-8B50-48F7-95C3-EEA60B7D4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6"/>
                <a:ext cx="725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07" name="AutoShape 155">
                <a:extLst>
                  <a:ext uri="{FF2B5EF4-FFF2-40B4-BE49-F238E27FC236}">
                    <a16:creationId xmlns:a16="http://schemas.microsoft.com/office/drawing/2014/main" id="{65E7DDB9-D4E5-4BBE-9BA9-0CCC0B935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91" name="Freeform 156">
              <a:extLst>
                <a:ext uri="{FF2B5EF4-FFF2-40B4-BE49-F238E27FC236}">
                  <a16:creationId xmlns:a16="http://schemas.microsoft.com/office/drawing/2014/main" id="{E570C0ED-0B56-4ABD-B92F-34F429934681}"/>
                </a:ext>
              </a:extLst>
            </p:cNvPr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92" name="Group 157">
              <a:extLst>
                <a:ext uri="{FF2B5EF4-FFF2-40B4-BE49-F238E27FC236}">
                  <a16:creationId xmlns:a16="http://schemas.microsoft.com/office/drawing/2014/main" id="{21FFE7C1-B0FA-46A7-8712-37C5B63EF41E}"/>
                </a:ext>
              </a:extLst>
            </p:cNvPr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4" name="AutoShape 158">
                <a:extLst>
                  <a:ext uri="{FF2B5EF4-FFF2-40B4-BE49-F238E27FC236}">
                    <a16:creationId xmlns:a16="http://schemas.microsoft.com/office/drawing/2014/main" id="{ABAF45EC-148A-442E-AE79-4D0A0D79F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05" name="AutoShape 159">
                <a:extLst>
                  <a:ext uri="{FF2B5EF4-FFF2-40B4-BE49-F238E27FC236}">
                    <a16:creationId xmlns:a16="http://schemas.microsoft.com/office/drawing/2014/main" id="{224AECF8-8D84-4D26-AB0B-67BD644C9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5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93" name="Rectangle 160">
              <a:extLst>
                <a:ext uri="{FF2B5EF4-FFF2-40B4-BE49-F238E27FC236}">
                  <a16:creationId xmlns:a16="http://schemas.microsoft.com/office/drawing/2014/main" id="{F3A6920D-CD98-4ECD-8F90-5D333A467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5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94" name="Freeform 161">
              <a:extLst>
                <a:ext uri="{FF2B5EF4-FFF2-40B4-BE49-F238E27FC236}">
                  <a16:creationId xmlns:a16="http://schemas.microsoft.com/office/drawing/2014/main" id="{9F2B8735-E8B6-4B32-AFA6-3EBCC4747B4E}"/>
                </a:ext>
              </a:extLst>
            </p:cNvPr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5" name="Freeform 162">
              <a:extLst>
                <a:ext uri="{FF2B5EF4-FFF2-40B4-BE49-F238E27FC236}">
                  <a16:creationId xmlns:a16="http://schemas.microsoft.com/office/drawing/2014/main" id="{8CBFAE86-F951-439E-B7B5-69AD4074FBC0}"/>
                </a:ext>
              </a:extLst>
            </p:cNvPr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6" name="Oval 163">
              <a:extLst>
                <a:ext uri="{FF2B5EF4-FFF2-40B4-BE49-F238E27FC236}">
                  <a16:creationId xmlns:a16="http://schemas.microsoft.com/office/drawing/2014/main" id="{958A85DB-2422-4650-AFD7-461D22D28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2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97" name="Freeform 164">
              <a:extLst>
                <a:ext uri="{FF2B5EF4-FFF2-40B4-BE49-F238E27FC236}">
                  <a16:creationId xmlns:a16="http://schemas.microsoft.com/office/drawing/2014/main" id="{F165EB07-F19E-4DB6-8454-DFA7B3775CAD}"/>
                </a:ext>
              </a:extLst>
            </p:cNvPr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8" name="AutoShape 165">
              <a:extLst>
                <a:ext uri="{FF2B5EF4-FFF2-40B4-BE49-F238E27FC236}">
                  <a16:creationId xmlns:a16="http://schemas.microsoft.com/office/drawing/2014/main" id="{55326A60-D6B6-4CFA-8175-5D33817D9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6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99" name="AutoShape 166">
              <a:extLst>
                <a:ext uri="{FF2B5EF4-FFF2-40B4-BE49-F238E27FC236}">
                  <a16:creationId xmlns:a16="http://schemas.microsoft.com/office/drawing/2014/main" id="{87285A5E-7217-47ED-8840-7748E87B2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00" name="Oval 167">
              <a:extLst>
                <a:ext uri="{FF2B5EF4-FFF2-40B4-BE49-F238E27FC236}">
                  <a16:creationId xmlns:a16="http://schemas.microsoft.com/office/drawing/2014/main" id="{423F3A0A-45C8-4A4E-B5BA-48CCFD252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01" name="Oval 168">
              <a:extLst>
                <a:ext uri="{FF2B5EF4-FFF2-40B4-BE49-F238E27FC236}">
                  <a16:creationId xmlns:a16="http://schemas.microsoft.com/office/drawing/2014/main" id="{F31CEAA7-FE4B-4088-988C-398FF4915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6"/>
              <a:ext cx="157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2" name="Oval 169">
              <a:extLst>
                <a:ext uri="{FF2B5EF4-FFF2-40B4-BE49-F238E27FC236}">
                  <a16:creationId xmlns:a16="http://schemas.microsoft.com/office/drawing/2014/main" id="{968A8730-58F3-4088-9BA4-40A74BB53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03" name="Rectangle 170">
              <a:extLst>
                <a:ext uri="{FF2B5EF4-FFF2-40B4-BE49-F238E27FC236}">
                  <a16:creationId xmlns:a16="http://schemas.microsoft.com/office/drawing/2014/main" id="{33E6C067-B4D0-4D7C-AE7B-242943C4A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7"/>
              <a:ext cx="85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</p:spTree>
  </p:cSld>
  <p:clrMapOvr>
    <a:masterClrMapping/>
  </p:clrMapOvr>
  <p:transition>
    <p:cut thruBlk="1"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7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穿越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问题：外网的客户端怎么主动连接</a:t>
            </a:r>
            <a:r>
              <a:rPr lang="en-US" altLang="zh-CN" dirty="0">
                <a:solidFill>
                  <a:srgbClr val="FF0000"/>
                </a:solidFill>
              </a:rPr>
              <a:t>NAT</a:t>
            </a:r>
            <a:r>
              <a:rPr lang="zh-CN" altLang="en-US" dirty="0">
                <a:solidFill>
                  <a:srgbClr val="FF0000"/>
                </a:solidFill>
              </a:rPr>
              <a:t>内网的服务器？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8" name="Freeform 29"/>
          <p:cNvSpPr/>
          <p:nvPr/>
        </p:nvSpPr>
        <p:spPr bwMode="auto">
          <a:xfrm>
            <a:off x="6584063" y="2227381"/>
            <a:ext cx="1257300" cy="1865709"/>
          </a:xfrm>
          <a:custGeom>
            <a:avLst/>
            <a:gdLst>
              <a:gd name="T0" fmla="*/ 2147483647 w 1056"/>
              <a:gd name="T1" fmla="*/ 2147483647 h 1567"/>
              <a:gd name="T2" fmla="*/ 2147483647 w 1056"/>
              <a:gd name="T3" fmla="*/ 2147483647 h 1567"/>
              <a:gd name="T4" fmla="*/ 2147483647 w 1056"/>
              <a:gd name="T5" fmla="*/ 2147483647 h 1567"/>
              <a:gd name="T6" fmla="*/ 2147483647 w 1056"/>
              <a:gd name="T7" fmla="*/ 2147483647 h 1567"/>
              <a:gd name="T8" fmla="*/ 2147483647 w 1056"/>
              <a:gd name="T9" fmla="*/ 2147483647 h 1567"/>
              <a:gd name="T10" fmla="*/ 2147483647 w 1056"/>
              <a:gd name="T11" fmla="*/ 2147483647 h 1567"/>
              <a:gd name="T12" fmla="*/ 2147483647 w 1056"/>
              <a:gd name="T13" fmla="*/ 2147483647 h 1567"/>
              <a:gd name="T14" fmla="*/ 2147483647 w 1056"/>
              <a:gd name="T15" fmla="*/ 2147483647 h 1567"/>
              <a:gd name="T16" fmla="*/ 2147483647 w 1056"/>
              <a:gd name="T17" fmla="*/ 2147483647 h 1567"/>
              <a:gd name="T18" fmla="*/ 2147483647 w 1056"/>
              <a:gd name="T19" fmla="*/ 2147483647 h 1567"/>
              <a:gd name="T20" fmla="*/ 2147483647 w 1056"/>
              <a:gd name="T21" fmla="*/ 2147483647 h 1567"/>
              <a:gd name="T22" fmla="*/ 2147483647 w 1056"/>
              <a:gd name="T23" fmla="*/ 2147483647 h 1567"/>
              <a:gd name="T24" fmla="*/ 2147483647 w 1056"/>
              <a:gd name="T25" fmla="*/ 2147483647 h 156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56" h="1567">
                <a:moveTo>
                  <a:pt x="109" y="676"/>
                </a:moveTo>
                <a:cubicBezTo>
                  <a:pt x="199" y="644"/>
                  <a:pt x="527" y="657"/>
                  <a:pt x="598" y="647"/>
                </a:cubicBezTo>
                <a:cubicBezTo>
                  <a:pt x="669" y="637"/>
                  <a:pt x="538" y="694"/>
                  <a:pt x="533" y="614"/>
                </a:cubicBezTo>
                <a:cubicBezTo>
                  <a:pt x="527" y="534"/>
                  <a:pt x="522" y="265"/>
                  <a:pt x="566" y="169"/>
                </a:cubicBezTo>
                <a:cubicBezTo>
                  <a:pt x="610" y="73"/>
                  <a:pt x="721" y="51"/>
                  <a:pt x="795" y="38"/>
                </a:cubicBezTo>
                <a:cubicBezTo>
                  <a:pt x="869" y="25"/>
                  <a:pt x="981" y="0"/>
                  <a:pt x="1013" y="90"/>
                </a:cubicBezTo>
                <a:cubicBezTo>
                  <a:pt x="1045" y="180"/>
                  <a:pt x="988" y="448"/>
                  <a:pt x="987" y="579"/>
                </a:cubicBezTo>
                <a:cubicBezTo>
                  <a:pt x="986" y="710"/>
                  <a:pt x="1005" y="730"/>
                  <a:pt x="1005" y="875"/>
                </a:cubicBezTo>
                <a:cubicBezTo>
                  <a:pt x="1005" y="1020"/>
                  <a:pt x="1056" y="1351"/>
                  <a:pt x="987" y="1451"/>
                </a:cubicBezTo>
                <a:cubicBezTo>
                  <a:pt x="918" y="1551"/>
                  <a:pt x="678" y="1567"/>
                  <a:pt x="592" y="1478"/>
                </a:cubicBezTo>
                <a:cubicBezTo>
                  <a:pt x="506" y="1389"/>
                  <a:pt x="562" y="1026"/>
                  <a:pt x="473" y="919"/>
                </a:cubicBezTo>
                <a:cubicBezTo>
                  <a:pt x="384" y="812"/>
                  <a:pt x="122" y="878"/>
                  <a:pt x="61" y="838"/>
                </a:cubicBezTo>
                <a:cubicBezTo>
                  <a:pt x="0" y="798"/>
                  <a:pt x="26" y="710"/>
                  <a:pt x="109" y="67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Line 35"/>
          <p:cNvSpPr>
            <a:spLocks noChangeShapeType="1"/>
          </p:cNvSpPr>
          <p:nvPr/>
        </p:nvSpPr>
        <p:spPr bwMode="auto">
          <a:xfrm>
            <a:off x="7353206" y="2547658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" name="Line 36"/>
          <p:cNvSpPr>
            <a:spLocks noChangeShapeType="1"/>
          </p:cNvSpPr>
          <p:nvPr/>
        </p:nvSpPr>
        <p:spPr bwMode="auto">
          <a:xfrm flipV="1">
            <a:off x="7273435" y="3676371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7176994" y="2085697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10.0.0.1</a:t>
            </a:r>
          </a:p>
        </p:txBody>
      </p:sp>
      <p:sp>
        <p:nvSpPr>
          <p:cNvPr id="13" name="Line 57"/>
          <p:cNvSpPr>
            <a:spLocks noChangeShapeType="1"/>
          </p:cNvSpPr>
          <p:nvPr/>
        </p:nvSpPr>
        <p:spPr bwMode="auto">
          <a:xfrm flipH="1">
            <a:off x="6691219" y="2989381"/>
            <a:ext cx="64294" cy="964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5" name="Text Box 88"/>
          <p:cNvSpPr txBox="1">
            <a:spLocks noChangeArrowheads="1"/>
          </p:cNvSpPr>
          <p:nvPr/>
        </p:nvSpPr>
        <p:spPr bwMode="auto">
          <a:xfrm>
            <a:off x="6182362" y="3251319"/>
            <a:ext cx="636713" cy="4455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350" dirty="0">
                <a:solidFill>
                  <a:srgbClr val="CC0000"/>
                </a:solidFill>
              </a:rPr>
              <a:t>NAT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350" dirty="0">
                <a:solidFill>
                  <a:srgbClr val="CC0000"/>
                </a:solidFill>
              </a:rPr>
              <a:t>router</a:t>
            </a:r>
          </a:p>
        </p:txBody>
      </p:sp>
      <p:sp>
        <p:nvSpPr>
          <p:cNvPr id="17" name="Line 100"/>
          <p:cNvSpPr>
            <a:spLocks noChangeShapeType="1"/>
          </p:cNvSpPr>
          <p:nvPr/>
        </p:nvSpPr>
        <p:spPr bwMode="auto">
          <a:xfrm>
            <a:off x="6006610" y="3154877"/>
            <a:ext cx="30122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21" name="Group 116"/>
          <p:cNvGrpSpPr/>
          <p:nvPr/>
        </p:nvGrpSpPr>
        <p:grpSpPr bwMode="auto">
          <a:xfrm>
            <a:off x="6239973" y="2990571"/>
            <a:ext cx="440531" cy="242888"/>
            <a:chOff x="4396" y="1245"/>
            <a:chExt cx="672" cy="248"/>
          </a:xfrm>
        </p:grpSpPr>
        <p:sp>
          <p:nvSpPr>
            <p:cNvPr id="2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cs typeface="Arial" panose="020B0604020202020204" pitchFamily="34" charset="0"/>
              </a:endParaRPr>
            </a:p>
          </p:txBody>
        </p:sp>
        <p:sp>
          <p:nvSpPr>
            <p:cNvPr id="2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cs typeface="Arial" panose="020B0604020202020204" pitchFamily="34" charset="0"/>
              </a:endParaRPr>
            </a:p>
          </p:txBody>
        </p:sp>
        <p:sp>
          <p:nvSpPr>
            <p:cNvPr id="2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cs typeface="Arial" panose="020B0604020202020204" pitchFamily="34" charset="0"/>
              </a:endParaRPr>
            </a:p>
          </p:txBody>
        </p:sp>
        <p:grpSp>
          <p:nvGrpSpPr>
            <p:cNvPr id="25" name="Group 120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8" name="Freeform 121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" name="Freeform 122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6" name="Line 123"/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7" name="Line 124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3" name="Group 131"/>
          <p:cNvGrpSpPr/>
          <p:nvPr/>
        </p:nvGrpSpPr>
        <p:grpSpPr bwMode="auto">
          <a:xfrm flipH="1">
            <a:off x="7329394" y="2960806"/>
            <a:ext cx="481013" cy="419100"/>
            <a:chOff x="-44" y="1473"/>
            <a:chExt cx="981" cy="1105"/>
          </a:xfrm>
        </p:grpSpPr>
        <p:pic>
          <p:nvPicPr>
            <p:cNvPr id="34" name="Picture 132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133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6" name="Group 134"/>
          <p:cNvGrpSpPr/>
          <p:nvPr/>
        </p:nvGrpSpPr>
        <p:grpSpPr bwMode="auto">
          <a:xfrm flipH="1">
            <a:off x="7310344" y="3533496"/>
            <a:ext cx="481013" cy="419100"/>
            <a:chOff x="-44" y="1473"/>
            <a:chExt cx="981" cy="1105"/>
          </a:xfrm>
        </p:grpSpPr>
        <p:pic>
          <p:nvPicPr>
            <p:cNvPr id="37" name="Picture 13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13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9" name="Line 137"/>
          <p:cNvSpPr>
            <a:spLocks noChangeShapeType="1"/>
          </p:cNvSpPr>
          <p:nvPr/>
        </p:nvSpPr>
        <p:spPr bwMode="auto">
          <a:xfrm>
            <a:off x="6675741" y="3129875"/>
            <a:ext cx="650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40" name="Group 138"/>
          <p:cNvGrpSpPr/>
          <p:nvPr/>
        </p:nvGrpSpPr>
        <p:grpSpPr bwMode="auto">
          <a:xfrm>
            <a:off x="7442504" y="2359540"/>
            <a:ext cx="259556" cy="467916"/>
            <a:chOff x="4140" y="429"/>
            <a:chExt cx="1425" cy="2396"/>
          </a:xfrm>
        </p:grpSpPr>
        <p:sp>
          <p:nvSpPr>
            <p:cNvPr id="41" name="Freeform 139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Rectangle 140"/>
            <p:cNvSpPr>
              <a:spLocks noChangeArrowheads="1"/>
            </p:cNvSpPr>
            <p:nvPr/>
          </p:nvSpPr>
          <p:spPr bwMode="auto">
            <a:xfrm>
              <a:off x="4205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43" name="Freeform 141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Freeform 142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Rectangle 143"/>
            <p:cNvSpPr>
              <a:spLocks noChangeArrowheads="1"/>
            </p:cNvSpPr>
            <p:nvPr/>
          </p:nvSpPr>
          <p:spPr bwMode="auto">
            <a:xfrm>
              <a:off x="4212" y="691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46" name="Group 144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1" name="AutoShape 145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72" name="AutoShape 146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47" name="Rectangle 147"/>
            <p:cNvSpPr>
              <a:spLocks noChangeArrowheads="1"/>
            </p:cNvSpPr>
            <p:nvPr/>
          </p:nvSpPr>
          <p:spPr bwMode="auto">
            <a:xfrm>
              <a:off x="4225" y="102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48" name="Group 148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" name="AutoShape 149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70" name="AutoShape 150"/>
              <p:cNvSpPr>
                <a:spLocks noChangeArrowheads="1"/>
              </p:cNvSpPr>
              <p:nvPr/>
            </p:nvSpPr>
            <p:spPr bwMode="auto">
              <a:xfrm>
                <a:off x="631" y="2589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218" y="1356"/>
              <a:ext cx="595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225" y="1654"/>
              <a:ext cx="601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51" name="Group 153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7" name="AutoShape 154"/>
              <p:cNvSpPr>
                <a:spLocks noChangeArrowheads="1"/>
              </p:cNvSpPr>
              <p:nvPr/>
            </p:nvSpPr>
            <p:spPr bwMode="auto">
              <a:xfrm>
                <a:off x="614" y="2576"/>
                <a:ext cx="725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8" name="AutoShape 155"/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52" name="Freeform 156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3" name="Group 157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5" name="AutoShape 158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6" name="AutoShape 159"/>
              <p:cNvSpPr>
                <a:spLocks noChangeArrowheads="1"/>
              </p:cNvSpPr>
              <p:nvPr/>
            </p:nvSpPr>
            <p:spPr bwMode="auto">
              <a:xfrm>
                <a:off x="633" y="2585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54" name="Rectangle 160"/>
            <p:cNvSpPr>
              <a:spLocks noChangeArrowheads="1"/>
            </p:cNvSpPr>
            <p:nvPr/>
          </p:nvSpPr>
          <p:spPr bwMode="auto">
            <a:xfrm>
              <a:off x="5251" y="429"/>
              <a:ext cx="65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5" name="Freeform 161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Freeform 162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Oval 163"/>
            <p:cNvSpPr>
              <a:spLocks noChangeArrowheads="1"/>
            </p:cNvSpPr>
            <p:nvPr/>
          </p:nvSpPr>
          <p:spPr bwMode="auto">
            <a:xfrm>
              <a:off x="5519" y="2612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8" name="Freeform 164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AutoShape 165"/>
            <p:cNvSpPr>
              <a:spLocks noChangeArrowheads="1"/>
            </p:cNvSpPr>
            <p:nvPr/>
          </p:nvSpPr>
          <p:spPr bwMode="auto">
            <a:xfrm>
              <a:off x="4140" y="2679"/>
              <a:ext cx="1196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0" name="AutoShape 166"/>
            <p:cNvSpPr>
              <a:spLocks noChangeArrowheads="1"/>
            </p:cNvSpPr>
            <p:nvPr/>
          </p:nvSpPr>
          <p:spPr bwMode="auto">
            <a:xfrm>
              <a:off x="4205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1" name="Oval 167"/>
            <p:cNvSpPr>
              <a:spLocks noChangeArrowheads="1"/>
            </p:cNvSpPr>
            <p:nvPr/>
          </p:nvSpPr>
          <p:spPr bwMode="auto">
            <a:xfrm>
              <a:off x="4310" y="2386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2" name="Oval 168"/>
            <p:cNvSpPr>
              <a:spLocks noChangeArrowheads="1"/>
            </p:cNvSpPr>
            <p:nvPr/>
          </p:nvSpPr>
          <p:spPr bwMode="auto">
            <a:xfrm>
              <a:off x="4486" y="2386"/>
              <a:ext cx="157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3" name="Oval 169"/>
            <p:cNvSpPr>
              <a:spLocks noChangeArrowheads="1"/>
            </p:cNvSpPr>
            <p:nvPr/>
          </p:nvSpPr>
          <p:spPr bwMode="auto">
            <a:xfrm>
              <a:off x="4663" y="2380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64" name="Rectangle 170"/>
            <p:cNvSpPr>
              <a:spLocks noChangeArrowheads="1"/>
            </p:cNvSpPr>
            <p:nvPr/>
          </p:nvSpPr>
          <p:spPr bwMode="auto">
            <a:xfrm>
              <a:off x="5062" y="1837"/>
              <a:ext cx="85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sp>
        <p:nvSpPr>
          <p:cNvPr id="73" name="Line 137"/>
          <p:cNvSpPr>
            <a:spLocks noChangeShapeType="1"/>
          </p:cNvSpPr>
          <p:nvPr/>
        </p:nvSpPr>
        <p:spPr bwMode="auto">
          <a:xfrm>
            <a:off x="7291294" y="3138209"/>
            <a:ext cx="9286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cxnSp>
        <p:nvCxnSpPr>
          <p:cNvPr id="74" name="直接连接符 73"/>
          <p:cNvCxnSpPr>
            <a:endCxn id="10" idx="0"/>
          </p:cNvCxnSpPr>
          <p:nvPr/>
        </p:nvCxnSpPr>
        <p:spPr>
          <a:xfrm flipH="1">
            <a:off x="7273435" y="2540184"/>
            <a:ext cx="52629" cy="11361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Freeform 92"/>
          <p:cNvSpPr/>
          <p:nvPr/>
        </p:nvSpPr>
        <p:spPr bwMode="auto">
          <a:xfrm>
            <a:off x="6731415" y="2291385"/>
            <a:ext cx="696109" cy="677074"/>
          </a:xfrm>
          <a:custGeom>
            <a:avLst/>
            <a:gdLst>
              <a:gd name="T0" fmla="*/ 0 w 735"/>
              <a:gd name="T1" fmla="*/ 462 h 742"/>
              <a:gd name="T2" fmla="*/ 398 w 735"/>
              <a:gd name="T3" fmla="*/ 433 h 742"/>
              <a:gd name="T4" fmla="*/ 416 w 735"/>
              <a:gd name="T5" fmla="*/ 181 h 742"/>
              <a:gd name="T6" fmla="*/ 452 w 735"/>
              <a:gd name="T7" fmla="*/ 27 h 742"/>
              <a:gd name="T8" fmla="*/ 735 w 735"/>
              <a:gd name="T9" fmla="*/ 21 h 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35" h="742">
                <a:moveTo>
                  <a:pt x="0" y="715"/>
                </a:moveTo>
                <a:cubicBezTo>
                  <a:pt x="66" y="708"/>
                  <a:pt x="329" y="742"/>
                  <a:pt x="398" y="670"/>
                </a:cubicBezTo>
                <a:cubicBezTo>
                  <a:pt x="467" y="598"/>
                  <a:pt x="407" y="386"/>
                  <a:pt x="416" y="281"/>
                </a:cubicBezTo>
                <a:cubicBezTo>
                  <a:pt x="425" y="176"/>
                  <a:pt x="399" y="82"/>
                  <a:pt x="452" y="41"/>
                </a:cubicBezTo>
                <a:cubicBezTo>
                  <a:pt x="505" y="0"/>
                  <a:pt x="676" y="34"/>
                  <a:pt x="735" y="32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76" name="矩形 75"/>
          <p:cNvSpPr/>
          <p:nvPr/>
        </p:nvSpPr>
        <p:spPr>
          <a:xfrm>
            <a:off x="1296000" y="2160000"/>
            <a:ext cx="4371788" cy="1246495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：使用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UPnP</a:t>
            </a: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sz="15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Universal Plug and Play (UPnP) </a:t>
            </a:r>
          </a:p>
          <a:p>
            <a:pPr marL="557213" lvl="1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通用即插即用协议</a:t>
            </a: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557213" lvl="1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5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93"/>
          <p:cNvSpPr txBox="1">
            <a:spLocks noChangeArrowheads="1"/>
          </p:cNvSpPr>
          <p:nvPr/>
        </p:nvSpPr>
        <p:spPr bwMode="auto">
          <a:xfrm>
            <a:off x="6516217" y="2534600"/>
            <a:ext cx="646331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 b="1" dirty="0">
                <a:solidFill>
                  <a:srgbClr val="CC0000"/>
                </a:solidFill>
              </a:rPr>
              <a:t>UPnP</a:t>
            </a:r>
          </a:p>
        </p:txBody>
      </p:sp>
      <p:sp>
        <p:nvSpPr>
          <p:cNvPr id="78" name="灯片编号占位符 2">
            <a:extLst>
              <a:ext uri="{FF2B5EF4-FFF2-40B4-BE49-F238E27FC236}">
                <a16:creationId xmlns:a16="http://schemas.microsoft.com/office/drawing/2014/main" id="{E7E5E35A-5EE2-47C0-9C38-CD466ED9C8F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79" name="AutoShape 5">
            <a:extLst>
              <a:ext uri="{FF2B5EF4-FFF2-40B4-BE49-F238E27FC236}">
                <a16:creationId xmlns:a16="http://schemas.microsoft.com/office/drawing/2014/main" id="{C70C6A0D-0E17-4728-9528-73CD8E0B0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4.3.4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网络地址转换：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NAT</a:t>
            </a: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NAT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穿越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问题：外网的客户端怎么主动连接</a:t>
            </a:r>
            <a:r>
              <a:rPr lang="en-US" altLang="zh-CN" dirty="0">
                <a:solidFill>
                  <a:srgbClr val="FF0000"/>
                </a:solidFill>
              </a:rPr>
              <a:t>NAT</a:t>
            </a:r>
            <a:r>
              <a:rPr lang="zh-CN" altLang="en-US" dirty="0">
                <a:solidFill>
                  <a:srgbClr val="FF0000"/>
                </a:solidFill>
              </a:rPr>
              <a:t>内网的服务器？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296000" y="2160000"/>
            <a:ext cx="4371788" cy="553998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中继穿越</a:t>
            </a:r>
            <a:endParaRPr lang="en-US" altLang="zh-CN" sz="15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endParaRPr lang="en-US" altLang="zh-CN" sz="15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16"/>
          <p:cNvSpPr txBox="1">
            <a:spLocks noChangeArrowheads="1"/>
          </p:cNvSpPr>
          <p:nvPr/>
        </p:nvSpPr>
        <p:spPr bwMode="auto">
          <a:xfrm>
            <a:off x="5051729" y="3847784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138.76.29.7</a:t>
            </a:r>
          </a:p>
        </p:txBody>
      </p:sp>
      <p:sp>
        <p:nvSpPr>
          <p:cNvPr id="78" name="Text Box 42"/>
          <p:cNvSpPr txBox="1">
            <a:spLocks noChangeArrowheads="1"/>
          </p:cNvSpPr>
          <p:nvPr/>
        </p:nvSpPr>
        <p:spPr bwMode="auto">
          <a:xfrm>
            <a:off x="1587010" y="3564415"/>
            <a:ext cx="588623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client</a:t>
            </a:r>
          </a:p>
        </p:txBody>
      </p:sp>
      <p:sp>
        <p:nvSpPr>
          <p:cNvPr id="79" name="Line 14"/>
          <p:cNvSpPr>
            <a:spLocks noChangeShapeType="1"/>
          </p:cNvSpPr>
          <p:nvPr/>
        </p:nvSpPr>
        <p:spPr bwMode="auto">
          <a:xfrm flipH="1">
            <a:off x="5968510" y="3800159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pic>
        <p:nvPicPr>
          <p:cNvPr id="80" name="Picture 46" descr="kw_skype_rela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70" y="2522619"/>
            <a:ext cx="619125" cy="611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" name="Picture 57" descr="kw_skype_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426" y="2997677"/>
            <a:ext cx="5524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Freeform 58"/>
          <p:cNvSpPr/>
          <p:nvPr/>
        </p:nvSpPr>
        <p:spPr bwMode="auto">
          <a:xfrm>
            <a:off x="4498088" y="2986962"/>
            <a:ext cx="2786063" cy="779859"/>
          </a:xfrm>
          <a:custGeom>
            <a:avLst/>
            <a:gdLst>
              <a:gd name="T0" fmla="*/ 2147483647 w 1597"/>
              <a:gd name="T1" fmla="*/ 2147483647 h 655"/>
              <a:gd name="T2" fmla="*/ 2147483647 w 1597"/>
              <a:gd name="T3" fmla="*/ 2147483647 h 655"/>
              <a:gd name="T4" fmla="*/ 2147483647 w 1597"/>
              <a:gd name="T5" fmla="*/ 2147483647 h 655"/>
              <a:gd name="T6" fmla="*/ 2147483647 w 1597"/>
              <a:gd name="T7" fmla="*/ 2147483647 h 655"/>
              <a:gd name="T8" fmla="*/ 0 w 1597"/>
              <a:gd name="T9" fmla="*/ 2147483647 h 6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97" h="655">
                <a:moveTo>
                  <a:pt x="1597" y="61"/>
                </a:moveTo>
                <a:cubicBezTo>
                  <a:pt x="1562" y="64"/>
                  <a:pt x="1425" y="0"/>
                  <a:pt x="1376" y="78"/>
                </a:cubicBezTo>
                <a:cubicBezTo>
                  <a:pt x="1327" y="156"/>
                  <a:pt x="1464" y="449"/>
                  <a:pt x="1303" y="531"/>
                </a:cubicBezTo>
                <a:cubicBezTo>
                  <a:pt x="1142" y="613"/>
                  <a:pt x="625" y="655"/>
                  <a:pt x="408" y="572"/>
                </a:cubicBezTo>
                <a:cubicBezTo>
                  <a:pt x="190" y="490"/>
                  <a:pt x="94" y="263"/>
                  <a:pt x="0" y="36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84" name="Text Box 59"/>
          <p:cNvSpPr txBox="1">
            <a:spLocks noChangeArrowheads="1"/>
          </p:cNvSpPr>
          <p:nvPr/>
        </p:nvSpPr>
        <p:spPr bwMode="auto">
          <a:xfrm>
            <a:off x="5230323" y="2926240"/>
            <a:ext cx="1459706" cy="62209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1350" b="1" i="1">
                <a:solidFill>
                  <a:srgbClr val="CC0000"/>
                </a:solidFill>
                <a:latin typeface="Gill Sans MT" panose="020B0502020104020203" pitchFamily="34" charset="0"/>
              </a:rPr>
              <a:t>1.</a:t>
            </a:r>
            <a:r>
              <a:rPr lang="en-US" sz="1350">
                <a:latin typeface="Gill Sans MT" panose="020B0502020104020203" pitchFamily="34" charset="0"/>
              </a:rPr>
              <a:t> connection to</a:t>
            </a:r>
          </a:p>
          <a:p>
            <a:pPr>
              <a:lnSpc>
                <a:spcPct val="85000"/>
              </a:lnSpc>
              <a:defRPr/>
            </a:pPr>
            <a:r>
              <a:rPr lang="en-US" sz="1350">
                <a:latin typeface="Gill Sans MT" panose="020B0502020104020203" pitchFamily="34" charset="0"/>
              </a:rPr>
              <a:t>relay initiated</a:t>
            </a:r>
          </a:p>
          <a:p>
            <a:pPr>
              <a:lnSpc>
                <a:spcPct val="85000"/>
              </a:lnSpc>
              <a:defRPr/>
            </a:pPr>
            <a:r>
              <a:rPr lang="en-US" sz="1350">
                <a:latin typeface="Gill Sans MT" panose="020B0502020104020203" pitchFamily="34" charset="0"/>
              </a:rPr>
              <a:t>by NATed host</a:t>
            </a:r>
          </a:p>
        </p:txBody>
      </p:sp>
      <p:sp>
        <p:nvSpPr>
          <p:cNvPr id="85" name="Text Box 60"/>
          <p:cNvSpPr txBox="1">
            <a:spLocks noChangeArrowheads="1"/>
          </p:cNvSpPr>
          <p:nvPr/>
        </p:nvSpPr>
        <p:spPr bwMode="auto">
          <a:xfrm>
            <a:off x="2077548" y="2728596"/>
            <a:ext cx="1459706" cy="62209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1350" b="1" i="1" dirty="0">
                <a:solidFill>
                  <a:srgbClr val="CC0000"/>
                </a:solidFill>
                <a:latin typeface="Gill Sans MT" panose="020B0502020104020203" pitchFamily="34" charset="0"/>
              </a:rPr>
              <a:t>2.</a:t>
            </a:r>
            <a:r>
              <a:rPr lang="en-US" sz="1350" dirty="0">
                <a:latin typeface="Gill Sans MT" panose="020B0502020104020203" pitchFamily="34" charset="0"/>
              </a:rPr>
              <a:t> connection to</a:t>
            </a:r>
          </a:p>
          <a:p>
            <a:pPr>
              <a:lnSpc>
                <a:spcPct val="85000"/>
              </a:lnSpc>
              <a:defRPr/>
            </a:pPr>
            <a:r>
              <a:rPr lang="en-US" sz="1350" dirty="0">
                <a:latin typeface="Gill Sans MT" panose="020B0502020104020203" pitchFamily="34" charset="0"/>
              </a:rPr>
              <a:t>relay initiated</a:t>
            </a:r>
          </a:p>
          <a:p>
            <a:pPr>
              <a:lnSpc>
                <a:spcPct val="85000"/>
              </a:lnSpc>
              <a:defRPr/>
            </a:pPr>
            <a:r>
              <a:rPr lang="en-US" sz="1350" dirty="0">
                <a:latin typeface="Gill Sans MT" panose="020B0502020104020203" pitchFamily="34" charset="0"/>
              </a:rPr>
              <a:t>by client</a:t>
            </a:r>
          </a:p>
        </p:txBody>
      </p:sp>
      <p:sp>
        <p:nvSpPr>
          <p:cNvPr id="86" name="Freeform 61"/>
          <p:cNvSpPr/>
          <p:nvPr/>
        </p:nvSpPr>
        <p:spPr bwMode="auto">
          <a:xfrm>
            <a:off x="2166844" y="3089356"/>
            <a:ext cx="2099072" cy="383381"/>
          </a:xfrm>
          <a:custGeom>
            <a:avLst/>
            <a:gdLst>
              <a:gd name="T0" fmla="*/ 0 w 1763"/>
              <a:gd name="T1" fmla="*/ 2147483647 h 322"/>
              <a:gd name="T2" fmla="*/ 2147483647 w 1763"/>
              <a:gd name="T3" fmla="*/ 2147483647 h 322"/>
              <a:gd name="T4" fmla="*/ 2147483647 w 1763"/>
              <a:gd name="T5" fmla="*/ 2147483647 h 322"/>
              <a:gd name="T6" fmla="*/ 2147483647 w 1763"/>
              <a:gd name="T7" fmla="*/ 0 h 3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63" h="322">
                <a:moveTo>
                  <a:pt x="0" y="305"/>
                </a:moveTo>
                <a:cubicBezTo>
                  <a:pt x="412" y="313"/>
                  <a:pt x="825" y="322"/>
                  <a:pt x="1091" y="305"/>
                </a:cubicBezTo>
                <a:cubicBezTo>
                  <a:pt x="1357" y="288"/>
                  <a:pt x="1485" y="252"/>
                  <a:pt x="1597" y="201"/>
                </a:cubicBezTo>
                <a:cubicBezTo>
                  <a:pt x="1709" y="150"/>
                  <a:pt x="1736" y="75"/>
                  <a:pt x="1763" y="0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87" name="Freeform 62"/>
          <p:cNvSpPr/>
          <p:nvPr/>
        </p:nvSpPr>
        <p:spPr bwMode="auto">
          <a:xfrm>
            <a:off x="4245676" y="2798844"/>
            <a:ext cx="270272" cy="315515"/>
          </a:xfrm>
          <a:custGeom>
            <a:avLst/>
            <a:gdLst>
              <a:gd name="T0" fmla="*/ 0 w 227"/>
              <a:gd name="T1" fmla="*/ 2147483647 h 265"/>
              <a:gd name="T2" fmla="*/ 2147483647 w 227"/>
              <a:gd name="T3" fmla="*/ 2147483647 h 265"/>
              <a:gd name="T4" fmla="*/ 2147483647 w 227"/>
              <a:gd name="T5" fmla="*/ 2147483647 h 26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7" h="265">
                <a:moveTo>
                  <a:pt x="0" y="265"/>
                </a:moveTo>
                <a:cubicBezTo>
                  <a:pt x="33" y="135"/>
                  <a:pt x="67" y="6"/>
                  <a:pt x="105" y="3"/>
                </a:cubicBezTo>
                <a:cubicBezTo>
                  <a:pt x="143" y="0"/>
                  <a:pt x="185" y="123"/>
                  <a:pt x="227" y="247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88" name="Text Box 63"/>
          <p:cNvSpPr txBox="1">
            <a:spLocks noChangeArrowheads="1"/>
          </p:cNvSpPr>
          <p:nvPr/>
        </p:nvSpPr>
        <p:spPr bwMode="auto">
          <a:xfrm>
            <a:off x="3781333" y="3464403"/>
            <a:ext cx="1459706" cy="44550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1350" b="1" i="1" dirty="0">
                <a:solidFill>
                  <a:srgbClr val="CC0000"/>
                </a:solidFill>
                <a:latin typeface="Gill Sans MT" panose="020B0502020104020203" pitchFamily="34" charset="0"/>
              </a:rPr>
              <a:t>3.</a:t>
            </a:r>
            <a:r>
              <a:rPr lang="en-US" sz="1350" dirty="0">
                <a:latin typeface="Gill Sans MT" panose="020B0502020104020203" pitchFamily="34" charset="0"/>
              </a:rPr>
              <a:t> relaying </a:t>
            </a:r>
          </a:p>
          <a:p>
            <a:pPr>
              <a:lnSpc>
                <a:spcPct val="85000"/>
              </a:lnSpc>
              <a:defRPr/>
            </a:pPr>
            <a:r>
              <a:rPr lang="en-US" sz="1350" dirty="0">
                <a:latin typeface="Gill Sans MT" panose="020B0502020104020203" pitchFamily="34" charset="0"/>
              </a:rPr>
              <a:t>established</a:t>
            </a:r>
          </a:p>
        </p:txBody>
      </p:sp>
      <p:grpSp>
        <p:nvGrpSpPr>
          <p:cNvPr id="89" name="Group 157"/>
          <p:cNvGrpSpPr/>
          <p:nvPr/>
        </p:nvGrpSpPr>
        <p:grpSpPr bwMode="auto">
          <a:xfrm>
            <a:off x="5832780" y="2861946"/>
            <a:ext cx="2083594" cy="1924050"/>
            <a:chOff x="3948" y="731"/>
            <a:chExt cx="1750" cy="1616"/>
          </a:xfrm>
        </p:grpSpPr>
        <p:sp>
          <p:nvSpPr>
            <p:cNvPr id="90" name="Freeform 95"/>
            <p:cNvSpPr/>
            <p:nvPr/>
          </p:nvSpPr>
          <p:spPr bwMode="auto">
            <a:xfrm>
              <a:off x="4433" y="874"/>
              <a:ext cx="1056" cy="1473"/>
            </a:xfrm>
            <a:custGeom>
              <a:avLst/>
              <a:gdLst>
                <a:gd name="T0" fmla="*/ 109 w 1056"/>
                <a:gd name="T1" fmla="*/ 582 h 1473"/>
                <a:gd name="T2" fmla="*/ 598 w 1056"/>
                <a:gd name="T3" fmla="*/ 553 h 1473"/>
                <a:gd name="T4" fmla="*/ 533 w 1056"/>
                <a:gd name="T5" fmla="*/ 520 h 1473"/>
                <a:gd name="T6" fmla="*/ 566 w 1056"/>
                <a:gd name="T7" fmla="*/ 75 h 1473"/>
                <a:gd name="T8" fmla="*/ 835 w 1056"/>
                <a:gd name="T9" fmla="*/ 67 h 1473"/>
                <a:gd name="T10" fmla="*/ 1025 w 1056"/>
                <a:gd name="T11" fmla="*/ 152 h 1473"/>
                <a:gd name="T12" fmla="*/ 987 w 1056"/>
                <a:gd name="T13" fmla="*/ 485 h 1473"/>
                <a:gd name="T14" fmla="*/ 1005 w 1056"/>
                <a:gd name="T15" fmla="*/ 781 h 1473"/>
                <a:gd name="T16" fmla="*/ 987 w 1056"/>
                <a:gd name="T17" fmla="*/ 1357 h 1473"/>
                <a:gd name="T18" fmla="*/ 592 w 1056"/>
                <a:gd name="T19" fmla="*/ 1384 h 1473"/>
                <a:gd name="T20" fmla="*/ 473 w 1056"/>
                <a:gd name="T21" fmla="*/ 825 h 1473"/>
                <a:gd name="T22" fmla="*/ 61 w 1056"/>
                <a:gd name="T23" fmla="*/ 744 h 1473"/>
                <a:gd name="T24" fmla="*/ 109 w 1056"/>
                <a:gd name="T25" fmla="*/ 582 h 14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56" h="1473">
                  <a:moveTo>
                    <a:pt x="109" y="582"/>
                  </a:moveTo>
                  <a:cubicBezTo>
                    <a:pt x="199" y="550"/>
                    <a:pt x="527" y="563"/>
                    <a:pt x="598" y="553"/>
                  </a:cubicBezTo>
                  <a:cubicBezTo>
                    <a:pt x="669" y="543"/>
                    <a:pt x="538" y="600"/>
                    <a:pt x="533" y="520"/>
                  </a:cubicBezTo>
                  <a:cubicBezTo>
                    <a:pt x="527" y="440"/>
                    <a:pt x="516" y="150"/>
                    <a:pt x="566" y="75"/>
                  </a:cubicBezTo>
                  <a:cubicBezTo>
                    <a:pt x="616" y="0"/>
                    <a:pt x="759" y="54"/>
                    <a:pt x="835" y="67"/>
                  </a:cubicBezTo>
                  <a:cubicBezTo>
                    <a:pt x="911" y="80"/>
                    <a:pt x="1000" y="82"/>
                    <a:pt x="1025" y="152"/>
                  </a:cubicBezTo>
                  <a:cubicBezTo>
                    <a:pt x="1050" y="222"/>
                    <a:pt x="990" y="380"/>
                    <a:pt x="987" y="485"/>
                  </a:cubicBezTo>
                  <a:cubicBezTo>
                    <a:pt x="984" y="590"/>
                    <a:pt x="1005" y="636"/>
                    <a:pt x="1005" y="781"/>
                  </a:cubicBezTo>
                  <a:cubicBezTo>
                    <a:pt x="1005" y="926"/>
                    <a:pt x="1056" y="1257"/>
                    <a:pt x="987" y="1357"/>
                  </a:cubicBezTo>
                  <a:cubicBezTo>
                    <a:pt x="918" y="1457"/>
                    <a:pt x="678" y="1473"/>
                    <a:pt x="592" y="1384"/>
                  </a:cubicBezTo>
                  <a:cubicBezTo>
                    <a:pt x="506" y="1295"/>
                    <a:pt x="562" y="932"/>
                    <a:pt x="473" y="825"/>
                  </a:cubicBezTo>
                  <a:cubicBezTo>
                    <a:pt x="384" y="718"/>
                    <a:pt x="122" y="784"/>
                    <a:pt x="61" y="744"/>
                  </a:cubicBezTo>
                  <a:cubicBezTo>
                    <a:pt x="0" y="704"/>
                    <a:pt x="26" y="616"/>
                    <a:pt x="109" y="58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Line 96"/>
            <p:cNvSpPr>
              <a:spLocks noChangeShapeType="1"/>
            </p:cNvSpPr>
            <p:nvPr/>
          </p:nvSpPr>
          <p:spPr bwMode="auto">
            <a:xfrm flipH="1">
              <a:off x="5005" y="1003"/>
              <a:ext cx="6" cy="9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92" name="Line 97"/>
            <p:cNvSpPr>
              <a:spLocks noChangeShapeType="1"/>
            </p:cNvSpPr>
            <p:nvPr/>
          </p:nvSpPr>
          <p:spPr bwMode="auto">
            <a:xfrm>
              <a:off x="5008" y="1000"/>
              <a:ext cx="84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93" name="Line 98"/>
            <p:cNvSpPr>
              <a:spLocks noChangeShapeType="1"/>
            </p:cNvSpPr>
            <p:nvPr/>
          </p:nvSpPr>
          <p:spPr bwMode="auto">
            <a:xfrm flipV="1">
              <a:off x="5012" y="1948"/>
              <a:ext cx="1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94" name="Text Box 100"/>
            <p:cNvSpPr txBox="1">
              <a:spLocks noChangeArrowheads="1"/>
            </p:cNvSpPr>
            <p:nvPr/>
          </p:nvSpPr>
          <p:spPr bwMode="auto">
            <a:xfrm>
              <a:off x="4095" y="1591"/>
              <a:ext cx="535" cy="3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350">
                  <a:solidFill>
                    <a:srgbClr val="CC0000"/>
                  </a:solidFill>
                </a:rPr>
                <a:t>NAT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350">
                  <a:solidFill>
                    <a:srgbClr val="CC0000"/>
                  </a:solidFill>
                </a:rPr>
                <a:t>router</a:t>
              </a:r>
            </a:p>
          </p:txBody>
        </p:sp>
        <p:sp>
          <p:nvSpPr>
            <p:cNvPr id="95" name="Line 101"/>
            <p:cNvSpPr>
              <a:spLocks noChangeShapeType="1"/>
            </p:cNvSpPr>
            <p:nvPr/>
          </p:nvSpPr>
          <p:spPr bwMode="auto">
            <a:xfrm>
              <a:off x="3948" y="1510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96" name="Group 102"/>
            <p:cNvGrpSpPr/>
            <p:nvPr/>
          </p:nvGrpSpPr>
          <p:grpSpPr bwMode="auto">
            <a:xfrm>
              <a:off x="4144" y="1372"/>
              <a:ext cx="370" cy="204"/>
              <a:chOff x="4396" y="1245"/>
              <a:chExt cx="672" cy="248"/>
            </a:xfrm>
          </p:grpSpPr>
          <p:sp>
            <p:nvSpPr>
              <p:cNvPr id="109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cs typeface="Arial" panose="020B0604020202020204" pitchFamily="34" charset="0"/>
                </a:endParaRPr>
              </a:p>
            </p:txBody>
          </p:sp>
          <p:sp>
            <p:nvSpPr>
              <p:cNvPr id="110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cs typeface="Arial" panose="020B0604020202020204" pitchFamily="34" charset="0"/>
                </a:endParaRPr>
              </a:p>
            </p:txBody>
          </p:sp>
          <p:sp>
            <p:nvSpPr>
              <p:cNvPr id="111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cs typeface="Arial" panose="020B0604020202020204" pitchFamily="34" charset="0"/>
                </a:endParaRPr>
              </a:p>
            </p:txBody>
          </p:sp>
          <p:grpSp>
            <p:nvGrpSpPr>
              <p:cNvPr id="112" name="Group 106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15" name="Freeform 107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16" name="Freeform 108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3" name="Line 109"/>
              <p:cNvSpPr>
                <a:spLocks noChangeShapeType="1"/>
              </p:cNvSpPr>
              <p:nvPr/>
            </p:nvSpPr>
            <p:spPr bwMode="auto">
              <a:xfrm>
                <a:off x="4400" y="1322"/>
                <a:ext cx="0" cy="10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14" name="Line 110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97" name="Group 111"/>
            <p:cNvGrpSpPr/>
            <p:nvPr/>
          </p:nvGrpSpPr>
          <p:grpSpPr bwMode="auto">
            <a:xfrm flipH="1">
              <a:off x="5059" y="1347"/>
              <a:ext cx="404" cy="352"/>
              <a:chOff x="-44" y="1473"/>
              <a:chExt cx="981" cy="1105"/>
            </a:xfrm>
          </p:grpSpPr>
          <p:pic>
            <p:nvPicPr>
              <p:cNvPr id="107" name="Picture 11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13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98" name="Group 114"/>
            <p:cNvGrpSpPr/>
            <p:nvPr/>
          </p:nvGrpSpPr>
          <p:grpSpPr bwMode="auto">
            <a:xfrm flipH="1">
              <a:off x="5043" y="1828"/>
              <a:ext cx="404" cy="352"/>
              <a:chOff x="-44" y="1473"/>
              <a:chExt cx="981" cy="1105"/>
            </a:xfrm>
          </p:grpSpPr>
          <p:pic>
            <p:nvPicPr>
              <p:cNvPr id="105" name="Picture 11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1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99" name="Line 117"/>
            <p:cNvSpPr>
              <a:spLocks noChangeShapeType="1"/>
            </p:cNvSpPr>
            <p:nvPr/>
          </p:nvSpPr>
          <p:spPr bwMode="auto">
            <a:xfrm>
              <a:off x="4510" y="1489"/>
              <a:ext cx="5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100" name="Group 153"/>
            <p:cNvGrpSpPr/>
            <p:nvPr/>
          </p:nvGrpSpPr>
          <p:grpSpPr bwMode="auto">
            <a:xfrm flipH="1">
              <a:off x="5043" y="952"/>
              <a:ext cx="404" cy="352"/>
              <a:chOff x="-44" y="1473"/>
              <a:chExt cx="981" cy="1105"/>
            </a:xfrm>
          </p:grpSpPr>
          <p:pic>
            <p:nvPicPr>
              <p:cNvPr id="103" name="Picture 15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" name="Freeform 155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pic>
          <p:nvPicPr>
            <p:cNvPr id="101" name="Picture 156" descr="skype_logo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0" y="869"/>
              <a:ext cx="51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" name="Text Box 99"/>
            <p:cNvSpPr txBox="1">
              <a:spLocks noChangeArrowheads="1"/>
            </p:cNvSpPr>
            <p:nvPr/>
          </p:nvSpPr>
          <p:spPr bwMode="auto">
            <a:xfrm>
              <a:off x="5077" y="731"/>
              <a:ext cx="621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10.0.0.1</a:t>
              </a:r>
            </a:p>
          </p:txBody>
        </p:sp>
      </p:grpSp>
      <p:grpSp>
        <p:nvGrpSpPr>
          <p:cNvPr id="117" name="Group 158"/>
          <p:cNvGrpSpPr/>
          <p:nvPr/>
        </p:nvGrpSpPr>
        <p:grpSpPr bwMode="auto">
          <a:xfrm>
            <a:off x="3775378" y="2633346"/>
            <a:ext cx="291704" cy="427435"/>
            <a:chOff x="4140" y="429"/>
            <a:chExt cx="1425" cy="2396"/>
          </a:xfrm>
        </p:grpSpPr>
        <p:sp>
          <p:nvSpPr>
            <p:cNvPr id="118" name="Freeform 159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" name="Rectangle 160"/>
            <p:cNvSpPr>
              <a:spLocks noChangeArrowheads="1"/>
            </p:cNvSpPr>
            <p:nvPr/>
          </p:nvSpPr>
          <p:spPr bwMode="auto">
            <a:xfrm>
              <a:off x="4204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0" name="Freeform 161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1" name="Freeform 162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" name="Rectangle 163"/>
            <p:cNvSpPr>
              <a:spLocks noChangeArrowheads="1"/>
            </p:cNvSpPr>
            <p:nvPr/>
          </p:nvSpPr>
          <p:spPr bwMode="auto">
            <a:xfrm>
              <a:off x="4210" y="696"/>
              <a:ext cx="599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3" name="Group 164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8" name="AutoShape 165"/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" name="AutoShape 166"/>
              <p:cNvSpPr>
                <a:spLocks noChangeArrowheads="1"/>
              </p:cNvSpPr>
              <p:nvPr/>
            </p:nvSpPr>
            <p:spPr bwMode="auto">
              <a:xfrm>
                <a:off x="631" y="2588"/>
                <a:ext cx="697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4" name="Rectangle 167"/>
            <p:cNvSpPr>
              <a:spLocks noChangeArrowheads="1"/>
            </p:cNvSpPr>
            <p:nvPr/>
          </p:nvSpPr>
          <p:spPr bwMode="auto">
            <a:xfrm>
              <a:off x="4221" y="1016"/>
              <a:ext cx="599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5" name="Group 168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6" name="AutoShape 169"/>
              <p:cNvSpPr>
                <a:spLocks noChangeArrowheads="1"/>
              </p:cNvSpPr>
              <p:nvPr/>
            </p:nvSpPr>
            <p:spPr bwMode="auto">
              <a:xfrm>
                <a:off x="611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" name="AutoShape 170"/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7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" name="Rectangle 171"/>
            <p:cNvSpPr>
              <a:spLocks noChangeArrowheads="1"/>
            </p:cNvSpPr>
            <p:nvPr/>
          </p:nvSpPr>
          <p:spPr bwMode="auto">
            <a:xfrm>
              <a:off x="4216" y="1357"/>
              <a:ext cx="599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" name="Rectangle 172"/>
            <p:cNvSpPr>
              <a:spLocks noChangeArrowheads="1"/>
            </p:cNvSpPr>
            <p:nvPr/>
          </p:nvSpPr>
          <p:spPr bwMode="auto">
            <a:xfrm>
              <a:off x="4227" y="1657"/>
              <a:ext cx="599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8" name="Group 173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4" name="AutoShape 174"/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25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" name="AutoShape 175"/>
              <p:cNvSpPr>
                <a:spLocks noChangeArrowheads="1"/>
              </p:cNvSpPr>
              <p:nvPr/>
            </p:nvSpPr>
            <p:spPr bwMode="auto">
              <a:xfrm>
                <a:off x="626" y="2590"/>
                <a:ext cx="69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9" name="Freeform 176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0" name="Group 177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2" name="AutoShape 178"/>
              <p:cNvSpPr>
                <a:spLocks noChangeArrowheads="1"/>
              </p:cNvSpPr>
              <p:nvPr/>
            </p:nvSpPr>
            <p:spPr bwMode="auto">
              <a:xfrm>
                <a:off x="614" y="2571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" name="AutoShape 179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31" name="Rectangle 180"/>
            <p:cNvSpPr>
              <a:spLocks noChangeArrowheads="1"/>
            </p:cNvSpPr>
            <p:nvPr/>
          </p:nvSpPr>
          <p:spPr bwMode="auto">
            <a:xfrm>
              <a:off x="5251" y="429"/>
              <a:ext cx="70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32" name="Freeform 181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3" name="Freeform 182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" name="Oval 183"/>
            <p:cNvSpPr>
              <a:spLocks noChangeArrowheads="1"/>
            </p:cNvSpPr>
            <p:nvPr/>
          </p:nvSpPr>
          <p:spPr bwMode="auto">
            <a:xfrm>
              <a:off x="5518" y="2611"/>
              <a:ext cx="47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35" name="Freeform 184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" name="AutoShape 185"/>
            <p:cNvSpPr>
              <a:spLocks noChangeArrowheads="1"/>
            </p:cNvSpPr>
            <p:nvPr/>
          </p:nvSpPr>
          <p:spPr bwMode="auto">
            <a:xfrm>
              <a:off x="4140" y="2678"/>
              <a:ext cx="1198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37" name="AutoShape 186"/>
            <p:cNvSpPr>
              <a:spLocks noChangeArrowheads="1"/>
            </p:cNvSpPr>
            <p:nvPr/>
          </p:nvSpPr>
          <p:spPr bwMode="auto">
            <a:xfrm>
              <a:off x="4204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38" name="Oval 187"/>
            <p:cNvSpPr>
              <a:spLocks noChangeArrowheads="1"/>
            </p:cNvSpPr>
            <p:nvPr/>
          </p:nvSpPr>
          <p:spPr bwMode="auto">
            <a:xfrm>
              <a:off x="4309" y="2385"/>
              <a:ext cx="157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39" name="Oval 188"/>
            <p:cNvSpPr>
              <a:spLocks noChangeArrowheads="1"/>
            </p:cNvSpPr>
            <p:nvPr/>
          </p:nvSpPr>
          <p:spPr bwMode="auto">
            <a:xfrm>
              <a:off x="4483" y="2385"/>
              <a:ext cx="163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0" name="Oval 189"/>
            <p:cNvSpPr>
              <a:spLocks noChangeArrowheads="1"/>
            </p:cNvSpPr>
            <p:nvPr/>
          </p:nvSpPr>
          <p:spPr bwMode="auto">
            <a:xfrm>
              <a:off x="4663" y="2378"/>
              <a:ext cx="157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41" name="Rectangle 190"/>
            <p:cNvSpPr>
              <a:spLocks noChangeArrowheads="1"/>
            </p:cNvSpPr>
            <p:nvPr/>
          </p:nvSpPr>
          <p:spPr bwMode="auto">
            <a:xfrm>
              <a:off x="5065" y="1837"/>
              <a:ext cx="81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50" name="Group 191"/>
          <p:cNvGrpSpPr/>
          <p:nvPr/>
        </p:nvGrpSpPr>
        <p:grpSpPr bwMode="auto">
          <a:xfrm>
            <a:off x="1623920" y="3135790"/>
            <a:ext cx="473869" cy="503635"/>
            <a:chOff x="-44" y="1473"/>
            <a:chExt cx="981" cy="1105"/>
          </a:xfrm>
        </p:grpSpPr>
        <p:pic>
          <p:nvPicPr>
            <p:cNvPr id="151" name="Picture 192" descr="desktop_computer_stylized_medium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2" name="Freeform 193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53" name="灯片编号占位符 2">
            <a:extLst>
              <a:ext uri="{FF2B5EF4-FFF2-40B4-BE49-F238E27FC236}">
                <a16:creationId xmlns:a16="http://schemas.microsoft.com/office/drawing/2014/main" id="{74777245-8ABF-4744-B388-A70BAD544FA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154" name="AutoShape 5">
            <a:extLst>
              <a:ext uri="{FF2B5EF4-FFF2-40B4-BE49-F238E27FC236}">
                <a16:creationId xmlns:a16="http://schemas.microsoft.com/office/drawing/2014/main" id="{A6EF2804-C61D-4B4C-9550-FB222770A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57D5D-C0E5-4759-A8FF-72D30DE8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1437E-1244-4D1F-9A39-D6327B838B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解决</a:t>
            </a:r>
            <a:r>
              <a:rPr lang="en-US" altLang="zh-CN" dirty="0"/>
              <a:t>IPv4</a:t>
            </a:r>
            <a:r>
              <a:rPr lang="zh-CN" altLang="en-US" dirty="0"/>
              <a:t>地址空间不足的方式</a:t>
            </a:r>
            <a:endParaRPr lang="en-US" altLang="zh-CN" dirty="0"/>
          </a:p>
          <a:p>
            <a:pPr lvl="1">
              <a:spcBef>
                <a:spcPts val="1800"/>
              </a:spcBef>
            </a:pPr>
            <a:r>
              <a:rPr lang="zh-CN" altLang="en-US" dirty="0"/>
              <a:t>子网划分：</a:t>
            </a:r>
            <a:r>
              <a:rPr lang="en-US" altLang="zh-CN" dirty="0"/>
              <a:t>ABCD</a:t>
            </a:r>
            <a:r>
              <a:rPr lang="zh-CN" altLang="en-US" dirty="0"/>
              <a:t>分类地址</a:t>
            </a:r>
            <a:r>
              <a:rPr lang="en-US" altLang="zh-CN" dirty="0">
                <a:sym typeface="Wingdings" panose="05000000000000000000" pitchFamily="2" charset="2"/>
              </a:rPr>
              <a:t>CIDR (</a:t>
            </a:r>
            <a:r>
              <a:rPr lang="en-US" altLang="zh-CN" sz="1800" dirty="0" err="1">
                <a:solidFill>
                  <a:srgbClr val="0066CC"/>
                </a:solidFill>
              </a:rPr>
              <a:t>a.b.c.d</a:t>
            </a:r>
            <a:r>
              <a:rPr lang="en-US" altLang="zh-CN" sz="1800" dirty="0">
                <a:solidFill>
                  <a:srgbClr val="0066CC"/>
                </a:solidFill>
              </a:rPr>
              <a:t> / x 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地址配置：静态地址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动态配置 </a:t>
            </a:r>
            <a:r>
              <a:rPr lang="en-US" altLang="zh-CN" dirty="0">
                <a:sym typeface="Wingdings" panose="05000000000000000000" pitchFamily="2" charset="2"/>
              </a:rPr>
              <a:t>(DHCP)</a:t>
            </a:r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内网地址：网络地址转换           </a:t>
            </a:r>
            <a:r>
              <a:rPr lang="en-US" altLang="zh-CN" dirty="0">
                <a:sym typeface="Wingdings" panose="05000000000000000000" pitchFamily="2" charset="2"/>
              </a:rPr>
              <a:t>(NAT)</a:t>
            </a:r>
            <a:endParaRPr lang="zh-CN" altLang="en-US" dirty="0"/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BD540A8C-A472-4F71-AD28-BA0672F52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932" y="2163147"/>
            <a:ext cx="3430720" cy="1428541"/>
          </a:xfrm>
          <a:prstGeom prst="rect">
            <a:avLst/>
          </a:prstGeom>
        </p:spPr>
      </p:pic>
      <p:pic>
        <p:nvPicPr>
          <p:cNvPr id="128" name="图片 127">
            <a:extLst>
              <a:ext uri="{FF2B5EF4-FFF2-40B4-BE49-F238E27FC236}">
                <a16:creationId xmlns:a16="http://schemas.microsoft.com/office/drawing/2014/main" id="{5D9699DC-291E-489F-84A3-E1BB2092B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558540"/>
            <a:ext cx="4075069" cy="133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71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8" name="Rectangle 15"/>
          <p:cNvSpPr txBox="1">
            <a:spLocks noChangeArrowheads="1"/>
          </p:cNvSpPr>
          <p:nvPr/>
        </p:nvSpPr>
        <p:spPr bwMode="auto">
          <a:xfrm>
            <a:off x="3240000" y="1440000"/>
            <a:ext cx="3774894" cy="2520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4.3.1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数据报格式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4.3.2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数据报分片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4.3.3 IPv4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网络编址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网络地址转换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4.3.5 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控制报文协议</a:t>
            </a:r>
            <a:endParaRPr lang="en-US" altLang="zh-CN" sz="20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4.3.6 IPV6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简要介绍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BD139F-F077-4829-A8A8-60336E8DC6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25935"/>
            <a:ext cx="1668571" cy="1491630"/>
          </a:xfrm>
          <a:prstGeom prst="rect">
            <a:avLst/>
          </a:prstGeom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CE94D031-D1FD-4D64-B5AF-24FC9892281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251E08A4-A7EF-4545-B830-5955A8316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777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ICMP: 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RFC 792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用途：主机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/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路由器</a:t>
            </a:r>
            <a:r>
              <a:rPr lang="zh-CN" altLang="en-US" dirty="0">
                <a:solidFill>
                  <a:srgbClr val="0066CC"/>
                </a:solidFill>
              </a:rPr>
              <a:t>之间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沟通网络层的信息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错误报告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回声响应</a:t>
            </a:r>
            <a:r>
              <a:rPr lang="en-US" altLang="zh-CN" dirty="0">
                <a:solidFill>
                  <a:srgbClr val="0066CC"/>
                </a:solidFill>
              </a:rPr>
              <a:t>(echo request/reply)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协议层次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被看做是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的一部分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rgbClr val="0066CC"/>
                </a:solidFill>
                <a:effectLst/>
              </a:rPr>
              <a:t>ICMP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报文由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协议封装</a:t>
            </a:r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6270266" y="4366418"/>
            <a:ext cx="1630309" cy="235942"/>
          </a:xfrm>
          <a:prstGeom prst="rect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ea typeface="+mj-ea"/>
              </a:rPr>
              <a:t>ICMP</a:t>
            </a:r>
            <a:r>
              <a:rPr lang="zh-CN" altLang="en-US" sz="900" b="1" dirty="0">
                <a:solidFill>
                  <a:schemeClr val="tx1"/>
                </a:solidFill>
                <a:ea typeface="+mj-ea"/>
              </a:rPr>
              <a:t>报文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CCE49FC-2601-438E-B029-411C8C80C1AC}"/>
              </a:ext>
            </a:extLst>
          </p:cNvPr>
          <p:cNvGrpSpPr/>
          <p:nvPr/>
        </p:nvGrpSpPr>
        <p:grpSpPr>
          <a:xfrm>
            <a:off x="4098327" y="2211710"/>
            <a:ext cx="4650137" cy="2390650"/>
            <a:chOff x="1436322" y="1371446"/>
            <a:chExt cx="5407827" cy="2780180"/>
          </a:xfrm>
        </p:grpSpPr>
        <p:sp>
          <p:nvSpPr>
            <p:cNvPr id="8" name="Line 3">
              <a:extLst>
                <a:ext uri="{FF2B5EF4-FFF2-40B4-BE49-F238E27FC236}">
                  <a16:creationId xmlns:a16="http://schemas.microsoft.com/office/drawing/2014/main" id="{8288E66D-E57F-4A32-AAA4-91A56C4A6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582BFBAE-99B9-47C9-8A82-29932533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15452" cy="20715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611FC465-C50E-4C9D-9093-6AC9D25EF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9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F796EE7-69A3-4224-925F-528500EFA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E534A67B-8208-46E0-9512-A85B33A34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1BA16091-9C12-4BAA-8924-7C0E5D078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D47682C7-E415-4AA1-AF43-6C47AA96EE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F27C2BCF-4799-4CA5-8CF7-3A9187959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A717DA44-D8BE-425E-8BD8-7EA2E1C84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E7AFA818-8E20-4CAB-BEEF-ED1A5C75B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35">
              <a:extLst>
                <a:ext uri="{FF2B5EF4-FFF2-40B4-BE49-F238E27FC236}">
                  <a16:creationId xmlns:a16="http://schemas.microsoft.com/office/drawing/2014/main" id="{8118B89F-2EFF-4AF2-8165-4EBC43E0D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36">
              <a:extLst>
                <a:ext uri="{FF2B5EF4-FFF2-40B4-BE49-F238E27FC236}">
                  <a16:creationId xmlns:a16="http://schemas.microsoft.com/office/drawing/2014/main" id="{0AC9381E-39B2-47AC-B72B-D8B328C62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614253" cy="23936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5153744-7C1C-4E36-A2F7-47A6A1BB3B81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52" name="Line 37">
                <a:extLst>
                  <a:ext uri="{FF2B5EF4-FFF2-40B4-BE49-F238E27FC236}">
                    <a16:creationId xmlns:a16="http://schemas.microsoft.com/office/drawing/2014/main" id="{FA8B7704-96BA-4684-8D2B-18E8736D4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38">
                <a:extLst>
                  <a:ext uri="{FF2B5EF4-FFF2-40B4-BE49-F238E27FC236}">
                    <a16:creationId xmlns:a16="http://schemas.microsoft.com/office/drawing/2014/main" id="{9A5C0EB9-5E9A-43D3-A434-A5AB1D68F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39">
                <a:extLst>
                  <a:ext uri="{FF2B5EF4-FFF2-40B4-BE49-F238E27FC236}">
                    <a16:creationId xmlns:a16="http://schemas.microsoft.com/office/drawing/2014/main" id="{29E3C650-EC6D-4C2B-A487-096915AA4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Line 40">
                <a:extLst>
                  <a:ext uri="{FF2B5EF4-FFF2-40B4-BE49-F238E27FC236}">
                    <a16:creationId xmlns:a16="http://schemas.microsoft.com/office/drawing/2014/main" id="{41A9089B-421F-4C5A-9A7B-C94802C80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Line 41">
                <a:extLst>
                  <a:ext uri="{FF2B5EF4-FFF2-40B4-BE49-F238E27FC236}">
                    <a16:creationId xmlns:a16="http://schemas.microsoft.com/office/drawing/2014/main" id="{7615A996-D66E-4DD1-9553-4F0E04A05B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42">
                <a:extLst>
                  <a:ext uri="{FF2B5EF4-FFF2-40B4-BE49-F238E27FC236}">
                    <a16:creationId xmlns:a16="http://schemas.microsoft.com/office/drawing/2014/main" id="{13CE71DE-180A-4D1B-9969-8D151A234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43">
                <a:extLst>
                  <a:ext uri="{FF2B5EF4-FFF2-40B4-BE49-F238E27FC236}">
                    <a16:creationId xmlns:a16="http://schemas.microsoft.com/office/drawing/2014/main" id="{85236D04-F0E8-40CC-B331-E974D41AA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Line 44">
                <a:extLst>
                  <a:ext uri="{FF2B5EF4-FFF2-40B4-BE49-F238E27FC236}">
                    <a16:creationId xmlns:a16="http://schemas.microsoft.com/office/drawing/2014/main" id="{1555FF87-1EFA-4428-9131-50199A41E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Line 45">
                <a:extLst>
                  <a:ext uri="{FF2B5EF4-FFF2-40B4-BE49-F238E27FC236}">
                    <a16:creationId xmlns:a16="http://schemas.microsoft.com/office/drawing/2014/main" id="{1B418AB7-C898-49FC-AEB6-5C2533C03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Line 46">
                <a:extLst>
                  <a:ext uri="{FF2B5EF4-FFF2-40B4-BE49-F238E27FC236}">
                    <a16:creationId xmlns:a16="http://schemas.microsoft.com/office/drawing/2014/main" id="{2430A800-434C-4776-9B04-3AF98A68B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47">
                <a:extLst>
                  <a:ext uri="{FF2B5EF4-FFF2-40B4-BE49-F238E27FC236}">
                    <a16:creationId xmlns:a16="http://schemas.microsoft.com/office/drawing/2014/main" id="{DD8E90E7-3153-4F84-976E-FBB996738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48">
                <a:extLst>
                  <a:ext uri="{FF2B5EF4-FFF2-40B4-BE49-F238E27FC236}">
                    <a16:creationId xmlns:a16="http://schemas.microsoft.com/office/drawing/2014/main" id="{9FFA88FF-17B3-4B58-A812-D38A5E643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49">
                <a:extLst>
                  <a:ext uri="{FF2B5EF4-FFF2-40B4-BE49-F238E27FC236}">
                    <a16:creationId xmlns:a16="http://schemas.microsoft.com/office/drawing/2014/main" id="{3BFD4C50-CFB1-4030-A1C5-63C4B3A81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50">
                <a:extLst>
                  <a:ext uri="{FF2B5EF4-FFF2-40B4-BE49-F238E27FC236}">
                    <a16:creationId xmlns:a16="http://schemas.microsoft.com/office/drawing/2014/main" id="{79BBC7E7-65FE-47C5-8D64-085F0AF20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Line 51">
                <a:extLst>
                  <a:ext uri="{FF2B5EF4-FFF2-40B4-BE49-F238E27FC236}">
                    <a16:creationId xmlns:a16="http://schemas.microsoft.com/office/drawing/2014/main" id="{86EEAC2D-DD9B-4FD2-8357-9E6489BF4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52">
                <a:extLst>
                  <a:ext uri="{FF2B5EF4-FFF2-40B4-BE49-F238E27FC236}">
                    <a16:creationId xmlns:a16="http://schemas.microsoft.com/office/drawing/2014/main" id="{F1B36211-79E9-4F04-A9A8-A3B42A91A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53">
                <a:extLst>
                  <a:ext uri="{FF2B5EF4-FFF2-40B4-BE49-F238E27FC236}">
                    <a16:creationId xmlns:a16="http://schemas.microsoft.com/office/drawing/2014/main" id="{34D76A51-4885-4C52-93F8-C69473C7D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Line 54">
                <a:extLst>
                  <a:ext uri="{FF2B5EF4-FFF2-40B4-BE49-F238E27FC236}">
                    <a16:creationId xmlns:a16="http://schemas.microsoft.com/office/drawing/2014/main" id="{FEFC14F4-A9DF-450B-BC43-FAB634FB8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Line 55">
                <a:extLst>
                  <a:ext uri="{FF2B5EF4-FFF2-40B4-BE49-F238E27FC236}">
                    <a16:creationId xmlns:a16="http://schemas.microsoft.com/office/drawing/2014/main" id="{F391C994-3EA9-4EE3-8D9B-D1768F792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56">
                <a:extLst>
                  <a:ext uri="{FF2B5EF4-FFF2-40B4-BE49-F238E27FC236}">
                    <a16:creationId xmlns:a16="http://schemas.microsoft.com/office/drawing/2014/main" id="{5FDEB377-7C1B-4387-9BC1-6595E6B51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57">
                <a:extLst>
                  <a:ext uri="{FF2B5EF4-FFF2-40B4-BE49-F238E27FC236}">
                    <a16:creationId xmlns:a16="http://schemas.microsoft.com/office/drawing/2014/main" id="{8C0A7C75-C5EE-4A7D-A72A-7360381E9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58">
                <a:extLst>
                  <a:ext uri="{FF2B5EF4-FFF2-40B4-BE49-F238E27FC236}">
                    <a16:creationId xmlns:a16="http://schemas.microsoft.com/office/drawing/2014/main" id="{4998C943-2C7B-49E0-8579-418BF3B3F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59">
                <a:extLst>
                  <a:ext uri="{FF2B5EF4-FFF2-40B4-BE49-F238E27FC236}">
                    <a16:creationId xmlns:a16="http://schemas.microsoft.com/office/drawing/2014/main" id="{3DC18643-2455-4444-AF4A-69E8E56E5D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60">
                <a:extLst>
                  <a:ext uri="{FF2B5EF4-FFF2-40B4-BE49-F238E27FC236}">
                    <a16:creationId xmlns:a16="http://schemas.microsoft.com/office/drawing/2014/main" id="{886F6990-C45E-49B4-B4C2-6390E60E5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61">
                <a:extLst>
                  <a:ext uri="{FF2B5EF4-FFF2-40B4-BE49-F238E27FC236}">
                    <a16:creationId xmlns:a16="http://schemas.microsoft.com/office/drawing/2014/main" id="{C72650CE-B6B9-453B-9883-556FC610E8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62">
                <a:extLst>
                  <a:ext uri="{FF2B5EF4-FFF2-40B4-BE49-F238E27FC236}">
                    <a16:creationId xmlns:a16="http://schemas.microsoft.com/office/drawing/2014/main" id="{6926C13D-FE3E-4622-B60F-6798F04AA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63">
                <a:extLst>
                  <a:ext uri="{FF2B5EF4-FFF2-40B4-BE49-F238E27FC236}">
                    <a16:creationId xmlns:a16="http://schemas.microsoft.com/office/drawing/2014/main" id="{616ABB32-0805-45B9-A30E-D91679897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64">
                <a:extLst>
                  <a:ext uri="{FF2B5EF4-FFF2-40B4-BE49-F238E27FC236}">
                    <a16:creationId xmlns:a16="http://schemas.microsoft.com/office/drawing/2014/main" id="{B055CB38-B220-47DD-945B-0248E685C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65">
                <a:extLst>
                  <a:ext uri="{FF2B5EF4-FFF2-40B4-BE49-F238E27FC236}">
                    <a16:creationId xmlns:a16="http://schemas.microsoft.com/office/drawing/2014/main" id="{91ADD4D1-286C-4930-A010-DF6A0AFD8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66">
                <a:extLst>
                  <a:ext uri="{FF2B5EF4-FFF2-40B4-BE49-F238E27FC236}">
                    <a16:creationId xmlns:a16="http://schemas.microsoft.com/office/drawing/2014/main" id="{8977097C-B966-4E7C-8A36-7AAD29448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67">
                <a:extLst>
                  <a:ext uri="{FF2B5EF4-FFF2-40B4-BE49-F238E27FC236}">
                    <a16:creationId xmlns:a16="http://schemas.microsoft.com/office/drawing/2014/main" id="{5624E763-4F3C-424F-BDD7-88150BE75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68">
                <a:extLst>
                  <a:ext uri="{FF2B5EF4-FFF2-40B4-BE49-F238E27FC236}">
                    <a16:creationId xmlns:a16="http://schemas.microsoft.com/office/drawing/2014/main" id="{0317E50E-EF53-44E2-AD12-9E7EE43B2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69">
                <a:extLst>
                  <a:ext uri="{FF2B5EF4-FFF2-40B4-BE49-F238E27FC236}">
                    <a16:creationId xmlns:a16="http://schemas.microsoft.com/office/drawing/2014/main" id="{121928FE-3722-4B7F-9B8D-B825DCB77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70">
                <a:extLst>
                  <a:ext uri="{FF2B5EF4-FFF2-40B4-BE49-F238E27FC236}">
                    <a16:creationId xmlns:a16="http://schemas.microsoft.com/office/drawing/2014/main" id="{C5D33E98-6CBB-4174-A71B-358796A12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Rectangle 80">
                <a:extLst>
                  <a:ext uri="{FF2B5EF4-FFF2-40B4-BE49-F238E27FC236}">
                    <a16:creationId xmlns:a16="http://schemas.microsoft.com/office/drawing/2014/main" id="{6046F0FA-5CBB-47FC-B6B4-5FEDF4902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35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7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7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26" name="Line 98">
              <a:extLst>
                <a:ext uri="{FF2B5EF4-FFF2-40B4-BE49-F238E27FC236}">
                  <a16:creationId xmlns:a16="http://schemas.microsoft.com/office/drawing/2014/main" id="{E21583BC-D39C-4F6E-8B9A-392131BD6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99">
              <a:extLst>
                <a:ext uri="{FF2B5EF4-FFF2-40B4-BE49-F238E27FC236}">
                  <a16:creationId xmlns:a16="http://schemas.microsoft.com/office/drawing/2014/main" id="{9BA6E1FF-26AD-446E-BDD2-543AF3DF5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2BF481E3-9E60-4329-9119-622BEE694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4088430A-21BE-4D45-8F4D-3616DEBD2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15">
              <a:extLst>
                <a:ext uri="{FF2B5EF4-FFF2-40B4-BE49-F238E27FC236}">
                  <a16:creationId xmlns:a16="http://schemas.microsoft.com/office/drawing/2014/main" id="{344F38C3-464B-479D-822D-57FEE8654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15">
              <a:extLst>
                <a:ext uri="{FF2B5EF4-FFF2-40B4-BE49-F238E27FC236}">
                  <a16:creationId xmlns:a16="http://schemas.microsoft.com/office/drawing/2014/main" id="{4E3B1E42-8366-49B4-840F-E645D19F8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15">
              <a:extLst>
                <a:ext uri="{FF2B5EF4-FFF2-40B4-BE49-F238E27FC236}">
                  <a16:creationId xmlns:a16="http://schemas.microsoft.com/office/drawing/2014/main" id="{1AA3F6BB-1570-42FF-9460-DC5B3056E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15">
              <a:extLst>
                <a:ext uri="{FF2B5EF4-FFF2-40B4-BE49-F238E27FC236}">
                  <a16:creationId xmlns:a16="http://schemas.microsoft.com/office/drawing/2014/main" id="{F100F1D2-42F7-4F78-8AD2-57635070A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98A84584-D4D9-4C98-A5F5-FBD6C7BBF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DAC42A70-171E-4590-B8F9-89D0F82EE76A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11112"/>
              <a:chOff x="2149674" y="1919559"/>
              <a:chExt cx="4459415" cy="1511112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38" name="Rectangle 16">
                <a:extLst>
                  <a:ext uri="{FF2B5EF4-FFF2-40B4-BE49-F238E27FC236}">
                    <a16:creationId xmlns:a16="http://schemas.microsoft.com/office/drawing/2014/main" id="{69074724-9396-46F5-A595-6A6DBA801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6047" y="1919559"/>
                <a:ext cx="1203339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90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8AA30737-A613-48F2-930B-912C3BA68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4"/>
                <a:ext cx="830500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40" name="Rectangle 19">
                <a:extLst>
                  <a:ext uri="{FF2B5EF4-FFF2-40B4-BE49-F238E27FC236}">
                    <a16:creationId xmlns:a16="http://schemas.microsoft.com/office/drawing/2014/main" id="{A2C70ABF-55E1-470F-AE0D-EF87C3A5D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0"/>
                <a:ext cx="1931421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41" name="Rectangle 20">
                <a:extLst>
                  <a:ext uri="{FF2B5EF4-FFF2-40B4-BE49-F238E27FC236}">
                    <a16:creationId xmlns:a16="http://schemas.microsoft.com/office/drawing/2014/main" id="{1CB84663-A863-4FC9-A45C-076D5841A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07B26496-C066-464C-A595-C25D0F4C1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69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43" name="Rectangle 25">
                <a:extLst>
                  <a:ext uri="{FF2B5EF4-FFF2-40B4-BE49-F238E27FC236}">
                    <a16:creationId xmlns:a16="http://schemas.microsoft.com/office/drawing/2014/main" id="{56D9543A-4582-41E8-8C16-B5681B46A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1"/>
                <a:ext cx="884018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44" name="Rectangle 21">
                <a:extLst>
                  <a:ext uri="{FF2B5EF4-FFF2-40B4-BE49-F238E27FC236}">
                    <a16:creationId xmlns:a16="http://schemas.microsoft.com/office/drawing/2014/main" id="{81B56B60-F819-4BD2-B39B-86DACC143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7" y="2171760"/>
                <a:ext cx="808617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45" name="Rectangle 25">
                <a:extLst>
                  <a:ext uri="{FF2B5EF4-FFF2-40B4-BE49-F238E27FC236}">
                    <a16:creationId xmlns:a16="http://schemas.microsoft.com/office/drawing/2014/main" id="{2DD7C094-3314-4CDB-A0BF-DB762B4B3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1"/>
                <a:ext cx="884018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9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46" name="Rectangle 18">
                <a:extLst>
                  <a:ext uri="{FF2B5EF4-FFF2-40B4-BE49-F238E27FC236}">
                    <a16:creationId xmlns:a16="http://schemas.microsoft.com/office/drawing/2014/main" id="{0DAF067F-89C3-4B4F-9BDB-75F302239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49278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47" name="Rectangle 18">
                <a:extLst>
                  <a:ext uri="{FF2B5EF4-FFF2-40B4-BE49-F238E27FC236}">
                    <a16:creationId xmlns:a16="http://schemas.microsoft.com/office/drawing/2014/main" id="{C829A58B-3861-4F77-B92E-B269ED3AF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3"/>
                <a:ext cx="1283500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48" name="Rectangle 20">
                <a:extLst>
                  <a:ext uri="{FF2B5EF4-FFF2-40B4-BE49-F238E27FC236}">
                    <a16:creationId xmlns:a16="http://schemas.microsoft.com/office/drawing/2014/main" id="{CB3BA38D-D023-4AD5-BC00-A5D5DDA79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8"/>
                <a:ext cx="577107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49" name="Rectangle 20">
                <a:extLst>
                  <a:ext uri="{FF2B5EF4-FFF2-40B4-BE49-F238E27FC236}">
                    <a16:creationId xmlns:a16="http://schemas.microsoft.com/office/drawing/2014/main" id="{5558562F-B6F1-433D-9536-742901F3C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8"/>
                <a:ext cx="710363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50" name="Rectangle 21">
                <a:extLst>
                  <a:ext uri="{FF2B5EF4-FFF2-40B4-BE49-F238E27FC236}">
                    <a16:creationId xmlns:a16="http://schemas.microsoft.com/office/drawing/2014/main" id="{D0A4A12C-76C1-492E-A6FD-BA9843177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20" y="3191307"/>
                <a:ext cx="534869" cy="239364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51" name="Rectangle 21">
                <a:extLst>
                  <a:ext uri="{FF2B5EF4-FFF2-40B4-BE49-F238E27FC236}">
                    <a16:creationId xmlns:a16="http://schemas.microsoft.com/office/drawing/2014/main" id="{561B5916-22BA-48CC-810F-0EB5E674D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39364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90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36" name="Rectangle 89">
              <a:extLst>
                <a:ext uri="{FF2B5EF4-FFF2-40B4-BE49-F238E27FC236}">
                  <a16:creationId xmlns:a16="http://schemas.microsoft.com/office/drawing/2014/main" id="{FDFB830A-C403-474F-B5BB-BBD1AC13F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7515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331C956B-DFDD-4DDD-B18E-ACFBAB692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39364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88" name="灯片编号占位符 2">
            <a:extLst>
              <a:ext uri="{FF2B5EF4-FFF2-40B4-BE49-F238E27FC236}">
                <a16:creationId xmlns:a16="http://schemas.microsoft.com/office/drawing/2014/main" id="{0BBFDB58-3B70-48BE-AFB7-F88FF42F612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89" name="AutoShape 5">
            <a:extLst>
              <a:ext uri="{FF2B5EF4-FFF2-40B4-BE49-F238E27FC236}">
                <a16:creationId xmlns:a16="http://schemas.microsoft.com/office/drawing/2014/main" id="{E49C0BE3-2D37-4F00-B4AF-4FD39826A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" name="Text Box 82">
            <a:extLst>
              <a:ext uri="{FF2B5EF4-FFF2-40B4-BE49-F238E27FC236}">
                <a16:creationId xmlns:a16="http://schemas.microsoft.com/office/drawing/2014/main" id="{6A0A1535-E4C2-4ABB-89AB-0DAE35E8C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391" y="3766398"/>
            <a:ext cx="4356497" cy="141577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上层协议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bits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数据报到达终点后才会使用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告诉接收方顶层使用什么协议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{06}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TCP    {17}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UDP   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{01}</a:t>
            </a:r>
            <a:r>
              <a:rPr lang="en-US" altLang="zh-CN" sz="14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ICMP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{02}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IGMP 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ICMP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报文格式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类型</a:t>
            </a:r>
            <a:r>
              <a:rPr lang="en-US" altLang="zh-CN" dirty="0">
                <a:solidFill>
                  <a:srgbClr val="0066CC"/>
                </a:solidFill>
              </a:rPr>
              <a:t>+</a:t>
            </a:r>
            <a:r>
              <a:rPr lang="zh-CN" altLang="en-US" dirty="0">
                <a:solidFill>
                  <a:srgbClr val="0066CC"/>
                </a:solidFill>
              </a:rPr>
              <a:t>编码：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各</a:t>
            </a:r>
            <a:r>
              <a:rPr lang="en-US" altLang="zh-CN" dirty="0">
                <a:solidFill>
                  <a:srgbClr val="0066CC"/>
                </a:solidFill>
              </a:rPr>
              <a:t>1</a:t>
            </a:r>
            <a:r>
              <a:rPr lang="zh-CN" altLang="en-US" dirty="0">
                <a:solidFill>
                  <a:srgbClr val="0066CC"/>
                </a:solidFill>
              </a:rPr>
              <a:t>字节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用途：标识</a:t>
            </a:r>
            <a:r>
              <a:rPr lang="en-US" altLang="zh-CN" dirty="0">
                <a:solidFill>
                  <a:srgbClr val="0066CC"/>
                </a:solidFill>
              </a:rPr>
              <a:t>ICMP</a:t>
            </a:r>
            <a:r>
              <a:rPr lang="zh-CN" altLang="en-US" dirty="0">
                <a:solidFill>
                  <a:srgbClr val="0066CC"/>
                </a:solidFill>
              </a:rPr>
              <a:t>数据报的类型、用途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初始</a:t>
            </a: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首部：</a:t>
            </a:r>
            <a:r>
              <a:rPr lang="en-US" altLang="zh-CN" dirty="0">
                <a:solidFill>
                  <a:srgbClr val="0066CC"/>
                </a:solidFill>
              </a:rPr>
              <a:t>20</a:t>
            </a:r>
            <a:r>
              <a:rPr lang="zh-CN" altLang="en-US" dirty="0">
                <a:solidFill>
                  <a:srgbClr val="0066CC"/>
                </a:solidFill>
              </a:rPr>
              <a:t>字节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初始数据内容：</a:t>
            </a:r>
            <a:r>
              <a:rPr lang="en-US" altLang="zh-CN" dirty="0">
                <a:solidFill>
                  <a:srgbClr val="0066CC"/>
                </a:solidFill>
              </a:rPr>
              <a:t>8</a:t>
            </a:r>
            <a:r>
              <a:rPr lang="zh-CN" altLang="en-US" dirty="0">
                <a:solidFill>
                  <a:srgbClr val="0066CC"/>
                </a:solidFill>
              </a:rPr>
              <a:t>字节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934787"/>
            <a:ext cx="4279763" cy="1815242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900D16BC-1E88-46E5-9439-F8C68C8E7BF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5091C77D-C148-4BA0-99CB-F40002FC1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115212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ICMP</a:t>
            </a:r>
            <a:r>
              <a:rPr lang="zh-CN" altLang="en-US" dirty="0">
                <a:solidFill>
                  <a:srgbClr val="FF0000"/>
                </a:solidFill>
              </a:rPr>
              <a:t>报文类型</a:t>
            </a:r>
            <a:endParaRPr lang="en-US" altLang="zh-CN" sz="1500" dirty="0">
              <a:solidFill>
                <a:srgbClr val="0066CC"/>
              </a:solidFill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253370" y="1635646"/>
            <a:ext cx="2637260" cy="300082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description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0       0        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回显应答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(ping)</a:t>
            </a: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目标网络不可达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3       1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目标主机不可达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3       2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目标协议不可达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3       3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目标端口不可达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3       6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目标网络未知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3       7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目标主机未知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源抑制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拥塞控制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8       0        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回显请求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(ping)</a:t>
            </a: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路由器通告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路由器发现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     0         TTL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过期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     0         IP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首部损坏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B0F660B1-90C8-4751-A119-35C633275CB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370711DF-F215-4696-8598-2A198BA70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ICMP</a:t>
            </a:r>
            <a:r>
              <a:rPr lang="zh-CN" altLang="en-US" dirty="0">
                <a:solidFill>
                  <a:srgbClr val="FF0000"/>
                </a:solidFill>
              </a:rPr>
              <a:t>应用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Ping</a:t>
            </a:r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2902122" y="2385962"/>
            <a:ext cx="1669610" cy="270030"/>
          </a:xfrm>
          <a:prstGeom prst="right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ICMP Type=8 Code=0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左箭头 19"/>
          <p:cNvSpPr/>
          <p:nvPr/>
        </p:nvSpPr>
        <p:spPr>
          <a:xfrm>
            <a:off x="5224649" y="2609026"/>
            <a:ext cx="1669609" cy="270000"/>
          </a:xfrm>
          <a:prstGeom prst="left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ICMP Type=0 Code=0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925706" y="2381022"/>
            <a:ext cx="5292588" cy="0"/>
          </a:xfrm>
          <a:prstGeom prst="line">
            <a:avLst/>
          </a:prstGeom>
          <a:ln w="9525">
            <a:solidFill>
              <a:srgbClr val="0066C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925706" y="2980028"/>
            <a:ext cx="5292588" cy="0"/>
          </a:xfrm>
          <a:prstGeom prst="line">
            <a:avLst/>
          </a:prstGeom>
          <a:ln w="9525">
            <a:solidFill>
              <a:srgbClr val="0066C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3"/>
          <p:cNvGrpSpPr/>
          <p:nvPr/>
        </p:nvGrpSpPr>
        <p:grpSpPr bwMode="auto">
          <a:xfrm>
            <a:off x="2033719" y="1995788"/>
            <a:ext cx="798314" cy="695561"/>
            <a:chOff x="-44" y="1473"/>
            <a:chExt cx="981" cy="1105"/>
          </a:xfrm>
        </p:grpSpPr>
        <p:pic>
          <p:nvPicPr>
            <p:cNvPr id="12" name="Picture 74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Freeform 75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Group 87"/>
          <p:cNvGrpSpPr>
            <a:grpSpLocks noChangeAspect="1"/>
          </p:cNvGrpSpPr>
          <p:nvPr/>
        </p:nvGrpSpPr>
        <p:grpSpPr bwMode="auto">
          <a:xfrm flipH="1">
            <a:off x="6904842" y="2013398"/>
            <a:ext cx="799507" cy="696600"/>
            <a:chOff x="-44" y="1473"/>
            <a:chExt cx="981" cy="1105"/>
          </a:xfrm>
        </p:grpSpPr>
        <p:pic>
          <p:nvPicPr>
            <p:cNvPr id="10" name="Picture 8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8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195736" y="2991748"/>
            <a:ext cx="1026114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主机可达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EA6E35-D3CA-44B3-ACA8-E99E69AF9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461" y="3184301"/>
            <a:ext cx="3864127" cy="17637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9" name="灯片编号占位符 2">
            <a:extLst>
              <a:ext uri="{FF2B5EF4-FFF2-40B4-BE49-F238E27FC236}">
                <a16:creationId xmlns:a16="http://schemas.microsoft.com/office/drawing/2014/main" id="{5551F50B-7712-4F7D-9FED-BC286EDA7FB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21" name="AutoShape 5">
            <a:extLst>
              <a:ext uri="{FF2B5EF4-FFF2-40B4-BE49-F238E27FC236}">
                <a16:creationId xmlns:a16="http://schemas.microsoft.com/office/drawing/2014/main" id="{EA06D5EA-4AC7-454A-A241-904FA997A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0.38368 -2.96296E-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0 L -0.44497 0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20" grpId="0" animBg="1"/>
      <p:bldP spid="20" grpId="1" animBg="1"/>
      <p:bldP spid="24" grpId="0"/>
      <p:bldP spid="21" grpId="0" animBg="1"/>
      <p:bldP spid="21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FD0D8-51AD-46A3-9F0F-91C049A5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E35AAD6-7153-41FB-AB74-7872BB68B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ICMP</a:t>
            </a:r>
            <a:r>
              <a:rPr lang="zh-CN" altLang="en-US" dirty="0">
                <a:solidFill>
                  <a:srgbClr val="FF0000"/>
                </a:solidFill>
              </a:rPr>
              <a:t>应用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Ping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request</a:t>
            </a:r>
            <a:endParaRPr lang="en-US" altLang="zh-CN" dirty="0">
              <a:solidFill>
                <a:srgbClr val="0066CC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411B0F-787B-4487-AA42-F3B5D883F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45" y="1640042"/>
            <a:ext cx="5606089" cy="34358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2A256945-D485-4C02-A23B-4686D84236F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898C371A-9D23-4CA6-8077-58EEF1AA9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681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3B2308-592F-458F-9AD2-DCBDBAAA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44" y="1640041"/>
            <a:ext cx="5606090" cy="34358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C8FD0D8-51AD-46A3-9F0F-91C049A5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E35AAD6-7153-41FB-AB74-7872BB68B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</a:rPr>
              <a:t>ICMP</a:t>
            </a:r>
            <a:r>
              <a:rPr lang="zh-CN" altLang="en-US" dirty="0">
                <a:solidFill>
                  <a:srgbClr val="FF0000"/>
                </a:solidFill>
              </a:rPr>
              <a:t>应用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Ping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reply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98475F67-982D-4895-B319-08AE7138853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B83AEDD1-24E9-4251-95B3-D74602707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578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ICMP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应用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TraceRoute</a:t>
            </a: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706011" y="2413155"/>
            <a:ext cx="5901239" cy="550646"/>
            <a:chOff x="750680" y="2785492"/>
            <a:chExt cx="7868319" cy="734194"/>
          </a:xfrm>
        </p:grpSpPr>
        <p:sp>
          <p:nvSpPr>
            <p:cNvPr id="8" name="Line 38"/>
            <p:cNvSpPr>
              <a:spLocks noChangeShapeType="1"/>
            </p:cNvSpPr>
            <p:nvPr/>
          </p:nvSpPr>
          <p:spPr bwMode="auto">
            <a:xfrm flipV="1">
              <a:off x="1622531" y="3356992"/>
              <a:ext cx="1251306" cy="34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" name="Line 105"/>
            <p:cNvSpPr>
              <a:spLocks noChangeShapeType="1"/>
            </p:cNvSpPr>
            <p:nvPr/>
          </p:nvSpPr>
          <p:spPr bwMode="auto">
            <a:xfrm flipV="1">
              <a:off x="3411912" y="3365614"/>
              <a:ext cx="1288033" cy="16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261"/>
            <p:cNvSpPr>
              <a:spLocks noChangeShapeType="1"/>
            </p:cNvSpPr>
            <p:nvPr/>
          </p:nvSpPr>
          <p:spPr bwMode="auto">
            <a:xfrm flipH="1">
              <a:off x="7347411" y="3098229"/>
              <a:ext cx="557213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2" name="Group 21"/>
            <p:cNvGrpSpPr/>
            <p:nvPr/>
          </p:nvGrpSpPr>
          <p:grpSpPr bwMode="auto">
            <a:xfrm>
              <a:off x="750680" y="2830711"/>
              <a:ext cx="820738" cy="688975"/>
              <a:chOff x="-44" y="1473"/>
              <a:chExt cx="981" cy="1105"/>
            </a:xfrm>
          </p:grpSpPr>
          <p:pic>
            <p:nvPicPr>
              <p:cNvPr id="23" name="Picture 2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Freeform 23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4"/>
            <p:cNvGrpSpPr/>
            <p:nvPr/>
          </p:nvGrpSpPr>
          <p:grpSpPr bwMode="auto">
            <a:xfrm flipH="1">
              <a:off x="7864936" y="2785492"/>
              <a:ext cx="754063" cy="669925"/>
              <a:chOff x="-44" y="1473"/>
              <a:chExt cx="981" cy="1105"/>
            </a:xfrm>
          </p:grpSpPr>
          <p:pic>
            <p:nvPicPr>
              <p:cNvPr id="26" name="Picture 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Freeform 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46" name="Group 45"/>
            <p:cNvGrpSpPr/>
            <p:nvPr/>
          </p:nvGrpSpPr>
          <p:grpSpPr bwMode="auto">
            <a:xfrm>
              <a:off x="4693111" y="3223642"/>
              <a:ext cx="617538" cy="250825"/>
              <a:chOff x="2356" y="1300"/>
              <a:chExt cx="555" cy="194"/>
            </a:xfrm>
          </p:grpSpPr>
          <p:sp>
            <p:nvSpPr>
              <p:cNvPr id="4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0" name="Group 49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3" name="Freeform 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4" name="Freeform 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1" name="Line 52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52" name="Line 53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64" name="Group 63"/>
            <p:cNvGrpSpPr/>
            <p:nvPr/>
          </p:nvGrpSpPr>
          <p:grpSpPr bwMode="auto">
            <a:xfrm>
              <a:off x="2816686" y="3244279"/>
              <a:ext cx="617538" cy="250825"/>
              <a:chOff x="2356" y="1300"/>
              <a:chExt cx="555" cy="194"/>
            </a:xfrm>
          </p:grpSpPr>
          <p:sp>
            <p:nvSpPr>
              <p:cNvPr id="6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1" name="Freeform 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2" name="Freeform 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9" name="Line 7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0" name="Line 7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83" name="Line 261"/>
            <p:cNvSpPr>
              <a:spLocks noChangeShapeType="1"/>
            </p:cNvSpPr>
            <p:nvPr/>
          </p:nvSpPr>
          <p:spPr bwMode="auto">
            <a:xfrm flipH="1">
              <a:off x="5303911" y="3371279"/>
              <a:ext cx="2043499" cy="119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" name="矩形 6"/>
            <p:cNvSpPr/>
            <p:nvPr/>
          </p:nvSpPr>
          <p:spPr>
            <a:xfrm>
              <a:off x="5887680" y="3276139"/>
              <a:ext cx="1152128" cy="21037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6939647" y="3241445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910203" y="3263639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5869977" y="3360444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5840533" y="3382638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/>
        </p:nvGrpSpPr>
        <p:grpSpPr>
          <a:xfrm>
            <a:off x="1554335" y="3013369"/>
            <a:ext cx="938479" cy="575258"/>
            <a:chOff x="548446" y="3585778"/>
            <a:chExt cx="1110455" cy="767010"/>
          </a:xfrm>
        </p:grpSpPr>
        <p:sp>
          <p:nvSpPr>
            <p:cNvPr id="84" name="矩形 83"/>
            <p:cNvSpPr/>
            <p:nvPr/>
          </p:nvSpPr>
          <p:spPr>
            <a:xfrm>
              <a:off x="548446" y="3585778"/>
              <a:ext cx="1110455" cy="432048"/>
            </a:xfrm>
            <a:prstGeom prst="rect">
              <a:avLst/>
            </a:prstGeom>
            <a:solidFill>
              <a:srgbClr val="D5EDFF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0066CC"/>
                  </a:solidFill>
                </a:rPr>
                <a:t>UDP Datagram</a:t>
              </a:r>
            </a:p>
            <a:p>
              <a:r>
                <a:rPr lang="en-US" altLang="zh-CN" sz="788" dirty="0" err="1">
                  <a:solidFill>
                    <a:srgbClr val="0066CC"/>
                  </a:solidFill>
                </a:rPr>
                <a:t>Dest.port</a:t>
              </a:r>
              <a:r>
                <a:rPr lang="en-US" altLang="zh-CN" sz="788" dirty="0">
                  <a:solidFill>
                    <a:srgbClr val="0066CC"/>
                  </a:solidFill>
                </a:rPr>
                <a:t> == 80</a:t>
              </a:r>
              <a:endParaRPr lang="zh-CN" altLang="en-US" sz="788" dirty="0">
                <a:solidFill>
                  <a:srgbClr val="0066CC"/>
                </a:solidFill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548446" y="4017825"/>
              <a:ext cx="1110455" cy="334963"/>
            </a:xfrm>
            <a:prstGeom prst="rect">
              <a:avLst/>
            </a:prstGeom>
            <a:solidFill>
              <a:srgbClr val="FFDDDD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C00000"/>
                  </a:solidFill>
                </a:rPr>
                <a:t>IP Header</a:t>
              </a:r>
            </a:p>
            <a:p>
              <a:r>
                <a:rPr lang="en-US" altLang="zh-CN" sz="788" dirty="0">
                  <a:solidFill>
                    <a:srgbClr val="C00000"/>
                  </a:solidFill>
                </a:rPr>
                <a:t>TTL == 1</a:t>
              </a:r>
              <a:endParaRPr lang="zh-CN" altLang="en-US" sz="788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86" name="直接箭头连接符 85"/>
          <p:cNvCxnSpPr/>
          <p:nvPr/>
        </p:nvCxnSpPr>
        <p:spPr>
          <a:xfrm>
            <a:off x="2465766" y="3111810"/>
            <a:ext cx="75608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3255515" y="3013369"/>
            <a:ext cx="966023" cy="575258"/>
            <a:chOff x="2816686" y="3585778"/>
            <a:chExt cx="1110455" cy="767010"/>
          </a:xfrm>
        </p:grpSpPr>
        <p:sp>
          <p:nvSpPr>
            <p:cNvPr id="87" name="矩形 86"/>
            <p:cNvSpPr/>
            <p:nvPr/>
          </p:nvSpPr>
          <p:spPr>
            <a:xfrm>
              <a:off x="2816686" y="3585778"/>
              <a:ext cx="1110455" cy="432048"/>
            </a:xfrm>
            <a:prstGeom prst="rect">
              <a:avLst/>
            </a:prstGeom>
            <a:solidFill>
              <a:srgbClr val="D5EDFF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0066CC"/>
                  </a:solidFill>
                </a:rPr>
                <a:t>UDP Datagram</a:t>
              </a:r>
            </a:p>
            <a:p>
              <a:r>
                <a:rPr lang="en-US" altLang="zh-CN" sz="788" dirty="0" err="1">
                  <a:solidFill>
                    <a:srgbClr val="0066CC"/>
                  </a:solidFill>
                </a:rPr>
                <a:t>Dest.port</a:t>
              </a:r>
              <a:r>
                <a:rPr lang="en-US" altLang="zh-CN" sz="788" dirty="0">
                  <a:solidFill>
                    <a:srgbClr val="0066CC"/>
                  </a:solidFill>
                </a:rPr>
                <a:t> == 80</a:t>
              </a:r>
              <a:endParaRPr lang="zh-CN" altLang="en-US" sz="788" dirty="0">
                <a:solidFill>
                  <a:srgbClr val="0066CC"/>
                </a:solidFill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2816686" y="4017825"/>
              <a:ext cx="1110455" cy="334963"/>
            </a:xfrm>
            <a:prstGeom prst="rect">
              <a:avLst/>
            </a:prstGeom>
            <a:solidFill>
              <a:srgbClr val="FFDDDD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C00000"/>
                  </a:solidFill>
                </a:rPr>
                <a:t>IP Header</a:t>
              </a:r>
            </a:p>
            <a:p>
              <a:r>
                <a:rPr lang="en-US" altLang="zh-CN" sz="788" dirty="0">
                  <a:solidFill>
                    <a:srgbClr val="0066FF"/>
                  </a:solidFill>
                </a:rPr>
                <a:t>TTL == 0</a:t>
              </a:r>
              <a:endParaRPr lang="zh-CN" altLang="en-US" sz="788" dirty="0">
                <a:solidFill>
                  <a:srgbClr val="0066FF"/>
                </a:solidFill>
              </a:endParaRPr>
            </a:p>
          </p:txBody>
        </p:sp>
      </p:grpSp>
      <p:pic>
        <p:nvPicPr>
          <p:cNvPr id="90" name="Picture 2" descr="garbage_ca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934" y="3867894"/>
            <a:ext cx="712558" cy="949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4" name="直接箭头连接符 93"/>
          <p:cNvCxnSpPr/>
          <p:nvPr/>
        </p:nvCxnSpPr>
        <p:spPr>
          <a:xfrm>
            <a:off x="3715330" y="3621261"/>
            <a:ext cx="419033" cy="40865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3255515" y="2016990"/>
            <a:ext cx="888668" cy="679038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r>
              <a:rPr lang="en-US" altLang="zh-CN" sz="788" b="1" dirty="0">
                <a:solidFill>
                  <a:srgbClr val="0066CC"/>
                </a:solidFill>
              </a:rPr>
              <a:t>ICMP Message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Type==11 code==0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Router name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Router IP</a:t>
            </a:r>
            <a:endParaRPr lang="zh-CN" altLang="en-US" sz="788" b="1" dirty="0">
              <a:solidFill>
                <a:srgbClr val="0066CC"/>
              </a:solidFill>
            </a:endParaRP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2465766" y="2496638"/>
            <a:ext cx="756084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23"/>
          <p:cNvSpPr txBox="1"/>
          <p:nvPr/>
        </p:nvSpPr>
        <p:spPr>
          <a:xfrm>
            <a:off x="3276357" y="1707654"/>
            <a:ext cx="849308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过期</a:t>
            </a:r>
          </a:p>
        </p:txBody>
      </p:sp>
      <p:sp>
        <p:nvSpPr>
          <p:cNvPr id="133" name="文本框 23"/>
          <p:cNvSpPr txBox="1"/>
          <p:nvPr/>
        </p:nvSpPr>
        <p:spPr>
          <a:xfrm>
            <a:off x="1525654" y="3780001"/>
            <a:ext cx="1095204" cy="71558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探测到</a:t>
            </a:r>
            <a:r>
              <a: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 1</a:t>
            </a:r>
          </a:p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 1</a:t>
            </a:r>
            <a:endParaRPr lang="zh-CN" altLang="en-US" sz="13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873" y="3662009"/>
            <a:ext cx="2657475" cy="7358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7" name="文本框 23"/>
          <p:cNvSpPr txBox="1"/>
          <p:nvPr/>
        </p:nvSpPr>
        <p:spPr>
          <a:xfrm>
            <a:off x="1525653" y="4415762"/>
            <a:ext cx="1101908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</p:txBody>
      </p:sp>
      <p:sp>
        <p:nvSpPr>
          <p:cNvPr id="55" name="灯片编号占位符 2">
            <a:extLst>
              <a:ext uri="{FF2B5EF4-FFF2-40B4-BE49-F238E27FC236}">
                <a16:creationId xmlns:a16="http://schemas.microsoft.com/office/drawing/2014/main" id="{630FDFF8-B7FB-4606-98DA-CC9F6A920A0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sp>
        <p:nvSpPr>
          <p:cNvPr id="56" name="AutoShape 5">
            <a:extLst>
              <a:ext uri="{FF2B5EF4-FFF2-40B4-BE49-F238E27FC236}">
                <a16:creationId xmlns:a16="http://schemas.microsoft.com/office/drawing/2014/main" id="{3CF82508-D0C9-4484-B78B-507632EB4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101" grpId="0"/>
      <p:bldP spid="133" grpId="0"/>
      <p:bldP spid="137" grpId="0"/>
      <p:bldP spid="56" grpId="0" animBg="1"/>
      <p:bldP spid="56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ICMP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应用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TraceRoute</a:t>
            </a: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706011" y="2413155"/>
            <a:ext cx="5901239" cy="550646"/>
            <a:chOff x="750680" y="2785492"/>
            <a:chExt cx="7868319" cy="734194"/>
          </a:xfrm>
        </p:grpSpPr>
        <p:sp>
          <p:nvSpPr>
            <p:cNvPr id="8" name="Line 38"/>
            <p:cNvSpPr>
              <a:spLocks noChangeShapeType="1"/>
            </p:cNvSpPr>
            <p:nvPr/>
          </p:nvSpPr>
          <p:spPr bwMode="auto">
            <a:xfrm flipV="1">
              <a:off x="1622531" y="3356992"/>
              <a:ext cx="1251306" cy="34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" name="Line 105"/>
            <p:cNvSpPr>
              <a:spLocks noChangeShapeType="1"/>
            </p:cNvSpPr>
            <p:nvPr/>
          </p:nvSpPr>
          <p:spPr bwMode="auto">
            <a:xfrm flipV="1">
              <a:off x="3411912" y="3365614"/>
              <a:ext cx="1288033" cy="16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261"/>
            <p:cNvSpPr>
              <a:spLocks noChangeShapeType="1"/>
            </p:cNvSpPr>
            <p:nvPr/>
          </p:nvSpPr>
          <p:spPr bwMode="auto">
            <a:xfrm flipH="1">
              <a:off x="7347411" y="3098229"/>
              <a:ext cx="557213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2" name="Group 21"/>
            <p:cNvGrpSpPr/>
            <p:nvPr/>
          </p:nvGrpSpPr>
          <p:grpSpPr bwMode="auto">
            <a:xfrm>
              <a:off x="750680" y="2830711"/>
              <a:ext cx="820738" cy="688975"/>
              <a:chOff x="-44" y="1473"/>
              <a:chExt cx="981" cy="1105"/>
            </a:xfrm>
          </p:grpSpPr>
          <p:pic>
            <p:nvPicPr>
              <p:cNvPr id="23" name="Picture 2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Freeform 23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4"/>
            <p:cNvGrpSpPr/>
            <p:nvPr/>
          </p:nvGrpSpPr>
          <p:grpSpPr bwMode="auto">
            <a:xfrm flipH="1">
              <a:off x="7864936" y="2785492"/>
              <a:ext cx="754063" cy="669925"/>
              <a:chOff x="-44" y="1473"/>
              <a:chExt cx="981" cy="1105"/>
            </a:xfrm>
          </p:grpSpPr>
          <p:pic>
            <p:nvPicPr>
              <p:cNvPr id="26" name="Picture 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Freeform 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46" name="Group 45"/>
            <p:cNvGrpSpPr/>
            <p:nvPr/>
          </p:nvGrpSpPr>
          <p:grpSpPr bwMode="auto">
            <a:xfrm>
              <a:off x="4693111" y="3223642"/>
              <a:ext cx="617538" cy="250825"/>
              <a:chOff x="2356" y="1300"/>
              <a:chExt cx="555" cy="194"/>
            </a:xfrm>
          </p:grpSpPr>
          <p:sp>
            <p:nvSpPr>
              <p:cNvPr id="4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0" name="Group 49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3" name="Freeform 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4" name="Freeform 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1" name="Line 52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52" name="Line 53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64" name="Group 63"/>
            <p:cNvGrpSpPr/>
            <p:nvPr/>
          </p:nvGrpSpPr>
          <p:grpSpPr bwMode="auto">
            <a:xfrm>
              <a:off x="2816686" y="3244279"/>
              <a:ext cx="617538" cy="250825"/>
              <a:chOff x="2356" y="1300"/>
              <a:chExt cx="555" cy="194"/>
            </a:xfrm>
          </p:grpSpPr>
          <p:sp>
            <p:nvSpPr>
              <p:cNvPr id="6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1" name="Freeform 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2" name="Freeform 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9" name="Line 7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0" name="Line 7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83" name="Line 261"/>
            <p:cNvSpPr>
              <a:spLocks noChangeShapeType="1"/>
            </p:cNvSpPr>
            <p:nvPr/>
          </p:nvSpPr>
          <p:spPr bwMode="auto">
            <a:xfrm flipH="1">
              <a:off x="5303911" y="3371279"/>
              <a:ext cx="2043499" cy="119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" name="矩形 6"/>
            <p:cNvSpPr/>
            <p:nvPr/>
          </p:nvSpPr>
          <p:spPr>
            <a:xfrm>
              <a:off x="5887680" y="3276139"/>
              <a:ext cx="1152128" cy="21037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6939647" y="3241445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910203" y="3263639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5869977" y="3360444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5840533" y="3382638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/>
        </p:nvGrpSpPr>
        <p:grpSpPr>
          <a:xfrm>
            <a:off x="1554335" y="3013369"/>
            <a:ext cx="1021216" cy="575258"/>
            <a:chOff x="548446" y="3585778"/>
            <a:chExt cx="1110455" cy="767010"/>
          </a:xfrm>
        </p:grpSpPr>
        <p:sp>
          <p:nvSpPr>
            <p:cNvPr id="84" name="矩形 83"/>
            <p:cNvSpPr/>
            <p:nvPr/>
          </p:nvSpPr>
          <p:spPr>
            <a:xfrm>
              <a:off x="548446" y="3585778"/>
              <a:ext cx="1110455" cy="432048"/>
            </a:xfrm>
            <a:prstGeom prst="rect">
              <a:avLst/>
            </a:prstGeom>
            <a:solidFill>
              <a:srgbClr val="D5EDFF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0066CC"/>
                  </a:solidFill>
                </a:rPr>
                <a:t>UDP Datagram</a:t>
              </a:r>
            </a:p>
            <a:p>
              <a:r>
                <a:rPr lang="en-US" altLang="zh-CN" sz="788" dirty="0" err="1">
                  <a:solidFill>
                    <a:srgbClr val="0066CC"/>
                  </a:solidFill>
                </a:rPr>
                <a:t>Dest.port</a:t>
              </a:r>
              <a:r>
                <a:rPr lang="en-US" altLang="zh-CN" sz="788" dirty="0">
                  <a:solidFill>
                    <a:srgbClr val="0066CC"/>
                  </a:solidFill>
                </a:rPr>
                <a:t> == 80</a:t>
              </a:r>
              <a:endParaRPr lang="zh-CN" altLang="en-US" sz="788" dirty="0">
                <a:solidFill>
                  <a:srgbClr val="0066CC"/>
                </a:solidFill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548446" y="4017825"/>
              <a:ext cx="1110455" cy="334963"/>
            </a:xfrm>
            <a:prstGeom prst="rect">
              <a:avLst/>
            </a:prstGeom>
            <a:solidFill>
              <a:srgbClr val="FFDDDD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C00000"/>
                  </a:solidFill>
                </a:rPr>
                <a:t>IP Header</a:t>
              </a:r>
            </a:p>
            <a:p>
              <a:r>
                <a:rPr lang="en-US" altLang="zh-CN" sz="788" dirty="0">
                  <a:solidFill>
                    <a:srgbClr val="C00000"/>
                  </a:solidFill>
                </a:rPr>
                <a:t>TTL == 2</a:t>
              </a:r>
              <a:endParaRPr lang="zh-CN" altLang="en-US" sz="788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86" name="直接箭头连接符 85"/>
          <p:cNvCxnSpPr/>
          <p:nvPr/>
        </p:nvCxnSpPr>
        <p:spPr>
          <a:xfrm>
            <a:off x="2465766" y="3111810"/>
            <a:ext cx="16685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4223392" y="3013369"/>
            <a:ext cx="966023" cy="575258"/>
            <a:chOff x="2816686" y="3585778"/>
            <a:chExt cx="1110455" cy="767010"/>
          </a:xfrm>
        </p:grpSpPr>
        <p:sp>
          <p:nvSpPr>
            <p:cNvPr id="87" name="矩形 86"/>
            <p:cNvSpPr/>
            <p:nvPr/>
          </p:nvSpPr>
          <p:spPr>
            <a:xfrm>
              <a:off x="2816686" y="3585778"/>
              <a:ext cx="1110455" cy="432048"/>
            </a:xfrm>
            <a:prstGeom prst="rect">
              <a:avLst/>
            </a:prstGeom>
            <a:solidFill>
              <a:srgbClr val="D5EDFF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0066CC"/>
                  </a:solidFill>
                </a:rPr>
                <a:t>UDP Datagram</a:t>
              </a:r>
            </a:p>
            <a:p>
              <a:r>
                <a:rPr lang="en-US" altLang="zh-CN" sz="788" dirty="0" err="1">
                  <a:solidFill>
                    <a:srgbClr val="0066CC"/>
                  </a:solidFill>
                </a:rPr>
                <a:t>Dest.port</a:t>
              </a:r>
              <a:r>
                <a:rPr lang="en-US" altLang="zh-CN" sz="788" dirty="0">
                  <a:solidFill>
                    <a:srgbClr val="0066CC"/>
                  </a:solidFill>
                </a:rPr>
                <a:t> == 80</a:t>
              </a:r>
              <a:endParaRPr lang="zh-CN" altLang="en-US" sz="788" dirty="0">
                <a:solidFill>
                  <a:srgbClr val="0066CC"/>
                </a:solidFill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2816686" y="4017825"/>
              <a:ext cx="1110455" cy="334963"/>
            </a:xfrm>
            <a:prstGeom prst="rect">
              <a:avLst/>
            </a:prstGeom>
            <a:solidFill>
              <a:srgbClr val="FFDDDD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C00000"/>
                  </a:solidFill>
                </a:rPr>
                <a:t>IP Header</a:t>
              </a:r>
            </a:p>
            <a:p>
              <a:r>
                <a:rPr lang="en-US" altLang="zh-CN" sz="788" dirty="0">
                  <a:solidFill>
                    <a:srgbClr val="0066FF"/>
                  </a:solidFill>
                </a:rPr>
                <a:t>TTL == 0</a:t>
              </a:r>
              <a:endParaRPr lang="zh-CN" altLang="en-US" sz="788" dirty="0">
                <a:solidFill>
                  <a:srgbClr val="0066FF"/>
                </a:solidFill>
              </a:endParaRPr>
            </a:p>
          </p:txBody>
        </p:sp>
      </p:grpSp>
      <p:pic>
        <p:nvPicPr>
          <p:cNvPr id="90" name="Picture 2" descr="garbage_ca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934" y="3867894"/>
            <a:ext cx="712558" cy="949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4" name="直接箭头连接符 93"/>
          <p:cNvCxnSpPr/>
          <p:nvPr/>
        </p:nvCxnSpPr>
        <p:spPr>
          <a:xfrm flipH="1">
            <a:off x="4134363" y="3636478"/>
            <a:ext cx="538972" cy="39343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4223392" y="2016990"/>
            <a:ext cx="888668" cy="679038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r>
              <a:rPr lang="en-US" altLang="zh-CN" sz="788" b="1" dirty="0">
                <a:solidFill>
                  <a:srgbClr val="0066CC"/>
                </a:solidFill>
              </a:rPr>
              <a:t>ICMP Message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Type==11 code==0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Router name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Router IP</a:t>
            </a:r>
            <a:endParaRPr lang="zh-CN" altLang="en-US" sz="788" b="1" dirty="0">
              <a:solidFill>
                <a:srgbClr val="0066CC"/>
              </a:solidFill>
            </a:endParaRP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2465766" y="2496638"/>
            <a:ext cx="1668597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23"/>
          <p:cNvSpPr txBox="1"/>
          <p:nvPr/>
        </p:nvSpPr>
        <p:spPr>
          <a:xfrm>
            <a:off x="4244234" y="1707654"/>
            <a:ext cx="849308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过期</a:t>
            </a:r>
          </a:p>
        </p:txBody>
      </p:sp>
      <p:sp>
        <p:nvSpPr>
          <p:cNvPr id="133" name="文本框 23"/>
          <p:cNvSpPr txBox="1"/>
          <p:nvPr/>
        </p:nvSpPr>
        <p:spPr>
          <a:xfrm>
            <a:off x="1547812" y="3780001"/>
            <a:ext cx="1073045" cy="71558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探测到</a:t>
            </a:r>
            <a:r>
              <a: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Router 2</a:t>
            </a:r>
          </a:p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 2</a:t>
            </a:r>
            <a:endParaRPr lang="zh-CN" altLang="en-US" sz="13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23"/>
          <p:cNvSpPr txBox="1"/>
          <p:nvPr/>
        </p:nvSpPr>
        <p:spPr>
          <a:xfrm>
            <a:off x="1525653" y="4415762"/>
            <a:ext cx="1101908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210" y="3680411"/>
            <a:ext cx="2656800" cy="8360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5" name="灯片编号占位符 2">
            <a:extLst>
              <a:ext uri="{FF2B5EF4-FFF2-40B4-BE49-F238E27FC236}">
                <a16:creationId xmlns:a16="http://schemas.microsoft.com/office/drawing/2014/main" id="{12CB71DA-5CD1-4BE5-B949-885B80BDA18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56" name="AutoShape 5">
            <a:extLst>
              <a:ext uri="{FF2B5EF4-FFF2-40B4-BE49-F238E27FC236}">
                <a16:creationId xmlns:a16="http://schemas.microsoft.com/office/drawing/2014/main" id="{417046F2-204E-41B1-9866-C8CE4D67C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101" grpId="0"/>
      <p:bldP spid="133" grpId="0"/>
      <p:bldP spid="137" grpId="0"/>
      <p:bldP spid="56" grpId="0" animBg="1"/>
      <p:bldP spid="5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ICMP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应用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TraceRoute</a:t>
            </a: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706011" y="2413155"/>
            <a:ext cx="5901239" cy="550646"/>
            <a:chOff x="750680" y="2785492"/>
            <a:chExt cx="7868319" cy="734194"/>
          </a:xfrm>
        </p:grpSpPr>
        <p:sp>
          <p:nvSpPr>
            <p:cNvPr id="8" name="Line 38"/>
            <p:cNvSpPr>
              <a:spLocks noChangeShapeType="1"/>
            </p:cNvSpPr>
            <p:nvPr/>
          </p:nvSpPr>
          <p:spPr bwMode="auto">
            <a:xfrm flipV="1">
              <a:off x="1622531" y="3356992"/>
              <a:ext cx="1251306" cy="34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" name="Line 105"/>
            <p:cNvSpPr>
              <a:spLocks noChangeShapeType="1"/>
            </p:cNvSpPr>
            <p:nvPr/>
          </p:nvSpPr>
          <p:spPr bwMode="auto">
            <a:xfrm flipV="1">
              <a:off x="3411912" y="3365614"/>
              <a:ext cx="1288033" cy="16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261"/>
            <p:cNvSpPr>
              <a:spLocks noChangeShapeType="1"/>
            </p:cNvSpPr>
            <p:nvPr/>
          </p:nvSpPr>
          <p:spPr bwMode="auto">
            <a:xfrm flipH="1">
              <a:off x="7347411" y="3098229"/>
              <a:ext cx="557213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2" name="Group 21"/>
            <p:cNvGrpSpPr/>
            <p:nvPr/>
          </p:nvGrpSpPr>
          <p:grpSpPr bwMode="auto">
            <a:xfrm>
              <a:off x="750680" y="2830711"/>
              <a:ext cx="820738" cy="688975"/>
              <a:chOff x="-44" y="1473"/>
              <a:chExt cx="981" cy="1105"/>
            </a:xfrm>
          </p:grpSpPr>
          <p:pic>
            <p:nvPicPr>
              <p:cNvPr id="23" name="Picture 2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Freeform 23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4"/>
            <p:cNvGrpSpPr/>
            <p:nvPr/>
          </p:nvGrpSpPr>
          <p:grpSpPr bwMode="auto">
            <a:xfrm flipH="1">
              <a:off x="7864936" y="2785492"/>
              <a:ext cx="754063" cy="669925"/>
              <a:chOff x="-44" y="1473"/>
              <a:chExt cx="981" cy="1105"/>
            </a:xfrm>
          </p:grpSpPr>
          <p:pic>
            <p:nvPicPr>
              <p:cNvPr id="26" name="Picture 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Freeform 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46" name="Group 45"/>
            <p:cNvGrpSpPr/>
            <p:nvPr/>
          </p:nvGrpSpPr>
          <p:grpSpPr bwMode="auto">
            <a:xfrm>
              <a:off x="4693111" y="3223642"/>
              <a:ext cx="617538" cy="250825"/>
              <a:chOff x="2356" y="1300"/>
              <a:chExt cx="555" cy="194"/>
            </a:xfrm>
          </p:grpSpPr>
          <p:sp>
            <p:nvSpPr>
              <p:cNvPr id="4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0" name="Group 49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3" name="Freeform 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4" name="Freeform 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1" name="Line 52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52" name="Line 53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64" name="Group 63"/>
            <p:cNvGrpSpPr/>
            <p:nvPr/>
          </p:nvGrpSpPr>
          <p:grpSpPr bwMode="auto">
            <a:xfrm>
              <a:off x="2816686" y="3244279"/>
              <a:ext cx="617538" cy="250825"/>
              <a:chOff x="2356" y="1300"/>
              <a:chExt cx="555" cy="194"/>
            </a:xfrm>
          </p:grpSpPr>
          <p:sp>
            <p:nvSpPr>
              <p:cNvPr id="6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1" name="Freeform 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2" name="Freeform 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9" name="Line 7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0" name="Line 7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83" name="Line 261"/>
            <p:cNvSpPr>
              <a:spLocks noChangeShapeType="1"/>
            </p:cNvSpPr>
            <p:nvPr/>
          </p:nvSpPr>
          <p:spPr bwMode="auto">
            <a:xfrm flipH="1">
              <a:off x="5303911" y="3371279"/>
              <a:ext cx="2043499" cy="119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" name="矩形 6"/>
            <p:cNvSpPr/>
            <p:nvPr/>
          </p:nvSpPr>
          <p:spPr>
            <a:xfrm>
              <a:off x="5887680" y="3276139"/>
              <a:ext cx="1152128" cy="21037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6939647" y="3241445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910203" y="3263639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5869977" y="3360444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5840533" y="3382638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/>
        </p:nvGrpSpPr>
        <p:grpSpPr>
          <a:xfrm>
            <a:off x="1554335" y="3013369"/>
            <a:ext cx="938479" cy="575258"/>
            <a:chOff x="548446" y="3585778"/>
            <a:chExt cx="1110455" cy="767010"/>
          </a:xfrm>
        </p:grpSpPr>
        <p:sp>
          <p:nvSpPr>
            <p:cNvPr id="84" name="矩形 83"/>
            <p:cNvSpPr/>
            <p:nvPr/>
          </p:nvSpPr>
          <p:spPr>
            <a:xfrm>
              <a:off x="548446" y="3585778"/>
              <a:ext cx="1110455" cy="432048"/>
            </a:xfrm>
            <a:prstGeom prst="rect">
              <a:avLst/>
            </a:prstGeom>
            <a:solidFill>
              <a:srgbClr val="D5EDFF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0066CC"/>
                  </a:solidFill>
                </a:rPr>
                <a:t>UDP Datagram</a:t>
              </a:r>
            </a:p>
            <a:p>
              <a:r>
                <a:rPr lang="en-US" altLang="zh-CN" sz="788" dirty="0" err="1">
                  <a:solidFill>
                    <a:srgbClr val="0066CC"/>
                  </a:solidFill>
                </a:rPr>
                <a:t>Dest.port</a:t>
              </a:r>
              <a:r>
                <a:rPr lang="en-US" altLang="zh-CN" sz="788" dirty="0">
                  <a:solidFill>
                    <a:srgbClr val="0066CC"/>
                  </a:solidFill>
                </a:rPr>
                <a:t> == 80</a:t>
              </a:r>
              <a:endParaRPr lang="zh-CN" altLang="en-US" sz="788" dirty="0">
                <a:solidFill>
                  <a:srgbClr val="0066CC"/>
                </a:solidFill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548446" y="4017825"/>
              <a:ext cx="1110455" cy="334963"/>
            </a:xfrm>
            <a:prstGeom prst="rect">
              <a:avLst/>
            </a:prstGeom>
            <a:solidFill>
              <a:srgbClr val="FFDDDD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C00000"/>
                  </a:solidFill>
                </a:rPr>
                <a:t>IP Header</a:t>
              </a:r>
            </a:p>
            <a:p>
              <a:r>
                <a:rPr lang="en-US" altLang="zh-CN" sz="788" dirty="0">
                  <a:solidFill>
                    <a:srgbClr val="C00000"/>
                  </a:solidFill>
                </a:rPr>
                <a:t>TTL == X</a:t>
              </a:r>
              <a:endParaRPr lang="zh-CN" altLang="en-US" sz="788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86" name="直接箭头连接符 85"/>
          <p:cNvCxnSpPr/>
          <p:nvPr/>
        </p:nvCxnSpPr>
        <p:spPr>
          <a:xfrm>
            <a:off x="2465766" y="3111810"/>
            <a:ext cx="41357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6601477" y="3013369"/>
            <a:ext cx="988188" cy="575258"/>
            <a:chOff x="2816686" y="3585778"/>
            <a:chExt cx="1110455" cy="767010"/>
          </a:xfrm>
        </p:grpSpPr>
        <p:sp>
          <p:nvSpPr>
            <p:cNvPr id="87" name="矩形 86"/>
            <p:cNvSpPr/>
            <p:nvPr/>
          </p:nvSpPr>
          <p:spPr>
            <a:xfrm>
              <a:off x="2816686" y="3585778"/>
              <a:ext cx="1110455" cy="432048"/>
            </a:xfrm>
            <a:prstGeom prst="rect">
              <a:avLst/>
            </a:prstGeom>
            <a:solidFill>
              <a:srgbClr val="D5EDFF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0066CC"/>
                  </a:solidFill>
                </a:rPr>
                <a:t>UDP Datagram</a:t>
              </a:r>
            </a:p>
            <a:p>
              <a:r>
                <a:rPr lang="en-US" altLang="zh-CN" sz="788" dirty="0" err="1">
                  <a:solidFill>
                    <a:srgbClr val="FF00FF"/>
                  </a:solidFill>
                </a:rPr>
                <a:t>Dest.port</a:t>
              </a:r>
              <a:r>
                <a:rPr lang="en-US" altLang="zh-CN" sz="788" dirty="0">
                  <a:solidFill>
                    <a:srgbClr val="FF00FF"/>
                  </a:solidFill>
                </a:rPr>
                <a:t> == 80</a:t>
              </a:r>
              <a:endParaRPr lang="zh-CN" altLang="en-US" sz="788" dirty="0">
                <a:solidFill>
                  <a:srgbClr val="FF00FF"/>
                </a:solidFill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2816686" y="4017825"/>
              <a:ext cx="1110455" cy="334963"/>
            </a:xfrm>
            <a:prstGeom prst="rect">
              <a:avLst/>
            </a:prstGeom>
            <a:solidFill>
              <a:srgbClr val="FFDDDD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dirty="0">
                  <a:solidFill>
                    <a:srgbClr val="C00000"/>
                  </a:solidFill>
                </a:rPr>
                <a:t>IP Header</a:t>
              </a:r>
            </a:p>
            <a:p>
              <a:r>
                <a:rPr lang="en-US" altLang="zh-CN" sz="788" dirty="0">
                  <a:solidFill>
                    <a:srgbClr val="FF0000"/>
                  </a:solidFill>
                </a:rPr>
                <a:t>TTL == 1</a:t>
              </a:r>
              <a:endParaRPr lang="zh-CN" altLang="en-US" sz="788" dirty="0">
                <a:solidFill>
                  <a:srgbClr val="FF0000"/>
                </a:solidFill>
              </a:endParaRPr>
            </a:p>
          </p:txBody>
        </p:sp>
      </p:grpSp>
      <p:sp>
        <p:nvSpPr>
          <p:cNvPr id="96" name="矩形 95"/>
          <p:cNvSpPr/>
          <p:nvPr/>
        </p:nvSpPr>
        <p:spPr>
          <a:xfrm>
            <a:off x="6189856" y="2016990"/>
            <a:ext cx="888668" cy="679038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r>
              <a:rPr lang="en-US" altLang="zh-CN" sz="788" b="1" dirty="0">
                <a:solidFill>
                  <a:srgbClr val="0066CC"/>
                </a:solidFill>
              </a:rPr>
              <a:t>ICMP Message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Type==3 code==3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Router name</a:t>
            </a:r>
          </a:p>
          <a:p>
            <a:r>
              <a:rPr lang="en-US" altLang="zh-CN" sz="788" b="1" dirty="0">
                <a:solidFill>
                  <a:srgbClr val="0066CC"/>
                </a:solidFill>
              </a:rPr>
              <a:t>Router IP</a:t>
            </a:r>
            <a:endParaRPr lang="zh-CN" altLang="en-US" sz="788" b="1" dirty="0">
              <a:solidFill>
                <a:srgbClr val="0066CC"/>
              </a:solidFill>
            </a:endParaRP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2465766" y="2496638"/>
            <a:ext cx="3402378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23"/>
          <p:cNvSpPr txBox="1"/>
          <p:nvPr/>
        </p:nvSpPr>
        <p:spPr>
          <a:xfrm>
            <a:off x="5674368" y="1707654"/>
            <a:ext cx="1921968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目标端口不可达</a:t>
            </a:r>
          </a:p>
        </p:txBody>
      </p:sp>
      <p:sp>
        <p:nvSpPr>
          <p:cNvPr id="133" name="文本框 23"/>
          <p:cNvSpPr txBox="1"/>
          <p:nvPr/>
        </p:nvSpPr>
        <p:spPr>
          <a:xfrm>
            <a:off x="1547812" y="3780000"/>
            <a:ext cx="1073045" cy="71558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探测到</a:t>
            </a:r>
            <a:endParaRPr lang="en-US" altLang="zh-CN" sz="13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目标主机</a:t>
            </a:r>
            <a:endParaRPr lang="en-US" altLang="zh-CN" sz="13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endParaRPr lang="zh-CN" altLang="en-US" sz="13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23"/>
          <p:cNvSpPr txBox="1"/>
          <p:nvPr/>
        </p:nvSpPr>
        <p:spPr>
          <a:xfrm>
            <a:off x="1525653" y="4415762"/>
            <a:ext cx="1101908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339" y="3829560"/>
            <a:ext cx="4207669" cy="6429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5" name="灯片编号占位符 2">
            <a:extLst>
              <a:ext uri="{FF2B5EF4-FFF2-40B4-BE49-F238E27FC236}">
                <a16:creationId xmlns:a16="http://schemas.microsoft.com/office/drawing/2014/main" id="{292CE797-817C-4258-A00D-70A75DE9CFA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56" name="AutoShape 5">
            <a:extLst>
              <a:ext uri="{FF2B5EF4-FFF2-40B4-BE49-F238E27FC236}">
                <a16:creationId xmlns:a16="http://schemas.microsoft.com/office/drawing/2014/main" id="{B9A18950-D4D6-430E-8E75-12B2F1785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101" grpId="0"/>
      <p:bldP spid="133" grpId="0"/>
      <p:bldP spid="137" grpId="0"/>
      <p:bldP spid="56" grpId="0" animBg="1"/>
      <p:bldP spid="56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ICMP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应用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Tracert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（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Windows/</a:t>
            </a:r>
            <a:r>
              <a:rPr lang="en-US" altLang="zh-CN" dirty="0" err="1">
                <a:solidFill>
                  <a:srgbClr val="FF0000"/>
                </a:solidFill>
                <a:effectLst/>
              </a:rPr>
              <a:t>MS_Dos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）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706011" y="2413155"/>
            <a:ext cx="5901239" cy="550646"/>
            <a:chOff x="750680" y="2785492"/>
            <a:chExt cx="7868319" cy="734194"/>
          </a:xfrm>
        </p:grpSpPr>
        <p:sp>
          <p:nvSpPr>
            <p:cNvPr id="8" name="Line 38"/>
            <p:cNvSpPr>
              <a:spLocks noChangeShapeType="1"/>
            </p:cNvSpPr>
            <p:nvPr/>
          </p:nvSpPr>
          <p:spPr bwMode="auto">
            <a:xfrm flipV="1">
              <a:off x="1622531" y="3356992"/>
              <a:ext cx="1251306" cy="34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" name="Line 105"/>
            <p:cNvSpPr>
              <a:spLocks noChangeShapeType="1"/>
            </p:cNvSpPr>
            <p:nvPr/>
          </p:nvSpPr>
          <p:spPr bwMode="auto">
            <a:xfrm flipV="1">
              <a:off x="3411912" y="3365614"/>
              <a:ext cx="1288033" cy="16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261"/>
            <p:cNvSpPr>
              <a:spLocks noChangeShapeType="1"/>
            </p:cNvSpPr>
            <p:nvPr/>
          </p:nvSpPr>
          <p:spPr bwMode="auto">
            <a:xfrm flipH="1">
              <a:off x="7347411" y="3098229"/>
              <a:ext cx="557213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2" name="Group 21"/>
            <p:cNvGrpSpPr/>
            <p:nvPr/>
          </p:nvGrpSpPr>
          <p:grpSpPr bwMode="auto">
            <a:xfrm>
              <a:off x="750680" y="2830711"/>
              <a:ext cx="820738" cy="688975"/>
              <a:chOff x="-44" y="1473"/>
              <a:chExt cx="981" cy="1105"/>
            </a:xfrm>
          </p:grpSpPr>
          <p:pic>
            <p:nvPicPr>
              <p:cNvPr id="23" name="Picture 2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Freeform 23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4"/>
            <p:cNvGrpSpPr/>
            <p:nvPr/>
          </p:nvGrpSpPr>
          <p:grpSpPr bwMode="auto">
            <a:xfrm flipH="1">
              <a:off x="7864936" y="2785492"/>
              <a:ext cx="754063" cy="669925"/>
              <a:chOff x="-44" y="1473"/>
              <a:chExt cx="981" cy="1105"/>
            </a:xfrm>
          </p:grpSpPr>
          <p:pic>
            <p:nvPicPr>
              <p:cNvPr id="26" name="Picture 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Freeform 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46" name="Group 45"/>
            <p:cNvGrpSpPr/>
            <p:nvPr/>
          </p:nvGrpSpPr>
          <p:grpSpPr bwMode="auto">
            <a:xfrm>
              <a:off x="4693111" y="3223642"/>
              <a:ext cx="617538" cy="250825"/>
              <a:chOff x="2356" y="1300"/>
              <a:chExt cx="555" cy="194"/>
            </a:xfrm>
          </p:grpSpPr>
          <p:sp>
            <p:nvSpPr>
              <p:cNvPr id="4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0" name="Group 49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3" name="Freeform 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4" name="Freeform 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1" name="Line 52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52" name="Line 53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64" name="Group 63"/>
            <p:cNvGrpSpPr/>
            <p:nvPr/>
          </p:nvGrpSpPr>
          <p:grpSpPr bwMode="auto">
            <a:xfrm>
              <a:off x="2816686" y="3244279"/>
              <a:ext cx="617538" cy="250825"/>
              <a:chOff x="2356" y="1300"/>
              <a:chExt cx="555" cy="194"/>
            </a:xfrm>
          </p:grpSpPr>
          <p:sp>
            <p:nvSpPr>
              <p:cNvPr id="6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1" name="Freeform 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2" name="Freeform 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9" name="Line 7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0" name="Line 7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83" name="Line 261"/>
            <p:cNvSpPr>
              <a:spLocks noChangeShapeType="1"/>
            </p:cNvSpPr>
            <p:nvPr/>
          </p:nvSpPr>
          <p:spPr bwMode="auto">
            <a:xfrm flipH="1">
              <a:off x="5303911" y="3371279"/>
              <a:ext cx="2043499" cy="119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" name="矩形 6"/>
            <p:cNvSpPr/>
            <p:nvPr/>
          </p:nvSpPr>
          <p:spPr>
            <a:xfrm>
              <a:off x="5887680" y="3276139"/>
              <a:ext cx="1152128" cy="21037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6939647" y="3241445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910203" y="3263639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5869977" y="3360444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5840533" y="3382638"/>
              <a:ext cx="149001" cy="13704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/>
        </p:nvGrpSpPr>
        <p:grpSpPr>
          <a:xfrm>
            <a:off x="1554335" y="3013369"/>
            <a:ext cx="938479" cy="575258"/>
            <a:chOff x="548446" y="3585778"/>
            <a:chExt cx="1110455" cy="767010"/>
          </a:xfrm>
        </p:grpSpPr>
        <p:sp>
          <p:nvSpPr>
            <p:cNvPr id="84" name="矩形 83"/>
            <p:cNvSpPr/>
            <p:nvPr/>
          </p:nvSpPr>
          <p:spPr>
            <a:xfrm>
              <a:off x="548446" y="3585778"/>
              <a:ext cx="1110455" cy="432048"/>
            </a:xfrm>
            <a:prstGeom prst="rect">
              <a:avLst/>
            </a:prstGeom>
            <a:solidFill>
              <a:srgbClr val="D5EDFF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b="1" dirty="0">
                  <a:solidFill>
                    <a:srgbClr val="0066CC"/>
                  </a:solidFill>
                </a:rPr>
                <a:t>ICMP type=8 code=0</a:t>
              </a:r>
              <a:endParaRPr lang="zh-CN" altLang="en-US" sz="788" b="1" dirty="0">
                <a:solidFill>
                  <a:srgbClr val="0066CC"/>
                </a:solidFill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548446" y="4017825"/>
              <a:ext cx="1110455" cy="334963"/>
            </a:xfrm>
            <a:prstGeom prst="rect">
              <a:avLst/>
            </a:prstGeom>
            <a:solidFill>
              <a:srgbClr val="FFDDDD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b="1" dirty="0">
                  <a:solidFill>
                    <a:srgbClr val="C00000"/>
                  </a:solidFill>
                </a:rPr>
                <a:t>IP Header</a:t>
              </a:r>
            </a:p>
            <a:p>
              <a:r>
                <a:rPr lang="en-US" altLang="zh-CN" sz="788" b="1" dirty="0">
                  <a:solidFill>
                    <a:srgbClr val="C00000"/>
                  </a:solidFill>
                </a:rPr>
                <a:t>TTL++</a:t>
              </a:r>
              <a:endParaRPr lang="zh-CN" altLang="en-US" sz="788" b="1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86" name="直接箭头连接符 85"/>
          <p:cNvCxnSpPr>
            <a:cxnSpLocks/>
          </p:cNvCxnSpPr>
          <p:nvPr/>
        </p:nvCxnSpPr>
        <p:spPr>
          <a:xfrm>
            <a:off x="2555776" y="3111810"/>
            <a:ext cx="88321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6601477" y="3485911"/>
            <a:ext cx="988188" cy="575258"/>
            <a:chOff x="2816686" y="3585778"/>
            <a:chExt cx="1110455" cy="767010"/>
          </a:xfrm>
        </p:grpSpPr>
        <p:sp>
          <p:nvSpPr>
            <p:cNvPr id="87" name="矩形 86"/>
            <p:cNvSpPr/>
            <p:nvPr/>
          </p:nvSpPr>
          <p:spPr>
            <a:xfrm>
              <a:off x="2816686" y="3585778"/>
              <a:ext cx="1110455" cy="432048"/>
            </a:xfrm>
            <a:prstGeom prst="rect">
              <a:avLst/>
            </a:prstGeom>
            <a:solidFill>
              <a:srgbClr val="D5EDFF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b="1" dirty="0">
                  <a:solidFill>
                    <a:srgbClr val="0066CC"/>
                  </a:solidFill>
                </a:rPr>
                <a:t>ICMP Type=0 code=0</a:t>
              </a:r>
              <a:endParaRPr lang="zh-CN" altLang="en-US" sz="788" b="1" dirty="0">
                <a:solidFill>
                  <a:srgbClr val="FF00FF"/>
                </a:solidFill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2816686" y="4017825"/>
              <a:ext cx="1110455" cy="334963"/>
            </a:xfrm>
            <a:prstGeom prst="rect">
              <a:avLst/>
            </a:prstGeom>
            <a:solidFill>
              <a:srgbClr val="FFDDDD"/>
            </a:solidFill>
            <a:ln w="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788" b="1" dirty="0">
                  <a:solidFill>
                    <a:srgbClr val="C00000"/>
                  </a:solidFill>
                </a:rPr>
                <a:t>IP Header</a:t>
              </a:r>
            </a:p>
            <a:p>
              <a:r>
                <a:rPr lang="en-US" altLang="zh-CN" sz="788" b="1" dirty="0">
                  <a:solidFill>
                    <a:srgbClr val="FF0000"/>
                  </a:solidFill>
                </a:rPr>
                <a:t>TTL == 1</a:t>
              </a:r>
              <a:endParaRPr lang="zh-CN" altLang="en-US" sz="788" b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97" name="直接箭头连接符 96"/>
          <p:cNvCxnSpPr>
            <a:cxnSpLocks/>
          </p:cNvCxnSpPr>
          <p:nvPr/>
        </p:nvCxnSpPr>
        <p:spPr>
          <a:xfrm>
            <a:off x="2555776" y="3463016"/>
            <a:ext cx="2376264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23"/>
          <p:cNvSpPr txBox="1"/>
          <p:nvPr/>
        </p:nvSpPr>
        <p:spPr>
          <a:xfrm>
            <a:off x="1547812" y="3780000"/>
            <a:ext cx="1073045" cy="71558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探测到</a:t>
            </a:r>
            <a:endParaRPr lang="en-US" altLang="zh-CN" sz="13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目标主机</a:t>
            </a:r>
            <a:endParaRPr lang="en-US" altLang="zh-CN" sz="13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endParaRPr lang="zh-CN" altLang="en-US" sz="13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23"/>
          <p:cNvSpPr txBox="1"/>
          <p:nvPr/>
        </p:nvSpPr>
        <p:spPr>
          <a:xfrm>
            <a:off x="1525653" y="4415762"/>
            <a:ext cx="1101908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探测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</p:txBody>
      </p:sp>
      <p:sp>
        <p:nvSpPr>
          <p:cNvPr id="55" name="灯片编号占位符 2">
            <a:extLst>
              <a:ext uri="{FF2B5EF4-FFF2-40B4-BE49-F238E27FC236}">
                <a16:creationId xmlns:a16="http://schemas.microsoft.com/office/drawing/2014/main" id="{292CE797-817C-4258-A00D-70A75DE9CFA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56" name="AutoShape 5">
            <a:extLst>
              <a:ext uri="{FF2B5EF4-FFF2-40B4-BE49-F238E27FC236}">
                <a16:creationId xmlns:a16="http://schemas.microsoft.com/office/drawing/2014/main" id="{B9A18950-D4D6-430E-8E75-12B2F1785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BD995AE-2694-4D92-9195-E836CA4ABDEC}"/>
              </a:ext>
            </a:extLst>
          </p:cNvPr>
          <p:cNvCxnSpPr>
            <a:cxnSpLocks/>
          </p:cNvCxnSpPr>
          <p:nvPr/>
        </p:nvCxnSpPr>
        <p:spPr>
          <a:xfrm>
            <a:off x="2555776" y="3372970"/>
            <a:ext cx="239426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06C2E5B0-2C54-4EC6-93EC-11DF9057434D}"/>
              </a:ext>
            </a:extLst>
          </p:cNvPr>
          <p:cNvCxnSpPr>
            <a:cxnSpLocks/>
          </p:cNvCxnSpPr>
          <p:nvPr/>
        </p:nvCxnSpPr>
        <p:spPr>
          <a:xfrm>
            <a:off x="2555776" y="3647929"/>
            <a:ext cx="40457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EFE9B94-A371-4DFA-8A2F-A875430E66C6}"/>
              </a:ext>
            </a:extLst>
          </p:cNvPr>
          <p:cNvCxnSpPr>
            <a:cxnSpLocks/>
          </p:cNvCxnSpPr>
          <p:nvPr/>
        </p:nvCxnSpPr>
        <p:spPr>
          <a:xfrm>
            <a:off x="2555776" y="3219822"/>
            <a:ext cx="883214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346A9D2-C71A-4B85-B172-DC570557DEBE}"/>
              </a:ext>
            </a:extLst>
          </p:cNvPr>
          <p:cNvCxnSpPr>
            <a:cxnSpLocks/>
          </p:cNvCxnSpPr>
          <p:nvPr/>
        </p:nvCxnSpPr>
        <p:spPr>
          <a:xfrm>
            <a:off x="2555776" y="3800281"/>
            <a:ext cx="3960440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643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7" grpId="0"/>
      <p:bldP spid="56" grpId="0" animBg="1"/>
      <p:bldP spid="56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ICMP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应用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Tracert</a:t>
            </a: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6D470F-37D5-48BA-8347-394A261A5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923678"/>
            <a:ext cx="4381807" cy="27768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12B7CC-E67E-4509-AA0C-2F57FD160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133" y="1491630"/>
            <a:ext cx="5606089" cy="3435846"/>
          </a:xfrm>
          <a:prstGeom prst="rect">
            <a:avLst/>
          </a:prstGeom>
        </p:spPr>
      </p:pic>
      <p:sp>
        <p:nvSpPr>
          <p:cNvPr id="55" name="灯片编号占位符 2">
            <a:extLst>
              <a:ext uri="{FF2B5EF4-FFF2-40B4-BE49-F238E27FC236}">
                <a16:creationId xmlns:a16="http://schemas.microsoft.com/office/drawing/2014/main" id="{7ED0A14E-E361-49FE-8302-62D29CA83F8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56" name="AutoShape 5">
            <a:extLst>
              <a:ext uri="{FF2B5EF4-FFF2-40B4-BE49-F238E27FC236}">
                <a16:creationId xmlns:a16="http://schemas.microsoft.com/office/drawing/2014/main" id="{F1849864-1766-4FF0-9ECF-4F946589C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290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4.3.5 ICMP: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因特网控制报文协议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ICMP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应用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Tracert</a:t>
            </a: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6D470F-37D5-48BA-8347-394A261A5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923678"/>
            <a:ext cx="4381807" cy="27768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047A11F-AD3B-4E09-8DF2-D67D9D8A1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1491630"/>
            <a:ext cx="5616625" cy="3442303"/>
          </a:xfrm>
          <a:prstGeom prst="rect">
            <a:avLst/>
          </a:prstGeom>
        </p:spPr>
      </p:pic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F40948F7-501B-47F5-8E7D-29717AB00AE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F489D0BD-8347-4F5F-A563-94015DCE5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281F3E-01A1-4D9A-BD10-FF24684E5D23}"/>
              </a:ext>
            </a:extLst>
          </p:cNvPr>
          <p:cNvSpPr/>
          <p:nvPr/>
        </p:nvSpPr>
        <p:spPr>
          <a:xfrm>
            <a:off x="3515760" y="3363838"/>
            <a:ext cx="1944216" cy="21602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4874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 </a:t>
            </a:r>
          </a:p>
        </p:txBody>
      </p:sp>
      <p:sp>
        <p:nvSpPr>
          <p:cNvPr id="38" name="Rectangle 15"/>
          <p:cNvSpPr txBox="1">
            <a:spLocks noChangeArrowheads="1"/>
          </p:cNvSpPr>
          <p:nvPr/>
        </p:nvSpPr>
        <p:spPr bwMode="auto">
          <a:xfrm>
            <a:off x="3240000" y="1440000"/>
            <a:ext cx="3774894" cy="2520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4.3.1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数据报格式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4.3.2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数据报分片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4.3.3 IPv4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网络编址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网络地址转换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4.3.5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控制报文协议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4.3.6 IPV6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简要介绍</a:t>
            </a:r>
            <a:endParaRPr lang="en-US" altLang="zh-CN" sz="20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BD139F-F077-4829-A8A8-60336E8DC6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25935"/>
            <a:ext cx="1668571" cy="1491630"/>
          </a:xfrm>
          <a:prstGeom prst="rect">
            <a:avLst/>
          </a:prstGeom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CE94D031-D1FD-4D64-B5AF-24FC9892281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251E08A4-A7EF-4545-B830-5955A8316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75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sz="1500" dirty="0">
                <a:solidFill>
                  <a:srgbClr val="0066CC"/>
                </a:solidFill>
              </a:rPr>
              <a:t>IPv6 </a:t>
            </a:r>
            <a:r>
              <a:rPr lang="zh-CN" altLang="en-US" sz="1500" dirty="0">
                <a:solidFill>
                  <a:srgbClr val="0066CC"/>
                </a:solidFill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动机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初始动机：</a:t>
            </a:r>
            <a:r>
              <a:rPr lang="en-US" altLang="zh-CN" dirty="0">
                <a:solidFill>
                  <a:srgbClr val="0066CC"/>
                </a:solidFill>
              </a:rPr>
              <a:t>32-bits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en-US" altLang="zh-CN" dirty="0">
                <a:solidFill>
                  <a:srgbClr val="0066CC"/>
                </a:solidFill>
              </a:rPr>
              <a:t>IPv4</a:t>
            </a:r>
            <a:r>
              <a:rPr lang="zh-CN" altLang="en-US" dirty="0">
                <a:solidFill>
                  <a:srgbClr val="0066CC"/>
                </a:solidFill>
              </a:rPr>
              <a:t>地址空间很快就会耗尽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其他动机：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首部字段：提高处理和转发速度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提高服务质量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IPv6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数据报格式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首部：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40 bytes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的固定长度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分片：在该版本中不允许分片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effectLst/>
              </a:rPr>
              <a:t>RFC 2460</a:t>
            </a: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F704A50-C13D-4152-9FA0-46B87319332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46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390E5FD-C009-41BE-82CD-67FE41E0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3"/>
            <a:ext cx="5616624" cy="410445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IPv6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数据报格式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版本：</a:t>
            </a:r>
            <a:r>
              <a:rPr lang="en-US" altLang="zh-CN" dirty="0">
                <a:solidFill>
                  <a:srgbClr val="0066CC"/>
                </a:solidFill>
              </a:rPr>
              <a:t>6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流量类型：同</a:t>
            </a:r>
            <a:r>
              <a:rPr lang="en-US" altLang="zh-CN" dirty="0">
                <a:solidFill>
                  <a:srgbClr val="0066CC"/>
                </a:solidFill>
              </a:rPr>
              <a:t>IPv4</a:t>
            </a:r>
            <a:r>
              <a:rPr lang="zh-CN" altLang="en-US" dirty="0">
                <a:solidFill>
                  <a:srgbClr val="0066CC"/>
                </a:solidFill>
              </a:rPr>
              <a:t>的服务类型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流标签：标识一条数据报的流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有效载荷长度：数据的长度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下一个首部：相当于</a:t>
            </a:r>
            <a:r>
              <a:rPr lang="en-US" altLang="zh-CN" dirty="0">
                <a:solidFill>
                  <a:srgbClr val="0066CC"/>
                </a:solidFill>
              </a:rPr>
              <a:t>IPv4</a:t>
            </a:r>
            <a:r>
              <a:rPr lang="zh-CN" altLang="en-US" dirty="0">
                <a:solidFill>
                  <a:srgbClr val="0066CC"/>
                </a:solidFill>
              </a:rPr>
              <a:t>的上层协议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跳限制：相当于</a:t>
            </a:r>
            <a:r>
              <a:rPr lang="en-US" altLang="zh-CN" dirty="0">
                <a:solidFill>
                  <a:srgbClr val="0066CC"/>
                </a:solidFill>
              </a:rPr>
              <a:t>IPv4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en-US" altLang="zh-CN" dirty="0">
                <a:solidFill>
                  <a:srgbClr val="0066CC"/>
                </a:solidFill>
              </a:rPr>
              <a:t>TTL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源地址和目的地址：各</a:t>
            </a:r>
            <a:r>
              <a:rPr lang="en-US" altLang="zh-CN" dirty="0">
                <a:solidFill>
                  <a:srgbClr val="0066CC"/>
                </a:solidFill>
              </a:rPr>
              <a:t>128</a:t>
            </a:r>
            <a:r>
              <a:rPr lang="zh-CN" altLang="en-US" dirty="0">
                <a:solidFill>
                  <a:srgbClr val="0066CC"/>
                </a:solidFill>
              </a:rPr>
              <a:t>位</a:t>
            </a:r>
            <a:r>
              <a:rPr lang="en-US" altLang="zh-CN" dirty="0">
                <a:solidFill>
                  <a:srgbClr val="0066CC"/>
                </a:solidFill>
              </a:rPr>
              <a:t>(RFC 4291)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数据：</a:t>
            </a:r>
            <a:r>
              <a:rPr lang="en-US" altLang="zh-CN" dirty="0">
                <a:solidFill>
                  <a:srgbClr val="0066CC"/>
                </a:solidFill>
              </a:rPr>
              <a:t>IPv6</a:t>
            </a:r>
            <a:r>
              <a:rPr lang="zh-CN" altLang="en-US" dirty="0">
                <a:solidFill>
                  <a:srgbClr val="0066CC"/>
                </a:solidFill>
              </a:rPr>
              <a:t>数据报的有效载荷部分</a:t>
            </a:r>
            <a:endParaRPr lang="en-US" altLang="zh-CN" dirty="0">
              <a:solidFill>
                <a:srgbClr val="0066CC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其他方面：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取消分片</a:t>
            </a:r>
            <a:r>
              <a:rPr lang="en-US" altLang="zh-CN" dirty="0">
                <a:solidFill>
                  <a:srgbClr val="0066CC"/>
                </a:solidFill>
              </a:rPr>
              <a:t>/</a:t>
            </a:r>
            <a:r>
              <a:rPr lang="zh-CN" altLang="en-US" dirty="0">
                <a:solidFill>
                  <a:srgbClr val="0066CC"/>
                </a:solidFill>
              </a:rPr>
              <a:t>重装：在发送端分片，网络不进行分片和组装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取消首部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Checksum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：中间路由器不再进行检验，提高效率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取消选项字段：通过“下一个首部”来扩展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lnSpc>
                <a:spcPct val="110000"/>
              </a:lnSpc>
            </a:pPr>
            <a:endParaRPr lang="en-US" altLang="zh-CN" sz="1500" dirty="0">
              <a:solidFill>
                <a:srgbClr val="FF0000"/>
              </a:solidFill>
            </a:endParaRPr>
          </a:p>
          <a:p>
            <a:pPr lvl="3">
              <a:lnSpc>
                <a:spcPct val="110000"/>
              </a:lnSpc>
            </a:pPr>
            <a:endParaRPr lang="en-US" altLang="zh-CN" sz="1650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endParaRPr lang="en-US" altLang="zh-CN" sz="1800" dirty="0">
              <a:solidFill>
                <a:srgbClr val="0066CC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5508104" y="1131590"/>
            <a:ext cx="3264695" cy="2361341"/>
            <a:chOff x="2119313" y="3263900"/>
            <a:chExt cx="4845050" cy="3162830"/>
          </a:xfrm>
        </p:grpSpPr>
        <p:sp>
          <p:nvSpPr>
            <p:cNvPr id="52" name="Rectangle 80"/>
            <p:cNvSpPr>
              <a:spLocks noChangeArrowheads="1"/>
            </p:cNvSpPr>
            <p:nvPr/>
          </p:nvSpPr>
          <p:spPr bwMode="auto">
            <a:xfrm>
              <a:off x="2216150" y="3263900"/>
              <a:ext cx="4748213" cy="2817813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3" name="Rectangle 56"/>
            <p:cNvSpPr>
              <a:spLocks noChangeArrowheads="1"/>
            </p:cNvSpPr>
            <p:nvPr/>
          </p:nvSpPr>
          <p:spPr bwMode="auto">
            <a:xfrm>
              <a:off x="2141538" y="3344863"/>
              <a:ext cx="4748212" cy="28178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4" name="Line 60"/>
            <p:cNvSpPr>
              <a:spLocks noChangeShapeType="1"/>
            </p:cNvSpPr>
            <p:nvPr/>
          </p:nvSpPr>
          <p:spPr bwMode="auto">
            <a:xfrm>
              <a:off x="2143125" y="3654425"/>
              <a:ext cx="47275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5" name="Line 61"/>
            <p:cNvSpPr>
              <a:spLocks noChangeShapeType="1"/>
            </p:cNvSpPr>
            <p:nvPr/>
          </p:nvSpPr>
          <p:spPr bwMode="auto">
            <a:xfrm>
              <a:off x="2794000" y="3354388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6" name="Line 63"/>
            <p:cNvSpPr>
              <a:spLocks noChangeShapeType="1"/>
            </p:cNvSpPr>
            <p:nvPr/>
          </p:nvSpPr>
          <p:spPr bwMode="auto">
            <a:xfrm>
              <a:off x="3482975" y="3351213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7" name="Line 64"/>
            <p:cNvSpPr>
              <a:spLocks noChangeShapeType="1"/>
            </p:cNvSpPr>
            <p:nvPr/>
          </p:nvSpPr>
          <p:spPr bwMode="auto">
            <a:xfrm>
              <a:off x="4410075" y="3649663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8" name="Line 65"/>
            <p:cNvSpPr>
              <a:spLocks noChangeShapeType="1"/>
            </p:cNvSpPr>
            <p:nvPr/>
          </p:nvSpPr>
          <p:spPr bwMode="auto">
            <a:xfrm>
              <a:off x="5556250" y="3652838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9" name="Line 66"/>
            <p:cNvSpPr>
              <a:spLocks noChangeShapeType="1"/>
            </p:cNvSpPr>
            <p:nvPr/>
          </p:nvSpPr>
          <p:spPr bwMode="auto">
            <a:xfrm>
              <a:off x="2130425" y="5175250"/>
              <a:ext cx="4760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0" name="Line 67"/>
            <p:cNvSpPr>
              <a:spLocks noChangeShapeType="1"/>
            </p:cNvSpPr>
            <p:nvPr/>
          </p:nvSpPr>
          <p:spPr bwMode="auto">
            <a:xfrm>
              <a:off x="2147888" y="4535488"/>
              <a:ext cx="4760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1" name="Line 68"/>
            <p:cNvSpPr>
              <a:spLocks noChangeShapeType="1"/>
            </p:cNvSpPr>
            <p:nvPr/>
          </p:nvSpPr>
          <p:spPr bwMode="auto">
            <a:xfrm>
              <a:off x="2133600" y="3952875"/>
              <a:ext cx="4760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2" name="Text Box 69"/>
            <p:cNvSpPr txBox="1">
              <a:spLocks noChangeArrowheads="1"/>
            </p:cNvSpPr>
            <p:nvPr/>
          </p:nvSpPr>
          <p:spPr bwMode="auto">
            <a:xfrm>
              <a:off x="3849193" y="5549285"/>
              <a:ext cx="1315439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载荷数据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3" name="Text Box 70"/>
            <p:cNvSpPr txBox="1">
              <a:spLocks noChangeArrowheads="1"/>
            </p:cNvSpPr>
            <p:nvPr/>
          </p:nvSpPr>
          <p:spPr bwMode="auto">
            <a:xfrm>
              <a:off x="3781828" y="4793575"/>
              <a:ext cx="1689072" cy="183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目的地址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(128 bits)</a:t>
              </a:r>
            </a:p>
          </p:txBody>
        </p:sp>
        <p:sp>
          <p:nvSpPr>
            <p:cNvPr id="64" name="Text Box 71"/>
            <p:cNvSpPr txBox="1">
              <a:spLocks noChangeArrowheads="1"/>
            </p:cNvSpPr>
            <p:nvPr/>
          </p:nvSpPr>
          <p:spPr bwMode="auto">
            <a:xfrm>
              <a:off x="3830948" y="4201949"/>
              <a:ext cx="1489240" cy="183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源地址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(128 bits)</a:t>
              </a:r>
            </a:p>
          </p:txBody>
        </p:sp>
        <p:sp>
          <p:nvSpPr>
            <p:cNvPr id="65" name="Text Box 72"/>
            <p:cNvSpPr txBox="1">
              <a:spLocks noChangeArrowheads="1"/>
            </p:cNvSpPr>
            <p:nvPr/>
          </p:nvSpPr>
          <p:spPr bwMode="auto">
            <a:xfrm>
              <a:off x="2774284" y="3703178"/>
              <a:ext cx="1199003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有效载荷长度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6" name="Text Box 73"/>
            <p:cNvSpPr txBox="1">
              <a:spLocks noChangeArrowheads="1"/>
            </p:cNvSpPr>
            <p:nvPr/>
          </p:nvSpPr>
          <p:spPr bwMode="auto">
            <a:xfrm>
              <a:off x="4480523" y="3711115"/>
              <a:ext cx="999169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下一个首部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7" name="Text Box 74"/>
            <p:cNvSpPr txBox="1">
              <a:spLocks noChangeArrowheads="1"/>
            </p:cNvSpPr>
            <p:nvPr/>
          </p:nvSpPr>
          <p:spPr bwMode="auto">
            <a:xfrm>
              <a:off x="5809927" y="3696829"/>
              <a:ext cx="599504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跳限制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8" name="Text Box 75"/>
            <p:cNvSpPr txBox="1">
              <a:spLocks noChangeArrowheads="1"/>
            </p:cNvSpPr>
            <p:nvPr/>
          </p:nvSpPr>
          <p:spPr bwMode="auto">
            <a:xfrm>
              <a:off x="4679626" y="3405722"/>
              <a:ext cx="599504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流标签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9" name="Text Box 76"/>
            <p:cNvSpPr txBox="1">
              <a:spLocks noChangeArrowheads="1"/>
            </p:cNvSpPr>
            <p:nvPr/>
          </p:nvSpPr>
          <p:spPr bwMode="auto">
            <a:xfrm>
              <a:off x="2913064" y="3391432"/>
              <a:ext cx="399667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类型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0" name="Text Box 77"/>
            <p:cNvSpPr txBox="1">
              <a:spLocks noChangeArrowheads="1"/>
            </p:cNvSpPr>
            <p:nvPr/>
          </p:nvSpPr>
          <p:spPr bwMode="auto">
            <a:xfrm>
              <a:off x="2292315" y="3399370"/>
              <a:ext cx="399670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Line 79"/>
            <p:cNvSpPr>
              <a:spLocks noChangeShapeType="1"/>
            </p:cNvSpPr>
            <p:nvPr/>
          </p:nvSpPr>
          <p:spPr bwMode="auto">
            <a:xfrm>
              <a:off x="2119313" y="6400800"/>
              <a:ext cx="48164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2" name="Text Box 78"/>
            <p:cNvSpPr txBox="1">
              <a:spLocks noChangeArrowheads="1"/>
            </p:cNvSpPr>
            <p:nvPr/>
          </p:nvSpPr>
          <p:spPr bwMode="auto">
            <a:xfrm>
              <a:off x="4096256" y="6210302"/>
              <a:ext cx="639945" cy="216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32 bits</a:t>
              </a:r>
            </a:p>
          </p:txBody>
        </p:sp>
      </p:grpSp>
      <p:sp>
        <p:nvSpPr>
          <p:cNvPr id="27" name="灯片编号占位符 2">
            <a:extLst>
              <a:ext uri="{FF2B5EF4-FFF2-40B4-BE49-F238E27FC236}">
                <a16:creationId xmlns:a16="http://schemas.microsoft.com/office/drawing/2014/main" id="{516E777C-39E2-41D0-98C1-D9C424A2B72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47</a:t>
            </a:fld>
            <a:endParaRPr lang="en-US" altLang="zh-CN" dirty="0"/>
          </a:p>
        </p:txBody>
      </p:sp>
      <p:sp>
        <p:nvSpPr>
          <p:cNvPr id="28" name="AutoShape 5">
            <a:extLst>
              <a:ext uri="{FF2B5EF4-FFF2-40B4-BE49-F238E27FC236}">
                <a16:creationId xmlns:a16="http://schemas.microsoft.com/office/drawing/2014/main" id="{99F0E36D-2E33-4FB6-AF55-6274D1E28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sz="1500" dirty="0">
                <a:solidFill>
                  <a:srgbClr val="0066CC"/>
                </a:solidFill>
              </a:rPr>
              <a:t>从</a:t>
            </a:r>
            <a:r>
              <a:rPr lang="en-US" altLang="zh-CN" sz="1500" dirty="0">
                <a:solidFill>
                  <a:srgbClr val="0066CC"/>
                </a:solidFill>
              </a:rPr>
              <a:t>IPv4</a:t>
            </a:r>
            <a:r>
              <a:rPr lang="zh-CN" altLang="en-US" sz="1500" dirty="0">
                <a:solidFill>
                  <a:srgbClr val="0066CC"/>
                </a:solidFill>
              </a:rPr>
              <a:t>到</a:t>
            </a:r>
            <a:r>
              <a:rPr lang="en-US" altLang="zh-CN" sz="1500" dirty="0">
                <a:solidFill>
                  <a:srgbClr val="0066CC"/>
                </a:solidFill>
              </a:rPr>
              <a:t>IPv6</a:t>
            </a:r>
            <a:r>
              <a:rPr lang="zh-CN" altLang="en-US" sz="1500" dirty="0">
                <a:solidFill>
                  <a:srgbClr val="0066CC"/>
                </a:solidFill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迁移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2"/>
            <a:endParaRPr lang="en-US" altLang="zh-CN" sz="1350" dirty="0">
              <a:solidFill>
                <a:srgbClr val="0066CC"/>
              </a:solidFill>
            </a:endParaRP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124508" y="1278842"/>
            <a:ext cx="4833918" cy="186570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不能一下子将所有的路由器全部升级到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</a:p>
          <a:p>
            <a:pPr lvl="1">
              <a:spcBef>
                <a:spcPts val="450"/>
              </a:spcBef>
            </a:pP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 </a:t>
            </a:r>
            <a:r>
              <a:rPr lang="ja-JP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ja-JP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flag days</a:t>
            </a:r>
            <a:r>
              <a:rPr lang="ja-JP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ja-JP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45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IPv4 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IPv6 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路由器混杂起来怎么工作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 </a:t>
            </a:r>
          </a:p>
          <a:p>
            <a:pPr>
              <a:spcBef>
                <a:spcPts val="45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隧道技术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spcBef>
                <a:spcPts val="450"/>
              </a:spcBef>
            </a:pP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IPv6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的数据报，封装成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45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以便在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的路由器上面进行处理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192238" y="3169555"/>
            <a:ext cx="5030392" cy="1695495"/>
            <a:chOff x="1303338" y="4318000"/>
            <a:chExt cx="6707189" cy="2260660"/>
          </a:xfrm>
        </p:grpSpPr>
        <p:grpSp>
          <p:nvGrpSpPr>
            <p:cNvPr id="60" name="Group 47"/>
            <p:cNvGrpSpPr/>
            <p:nvPr/>
          </p:nvGrpSpPr>
          <p:grpSpPr bwMode="auto">
            <a:xfrm>
              <a:off x="2101850" y="5351463"/>
              <a:ext cx="4854575" cy="473075"/>
              <a:chOff x="1163" y="3504"/>
              <a:chExt cx="3058" cy="298"/>
            </a:xfrm>
          </p:grpSpPr>
          <p:sp>
            <p:nvSpPr>
              <p:cNvPr id="94" name="Rectangle 26"/>
              <p:cNvSpPr>
                <a:spLocks noChangeArrowheads="1"/>
              </p:cNvSpPr>
              <p:nvPr/>
            </p:nvSpPr>
            <p:spPr bwMode="auto">
              <a:xfrm>
                <a:off x="1163" y="3505"/>
                <a:ext cx="3058" cy="295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95" name="Line 27"/>
              <p:cNvSpPr>
                <a:spLocks noChangeShapeType="1"/>
              </p:cNvSpPr>
              <p:nvPr/>
            </p:nvSpPr>
            <p:spPr bwMode="auto">
              <a:xfrm>
                <a:off x="2022" y="3504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6" name="Line 28"/>
              <p:cNvSpPr>
                <a:spLocks noChangeShapeType="1"/>
              </p:cNvSpPr>
              <p:nvPr/>
            </p:nvSpPr>
            <p:spPr bwMode="auto">
              <a:xfrm>
                <a:off x="1781" y="3507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7" name="Line 29"/>
              <p:cNvSpPr>
                <a:spLocks noChangeShapeType="1"/>
              </p:cNvSpPr>
              <p:nvPr/>
            </p:nvSpPr>
            <p:spPr bwMode="auto">
              <a:xfrm>
                <a:off x="1532" y="3504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8" name="Line 31"/>
              <p:cNvSpPr>
                <a:spLocks noChangeShapeType="1"/>
              </p:cNvSpPr>
              <p:nvPr/>
            </p:nvSpPr>
            <p:spPr bwMode="auto">
              <a:xfrm>
                <a:off x="1187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9" name="Line 32"/>
              <p:cNvSpPr>
                <a:spLocks noChangeShapeType="1"/>
              </p:cNvSpPr>
              <p:nvPr/>
            </p:nvSpPr>
            <p:spPr bwMode="auto">
              <a:xfrm>
                <a:off x="1187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0" name="Line 33"/>
              <p:cNvSpPr>
                <a:spLocks noChangeShapeType="1"/>
              </p:cNvSpPr>
              <p:nvPr/>
            </p:nvSpPr>
            <p:spPr bwMode="auto">
              <a:xfrm>
                <a:off x="1283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1" name="Line 34"/>
              <p:cNvSpPr>
                <a:spLocks noChangeShapeType="1"/>
              </p:cNvSpPr>
              <p:nvPr/>
            </p:nvSpPr>
            <p:spPr bwMode="auto">
              <a:xfrm>
                <a:off x="1283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2" name="Line 35"/>
              <p:cNvSpPr>
                <a:spLocks noChangeShapeType="1"/>
              </p:cNvSpPr>
              <p:nvPr/>
            </p:nvSpPr>
            <p:spPr bwMode="auto">
              <a:xfrm>
                <a:off x="1379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3" name="Line 36"/>
              <p:cNvSpPr>
                <a:spLocks noChangeShapeType="1"/>
              </p:cNvSpPr>
              <p:nvPr/>
            </p:nvSpPr>
            <p:spPr bwMode="auto">
              <a:xfrm>
                <a:off x="1379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4" name="Line 37"/>
              <p:cNvSpPr>
                <a:spLocks noChangeShapeType="1"/>
              </p:cNvSpPr>
              <p:nvPr/>
            </p:nvSpPr>
            <p:spPr bwMode="auto">
              <a:xfrm>
                <a:off x="1475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5" name="Line 38"/>
              <p:cNvSpPr>
                <a:spLocks noChangeShapeType="1"/>
              </p:cNvSpPr>
              <p:nvPr/>
            </p:nvSpPr>
            <p:spPr bwMode="auto">
              <a:xfrm>
                <a:off x="1475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6" name="Line 39"/>
              <p:cNvSpPr>
                <a:spLocks noChangeShapeType="1"/>
              </p:cNvSpPr>
              <p:nvPr/>
            </p:nvSpPr>
            <p:spPr bwMode="auto">
              <a:xfrm>
                <a:off x="1327" y="350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7" name="Line 40"/>
              <p:cNvSpPr>
                <a:spLocks noChangeShapeType="1"/>
              </p:cNvSpPr>
              <p:nvPr/>
            </p:nvSpPr>
            <p:spPr bwMode="auto">
              <a:xfrm>
                <a:off x="1327" y="374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8" name="Line 41"/>
              <p:cNvSpPr>
                <a:spLocks noChangeShapeType="1"/>
              </p:cNvSpPr>
              <p:nvPr/>
            </p:nvSpPr>
            <p:spPr bwMode="auto">
              <a:xfrm>
                <a:off x="1213" y="3508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9" name="Line 42"/>
              <p:cNvSpPr>
                <a:spLocks noChangeShapeType="1"/>
              </p:cNvSpPr>
              <p:nvPr/>
            </p:nvSpPr>
            <p:spPr bwMode="auto">
              <a:xfrm>
                <a:off x="1213" y="374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61" name="Text Box 48"/>
            <p:cNvSpPr txBox="1">
              <a:spLocks noChangeArrowheads="1"/>
            </p:cNvSpPr>
            <p:nvPr/>
          </p:nvSpPr>
          <p:spPr bwMode="auto">
            <a:xfrm>
              <a:off x="1597025" y="4549775"/>
              <a:ext cx="2092880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IPv4 source, dest addr </a:t>
              </a:r>
            </a:p>
          </p:txBody>
        </p:sp>
        <p:sp>
          <p:nvSpPr>
            <p:cNvPr id="62" name="Text Box 50"/>
            <p:cNvSpPr txBox="1">
              <a:spLocks noChangeArrowheads="1"/>
            </p:cNvSpPr>
            <p:nvPr/>
          </p:nvSpPr>
          <p:spPr bwMode="auto">
            <a:xfrm>
              <a:off x="1303338" y="4318000"/>
              <a:ext cx="1735945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IPv4 header fields </a:t>
              </a:r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>
              <a:off x="2855913" y="4808538"/>
              <a:ext cx="0" cy="73818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2860675" y="4803775"/>
              <a:ext cx="381000" cy="73818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>
              <a:off x="2260600" y="4560888"/>
              <a:ext cx="0" cy="97631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6" name="Text Box 23"/>
            <p:cNvSpPr txBox="1">
              <a:spLocks noChangeArrowheads="1"/>
            </p:cNvSpPr>
            <p:nvPr/>
          </p:nvSpPr>
          <p:spPr bwMode="auto">
            <a:xfrm>
              <a:off x="3663950" y="6178551"/>
              <a:ext cx="1746632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IPv4 datagram</a:t>
              </a:r>
            </a:p>
          </p:txBody>
        </p:sp>
        <p:sp>
          <p:nvSpPr>
            <p:cNvPr id="67" name="Line 24"/>
            <p:cNvSpPr>
              <a:spLocks noChangeShapeType="1"/>
            </p:cNvSpPr>
            <p:nvPr/>
          </p:nvSpPr>
          <p:spPr bwMode="auto">
            <a:xfrm>
              <a:off x="5284788" y="6367463"/>
              <a:ext cx="1695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8" name="Line 25"/>
            <p:cNvSpPr>
              <a:spLocks noChangeShapeType="1"/>
            </p:cNvSpPr>
            <p:nvPr/>
          </p:nvSpPr>
          <p:spPr bwMode="auto">
            <a:xfrm flipH="1">
              <a:off x="2095500" y="6367463"/>
              <a:ext cx="1606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9" name="Text Box 64"/>
            <p:cNvSpPr txBox="1">
              <a:spLocks noChangeArrowheads="1"/>
            </p:cNvSpPr>
            <p:nvPr/>
          </p:nvSpPr>
          <p:spPr bwMode="auto">
            <a:xfrm>
              <a:off x="4384675" y="5829300"/>
              <a:ext cx="1746632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IPv6 datagram</a:t>
              </a: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>
              <a:off x="6021388" y="5999163"/>
              <a:ext cx="857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H="1">
              <a:off x="3522663" y="5999163"/>
              <a:ext cx="925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72" name="Rectangle 69"/>
            <p:cNvSpPr>
              <a:spLocks noChangeArrowheads="1"/>
            </p:cNvSpPr>
            <p:nvPr/>
          </p:nvSpPr>
          <p:spPr bwMode="auto">
            <a:xfrm>
              <a:off x="3490913" y="5386388"/>
              <a:ext cx="3422650" cy="40163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73" name="Group 70"/>
            <p:cNvGrpSpPr/>
            <p:nvPr/>
          </p:nvGrpSpPr>
          <p:grpSpPr bwMode="auto">
            <a:xfrm>
              <a:off x="4552951" y="4416425"/>
              <a:ext cx="3457576" cy="1109663"/>
              <a:chOff x="2868" y="2782"/>
              <a:chExt cx="2178" cy="699"/>
            </a:xfrm>
          </p:grpSpPr>
          <p:sp>
            <p:nvSpPr>
              <p:cNvPr id="92" name="Text Box 51"/>
              <p:cNvSpPr txBox="1">
                <a:spLocks noChangeArrowheads="1"/>
              </p:cNvSpPr>
              <p:nvPr/>
            </p:nvSpPr>
            <p:spPr bwMode="auto">
              <a:xfrm>
                <a:off x="4204" y="2782"/>
                <a:ext cx="842" cy="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50"/>
                  <a:t>IPv4 payload </a:t>
                </a:r>
              </a:p>
            </p:txBody>
          </p:sp>
          <p:sp>
            <p:nvSpPr>
              <p:cNvPr id="93" name="Line 54"/>
              <p:cNvSpPr>
                <a:spLocks noChangeShapeType="1"/>
              </p:cNvSpPr>
              <p:nvPr/>
            </p:nvSpPr>
            <p:spPr bwMode="auto">
              <a:xfrm flipH="1">
                <a:off x="2868" y="2979"/>
                <a:ext cx="1532" cy="50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74" name="Group 71"/>
            <p:cNvGrpSpPr/>
            <p:nvPr/>
          </p:nvGrpSpPr>
          <p:grpSpPr bwMode="auto">
            <a:xfrm>
              <a:off x="3506788" y="4321175"/>
              <a:ext cx="3402012" cy="1476375"/>
              <a:chOff x="2280" y="1247"/>
              <a:chExt cx="2143" cy="930"/>
            </a:xfrm>
          </p:grpSpPr>
          <p:sp>
            <p:nvSpPr>
              <p:cNvPr id="75" name="Rectangle 5"/>
              <p:cNvSpPr>
                <a:spLocks noChangeArrowheads="1"/>
              </p:cNvSpPr>
              <p:nvPr/>
            </p:nvSpPr>
            <p:spPr bwMode="auto">
              <a:xfrm>
                <a:off x="2280" y="1918"/>
                <a:ext cx="2143" cy="25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76" name="Line 8"/>
              <p:cNvSpPr>
                <a:spLocks noChangeShapeType="1"/>
              </p:cNvSpPr>
              <p:nvPr/>
            </p:nvSpPr>
            <p:spPr bwMode="auto">
              <a:xfrm>
                <a:off x="2333" y="1918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7" name="Line 9"/>
              <p:cNvSpPr>
                <a:spLocks noChangeShapeType="1"/>
              </p:cNvSpPr>
              <p:nvPr/>
            </p:nvSpPr>
            <p:spPr bwMode="auto">
              <a:xfrm>
                <a:off x="2307" y="1917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8" name="Line 10"/>
              <p:cNvSpPr>
                <a:spLocks noChangeShapeType="1"/>
              </p:cNvSpPr>
              <p:nvPr/>
            </p:nvSpPr>
            <p:spPr bwMode="auto">
              <a:xfrm>
                <a:off x="2381" y="1918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9" name="Line 11"/>
              <p:cNvSpPr>
                <a:spLocks noChangeShapeType="1"/>
              </p:cNvSpPr>
              <p:nvPr/>
            </p:nvSpPr>
            <p:spPr bwMode="auto">
              <a:xfrm>
                <a:off x="2407" y="1916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0" name="Line 12"/>
              <p:cNvSpPr>
                <a:spLocks noChangeShapeType="1"/>
              </p:cNvSpPr>
              <p:nvPr/>
            </p:nvSpPr>
            <p:spPr bwMode="auto">
              <a:xfrm>
                <a:off x="2441" y="1916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2" name="Line 13"/>
              <p:cNvSpPr>
                <a:spLocks noChangeShapeType="1"/>
              </p:cNvSpPr>
              <p:nvPr/>
            </p:nvSpPr>
            <p:spPr bwMode="auto">
              <a:xfrm>
                <a:off x="2483" y="1916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2679" y="1923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4" name="Line 15"/>
              <p:cNvSpPr>
                <a:spLocks noChangeShapeType="1"/>
              </p:cNvSpPr>
              <p:nvPr/>
            </p:nvSpPr>
            <p:spPr bwMode="auto">
              <a:xfrm>
                <a:off x="2915" y="1923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5" name="Text Box 16"/>
              <p:cNvSpPr txBox="1">
                <a:spLocks noChangeArrowheads="1"/>
              </p:cNvSpPr>
              <p:nvPr/>
            </p:nvSpPr>
            <p:spPr bwMode="auto">
              <a:xfrm>
                <a:off x="2672" y="1557"/>
                <a:ext cx="1081" cy="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50"/>
                  <a:t>UDP/TCP payload</a:t>
                </a:r>
              </a:p>
            </p:txBody>
          </p:sp>
          <p:sp>
            <p:nvSpPr>
              <p:cNvPr id="86" name="Text Box 17"/>
              <p:cNvSpPr txBox="1">
                <a:spLocks noChangeArrowheads="1"/>
              </p:cNvSpPr>
              <p:nvPr/>
            </p:nvSpPr>
            <p:spPr bwMode="auto">
              <a:xfrm>
                <a:off x="2473" y="1396"/>
                <a:ext cx="1256" cy="1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algn="ctr">
                  <a:lnSpc>
                    <a:spcPct val="85000"/>
                  </a:lnSpc>
                  <a:defRPr/>
                </a:pPr>
                <a:r>
                  <a:rPr lang="en-US" sz="1050"/>
                  <a:t>IPv6 source dest addr</a:t>
                </a:r>
              </a:p>
            </p:txBody>
          </p:sp>
          <p:sp>
            <p:nvSpPr>
              <p:cNvPr id="87" name="Text Box 18"/>
              <p:cNvSpPr txBox="1">
                <a:spLocks noChangeArrowheads="1"/>
              </p:cNvSpPr>
              <p:nvPr/>
            </p:nvSpPr>
            <p:spPr bwMode="auto">
              <a:xfrm>
                <a:off x="2288" y="1247"/>
                <a:ext cx="1063" cy="1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algn="ctr">
                  <a:lnSpc>
                    <a:spcPct val="85000"/>
                  </a:lnSpc>
                  <a:defRPr/>
                </a:pPr>
                <a:r>
                  <a:rPr lang="en-US" sz="1050"/>
                  <a:t>IPv6 header fields</a:t>
                </a:r>
              </a:p>
            </p:txBody>
          </p:sp>
          <p:sp>
            <p:nvSpPr>
              <p:cNvPr id="88" name="Line 19"/>
              <p:cNvSpPr>
                <a:spLocks noChangeShapeType="1"/>
              </p:cNvSpPr>
              <p:nvPr/>
            </p:nvSpPr>
            <p:spPr bwMode="auto">
              <a:xfrm>
                <a:off x="2602" y="1543"/>
                <a:ext cx="3" cy="4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9" name="Line 20"/>
              <p:cNvSpPr>
                <a:spLocks noChangeShapeType="1"/>
              </p:cNvSpPr>
              <p:nvPr/>
            </p:nvSpPr>
            <p:spPr bwMode="auto">
              <a:xfrm>
                <a:off x="2594" y="1546"/>
                <a:ext cx="174" cy="44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0" name="Line 58"/>
              <p:cNvSpPr>
                <a:spLocks noChangeShapeType="1"/>
              </p:cNvSpPr>
              <p:nvPr/>
            </p:nvSpPr>
            <p:spPr bwMode="auto">
              <a:xfrm>
                <a:off x="2386" y="1399"/>
                <a:ext cx="0" cy="549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1" name="Line 59"/>
              <p:cNvSpPr>
                <a:spLocks noChangeShapeType="1"/>
              </p:cNvSpPr>
              <p:nvPr/>
            </p:nvSpPr>
            <p:spPr bwMode="auto">
              <a:xfrm>
                <a:off x="3334" y="1720"/>
                <a:ext cx="0" cy="25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</p:grpSp>
      <p:sp>
        <p:nvSpPr>
          <p:cNvPr id="56" name="灯片编号占位符 2">
            <a:extLst>
              <a:ext uri="{FF2B5EF4-FFF2-40B4-BE49-F238E27FC236}">
                <a16:creationId xmlns:a16="http://schemas.microsoft.com/office/drawing/2014/main" id="{48D6BB84-30E3-492D-B627-34398D9E2E8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sp>
        <p:nvSpPr>
          <p:cNvPr id="57" name="AutoShape 5">
            <a:extLst>
              <a:ext uri="{FF2B5EF4-FFF2-40B4-BE49-F238E27FC236}">
                <a16:creationId xmlns:a16="http://schemas.microsoft.com/office/drawing/2014/main" id="{865F806A-3579-42C9-B6A9-D5370FC3A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sz="1500" dirty="0">
                <a:solidFill>
                  <a:srgbClr val="0066CC"/>
                </a:solidFill>
              </a:rPr>
              <a:t>从</a:t>
            </a:r>
            <a:r>
              <a:rPr lang="en-US" altLang="zh-CN" sz="1500" dirty="0">
                <a:solidFill>
                  <a:srgbClr val="0066CC"/>
                </a:solidFill>
              </a:rPr>
              <a:t>IPv4</a:t>
            </a:r>
            <a:r>
              <a:rPr lang="zh-CN" altLang="en-US" sz="1500" dirty="0">
                <a:solidFill>
                  <a:srgbClr val="0066CC"/>
                </a:solidFill>
              </a:rPr>
              <a:t>到</a:t>
            </a:r>
            <a:r>
              <a:rPr lang="en-US" altLang="zh-CN" sz="1500" dirty="0">
                <a:solidFill>
                  <a:srgbClr val="0066CC"/>
                </a:solidFill>
              </a:rPr>
              <a:t>IPv6</a:t>
            </a:r>
            <a:r>
              <a:rPr lang="zh-CN" altLang="en-US" sz="1500" dirty="0">
                <a:solidFill>
                  <a:srgbClr val="0066CC"/>
                </a:solidFill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迁移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909900" y="1665781"/>
            <a:ext cx="1220391" cy="25060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隧道技术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</p:txBody>
      </p:sp>
      <p:sp>
        <p:nvSpPr>
          <p:cNvPr id="110" name="Text Box 76"/>
          <p:cNvSpPr txBox="1">
            <a:spLocks noChangeArrowheads="1"/>
          </p:cNvSpPr>
          <p:nvPr/>
        </p:nvSpPr>
        <p:spPr bwMode="auto">
          <a:xfrm>
            <a:off x="1812615" y="2933198"/>
            <a:ext cx="125226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physical view:</a:t>
            </a:r>
          </a:p>
        </p:txBody>
      </p:sp>
      <p:sp>
        <p:nvSpPr>
          <p:cNvPr id="111" name="Line 147"/>
          <p:cNvSpPr>
            <a:spLocks noChangeShapeType="1"/>
          </p:cNvSpPr>
          <p:nvPr/>
        </p:nvSpPr>
        <p:spPr bwMode="auto">
          <a:xfrm flipV="1">
            <a:off x="4502237" y="3136796"/>
            <a:ext cx="174426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2" name="Text Box 180"/>
          <p:cNvSpPr txBox="1">
            <a:spLocks noChangeArrowheads="1"/>
          </p:cNvSpPr>
          <p:nvPr/>
        </p:nvSpPr>
        <p:spPr bwMode="auto">
          <a:xfrm>
            <a:off x="4751078" y="3229665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</a:rPr>
              <a:t>IPv4</a:t>
            </a:r>
          </a:p>
        </p:txBody>
      </p:sp>
      <p:sp>
        <p:nvSpPr>
          <p:cNvPr id="113" name="Text Box 181"/>
          <p:cNvSpPr txBox="1">
            <a:spLocks noChangeArrowheads="1"/>
          </p:cNvSpPr>
          <p:nvPr/>
        </p:nvSpPr>
        <p:spPr bwMode="auto">
          <a:xfrm>
            <a:off x="5496409" y="3230855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</a:rPr>
              <a:t>IPv4</a:t>
            </a:r>
          </a:p>
        </p:txBody>
      </p:sp>
      <p:grpSp>
        <p:nvGrpSpPr>
          <p:cNvPr id="114" name="Group 254"/>
          <p:cNvGrpSpPr/>
          <p:nvPr/>
        </p:nvGrpSpPr>
        <p:grpSpPr bwMode="auto">
          <a:xfrm>
            <a:off x="4753459" y="3012971"/>
            <a:ext cx="520303" cy="253603"/>
            <a:chOff x="4396" y="1245"/>
            <a:chExt cx="672" cy="248"/>
          </a:xfrm>
        </p:grpSpPr>
        <p:sp>
          <p:nvSpPr>
            <p:cNvPr id="115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8" name="Group 258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21" name="Freeform 259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2" name="Freeform 260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9" name="Line 261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0" name="Line 262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23" name="Group 328"/>
          <p:cNvGrpSpPr/>
          <p:nvPr/>
        </p:nvGrpSpPr>
        <p:grpSpPr bwMode="auto">
          <a:xfrm>
            <a:off x="3203266" y="2755796"/>
            <a:ext cx="1304924" cy="748903"/>
            <a:chOff x="1363" y="1403"/>
            <a:chExt cx="1096" cy="629"/>
          </a:xfrm>
        </p:grpSpPr>
        <p:sp>
          <p:nvSpPr>
            <p:cNvPr id="124" name="Text Box 92"/>
            <p:cNvSpPr txBox="1">
              <a:spLocks noChangeArrowheads="1"/>
            </p:cNvSpPr>
            <p:nvPr/>
          </p:nvSpPr>
          <p:spPr bwMode="auto">
            <a:xfrm>
              <a:off x="1462" y="1403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A</a:t>
              </a:r>
            </a:p>
          </p:txBody>
        </p:sp>
        <p:sp>
          <p:nvSpPr>
            <p:cNvPr id="125" name="Text Box 108"/>
            <p:cNvSpPr txBox="1">
              <a:spLocks noChangeArrowheads="1"/>
            </p:cNvSpPr>
            <p:nvPr/>
          </p:nvSpPr>
          <p:spPr bwMode="auto">
            <a:xfrm>
              <a:off x="2121" y="1406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B</a:t>
              </a:r>
            </a:p>
          </p:txBody>
        </p:sp>
        <p:sp>
          <p:nvSpPr>
            <p:cNvPr id="126" name="Line 141"/>
            <p:cNvSpPr>
              <a:spLocks noChangeShapeType="1"/>
            </p:cNvSpPr>
            <p:nvPr/>
          </p:nvSpPr>
          <p:spPr bwMode="auto">
            <a:xfrm flipV="1">
              <a:off x="1803" y="1729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7" name="Text Box 143"/>
            <p:cNvSpPr txBox="1">
              <a:spLocks noChangeArrowheads="1"/>
            </p:cNvSpPr>
            <p:nvPr/>
          </p:nvSpPr>
          <p:spPr bwMode="auto">
            <a:xfrm>
              <a:off x="1386" y="1798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sp>
          <p:nvSpPr>
            <p:cNvPr id="128" name="Text Box 144"/>
            <p:cNvSpPr txBox="1">
              <a:spLocks noChangeArrowheads="1"/>
            </p:cNvSpPr>
            <p:nvPr/>
          </p:nvSpPr>
          <p:spPr bwMode="auto">
            <a:xfrm>
              <a:off x="2045" y="1799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grpSp>
          <p:nvGrpSpPr>
            <p:cNvPr id="129" name="Group 245"/>
            <p:cNvGrpSpPr/>
            <p:nvPr/>
          </p:nvGrpSpPr>
          <p:grpSpPr bwMode="auto">
            <a:xfrm>
              <a:off x="1363" y="1621"/>
              <a:ext cx="437" cy="213"/>
              <a:chOff x="4396" y="1245"/>
              <a:chExt cx="672" cy="248"/>
            </a:xfrm>
          </p:grpSpPr>
          <p:sp>
            <p:nvSpPr>
              <p:cNvPr id="139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1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2" name="Group 249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45" name="Freeform 2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6" name="Freeform 2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3" name="Line 252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44" name="Line 253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30" name="Group 263"/>
            <p:cNvGrpSpPr/>
            <p:nvPr/>
          </p:nvGrpSpPr>
          <p:grpSpPr bwMode="auto">
            <a:xfrm>
              <a:off x="2015" y="1617"/>
              <a:ext cx="437" cy="213"/>
              <a:chOff x="4396" y="1245"/>
              <a:chExt cx="672" cy="248"/>
            </a:xfrm>
          </p:grpSpPr>
          <p:sp>
            <p:nvSpPr>
              <p:cNvPr id="131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4" name="Group 267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37" name="Freeform 2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8" name="Freeform 2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5" name="Line 270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36" name="Line 271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147" name="Group 272"/>
          <p:cNvGrpSpPr/>
          <p:nvPr/>
        </p:nvGrpSpPr>
        <p:grpSpPr bwMode="auto">
          <a:xfrm>
            <a:off x="5477359" y="3015352"/>
            <a:ext cx="520303" cy="253603"/>
            <a:chOff x="4396" y="1245"/>
            <a:chExt cx="672" cy="248"/>
          </a:xfrm>
        </p:grpSpPr>
        <p:sp>
          <p:nvSpPr>
            <p:cNvPr id="148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0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51" name="Group 276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4" name="Freeform 277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5" name="Freeform 278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52" name="Line 279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3" name="Line 280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56" name="Group 303"/>
          <p:cNvGrpSpPr/>
          <p:nvPr/>
        </p:nvGrpSpPr>
        <p:grpSpPr bwMode="auto">
          <a:xfrm>
            <a:off x="6232216" y="2756986"/>
            <a:ext cx="1281113" cy="744141"/>
            <a:chOff x="3907" y="1404"/>
            <a:chExt cx="1076" cy="625"/>
          </a:xfrm>
        </p:grpSpPr>
        <p:sp>
          <p:nvSpPr>
            <p:cNvPr id="157" name="Text Box 50"/>
            <p:cNvSpPr txBox="1">
              <a:spLocks noChangeArrowheads="1"/>
            </p:cNvSpPr>
            <p:nvPr/>
          </p:nvSpPr>
          <p:spPr bwMode="auto">
            <a:xfrm>
              <a:off x="4012" y="1404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E</a:t>
              </a:r>
            </a:p>
          </p:txBody>
        </p:sp>
        <p:sp>
          <p:nvSpPr>
            <p:cNvPr id="158" name="Line 142"/>
            <p:cNvSpPr>
              <a:spLocks noChangeShapeType="1"/>
            </p:cNvSpPr>
            <p:nvPr/>
          </p:nvSpPr>
          <p:spPr bwMode="auto">
            <a:xfrm flipV="1">
              <a:off x="4352" y="1717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9" name="Text Box 145"/>
            <p:cNvSpPr txBox="1">
              <a:spLocks noChangeArrowheads="1"/>
            </p:cNvSpPr>
            <p:nvPr/>
          </p:nvSpPr>
          <p:spPr bwMode="auto">
            <a:xfrm>
              <a:off x="3951" y="1794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sp>
          <p:nvSpPr>
            <p:cNvPr id="160" name="Text Box 146"/>
            <p:cNvSpPr txBox="1">
              <a:spLocks noChangeArrowheads="1"/>
            </p:cNvSpPr>
            <p:nvPr/>
          </p:nvSpPr>
          <p:spPr bwMode="auto">
            <a:xfrm>
              <a:off x="4569" y="1796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grpSp>
          <p:nvGrpSpPr>
            <p:cNvPr id="161" name="Group 281"/>
            <p:cNvGrpSpPr/>
            <p:nvPr/>
          </p:nvGrpSpPr>
          <p:grpSpPr bwMode="auto">
            <a:xfrm>
              <a:off x="3907" y="1621"/>
              <a:ext cx="437" cy="213"/>
              <a:chOff x="4396" y="1245"/>
              <a:chExt cx="672" cy="248"/>
            </a:xfrm>
          </p:grpSpPr>
          <p:sp>
            <p:nvSpPr>
              <p:cNvPr id="172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5" name="Group 285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8" name="Freeform 286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9" name="Freeform 287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6" name="Line 288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77" name="Line 289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62" name="Group 290"/>
            <p:cNvGrpSpPr/>
            <p:nvPr/>
          </p:nvGrpSpPr>
          <p:grpSpPr bwMode="auto">
            <a:xfrm>
              <a:off x="4521" y="1619"/>
              <a:ext cx="437" cy="213"/>
              <a:chOff x="4396" y="1245"/>
              <a:chExt cx="672" cy="248"/>
            </a:xfrm>
          </p:grpSpPr>
          <p:sp>
            <p:nvSpPr>
              <p:cNvPr id="164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5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7" name="Group 294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0" name="Freeform 295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1" name="Freeform 296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68" name="Line 297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69" name="Line 298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163" name="Text Box 299"/>
            <p:cNvSpPr txBox="1">
              <a:spLocks noChangeArrowheads="1"/>
            </p:cNvSpPr>
            <p:nvPr/>
          </p:nvSpPr>
          <p:spPr bwMode="auto">
            <a:xfrm>
              <a:off x="4635" y="1408"/>
              <a:ext cx="244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F</a:t>
              </a:r>
            </a:p>
          </p:txBody>
        </p:sp>
      </p:grpSp>
      <p:sp>
        <p:nvSpPr>
          <p:cNvPr id="180" name="Text Box 300"/>
          <p:cNvSpPr txBox="1">
            <a:spLocks noChangeArrowheads="1"/>
          </p:cNvSpPr>
          <p:nvPr/>
        </p:nvSpPr>
        <p:spPr bwMode="auto">
          <a:xfrm>
            <a:off x="4870140" y="2752223"/>
            <a:ext cx="30970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C</a:t>
            </a:r>
          </a:p>
        </p:txBody>
      </p:sp>
      <p:sp>
        <p:nvSpPr>
          <p:cNvPr id="181" name="Text Box 301"/>
          <p:cNvSpPr txBox="1">
            <a:spLocks noChangeArrowheads="1"/>
          </p:cNvSpPr>
          <p:nvPr/>
        </p:nvSpPr>
        <p:spPr bwMode="auto">
          <a:xfrm>
            <a:off x="5602374" y="2754605"/>
            <a:ext cx="30970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D</a:t>
            </a:r>
          </a:p>
        </p:txBody>
      </p:sp>
      <p:grpSp>
        <p:nvGrpSpPr>
          <p:cNvPr id="182" name="Group 354"/>
          <p:cNvGrpSpPr/>
          <p:nvPr/>
        </p:nvGrpSpPr>
        <p:grpSpPr bwMode="auto">
          <a:xfrm>
            <a:off x="1924534" y="2058983"/>
            <a:ext cx="5593556" cy="759619"/>
            <a:chOff x="289" y="766"/>
            <a:chExt cx="4698" cy="638"/>
          </a:xfrm>
        </p:grpSpPr>
        <p:sp>
          <p:nvSpPr>
            <p:cNvPr id="183" name="Rectangle 67"/>
            <p:cNvSpPr>
              <a:spLocks noChangeArrowheads="1"/>
            </p:cNvSpPr>
            <p:nvPr/>
          </p:nvSpPr>
          <p:spPr bwMode="auto">
            <a:xfrm>
              <a:off x="2424" y="1085"/>
              <a:ext cx="1515" cy="42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84" name="Text Box 75"/>
            <p:cNvSpPr txBox="1">
              <a:spLocks noChangeArrowheads="1"/>
            </p:cNvSpPr>
            <p:nvPr/>
          </p:nvSpPr>
          <p:spPr bwMode="auto">
            <a:xfrm>
              <a:off x="289" y="979"/>
              <a:ext cx="939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logical view:</a:t>
              </a:r>
            </a:p>
          </p:txBody>
        </p:sp>
        <p:sp>
          <p:nvSpPr>
            <p:cNvPr id="185" name="Text Box 244"/>
            <p:cNvSpPr txBox="1">
              <a:spLocks noChangeArrowheads="1"/>
            </p:cNvSpPr>
            <p:nvPr/>
          </p:nvSpPr>
          <p:spPr bwMode="auto">
            <a:xfrm>
              <a:off x="2469" y="766"/>
              <a:ext cx="1510" cy="3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i="1">
                  <a:solidFill>
                    <a:srgbClr val="CC0000"/>
                  </a:solidFill>
                </a:rPr>
                <a:t>IPv4 tunnel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i="1">
                  <a:solidFill>
                    <a:srgbClr val="CC0000"/>
                  </a:solidFill>
                </a:rPr>
                <a:t>connecting IPv6 routers</a:t>
              </a:r>
            </a:p>
          </p:txBody>
        </p:sp>
        <p:grpSp>
          <p:nvGrpSpPr>
            <p:cNvPr id="186" name="Group 304"/>
            <p:cNvGrpSpPr/>
            <p:nvPr/>
          </p:nvGrpSpPr>
          <p:grpSpPr bwMode="auto">
            <a:xfrm>
              <a:off x="3911" y="779"/>
              <a:ext cx="1076" cy="625"/>
              <a:chOff x="3907" y="1404"/>
              <a:chExt cx="1076" cy="625"/>
            </a:xfrm>
          </p:grpSpPr>
          <p:sp>
            <p:nvSpPr>
              <p:cNvPr id="211" name="Text Box 305"/>
              <p:cNvSpPr txBox="1">
                <a:spLocks noChangeArrowheads="1"/>
              </p:cNvSpPr>
              <p:nvPr/>
            </p:nvSpPr>
            <p:spPr bwMode="auto">
              <a:xfrm>
                <a:off x="4012" y="1404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E</a:t>
                </a:r>
              </a:p>
            </p:txBody>
          </p:sp>
          <p:sp>
            <p:nvSpPr>
              <p:cNvPr id="212" name="Line 306"/>
              <p:cNvSpPr>
                <a:spLocks noChangeShapeType="1"/>
              </p:cNvSpPr>
              <p:nvPr/>
            </p:nvSpPr>
            <p:spPr bwMode="auto">
              <a:xfrm flipV="1">
                <a:off x="4352" y="171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213" name="Text Box 307"/>
              <p:cNvSpPr txBox="1">
                <a:spLocks noChangeArrowheads="1"/>
              </p:cNvSpPr>
              <p:nvPr/>
            </p:nvSpPr>
            <p:spPr bwMode="auto">
              <a:xfrm>
                <a:off x="3951" y="1794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sp>
            <p:nvSpPr>
              <p:cNvPr id="214" name="Text Box 308"/>
              <p:cNvSpPr txBox="1">
                <a:spLocks noChangeArrowheads="1"/>
              </p:cNvSpPr>
              <p:nvPr/>
            </p:nvSpPr>
            <p:spPr bwMode="auto">
              <a:xfrm>
                <a:off x="4569" y="1796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grpSp>
            <p:nvGrpSpPr>
              <p:cNvPr id="215" name="Group 309"/>
              <p:cNvGrpSpPr/>
              <p:nvPr/>
            </p:nvGrpSpPr>
            <p:grpSpPr bwMode="auto">
              <a:xfrm>
                <a:off x="3907" y="1621"/>
                <a:ext cx="437" cy="213"/>
                <a:chOff x="4396" y="1245"/>
                <a:chExt cx="672" cy="248"/>
              </a:xfrm>
            </p:grpSpPr>
            <p:sp>
              <p:nvSpPr>
                <p:cNvPr id="226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8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9" name="Group 313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32" name="Freeform 314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33" name="Freeform 315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30" name="Line 316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31" name="Line 317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216" name="Group 318"/>
              <p:cNvGrpSpPr/>
              <p:nvPr/>
            </p:nvGrpSpPr>
            <p:grpSpPr bwMode="auto">
              <a:xfrm>
                <a:off x="4521" y="1619"/>
                <a:ext cx="437" cy="213"/>
                <a:chOff x="4396" y="1245"/>
                <a:chExt cx="672" cy="248"/>
              </a:xfrm>
            </p:grpSpPr>
            <p:sp>
              <p:nvSpPr>
                <p:cNvPr id="218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1" name="Group 322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24" name="Freeform 323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25" name="Freeform 324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22" name="Line 325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23" name="Line 326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sp>
            <p:nvSpPr>
              <p:cNvPr id="217" name="Text Box 327"/>
              <p:cNvSpPr txBox="1">
                <a:spLocks noChangeArrowheads="1"/>
              </p:cNvSpPr>
              <p:nvPr/>
            </p:nvSpPr>
            <p:spPr bwMode="auto">
              <a:xfrm>
                <a:off x="4635" y="1408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F</a:t>
                </a:r>
              </a:p>
            </p:txBody>
          </p:sp>
        </p:grpSp>
        <p:grpSp>
          <p:nvGrpSpPr>
            <p:cNvPr id="187" name="Group 329"/>
            <p:cNvGrpSpPr/>
            <p:nvPr/>
          </p:nvGrpSpPr>
          <p:grpSpPr bwMode="auto">
            <a:xfrm>
              <a:off x="1361" y="771"/>
              <a:ext cx="1096" cy="629"/>
              <a:chOff x="1363" y="1403"/>
              <a:chExt cx="1096" cy="629"/>
            </a:xfrm>
          </p:grpSpPr>
          <p:sp>
            <p:nvSpPr>
              <p:cNvPr id="188" name="Text Box 330"/>
              <p:cNvSpPr txBox="1">
                <a:spLocks noChangeArrowheads="1"/>
              </p:cNvSpPr>
              <p:nvPr/>
            </p:nvSpPr>
            <p:spPr bwMode="auto">
              <a:xfrm>
                <a:off x="1462" y="1403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A</a:t>
                </a:r>
              </a:p>
            </p:txBody>
          </p:sp>
          <p:sp>
            <p:nvSpPr>
              <p:cNvPr id="189" name="Text Box 331"/>
              <p:cNvSpPr txBox="1">
                <a:spLocks noChangeArrowheads="1"/>
              </p:cNvSpPr>
              <p:nvPr/>
            </p:nvSpPr>
            <p:spPr bwMode="auto">
              <a:xfrm>
                <a:off x="2121" y="1406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B</a:t>
                </a:r>
              </a:p>
            </p:txBody>
          </p:sp>
          <p:sp>
            <p:nvSpPr>
              <p:cNvPr id="190" name="Line 332"/>
              <p:cNvSpPr>
                <a:spLocks noChangeShapeType="1"/>
              </p:cNvSpPr>
              <p:nvPr/>
            </p:nvSpPr>
            <p:spPr bwMode="auto">
              <a:xfrm flipV="1">
                <a:off x="1803" y="1729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91" name="Text Box 333"/>
              <p:cNvSpPr txBox="1">
                <a:spLocks noChangeArrowheads="1"/>
              </p:cNvSpPr>
              <p:nvPr/>
            </p:nvSpPr>
            <p:spPr bwMode="auto">
              <a:xfrm>
                <a:off x="1386" y="1798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sp>
            <p:nvSpPr>
              <p:cNvPr id="192" name="Text Box 334"/>
              <p:cNvSpPr txBox="1">
                <a:spLocks noChangeArrowheads="1"/>
              </p:cNvSpPr>
              <p:nvPr/>
            </p:nvSpPr>
            <p:spPr bwMode="auto">
              <a:xfrm>
                <a:off x="2045" y="1799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grpSp>
            <p:nvGrpSpPr>
              <p:cNvPr id="193" name="Group 335"/>
              <p:cNvGrpSpPr/>
              <p:nvPr/>
            </p:nvGrpSpPr>
            <p:grpSpPr bwMode="auto">
              <a:xfrm>
                <a:off x="1363" y="1621"/>
                <a:ext cx="437" cy="213"/>
                <a:chOff x="4396" y="1245"/>
                <a:chExt cx="672" cy="248"/>
              </a:xfrm>
            </p:grpSpPr>
            <p:sp>
              <p:nvSpPr>
                <p:cNvPr id="203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06" name="Group 339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09" name="Freeform 34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10" name="Freeform 34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07" name="Line 342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08" name="Line 343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194" name="Group 344"/>
              <p:cNvGrpSpPr/>
              <p:nvPr/>
            </p:nvGrpSpPr>
            <p:grpSpPr bwMode="auto">
              <a:xfrm>
                <a:off x="2015" y="1617"/>
                <a:ext cx="437" cy="213"/>
                <a:chOff x="4396" y="1245"/>
                <a:chExt cx="672" cy="248"/>
              </a:xfrm>
            </p:grpSpPr>
            <p:sp>
              <p:nvSpPr>
                <p:cNvPr id="195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8" name="Group 348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01" name="Freeform 349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02" name="Freeform 350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199" name="Line 351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00" name="Line 352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</p:grpSp>
      <p:sp>
        <p:nvSpPr>
          <p:cNvPr id="234" name="灯片编号占位符 2">
            <a:extLst>
              <a:ext uri="{FF2B5EF4-FFF2-40B4-BE49-F238E27FC236}">
                <a16:creationId xmlns:a16="http://schemas.microsoft.com/office/drawing/2014/main" id="{A1578AFE-566F-4013-BC68-E5A9BE88ABB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sp>
        <p:nvSpPr>
          <p:cNvPr id="235" name="AutoShape 5">
            <a:extLst>
              <a:ext uri="{FF2B5EF4-FFF2-40B4-BE49-F238E27FC236}">
                <a16:creationId xmlns:a16="http://schemas.microsoft.com/office/drawing/2014/main" id="{6F622126-8CDC-4BF5-874D-4FAB3CB5D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sz="1500" dirty="0">
                <a:solidFill>
                  <a:srgbClr val="0066CC"/>
                </a:solidFill>
              </a:rPr>
              <a:t>从</a:t>
            </a:r>
            <a:r>
              <a:rPr lang="en-US" altLang="zh-CN" sz="1500" dirty="0">
                <a:solidFill>
                  <a:srgbClr val="0066CC"/>
                </a:solidFill>
              </a:rPr>
              <a:t>IPv4</a:t>
            </a:r>
            <a:r>
              <a:rPr lang="zh-CN" altLang="en-US" sz="1500" dirty="0">
                <a:solidFill>
                  <a:srgbClr val="0066CC"/>
                </a:solidFill>
              </a:rPr>
              <a:t>到</a:t>
            </a:r>
            <a:r>
              <a:rPr lang="en-US" altLang="zh-CN" sz="1500" dirty="0">
                <a:solidFill>
                  <a:srgbClr val="0066CC"/>
                </a:solidFill>
              </a:rPr>
              <a:t>IPv6</a:t>
            </a:r>
            <a:r>
              <a:rPr lang="zh-CN" altLang="en-US" sz="1500" dirty="0">
                <a:solidFill>
                  <a:srgbClr val="0066CC"/>
                </a:solidFill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迁移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733626" y="1065811"/>
            <a:ext cx="1220391" cy="25060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隧道技术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</p:txBody>
      </p:sp>
      <p:sp>
        <p:nvSpPr>
          <p:cNvPr id="110" name="Text Box 76"/>
          <p:cNvSpPr txBox="1">
            <a:spLocks noChangeArrowheads="1"/>
          </p:cNvSpPr>
          <p:nvPr/>
        </p:nvSpPr>
        <p:spPr bwMode="auto">
          <a:xfrm>
            <a:off x="2754957" y="2289029"/>
            <a:ext cx="125226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physical view:</a:t>
            </a:r>
          </a:p>
        </p:txBody>
      </p:sp>
      <p:sp>
        <p:nvSpPr>
          <p:cNvPr id="111" name="Line 147"/>
          <p:cNvSpPr>
            <a:spLocks noChangeShapeType="1"/>
          </p:cNvSpPr>
          <p:nvPr/>
        </p:nvSpPr>
        <p:spPr bwMode="auto">
          <a:xfrm flipV="1">
            <a:off x="5444579" y="2492627"/>
            <a:ext cx="174426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2" name="Text Box 180"/>
          <p:cNvSpPr txBox="1">
            <a:spLocks noChangeArrowheads="1"/>
          </p:cNvSpPr>
          <p:nvPr/>
        </p:nvSpPr>
        <p:spPr bwMode="auto">
          <a:xfrm>
            <a:off x="5693420" y="2585496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</a:rPr>
              <a:t>IPv4</a:t>
            </a:r>
          </a:p>
        </p:txBody>
      </p:sp>
      <p:sp>
        <p:nvSpPr>
          <p:cNvPr id="113" name="Text Box 181"/>
          <p:cNvSpPr txBox="1">
            <a:spLocks noChangeArrowheads="1"/>
          </p:cNvSpPr>
          <p:nvPr/>
        </p:nvSpPr>
        <p:spPr bwMode="auto">
          <a:xfrm>
            <a:off x="6438751" y="2586686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</a:rPr>
              <a:t>IPv4</a:t>
            </a:r>
          </a:p>
        </p:txBody>
      </p:sp>
      <p:grpSp>
        <p:nvGrpSpPr>
          <p:cNvPr id="114" name="Group 254"/>
          <p:cNvGrpSpPr/>
          <p:nvPr/>
        </p:nvGrpSpPr>
        <p:grpSpPr bwMode="auto">
          <a:xfrm>
            <a:off x="5695801" y="2368802"/>
            <a:ext cx="520303" cy="253603"/>
            <a:chOff x="4396" y="1245"/>
            <a:chExt cx="672" cy="248"/>
          </a:xfrm>
        </p:grpSpPr>
        <p:sp>
          <p:nvSpPr>
            <p:cNvPr id="115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8" name="Group 258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21" name="Freeform 259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2" name="Freeform 260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9" name="Line 261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0" name="Line 262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23" name="Group 328"/>
          <p:cNvGrpSpPr/>
          <p:nvPr/>
        </p:nvGrpSpPr>
        <p:grpSpPr bwMode="auto">
          <a:xfrm>
            <a:off x="4145608" y="2111627"/>
            <a:ext cx="1304924" cy="748903"/>
            <a:chOff x="1363" y="1403"/>
            <a:chExt cx="1096" cy="629"/>
          </a:xfrm>
        </p:grpSpPr>
        <p:sp>
          <p:nvSpPr>
            <p:cNvPr id="124" name="Text Box 92"/>
            <p:cNvSpPr txBox="1">
              <a:spLocks noChangeArrowheads="1"/>
            </p:cNvSpPr>
            <p:nvPr/>
          </p:nvSpPr>
          <p:spPr bwMode="auto">
            <a:xfrm>
              <a:off x="1462" y="1403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A</a:t>
              </a:r>
            </a:p>
          </p:txBody>
        </p:sp>
        <p:sp>
          <p:nvSpPr>
            <p:cNvPr id="125" name="Text Box 108"/>
            <p:cNvSpPr txBox="1">
              <a:spLocks noChangeArrowheads="1"/>
            </p:cNvSpPr>
            <p:nvPr/>
          </p:nvSpPr>
          <p:spPr bwMode="auto">
            <a:xfrm>
              <a:off x="2121" y="1406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B</a:t>
              </a:r>
            </a:p>
          </p:txBody>
        </p:sp>
        <p:sp>
          <p:nvSpPr>
            <p:cNvPr id="126" name="Line 141"/>
            <p:cNvSpPr>
              <a:spLocks noChangeShapeType="1"/>
            </p:cNvSpPr>
            <p:nvPr/>
          </p:nvSpPr>
          <p:spPr bwMode="auto">
            <a:xfrm flipV="1">
              <a:off x="1803" y="1729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7" name="Text Box 143"/>
            <p:cNvSpPr txBox="1">
              <a:spLocks noChangeArrowheads="1"/>
            </p:cNvSpPr>
            <p:nvPr/>
          </p:nvSpPr>
          <p:spPr bwMode="auto">
            <a:xfrm>
              <a:off x="1386" y="1798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/>
                <a:t>IPv6</a:t>
              </a:r>
            </a:p>
          </p:txBody>
        </p:sp>
        <p:sp>
          <p:nvSpPr>
            <p:cNvPr id="128" name="Text Box 144"/>
            <p:cNvSpPr txBox="1">
              <a:spLocks noChangeArrowheads="1"/>
            </p:cNvSpPr>
            <p:nvPr/>
          </p:nvSpPr>
          <p:spPr bwMode="auto">
            <a:xfrm>
              <a:off x="2045" y="1799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grpSp>
          <p:nvGrpSpPr>
            <p:cNvPr id="129" name="Group 245"/>
            <p:cNvGrpSpPr/>
            <p:nvPr/>
          </p:nvGrpSpPr>
          <p:grpSpPr bwMode="auto">
            <a:xfrm>
              <a:off x="1363" y="1621"/>
              <a:ext cx="437" cy="213"/>
              <a:chOff x="4396" y="1245"/>
              <a:chExt cx="672" cy="248"/>
            </a:xfrm>
          </p:grpSpPr>
          <p:sp>
            <p:nvSpPr>
              <p:cNvPr id="139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1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2" name="Group 249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45" name="Freeform 2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6" name="Freeform 2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3" name="Line 252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44" name="Line 253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30" name="Group 263"/>
            <p:cNvGrpSpPr/>
            <p:nvPr/>
          </p:nvGrpSpPr>
          <p:grpSpPr bwMode="auto">
            <a:xfrm>
              <a:off x="2015" y="1617"/>
              <a:ext cx="437" cy="213"/>
              <a:chOff x="4396" y="1245"/>
              <a:chExt cx="672" cy="248"/>
            </a:xfrm>
          </p:grpSpPr>
          <p:sp>
            <p:nvSpPr>
              <p:cNvPr id="131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4" name="Group 267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37" name="Freeform 2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8" name="Freeform 2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5" name="Line 270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36" name="Line 271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147" name="Group 272"/>
          <p:cNvGrpSpPr/>
          <p:nvPr/>
        </p:nvGrpSpPr>
        <p:grpSpPr bwMode="auto">
          <a:xfrm>
            <a:off x="6419701" y="2371183"/>
            <a:ext cx="520303" cy="253603"/>
            <a:chOff x="4396" y="1245"/>
            <a:chExt cx="672" cy="248"/>
          </a:xfrm>
        </p:grpSpPr>
        <p:sp>
          <p:nvSpPr>
            <p:cNvPr id="148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0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51" name="Group 276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4" name="Freeform 277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5" name="Freeform 278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52" name="Line 279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3" name="Line 280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56" name="Group 303"/>
          <p:cNvGrpSpPr/>
          <p:nvPr/>
        </p:nvGrpSpPr>
        <p:grpSpPr bwMode="auto">
          <a:xfrm>
            <a:off x="7174558" y="2112817"/>
            <a:ext cx="1281113" cy="744141"/>
            <a:chOff x="3907" y="1404"/>
            <a:chExt cx="1076" cy="625"/>
          </a:xfrm>
        </p:grpSpPr>
        <p:sp>
          <p:nvSpPr>
            <p:cNvPr id="157" name="Text Box 50"/>
            <p:cNvSpPr txBox="1">
              <a:spLocks noChangeArrowheads="1"/>
            </p:cNvSpPr>
            <p:nvPr/>
          </p:nvSpPr>
          <p:spPr bwMode="auto">
            <a:xfrm>
              <a:off x="4012" y="1404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E</a:t>
              </a:r>
            </a:p>
          </p:txBody>
        </p:sp>
        <p:sp>
          <p:nvSpPr>
            <p:cNvPr id="158" name="Line 142"/>
            <p:cNvSpPr>
              <a:spLocks noChangeShapeType="1"/>
            </p:cNvSpPr>
            <p:nvPr/>
          </p:nvSpPr>
          <p:spPr bwMode="auto">
            <a:xfrm flipV="1">
              <a:off x="4352" y="1717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9" name="Text Box 145"/>
            <p:cNvSpPr txBox="1">
              <a:spLocks noChangeArrowheads="1"/>
            </p:cNvSpPr>
            <p:nvPr/>
          </p:nvSpPr>
          <p:spPr bwMode="auto">
            <a:xfrm>
              <a:off x="3951" y="1794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sp>
          <p:nvSpPr>
            <p:cNvPr id="160" name="Text Box 146"/>
            <p:cNvSpPr txBox="1">
              <a:spLocks noChangeArrowheads="1"/>
            </p:cNvSpPr>
            <p:nvPr/>
          </p:nvSpPr>
          <p:spPr bwMode="auto">
            <a:xfrm>
              <a:off x="4569" y="1796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grpSp>
          <p:nvGrpSpPr>
            <p:cNvPr id="161" name="Group 281"/>
            <p:cNvGrpSpPr/>
            <p:nvPr/>
          </p:nvGrpSpPr>
          <p:grpSpPr bwMode="auto">
            <a:xfrm>
              <a:off x="3907" y="1621"/>
              <a:ext cx="437" cy="213"/>
              <a:chOff x="4396" y="1245"/>
              <a:chExt cx="672" cy="248"/>
            </a:xfrm>
          </p:grpSpPr>
          <p:sp>
            <p:nvSpPr>
              <p:cNvPr id="172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5" name="Group 285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8" name="Freeform 286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9" name="Freeform 287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6" name="Line 288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77" name="Line 289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62" name="Group 290"/>
            <p:cNvGrpSpPr/>
            <p:nvPr/>
          </p:nvGrpSpPr>
          <p:grpSpPr bwMode="auto">
            <a:xfrm>
              <a:off x="4521" y="1619"/>
              <a:ext cx="437" cy="213"/>
              <a:chOff x="4396" y="1245"/>
              <a:chExt cx="672" cy="248"/>
            </a:xfrm>
          </p:grpSpPr>
          <p:sp>
            <p:nvSpPr>
              <p:cNvPr id="164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5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7" name="Group 294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0" name="Freeform 295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1" name="Freeform 296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68" name="Line 297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69" name="Line 298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163" name="Text Box 299"/>
            <p:cNvSpPr txBox="1">
              <a:spLocks noChangeArrowheads="1"/>
            </p:cNvSpPr>
            <p:nvPr/>
          </p:nvSpPr>
          <p:spPr bwMode="auto">
            <a:xfrm>
              <a:off x="4635" y="1408"/>
              <a:ext cx="244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F</a:t>
              </a:r>
            </a:p>
          </p:txBody>
        </p:sp>
      </p:grpSp>
      <p:sp>
        <p:nvSpPr>
          <p:cNvPr id="180" name="Text Box 300"/>
          <p:cNvSpPr txBox="1">
            <a:spLocks noChangeArrowheads="1"/>
          </p:cNvSpPr>
          <p:nvPr/>
        </p:nvSpPr>
        <p:spPr bwMode="auto">
          <a:xfrm>
            <a:off x="5812482" y="2108054"/>
            <a:ext cx="30970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C</a:t>
            </a:r>
          </a:p>
        </p:txBody>
      </p:sp>
      <p:sp>
        <p:nvSpPr>
          <p:cNvPr id="181" name="Text Box 301"/>
          <p:cNvSpPr txBox="1">
            <a:spLocks noChangeArrowheads="1"/>
          </p:cNvSpPr>
          <p:nvPr/>
        </p:nvSpPr>
        <p:spPr bwMode="auto">
          <a:xfrm>
            <a:off x="6544716" y="2110436"/>
            <a:ext cx="30970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D</a:t>
            </a:r>
          </a:p>
        </p:txBody>
      </p:sp>
      <p:grpSp>
        <p:nvGrpSpPr>
          <p:cNvPr id="182" name="Group 354"/>
          <p:cNvGrpSpPr/>
          <p:nvPr/>
        </p:nvGrpSpPr>
        <p:grpSpPr bwMode="auto">
          <a:xfrm>
            <a:off x="2866876" y="1414814"/>
            <a:ext cx="5593556" cy="759619"/>
            <a:chOff x="289" y="766"/>
            <a:chExt cx="4698" cy="638"/>
          </a:xfrm>
        </p:grpSpPr>
        <p:sp>
          <p:nvSpPr>
            <p:cNvPr id="183" name="Rectangle 67"/>
            <p:cNvSpPr>
              <a:spLocks noChangeArrowheads="1"/>
            </p:cNvSpPr>
            <p:nvPr/>
          </p:nvSpPr>
          <p:spPr bwMode="auto">
            <a:xfrm>
              <a:off x="2424" y="1085"/>
              <a:ext cx="1515" cy="42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84" name="Text Box 75"/>
            <p:cNvSpPr txBox="1">
              <a:spLocks noChangeArrowheads="1"/>
            </p:cNvSpPr>
            <p:nvPr/>
          </p:nvSpPr>
          <p:spPr bwMode="auto">
            <a:xfrm>
              <a:off x="289" y="979"/>
              <a:ext cx="939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logical view:</a:t>
              </a:r>
            </a:p>
          </p:txBody>
        </p:sp>
        <p:sp>
          <p:nvSpPr>
            <p:cNvPr id="185" name="Text Box 244"/>
            <p:cNvSpPr txBox="1">
              <a:spLocks noChangeArrowheads="1"/>
            </p:cNvSpPr>
            <p:nvPr/>
          </p:nvSpPr>
          <p:spPr bwMode="auto">
            <a:xfrm>
              <a:off x="2469" y="766"/>
              <a:ext cx="1510" cy="3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i="1">
                  <a:solidFill>
                    <a:srgbClr val="CC0000"/>
                  </a:solidFill>
                </a:rPr>
                <a:t>IPv4 tunnel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i="1">
                  <a:solidFill>
                    <a:srgbClr val="CC0000"/>
                  </a:solidFill>
                </a:rPr>
                <a:t>connecting IPv6 routers</a:t>
              </a:r>
            </a:p>
          </p:txBody>
        </p:sp>
        <p:grpSp>
          <p:nvGrpSpPr>
            <p:cNvPr id="186" name="Group 304"/>
            <p:cNvGrpSpPr/>
            <p:nvPr/>
          </p:nvGrpSpPr>
          <p:grpSpPr bwMode="auto">
            <a:xfrm>
              <a:off x="3911" y="779"/>
              <a:ext cx="1076" cy="625"/>
              <a:chOff x="3907" y="1404"/>
              <a:chExt cx="1076" cy="625"/>
            </a:xfrm>
          </p:grpSpPr>
          <p:sp>
            <p:nvSpPr>
              <p:cNvPr id="211" name="Text Box 305"/>
              <p:cNvSpPr txBox="1">
                <a:spLocks noChangeArrowheads="1"/>
              </p:cNvSpPr>
              <p:nvPr/>
            </p:nvSpPr>
            <p:spPr bwMode="auto">
              <a:xfrm>
                <a:off x="4012" y="1404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E</a:t>
                </a:r>
              </a:p>
            </p:txBody>
          </p:sp>
          <p:sp>
            <p:nvSpPr>
              <p:cNvPr id="212" name="Line 306"/>
              <p:cNvSpPr>
                <a:spLocks noChangeShapeType="1"/>
              </p:cNvSpPr>
              <p:nvPr/>
            </p:nvSpPr>
            <p:spPr bwMode="auto">
              <a:xfrm flipV="1">
                <a:off x="4352" y="171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213" name="Text Box 307"/>
              <p:cNvSpPr txBox="1">
                <a:spLocks noChangeArrowheads="1"/>
              </p:cNvSpPr>
              <p:nvPr/>
            </p:nvSpPr>
            <p:spPr bwMode="auto">
              <a:xfrm>
                <a:off x="3951" y="1794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sp>
            <p:nvSpPr>
              <p:cNvPr id="214" name="Text Box 308"/>
              <p:cNvSpPr txBox="1">
                <a:spLocks noChangeArrowheads="1"/>
              </p:cNvSpPr>
              <p:nvPr/>
            </p:nvSpPr>
            <p:spPr bwMode="auto">
              <a:xfrm>
                <a:off x="4569" y="1796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grpSp>
            <p:nvGrpSpPr>
              <p:cNvPr id="215" name="Group 309"/>
              <p:cNvGrpSpPr/>
              <p:nvPr/>
            </p:nvGrpSpPr>
            <p:grpSpPr bwMode="auto">
              <a:xfrm>
                <a:off x="3907" y="1621"/>
                <a:ext cx="437" cy="213"/>
                <a:chOff x="4396" y="1245"/>
                <a:chExt cx="672" cy="248"/>
              </a:xfrm>
            </p:grpSpPr>
            <p:sp>
              <p:nvSpPr>
                <p:cNvPr id="226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8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9" name="Group 313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32" name="Freeform 314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33" name="Freeform 315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30" name="Line 316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31" name="Line 317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216" name="Group 318"/>
              <p:cNvGrpSpPr/>
              <p:nvPr/>
            </p:nvGrpSpPr>
            <p:grpSpPr bwMode="auto">
              <a:xfrm>
                <a:off x="4521" y="1619"/>
                <a:ext cx="437" cy="213"/>
                <a:chOff x="4396" y="1245"/>
                <a:chExt cx="672" cy="248"/>
              </a:xfrm>
            </p:grpSpPr>
            <p:sp>
              <p:nvSpPr>
                <p:cNvPr id="218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1" name="Group 322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24" name="Freeform 323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25" name="Freeform 324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22" name="Line 325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23" name="Line 326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sp>
            <p:nvSpPr>
              <p:cNvPr id="217" name="Text Box 327"/>
              <p:cNvSpPr txBox="1">
                <a:spLocks noChangeArrowheads="1"/>
              </p:cNvSpPr>
              <p:nvPr/>
            </p:nvSpPr>
            <p:spPr bwMode="auto">
              <a:xfrm>
                <a:off x="4635" y="1408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F</a:t>
                </a:r>
              </a:p>
            </p:txBody>
          </p:sp>
        </p:grpSp>
        <p:grpSp>
          <p:nvGrpSpPr>
            <p:cNvPr id="187" name="Group 329"/>
            <p:cNvGrpSpPr/>
            <p:nvPr/>
          </p:nvGrpSpPr>
          <p:grpSpPr bwMode="auto">
            <a:xfrm>
              <a:off x="1361" y="771"/>
              <a:ext cx="1096" cy="629"/>
              <a:chOff x="1363" y="1403"/>
              <a:chExt cx="1096" cy="629"/>
            </a:xfrm>
          </p:grpSpPr>
          <p:sp>
            <p:nvSpPr>
              <p:cNvPr id="188" name="Text Box 330"/>
              <p:cNvSpPr txBox="1">
                <a:spLocks noChangeArrowheads="1"/>
              </p:cNvSpPr>
              <p:nvPr/>
            </p:nvSpPr>
            <p:spPr bwMode="auto">
              <a:xfrm>
                <a:off x="1462" y="1403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A</a:t>
                </a:r>
              </a:p>
            </p:txBody>
          </p:sp>
          <p:sp>
            <p:nvSpPr>
              <p:cNvPr id="189" name="Text Box 331"/>
              <p:cNvSpPr txBox="1">
                <a:spLocks noChangeArrowheads="1"/>
              </p:cNvSpPr>
              <p:nvPr/>
            </p:nvSpPr>
            <p:spPr bwMode="auto">
              <a:xfrm>
                <a:off x="2121" y="1406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B</a:t>
                </a:r>
              </a:p>
            </p:txBody>
          </p:sp>
          <p:sp>
            <p:nvSpPr>
              <p:cNvPr id="190" name="Line 332"/>
              <p:cNvSpPr>
                <a:spLocks noChangeShapeType="1"/>
              </p:cNvSpPr>
              <p:nvPr/>
            </p:nvSpPr>
            <p:spPr bwMode="auto">
              <a:xfrm flipV="1">
                <a:off x="1803" y="1729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91" name="Text Box 333"/>
              <p:cNvSpPr txBox="1">
                <a:spLocks noChangeArrowheads="1"/>
              </p:cNvSpPr>
              <p:nvPr/>
            </p:nvSpPr>
            <p:spPr bwMode="auto">
              <a:xfrm>
                <a:off x="1386" y="1798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sp>
            <p:nvSpPr>
              <p:cNvPr id="192" name="Text Box 334"/>
              <p:cNvSpPr txBox="1">
                <a:spLocks noChangeArrowheads="1"/>
              </p:cNvSpPr>
              <p:nvPr/>
            </p:nvSpPr>
            <p:spPr bwMode="auto">
              <a:xfrm>
                <a:off x="2045" y="1799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grpSp>
            <p:nvGrpSpPr>
              <p:cNvPr id="193" name="Group 335"/>
              <p:cNvGrpSpPr/>
              <p:nvPr/>
            </p:nvGrpSpPr>
            <p:grpSpPr bwMode="auto">
              <a:xfrm>
                <a:off x="1363" y="1621"/>
                <a:ext cx="437" cy="213"/>
                <a:chOff x="4396" y="1245"/>
                <a:chExt cx="672" cy="248"/>
              </a:xfrm>
            </p:grpSpPr>
            <p:sp>
              <p:nvSpPr>
                <p:cNvPr id="203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06" name="Group 339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09" name="Freeform 34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10" name="Freeform 34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07" name="Line 342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08" name="Line 343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194" name="Group 344"/>
              <p:cNvGrpSpPr/>
              <p:nvPr/>
            </p:nvGrpSpPr>
            <p:grpSpPr bwMode="auto">
              <a:xfrm>
                <a:off x="2015" y="1617"/>
                <a:ext cx="437" cy="213"/>
                <a:chOff x="4396" y="1245"/>
                <a:chExt cx="672" cy="248"/>
              </a:xfrm>
            </p:grpSpPr>
            <p:sp>
              <p:nvSpPr>
                <p:cNvPr id="195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8" name="Group 348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01" name="Freeform 349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02" name="Freeform 350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199" name="Line 351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00" name="Line 352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</p:grpSp>
      <p:grpSp>
        <p:nvGrpSpPr>
          <p:cNvPr id="302" name="Group 352"/>
          <p:cNvGrpSpPr/>
          <p:nvPr/>
        </p:nvGrpSpPr>
        <p:grpSpPr bwMode="auto">
          <a:xfrm>
            <a:off x="3992113" y="2878085"/>
            <a:ext cx="664368" cy="1984772"/>
            <a:chOff x="1589" y="2174"/>
            <a:chExt cx="558" cy="1667"/>
          </a:xfrm>
        </p:grpSpPr>
        <p:grpSp>
          <p:nvGrpSpPr>
            <p:cNvPr id="303" name="Group 212"/>
            <p:cNvGrpSpPr/>
            <p:nvPr/>
          </p:nvGrpSpPr>
          <p:grpSpPr bwMode="auto">
            <a:xfrm>
              <a:off x="1625" y="2200"/>
              <a:ext cx="500" cy="917"/>
              <a:chOff x="643" y="2144"/>
              <a:chExt cx="500" cy="917"/>
            </a:xfrm>
          </p:grpSpPr>
          <p:sp>
            <p:nvSpPr>
              <p:cNvPr id="307" name="Rectangle 183"/>
              <p:cNvSpPr>
                <a:spLocks noChangeArrowheads="1"/>
              </p:cNvSpPr>
              <p:nvPr/>
            </p:nvSpPr>
            <p:spPr bwMode="auto"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308" name="Text Box 184"/>
              <p:cNvSpPr txBox="1">
                <a:spLocks noChangeArrowheads="1"/>
              </p:cNvSpPr>
              <p:nvPr/>
            </p:nvSpPr>
            <p:spPr bwMode="auto">
              <a:xfrm>
                <a:off x="643" y="2169"/>
                <a:ext cx="500" cy="8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050"/>
                  <a:t>flow: X</a:t>
                </a:r>
              </a:p>
              <a:p>
                <a:r>
                  <a:rPr lang="en-US" altLang="zh-CN" sz="1050"/>
                  <a:t>src: A</a:t>
                </a:r>
              </a:p>
              <a:p>
                <a:r>
                  <a:rPr lang="en-US" altLang="zh-CN" sz="1050"/>
                  <a:t>dest: F</a:t>
                </a:r>
              </a:p>
              <a:p>
                <a:endParaRPr lang="en-US" altLang="zh-CN" sz="1050"/>
              </a:p>
              <a:p>
                <a:endParaRPr lang="en-US" altLang="zh-CN" sz="1050"/>
              </a:p>
              <a:p>
                <a:r>
                  <a:rPr lang="en-US" altLang="zh-CN" sz="1050"/>
                  <a:t>data</a:t>
                </a:r>
              </a:p>
            </p:txBody>
          </p:sp>
        </p:grpSp>
        <p:sp>
          <p:nvSpPr>
            <p:cNvPr id="304" name="Line 194"/>
            <p:cNvSpPr>
              <a:spLocks noChangeShapeType="1"/>
            </p:cNvSpPr>
            <p:nvPr/>
          </p:nvSpPr>
          <p:spPr bwMode="auto">
            <a:xfrm>
              <a:off x="1661" y="2174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05" name="Text Box 204"/>
            <p:cNvSpPr txBox="1">
              <a:spLocks noChangeArrowheads="1"/>
            </p:cNvSpPr>
            <p:nvPr/>
          </p:nvSpPr>
          <p:spPr bwMode="auto">
            <a:xfrm>
              <a:off x="1589" y="3500"/>
              <a:ext cx="558" cy="3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A-to-B: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IPv6</a:t>
              </a:r>
            </a:p>
          </p:txBody>
        </p:sp>
        <p:sp>
          <p:nvSpPr>
            <p:cNvPr id="306" name="Line 205"/>
            <p:cNvSpPr>
              <a:spLocks noChangeShapeType="1"/>
            </p:cNvSpPr>
            <p:nvPr/>
          </p:nvSpPr>
          <p:spPr bwMode="auto">
            <a:xfrm>
              <a:off x="1856" y="3230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09" name="Group 353"/>
          <p:cNvGrpSpPr/>
          <p:nvPr/>
        </p:nvGrpSpPr>
        <p:grpSpPr bwMode="auto">
          <a:xfrm>
            <a:off x="4730300" y="2872133"/>
            <a:ext cx="934640" cy="2147889"/>
            <a:chOff x="2209" y="2169"/>
            <a:chExt cx="785" cy="1804"/>
          </a:xfrm>
        </p:grpSpPr>
        <p:grpSp>
          <p:nvGrpSpPr>
            <p:cNvPr id="310" name="Group 216"/>
            <p:cNvGrpSpPr/>
            <p:nvPr/>
          </p:nvGrpSpPr>
          <p:grpSpPr bwMode="auto">
            <a:xfrm>
              <a:off x="2225" y="2194"/>
              <a:ext cx="620" cy="1287"/>
              <a:chOff x="441" y="2082"/>
              <a:chExt cx="620" cy="1287"/>
            </a:xfrm>
          </p:grpSpPr>
          <p:sp>
            <p:nvSpPr>
              <p:cNvPr id="314" name="Rectangle 189"/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281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315" name="Group 190"/>
              <p:cNvGrpSpPr/>
              <p:nvPr/>
            </p:nvGrpSpPr>
            <p:grpSpPr bwMode="auto">
              <a:xfrm>
                <a:off x="499" y="2435"/>
                <a:ext cx="532" cy="910"/>
                <a:chOff x="4869" y="107"/>
                <a:chExt cx="532" cy="910"/>
              </a:xfrm>
            </p:grpSpPr>
            <p:sp>
              <p:nvSpPr>
                <p:cNvPr id="317" name="Rectangle 191"/>
                <p:cNvSpPr>
                  <a:spLocks noChangeArrowheads="1"/>
                </p:cNvSpPr>
                <p:nvPr/>
              </p:nvSpPr>
              <p:spPr bwMode="auto">
                <a:xfrm>
                  <a:off x="4893" y="107"/>
                  <a:ext cx="462" cy="908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350"/>
                </a:p>
              </p:txBody>
            </p:sp>
            <p:sp>
              <p:nvSpPr>
                <p:cNvPr id="318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4869" y="125"/>
                  <a:ext cx="532" cy="8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sz="1050" dirty="0"/>
                    <a:t>Flow: X</a:t>
                  </a:r>
                </a:p>
                <a:p>
                  <a:r>
                    <a:rPr lang="en-US" altLang="zh-CN" sz="1050" dirty="0" err="1"/>
                    <a:t>Src</a:t>
                  </a:r>
                  <a:r>
                    <a:rPr lang="en-US" altLang="zh-CN" sz="1050" dirty="0"/>
                    <a:t>: A</a:t>
                  </a:r>
                </a:p>
                <a:p>
                  <a:r>
                    <a:rPr lang="en-US" altLang="zh-CN" sz="1050" dirty="0" err="1"/>
                    <a:t>Dest</a:t>
                  </a:r>
                  <a:r>
                    <a:rPr lang="en-US" altLang="zh-CN" sz="1050" dirty="0"/>
                    <a:t>: F</a:t>
                  </a:r>
                </a:p>
                <a:p>
                  <a:endParaRPr lang="en-US" altLang="zh-CN" sz="1050" dirty="0"/>
                </a:p>
                <a:p>
                  <a:endParaRPr lang="en-US" altLang="zh-CN" sz="1050" dirty="0"/>
                </a:p>
                <a:p>
                  <a:r>
                    <a:rPr lang="en-US" altLang="zh-CN" sz="1050" dirty="0"/>
                    <a:t>data</a:t>
                  </a:r>
                </a:p>
              </p:txBody>
            </p:sp>
          </p:grpSp>
          <p:sp>
            <p:nvSpPr>
              <p:cNvPr id="316" name="Text Box 193"/>
              <p:cNvSpPr txBox="1">
                <a:spLocks noChangeArrowheads="1"/>
              </p:cNvSpPr>
              <p:nvPr/>
            </p:nvSpPr>
            <p:spPr bwMode="auto">
              <a:xfrm>
                <a:off x="441" y="2082"/>
                <a:ext cx="558" cy="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src:B</a:t>
                </a:r>
                <a:endParaRPr lang="en-US" sz="1200" dirty="0">
                  <a:solidFill>
                    <a:schemeClr val="bg1"/>
                  </a:solidFill>
                </a:endParaRPr>
              </a:p>
              <a:p>
                <a:pPr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dest</a:t>
                </a:r>
                <a:r>
                  <a:rPr lang="en-US" sz="1200" dirty="0">
                    <a:solidFill>
                      <a:schemeClr val="bg1"/>
                    </a:solidFill>
                  </a:rPr>
                  <a:t>: E</a:t>
                </a:r>
              </a:p>
            </p:txBody>
          </p:sp>
        </p:grpSp>
        <p:sp>
          <p:nvSpPr>
            <p:cNvPr id="311" name="Line 195"/>
            <p:cNvSpPr>
              <a:spLocks noChangeShapeType="1"/>
            </p:cNvSpPr>
            <p:nvPr/>
          </p:nvSpPr>
          <p:spPr bwMode="auto">
            <a:xfrm>
              <a:off x="2345" y="2169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12" name="Text Box 208"/>
            <p:cNvSpPr txBox="1">
              <a:spLocks noChangeArrowheads="1"/>
            </p:cNvSpPr>
            <p:nvPr/>
          </p:nvSpPr>
          <p:spPr bwMode="auto">
            <a:xfrm>
              <a:off x="2209" y="3500"/>
              <a:ext cx="785" cy="4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B-to-C: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IPv6 inside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IPv4</a:t>
              </a:r>
            </a:p>
          </p:txBody>
        </p:sp>
        <p:sp>
          <p:nvSpPr>
            <p:cNvPr id="313" name="Line 209"/>
            <p:cNvSpPr>
              <a:spLocks noChangeShapeType="1"/>
            </p:cNvSpPr>
            <p:nvPr/>
          </p:nvSpPr>
          <p:spPr bwMode="auto">
            <a:xfrm>
              <a:off x="2588" y="3455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19" name="Group 355"/>
          <p:cNvGrpSpPr/>
          <p:nvPr/>
        </p:nvGrpSpPr>
        <p:grpSpPr bwMode="auto">
          <a:xfrm>
            <a:off x="7161556" y="2876896"/>
            <a:ext cx="685800" cy="1985963"/>
            <a:chOff x="4251" y="2173"/>
            <a:chExt cx="576" cy="1668"/>
          </a:xfrm>
        </p:grpSpPr>
        <p:sp>
          <p:nvSpPr>
            <p:cNvPr id="320" name="Line 197"/>
            <p:cNvSpPr>
              <a:spLocks noChangeShapeType="1"/>
            </p:cNvSpPr>
            <p:nvPr/>
          </p:nvSpPr>
          <p:spPr bwMode="auto">
            <a:xfrm>
              <a:off x="4292" y="2173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21" name="Text Box 206"/>
            <p:cNvSpPr txBox="1">
              <a:spLocks noChangeArrowheads="1"/>
            </p:cNvSpPr>
            <p:nvPr/>
          </p:nvSpPr>
          <p:spPr bwMode="auto">
            <a:xfrm>
              <a:off x="4276" y="3500"/>
              <a:ext cx="551" cy="3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E-to-F: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IPv6</a:t>
              </a:r>
            </a:p>
          </p:txBody>
        </p:sp>
        <p:sp>
          <p:nvSpPr>
            <p:cNvPr id="322" name="Line 207"/>
            <p:cNvSpPr>
              <a:spLocks noChangeShapeType="1"/>
            </p:cNvSpPr>
            <p:nvPr/>
          </p:nvSpPr>
          <p:spPr bwMode="auto">
            <a:xfrm>
              <a:off x="4540" y="3238"/>
              <a:ext cx="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323" name="Group 213"/>
            <p:cNvGrpSpPr/>
            <p:nvPr/>
          </p:nvGrpSpPr>
          <p:grpSpPr bwMode="auto">
            <a:xfrm>
              <a:off x="4251" y="2205"/>
              <a:ext cx="500" cy="917"/>
              <a:chOff x="643" y="2144"/>
              <a:chExt cx="500" cy="917"/>
            </a:xfrm>
          </p:grpSpPr>
          <p:sp>
            <p:nvSpPr>
              <p:cNvPr id="324" name="Rectangle 214"/>
              <p:cNvSpPr>
                <a:spLocks noChangeArrowheads="1"/>
              </p:cNvSpPr>
              <p:nvPr/>
            </p:nvSpPr>
            <p:spPr bwMode="auto"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325" name="Text Box 215"/>
              <p:cNvSpPr txBox="1">
                <a:spLocks noChangeArrowheads="1"/>
              </p:cNvSpPr>
              <p:nvPr/>
            </p:nvSpPr>
            <p:spPr bwMode="auto">
              <a:xfrm>
                <a:off x="643" y="2169"/>
                <a:ext cx="500" cy="8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050" dirty="0"/>
                  <a:t>flow: X</a:t>
                </a:r>
              </a:p>
              <a:p>
                <a:r>
                  <a:rPr lang="en-US" altLang="zh-CN" sz="1050" dirty="0" err="1"/>
                  <a:t>src</a:t>
                </a:r>
                <a:r>
                  <a:rPr lang="en-US" altLang="zh-CN" sz="1050" dirty="0"/>
                  <a:t>: A</a:t>
                </a:r>
              </a:p>
              <a:p>
                <a:r>
                  <a:rPr lang="en-US" altLang="zh-CN" sz="1050" dirty="0" err="1"/>
                  <a:t>dest</a:t>
                </a:r>
                <a:r>
                  <a:rPr lang="en-US" altLang="zh-CN" sz="1050" dirty="0"/>
                  <a:t>: F</a:t>
                </a:r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r>
                  <a:rPr lang="en-US" altLang="zh-CN" sz="1050" dirty="0"/>
                  <a:t>data</a:t>
                </a:r>
              </a:p>
            </p:txBody>
          </p:sp>
        </p:grpSp>
      </p:grpSp>
      <p:grpSp>
        <p:nvGrpSpPr>
          <p:cNvPr id="326" name="Group 354"/>
          <p:cNvGrpSpPr/>
          <p:nvPr/>
        </p:nvGrpSpPr>
        <p:grpSpPr bwMode="auto">
          <a:xfrm>
            <a:off x="6249539" y="2894754"/>
            <a:ext cx="934641" cy="2125267"/>
            <a:chOff x="3485" y="2188"/>
            <a:chExt cx="785" cy="1785"/>
          </a:xfrm>
        </p:grpSpPr>
        <p:sp>
          <p:nvSpPr>
            <p:cNvPr id="327" name="Line 196"/>
            <p:cNvSpPr>
              <a:spLocks noChangeShapeType="1"/>
            </p:cNvSpPr>
            <p:nvPr/>
          </p:nvSpPr>
          <p:spPr bwMode="auto">
            <a:xfrm>
              <a:off x="3627" y="2188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28" name="Text Box 210"/>
            <p:cNvSpPr txBox="1">
              <a:spLocks noChangeArrowheads="1"/>
            </p:cNvSpPr>
            <p:nvPr/>
          </p:nvSpPr>
          <p:spPr bwMode="auto">
            <a:xfrm>
              <a:off x="3485" y="3500"/>
              <a:ext cx="785" cy="4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/>
                <a:t>B-to-C: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/>
                <a:t>IPv6 inside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/>
                <a:t>IPv4</a:t>
              </a:r>
            </a:p>
          </p:txBody>
        </p:sp>
        <p:sp>
          <p:nvSpPr>
            <p:cNvPr id="329" name="Line 211"/>
            <p:cNvSpPr>
              <a:spLocks noChangeShapeType="1"/>
            </p:cNvSpPr>
            <p:nvPr/>
          </p:nvSpPr>
          <p:spPr bwMode="auto">
            <a:xfrm>
              <a:off x="3883" y="3455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330" name="Group 217"/>
            <p:cNvGrpSpPr/>
            <p:nvPr/>
          </p:nvGrpSpPr>
          <p:grpSpPr bwMode="auto">
            <a:xfrm>
              <a:off x="3521" y="2220"/>
              <a:ext cx="620" cy="1261"/>
              <a:chOff x="441" y="2082"/>
              <a:chExt cx="620" cy="1261"/>
            </a:xfrm>
          </p:grpSpPr>
          <p:sp>
            <p:nvSpPr>
              <p:cNvPr id="331" name="Rectangle 218"/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255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332" name="Group 219"/>
              <p:cNvGrpSpPr/>
              <p:nvPr/>
            </p:nvGrpSpPr>
            <p:grpSpPr bwMode="auto">
              <a:xfrm>
                <a:off x="499" y="2410"/>
                <a:ext cx="532" cy="910"/>
                <a:chOff x="4869" y="82"/>
                <a:chExt cx="532" cy="910"/>
              </a:xfrm>
            </p:grpSpPr>
            <p:sp>
              <p:nvSpPr>
                <p:cNvPr id="334" name="Rectangle 220"/>
                <p:cNvSpPr>
                  <a:spLocks noChangeArrowheads="1"/>
                </p:cNvSpPr>
                <p:nvPr/>
              </p:nvSpPr>
              <p:spPr bwMode="auto">
                <a:xfrm>
                  <a:off x="4893" y="82"/>
                  <a:ext cx="462" cy="908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350"/>
                </a:p>
              </p:txBody>
            </p:sp>
            <p:sp>
              <p:nvSpPr>
                <p:cNvPr id="335" name="Text Box 221"/>
                <p:cNvSpPr txBox="1">
                  <a:spLocks noChangeArrowheads="1"/>
                </p:cNvSpPr>
                <p:nvPr/>
              </p:nvSpPr>
              <p:spPr bwMode="auto">
                <a:xfrm>
                  <a:off x="4869" y="100"/>
                  <a:ext cx="532" cy="8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sz="1050" dirty="0"/>
                    <a:t>Flow: X</a:t>
                  </a:r>
                </a:p>
                <a:p>
                  <a:r>
                    <a:rPr lang="en-US" altLang="zh-CN" sz="1050" dirty="0" err="1"/>
                    <a:t>Src</a:t>
                  </a:r>
                  <a:r>
                    <a:rPr lang="en-US" altLang="zh-CN" sz="1050" dirty="0"/>
                    <a:t>: A</a:t>
                  </a:r>
                </a:p>
                <a:p>
                  <a:r>
                    <a:rPr lang="en-US" altLang="zh-CN" sz="1050" dirty="0" err="1"/>
                    <a:t>Dest</a:t>
                  </a:r>
                  <a:r>
                    <a:rPr lang="en-US" altLang="zh-CN" sz="1050" dirty="0"/>
                    <a:t>: F</a:t>
                  </a:r>
                </a:p>
                <a:p>
                  <a:endParaRPr lang="en-US" altLang="zh-CN" sz="1050" dirty="0"/>
                </a:p>
                <a:p>
                  <a:endParaRPr lang="en-US" altLang="zh-CN" sz="1050" dirty="0"/>
                </a:p>
                <a:p>
                  <a:r>
                    <a:rPr lang="en-US" altLang="zh-CN" sz="1050" dirty="0"/>
                    <a:t>data</a:t>
                  </a:r>
                </a:p>
              </p:txBody>
            </p:sp>
          </p:grpSp>
          <p:sp>
            <p:nvSpPr>
              <p:cNvPr id="333" name="Text Box 222"/>
              <p:cNvSpPr txBox="1">
                <a:spLocks noChangeArrowheads="1"/>
              </p:cNvSpPr>
              <p:nvPr/>
            </p:nvSpPr>
            <p:spPr bwMode="auto">
              <a:xfrm>
                <a:off x="441" y="2082"/>
                <a:ext cx="558" cy="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src:B</a:t>
                </a:r>
                <a:endParaRPr lang="en-US" sz="1200" dirty="0">
                  <a:solidFill>
                    <a:schemeClr val="bg1"/>
                  </a:solidFill>
                </a:endParaRPr>
              </a:p>
              <a:p>
                <a:pPr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dest</a:t>
                </a:r>
                <a:r>
                  <a:rPr lang="en-US" sz="1200" dirty="0">
                    <a:solidFill>
                      <a:schemeClr val="bg1"/>
                    </a:solidFill>
                  </a:rPr>
                  <a:t>: E</a:t>
                </a:r>
              </a:p>
            </p:txBody>
          </p:sp>
        </p:grpSp>
      </p:grpSp>
      <p:sp>
        <p:nvSpPr>
          <p:cNvPr id="234" name="灯片编号占位符 2">
            <a:extLst>
              <a:ext uri="{FF2B5EF4-FFF2-40B4-BE49-F238E27FC236}">
                <a16:creationId xmlns:a16="http://schemas.microsoft.com/office/drawing/2014/main" id="{AB11DB0D-DD62-4F46-912F-6E4B1D531DA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sp>
        <p:nvSpPr>
          <p:cNvPr id="235" name="AutoShape 5">
            <a:extLst>
              <a:ext uri="{FF2B5EF4-FFF2-40B4-BE49-F238E27FC236}">
                <a16:creationId xmlns:a16="http://schemas.microsoft.com/office/drawing/2014/main" id="{48B59F61-3159-4DB3-99F8-FD9F7D3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2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>
            <a:extLst>
              <a:ext uri="{FF2B5EF4-FFF2-40B4-BE49-F238E27FC236}">
                <a16:creationId xmlns:a16="http://schemas.microsoft.com/office/drawing/2014/main" id="{FE82C124-05F8-4A37-9327-0DFF598C1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  <a:endParaRPr lang="en-US" dirty="0">
              <a:cs typeface="+mj-cs"/>
            </a:endParaRP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1E1BCC16-8BE1-40C3-9ABA-5088B57D317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67544" y="987574"/>
            <a:ext cx="6264695" cy="377968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</a:rPr>
              <a:t>4.4.6 IPv6</a:t>
            </a:r>
            <a:r>
              <a:rPr lang="zh-CN" altLang="en-US" dirty="0">
                <a:solidFill>
                  <a:srgbClr val="0066CC"/>
                </a:solidFill>
              </a:rPr>
              <a:t>简介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r>
              <a:rPr lang="zh-CN" altLang="en-US" dirty="0">
                <a:cs typeface="ＭＳ Ｐゴシック" panose="020B0600070205080204" pitchFamily="34" charset="-128"/>
              </a:rPr>
              <a:t>什么时候才能全面采用？</a:t>
            </a:r>
            <a:endParaRPr lang="en-US" altLang="zh-CN" dirty="0">
              <a:cs typeface="ＭＳ Ｐゴシック" panose="020B0600070205080204" pitchFamily="34" charset="-128"/>
            </a:endParaRPr>
          </a:p>
          <a:p>
            <a:pPr lvl="2"/>
            <a:r>
              <a:rPr lang="en-US" altLang="zh-CN" sz="1600" dirty="0">
                <a:cs typeface="ＭＳ Ｐゴシック" panose="020B0600070205080204" pitchFamily="34" charset="-128"/>
              </a:rPr>
              <a:t>Google: 8% </a:t>
            </a:r>
            <a:r>
              <a:rPr lang="zh-CN" altLang="en-US" sz="1600" dirty="0">
                <a:cs typeface="ＭＳ Ｐゴシック" panose="020B0600070205080204" pitchFamily="34" charset="-128"/>
              </a:rPr>
              <a:t>的客户端使用</a:t>
            </a:r>
            <a:r>
              <a:rPr lang="en-US" altLang="zh-CN" sz="1600" dirty="0">
                <a:cs typeface="ＭＳ Ｐゴシック" panose="020B0600070205080204" pitchFamily="34" charset="-128"/>
              </a:rPr>
              <a:t>IPv6</a:t>
            </a:r>
            <a:r>
              <a:rPr lang="zh-CN" altLang="en-US" sz="1600" dirty="0">
                <a:cs typeface="ＭＳ Ｐゴシック" panose="020B0600070205080204" pitchFamily="34" charset="-128"/>
              </a:rPr>
              <a:t>访问服务</a:t>
            </a:r>
            <a:endParaRPr lang="en-US" altLang="zh-CN" sz="1600" dirty="0">
              <a:cs typeface="ＭＳ Ｐゴシック" panose="020B0600070205080204" pitchFamily="34" charset="-128"/>
            </a:endParaRPr>
          </a:p>
          <a:p>
            <a:pPr lvl="2"/>
            <a:r>
              <a:rPr lang="en-US" altLang="zh-CN" sz="1600" dirty="0">
                <a:cs typeface="ＭＳ Ｐゴシック" panose="020B0600070205080204" pitchFamily="34" charset="-128"/>
              </a:rPr>
              <a:t>NIST: US</a:t>
            </a:r>
            <a:r>
              <a:rPr lang="zh-CN" altLang="en-US" sz="1600" dirty="0">
                <a:cs typeface="ＭＳ Ｐゴシック" panose="020B0600070205080204" pitchFamily="34" charset="-128"/>
              </a:rPr>
              <a:t>政府有</a:t>
            </a:r>
            <a:r>
              <a:rPr lang="en-US" altLang="zh-CN" sz="1600" dirty="0">
                <a:cs typeface="ＭＳ Ｐゴシック" panose="020B0600070205080204" pitchFamily="34" charset="-128"/>
              </a:rPr>
              <a:t>1/3</a:t>
            </a:r>
            <a:r>
              <a:rPr lang="zh-CN" altLang="en-US" sz="1600" dirty="0">
                <a:cs typeface="ＭＳ Ｐゴシック" panose="020B0600070205080204" pitchFamily="34" charset="-128"/>
              </a:rPr>
              <a:t>的域支持</a:t>
            </a:r>
            <a:r>
              <a:rPr lang="en-US" altLang="zh-CN" sz="1600" dirty="0">
                <a:cs typeface="ＭＳ Ｐゴシック" panose="020B0600070205080204" pitchFamily="34" charset="-128"/>
              </a:rPr>
              <a:t>IPv6</a:t>
            </a:r>
            <a:endParaRPr lang="en-US" altLang="zh-CN" sz="1800" dirty="0">
              <a:cs typeface="ＭＳ Ｐゴシック" panose="020B0600070205080204" pitchFamily="34" charset="-128"/>
            </a:endParaRPr>
          </a:p>
          <a:p>
            <a:pPr marL="342900" lvl="1" indent="0">
              <a:buNone/>
            </a:pPr>
            <a:endParaRPr lang="en-US" altLang="zh-CN" sz="1600" dirty="0"/>
          </a:p>
          <a:p>
            <a:pPr lvl="1"/>
            <a:r>
              <a:rPr lang="en-US" altLang="zh-CN" dirty="0">
                <a:solidFill>
                  <a:srgbClr val="CC0000"/>
                </a:solidFill>
                <a:cs typeface="ＭＳ Ｐゴシック" panose="020B0600070205080204" pitchFamily="34" charset="-128"/>
              </a:rPr>
              <a:t>IPv6 </a:t>
            </a:r>
            <a:r>
              <a:rPr lang="zh-CN" altLang="en-US" dirty="0">
                <a:solidFill>
                  <a:srgbClr val="CC0000"/>
                </a:solidFill>
                <a:cs typeface="ＭＳ Ｐゴシック" panose="020B0600070205080204" pitchFamily="34" charset="-128"/>
              </a:rPr>
              <a:t>还需很长的时间才能全面部署和使用</a:t>
            </a:r>
            <a:endParaRPr lang="en-US" altLang="zh-CN" dirty="0">
              <a:solidFill>
                <a:srgbClr val="CC0000"/>
              </a:solidFill>
              <a:cs typeface="ＭＳ Ｐゴシック" panose="020B0600070205080204" pitchFamily="34" charset="-128"/>
            </a:endParaRPr>
          </a:p>
          <a:p>
            <a:pPr marL="1028700" lvl="3" indent="-239713"/>
            <a:r>
              <a:rPr lang="en-US" altLang="zh-CN" sz="1600" dirty="0"/>
              <a:t>20 years and counting!</a:t>
            </a:r>
          </a:p>
          <a:p>
            <a:pPr marL="1028700" lvl="3" indent="-239713"/>
            <a:r>
              <a:rPr lang="en-US" altLang="zh-CN" sz="1600" dirty="0"/>
              <a:t>think of application-level changes in last 20 years: WWW, Facebook, streaming media, Skype, …</a:t>
            </a:r>
          </a:p>
          <a:p>
            <a:pPr marL="1028700" lvl="3" indent="-239713"/>
            <a:r>
              <a:rPr lang="en-US" altLang="zh-CN" sz="1600" i="1" dirty="0">
                <a:solidFill>
                  <a:srgbClr val="CC0000"/>
                </a:solidFill>
              </a:rPr>
              <a:t>Why?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CF35B390-787C-4E6C-A268-B05FAD29225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51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0670D6CD-BADD-4B3C-AE18-ED4D63DA4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4032448" cy="432000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/>
              <a:t>4.4 </a:t>
            </a:r>
            <a:r>
              <a:rPr lang="zh-CN" altLang="en-US" sz="2400" dirty="0"/>
              <a:t>通用转发和</a:t>
            </a:r>
            <a:r>
              <a:rPr lang="en-US" altLang="zh-CN" sz="2400" dirty="0"/>
              <a:t>SDN(</a:t>
            </a:r>
            <a:r>
              <a:rPr lang="zh-CN" altLang="en-US" sz="2400" dirty="0"/>
              <a:t>自学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1741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5CCC462-18FA-4C60-BBC1-32F2A2BB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4F079A-D63F-4968-9E1B-93A338A95F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IPv4: NAT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ICMP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IPv6</a:t>
            </a:r>
          </a:p>
          <a:p>
            <a:pPr lvl="1"/>
            <a:endParaRPr lang="zh-CN" altLang="en-US" dirty="0"/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7B62C91-B58D-43FD-83B8-AAA396FDB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805307"/>
            <a:ext cx="3272963" cy="1790704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2DB81682-A07D-4157-8737-299DB0E0A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068" y="3180858"/>
            <a:ext cx="2467296" cy="1768671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B23DB53A-8A9A-4600-969D-4DB0629EC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369" y="1735246"/>
            <a:ext cx="3057990" cy="1298122"/>
          </a:xfrm>
          <a:prstGeom prst="rect">
            <a:avLst/>
          </a:prstGeom>
        </p:spPr>
      </p:pic>
      <p:sp>
        <p:nvSpPr>
          <p:cNvPr id="101" name="灯片编号占位符 2">
            <a:extLst>
              <a:ext uri="{FF2B5EF4-FFF2-40B4-BE49-F238E27FC236}">
                <a16:creationId xmlns:a16="http://schemas.microsoft.com/office/drawing/2014/main" id="{724648C9-E6C6-4E92-BA6F-CDA04C2A6AD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53</a:t>
            </a:fld>
            <a:endParaRPr lang="en-US" altLang="zh-CN" dirty="0"/>
          </a:p>
        </p:txBody>
      </p:sp>
      <p:sp>
        <p:nvSpPr>
          <p:cNvPr id="102" name="AutoShape 5">
            <a:extLst>
              <a:ext uri="{FF2B5EF4-FFF2-40B4-BE49-F238E27FC236}">
                <a16:creationId xmlns:a16="http://schemas.microsoft.com/office/drawing/2014/main" id="{A05E835F-C0DA-4454-B755-C41E1B202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316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2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2025/4/7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E25467C6-F7F9-47B8-AE23-3C87BB8AD566}" vid="{BC9338DA-AB37-4861-BD4C-BC6C68590DDB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E25467C6-F7F9-47B8-AE23-3C87BB8AD566}" vid="{BC9338DA-AB37-4861-BD4C-BC6C68590DDB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1526</TotalTime>
  <Words>3326</Words>
  <Application>Microsoft Office PowerPoint</Application>
  <PresentationFormat>全屏显示(16:9)</PresentationFormat>
  <Paragraphs>879</Paragraphs>
  <Slides>54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9" baseType="lpstr">
      <vt:lpstr>Courier</vt:lpstr>
      <vt:lpstr>等线</vt:lpstr>
      <vt:lpstr>等线 Light</vt:lpstr>
      <vt:lpstr>微软雅黑</vt:lpstr>
      <vt:lpstr>Arial</vt:lpstr>
      <vt:lpstr>Arial Black</vt:lpstr>
      <vt:lpstr>Calibri</vt:lpstr>
      <vt:lpstr>Comic Sans MS</vt:lpstr>
      <vt:lpstr>Courier New</vt:lpstr>
      <vt:lpstr>Gill Sans MT</vt:lpstr>
      <vt:lpstr>Times New Roman</vt:lpstr>
      <vt:lpstr>Wingdings</vt:lpstr>
      <vt:lpstr>Office 主题​​</vt:lpstr>
      <vt:lpstr>1_Office 主题​​</vt:lpstr>
      <vt:lpstr>Clip</vt:lpstr>
      <vt:lpstr>计算机网络</vt:lpstr>
      <vt:lpstr>知识回顾</vt:lpstr>
      <vt:lpstr>4.3 IP: 网际协议</vt:lpstr>
      <vt:lpstr>4.3 IP: 网际协议</vt:lpstr>
      <vt:lpstr>例题：</vt:lpstr>
      <vt:lpstr>例题：</vt:lpstr>
      <vt:lpstr>例题：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PowerPoint 演示文稿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思考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 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PowerPoint 演示文稿</vt:lpstr>
      <vt:lpstr>本讲总结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Haibo</dc:creator>
  <cp:lastModifiedBy>cistecoram</cp:lastModifiedBy>
  <cp:revision>47</cp:revision>
  <dcterms:created xsi:type="dcterms:W3CDTF">2020-04-07T07:42:56Z</dcterms:created>
  <dcterms:modified xsi:type="dcterms:W3CDTF">2025-04-07T02:52:40Z</dcterms:modified>
</cp:coreProperties>
</file>