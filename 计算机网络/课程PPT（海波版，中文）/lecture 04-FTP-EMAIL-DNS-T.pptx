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57"/>
  </p:notesMasterIdLst>
  <p:handoutMasterIdLst>
    <p:handoutMasterId r:id="rId58"/>
  </p:handoutMasterIdLst>
  <p:sldIdLst>
    <p:sldId id="375" r:id="rId2"/>
    <p:sldId id="338" r:id="rId3"/>
    <p:sldId id="289" r:id="rId4"/>
    <p:sldId id="259" r:id="rId5"/>
    <p:sldId id="260" r:id="rId6"/>
    <p:sldId id="261" r:id="rId7"/>
    <p:sldId id="263" r:id="rId8"/>
    <p:sldId id="264" r:id="rId9"/>
    <p:sldId id="262" r:id="rId10"/>
    <p:sldId id="334" r:id="rId11"/>
    <p:sldId id="269" r:id="rId12"/>
    <p:sldId id="270" r:id="rId13"/>
    <p:sldId id="302" r:id="rId14"/>
    <p:sldId id="271" r:id="rId15"/>
    <p:sldId id="272" r:id="rId16"/>
    <p:sldId id="273" r:id="rId17"/>
    <p:sldId id="274" r:id="rId18"/>
    <p:sldId id="277" r:id="rId19"/>
    <p:sldId id="275" r:id="rId20"/>
    <p:sldId id="276" r:id="rId21"/>
    <p:sldId id="278" r:id="rId22"/>
    <p:sldId id="279" r:id="rId23"/>
    <p:sldId id="336" r:id="rId24"/>
    <p:sldId id="280" r:id="rId25"/>
    <p:sldId id="281" r:id="rId26"/>
    <p:sldId id="337" r:id="rId27"/>
    <p:sldId id="282" r:id="rId28"/>
    <p:sldId id="283" r:id="rId29"/>
    <p:sldId id="284" r:id="rId30"/>
    <p:sldId id="285" r:id="rId31"/>
    <p:sldId id="286" r:id="rId32"/>
    <p:sldId id="335" r:id="rId33"/>
    <p:sldId id="258" r:id="rId34"/>
    <p:sldId id="369" r:id="rId35"/>
    <p:sldId id="320" r:id="rId36"/>
    <p:sldId id="321" r:id="rId37"/>
    <p:sldId id="370" r:id="rId38"/>
    <p:sldId id="322" r:id="rId39"/>
    <p:sldId id="323" r:id="rId40"/>
    <p:sldId id="324" r:id="rId41"/>
    <p:sldId id="325" r:id="rId42"/>
    <p:sldId id="371" r:id="rId43"/>
    <p:sldId id="266" r:id="rId44"/>
    <p:sldId id="372" r:id="rId45"/>
    <p:sldId id="268" r:id="rId46"/>
    <p:sldId id="328" r:id="rId47"/>
    <p:sldId id="329" r:id="rId48"/>
    <p:sldId id="373" r:id="rId49"/>
    <p:sldId id="330" r:id="rId50"/>
    <p:sldId id="374" r:id="rId51"/>
    <p:sldId id="332" r:id="rId52"/>
    <p:sldId id="379" r:id="rId53"/>
    <p:sldId id="333" r:id="rId54"/>
    <p:sldId id="287" r:id="rId55"/>
    <p:sldId id="296" r:id="rId56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008000"/>
    <a:srgbClr val="FF6600"/>
    <a:srgbClr val="E18601"/>
    <a:srgbClr val="8000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5" autoAdjust="0"/>
  </p:normalViewPr>
  <p:slideViewPr>
    <p:cSldViewPr>
      <p:cViewPr varScale="1">
        <p:scale>
          <a:sx n="181" d="100"/>
          <a:sy n="181" d="100"/>
        </p:scale>
        <p:origin x="326" y="93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9784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030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2371051" y="3448764"/>
            <a:ext cx="4289182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4 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电子邮件、</a:t>
            </a:r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8617B-A121-4385-A203-242C6BC735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91880" y="156795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630B487-DD99-4A2B-B020-D23EDADB6562}"/>
              </a:ext>
            </a:extLst>
          </p:cNvPr>
          <p:cNvSpPr/>
          <p:nvPr userDrawn="1"/>
        </p:nvSpPr>
        <p:spPr>
          <a:xfrm>
            <a:off x="2752441" y="1560574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514" y="1783955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9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audio" Target="../media/audio1.wav"/><Relationship Id="rId16" Type="http://schemas.openxmlformats.org/officeDocument/2006/relationships/image" Target="../media/image35.png"/><Relationship Id="rId20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4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audio" Target="../media/audio1.wav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53.png"/><Relationship Id="rId7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5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audio" Target="../media/audio1.wav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image" Target="../media/image53.png"/><Relationship Id="rId4" Type="http://schemas.openxmlformats.org/officeDocument/2006/relationships/image" Target="../media/image57.png"/><Relationship Id="rId9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1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88579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AE2DE-D6FE-4ED7-8830-EE1DB183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Figures of Today</a:t>
            </a:r>
            <a:endParaRPr lang="zh-CN" altLang="en-US" dirty="0"/>
          </a:p>
        </p:txBody>
      </p:sp>
      <p:pic>
        <p:nvPicPr>
          <p:cNvPr id="3" name="内容占位符 6">
            <a:extLst>
              <a:ext uri="{FF2B5EF4-FFF2-40B4-BE49-F238E27FC236}">
                <a16:creationId xmlns:a16="http://schemas.microsoft.com/office/drawing/2014/main" id="{8B696B88-6785-4693-8D76-8C1B48486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4325"/>
            <a:ext cx="1524000" cy="213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2DCB662-0C95-4B88-8275-677C84A50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078" y="1683836"/>
            <a:ext cx="1704975" cy="2095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D51E4E4-14A0-47EE-8F12-5E6F5BC77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516" y="1355732"/>
            <a:ext cx="1849785" cy="20696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99BB8D2-D3DB-48F8-8F84-9F4C918AFE75}"/>
              </a:ext>
            </a:extLst>
          </p:cNvPr>
          <p:cNvSpPr/>
          <p:nvPr/>
        </p:nvSpPr>
        <p:spPr>
          <a:xfrm>
            <a:off x="765013" y="3363838"/>
            <a:ext cx="1481816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Ada Lovelace</a:t>
            </a:r>
          </a:p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1815-1852</a:t>
            </a:r>
          </a:p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程序猿祖祖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419002-E76E-49A5-8CBE-71382B7AA27E}"/>
              </a:ext>
            </a:extLst>
          </p:cNvPr>
          <p:cNvSpPr/>
          <p:nvPr/>
        </p:nvSpPr>
        <p:spPr>
          <a:xfrm>
            <a:off x="3341712" y="3531671"/>
            <a:ext cx="1582484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Grace Hopper</a:t>
            </a:r>
          </a:p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1906-1992</a:t>
            </a:r>
          </a:p>
          <a:p>
            <a:pPr algn="ctr"/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a bug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A788C5-28C7-469F-8D05-69194B961046}"/>
              </a:ext>
            </a:extLst>
          </p:cNvPr>
          <p:cNvSpPr/>
          <p:nvPr/>
        </p:nvSpPr>
        <p:spPr>
          <a:xfrm>
            <a:off x="6019078" y="3779336"/>
            <a:ext cx="2864054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Barbara Liskov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female PhD of CS in U.S.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2008 ACM Turing Award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5177AB9F-91D1-44A2-9D6A-19149F9EA5F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1D3704C9-9531-43D5-9788-BA892E931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79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 animBg="1"/>
      <p:bldP spid="1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F1BCF9E-86A0-43C2-B6E9-DB4F17905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2.3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文件传输协议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283A7D-D643-436D-98AE-4303E77DF95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电子邮件协议  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784FB6-4FAD-4AEF-8B77-0E421DEBA82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因特网的目录服务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0B10101D-36CC-42DE-BBEA-4E72A28BEBE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04C8F77-6321-4F45-B44F-E9621A1FF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343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  <p:sndAc>
          <p:stSnd>
            <p:snd r:embed="rId2" name="arrow.wav"/>
          </p:stSnd>
        </p:sndAc>
      </p:transition>
    </mc:Choice>
    <mc:Fallback xmlns="">
      <p:transition spd="slow" advClick="0" advTm="2000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2.3 </a:t>
            </a:r>
            <a:r>
              <a:rPr lang="zh-CN" altLang="en-US" dirty="0">
                <a:solidFill>
                  <a:srgbClr val="0070C0"/>
                </a:solidFill>
              </a:rPr>
              <a:t>文件传输协议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60738" y="967716"/>
            <a:ext cx="2427085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文件传输协议</a:t>
            </a:r>
          </a:p>
        </p:txBody>
      </p:sp>
      <p:sp>
        <p:nvSpPr>
          <p:cNvPr id="8" name="Freeform 46"/>
          <p:cNvSpPr>
            <a:spLocks/>
          </p:cNvSpPr>
          <p:nvPr/>
        </p:nvSpPr>
        <p:spPr bwMode="auto">
          <a:xfrm>
            <a:off x="6895629" y="3866366"/>
            <a:ext cx="825103" cy="211931"/>
          </a:xfrm>
          <a:custGeom>
            <a:avLst/>
            <a:gdLst>
              <a:gd name="T0" fmla="*/ 0 w 693"/>
              <a:gd name="T1" fmla="*/ 2147483646 h 178"/>
              <a:gd name="T2" fmla="*/ 2147483646 w 693"/>
              <a:gd name="T3" fmla="*/ 0 h 178"/>
              <a:gd name="T4" fmla="*/ 2147483646 w 693"/>
              <a:gd name="T5" fmla="*/ 0 h 178"/>
              <a:gd name="T6" fmla="*/ 2147483646 w 693"/>
              <a:gd name="T7" fmla="*/ 2147483646 h 178"/>
              <a:gd name="T8" fmla="*/ 0 w 693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3"/>
              <a:gd name="T16" fmla="*/ 0 h 178"/>
              <a:gd name="T17" fmla="*/ 693 w 693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3" h="178">
                <a:moveTo>
                  <a:pt x="0" y="116"/>
                </a:moveTo>
                <a:lnTo>
                  <a:pt x="247" y="0"/>
                </a:lnTo>
                <a:lnTo>
                  <a:pt x="693" y="0"/>
                </a:lnTo>
                <a:lnTo>
                  <a:pt x="137" y="178"/>
                </a:lnTo>
                <a:lnTo>
                  <a:pt x="0" y="116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43"/>
          <p:cNvSpPr>
            <a:spLocks/>
          </p:cNvSpPr>
          <p:nvPr/>
        </p:nvSpPr>
        <p:spPr bwMode="auto">
          <a:xfrm>
            <a:off x="4226247" y="3866366"/>
            <a:ext cx="1338263" cy="211931"/>
          </a:xfrm>
          <a:custGeom>
            <a:avLst/>
            <a:gdLst>
              <a:gd name="T0" fmla="*/ 0 w 1124"/>
              <a:gd name="T1" fmla="*/ 2147483646 h 178"/>
              <a:gd name="T2" fmla="*/ 2147483646 w 1124"/>
              <a:gd name="T3" fmla="*/ 2147483646 h 178"/>
              <a:gd name="T4" fmla="*/ 2147483646 w 1124"/>
              <a:gd name="T5" fmla="*/ 0 h 178"/>
              <a:gd name="T6" fmla="*/ 2147483646 w 1124"/>
              <a:gd name="T7" fmla="*/ 2147483646 h 178"/>
              <a:gd name="T8" fmla="*/ 0 w 1124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4"/>
              <a:gd name="T16" fmla="*/ 0 h 178"/>
              <a:gd name="T17" fmla="*/ 1124 w 1124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4" h="178">
                <a:moveTo>
                  <a:pt x="0" y="178"/>
                </a:moveTo>
                <a:lnTo>
                  <a:pt x="41" y="7"/>
                </a:lnTo>
                <a:lnTo>
                  <a:pt x="1124" y="0"/>
                </a:lnTo>
                <a:lnTo>
                  <a:pt x="247" y="171"/>
                </a:lnTo>
                <a:lnTo>
                  <a:pt x="0" y="178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5726360" y="3149004"/>
            <a:ext cx="128468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文件传输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7132559" y="3259148"/>
            <a:ext cx="651272" cy="621506"/>
            <a:chOff x="3876" y="1386"/>
            <a:chExt cx="547" cy="522"/>
          </a:xfrm>
        </p:grpSpPr>
        <p:sp>
          <p:nvSpPr>
            <p:cNvPr id="12" name="Rectangle 18"/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3876" y="1463"/>
              <a:ext cx="54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FTP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</a:t>
              </a: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4214341" y="3252004"/>
            <a:ext cx="1401365" cy="628650"/>
            <a:chOff x="1647" y="1326"/>
            <a:chExt cx="1177" cy="528"/>
          </a:xfrm>
        </p:grpSpPr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22"/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23"/>
            <p:cNvSpPr txBox="1">
              <a:spLocks noChangeArrowheads="1"/>
            </p:cNvSpPr>
            <p:nvPr/>
          </p:nvSpPr>
          <p:spPr bwMode="auto">
            <a:xfrm>
              <a:off x="1647" y="1412"/>
              <a:ext cx="73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FTP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用户代理</a:t>
              </a: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24"/>
            <p:cNvSpPr txBox="1">
              <a:spLocks noChangeArrowheads="1"/>
            </p:cNvSpPr>
            <p:nvPr/>
          </p:nvSpPr>
          <p:spPr bwMode="auto">
            <a:xfrm>
              <a:off x="2270" y="1403"/>
              <a:ext cx="55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FTP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4638984" y="4505372"/>
            <a:ext cx="1120010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本地文件系统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33"/>
          <p:cNvSpPr>
            <a:spLocks noChangeShapeType="1"/>
          </p:cNvSpPr>
          <p:nvPr/>
        </p:nvSpPr>
        <p:spPr bwMode="auto">
          <a:xfrm>
            <a:off x="4807083" y="3887797"/>
            <a:ext cx="86606" cy="32146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34"/>
          <p:cNvSpPr>
            <a:spLocks noChangeShapeType="1"/>
          </p:cNvSpPr>
          <p:nvPr/>
        </p:nvSpPr>
        <p:spPr bwMode="auto">
          <a:xfrm flipH="1">
            <a:off x="5060875" y="3873509"/>
            <a:ext cx="250031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41"/>
          <p:cNvSpPr txBox="1">
            <a:spLocks noChangeArrowheads="1"/>
          </p:cNvSpPr>
          <p:nvPr/>
        </p:nvSpPr>
        <p:spPr bwMode="auto">
          <a:xfrm>
            <a:off x="7207702" y="4494453"/>
            <a:ext cx="1120623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远程文件系统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42"/>
          <p:cNvSpPr>
            <a:spLocks noChangeShapeType="1"/>
          </p:cNvSpPr>
          <p:nvPr/>
        </p:nvSpPr>
        <p:spPr bwMode="auto">
          <a:xfrm>
            <a:off x="7461175" y="3880654"/>
            <a:ext cx="0" cy="32146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3495579" y="3857555"/>
            <a:ext cx="728663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客户端用户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45"/>
          <p:cNvSpPr>
            <a:spLocks noChangeShapeType="1"/>
          </p:cNvSpPr>
          <p:nvPr/>
        </p:nvSpPr>
        <p:spPr bwMode="auto">
          <a:xfrm>
            <a:off x="3796431" y="3587760"/>
            <a:ext cx="43576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327"/>
          <p:cNvSpPr>
            <a:spLocks noChangeArrowheads="1"/>
          </p:cNvSpPr>
          <p:nvPr/>
        </p:nvSpPr>
        <p:spPr bwMode="auto">
          <a:xfrm>
            <a:off x="4715105" y="4211203"/>
            <a:ext cx="427435" cy="321469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AutoShape 327"/>
          <p:cNvSpPr>
            <a:spLocks noChangeArrowheads="1"/>
          </p:cNvSpPr>
          <p:nvPr/>
        </p:nvSpPr>
        <p:spPr bwMode="auto">
          <a:xfrm>
            <a:off x="7237363" y="4202122"/>
            <a:ext cx="427434" cy="321469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Line 49"/>
          <p:cNvSpPr>
            <a:spLocks noChangeShapeType="1"/>
          </p:cNvSpPr>
          <p:nvPr/>
        </p:nvSpPr>
        <p:spPr bwMode="auto">
          <a:xfrm>
            <a:off x="5549032" y="3486556"/>
            <a:ext cx="1640681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Group 51"/>
          <p:cNvGrpSpPr>
            <a:grpSpLocks/>
          </p:cNvGrpSpPr>
          <p:nvPr/>
        </p:nvGrpSpPr>
        <p:grpSpPr bwMode="auto">
          <a:xfrm>
            <a:off x="6890870" y="3945977"/>
            <a:ext cx="357188" cy="561975"/>
            <a:chOff x="4140" y="429"/>
            <a:chExt cx="1425" cy="2396"/>
          </a:xfrm>
        </p:grpSpPr>
        <p:sp>
          <p:nvSpPr>
            <p:cNvPr id="31" name="Freeform 5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53"/>
            <p:cNvSpPr>
              <a:spLocks noChangeArrowheads="1"/>
            </p:cNvSpPr>
            <p:nvPr/>
          </p:nvSpPr>
          <p:spPr bwMode="auto">
            <a:xfrm>
              <a:off x="4207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5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5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56"/>
            <p:cNvSpPr>
              <a:spLocks noChangeArrowheads="1"/>
            </p:cNvSpPr>
            <p:nvPr/>
          </p:nvSpPr>
          <p:spPr bwMode="auto">
            <a:xfrm>
              <a:off x="4211" y="693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6" name="Group 5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1" name="AutoShape 5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4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AutoShape 5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7" name="Rectangle 60"/>
            <p:cNvSpPr>
              <a:spLocks noChangeArrowheads="1"/>
            </p:cNvSpPr>
            <p:nvPr/>
          </p:nvSpPr>
          <p:spPr bwMode="auto">
            <a:xfrm>
              <a:off x="4226" y="1018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Group 6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9" name="AutoShape 62"/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AutoShape 6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88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Rectangle 64"/>
            <p:cNvSpPr>
              <a:spLocks noChangeArrowheads="1"/>
            </p:cNvSpPr>
            <p:nvPr/>
          </p:nvSpPr>
          <p:spPr bwMode="auto">
            <a:xfrm>
              <a:off x="4216" y="1358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65"/>
            <p:cNvSpPr>
              <a:spLocks noChangeArrowheads="1"/>
            </p:cNvSpPr>
            <p:nvPr/>
          </p:nvSpPr>
          <p:spPr bwMode="auto">
            <a:xfrm>
              <a:off x="4230" y="1657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1" name="Group 6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7" name="AutoShape 67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AutoShape 68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" name="Freeform 6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3" name="Group 7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" name="AutoShape 71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Rectangle 73"/>
            <p:cNvSpPr>
              <a:spLocks noChangeArrowheads="1"/>
            </p:cNvSpPr>
            <p:nvPr/>
          </p:nvSpPr>
          <p:spPr bwMode="auto">
            <a:xfrm>
              <a:off x="5252" y="429"/>
              <a:ext cx="67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7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7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76"/>
            <p:cNvSpPr>
              <a:spLocks noChangeArrowheads="1"/>
            </p:cNvSpPr>
            <p:nvPr/>
          </p:nvSpPr>
          <p:spPr bwMode="auto">
            <a:xfrm>
              <a:off x="5518" y="2612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7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AutoShape 78"/>
            <p:cNvSpPr>
              <a:spLocks noChangeArrowheads="1"/>
            </p:cNvSpPr>
            <p:nvPr/>
          </p:nvSpPr>
          <p:spPr bwMode="auto">
            <a:xfrm>
              <a:off x="4140" y="2678"/>
              <a:ext cx="1197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AutoShape 79"/>
            <p:cNvSpPr>
              <a:spLocks noChangeArrowheads="1"/>
            </p:cNvSpPr>
            <p:nvPr/>
          </p:nvSpPr>
          <p:spPr bwMode="auto">
            <a:xfrm>
              <a:off x="4207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80"/>
            <p:cNvSpPr>
              <a:spLocks noChangeArrowheads="1"/>
            </p:cNvSpPr>
            <p:nvPr/>
          </p:nvSpPr>
          <p:spPr bwMode="auto">
            <a:xfrm>
              <a:off x="4306" y="2383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81"/>
            <p:cNvSpPr>
              <a:spLocks noChangeArrowheads="1"/>
            </p:cNvSpPr>
            <p:nvPr/>
          </p:nvSpPr>
          <p:spPr bwMode="auto">
            <a:xfrm>
              <a:off x="4487" y="2383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3" name="Oval 82"/>
            <p:cNvSpPr>
              <a:spLocks noChangeArrowheads="1"/>
            </p:cNvSpPr>
            <p:nvPr/>
          </p:nvSpPr>
          <p:spPr bwMode="auto">
            <a:xfrm>
              <a:off x="4663" y="2383"/>
              <a:ext cx="157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83"/>
            <p:cNvSpPr>
              <a:spLocks noChangeArrowheads="1"/>
            </p:cNvSpPr>
            <p:nvPr/>
          </p:nvSpPr>
          <p:spPr bwMode="auto">
            <a:xfrm>
              <a:off x="5062" y="1835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Group 84"/>
          <p:cNvGrpSpPr>
            <a:grpSpLocks/>
          </p:cNvGrpSpPr>
          <p:nvPr/>
        </p:nvGrpSpPr>
        <p:grpSpPr bwMode="auto">
          <a:xfrm>
            <a:off x="4141035" y="3965485"/>
            <a:ext cx="622697" cy="636985"/>
            <a:chOff x="-44" y="1473"/>
            <a:chExt cx="981" cy="1105"/>
          </a:xfrm>
        </p:grpSpPr>
        <p:pic>
          <p:nvPicPr>
            <p:cNvPr id="64" name="Picture 8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8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Rectangle 3"/>
          <p:cNvSpPr>
            <a:spLocks noChangeArrowheads="1"/>
          </p:cNvSpPr>
          <p:nvPr/>
        </p:nvSpPr>
        <p:spPr bwMode="auto">
          <a:xfrm>
            <a:off x="893110" y="1344623"/>
            <a:ext cx="4664256" cy="190738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向远程服务器端收发文件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client/server 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35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</a:t>
            </a:r>
            <a:r>
              <a:rPr lang="en-US" altLang="zh-CN" sz="1350" i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初始化连接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任何时候都是从客户端发起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35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en-US" altLang="zh-CN" sz="1350" i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远程主机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 959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 server: 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port# 21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</a:p>
        </p:txBody>
      </p:sp>
      <p:pic>
        <p:nvPicPr>
          <p:cNvPr id="67" name="Picture 42" descr="Office-Client-Female-Light-icon">
            <a:extLst>
              <a:ext uri="{FF2B5EF4-FFF2-40B4-BE49-F238E27FC236}">
                <a16:creationId xmlns:a16="http://schemas.microsoft.com/office/drawing/2014/main" id="{FED222D8-75C0-4E09-9EC3-A81FB04E6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36872" y="3319818"/>
            <a:ext cx="567453" cy="53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灯片编号占位符 2">
            <a:extLst>
              <a:ext uri="{FF2B5EF4-FFF2-40B4-BE49-F238E27FC236}">
                <a16:creationId xmlns:a16="http://schemas.microsoft.com/office/drawing/2014/main" id="{7EB85601-43CB-457C-B855-B797E0CCE88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69" name="AutoShape 5">
            <a:extLst>
              <a:ext uri="{FF2B5EF4-FFF2-40B4-BE49-F238E27FC236}">
                <a16:creationId xmlns:a16="http://schemas.microsoft.com/office/drawing/2014/main" id="{5713EEFE-9933-44DC-A4A6-2D6E925F1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6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6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2.3 </a:t>
            </a:r>
            <a:r>
              <a:rPr lang="zh-CN" altLang="en-US" dirty="0">
                <a:solidFill>
                  <a:srgbClr val="0070C0"/>
                </a:solidFill>
              </a:rPr>
              <a:t>文件传输协议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89D576-5B6D-4BE2-931A-6C2CCD41FFC1}"/>
              </a:ext>
            </a:extLst>
          </p:cNvPr>
          <p:cNvGrpSpPr/>
          <p:nvPr/>
        </p:nvGrpSpPr>
        <p:grpSpPr>
          <a:xfrm>
            <a:off x="5037205" y="1076513"/>
            <a:ext cx="3023882" cy="1227214"/>
            <a:chOff x="5037205" y="1076513"/>
            <a:chExt cx="3023882" cy="1227214"/>
          </a:xfrm>
        </p:grpSpPr>
        <p:sp>
          <p:nvSpPr>
            <p:cNvPr id="67" name="Text Box 15"/>
            <p:cNvSpPr txBox="1">
              <a:spLocks noChangeArrowheads="1"/>
            </p:cNvSpPr>
            <p:nvPr/>
          </p:nvSpPr>
          <p:spPr bwMode="auto">
            <a:xfrm>
              <a:off x="5151301" y="1871851"/>
              <a:ext cx="583814" cy="4247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FTP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client</a:t>
              </a:r>
            </a:p>
          </p:txBody>
        </p:sp>
        <p:sp>
          <p:nvSpPr>
            <p:cNvPr id="68" name="Text Box 16"/>
            <p:cNvSpPr txBox="1">
              <a:spLocks noChangeArrowheads="1"/>
            </p:cNvSpPr>
            <p:nvPr/>
          </p:nvSpPr>
          <p:spPr bwMode="auto">
            <a:xfrm>
              <a:off x="7428285" y="1878995"/>
              <a:ext cx="632802" cy="4247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FTP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</a:t>
              </a:r>
            </a:p>
          </p:txBody>
        </p:sp>
        <p:sp>
          <p:nvSpPr>
            <p:cNvPr id="69" name="Line 17"/>
            <p:cNvSpPr>
              <a:spLocks noChangeShapeType="1"/>
            </p:cNvSpPr>
            <p:nvPr/>
          </p:nvSpPr>
          <p:spPr bwMode="auto">
            <a:xfrm>
              <a:off x="5676570" y="1480135"/>
              <a:ext cx="192166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18"/>
            <p:cNvSpPr>
              <a:spLocks noChangeShapeType="1"/>
            </p:cNvSpPr>
            <p:nvPr/>
          </p:nvSpPr>
          <p:spPr bwMode="auto">
            <a:xfrm flipV="1">
              <a:off x="5690858" y="1715879"/>
              <a:ext cx="1921669" cy="714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Text Box 19"/>
            <p:cNvSpPr txBox="1">
              <a:spLocks noChangeArrowheads="1"/>
            </p:cNvSpPr>
            <p:nvPr/>
          </p:nvSpPr>
          <p:spPr bwMode="auto">
            <a:xfrm>
              <a:off x="5730149" y="1076513"/>
              <a:ext cx="1807369" cy="38010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control connection,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 port 21</a:t>
              </a:r>
            </a:p>
          </p:txBody>
        </p:sp>
        <p:sp>
          <p:nvSpPr>
            <p:cNvPr id="72" name="Text Box 20"/>
            <p:cNvSpPr txBox="1">
              <a:spLocks noChangeArrowheads="1"/>
            </p:cNvSpPr>
            <p:nvPr/>
          </p:nvSpPr>
          <p:spPr bwMode="auto">
            <a:xfrm>
              <a:off x="5711099" y="1771838"/>
              <a:ext cx="1807369" cy="38010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data connection,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 port 20</a:t>
              </a:r>
            </a:p>
          </p:txBody>
        </p:sp>
        <p:grpSp>
          <p:nvGrpSpPr>
            <p:cNvPr id="74" name="Group 32"/>
            <p:cNvGrpSpPr>
              <a:grpSpLocks/>
            </p:cNvGrpSpPr>
            <p:nvPr/>
          </p:nvGrpSpPr>
          <p:grpSpPr bwMode="auto">
            <a:xfrm>
              <a:off x="7642292" y="1227723"/>
              <a:ext cx="333375" cy="546497"/>
              <a:chOff x="4140" y="429"/>
              <a:chExt cx="1425" cy="2396"/>
            </a:xfrm>
          </p:grpSpPr>
          <p:sp>
            <p:nvSpPr>
              <p:cNvPr id="75" name="Freeform 33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Rectangle 34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Freeform 35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Freeform 36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Rectangle 37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0" name="Group 38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6" name="AutoShape 39"/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" name="AutoShape 40"/>
                <p:cNvSpPr>
                  <a:spLocks noChangeArrowheads="1"/>
                </p:cNvSpPr>
                <p:nvPr/>
              </p:nvSpPr>
              <p:spPr bwMode="auto">
                <a:xfrm>
                  <a:off x="635" y="2584"/>
                  <a:ext cx="686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Rectangle 41"/>
              <p:cNvSpPr>
                <a:spLocks noChangeArrowheads="1"/>
              </p:cNvSpPr>
              <p:nvPr/>
            </p:nvSpPr>
            <p:spPr bwMode="auto">
              <a:xfrm>
                <a:off x="4227" y="1019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3" name="Group 42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4" name="AutoShape 43"/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4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" name="AutoShape 44"/>
                <p:cNvSpPr>
                  <a:spLocks noChangeArrowheads="1"/>
                </p:cNvSpPr>
                <p:nvPr/>
              </p:nvSpPr>
              <p:spPr bwMode="auto">
                <a:xfrm>
                  <a:off x="631" y="2583"/>
                  <a:ext cx="68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4" name="Rectangle 45"/>
              <p:cNvSpPr>
                <a:spLocks noChangeArrowheads="1"/>
              </p:cNvSpPr>
              <p:nvPr/>
            </p:nvSpPr>
            <p:spPr bwMode="auto">
              <a:xfrm>
                <a:off x="4216" y="1358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Rectangle 46"/>
              <p:cNvSpPr>
                <a:spLocks noChangeArrowheads="1"/>
              </p:cNvSpPr>
              <p:nvPr/>
            </p:nvSpPr>
            <p:spPr bwMode="auto">
              <a:xfrm>
                <a:off x="4227" y="1656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6" name="Group 47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2" name="AutoShape 48"/>
                <p:cNvSpPr>
                  <a:spLocks noChangeArrowheads="1"/>
                </p:cNvSpPr>
                <p:nvPr/>
              </p:nvSpPr>
              <p:spPr bwMode="auto">
                <a:xfrm>
                  <a:off x="615" y="2570"/>
                  <a:ext cx="723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" name="AutoShape 49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5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7" name="Freeform 50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8" name="Group 51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0" name="AutoShape 52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" name="AutoShape 53"/>
                <p:cNvSpPr>
                  <a:spLocks noChangeArrowheads="1"/>
                </p:cNvSpPr>
                <p:nvPr/>
              </p:nvSpPr>
              <p:spPr bwMode="auto">
                <a:xfrm>
                  <a:off x="635" y="2584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" name="Rectangle 54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6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55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56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Oval 57"/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58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AutoShape 59"/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201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AutoShape 60"/>
              <p:cNvSpPr>
                <a:spLocks noChangeArrowheads="1"/>
              </p:cNvSpPr>
              <p:nvPr/>
            </p:nvSpPr>
            <p:spPr bwMode="auto">
              <a:xfrm>
                <a:off x="4206" y="2710"/>
                <a:ext cx="1069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61"/>
              <p:cNvSpPr>
                <a:spLocks noChangeArrowheads="1"/>
              </p:cNvSpPr>
              <p:nvPr/>
            </p:nvSpPr>
            <p:spPr bwMode="auto">
              <a:xfrm>
                <a:off x="4308" y="2381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62"/>
              <p:cNvSpPr>
                <a:spLocks noChangeArrowheads="1"/>
              </p:cNvSpPr>
              <p:nvPr/>
            </p:nvSpPr>
            <p:spPr bwMode="auto">
              <a:xfrm>
                <a:off x="4486" y="2387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8" name="Oval 63"/>
              <p:cNvSpPr>
                <a:spLocks noChangeArrowheads="1"/>
              </p:cNvSpPr>
              <p:nvPr/>
            </p:nvSpPr>
            <p:spPr bwMode="auto">
              <a:xfrm>
                <a:off x="4664" y="2381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Rectangle 64"/>
              <p:cNvSpPr>
                <a:spLocks noChangeArrowheads="1"/>
              </p:cNvSpPr>
              <p:nvPr/>
            </p:nvSpPr>
            <p:spPr bwMode="auto">
              <a:xfrm>
                <a:off x="5061" y="1833"/>
                <a:ext cx="87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Group 65"/>
            <p:cNvGrpSpPr>
              <a:grpSpLocks/>
            </p:cNvGrpSpPr>
            <p:nvPr/>
          </p:nvGrpSpPr>
          <p:grpSpPr bwMode="auto">
            <a:xfrm>
              <a:off x="5037205" y="1220579"/>
              <a:ext cx="654844" cy="670322"/>
              <a:chOff x="-44" y="1473"/>
              <a:chExt cx="981" cy="1105"/>
            </a:xfrm>
          </p:grpSpPr>
          <p:pic>
            <p:nvPicPr>
              <p:cNvPr id="109" name="Picture 6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6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11" name="Rectangle 3"/>
          <p:cNvSpPr txBox="1">
            <a:spLocks noChangeArrowheads="1"/>
          </p:cNvSpPr>
          <p:nvPr/>
        </p:nvSpPr>
        <p:spPr bwMode="auto">
          <a:xfrm>
            <a:off x="1066800" y="1396259"/>
            <a:ext cx="2962876" cy="925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15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lvl="1" indent="-285750">
              <a:lnSpc>
                <a:spcPct val="100000"/>
              </a:lnSpc>
              <a:spcBef>
                <a:spcPts val="6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1350" i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400" dirty="0"/>
              <a:t>FTP </a:t>
            </a:r>
            <a:r>
              <a:rPr lang="zh-CN" altLang="en-US" sz="1400" dirty="0"/>
              <a:t>客户端连接服务器端</a:t>
            </a:r>
            <a:endParaRPr lang="en-US" altLang="zh-CN" sz="1400" dirty="0"/>
          </a:p>
          <a:p>
            <a:r>
              <a:rPr lang="zh-CN" altLang="en-US" sz="1400" dirty="0"/>
              <a:t>使用</a:t>
            </a:r>
            <a:r>
              <a:rPr lang="en-US" altLang="zh-CN" sz="1400" dirty="0"/>
              <a:t>TCP</a:t>
            </a:r>
            <a:r>
              <a:rPr lang="zh-CN" altLang="en-US" sz="1400" dirty="0"/>
              <a:t>提供可靠传输服务</a:t>
            </a:r>
            <a:endParaRPr lang="en-US" altLang="zh-CN" sz="1400" dirty="0"/>
          </a:p>
          <a:p>
            <a:r>
              <a:rPr lang="zh-CN" altLang="en-US" sz="1400" dirty="0"/>
              <a:t>有两类连接：控制、传输</a:t>
            </a:r>
            <a:r>
              <a:rPr lang="en-US" altLang="zh-CN" sz="1400" dirty="0"/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4798380" y="2580488"/>
            <a:ext cx="3230005" cy="23812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257175" indent="-257175" algn="just">
              <a:spcBef>
                <a:spcPct val="20000"/>
              </a:spcBef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传输连接：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 algn="just">
              <a:spcBef>
                <a:spcPct val="200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服务器端接收到文件传输的请求时，会打开传输连接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用于文件传输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 algn="just">
              <a:spcBef>
                <a:spcPts val="6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当这个文件传输结束后，第二个连接会被服务器端关闭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 algn="just">
              <a:spcBef>
                <a:spcPct val="200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传输连接是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非持久性的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 algn="just">
              <a:spcBef>
                <a:spcPct val="200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带外传输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27584" y="2575045"/>
            <a:ext cx="3518038" cy="237879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257175" indent="-257175">
              <a:spcBef>
                <a:spcPts val="600"/>
              </a:spcBef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控制连接：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服务器端默认端口号：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</a:p>
          <a:p>
            <a:pPr marL="557213" lvl="1" indent="-214313">
              <a:spcBef>
                <a:spcPts val="6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建立控制连接时需要对客户端验证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客户端向服务器端发送交互式命令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有状态的协议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可控制客户端的最近登录验证、历史信息等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Char char="–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控制连接是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持久性的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5D0F5B1E-5516-4493-ABB9-DA8694E53633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427085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文件传输协议</a:t>
            </a:r>
          </a:p>
        </p:txBody>
      </p:sp>
      <p:sp>
        <p:nvSpPr>
          <p:cNvPr id="51" name="灯片编号占位符 2">
            <a:extLst>
              <a:ext uri="{FF2B5EF4-FFF2-40B4-BE49-F238E27FC236}">
                <a16:creationId xmlns:a16="http://schemas.microsoft.com/office/drawing/2014/main" id="{0956E6E2-A13A-404B-8147-C9942F721CB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8748BF07-7DDA-4734-9765-84FB7DBF5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201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2.3 </a:t>
            </a:r>
            <a:r>
              <a:rPr lang="zh-CN" altLang="en-US" dirty="0">
                <a:solidFill>
                  <a:srgbClr val="0070C0"/>
                </a:solidFill>
              </a:rPr>
              <a:t>文件传输协议</a:t>
            </a:r>
            <a:endParaRPr lang="zh-CN" alt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43607" y="1491630"/>
            <a:ext cx="3369469" cy="2880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一些常用客户端指令（控制符）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446088" indent="-254000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sent as ASCII text over control channel</a:t>
            </a:r>
          </a:p>
          <a:p>
            <a:pPr marL="446088" indent="-254000"/>
            <a:r>
              <a:rPr lang="en-US" altLang="zh-CN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username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indent="-254000"/>
            <a:r>
              <a:rPr lang="en-US" altLang="zh-CN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PASS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password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indent="-254000"/>
            <a:r>
              <a:rPr lang="en-US" altLang="zh-CN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return list of file in current directory</a:t>
            </a:r>
          </a:p>
          <a:p>
            <a:pPr marL="446088" indent="-254000"/>
            <a:r>
              <a:rPr lang="en-US" altLang="zh-CN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RETR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filename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retrieves (gets) file</a:t>
            </a:r>
          </a:p>
          <a:p>
            <a:pPr marL="446088" indent="-254000"/>
            <a:r>
              <a:rPr lang="en-US" altLang="zh-CN" sz="1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STOR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filename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stores (puts) file onto remote host</a:t>
            </a: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860032" y="1491630"/>
            <a:ext cx="3369469" cy="2880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常见的服务器响应代码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indent="-268288"/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331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Username OK, password required</a:t>
            </a:r>
          </a:p>
          <a:p>
            <a:pPr marL="446088" indent="-268288"/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data connection already open; transfer starting</a:t>
            </a:r>
          </a:p>
          <a:p>
            <a:pPr marL="446088" indent="-268288"/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425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Can</a:t>
            </a:r>
            <a:r>
              <a:rPr lang="en-US" altLang="ja-JP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’t open data connection</a:t>
            </a:r>
          </a:p>
          <a:p>
            <a:pPr marL="446088" indent="-268288"/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452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Error writing file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00E76C4-82C0-4783-B74B-465E6A5C4538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427085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文件传输协议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D97FC76E-13DF-4634-A620-17EB14E87A2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5D5C0E23-75BB-4D8B-A8BD-CE7631FFF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519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2.3 </a:t>
            </a:r>
            <a:r>
              <a:rPr lang="zh-CN" altLang="en-US" dirty="0">
                <a:solidFill>
                  <a:srgbClr val="0070C0"/>
                </a:solidFill>
              </a:rPr>
              <a:t>文件传输协议</a:t>
            </a:r>
            <a:endParaRPr lang="zh-CN" altLang="en-US" dirty="0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482552"/>
            <a:ext cx="4757738" cy="310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843288" y="1765921"/>
            <a:ext cx="1026319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599209" y="1893318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>
                <a:solidFill>
                  <a:srgbClr val="FFFF66"/>
                </a:solidFill>
                <a:latin typeface="Courier New" panose="02070309020205020404" pitchFamily="49" charset="0"/>
              </a:rPr>
              <a:t>open</a:t>
            </a: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 ftp_server port#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599209" y="2045718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>
                <a:solidFill>
                  <a:srgbClr val="FFFF66"/>
                </a:solidFill>
                <a:latin typeface="Courier New" panose="02070309020205020404" pitchFamily="49" charset="0"/>
              </a:rPr>
              <a:t>user</a:t>
            </a: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 username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2599209" y="2196928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password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2599209" y="2349328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>
                <a:solidFill>
                  <a:srgbClr val="FFFF66"/>
                </a:solidFill>
                <a:latin typeface="Courier New" panose="02070309020205020404" pitchFamily="49" charset="0"/>
              </a:rPr>
              <a:t>cd</a:t>
            </a: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 path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2599209" y="2496965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>
                <a:solidFill>
                  <a:srgbClr val="FFFF66"/>
                </a:solidFill>
                <a:latin typeface="Courier New" panose="02070309020205020404" pitchFamily="49" charset="0"/>
              </a:rPr>
              <a:t>ls</a:t>
            </a: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2599209" y="2660080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>
                <a:solidFill>
                  <a:srgbClr val="FFFF66"/>
                </a:solidFill>
                <a:latin typeface="Courier New" panose="02070309020205020404" pitchFamily="49" charset="0"/>
              </a:rPr>
              <a:t>get</a:t>
            </a: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 remote-file [local-file]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2599209" y="2822005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>
                <a:solidFill>
                  <a:srgbClr val="FFFF66"/>
                </a:solidFill>
                <a:latin typeface="Courier New" panose="02070309020205020404" pitchFamily="49" charset="0"/>
              </a:rPr>
              <a:t>mdelete </a:t>
            </a: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remote-file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2599209" y="2983930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 dirty="0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 dirty="0" err="1">
                <a:solidFill>
                  <a:srgbClr val="FFFF66"/>
                </a:solidFill>
                <a:latin typeface="Courier New" panose="02070309020205020404" pitchFamily="49" charset="0"/>
              </a:rPr>
              <a:t>mkdir</a:t>
            </a:r>
            <a:r>
              <a:rPr lang="en-US" altLang="zh-CN" sz="825" b="1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825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dir</a:t>
            </a:r>
            <a:r>
              <a:rPr lang="en-US" altLang="zh-CN" sz="825" b="1" dirty="0">
                <a:solidFill>
                  <a:schemeClr val="bg1"/>
                </a:solidFill>
                <a:latin typeface="Courier New" panose="02070309020205020404" pitchFamily="49" charset="0"/>
              </a:rPr>
              <a:t>-name</a:t>
            </a: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2599209" y="3145855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 dirty="0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 dirty="0">
                <a:solidFill>
                  <a:srgbClr val="FFFF66"/>
                </a:solidFill>
                <a:latin typeface="Courier New" panose="02070309020205020404" pitchFamily="49" charset="0"/>
              </a:rPr>
              <a:t>put</a:t>
            </a:r>
            <a:r>
              <a:rPr lang="en-US" altLang="zh-CN" sz="825" b="1" dirty="0">
                <a:solidFill>
                  <a:schemeClr val="bg1"/>
                </a:solidFill>
                <a:latin typeface="Courier New" panose="02070309020205020404" pitchFamily="49" charset="0"/>
              </a:rPr>
              <a:t> local-file[remote-file]</a:t>
            </a:r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2599209" y="3286349"/>
            <a:ext cx="4618435" cy="21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ftp&gt; </a:t>
            </a:r>
            <a:r>
              <a:rPr lang="en-US" altLang="zh-CN" sz="825" b="1">
                <a:solidFill>
                  <a:srgbClr val="FFFF66"/>
                </a:solidFill>
                <a:latin typeface="Courier New" panose="02070309020205020404" pitchFamily="49" charset="0"/>
              </a:rPr>
              <a:t>bye</a:t>
            </a:r>
            <a:endParaRPr lang="en-US" altLang="zh-CN" sz="825" b="1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DC2305AC-7AFD-4A4F-BA3A-48CE719B635A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427085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交互演示</a:t>
            </a:r>
          </a:p>
        </p:txBody>
      </p:sp>
      <p:sp>
        <p:nvSpPr>
          <p:cNvPr id="21" name="灯片编号占位符 2">
            <a:extLst>
              <a:ext uri="{FF2B5EF4-FFF2-40B4-BE49-F238E27FC236}">
                <a16:creationId xmlns:a16="http://schemas.microsoft.com/office/drawing/2014/main" id="{1F598731-73DE-43E5-8005-635533760D3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EB94D77B-8AA1-42F5-8C1E-A2961C285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90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"/>
                            </p:stCondLst>
                            <p:childTnLst>
                              <p:par>
                                <p:cTn id="8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"/>
                            </p:stCondLst>
                            <p:childTnLst>
                              <p:par>
                                <p:cTn id="8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 animBg="1"/>
      <p:bldP spid="2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2.3 </a:t>
            </a:r>
            <a:r>
              <a:rPr lang="zh-CN" altLang="en-US" dirty="0">
                <a:solidFill>
                  <a:srgbClr val="0070C0"/>
                </a:solidFill>
              </a:rPr>
              <a:t>文件传输协议</a:t>
            </a:r>
            <a:endParaRPr lang="zh-CN" altLang="en-US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63638"/>
            <a:ext cx="4930470" cy="32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2" y="1563638"/>
            <a:ext cx="4726017" cy="32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FA2ACD-7A62-40BD-9C5D-3AF153DE3C3E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427085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交互演示</a:t>
            </a: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C9C512D-D1C6-449D-B306-5C42BD77396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19EE21AE-C635-475D-84A2-81FB265C8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60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2.3 </a:t>
            </a:r>
            <a:r>
              <a:rPr lang="zh-CN" altLang="en-US" dirty="0">
                <a:solidFill>
                  <a:srgbClr val="0070C0"/>
                </a:solidFill>
              </a:rPr>
              <a:t>文件传输协议</a:t>
            </a:r>
            <a:endParaRPr lang="zh-CN" alt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99592" y="1377071"/>
            <a:ext cx="2304256" cy="3486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Microsoft FTP</a:t>
            </a: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请同学们尝试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defRPr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5" y="1126915"/>
            <a:ext cx="4220078" cy="362487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B42AF09-0EA2-47AD-A233-6440A679FC4C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952328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补充：构建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3DC8CCF6-7144-4BFC-B903-0EF5A9538D0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05F01DFD-13BA-4505-95DD-DB6F8AAB0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21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F1BCF9E-86A0-43C2-B6E9-DB4F17905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文件传输协议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283A7D-D643-436D-98AE-4303E77DF95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3300"/>
                </a:solidFill>
              </a:rPr>
              <a:t>2.4 </a:t>
            </a:r>
            <a:r>
              <a:rPr lang="zh-CN" altLang="en-US" dirty="0">
                <a:solidFill>
                  <a:srgbClr val="FF3300"/>
                </a:solidFill>
              </a:rPr>
              <a:t>电子邮件协议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784FB6-4FAD-4AEF-8B77-0E421DEBA82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因特网的目录服务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855406B8-AFDD-4E2B-8F6F-0403FAF4726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96ECBED-D553-4895-9E90-EEE2EBFDB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731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  <p:sndAc>
          <p:stSnd>
            <p:snd r:embed="rId2" name="arrow.wav"/>
          </p:stSnd>
        </p:sndAc>
      </p:transition>
    </mc:Choice>
    <mc:Fallback xmlns="">
      <p:transition spd="slow" advClick="0" advTm="2000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39552" y="1059582"/>
            <a:ext cx="3600400" cy="13681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电子邮件是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古老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1971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Ray Tomlinson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第一封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，内容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—“</a:t>
            </a:r>
            <a:r>
              <a:rPr lang="en-US" altLang="zh-CN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QWERTIOP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这个符号：</a:t>
            </a:r>
            <a:r>
              <a:rPr lang="en-US" altLang="zh-CN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en-US" altLang="zh-CN" sz="105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045" y="1446979"/>
            <a:ext cx="4110494" cy="3071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8" name="Picture 2" descr="https://timgsa.baidu.com/timg?image&amp;quality=80&amp;size=b9999_10000&amp;sec=1582954915178&amp;di=fef2152a9d5bc4c747bcc56ee50b5b6a&amp;imgtype=0&amp;src=http%3A%2F%2Fszb.cqdsrb.com.cn%2Fres%2F1%2F20160307%2F87641457361614371.jpg">
            <a:extLst>
              <a:ext uri="{FF2B5EF4-FFF2-40B4-BE49-F238E27FC236}">
                <a16:creationId xmlns:a16="http://schemas.microsoft.com/office/drawing/2014/main" id="{00FEC3D4-8036-4E69-B404-208FB8297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83718"/>
            <a:ext cx="1728192" cy="20911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B43D570-018E-4B82-8F3A-73191047F37F}"/>
              </a:ext>
            </a:extLst>
          </p:cNvPr>
          <p:cNvSpPr/>
          <p:nvPr/>
        </p:nvSpPr>
        <p:spPr>
          <a:xfrm>
            <a:off x="5981976" y="4659982"/>
            <a:ext cx="2406448" cy="2923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Tim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的一封邮件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1EA8FA-F86D-4786-A0B8-5C182BE55116}"/>
              </a:ext>
            </a:extLst>
          </p:cNvPr>
          <p:cNvSpPr/>
          <p:nvPr/>
        </p:nvSpPr>
        <p:spPr>
          <a:xfrm>
            <a:off x="1667792" y="4511610"/>
            <a:ext cx="1339534" cy="4924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Ray Tomlinson</a:t>
            </a:r>
          </a:p>
          <a:p>
            <a:pPr algn="ctr"/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1942-2016</a:t>
            </a: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66A76FC7-06B5-4390-8BE4-86598088099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3B935B4B-92DA-41F5-88EA-CED9447DC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171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8650" y="964109"/>
            <a:ext cx="3845719" cy="37391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因特网中的电子邮件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三个主要组件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用户代理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邮件服务器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电子邮件协议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用户代理：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即：邮件收发读写软件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Outlook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Foxmail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Thundbird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邮件服务器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发送、接收邮件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邮件协议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发送协议：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 </a:t>
            </a: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接收协议：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PoP3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IMAP</a:t>
            </a: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报文协议：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MIME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CA08CAD-3C7F-4299-85C3-7908DED3C7E4}"/>
              </a:ext>
            </a:extLst>
          </p:cNvPr>
          <p:cNvGrpSpPr/>
          <p:nvPr/>
        </p:nvGrpSpPr>
        <p:grpSpPr>
          <a:xfrm>
            <a:off x="5925271" y="1060320"/>
            <a:ext cx="1548230" cy="775099"/>
            <a:chOff x="6365081" y="843556"/>
            <a:chExt cx="1375173" cy="775099"/>
          </a:xfrm>
        </p:grpSpPr>
        <p:sp>
          <p:nvSpPr>
            <p:cNvPr id="8" name="Rectangle 280"/>
            <p:cNvSpPr>
              <a:spLocks noChangeArrowheads="1"/>
            </p:cNvSpPr>
            <p:nvPr/>
          </p:nvSpPr>
          <p:spPr bwMode="auto">
            <a:xfrm>
              <a:off x="6365081" y="882849"/>
              <a:ext cx="1371600" cy="73580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9" name="Group 279"/>
            <p:cNvGrpSpPr>
              <a:grpSpLocks/>
            </p:cNvGrpSpPr>
            <p:nvPr/>
          </p:nvGrpSpPr>
          <p:grpSpPr bwMode="auto">
            <a:xfrm>
              <a:off x="6409135" y="843556"/>
              <a:ext cx="1331119" cy="740569"/>
              <a:chOff x="4434" y="3335"/>
              <a:chExt cx="1118" cy="622"/>
            </a:xfrm>
          </p:grpSpPr>
          <p:sp>
            <p:nvSpPr>
              <p:cNvPr id="10" name="Text Box 263"/>
              <p:cNvSpPr txBox="1">
                <a:spLocks noChangeArrowheads="1"/>
              </p:cNvSpPr>
              <p:nvPr/>
            </p:nvSpPr>
            <p:spPr bwMode="auto">
              <a:xfrm>
                <a:off x="4551" y="3724"/>
                <a:ext cx="839" cy="2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user mailbox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" name="Group 278"/>
              <p:cNvGrpSpPr>
                <a:grpSpLocks/>
              </p:cNvGrpSpPr>
              <p:nvPr/>
            </p:nvGrpSpPr>
            <p:grpSpPr bwMode="auto">
              <a:xfrm>
                <a:off x="4458" y="3408"/>
                <a:ext cx="450" cy="120"/>
                <a:chOff x="4314" y="3444"/>
                <a:chExt cx="450" cy="120"/>
              </a:xfrm>
            </p:grpSpPr>
            <p:sp>
              <p:nvSpPr>
                <p:cNvPr id="14" name="Rectangle 264"/>
                <p:cNvSpPr>
                  <a:spLocks noChangeArrowheads="1"/>
                </p:cNvSpPr>
                <p:nvPr/>
              </p:nvSpPr>
              <p:spPr bwMode="auto">
                <a:xfrm>
                  <a:off x="4314" y="3444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" name="Line 265"/>
                <p:cNvSpPr>
                  <a:spLocks noChangeShapeType="1"/>
                </p:cNvSpPr>
                <p:nvPr/>
              </p:nvSpPr>
              <p:spPr bwMode="auto">
                <a:xfrm>
                  <a:off x="4363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16" name="Line 266"/>
                <p:cNvSpPr>
                  <a:spLocks noChangeShapeType="1"/>
                </p:cNvSpPr>
                <p:nvPr/>
              </p:nvSpPr>
              <p:spPr bwMode="auto">
                <a:xfrm flipH="1">
                  <a:off x="4472" y="3471"/>
                  <a:ext cx="6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17" name="Line 267"/>
                <p:cNvSpPr>
                  <a:spLocks noChangeShapeType="1"/>
                </p:cNvSpPr>
                <p:nvPr/>
              </p:nvSpPr>
              <p:spPr bwMode="auto">
                <a:xfrm>
                  <a:off x="4527" y="347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18" name="Line 268"/>
                <p:cNvSpPr>
                  <a:spLocks noChangeShapeType="1"/>
                </p:cNvSpPr>
                <p:nvPr/>
              </p:nvSpPr>
              <p:spPr bwMode="auto">
                <a:xfrm>
                  <a:off x="4584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19" name="Line 269"/>
                <p:cNvSpPr>
                  <a:spLocks noChangeShapeType="1"/>
                </p:cNvSpPr>
                <p:nvPr/>
              </p:nvSpPr>
              <p:spPr bwMode="auto">
                <a:xfrm>
                  <a:off x="4645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20" name="Line 270"/>
                <p:cNvSpPr>
                  <a:spLocks noChangeShapeType="1"/>
                </p:cNvSpPr>
                <p:nvPr/>
              </p:nvSpPr>
              <p:spPr bwMode="auto">
                <a:xfrm>
                  <a:off x="4701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21" name="Line 271"/>
                <p:cNvSpPr>
                  <a:spLocks noChangeShapeType="1"/>
                </p:cNvSpPr>
                <p:nvPr/>
              </p:nvSpPr>
              <p:spPr bwMode="auto">
                <a:xfrm>
                  <a:off x="4416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" name="Rectangle 272"/>
              <p:cNvSpPr>
                <a:spLocks noChangeArrowheads="1"/>
              </p:cNvSpPr>
              <p:nvPr/>
            </p:nvSpPr>
            <p:spPr bwMode="auto">
              <a:xfrm>
                <a:off x="4472" y="3779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Text Box 277"/>
              <p:cNvSpPr txBox="1">
                <a:spLocks noChangeArrowheads="1"/>
              </p:cNvSpPr>
              <p:nvPr/>
            </p:nvSpPr>
            <p:spPr bwMode="auto">
              <a:xfrm>
                <a:off x="4434" y="3335"/>
                <a:ext cx="1118" cy="38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outgoing 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message queue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3" name="Group 389"/>
          <p:cNvGrpSpPr>
            <a:grpSpLocks/>
          </p:cNvGrpSpPr>
          <p:nvPr/>
        </p:nvGrpSpPr>
        <p:grpSpPr bwMode="auto">
          <a:xfrm>
            <a:off x="7521684" y="2484183"/>
            <a:ext cx="358378" cy="536972"/>
            <a:chOff x="4140" y="429"/>
            <a:chExt cx="1425" cy="2396"/>
          </a:xfrm>
        </p:grpSpPr>
        <p:sp>
          <p:nvSpPr>
            <p:cNvPr id="187" name="Freeform 39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8" name="Rectangle 391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89" name="Freeform 39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Freeform 39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1" name="Rectangle 394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92" name="Group 39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7" name="AutoShape 39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18" name="AutoShape 397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3" name="Rectangle 398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94" name="Group 39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5" name="AutoShape 40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16" name="AutoShape 401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5" name="Rectangle 402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96" name="Rectangle 403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97" name="Group 40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3" name="AutoShape 405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14" name="AutoShape 40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8" name="Freeform 40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99" name="Group 40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1" name="AutoShape 409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AutoShape 410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0" name="Rectangle 411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01" name="Freeform 41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2" name="Freeform 41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3" name="Oval 41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04" name="Freeform 41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" name="AutoShape 416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06" name="AutoShape 417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07" name="Oval 418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08" name="Oval 419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Oval 420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10" name="Rectangle 421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24" name="Group 356"/>
          <p:cNvGrpSpPr>
            <a:grpSpLocks/>
          </p:cNvGrpSpPr>
          <p:nvPr/>
        </p:nvGrpSpPr>
        <p:grpSpPr bwMode="auto">
          <a:xfrm>
            <a:off x="5069809" y="2477011"/>
            <a:ext cx="358378" cy="536972"/>
            <a:chOff x="4140" y="429"/>
            <a:chExt cx="1425" cy="2396"/>
          </a:xfrm>
        </p:grpSpPr>
        <p:sp>
          <p:nvSpPr>
            <p:cNvPr id="155" name="Freeform 35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Rectangle 358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57" name="Freeform 35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8" name="Freeform 36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9" name="Rectangle 361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60" name="Group 36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5" name="AutoShape 36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86" name="AutoShape 364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1" name="Rectangle 365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62" name="Group 36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3" name="AutoShape 36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AutoShape 368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3" name="Rectangle 369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64" name="Rectangle 370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65" name="Group 37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1" name="AutoShape 372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AutoShape 373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6" name="Freeform 37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67" name="Group 37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9" name="AutoShape 376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80" name="AutoShape 377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8" name="Rectangle 378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69" name="Freeform 37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0" name="Freeform 38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1" name="Oval 381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72" name="Freeform 38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3" name="AutoShape 383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74" name="AutoShape 384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75" name="Oval 385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76" name="Oval 386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Oval 387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78" name="Rectangle 388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27" name="Group 19"/>
          <p:cNvGrpSpPr>
            <a:grpSpLocks/>
          </p:cNvGrpSpPr>
          <p:nvPr/>
        </p:nvGrpSpPr>
        <p:grpSpPr bwMode="auto">
          <a:xfrm>
            <a:off x="6892200" y="1943287"/>
            <a:ext cx="621507" cy="787003"/>
            <a:chOff x="4284" y="2627"/>
            <a:chExt cx="522" cy="661"/>
          </a:xfrm>
        </p:grpSpPr>
        <p:sp>
          <p:nvSpPr>
            <p:cNvPr id="108" name="Rectangle 20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" name="Text Box 21"/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  <a:endParaRPr lang="en-US" altLang="zh-CN" sz="1800" dirty="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" name="Rectangle 22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11" name="Line 23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2" name="Line 24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3" name="Line 25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4" name="Line 26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5" name="Line 27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6" name="Line 28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7" name="Line 29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8" name="Rectangle 30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19" name="Rectangle 31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20" name="Rectangle 32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21" name="Rectangle 33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22" name="Rectangle 34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Group 60"/>
          <p:cNvGrpSpPr>
            <a:grpSpLocks/>
          </p:cNvGrpSpPr>
          <p:nvPr/>
        </p:nvGrpSpPr>
        <p:grpSpPr bwMode="auto">
          <a:xfrm>
            <a:off x="5449816" y="1955077"/>
            <a:ext cx="621506" cy="787003"/>
            <a:chOff x="4284" y="2627"/>
            <a:chExt cx="522" cy="661"/>
          </a:xfrm>
        </p:grpSpPr>
        <p:sp>
          <p:nvSpPr>
            <p:cNvPr id="93" name="Rectangle 6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" name="Text Box 62"/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  <a:endParaRPr lang="en-US" altLang="zh-CN" sz="1800" dirty="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5" name="Rectangle 6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" name="Line 6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7" name="Line 6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8" name="Line 6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9" name="Line 6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6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Line 6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2" name="Line 7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3" name="Rectangle 7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4" name="Rectangle 7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5" name="Rectangle 7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6" name="Rectangle 7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7" name="Rectangle 7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30" name="Line 117"/>
          <p:cNvSpPr>
            <a:spLocks noChangeShapeType="1"/>
          </p:cNvSpPr>
          <p:nvPr/>
        </p:nvSpPr>
        <p:spPr bwMode="auto">
          <a:xfrm flipV="1">
            <a:off x="5333992" y="3021073"/>
            <a:ext cx="0" cy="87499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" name="Text Box 121"/>
          <p:cNvSpPr txBox="1">
            <a:spLocks noChangeArrowheads="1"/>
          </p:cNvSpPr>
          <p:nvPr/>
        </p:nvSpPr>
        <p:spPr bwMode="auto">
          <a:xfrm>
            <a:off x="6170406" y="2826970"/>
            <a:ext cx="68320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</p:txBody>
      </p:sp>
      <p:sp>
        <p:nvSpPr>
          <p:cNvPr id="52" name="Rectangle 115"/>
          <p:cNvSpPr>
            <a:spLocks noChangeArrowheads="1"/>
          </p:cNvSpPr>
          <p:nvPr/>
        </p:nvSpPr>
        <p:spPr bwMode="auto">
          <a:xfrm>
            <a:off x="7347937" y="3889815"/>
            <a:ext cx="527597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115"/>
          <p:cNvSpPr>
            <a:spLocks noChangeArrowheads="1"/>
          </p:cNvSpPr>
          <p:nvPr/>
        </p:nvSpPr>
        <p:spPr bwMode="auto">
          <a:xfrm>
            <a:off x="5000185" y="3889973"/>
            <a:ext cx="453628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Group 443"/>
          <p:cNvGrpSpPr>
            <a:grpSpLocks/>
          </p:cNvGrpSpPr>
          <p:nvPr/>
        </p:nvGrpSpPr>
        <p:grpSpPr bwMode="auto">
          <a:xfrm>
            <a:off x="4941213" y="4229391"/>
            <a:ext cx="667941" cy="621506"/>
            <a:chOff x="-44" y="1473"/>
            <a:chExt cx="981" cy="1105"/>
          </a:xfrm>
        </p:grpSpPr>
        <p:pic>
          <p:nvPicPr>
            <p:cNvPr id="49" name="Picture 44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Freeform 44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51" name="Group 437"/>
          <p:cNvGrpSpPr>
            <a:grpSpLocks/>
          </p:cNvGrpSpPr>
          <p:nvPr/>
        </p:nvGrpSpPr>
        <p:grpSpPr bwMode="auto">
          <a:xfrm flipH="1">
            <a:off x="7647601" y="4257511"/>
            <a:ext cx="667920" cy="621506"/>
            <a:chOff x="-44" y="1473"/>
            <a:chExt cx="981" cy="1105"/>
          </a:xfrm>
        </p:grpSpPr>
        <p:pic>
          <p:nvPicPr>
            <p:cNvPr id="54" name="Picture 43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43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 dirty="0"/>
            </a:p>
          </p:txBody>
        </p:sp>
      </p:grpSp>
      <p:sp>
        <p:nvSpPr>
          <p:cNvPr id="220" name="Line 117">
            <a:extLst>
              <a:ext uri="{FF2B5EF4-FFF2-40B4-BE49-F238E27FC236}">
                <a16:creationId xmlns:a16="http://schemas.microsoft.com/office/drawing/2014/main" id="{EFE91099-C13F-41AB-B8F2-8D30C7342B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47694" y="2842552"/>
            <a:ext cx="2064639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1" name="Text Box 121">
            <a:extLst>
              <a:ext uri="{FF2B5EF4-FFF2-40B4-BE49-F238E27FC236}">
                <a16:creationId xmlns:a16="http://schemas.microsoft.com/office/drawing/2014/main" id="{B2832A40-55FF-4342-AB65-CA3D3676E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439" y="3322157"/>
            <a:ext cx="68320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</p:txBody>
      </p:sp>
      <p:sp>
        <p:nvSpPr>
          <p:cNvPr id="222" name="Line 117">
            <a:extLst>
              <a:ext uri="{FF2B5EF4-FFF2-40B4-BE49-F238E27FC236}">
                <a16:creationId xmlns:a16="http://schemas.microsoft.com/office/drawing/2014/main" id="{DDC0A43C-91B4-4736-83C2-9E1B3BC194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55479" y="3021073"/>
            <a:ext cx="0" cy="874995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rgbClr val="7030A0"/>
              </a:solidFill>
            </a:endParaRPr>
          </a:p>
        </p:txBody>
      </p:sp>
      <p:sp>
        <p:nvSpPr>
          <p:cNvPr id="223" name="Text Box 121">
            <a:extLst>
              <a:ext uri="{FF2B5EF4-FFF2-40B4-BE49-F238E27FC236}">
                <a16:creationId xmlns:a16="http://schemas.microsoft.com/office/drawing/2014/main" id="{B001ADF3-A744-4317-9D4B-91A5103C4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335" y="3233955"/>
            <a:ext cx="104445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POP3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IMAP</a:t>
            </a:r>
          </a:p>
        </p:txBody>
      </p:sp>
      <p:pic>
        <p:nvPicPr>
          <p:cNvPr id="224" name="Picture 42" descr="Office-Client-Female-Light-icon">
            <a:extLst>
              <a:ext uri="{FF2B5EF4-FFF2-40B4-BE49-F238E27FC236}">
                <a16:creationId xmlns:a16="http://schemas.microsoft.com/office/drawing/2014/main" id="{04229F13-A519-406A-87A8-8E7D1C435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16277" y="4270141"/>
            <a:ext cx="567453" cy="53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Picture 15" descr="User-icon">
            <a:extLst>
              <a:ext uri="{FF2B5EF4-FFF2-40B4-BE49-F238E27FC236}">
                <a16:creationId xmlns:a16="http://schemas.microsoft.com/office/drawing/2014/main" id="{66E673E4-C6F1-4A09-865D-7306D703A705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73776" y="4319652"/>
            <a:ext cx="514582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E107321B-5157-4BA1-BE2B-2E63B7E4D6F0}"/>
              </a:ext>
            </a:extLst>
          </p:cNvPr>
          <p:cNvCxnSpPr>
            <a:cxnSpLocks/>
            <a:stCxn id="49" idx="1"/>
            <a:endCxn id="54" idx="1"/>
          </p:cNvCxnSpPr>
          <p:nvPr/>
        </p:nvCxnSpPr>
        <p:spPr>
          <a:xfrm>
            <a:off x="5609154" y="4540144"/>
            <a:ext cx="2038447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1" name="图片 230">
            <a:extLst>
              <a:ext uri="{FF2B5EF4-FFF2-40B4-BE49-F238E27FC236}">
                <a16:creationId xmlns:a16="http://schemas.microsoft.com/office/drawing/2014/main" id="{D76B8FEA-C0E3-4648-A2F7-E00D2ED99B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257" y="4216569"/>
            <a:ext cx="667941" cy="501563"/>
          </a:xfrm>
          <a:prstGeom prst="rect">
            <a:avLst/>
          </a:prstGeom>
        </p:spPr>
      </p:pic>
      <p:sp>
        <p:nvSpPr>
          <p:cNvPr id="232" name="Text Box 121">
            <a:extLst>
              <a:ext uri="{FF2B5EF4-FFF2-40B4-BE49-F238E27FC236}">
                <a16:creationId xmlns:a16="http://schemas.microsoft.com/office/drawing/2014/main" id="{4530BC10-A9E5-4C0A-B7AE-D377A5316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2792" y="4718132"/>
            <a:ext cx="686406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MIME</a:t>
            </a:r>
          </a:p>
        </p:txBody>
      </p:sp>
      <p:sp>
        <p:nvSpPr>
          <p:cNvPr id="136" name="灯片编号占位符 2">
            <a:extLst>
              <a:ext uri="{FF2B5EF4-FFF2-40B4-BE49-F238E27FC236}">
                <a16:creationId xmlns:a16="http://schemas.microsoft.com/office/drawing/2014/main" id="{97A4B524-EA51-4454-8378-61E49723BF9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137" name="AutoShape 5">
            <a:extLst>
              <a:ext uri="{FF2B5EF4-FFF2-40B4-BE49-F238E27FC236}">
                <a16:creationId xmlns:a16="http://schemas.microsoft.com/office/drawing/2014/main" id="{4FD1AC27-10AC-4E74-99DB-3A412D5FA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291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  <a:endParaRPr lang="en-US" altLang="zh-CN" dirty="0">
              <a:solidFill>
                <a:srgbClr val="FF6600"/>
              </a:solidFill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2267744" y="1275606"/>
            <a:ext cx="5192712" cy="2160239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邮件报文格式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7694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1855900-0C80-4B3F-9578-0DABF573153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63F7E63-BE51-4446-BB1D-474FF679E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546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259632" y="1419622"/>
            <a:ext cx="4104456" cy="35283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邮件服务器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设置邮箱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保留用户需要发送的邮件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生成报文队列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代发邮件的队列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工作于邮件服务器之间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电子邮件的协议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：发送方的邮件服务器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服务端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：接收方的邮件服务器</a:t>
            </a:r>
          </a:p>
        </p:txBody>
      </p:sp>
      <p:sp>
        <p:nvSpPr>
          <p:cNvPr id="204" name="内容占位符 2">
            <a:extLst>
              <a:ext uri="{FF2B5EF4-FFF2-40B4-BE49-F238E27FC236}">
                <a16:creationId xmlns:a16="http://schemas.microsoft.com/office/drawing/2014/main" id="{6A2A358E-2E86-41C0-A429-BB7AF64B4817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" name="Picture 2" descr="https://timgsa.baidu.com/timg?image&amp;quality=80&amp;size=b9999_10000&amp;sec=1582903918171&amp;di=95384fcb3e23295c6eca9a7434cf4848&amp;imgtype=0&amp;src=http%3A%2F%2Fwww.aiinet.com%2Fuploadfile%2F2015%2F0805%2F20150805095306472.jpg">
            <a:extLst>
              <a:ext uri="{FF2B5EF4-FFF2-40B4-BE49-F238E27FC236}">
                <a16:creationId xmlns:a16="http://schemas.microsoft.com/office/drawing/2014/main" id="{2B00020C-49D1-461E-A657-9E820B306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920" y="978640"/>
            <a:ext cx="2841342" cy="14144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6" name="Group 389">
            <a:extLst>
              <a:ext uri="{FF2B5EF4-FFF2-40B4-BE49-F238E27FC236}">
                <a16:creationId xmlns:a16="http://schemas.microsoft.com/office/drawing/2014/main" id="{DA3100AB-28D0-4DE6-9471-FA7165772E42}"/>
              </a:ext>
            </a:extLst>
          </p:cNvPr>
          <p:cNvGrpSpPr>
            <a:grpSpLocks/>
          </p:cNvGrpSpPr>
          <p:nvPr/>
        </p:nvGrpSpPr>
        <p:grpSpPr bwMode="auto">
          <a:xfrm>
            <a:off x="8172400" y="3532095"/>
            <a:ext cx="358378" cy="536972"/>
            <a:chOff x="4140" y="429"/>
            <a:chExt cx="1425" cy="2396"/>
          </a:xfrm>
        </p:grpSpPr>
        <p:sp>
          <p:nvSpPr>
            <p:cNvPr id="7" name="Freeform 390">
              <a:extLst>
                <a:ext uri="{FF2B5EF4-FFF2-40B4-BE49-F238E27FC236}">
                  <a16:creationId xmlns:a16="http://schemas.microsoft.com/office/drawing/2014/main" id="{804AC500-1C1D-4AB1-BA64-3E4032C24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" name="Rectangle 391">
              <a:extLst>
                <a:ext uri="{FF2B5EF4-FFF2-40B4-BE49-F238E27FC236}">
                  <a16:creationId xmlns:a16="http://schemas.microsoft.com/office/drawing/2014/main" id="{134FCAED-559E-4C05-8BDA-FDFF4F01F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9" name="Freeform 392">
              <a:extLst>
                <a:ext uri="{FF2B5EF4-FFF2-40B4-BE49-F238E27FC236}">
                  <a16:creationId xmlns:a16="http://schemas.microsoft.com/office/drawing/2014/main" id="{5A3B4EF8-6034-4FC6-81C7-BED97B7AC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Freeform 393">
              <a:extLst>
                <a:ext uri="{FF2B5EF4-FFF2-40B4-BE49-F238E27FC236}">
                  <a16:creationId xmlns:a16="http://schemas.microsoft.com/office/drawing/2014/main" id="{D44B478E-BAC4-4BFE-BAC9-2B64B497C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Rectangle 394">
              <a:extLst>
                <a:ext uri="{FF2B5EF4-FFF2-40B4-BE49-F238E27FC236}">
                  <a16:creationId xmlns:a16="http://schemas.microsoft.com/office/drawing/2014/main" id="{64F086F3-9B5D-4C25-98B2-0BF2236B0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" name="Group 395">
              <a:extLst>
                <a:ext uri="{FF2B5EF4-FFF2-40B4-BE49-F238E27FC236}">
                  <a16:creationId xmlns:a16="http://schemas.microsoft.com/office/drawing/2014/main" id="{9E5B6A42-2F6D-43DC-9057-858517699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" name="AutoShape 396">
                <a:extLst>
                  <a:ext uri="{FF2B5EF4-FFF2-40B4-BE49-F238E27FC236}">
                    <a16:creationId xmlns:a16="http://schemas.microsoft.com/office/drawing/2014/main" id="{E421B520-CA04-49AD-B77A-B8341A8EF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AutoShape 397">
                <a:extLst>
                  <a:ext uri="{FF2B5EF4-FFF2-40B4-BE49-F238E27FC236}">
                    <a16:creationId xmlns:a16="http://schemas.microsoft.com/office/drawing/2014/main" id="{9D550DEB-567A-4D50-8B81-D97B9E5A8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" name="Rectangle 398">
              <a:extLst>
                <a:ext uri="{FF2B5EF4-FFF2-40B4-BE49-F238E27FC236}">
                  <a16:creationId xmlns:a16="http://schemas.microsoft.com/office/drawing/2014/main" id="{3F3647BE-A64F-4445-B2AD-4300D4A7C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4" name="Group 399">
              <a:extLst>
                <a:ext uri="{FF2B5EF4-FFF2-40B4-BE49-F238E27FC236}">
                  <a16:creationId xmlns:a16="http://schemas.microsoft.com/office/drawing/2014/main" id="{E39499E6-A28A-4F84-B5AE-46A844FA1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" name="AutoShape 400">
                <a:extLst>
                  <a:ext uri="{FF2B5EF4-FFF2-40B4-BE49-F238E27FC236}">
                    <a16:creationId xmlns:a16="http://schemas.microsoft.com/office/drawing/2014/main" id="{3D97B477-9433-43E2-A02D-937324470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AutoShape 401">
                <a:extLst>
                  <a:ext uri="{FF2B5EF4-FFF2-40B4-BE49-F238E27FC236}">
                    <a16:creationId xmlns:a16="http://schemas.microsoft.com/office/drawing/2014/main" id="{97BA3B00-9C61-45F4-9AEB-336D4A3B6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Rectangle 402">
              <a:extLst>
                <a:ext uri="{FF2B5EF4-FFF2-40B4-BE49-F238E27FC236}">
                  <a16:creationId xmlns:a16="http://schemas.microsoft.com/office/drawing/2014/main" id="{6580A37E-4FB2-40EB-BEA1-A5B0F1BAE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6" name="Rectangle 403">
              <a:extLst>
                <a:ext uri="{FF2B5EF4-FFF2-40B4-BE49-F238E27FC236}">
                  <a16:creationId xmlns:a16="http://schemas.microsoft.com/office/drawing/2014/main" id="{A828F534-077B-45BA-8B90-6DE67C575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7" name="Group 404">
              <a:extLst>
                <a:ext uri="{FF2B5EF4-FFF2-40B4-BE49-F238E27FC236}">
                  <a16:creationId xmlns:a16="http://schemas.microsoft.com/office/drawing/2014/main" id="{B92E17D4-EA52-4AAE-AD92-CB507BF92C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" name="AutoShape 405">
                <a:extLst>
                  <a:ext uri="{FF2B5EF4-FFF2-40B4-BE49-F238E27FC236}">
                    <a16:creationId xmlns:a16="http://schemas.microsoft.com/office/drawing/2014/main" id="{2DE5D6A9-15FB-425E-8806-705CBC544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AutoShape 406">
                <a:extLst>
                  <a:ext uri="{FF2B5EF4-FFF2-40B4-BE49-F238E27FC236}">
                    <a16:creationId xmlns:a16="http://schemas.microsoft.com/office/drawing/2014/main" id="{73F859C1-8120-4CE5-8B0E-042E967E0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" name="Freeform 407">
              <a:extLst>
                <a:ext uri="{FF2B5EF4-FFF2-40B4-BE49-F238E27FC236}">
                  <a16:creationId xmlns:a16="http://schemas.microsoft.com/office/drawing/2014/main" id="{E260EA6B-9027-46E6-9D05-32490E9B5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9" name="Group 408">
              <a:extLst>
                <a:ext uri="{FF2B5EF4-FFF2-40B4-BE49-F238E27FC236}">
                  <a16:creationId xmlns:a16="http://schemas.microsoft.com/office/drawing/2014/main" id="{F458EF10-45F0-418B-9A1C-0F476313E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" name="AutoShape 409">
                <a:extLst>
                  <a:ext uri="{FF2B5EF4-FFF2-40B4-BE49-F238E27FC236}">
                    <a16:creationId xmlns:a16="http://schemas.microsoft.com/office/drawing/2014/main" id="{B18B2135-4F8A-4C31-9BE7-5E1FF38F3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AutoShape 410">
                <a:extLst>
                  <a:ext uri="{FF2B5EF4-FFF2-40B4-BE49-F238E27FC236}">
                    <a16:creationId xmlns:a16="http://schemas.microsoft.com/office/drawing/2014/main" id="{11925966-C552-47AF-BCF4-C6C0195467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" name="Rectangle 411">
              <a:extLst>
                <a:ext uri="{FF2B5EF4-FFF2-40B4-BE49-F238E27FC236}">
                  <a16:creationId xmlns:a16="http://schemas.microsoft.com/office/drawing/2014/main" id="{DE983F07-A466-4125-B4EA-AB082FB84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1" name="Freeform 412">
              <a:extLst>
                <a:ext uri="{FF2B5EF4-FFF2-40B4-BE49-F238E27FC236}">
                  <a16:creationId xmlns:a16="http://schemas.microsoft.com/office/drawing/2014/main" id="{2C8F8071-DFE2-4C0B-8511-24AD48190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Freeform 413">
              <a:extLst>
                <a:ext uri="{FF2B5EF4-FFF2-40B4-BE49-F238E27FC236}">
                  <a16:creationId xmlns:a16="http://schemas.microsoft.com/office/drawing/2014/main" id="{8E9B996B-A1F1-42F4-A5A5-34022E95C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" name="Oval 414">
              <a:extLst>
                <a:ext uri="{FF2B5EF4-FFF2-40B4-BE49-F238E27FC236}">
                  <a16:creationId xmlns:a16="http://schemas.microsoft.com/office/drawing/2014/main" id="{807AFA15-6807-4A32-9C8C-924D8FBCA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4" name="Freeform 415">
              <a:extLst>
                <a:ext uri="{FF2B5EF4-FFF2-40B4-BE49-F238E27FC236}">
                  <a16:creationId xmlns:a16="http://schemas.microsoft.com/office/drawing/2014/main" id="{89689DFE-E83F-456F-9925-9DFCB6625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" name="AutoShape 416">
              <a:extLst>
                <a:ext uri="{FF2B5EF4-FFF2-40B4-BE49-F238E27FC236}">
                  <a16:creationId xmlns:a16="http://schemas.microsoft.com/office/drawing/2014/main" id="{F67B950C-C49E-47EA-A39C-09A9A6B18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6" name="AutoShape 417">
              <a:extLst>
                <a:ext uri="{FF2B5EF4-FFF2-40B4-BE49-F238E27FC236}">
                  <a16:creationId xmlns:a16="http://schemas.microsoft.com/office/drawing/2014/main" id="{1142FAE3-BD6D-4B41-9118-235F5FD74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7" name="Oval 418">
              <a:extLst>
                <a:ext uri="{FF2B5EF4-FFF2-40B4-BE49-F238E27FC236}">
                  <a16:creationId xmlns:a16="http://schemas.microsoft.com/office/drawing/2014/main" id="{9AFEF367-44F5-4F01-B757-AC43807AC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8" name="Oval 419">
              <a:extLst>
                <a:ext uri="{FF2B5EF4-FFF2-40B4-BE49-F238E27FC236}">
                  <a16:creationId xmlns:a16="http://schemas.microsoft.com/office/drawing/2014/main" id="{550D9D2C-F297-494D-84C6-6F95D445E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420">
              <a:extLst>
                <a:ext uri="{FF2B5EF4-FFF2-40B4-BE49-F238E27FC236}">
                  <a16:creationId xmlns:a16="http://schemas.microsoft.com/office/drawing/2014/main" id="{EEEDE985-FA0F-4346-9124-79F3D41B1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0" name="Rectangle 421">
              <a:extLst>
                <a:ext uri="{FF2B5EF4-FFF2-40B4-BE49-F238E27FC236}">
                  <a16:creationId xmlns:a16="http://schemas.microsoft.com/office/drawing/2014/main" id="{6A07273D-B278-4A89-8C41-0AB22020B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39" name="Group 356">
            <a:extLst>
              <a:ext uri="{FF2B5EF4-FFF2-40B4-BE49-F238E27FC236}">
                <a16:creationId xmlns:a16="http://schemas.microsoft.com/office/drawing/2014/main" id="{D60DB6EE-157E-41AB-A2EC-188EEF2FC600}"/>
              </a:ext>
            </a:extLst>
          </p:cNvPr>
          <p:cNvGrpSpPr>
            <a:grpSpLocks/>
          </p:cNvGrpSpPr>
          <p:nvPr/>
        </p:nvGrpSpPr>
        <p:grpSpPr bwMode="auto">
          <a:xfrm>
            <a:off x="5720525" y="3524923"/>
            <a:ext cx="358378" cy="536972"/>
            <a:chOff x="4140" y="429"/>
            <a:chExt cx="1425" cy="2396"/>
          </a:xfrm>
        </p:grpSpPr>
        <p:sp>
          <p:nvSpPr>
            <p:cNvPr id="40" name="Freeform 357">
              <a:extLst>
                <a:ext uri="{FF2B5EF4-FFF2-40B4-BE49-F238E27FC236}">
                  <a16:creationId xmlns:a16="http://schemas.microsoft.com/office/drawing/2014/main" id="{414CBF74-8AE1-4741-9262-CCEF5BC5A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Rectangle 358">
              <a:extLst>
                <a:ext uri="{FF2B5EF4-FFF2-40B4-BE49-F238E27FC236}">
                  <a16:creationId xmlns:a16="http://schemas.microsoft.com/office/drawing/2014/main" id="{924DDF1C-D10B-40D0-99B4-AD557A99F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2" name="Freeform 359">
              <a:extLst>
                <a:ext uri="{FF2B5EF4-FFF2-40B4-BE49-F238E27FC236}">
                  <a16:creationId xmlns:a16="http://schemas.microsoft.com/office/drawing/2014/main" id="{6758EA31-9458-460B-8A52-ACBD1A8DD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Freeform 360">
              <a:extLst>
                <a:ext uri="{FF2B5EF4-FFF2-40B4-BE49-F238E27FC236}">
                  <a16:creationId xmlns:a16="http://schemas.microsoft.com/office/drawing/2014/main" id="{FA1F0DEC-A063-4B79-958B-EA0CA0C3D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Rectangle 361">
              <a:extLst>
                <a:ext uri="{FF2B5EF4-FFF2-40B4-BE49-F238E27FC236}">
                  <a16:creationId xmlns:a16="http://schemas.microsoft.com/office/drawing/2014/main" id="{7EC045FE-C749-43A7-99C2-D2E6DF59A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45" name="Group 362">
              <a:extLst>
                <a:ext uri="{FF2B5EF4-FFF2-40B4-BE49-F238E27FC236}">
                  <a16:creationId xmlns:a16="http://schemas.microsoft.com/office/drawing/2014/main" id="{0B09FD7B-1D7E-4A66-99B2-660B7B4C44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" name="AutoShape 363">
                <a:extLst>
                  <a:ext uri="{FF2B5EF4-FFF2-40B4-BE49-F238E27FC236}">
                    <a16:creationId xmlns:a16="http://schemas.microsoft.com/office/drawing/2014/main" id="{DD30FE88-4E6F-4082-AA24-E1D16C75E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AutoShape 364">
                <a:extLst>
                  <a:ext uri="{FF2B5EF4-FFF2-40B4-BE49-F238E27FC236}">
                    <a16:creationId xmlns:a16="http://schemas.microsoft.com/office/drawing/2014/main" id="{769CE78D-E229-4386-9D64-CF27EDC9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" name="Rectangle 365">
              <a:extLst>
                <a:ext uri="{FF2B5EF4-FFF2-40B4-BE49-F238E27FC236}">
                  <a16:creationId xmlns:a16="http://schemas.microsoft.com/office/drawing/2014/main" id="{8333B602-4353-4A7D-85CA-86EAA2BE3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47" name="Group 366">
              <a:extLst>
                <a:ext uri="{FF2B5EF4-FFF2-40B4-BE49-F238E27FC236}">
                  <a16:creationId xmlns:a16="http://schemas.microsoft.com/office/drawing/2014/main" id="{C77EB25C-80E5-46FE-A176-225F98D88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8" name="AutoShape 367">
                <a:extLst>
                  <a:ext uri="{FF2B5EF4-FFF2-40B4-BE49-F238E27FC236}">
                    <a16:creationId xmlns:a16="http://schemas.microsoft.com/office/drawing/2014/main" id="{2654A3C4-03E6-48BD-9022-C5685F90D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AutoShape 368">
                <a:extLst>
                  <a:ext uri="{FF2B5EF4-FFF2-40B4-BE49-F238E27FC236}">
                    <a16:creationId xmlns:a16="http://schemas.microsoft.com/office/drawing/2014/main" id="{72ACE7FE-C9F1-4912-B5AA-6CF43CEAD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8" name="Rectangle 369">
              <a:extLst>
                <a:ext uri="{FF2B5EF4-FFF2-40B4-BE49-F238E27FC236}">
                  <a16:creationId xmlns:a16="http://schemas.microsoft.com/office/drawing/2014/main" id="{3988589A-02C6-4DC1-B709-31096AFB8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9" name="Rectangle 370">
              <a:extLst>
                <a:ext uri="{FF2B5EF4-FFF2-40B4-BE49-F238E27FC236}">
                  <a16:creationId xmlns:a16="http://schemas.microsoft.com/office/drawing/2014/main" id="{8416EA56-86BB-47D9-A70C-5D4D75ABA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50" name="Group 371">
              <a:extLst>
                <a:ext uri="{FF2B5EF4-FFF2-40B4-BE49-F238E27FC236}">
                  <a16:creationId xmlns:a16="http://schemas.microsoft.com/office/drawing/2014/main" id="{EFB66132-6756-41EC-A408-3A040841CE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6" name="AutoShape 372">
                <a:extLst>
                  <a:ext uri="{FF2B5EF4-FFF2-40B4-BE49-F238E27FC236}">
                    <a16:creationId xmlns:a16="http://schemas.microsoft.com/office/drawing/2014/main" id="{28336368-42D0-47B9-A66B-0A82281F5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AutoShape 373">
                <a:extLst>
                  <a:ext uri="{FF2B5EF4-FFF2-40B4-BE49-F238E27FC236}">
                    <a16:creationId xmlns:a16="http://schemas.microsoft.com/office/drawing/2014/main" id="{2E4190C5-6C1D-49BF-9BAC-73D6C23E2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" name="Freeform 374">
              <a:extLst>
                <a:ext uri="{FF2B5EF4-FFF2-40B4-BE49-F238E27FC236}">
                  <a16:creationId xmlns:a16="http://schemas.microsoft.com/office/drawing/2014/main" id="{93729BD5-8D53-4CF3-B51F-5BE688670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2" name="Group 375">
              <a:extLst>
                <a:ext uri="{FF2B5EF4-FFF2-40B4-BE49-F238E27FC236}">
                  <a16:creationId xmlns:a16="http://schemas.microsoft.com/office/drawing/2014/main" id="{9938BC11-B502-487B-9FB3-12B4D4019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" name="AutoShape 376">
                <a:extLst>
                  <a:ext uri="{FF2B5EF4-FFF2-40B4-BE49-F238E27FC236}">
                    <a16:creationId xmlns:a16="http://schemas.microsoft.com/office/drawing/2014/main" id="{1DB01892-0EDE-4E5F-9444-17241D3883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AutoShape 377">
                <a:extLst>
                  <a:ext uri="{FF2B5EF4-FFF2-40B4-BE49-F238E27FC236}">
                    <a16:creationId xmlns:a16="http://schemas.microsoft.com/office/drawing/2014/main" id="{5000399D-AFD0-43BC-BCCE-866C1C363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3" name="Rectangle 378">
              <a:extLst>
                <a:ext uri="{FF2B5EF4-FFF2-40B4-BE49-F238E27FC236}">
                  <a16:creationId xmlns:a16="http://schemas.microsoft.com/office/drawing/2014/main" id="{FCD8D0F7-421F-4399-97B4-51C9417E6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54" name="Freeform 379">
              <a:extLst>
                <a:ext uri="{FF2B5EF4-FFF2-40B4-BE49-F238E27FC236}">
                  <a16:creationId xmlns:a16="http://schemas.microsoft.com/office/drawing/2014/main" id="{50EC819D-771C-4C28-9CFB-CA0BCFC1D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Freeform 380">
              <a:extLst>
                <a:ext uri="{FF2B5EF4-FFF2-40B4-BE49-F238E27FC236}">
                  <a16:creationId xmlns:a16="http://schemas.microsoft.com/office/drawing/2014/main" id="{9A772E27-94FF-4117-B86D-18E5E08C7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Oval 381">
              <a:extLst>
                <a:ext uri="{FF2B5EF4-FFF2-40B4-BE49-F238E27FC236}">
                  <a16:creationId xmlns:a16="http://schemas.microsoft.com/office/drawing/2014/main" id="{3482D874-E833-49F6-AC3A-E6397381C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57" name="Freeform 382">
              <a:extLst>
                <a:ext uri="{FF2B5EF4-FFF2-40B4-BE49-F238E27FC236}">
                  <a16:creationId xmlns:a16="http://schemas.microsoft.com/office/drawing/2014/main" id="{DF945EF0-4453-4AA6-847A-8E7786B6C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AutoShape 383">
              <a:extLst>
                <a:ext uri="{FF2B5EF4-FFF2-40B4-BE49-F238E27FC236}">
                  <a16:creationId xmlns:a16="http://schemas.microsoft.com/office/drawing/2014/main" id="{6EEEC08E-6B26-46A0-8B00-16EF3DB73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59" name="AutoShape 384">
              <a:extLst>
                <a:ext uri="{FF2B5EF4-FFF2-40B4-BE49-F238E27FC236}">
                  <a16:creationId xmlns:a16="http://schemas.microsoft.com/office/drawing/2014/main" id="{2AC6710E-C477-4795-8EBF-48C3C347D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60" name="Oval 385">
              <a:extLst>
                <a:ext uri="{FF2B5EF4-FFF2-40B4-BE49-F238E27FC236}">
                  <a16:creationId xmlns:a16="http://schemas.microsoft.com/office/drawing/2014/main" id="{DB5B93BC-D73A-473C-AE82-557A62E91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61" name="Oval 386">
              <a:extLst>
                <a:ext uri="{FF2B5EF4-FFF2-40B4-BE49-F238E27FC236}">
                  <a16:creationId xmlns:a16="http://schemas.microsoft.com/office/drawing/2014/main" id="{7811FBA7-683A-4113-9FA5-F88BA0D11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Oval 387">
              <a:extLst>
                <a:ext uri="{FF2B5EF4-FFF2-40B4-BE49-F238E27FC236}">
                  <a16:creationId xmlns:a16="http://schemas.microsoft.com/office/drawing/2014/main" id="{46C3806E-9119-4B7E-BC1E-A95EB26A5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63" name="Rectangle 388">
              <a:extLst>
                <a:ext uri="{FF2B5EF4-FFF2-40B4-BE49-F238E27FC236}">
                  <a16:creationId xmlns:a16="http://schemas.microsoft.com/office/drawing/2014/main" id="{ACBB2EC1-03D2-4CB1-A97F-F4E09862C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72" name="Group 19">
            <a:extLst>
              <a:ext uri="{FF2B5EF4-FFF2-40B4-BE49-F238E27FC236}">
                <a16:creationId xmlns:a16="http://schemas.microsoft.com/office/drawing/2014/main" id="{9EACB07B-806F-45F8-B218-D928C8C10DA2}"/>
              </a:ext>
            </a:extLst>
          </p:cNvPr>
          <p:cNvGrpSpPr>
            <a:grpSpLocks/>
          </p:cNvGrpSpPr>
          <p:nvPr/>
        </p:nvGrpSpPr>
        <p:grpSpPr bwMode="auto">
          <a:xfrm>
            <a:off x="7542916" y="2991199"/>
            <a:ext cx="621507" cy="787003"/>
            <a:chOff x="4284" y="2627"/>
            <a:chExt cx="522" cy="661"/>
          </a:xfrm>
        </p:grpSpPr>
        <p:sp>
          <p:nvSpPr>
            <p:cNvPr id="73" name="Rectangle 20">
              <a:extLst>
                <a:ext uri="{FF2B5EF4-FFF2-40B4-BE49-F238E27FC236}">
                  <a16:creationId xmlns:a16="http://schemas.microsoft.com/office/drawing/2014/main" id="{B3DF90C6-0E9F-468A-B7D1-85C7D7BC4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Text Box 21">
              <a:extLst>
                <a:ext uri="{FF2B5EF4-FFF2-40B4-BE49-F238E27FC236}">
                  <a16:creationId xmlns:a16="http://schemas.microsoft.com/office/drawing/2014/main" id="{49C8FB16-613E-473F-9F0D-F2F4878C5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  <a:endParaRPr lang="en-US" altLang="zh-CN" sz="1800" dirty="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22">
              <a:extLst>
                <a:ext uri="{FF2B5EF4-FFF2-40B4-BE49-F238E27FC236}">
                  <a16:creationId xmlns:a16="http://schemas.microsoft.com/office/drawing/2014/main" id="{90005882-76C7-4B82-B5A6-6E8AF2E18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76" name="Line 23">
              <a:extLst>
                <a:ext uri="{FF2B5EF4-FFF2-40B4-BE49-F238E27FC236}">
                  <a16:creationId xmlns:a16="http://schemas.microsoft.com/office/drawing/2014/main" id="{FE31D4C0-F999-46F8-A86A-62BECEB06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7" name="Line 24">
              <a:extLst>
                <a:ext uri="{FF2B5EF4-FFF2-40B4-BE49-F238E27FC236}">
                  <a16:creationId xmlns:a16="http://schemas.microsoft.com/office/drawing/2014/main" id="{E4FEED5B-25CC-4B0A-A48F-262D56316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8" name="Line 25">
              <a:extLst>
                <a:ext uri="{FF2B5EF4-FFF2-40B4-BE49-F238E27FC236}">
                  <a16:creationId xmlns:a16="http://schemas.microsoft.com/office/drawing/2014/main" id="{F28C7673-27AC-464F-85AC-E176FAED5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26">
              <a:extLst>
                <a:ext uri="{FF2B5EF4-FFF2-40B4-BE49-F238E27FC236}">
                  <a16:creationId xmlns:a16="http://schemas.microsoft.com/office/drawing/2014/main" id="{DDF17502-8651-470B-B16D-8679CE90B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6603A23A-42D8-4480-A369-66709F1C7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1" name="Line 28">
              <a:extLst>
                <a:ext uri="{FF2B5EF4-FFF2-40B4-BE49-F238E27FC236}">
                  <a16:creationId xmlns:a16="http://schemas.microsoft.com/office/drawing/2014/main" id="{4A3D1878-9601-4EA7-8D9E-5F3F355F0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2" name="Line 29">
              <a:extLst>
                <a:ext uri="{FF2B5EF4-FFF2-40B4-BE49-F238E27FC236}">
                  <a16:creationId xmlns:a16="http://schemas.microsoft.com/office/drawing/2014/main" id="{E03ACC10-33E7-4AF5-9362-9BE8CE865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3" name="Rectangle 30">
              <a:extLst>
                <a:ext uri="{FF2B5EF4-FFF2-40B4-BE49-F238E27FC236}">
                  <a16:creationId xmlns:a16="http://schemas.microsoft.com/office/drawing/2014/main" id="{0496727A-319D-429F-912A-6CA6869BF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4" name="Rectangle 31">
              <a:extLst>
                <a:ext uri="{FF2B5EF4-FFF2-40B4-BE49-F238E27FC236}">
                  <a16:creationId xmlns:a16="http://schemas.microsoft.com/office/drawing/2014/main" id="{A5F4C6A1-C4B5-48A8-A9D5-C141996B3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5" name="Rectangle 32">
              <a:extLst>
                <a:ext uri="{FF2B5EF4-FFF2-40B4-BE49-F238E27FC236}">
                  <a16:creationId xmlns:a16="http://schemas.microsoft.com/office/drawing/2014/main" id="{F3D63814-3E57-4A03-9D37-6793A8E0D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6" name="Rectangle 33">
              <a:extLst>
                <a:ext uri="{FF2B5EF4-FFF2-40B4-BE49-F238E27FC236}">
                  <a16:creationId xmlns:a16="http://schemas.microsoft.com/office/drawing/2014/main" id="{2365D042-E267-4455-BB9F-2850A4451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" name="Rectangle 34">
              <a:extLst>
                <a:ext uri="{FF2B5EF4-FFF2-40B4-BE49-F238E27FC236}">
                  <a16:creationId xmlns:a16="http://schemas.microsoft.com/office/drawing/2014/main" id="{9279BF86-26FC-48D0-8AD4-CD781A5FF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88" name="Group 60">
            <a:extLst>
              <a:ext uri="{FF2B5EF4-FFF2-40B4-BE49-F238E27FC236}">
                <a16:creationId xmlns:a16="http://schemas.microsoft.com/office/drawing/2014/main" id="{10F104D3-F350-493D-853E-D19A8C8A50B8}"/>
              </a:ext>
            </a:extLst>
          </p:cNvPr>
          <p:cNvGrpSpPr>
            <a:grpSpLocks/>
          </p:cNvGrpSpPr>
          <p:nvPr/>
        </p:nvGrpSpPr>
        <p:grpSpPr bwMode="auto">
          <a:xfrm>
            <a:off x="6100532" y="3002989"/>
            <a:ext cx="621506" cy="787003"/>
            <a:chOff x="4284" y="2627"/>
            <a:chExt cx="522" cy="661"/>
          </a:xfrm>
        </p:grpSpPr>
        <p:sp>
          <p:nvSpPr>
            <p:cNvPr id="89" name="Rectangle 61">
              <a:extLst>
                <a:ext uri="{FF2B5EF4-FFF2-40B4-BE49-F238E27FC236}">
                  <a16:creationId xmlns:a16="http://schemas.microsoft.com/office/drawing/2014/main" id="{8035E95C-333C-412B-B924-00282BF0E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0" name="Text Box 62">
              <a:extLst>
                <a:ext uri="{FF2B5EF4-FFF2-40B4-BE49-F238E27FC236}">
                  <a16:creationId xmlns:a16="http://schemas.microsoft.com/office/drawing/2014/main" id="{64A4F17D-B266-49F3-B0EB-4800B08FD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  <a:endParaRPr lang="en-US" altLang="zh-CN" sz="1800" dirty="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1" name="Rectangle 63">
              <a:extLst>
                <a:ext uri="{FF2B5EF4-FFF2-40B4-BE49-F238E27FC236}">
                  <a16:creationId xmlns:a16="http://schemas.microsoft.com/office/drawing/2014/main" id="{A425925F-CC79-4AC9-9F44-40848DD7C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2" name="Line 64">
              <a:extLst>
                <a:ext uri="{FF2B5EF4-FFF2-40B4-BE49-F238E27FC236}">
                  <a16:creationId xmlns:a16="http://schemas.microsoft.com/office/drawing/2014/main" id="{BCD8F696-1866-49CD-AA59-628772E9B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3" name="Line 65">
              <a:extLst>
                <a:ext uri="{FF2B5EF4-FFF2-40B4-BE49-F238E27FC236}">
                  <a16:creationId xmlns:a16="http://schemas.microsoft.com/office/drawing/2014/main" id="{C127ED02-8453-40C9-8F1E-A89389BE1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4" name="Line 66">
              <a:extLst>
                <a:ext uri="{FF2B5EF4-FFF2-40B4-BE49-F238E27FC236}">
                  <a16:creationId xmlns:a16="http://schemas.microsoft.com/office/drawing/2014/main" id="{FFF49EB6-DFB3-4FD3-B5E0-22C41C993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67">
              <a:extLst>
                <a:ext uri="{FF2B5EF4-FFF2-40B4-BE49-F238E27FC236}">
                  <a16:creationId xmlns:a16="http://schemas.microsoft.com/office/drawing/2014/main" id="{680C0EBF-3909-4B57-B5E2-8272ACF0F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68">
              <a:extLst>
                <a:ext uri="{FF2B5EF4-FFF2-40B4-BE49-F238E27FC236}">
                  <a16:creationId xmlns:a16="http://schemas.microsoft.com/office/drawing/2014/main" id="{56B6F979-7516-447E-BBF0-BF6982E66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7" name="Line 69">
              <a:extLst>
                <a:ext uri="{FF2B5EF4-FFF2-40B4-BE49-F238E27FC236}">
                  <a16:creationId xmlns:a16="http://schemas.microsoft.com/office/drawing/2014/main" id="{195852A6-64B4-4FE8-8F8E-CBF265B4B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8" name="Line 70">
              <a:extLst>
                <a:ext uri="{FF2B5EF4-FFF2-40B4-BE49-F238E27FC236}">
                  <a16:creationId xmlns:a16="http://schemas.microsoft.com/office/drawing/2014/main" id="{64DFF622-2A8D-4B53-B74C-F8073E364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9" name="Rectangle 71">
              <a:extLst>
                <a:ext uri="{FF2B5EF4-FFF2-40B4-BE49-F238E27FC236}">
                  <a16:creationId xmlns:a16="http://schemas.microsoft.com/office/drawing/2014/main" id="{653CF086-11CB-4DCA-A366-DB499331C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0" name="Rectangle 72">
              <a:extLst>
                <a:ext uri="{FF2B5EF4-FFF2-40B4-BE49-F238E27FC236}">
                  <a16:creationId xmlns:a16="http://schemas.microsoft.com/office/drawing/2014/main" id="{DCE0D97C-CA85-439C-8B36-D2FD6C649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1" name="Rectangle 73">
              <a:extLst>
                <a:ext uri="{FF2B5EF4-FFF2-40B4-BE49-F238E27FC236}">
                  <a16:creationId xmlns:a16="http://schemas.microsoft.com/office/drawing/2014/main" id="{39D83F85-A2DE-422A-89C6-B751DC97E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2" name="Rectangle 74">
              <a:extLst>
                <a:ext uri="{FF2B5EF4-FFF2-40B4-BE49-F238E27FC236}">
                  <a16:creationId xmlns:a16="http://schemas.microsoft.com/office/drawing/2014/main" id="{3AA26ABD-5EB7-44FC-9B7A-CC5F34DEB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3" name="Rectangle 75">
              <a:extLst>
                <a:ext uri="{FF2B5EF4-FFF2-40B4-BE49-F238E27FC236}">
                  <a16:creationId xmlns:a16="http://schemas.microsoft.com/office/drawing/2014/main" id="{2FA641EC-F90A-42C7-9658-FC6E2C8B9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104" name="Text Box 121">
            <a:extLst>
              <a:ext uri="{FF2B5EF4-FFF2-40B4-BE49-F238E27FC236}">
                <a16:creationId xmlns:a16="http://schemas.microsoft.com/office/drawing/2014/main" id="{F81F398E-EE5C-45E3-A3FB-AB05EB81A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122" y="3874882"/>
            <a:ext cx="68320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CC0000"/>
                </a:solidFill>
                <a:latin typeface="Arial" panose="020B0604020202020204" pitchFamily="34" charset="0"/>
              </a:rPr>
              <a:t>SMTP</a:t>
            </a:r>
          </a:p>
        </p:txBody>
      </p:sp>
      <p:sp>
        <p:nvSpPr>
          <p:cNvPr id="105" name="Line 117">
            <a:extLst>
              <a:ext uri="{FF2B5EF4-FFF2-40B4-BE49-F238E27FC236}">
                <a16:creationId xmlns:a16="http://schemas.microsoft.com/office/drawing/2014/main" id="{43B3CAA3-C5E7-4E08-9BDE-FBB87785FD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8410" y="3890464"/>
            <a:ext cx="2064639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6" name="Text Box 121">
            <a:extLst>
              <a:ext uri="{FF2B5EF4-FFF2-40B4-BE49-F238E27FC236}">
                <a16:creationId xmlns:a16="http://schemas.microsoft.com/office/drawing/2014/main" id="{C3FCD029-5D76-49E7-B7FF-A8E81968E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0939" y="4098173"/>
            <a:ext cx="1188082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SMTP Client</a:t>
            </a:r>
          </a:p>
        </p:txBody>
      </p:sp>
      <p:sp>
        <p:nvSpPr>
          <p:cNvPr id="107" name="Text Box 121">
            <a:extLst>
              <a:ext uri="{FF2B5EF4-FFF2-40B4-BE49-F238E27FC236}">
                <a16:creationId xmlns:a16="http://schemas.microsoft.com/office/drawing/2014/main" id="{A39408A7-873A-4CEB-BD4B-DCAC43F1B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5304" y="4122601"/>
            <a:ext cx="13859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SMTP Server</a:t>
            </a:r>
          </a:p>
        </p:txBody>
      </p:sp>
      <p:sp>
        <p:nvSpPr>
          <p:cNvPr id="108" name="灯片编号占位符 2">
            <a:extLst>
              <a:ext uri="{FF2B5EF4-FFF2-40B4-BE49-F238E27FC236}">
                <a16:creationId xmlns:a16="http://schemas.microsoft.com/office/drawing/2014/main" id="{B4AD677C-51BF-47FF-A496-E21ED0CD509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109" name="AutoShape 5">
            <a:extLst>
              <a:ext uri="{FF2B5EF4-FFF2-40B4-BE49-F238E27FC236}">
                <a16:creationId xmlns:a16="http://schemas.microsoft.com/office/drawing/2014/main" id="{263D89B6-0B57-4F47-A94D-338C19E70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79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99592" y="1392489"/>
            <a:ext cx="5040560" cy="32674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简单邮件传输协议：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的可靠传输服务，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RFC-821, 2821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服务器端口号：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直接传输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发送端的服务器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接收端的服务器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传输的三个阶段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(greeting)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报文传输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TCP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连接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使用交互式命令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dirty="0">
                <a:solidFill>
                  <a:srgbClr val="D430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commands: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ASCII text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dirty="0">
                <a:solidFill>
                  <a:srgbClr val="D430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response: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status code and phrase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240F094-2FB8-4376-A051-C16C2C4F68BF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811DB8-BD66-4A1E-8EA9-2FC91E0A8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428307"/>
            <a:ext cx="2232248" cy="1674186"/>
          </a:xfrm>
          <a:prstGeom prst="rect">
            <a:avLst/>
          </a:prstGeom>
        </p:spPr>
      </p:pic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566AC3E9-F203-4F04-8280-23E9501276B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E28E9151-99A6-487B-A525-A567995AD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808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70510" y="1372820"/>
            <a:ext cx="3601490" cy="357986"/>
          </a:xfrm>
        </p:spPr>
        <p:txBody>
          <a:bodyPr/>
          <a:lstStyle/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简单邮件传输协议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：工作流程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52043" y="1772477"/>
            <a:ext cx="3139999" cy="198183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使用邮件代理完成邮件并填写收件地址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bob@xschool.edu</a:t>
            </a:r>
          </a:p>
          <a:p>
            <a:pPr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邮件代理将邮件发送到她的邮件服务器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(SMTP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；排队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客户端与的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的邮件服务器建立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961448" y="1772477"/>
            <a:ext cx="2994922" cy="156272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+mj-ea"/>
              <a:buAutoNum type="circleNumDbPlain" startAt="4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服务器发送邮件；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+mj-ea"/>
              <a:buAutoNum type="circleNumDbPlain" startAt="4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的邮件服务器将邮件放入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邮箱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+mj-ea"/>
              <a:buAutoNum type="circleNumDbPlain" startAt="4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使用他自己的邮件代理来接收和阅读邮件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Tx/>
              <a:buNone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Rectangle 78"/>
          <p:cNvSpPr>
            <a:spLocks noChangeArrowheads="1"/>
          </p:cNvSpPr>
          <p:nvPr/>
        </p:nvSpPr>
        <p:spPr bwMode="auto">
          <a:xfrm>
            <a:off x="1699739" y="4528209"/>
            <a:ext cx="522685" cy="207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</a:p>
        </p:txBody>
      </p:sp>
      <p:sp>
        <p:nvSpPr>
          <p:cNvPr id="85" name="Rectangle 79"/>
          <p:cNvSpPr>
            <a:spLocks noChangeArrowheads="1"/>
          </p:cNvSpPr>
          <p:nvPr/>
        </p:nvSpPr>
        <p:spPr bwMode="auto">
          <a:xfrm>
            <a:off x="7317108" y="4528209"/>
            <a:ext cx="522685" cy="207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</a:p>
        </p:txBody>
      </p:sp>
      <p:sp>
        <p:nvSpPr>
          <p:cNvPr id="81" name="内容占位符 2">
            <a:extLst>
              <a:ext uri="{FF2B5EF4-FFF2-40B4-BE49-F238E27FC236}">
                <a16:creationId xmlns:a16="http://schemas.microsoft.com/office/drawing/2014/main" id="{CDEE3E78-0D7A-4E73-AA15-0816871F9BB2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6" name="Picture 42" descr="Office-Client-Female-Light-icon">
            <a:extLst>
              <a:ext uri="{FF2B5EF4-FFF2-40B4-BE49-F238E27FC236}">
                <a16:creationId xmlns:a16="http://schemas.microsoft.com/office/drawing/2014/main" id="{E4C5E398-0BC9-4467-9E23-711818724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83141" y="3916227"/>
            <a:ext cx="567453" cy="53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15" descr="User-icon">
            <a:extLst>
              <a:ext uri="{FF2B5EF4-FFF2-40B4-BE49-F238E27FC236}">
                <a16:creationId xmlns:a16="http://schemas.microsoft.com/office/drawing/2014/main" id="{EB12D421-37A3-4C1D-B743-69CC524FA42F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56465" y="4007905"/>
            <a:ext cx="514582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" name="Group 389">
            <a:extLst>
              <a:ext uri="{FF2B5EF4-FFF2-40B4-BE49-F238E27FC236}">
                <a16:creationId xmlns:a16="http://schemas.microsoft.com/office/drawing/2014/main" id="{19F0422C-8A17-4B02-A0E4-D1918614075E}"/>
              </a:ext>
            </a:extLst>
          </p:cNvPr>
          <p:cNvGrpSpPr>
            <a:grpSpLocks/>
          </p:cNvGrpSpPr>
          <p:nvPr/>
        </p:nvGrpSpPr>
        <p:grpSpPr bwMode="auto">
          <a:xfrm>
            <a:off x="5527836" y="4154548"/>
            <a:ext cx="358378" cy="536972"/>
            <a:chOff x="4140" y="429"/>
            <a:chExt cx="1425" cy="2396"/>
          </a:xfrm>
        </p:grpSpPr>
        <p:sp>
          <p:nvSpPr>
            <p:cNvPr id="89" name="Freeform 390">
              <a:extLst>
                <a:ext uri="{FF2B5EF4-FFF2-40B4-BE49-F238E27FC236}">
                  <a16:creationId xmlns:a16="http://schemas.microsoft.com/office/drawing/2014/main" id="{2B992DDF-10AB-4CEB-BAC5-216318267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0" name="Rectangle 391">
              <a:extLst>
                <a:ext uri="{FF2B5EF4-FFF2-40B4-BE49-F238E27FC236}">
                  <a16:creationId xmlns:a16="http://schemas.microsoft.com/office/drawing/2014/main" id="{094CC9E9-9F35-44FB-96E7-93A4BC77D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91" name="Freeform 392">
              <a:extLst>
                <a:ext uri="{FF2B5EF4-FFF2-40B4-BE49-F238E27FC236}">
                  <a16:creationId xmlns:a16="http://schemas.microsoft.com/office/drawing/2014/main" id="{9F256696-6B6F-4BA2-8F63-2B6356E1D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" name="Freeform 393">
              <a:extLst>
                <a:ext uri="{FF2B5EF4-FFF2-40B4-BE49-F238E27FC236}">
                  <a16:creationId xmlns:a16="http://schemas.microsoft.com/office/drawing/2014/main" id="{9E24CFF5-98AD-4687-B832-24F81F7AD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3" name="Rectangle 394">
              <a:extLst>
                <a:ext uri="{FF2B5EF4-FFF2-40B4-BE49-F238E27FC236}">
                  <a16:creationId xmlns:a16="http://schemas.microsoft.com/office/drawing/2014/main" id="{2CBF3141-BC45-4765-8348-209DD2CF2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94" name="Group 395">
              <a:extLst>
                <a:ext uri="{FF2B5EF4-FFF2-40B4-BE49-F238E27FC236}">
                  <a16:creationId xmlns:a16="http://schemas.microsoft.com/office/drawing/2014/main" id="{BF4E1BE8-AA1D-4216-8959-3610E8B2C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9" name="AutoShape 396">
                <a:extLst>
                  <a:ext uri="{FF2B5EF4-FFF2-40B4-BE49-F238E27FC236}">
                    <a16:creationId xmlns:a16="http://schemas.microsoft.com/office/drawing/2014/main" id="{6C85EAA9-7F05-4C24-8EEE-44E0076BA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AutoShape 397">
                <a:extLst>
                  <a:ext uri="{FF2B5EF4-FFF2-40B4-BE49-F238E27FC236}">
                    <a16:creationId xmlns:a16="http://schemas.microsoft.com/office/drawing/2014/main" id="{B4AB57FE-1840-4ADF-800A-F85885062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5" name="Rectangle 398">
              <a:extLst>
                <a:ext uri="{FF2B5EF4-FFF2-40B4-BE49-F238E27FC236}">
                  <a16:creationId xmlns:a16="http://schemas.microsoft.com/office/drawing/2014/main" id="{DF2784D8-2B32-454A-8B53-39A0D5E06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96" name="Group 399">
              <a:extLst>
                <a:ext uri="{FF2B5EF4-FFF2-40B4-BE49-F238E27FC236}">
                  <a16:creationId xmlns:a16="http://schemas.microsoft.com/office/drawing/2014/main" id="{7EA83248-1253-478C-A34F-980A646B9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7" name="AutoShape 400">
                <a:extLst>
                  <a:ext uri="{FF2B5EF4-FFF2-40B4-BE49-F238E27FC236}">
                    <a16:creationId xmlns:a16="http://schemas.microsoft.com/office/drawing/2014/main" id="{B365F240-0F34-4984-AC81-78943668F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18" name="AutoShape 401">
                <a:extLst>
                  <a:ext uri="{FF2B5EF4-FFF2-40B4-BE49-F238E27FC236}">
                    <a16:creationId xmlns:a16="http://schemas.microsoft.com/office/drawing/2014/main" id="{2AB8CB82-B7F5-4890-9C7D-718563B2D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7" name="Rectangle 402">
              <a:extLst>
                <a:ext uri="{FF2B5EF4-FFF2-40B4-BE49-F238E27FC236}">
                  <a16:creationId xmlns:a16="http://schemas.microsoft.com/office/drawing/2014/main" id="{F0C00E53-979A-4057-8CF5-6A925A27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98" name="Rectangle 403">
              <a:extLst>
                <a:ext uri="{FF2B5EF4-FFF2-40B4-BE49-F238E27FC236}">
                  <a16:creationId xmlns:a16="http://schemas.microsoft.com/office/drawing/2014/main" id="{468CDCD1-BBF4-4080-98F6-E98665BEE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99" name="Group 404">
              <a:extLst>
                <a:ext uri="{FF2B5EF4-FFF2-40B4-BE49-F238E27FC236}">
                  <a16:creationId xmlns:a16="http://schemas.microsoft.com/office/drawing/2014/main" id="{AADD840C-E9AD-4A9D-A380-AFA8D1E11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5" name="AutoShape 405">
                <a:extLst>
                  <a:ext uri="{FF2B5EF4-FFF2-40B4-BE49-F238E27FC236}">
                    <a16:creationId xmlns:a16="http://schemas.microsoft.com/office/drawing/2014/main" id="{19D2D87F-C30B-46FD-9758-133FFA605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16" name="AutoShape 406">
                <a:extLst>
                  <a:ext uri="{FF2B5EF4-FFF2-40B4-BE49-F238E27FC236}">
                    <a16:creationId xmlns:a16="http://schemas.microsoft.com/office/drawing/2014/main" id="{518EF5EA-F4A9-403C-BFE5-FDCFFDB1E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0" name="Freeform 407">
              <a:extLst>
                <a:ext uri="{FF2B5EF4-FFF2-40B4-BE49-F238E27FC236}">
                  <a16:creationId xmlns:a16="http://schemas.microsoft.com/office/drawing/2014/main" id="{C8F4C3CC-9DD6-4DCB-A779-EA9F12FD5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01" name="Group 408">
              <a:extLst>
                <a:ext uri="{FF2B5EF4-FFF2-40B4-BE49-F238E27FC236}">
                  <a16:creationId xmlns:a16="http://schemas.microsoft.com/office/drawing/2014/main" id="{25D6F202-F32F-4EAE-B2FB-A1F5FC8661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3" name="AutoShape 409">
                <a:extLst>
                  <a:ext uri="{FF2B5EF4-FFF2-40B4-BE49-F238E27FC236}">
                    <a16:creationId xmlns:a16="http://schemas.microsoft.com/office/drawing/2014/main" id="{68550173-5613-43F8-B257-9AD739D55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14" name="AutoShape 410">
                <a:extLst>
                  <a:ext uri="{FF2B5EF4-FFF2-40B4-BE49-F238E27FC236}">
                    <a16:creationId xmlns:a16="http://schemas.microsoft.com/office/drawing/2014/main" id="{C9107A37-E3DC-4FB9-9618-46ECF8EE8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2" name="Rectangle 411">
              <a:extLst>
                <a:ext uri="{FF2B5EF4-FFF2-40B4-BE49-F238E27FC236}">
                  <a16:creationId xmlns:a16="http://schemas.microsoft.com/office/drawing/2014/main" id="{12BDFB6C-6313-4409-B020-32642AD9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3" name="Freeform 412">
              <a:extLst>
                <a:ext uri="{FF2B5EF4-FFF2-40B4-BE49-F238E27FC236}">
                  <a16:creationId xmlns:a16="http://schemas.microsoft.com/office/drawing/2014/main" id="{F287306B-96AC-49E3-99A4-59492A16C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4" name="Freeform 413">
              <a:extLst>
                <a:ext uri="{FF2B5EF4-FFF2-40B4-BE49-F238E27FC236}">
                  <a16:creationId xmlns:a16="http://schemas.microsoft.com/office/drawing/2014/main" id="{A4F8668F-B4F3-4B33-9CC0-9FE973114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5" name="Oval 414">
              <a:extLst>
                <a:ext uri="{FF2B5EF4-FFF2-40B4-BE49-F238E27FC236}">
                  <a16:creationId xmlns:a16="http://schemas.microsoft.com/office/drawing/2014/main" id="{84C3E62F-D5BC-447F-9A78-DB215E2A7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6" name="Freeform 415">
              <a:extLst>
                <a:ext uri="{FF2B5EF4-FFF2-40B4-BE49-F238E27FC236}">
                  <a16:creationId xmlns:a16="http://schemas.microsoft.com/office/drawing/2014/main" id="{3D9FD3E5-DF7A-4B2C-BD60-91B43975E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7" name="AutoShape 416">
              <a:extLst>
                <a:ext uri="{FF2B5EF4-FFF2-40B4-BE49-F238E27FC236}">
                  <a16:creationId xmlns:a16="http://schemas.microsoft.com/office/drawing/2014/main" id="{DB41CEB2-6C11-4A43-8257-65002D09E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8" name="AutoShape 417">
              <a:extLst>
                <a:ext uri="{FF2B5EF4-FFF2-40B4-BE49-F238E27FC236}">
                  <a16:creationId xmlns:a16="http://schemas.microsoft.com/office/drawing/2014/main" id="{57111035-29BD-4918-ACBD-D5D32047E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9" name="Oval 418">
              <a:extLst>
                <a:ext uri="{FF2B5EF4-FFF2-40B4-BE49-F238E27FC236}">
                  <a16:creationId xmlns:a16="http://schemas.microsoft.com/office/drawing/2014/main" id="{08BB33AA-ADB3-45AC-84D5-B240FB98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10" name="Oval 419">
              <a:extLst>
                <a:ext uri="{FF2B5EF4-FFF2-40B4-BE49-F238E27FC236}">
                  <a16:creationId xmlns:a16="http://schemas.microsoft.com/office/drawing/2014/main" id="{A8A01AD8-0923-46AC-B0C3-B25EA659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Oval 420">
              <a:extLst>
                <a:ext uri="{FF2B5EF4-FFF2-40B4-BE49-F238E27FC236}">
                  <a16:creationId xmlns:a16="http://schemas.microsoft.com/office/drawing/2014/main" id="{D9AD7072-DFC3-4537-8D9F-8941CA02F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12" name="Rectangle 421">
              <a:extLst>
                <a:ext uri="{FF2B5EF4-FFF2-40B4-BE49-F238E27FC236}">
                  <a16:creationId xmlns:a16="http://schemas.microsoft.com/office/drawing/2014/main" id="{A2BF3D3C-636D-4D6F-B671-E72F62EA7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121" name="Group 356">
            <a:extLst>
              <a:ext uri="{FF2B5EF4-FFF2-40B4-BE49-F238E27FC236}">
                <a16:creationId xmlns:a16="http://schemas.microsoft.com/office/drawing/2014/main" id="{D5ED0C1C-9645-48A2-B75E-0816121B5F75}"/>
              </a:ext>
            </a:extLst>
          </p:cNvPr>
          <p:cNvGrpSpPr>
            <a:grpSpLocks/>
          </p:cNvGrpSpPr>
          <p:nvPr/>
        </p:nvGrpSpPr>
        <p:grpSpPr bwMode="auto">
          <a:xfrm>
            <a:off x="3542997" y="4178811"/>
            <a:ext cx="358378" cy="536972"/>
            <a:chOff x="4140" y="429"/>
            <a:chExt cx="1425" cy="2396"/>
          </a:xfrm>
        </p:grpSpPr>
        <p:sp>
          <p:nvSpPr>
            <p:cNvPr id="122" name="Freeform 357">
              <a:extLst>
                <a:ext uri="{FF2B5EF4-FFF2-40B4-BE49-F238E27FC236}">
                  <a16:creationId xmlns:a16="http://schemas.microsoft.com/office/drawing/2014/main" id="{C948C0F8-58EE-4007-A758-1715A9B41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Rectangle 358">
              <a:extLst>
                <a:ext uri="{FF2B5EF4-FFF2-40B4-BE49-F238E27FC236}">
                  <a16:creationId xmlns:a16="http://schemas.microsoft.com/office/drawing/2014/main" id="{6B43ABA0-7F00-4AE5-A6F6-D8C03D82D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24" name="Freeform 359">
              <a:extLst>
                <a:ext uri="{FF2B5EF4-FFF2-40B4-BE49-F238E27FC236}">
                  <a16:creationId xmlns:a16="http://schemas.microsoft.com/office/drawing/2014/main" id="{74B65913-B786-44FC-A57E-968B9C7DC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" name="Freeform 360">
              <a:extLst>
                <a:ext uri="{FF2B5EF4-FFF2-40B4-BE49-F238E27FC236}">
                  <a16:creationId xmlns:a16="http://schemas.microsoft.com/office/drawing/2014/main" id="{A77F3C6A-5211-459F-8085-0D893F6D0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Rectangle 361">
              <a:extLst>
                <a:ext uri="{FF2B5EF4-FFF2-40B4-BE49-F238E27FC236}">
                  <a16:creationId xmlns:a16="http://schemas.microsoft.com/office/drawing/2014/main" id="{F0CA0712-E605-4D77-9437-3C82A90F0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7" name="Group 362">
              <a:extLst>
                <a:ext uri="{FF2B5EF4-FFF2-40B4-BE49-F238E27FC236}">
                  <a16:creationId xmlns:a16="http://schemas.microsoft.com/office/drawing/2014/main" id="{236C2A02-4B05-445B-A5E3-7BD80D663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2" name="AutoShape 363">
                <a:extLst>
                  <a:ext uri="{FF2B5EF4-FFF2-40B4-BE49-F238E27FC236}">
                    <a16:creationId xmlns:a16="http://schemas.microsoft.com/office/drawing/2014/main" id="{14112F26-9AD1-47E6-AD30-1D15C0531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AutoShape 364">
                <a:extLst>
                  <a:ext uri="{FF2B5EF4-FFF2-40B4-BE49-F238E27FC236}">
                    <a16:creationId xmlns:a16="http://schemas.microsoft.com/office/drawing/2014/main" id="{49DBDCA6-70F5-4143-AB1F-A46A391B0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8" name="Rectangle 365">
              <a:extLst>
                <a:ext uri="{FF2B5EF4-FFF2-40B4-BE49-F238E27FC236}">
                  <a16:creationId xmlns:a16="http://schemas.microsoft.com/office/drawing/2014/main" id="{9AD5A41B-F3B1-45D9-960F-7A2FB40D8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9" name="Group 366">
              <a:extLst>
                <a:ext uri="{FF2B5EF4-FFF2-40B4-BE49-F238E27FC236}">
                  <a16:creationId xmlns:a16="http://schemas.microsoft.com/office/drawing/2014/main" id="{DCEEBEEA-D31E-454E-B525-90DB5380EB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0" name="AutoShape 367">
                <a:extLst>
                  <a:ext uri="{FF2B5EF4-FFF2-40B4-BE49-F238E27FC236}">
                    <a16:creationId xmlns:a16="http://schemas.microsoft.com/office/drawing/2014/main" id="{3DEE2C5F-9A3C-45B2-8997-C0A88D2A3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AutoShape 368">
                <a:extLst>
                  <a:ext uri="{FF2B5EF4-FFF2-40B4-BE49-F238E27FC236}">
                    <a16:creationId xmlns:a16="http://schemas.microsoft.com/office/drawing/2014/main" id="{3EFCFE5F-1B90-435E-908B-702F097BC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0" name="Rectangle 369">
              <a:extLst>
                <a:ext uri="{FF2B5EF4-FFF2-40B4-BE49-F238E27FC236}">
                  <a16:creationId xmlns:a16="http://schemas.microsoft.com/office/drawing/2014/main" id="{2E3025A2-F042-481E-B4E9-7863835C3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1" name="Rectangle 370">
              <a:extLst>
                <a:ext uri="{FF2B5EF4-FFF2-40B4-BE49-F238E27FC236}">
                  <a16:creationId xmlns:a16="http://schemas.microsoft.com/office/drawing/2014/main" id="{163BD7BD-B814-4B4B-AC53-82377CCB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32" name="Group 371">
              <a:extLst>
                <a:ext uri="{FF2B5EF4-FFF2-40B4-BE49-F238E27FC236}">
                  <a16:creationId xmlns:a16="http://schemas.microsoft.com/office/drawing/2014/main" id="{531B1543-C83B-4230-895F-85832F11A4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8" name="AutoShape 372">
                <a:extLst>
                  <a:ext uri="{FF2B5EF4-FFF2-40B4-BE49-F238E27FC236}">
                    <a16:creationId xmlns:a16="http://schemas.microsoft.com/office/drawing/2014/main" id="{0856D628-1E7A-45DC-BD5A-16356C9A6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AutoShape 373">
                <a:extLst>
                  <a:ext uri="{FF2B5EF4-FFF2-40B4-BE49-F238E27FC236}">
                    <a16:creationId xmlns:a16="http://schemas.microsoft.com/office/drawing/2014/main" id="{6F15F44D-8080-4359-97CC-E8177DE91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" name="Freeform 374">
              <a:extLst>
                <a:ext uri="{FF2B5EF4-FFF2-40B4-BE49-F238E27FC236}">
                  <a16:creationId xmlns:a16="http://schemas.microsoft.com/office/drawing/2014/main" id="{D4F5FEC5-DCFE-4191-AC4D-AB38BA6AB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4" name="Group 375">
              <a:extLst>
                <a:ext uri="{FF2B5EF4-FFF2-40B4-BE49-F238E27FC236}">
                  <a16:creationId xmlns:a16="http://schemas.microsoft.com/office/drawing/2014/main" id="{96ADDD25-8281-495D-8310-BECEEE616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6" name="AutoShape 376">
                <a:extLst>
                  <a:ext uri="{FF2B5EF4-FFF2-40B4-BE49-F238E27FC236}">
                    <a16:creationId xmlns:a16="http://schemas.microsoft.com/office/drawing/2014/main" id="{E57A114F-DDF1-4DFD-9CAE-B8F2F4FE5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AutoShape 377">
                <a:extLst>
                  <a:ext uri="{FF2B5EF4-FFF2-40B4-BE49-F238E27FC236}">
                    <a16:creationId xmlns:a16="http://schemas.microsoft.com/office/drawing/2014/main" id="{3ADBF27A-6600-4BA2-B423-83365AB56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5" name="Rectangle 378">
              <a:extLst>
                <a:ext uri="{FF2B5EF4-FFF2-40B4-BE49-F238E27FC236}">
                  <a16:creationId xmlns:a16="http://schemas.microsoft.com/office/drawing/2014/main" id="{EC77F6EC-56DC-4B1B-BA04-8E549CD61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6" name="Freeform 379">
              <a:extLst>
                <a:ext uri="{FF2B5EF4-FFF2-40B4-BE49-F238E27FC236}">
                  <a16:creationId xmlns:a16="http://schemas.microsoft.com/office/drawing/2014/main" id="{83C973A2-5ECF-4DB3-9866-C6D864EB2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" name="Freeform 380">
              <a:extLst>
                <a:ext uri="{FF2B5EF4-FFF2-40B4-BE49-F238E27FC236}">
                  <a16:creationId xmlns:a16="http://schemas.microsoft.com/office/drawing/2014/main" id="{38CCC32C-431B-484F-A949-EB2D48D3B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Oval 381">
              <a:extLst>
                <a:ext uri="{FF2B5EF4-FFF2-40B4-BE49-F238E27FC236}">
                  <a16:creationId xmlns:a16="http://schemas.microsoft.com/office/drawing/2014/main" id="{B028F2DE-1E75-41D7-B1FD-E49B63F5A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9" name="Freeform 382">
              <a:extLst>
                <a:ext uri="{FF2B5EF4-FFF2-40B4-BE49-F238E27FC236}">
                  <a16:creationId xmlns:a16="http://schemas.microsoft.com/office/drawing/2014/main" id="{24B6A474-37CD-4463-81C9-5AA18D075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0" name="AutoShape 383">
              <a:extLst>
                <a:ext uri="{FF2B5EF4-FFF2-40B4-BE49-F238E27FC236}">
                  <a16:creationId xmlns:a16="http://schemas.microsoft.com/office/drawing/2014/main" id="{9CE1A20F-03A6-4EE8-8A0F-5E848E55D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1" name="AutoShape 384">
              <a:extLst>
                <a:ext uri="{FF2B5EF4-FFF2-40B4-BE49-F238E27FC236}">
                  <a16:creationId xmlns:a16="http://schemas.microsoft.com/office/drawing/2014/main" id="{2F882216-E349-417A-821F-10E27FE50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2" name="Oval 385">
              <a:extLst>
                <a:ext uri="{FF2B5EF4-FFF2-40B4-BE49-F238E27FC236}">
                  <a16:creationId xmlns:a16="http://schemas.microsoft.com/office/drawing/2014/main" id="{62F73F63-B6E9-4835-8E32-B7C73189C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3" name="Oval 386">
              <a:extLst>
                <a:ext uri="{FF2B5EF4-FFF2-40B4-BE49-F238E27FC236}">
                  <a16:creationId xmlns:a16="http://schemas.microsoft.com/office/drawing/2014/main" id="{148ABBA4-BB0F-4BAF-B3F1-CDE836BA0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Oval 387">
              <a:extLst>
                <a:ext uri="{FF2B5EF4-FFF2-40B4-BE49-F238E27FC236}">
                  <a16:creationId xmlns:a16="http://schemas.microsoft.com/office/drawing/2014/main" id="{42079E71-2BED-45B6-8F3B-FCB525C01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5" name="Rectangle 388">
              <a:extLst>
                <a:ext uri="{FF2B5EF4-FFF2-40B4-BE49-F238E27FC236}">
                  <a16:creationId xmlns:a16="http://schemas.microsoft.com/office/drawing/2014/main" id="{0E91F482-893F-46A8-BFDD-A6F097EF5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154" name="Group 19">
            <a:extLst>
              <a:ext uri="{FF2B5EF4-FFF2-40B4-BE49-F238E27FC236}">
                <a16:creationId xmlns:a16="http://schemas.microsoft.com/office/drawing/2014/main" id="{F9C46FB9-7526-49D1-AD3F-70D0EC9E84D8}"/>
              </a:ext>
            </a:extLst>
          </p:cNvPr>
          <p:cNvGrpSpPr>
            <a:grpSpLocks/>
          </p:cNvGrpSpPr>
          <p:nvPr/>
        </p:nvGrpSpPr>
        <p:grpSpPr bwMode="auto">
          <a:xfrm>
            <a:off x="5100885" y="3421740"/>
            <a:ext cx="607219" cy="942269"/>
            <a:chOff x="4296" y="2627"/>
            <a:chExt cx="510" cy="661"/>
          </a:xfrm>
        </p:grpSpPr>
        <p:sp>
          <p:nvSpPr>
            <p:cNvPr id="155" name="Rectangle 20">
              <a:extLst>
                <a:ext uri="{FF2B5EF4-FFF2-40B4-BE49-F238E27FC236}">
                  <a16:creationId xmlns:a16="http://schemas.microsoft.com/office/drawing/2014/main" id="{B6744344-503D-4CD3-B624-44E069437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6" name="Text Box 21">
              <a:extLst>
                <a:ext uri="{FF2B5EF4-FFF2-40B4-BE49-F238E27FC236}">
                  <a16:creationId xmlns:a16="http://schemas.microsoft.com/office/drawing/2014/main" id="{F66241F8-4EDF-4B8A-8421-B51927DAE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4" y="2627"/>
              <a:ext cx="45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Bob’s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</a:p>
          </p:txBody>
        </p:sp>
        <p:sp>
          <p:nvSpPr>
            <p:cNvPr id="157" name="Rectangle 22">
              <a:extLst>
                <a:ext uri="{FF2B5EF4-FFF2-40B4-BE49-F238E27FC236}">
                  <a16:creationId xmlns:a16="http://schemas.microsoft.com/office/drawing/2014/main" id="{151E11A0-90AF-4384-99E8-8C9DC0D94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8" name="Line 23">
              <a:extLst>
                <a:ext uri="{FF2B5EF4-FFF2-40B4-BE49-F238E27FC236}">
                  <a16:creationId xmlns:a16="http://schemas.microsoft.com/office/drawing/2014/main" id="{0C5DD0DA-FFD8-4E69-9D06-1BF241AB8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9" name="Line 24">
              <a:extLst>
                <a:ext uri="{FF2B5EF4-FFF2-40B4-BE49-F238E27FC236}">
                  <a16:creationId xmlns:a16="http://schemas.microsoft.com/office/drawing/2014/main" id="{E9914ED5-611C-4273-9728-590CE8B44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0" name="Line 25">
              <a:extLst>
                <a:ext uri="{FF2B5EF4-FFF2-40B4-BE49-F238E27FC236}">
                  <a16:creationId xmlns:a16="http://schemas.microsoft.com/office/drawing/2014/main" id="{4ECA90F0-75AE-43D8-BBF8-5583F9FFA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1" name="Line 26">
              <a:extLst>
                <a:ext uri="{FF2B5EF4-FFF2-40B4-BE49-F238E27FC236}">
                  <a16:creationId xmlns:a16="http://schemas.microsoft.com/office/drawing/2014/main" id="{839D86C0-A979-4009-AA36-16ED2D2DB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2" name="Line 27">
              <a:extLst>
                <a:ext uri="{FF2B5EF4-FFF2-40B4-BE49-F238E27FC236}">
                  <a16:creationId xmlns:a16="http://schemas.microsoft.com/office/drawing/2014/main" id="{DFD1C54D-B2C5-4AB8-8544-5683FDA66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3" name="Line 28">
              <a:extLst>
                <a:ext uri="{FF2B5EF4-FFF2-40B4-BE49-F238E27FC236}">
                  <a16:creationId xmlns:a16="http://schemas.microsoft.com/office/drawing/2014/main" id="{BE2EA6A7-7031-45FD-BC6B-E3FF62A4A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4" name="Line 29">
              <a:extLst>
                <a:ext uri="{FF2B5EF4-FFF2-40B4-BE49-F238E27FC236}">
                  <a16:creationId xmlns:a16="http://schemas.microsoft.com/office/drawing/2014/main" id="{9565B35C-33D5-4596-94D8-8237B3A7E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5" name="Rectangle 30">
              <a:extLst>
                <a:ext uri="{FF2B5EF4-FFF2-40B4-BE49-F238E27FC236}">
                  <a16:creationId xmlns:a16="http://schemas.microsoft.com/office/drawing/2014/main" id="{9F53893D-10BC-4E50-A9C0-D43225D73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6" name="Rectangle 31">
              <a:extLst>
                <a:ext uri="{FF2B5EF4-FFF2-40B4-BE49-F238E27FC236}">
                  <a16:creationId xmlns:a16="http://schemas.microsoft.com/office/drawing/2014/main" id="{C89D6CFA-ABC8-4E06-89A9-D8ED2C028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7" name="Rectangle 32">
              <a:extLst>
                <a:ext uri="{FF2B5EF4-FFF2-40B4-BE49-F238E27FC236}">
                  <a16:creationId xmlns:a16="http://schemas.microsoft.com/office/drawing/2014/main" id="{1024C08D-8254-4D59-9854-DD83C6240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8" name="Rectangle 33">
              <a:extLst>
                <a:ext uri="{FF2B5EF4-FFF2-40B4-BE49-F238E27FC236}">
                  <a16:creationId xmlns:a16="http://schemas.microsoft.com/office/drawing/2014/main" id="{1B2416AC-828D-4214-B0BF-E177D060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9" name="Rectangle 34">
              <a:extLst>
                <a:ext uri="{FF2B5EF4-FFF2-40B4-BE49-F238E27FC236}">
                  <a16:creationId xmlns:a16="http://schemas.microsoft.com/office/drawing/2014/main" id="{4529F936-49CB-4CC5-B72A-FC10ADA3E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70" name="Group 60">
            <a:extLst>
              <a:ext uri="{FF2B5EF4-FFF2-40B4-BE49-F238E27FC236}">
                <a16:creationId xmlns:a16="http://schemas.microsoft.com/office/drawing/2014/main" id="{D71027BE-8C05-4FD1-B83E-77A138E0E11D}"/>
              </a:ext>
            </a:extLst>
          </p:cNvPr>
          <p:cNvGrpSpPr>
            <a:grpSpLocks/>
          </p:cNvGrpSpPr>
          <p:nvPr/>
        </p:nvGrpSpPr>
        <p:grpSpPr bwMode="auto">
          <a:xfrm>
            <a:off x="3831379" y="3392597"/>
            <a:ext cx="611981" cy="979309"/>
            <a:chOff x="4292" y="2627"/>
            <a:chExt cx="514" cy="661"/>
          </a:xfrm>
        </p:grpSpPr>
        <p:sp>
          <p:nvSpPr>
            <p:cNvPr id="171" name="Rectangle 61">
              <a:extLst>
                <a:ext uri="{FF2B5EF4-FFF2-40B4-BE49-F238E27FC236}">
                  <a16:creationId xmlns:a16="http://schemas.microsoft.com/office/drawing/2014/main" id="{F46661B5-1578-4102-B1FA-09F85F92A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2" name="Text Box 62">
              <a:extLst>
                <a:ext uri="{FF2B5EF4-FFF2-40B4-BE49-F238E27FC236}">
                  <a16:creationId xmlns:a16="http://schemas.microsoft.com/office/drawing/2014/main" id="{FBA0E8F3-66A2-48DF-84DB-435744853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" y="2627"/>
              <a:ext cx="49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Alice’s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</a:p>
          </p:txBody>
        </p:sp>
        <p:sp>
          <p:nvSpPr>
            <p:cNvPr id="173" name="Rectangle 63">
              <a:extLst>
                <a:ext uri="{FF2B5EF4-FFF2-40B4-BE49-F238E27FC236}">
                  <a16:creationId xmlns:a16="http://schemas.microsoft.com/office/drawing/2014/main" id="{369CF914-F9CE-48BC-80AF-33A9D9828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4" name="Line 64">
              <a:extLst>
                <a:ext uri="{FF2B5EF4-FFF2-40B4-BE49-F238E27FC236}">
                  <a16:creationId xmlns:a16="http://schemas.microsoft.com/office/drawing/2014/main" id="{F4003940-C818-47FB-8041-F083D42A0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Line 65">
              <a:extLst>
                <a:ext uri="{FF2B5EF4-FFF2-40B4-BE49-F238E27FC236}">
                  <a16:creationId xmlns:a16="http://schemas.microsoft.com/office/drawing/2014/main" id="{A8917BD7-0DE1-402D-BB0E-007814DF6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6" name="Line 66">
              <a:extLst>
                <a:ext uri="{FF2B5EF4-FFF2-40B4-BE49-F238E27FC236}">
                  <a16:creationId xmlns:a16="http://schemas.microsoft.com/office/drawing/2014/main" id="{7FB707E3-E90F-4981-9FF0-0847C63B8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67">
              <a:extLst>
                <a:ext uri="{FF2B5EF4-FFF2-40B4-BE49-F238E27FC236}">
                  <a16:creationId xmlns:a16="http://schemas.microsoft.com/office/drawing/2014/main" id="{B4F61A83-8744-46BB-9889-32B0539B7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Line 68">
              <a:extLst>
                <a:ext uri="{FF2B5EF4-FFF2-40B4-BE49-F238E27FC236}">
                  <a16:creationId xmlns:a16="http://schemas.microsoft.com/office/drawing/2014/main" id="{5014655C-F833-48CD-96F9-D49CB75F5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9" name="Line 69">
              <a:extLst>
                <a:ext uri="{FF2B5EF4-FFF2-40B4-BE49-F238E27FC236}">
                  <a16:creationId xmlns:a16="http://schemas.microsoft.com/office/drawing/2014/main" id="{31A540EA-8921-40C2-9998-82A9EFE7A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0" name="Line 70">
              <a:extLst>
                <a:ext uri="{FF2B5EF4-FFF2-40B4-BE49-F238E27FC236}">
                  <a16:creationId xmlns:a16="http://schemas.microsoft.com/office/drawing/2014/main" id="{E715F978-2050-4F58-AB68-8631F2E96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1" name="Rectangle 71">
              <a:extLst>
                <a:ext uri="{FF2B5EF4-FFF2-40B4-BE49-F238E27FC236}">
                  <a16:creationId xmlns:a16="http://schemas.microsoft.com/office/drawing/2014/main" id="{433BF84A-4E29-4597-BC9A-DC969579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2" name="Rectangle 72">
              <a:extLst>
                <a:ext uri="{FF2B5EF4-FFF2-40B4-BE49-F238E27FC236}">
                  <a16:creationId xmlns:a16="http://schemas.microsoft.com/office/drawing/2014/main" id="{DA8A4F25-3E1F-48E2-8C0B-E3A546082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3" name="Rectangle 73">
              <a:extLst>
                <a:ext uri="{FF2B5EF4-FFF2-40B4-BE49-F238E27FC236}">
                  <a16:creationId xmlns:a16="http://schemas.microsoft.com/office/drawing/2014/main" id="{5BC545EA-F314-4181-9249-B06C23528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74">
              <a:extLst>
                <a:ext uri="{FF2B5EF4-FFF2-40B4-BE49-F238E27FC236}">
                  <a16:creationId xmlns:a16="http://schemas.microsoft.com/office/drawing/2014/main" id="{904575E2-6881-4313-B3F3-698B5C0EA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5" name="Rectangle 75">
              <a:extLst>
                <a:ext uri="{FF2B5EF4-FFF2-40B4-BE49-F238E27FC236}">
                  <a16:creationId xmlns:a16="http://schemas.microsoft.com/office/drawing/2014/main" id="{B3E5A5E1-E2AC-44E5-9437-B2F530D15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90" name="Group 443">
            <a:extLst>
              <a:ext uri="{FF2B5EF4-FFF2-40B4-BE49-F238E27FC236}">
                <a16:creationId xmlns:a16="http://schemas.microsoft.com/office/drawing/2014/main" id="{0A388EC8-DB1B-4F49-A2D7-415B7DE5D18B}"/>
              </a:ext>
            </a:extLst>
          </p:cNvPr>
          <p:cNvGrpSpPr>
            <a:grpSpLocks/>
          </p:cNvGrpSpPr>
          <p:nvPr/>
        </p:nvGrpSpPr>
        <p:grpSpPr bwMode="auto">
          <a:xfrm>
            <a:off x="2103314" y="4010287"/>
            <a:ext cx="667941" cy="621506"/>
            <a:chOff x="-44" y="1473"/>
            <a:chExt cx="981" cy="1105"/>
          </a:xfrm>
        </p:grpSpPr>
        <p:pic>
          <p:nvPicPr>
            <p:cNvPr id="191" name="Picture 444" descr="desktop_computer_stylized_medium">
              <a:extLst>
                <a:ext uri="{FF2B5EF4-FFF2-40B4-BE49-F238E27FC236}">
                  <a16:creationId xmlns:a16="http://schemas.microsoft.com/office/drawing/2014/main" id="{DE65130C-4E93-4500-B6F3-D4F0ADEBFD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2" name="Freeform 445">
              <a:extLst>
                <a:ext uri="{FF2B5EF4-FFF2-40B4-BE49-F238E27FC236}">
                  <a16:creationId xmlns:a16="http://schemas.microsoft.com/office/drawing/2014/main" id="{59B285B6-AC85-4F70-94B5-BA32DFFBA4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93" name="Line 117">
            <a:extLst>
              <a:ext uri="{FF2B5EF4-FFF2-40B4-BE49-F238E27FC236}">
                <a16:creationId xmlns:a16="http://schemas.microsoft.com/office/drawing/2014/main" id="{D8A72865-8BB6-4622-B6EB-C35E3A2CDD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62876" y="4068042"/>
            <a:ext cx="677199" cy="192854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4" name="Text Box 121">
            <a:extLst>
              <a:ext uri="{FF2B5EF4-FFF2-40B4-BE49-F238E27FC236}">
                <a16:creationId xmlns:a16="http://schemas.microsoft.com/office/drawing/2014/main" id="{7EBEAB4F-E976-410B-8086-FA08093B743C}"/>
              </a:ext>
            </a:extLst>
          </p:cNvPr>
          <p:cNvSpPr txBox="1">
            <a:spLocks noChangeArrowheads="1"/>
          </p:cNvSpPr>
          <p:nvPr/>
        </p:nvSpPr>
        <p:spPr bwMode="auto">
          <a:xfrm rot="1003087">
            <a:off x="4416556" y="3867493"/>
            <a:ext cx="68320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/>
              <a:t>SMTP</a:t>
            </a:r>
          </a:p>
        </p:txBody>
      </p:sp>
      <p:sp>
        <p:nvSpPr>
          <p:cNvPr id="195" name="Line 117">
            <a:extLst>
              <a:ext uri="{FF2B5EF4-FFF2-40B4-BE49-F238E27FC236}">
                <a16:creationId xmlns:a16="http://schemas.microsoft.com/office/drawing/2014/main" id="{B20091BF-6C0E-454C-9E6D-D8A3BEEC4C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4731" y="4276187"/>
            <a:ext cx="789465" cy="168736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rgbClr val="7030A0"/>
              </a:solidFill>
            </a:endParaRPr>
          </a:p>
        </p:txBody>
      </p:sp>
      <p:grpSp>
        <p:nvGrpSpPr>
          <p:cNvPr id="312" name="Group 437">
            <a:extLst>
              <a:ext uri="{FF2B5EF4-FFF2-40B4-BE49-F238E27FC236}">
                <a16:creationId xmlns:a16="http://schemas.microsoft.com/office/drawing/2014/main" id="{02735235-410B-4681-B26D-3D650886AEB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652094" y="4072897"/>
            <a:ext cx="667920" cy="621506"/>
            <a:chOff x="-44" y="1473"/>
            <a:chExt cx="981" cy="1105"/>
          </a:xfrm>
        </p:grpSpPr>
        <p:pic>
          <p:nvPicPr>
            <p:cNvPr id="313" name="Picture 438" descr="desktop_computer_stylized_medium">
              <a:extLst>
                <a:ext uri="{FF2B5EF4-FFF2-40B4-BE49-F238E27FC236}">
                  <a16:creationId xmlns:a16="http://schemas.microsoft.com/office/drawing/2014/main" id="{7BC48989-B21B-45CC-8E61-C441AE268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39">
              <a:extLst>
                <a:ext uri="{FF2B5EF4-FFF2-40B4-BE49-F238E27FC236}">
                  <a16:creationId xmlns:a16="http://schemas.microsoft.com/office/drawing/2014/main" id="{3819F32A-D4DC-4A7A-94D6-035EA61A666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 dirty="0"/>
            </a:p>
          </p:txBody>
        </p:sp>
      </p:grpSp>
      <p:sp>
        <p:nvSpPr>
          <p:cNvPr id="315" name="Line 117">
            <a:extLst>
              <a:ext uri="{FF2B5EF4-FFF2-40B4-BE49-F238E27FC236}">
                <a16:creationId xmlns:a16="http://schemas.microsoft.com/office/drawing/2014/main" id="{5D204232-122F-4C91-B280-4163616E32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29297" y="3971999"/>
            <a:ext cx="1119196" cy="33823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16" name="Text Box 121">
            <a:extLst>
              <a:ext uri="{FF2B5EF4-FFF2-40B4-BE49-F238E27FC236}">
                <a16:creationId xmlns:a16="http://schemas.microsoft.com/office/drawing/2014/main" id="{9DD201F1-ED60-409B-961C-87EEF5E5B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780" y="4689430"/>
            <a:ext cx="1188082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SMTP Client</a:t>
            </a:r>
          </a:p>
        </p:txBody>
      </p:sp>
      <p:sp>
        <p:nvSpPr>
          <p:cNvPr id="317" name="Text Box 121">
            <a:extLst>
              <a:ext uri="{FF2B5EF4-FFF2-40B4-BE49-F238E27FC236}">
                <a16:creationId xmlns:a16="http://schemas.microsoft.com/office/drawing/2014/main" id="{641F0F94-4A12-4DB8-9295-1234861C4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145" y="4713858"/>
            <a:ext cx="13859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SMTP Server</a:t>
            </a:r>
          </a:p>
        </p:txBody>
      </p:sp>
      <p:sp>
        <p:nvSpPr>
          <p:cNvPr id="319" name="Oval 72">
            <a:extLst>
              <a:ext uri="{FF2B5EF4-FFF2-40B4-BE49-F238E27FC236}">
                <a16:creationId xmlns:a16="http://schemas.microsoft.com/office/drawing/2014/main" id="{DCA93001-C253-4029-AF53-A5E61A945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333" y="4100781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600" dirty="0"/>
              <a:t>2</a:t>
            </a:r>
            <a:endParaRPr lang="en-US" altLang="zh-CN" sz="2400" dirty="0"/>
          </a:p>
        </p:txBody>
      </p:sp>
      <p:sp>
        <p:nvSpPr>
          <p:cNvPr id="320" name="Oval 72">
            <a:extLst>
              <a:ext uri="{FF2B5EF4-FFF2-40B4-BE49-F238E27FC236}">
                <a16:creationId xmlns:a16="http://schemas.microsoft.com/office/drawing/2014/main" id="{A82A487A-4E54-401B-8CDC-0F784D507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439" y="3910032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600" dirty="0"/>
              <a:t>3</a:t>
            </a:r>
            <a:endParaRPr lang="en-US" altLang="zh-CN" sz="2400" dirty="0"/>
          </a:p>
        </p:txBody>
      </p:sp>
      <p:sp>
        <p:nvSpPr>
          <p:cNvPr id="321" name="Oval 72">
            <a:extLst>
              <a:ext uri="{FF2B5EF4-FFF2-40B4-BE49-F238E27FC236}">
                <a16:creationId xmlns:a16="http://schemas.microsoft.com/office/drawing/2014/main" id="{6A39FE2E-991A-44FA-B1C9-06365E928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398" y="41466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600" dirty="0"/>
              <a:t>4</a:t>
            </a:r>
            <a:endParaRPr lang="en-US" altLang="zh-CN" sz="2400" dirty="0"/>
          </a:p>
        </p:txBody>
      </p:sp>
      <p:sp>
        <p:nvSpPr>
          <p:cNvPr id="322" name="Oval 72">
            <a:extLst>
              <a:ext uri="{FF2B5EF4-FFF2-40B4-BE49-F238E27FC236}">
                <a16:creationId xmlns:a16="http://schemas.microsoft.com/office/drawing/2014/main" id="{2C4A008F-36C8-40FA-885C-275CCA0C8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585" y="4181129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600" dirty="0"/>
              <a:t>5</a:t>
            </a:r>
            <a:endParaRPr lang="en-US" altLang="zh-CN" sz="2400" dirty="0"/>
          </a:p>
        </p:txBody>
      </p:sp>
      <p:sp>
        <p:nvSpPr>
          <p:cNvPr id="323" name="Oval 72">
            <a:extLst>
              <a:ext uri="{FF2B5EF4-FFF2-40B4-BE49-F238E27FC236}">
                <a16:creationId xmlns:a16="http://schemas.microsoft.com/office/drawing/2014/main" id="{09C6A4DF-5CB1-415C-856C-C11EC64CC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68" y="3788883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600" dirty="0"/>
              <a:t>6</a:t>
            </a:r>
            <a:endParaRPr lang="en-US" altLang="zh-CN" sz="2400" dirty="0"/>
          </a:p>
        </p:txBody>
      </p:sp>
      <p:sp>
        <p:nvSpPr>
          <p:cNvPr id="189" name="Rectangle 115">
            <a:extLst>
              <a:ext uri="{FF2B5EF4-FFF2-40B4-BE49-F238E27FC236}">
                <a16:creationId xmlns:a16="http://schemas.microsoft.com/office/drawing/2014/main" id="{C337105E-B492-45A5-97BA-1E61BE257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760" y="4006512"/>
            <a:ext cx="453628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188" name="Rectangle 115">
            <a:extLst>
              <a:ext uri="{FF2B5EF4-FFF2-40B4-BE49-F238E27FC236}">
                <a16:creationId xmlns:a16="http://schemas.microsoft.com/office/drawing/2014/main" id="{E049E0CC-554F-46D3-B55B-1DA8FD70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574" y="4068041"/>
            <a:ext cx="421538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318" name="Oval 72">
            <a:extLst>
              <a:ext uri="{FF2B5EF4-FFF2-40B4-BE49-F238E27FC236}">
                <a16:creationId xmlns:a16="http://schemas.microsoft.com/office/drawing/2014/main" id="{0AFA849F-FF11-4413-8787-87564C612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599" y="3836080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600" dirty="0"/>
              <a:t>1</a:t>
            </a:r>
            <a:endParaRPr lang="en-US" altLang="zh-CN" sz="2400" dirty="0"/>
          </a:p>
        </p:txBody>
      </p:sp>
      <p:sp>
        <p:nvSpPr>
          <p:cNvPr id="186" name="灯片编号占位符 2">
            <a:extLst>
              <a:ext uri="{FF2B5EF4-FFF2-40B4-BE49-F238E27FC236}">
                <a16:creationId xmlns:a16="http://schemas.microsoft.com/office/drawing/2014/main" id="{AE29F547-1B0C-40D3-BFC8-1CDC9999479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187" name="AutoShape 5">
            <a:extLst>
              <a:ext uri="{FF2B5EF4-FFF2-40B4-BE49-F238E27FC236}">
                <a16:creationId xmlns:a16="http://schemas.microsoft.com/office/drawing/2014/main" id="{F1DA450B-F02A-4EEE-B3F0-E1382E54A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21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/>
      <p:bldP spid="18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99592" y="1340584"/>
            <a:ext cx="2736304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268288" lvl="1" indent="-268288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协议的交互过程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03648" y="1688479"/>
            <a:ext cx="6408712" cy="28623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S: 220 hamburger.edu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HELO crepes.fr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S: 250  Hello crepes.fr, pleased to meet you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MAIL FROM: &lt;alice@crepes.fr&gt;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S: 250 alice@crepes.fr... Sender ok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RCPT TO: &lt;bob@hamburger.edu&gt;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S: 250 bob@hamburger.edu ... Recipient ok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DATA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S: 354 Enter mail, end with "." on a line by itself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Do you like ketchup?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How about pickles?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.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S: 250 Message accepted for delivery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C: QUIT </a:t>
            </a:r>
          </a:p>
          <a:p>
            <a:r>
              <a:rPr lang="en-US" altLang="zh-CN" sz="1200" b="1" dirty="0">
                <a:solidFill>
                  <a:srgbClr val="C00000"/>
                </a:solidFill>
                <a:latin typeface="Courier New" panose="02070309020205020404" pitchFamily="49" charset="0"/>
              </a:rPr>
              <a:t> S: 221 hamburger.edu closing connection</a:t>
            </a:r>
            <a:endParaRPr lang="en-US" altLang="zh-CN" sz="12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CEB22A7-ABBE-4798-B6F6-C6FA22FF9EC3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A63784-FADE-4D3F-97B3-89560F3BE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439305"/>
            <a:ext cx="2785368" cy="1459391"/>
          </a:xfrm>
          <a:prstGeom prst="rect">
            <a:avLst/>
          </a:prstGeom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96A1690C-7FEB-4F67-A047-082CCD7CFE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BAF12A76-14A0-4D48-9C38-DE0192A89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693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23516" y="1745688"/>
            <a:ext cx="5832872" cy="140212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135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telnet</a:t>
            </a:r>
            <a:r>
              <a:rPr lang="en-US" altLang="zh-CN" sz="135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 servername </a:t>
            </a:r>
            <a:r>
              <a:rPr lang="en-US" altLang="zh-CN" sz="135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25</a:t>
            </a:r>
            <a:endParaRPr lang="en-US" altLang="zh-CN" sz="1350" dirty="0">
              <a:solidFill>
                <a:srgbClr val="C00000"/>
              </a:solidFill>
              <a:effectLst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see 220 reply from server</a:t>
            </a:r>
          </a:p>
          <a:p>
            <a:pPr>
              <a:spcBef>
                <a:spcPts val="600"/>
              </a:spcBef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enter HELO, MAIL FROM, RCPT TO, DATA, QUIT commands</a:t>
            </a:r>
          </a:p>
          <a:p>
            <a:pPr>
              <a:spcBef>
                <a:spcPts val="600"/>
              </a:spcBef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above lets you send email without using email client (reader)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7746D10-8BA6-4EF4-A715-9BDB0A0889AC}"/>
              </a:ext>
            </a:extLst>
          </p:cNvPr>
          <p:cNvSpPr txBox="1">
            <a:spLocks/>
          </p:cNvSpPr>
          <p:nvPr/>
        </p:nvSpPr>
        <p:spPr>
          <a:xfrm>
            <a:off x="899592" y="1340584"/>
            <a:ext cx="496855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lvl="1" indent="-268288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协议的交互过程：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email sever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3CF16C2-A84E-4D1B-8BDB-A531E8979119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0631C3-44C1-492F-9E72-82920213F3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439305"/>
            <a:ext cx="2785368" cy="1459391"/>
          </a:xfrm>
          <a:prstGeom prst="rect">
            <a:avLst/>
          </a:prstGeom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38947E6F-BF58-4B5A-B327-8CB25896816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7A457F9B-4F59-49DB-8899-93C83AE8F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438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75606"/>
            <a:ext cx="5347097" cy="34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123" y="1597075"/>
            <a:ext cx="2272904" cy="17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3926458" y="1779240"/>
            <a:ext cx="4143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4493196" y="1779240"/>
            <a:ext cx="9477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5542136" y="1779240"/>
            <a:ext cx="12263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BEBBEFC3-4A5A-47E9-B0B2-E5A281500356}"/>
              </a:ext>
            </a:extLst>
          </p:cNvPr>
          <p:cNvSpPr txBox="1">
            <a:spLocks/>
          </p:cNvSpPr>
          <p:nvPr/>
        </p:nvSpPr>
        <p:spPr>
          <a:xfrm>
            <a:off x="899592" y="1340584"/>
            <a:ext cx="2736304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lvl="1" indent="-268288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协议的交互过程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36C70BC9-B2DE-48C7-98EE-A8ABD2D59491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0EEC11BB-C7E6-485E-9324-4F61C7402BB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162A8A66-675E-43E0-8EAE-4B4B1264D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23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409" y="1419622"/>
            <a:ext cx="4750594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461" y="1943497"/>
            <a:ext cx="914400" cy="9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177" y="1798241"/>
            <a:ext cx="264319" cy="78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986" y="2078038"/>
            <a:ext cx="242888" cy="8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889" y="2201863"/>
            <a:ext cx="814388" cy="20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415" y="2454276"/>
            <a:ext cx="600075" cy="9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223" y="2590007"/>
            <a:ext cx="928688" cy="10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464" y="2716213"/>
            <a:ext cx="757238" cy="11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605" y="2836466"/>
            <a:ext cx="900113" cy="11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608" y="2955528"/>
            <a:ext cx="457200" cy="11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890" y="3086497"/>
            <a:ext cx="378619" cy="9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174" y="3206751"/>
            <a:ext cx="1750219" cy="11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749" y="3343672"/>
            <a:ext cx="364331" cy="10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698" y="3478213"/>
            <a:ext cx="1557338" cy="9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749" y="3616325"/>
            <a:ext cx="364331" cy="10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699" y="3735389"/>
            <a:ext cx="250031" cy="78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19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890" y="3859213"/>
            <a:ext cx="1793081" cy="9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0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889" y="3998516"/>
            <a:ext cx="1271588" cy="20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5953180" y="2095897"/>
            <a:ext cx="594122" cy="196454"/>
          </a:xfrm>
          <a:prstGeom prst="rect">
            <a:avLst/>
          </a:prstGeom>
          <a:noFill/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050">
                <a:latin typeface="宋体" panose="02010600030101010101" pitchFamily="2" charset="-122"/>
              </a:rPr>
              <a:t>zhangsan</a:t>
            </a:r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5953180" y="2378076"/>
            <a:ext cx="479822" cy="196453"/>
          </a:xfrm>
          <a:prstGeom prst="rect">
            <a:avLst/>
          </a:prstGeom>
          <a:noFill/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050">
                <a:latin typeface="宋体" panose="02010600030101010101" pitchFamily="2" charset="-122"/>
              </a:rPr>
              <a:t>123456</a:t>
            </a:r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 flipV="1">
            <a:off x="4778034" y="2204245"/>
            <a:ext cx="1121569" cy="5453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 flipV="1">
            <a:off x="4778034" y="2455466"/>
            <a:ext cx="1121569" cy="5453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4BFC36DA-D6CA-420E-A213-DDE404BBBB48}"/>
              </a:ext>
            </a:extLst>
          </p:cNvPr>
          <p:cNvSpPr txBox="1">
            <a:spLocks/>
          </p:cNvSpPr>
          <p:nvPr/>
        </p:nvSpPr>
        <p:spPr>
          <a:xfrm>
            <a:off x="899592" y="1340584"/>
            <a:ext cx="2736304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lvl="1" indent="-268288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协议的交互过程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08759C50-4550-44EA-BB81-5B6F18680E47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2">
            <a:extLst>
              <a:ext uri="{FF2B5EF4-FFF2-40B4-BE49-F238E27FC236}">
                <a16:creationId xmlns:a16="http://schemas.microsoft.com/office/drawing/2014/main" id="{AFD8076D-70E2-481F-A2CD-527E660F909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B87E1F40-4852-4F99-9D62-4345169C4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470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20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3" grpId="0" animBg="1"/>
      <p:bldP spid="3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55576" y="1372820"/>
            <a:ext cx="7691862" cy="15612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：持久性连接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在一个连接中可以进行多次操作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可以发送多个邮件、群发邮件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通过退出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(Quit)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来关闭连接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：报文都是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7bit ASCII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：使用 </a:t>
            </a:r>
            <a:r>
              <a:rPr lang="en-US" altLang="zh-CN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crlf.crlf</a:t>
            </a:r>
            <a:r>
              <a:rPr lang="en-US" altLang="zh-CN" sz="1400" dirty="0">
                <a:solidFill>
                  <a:srgbClr val="C00000"/>
                </a:solidFill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作为报文结束符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1400" dirty="0"/>
          </a:p>
          <a:p>
            <a:pPr lvl="1"/>
            <a:endParaRPr lang="en-US" altLang="zh-CN" sz="140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255972" y="3472847"/>
            <a:ext cx="3236264" cy="118597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  <a:p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推协议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(push):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向服务器端</a:t>
            </a:r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endParaRPr lang="en-US" altLang="zh-CN" sz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 bit ASCII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对报文进行编码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报文可以封装多个对象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(email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>
              <a:buNone/>
            </a:pPr>
            <a:endParaRPr lang="en-US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5292080" y="3472845"/>
            <a:ext cx="3236264" cy="11859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  <a:p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拉协议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(pull)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：向服务器端</a:t>
            </a:r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endParaRPr lang="en-US" altLang="zh-CN" sz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不受限制</a:t>
            </a: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每个响应报文只能封装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5E93D82-01D7-4EDC-8116-2CB2CF320078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80D5C9-C88A-4B65-80E0-0311507D9E0B}"/>
              </a:ext>
            </a:extLst>
          </p:cNvPr>
          <p:cNvSpPr/>
          <p:nvPr/>
        </p:nvSpPr>
        <p:spPr>
          <a:xfrm>
            <a:off x="3448007" y="3041808"/>
            <a:ext cx="2088457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16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6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6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的比较</a:t>
            </a:r>
            <a:endParaRPr lang="en-US" altLang="zh-CN" sz="1600" u="sng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C81A387-17C7-4BB0-A9C6-B86A682F5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826657"/>
            <a:ext cx="470883" cy="47835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B45DE7F-C647-44B8-B443-317BFCF891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52" y="3737506"/>
            <a:ext cx="642282" cy="567508"/>
          </a:xfrm>
          <a:prstGeom prst="rect">
            <a:avLst/>
          </a:prstGeom>
        </p:spPr>
      </p:pic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45C9FF24-8478-47C9-A935-11A6BD9FD5E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F1692264-C409-4D46-AB13-593301D0F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377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99592" y="1384885"/>
            <a:ext cx="4464496" cy="3262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电子邮件是正式通讯方式，请注意社交礼仪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编写邮件内容尽量要规范、完整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写好邮件标题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为收件人着想、避免被过滤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请记得及时回复邮件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垃圾邮件除外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可以使用邮件的抄送、群发等功能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可以加入相关主题的邮件组或社区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不要忘记应该添加的附件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8A95D3D-B529-4323-9D3D-9A35FC85BB73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2571102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BBBD93-3FB9-4B54-AC19-F480621DB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945342"/>
            <a:ext cx="3320414" cy="3971555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684E8D35-81EA-4CF5-929D-51008697361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C136273-B789-499B-94A5-14EFCF9D2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357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</a:rPr>
              <a:t>2.4 </a:t>
            </a:r>
            <a:r>
              <a:rPr lang="zh-CN" altLang="en-US" dirty="0">
                <a:solidFill>
                  <a:srgbClr val="0070C0"/>
                </a:solidFill>
              </a:rPr>
              <a:t>电子邮件协议</a:t>
            </a:r>
            <a:endParaRPr lang="en-US" altLang="zh-CN" dirty="0">
              <a:solidFill>
                <a:srgbClr val="0070C0"/>
              </a:solidFill>
              <a:effectLst/>
              <a:latin typeface="+mj-ea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2267744" y="1275606"/>
            <a:ext cx="5192712" cy="2160239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邮件报文格式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7694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0391C48B-0EB7-44AE-B2C8-699FFCC54AB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F837F5C-E71E-4E07-8580-84506B46B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13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2861" y="1428750"/>
            <a:ext cx="3224300" cy="330324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仅用于发送邮件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RFC821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400" u="sng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u="sng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 822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用于定义邮件的报文格式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首部行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e.g.,</a:t>
            </a: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To:</a:t>
            </a: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From:</a:t>
            </a: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Subject: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的命令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MAIL FROM, RCPT TO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Body: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邮件正文</a:t>
            </a:r>
            <a:r>
              <a:rPr lang="en-US" altLang="ja-JP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ASCII characters only</a:t>
            </a:r>
          </a:p>
          <a:p>
            <a:pPr lvl="1"/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BASE 64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zh-CN" sz="14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PT Sans Caption"/>
              </a:rPr>
              <a:t>RFC 4648</a:t>
            </a:r>
            <a:endParaRPr lang="zh-CN" altLang="zh-CN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PT Sans Caption"/>
            </a:endParaRPr>
          </a:p>
          <a:p>
            <a:pPr lvl="1"/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372472" y="1864655"/>
            <a:ext cx="2124075" cy="3238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header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372472" y="2474255"/>
            <a:ext cx="2124075" cy="1304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</a:rPr>
              <a:t>body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220072" y="1778930"/>
            <a:ext cx="2428875" cy="221035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V="1">
            <a:off x="2575874" y="2030150"/>
            <a:ext cx="2796598" cy="32574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V="1">
            <a:off x="3563888" y="3291829"/>
            <a:ext cx="1808584" cy="6616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716901" y="2030152"/>
            <a:ext cx="10925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Arial" panose="020B0604020202020204" pitchFamily="34" charset="0"/>
              </a:rPr>
              <a:t>blank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Arial" panose="020B0604020202020204" pitchFamily="34" charset="0"/>
              </a:rPr>
              <a:t>line</a:t>
            </a: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 flipH="1">
            <a:off x="7077447" y="2359955"/>
            <a:ext cx="7239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AB143B94-E0DB-493B-9E6D-FEFE919AA956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电子邮件报文格式</a:t>
            </a: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8F540752-2736-4134-8D5A-6EE6D810F20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29C88A2B-C584-4246-9145-721298D9A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77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026166" y="1372820"/>
            <a:ext cx="1800200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266700" lvl="1" indent="-255588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335" y="1170268"/>
            <a:ext cx="3980981" cy="3638071"/>
          </a:xfrm>
          <a:prstGeom prst="rect">
            <a:avLst/>
          </a:prstGeom>
        </p:spPr>
      </p:pic>
      <p:sp>
        <p:nvSpPr>
          <p:cNvPr id="17" name="Freeform 8"/>
          <p:cNvSpPr>
            <a:spLocks/>
          </p:cNvSpPr>
          <p:nvPr/>
        </p:nvSpPr>
        <p:spPr bwMode="auto">
          <a:xfrm>
            <a:off x="3677119" y="1545636"/>
            <a:ext cx="138797" cy="1620180"/>
          </a:xfrm>
          <a:custGeom>
            <a:avLst/>
            <a:gdLst>
              <a:gd name="T0" fmla="*/ 184637 w 150"/>
              <a:gd name="T1" fmla="*/ 8515 h 924"/>
              <a:gd name="T2" fmla="*/ 0 w 150"/>
              <a:gd name="T3" fmla="*/ 0 h 924"/>
              <a:gd name="T4" fmla="*/ 0 w 150"/>
              <a:gd name="T5" fmla="*/ 1311275 h 924"/>
              <a:gd name="T6" fmla="*/ 227013 w 150"/>
              <a:gd name="T7" fmla="*/ 1302760 h 9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8"/>
          <p:cNvSpPr>
            <a:spLocks/>
          </p:cNvSpPr>
          <p:nvPr/>
        </p:nvSpPr>
        <p:spPr bwMode="auto">
          <a:xfrm>
            <a:off x="3677119" y="3259691"/>
            <a:ext cx="138797" cy="1524730"/>
          </a:xfrm>
          <a:custGeom>
            <a:avLst/>
            <a:gdLst>
              <a:gd name="T0" fmla="*/ 184637 w 150"/>
              <a:gd name="T1" fmla="*/ 8515 h 924"/>
              <a:gd name="T2" fmla="*/ 0 w 150"/>
              <a:gd name="T3" fmla="*/ 0 h 924"/>
              <a:gd name="T4" fmla="*/ 0 w 150"/>
              <a:gd name="T5" fmla="*/ 1311275 h 924"/>
              <a:gd name="T6" fmla="*/ 227013 w 150"/>
              <a:gd name="T7" fmla="*/ 1302760 h 9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519772" y="2031690"/>
            <a:ext cx="964544" cy="3231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Header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519772" y="3872014"/>
            <a:ext cx="964544" cy="3231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Body 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EDF518BC-C908-4528-8D16-19F94CEF83B7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电子邮件报文格式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3EA920-3874-4171-99BE-0F622A5D0A43}"/>
              </a:ext>
            </a:extLst>
          </p:cNvPr>
          <p:cNvSpPr/>
          <p:nvPr/>
        </p:nvSpPr>
        <p:spPr>
          <a:xfrm>
            <a:off x="6883376" y="4195179"/>
            <a:ext cx="1250663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 64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9D19FB18-5070-4D32-87D1-8F50B3D7B9C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013575C9-3CBF-4F2B-86E5-8A4896AD2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47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</a:rPr>
              <a:t>2.4 </a:t>
            </a:r>
            <a:r>
              <a:rPr lang="zh-CN" altLang="en-US" dirty="0">
                <a:solidFill>
                  <a:srgbClr val="0070C0"/>
                </a:solidFill>
              </a:rPr>
              <a:t>电子邮件协议</a:t>
            </a:r>
            <a:endParaRPr lang="en-US" altLang="zh-CN" dirty="0">
              <a:solidFill>
                <a:srgbClr val="0070C0"/>
              </a:solidFill>
              <a:effectLst/>
              <a:latin typeface="+mj-ea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2267744" y="1275606"/>
            <a:ext cx="5192712" cy="2160239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邮件报文格式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7694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854020FF-1B2E-422A-930D-B8C3E382DBE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168FE41-400C-42B8-B303-6B938D337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616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80" name="Rectangle 3"/>
          <p:cNvSpPr txBox="1">
            <a:spLocks noChangeArrowheads="1"/>
          </p:cNvSpPr>
          <p:nvPr/>
        </p:nvSpPr>
        <p:spPr bwMode="auto">
          <a:xfrm>
            <a:off x="1054904" y="1362691"/>
            <a:ext cx="5804297" cy="2051447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SMTP: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用来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发送邮件</a:t>
            </a:r>
            <a:endParaRPr lang="en-US" altLang="zh-CN" sz="1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从邮件服务器端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接收邮件</a:t>
            </a:r>
            <a:endParaRPr lang="en-US" altLang="zh-CN" sz="1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POP: Post Office Protocol [RFC 1939]</a:t>
            </a: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(agent &lt;--&gt;server)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和下载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IMAP: Internet Mail Access Protocol [RFC 1730]</a:t>
            </a: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更多的功能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更复杂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可在服务器端操作邮件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HTTP: Hotmail , Yahoo! Mail, etc.</a:t>
            </a:r>
          </a:p>
        </p:txBody>
      </p:sp>
      <p:sp>
        <p:nvSpPr>
          <p:cNvPr id="82" name="内容占位符 2">
            <a:extLst>
              <a:ext uri="{FF2B5EF4-FFF2-40B4-BE49-F238E27FC236}">
                <a16:creationId xmlns:a16="http://schemas.microsoft.com/office/drawing/2014/main" id="{DE510DDA-24FA-4A36-A125-878B54AE3B79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</a:p>
        </p:txBody>
      </p:sp>
      <p:sp>
        <p:nvSpPr>
          <p:cNvPr id="83" name="Rectangle 78">
            <a:extLst>
              <a:ext uri="{FF2B5EF4-FFF2-40B4-BE49-F238E27FC236}">
                <a16:creationId xmlns:a16="http://schemas.microsoft.com/office/drawing/2014/main" id="{85CF93B4-744C-4A9C-BD99-D5F682020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044" y="4598604"/>
            <a:ext cx="522685" cy="207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</a:p>
        </p:txBody>
      </p:sp>
      <p:sp>
        <p:nvSpPr>
          <p:cNvPr id="84" name="Rectangle 79">
            <a:extLst>
              <a:ext uri="{FF2B5EF4-FFF2-40B4-BE49-F238E27FC236}">
                <a16:creationId xmlns:a16="http://schemas.microsoft.com/office/drawing/2014/main" id="{ADE313DF-2EBE-4379-AB6E-21B1E7B82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413" y="4598604"/>
            <a:ext cx="522685" cy="207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</a:p>
        </p:txBody>
      </p:sp>
      <p:pic>
        <p:nvPicPr>
          <p:cNvPr id="85" name="Picture 42" descr="Office-Client-Female-Light-icon">
            <a:extLst>
              <a:ext uri="{FF2B5EF4-FFF2-40B4-BE49-F238E27FC236}">
                <a16:creationId xmlns:a16="http://schemas.microsoft.com/office/drawing/2014/main" id="{687A1E9C-B805-4E3E-A522-4482DBB72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98446" y="3986622"/>
            <a:ext cx="567453" cy="53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15" descr="User-icon">
            <a:extLst>
              <a:ext uri="{FF2B5EF4-FFF2-40B4-BE49-F238E27FC236}">
                <a16:creationId xmlns:a16="http://schemas.microsoft.com/office/drawing/2014/main" id="{9FD8F862-7C73-4529-9B99-6F489585EEC0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71770" y="4078300"/>
            <a:ext cx="514582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7" name="Group 389">
            <a:extLst>
              <a:ext uri="{FF2B5EF4-FFF2-40B4-BE49-F238E27FC236}">
                <a16:creationId xmlns:a16="http://schemas.microsoft.com/office/drawing/2014/main" id="{2E2C80D2-1F9D-4878-B0D8-2861BB36B34B}"/>
              </a:ext>
            </a:extLst>
          </p:cNvPr>
          <p:cNvGrpSpPr>
            <a:grpSpLocks/>
          </p:cNvGrpSpPr>
          <p:nvPr/>
        </p:nvGrpSpPr>
        <p:grpSpPr bwMode="auto">
          <a:xfrm>
            <a:off x="5143141" y="4224943"/>
            <a:ext cx="358378" cy="536972"/>
            <a:chOff x="4140" y="429"/>
            <a:chExt cx="1425" cy="2396"/>
          </a:xfrm>
        </p:grpSpPr>
        <p:sp>
          <p:nvSpPr>
            <p:cNvPr id="88" name="Freeform 390">
              <a:extLst>
                <a:ext uri="{FF2B5EF4-FFF2-40B4-BE49-F238E27FC236}">
                  <a16:creationId xmlns:a16="http://schemas.microsoft.com/office/drawing/2014/main" id="{995126F2-0A43-4B9D-839F-DAAC24927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9" name="Rectangle 391">
              <a:extLst>
                <a:ext uri="{FF2B5EF4-FFF2-40B4-BE49-F238E27FC236}">
                  <a16:creationId xmlns:a16="http://schemas.microsoft.com/office/drawing/2014/main" id="{F9852041-8F17-40D5-B94F-489E76DBB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90" name="Freeform 392">
              <a:extLst>
                <a:ext uri="{FF2B5EF4-FFF2-40B4-BE49-F238E27FC236}">
                  <a16:creationId xmlns:a16="http://schemas.microsoft.com/office/drawing/2014/main" id="{EE2A4F4B-0BA7-438B-B671-1BB3D91E5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Freeform 393">
              <a:extLst>
                <a:ext uri="{FF2B5EF4-FFF2-40B4-BE49-F238E27FC236}">
                  <a16:creationId xmlns:a16="http://schemas.microsoft.com/office/drawing/2014/main" id="{B354DEA5-6836-4DB4-8065-6BAA8A1AA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" name="Rectangle 394">
              <a:extLst>
                <a:ext uri="{FF2B5EF4-FFF2-40B4-BE49-F238E27FC236}">
                  <a16:creationId xmlns:a16="http://schemas.microsoft.com/office/drawing/2014/main" id="{4999987E-64C4-4251-92C8-C4AE0139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93" name="Group 395">
              <a:extLst>
                <a:ext uri="{FF2B5EF4-FFF2-40B4-BE49-F238E27FC236}">
                  <a16:creationId xmlns:a16="http://schemas.microsoft.com/office/drawing/2014/main" id="{CB86AA3A-002A-4689-A9C8-5CAEBEC81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396">
                <a:extLst>
                  <a:ext uri="{FF2B5EF4-FFF2-40B4-BE49-F238E27FC236}">
                    <a16:creationId xmlns:a16="http://schemas.microsoft.com/office/drawing/2014/main" id="{355850E5-6663-4B93-AB07-37814AB5F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19" name="AutoShape 397">
                <a:extLst>
                  <a:ext uri="{FF2B5EF4-FFF2-40B4-BE49-F238E27FC236}">
                    <a16:creationId xmlns:a16="http://schemas.microsoft.com/office/drawing/2014/main" id="{2DBD4DC8-389C-4A23-8DE9-AFC80DB96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4" name="Rectangle 398">
              <a:extLst>
                <a:ext uri="{FF2B5EF4-FFF2-40B4-BE49-F238E27FC236}">
                  <a16:creationId xmlns:a16="http://schemas.microsoft.com/office/drawing/2014/main" id="{1DD75DA7-EB39-478A-846A-1C69AC882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95" name="Group 399">
              <a:extLst>
                <a:ext uri="{FF2B5EF4-FFF2-40B4-BE49-F238E27FC236}">
                  <a16:creationId xmlns:a16="http://schemas.microsoft.com/office/drawing/2014/main" id="{72F2EE6F-3A9A-413E-A9A9-972E120F4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400">
                <a:extLst>
                  <a:ext uri="{FF2B5EF4-FFF2-40B4-BE49-F238E27FC236}">
                    <a16:creationId xmlns:a16="http://schemas.microsoft.com/office/drawing/2014/main" id="{92863425-6F31-48EA-8E25-1990F005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17" name="AutoShape 401">
                <a:extLst>
                  <a:ext uri="{FF2B5EF4-FFF2-40B4-BE49-F238E27FC236}">
                    <a16:creationId xmlns:a16="http://schemas.microsoft.com/office/drawing/2014/main" id="{CB244590-4F7C-41D6-A2DB-D44627F0D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6" name="Rectangle 402">
              <a:extLst>
                <a:ext uri="{FF2B5EF4-FFF2-40B4-BE49-F238E27FC236}">
                  <a16:creationId xmlns:a16="http://schemas.microsoft.com/office/drawing/2014/main" id="{8F03EEB1-FAC7-4E91-811A-0718ABE62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97" name="Rectangle 403">
              <a:extLst>
                <a:ext uri="{FF2B5EF4-FFF2-40B4-BE49-F238E27FC236}">
                  <a16:creationId xmlns:a16="http://schemas.microsoft.com/office/drawing/2014/main" id="{A1C1F0D4-CCC5-418B-BD36-0F0B44E84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98" name="Group 404">
              <a:extLst>
                <a:ext uri="{FF2B5EF4-FFF2-40B4-BE49-F238E27FC236}">
                  <a16:creationId xmlns:a16="http://schemas.microsoft.com/office/drawing/2014/main" id="{214BBF95-7031-4527-AAE4-A7E0F2F95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405">
                <a:extLst>
                  <a:ext uri="{FF2B5EF4-FFF2-40B4-BE49-F238E27FC236}">
                    <a16:creationId xmlns:a16="http://schemas.microsoft.com/office/drawing/2014/main" id="{348CFC1C-4E07-40E8-8353-4D6405495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15" name="AutoShape 406">
                <a:extLst>
                  <a:ext uri="{FF2B5EF4-FFF2-40B4-BE49-F238E27FC236}">
                    <a16:creationId xmlns:a16="http://schemas.microsoft.com/office/drawing/2014/main" id="{E41BA704-10ED-45B8-905D-8E53341AE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9" name="Freeform 407">
              <a:extLst>
                <a:ext uri="{FF2B5EF4-FFF2-40B4-BE49-F238E27FC236}">
                  <a16:creationId xmlns:a16="http://schemas.microsoft.com/office/drawing/2014/main" id="{1676176B-8B14-4C88-B784-CEE70321D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00" name="Group 408">
              <a:extLst>
                <a:ext uri="{FF2B5EF4-FFF2-40B4-BE49-F238E27FC236}">
                  <a16:creationId xmlns:a16="http://schemas.microsoft.com/office/drawing/2014/main" id="{563FEF6B-EFC7-4361-A1BD-663248864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409">
                <a:extLst>
                  <a:ext uri="{FF2B5EF4-FFF2-40B4-BE49-F238E27FC236}">
                    <a16:creationId xmlns:a16="http://schemas.microsoft.com/office/drawing/2014/main" id="{8454B528-6DE6-4460-8A25-B25DA7B36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13" name="AutoShape 410">
                <a:extLst>
                  <a:ext uri="{FF2B5EF4-FFF2-40B4-BE49-F238E27FC236}">
                    <a16:creationId xmlns:a16="http://schemas.microsoft.com/office/drawing/2014/main" id="{95E9D32C-BBDE-42C1-A98F-72256D7A9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1" name="Rectangle 411">
              <a:extLst>
                <a:ext uri="{FF2B5EF4-FFF2-40B4-BE49-F238E27FC236}">
                  <a16:creationId xmlns:a16="http://schemas.microsoft.com/office/drawing/2014/main" id="{6585D2F1-CED1-4A24-9234-84E85043D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2" name="Freeform 412">
              <a:extLst>
                <a:ext uri="{FF2B5EF4-FFF2-40B4-BE49-F238E27FC236}">
                  <a16:creationId xmlns:a16="http://schemas.microsoft.com/office/drawing/2014/main" id="{898BEACC-4AED-4744-A921-392900D1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3" name="Freeform 413">
              <a:extLst>
                <a:ext uri="{FF2B5EF4-FFF2-40B4-BE49-F238E27FC236}">
                  <a16:creationId xmlns:a16="http://schemas.microsoft.com/office/drawing/2014/main" id="{6CC2ACA2-2577-4365-93C7-E537EAE29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4" name="Oval 414">
              <a:extLst>
                <a:ext uri="{FF2B5EF4-FFF2-40B4-BE49-F238E27FC236}">
                  <a16:creationId xmlns:a16="http://schemas.microsoft.com/office/drawing/2014/main" id="{89615C01-B763-4012-8665-30CDCF447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5" name="Freeform 415">
              <a:extLst>
                <a:ext uri="{FF2B5EF4-FFF2-40B4-BE49-F238E27FC236}">
                  <a16:creationId xmlns:a16="http://schemas.microsoft.com/office/drawing/2014/main" id="{A2E4BDA0-2C76-42D7-B69A-C0F5FE18B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" name="AutoShape 416">
              <a:extLst>
                <a:ext uri="{FF2B5EF4-FFF2-40B4-BE49-F238E27FC236}">
                  <a16:creationId xmlns:a16="http://schemas.microsoft.com/office/drawing/2014/main" id="{3E581119-9232-4159-822C-BC0722BAC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7" name="AutoShape 417">
              <a:extLst>
                <a:ext uri="{FF2B5EF4-FFF2-40B4-BE49-F238E27FC236}">
                  <a16:creationId xmlns:a16="http://schemas.microsoft.com/office/drawing/2014/main" id="{082EE233-232C-4D67-A961-BE66B3495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8" name="Oval 418">
              <a:extLst>
                <a:ext uri="{FF2B5EF4-FFF2-40B4-BE49-F238E27FC236}">
                  <a16:creationId xmlns:a16="http://schemas.microsoft.com/office/drawing/2014/main" id="{C4BFE343-75DD-4A9F-ADF1-B07727DF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09" name="Oval 419">
              <a:extLst>
                <a:ext uri="{FF2B5EF4-FFF2-40B4-BE49-F238E27FC236}">
                  <a16:creationId xmlns:a16="http://schemas.microsoft.com/office/drawing/2014/main" id="{AB49253A-7B92-47C4-B00F-0EC7CB2ED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Oval 420">
              <a:extLst>
                <a:ext uri="{FF2B5EF4-FFF2-40B4-BE49-F238E27FC236}">
                  <a16:creationId xmlns:a16="http://schemas.microsoft.com/office/drawing/2014/main" id="{9388D653-8291-482D-A558-D42FFC31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11" name="Rectangle 421">
              <a:extLst>
                <a:ext uri="{FF2B5EF4-FFF2-40B4-BE49-F238E27FC236}">
                  <a16:creationId xmlns:a16="http://schemas.microsoft.com/office/drawing/2014/main" id="{9BA42FAF-2872-4CFF-A171-C49129EB6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120" name="Group 356">
            <a:extLst>
              <a:ext uri="{FF2B5EF4-FFF2-40B4-BE49-F238E27FC236}">
                <a16:creationId xmlns:a16="http://schemas.microsoft.com/office/drawing/2014/main" id="{DC440DB4-3894-42B9-A616-BF27341708DE}"/>
              </a:ext>
            </a:extLst>
          </p:cNvPr>
          <p:cNvGrpSpPr>
            <a:grpSpLocks/>
          </p:cNvGrpSpPr>
          <p:nvPr/>
        </p:nvGrpSpPr>
        <p:grpSpPr bwMode="auto">
          <a:xfrm>
            <a:off x="3158302" y="4249206"/>
            <a:ext cx="358378" cy="536972"/>
            <a:chOff x="4140" y="429"/>
            <a:chExt cx="1425" cy="2396"/>
          </a:xfrm>
        </p:grpSpPr>
        <p:sp>
          <p:nvSpPr>
            <p:cNvPr id="121" name="Freeform 357">
              <a:extLst>
                <a:ext uri="{FF2B5EF4-FFF2-40B4-BE49-F238E27FC236}">
                  <a16:creationId xmlns:a16="http://schemas.microsoft.com/office/drawing/2014/main" id="{70F4AACD-2468-474B-B04F-0B6378342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" name="Rectangle 358">
              <a:extLst>
                <a:ext uri="{FF2B5EF4-FFF2-40B4-BE49-F238E27FC236}">
                  <a16:creationId xmlns:a16="http://schemas.microsoft.com/office/drawing/2014/main" id="{7EFB6528-C875-497F-944D-1F51FCD1A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23" name="Freeform 359">
              <a:extLst>
                <a:ext uri="{FF2B5EF4-FFF2-40B4-BE49-F238E27FC236}">
                  <a16:creationId xmlns:a16="http://schemas.microsoft.com/office/drawing/2014/main" id="{128340E8-1D12-456D-BDB9-029A07061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" name="Freeform 360">
              <a:extLst>
                <a:ext uri="{FF2B5EF4-FFF2-40B4-BE49-F238E27FC236}">
                  <a16:creationId xmlns:a16="http://schemas.microsoft.com/office/drawing/2014/main" id="{E46DCD00-7581-4D54-92B2-C84F6FACE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" name="Rectangle 361">
              <a:extLst>
                <a:ext uri="{FF2B5EF4-FFF2-40B4-BE49-F238E27FC236}">
                  <a16:creationId xmlns:a16="http://schemas.microsoft.com/office/drawing/2014/main" id="{E4F796D0-0815-4FD0-B0FE-A03E45B45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6" name="Group 362">
              <a:extLst>
                <a:ext uri="{FF2B5EF4-FFF2-40B4-BE49-F238E27FC236}">
                  <a16:creationId xmlns:a16="http://schemas.microsoft.com/office/drawing/2014/main" id="{945C75BE-C1EF-4F1A-B140-59BD703C5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1" name="AutoShape 363">
                <a:extLst>
                  <a:ext uri="{FF2B5EF4-FFF2-40B4-BE49-F238E27FC236}">
                    <a16:creationId xmlns:a16="http://schemas.microsoft.com/office/drawing/2014/main" id="{677F7215-729A-462D-BEF1-1DC053C42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AutoShape 364">
                <a:extLst>
                  <a:ext uri="{FF2B5EF4-FFF2-40B4-BE49-F238E27FC236}">
                    <a16:creationId xmlns:a16="http://schemas.microsoft.com/office/drawing/2014/main" id="{DB9802FA-B049-4020-9E5C-F94E685CB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7" name="Rectangle 365">
              <a:extLst>
                <a:ext uri="{FF2B5EF4-FFF2-40B4-BE49-F238E27FC236}">
                  <a16:creationId xmlns:a16="http://schemas.microsoft.com/office/drawing/2014/main" id="{F11951C7-608E-4AC6-A645-53FF2D739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8" name="Group 366">
              <a:extLst>
                <a:ext uri="{FF2B5EF4-FFF2-40B4-BE49-F238E27FC236}">
                  <a16:creationId xmlns:a16="http://schemas.microsoft.com/office/drawing/2014/main" id="{5871B6E6-BEE8-4A62-9E8A-EC1E2AAFD5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9" name="AutoShape 367">
                <a:extLst>
                  <a:ext uri="{FF2B5EF4-FFF2-40B4-BE49-F238E27FC236}">
                    <a16:creationId xmlns:a16="http://schemas.microsoft.com/office/drawing/2014/main" id="{13281249-3747-4D96-89D7-93025472A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AutoShape 368">
                <a:extLst>
                  <a:ext uri="{FF2B5EF4-FFF2-40B4-BE49-F238E27FC236}">
                    <a16:creationId xmlns:a16="http://schemas.microsoft.com/office/drawing/2014/main" id="{D8CC39B1-DABA-47AB-BBFE-A0B9F0453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9" name="Rectangle 369">
              <a:extLst>
                <a:ext uri="{FF2B5EF4-FFF2-40B4-BE49-F238E27FC236}">
                  <a16:creationId xmlns:a16="http://schemas.microsoft.com/office/drawing/2014/main" id="{1BF75CB5-8E7D-423C-9922-BD0D0B03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0" name="Rectangle 370">
              <a:extLst>
                <a:ext uri="{FF2B5EF4-FFF2-40B4-BE49-F238E27FC236}">
                  <a16:creationId xmlns:a16="http://schemas.microsoft.com/office/drawing/2014/main" id="{435A5469-0EEE-4BB7-9123-1E69449C3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31" name="Group 371">
              <a:extLst>
                <a:ext uri="{FF2B5EF4-FFF2-40B4-BE49-F238E27FC236}">
                  <a16:creationId xmlns:a16="http://schemas.microsoft.com/office/drawing/2014/main" id="{F39C2AF4-6575-4565-B092-7B1C7A0B31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7" name="AutoShape 372">
                <a:extLst>
                  <a:ext uri="{FF2B5EF4-FFF2-40B4-BE49-F238E27FC236}">
                    <a16:creationId xmlns:a16="http://schemas.microsoft.com/office/drawing/2014/main" id="{E577FB70-AE75-47C6-8A14-F387164B5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AutoShape 373">
                <a:extLst>
                  <a:ext uri="{FF2B5EF4-FFF2-40B4-BE49-F238E27FC236}">
                    <a16:creationId xmlns:a16="http://schemas.microsoft.com/office/drawing/2014/main" id="{2C785067-0026-4E06-B051-668E2502B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2" name="Freeform 374">
              <a:extLst>
                <a:ext uri="{FF2B5EF4-FFF2-40B4-BE49-F238E27FC236}">
                  <a16:creationId xmlns:a16="http://schemas.microsoft.com/office/drawing/2014/main" id="{1AFCFEC7-643E-4D35-8E04-CA1060CED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3" name="Group 375">
              <a:extLst>
                <a:ext uri="{FF2B5EF4-FFF2-40B4-BE49-F238E27FC236}">
                  <a16:creationId xmlns:a16="http://schemas.microsoft.com/office/drawing/2014/main" id="{9CE03265-AD67-40B5-9727-EB74A94557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5" name="AutoShape 376">
                <a:extLst>
                  <a:ext uri="{FF2B5EF4-FFF2-40B4-BE49-F238E27FC236}">
                    <a16:creationId xmlns:a16="http://schemas.microsoft.com/office/drawing/2014/main" id="{4396D2C6-26C9-4818-BC72-B83CCCB0E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AutoShape 377">
                <a:extLst>
                  <a:ext uri="{FF2B5EF4-FFF2-40B4-BE49-F238E27FC236}">
                    <a16:creationId xmlns:a16="http://schemas.microsoft.com/office/drawing/2014/main" id="{6C43D140-0D89-4B0F-9B9F-4EF581E6F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" name="Rectangle 378">
              <a:extLst>
                <a:ext uri="{FF2B5EF4-FFF2-40B4-BE49-F238E27FC236}">
                  <a16:creationId xmlns:a16="http://schemas.microsoft.com/office/drawing/2014/main" id="{940A63AF-B9EB-4123-8E7A-587086ADB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5" name="Freeform 379">
              <a:extLst>
                <a:ext uri="{FF2B5EF4-FFF2-40B4-BE49-F238E27FC236}">
                  <a16:creationId xmlns:a16="http://schemas.microsoft.com/office/drawing/2014/main" id="{D2CAB1E2-ABC4-4160-A34C-302CA0251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" name="Freeform 380">
              <a:extLst>
                <a:ext uri="{FF2B5EF4-FFF2-40B4-BE49-F238E27FC236}">
                  <a16:creationId xmlns:a16="http://schemas.microsoft.com/office/drawing/2014/main" id="{8DF05FF4-4B88-4B17-A681-80E1EC7FF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" name="Oval 381">
              <a:extLst>
                <a:ext uri="{FF2B5EF4-FFF2-40B4-BE49-F238E27FC236}">
                  <a16:creationId xmlns:a16="http://schemas.microsoft.com/office/drawing/2014/main" id="{EE8F6FC4-E6E6-4532-A1EF-C9B04B76F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8" name="Freeform 382">
              <a:extLst>
                <a:ext uri="{FF2B5EF4-FFF2-40B4-BE49-F238E27FC236}">
                  <a16:creationId xmlns:a16="http://schemas.microsoft.com/office/drawing/2014/main" id="{50407815-1AD1-4AC9-9C76-73B70960C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9" name="AutoShape 383">
              <a:extLst>
                <a:ext uri="{FF2B5EF4-FFF2-40B4-BE49-F238E27FC236}">
                  <a16:creationId xmlns:a16="http://schemas.microsoft.com/office/drawing/2014/main" id="{F655C314-1D4D-435D-ABF9-13C3A10E7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0" name="AutoShape 384">
              <a:extLst>
                <a:ext uri="{FF2B5EF4-FFF2-40B4-BE49-F238E27FC236}">
                  <a16:creationId xmlns:a16="http://schemas.microsoft.com/office/drawing/2014/main" id="{6D6D688F-2D36-480F-B90D-0A8EB663C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1" name="Oval 385">
              <a:extLst>
                <a:ext uri="{FF2B5EF4-FFF2-40B4-BE49-F238E27FC236}">
                  <a16:creationId xmlns:a16="http://schemas.microsoft.com/office/drawing/2014/main" id="{AB500371-9519-40BC-99B7-9F89A834D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2" name="Oval 386">
              <a:extLst>
                <a:ext uri="{FF2B5EF4-FFF2-40B4-BE49-F238E27FC236}">
                  <a16:creationId xmlns:a16="http://schemas.microsoft.com/office/drawing/2014/main" id="{963676B0-62BC-43F6-855D-DCB109B1C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Oval 387">
              <a:extLst>
                <a:ext uri="{FF2B5EF4-FFF2-40B4-BE49-F238E27FC236}">
                  <a16:creationId xmlns:a16="http://schemas.microsoft.com/office/drawing/2014/main" id="{387419CB-F206-489F-BC04-0814A35BF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4" name="Rectangle 388">
              <a:extLst>
                <a:ext uri="{FF2B5EF4-FFF2-40B4-BE49-F238E27FC236}">
                  <a16:creationId xmlns:a16="http://schemas.microsoft.com/office/drawing/2014/main" id="{0E7AA743-DC22-4BA4-A8F6-2A08B4E56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153" name="Group 19">
            <a:extLst>
              <a:ext uri="{FF2B5EF4-FFF2-40B4-BE49-F238E27FC236}">
                <a16:creationId xmlns:a16="http://schemas.microsoft.com/office/drawing/2014/main" id="{7B0A7FD5-7422-4892-9A80-3C0855F0CFED}"/>
              </a:ext>
            </a:extLst>
          </p:cNvPr>
          <p:cNvGrpSpPr>
            <a:grpSpLocks/>
          </p:cNvGrpSpPr>
          <p:nvPr/>
        </p:nvGrpSpPr>
        <p:grpSpPr bwMode="auto">
          <a:xfrm>
            <a:off x="4716190" y="3492135"/>
            <a:ext cx="607219" cy="942269"/>
            <a:chOff x="4296" y="2627"/>
            <a:chExt cx="510" cy="661"/>
          </a:xfrm>
        </p:grpSpPr>
        <p:sp>
          <p:nvSpPr>
            <p:cNvPr id="154" name="Rectangle 20">
              <a:extLst>
                <a:ext uri="{FF2B5EF4-FFF2-40B4-BE49-F238E27FC236}">
                  <a16:creationId xmlns:a16="http://schemas.microsoft.com/office/drawing/2014/main" id="{6E6C6D60-6E0D-4B1C-B6B9-9FFAD8B1C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Text Box 21">
              <a:extLst>
                <a:ext uri="{FF2B5EF4-FFF2-40B4-BE49-F238E27FC236}">
                  <a16:creationId xmlns:a16="http://schemas.microsoft.com/office/drawing/2014/main" id="{E6CB8E34-40FD-4D95-8D11-C133C17C3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4" y="2627"/>
              <a:ext cx="45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Bob’s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</a:p>
          </p:txBody>
        </p:sp>
        <p:sp>
          <p:nvSpPr>
            <p:cNvPr id="156" name="Rectangle 22">
              <a:extLst>
                <a:ext uri="{FF2B5EF4-FFF2-40B4-BE49-F238E27FC236}">
                  <a16:creationId xmlns:a16="http://schemas.microsoft.com/office/drawing/2014/main" id="{F736C02C-B93C-4DB6-8F3A-2E93311A8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7" name="Line 23">
              <a:extLst>
                <a:ext uri="{FF2B5EF4-FFF2-40B4-BE49-F238E27FC236}">
                  <a16:creationId xmlns:a16="http://schemas.microsoft.com/office/drawing/2014/main" id="{A92976B0-9504-465A-97A9-B4D6D8550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8" name="Line 24">
              <a:extLst>
                <a:ext uri="{FF2B5EF4-FFF2-40B4-BE49-F238E27FC236}">
                  <a16:creationId xmlns:a16="http://schemas.microsoft.com/office/drawing/2014/main" id="{4F3C57E0-0BD9-4CBB-8357-367B743B2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9" name="Line 25">
              <a:extLst>
                <a:ext uri="{FF2B5EF4-FFF2-40B4-BE49-F238E27FC236}">
                  <a16:creationId xmlns:a16="http://schemas.microsoft.com/office/drawing/2014/main" id="{254B4EFE-D100-4E00-9182-E48286346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0" name="Line 26">
              <a:extLst>
                <a:ext uri="{FF2B5EF4-FFF2-40B4-BE49-F238E27FC236}">
                  <a16:creationId xmlns:a16="http://schemas.microsoft.com/office/drawing/2014/main" id="{EB579A71-8F8A-4517-889A-FA7DB5489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1" name="Line 27">
              <a:extLst>
                <a:ext uri="{FF2B5EF4-FFF2-40B4-BE49-F238E27FC236}">
                  <a16:creationId xmlns:a16="http://schemas.microsoft.com/office/drawing/2014/main" id="{CB489874-F219-48A0-BFED-970CAD0FB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2" name="Line 28">
              <a:extLst>
                <a:ext uri="{FF2B5EF4-FFF2-40B4-BE49-F238E27FC236}">
                  <a16:creationId xmlns:a16="http://schemas.microsoft.com/office/drawing/2014/main" id="{50BF3864-8B0C-488A-9996-9F6B8CCDF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3" name="Line 29">
              <a:extLst>
                <a:ext uri="{FF2B5EF4-FFF2-40B4-BE49-F238E27FC236}">
                  <a16:creationId xmlns:a16="http://schemas.microsoft.com/office/drawing/2014/main" id="{72C38EC8-C50E-4817-89F4-C9531B4FB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4" name="Rectangle 30">
              <a:extLst>
                <a:ext uri="{FF2B5EF4-FFF2-40B4-BE49-F238E27FC236}">
                  <a16:creationId xmlns:a16="http://schemas.microsoft.com/office/drawing/2014/main" id="{D6378DC8-DE75-427B-9DCB-914A49AE9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5" name="Rectangle 31">
              <a:extLst>
                <a:ext uri="{FF2B5EF4-FFF2-40B4-BE49-F238E27FC236}">
                  <a16:creationId xmlns:a16="http://schemas.microsoft.com/office/drawing/2014/main" id="{DC4043D0-9BC6-4D75-B3A7-6C8129FC2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6" name="Rectangle 32">
              <a:extLst>
                <a:ext uri="{FF2B5EF4-FFF2-40B4-BE49-F238E27FC236}">
                  <a16:creationId xmlns:a16="http://schemas.microsoft.com/office/drawing/2014/main" id="{00A9E496-8453-48FE-B115-4CA276F87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7" name="Rectangle 33">
              <a:extLst>
                <a:ext uri="{FF2B5EF4-FFF2-40B4-BE49-F238E27FC236}">
                  <a16:creationId xmlns:a16="http://schemas.microsoft.com/office/drawing/2014/main" id="{6DB65563-27E0-4C3C-BEAF-E90160288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8" name="Rectangle 34">
              <a:extLst>
                <a:ext uri="{FF2B5EF4-FFF2-40B4-BE49-F238E27FC236}">
                  <a16:creationId xmlns:a16="http://schemas.microsoft.com/office/drawing/2014/main" id="{DA9F5802-DEAE-4A80-BEA0-858A69B71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69" name="Group 60">
            <a:extLst>
              <a:ext uri="{FF2B5EF4-FFF2-40B4-BE49-F238E27FC236}">
                <a16:creationId xmlns:a16="http://schemas.microsoft.com/office/drawing/2014/main" id="{5A04D774-D55B-4EEA-8D07-08C789FF60E2}"/>
              </a:ext>
            </a:extLst>
          </p:cNvPr>
          <p:cNvGrpSpPr>
            <a:grpSpLocks/>
          </p:cNvGrpSpPr>
          <p:nvPr/>
        </p:nvGrpSpPr>
        <p:grpSpPr bwMode="auto">
          <a:xfrm>
            <a:off x="3446684" y="3462992"/>
            <a:ext cx="611981" cy="979309"/>
            <a:chOff x="4292" y="2627"/>
            <a:chExt cx="514" cy="661"/>
          </a:xfrm>
        </p:grpSpPr>
        <p:sp>
          <p:nvSpPr>
            <p:cNvPr id="170" name="Rectangle 61">
              <a:extLst>
                <a:ext uri="{FF2B5EF4-FFF2-40B4-BE49-F238E27FC236}">
                  <a16:creationId xmlns:a16="http://schemas.microsoft.com/office/drawing/2014/main" id="{2AEA739E-AB71-4463-8F72-052210DBC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1" name="Text Box 62">
              <a:extLst>
                <a:ext uri="{FF2B5EF4-FFF2-40B4-BE49-F238E27FC236}">
                  <a16:creationId xmlns:a16="http://schemas.microsoft.com/office/drawing/2014/main" id="{2C691267-D6FF-4902-94A5-FBA5F2C05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" y="2627"/>
              <a:ext cx="49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Alice’s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</a:p>
          </p:txBody>
        </p:sp>
        <p:sp>
          <p:nvSpPr>
            <p:cNvPr id="172" name="Rectangle 63">
              <a:extLst>
                <a:ext uri="{FF2B5EF4-FFF2-40B4-BE49-F238E27FC236}">
                  <a16:creationId xmlns:a16="http://schemas.microsoft.com/office/drawing/2014/main" id="{14887312-E2B1-43EB-AF7D-852F354D0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3" name="Line 64">
              <a:extLst>
                <a:ext uri="{FF2B5EF4-FFF2-40B4-BE49-F238E27FC236}">
                  <a16:creationId xmlns:a16="http://schemas.microsoft.com/office/drawing/2014/main" id="{9EE3B68E-5B4C-4EAF-B58A-6B0BF9B11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Line 65">
              <a:extLst>
                <a:ext uri="{FF2B5EF4-FFF2-40B4-BE49-F238E27FC236}">
                  <a16:creationId xmlns:a16="http://schemas.microsoft.com/office/drawing/2014/main" id="{810A2C3A-D55D-4EEB-AB26-21D336411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Line 66">
              <a:extLst>
                <a:ext uri="{FF2B5EF4-FFF2-40B4-BE49-F238E27FC236}">
                  <a16:creationId xmlns:a16="http://schemas.microsoft.com/office/drawing/2014/main" id="{B320AC1A-2A44-4F55-99B9-1CB315BD5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6" name="Line 67">
              <a:extLst>
                <a:ext uri="{FF2B5EF4-FFF2-40B4-BE49-F238E27FC236}">
                  <a16:creationId xmlns:a16="http://schemas.microsoft.com/office/drawing/2014/main" id="{328B168E-BD0A-49B3-8C07-80D559CDE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68">
              <a:extLst>
                <a:ext uri="{FF2B5EF4-FFF2-40B4-BE49-F238E27FC236}">
                  <a16:creationId xmlns:a16="http://schemas.microsoft.com/office/drawing/2014/main" id="{7D06C5F8-C700-48A4-A372-CCC7204AA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Line 69">
              <a:extLst>
                <a:ext uri="{FF2B5EF4-FFF2-40B4-BE49-F238E27FC236}">
                  <a16:creationId xmlns:a16="http://schemas.microsoft.com/office/drawing/2014/main" id="{FD837A29-9804-4466-879D-D62B3BE38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9" name="Line 70">
              <a:extLst>
                <a:ext uri="{FF2B5EF4-FFF2-40B4-BE49-F238E27FC236}">
                  <a16:creationId xmlns:a16="http://schemas.microsoft.com/office/drawing/2014/main" id="{373BFF20-BF36-4545-8ADE-46892B408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0" name="Rectangle 71">
              <a:extLst>
                <a:ext uri="{FF2B5EF4-FFF2-40B4-BE49-F238E27FC236}">
                  <a16:creationId xmlns:a16="http://schemas.microsoft.com/office/drawing/2014/main" id="{D88EBCE0-5077-460C-852C-406AC0791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1" name="Rectangle 72">
              <a:extLst>
                <a:ext uri="{FF2B5EF4-FFF2-40B4-BE49-F238E27FC236}">
                  <a16:creationId xmlns:a16="http://schemas.microsoft.com/office/drawing/2014/main" id="{6F24F296-A5B5-49E7-9B53-0922C350A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2" name="Rectangle 73">
              <a:extLst>
                <a:ext uri="{FF2B5EF4-FFF2-40B4-BE49-F238E27FC236}">
                  <a16:creationId xmlns:a16="http://schemas.microsoft.com/office/drawing/2014/main" id="{48975807-C5FD-470A-86A0-3A707AA1A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3" name="Rectangle 74">
              <a:extLst>
                <a:ext uri="{FF2B5EF4-FFF2-40B4-BE49-F238E27FC236}">
                  <a16:creationId xmlns:a16="http://schemas.microsoft.com/office/drawing/2014/main" id="{6642789B-EEC7-462C-87BD-F2F13E1B9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75">
              <a:extLst>
                <a:ext uri="{FF2B5EF4-FFF2-40B4-BE49-F238E27FC236}">
                  <a16:creationId xmlns:a16="http://schemas.microsoft.com/office/drawing/2014/main" id="{32DDE316-2FBF-4100-87EE-92D441A84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85" name="Group 443">
            <a:extLst>
              <a:ext uri="{FF2B5EF4-FFF2-40B4-BE49-F238E27FC236}">
                <a16:creationId xmlns:a16="http://schemas.microsoft.com/office/drawing/2014/main" id="{A6494200-E4FE-4EC1-83C4-0E9C11A3FD6B}"/>
              </a:ext>
            </a:extLst>
          </p:cNvPr>
          <p:cNvGrpSpPr>
            <a:grpSpLocks/>
          </p:cNvGrpSpPr>
          <p:nvPr/>
        </p:nvGrpSpPr>
        <p:grpSpPr bwMode="auto">
          <a:xfrm>
            <a:off x="1718619" y="4080682"/>
            <a:ext cx="667941" cy="621506"/>
            <a:chOff x="-44" y="1473"/>
            <a:chExt cx="981" cy="1105"/>
          </a:xfrm>
        </p:grpSpPr>
        <p:pic>
          <p:nvPicPr>
            <p:cNvPr id="186" name="Picture 444" descr="desktop_computer_stylized_medium">
              <a:extLst>
                <a:ext uri="{FF2B5EF4-FFF2-40B4-BE49-F238E27FC236}">
                  <a16:creationId xmlns:a16="http://schemas.microsoft.com/office/drawing/2014/main" id="{C69EF465-B47A-4243-9A19-51FEE3F2C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7" name="Freeform 445">
              <a:extLst>
                <a:ext uri="{FF2B5EF4-FFF2-40B4-BE49-F238E27FC236}">
                  <a16:creationId xmlns:a16="http://schemas.microsoft.com/office/drawing/2014/main" id="{DC5B9AE2-C69C-4FCB-8A34-45828176EB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88" name="Line 117">
            <a:extLst>
              <a:ext uri="{FF2B5EF4-FFF2-40B4-BE49-F238E27FC236}">
                <a16:creationId xmlns:a16="http://schemas.microsoft.com/office/drawing/2014/main" id="{8F232689-825C-4786-9ACC-21806FBCAA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78181" y="4138437"/>
            <a:ext cx="595146" cy="18114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9" name="Text Box 121">
            <a:extLst>
              <a:ext uri="{FF2B5EF4-FFF2-40B4-BE49-F238E27FC236}">
                <a16:creationId xmlns:a16="http://schemas.microsoft.com/office/drawing/2014/main" id="{913C6112-20A6-41E2-B0FA-A43500C98F04}"/>
              </a:ext>
            </a:extLst>
          </p:cNvPr>
          <p:cNvSpPr txBox="1">
            <a:spLocks noChangeArrowheads="1"/>
          </p:cNvSpPr>
          <p:nvPr/>
        </p:nvSpPr>
        <p:spPr bwMode="auto">
          <a:xfrm rot="1003087">
            <a:off x="4031861" y="3937888"/>
            <a:ext cx="68320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/>
              <a:t>SMTP</a:t>
            </a:r>
          </a:p>
        </p:txBody>
      </p:sp>
      <p:sp>
        <p:nvSpPr>
          <p:cNvPr id="190" name="Line 117">
            <a:extLst>
              <a:ext uri="{FF2B5EF4-FFF2-40B4-BE49-F238E27FC236}">
                <a16:creationId xmlns:a16="http://schemas.microsoft.com/office/drawing/2014/main" id="{151140F8-5B52-4789-8B8D-9D697AEDE5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0036" y="4346582"/>
            <a:ext cx="789465" cy="168736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rgbClr val="7030A0"/>
              </a:solidFill>
            </a:endParaRPr>
          </a:p>
        </p:txBody>
      </p:sp>
      <p:grpSp>
        <p:nvGrpSpPr>
          <p:cNvPr id="191" name="Group 437">
            <a:extLst>
              <a:ext uri="{FF2B5EF4-FFF2-40B4-BE49-F238E27FC236}">
                <a16:creationId xmlns:a16="http://schemas.microsoft.com/office/drawing/2014/main" id="{7F021091-B8BA-4B17-BCA6-62195DBD2E6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267399" y="4143292"/>
            <a:ext cx="667920" cy="621506"/>
            <a:chOff x="-44" y="1473"/>
            <a:chExt cx="981" cy="1105"/>
          </a:xfrm>
        </p:grpSpPr>
        <p:pic>
          <p:nvPicPr>
            <p:cNvPr id="192" name="Picture 438" descr="desktop_computer_stylized_medium">
              <a:extLst>
                <a:ext uri="{FF2B5EF4-FFF2-40B4-BE49-F238E27FC236}">
                  <a16:creationId xmlns:a16="http://schemas.microsoft.com/office/drawing/2014/main" id="{1B9A1715-5B92-49D6-ABA2-9B7C6E7FA1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3" name="Freeform 439">
              <a:extLst>
                <a:ext uri="{FF2B5EF4-FFF2-40B4-BE49-F238E27FC236}">
                  <a16:creationId xmlns:a16="http://schemas.microsoft.com/office/drawing/2014/main" id="{BCC621B4-567D-4AA0-89F9-2A7F28913C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 dirty="0"/>
            </a:p>
          </p:txBody>
        </p:sp>
      </p:grpSp>
      <p:sp>
        <p:nvSpPr>
          <p:cNvPr id="194" name="Line 117">
            <a:extLst>
              <a:ext uri="{FF2B5EF4-FFF2-40B4-BE49-F238E27FC236}">
                <a16:creationId xmlns:a16="http://schemas.microsoft.com/office/drawing/2014/main" id="{F95177EF-8D29-4041-96E4-A56568B1E8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4602" y="4042394"/>
            <a:ext cx="1119196" cy="33823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5" name="Text Box 121">
            <a:extLst>
              <a:ext uri="{FF2B5EF4-FFF2-40B4-BE49-F238E27FC236}">
                <a16:creationId xmlns:a16="http://schemas.microsoft.com/office/drawing/2014/main" id="{05D3B671-D9B3-4237-9162-2607C8D4C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203" y="4759825"/>
            <a:ext cx="127785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Alice’s Server</a:t>
            </a:r>
          </a:p>
        </p:txBody>
      </p:sp>
      <p:sp>
        <p:nvSpPr>
          <p:cNvPr id="196" name="Text Box 121">
            <a:extLst>
              <a:ext uri="{FF2B5EF4-FFF2-40B4-BE49-F238E27FC236}">
                <a16:creationId xmlns:a16="http://schemas.microsoft.com/office/drawing/2014/main" id="{D345C2F5-E600-47C6-94CC-26A5869C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8450" y="4784253"/>
            <a:ext cx="138591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Bob’s Server</a:t>
            </a:r>
          </a:p>
        </p:txBody>
      </p:sp>
      <p:sp>
        <p:nvSpPr>
          <p:cNvPr id="202" name="Rectangle 115">
            <a:extLst>
              <a:ext uri="{FF2B5EF4-FFF2-40B4-BE49-F238E27FC236}">
                <a16:creationId xmlns:a16="http://schemas.microsoft.com/office/drawing/2014/main" id="{4CAF8E6E-AD64-4D2E-85E2-78D6F1DCB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065" y="4076907"/>
            <a:ext cx="453628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203" name="Rectangle 115">
            <a:extLst>
              <a:ext uri="{FF2B5EF4-FFF2-40B4-BE49-F238E27FC236}">
                <a16:creationId xmlns:a16="http://schemas.microsoft.com/office/drawing/2014/main" id="{84EF7145-B3D5-4A4D-9AEE-4C0323504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879" y="4138436"/>
            <a:ext cx="421538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205" name="Text Box 121">
            <a:extLst>
              <a:ext uri="{FF2B5EF4-FFF2-40B4-BE49-F238E27FC236}">
                <a16:creationId xmlns:a16="http://schemas.microsoft.com/office/drawing/2014/main" id="{8AD435C6-3E79-462A-A83F-FBB640040F20}"/>
              </a:ext>
            </a:extLst>
          </p:cNvPr>
          <p:cNvSpPr txBox="1">
            <a:spLocks noChangeArrowheads="1"/>
          </p:cNvSpPr>
          <p:nvPr/>
        </p:nvSpPr>
        <p:spPr bwMode="auto">
          <a:xfrm rot="20833559">
            <a:off x="5535908" y="4104731"/>
            <a:ext cx="663964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/>
              <a:t>POP3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6CDF589-32A9-44A8-AC99-EA04A9DE06CA}"/>
              </a:ext>
            </a:extLst>
          </p:cNvPr>
          <p:cNvSpPr/>
          <p:nvPr/>
        </p:nvSpPr>
        <p:spPr>
          <a:xfrm>
            <a:off x="1350988" y="3435073"/>
            <a:ext cx="3337819" cy="1616602"/>
          </a:xfrm>
          <a:prstGeom prst="roundRect">
            <a:avLst/>
          </a:prstGeom>
          <a:solidFill>
            <a:schemeClr val="bg1">
              <a:lumMod val="9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灯片编号占位符 2">
            <a:extLst>
              <a:ext uri="{FF2B5EF4-FFF2-40B4-BE49-F238E27FC236}">
                <a16:creationId xmlns:a16="http://schemas.microsoft.com/office/drawing/2014/main" id="{08420EC4-F334-49E7-A148-3E0EDC24730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199" name="AutoShape 5">
            <a:extLst>
              <a:ext uri="{FF2B5EF4-FFF2-40B4-BE49-F238E27FC236}">
                <a16:creationId xmlns:a16="http://schemas.microsoft.com/office/drawing/2014/main" id="{E9281180-388F-4570-A749-34C02E88F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14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19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83568" y="1372819"/>
            <a:ext cx="3367286" cy="7045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POP3 (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 1939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服务器端口：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</a:p>
          <a:p>
            <a:pPr lvl="1">
              <a:lnSpc>
                <a:spcPct val="11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88120" y="2077418"/>
            <a:ext cx="2978944" cy="279966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认证阶段</a:t>
            </a:r>
            <a:endParaRPr lang="en-US" altLang="zh-CN" sz="135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客户端报文（</a:t>
            </a:r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en-US" altLang="zh-CN" sz="12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declare username</a:t>
            </a:r>
          </a:p>
          <a:p>
            <a:pPr lvl="1"/>
            <a:r>
              <a:rPr lang="en-US" altLang="zh-CN" sz="12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pass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password</a:t>
            </a: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服务器端响应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+OK</a:t>
            </a:r>
          </a:p>
          <a:p>
            <a:pPr lvl="1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-ERR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交互阶段</a:t>
            </a:r>
            <a:r>
              <a:rPr lang="en-US" altLang="zh-CN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客户端报文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12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列出邮件的索引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retr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根据编号接收邮件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dele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删除某个编号的邮件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quit</a:t>
            </a:r>
            <a:endParaRPr lang="en-US" altLang="zh-CN" sz="12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790104" y="2077418"/>
            <a:ext cx="272772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list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1 498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2 912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.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retr 1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&lt;message 1 contents&gt;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.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dele 1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retr 2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&lt;message 1 contents&gt;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.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dele 2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quit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+OK </a:t>
            </a:r>
            <a:r>
              <a:rPr lang="en-US" altLang="zh-CN" sz="1050" b="1" dirty="0">
                <a:latin typeface="Courier New" panose="02070309020205020404" pitchFamily="49" charset="0"/>
              </a:rPr>
              <a:t>POP3 server signing off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96967" y="968771"/>
            <a:ext cx="299953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+OK POP3 server ready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user bob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+OK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C: pass hungry </a:t>
            </a:r>
          </a:p>
          <a:p>
            <a:pPr eaLnBrk="0" hangingPunct="0"/>
            <a:r>
              <a:rPr lang="en-US" altLang="zh-CN" sz="1200" b="1" dirty="0">
                <a:latin typeface="Courier New" panose="02070309020205020404" pitchFamily="49" charset="0"/>
              </a:rPr>
              <a:t>S: +OK </a:t>
            </a:r>
            <a:r>
              <a:rPr lang="en-US" altLang="zh-CN" sz="1050" b="1" dirty="0">
                <a:latin typeface="Courier New" panose="02070309020205020404" pitchFamily="49" charset="0"/>
              </a:rPr>
              <a:t>user successfully logged on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4771400" y="874086"/>
            <a:ext cx="278606" cy="1092994"/>
          </a:xfrm>
          <a:custGeom>
            <a:avLst/>
            <a:gdLst>
              <a:gd name="T0" fmla="*/ 234 w 234"/>
              <a:gd name="T1" fmla="*/ 0 h 918"/>
              <a:gd name="T2" fmla="*/ 0 w 234"/>
              <a:gd name="T3" fmla="*/ 0 h 918"/>
              <a:gd name="T4" fmla="*/ 0 w 234"/>
              <a:gd name="T5" fmla="*/ 918 h 918"/>
              <a:gd name="T6" fmla="*/ 228 w 234"/>
              <a:gd name="T7" fmla="*/ 918 h 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4764256" y="2017086"/>
            <a:ext cx="278606" cy="2708989"/>
          </a:xfrm>
          <a:custGeom>
            <a:avLst/>
            <a:gdLst>
              <a:gd name="T0" fmla="*/ 234 w 234"/>
              <a:gd name="T1" fmla="*/ 0 h 918"/>
              <a:gd name="T2" fmla="*/ 0 w 234"/>
              <a:gd name="T3" fmla="*/ 0 h 918"/>
              <a:gd name="T4" fmla="*/ 0 w 234"/>
              <a:gd name="T5" fmla="*/ 918 h 918"/>
              <a:gd name="T6" fmla="*/ 228 w 234"/>
              <a:gd name="T7" fmla="*/ 918 h 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6" name="内容占位符 2">
            <a:extLst>
              <a:ext uri="{FF2B5EF4-FFF2-40B4-BE49-F238E27FC236}">
                <a16:creationId xmlns:a16="http://schemas.microsoft.com/office/drawing/2014/main" id="{E0155850-1782-4CD9-B245-1C5E2DEC7D16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DF843B18-4B19-4879-BD58-D6BD9096745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4104CB53-3AA8-4C07-A449-710DDCC0B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689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03164" y="1442340"/>
            <a:ext cx="2376264" cy="4857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266700" lvl="1" indent="-255588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Hands on POP3</a:t>
            </a:r>
          </a:p>
        </p:txBody>
      </p:sp>
      <p:sp>
        <p:nvSpPr>
          <p:cNvPr id="81" name="AutoShape 10"/>
          <p:cNvSpPr>
            <a:spLocks noChangeArrowheads="1"/>
          </p:cNvSpPr>
          <p:nvPr/>
        </p:nvSpPr>
        <p:spPr bwMode="auto">
          <a:xfrm>
            <a:off x="6476330" y="4785817"/>
            <a:ext cx="119063" cy="9525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373" y="505520"/>
            <a:ext cx="4843463" cy="3207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715" y="551954"/>
            <a:ext cx="4772025" cy="321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049" y="535286"/>
            <a:ext cx="4772025" cy="3221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621" y="548382"/>
            <a:ext cx="4764881" cy="3207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336" y="534095"/>
            <a:ext cx="4772025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383" y="555526"/>
            <a:ext cx="4772025" cy="3107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009" y="3461841"/>
            <a:ext cx="1814513" cy="485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803" y="4011910"/>
            <a:ext cx="1350169" cy="46434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9DEB4552-398E-4E09-8B91-C4FB16E37015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C8117016-DCAA-4738-86F5-0DAF28AB571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40714CB3-B6E6-4719-A432-7A293448E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717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1" grpId="1" animBg="1"/>
      <p:bldP spid="18" grpId="0" animBg="1"/>
      <p:bldP spid="18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03727" y="1359441"/>
            <a:ext cx="7886700" cy="60429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800" dirty="0"/>
              <a:t>POP3</a:t>
            </a:r>
            <a:r>
              <a:rPr lang="zh-CN" altLang="en-US" sz="1800" dirty="0"/>
              <a:t>和</a:t>
            </a:r>
            <a:r>
              <a:rPr lang="en-US" altLang="zh-CN" sz="1800" dirty="0"/>
              <a:t>IMAP</a:t>
            </a:r>
          </a:p>
          <a:p>
            <a:pPr marL="342900" lvl="1" indent="0">
              <a:buNone/>
            </a:pPr>
            <a:endParaRPr lang="en-US" altLang="zh-CN" sz="16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99592" y="1963734"/>
            <a:ext cx="3168352" cy="250465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POP3</a:t>
            </a:r>
          </a:p>
          <a:p>
            <a:pPr indent="-160338"/>
            <a:r>
              <a:rPr lang="ja-JP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ja-JP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download and delete</a:t>
            </a:r>
            <a:r>
              <a:rPr lang="ja-JP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ja-JP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在其他客户端无法读取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60338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ja-JP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ja-JP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download-and-keep</a:t>
            </a:r>
            <a:r>
              <a:rPr lang="ja-JP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ja-JP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客户端和服务器端双份</a:t>
            </a:r>
            <a:endParaRPr lang="en-US" altLang="ja-JP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60338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POP3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类似无状态协议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445576" y="1963733"/>
            <a:ext cx="3672408" cy="25046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IMAP</a:t>
            </a:r>
          </a:p>
          <a:p>
            <a:pPr indent="-250825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报文都在服务器端存储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50825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允许用户创建文件夹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50825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在会话周期内维护用户的状态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names of folders and mappings between message IDs and folder name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3A2AC96-402E-491F-89D6-1AA8604200CB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</a:t>
            </a:r>
          </a:p>
        </p:txBody>
      </p:sp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53B9CD9B-89BB-4C28-94FB-2259CF9C080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38DD3F3B-6D78-4B42-9DF7-C318ED373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83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FF6600"/>
                </a:solidFill>
              </a:rPr>
              <a:t>2.4 </a:t>
            </a:r>
            <a:r>
              <a:rPr lang="zh-CN" altLang="en-US" dirty="0">
                <a:solidFill>
                  <a:srgbClr val="FF6600"/>
                </a:solidFill>
              </a:rPr>
              <a:t>电子邮件协议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88182" y="1131590"/>
            <a:ext cx="7886700" cy="115212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补充：搭建邮件服务器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企业级：如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 Exchange Server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轻量级：如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Foxmail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Server </a:t>
            </a:r>
          </a:p>
        </p:txBody>
      </p:sp>
      <p:pic>
        <p:nvPicPr>
          <p:cNvPr id="24578" name="Picture 2" descr="http://image20.it168.com/201212_0x0/1295/ce1a3e467837e1a4.png">
            <a:extLst>
              <a:ext uri="{FF2B5EF4-FFF2-40B4-BE49-F238E27FC236}">
                <a16:creationId xmlns:a16="http://schemas.microsoft.com/office/drawing/2014/main" id="{0A6CA52F-58AE-4DAC-ACA5-284F8ABFC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203598"/>
            <a:ext cx="720080" cy="720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580" name="Picture 4" descr="https://timgsa.baidu.com/timg?image&amp;quality=80&amp;size=b9999_10000&amp;sec=1582949400815&amp;di=9ed2622286818504c7a1210de6b53bcf&amp;imgtype=0&amp;src=http%3A%2F%2Fsrc.onlinedown.net%2Fsupply%2F1_06291224124Y0.png">
            <a:extLst>
              <a:ext uri="{FF2B5EF4-FFF2-40B4-BE49-F238E27FC236}">
                <a16:creationId xmlns:a16="http://schemas.microsoft.com/office/drawing/2014/main" id="{3A0C29A2-261F-4ED8-BBED-8A331C343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211710"/>
            <a:ext cx="720080" cy="720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F047D6EB-48E3-47C8-9AD5-D45FC7E5DC0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2015B4E-E0CE-4D18-9D36-E221D24F7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40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F1BCF9E-86A0-43C2-B6E9-DB4F17905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文件传输协议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283A7D-D643-436D-98AE-4303E77DF95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电子邮件协议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784FB6-4FAD-4AEF-8B77-0E421DEBA82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3300"/>
                </a:solidFill>
              </a:rPr>
              <a:t>2.5 </a:t>
            </a:r>
            <a:r>
              <a:rPr lang="zh-CN" altLang="en-US" dirty="0">
                <a:solidFill>
                  <a:srgbClr val="FF3300"/>
                </a:solidFill>
              </a:rPr>
              <a:t>因特网的目录服务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C22AE9C7-BF2C-4FC7-9558-4A1C708694C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D1C11F88-EB4F-40A8-91E1-C2AA39B1B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83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  <p:sndAc>
          <p:stSnd>
            <p:snd r:embed="rId2" name="arrow.wav"/>
          </p:stSnd>
        </p:sndAc>
      </p:transition>
    </mc:Choice>
    <mc:Fallback xmlns="">
      <p:transition spd="slow" advClick="0" advTm="2000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2906815" y="4329596"/>
            <a:ext cx="2466274" cy="540060"/>
          </a:xfrm>
          <a:prstGeom prst="roundRect">
            <a:avLst/>
          </a:prstGeom>
          <a:solidFill>
            <a:srgbClr val="D5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r"/>
            <a:r>
              <a:rPr lang="zh-CN" altLang="en-US" sz="13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域名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69119" y="949838"/>
            <a:ext cx="7886700" cy="37130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因特网中如何标识主机？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如何标识一个人？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身份证号、姓名：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510202XXXXXXXXXX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外号王二小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护照号、姓名：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CNP259X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Simon Lee 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李四萌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学号、姓名：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201319XX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，张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 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外号张三丰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单位、姓名：重庆大学大数据与软件学院，胡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 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外号胡一刀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1">
              <a:lnSpc>
                <a:spcPct val="110000"/>
              </a:lnSpc>
            </a:pP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如何标识一个主机？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地址：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32bit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编码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点分十进制表示：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202.202.0.35)</a:t>
            </a:r>
          </a:p>
          <a:p>
            <a:pPr lvl="3">
              <a:lnSpc>
                <a:spcPct val="110000"/>
              </a:lnSpc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之间相互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路由器通过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地址对分组进行路由、转发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主机名：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www.baidu.com, mail.cqu.edu.cn ……  </a:t>
            </a:r>
          </a:p>
          <a:p>
            <a:pPr lvl="3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人容易记住某个主机的名字，而不是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主机别名：一个主机也会有很多别名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实例：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256966" y="4329596"/>
            <a:ext cx="449045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200" dirty="0" err="1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cn</a:t>
            </a:r>
            <a:endParaRPr lang="en-US" altLang="zh-CN" sz="1200" dirty="0">
              <a:solidFill>
                <a:srgbClr val="0066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256966" y="4579084"/>
            <a:ext cx="449045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200" dirty="0" err="1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uk</a:t>
            </a:r>
            <a:endParaRPr lang="en-US" altLang="zh-CN" sz="1200" dirty="0">
              <a:solidFill>
                <a:srgbClr val="0066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878924" y="4329596"/>
            <a:ext cx="509198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.edu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932930" y="4579084"/>
            <a:ext cx="449045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.ac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475766" y="4329596"/>
            <a:ext cx="509198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200" dirty="0" err="1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cqu</a:t>
            </a:r>
            <a:endParaRPr lang="en-US" altLang="zh-CN" sz="1200" dirty="0">
              <a:solidFill>
                <a:srgbClr val="0066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3014827" y="4579084"/>
            <a:ext cx="1022601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200" dirty="0" err="1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cambridge</a:t>
            </a:r>
            <a:endParaRPr lang="en-US" altLang="zh-CN" sz="1200" dirty="0">
              <a:solidFill>
                <a:srgbClr val="0066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160058" y="4331889"/>
            <a:ext cx="842141" cy="540060"/>
          </a:xfrm>
          <a:prstGeom prst="roundRect">
            <a:avLst/>
          </a:prstGeom>
          <a:solidFill>
            <a:srgbClr val="D5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2354198" y="4329596"/>
            <a:ext cx="509198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mail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2258743" y="4579084"/>
            <a:ext cx="615518" cy="221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B3F285D5-8F0B-4E02-94DA-0B519738B6F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0A6F1F04-6C3E-47F1-BC1A-B97586B78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472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2267744" y="1275606"/>
            <a:ext cx="5192712" cy="2160239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2.5.1 DNS</a:t>
            </a:r>
            <a:r>
              <a:rPr lang="zh-CN" altLang="en-US" sz="20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提供的服务</a:t>
            </a:r>
            <a:endParaRPr lang="en-US" altLang="zh-CN" sz="2000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2.5.3 DNS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7694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1AB91399-E34C-4645-AE75-999D1136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8D9FB9A5-8D5B-4192-993F-0032BD9AFC4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FD38EB3A-C947-4672-8E76-01A00FD06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037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pic>
        <p:nvPicPr>
          <p:cNvPr id="11" name="Picture 12" descr="464px-Computer_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276" y="1815449"/>
            <a:ext cx="770335" cy="79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429" y="1870766"/>
            <a:ext cx="479889" cy="685893"/>
          </a:xfrm>
          <a:prstGeom prst="rect">
            <a:avLst/>
          </a:prstGeom>
        </p:spPr>
      </p:pic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025920" y="1610854"/>
            <a:ext cx="2274272" cy="1205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http://www.baidu.com</a:t>
            </a:r>
            <a:endParaRPr lang="en-US" altLang="zh-CN" sz="1050" dirty="0">
              <a:solidFill>
                <a:srgbClr val="0066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6" descr="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800" y="4140394"/>
            <a:ext cx="444104" cy="45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5796136" y="1995686"/>
            <a:ext cx="1782712" cy="1925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9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DNS: Who is www.baidu.com</a:t>
            </a:r>
            <a:endParaRPr lang="en-US" altLang="zh-CN" sz="825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4499992" y="2606446"/>
            <a:ext cx="1242139" cy="2614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350" dirty="0">
                <a:solidFill>
                  <a:srgbClr val="74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en-US" altLang="zh-CN" sz="1350" dirty="0">
                <a:solidFill>
                  <a:srgbClr val="74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en-US" altLang="zh-CN" sz="1350" dirty="0">
                <a:solidFill>
                  <a:srgbClr val="74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 PC</a:t>
            </a:r>
            <a:endParaRPr lang="en-US" altLang="zh-CN" sz="1200" dirty="0">
              <a:solidFill>
                <a:srgbClr val="74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7402408" y="2586370"/>
            <a:ext cx="1090677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350" dirty="0">
                <a:solidFill>
                  <a:srgbClr val="74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 Server</a:t>
            </a:r>
            <a:endParaRPr lang="en-US" altLang="zh-CN" sz="1200" dirty="0">
              <a:solidFill>
                <a:srgbClr val="74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stCxn id="11" idx="3"/>
            <a:endCxn id="9" idx="1"/>
          </p:cNvCxnSpPr>
          <p:nvPr/>
        </p:nvCxnSpPr>
        <p:spPr>
          <a:xfrm flipV="1">
            <a:off x="5687610" y="2213713"/>
            <a:ext cx="2013819" cy="1"/>
          </a:xfrm>
          <a:prstGeom prst="straightConnector1">
            <a:avLst/>
          </a:prstGeom>
          <a:ln w="31750">
            <a:solidFill>
              <a:srgbClr val="0070C0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5687610" y="2369137"/>
            <a:ext cx="2013819" cy="1"/>
          </a:xfrm>
          <a:prstGeom prst="straightConnector1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796136" y="2385322"/>
            <a:ext cx="1782712" cy="18424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9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DNS: It is 119.75.217.109</a:t>
            </a:r>
            <a:endParaRPr lang="en-US" altLang="zh-CN" sz="825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Picture 49" descr="computer-glob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53" y="3165759"/>
            <a:ext cx="599787" cy="59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7202473" y="3772396"/>
            <a:ext cx="1634088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35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Baidu www Server</a:t>
            </a:r>
            <a:endParaRPr lang="en-US" altLang="zh-CN" sz="1200" dirty="0">
              <a:solidFill>
                <a:srgbClr val="0066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/>
          <p:cNvCxnSpPr>
            <a:endCxn id="26" idx="1"/>
          </p:cNvCxnSpPr>
          <p:nvPr/>
        </p:nvCxnSpPr>
        <p:spPr>
          <a:xfrm>
            <a:off x="5565029" y="2570187"/>
            <a:ext cx="2082824" cy="895466"/>
          </a:xfrm>
          <a:prstGeom prst="straightConnector1">
            <a:avLst/>
          </a:prstGeom>
          <a:ln w="31750">
            <a:solidFill>
              <a:srgbClr val="006600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42" descr="Office-Client-Female-Light-ic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26936" y="1890819"/>
            <a:ext cx="430070" cy="42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1F9B899-EC23-45E6-A46F-A63C976C1474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2.5.1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提供的服务</a:t>
            </a:r>
          </a:p>
        </p:txBody>
      </p:sp>
      <p:sp>
        <p:nvSpPr>
          <p:cNvPr id="22" name="Text Box 121">
            <a:extLst>
              <a:ext uri="{FF2B5EF4-FFF2-40B4-BE49-F238E27FC236}">
                <a16:creationId xmlns:a16="http://schemas.microsoft.com/office/drawing/2014/main" id="{ED6AA156-C427-4FAA-B48D-5227B0A2F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2904" y="1537939"/>
            <a:ext cx="98700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port# 53 </a:t>
            </a:r>
          </a:p>
        </p:txBody>
      </p: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16F27C36-3007-4BAB-9EF7-357A9734F147}"/>
              </a:ext>
            </a:extLst>
          </p:cNvPr>
          <p:cNvSpPr txBox="1">
            <a:spLocks/>
          </p:cNvSpPr>
          <p:nvPr/>
        </p:nvSpPr>
        <p:spPr>
          <a:xfrm>
            <a:off x="824572" y="1406360"/>
            <a:ext cx="3525814" cy="1400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因特网中的一个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核心服务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 1034/1035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将主机名映射为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FAB8FC6E-CCA8-4720-9832-19DF2D6BE64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3289CE0E-0F1C-4AFD-A8D6-16F223F02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CAB5A385-65A2-474A-966D-A140B0786C63}"/>
              </a:ext>
            </a:extLst>
          </p:cNvPr>
          <p:cNvSpPr txBox="1">
            <a:spLocks noChangeArrowheads="1"/>
          </p:cNvSpPr>
          <p:nvPr/>
        </p:nvSpPr>
        <p:spPr>
          <a:xfrm>
            <a:off x="7202473" y="4237210"/>
            <a:ext cx="1634088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主机地址</a:t>
            </a:r>
            <a:r>
              <a:rPr lang="en-US" altLang="zh-CN" sz="1200" dirty="0">
                <a:solidFill>
                  <a:srgbClr val="00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616915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4" grpId="0"/>
      <p:bldP spid="27" grpId="0"/>
      <p:bldP spid="22" grpId="0"/>
      <p:bldP spid="31" grpId="0" animBg="1"/>
      <p:bldP spid="31" grpId="1" animBg="1"/>
      <p:bldP spid="3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pic>
        <p:nvPicPr>
          <p:cNvPr id="10" name="Picture 15" descr="User-icon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60" y="1273308"/>
            <a:ext cx="43204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464px-Computer_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616" y="2543886"/>
            <a:ext cx="770335" cy="79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7769" y="2599203"/>
            <a:ext cx="479889" cy="685893"/>
          </a:xfrm>
          <a:prstGeom prst="rect">
            <a:avLst/>
          </a:prstGeom>
        </p:spPr>
      </p:pic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301966" y="2304193"/>
            <a:ext cx="1782712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6600"/>
                </a:solidFill>
                <a:effectLst/>
                <a:latin typeface="+mj-lt"/>
                <a:ea typeface="+mj-ea"/>
              </a:rPr>
              <a:t>http://www.baidu.com</a:t>
            </a:r>
            <a:endParaRPr lang="en-US" altLang="zh-CN" sz="1050" b="1" dirty="0">
              <a:solidFill>
                <a:srgbClr val="006600"/>
              </a:solidFill>
              <a:effectLst/>
              <a:latin typeface="+mj-lt"/>
              <a:ea typeface="+mj-ea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5672476" y="2724123"/>
            <a:ext cx="1782712" cy="1925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900" dirty="0">
                <a:solidFill>
                  <a:srgbClr val="0066CC"/>
                </a:solidFill>
                <a:effectLst/>
                <a:latin typeface="+mj-lt"/>
                <a:ea typeface="+mj-ea"/>
              </a:rPr>
              <a:t>DNS: Who is www.baidu.com</a:t>
            </a:r>
            <a:endParaRPr lang="en-US" altLang="zh-CN" sz="825" dirty="0">
              <a:solidFill>
                <a:srgbClr val="0066CC"/>
              </a:solidFill>
              <a:effectLst/>
              <a:latin typeface="+mj-lt"/>
              <a:ea typeface="+mj-ea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4472695" y="3334884"/>
            <a:ext cx="1145776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350" b="1" dirty="0">
                <a:solidFill>
                  <a:srgbClr val="740000"/>
                </a:solidFill>
                <a:effectLst/>
                <a:latin typeface="+mj-lt"/>
                <a:ea typeface="+mj-ea"/>
              </a:rPr>
              <a:t>User A’s PC</a:t>
            </a:r>
            <a:endParaRPr lang="en-US" altLang="zh-CN" sz="1200" b="1" dirty="0">
              <a:solidFill>
                <a:srgbClr val="740000"/>
              </a:solidFill>
              <a:effectLst/>
              <a:latin typeface="+mj-lt"/>
              <a:ea typeface="+mj-ea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7278748" y="3314807"/>
            <a:ext cx="1090677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350" b="1" dirty="0">
                <a:solidFill>
                  <a:srgbClr val="740000"/>
                </a:solidFill>
                <a:effectLst/>
                <a:latin typeface="+mj-lt"/>
                <a:ea typeface="+mj-ea"/>
              </a:rPr>
              <a:t>DNS Server</a:t>
            </a:r>
            <a:endParaRPr lang="en-US" altLang="zh-CN" sz="1200" b="1" dirty="0">
              <a:solidFill>
                <a:srgbClr val="740000"/>
              </a:solidFill>
              <a:effectLst/>
              <a:latin typeface="+mj-lt"/>
              <a:ea typeface="+mj-ea"/>
            </a:endParaRPr>
          </a:p>
        </p:txBody>
      </p:sp>
      <p:cxnSp>
        <p:nvCxnSpPr>
          <p:cNvPr id="20" name="直接箭头连接符 19"/>
          <p:cNvCxnSpPr>
            <a:stCxn id="11" idx="3"/>
            <a:endCxn id="9" idx="1"/>
          </p:cNvCxnSpPr>
          <p:nvPr/>
        </p:nvCxnSpPr>
        <p:spPr>
          <a:xfrm flipV="1">
            <a:off x="5563950" y="2942150"/>
            <a:ext cx="2013819" cy="1"/>
          </a:xfrm>
          <a:prstGeom prst="straightConnector1">
            <a:avLst/>
          </a:prstGeom>
          <a:ln w="31750">
            <a:solidFill>
              <a:srgbClr val="0070C0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5563950" y="3097574"/>
            <a:ext cx="2013819" cy="1"/>
          </a:xfrm>
          <a:prstGeom prst="straightConnector1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672476" y="3113759"/>
            <a:ext cx="1782712" cy="18424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900" dirty="0">
                <a:solidFill>
                  <a:srgbClr val="0066CC"/>
                </a:solidFill>
                <a:effectLst/>
                <a:latin typeface="+mj-lt"/>
                <a:ea typeface="+mj-ea"/>
              </a:rPr>
              <a:t>DNS: It is 119.75.217.109</a:t>
            </a:r>
            <a:endParaRPr lang="en-US" altLang="zh-CN" sz="825" dirty="0">
              <a:solidFill>
                <a:srgbClr val="0066CC"/>
              </a:solidFill>
              <a:effectLst/>
              <a:latin typeface="+mj-lt"/>
              <a:ea typeface="+mj-ea"/>
            </a:endParaRPr>
          </a:p>
        </p:txBody>
      </p:sp>
      <p:pic>
        <p:nvPicPr>
          <p:cNvPr id="26" name="Picture 49" descr="computer-glob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93" y="3894196"/>
            <a:ext cx="599787" cy="59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7078813" y="4500833"/>
            <a:ext cx="1634088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350" b="1" dirty="0">
                <a:solidFill>
                  <a:srgbClr val="006600"/>
                </a:solidFill>
                <a:effectLst/>
                <a:latin typeface="+mj-lt"/>
                <a:ea typeface="+mj-ea"/>
              </a:rPr>
              <a:t>Baidu www Servers</a:t>
            </a:r>
            <a:endParaRPr lang="en-US" altLang="zh-CN" sz="1200" b="1" dirty="0">
              <a:solidFill>
                <a:srgbClr val="006600"/>
              </a:solidFill>
              <a:effectLst/>
              <a:latin typeface="+mj-lt"/>
              <a:ea typeface="+mj-ea"/>
            </a:endParaRPr>
          </a:p>
        </p:txBody>
      </p:sp>
      <p:cxnSp>
        <p:nvCxnSpPr>
          <p:cNvPr id="28" name="直接箭头连接符 27"/>
          <p:cNvCxnSpPr>
            <a:endCxn id="26" idx="1"/>
          </p:cNvCxnSpPr>
          <p:nvPr/>
        </p:nvCxnSpPr>
        <p:spPr>
          <a:xfrm>
            <a:off x="5441369" y="3298624"/>
            <a:ext cx="2082824" cy="895466"/>
          </a:xfrm>
          <a:prstGeom prst="straightConnector1">
            <a:avLst/>
          </a:prstGeom>
          <a:ln w="31750">
            <a:solidFill>
              <a:srgbClr val="006600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49" descr="computer-glob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805" y="3894196"/>
            <a:ext cx="599787" cy="59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9" descr="computer-glob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120" y="3894196"/>
            <a:ext cx="599787" cy="59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464px-Computer_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569" y="1131590"/>
            <a:ext cx="770335" cy="79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6754377" y="1758846"/>
            <a:ext cx="1145776" cy="221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350" b="1" dirty="0">
                <a:solidFill>
                  <a:srgbClr val="740000"/>
                </a:solidFill>
                <a:effectLst/>
                <a:latin typeface="+mj-lt"/>
                <a:ea typeface="+mj-ea"/>
              </a:rPr>
              <a:t>User B’s PC</a:t>
            </a:r>
            <a:endParaRPr lang="en-US" altLang="zh-CN" sz="1200" b="1" dirty="0">
              <a:solidFill>
                <a:srgbClr val="740000"/>
              </a:solidFill>
              <a:effectLst/>
              <a:latin typeface="+mj-lt"/>
              <a:ea typeface="+mj-ea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7681108" y="1876557"/>
            <a:ext cx="244806" cy="780478"/>
          </a:xfrm>
          <a:prstGeom prst="straightConnector1">
            <a:avLst/>
          </a:prstGeom>
          <a:ln w="31750">
            <a:solidFill>
              <a:srgbClr val="0070C0"/>
            </a:solidFill>
            <a:headEnd w="med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7895858" y="1876557"/>
            <a:ext cx="190517" cy="667329"/>
          </a:xfrm>
          <a:prstGeom prst="straightConnector1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 flipV="1">
            <a:off x="8448592" y="1915739"/>
            <a:ext cx="25170" cy="1971610"/>
          </a:xfrm>
          <a:prstGeom prst="straightConnector1">
            <a:avLst/>
          </a:prstGeom>
          <a:ln w="31750">
            <a:solidFill>
              <a:srgbClr val="0066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3"/>
          <p:cNvSpPr txBox="1">
            <a:spLocks noChangeArrowheads="1"/>
          </p:cNvSpPr>
          <p:nvPr/>
        </p:nvSpPr>
        <p:spPr>
          <a:xfrm rot="16951977">
            <a:off x="7237699" y="2215773"/>
            <a:ext cx="1782712" cy="18424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900" b="1" dirty="0">
                <a:solidFill>
                  <a:srgbClr val="0070C0"/>
                </a:solidFill>
                <a:effectLst/>
                <a:latin typeface="+mj-lt"/>
                <a:ea typeface="+mj-ea"/>
              </a:rPr>
              <a:t>DNS: It is 119.75.217.110</a:t>
            </a:r>
            <a:endParaRPr lang="en-US" altLang="zh-CN" sz="825" b="1" dirty="0">
              <a:solidFill>
                <a:srgbClr val="0070C0"/>
              </a:solidFill>
              <a:effectLst/>
              <a:latin typeface="+mj-lt"/>
              <a:ea typeface="+mj-ea"/>
            </a:endParaRPr>
          </a:p>
        </p:txBody>
      </p:sp>
      <p:pic>
        <p:nvPicPr>
          <p:cNvPr id="43" name="Picture 42" descr="Office-Client-Female-Light-icon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337198" y="2724604"/>
            <a:ext cx="430070" cy="42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FE786234-1487-4257-9878-4C154FD6A343}"/>
              </a:ext>
            </a:extLst>
          </p:cNvPr>
          <p:cNvSpPr txBox="1">
            <a:spLocks/>
          </p:cNvSpPr>
          <p:nvPr/>
        </p:nvSpPr>
        <p:spPr>
          <a:xfrm>
            <a:off x="824572" y="1406360"/>
            <a:ext cx="3525814" cy="1400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因特网中的一个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核心服务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 1034/1035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将主机名映射为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可对服务器的负载进行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内容占位符 2">
            <a:extLst>
              <a:ext uri="{FF2B5EF4-FFF2-40B4-BE49-F238E27FC236}">
                <a16:creationId xmlns:a16="http://schemas.microsoft.com/office/drawing/2014/main" id="{441689B8-95C1-4733-B4F8-6149985A3AAB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2.5.1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提供的服务</a:t>
            </a:r>
          </a:p>
        </p:txBody>
      </p:sp>
      <p:sp>
        <p:nvSpPr>
          <p:cNvPr id="35" name="灯片编号占位符 2">
            <a:extLst>
              <a:ext uri="{FF2B5EF4-FFF2-40B4-BE49-F238E27FC236}">
                <a16:creationId xmlns:a16="http://schemas.microsoft.com/office/drawing/2014/main" id="{14F83F4D-F941-488A-B28F-722AFED195F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36" name="AutoShape 5">
            <a:extLst>
              <a:ext uri="{FF2B5EF4-FFF2-40B4-BE49-F238E27FC236}">
                <a16:creationId xmlns:a16="http://schemas.microsoft.com/office/drawing/2014/main" id="{C2FFB391-DDBA-474B-B917-21B102B8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371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1" grpId="0"/>
      <p:bldP spid="36" grpId="0" animBg="1"/>
      <p:bldP spid="36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2267744" y="1275606"/>
            <a:ext cx="5192712" cy="2160239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2.5.1 DNS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提供的服务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20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  <a:endParaRPr lang="en-US" altLang="zh-CN" sz="2000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2.5.3 DNS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7694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1AB91399-E34C-4645-AE75-999D1136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01ECE4D4-F8C0-4B91-83B7-745AA021F92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C278B4D-7EF5-44AC-A8BB-E48D81BD5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413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5004048" y="4483072"/>
            <a:ext cx="3191879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Link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004048" y="4046426"/>
            <a:ext cx="3191879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IP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04048" y="2787774"/>
            <a:ext cx="3191879" cy="7628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36376" y="1372820"/>
            <a:ext cx="5975776" cy="340418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工作在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服务不直接与用户打交道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不封装用户的应用数据报文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只协助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主机查询出目标主机的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Picture 15" descr="User-icon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197" y="3140825"/>
            <a:ext cx="43204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464px-Computer_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599" y="2992369"/>
            <a:ext cx="770335" cy="79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843808" y="2782338"/>
            <a:ext cx="2041866" cy="2532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b="1" dirty="0">
                <a:solidFill>
                  <a:srgbClr val="0066CC"/>
                </a:solidFill>
                <a:effectLst/>
                <a:latin typeface="+mj-lt"/>
                <a:ea typeface="+mj-ea"/>
              </a:rPr>
              <a:t>http://www.baidu.com</a:t>
            </a:r>
            <a:endParaRPr lang="en-US" altLang="zh-CN" sz="1100" b="1" dirty="0">
              <a:solidFill>
                <a:srgbClr val="0066CC"/>
              </a:solidFill>
              <a:effectLst/>
              <a:latin typeface="+mj-lt"/>
              <a:ea typeface="+mj-ea"/>
            </a:endParaRPr>
          </a:p>
        </p:txBody>
      </p:sp>
      <p:sp>
        <p:nvSpPr>
          <p:cNvPr id="33" name="Rectangle 52"/>
          <p:cNvSpPr>
            <a:spLocks noChangeArrowheads="1"/>
          </p:cNvSpPr>
          <p:nvPr/>
        </p:nvSpPr>
        <p:spPr bwMode="auto">
          <a:xfrm>
            <a:off x="5110627" y="2838218"/>
            <a:ext cx="607538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HTTP </a:t>
            </a:r>
          </a:p>
        </p:txBody>
      </p:sp>
      <p:sp>
        <p:nvSpPr>
          <p:cNvPr id="34" name="Rectangle 52"/>
          <p:cNvSpPr>
            <a:spLocks noChangeArrowheads="1"/>
          </p:cNvSpPr>
          <p:nvPr/>
        </p:nvSpPr>
        <p:spPr bwMode="auto">
          <a:xfrm>
            <a:off x="5836539" y="2838218"/>
            <a:ext cx="591509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SMTP</a:t>
            </a:r>
          </a:p>
        </p:txBody>
      </p:sp>
      <p:sp>
        <p:nvSpPr>
          <p:cNvPr id="35" name="Rectangle 52"/>
          <p:cNvSpPr>
            <a:spLocks noChangeArrowheads="1"/>
          </p:cNvSpPr>
          <p:nvPr/>
        </p:nvSpPr>
        <p:spPr bwMode="auto">
          <a:xfrm>
            <a:off x="6648838" y="2838218"/>
            <a:ext cx="42159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……</a:t>
            </a:r>
          </a:p>
        </p:txBody>
      </p:sp>
      <p:sp>
        <p:nvSpPr>
          <p:cNvPr id="36" name="Rectangle 52"/>
          <p:cNvSpPr>
            <a:spLocks noChangeArrowheads="1"/>
          </p:cNvSpPr>
          <p:nvPr/>
        </p:nvSpPr>
        <p:spPr bwMode="auto">
          <a:xfrm>
            <a:off x="7291144" y="3184557"/>
            <a:ext cx="742765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DNS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631530" y="2898530"/>
            <a:ext cx="43204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5004048" y="3621423"/>
            <a:ext cx="1787723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TCP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846837" y="3621423"/>
            <a:ext cx="1349090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UDP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4" name="直接箭头连接符 13"/>
          <p:cNvCxnSpPr>
            <a:cxnSpLocks/>
            <a:stCxn id="30" idx="3"/>
          </p:cNvCxnSpPr>
          <p:nvPr/>
        </p:nvCxnSpPr>
        <p:spPr>
          <a:xfrm flipV="1">
            <a:off x="4668934" y="3356849"/>
            <a:ext cx="2622210" cy="0"/>
          </a:xfrm>
          <a:prstGeom prst="straightConnector1">
            <a:avLst/>
          </a:prstGeom>
          <a:ln w="38100">
            <a:solidFill>
              <a:srgbClr val="0066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5414395" y="3158301"/>
            <a:ext cx="0" cy="14985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FC8AD8E-9F85-4E2D-B947-524A39BEEBBE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3868904-2666-442D-81B2-2790C58053E7}"/>
              </a:ext>
            </a:extLst>
          </p:cNvPr>
          <p:cNvCxnSpPr>
            <a:cxnSpLocks/>
          </p:cNvCxnSpPr>
          <p:nvPr/>
        </p:nvCxnSpPr>
        <p:spPr>
          <a:xfrm>
            <a:off x="7812360" y="3462039"/>
            <a:ext cx="0" cy="1194814"/>
          </a:xfrm>
          <a:prstGeom prst="straightConnector1">
            <a:avLst/>
          </a:prstGeom>
          <a:ln w="38100">
            <a:solidFill>
              <a:srgbClr val="0066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灯片编号占位符 2">
            <a:extLst>
              <a:ext uri="{FF2B5EF4-FFF2-40B4-BE49-F238E27FC236}">
                <a16:creationId xmlns:a16="http://schemas.microsoft.com/office/drawing/2014/main" id="{D61A2108-8558-4906-B70A-1B4EF8D2B5F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7658C570-353B-4F29-B7F7-738E8A30C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267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27584" y="1372820"/>
            <a:ext cx="5184576" cy="13429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分布式的数据库系统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层级化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的域名服务器进行工作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为什么要分布式、层级化？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而不是集中化？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57170" y="3003976"/>
            <a:ext cx="3456384" cy="18710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集中化的问题：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单点故障：会导致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全局失效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通信容量：会导致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拥塞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远距离的集中式数据库：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增大时延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难于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维护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难于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6" descr="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93" y="2958446"/>
            <a:ext cx="444104" cy="45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C8A6F4F-1CE6-4351-9827-6EDD567ACC81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ED4403-F20B-4A73-9657-7B9624D0C2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8E1FC8BC-645B-4756-9E74-9F380A25AC2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81AEC1BA-5B60-4C9F-AC3B-0FF54BBBF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62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1331640" y="2463446"/>
            <a:ext cx="6239322" cy="1860694"/>
            <a:chOff x="230" y="576"/>
            <a:chExt cx="5580" cy="17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2256" y="576"/>
              <a:ext cx="14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Root DNS Servers</a:t>
              </a:r>
            </a:p>
          </p:txBody>
        </p:sp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528" y="1344"/>
              <a:ext cx="14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 DNS servers</a:t>
              </a:r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2304" y="1296"/>
              <a:ext cx="1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org DNS servers</a:t>
              </a:r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4032" y="1296"/>
              <a:ext cx="13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edu DNS servers</a:t>
              </a:r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 flipH="1">
              <a:off x="1344" y="864"/>
              <a:ext cx="1392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2928" y="816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3168" y="864"/>
              <a:ext cx="144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3878" y="1752"/>
              <a:ext cx="1068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poly.edu</a:t>
              </a:r>
            </a:p>
            <a:p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 servers</a:t>
              </a: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4742" y="1752"/>
              <a:ext cx="1068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umass.edu</a:t>
              </a:r>
            </a:p>
            <a:p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 servers</a:t>
              </a:r>
            </a:p>
          </p:txBody>
        </p:sp>
        <p:sp>
          <p:nvSpPr>
            <p:cNvPr id="20" name="Line 12"/>
            <p:cNvSpPr>
              <a:spLocks noChangeShapeType="1"/>
            </p:cNvSpPr>
            <p:nvPr/>
          </p:nvSpPr>
          <p:spPr bwMode="auto">
            <a:xfrm flipH="1">
              <a:off x="4224" y="1536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4848" y="1536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230" y="1848"/>
              <a:ext cx="1068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yahoo.com</a:t>
              </a:r>
            </a:p>
            <a:p>
              <a:r>
                <a:rPr lang="en-US" altLang="zh-CN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 servers</a:t>
              </a:r>
            </a:p>
          </p:txBody>
        </p:sp>
        <p:sp>
          <p:nvSpPr>
            <p:cNvPr id="23" name="Text Box 15"/>
            <p:cNvSpPr txBox="1">
              <a:spLocks noChangeArrowheads="1"/>
            </p:cNvSpPr>
            <p:nvPr/>
          </p:nvSpPr>
          <p:spPr bwMode="auto">
            <a:xfrm>
              <a:off x="1248" y="1872"/>
              <a:ext cx="1111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amazon.com</a:t>
              </a:r>
            </a:p>
            <a:p>
              <a:r>
                <a:rPr lang="en-US" altLang="zh-CN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 servers</a:t>
              </a:r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768" y="158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1392" y="158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18"/>
            <p:cNvSpPr txBox="1">
              <a:spLocks noChangeArrowheads="1"/>
            </p:cNvSpPr>
            <p:nvPr/>
          </p:nvSpPr>
          <p:spPr bwMode="auto">
            <a:xfrm>
              <a:off x="2534" y="1799"/>
              <a:ext cx="1068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pbs.org</a:t>
              </a:r>
            </a:p>
            <a:p>
              <a:r>
                <a:rPr lang="en-US" altLang="zh-CN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 servers</a:t>
              </a:r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2928" y="153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3313346" y="4475497"/>
            <a:ext cx="2287806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服务器的部分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层次结构</a:t>
            </a:r>
            <a:endParaRPr lang="en-US" altLang="zh-CN" sz="13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6B9A5744-8E7B-4473-97F7-422AF088F729}"/>
              </a:ext>
            </a:extLst>
          </p:cNvPr>
          <p:cNvSpPr txBox="1">
            <a:spLocks/>
          </p:cNvSpPr>
          <p:nvPr/>
        </p:nvSpPr>
        <p:spPr>
          <a:xfrm>
            <a:off x="827584" y="1372820"/>
            <a:ext cx="5184576" cy="685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层级化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的域名服务器进行工作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1A3C0F9F-9CEE-4D54-8965-B1E663136E5A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36BFC42-BAEB-4E87-8369-D2C607BBAC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4" name="灯片编号占位符 2">
            <a:extLst>
              <a:ext uri="{FF2B5EF4-FFF2-40B4-BE49-F238E27FC236}">
                <a16:creationId xmlns:a16="http://schemas.microsoft.com/office/drawing/2014/main" id="{729D0978-B78C-4291-BB61-2F785EE3194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35" name="AutoShape 5">
            <a:extLst>
              <a:ext uri="{FF2B5EF4-FFF2-40B4-BE49-F238E27FC236}">
                <a16:creationId xmlns:a16="http://schemas.microsoft.com/office/drawing/2014/main" id="{7C7B25B0-939E-4D01-B288-9B65C9BE8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7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4804561" y="4738764"/>
            <a:ext cx="2071401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根服务器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A6D97883-47E0-47E2-896D-6D77AF818FE6}"/>
              </a:ext>
            </a:extLst>
          </p:cNvPr>
          <p:cNvSpPr txBox="1">
            <a:spLocks/>
          </p:cNvSpPr>
          <p:nvPr/>
        </p:nvSpPr>
        <p:spPr>
          <a:xfrm>
            <a:off x="827583" y="1372820"/>
            <a:ext cx="5886475" cy="12172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是一个分布式的数据库系统：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通过层级化的域名服务器进行工作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根服务器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：用于查询顶级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服务器的地址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74AD0803-50BC-4EAE-9154-4795E258A8B0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F0C286-BE89-4C46-8009-B9F133BCB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493275"/>
            <a:ext cx="6253979" cy="239553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E4CAD20-EDC7-4F5C-A946-D4141F136F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" name="灯片编号占位符 2">
            <a:extLst>
              <a:ext uri="{FF2B5EF4-FFF2-40B4-BE49-F238E27FC236}">
                <a16:creationId xmlns:a16="http://schemas.microsoft.com/office/drawing/2014/main" id="{F10EC8A6-10CF-44C1-8816-CA88AE90E06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46" name="AutoShape 5">
            <a:extLst>
              <a:ext uri="{FF2B5EF4-FFF2-40B4-BE49-F238E27FC236}">
                <a16:creationId xmlns:a16="http://schemas.microsoft.com/office/drawing/2014/main" id="{6F0285A5-E74A-4607-AA2A-39CDE401C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975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A6D97883-47E0-47E2-896D-6D77AF818FE6}"/>
              </a:ext>
            </a:extLst>
          </p:cNvPr>
          <p:cNvSpPr txBox="1">
            <a:spLocks/>
          </p:cNvSpPr>
          <p:nvPr/>
        </p:nvSpPr>
        <p:spPr>
          <a:xfrm>
            <a:off x="827584" y="1372820"/>
            <a:ext cx="6552728" cy="18920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是一个分布式的数据库系统：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通过层级化的域名服务器进行工作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根服务器：用于查询顶级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服务器的地址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顶级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：用于查询下一级或权威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服务器的地址</a:t>
            </a: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74AD0803-50BC-4EAE-9154-4795E258A8B0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CD3400-3B1E-49EA-A72F-B812642F813A}"/>
              </a:ext>
            </a:extLst>
          </p:cNvPr>
          <p:cNvSpPr/>
          <p:nvPr/>
        </p:nvSpPr>
        <p:spPr>
          <a:xfrm>
            <a:off x="2384298" y="2768134"/>
            <a:ext cx="1179590" cy="1569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.net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edu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.org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.com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FBBACC-7965-4F42-A5DB-0E7ADD642314}"/>
              </a:ext>
            </a:extLst>
          </p:cNvPr>
          <p:cNvSpPr/>
          <p:nvPr/>
        </p:nvSpPr>
        <p:spPr>
          <a:xfrm>
            <a:off x="4167149" y="2768134"/>
            <a:ext cx="1457509" cy="10772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uk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1C9E31-9679-487C-BD7F-807FA3C31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58DCC77A-4A54-4D81-80E6-39701B23B8A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D6D01F31-CBA7-4BFF-96D7-545B74144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917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C2F15A7-485E-4239-8F22-BA6BB2701890}"/>
              </a:ext>
            </a:extLst>
          </p:cNvPr>
          <p:cNvSpPr txBox="1">
            <a:spLocks/>
          </p:cNvSpPr>
          <p:nvPr/>
        </p:nvSpPr>
        <p:spPr>
          <a:xfrm>
            <a:off x="827583" y="1372820"/>
            <a:ext cx="6552729" cy="27110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是一个分布式的数据库系统：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通过层级化的域名服务器进行工作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根服务器：用于查询顶级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服务器的地址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顶级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服务器：用于查询下一级或权威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服务器的地址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权威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：组织机构自身的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提供了权威的主机名和</a:t>
            </a:r>
            <a:r>
              <a:rPr lang="en-US" altLang="zh-CN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地址映射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由组织机构或服务提供商来维护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34E50D-4972-40CA-B1A3-10260B815CCF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309C17-BD3E-45D0-BD87-46847F8C35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98C7419D-6F01-4B2E-9402-81F8F2E3599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BE4ED671-ED86-4B3E-85E9-43B81C71E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051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C2F15A7-485E-4239-8F22-BA6BB2701890}"/>
              </a:ext>
            </a:extLst>
          </p:cNvPr>
          <p:cNvSpPr txBox="1">
            <a:spLocks/>
          </p:cNvSpPr>
          <p:nvPr/>
        </p:nvSpPr>
        <p:spPr>
          <a:xfrm>
            <a:off x="827583" y="1372820"/>
            <a:ext cx="6696745" cy="37706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是一个分布式的数据库系统：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通过层级化的域名服务器进行工作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根服务器：用于查询顶级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服务器的地址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顶级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服务器：用于查询下一级或权威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服务器的地址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权威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服务器：组织机构自身的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提供了权威的主机名和</a:t>
            </a:r>
            <a:r>
              <a:rPr lang="en-US" altLang="zh-CN" sz="14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地址映射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由组织机构或服务提供商来维护</a:t>
            </a:r>
            <a:endParaRPr lang="en-US" altLang="zh-CN" sz="145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服务器（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DNS server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不属于严格意义上层级</a:t>
            </a:r>
            <a:r>
              <a:rPr lang="en-US" altLang="zh-CN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每个本地</a:t>
            </a:r>
            <a:r>
              <a:rPr lang="en-US" altLang="zh-CN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、公司、大学都会部署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主机的</a:t>
            </a:r>
            <a:r>
              <a:rPr lang="en-US" altLang="zh-CN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查询都会先提交给本地</a:t>
            </a:r>
            <a:r>
              <a:rPr lang="en-US" altLang="zh-CN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具有缓存和代理的功能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34E50D-4972-40CA-B1A3-10260B815CCF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4D3D0E-72BF-4128-9C79-CE1C7CDBA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B332B3E2-42FD-41FC-9876-AB8B9EB15E9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6118C41A-A08C-4C1A-88B4-800F1C099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859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pic>
        <p:nvPicPr>
          <p:cNvPr id="70" name="图片 6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911" y="3698702"/>
            <a:ext cx="625078" cy="4786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Text Box 3"/>
          <p:cNvSpPr txBox="1">
            <a:spLocks noChangeArrowheads="1"/>
          </p:cNvSpPr>
          <p:nvPr/>
        </p:nvSpPr>
        <p:spPr bwMode="auto">
          <a:xfrm>
            <a:off x="4845962" y="4132089"/>
            <a:ext cx="1553631" cy="48474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requesting host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hb.sse.cqu.edu.cn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 Box 4"/>
          <p:cNvSpPr txBox="1">
            <a:spLocks noChangeArrowheads="1"/>
          </p:cNvSpPr>
          <p:nvPr/>
        </p:nvSpPr>
        <p:spPr bwMode="auto">
          <a:xfrm>
            <a:off x="6626199" y="4723830"/>
            <a:ext cx="1807290" cy="27699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www.cs.stanford.edu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图片 7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967" y="4298777"/>
            <a:ext cx="625078" cy="4786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4" name="Group 6"/>
          <p:cNvGrpSpPr>
            <a:grpSpLocks/>
          </p:cNvGrpSpPr>
          <p:nvPr/>
        </p:nvGrpSpPr>
        <p:grpSpPr bwMode="auto">
          <a:xfrm>
            <a:off x="5740649" y="2142559"/>
            <a:ext cx="277415" cy="492920"/>
            <a:chOff x="4180" y="783"/>
            <a:chExt cx="150" cy="3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5" name="AutoShape 7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8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9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AutoShape 10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11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Line 12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13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14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5" name="Text Box 15"/>
          <p:cNvSpPr txBox="1">
            <a:spLocks noChangeArrowheads="1"/>
          </p:cNvSpPr>
          <p:nvPr/>
        </p:nvSpPr>
        <p:spPr bwMode="auto">
          <a:xfrm>
            <a:off x="6156176" y="831677"/>
            <a:ext cx="1508522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root DNS server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Line 16"/>
          <p:cNvSpPr>
            <a:spLocks noChangeShapeType="1"/>
          </p:cNvSpPr>
          <p:nvPr/>
        </p:nvSpPr>
        <p:spPr bwMode="auto">
          <a:xfrm flipH="1" flipV="1">
            <a:off x="5777557" y="2658095"/>
            <a:ext cx="0" cy="9858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17"/>
          <p:cNvSpPr>
            <a:spLocks noChangeShapeType="1"/>
          </p:cNvSpPr>
          <p:nvPr/>
        </p:nvSpPr>
        <p:spPr bwMode="auto">
          <a:xfrm flipV="1">
            <a:off x="5863282" y="1386508"/>
            <a:ext cx="685800" cy="7286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Line 18"/>
          <p:cNvSpPr>
            <a:spLocks noChangeShapeType="1"/>
          </p:cNvSpPr>
          <p:nvPr/>
        </p:nvSpPr>
        <p:spPr bwMode="auto">
          <a:xfrm flipV="1">
            <a:off x="6077595" y="2258046"/>
            <a:ext cx="1114425" cy="714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Line 19"/>
          <p:cNvSpPr>
            <a:spLocks noChangeShapeType="1"/>
          </p:cNvSpPr>
          <p:nvPr/>
        </p:nvSpPr>
        <p:spPr bwMode="auto">
          <a:xfrm flipH="1" flipV="1">
            <a:off x="6077595" y="2386633"/>
            <a:ext cx="106441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Line 20"/>
          <p:cNvSpPr>
            <a:spLocks noChangeShapeType="1"/>
          </p:cNvSpPr>
          <p:nvPr/>
        </p:nvSpPr>
        <p:spPr bwMode="auto">
          <a:xfrm flipH="1">
            <a:off x="6020445" y="1557958"/>
            <a:ext cx="550069" cy="571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Line 21"/>
          <p:cNvSpPr>
            <a:spLocks noChangeShapeType="1"/>
          </p:cNvSpPr>
          <p:nvPr/>
        </p:nvSpPr>
        <p:spPr bwMode="auto">
          <a:xfrm>
            <a:off x="5920432" y="2679527"/>
            <a:ext cx="7144" cy="9929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3" name="Group 22"/>
          <p:cNvGrpSpPr>
            <a:grpSpLocks/>
          </p:cNvGrpSpPr>
          <p:nvPr/>
        </p:nvGrpSpPr>
        <p:grpSpPr bwMode="auto">
          <a:xfrm>
            <a:off x="4629793" y="2785498"/>
            <a:ext cx="1733550" cy="484585"/>
            <a:chOff x="2564" y="2147"/>
            <a:chExt cx="1456" cy="4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3" name="Rectangle 23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Text Box 24"/>
            <p:cNvSpPr txBox="1">
              <a:spLocks noChangeArrowheads="1"/>
            </p:cNvSpPr>
            <p:nvPr/>
          </p:nvSpPr>
          <p:spPr bwMode="auto">
            <a:xfrm>
              <a:off x="2564" y="2147"/>
              <a:ext cx="1302" cy="40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local DNS server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dns.cqu.edu.cn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5465991" y="3280381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Box 26"/>
          <p:cNvSpPr txBox="1">
            <a:spLocks noChangeArrowheads="1"/>
          </p:cNvSpPr>
          <p:nvPr/>
        </p:nvSpPr>
        <p:spPr bwMode="auto">
          <a:xfrm>
            <a:off x="5941911" y="1549623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 Box 27"/>
          <p:cNvSpPr txBox="1">
            <a:spLocks noChangeArrowheads="1"/>
          </p:cNvSpPr>
          <p:nvPr/>
        </p:nvSpPr>
        <p:spPr bwMode="auto">
          <a:xfrm>
            <a:off x="6270524" y="1728217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 Box 28"/>
          <p:cNvSpPr txBox="1">
            <a:spLocks noChangeArrowheads="1"/>
          </p:cNvSpPr>
          <p:nvPr/>
        </p:nvSpPr>
        <p:spPr bwMode="auto">
          <a:xfrm>
            <a:off x="6506268" y="1951906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 Box 29"/>
          <p:cNvSpPr txBox="1">
            <a:spLocks noChangeArrowheads="1"/>
          </p:cNvSpPr>
          <p:nvPr/>
        </p:nvSpPr>
        <p:spPr bwMode="auto">
          <a:xfrm>
            <a:off x="6528890" y="2400920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30"/>
          <p:cNvSpPr txBox="1">
            <a:spLocks noChangeArrowheads="1"/>
          </p:cNvSpPr>
          <p:nvPr/>
        </p:nvSpPr>
        <p:spPr bwMode="auto">
          <a:xfrm>
            <a:off x="6664568" y="2819874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0" name="Group 31"/>
          <p:cNvGrpSpPr>
            <a:grpSpLocks/>
          </p:cNvGrpSpPr>
          <p:nvPr/>
        </p:nvGrpSpPr>
        <p:grpSpPr bwMode="auto">
          <a:xfrm>
            <a:off x="6576467" y="1078140"/>
            <a:ext cx="277415" cy="492920"/>
            <a:chOff x="4180" y="783"/>
            <a:chExt cx="150" cy="3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5" name="AutoShape 32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33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34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AutoShape 35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36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37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Rectangle 38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Rectangle 39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Group 40"/>
          <p:cNvGrpSpPr>
            <a:grpSpLocks/>
          </p:cNvGrpSpPr>
          <p:nvPr/>
        </p:nvGrpSpPr>
        <p:grpSpPr bwMode="auto">
          <a:xfrm>
            <a:off x="7197974" y="2149703"/>
            <a:ext cx="277415" cy="492920"/>
            <a:chOff x="4180" y="783"/>
            <a:chExt cx="150" cy="3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" name="AutoShape 4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Rectangle 4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Rectangle 4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AutoShape 4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4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4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4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4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2" name="Group 49"/>
          <p:cNvGrpSpPr>
            <a:grpSpLocks/>
          </p:cNvGrpSpPr>
          <p:nvPr/>
        </p:nvGrpSpPr>
        <p:grpSpPr bwMode="auto">
          <a:xfrm>
            <a:off x="7183686" y="3364140"/>
            <a:ext cx="277415" cy="492920"/>
            <a:chOff x="4180" y="783"/>
            <a:chExt cx="150" cy="3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9" name="AutoShape 50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Rectangle 51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 52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AutoShape 53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Line 54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Line 55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Rectangle 56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Rectangle 57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3" name="Text Box 58"/>
          <p:cNvSpPr txBox="1">
            <a:spLocks noChangeArrowheads="1"/>
          </p:cNvSpPr>
          <p:nvPr/>
        </p:nvSpPr>
        <p:spPr bwMode="auto">
          <a:xfrm>
            <a:off x="6481581" y="3792761"/>
            <a:ext cx="1991186" cy="46166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authoritative DNS server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dns.stanford.edu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 Box 59"/>
          <p:cNvSpPr txBox="1">
            <a:spLocks noChangeArrowheads="1"/>
          </p:cNvSpPr>
          <p:nvPr/>
        </p:nvSpPr>
        <p:spPr bwMode="auto">
          <a:xfrm>
            <a:off x="6506268" y="3203402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 Box 60"/>
          <p:cNvSpPr txBox="1">
            <a:spLocks noChangeArrowheads="1"/>
          </p:cNvSpPr>
          <p:nvPr/>
        </p:nvSpPr>
        <p:spPr bwMode="auto">
          <a:xfrm>
            <a:off x="5949055" y="3314129"/>
            <a:ext cx="285656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Line 61"/>
          <p:cNvSpPr>
            <a:spLocks noChangeShapeType="1"/>
          </p:cNvSpPr>
          <p:nvPr/>
        </p:nvSpPr>
        <p:spPr bwMode="auto">
          <a:xfrm>
            <a:off x="6027588" y="2506886"/>
            <a:ext cx="1120379" cy="9858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Line 62"/>
          <p:cNvSpPr>
            <a:spLocks noChangeShapeType="1"/>
          </p:cNvSpPr>
          <p:nvPr/>
        </p:nvSpPr>
        <p:spPr bwMode="auto">
          <a:xfrm flipH="1" flipV="1">
            <a:off x="5997823" y="2593802"/>
            <a:ext cx="1120378" cy="9763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 Box 63"/>
          <p:cNvSpPr txBox="1">
            <a:spLocks noChangeArrowheads="1"/>
          </p:cNvSpPr>
          <p:nvPr/>
        </p:nvSpPr>
        <p:spPr bwMode="auto">
          <a:xfrm>
            <a:off x="6738955" y="1860377"/>
            <a:ext cx="1732359" cy="5078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edu TLD DNS server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内容占位符 2">
            <a:extLst>
              <a:ext uri="{FF2B5EF4-FFF2-40B4-BE49-F238E27FC236}">
                <a16:creationId xmlns:a16="http://schemas.microsoft.com/office/drawing/2014/main" id="{F86ED632-4B14-4FF1-A961-5AE464D3BE92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6754C2CD-9D49-481A-9715-DEBBC61F5F52}"/>
              </a:ext>
            </a:extLst>
          </p:cNvPr>
          <p:cNvSpPr txBox="1">
            <a:spLocks/>
          </p:cNvSpPr>
          <p:nvPr/>
        </p:nvSpPr>
        <p:spPr>
          <a:xfrm>
            <a:off x="827584" y="1372819"/>
            <a:ext cx="5184576" cy="2788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的分布式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查询方式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迭代查询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实例：</a:t>
            </a:r>
            <a:endParaRPr lang="en-US" altLang="zh-CN" sz="160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重庆大学大数据与软件学院的</a:t>
            </a:r>
            <a:b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hb.sse.cqu.edu.cn</a:t>
            </a: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想查询</a:t>
            </a:r>
            <a:b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Stanford</a:t>
            </a: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大学计算机系万维网</a:t>
            </a:r>
            <a:b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40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灯片编号占位符 2">
            <a:extLst>
              <a:ext uri="{FF2B5EF4-FFF2-40B4-BE49-F238E27FC236}">
                <a16:creationId xmlns:a16="http://schemas.microsoft.com/office/drawing/2014/main" id="{63D53D1B-7B98-4215-986D-335EE3022CC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69" name="AutoShape 5">
            <a:extLst>
              <a:ext uri="{FF2B5EF4-FFF2-40B4-BE49-F238E27FC236}">
                <a16:creationId xmlns:a16="http://schemas.microsoft.com/office/drawing/2014/main" id="{02A61554-D22A-4D91-B162-7D898E94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631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5" grpId="0"/>
      <p:bldP spid="76" grpId="0" animBg="1"/>
      <p:bldP spid="77" grpId="0" animBg="1"/>
      <p:bldP spid="78" grpId="0" animBg="1"/>
      <p:bldP spid="79" grpId="0" animBg="1"/>
      <p:bldP spid="80" grpId="0" animBg="1"/>
      <p:bldP spid="82" grpId="0" animBg="1"/>
      <p:bldP spid="84" grpId="0"/>
      <p:bldP spid="85" grpId="0"/>
      <p:bldP spid="86" grpId="0"/>
      <p:bldP spid="87" grpId="0"/>
      <p:bldP spid="88" grpId="0"/>
      <p:bldP spid="89" grpId="0"/>
      <p:bldP spid="93" grpId="0"/>
      <p:bldP spid="94" grpId="0"/>
      <p:bldP spid="95" grpId="0"/>
      <p:bldP spid="96" grpId="0" animBg="1"/>
      <p:bldP spid="97" grpId="0" animBg="1"/>
      <p:bldP spid="98" grpId="0"/>
      <p:bldP spid="69" grpId="0" animBg="1"/>
      <p:bldP spid="69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180608"/>
              </p:ext>
            </p:extLst>
          </p:nvPr>
        </p:nvGraphicFramePr>
        <p:xfrm>
          <a:off x="5540464" y="3671888"/>
          <a:ext cx="625078" cy="478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464" y="3671888"/>
                        <a:ext cx="625078" cy="478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948534" y="4105275"/>
            <a:ext cx="1319592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 dirty="0">
                <a:latin typeface="+mj-lt"/>
              </a:rPr>
              <a:t>requesting host</a:t>
            </a:r>
            <a:endParaRPr lang="en-US" altLang="zh-CN" b="1" dirty="0">
              <a:latin typeface="+mj-lt"/>
            </a:endParaRPr>
          </a:p>
          <a:p>
            <a:pPr algn="ctr" eaLnBrk="0" hangingPunct="0"/>
            <a:r>
              <a:rPr lang="en-US" altLang="zh-CN" sz="1200" b="1" dirty="0">
                <a:latin typeface="+mj-lt"/>
              </a:rPr>
              <a:t>hb.sse.cqu.edu.cn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6757194" y="4697016"/>
            <a:ext cx="15039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 b="1" dirty="0">
                <a:latin typeface="+mj-lt"/>
              </a:rPr>
              <a:t>www.cs.stanford.edu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729601"/>
              </p:ext>
            </p:extLst>
          </p:nvPr>
        </p:nvGraphicFramePr>
        <p:xfrm>
          <a:off x="7133520" y="4271963"/>
          <a:ext cx="625078" cy="478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3520" y="4271963"/>
                        <a:ext cx="625078" cy="478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5726202" y="2115740"/>
            <a:ext cx="277415" cy="492919"/>
            <a:chOff x="4180" y="783"/>
            <a:chExt cx="150" cy="307"/>
          </a:xfrm>
        </p:grpSpPr>
        <p:sp>
          <p:nvSpPr>
            <p:cNvPr id="13" name="AutoShape 7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</p:grp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6141730" y="804862"/>
            <a:ext cx="150852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1350" b="1">
                <a:latin typeface="+mj-lt"/>
              </a:rPr>
              <a:t>root DNS server</a:t>
            </a:r>
            <a:endParaRPr lang="en-US" altLang="zh-CN" sz="1200" b="1">
              <a:latin typeface="+mj-lt"/>
            </a:endParaRPr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 flipH="1" flipV="1">
            <a:off x="5763110" y="2631281"/>
            <a:ext cx="0" cy="9858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>
              <a:latin typeface="+mj-lt"/>
            </a:endParaRPr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 flipV="1">
            <a:off x="5848835" y="1359693"/>
            <a:ext cx="685800" cy="7286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>
              <a:latin typeface="+mj-lt"/>
            </a:endParaRPr>
          </a:p>
        </p:txBody>
      </p:sp>
      <p:sp>
        <p:nvSpPr>
          <p:cNvPr id="24" name="Line 18"/>
          <p:cNvSpPr>
            <a:spLocks noChangeShapeType="1"/>
          </p:cNvSpPr>
          <p:nvPr/>
        </p:nvSpPr>
        <p:spPr bwMode="auto">
          <a:xfrm>
            <a:off x="7418882" y="2557197"/>
            <a:ext cx="0" cy="73684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>
              <a:latin typeface="+mj-lt"/>
            </a:endParaRPr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 flipH="1" flipV="1">
            <a:off x="7253844" y="2661934"/>
            <a:ext cx="5092" cy="64048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>
              <a:latin typeface="+mj-lt"/>
            </a:endParaRPr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>
            <a:off x="6839435" y="1341075"/>
            <a:ext cx="422807" cy="76306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>
              <a:latin typeface="+mj-lt"/>
            </a:endParaRPr>
          </a:p>
        </p:txBody>
      </p:sp>
      <p:sp>
        <p:nvSpPr>
          <p:cNvPr id="27" name="Line 21"/>
          <p:cNvSpPr>
            <a:spLocks noChangeShapeType="1"/>
          </p:cNvSpPr>
          <p:nvPr/>
        </p:nvSpPr>
        <p:spPr bwMode="auto">
          <a:xfrm>
            <a:off x="5905986" y="2652713"/>
            <a:ext cx="7144" cy="9929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>
              <a:latin typeface="+mj-lt"/>
            </a:endParaRPr>
          </a:p>
        </p:txBody>
      </p:sp>
      <p:grpSp>
        <p:nvGrpSpPr>
          <p:cNvPr id="28" name="Group 22"/>
          <p:cNvGrpSpPr>
            <a:grpSpLocks/>
          </p:cNvGrpSpPr>
          <p:nvPr/>
        </p:nvGrpSpPr>
        <p:grpSpPr bwMode="auto">
          <a:xfrm>
            <a:off x="4941579" y="2740816"/>
            <a:ext cx="1407319" cy="484584"/>
            <a:chOff x="2838" y="2132"/>
            <a:chExt cx="1182" cy="407"/>
          </a:xfrm>
        </p:grpSpPr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30" name="Text Box 24"/>
            <p:cNvSpPr txBox="1">
              <a:spLocks noChangeArrowheads="1"/>
            </p:cNvSpPr>
            <p:nvPr/>
          </p:nvSpPr>
          <p:spPr bwMode="auto">
            <a:xfrm>
              <a:off x="2852" y="2132"/>
              <a:ext cx="115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350" b="1" dirty="0">
                  <a:latin typeface="+mj-lt"/>
                </a:rPr>
                <a:t>local DNS server</a:t>
              </a:r>
              <a:endParaRPr lang="en-US" altLang="zh-CN" b="1" dirty="0">
                <a:latin typeface="+mj-lt"/>
              </a:endParaRPr>
            </a:p>
            <a:p>
              <a:pPr algn="ctr" eaLnBrk="0" hangingPunct="0"/>
              <a:r>
                <a:rPr lang="en-US" altLang="zh-CN" sz="1200" b="1" dirty="0">
                  <a:latin typeface="+mj-lt"/>
                </a:rPr>
                <a:t>dns.cqu.edu.cn</a:t>
              </a:r>
            </a:p>
          </p:txBody>
        </p:sp>
      </p:grp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5525881" y="3273027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>
                <a:solidFill>
                  <a:srgbClr val="FF0000"/>
                </a:solidFill>
                <a:latin typeface="+mj-lt"/>
              </a:rPr>
              <a:t>1</a:t>
            </a:r>
            <a:endParaRPr lang="en-US" altLang="zh-CN" b="1">
              <a:latin typeface="+mj-lt"/>
            </a:endParaRP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5933075" y="1522809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>
                <a:solidFill>
                  <a:srgbClr val="FF0000"/>
                </a:solidFill>
                <a:latin typeface="+mj-lt"/>
              </a:rPr>
              <a:t>2</a:t>
            </a:r>
            <a:endParaRPr lang="en-US" altLang="zh-CN" b="1">
              <a:latin typeface="+mj-lt"/>
            </a:endParaRPr>
          </a:p>
        </p:txBody>
      </p:sp>
      <p:sp>
        <p:nvSpPr>
          <p:cNvPr id="33" name="Text Box 27"/>
          <p:cNvSpPr txBox="1">
            <a:spLocks noChangeArrowheads="1"/>
          </p:cNvSpPr>
          <p:nvPr/>
        </p:nvSpPr>
        <p:spPr bwMode="auto">
          <a:xfrm>
            <a:off x="7290450" y="1495425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>
                <a:solidFill>
                  <a:srgbClr val="FF0000"/>
                </a:solidFill>
                <a:latin typeface="+mj-lt"/>
              </a:rPr>
              <a:t>3</a:t>
            </a:r>
            <a:endParaRPr lang="en-US" altLang="zh-CN" b="1">
              <a:latin typeface="+mj-lt"/>
            </a:endParaRPr>
          </a:p>
        </p:txBody>
      </p: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7391129" y="2668700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 dirty="0">
                <a:solidFill>
                  <a:srgbClr val="FF0000"/>
                </a:solidFill>
                <a:latin typeface="+mj-lt"/>
              </a:rPr>
              <a:t>4</a:t>
            </a:r>
            <a:endParaRPr lang="en-US" altLang="zh-CN" b="1" dirty="0">
              <a:latin typeface="+mj-lt"/>
            </a:endParaRPr>
          </a:p>
        </p:txBody>
      </p:sp>
      <p:sp>
        <p:nvSpPr>
          <p:cNvPr id="35" name="Text Box 29"/>
          <p:cNvSpPr txBox="1">
            <a:spLocks noChangeArrowheads="1"/>
          </p:cNvSpPr>
          <p:nvPr/>
        </p:nvSpPr>
        <p:spPr bwMode="auto">
          <a:xfrm>
            <a:off x="7000205" y="2741545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 dirty="0">
                <a:solidFill>
                  <a:srgbClr val="FF0000"/>
                </a:solidFill>
                <a:latin typeface="+mj-lt"/>
              </a:rPr>
              <a:t>5</a:t>
            </a:r>
            <a:endParaRPr lang="en-US" altLang="zh-CN" b="1" dirty="0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6688332" y="1639631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 dirty="0">
                <a:solidFill>
                  <a:srgbClr val="FF0000"/>
                </a:solidFill>
                <a:latin typeface="+mj-lt"/>
              </a:rPr>
              <a:t>6</a:t>
            </a:r>
            <a:endParaRPr lang="en-US" altLang="zh-CN" b="1" dirty="0">
              <a:latin typeface="+mj-lt"/>
            </a:endParaRPr>
          </a:p>
        </p:txBody>
      </p:sp>
      <p:grpSp>
        <p:nvGrpSpPr>
          <p:cNvPr id="37" name="Group 31"/>
          <p:cNvGrpSpPr>
            <a:grpSpLocks/>
          </p:cNvGrpSpPr>
          <p:nvPr/>
        </p:nvGrpSpPr>
        <p:grpSpPr bwMode="auto">
          <a:xfrm>
            <a:off x="6562021" y="1051322"/>
            <a:ext cx="277415" cy="492919"/>
            <a:chOff x="4180" y="783"/>
            <a:chExt cx="150" cy="307"/>
          </a:xfrm>
        </p:grpSpPr>
        <p:sp>
          <p:nvSpPr>
            <p:cNvPr id="38" name="AutoShape 32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1" name="AutoShape 35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</p:grpSp>
      <p:grpSp>
        <p:nvGrpSpPr>
          <p:cNvPr id="46" name="Group 40"/>
          <p:cNvGrpSpPr>
            <a:grpSpLocks/>
          </p:cNvGrpSpPr>
          <p:nvPr/>
        </p:nvGrpSpPr>
        <p:grpSpPr bwMode="auto">
          <a:xfrm>
            <a:off x="7183527" y="2122884"/>
            <a:ext cx="277415" cy="492919"/>
            <a:chOff x="4180" y="783"/>
            <a:chExt cx="150" cy="307"/>
          </a:xfrm>
        </p:grpSpPr>
        <p:sp>
          <p:nvSpPr>
            <p:cNvPr id="47" name="AutoShape 4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0" name="AutoShape 4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2" name="Line 4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</p:grpSp>
      <p:grpSp>
        <p:nvGrpSpPr>
          <p:cNvPr id="55" name="Group 49"/>
          <p:cNvGrpSpPr>
            <a:grpSpLocks/>
          </p:cNvGrpSpPr>
          <p:nvPr/>
        </p:nvGrpSpPr>
        <p:grpSpPr bwMode="auto">
          <a:xfrm>
            <a:off x="7169239" y="3337322"/>
            <a:ext cx="277415" cy="492919"/>
            <a:chOff x="4180" y="783"/>
            <a:chExt cx="150" cy="307"/>
          </a:xfrm>
        </p:grpSpPr>
        <p:sp>
          <p:nvSpPr>
            <p:cNvPr id="56" name="AutoShape 50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59" name="AutoShape 53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60" name="Line 54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61" name="Line 55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62" name="Rectangle 56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1">
                <a:latin typeface="+mj-lt"/>
              </a:endParaRPr>
            </a:p>
          </p:txBody>
        </p:sp>
      </p:grpSp>
      <p:sp>
        <p:nvSpPr>
          <p:cNvPr id="64" name="Text Box 58"/>
          <p:cNvSpPr txBox="1">
            <a:spLocks noChangeArrowheads="1"/>
          </p:cNvSpPr>
          <p:nvPr/>
        </p:nvSpPr>
        <p:spPr bwMode="auto">
          <a:xfrm>
            <a:off x="6588930" y="3765947"/>
            <a:ext cx="17475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 b="1" dirty="0">
                <a:latin typeface="+mj-lt"/>
              </a:rPr>
              <a:t>authoritative DNS server</a:t>
            </a:r>
            <a:endParaRPr lang="en-US" altLang="zh-CN" b="1" dirty="0">
              <a:latin typeface="+mj-lt"/>
            </a:endParaRPr>
          </a:p>
          <a:p>
            <a:pPr algn="ctr" eaLnBrk="0" hangingPunct="0"/>
            <a:r>
              <a:rPr lang="en-US" altLang="zh-CN" sz="1200" b="1" dirty="0">
                <a:latin typeface="+mj-lt"/>
              </a:rPr>
              <a:t>dns.stanford.edu</a:t>
            </a:r>
          </a:p>
        </p:txBody>
      </p:sp>
      <p:sp>
        <p:nvSpPr>
          <p:cNvPr id="65" name="Text Box 59"/>
          <p:cNvSpPr txBox="1">
            <a:spLocks noChangeArrowheads="1"/>
          </p:cNvSpPr>
          <p:nvPr/>
        </p:nvSpPr>
        <p:spPr bwMode="auto">
          <a:xfrm>
            <a:off x="6229684" y="1826490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 dirty="0">
                <a:solidFill>
                  <a:srgbClr val="FF0000"/>
                </a:solidFill>
                <a:latin typeface="+mj-lt"/>
              </a:rPr>
              <a:t>7</a:t>
            </a:r>
            <a:endParaRPr lang="en-US" altLang="zh-CN" b="1" dirty="0">
              <a:latin typeface="+mj-lt"/>
            </a:endParaRPr>
          </a:p>
        </p:txBody>
      </p:sp>
      <p:sp>
        <p:nvSpPr>
          <p:cNvPr id="66" name="Text Box 60"/>
          <p:cNvSpPr txBox="1">
            <a:spLocks noChangeArrowheads="1"/>
          </p:cNvSpPr>
          <p:nvPr/>
        </p:nvSpPr>
        <p:spPr bwMode="auto">
          <a:xfrm>
            <a:off x="5940218" y="3287315"/>
            <a:ext cx="27443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>
                <a:solidFill>
                  <a:srgbClr val="FF0000"/>
                </a:solidFill>
                <a:latin typeface="+mj-lt"/>
              </a:rPr>
              <a:t>8</a:t>
            </a:r>
            <a:endParaRPr lang="en-US" altLang="zh-CN" b="1">
              <a:latin typeface="+mj-lt"/>
            </a:endParaRPr>
          </a:p>
        </p:txBody>
      </p:sp>
      <p:sp>
        <p:nvSpPr>
          <p:cNvPr id="67" name="Line 61"/>
          <p:cNvSpPr>
            <a:spLocks noChangeShapeType="1"/>
          </p:cNvSpPr>
          <p:nvPr/>
        </p:nvSpPr>
        <p:spPr bwMode="auto">
          <a:xfrm flipH="1" flipV="1">
            <a:off x="6802463" y="1519411"/>
            <a:ext cx="331057" cy="6555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 b="1">
              <a:latin typeface="+mj-lt"/>
            </a:endParaRPr>
          </a:p>
        </p:txBody>
      </p:sp>
      <p:sp>
        <p:nvSpPr>
          <p:cNvPr id="68" name="Line 62"/>
          <p:cNvSpPr>
            <a:spLocks noChangeShapeType="1"/>
          </p:cNvSpPr>
          <p:nvPr/>
        </p:nvSpPr>
        <p:spPr bwMode="auto">
          <a:xfrm flipH="1">
            <a:off x="6040588" y="1562402"/>
            <a:ext cx="562118" cy="61883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 b="1">
              <a:latin typeface="+mj-lt"/>
            </a:endParaRPr>
          </a:p>
        </p:txBody>
      </p:sp>
      <p:sp>
        <p:nvSpPr>
          <p:cNvPr id="69" name="Text Box 63"/>
          <p:cNvSpPr txBox="1">
            <a:spLocks noChangeArrowheads="1"/>
          </p:cNvSpPr>
          <p:nvPr/>
        </p:nvSpPr>
        <p:spPr bwMode="auto">
          <a:xfrm>
            <a:off x="6712038" y="1833562"/>
            <a:ext cx="175855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350" b="1" dirty="0">
                <a:latin typeface="+mj-lt"/>
              </a:rPr>
              <a:t>edu TLD DNS server</a:t>
            </a:r>
            <a:endParaRPr lang="en-US" altLang="zh-CN" sz="1200" b="1" dirty="0">
              <a:latin typeface="+mj-lt"/>
            </a:endParaRPr>
          </a:p>
        </p:txBody>
      </p:sp>
      <p:sp>
        <p:nvSpPr>
          <p:cNvPr id="70" name="内容占位符 2">
            <a:extLst>
              <a:ext uri="{FF2B5EF4-FFF2-40B4-BE49-F238E27FC236}">
                <a16:creationId xmlns:a16="http://schemas.microsoft.com/office/drawing/2014/main" id="{5DF42292-91C6-401E-BA94-7C114A518451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sp>
        <p:nvSpPr>
          <p:cNvPr id="71" name="内容占位符 2">
            <a:extLst>
              <a:ext uri="{FF2B5EF4-FFF2-40B4-BE49-F238E27FC236}">
                <a16:creationId xmlns:a16="http://schemas.microsoft.com/office/drawing/2014/main" id="{B6235873-167A-42ED-A84C-B3AF44592FCC}"/>
              </a:ext>
            </a:extLst>
          </p:cNvPr>
          <p:cNvSpPr txBox="1">
            <a:spLocks/>
          </p:cNvSpPr>
          <p:nvPr/>
        </p:nvSpPr>
        <p:spPr>
          <a:xfrm>
            <a:off x="827584" y="1372819"/>
            <a:ext cx="5184576" cy="2788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的分布式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查询方式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递归查询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实例：</a:t>
            </a:r>
            <a:endParaRPr lang="en-US" altLang="zh-CN" sz="160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重庆大学大数据与软件学院的</a:t>
            </a:r>
            <a:b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hb.sse.cqu.edu.cn</a:t>
            </a: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想查询</a:t>
            </a:r>
            <a:b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Stanford</a:t>
            </a: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大学计算机系万维网</a:t>
            </a:r>
            <a:b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灯片编号占位符 2">
            <a:extLst>
              <a:ext uri="{FF2B5EF4-FFF2-40B4-BE49-F238E27FC236}">
                <a16:creationId xmlns:a16="http://schemas.microsoft.com/office/drawing/2014/main" id="{B2290190-04AB-47BF-9932-23616A4D499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46</a:t>
            </a:fld>
            <a:endParaRPr lang="en-US" altLang="zh-CN" dirty="0"/>
          </a:p>
        </p:txBody>
      </p:sp>
      <p:sp>
        <p:nvSpPr>
          <p:cNvPr id="73" name="AutoShape 5">
            <a:extLst>
              <a:ext uri="{FF2B5EF4-FFF2-40B4-BE49-F238E27FC236}">
                <a16:creationId xmlns:a16="http://schemas.microsoft.com/office/drawing/2014/main" id="{C8E929E6-685E-465B-973F-8537910C1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776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1" grpId="0"/>
      <p:bldP spid="32" grpId="0"/>
      <p:bldP spid="33" grpId="0"/>
      <p:bldP spid="34" grpId="0"/>
      <p:bldP spid="35" grpId="0"/>
      <p:bldP spid="36" grpId="0"/>
      <p:bldP spid="65" grpId="0"/>
      <p:bldP spid="66" grpId="0"/>
      <p:bldP spid="67" grpId="0" animBg="1"/>
      <p:bldP spid="68" grpId="0" animBg="1"/>
      <p:bldP spid="73" grpId="0" animBg="1"/>
      <p:bldP spid="7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29AE53D-F395-440C-B91C-E2FEBA5F46CC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F12ADF7-A103-4924-A6DC-ED5A455F3F27}"/>
              </a:ext>
            </a:extLst>
          </p:cNvPr>
          <p:cNvSpPr txBox="1">
            <a:spLocks/>
          </p:cNvSpPr>
          <p:nvPr/>
        </p:nvSpPr>
        <p:spPr>
          <a:xfrm>
            <a:off x="827584" y="1372819"/>
            <a:ext cx="6696744" cy="34968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是一个分布式的数据库系统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的分布式查询方式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缓存机制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作用：改善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、减少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报文数量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服务器查询到映射关系后，将会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此映射关系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每个缓存的映射关系具有一定的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顶级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服务器一般缓存本地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服务器的映射关系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减少根服务器的负担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IETF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制定并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维护标准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 2136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本地主机上面也有缓存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可以实验验证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3157DFD-2FEB-4F52-95C4-C62C03C54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EAB57FB6-37B3-4288-A545-2EC88615461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47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2410F83D-D8B9-48E2-8354-1018612B2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539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2267744" y="1275606"/>
            <a:ext cx="5192712" cy="2160239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2.5.1 DNS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提供的服务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2.5.2 DNS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工作机理概述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2.5.3 DNS</a:t>
            </a:r>
            <a:r>
              <a:rPr lang="zh-CN" altLang="en-US" sz="20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  <a:endParaRPr lang="en-US" altLang="zh-CN" sz="2000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7694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1AB91399-E34C-4645-AE75-999D1136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A6DB93D1-6213-4B5B-9E69-803EB817A26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52F7023-DEB9-41A7-9499-4A3D2E5F7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18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09846" y="1372820"/>
            <a:ext cx="7886700" cy="365187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使用分布式的数据库来存储资源记录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 1034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1035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资源记录格式：四元组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 format: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(name, value, type, ttl)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：主机名或域名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：主机名映射的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地址或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服务器名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：记录类型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Type=A</a:t>
            </a:r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是该主机名对应的</a:t>
            </a: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地址；</a:t>
            </a: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(www.cqu.edu.cn, 202.202.0.35, A)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Type=NS</a:t>
            </a:r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value</a:t>
            </a:r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是该域名中的</a:t>
            </a: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服务器；</a:t>
            </a: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(cqu.edu.cn, dns.cqu.edu.cn, NS)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Type=CNAME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是该主机名对应的规范主机名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Type=MX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value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是该邮件服务器名对应的规范主机名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：记录的生存周期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 to live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D32356B-4CB3-4BD3-AA00-7A318021A2DA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2.5.3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B224FD-F6CB-44FC-9E1B-A915317FB6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16" y="1284877"/>
            <a:ext cx="1461346" cy="1463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B1185C33-C912-4C3B-8833-3C2249F8D7C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6E770A35-AA97-463B-AC43-522ACF33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134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09846" y="1372820"/>
            <a:ext cx="7886700" cy="365187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：查询报文、回答报文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两者格式相同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报文首部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(12 bytes)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标识符：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16bit, </a:t>
            </a:r>
            <a:r>
              <a:rPr lang="zh-CN" altLang="en-US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匹配查询和回答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16bit</a:t>
            </a: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是查询还是回答，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是否权威的回答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希望递归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递归可用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name, type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name, value, type, 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可能有多个记录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是否权威</a:t>
            </a:r>
            <a:endParaRPr lang="en-US" altLang="zh-CN" sz="1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附加信息</a:t>
            </a:r>
            <a:endParaRPr lang="zh-CN" altLang="en-US" sz="1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D32356B-4CB3-4BD3-AA00-7A318021A2DA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2.5.3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</a:p>
        </p:txBody>
      </p:sp>
      <p:pic>
        <p:nvPicPr>
          <p:cNvPr id="7" name="Picture 5" descr="DNSmessage">
            <a:extLst>
              <a:ext uri="{FF2B5EF4-FFF2-40B4-BE49-F238E27FC236}">
                <a16:creationId xmlns:a16="http://schemas.microsoft.com/office/drawing/2014/main" id="{7D4F463D-7920-43A8-BB4C-E15924AEA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903382"/>
            <a:ext cx="3575853" cy="29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D3D5272D-E4A0-4F87-BCE3-9D42FFA1F9F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7F9ECDD7-02EB-4843-BCED-7F5817CE1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522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D92DE15-C08B-4EB4-8085-F3A7C9C1FB73}"/>
              </a:ext>
            </a:extLst>
          </p:cNvPr>
          <p:cNvSpPr txBox="1">
            <a:spLocks/>
          </p:cNvSpPr>
          <p:nvPr/>
        </p:nvSpPr>
        <p:spPr>
          <a:xfrm>
            <a:off x="709846" y="1372820"/>
            <a:ext cx="7886700" cy="36518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数据库中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插入记录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机构注册：向权威机构注册本机构的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向相关机构</a:t>
            </a: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本机构的域名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向上级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本机构的权威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Type=NS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：该域中的权威</a:t>
            </a: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服务器是哪个主机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5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(networkutopia.com, dns1.networkutopia.com, NS)</a:t>
            </a: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Type=A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：权威</a:t>
            </a: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</a:t>
            </a: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地址是多少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5">
              <a:lnSpc>
                <a:spcPct val="100000"/>
              </a:lnSpc>
              <a:spcBef>
                <a:spcPts val="600"/>
              </a:spcBef>
            </a:pPr>
            <a:r>
              <a:rPr lang="en-US" altLang="zh-CN" sz="1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(dns1.networkutopia.com, 212.212.212.1, A)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权威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服务器中的记录更新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对组织机构内部的主机、地址映射信息进行维护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静态配置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动态更新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BDB44E3-AFB7-4CD0-A1DE-B8E5B75C90B5}"/>
              </a:ext>
            </a:extLst>
          </p:cNvPr>
          <p:cNvSpPr txBox="1">
            <a:spLocks/>
          </p:cNvSpPr>
          <p:nvPr/>
        </p:nvSpPr>
        <p:spPr>
          <a:xfrm>
            <a:off x="560738" y="967716"/>
            <a:ext cx="3003150" cy="40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2.5.3 DNS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D0AD9C0D-448B-4E7F-BEA0-33ECF8E4388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51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4DE3E9F9-25C7-4BF5-A0F3-C43F937C8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81D888D-94FB-44D8-9390-467815F236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775" y="1372820"/>
            <a:ext cx="1266703" cy="10081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459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知识补充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36000"/>
            <a:ext cx="7886700" cy="39290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中管理域名的组织机构？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Internet Corporation for Assigned Names and Numbers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互联网名称与数字地址分配机构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成立于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1998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非营利性国际组织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协议标识符指派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域名管理：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通用顶级域名（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gTLD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）管理</a:t>
            </a:r>
            <a:endParaRPr lang="en-US" altLang="zh-CN" sz="1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国家和地区顶级域名（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ccTLD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）管理、</a:t>
            </a:r>
            <a:endParaRPr lang="en-US" altLang="zh-CN" sz="1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根服务器系统管理</a:t>
            </a:r>
            <a:endParaRPr lang="en-US" altLang="zh-CN" sz="1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BBE8E810-97E2-4599-BF18-7F288AA964F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52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9C6333C-74FF-4048-B770-D57E55AFD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9987648-DA94-419D-9F2B-1251C1B034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139702"/>
            <a:ext cx="1990533" cy="1584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038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  <p:sndAc>
          <p:stSnd>
            <p:snd r:embed="rId2" name="arrow.wav"/>
          </p:stSnd>
        </p:sndAc>
      </p:transition>
    </mc:Choice>
    <mc:Fallback xmlns="">
      <p:transition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2.5 DNS </a:t>
            </a:r>
            <a:r>
              <a:rPr lang="zh-CN" altLang="en-US" dirty="0">
                <a:solidFill>
                  <a:srgbClr val="008000"/>
                </a:solidFill>
              </a:rPr>
              <a:t>因特网的目录服务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96740" y="959643"/>
            <a:ext cx="6110287" cy="39100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Hands on DNS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上机实验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666" y="1491630"/>
            <a:ext cx="4779169" cy="312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170" y="1491630"/>
            <a:ext cx="4779169" cy="312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491630"/>
            <a:ext cx="4779169" cy="312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7C533635-D26D-409D-9F85-7467629822E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53</a:t>
            </a:fld>
            <a:endParaRPr lang="en-US" altLang="zh-CN" dirty="0"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7F656E6D-BD38-496E-91A1-8327ED7B8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67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本讲总结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40594"/>
            <a:ext cx="7886700" cy="39290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控制连接：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server port# 21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，命令交互式，持久性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传输连接：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server port# 20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，非持久性，用于传输文件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电子邮件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邮件传输协议：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SMTP, server port#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邮件报文格式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邮件访问协议：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POP3, server port# 110;  IMAP server port# 143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因特网目录服务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提供的服务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工作原理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(DNS, server port# 53, on UDP)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BBE8E810-97E2-4599-BF18-7F288AA964F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54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9C6333C-74FF-4048-B770-D57E55AFD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777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2025/3/4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9F2416E1-C397-4A2F-99B0-651D5BE9DFCC}" vid="{50A18DF7-6C33-4922-8443-2DDA3F3D0283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3050</TotalTime>
  <Words>3468</Words>
  <Application>Microsoft Office PowerPoint</Application>
  <PresentationFormat>全屏显示(16:9)</PresentationFormat>
  <Paragraphs>729</Paragraphs>
  <Slides>55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7" baseType="lpstr">
      <vt:lpstr>ZapfDingbats</vt:lpstr>
      <vt:lpstr>等线</vt:lpstr>
      <vt:lpstr>等线 Light</vt:lpstr>
      <vt:lpstr>宋体</vt:lpstr>
      <vt:lpstr>微软雅黑</vt:lpstr>
      <vt:lpstr>Arial</vt:lpstr>
      <vt:lpstr>Calibri</vt:lpstr>
      <vt:lpstr>Courier New</vt:lpstr>
      <vt:lpstr>Times New Roman</vt:lpstr>
      <vt:lpstr>Wingdings</vt:lpstr>
      <vt:lpstr>Office 主题​​</vt:lpstr>
      <vt:lpstr>Clip</vt:lpstr>
      <vt:lpstr>计算机网络</vt:lpstr>
      <vt:lpstr>Figures of Today</vt:lpstr>
      <vt:lpstr>PowerPoint 演示文稿</vt:lpstr>
      <vt:lpstr>2.3 文件传输协议</vt:lpstr>
      <vt:lpstr>2.3 文件传输协议</vt:lpstr>
      <vt:lpstr>2.3 文件传输协议</vt:lpstr>
      <vt:lpstr>2.3 文件传输协议</vt:lpstr>
      <vt:lpstr>2.3 文件传输协议</vt:lpstr>
      <vt:lpstr>2.3 文件传输协议</vt:lpstr>
      <vt:lpstr>PowerPoint 演示文稿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2.4 电子邮件协议</vt:lpstr>
      <vt:lpstr>PowerPoint 演示文稿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2.5 DNS 因特网的目录服务</vt:lpstr>
      <vt:lpstr>知识补充</vt:lpstr>
      <vt:lpstr>2.5 DNS 因特网的目录服务</vt:lpstr>
      <vt:lpstr>本讲总结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CPS525</dc:creator>
  <cp:lastModifiedBy>cistecoram</cp:lastModifiedBy>
  <cp:revision>83</cp:revision>
  <dcterms:created xsi:type="dcterms:W3CDTF">2020-02-27T02:48:21Z</dcterms:created>
  <dcterms:modified xsi:type="dcterms:W3CDTF">2025-03-04T14:09:02Z</dcterms:modified>
</cp:coreProperties>
</file>