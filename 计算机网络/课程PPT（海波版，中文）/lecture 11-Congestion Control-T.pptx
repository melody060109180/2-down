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47"/>
  </p:notesMasterIdLst>
  <p:handoutMasterIdLst>
    <p:handoutMasterId r:id="rId48"/>
  </p:handoutMasterIdLst>
  <p:sldIdLst>
    <p:sldId id="319" r:id="rId2"/>
    <p:sldId id="257" r:id="rId3"/>
    <p:sldId id="321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473" r:id="rId13"/>
    <p:sldId id="268" r:id="rId14"/>
    <p:sldId id="443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446" r:id="rId26"/>
    <p:sldId id="281" r:id="rId27"/>
    <p:sldId id="440" r:id="rId28"/>
    <p:sldId id="282" r:id="rId29"/>
    <p:sldId id="464" r:id="rId30"/>
    <p:sldId id="284" r:id="rId31"/>
    <p:sldId id="286" r:id="rId32"/>
    <p:sldId id="287" r:id="rId33"/>
    <p:sldId id="442" r:id="rId34"/>
    <p:sldId id="445" r:id="rId35"/>
    <p:sldId id="444" r:id="rId36"/>
    <p:sldId id="447" r:id="rId37"/>
    <p:sldId id="465" r:id="rId38"/>
    <p:sldId id="441" r:id="rId39"/>
    <p:sldId id="466" r:id="rId40"/>
    <p:sldId id="468" r:id="rId41"/>
    <p:sldId id="469" r:id="rId42"/>
    <p:sldId id="470" r:id="rId43"/>
    <p:sldId id="471" r:id="rId44"/>
    <p:sldId id="472" r:id="rId45"/>
    <p:sldId id="296" r:id="rId46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9B9BFF"/>
    <a:srgbClr val="FFDDDD"/>
    <a:srgbClr val="0000FF"/>
    <a:srgbClr val="E18601"/>
    <a:srgbClr val="008000"/>
    <a:srgbClr val="800000"/>
    <a:srgbClr val="FF3300"/>
    <a:srgbClr val="D43005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26" autoAdjust="0"/>
  </p:normalViewPr>
  <p:slideViewPr>
    <p:cSldViewPr>
      <p:cViewPr varScale="1">
        <p:scale>
          <a:sx n="181" d="100"/>
          <a:sy n="181" d="100"/>
        </p:scale>
        <p:origin x="326" y="93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72008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11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69FE32B-AD73-4686-A37F-6D93154A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1862934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1851670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2592794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2580573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4C10054-2050-4F22-9BB9-1A90876044B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491880" y="3309476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7D28E6D-0894-4B27-AAEC-53297B32AB10}"/>
              </a:ext>
            </a:extLst>
          </p:cNvPr>
          <p:cNvSpPr/>
          <p:nvPr userDrawn="1"/>
        </p:nvSpPr>
        <p:spPr>
          <a:xfrm>
            <a:off x="2751195" y="3297255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256583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95061066-2A57-492E-9DAA-2A1EC20BF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CEDF4C-0A13-4172-BE2A-647D6DAAFB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92501"/>
            <a:ext cx="487130" cy="48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256583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95061066-2A57-492E-9DAA-2A1EC20BF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F901B12C-5F12-4508-8B95-AD6569D1F2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1818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936000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4A492B7-7240-4E24-B42A-CFC1B7D9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C915E-820F-4CE4-B718-00AB075D5096}" type="datetime1">
              <a:rPr lang="zh-CN" altLang="en-US" smtClean="0"/>
              <a:t>2025/3/25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292398"/>
      </p:ext>
    </p:extLst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50" r:id="rId5"/>
    <p:sldLayoutId id="2147483746" r:id="rId6"/>
    <p:sldLayoutId id="2147483739" r:id="rId7"/>
    <p:sldLayoutId id="2147483740" r:id="rId8"/>
    <p:sldLayoutId id="2147483749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1" name="arrow.wav"/>
          </p:stSnd>
        </p:sndAc>
      </p:transition>
    </mc:Choice>
    <mc:Fallback xmlns="">
      <p:transition spd="slow">
        <p:fade/>
        <p:sndAc>
          <p:stSnd>
            <p:snd r:embed="rId13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1.wav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1.wav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1.wav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1.wav"/><Relationship Id="rId4" Type="http://schemas.microsoft.com/office/2007/relationships/hdphoto" Target="../media/hdphoto2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1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0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知识回顾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1AAA5924-2CEB-434A-8B7B-C0E4E77FF8A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357790F-794D-4ADA-BC95-9373D9049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10640C-B111-4048-A8A9-4D3EFB6CE4CE}"/>
              </a:ext>
            </a:extLst>
          </p:cNvPr>
          <p:cNvSpPr/>
          <p:nvPr/>
        </p:nvSpPr>
        <p:spPr>
          <a:xfrm>
            <a:off x="5033715" y="1149539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9CEE2D-9A99-4AB8-B548-6DC41D1C5E82}"/>
              </a:ext>
            </a:extLst>
          </p:cNvPr>
          <p:cNvSpPr/>
          <p:nvPr/>
        </p:nvSpPr>
        <p:spPr>
          <a:xfrm>
            <a:off x="5796136" y="2988842"/>
            <a:ext cx="1569660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32F225-59B9-4126-80CA-47ED67A9F651}"/>
              </a:ext>
            </a:extLst>
          </p:cNvPr>
          <p:cNvSpPr/>
          <p:nvPr/>
        </p:nvSpPr>
        <p:spPr>
          <a:xfrm>
            <a:off x="2339752" y="1163556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33B2B8-388E-4CA7-BFB6-A110FC6B106C}"/>
              </a:ext>
            </a:extLst>
          </p:cNvPr>
          <p:cNvSpPr/>
          <p:nvPr/>
        </p:nvSpPr>
        <p:spPr>
          <a:xfrm>
            <a:off x="1753732" y="3287532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流量控制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3435EE-A123-4151-A0BB-4ADEC3453FC1}"/>
              </a:ext>
            </a:extLst>
          </p:cNvPr>
          <p:cNvSpPr/>
          <p:nvPr/>
        </p:nvSpPr>
        <p:spPr>
          <a:xfrm>
            <a:off x="3624582" y="3852601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A10D12-D258-43B1-91F5-E93018A21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867"/>
            <a:ext cx="3396398" cy="13234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D8B7C86-C1F9-4A01-867B-CFB15CFD64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286" y="2248061"/>
            <a:ext cx="1224137" cy="1224137"/>
          </a:xfrm>
          <a:prstGeom prst="rect">
            <a:avLst/>
          </a:prstGeom>
          <a:effectLst>
            <a:glow rad="1320800">
              <a:schemeClr val="accent5">
                <a:lumMod val="75000"/>
                <a:alpha val="23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6ACB275-162E-4B49-A2CD-B586BF204EC8}"/>
              </a:ext>
            </a:extLst>
          </p:cNvPr>
          <p:cNvSpPr/>
          <p:nvPr/>
        </p:nvSpPr>
        <p:spPr>
          <a:xfrm>
            <a:off x="5645783" y="1566262"/>
            <a:ext cx="1872208" cy="13234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确认号</a:t>
            </a: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确认和重传策略</a:t>
            </a: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超时重传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A93753-82DF-44E5-B66D-C3D8B9A8037B}"/>
              </a:ext>
            </a:extLst>
          </p:cNvPr>
          <p:cNvSpPr/>
          <p:nvPr/>
        </p:nvSpPr>
        <p:spPr>
          <a:xfrm>
            <a:off x="4020625" y="4263250"/>
            <a:ext cx="1872208" cy="5386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</a:t>
            </a:r>
            <a:endParaRPr lang="en-US" altLang="zh-CN" sz="12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结束连接</a:t>
            </a:r>
            <a:endParaRPr lang="en-US" altLang="zh-CN" sz="12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713515-71F7-448E-B9FE-D428BA0E2120}"/>
              </a:ext>
            </a:extLst>
          </p:cNvPr>
          <p:cNvSpPr/>
          <p:nvPr/>
        </p:nvSpPr>
        <p:spPr>
          <a:xfrm>
            <a:off x="6034468" y="3423167"/>
            <a:ext cx="1872208" cy="13234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估计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设定定时间隔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2230A0-9940-4848-B995-4486F69C336D}"/>
              </a:ext>
            </a:extLst>
          </p:cNvPr>
          <p:cNvSpPr/>
          <p:nvPr/>
        </p:nvSpPr>
        <p:spPr>
          <a:xfrm>
            <a:off x="1927098" y="3712224"/>
            <a:ext cx="1524841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告知对方</a:t>
            </a: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我的接收窗口大小</a:t>
            </a:r>
            <a:endParaRPr lang="en-US" altLang="zh-CN" sz="12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altLang="zh-CN" sz="2400" dirty="0"/>
              <a:t>3.6 </a:t>
            </a:r>
            <a:r>
              <a:rPr lang="zh-CN" altLang="en-US" sz="2400" dirty="0"/>
              <a:t>拥塞控制原理    </a:t>
            </a:r>
            <a:endParaRPr lang="en-US" altLang="zh-CN" sz="24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3.7 TCP</a:t>
            </a:r>
            <a:r>
              <a:rPr lang="zh-CN" altLang="en-US" sz="2400" dirty="0"/>
              <a:t>拥塞控制</a:t>
            </a:r>
            <a:endParaRPr lang="en-US" altLang="zh-CN" sz="2400" dirty="0"/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F8C4340C-7EA6-4741-9B1C-00613C841EE4}"/>
              </a:ext>
            </a:extLst>
          </p:cNvPr>
          <p:cNvSpPr txBox="1">
            <a:spLocks/>
          </p:cNvSpPr>
          <p:nvPr/>
        </p:nvSpPr>
        <p:spPr>
          <a:xfrm>
            <a:off x="3491880" y="3363886"/>
            <a:ext cx="3068060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3.8 </a:t>
            </a:r>
            <a:r>
              <a:rPr lang="zh-CN" altLang="en-US" sz="2400" dirty="0"/>
              <a:t>本章复习总结</a:t>
            </a:r>
            <a:endParaRPr lang="en-US" altLang="zh-CN" sz="2400" dirty="0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3A48052A-E776-4A77-B648-1F052CA40ED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8B7C0C92-BFA8-46A5-8DD5-CA35693ED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zh-CN" altLang="en-US" dirty="0">
                <a:effectLst/>
              </a:rPr>
              <a:t>网络拥塞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通俗地讲：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effectLst/>
              </a:rPr>
              <a:t>由于 过多的端点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高速</a:t>
            </a:r>
            <a:r>
              <a:rPr lang="zh-CN" altLang="en-US" dirty="0">
                <a:effectLst/>
              </a:rPr>
              <a:t>发送大量的数据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导致 网络</a:t>
            </a:r>
            <a:r>
              <a:rPr lang="en-US" altLang="zh-CN" dirty="0"/>
              <a:t>(</a:t>
            </a:r>
            <a:r>
              <a:rPr lang="zh-CN" altLang="en-US" dirty="0"/>
              <a:t>路由器</a:t>
            </a:r>
            <a:r>
              <a:rPr lang="en-US" altLang="zh-CN" dirty="0"/>
              <a:t>)</a:t>
            </a:r>
            <a:r>
              <a:rPr lang="zh-CN" altLang="en-US" dirty="0"/>
              <a:t>难以</a:t>
            </a:r>
            <a:r>
              <a:rPr lang="zh-CN" altLang="en-US" dirty="0">
                <a:solidFill>
                  <a:srgbClr val="FF0000"/>
                </a:solidFill>
              </a:rPr>
              <a:t>胜任</a:t>
            </a:r>
            <a:r>
              <a:rPr lang="zh-CN" altLang="en-US" dirty="0"/>
              <a:t>数据的转发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不同于流控制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  <a:effectLst/>
              </a:rPr>
              <a:t>匹配</a:t>
            </a:r>
            <a:r>
              <a:rPr lang="zh-CN" altLang="en-US" dirty="0">
                <a:effectLst/>
              </a:rPr>
              <a:t>发送端和接收端的速度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拥塞的表现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effectLst/>
              </a:rPr>
              <a:t>数据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分组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丢失</a:t>
            </a:r>
            <a:r>
              <a:rPr lang="en-US" altLang="zh-CN" dirty="0">
                <a:effectLst/>
              </a:rPr>
              <a:t>(</a:t>
            </a:r>
            <a:r>
              <a:rPr lang="zh-CN" altLang="en-US" dirty="0">
                <a:effectLst/>
              </a:rPr>
              <a:t>路由器的缓存溢出</a:t>
            </a:r>
            <a:r>
              <a:rPr lang="en-US" altLang="zh-CN" dirty="0">
                <a:effectLst/>
              </a:rPr>
              <a:t>)</a:t>
            </a:r>
          </a:p>
          <a:p>
            <a:pPr lvl="2"/>
            <a:r>
              <a:rPr lang="zh-CN" altLang="en-US" dirty="0"/>
              <a:t>产生</a:t>
            </a:r>
            <a:r>
              <a:rPr lang="zh-CN" altLang="en-US" dirty="0">
                <a:solidFill>
                  <a:srgbClr val="FF0000"/>
                </a:solidFill>
              </a:rPr>
              <a:t>较长的时延</a:t>
            </a:r>
            <a:r>
              <a:rPr lang="en-US" altLang="zh-CN" dirty="0"/>
              <a:t>(</a:t>
            </a:r>
            <a:r>
              <a:rPr lang="zh-CN" altLang="en-US" dirty="0"/>
              <a:t>在路由器缓存排队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>
                <a:effectLst/>
              </a:rPr>
              <a:t>拥塞控制是网络中的关键问题</a:t>
            </a:r>
            <a:endParaRPr lang="en-US" altLang="zh-CN" dirty="0">
              <a:effectLst/>
            </a:endParaRPr>
          </a:p>
          <a:p>
            <a:pPr lvl="2"/>
            <a:r>
              <a:rPr lang="en-US" altLang="zh-CN" dirty="0"/>
              <a:t>Top-10 Problem</a:t>
            </a:r>
            <a:r>
              <a:rPr lang="zh-CN" altLang="en-US" dirty="0"/>
              <a:t>！</a:t>
            </a:r>
            <a:endParaRPr lang="en-US" altLang="zh-CN" dirty="0"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F0221976-A396-4F6A-91D3-D369C1B6EAE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4295EF1-004A-4CAE-B11C-F08390AD8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133170" cy="146116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3.6.1 </a:t>
            </a:r>
            <a:r>
              <a:rPr lang="zh-CN" altLang="en-US" dirty="0">
                <a:effectLst/>
              </a:rPr>
              <a:t>拥塞的原因和代价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场景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：两个发送方和一台具有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无限缓存</a:t>
            </a:r>
            <a:r>
              <a:rPr lang="zh-CN" altLang="en-US" dirty="0">
                <a:effectLst/>
              </a:rPr>
              <a:t>的路由器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effectLst/>
              </a:rPr>
              <a:t>链路的带宽：</a:t>
            </a:r>
            <a:r>
              <a:rPr lang="en-US" altLang="zh-CN" dirty="0">
                <a:effectLst/>
              </a:rPr>
              <a:t>R</a:t>
            </a:r>
          </a:p>
          <a:p>
            <a:pPr lvl="2"/>
            <a:r>
              <a:rPr lang="zh-CN" altLang="en-US" dirty="0"/>
              <a:t>没有重传、流控制和拥塞控制</a:t>
            </a:r>
            <a:endParaRPr lang="en-US" altLang="zh-CN" dirty="0"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71764" y="2862253"/>
            <a:ext cx="4636057" cy="2229777"/>
            <a:chOff x="1354758" y="3140968"/>
            <a:chExt cx="6181409" cy="2973036"/>
          </a:xfrm>
        </p:grpSpPr>
        <p:sp>
          <p:nvSpPr>
            <p:cNvPr id="8" name="Freeform 9"/>
            <p:cNvSpPr/>
            <p:nvPr/>
          </p:nvSpPr>
          <p:spPr bwMode="auto">
            <a:xfrm flipH="1">
              <a:off x="2573958" y="3660036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9" name="Group 124"/>
            <p:cNvGrpSpPr/>
            <p:nvPr/>
          </p:nvGrpSpPr>
          <p:grpSpPr bwMode="auto">
            <a:xfrm>
              <a:off x="2240583" y="4356949"/>
              <a:ext cx="525463" cy="434975"/>
              <a:chOff x="-44" y="1473"/>
              <a:chExt cx="981" cy="1105"/>
            </a:xfrm>
          </p:grpSpPr>
          <p:pic>
            <p:nvPicPr>
              <p:cNvPr id="10" name="Picture 1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Freeform 1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12" name="Freeform 3"/>
            <p:cNvSpPr/>
            <p:nvPr/>
          </p:nvSpPr>
          <p:spPr bwMode="auto">
            <a:xfrm>
              <a:off x="6558583" y="4852249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934821" y="387117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2"/>
            <p:cNvSpPr/>
            <p:nvPr/>
          </p:nvSpPr>
          <p:spPr bwMode="auto">
            <a:xfrm flipH="1">
              <a:off x="1699246" y="460142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977308" y="5099899"/>
              <a:ext cx="1063625" cy="2349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977308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5040933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3977308" y="5080849"/>
              <a:ext cx="252413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718671" y="5071324"/>
              <a:ext cx="322262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966196" y="4912574"/>
              <a:ext cx="1063625" cy="2730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21" name="Group 24"/>
            <p:cNvGrpSpPr/>
            <p:nvPr/>
          </p:nvGrpSpPr>
          <p:grpSpPr bwMode="auto">
            <a:xfrm>
              <a:off x="4223371" y="4971311"/>
              <a:ext cx="527050" cy="160338"/>
              <a:chOff x="2848" y="848"/>
              <a:chExt cx="140" cy="98"/>
            </a:xfrm>
          </p:grpSpPr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8"/>
            <p:cNvGrpSpPr/>
            <p:nvPr/>
          </p:nvGrpSpPr>
          <p:grpSpPr bwMode="auto">
            <a:xfrm flipV="1">
              <a:off x="4223371" y="4969724"/>
              <a:ext cx="527050" cy="158750"/>
              <a:chOff x="2848" y="848"/>
              <a:chExt cx="140" cy="98"/>
            </a:xfrm>
          </p:grpSpPr>
          <p:sp>
            <p:nvSpPr>
              <p:cNvPr id="26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7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3243365" y="5425755"/>
              <a:ext cx="158630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无限的共享输出链路缓存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H="1">
              <a:off x="286129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H="1">
              <a:off x="3347071" y="473477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2" name="Group 35"/>
            <p:cNvGrpSpPr/>
            <p:nvPr/>
          </p:nvGrpSpPr>
          <p:grpSpPr bwMode="auto">
            <a:xfrm>
              <a:off x="2800971" y="3715599"/>
              <a:ext cx="650875" cy="904875"/>
              <a:chOff x="12762" y="10336"/>
              <a:chExt cx="1027" cy="1700"/>
            </a:xfrm>
          </p:grpSpPr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4" name="Rectangle 3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2039524" y="4104317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2194546" y="3140968"/>
              <a:ext cx="154503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初始数据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500" dirty="0" err="1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 err="1">
                  <a:solidFill>
                    <a:srgbClr val="CC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105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105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 flipH="1">
              <a:off x="2423146" y="559202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2" name="Group 45"/>
            <p:cNvGrpSpPr/>
            <p:nvPr/>
          </p:nvGrpSpPr>
          <p:grpSpPr bwMode="auto">
            <a:xfrm>
              <a:off x="1943721" y="4610949"/>
              <a:ext cx="650875" cy="904875"/>
              <a:chOff x="12762" y="10336"/>
              <a:chExt cx="1027" cy="1700"/>
            </a:xfrm>
          </p:grpSpPr>
          <p:sp>
            <p:nvSpPr>
              <p:cNvPr id="43" name="Rectangle 4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4" name="Rectangle 4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5" name="Line 4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" name="Line 5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Line 5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1519765" y="5680943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 flipH="1">
              <a:off x="334707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 flipH="1">
              <a:off x="496632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 flipH="1">
              <a:off x="509014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 flipH="1">
              <a:off x="5983908" y="4744299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4" name="Group 58"/>
            <p:cNvGrpSpPr/>
            <p:nvPr/>
          </p:nvGrpSpPr>
          <p:grpSpPr bwMode="auto">
            <a:xfrm>
              <a:off x="6296646" y="3820374"/>
              <a:ext cx="650875" cy="904875"/>
              <a:chOff x="12762" y="10336"/>
              <a:chExt cx="1027" cy="1700"/>
            </a:xfrm>
          </p:grpSpPr>
          <p:sp>
            <p:nvSpPr>
              <p:cNvPr id="55" name="Rectangle 59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6" name="Rectangle 60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7" name="Line 61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Line 62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" name="Line 63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Line 64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1" name="Group 65"/>
            <p:cNvGrpSpPr/>
            <p:nvPr/>
          </p:nvGrpSpPr>
          <p:grpSpPr bwMode="auto">
            <a:xfrm>
              <a:off x="5915646" y="4837961"/>
              <a:ext cx="650875" cy="906463"/>
              <a:chOff x="12762" y="10336"/>
              <a:chExt cx="1027" cy="1700"/>
            </a:xfrm>
          </p:grpSpPr>
          <p:sp>
            <p:nvSpPr>
              <p:cNvPr id="62" name="Rectangle 6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3" name="Rectangle 6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4" name="Line 6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5" name="Line 6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6" name="Line 7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7" name="Line 7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8" name="Oval 72"/>
            <p:cNvSpPr>
              <a:spLocks noChangeArrowheads="1"/>
            </p:cNvSpPr>
            <p:nvPr/>
          </p:nvSpPr>
          <p:spPr bwMode="auto">
            <a:xfrm>
              <a:off x="3137521" y="37727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Oval 73"/>
            <p:cNvSpPr>
              <a:spLocks noChangeArrowheads="1"/>
            </p:cNvSpPr>
            <p:nvPr/>
          </p:nvSpPr>
          <p:spPr bwMode="auto">
            <a:xfrm>
              <a:off x="2194546" y="46490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0" name="Line 74"/>
            <p:cNvSpPr>
              <a:spLocks noChangeShapeType="1"/>
            </p:cNvSpPr>
            <p:nvPr/>
          </p:nvSpPr>
          <p:spPr bwMode="auto">
            <a:xfrm>
              <a:off x="2712071" y="3552086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Text Box 75"/>
            <p:cNvSpPr txBox="1">
              <a:spLocks noChangeArrowheads="1"/>
            </p:cNvSpPr>
            <p:nvPr/>
          </p:nvSpPr>
          <p:spPr bwMode="auto">
            <a:xfrm>
              <a:off x="5575921" y="3229824"/>
              <a:ext cx="73213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1500" dirty="0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out</a:t>
              </a:r>
              <a:endParaRPr lang="en-US" altLang="zh-CN" sz="1500" dirty="0">
                <a:solidFill>
                  <a:srgbClr val="CC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2" name="Line 76"/>
            <p:cNvSpPr>
              <a:spLocks noChangeShapeType="1"/>
            </p:cNvSpPr>
            <p:nvPr/>
          </p:nvSpPr>
          <p:spPr bwMode="auto">
            <a:xfrm>
              <a:off x="6014071" y="3639399"/>
              <a:ext cx="528637" cy="241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 flipV="1">
              <a:off x="4116804" y="5274523"/>
              <a:ext cx="530237" cy="1777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4" name="Group 78"/>
            <p:cNvGrpSpPr/>
            <p:nvPr/>
          </p:nvGrpSpPr>
          <p:grpSpPr bwMode="auto">
            <a:xfrm>
              <a:off x="4337671" y="5001474"/>
              <a:ext cx="673100" cy="266700"/>
              <a:chOff x="10808" y="10250"/>
              <a:chExt cx="1018" cy="403"/>
            </a:xfrm>
          </p:grpSpPr>
          <p:sp>
            <p:nvSpPr>
              <p:cNvPr id="75" name="Rectangle 79"/>
              <p:cNvSpPr>
                <a:spLocks noChangeArrowheads="1"/>
              </p:cNvSpPr>
              <p:nvPr/>
            </p:nvSpPr>
            <p:spPr bwMode="auto">
              <a:xfrm>
                <a:off x="10832" y="10250"/>
                <a:ext cx="994" cy="403"/>
              </a:xfrm>
              <a:prstGeom prst="rect">
                <a:avLst/>
              </a:pr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6" name="Freeform 80"/>
              <p:cNvSpPr/>
              <p:nvPr/>
            </p:nvSpPr>
            <p:spPr bwMode="auto">
              <a:xfrm>
                <a:off x="11198" y="10272"/>
                <a:ext cx="610" cy="374"/>
              </a:xfrm>
              <a:custGeom>
                <a:avLst/>
                <a:gdLst>
                  <a:gd name="T0" fmla="*/ 0 w 855"/>
                  <a:gd name="T1" fmla="*/ 0 h 390"/>
                  <a:gd name="T2" fmla="*/ 221 w 855"/>
                  <a:gd name="T3" fmla="*/ 0 h 390"/>
                  <a:gd name="T4" fmla="*/ 221 w 855"/>
                  <a:gd name="T5" fmla="*/ 330 h 390"/>
                  <a:gd name="T6" fmla="*/ 11 w 855"/>
                  <a:gd name="T7" fmla="*/ 330 h 39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5" h="390">
                    <a:moveTo>
                      <a:pt x="0" y="0"/>
                    </a:moveTo>
                    <a:lnTo>
                      <a:pt x="855" y="0"/>
                    </a:lnTo>
                    <a:lnTo>
                      <a:pt x="855" y="390"/>
                    </a:lnTo>
                    <a:lnTo>
                      <a:pt x="45" y="3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7" name="Line 81"/>
              <p:cNvSpPr>
                <a:spLocks noChangeShapeType="1"/>
              </p:cNvSpPr>
              <p:nvPr/>
            </p:nvSpPr>
            <p:spPr bwMode="auto">
              <a:xfrm>
                <a:off x="10808" y="10272"/>
                <a:ext cx="39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>
                <a:off x="10830" y="10646"/>
                <a:ext cx="38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9" name="Line 83"/>
              <p:cNvSpPr>
                <a:spLocks noChangeShapeType="1"/>
              </p:cNvSpPr>
              <p:nvPr/>
            </p:nvSpPr>
            <p:spPr bwMode="auto">
              <a:xfrm>
                <a:off x="1174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1679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2" name="Line 85"/>
              <p:cNvSpPr>
                <a:spLocks noChangeShapeType="1"/>
              </p:cNvSpPr>
              <p:nvPr/>
            </p:nvSpPr>
            <p:spPr bwMode="auto">
              <a:xfrm>
                <a:off x="1161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3" name="Line 86"/>
              <p:cNvSpPr>
                <a:spLocks noChangeShapeType="1"/>
              </p:cNvSpPr>
              <p:nvPr/>
            </p:nvSpPr>
            <p:spPr bwMode="auto">
              <a:xfrm>
                <a:off x="11549" y="1032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4" name="Line 87"/>
              <p:cNvSpPr>
                <a:spLocks noChangeShapeType="1"/>
              </p:cNvSpPr>
              <p:nvPr/>
            </p:nvSpPr>
            <p:spPr bwMode="auto">
              <a:xfrm>
                <a:off x="11484" y="10322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Line 88"/>
              <p:cNvSpPr>
                <a:spLocks noChangeShapeType="1"/>
              </p:cNvSpPr>
              <p:nvPr/>
            </p:nvSpPr>
            <p:spPr bwMode="auto">
              <a:xfrm>
                <a:off x="11418" y="10322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6" name="Line 89"/>
              <p:cNvSpPr>
                <a:spLocks noChangeShapeType="1"/>
              </p:cNvSpPr>
              <p:nvPr/>
            </p:nvSpPr>
            <p:spPr bwMode="auto">
              <a:xfrm>
                <a:off x="10909" y="10452"/>
                <a:ext cx="417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7" name="Freeform 90"/>
            <p:cNvSpPr/>
            <p:nvPr/>
          </p:nvSpPr>
          <p:spPr bwMode="auto">
            <a:xfrm>
              <a:off x="2242171" y="4725249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Freeform 91"/>
            <p:cNvSpPr/>
            <p:nvPr/>
          </p:nvSpPr>
          <p:spPr bwMode="auto">
            <a:xfrm>
              <a:off x="3185146" y="3820374"/>
              <a:ext cx="3429000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" h="804">
                  <a:moveTo>
                    <a:pt x="0" y="0"/>
                  </a:moveTo>
                  <a:lnTo>
                    <a:pt x="0" y="594"/>
                  </a:lnTo>
                  <a:lnTo>
                    <a:pt x="402" y="600"/>
                  </a:lnTo>
                  <a:lnTo>
                    <a:pt x="216" y="804"/>
                  </a:lnTo>
                  <a:lnTo>
                    <a:pt x="1446" y="804"/>
                  </a:lnTo>
                  <a:lnTo>
                    <a:pt x="1770" y="524"/>
                  </a:lnTo>
                  <a:lnTo>
                    <a:pt x="2160" y="516"/>
                  </a:lnTo>
                  <a:lnTo>
                    <a:pt x="2160" y="48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9" name="Group 127"/>
            <p:cNvGrpSpPr/>
            <p:nvPr/>
          </p:nvGrpSpPr>
          <p:grpSpPr bwMode="auto">
            <a:xfrm>
              <a:off x="7034833" y="4442674"/>
              <a:ext cx="231775" cy="441325"/>
              <a:chOff x="4140" y="429"/>
              <a:chExt cx="1425" cy="2396"/>
            </a:xfrm>
          </p:grpSpPr>
          <p:sp>
            <p:nvSpPr>
              <p:cNvPr id="90" name="Freeform 12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1" name="Rectangle 129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2" name="Freeform 13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3" name="Freeform 13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4" name="Rectangle 132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5" name="Group 13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0" name="AutoShape 134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21" name="AutoShape 135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6" name="Rectangle 136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7" name="Group 13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8" name="AutoShape 138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9" name="AutoShape 139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8" name="Rectangle 140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9" name="Rectangle 141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00" name="Group 14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6" name="AutoShape 143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7" name="AutoShape 144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1" name="Freeform 14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02" name="Group 14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" name="AutoShape 147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5" name="AutoShape 148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3" name="Rectangle 149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4" name="Freeform 15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5" name="Freeform 15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6" name="Oval 152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7" name="Freeform 15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8" name="AutoShape 154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9" name="AutoShape 155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0" name="Oval 156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1" name="Oval 157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Oval 158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3" name="Rectangle 159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grpSp>
          <p:nvGrpSpPr>
            <p:cNvPr id="122" name="Group 160"/>
            <p:cNvGrpSpPr/>
            <p:nvPr/>
          </p:nvGrpSpPr>
          <p:grpSpPr bwMode="auto">
            <a:xfrm>
              <a:off x="1354758" y="5333261"/>
              <a:ext cx="525463" cy="434975"/>
              <a:chOff x="-44" y="1473"/>
              <a:chExt cx="981" cy="1105"/>
            </a:xfrm>
          </p:grpSpPr>
          <p:pic>
            <p:nvPicPr>
              <p:cNvPr id="123" name="Picture 16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" name="Freeform 16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25" name="Group 163"/>
            <p:cNvGrpSpPr/>
            <p:nvPr/>
          </p:nvGrpSpPr>
          <p:grpSpPr bwMode="auto">
            <a:xfrm>
              <a:off x="6717333" y="5407874"/>
              <a:ext cx="231775" cy="441325"/>
              <a:chOff x="4140" y="429"/>
              <a:chExt cx="1425" cy="2396"/>
            </a:xfrm>
          </p:grpSpPr>
          <p:sp>
            <p:nvSpPr>
              <p:cNvPr id="126" name="Freeform 164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7" name="Rectangle 165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28" name="Freeform 166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9" name="Freeform 167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" name="Rectangle 168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1" name="Group 169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6" name="AutoShape 170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7" name="AutoShape 171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2" name="Rectangle 172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3" name="Group 173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4" name="AutoShape 174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5" name="AutoShape 175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4" name="Rectangle 176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5" name="Rectangle 177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6" name="Group 178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2" name="AutoShape 179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3" name="AutoShape 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7" name="Freeform 181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38" name="Group 182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0" name="AutoShape 183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1" name="AutoShape 184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9" name="Rectangle 185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0" name="Freeform 186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1" name="Freeform 187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2" name="Oval 188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3" name="Freeform 189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AutoShape 190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5" name="AutoShape 191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6" name="Oval 192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7" name="Oval 193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Oval 194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9" name="Rectangle 195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58" name="Text Box 42"/>
            <p:cNvSpPr txBox="1">
              <a:spLocks noChangeArrowheads="1"/>
            </p:cNvSpPr>
            <p:nvPr/>
          </p:nvSpPr>
          <p:spPr bwMode="auto">
            <a:xfrm>
              <a:off x="6759485" y="4880278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59" name="Text Box 52"/>
            <p:cNvSpPr txBox="1">
              <a:spLocks noChangeArrowheads="1"/>
            </p:cNvSpPr>
            <p:nvPr/>
          </p:nvSpPr>
          <p:spPr bwMode="auto">
            <a:xfrm>
              <a:off x="6388440" y="5871116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72" name="Group 107"/>
          <p:cNvGrpSpPr/>
          <p:nvPr/>
        </p:nvGrpSpPr>
        <p:grpSpPr bwMode="auto">
          <a:xfrm>
            <a:off x="6864438" y="1200859"/>
            <a:ext cx="1750219" cy="1301354"/>
            <a:chOff x="837" y="2465"/>
            <a:chExt cx="1470" cy="1093"/>
          </a:xfrm>
        </p:grpSpPr>
        <p:sp>
          <p:nvSpPr>
            <p:cNvPr id="173" name="Line 94"/>
            <p:cNvSpPr>
              <a:spLocks noChangeShapeType="1"/>
            </p:cNvSpPr>
            <p:nvPr/>
          </p:nvSpPr>
          <p:spPr bwMode="auto">
            <a:xfrm>
              <a:off x="1141" y="2507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4" name="Line 95"/>
            <p:cNvSpPr>
              <a:spLocks noChangeShapeType="1"/>
            </p:cNvSpPr>
            <p:nvPr/>
          </p:nvSpPr>
          <p:spPr bwMode="auto">
            <a:xfrm flipV="1">
              <a:off x="1135" y="3307"/>
              <a:ext cx="92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5" name="Line 96"/>
            <p:cNvSpPr>
              <a:spLocks noChangeShapeType="1"/>
            </p:cNvSpPr>
            <p:nvPr/>
          </p:nvSpPr>
          <p:spPr bwMode="auto">
            <a:xfrm>
              <a:off x="1855" y="2595"/>
              <a:ext cx="0" cy="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6" name="Freeform 97"/>
            <p:cNvSpPr/>
            <p:nvPr/>
          </p:nvSpPr>
          <p:spPr bwMode="auto">
            <a:xfrm>
              <a:off x="1137" y="2573"/>
              <a:ext cx="1170" cy="732"/>
            </a:xfrm>
            <a:custGeom>
              <a:avLst/>
              <a:gdLst>
                <a:gd name="T0" fmla="*/ 0 w 1170"/>
                <a:gd name="T1" fmla="*/ 732 h 732"/>
                <a:gd name="T2" fmla="*/ 720 w 1170"/>
                <a:gd name="T3" fmla="*/ 0 h 732"/>
                <a:gd name="T4" fmla="*/ 1170 w 1170"/>
                <a:gd name="T5" fmla="*/ 0 h 7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70" h="732">
                  <a:moveTo>
                    <a:pt x="0" y="732"/>
                  </a:moveTo>
                  <a:lnTo>
                    <a:pt x="720" y="0"/>
                  </a:lnTo>
                  <a:lnTo>
                    <a:pt x="117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77" name="Line 98"/>
            <p:cNvSpPr>
              <a:spLocks noChangeShapeType="1"/>
            </p:cNvSpPr>
            <p:nvPr/>
          </p:nvSpPr>
          <p:spPr bwMode="auto">
            <a:xfrm>
              <a:off x="1089" y="2573"/>
              <a:ext cx="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8" name="Line 99"/>
            <p:cNvSpPr>
              <a:spLocks noChangeShapeType="1"/>
            </p:cNvSpPr>
            <p:nvPr/>
          </p:nvSpPr>
          <p:spPr bwMode="auto">
            <a:xfrm>
              <a:off x="1853" y="3311"/>
              <a:ext cx="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9" name="Text Box 100"/>
            <p:cNvSpPr txBox="1">
              <a:spLocks noChangeArrowheads="1"/>
            </p:cNvSpPr>
            <p:nvPr/>
          </p:nvSpPr>
          <p:spPr bwMode="auto">
            <a:xfrm>
              <a:off x="837" y="2465"/>
              <a:ext cx="330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R/2</a:t>
              </a:r>
            </a:p>
          </p:txBody>
        </p:sp>
        <p:sp>
          <p:nvSpPr>
            <p:cNvPr id="180" name="Text Box 101"/>
            <p:cNvSpPr txBox="1">
              <a:spLocks noChangeArrowheads="1"/>
            </p:cNvSpPr>
            <p:nvPr/>
          </p:nvSpPr>
          <p:spPr bwMode="auto">
            <a:xfrm>
              <a:off x="1721" y="3333"/>
              <a:ext cx="330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R/2</a:t>
              </a:r>
            </a:p>
          </p:txBody>
        </p:sp>
        <p:sp>
          <p:nvSpPr>
            <p:cNvPr id="181" name="Text Box 102"/>
            <p:cNvSpPr txBox="1">
              <a:spLocks noChangeArrowheads="1"/>
            </p:cNvSpPr>
            <p:nvPr/>
          </p:nvSpPr>
          <p:spPr bwMode="auto">
            <a:xfrm rot="16200000">
              <a:off x="806" y="2829"/>
              <a:ext cx="392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500">
                  <a:latin typeface="Symbol" panose="05050102010706020507" charset="0"/>
                </a:rPr>
                <a:t>l</a:t>
              </a:r>
              <a:r>
                <a:rPr lang="en-US" sz="1500" baseline="-25000">
                  <a:latin typeface="Arial" panose="020B0604020202020204" pitchFamily="34" charset="0"/>
                </a:rPr>
                <a:t>out</a:t>
              </a:r>
            </a:p>
          </p:txBody>
        </p:sp>
        <p:sp>
          <p:nvSpPr>
            <p:cNvPr id="182" name="Text Box 103"/>
            <p:cNvSpPr txBox="1">
              <a:spLocks noChangeArrowheads="1"/>
            </p:cNvSpPr>
            <p:nvPr/>
          </p:nvSpPr>
          <p:spPr bwMode="auto">
            <a:xfrm>
              <a:off x="1392" y="3287"/>
              <a:ext cx="327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500">
                  <a:latin typeface="Symbol" panose="05050102010706020507" charset="0"/>
                </a:rPr>
                <a:t>l</a:t>
              </a:r>
              <a:r>
                <a:rPr lang="en-US" sz="1500" baseline="-25000">
                  <a:latin typeface="Arial" panose="020B0604020202020204" pitchFamily="34" charset="0"/>
                </a:rPr>
                <a:t>in</a:t>
              </a:r>
            </a:p>
          </p:txBody>
        </p:sp>
        <p:sp>
          <p:nvSpPr>
            <p:cNvPr id="183" name="Line 106"/>
            <p:cNvSpPr>
              <a:spLocks noChangeShapeType="1"/>
            </p:cNvSpPr>
            <p:nvPr/>
          </p:nvSpPr>
          <p:spPr bwMode="auto">
            <a:xfrm>
              <a:off x="1153" y="2574"/>
              <a:ext cx="6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</p:grpSp>
      <p:grpSp>
        <p:nvGrpSpPr>
          <p:cNvPr id="184" name="Group 120"/>
          <p:cNvGrpSpPr/>
          <p:nvPr/>
        </p:nvGrpSpPr>
        <p:grpSpPr bwMode="auto">
          <a:xfrm>
            <a:off x="7051324" y="2898079"/>
            <a:ext cx="1415653" cy="1378745"/>
            <a:chOff x="4178" y="2667"/>
            <a:chExt cx="1189" cy="1158"/>
          </a:xfrm>
        </p:grpSpPr>
        <p:sp>
          <p:nvSpPr>
            <p:cNvPr id="185" name="Line 109"/>
            <p:cNvSpPr>
              <a:spLocks noChangeShapeType="1"/>
            </p:cNvSpPr>
            <p:nvPr/>
          </p:nvSpPr>
          <p:spPr bwMode="auto">
            <a:xfrm>
              <a:off x="4451" y="2774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6" name="Line 110"/>
            <p:cNvSpPr>
              <a:spLocks noChangeShapeType="1"/>
            </p:cNvSpPr>
            <p:nvPr/>
          </p:nvSpPr>
          <p:spPr bwMode="auto">
            <a:xfrm flipV="1">
              <a:off x="4445" y="3574"/>
              <a:ext cx="92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7" name="Line 111"/>
            <p:cNvSpPr>
              <a:spLocks noChangeShapeType="1"/>
            </p:cNvSpPr>
            <p:nvPr/>
          </p:nvSpPr>
          <p:spPr bwMode="auto">
            <a:xfrm>
              <a:off x="5165" y="2862"/>
              <a:ext cx="0" cy="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8" name="Freeform 112"/>
            <p:cNvSpPr/>
            <p:nvPr/>
          </p:nvSpPr>
          <p:spPr bwMode="auto">
            <a:xfrm>
              <a:off x="4447" y="2667"/>
              <a:ext cx="723" cy="90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3" h="905">
                  <a:moveTo>
                    <a:pt x="0" y="905"/>
                  </a:moveTo>
                  <a:cubicBezTo>
                    <a:pt x="95" y="876"/>
                    <a:pt x="460" y="883"/>
                    <a:pt x="573" y="732"/>
                  </a:cubicBezTo>
                  <a:cubicBezTo>
                    <a:pt x="723" y="490"/>
                    <a:pt x="658" y="152"/>
                    <a:pt x="68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89" name="Line 114"/>
            <p:cNvSpPr>
              <a:spLocks noChangeShapeType="1"/>
            </p:cNvSpPr>
            <p:nvPr/>
          </p:nvSpPr>
          <p:spPr bwMode="auto">
            <a:xfrm>
              <a:off x="5163" y="3578"/>
              <a:ext cx="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90" name="Text Box 116"/>
            <p:cNvSpPr txBox="1">
              <a:spLocks noChangeArrowheads="1"/>
            </p:cNvSpPr>
            <p:nvPr/>
          </p:nvSpPr>
          <p:spPr bwMode="auto">
            <a:xfrm>
              <a:off x="5031" y="3600"/>
              <a:ext cx="330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R/2</a:t>
              </a:r>
            </a:p>
          </p:txBody>
        </p:sp>
        <p:sp>
          <p:nvSpPr>
            <p:cNvPr id="191" name="Text Box 117"/>
            <p:cNvSpPr txBox="1">
              <a:spLocks noChangeArrowheads="1"/>
            </p:cNvSpPr>
            <p:nvPr/>
          </p:nvSpPr>
          <p:spPr bwMode="auto">
            <a:xfrm rot="16200000">
              <a:off x="4042" y="3094"/>
              <a:ext cx="543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>
                  <a:latin typeface="Arial" panose="020B0604020202020204" pitchFamily="34" charset="0"/>
                </a:rPr>
                <a:t>delay</a:t>
              </a:r>
              <a:endParaRPr lang="en-US" altLang="zh-CN" sz="1500" baseline="-25000">
                <a:latin typeface="Arial" panose="020B0604020202020204" pitchFamily="34" charset="0"/>
              </a:endParaRPr>
            </a:p>
          </p:txBody>
        </p:sp>
        <p:sp>
          <p:nvSpPr>
            <p:cNvPr id="192" name="Text Box 118"/>
            <p:cNvSpPr txBox="1">
              <a:spLocks noChangeArrowheads="1"/>
            </p:cNvSpPr>
            <p:nvPr/>
          </p:nvSpPr>
          <p:spPr bwMode="auto">
            <a:xfrm>
              <a:off x="4702" y="3554"/>
              <a:ext cx="327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500">
                  <a:latin typeface="Symbol" panose="05050102010706020507" charset="0"/>
                </a:rPr>
                <a:t>l</a:t>
              </a:r>
              <a:r>
                <a:rPr lang="en-US" sz="1500" baseline="-25000">
                  <a:latin typeface="Arial" panose="020B0604020202020204" pitchFamily="34" charset="0"/>
                </a:rPr>
                <a:t>in</a:t>
              </a:r>
            </a:p>
          </p:txBody>
        </p:sp>
      </p:grp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FD6708AC-0236-486E-AAA4-13BE5C13773C}"/>
              </a:ext>
            </a:extLst>
          </p:cNvPr>
          <p:cNvSpPr/>
          <p:nvPr/>
        </p:nvSpPr>
        <p:spPr>
          <a:xfrm>
            <a:off x="940313" y="2891100"/>
            <a:ext cx="4999839" cy="2252400"/>
          </a:xfrm>
          <a:prstGeom prst="roundRect">
            <a:avLst>
              <a:gd name="adj" fmla="val 8086"/>
            </a:avLst>
          </a:prstGeom>
          <a:noFill/>
          <a:ln w="3175"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灯片编号占位符 2">
            <a:extLst>
              <a:ext uri="{FF2B5EF4-FFF2-40B4-BE49-F238E27FC236}">
                <a16:creationId xmlns:a16="http://schemas.microsoft.com/office/drawing/2014/main" id="{1C554709-38B0-4D2E-B4BB-C80EA6C1D97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195" name="AutoShape 5">
            <a:extLst>
              <a:ext uri="{FF2B5EF4-FFF2-40B4-BE49-F238E27FC236}">
                <a16:creationId xmlns:a16="http://schemas.microsoft.com/office/drawing/2014/main" id="{289EC69F-A33B-49CF-82A2-3C2C3C992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340410" cy="1955045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3.6.1 </a:t>
            </a:r>
            <a:r>
              <a:rPr lang="zh-CN" altLang="en-US" dirty="0">
                <a:effectLst/>
              </a:rPr>
              <a:t>拥塞的原因和代价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场景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：两个发送方和一台具有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有限缓存</a:t>
            </a:r>
            <a:r>
              <a:rPr lang="zh-CN" altLang="en-US" dirty="0">
                <a:effectLst/>
              </a:rPr>
              <a:t>的路由器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effectLst/>
              </a:rPr>
              <a:t>链路的带宽：</a:t>
            </a:r>
            <a:r>
              <a:rPr lang="en-US" altLang="zh-CN" dirty="0">
                <a:effectLst/>
              </a:rPr>
              <a:t>R</a:t>
            </a:r>
          </a:p>
          <a:p>
            <a:pPr lvl="2"/>
            <a:r>
              <a:rPr lang="zh-CN" altLang="en-US" dirty="0"/>
              <a:t>有分组重传控制：</a:t>
            </a:r>
            <a:endParaRPr lang="en-US" altLang="zh-CN" dirty="0"/>
          </a:p>
          <a:p>
            <a:pPr lvl="3"/>
            <a:r>
              <a:rPr lang="zh-CN" altLang="en-US" dirty="0">
                <a:effectLst/>
              </a:rPr>
              <a:t>应用层：</a:t>
            </a:r>
            <a:r>
              <a:rPr lang="en-US" altLang="zh-CN" dirty="0" err="1"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</a:t>
            </a:r>
            <a:r>
              <a:rPr lang="en-US" altLang="zh-CN" dirty="0">
                <a:latin typeface="Symbol" panose="05050102010706020507" pitchFamily="18" charset="2"/>
              </a:rPr>
              <a:t>l</a:t>
            </a:r>
            <a:r>
              <a:rPr lang="en-US" altLang="zh-CN" baseline="-25000" dirty="0">
                <a:latin typeface="Arial" panose="020B0604020202020204" pitchFamily="34" charset="0"/>
              </a:rPr>
              <a:t>out</a:t>
            </a:r>
          </a:p>
          <a:p>
            <a:pPr lvl="3"/>
            <a:r>
              <a:rPr lang="zh-CN" altLang="en-US" dirty="0">
                <a:effectLst/>
                <a:latin typeface="Arial" panose="020B0604020202020204" pitchFamily="34" charset="0"/>
              </a:rPr>
              <a:t>运输层：</a:t>
            </a:r>
            <a:r>
              <a:rPr lang="en-US" altLang="zh-CN" dirty="0" err="1">
                <a:solidFill>
                  <a:srgbClr val="CC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solidFill>
                  <a:srgbClr val="CC0000"/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rgbClr val="CC0000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CC0000"/>
                </a:solidFill>
                <a:latin typeface="Arial" panose="020B0604020202020204" pitchFamily="34" charset="0"/>
              </a:rPr>
              <a:t>≥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latin typeface="Arial" panose="020B0604020202020204" pitchFamily="34" charset="0"/>
              </a:rPr>
              <a:t>in</a:t>
            </a:r>
            <a:r>
              <a:rPr lang="zh-CN" altLang="en-US" dirty="0">
                <a:latin typeface="Arial" panose="020B0604020202020204" pitchFamily="34" charset="0"/>
              </a:rPr>
              <a:t>包括了重传的数据分组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i="1" dirty="0"/>
          </a:p>
          <a:p>
            <a:pPr lvl="3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68122" y="2862254"/>
            <a:ext cx="4636057" cy="2229776"/>
            <a:chOff x="1354758" y="3140969"/>
            <a:chExt cx="6181409" cy="2973035"/>
          </a:xfrm>
        </p:grpSpPr>
        <p:sp>
          <p:nvSpPr>
            <p:cNvPr id="8" name="Freeform 9"/>
            <p:cNvSpPr/>
            <p:nvPr/>
          </p:nvSpPr>
          <p:spPr bwMode="auto">
            <a:xfrm flipH="1">
              <a:off x="2573958" y="3660036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9" name="Group 124"/>
            <p:cNvGrpSpPr/>
            <p:nvPr/>
          </p:nvGrpSpPr>
          <p:grpSpPr bwMode="auto">
            <a:xfrm>
              <a:off x="2240583" y="4356949"/>
              <a:ext cx="525463" cy="434975"/>
              <a:chOff x="-44" y="1473"/>
              <a:chExt cx="981" cy="1105"/>
            </a:xfrm>
          </p:grpSpPr>
          <p:pic>
            <p:nvPicPr>
              <p:cNvPr id="10" name="Picture 1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Freeform 1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12" name="Freeform 3"/>
            <p:cNvSpPr/>
            <p:nvPr/>
          </p:nvSpPr>
          <p:spPr bwMode="auto">
            <a:xfrm>
              <a:off x="6558583" y="4852249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934821" y="387117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2"/>
            <p:cNvSpPr/>
            <p:nvPr/>
          </p:nvSpPr>
          <p:spPr bwMode="auto">
            <a:xfrm flipH="1">
              <a:off x="1699246" y="460142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977308" y="5099899"/>
              <a:ext cx="1063625" cy="2349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977308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5040933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3977308" y="5080849"/>
              <a:ext cx="252413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718671" y="5071324"/>
              <a:ext cx="322262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966196" y="4912574"/>
              <a:ext cx="1063625" cy="2730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21" name="Group 24"/>
            <p:cNvGrpSpPr/>
            <p:nvPr/>
          </p:nvGrpSpPr>
          <p:grpSpPr bwMode="auto">
            <a:xfrm>
              <a:off x="4223371" y="4971311"/>
              <a:ext cx="527050" cy="160338"/>
              <a:chOff x="2848" y="848"/>
              <a:chExt cx="140" cy="98"/>
            </a:xfrm>
          </p:grpSpPr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8"/>
            <p:cNvGrpSpPr/>
            <p:nvPr/>
          </p:nvGrpSpPr>
          <p:grpSpPr bwMode="auto">
            <a:xfrm flipV="1">
              <a:off x="4223371" y="4969724"/>
              <a:ext cx="527050" cy="158750"/>
              <a:chOff x="2848" y="848"/>
              <a:chExt cx="140" cy="98"/>
            </a:xfrm>
          </p:grpSpPr>
          <p:sp>
            <p:nvSpPr>
              <p:cNvPr id="26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7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3121947" y="5459467"/>
              <a:ext cx="1586307" cy="39528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有限的共享输出链路缓存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H="1">
              <a:off x="286129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H="1">
              <a:off x="3347071" y="473477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2" name="Group 35"/>
            <p:cNvGrpSpPr/>
            <p:nvPr/>
          </p:nvGrpSpPr>
          <p:grpSpPr bwMode="auto">
            <a:xfrm>
              <a:off x="2800971" y="3715599"/>
              <a:ext cx="650875" cy="904875"/>
              <a:chOff x="12762" y="10336"/>
              <a:chExt cx="1027" cy="1700"/>
            </a:xfrm>
          </p:grpSpPr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4" name="Rectangle 3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2039524" y="4104317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2194545" y="3140969"/>
              <a:ext cx="1548641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初始数据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500" dirty="0" err="1">
                  <a:solidFill>
                    <a:srgbClr val="FF66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 err="1">
                  <a:solidFill>
                    <a:srgbClr val="FF66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1200" baseline="-25000" dirty="0">
                  <a:solidFill>
                    <a:srgbClr val="FF66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1200" dirty="0">
                <a:solidFill>
                  <a:srgbClr val="FF66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 flipH="1">
              <a:off x="2423146" y="559202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2" name="Group 45"/>
            <p:cNvGrpSpPr/>
            <p:nvPr/>
          </p:nvGrpSpPr>
          <p:grpSpPr bwMode="auto">
            <a:xfrm>
              <a:off x="1943721" y="4610949"/>
              <a:ext cx="650875" cy="904875"/>
              <a:chOff x="12762" y="10336"/>
              <a:chExt cx="1027" cy="1700"/>
            </a:xfrm>
          </p:grpSpPr>
          <p:sp>
            <p:nvSpPr>
              <p:cNvPr id="43" name="Rectangle 4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4" name="Rectangle 4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5" name="Line 4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" name="Line 5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Line 5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1519765" y="5680943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 flipH="1">
              <a:off x="334707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 flipH="1">
              <a:off x="496632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 flipH="1">
              <a:off x="509014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 flipH="1">
              <a:off x="5983908" y="4744299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4" name="Group 58"/>
            <p:cNvGrpSpPr/>
            <p:nvPr/>
          </p:nvGrpSpPr>
          <p:grpSpPr bwMode="auto">
            <a:xfrm>
              <a:off x="6296646" y="3820374"/>
              <a:ext cx="650875" cy="904875"/>
              <a:chOff x="12762" y="10336"/>
              <a:chExt cx="1027" cy="1700"/>
            </a:xfrm>
          </p:grpSpPr>
          <p:sp>
            <p:nvSpPr>
              <p:cNvPr id="55" name="Rectangle 59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6" name="Rectangle 60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7" name="Line 61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Line 62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" name="Line 63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Line 64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1" name="Group 65"/>
            <p:cNvGrpSpPr/>
            <p:nvPr/>
          </p:nvGrpSpPr>
          <p:grpSpPr bwMode="auto">
            <a:xfrm>
              <a:off x="5915646" y="4837961"/>
              <a:ext cx="650875" cy="906463"/>
              <a:chOff x="12762" y="10336"/>
              <a:chExt cx="1027" cy="1700"/>
            </a:xfrm>
          </p:grpSpPr>
          <p:sp>
            <p:nvSpPr>
              <p:cNvPr id="62" name="Rectangle 6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3" name="Rectangle 6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4" name="Line 6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5" name="Line 6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6" name="Line 7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7" name="Line 7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8" name="Oval 72"/>
            <p:cNvSpPr>
              <a:spLocks noChangeArrowheads="1"/>
            </p:cNvSpPr>
            <p:nvPr/>
          </p:nvSpPr>
          <p:spPr bwMode="auto">
            <a:xfrm>
              <a:off x="3137521" y="37727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Oval 73"/>
            <p:cNvSpPr>
              <a:spLocks noChangeArrowheads="1"/>
            </p:cNvSpPr>
            <p:nvPr/>
          </p:nvSpPr>
          <p:spPr bwMode="auto">
            <a:xfrm>
              <a:off x="2194546" y="46490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0" name="Line 74"/>
            <p:cNvSpPr>
              <a:spLocks noChangeShapeType="1"/>
            </p:cNvSpPr>
            <p:nvPr/>
          </p:nvSpPr>
          <p:spPr bwMode="auto">
            <a:xfrm>
              <a:off x="2712071" y="3552086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Text Box 75"/>
            <p:cNvSpPr txBox="1">
              <a:spLocks noChangeArrowheads="1"/>
            </p:cNvSpPr>
            <p:nvPr/>
          </p:nvSpPr>
          <p:spPr bwMode="auto">
            <a:xfrm>
              <a:off x="5169521" y="3229824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吞吐率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dirty="0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out</a:t>
              </a:r>
              <a:endParaRPr lang="en-US" altLang="zh-CN" sz="1500" dirty="0">
                <a:solidFill>
                  <a:srgbClr val="CC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2" name="Line 76"/>
            <p:cNvSpPr>
              <a:spLocks noChangeShapeType="1"/>
            </p:cNvSpPr>
            <p:nvPr/>
          </p:nvSpPr>
          <p:spPr bwMode="auto">
            <a:xfrm>
              <a:off x="6014071" y="3639399"/>
              <a:ext cx="528637" cy="241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4" name="Group 78"/>
            <p:cNvGrpSpPr/>
            <p:nvPr/>
          </p:nvGrpSpPr>
          <p:grpSpPr bwMode="auto">
            <a:xfrm>
              <a:off x="4337671" y="5001474"/>
              <a:ext cx="673100" cy="266700"/>
              <a:chOff x="10808" y="10250"/>
              <a:chExt cx="1018" cy="403"/>
            </a:xfrm>
          </p:grpSpPr>
          <p:sp>
            <p:nvSpPr>
              <p:cNvPr id="75" name="Rectangle 79"/>
              <p:cNvSpPr>
                <a:spLocks noChangeArrowheads="1"/>
              </p:cNvSpPr>
              <p:nvPr/>
            </p:nvSpPr>
            <p:spPr bwMode="auto">
              <a:xfrm>
                <a:off x="10832" y="10250"/>
                <a:ext cx="994" cy="403"/>
              </a:xfrm>
              <a:prstGeom prst="rect">
                <a:avLst/>
              </a:pr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6" name="Freeform 80"/>
              <p:cNvSpPr/>
              <p:nvPr/>
            </p:nvSpPr>
            <p:spPr bwMode="auto">
              <a:xfrm>
                <a:off x="11198" y="10272"/>
                <a:ext cx="610" cy="374"/>
              </a:xfrm>
              <a:custGeom>
                <a:avLst/>
                <a:gdLst>
                  <a:gd name="T0" fmla="*/ 0 w 855"/>
                  <a:gd name="T1" fmla="*/ 0 h 390"/>
                  <a:gd name="T2" fmla="*/ 221 w 855"/>
                  <a:gd name="T3" fmla="*/ 0 h 390"/>
                  <a:gd name="T4" fmla="*/ 221 w 855"/>
                  <a:gd name="T5" fmla="*/ 330 h 390"/>
                  <a:gd name="T6" fmla="*/ 11 w 855"/>
                  <a:gd name="T7" fmla="*/ 330 h 39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5" h="390">
                    <a:moveTo>
                      <a:pt x="0" y="0"/>
                    </a:moveTo>
                    <a:lnTo>
                      <a:pt x="855" y="0"/>
                    </a:lnTo>
                    <a:lnTo>
                      <a:pt x="855" y="390"/>
                    </a:lnTo>
                    <a:lnTo>
                      <a:pt x="45" y="3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7" name="Line 81"/>
              <p:cNvSpPr>
                <a:spLocks noChangeShapeType="1"/>
              </p:cNvSpPr>
              <p:nvPr/>
            </p:nvSpPr>
            <p:spPr bwMode="auto">
              <a:xfrm>
                <a:off x="10808" y="10272"/>
                <a:ext cx="39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>
                <a:off x="10830" y="10646"/>
                <a:ext cx="38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9" name="Line 83"/>
              <p:cNvSpPr>
                <a:spLocks noChangeShapeType="1"/>
              </p:cNvSpPr>
              <p:nvPr/>
            </p:nvSpPr>
            <p:spPr bwMode="auto">
              <a:xfrm>
                <a:off x="1174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1679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2" name="Line 85"/>
              <p:cNvSpPr>
                <a:spLocks noChangeShapeType="1"/>
              </p:cNvSpPr>
              <p:nvPr/>
            </p:nvSpPr>
            <p:spPr bwMode="auto">
              <a:xfrm>
                <a:off x="1161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3" name="Line 86"/>
              <p:cNvSpPr>
                <a:spLocks noChangeShapeType="1"/>
              </p:cNvSpPr>
              <p:nvPr/>
            </p:nvSpPr>
            <p:spPr bwMode="auto">
              <a:xfrm>
                <a:off x="11549" y="1032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4" name="Line 87"/>
              <p:cNvSpPr>
                <a:spLocks noChangeShapeType="1"/>
              </p:cNvSpPr>
              <p:nvPr/>
            </p:nvSpPr>
            <p:spPr bwMode="auto">
              <a:xfrm>
                <a:off x="11484" y="10322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Line 88"/>
              <p:cNvSpPr>
                <a:spLocks noChangeShapeType="1"/>
              </p:cNvSpPr>
              <p:nvPr/>
            </p:nvSpPr>
            <p:spPr bwMode="auto">
              <a:xfrm>
                <a:off x="11418" y="10322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6" name="Line 89"/>
              <p:cNvSpPr>
                <a:spLocks noChangeShapeType="1"/>
              </p:cNvSpPr>
              <p:nvPr/>
            </p:nvSpPr>
            <p:spPr bwMode="auto">
              <a:xfrm>
                <a:off x="10909" y="10452"/>
                <a:ext cx="417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7" name="Freeform 90"/>
            <p:cNvSpPr/>
            <p:nvPr/>
          </p:nvSpPr>
          <p:spPr bwMode="auto">
            <a:xfrm>
              <a:off x="2242171" y="4725249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Freeform 91"/>
            <p:cNvSpPr/>
            <p:nvPr/>
          </p:nvSpPr>
          <p:spPr bwMode="auto">
            <a:xfrm>
              <a:off x="3185146" y="3820374"/>
              <a:ext cx="3429000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" h="804">
                  <a:moveTo>
                    <a:pt x="0" y="0"/>
                  </a:moveTo>
                  <a:lnTo>
                    <a:pt x="0" y="594"/>
                  </a:lnTo>
                  <a:lnTo>
                    <a:pt x="402" y="600"/>
                  </a:lnTo>
                  <a:lnTo>
                    <a:pt x="216" y="804"/>
                  </a:lnTo>
                  <a:lnTo>
                    <a:pt x="1446" y="804"/>
                  </a:lnTo>
                  <a:lnTo>
                    <a:pt x="1770" y="524"/>
                  </a:lnTo>
                  <a:lnTo>
                    <a:pt x="2160" y="516"/>
                  </a:lnTo>
                  <a:lnTo>
                    <a:pt x="2160" y="48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9" name="Group 127"/>
            <p:cNvGrpSpPr/>
            <p:nvPr/>
          </p:nvGrpSpPr>
          <p:grpSpPr bwMode="auto">
            <a:xfrm>
              <a:off x="7034833" y="4442674"/>
              <a:ext cx="231775" cy="441325"/>
              <a:chOff x="4140" y="429"/>
              <a:chExt cx="1425" cy="2396"/>
            </a:xfrm>
          </p:grpSpPr>
          <p:sp>
            <p:nvSpPr>
              <p:cNvPr id="90" name="Freeform 12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1" name="Rectangle 129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2" name="Freeform 13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3" name="Freeform 13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4" name="Rectangle 132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5" name="Group 13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0" name="AutoShape 134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21" name="AutoShape 135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6" name="Rectangle 136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7" name="Group 13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8" name="AutoShape 138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9" name="AutoShape 139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8" name="Rectangle 140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9" name="Rectangle 141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00" name="Group 14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6" name="AutoShape 143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7" name="AutoShape 144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1" name="Freeform 14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02" name="Group 14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" name="AutoShape 147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5" name="AutoShape 148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3" name="Rectangle 149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4" name="Freeform 15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5" name="Freeform 15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6" name="Oval 152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7" name="Freeform 15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8" name="AutoShape 154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9" name="AutoShape 155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0" name="Oval 156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1" name="Oval 157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Oval 158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3" name="Rectangle 159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grpSp>
          <p:nvGrpSpPr>
            <p:cNvPr id="122" name="Group 160"/>
            <p:cNvGrpSpPr/>
            <p:nvPr/>
          </p:nvGrpSpPr>
          <p:grpSpPr bwMode="auto">
            <a:xfrm>
              <a:off x="1354758" y="5333261"/>
              <a:ext cx="525463" cy="434975"/>
              <a:chOff x="-44" y="1473"/>
              <a:chExt cx="981" cy="1105"/>
            </a:xfrm>
          </p:grpSpPr>
          <p:pic>
            <p:nvPicPr>
              <p:cNvPr id="123" name="Picture 16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" name="Freeform 16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25" name="Group 163"/>
            <p:cNvGrpSpPr/>
            <p:nvPr/>
          </p:nvGrpSpPr>
          <p:grpSpPr bwMode="auto">
            <a:xfrm>
              <a:off x="6717333" y="5407874"/>
              <a:ext cx="231775" cy="441325"/>
              <a:chOff x="4140" y="429"/>
              <a:chExt cx="1425" cy="2396"/>
            </a:xfrm>
          </p:grpSpPr>
          <p:sp>
            <p:nvSpPr>
              <p:cNvPr id="126" name="Freeform 164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7" name="Rectangle 165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28" name="Freeform 166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9" name="Freeform 167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" name="Rectangle 168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1" name="Group 169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6" name="AutoShape 170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7" name="AutoShape 171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2" name="Rectangle 172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3" name="Group 173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4" name="AutoShape 174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5" name="AutoShape 175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4" name="Rectangle 176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5" name="Rectangle 177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6" name="Group 178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2" name="AutoShape 179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3" name="AutoShape 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7" name="Freeform 181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38" name="Group 182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0" name="AutoShape 183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1" name="AutoShape 184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9" name="Rectangle 185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0" name="Freeform 186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1" name="Freeform 187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2" name="Oval 188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3" name="Freeform 189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AutoShape 190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5" name="AutoShape 191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6" name="Oval 192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7" name="Oval 193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Oval 194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9" name="Rectangle 195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58" name="Text Box 42"/>
            <p:cNvSpPr txBox="1">
              <a:spLocks noChangeArrowheads="1"/>
            </p:cNvSpPr>
            <p:nvPr/>
          </p:nvSpPr>
          <p:spPr bwMode="auto">
            <a:xfrm>
              <a:off x="6759485" y="4880278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59" name="Text Box 52"/>
            <p:cNvSpPr txBox="1">
              <a:spLocks noChangeArrowheads="1"/>
            </p:cNvSpPr>
            <p:nvPr/>
          </p:nvSpPr>
          <p:spPr bwMode="auto">
            <a:xfrm>
              <a:off x="6388440" y="5871116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3" name="Text Box 43"/>
            <p:cNvSpPr txBox="1">
              <a:spLocks noChangeArrowheads="1"/>
            </p:cNvSpPr>
            <p:nvPr/>
          </p:nvSpPr>
          <p:spPr bwMode="auto">
            <a:xfrm>
              <a:off x="3409932" y="3615589"/>
              <a:ext cx="2184370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供给载荷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200" dirty="0" err="1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200" dirty="0" err="1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r>
                <a:rPr lang="en-US" altLang="zh-CN" sz="1200" baseline="-25000" dirty="0" err="1">
                  <a:solidFill>
                    <a:srgbClr val="CC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12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120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Oval 72"/>
            <p:cNvSpPr>
              <a:spLocks noChangeArrowheads="1"/>
            </p:cNvSpPr>
            <p:nvPr/>
          </p:nvSpPr>
          <p:spPr bwMode="auto">
            <a:xfrm>
              <a:off x="3137521" y="3970828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95" name="Line 74"/>
            <p:cNvSpPr>
              <a:spLocks noChangeShapeType="1"/>
            </p:cNvSpPr>
            <p:nvPr/>
          </p:nvSpPr>
          <p:spPr bwMode="auto">
            <a:xfrm flipH="1">
              <a:off x="3223246" y="3973925"/>
              <a:ext cx="511766" cy="388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 flipV="1">
              <a:off x="4011528" y="5255473"/>
              <a:ext cx="596573" cy="229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E34024E6-5C16-4688-A475-0109C21BC401}"/>
              </a:ext>
            </a:extLst>
          </p:cNvPr>
          <p:cNvSpPr/>
          <p:nvPr/>
        </p:nvSpPr>
        <p:spPr>
          <a:xfrm>
            <a:off x="940313" y="2891100"/>
            <a:ext cx="4999839" cy="2252400"/>
          </a:xfrm>
          <a:prstGeom prst="roundRect">
            <a:avLst>
              <a:gd name="adj" fmla="val 8086"/>
            </a:avLst>
          </a:prstGeom>
          <a:noFill/>
          <a:ln w="3175"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灯片编号占位符 2">
            <a:extLst>
              <a:ext uri="{FF2B5EF4-FFF2-40B4-BE49-F238E27FC236}">
                <a16:creationId xmlns:a16="http://schemas.microsoft.com/office/drawing/2014/main" id="{41871242-D9D0-441F-B0E7-66A2A6F94B3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162" name="AutoShape 5">
            <a:extLst>
              <a:ext uri="{FF2B5EF4-FFF2-40B4-BE49-F238E27FC236}">
                <a16:creationId xmlns:a16="http://schemas.microsoft.com/office/drawing/2014/main" id="{531EBB23-7DED-4AC6-AA88-645ECD17A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114943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3.6.1 </a:t>
            </a:r>
            <a:r>
              <a:rPr lang="zh-CN" altLang="en-US" dirty="0">
                <a:effectLst/>
              </a:rPr>
              <a:t>拥塞的原因和代价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场景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：两个发送方和一台具有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有限缓存</a:t>
            </a:r>
            <a:r>
              <a:rPr lang="zh-CN" altLang="en-US" dirty="0">
                <a:effectLst/>
              </a:rPr>
              <a:t>的路由器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链路的带宽：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</a:t>
            </a: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有分组重传控制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3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应用层：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=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out</a:t>
            </a:r>
          </a:p>
          <a:p>
            <a:pPr lvl="3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运输层：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包括了重传的数据分组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68122" y="2862254"/>
            <a:ext cx="4636057" cy="2229776"/>
            <a:chOff x="1354758" y="3140969"/>
            <a:chExt cx="6181409" cy="2973035"/>
          </a:xfrm>
        </p:grpSpPr>
        <p:sp>
          <p:nvSpPr>
            <p:cNvPr id="8" name="Freeform 9"/>
            <p:cNvSpPr/>
            <p:nvPr/>
          </p:nvSpPr>
          <p:spPr bwMode="auto">
            <a:xfrm flipH="1">
              <a:off x="2573958" y="3660036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9" name="Group 124"/>
            <p:cNvGrpSpPr/>
            <p:nvPr/>
          </p:nvGrpSpPr>
          <p:grpSpPr bwMode="auto">
            <a:xfrm>
              <a:off x="2240583" y="4356949"/>
              <a:ext cx="525463" cy="434975"/>
              <a:chOff x="-44" y="1473"/>
              <a:chExt cx="981" cy="1105"/>
            </a:xfrm>
          </p:grpSpPr>
          <p:pic>
            <p:nvPicPr>
              <p:cNvPr id="10" name="Picture 1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Freeform 1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12" name="Freeform 3"/>
            <p:cNvSpPr/>
            <p:nvPr/>
          </p:nvSpPr>
          <p:spPr bwMode="auto">
            <a:xfrm>
              <a:off x="6558583" y="4852249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934821" y="387117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2"/>
            <p:cNvSpPr/>
            <p:nvPr/>
          </p:nvSpPr>
          <p:spPr bwMode="auto">
            <a:xfrm flipH="1">
              <a:off x="1699246" y="460142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977308" y="5099899"/>
              <a:ext cx="1063625" cy="2349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977308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5040933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3977308" y="5080849"/>
              <a:ext cx="252413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718671" y="5071324"/>
              <a:ext cx="322262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966196" y="4912574"/>
              <a:ext cx="1063625" cy="2730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21" name="Group 24"/>
            <p:cNvGrpSpPr/>
            <p:nvPr/>
          </p:nvGrpSpPr>
          <p:grpSpPr bwMode="auto">
            <a:xfrm>
              <a:off x="4223371" y="4971311"/>
              <a:ext cx="527050" cy="160338"/>
              <a:chOff x="2848" y="848"/>
              <a:chExt cx="140" cy="98"/>
            </a:xfrm>
          </p:grpSpPr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8"/>
            <p:cNvGrpSpPr/>
            <p:nvPr/>
          </p:nvGrpSpPr>
          <p:grpSpPr bwMode="auto">
            <a:xfrm flipV="1">
              <a:off x="4223371" y="4969724"/>
              <a:ext cx="527050" cy="158750"/>
              <a:chOff x="2848" y="848"/>
              <a:chExt cx="140" cy="98"/>
            </a:xfrm>
          </p:grpSpPr>
          <p:sp>
            <p:nvSpPr>
              <p:cNvPr id="26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7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3121947" y="5459467"/>
              <a:ext cx="1586307" cy="39528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有限的共享输出链路缓存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H="1">
              <a:off x="286129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H="1">
              <a:off x="3347071" y="473477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2" name="Group 35"/>
            <p:cNvGrpSpPr/>
            <p:nvPr/>
          </p:nvGrpSpPr>
          <p:grpSpPr bwMode="auto">
            <a:xfrm>
              <a:off x="2800971" y="3715599"/>
              <a:ext cx="650875" cy="904875"/>
              <a:chOff x="12762" y="10336"/>
              <a:chExt cx="1027" cy="1700"/>
            </a:xfrm>
          </p:grpSpPr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4" name="Rectangle 3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2039524" y="4104317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2194545" y="3140969"/>
              <a:ext cx="1548641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初始数据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500" dirty="0" err="1">
                  <a:solidFill>
                    <a:srgbClr val="FF66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 err="1">
                  <a:solidFill>
                    <a:srgbClr val="FF66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1200" baseline="-25000" dirty="0">
                  <a:solidFill>
                    <a:srgbClr val="FF66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1200" dirty="0">
                <a:solidFill>
                  <a:srgbClr val="FF66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 flipH="1">
              <a:off x="2423146" y="559202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2" name="Group 45"/>
            <p:cNvGrpSpPr/>
            <p:nvPr/>
          </p:nvGrpSpPr>
          <p:grpSpPr bwMode="auto">
            <a:xfrm>
              <a:off x="1943721" y="4610949"/>
              <a:ext cx="650875" cy="904875"/>
              <a:chOff x="12762" y="10336"/>
              <a:chExt cx="1027" cy="1700"/>
            </a:xfrm>
          </p:grpSpPr>
          <p:sp>
            <p:nvSpPr>
              <p:cNvPr id="43" name="Rectangle 4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4" name="Rectangle 4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5" name="Line 4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" name="Line 5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Line 5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1519765" y="5680943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 flipH="1">
              <a:off x="334707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 flipH="1">
              <a:off x="496632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 flipH="1">
              <a:off x="509014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 flipH="1">
              <a:off x="5983908" y="4744299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4" name="Group 58"/>
            <p:cNvGrpSpPr/>
            <p:nvPr/>
          </p:nvGrpSpPr>
          <p:grpSpPr bwMode="auto">
            <a:xfrm>
              <a:off x="6296646" y="3820374"/>
              <a:ext cx="650875" cy="904875"/>
              <a:chOff x="12762" y="10336"/>
              <a:chExt cx="1027" cy="1700"/>
            </a:xfrm>
          </p:grpSpPr>
          <p:sp>
            <p:nvSpPr>
              <p:cNvPr id="55" name="Rectangle 59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6" name="Rectangle 60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7" name="Line 61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Line 62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" name="Line 63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Line 64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1" name="Group 65"/>
            <p:cNvGrpSpPr/>
            <p:nvPr/>
          </p:nvGrpSpPr>
          <p:grpSpPr bwMode="auto">
            <a:xfrm>
              <a:off x="5915646" y="4837961"/>
              <a:ext cx="650875" cy="906463"/>
              <a:chOff x="12762" y="10336"/>
              <a:chExt cx="1027" cy="1700"/>
            </a:xfrm>
          </p:grpSpPr>
          <p:sp>
            <p:nvSpPr>
              <p:cNvPr id="62" name="Rectangle 6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3" name="Rectangle 6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4" name="Line 6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5" name="Line 6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6" name="Line 7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7" name="Line 7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8" name="Oval 72"/>
            <p:cNvSpPr>
              <a:spLocks noChangeArrowheads="1"/>
            </p:cNvSpPr>
            <p:nvPr/>
          </p:nvSpPr>
          <p:spPr bwMode="auto">
            <a:xfrm>
              <a:off x="3137521" y="37727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Oval 73"/>
            <p:cNvSpPr>
              <a:spLocks noChangeArrowheads="1"/>
            </p:cNvSpPr>
            <p:nvPr/>
          </p:nvSpPr>
          <p:spPr bwMode="auto">
            <a:xfrm>
              <a:off x="2194546" y="46490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0" name="Line 74"/>
            <p:cNvSpPr>
              <a:spLocks noChangeShapeType="1"/>
            </p:cNvSpPr>
            <p:nvPr/>
          </p:nvSpPr>
          <p:spPr bwMode="auto">
            <a:xfrm>
              <a:off x="2712071" y="3552086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Text Box 75"/>
            <p:cNvSpPr txBox="1">
              <a:spLocks noChangeArrowheads="1"/>
            </p:cNvSpPr>
            <p:nvPr/>
          </p:nvSpPr>
          <p:spPr bwMode="auto">
            <a:xfrm>
              <a:off x="5169521" y="3229824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吞吐率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dirty="0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out</a:t>
              </a:r>
              <a:endParaRPr lang="en-US" altLang="zh-CN" sz="1500" dirty="0">
                <a:solidFill>
                  <a:srgbClr val="CC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2" name="Line 76"/>
            <p:cNvSpPr>
              <a:spLocks noChangeShapeType="1"/>
            </p:cNvSpPr>
            <p:nvPr/>
          </p:nvSpPr>
          <p:spPr bwMode="auto">
            <a:xfrm>
              <a:off x="6014071" y="3639399"/>
              <a:ext cx="528637" cy="241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4" name="Group 78"/>
            <p:cNvGrpSpPr/>
            <p:nvPr/>
          </p:nvGrpSpPr>
          <p:grpSpPr bwMode="auto">
            <a:xfrm>
              <a:off x="4337671" y="5001474"/>
              <a:ext cx="673100" cy="266700"/>
              <a:chOff x="10808" y="10250"/>
              <a:chExt cx="1018" cy="403"/>
            </a:xfrm>
          </p:grpSpPr>
          <p:sp>
            <p:nvSpPr>
              <p:cNvPr id="75" name="Rectangle 79"/>
              <p:cNvSpPr>
                <a:spLocks noChangeArrowheads="1"/>
              </p:cNvSpPr>
              <p:nvPr/>
            </p:nvSpPr>
            <p:spPr bwMode="auto">
              <a:xfrm>
                <a:off x="10832" y="10250"/>
                <a:ext cx="994" cy="403"/>
              </a:xfrm>
              <a:prstGeom prst="rect">
                <a:avLst/>
              </a:pr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6" name="Freeform 80"/>
              <p:cNvSpPr/>
              <p:nvPr/>
            </p:nvSpPr>
            <p:spPr bwMode="auto">
              <a:xfrm>
                <a:off x="11198" y="10272"/>
                <a:ext cx="610" cy="374"/>
              </a:xfrm>
              <a:custGeom>
                <a:avLst/>
                <a:gdLst>
                  <a:gd name="T0" fmla="*/ 0 w 855"/>
                  <a:gd name="T1" fmla="*/ 0 h 390"/>
                  <a:gd name="T2" fmla="*/ 221 w 855"/>
                  <a:gd name="T3" fmla="*/ 0 h 390"/>
                  <a:gd name="T4" fmla="*/ 221 w 855"/>
                  <a:gd name="T5" fmla="*/ 330 h 390"/>
                  <a:gd name="T6" fmla="*/ 11 w 855"/>
                  <a:gd name="T7" fmla="*/ 330 h 39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5" h="390">
                    <a:moveTo>
                      <a:pt x="0" y="0"/>
                    </a:moveTo>
                    <a:lnTo>
                      <a:pt x="855" y="0"/>
                    </a:lnTo>
                    <a:lnTo>
                      <a:pt x="855" y="390"/>
                    </a:lnTo>
                    <a:lnTo>
                      <a:pt x="45" y="3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7" name="Line 81"/>
              <p:cNvSpPr>
                <a:spLocks noChangeShapeType="1"/>
              </p:cNvSpPr>
              <p:nvPr/>
            </p:nvSpPr>
            <p:spPr bwMode="auto">
              <a:xfrm>
                <a:off x="10808" y="10272"/>
                <a:ext cx="39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>
                <a:off x="10830" y="10646"/>
                <a:ext cx="38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9" name="Line 83"/>
              <p:cNvSpPr>
                <a:spLocks noChangeShapeType="1"/>
              </p:cNvSpPr>
              <p:nvPr/>
            </p:nvSpPr>
            <p:spPr bwMode="auto">
              <a:xfrm>
                <a:off x="1174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1679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2" name="Line 85"/>
              <p:cNvSpPr>
                <a:spLocks noChangeShapeType="1"/>
              </p:cNvSpPr>
              <p:nvPr/>
            </p:nvSpPr>
            <p:spPr bwMode="auto">
              <a:xfrm>
                <a:off x="1161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3" name="Line 86"/>
              <p:cNvSpPr>
                <a:spLocks noChangeShapeType="1"/>
              </p:cNvSpPr>
              <p:nvPr/>
            </p:nvSpPr>
            <p:spPr bwMode="auto">
              <a:xfrm>
                <a:off x="11549" y="1032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4" name="Line 87"/>
              <p:cNvSpPr>
                <a:spLocks noChangeShapeType="1"/>
              </p:cNvSpPr>
              <p:nvPr/>
            </p:nvSpPr>
            <p:spPr bwMode="auto">
              <a:xfrm>
                <a:off x="11484" y="10322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Line 88"/>
              <p:cNvSpPr>
                <a:spLocks noChangeShapeType="1"/>
              </p:cNvSpPr>
              <p:nvPr/>
            </p:nvSpPr>
            <p:spPr bwMode="auto">
              <a:xfrm>
                <a:off x="11418" y="10322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6" name="Line 89"/>
              <p:cNvSpPr>
                <a:spLocks noChangeShapeType="1"/>
              </p:cNvSpPr>
              <p:nvPr/>
            </p:nvSpPr>
            <p:spPr bwMode="auto">
              <a:xfrm>
                <a:off x="10909" y="10452"/>
                <a:ext cx="417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7" name="Freeform 90"/>
            <p:cNvSpPr/>
            <p:nvPr/>
          </p:nvSpPr>
          <p:spPr bwMode="auto">
            <a:xfrm>
              <a:off x="2242171" y="4725249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Freeform 91"/>
            <p:cNvSpPr/>
            <p:nvPr/>
          </p:nvSpPr>
          <p:spPr bwMode="auto">
            <a:xfrm>
              <a:off x="3185146" y="3820374"/>
              <a:ext cx="3429000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" h="804">
                  <a:moveTo>
                    <a:pt x="0" y="0"/>
                  </a:moveTo>
                  <a:lnTo>
                    <a:pt x="0" y="594"/>
                  </a:lnTo>
                  <a:lnTo>
                    <a:pt x="402" y="600"/>
                  </a:lnTo>
                  <a:lnTo>
                    <a:pt x="216" y="804"/>
                  </a:lnTo>
                  <a:lnTo>
                    <a:pt x="1446" y="804"/>
                  </a:lnTo>
                  <a:lnTo>
                    <a:pt x="1770" y="524"/>
                  </a:lnTo>
                  <a:lnTo>
                    <a:pt x="2160" y="516"/>
                  </a:lnTo>
                  <a:lnTo>
                    <a:pt x="2160" y="48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9" name="Group 127"/>
            <p:cNvGrpSpPr/>
            <p:nvPr/>
          </p:nvGrpSpPr>
          <p:grpSpPr bwMode="auto">
            <a:xfrm>
              <a:off x="7034833" y="4442674"/>
              <a:ext cx="231775" cy="441325"/>
              <a:chOff x="4140" y="429"/>
              <a:chExt cx="1425" cy="2396"/>
            </a:xfrm>
          </p:grpSpPr>
          <p:sp>
            <p:nvSpPr>
              <p:cNvPr id="90" name="Freeform 12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1" name="Rectangle 129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2" name="Freeform 13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3" name="Freeform 13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4" name="Rectangle 132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5" name="Group 13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0" name="AutoShape 134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21" name="AutoShape 135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6" name="Rectangle 136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7" name="Group 13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8" name="AutoShape 138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9" name="AutoShape 139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8" name="Rectangle 140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9" name="Rectangle 141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00" name="Group 14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6" name="AutoShape 143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7" name="AutoShape 144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1" name="Freeform 14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02" name="Group 14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" name="AutoShape 147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5" name="AutoShape 148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3" name="Rectangle 149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4" name="Freeform 15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5" name="Freeform 15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6" name="Oval 152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7" name="Freeform 15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8" name="AutoShape 154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9" name="AutoShape 155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0" name="Oval 156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1" name="Oval 157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Oval 158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3" name="Rectangle 159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grpSp>
          <p:nvGrpSpPr>
            <p:cNvPr id="122" name="Group 160"/>
            <p:cNvGrpSpPr/>
            <p:nvPr/>
          </p:nvGrpSpPr>
          <p:grpSpPr bwMode="auto">
            <a:xfrm>
              <a:off x="1354758" y="5333261"/>
              <a:ext cx="525463" cy="434975"/>
              <a:chOff x="-44" y="1473"/>
              <a:chExt cx="981" cy="1105"/>
            </a:xfrm>
          </p:grpSpPr>
          <p:pic>
            <p:nvPicPr>
              <p:cNvPr id="123" name="Picture 16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" name="Freeform 16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25" name="Group 163"/>
            <p:cNvGrpSpPr/>
            <p:nvPr/>
          </p:nvGrpSpPr>
          <p:grpSpPr bwMode="auto">
            <a:xfrm>
              <a:off x="6717333" y="5407874"/>
              <a:ext cx="231775" cy="441325"/>
              <a:chOff x="4140" y="429"/>
              <a:chExt cx="1425" cy="2396"/>
            </a:xfrm>
          </p:grpSpPr>
          <p:sp>
            <p:nvSpPr>
              <p:cNvPr id="126" name="Freeform 164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7" name="Rectangle 165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28" name="Freeform 166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9" name="Freeform 167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" name="Rectangle 168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1" name="Group 169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6" name="AutoShape 170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7" name="AutoShape 171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2" name="Rectangle 172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3" name="Group 173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4" name="AutoShape 174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5" name="AutoShape 175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4" name="Rectangle 176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5" name="Rectangle 177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6" name="Group 178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2" name="AutoShape 179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3" name="AutoShape 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7" name="Freeform 181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38" name="Group 182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0" name="AutoShape 183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1" name="AutoShape 184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9" name="Rectangle 185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0" name="Freeform 186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1" name="Freeform 187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2" name="Oval 188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3" name="Freeform 189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AutoShape 190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5" name="AutoShape 191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6" name="Oval 192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7" name="Oval 193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Oval 194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9" name="Rectangle 195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58" name="Text Box 42"/>
            <p:cNvSpPr txBox="1">
              <a:spLocks noChangeArrowheads="1"/>
            </p:cNvSpPr>
            <p:nvPr/>
          </p:nvSpPr>
          <p:spPr bwMode="auto">
            <a:xfrm>
              <a:off x="6759485" y="4880278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59" name="Text Box 52"/>
            <p:cNvSpPr txBox="1">
              <a:spLocks noChangeArrowheads="1"/>
            </p:cNvSpPr>
            <p:nvPr/>
          </p:nvSpPr>
          <p:spPr bwMode="auto">
            <a:xfrm>
              <a:off x="6388440" y="5871116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3" name="Text Box 43"/>
            <p:cNvSpPr txBox="1">
              <a:spLocks noChangeArrowheads="1"/>
            </p:cNvSpPr>
            <p:nvPr/>
          </p:nvSpPr>
          <p:spPr bwMode="auto">
            <a:xfrm>
              <a:off x="3409932" y="3615589"/>
              <a:ext cx="2184370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供给载荷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350" dirty="0" err="1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050" dirty="0" err="1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r>
                <a:rPr lang="en-US" altLang="zh-CN" sz="1350" baseline="-25000" dirty="0" err="1">
                  <a:solidFill>
                    <a:srgbClr val="CC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9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Oval 72"/>
            <p:cNvSpPr>
              <a:spLocks noChangeArrowheads="1"/>
            </p:cNvSpPr>
            <p:nvPr/>
          </p:nvSpPr>
          <p:spPr bwMode="auto">
            <a:xfrm>
              <a:off x="3137521" y="3970828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95" name="Line 74"/>
            <p:cNvSpPr>
              <a:spLocks noChangeShapeType="1"/>
            </p:cNvSpPr>
            <p:nvPr/>
          </p:nvSpPr>
          <p:spPr bwMode="auto">
            <a:xfrm flipH="1">
              <a:off x="3223246" y="3973925"/>
              <a:ext cx="511766" cy="388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 flipV="1">
              <a:off x="4011528" y="5255473"/>
              <a:ext cx="596573" cy="229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64" name="Text Box 259"/>
          <p:cNvSpPr txBox="1">
            <a:spLocks noChangeArrowheads="1"/>
          </p:cNvSpPr>
          <p:nvPr/>
        </p:nvSpPr>
        <p:spPr bwMode="auto">
          <a:xfrm>
            <a:off x="3017491" y="3930415"/>
            <a:ext cx="138050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</a:rPr>
              <a:t>free buffer space!</a:t>
            </a:r>
          </a:p>
        </p:txBody>
      </p:sp>
      <p:sp>
        <p:nvSpPr>
          <p:cNvPr id="165" name="Rectangle 3"/>
          <p:cNvSpPr txBox="1">
            <a:spLocks noChangeArrowheads="1"/>
          </p:cNvSpPr>
          <p:nvPr/>
        </p:nvSpPr>
        <p:spPr bwMode="auto">
          <a:xfrm>
            <a:off x="6275018" y="1554140"/>
            <a:ext cx="2473444" cy="208556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理想状况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46088" lvl="1" indent="-268288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神知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路由器是否有可用缓存空间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lvl="1" indent="-268288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只在路由器有缓存空间的情况下才发数据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lvl="1" indent="-268288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不会丢失分组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lvl="1" indent="-268288"/>
            <a:r>
              <a:rPr lang="zh-CN" altLang="en-US" sz="1400" dirty="0">
                <a:solidFill>
                  <a:srgbClr val="0066CC"/>
                </a:solidFill>
                <a:effectLst/>
              </a:rPr>
              <a:t> </a:t>
            </a:r>
            <a:r>
              <a:rPr lang="en-US" altLang="zh-CN" sz="1400" dirty="0" err="1">
                <a:solidFill>
                  <a:srgbClr val="C0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sz="1400" baseline="-25000" dirty="0" err="1">
                <a:solidFill>
                  <a:srgbClr val="C00000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1400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Arial" panose="020B0604020202020204" pitchFamily="34" charset="0"/>
              </a:rPr>
              <a:t>=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C0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400" baseline="-25000" dirty="0" err="1">
                <a:solidFill>
                  <a:srgbClr val="C00000"/>
                </a:solidFill>
                <a:latin typeface="Arial" panose="020B0604020202020204" pitchFamily="34" charset="0"/>
              </a:rPr>
              <a:t>in</a:t>
            </a:r>
            <a:endParaRPr lang="en-US" altLang="zh-CN" sz="1400" dirty="0">
              <a:solidFill>
                <a:srgbClr val="C00000"/>
              </a:solidFill>
              <a:effectLst/>
            </a:endParaRPr>
          </a:p>
          <a:p>
            <a:endParaRPr lang="en-US" altLang="zh-CN" sz="1400" dirty="0">
              <a:solidFill>
                <a:srgbClr val="0066CC"/>
              </a:solidFill>
            </a:endParaRPr>
          </a:p>
        </p:txBody>
      </p:sp>
      <p:grpSp>
        <p:nvGrpSpPr>
          <p:cNvPr id="167" name="Group 289"/>
          <p:cNvGrpSpPr/>
          <p:nvPr/>
        </p:nvGrpSpPr>
        <p:grpSpPr bwMode="auto">
          <a:xfrm>
            <a:off x="6586221" y="3790676"/>
            <a:ext cx="1452563" cy="1301354"/>
            <a:chOff x="2974" y="778"/>
            <a:chExt cx="1220" cy="1093"/>
          </a:xfrm>
        </p:grpSpPr>
        <p:sp>
          <p:nvSpPr>
            <p:cNvPr id="168" name="Line 278"/>
            <p:cNvSpPr>
              <a:spLocks noChangeShapeType="1"/>
            </p:cNvSpPr>
            <p:nvPr/>
          </p:nvSpPr>
          <p:spPr bwMode="auto">
            <a:xfrm>
              <a:off x="3278" y="820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69" name="Line 279"/>
            <p:cNvSpPr>
              <a:spLocks noChangeShapeType="1"/>
            </p:cNvSpPr>
            <p:nvPr/>
          </p:nvSpPr>
          <p:spPr bwMode="auto">
            <a:xfrm flipV="1">
              <a:off x="3272" y="1620"/>
              <a:ext cx="92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0" name="Line 280"/>
            <p:cNvSpPr>
              <a:spLocks noChangeShapeType="1"/>
            </p:cNvSpPr>
            <p:nvPr/>
          </p:nvSpPr>
          <p:spPr bwMode="auto">
            <a:xfrm>
              <a:off x="3992" y="908"/>
              <a:ext cx="0" cy="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1" name="Freeform 281"/>
            <p:cNvSpPr/>
            <p:nvPr/>
          </p:nvSpPr>
          <p:spPr bwMode="auto">
            <a:xfrm>
              <a:off x="3274" y="886"/>
              <a:ext cx="720" cy="732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72" name="Line 282"/>
            <p:cNvSpPr>
              <a:spLocks noChangeShapeType="1"/>
            </p:cNvSpPr>
            <p:nvPr/>
          </p:nvSpPr>
          <p:spPr bwMode="auto">
            <a:xfrm>
              <a:off x="3226" y="886"/>
              <a:ext cx="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3" name="Line 283"/>
            <p:cNvSpPr>
              <a:spLocks noChangeShapeType="1"/>
            </p:cNvSpPr>
            <p:nvPr/>
          </p:nvSpPr>
          <p:spPr bwMode="auto">
            <a:xfrm>
              <a:off x="3990" y="1624"/>
              <a:ext cx="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4" name="Text Box 284"/>
            <p:cNvSpPr txBox="1">
              <a:spLocks noChangeArrowheads="1"/>
            </p:cNvSpPr>
            <p:nvPr/>
          </p:nvSpPr>
          <p:spPr bwMode="auto">
            <a:xfrm>
              <a:off x="2974" y="778"/>
              <a:ext cx="330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R/2</a:t>
              </a:r>
            </a:p>
          </p:txBody>
        </p:sp>
        <p:sp>
          <p:nvSpPr>
            <p:cNvPr id="175" name="Text Box 285"/>
            <p:cNvSpPr txBox="1">
              <a:spLocks noChangeArrowheads="1"/>
            </p:cNvSpPr>
            <p:nvPr/>
          </p:nvSpPr>
          <p:spPr bwMode="auto">
            <a:xfrm>
              <a:off x="3858" y="1646"/>
              <a:ext cx="330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R/2</a:t>
              </a:r>
            </a:p>
          </p:txBody>
        </p:sp>
        <p:sp>
          <p:nvSpPr>
            <p:cNvPr id="176" name="Text Box 286"/>
            <p:cNvSpPr txBox="1">
              <a:spLocks noChangeArrowheads="1"/>
            </p:cNvSpPr>
            <p:nvPr/>
          </p:nvSpPr>
          <p:spPr bwMode="auto">
            <a:xfrm rot="16200000">
              <a:off x="2941" y="1140"/>
              <a:ext cx="392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500">
                  <a:latin typeface="Symbol" panose="05050102010706020507" charset="0"/>
                </a:rPr>
                <a:t>l</a:t>
              </a:r>
              <a:r>
                <a:rPr lang="en-US" sz="1500" baseline="-25000">
                  <a:latin typeface="Arial" panose="020B0604020202020204" pitchFamily="34" charset="0"/>
                </a:rPr>
                <a:t>out</a:t>
              </a:r>
            </a:p>
          </p:txBody>
        </p:sp>
        <p:sp>
          <p:nvSpPr>
            <p:cNvPr id="177" name="Text Box 287"/>
            <p:cNvSpPr txBox="1">
              <a:spLocks noChangeArrowheads="1"/>
            </p:cNvSpPr>
            <p:nvPr/>
          </p:nvSpPr>
          <p:spPr bwMode="auto">
            <a:xfrm>
              <a:off x="3529" y="1600"/>
              <a:ext cx="327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500">
                  <a:latin typeface="Symbol" panose="05050102010706020507" charset="0"/>
                </a:rPr>
                <a:t>l</a:t>
              </a:r>
              <a:r>
                <a:rPr lang="en-US" sz="1500" baseline="-25000">
                  <a:latin typeface="Arial" panose="020B0604020202020204" pitchFamily="34" charset="0"/>
                </a:rPr>
                <a:t>in</a:t>
              </a:r>
            </a:p>
          </p:txBody>
        </p:sp>
        <p:sp>
          <p:nvSpPr>
            <p:cNvPr id="178" name="Line 288"/>
            <p:cNvSpPr>
              <a:spLocks noChangeShapeType="1"/>
            </p:cNvSpPr>
            <p:nvPr/>
          </p:nvSpPr>
          <p:spPr bwMode="auto">
            <a:xfrm>
              <a:off x="3290" y="887"/>
              <a:ext cx="6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</p:grp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A05D7033-FFBE-4846-ADA8-1C94D4BCC569}"/>
              </a:ext>
            </a:extLst>
          </p:cNvPr>
          <p:cNvSpPr/>
          <p:nvPr/>
        </p:nvSpPr>
        <p:spPr>
          <a:xfrm>
            <a:off x="940313" y="2891100"/>
            <a:ext cx="4999839" cy="2252400"/>
          </a:xfrm>
          <a:prstGeom prst="roundRect">
            <a:avLst>
              <a:gd name="adj" fmla="val 8086"/>
            </a:avLst>
          </a:prstGeom>
          <a:noFill/>
          <a:ln w="3175"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灯片编号占位符 2">
            <a:extLst>
              <a:ext uri="{FF2B5EF4-FFF2-40B4-BE49-F238E27FC236}">
                <a16:creationId xmlns:a16="http://schemas.microsoft.com/office/drawing/2014/main" id="{4EE09302-7B12-4CF5-A293-1E7B978D98F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181" name="AutoShape 5">
            <a:extLst>
              <a:ext uri="{FF2B5EF4-FFF2-40B4-BE49-F238E27FC236}">
                <a16:creationId xmlns:a16="http://schemas.microsoft.com/office/drawing/2014/main" id="{20EE2197-B9CF-43F2-BF15-CEC59DDA3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076775" cy="1963190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3.6.1 </a:t>
            </a:r>
            <a:r>
              <a:rPr lang="zh-CN" altLang="en-US" dirty="0">
                <a:effectLst/>
              </a:rPr>
              <a:t>拥塞的原因和代价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场景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：两个发送方和一台具有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有限缓存</a:t>
            </a:r>
            <a:r>
              <a:rPr lang="zh-CN" altLang="en-US" dirty="0">
                <a:effectLst/>
              </a:rPr>
              <a:t>的路由器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链路的带宽：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</a:t>
            </a: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有分组重传控制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3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应用层：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=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out</a:t>
            </a:r>
          </a:p>
          <a:p>
            <a:pPr lvl="3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运输层：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包括了重传的数据分组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68122" y="2859782"/>
            <a:ext cx="4636057" cy="2229776"/>
            <a:chOff x="1354758" y="3140969"/>
            <a:chExt cx="6181409" cy="2973035"/>
          </a:xfrm>
        </p:grpSpPr>
        <p:sp>
          <p:nvSpPr>
            <p:cNvPr id="8" name="Freeform 9"/>
            <p:cNvSpPr/>
            <p:nvPr/>
          </p:nvSpPr>
          <p:spPr bwMode="auto">
            <a:xfrm flipH="1">
              <a:off x="2573958" y="3660036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9" name="Group 124"/>
            <p:cNvGrpSpPr/>
            <p:nvPr/>
          </p:nvGrpSpPr>
          <p:grpSpPr bwMode="auto">
            <a:xfrm>
              <a:off x="2240583" y="4356949"/>
              <a:ext cx="525463" cy="434975"/>
              <a:chOff x="-44" y="1473"/>
              <a:chExt cx="981" cy="1105"/>
            </a:xfrm>
          </p:grpSpPr>
          <p:pic>
            <p:nvPicPr>
              <p:cNvPr id="10" name="Picture 1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Freeform 1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12" name="Freeform 3"/>
            <p:cNvSpPr/>
            <p:nvPr/>
          </p:nvSpPr>
          <p:spPr bwMode="auto">
            <a:xfrm>
              <a:off x="6558583" y="4852249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934821" y="387117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2"/>
            <p:cNvSpPr/>
            <p:nvPr/>
          </p:nvSpPr>
          <p:spPr bwMode="auto">
            <a:xfrm flipH="1">
              <a:off x="1699246" y="460142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977308" y="5099899"/>
              <a:ext cx="1063625" cy="2349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977308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5040933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3977308" y="5080849"/>
              <a:ext cx="252413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718671" y="5071324"/>
              <a:ext cx="322262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966196" y="4912574"/>
              <a:ext cx="1063625" cy="2730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21" name="Group 24"/>
            <p:cNvGrpSpPr/>
            <p:nvPr/>
          </p:nvGrpSpPr>
          <p:grpSpPr bwMode="auto">
            <a:xfrm>
              <a:off x="4223371" y="4971311"/>
              <a:ext cx="527050" cy="160338"/>
              <a:chOff x="2848" y="848"/>
              <a:chExt cx="140" cy="98"/>
            </a:xfrm>
          </p:grpSpPr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8"/>
            <p:cNvGrpSpPr/>
            <p:nvPr/>
          </p:nvGrpSpPr>
          <p:grpSpPr bwMode="auto">
            <a:xfrm flipV="1">
              <a:off x="4223371" y="4969724"/>
              <a:ext cx="527050" cy="158750"/>
              <a:chOff x="2848" y="848"/>
              <a:chExt cx="140" cy="98"/>
            </a:xfrm>
          </p:grpSpPr>
          <p:sp>
            <p:nvSpPr>
              <p:cNvPr id="26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7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3121947" y="5459467"/>
              <a:ext cx="1586307" cy="39528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有限的共享输出链路缓存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H="1">
              <a:off x="286129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H="1">
              <a:off x="3347071" y="473477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2" name="Group 35"/>
            <p:cNvGrpSpPr/>
            <p:nvPr/>
          </p:nvGrpSpPr>
          <p:grpSpPr bwMode="auto">
            <a:xfrm>
              <a:off x="2800971" y="3715599"/>
              <a:ext cx="650875" cy="904875"/>
              <a:chOff x="12762" y="10336"/>
              <a:chExt cx="1027" cy="1700"/>
            </a:xfrm>
          </p:grpSpPr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4" name="Rectangle 3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2039524" y="4104317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2194545" y="3140969"/>
              <a:ext cx="1548641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初始数据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500" dirty="0" err="1">
                  <a:solidFill>
                    <a:srgbClr val="FF66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 err="1">
                  <a:solidFill>
                    <a:srgbClr val="FF66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1200" baseline="-25000" dirty="0">
                  <a:solidFill>
                    <a:srgbClr val="FF66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1200" dirty="0">
                <a:solidFill>
                  <a:srgbClr val="FF66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 flipH="1">
              <a:off x="2423146" y="559202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2" name="Group 45"/>
            <p:cNvGrpSpPr/>
            <p:nvPr/>
          </p:nvGrpSpPr>
          <p:grpSpPr bwMode="auto">
            <a:xfrm>
              <a:off x="1943721" y="4610949"/>
              <a:ext cx="650875" cy="904875"/>
              <a:chOff x="12762" y="10336"/>
              <a:chExt cx="1027" cy="1700"/>
            </a:xfrm>
          </p:grpSpPr>
          <p:sp>
            <p:nvSpPr>
              <p:cNvPr id="43" name="Rectangle 4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4" name="Rectangle 4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5" name="Line 4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" name="Line 5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Line 5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1519765" y="5680943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 flipH="1">
              <a:off x="334707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 flipH="1">
              <a:off x="496632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 flipH="1">
              <a:off x="509014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 flipH="1">
              <a:off x="5983908" y="4744299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4" name="Group 58"/>
            <p:cNvGrpSpPr/>
            <p:nvPr/>
          </p:nvGrpSpPr>
          <p:grpSpPr bwMode="auto">
            <a:xfrm>
              <a:off x="6296646" y="3820374"/>
              <a:ext cx="650875" cy="904875"/>
              <a:chOff x="12762" y="10336"/>
              <a:chExt cx="1027" cy="1700"/>
            </a:xfrm>
          </p:grpSpPr>
          <p:sp>
            <p:nvSpPr>
              <p:cNvPr id="55" name="Rectangle 59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6" name="Rectangle 60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7" name="Line 61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Line 62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" name="Line 63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Line 64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1" name="Group 65"/>
            <p:cNvGrpSpPr/>
            <p:nvPr/>
          </p:nvGrpSpPr>
          <p:grpSpPr bwMode="auto">
            <a:xfrm>
              <a:off x="5915646" y="4837961"/>
              <a:ext cx="650875" cy="906463"/>
              <a:chOff x="12762" y="10336"/>
              <a:chExt cx="1027" cy="1700"/>
            </a:xfrm>
          </p:grpSpPr>
          <p:sp>
            <p:nvSpPr>
              <p:cNvPr id="62" name="Rectangle 6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3" name="Rectangle 6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4" name="Line 6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5" name="Line 6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6" name="Line 7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7" name="Line 7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8" name="Oval 72"/>
            <p:cNvSpPr>
              <a:spLocks noChangeArrowheads="1"/>
            </p:cNvSpPr>
            <p:nvPr/>
          </p:nvSpPr>
          <p:spPr bwMode="auto">
            <a:xfrm>
              <a:off x="3137521" y="37727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Oval 73"/>
            <p:cNvSpPr>
              <a:spLocks noChangeArrowheads="1"/>
            </p:cNvSpPr>
            <p:nvPr/>
          </p:nvSpPr>
          <p:spPr bwMode="auto">
            <a:xfrm>
              <a:off x="2194546" y="46490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0" name="Line 74"/>
            <p:cNvSpPr>
              <a:spLocks noChangeShapeType="1"/>
            </p:cNvSpPr>
            <p:nvPr/>
          </p:nvSpPr>
          <p:spPr bwMode="auto">
            <a:xfrm>
              <a:off x="2712071" y="3552086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Text Box 75"/>
            <p:cNvSpPr txBox="1">
              <a:spLocks noChangeArrowheads="1"/>
            </p:cNvSpPr>
            <p:nvPr/>
          </p:nvSpPr>
          <p:spPr bwMode="auto">
            <a:xfrm>
              <a:off x="5169521" y="3229824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吞吐率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dirty="0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out</a:t>
              </a:r>
              <a:endParaRPr lang="en-US" altLang="zh-CN" sz="1500" dirty="0">
                <a:solidFill>
                  <a:srgbClr val="CC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2" name="Line 76"/>
            <p:cNvSpPr>
              <a:spLocks noChangeShapeType="1"/>
            </p:cNvSpPr>
            <p:nvPr/>
          </p:nvSpPr>
          <p:spPr bwMode="auto">
            <a:xfrm>
              <a:off x="6014071" y="3639399"/>
              <a:ext cx="528637" cy="241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4" name="Group 78"/>
            <p:cNvGrpSpPr/>
            <p:nvPr/>
          </p:nvGrpSpPr>
          <p:grpSpPr bwMode="auto">
            <a:xfrm>
              <a:off x="4337671" y="5001474"/>
              <a:ext cx="673100" cy="266700"/>
              <a:chOff x="10808" y="10250"/>
              <a:chExt cx="1018" cy="403"/>
            </a:xfrm>
          </p:grpSpPr>
          <p:sp>
            <p:nvSpPr>
              <p:cNvPr id="75" name="Rectangle 79"/>
              <p:cNvSpPr>
                <a:spLocks noChangeArrowheads="1"/>
              </p:cNvSpPr>
              <p:nvPr/>
            </p:nvSpPr>
            <p:spPr bwMode="auto">
              <a:xfrm>
                <a:off x="10832" y="10250"/>
                <a:ext cx="994" cy="403"/>
              </a:xfrm>
              <a:prstGeom prst="rect">
                <a:avLst/>
              </a:pr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6" name="Freeform 80"/>
              <p:cNvSpPr/>
              <p:nvPr/>
            </p:nvSpPr>
            <p:spPr bwMode="auto">
              <a:xfrm>
                <a:off x="11198" y="10272"/>
                <a:ext cx="610" cy="374"/>
              </a:xfrm>
              <a:custGeom>
                <a:avLst/>
                <a:gdLst>
                  <a:gd name="T0" fmla="*/ 0 w 855"/>
                  <a:gd name="T1" fmla="*/ 0 h 390"/>
                  <a:gd name="T2" fmla="*/ 221 w 855"/>
                  <a:gd name="T3" fmla="*/ 0 h 390"/>
                  <a:gd name="T4" fmla="*/ 221 w 855"/>
                  <a:gd name="T5" fmla="*/ 330 h 390"/>
                  <a:gd name="T6" fmla="*/ 11 w 855"/>
                  <a:gd name="T7" fmla="*/ 330 h 39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5" h="390">
                    <a:moveTo>
                      <a:pt x="0" y="0"/>
                    </a:moveTo>
                    <a:lnTo>
                      <a:pt x="855" y="0"/>
                    </a:lnTo>
                    <a:lnTo>
                      <a:pt x="855" y="390"/>
                    </a:lnTo>
                    <a:lnTo>
                      <a:pt x="45" y="3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7" name="Line 81"/>
              <p:cNvSpPr>
                <a:spLocks noChangeShapeType="1"/>
              </p:cNvSpPr>
              <p:nvPr/>
            </p:nvSpPr>
            <p:spPr bwMode="auto">
              <a:xfrm>
                <a:off x="10808" y="10272"/>
                <a:ext cx="39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>
                <a:off x="10830" y="10646"/>
                <a:ext cx="38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9" name="Line 83"/>
              <p:cNvSpPr>
                <a:spLocks noChangeShapeType="1"/>
              </p:cNvSpPr>
              <p:nvPr/>
            </p:nvSpPr>
            <p:spPr bwMode="auto">
              <a:xfrm>
                <a:off x="1174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1679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2" name="Line 85"/>
              <p:cNvSpPr>
                <a:spLocks noChangeShapeType="1"/>
              </p:cNvSpPr>
              <p:nvPr/>
            </p:nvSpPr>
            <p:spPr bwMode="auto">
              <a:xfrm>
                <a:off x="1161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3" name="Line 86"/>
              <p:cNvSpPr>
                <a:spLocks noChangeShapeType="1"/>
              </p:cNvSpPr>
              <p:nvPr/>
            </p:nvSpPr>
            <p:spPr bwMode="auto">
              <a:xfrm>
                <a:off x="11549" y="1032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4" name="Line 87"/>
              <p:cNvSpPr>
                <a:spLocks noChangeShapeType="1"/>
              </p:cNvSpPr>
              <p:nvPr/>
            </p:nvSpPr>
            <p:spPr bwMode="auto">
              <a:xfrm>
                <a:off x="11484" y="10322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Line 88"/>
              <p:cNvSpPr>
                <a:spLocks noChangeShapeType="1"/>
              </p:cNvSpPr>
              <p:nvPr/>
            </p:nvSpPr>
            <p:spPr bwMode="auto">
              <a:xfrm>
                <a:off x="11418" y="10322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6" name="Line 89"/>
              <p:cNvSpPr>
                <a:spLocks noChangeShapeType="1"/>
              </p:cNvSpPr>
              <p:nvPr/>
            </p:nvSpPr>
            <p:spPr bwMode="auto">
              <a:xfrm>
                <a:off x="10909" y="10452"/>
                <a:ext cx="417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7" name="Freeform 90"/>
            <p:cNvSpPr/>
            <p:nvPr/>
          </p:nvSpPr>
          <p:spPr bwMode="auto">
            <a:xfrm>
              <a:off x="2242171" y="4725249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Freeform 91"/>
            <p:cNvSpPr/>
            <p:nvPr/>
          </p:nvSpPr>
          <p:spPr bwMode="auto">
            <a:xfrm>
              <a:off x="3185146" y="3820374"/>
              <a:ext cx="3429000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" h="804">
                  <a:moveTo>
                    <a:pt x="0" y="0"/>
                  </a:moveTo>
                  <a:lnTo>
                    <a:pt x="0" y="594"/>
                  </a:lnTo>
                  <a:lnTo>
                    <a:pt x="402" y="600"/>
                  </a:lnTo>
                  <a:lnTo>
                    <a:pt x="216" y="804"/>
                  </a:lnTo>
                  <a:lnTo>
                    <a:pt x="1446" y="804"/>
                  </a:lnTo>
                  <a:lnTo>
                    <a:pt x="1770" y="524"/>
                  </a:lnTo>
                  <a:lnTo>
                    <a:pt x="2160" y="516"/>
                  </a:lnTo>
                  <a:lnTo>
                    <a:pt x="2160" y="48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9" name="Group 127"/>
            <p:cNvGrpSpPr/>
            <p:nvPr/>
          </p:nvGrpSpPr>
          <p:grpSpPr bwMode="auto">
            <a:xfrm>
              <a:off x="7034833" y="4442674"/>
              <a:ext cx="231775" cy="441325"/>
              <a:chOff x="4140" y="429"/>
              <a:chExt cx="1425" cy="2396"/>
            </a:xfrm>
          </p:grpSpPr>
          <p:sp>
            <p:nvSpPr>
              <p:cNvPr id="90" name="Freeform 12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1" name="Rectangle 129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2" name="Freeform 13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3" name="Freeform 13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4" name="Rectangle 132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5" name="Group 13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0" name="AutoShape 134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21" name="AutoShape 135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6" name="Rectangle 136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7" name="Group 13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8" name="AutoShape 138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9" name="AutoShape 139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8" name="Rectangle 140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9" name="Rectangle 141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00" name="Group 14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6" name="AutoShape 143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7" name="AutoShape 144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1" name="Freeform 14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02" name="Group 14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" name="AutoShape 147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5" name="AutoShape 148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3" name="Rectangle 149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4" name="Freeform 15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5" name="Freeform 15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6" name="Oval 152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7" name="Freeform 15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8" name="AutoShape 154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9" name="AutoShape 155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0" name="Oval 156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1" name="Oval 157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Oval 158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3" name="Rectangle 159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grpSp>
          <p:nvGrpSpPr>
            <p:cNvPr id="122" name="Group 160"/>
            <p:cNvGrpSpPr/>
            <p:nvPr/>
          </p:nvGrpSpPr>
          <p:grpSpPr bwMode="auto">
            <a:xfrm>
              <a:off x="1354758" y="5333261"/>
              <a:ext cx="525463" cy="434975"/>
              <a:chOff x="-44" y="1473"/>
              <a:chExt cx="981" cy="1105"/>
            </a:xfrm>
          </p:grpSpPr>
          <p:pic>
            <p:nvPicPr>
              <p:cNvPr id="123" name="Picture 16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" name="Freeform 16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25" name="Group 163"/>
            <p:cNvGrpSpPr/>
            <p:nvPr/>
          </p:nvGrpSpPr>
          <p:grpSpPr bwMode="auto">
            <a:xfrm>
              <a:off x="6717333" y="5407874"/>
              <a:ext cx="231775" cy="441325"/>
              <a:chOff x="4140" y="429"/>
              <a:chExt cx="1425" cy="2396"/>
            </a:xfrm>
          </p:grpSpPr>
          <p:sp>
            <p:nvSpPr>
              <p:cNvPr id="126" name="Freeform 164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7" name="Rectangle 165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28" name="Freeform 166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9" name="Freeform 167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" name="Rectangle 168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1" name="Group 169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6" name="AutoShape 170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7" name="AutoShape 171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2" name="Rectangle 172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3" name="Group 173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4" name="AutoShape 174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5" name="AutoShape 175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4" name="Rectangle 176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5" name="Rectangle 177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6" name="Group 178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2" name="AutoShape 179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3" name="AutoShape 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7" name="Freeform 181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38" name="Group 182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0" name="AutoShape 183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1" name="AutoShape 184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9" name="Rectangle 185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0" name="Freeform 186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1" name="Freeform 187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2" name="Oval 188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3" name="Freeform 189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AutoShape 190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5" name="AutoShape 191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6" name="Oval 192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7" name="Oval 193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Oval 194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9" name="Rectangle 195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58" name="Text Box 42"/>
            <p:cNvSpPr txBox="1">
              <a:spLocks noChangeArrowheads="1"/>
            </p:cNvSpPr>
            <p:nvPr/>
          </p:nvSpPr>
          <p:spPr bwMode="auto">
            <a:xfrm>
              <a:off x="6759485" y="4880278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59" name="Text Box 52"/>
            <p:cNvSpPr txBox="1">
              <a:spLocks noChangeArrowheads="1"/>
            </p:cNvSpPr>
            <p:nvPr/>
          </p:nvSpPr>
          <p:spPr bwMode="auto">
            <a:xfrm>
              <a:off x="6388440" y="5871116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3" name="Text Box 43"/>
            <p:cNvSpPr txBox="1">
              <a:spLocks noChangeArrowheads="1"/>
            </p:cNvSpPr>
            <p:nvPr/>
          </p:nvSpPr>
          <p:spPr bwMode="auto">
            <a:xfrm>
              <a:off x="3409932" y="3615589"/>
              <a:ext cx="2184370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供给载荷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350" dirty="0" err="1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050" dirty="0" err="1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r>
                <a:rPr lang="en-US" altLang="zh-CN" sz="1350" baseline="-25000" dirty="0" err="1">
                  <a:solidFill>
                    <a:srgbClr val="CC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9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Oval 72"/>
            <p:cNvSpPr>
              <a:spLocks noChangeArrowheads="1"/>
            </p:cNvSpPr>
            <p:nvPr/>
          </p:nvSpPr>
          <p:spPr bwMode="auto">
            <a:xfrm>
              <a:off x="3137521" y="3970828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95" name="Line 74"/>
            <p:cNvSpPr>
              <a:spLocks noChangeShapeType="1"/>
            </p:cNvSpPr>
            <p:nvPr/>
          </p:nvSpPr>
          <p:spPr bwMode="auto">
            <a:xfrm flipH="1">
              <a:off x="3223246" y="3973925"/>
              <a:ext cx="511766" cy="388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 flipV="1">
              <a:off x="4011528" y="5255473"/>
              <a:ext cx="596573" cy="229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64" name="Text Box 259"/>
          <p:cNvSpPr txBox="1">
            <a:spLocks noChangeArrowheads="1"/>
          </p:cNvSpPr>
          <p:nvPr/>
        </p:nvSpPr>
        <p:spPr bwMode="auto">
          <a:xfrm>
            <a:off x="3064781" y="3927943"/>
            <a:ext cx="1285929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zh-CN" sz="1200" i="1" dirty="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r>
              <a:rPr lang="en-US" sz="1200" i="1" dirty="0">
                <a:solidFill>
                  <a:srgbClr val="FF0000"/>
                </a:solidFill>
                <a:latin typeface="Arial" panose="020B0604020202020204" pitchFamily="34" charset="0"/>
              </a:rPr>
              <a:t>o buffer space!</a:t>
            </a:r>
          </a:p>
        </p:txBody>
      </p:sp>
      <p:sp>
        <p:nvSpPr>
          <p:cNvPr id="165" name="Rectangle 3"/>
          <p:cNvSpPr txBox="1">
            <a:spLocks noChangeArrowheads="1"/>
          </p:cNvSpPr>
          <p:nvPr/>
        </p:nvSpPr>
        <p:spPr bwMode="auto">
          <a:xfrm>
            <a:off x="6306450" y="1513868"/>
            <a:ext cx="2722580" cy="179342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真实状况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1: </a:t>
            </a:r>
          </a:p>
          <a:p>
            <a:pPr marL="357188" lvl="1" indent="-179388"/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路由器缓存溢出，丢失分组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57188" lvl="1" indent="-179388"/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发送方只在分组丢失的情况下重传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代价：</a:t>
            </a:r>
            <a:endParaRPr lang="en-US" altLang="zh-CN" sz="1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发送方会重传丢失的分组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0066CC"/>
                </a:solidFill>
                <a:effectLst/>
              </a:rPr>
              <a:t> </a:t>
            </a:r>
            <a:r>
              <a:rPr lang="en-US" altLang="zh-CN" sz="1400" dirty="0" err="1">
                <a:solidFill>
                  <a:srgbClr val="C0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sz="1400" baseline="-25000" dirty="0" err="1">
                <a:solidFill>
                  <a:srgbClr val="C00000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1400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Arial" panose="020B0604020202020204" pitchFamily="34" charset="0"/>
              </a:rPr>
              <a:t>&gt;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C0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400" baseline="-25000" dirty="0" err="1">
                <a:solidFill>
                  <a:srgbClr val="C00000"/>
                </a:solidFill>
                <a:latin typeface="Arial" panose="020B0604020202020204" pitchFamily="34" charset="0"/>
              </a:rPr>
              <a:t>in</a:t>
            </a:r>
            <a:endParaRPr lang="en-US" altLang="zh-CN" sz="1400" dirty="0">
              <a:solidFill>
                <a:srgbClr val="C00000"/>
              </a:solidFill>
              <a:effectLst/>
            </a:endParaRPr>
          </a:p>
          <a:p>
            <a:endParaRPr lang="en-US" altLang="zh-CN" sz="1400" dirty="0">
              <a:solidFill>
                <a:srgbClr val="0066CC"/>
              </a:solidFill>
            </a:endParaRPr>
          </a:p>
        </p:txBody>
      </p:sp>
      <p:pic>
        <p:nvPicPr>
          <p:cNvPr id="179" name="Picture 2" descr="garbage_ca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052" y="4630810"/>
            <a:ext cx="247101" cy="329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0" name="组合 179"/>
          <p:cNvGrpSpPr/>
          <p:nvPr/>
        </p:nvGrpSpPr>
        <p:grpSpPr>
          <a:xfrm>
            <a:off x="6246302" y="3585474"/>
            <a:ext cx="2400917" cy="1582344"/>
            <a:chOff x="4583878" y="1244600"/>
            <a:chExt cx="3201222" cy="2109792"/>
          </a:xfrm>
        </p:grpSpPr>
        <p:sp>
          <p:nvSpPr>
            <p:cNvPr id="181" name="Line 239"/>
            <p:cNvSpPr>
              <a:spLocks noChangeShapeType="1"/>
            </p:cNvSpPr>
            <p:nvPr/>
          </p:nvSpPr>
          <p:spPr bwMode="auto">
            <a:xfrm>
              <a:off x="5092700" y="1244600"/>
              <a:ext cx="0" cy="1716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2" name="Line 240"/>
            <p:cNvSpPr>
              <a:spLocks noChangeShapeType="1"/>
            </p:cNvSpPr>
            <p:nvPr/>
          </p:nvSpPr>
          <p:spPr bwMode="auto">
            <a:xfrm rot="5400000">
              <a:off x="5986463" y="2068512"/>
              <a:ext cx="0" cy="17986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3" name="Text Box 241"/>
            <p:cNvSpPr txBox="1">
              <a:spLocks noChangeArrowheads="1"/>
            </p:cNvSpPr>
            <p:nvPr/>
          </p:nvSpPr>
          <p:spPr bwMode="auto">
            <a:xfrm>
              <a:off x="4664075" y="1292225"/>
              <a:ext cx="52621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050">
                  <a:latin typeface="Arial" panose="020B0604020202020204" pitchFamily="34" charset="0"/>
                  <a:cs typeface="Arial" panose="020B0604020202020204" pitchFamily="34" charset="0"/>
                </a:rPr>
                <a:t>R/2</a:t>
              </a:r>
            </a:p>
          </p:txBody>
        </p:sp>
        <p:sp>
          <p:nvSpPr>
            <p:cNvPr id="184" name="Line 242"/>
            <p:cNvSpPr>
              <a:spLocks noChangeShapeType="1"/>
            </p:cNvSpPr>
            <p:nvPr/>
          </p:nvSpPr>
          <p:spPr bwMode="auto">
            <a:xfrm rot="5400000">
              <a:off x="6435725" y="114300"/>
              <a:ext cx="0" cy="2698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5" name="Line 243"/>
            <p:cNvSpPr>
              <a:spLocks noChangeShapeType="1"/>
            </p:cNvSpPr>
            <p:nvPr/>
          </p:nvSpPr>
          <p:spPr bwMode="auto">
            <a:xfrm rot="10800000">
              <a:off x="6661150" y="1479550"/>
              <a:ext cx="0" cy="1479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6" name="Text Box 244"/>
            <p:cNvSpPr txBox="1">
              <a:spLocks noChangeArrowheads="1"/>
            </p:cNvSpPr>
            <p:nvPr/>
          </p:nvSpPr>
          <p:spPr bwMode="auto">
            <a:xfrm>
              <a:off x="6450013" y="2930525"/>
              <a:ext cx="52621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R/2</a:t>
              </a:r>
            </a:p>
          </p:txBody>
        </p:sp>
        <p:sp>
          <p:nvSpPr>
            <p:cNvPr id="187" name="Freeform 245"/>
            <p:cNvSpPr/>
            <p:nvPr/>
          </p:nvSpPr>
          <p:spPr bwMode="auto">
            <a:xfrm>
              <a:off x="5097463" y="1449388"/>
              <a:ext cx="2533650" cy="1516063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6" h="955">
                  <a:moveTo>
                    <a:pt x="0" y="955"/>
                  </a:moveTo>
                  <a:cubicBezTo>
                    <a:pt x="126" y="837"/>
                    <a:pt x="27" y="927"/>
                    <a:pt x="758" y="246"/>
                  </a:cubicBezTo>
                  <a:cubicBezTo>
                    <a:pt x="1095" y="0"/>
                    <a:pt x="1453" y="57"/>
                    <a:pt x="1636" y="7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88" name="Group 246"/>
            <p:cNvGrpSpPr/>
            <p:nvPr/>
          </p:nvGrpSpPr>
          <p:grpSpPr bwMode="auto">
            <a:xfrm>
              <a:off x="5656256" y="2954341"/>
              <a:ext cx="492125" cy="400051"/>
              <a:chOff x="3655" y="1791"/>
              <a:chExt cx="310" cy="252"/>
            </a:xfrm>
          </p:grpSpPr>
          <p:sp>
            <p:nvSpPr>
              <p:cNvPr id="192" name="Text Box 247"/>
              <p:cNvSpPr txBox="1">
                <a:spLocks noChangeArrowheads="1"/>
              </p:cNvSpPr>
              <p:nvPr/>
            </p:nvSpPr>
            <p:spPr bwMode="auto">
              <a:xfrm>
                <a:off x="3655" y="1791"/>
                <a:ext cx="310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350">
                    <a:latin typeface="Symbol" panose="05050102010706020507" charset="0"/>
                    <a:cs typeface="Arial" panose="020B0604020202020204" pitchFamily="34" charset="0"/>
                  </a:rPr>
                  <a:t>l</a:t>
                </a:r>
                <a:r>
                  <a:rPr lang="en-US" sz="1350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</a:p>
            </p:txBody>
          </p:sp>
          <p:sp>
            <p:nvSpPr>
              <p:cNvPr id="196" name="Line 248"/>
              <p:cNvSpPr>
                <a:spLocks noChangeShapeType="1"/>
              </p:cNvSpPr>
              <p:nvPr/>
            </p:nvSpPr>
            <p:spPr bwMode="auto">
              <a:xfrm flipV="1">
                <a:off x="3810" y="1846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189" name="Text Box 249"/>
            <p:cNvSpPr txBox="1">
              <a:spLocks noChangeArrowheads="1"/>
            </p:cNvSpPr>
            <p:nvPr/>
          </p:nvSpPr>
          <p:spPr bwMode="auto">
            <a:xfrm rot="16200000">
              <a:off x="4475163" y="2010539"/>
              <a:ext cx="617539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350" dirty="0">
                  <a:latin typeface="Symbol" panose="05050102010706020507" charset="0"/>
                  <a:cs typeface="Arial" panose="020B0604020202020204" pitchFamily="34" charset="0"/>
                </a:rPr>
                <a:t>l</a:t>
              </a:r>
              <a:r>
                <a:rPr lang="en-US" sz="135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</p:txBody>
        </p:sp>
        <p:sp>
          <p:nvSpPr>
            <p:cNvPr id="190" name="Line 250"/>
            <p:cNvSpPr>
              <a:spLocks noChangeShapeType="1"/>
            </p:cNvSpPr>
            <p:nvPr/>
          </p:nvSpPr>
          <p:spPr bwMode="auto">
            <a:xfrm rot="10800000" flipH="1">
              <a:off x="5051425" y="1463675"/>
              <a:ext cx="1617663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91" name="Oval 251"/>
            <p:cNvSpPr>
              <a:spLocks noChangeArrowheads="1"/>
            </p:cNvSpPr>
            <p:nvPr/>
          </p:nvSpPr>
          <p:spPr bwMode="auto">
            <a:xfrm>
              <a:off x="6624638" y="1595438"/>
              <a:ext cx="88900" cy="889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0BBFB32E-1334-49A8-8B1D-F4D6CBAC3492}"/>
              </a:ext>
            </a:extLst>
          </p:cNvPr>
          <p:cNvSpPr/>
          <p:nvPr/>
        </p:nvSpPr>
        <p:spPr>
          <a:xfrm>
            <a:off x="940313" y="2891100"/>
            <a:ext cx="4999839" cy="2252400"/>
          </a:xfrm>
          <a:prstGeom prst="roundRect">
            <a:avLst>
              <a:gd name="adj" fmla="val 8086"/>
            </a:avLst>
          </a:prstGeom>
          <a:noFill/>
          <a:ln w="3175"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灯片编号占位符 2">
            <a:extLst>
              <a:ext uri="{FF2B5EF4-FFF2-40B4-BE49-F238E27FC236}">
                <a16:creationId xmlns:a16="http://schemas.microsoft.com/office/drawing/2014/main" id="{563B1D2B-CCA3-4A83-9356-AAD2959231E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197" name="AutoShape 5">
            <a:extLst>
              <a:ext uri="{FF2B5EF4-FFF2-40B4-BE49-F238E27FC236}">
                <a16:creationId xmlns:a16="http://schemas.microsoft.com/office/drawing/2014/main" id="{B4621B27-CD00-4DBC-8CA8-5E491EB28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054748" cy="195510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3.6.1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拥塞的原因和代价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场景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：两个发送方和一台具有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有限缓存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的路由器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链路的带宽：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</a:t>
            </a: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有分组重传控制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3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应用层：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=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out</a:t>
            </a:r>
          </a:p>
          <a:p>
            <a:pPr lvl="3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运输层：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l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包括了重传的数据分组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68122" y="2862254"/>
            <a:ext cx="4636057" cy="2229776"/>
            <a:chOff x="1354758" y="3140969"/>
            <a:chExt cx="6181409" cy="2973035"/>
          </a:xfrm>
        </p:grpSpPr>
        <p:sp>
          <p:nvSpPr>
            <p:cNvPr id="8" name="Freeform 9"/>
            <p:cNvSpPr/>
            <p:nvPr/>
          </p:nvSpPr>
          <p:spPr bwMode="auto">
            <a:xfrm flipH="1">
              <a:off x="2573958" y="3660036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9" name="Group 124"/>
            <p:cNvGrpSpPr/>
            <p:nvPr/>
          </p:nvGrpSpPr>
          <p:grpSpPr bwMode="auto">
            <a:xfrm>
              <a:off x="2240583" y="4356949"/>
              <a:ext cx="525463" cy="434975"/>
              <a:chOff x="-44" y="1473"/>
              <a:chExt cx="981" cy="1105"/>
            </a:xfrm>
          </p:grpSpPr>
          <p:pic>
            <p:nvPicPr>
              <p:cNvPr id="10" name="Picture 12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Freeform 12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12" name="Freeform 3"/>
            <p:cNvSpPr/>
            <p:nvPr/>
          </p:nvSpPr>
          <p:spPr bwMode="auto">
            <a:xfrm>
              <a:off x="6558583" y="4852249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6934821" y="387117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2"/>
            <p:cNvSpPr/>
            <p:nvPr/>
          </p:nvSpPr>
          <p:spPr bwMode="auto">
            <a:xfrm flipH="1">
              <a:off x="1699246" y="4601424"/>
              <a:ext cx="250825" cy="930275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977308" y="5099899"/>
              <a:ext cx="1063625" cy="2349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977308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5040933" y="5080849"/>
              <a:ext cx="0" cy="14605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3977308" y="5080849"/>
              <a:ext cx="252413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718671" y="5071324"/>
              <a:ext cx="322262" cy="1428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966196" y="4912574"/>
              <a:ext cx="1063625" cy="273050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21" name="Group 24"/>
            <p:cNvGrpSpPr/>
            <p:nvPr/>
          </p:nvGrpSpPr>
          <p:grpSpPr bwMode="auto">
            <a:xfrm>
              <a:off x="4223371" y="4971311"/>
              <a:ext cx="527050" cy="160338"/>
              <a:chOff x="2848" y="848"/>
              <a:chExt cx="140" cy="98"/>
            </a:xfrm>
          </p:grpSpPr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5" name="Group 28"/>
            <p:cNvGrpSpPr/>
            <p:nvPr/>
          </p:nvGrpSpPr>
          <p:grpSpPr bwMode="auto">
            <a:xfrm flipV="1">
              <a:off x="4223371" y="4969724"/>
              <a:ext cx="527050" cy="158750"/>
              <a:chOff x="2848" y="848"/>
              <a:chExt cx="140" cy="98"/>
            </a:xfrm>
          </p:grpSpPr>
          <p:sp>
            <p:nvSpPr>
              <p:cNvPr id="26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7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3121947" y="5459467"/>
              <a:ext cx="1586307" cy="39528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有限的共享输出链路缓存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H="1">
              <a:off x="286129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H="1">
              <a:off x="3347071" y="473477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2" name="Group 35"/>
            <p:cNvGrpSpPr/>
            <p:nvPr/>
          </p:nvGrpSpPr>
          <p:grpSpPr bwMode="auto">
            <a:xfrm>
              <a:off x="2800971" y="3715599"/>
              <a:ext cx="650875" cy="904875"/>
              <a:chOff x="12762" y="10336"/>
              <a:chExt cx="1027" cy="1700"/>
            </a:xfrm>
          </p:grpSpPr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4" name="Rectangle 3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5" name="Line 3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2039524" y="4104317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2194545" y="3140969"/>
              <a:ext cx="1548641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初始数据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500" dirty="0" err="1">
                  <a:solidFill>
                    <a:srgbClr val="FF66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 err="1">
                  <a:solidFill>
                    <a:srgbClr val="FF66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1200" baseline="-25000" dirty="0">
                  <a:solidFill>
                    <a:srgbClr val="FF66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1200" dirty="0">
                <a:solidFill>
                  <a:srgbClr val="FF66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 flipH="1">
              <a:off x="2423146" y="5592024"/>
              <a:ext cx="43815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2" name="Group 45"/>
            <p:cNvGrpSpPr/>
            <p:nvPr/>
          </p:nvGrpSpPr>
          <p:grpSpPr bwMode="auto">
            <a:xfrm>
              <a:off x="1943721" y="4610949"/>
              <a:ext cx="650875" cy="904875"/>
              <a:chOff x="12762" y="10336"/>
              <a:chExt cx="1027" cy="1700"/>
            </a:xfrm>
          </p:grpSpPr>
          <p:sp>
            <p:nvSpPr>
              <p:cNvPr id="43" name="Rectangle 4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4" name="Rectangle 4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5" name="Line 4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" name="Line 5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Line 5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1519765" y="5680943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Host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 flipH="1">
              <a:off x="334707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 flipH="1">
              <a:off x="4966321" y="5134824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 flipH="1">
              <a:off x="5090146" y="4734774"/>
              <a:ext cx="923925" cy="866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 flipH="1">
              <a:off x="5983908" y="4744299"/>
              <a:ext cx="4397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4" name="Group 58"/>
            <p:cNvGrpSpPr/>
            <p:nvPr/>
          </p:nvGrpSpPr>
          <p:grpSpPr bwMode="auto">
            <a:xfrm>
              <a:off x="6296646" y="3820374"/>
              <a:ext cx="650875" cy="904875"/>
              <a:chOff x="12762" y="10336"/>
              <a:chExt cx="1027" cy="1700"/>
            </a:xfrm>
          </p:grpSpPr>
          <p:sp>
            <p:nvSpPr>
              <p:cNvPr id="55" name="Rectangle 59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6" name="Rectangle 60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7" name="Line 61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Line 62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" name="Line 63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Line 64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1" name="Group 65"/>
            <p:cNvGrpSpPr/>
            <p:nvPr/>
          </p:nvGrpSpPr>
          <p:grpSpPr bwMode="auto">
            <a:xfrm>
              <a:off x="5915646" y="4837961"/>
              <a:ext cx="650875" cy="906463"/>
              <a:chOff x="12762" y="10336"/>
              <a:chExt cx="1027" cy="1700"/>
            </a:xfrm>
          </p:grpSpPr>
          <p:sp>
            <p:nvSpPr>
              <p:cNvPr id="62" name="Rectangle 66"/>
              <p:cNvSpPr>
                <a:spLocks noChangeArrowheads="1"/>
              </p:cNvSpPr>
              <p:nvPr/>
            </p:nvSpPr>
            <p:spPr bwMode="auto">
              <a:xfrm>
                <a:off x="12824" y="10394"/>
                <a:ext cx="965" cy="1642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3" name="Rectangle 67"/>
              <p:cNvSpPr>
                <a:spLocks noChangeArrowheads="1"/>
              </p:cNvSpPr>
              <p:nvPr/>
            </p:nvSpPr>
            <p:spPr bwMode="auto">
              <a:xfrm>
                <a:off x="12766" y="10336"/>
                <a:ext cx="965" cy="16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64" name="Line 68"/>
              <p:cNvSpPr>
                <a:spLocks noChangeShapeType="1"/>
              </p:cNvSpPr>
              <p:nvPr/>
            </p:nvSpPr>
            <p:spPr bwMode="auto">
              <a:xfrm>
                <a:off x="12766" y="10682"/>
                <a:ext cx="965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5" name="Line 69"/>
              <p:cNvSpPr>
                <a:spLocks noChangeShapeType="1"/>
              </p:cNvSpPr>
              <p:nvPr/>
            </p:nvSpPr>
            <p:spPr bwMode="auto">
              <a:xfrm>
                <a:off x="12780" y="11042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6" name="Line 70"/>
              <p:cNvSpPr>
                <a:spLocks noChangeShapeType="1"/>
              </p:cNvSpPr>
              <p:nvPr/>
            </p:nvSpPr>
            <p:spPr bwMode="auto">
              <a:xfrm>
                <a:off x="12764" y="11374"/>
                <a:ext cx="9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7" name="Line 71"/>
              <p:cNvSpPr>
                <a:spLocks noChangeShapeType="1"/>
              </p:cNvSpPr>
              <p:nvPr/>
            </p:nvSpPr>
            <p:spPr bwMode="auto">
              <a:xfrm>
                <a:off x="12762" y="11675"/>
                <a:ext cx="96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8" name="Oval 72"/>
            <p:cNvSpPr>
              <a:spLocks noChangeArrowheads="1"/>
            </p:cNvSpPr>
            <p:nvPr/>
          </p:nvSpPr>
          <p:spPr bwMode="auto">
            <a:xfrm>
              <a:off x="3137521" y="37727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Oval 73"/>
            <p:cNvSpPr>
              <a:spLocks noChangeArrowheads="1"/>
            </p:cNvSpPr>
            <p:nvPr/>
          </p:nvSpPr>
          <p:spPr bwMode="auto">
            <a:xfrm>
              <a:off x="2194546" y="4649049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70" name="Line 74"/>
            <p:cNvSpPr>
              <a:spLocks noChangeShapeType="1"/>
            </p:cNvSpPr>
            <p:nvPr/>
          </p:nvSpPr>
          <p:spPr bwMode="auto">
            <a:xfrm>
              <a:off x="2712071" y="3552086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Text Box 75"/>
            <p:cNvSpPr txBox="1">
              <a:spLocks noChangeArrowheads="1"/>
            </p:cNvSpPr>
            <p:nvPr/>
          </p:nvSpPr>
          <p:spPr bwMode="auto">
            <a:xfrm>
              <a:off x="5169521" y="3229824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吞吐率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dirty="0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5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out</a:t>
              </a:r>
              <a:endParaRPr lang="en-US" altLang="zh-CN" sz="1500" dirty="0">
                <a:solidFill>
                  <a:srgbClr val="CC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2" name="Line 76"/>
            <p:cNvSpPr>
              <a:spLocks noChangeShapeType="1"/>
            </p:cNvSpPr>
            <p:nvPr/>
          </p:nvSpPr>
          <p:spPr bwMode="auto">
            <a:xfrm>
              <a:off x="6014071" y="3639399"/>
              <a:ext cx="528637" cy="241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4" name="Group 78"/>
            <p:cNvGrpSpPr/>
            <p:nvPr/>
          </p:nvGrpSpPr>
          <p:grpSpPr bwMode="auto">
            <a:xfrm>
              <a:off x="4337671" y="5001474"/>
              <a:ext cx="673100" cy="266700"/>
              <a:chOff x="10808" y="10250"/>
              <a:chExt cx="1018" cy="403"/>
            </a:xfrm>
          </p:grpSpPr>
          <p:sp>
            <p:nvSpPr>
              <p:cNvPr id="75" name="Rectangle 79"/>
              <p:cNvSpPr>
                <a:spLocks noChangeArrowheads="1"/>
              </p:cNvSpPr>
              <p:nvPr/>
            </p:nvSpPr>
            <p:spPr bwMode="auto">
              <a:xfrm>
                <a:off x="10832" y="10250"/>
                <a:ext cx="994" cy="403"/>
              </a:xfrm>
              <a:prstGeom prst="rect">
                <a:avLst/>
              </a:pr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6" name="Freeform 80"/>
              <p:cNvSpPr/>
              <p:nvPr/>
            </p:nvSpPr>
            <p:spPr bwMode="auto">
              <a:xfrm>
                <a:off x="11198" y="10272"/>
                <a:ext cx="610" cy="374"/>
              </a:xfrm>
              <a:custGeom>
                <a:avLst/>
                <a:gdLst>
                  <a:gd name="T0" fmla="*/ 0 w 855"/>
                  <a:gd name="T1" fmla="*/ 0 h 390"/>
                  <a:gd name="T2" fmla="*/ 221 w 855"/>
                  <a:gd name="T3" fmla="*/ 0 h 390"/>
                  <a:gd name="T4" fmla="*/ 221 w 855"/>
                  <a:gd name="T5" fmla="*/ 330 h 390"/>
                  <a:gd name="T6" fmla="*/ 11 w 855"/>
                  <a:gd name="T7" fmla="*/ 330 h 39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55" h="390">
                    <a:moveTo>
                      <a:pt x="0" y="0"/>
                    </a:moveTo>
                    <a:lnTo>
                      <a:pt x="855" y="0"/>
                    </a:lnTo>
                    <a:lnTo>
                      <a:pt x="855" y="390"/>
                    </a:lnTo>
                    <a:lnTo>
                      <a:pt x="45" y="3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7" name="Line 81"/>
              <p:cNvSpPr>
                <a:spLocks noChangeShapeType="1"/>
              </p:cNvSpPr>
              <p:nvPr/>
            </p:nvSpPr>
            <p:spPr bwMode="auto">
              <a:xfrm>
                <a:off x="10808" y="10272"/>
                <a:ext cx="39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>
                <a:off x="10830" y="10646"/>
                <a:ext cx="38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9" name="Line 83"/>
              <p:cNvSpPr>
                <a:spLocks noChangeShapeType="1"/>
              </p:cNvSpPr>
              <p:nvPr/>
            </p:nvSpPr>
            <p:spPr bwMode="auto">
              <a:xfrm>
                <a:off x="1174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1679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2" name="Line 85"/>
              <p:cNvSpPr>
                <a:spLocks noChangeShapeType="1"/>
              </p:cNvSpPr>
              <p:nvPr/>
            </p:nvSpPr>
            <p:spPr bwMode="auto">
              <a:xfrm>
                <a:off x="11614" y="10329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3" name="Line 86"/>
              <p:cNvSpPr>
                <a:spLocks noChangeShapeType="1"/>
              </p:cNvSpPr>
              <p:nvPr/>
            </p:nvSpPr>
            <p:spPr bwMode="auto">
              <a:xfrm>
                <a:off x="11549" y="1032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4" name="Line 87"/>
              <p:cNvSpPr>
                <a:spLocks noChangeShapeType="1"/>
              </p:cNvSpPr>
              <p:nvPr/>
            </p:nvSpPr>
            <p:spPr bwMode="auto">
              <a:xfrm>
                <a:off x="11484" y="10322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Line 88"/>
              <p:cNvSpPr>
                <a:spLocks noChangeShapeType="1"/>
              </p:cNvSpPr>
              <p:nvPr/>
            </p:nvSpPr>
            <p:spPr bwMode="auto">
              <a:xfrm>
                <a:off x="11418" y="10322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6" name="Line 89"/>
              <p:cNvSpPr>
                <a:spLocks noChangeShapeType="1"/>
              </p:cNvSpPr>
              <p:nvPr/>
            </p:nvSpPr>
            <p:spPr bwMode="auto">
              <a:xfrm>
                <a:off x="10909" y="10452"/>
                <a:ext cx="417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7" name="Freeform 90"/>
            <p:cNvSpPr/>
            <p:nvPr/>
          </p:nvSpPr>
          <p:spPr bwMode="auto">
            <a:xfrm>
              <a:off x="2242171" y="4725249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Freeform 91"/>
            <p:cNvSpPr/>
            <p:nvPr/>
          </p:nvSpPr>
          <p:spPr bwMode="auto">
            <a:xfrm>
              <a:off x="3185146" y="3820374"/>
              <a:ext cx="3429000" cy="1276350"/>
            </a:xfrm>
            <a:custGeom>
              <a:avLst/>
              <a:gdLst>
                <a:gd name="T0" fmla="*/ 0 w 2160"/>
                <a:gd name="T1" fmla="*/ 0 h 804"/>
                <a:gd name="T2" fmla="*/ 0 w 2160"/>
                <a:gd name="T3" fmla="*/ 2147483647 h 804"/>
                <a:gd name="T4" fmla="*/ 2147483647 w 2160"/>
                <a:gd name="T5" fmla="*/ 2147483647 h 804"/>
                <a:gd name="T6" fmla="*/ 2147483647 w 2160"/>
                <a:gd name="T7" fmla="*/ 2147483647 h 804"/>
                <a:gd name="T8" fmla="*/ 2147483647 w 2160"/>
                <a:gd name="T9" fmla="*/ 2147483647 h 804"/>
                <a:gd name="T10" fmla="*/ 2147483647 w 2160"/>
                <a:gd name="T11" fmla="*/ 2147483647 h 804"/>
                <a:gd name="T12" fmla="*/ 2147483647 w 2160"/>
                <a:gd name="T13" fmla="*/ 2147483647 h 804"/>
                <a:gd name="T14" fmla="*/ 2147483647 w 2160"/>
                <a:gd name="T15" fmla="*/ 2147483647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" h="804">
                  <a:moveTo>
                    <a:pt x="0" y="0"/>
                  </a:moveTo>
                  <a:lnTo>
                    <a:pt x="0" y="594"/>
                  </a:lnTo>
                  <a:lnTo>
                    <a:pt x="402" y="600"/>
                  </a:lnTo>
                  <a:lnTo>
                    <a:pt x="216" y="804"/>
                  </a:lnTo>
                  <a:lnTo>
                    <a:pt x="1446" y="804"/>
                  </a:lnTo>
                  <a:lnTo>
                    <a:pt x="1770" y="524"/>
                  </a:lnTo>
                  <a:lnTo>
                    <a:pt x="2160" y="516"/>
                  </a:lnTo>
                  <a:lnTo>
                    <a:pt x="2160" y="48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9" name="Group 127"/>
            <p:cNvGrpSpPr/>
            <p:nvPr/>
          </p:nvGrpSpPr>
          <p:grpSpPr bwMode="auto">
            <a:xfrm>
              <a:off x="7034833" y="4442674"/>
              <a:ext cx="231775" cy="441325"/>
              <a:chOff x="4140" y="429"/>
              <a:chExt cx="1425" cy="2396"/>
            </a:xfrm>
          </p:grpSpPr>
          <p:sp>
            <p:nvSpPr>
              <p:cNvPr id="90" name="Freeform 12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1" name="Rectangle 129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2" name="Freeform 13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3" name="Freeform 13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4" name="Rectangle 132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5" name="Group 13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0" name="AutoShape 134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21" name="AutoShape 135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6" name="Rectangle 136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97" name="Group 13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8" name="AutoShape 138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9" name="AutoShape 139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98" name="Rectangle 140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9" name="Rectangle 141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00" name="Group 14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6" name="AutoShape 143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7" name="AutoShape 144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1" name="Freeform 14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02" name="Group 14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4" name="AutoShape 147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5" name="AutoShape 148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3" name="Rectangle 149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4" name="Freeform 15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5" name="Freeform 15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6" name="Oval 152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7" name="Freeform 15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8" name="AutoShape 154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09" name="AutoShape 155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0" name="Oval 156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1" name="Oval 157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Oval 158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13" name="Rectangle 159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grpSp>
          <p:nvGrpSpPr>
            <p:cNvPr id="122" name="Group 160"/>
            <p:cNvGrpSpPr/>
            <p:nvPr/>
          </p:nvGrpSpPr>
          <p:grpSpPr bwMode="auto">
            <a:xfrm>
              <a:off x="1354758" y="5333261"/>
              <a:ext cx="525463" cy="434975"/>
              <a:chOff x="-44" y="1473"/>
              <a:chExt cx="981" cy="1105"/>
            </a:xfrm>
          </p:grpSpPr>
          <p:pic>
            <p:nvPicPr>
              <p:cNvPr id="123" name="Picture 16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" name="Freeform 16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25" name="Group 163"/>
            <p:cNvGrpSpPr/>
            <p:nvPr/>
          </p:nvGrpSpPr>
          <p:grpSpPr bwMode="auto">
            <a:xfrm>
              <a:off x="6717333" y="5407874"/>
              <a:ext cx="231775" cy="441325"/>
              <a:chOff x="4140" y="429"/>
              <a:chExt cx="1425" cy="2396"/>
            </a:xfrm>
          </p:grpSpPr>
          <p:sp>
            <p:nvSpPr>
              <p:cNvPr id="126" name="Freeform 164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7" name="Rectangle 165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28" name="Freeform 166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9" name="Freeform 167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" name="Rectangle 168"/>
              <p:cNvSpPr>
                <a:spLocks noChangeArrowheads="1"/>
              </p:cNvSpPr>
              <p:nvPr/>
            </p:nvSpPr>
            <p:spPr bwMode="auto">
              <a:xfrm>
                <a:off x="4208" y="696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1" name="Group 169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56" name="AutoShape 170"/>
                <p:cNvSpPr>
                  <a:spLocks noChangeArrowheads="1"/>
                </p:cNvSpPr>
                <p:nvPr/>
              </p:nvSpPr>
              <p:spPr bwMode="auto">
                <a:xfrm>
                  <a:off x="609" y="2570"/>
                  <a:ext cx="73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7" name="AutoShape 171"/>
                <p:cNvSpPr>
                  <a:spLocks noChangeArrowheads="1"/>
                </p:cNvSpPr>
                <p:nvPr/>
              </p:nvSpPr>
              <p:spPr bwMode="auto">
                <a:xfrm>
                  <a:off x="621" y="2587"/>
                  <a:ext cx="70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2" name="Rectangle 172"/>
              <p:cNvSpPr>
                <a:spLocks noChangeArrowheads="1"/>
              </p:cNvSpPr>
              <p:nvPr/>
            </p:nvSpPr>
            <p:spPr bwMode="auto">
              <a:xfrm>
                <a:off x="4228" y="1015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3" name="Group 173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54" name="AutoShape 174"/>
                <p:cNvSpPr>
                  <a:spLocks noChangeArrowheads="1"/>
                </p:cNvSpPr>
                <p:nvPr/>
              </p:nvSpPr>
              <p:spPr bwMode="auto">
                <a:xfrm>
                  <a:off x="612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5" name="AutoShape 175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06" cy="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4" name="Rectangle 176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5" cy="4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35" name="Rectangle 177"/>
              <p:cNvSpPr>
                <a:spLocks noChangeArrowheads="1"/>
              </p:cNvSpPr>
              <p:nvPr/>
            </p:nvSpPr>
            <p:spPr bwMode="auto">
              <a:xfrm>
                <a:off x="4228" y="1653"/>
                <a:ext cx="595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grpSp>
            <p:nvGrpSpPr>
              <p:cNvPr id="136" name="Group 178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52" name="AutoShape 179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30" cy="1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3" name="AutoShape 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70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7" name="Freeform 181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38" name="Group 182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0" name="AutoShape 183"/>
                <p:cNvSpPr>
                  <a:spLocks noChangeArrowheads="1"/>
                </p:cNvSpPr>
                <p:nvPr/>
              </p:nvSpPr>
              <p:spPr bwMode="auto">
                <a:xfrm>
                  <a:off x="609" y="2566"/>
                  <a:ext cx="73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51" name="AutoShape 184"/>
                <p:cNvSpPr>
                  <a:spLocks noChangeArrowheads="1"/>
                </p:cNvSpPr>
                <p:nvPr/>
              </p:nvSpPr>
              <p:spPr bwMode="auto">
                <a:xfrm>
                  <a:off x="622" y="2584"/>
                  <a:ext cx="705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39" name="Rectangle 185"/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8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0" name="Freeform 186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1" name="Freeform 187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2" name="Oval 188"/>
              <p:cNvSpPr>
                <a:spLocks noChangeArrowheads="1"/>
              </p:cNvSpPr>
              <p:nvPr/>
            </p:nvSpPr>
            <p:spPr bwMode="auto">
              <a:xfrm>
                <a:off x="5516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3" name="Freeform 189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AutoShape 190"/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1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5" name="AutoShape 191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4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6" name="Oval 192"/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6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7" name="Oval 193"/>
              <p:cNvSpPr>
                <a:spLocks noChangeArrowheads="1"/>
              </p:cNvSpPr>
              <p:nvPr/>
            </p:nvSpPr>
            <p:spPr bwMode="auto">
              <a:xfrm>
                <a:off x="4482" y="2385"/>
                <a:ext cx="166" cy="1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Oval 194"/>
              <p:cNvSpPr>
                <a:spLocks noChangeArrowheads="1"/>
              </p:cNvSpPr>
              <p:nvPr/>
            </p:nvSpPr>
            <p:spPr bwMode="auto">
              <a:xfrm>
                <a:off x="4657" y="2377"/>
                <a:ext cx="166" cy="14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49" name="Rectangle 195"/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8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158" name="Text Box 42"/>
            <p:cNvSpPr txBox="1">
              <a:spLocks noChangeArrowheads="1"/>
            </p:cNvSpPr>
            <p:nvPr/>
          </p:nvSpPr>
          <p:spPr bwMode="auto">
            <a:xfrm>
              <a:off x="6759485" y="4880278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A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59" name="Text Box 52"/>
            <p:cNvSpPr txBox="1">
              <a:spLocks noChangeArrowheads="1"/>
            </p:cNvSpPr>
            <p:nvPr/>
          </p:nvSpPr>
          <p:spPr bwMode="auto">
            <a:xfrm>
              <a:off x="6388440" y="5871116"/>
              <a:ext cx="776682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r>
                <a:rPr lang="en-US" altLang="zh-CN" sz="825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Sever B</a:t>
              </a:r>
              <a:endParaRPr lang="en-US" altLang="zh-CN" sz="2100" b="1" dirty="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3" name="Text Box 43"/>
            <p:cNvSpPr txBox="1">
              <a:spLocks noChangeArrowheads="1"/>
            </p:cNvSpPr>
            <p:nvPr/>
          </p:nvSpPr>
          <p:spPr bwMode="auto">
            <a:xfrm>
              <a:off x="3409932" y="3615589"/>
              <a:ext cx="2184370" cy="3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供给载荷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lang="en-US" altLang="zh-CN" sz="1350" dirty="0" err="1"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r>
                <a:rPr lang="en-US" altLang="zh-CN" sz="1050" dirty="0" err="1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´</a:t>
              </a:r>
              <a:r>
                <a:rPr lang="en-US" altLang="zh-CN" sz="1350" baseline="-25000" dirty="0" err="1">
                  <a:solidFill>
                    <a:srgbClr val="CC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zh-CN" sz="9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90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Oval 72"/>
            <p:cNvSpPr>
              <a:spLocks noChangeArrowheads="1"/>
            </p:cNvSpPr>
            <p:nvPr/>
          </p:nvSpPr>
          <p:spPr bwMode="auto">
            <a:xfrm>
              <a:off x="3137521" y="3970828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95" name="Line 74"/>
            <p:cNvSpPr>
              <a:spLocks noChangeShapeType="1"/>
            </p:cNvSpPr>
            <p:nvPr/>
          </p:nvSpPr>
          <p:spPr bwMode="auto">
            <a:xfrm flipH="1">
              <a:off x="3223246" y="3973925"/>
              <a:ext cx="511766" cy="388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 flipV="1">
              <a:off x="4011528" y="5255473"/>
              <a:ext cx="596573" cy="229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64" name="Text Box 259"/>
          <p:cNvSpPr txBox="1">
            <a:spLocks noChangeArrowheads="1"/>
          </p:cNvSpPr>
          <p:nvPr/>
        </p:nvSpPr>
        <p:spPr bwMode="auto">
          <a:xfrm>
            <a:off x="3017492" y="3930415"/>
            <a:ext cx="138050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zh-CN" sz="1200" i="1" dirty="0">
                <a:solidFill>
                  <a:srgbClr val="0000FF"/>
                </a:solidFill>
                <a:latin typeface="Arial" panose="020B0604020202020204" pitchFamily="34" charset="0"/>
              </a:rPr>
              <a:t>free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</a:rPr>
              <a:t> buffer space!</a:t>
            </a:r>
          </a:p>
        </p:txBody>
      </p:sp>
      <p:sp>
        <p:nvSpPr>
          <p:cNvPr id="165" name="Rectangle 3"/>
          <p:cNvSpPr txBox="1">
            <a:spLocks noChangeArrowheads="1"/>
          </p:cNvSpPr>
          <p:nvPr/>
        </p:nvSpPr>
        <p:spPr bwMode="auto">
          <a:xfrm>
            <a:off x="6283525" y="1503576"/>
            <a:ext cx="2701171" cy="179342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36"/>
              </a:spcBef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真实状况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2: </a:t>
            </a:r>
          </a:p>
          <a:p>
            <a:pPr marL="357188" lvl="1" indent="-268288">
              <a:spcBef>
                <a:spcPts val="336"/>
              </a:spcBef>
              <a:tabLst>
                <a:tab pos="357188" algn="l"/>
              </a:tabLst>
            </a:pP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路由器缓存中出现转发队列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57188" lvl="1" indent="-268288">
              <a:spcBef>
                <a:spcPts val="336"/>
              </a:spcBef>
              <a:tabLst>
                <a:tab pos="357188" algn="l"/>
              </a:tabLst>
            </a:pP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发送方产生超时事件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336"/>
              </a:spcBef>
              <a:buNone/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代价：</a:t>
            </a:r>
            <a:endParaRPr lang="en-US" altLang="zh-CN" sz="1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36"/>
              </a:spcBef>
            </a:pP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发送方会重传延时的分组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336"/>
              </a:spcBef>
            </a:pPr>
            <a:r>
              <a:rPr lang="zh-CN" altLang="en-US" sz="1400" dirty="0">
                <a:solidFill>
                  <a:srgbClr val="0066CC"/>
                </a:solidFill>
                <a:effectLst/>
              </a:rPr>
              <a:t> </a:t>
            </a:r>
            <a:r>
              <a:rPr lang="en-US" altLang="zh-CN" sz="1400" dirty="0" err="1">
                <a:solidFill>
                  <a:srgbClr val="C0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en-US" altLang="zh-CN" sz="1400" baseline="-25000" dirty="0" err="1">
                <a:solidFill>
                  <a:srgbClr val="C00000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1400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Arial" panose="020B0604020202020204" pitchFamily="34" charset="0"/>
              </a:rPr>
              <a:t>&gt;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C0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400" baseline="-25000" dirty="0" err="1">
                <a:solidFill>
                  <a:srgbClr val="C00000"/>
                </a:solidFill>
                <a:latin typeface="Arial" panose="020B0604020202020204" pitchFamily="34" charset="0"/>
              </a:rPr>
              <a:t>in</a:t>
            </a:r>
            <a:endParaRPr lang="en-US" altLang="zh-CN" sz="1400" dirty="0">
              <a:solidFill>
                <a:srgbClr val="C00000"/>
              </a:solidFill>
              <a:effectLst/>
            </a:endParaRPr>
          </a:p>
          <a:p>
            <a:pPr>
              <a:spcBef>
                <a:spcPts val="336"/>
              </a:spcBef>
            </a:pPr>
            <a:endParaRPr lang="en-US" altLang="zh-CN" sz="1400" dirty="0">
              <a:solidFill>
                <a:srgbClr val="0066CC"/>
              </a:solidFill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6285201" y="3422864"/>
            <a:ext cx="2188536" cy="1582344"/>
            <a:chOff x="6190457" y="4374895"/>
            <a:chExt cx="2918047" cy="2109792"/>
          </a:xfrm>
        </p:grpSpPr>
        <p:sp>
          <p:nvSpPr>
            <p:cNvPr id="181" name="Line 239"/>
            <p:cNvSpPr>
              <a:spLocks noChangeShapeType="1"/>
            </p:cNvSpPr>
            <p:nvPr/>
          </p:nvSpPr>
          <p:spPr bwMode="auto">
            <a:xfrm>
              <a:off x="6699279" y="4374895"/>
              <a:ext cx="0" cy="1716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2" name="Line 240"/>
            <p:cNvSpPr>
              <a:spLocks noChangeShapeType="1"/>
            </p:cNvSpPr>
            <p:nvPr/>
          </p:nvSpPr>
          <p:spPr bwMode="auto">
            <a:xfrm rot="5400000">
              <a:off x="7593042" y="5198807"/>
              <a:ext cx="0" cy="17986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3" name="Text Box 241"/>
            <p:cNvSpPr txBox="1">
              <a:spLocks noChangeArrowheads="1"/>
            </p:cNvSpPr>
            <p:nvPr/>
          </p:nvSpPr>
          <p:spPr bwMode="auto">
            <a:xfrm>
              <a:off x="6270654" y="4422520"/>
              <a:ext cx="52621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050">
                  <a:latin typeface="Arial" panose="020B0604020202020204" pitchFamily="34" charset="0"/>
                  <a:cs typeface="Arial" panose="020B0604020202020204" pitchFamily="34" charset="0"/>
                </a:rPr>
                <a:t>R/2</a:t>
              </a:r>
            </a:p>
          </p:txBody>
        </p:sp>
        <p:sp>
          <p:nvSpPr>
            <p:cNvPr id="184" name="Line 242"/>
            <p:cNvSpPr>
              <a:spLocks noChangeShapeType="1"/>
            </p:cNvSpPr>
            <p:nvPr/>
          </p:nvSpPr>
          <p:spPr bwMode="auto">
            <a:xfrm rot="5400000">
              <a:off x="7900717" y="3386182"/>
              <a:ext cx="0" cy="241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5" name="Line 243"/>
            <p:cNvSpPr>
              <a:spLocks noChangeShapeType="1"/>
            </p:cNvSpPr>
            <p:nvPr/>
          </p:nvSpPr>
          <p:spPr bwMode="auto">
            <a:xfrm rot="10800000">
              <a:off x="8267729" y="4609845"/>
              <a:ext cx="0" cy="1479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6" name="Text Box 244"/>
            <p:cNvSpPr txBox="1">
              <a:spLocks noChangeArrowheads="1"/>
            </p:cNvSpPr>
            <p:nvPr/>
          </p:nvSpPr>
          <p:spPr bwMode="auto">
            <a:xfrm>
              <a:off x="8056592" y="6060820"/>
              <a:ext cx="52621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050">
                  <a:latin typeface="Arial" panose="020B0604020202020204" pitchFamily="34" charset="0"/>
                  <a:cs typeface="Arial" panose="020B0604020202020204" pitchFamily="34" charset="0"/>
                </a:rPr>
                <a:t>R/2</a:t>
              </a:r>
            </a:p>
          </p:txBody>
        </p:sp>
        <p:sp>
          <p:nvSpPr>
            <p:cNvPr id="187" name="Freeform 245"/>
            <p:cNvSpPr/>
            <p:nvPr/>
          </p:nvSpPr>
          <p:spPr bwMode="auto">
            <a:xfrm>
              <a:off x="6704042" y="4706222"/>
              <a:ext cx="2303433" cy="138952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6" h="955">
                  <a:moveTo>
                    <a:pt x="0" y="955"/>
                  </a:moveTo>
                  <a:cubicBezTo>
                    <a:pt x="126" y="837"/>
                    <a:pt x="27" y="927"/>
                    <a:pt x="758" y="246"/>
                  </a:cubicBezTo>
                  <a:cubicBezTo>
                    <a:pt x="1095" y="0"/>
                    <a:pt x="1453" y="57"/>
                    <a:pt x="1636" y="7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88" name="Group 246"/>
            <p:cNvGrpSpPr/>
            <p:nvPr/>
          </p:nvGrpSpPr>
          <p:grpSpPr bwMode="auto">
            <a:xfrm>
              <a:off x="7262835" y="6084636"/>
              <a:ext cx="492125" cy="400051"/>
              <a:chOff x="3655" y="1791"/>
              <a:chExt cx="310" cy="252"/>
            </a:xfrm>
          </p:grpSpPr>
          <p:sp>
            <p:nvSpPr>
              <p:cNvPr id="192" name="Text Box 247"/>
              <p:cNvSpPr txBox="1">
                <a:spLocks noChangeArrowheads="1"/>
              </p:cNvSpPr>
              <p:nvPr/>
            </p:nvSpPr>
            <p:spPr bwMode="auto">
              <a:xfrm>
                <a:off x="3655" y="1791"/>
                <a:ext cx="310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350">
                    <a:latin typeface="Symbol" panose="05050102010706020507" charset="0"/>
                    <a:cs typeface="Arial" panose="020B0604020202020204" pitchFamily="34" charset="0"/>
                  </a:rPr>
                  <a:t>l</a:t>
                </a:r>
                <a:r>
                  <a:rPr lang="en-US" sz="1350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</a:p>
            </p:txBody>
          </p:sp>
          <p:sp>
            <p:nvSpPr>
              <p:cNvPr id="196" name="Line 248"/>
              <p:cNvSpPr>
                <a:spLocks noChangeShapeType="1"/>
              </p:cNvSpPr>
              <p:nvPr/>
            </p:nvSpPr>
            <p:spPr bwMode="auto">
              <a:xfrm flipV="1">
                <a:off x="3810" y="1846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189" name="Text Box 249"/>
            <p:cNvSpPr txBox="1">
              <a:spLocks noChangeArrowheads="1"/>
            </p:cNvSpPr>
            <p:nvPr/>
          </p:nvSpPr>
          <p:spPr bwMode="auto">
            <a:xfrm rot="16200000">
              <a:off x="6081742" y="5140834"/>
              <a:ext cx="617539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350" dirty="0">
                  <a:latin typeface="Symbol" panose="05050102010706020507" charset="0"/>
                  <a:cs typeface="Arial" panose="020B0604020202020204" pitchFamily="34" charset="0"/>
                </a:rPr>
                <a:t>l</a:t>
              </a:r>
              <a:r>
                <a:rPr lang="en-US" sz="135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</p:txBody>
        </p:sp>
        <p:sp>
          <p:nvSpPr>
            <p:cNvPr id="190" name="Line 250"/>
            <p:cNvSpPr>
              <a:spLocks noChangeShapeType="1"/>
            </p:cNvSpPr>
            <p:nvPr/>
          </p:nvSpPr>
          <p:spPr bwMode="auto">
            <a:xfrm rot="10800000" flipH="1">
              <a:off x="6658004" y="4593970"/>
              <a:ext cx="1617663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91" name="Oval 251"/>
            <p:cNvSpPr>
              <a:spLocks noChangeArrowheads="1"/>
            </p:cNvSpPr>
            <p:nvPr/>
          </p:nvSpPr>
          <p:spPr bwMode="auto">
            <a:xfrm>
              <a:off x="8231217" y="4783399"/>
              <a:ext cx="88900" cy="889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7C868653-2DB6-4010-89F9-E5D2DD0022CF}"/>
              </a:ext>
            </a:extLst>
          </p:cNvPr>
          <p:cNvGrpSpPr/>
          <p:nvPr/>
        </p:nvGrpSpPr>
        <p:grpSpPr>
          <a:xfrm>
            <a:off x="1064175" y="3189454"/>
            <a:ext cx="716115" cy="527417"/>
            <a:chOff x="1050667" y="3003034"/>
            <a:chExt cx="716115" cy="527417"/>
          </a:xfrm>
        </p:grpSpPr>
        <p:sp>
          <p:nvSpPr>
            <p:cNvPr id="213" name="Text Box 244"/>
            <p:cNvSpPr txBox="1">
              <a:spLocks noChangeArrowheads="1"/>
            </p:cNvSpPr>
            <p:nvPr/>
          </p:nvSpPr>
          <p:spPr bwMode="auto">
            <a:xfrm>
              <a:off x="1050667" y="3350451"/>
              <a:ext cx="716115" cy="1800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sz="1000" b="1" i="1" dirty="0">
                  <a:solidFill>
                    <a:schemeClr val="accent2"/>
                  </a:solidFill>
                  <a:latin typeface="Comic Sans MS" panose="030F0702030302020204" pitchFamily="66" charset="0"/>
                </a:rPr>
                <a:t>timeout</a:t>
              </a:r>
            </a:p>
          </p:txBody>
        </p:sp>
        <p:pic>
          <p:nvPicPr>
            <p:cNvPr id="214" name="Picture 24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32393" y="3003034"/>
              <a:ext cx="334704" cy="31521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1BBF4E7-F8C7-4305-B2CE-81EC8D4100B5}"/>
              </a:ext>
            </a:extLst>
          </p:cNvPr>
          <p:cNvSpPr/>
          <p:nvPr/>
        </p:nvSpPr>
        <p:spPr>
          <a:xfrm>
            <a:off x="940313" y="2891100"/>
            <a:ext cx="4999839" cy="2252400"/>
          </a:xfrm>
          <a:prstGeom prst="roundRect">
            <a:avLst>
              <a:gd name="adj" fmla="val 8086"/>
            </a:avLst>
          </a:prstGeom>
          <a:noFill/>
          <a:ln w="3175">
            <a:prstDash val="lg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灯片编号占位符 2">
            <a:extLst>
              <a:ext uri="{FF2B5EF4-FFF2-40B4-BE49-F238E27FC236}">
                <a16:creationId xmlns:a16="http://schemas.microsoft.com/office/drawing/2014/main" id="{4BFAF323-0B77-49C9-AFEB-5F297A41B07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180" name="AutoShape 5">
            <a:extLst>
              <a:ext uri="{FF2B5EF4-FFF2-40B4-BE49-F238E27FC236}">
                <a16:creationId xmlns:a16="http://schemas.microsoft.com/office/drawing/2014/main" id="{885A0C4D-835F-43F6-8C0A-B00F043B1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632847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3.6.1 </a:t>
            </a:r>
            <a:r>
              <a:rPr lang="zh-CN" altLang="en-US" dirty="0">
                <a:effectLst/>
              </a:rPr>
              <a:t>拥塞的原因和代价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场景</a:t>
            </a:r>
            <a:r>
              <a:rPr lang="en-US" altLang="zh-CN" dirty="0">
                <a:effectLst/>
              </a:rPr>
              <a:t>3 </a:t>
            </a:r>
            <a:r>
              <a:rPr lang="zh-CN" altLang="en-US" dirty="0">
                <a:effectLst/>
              </a:rPr>
              <a:t>：四发送方和一台具有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有限缓存</a:t>
            </a:r>
            <a:r>
              <a:rPr lang="zh-CN" altLang="en-US" dirty="0">
                <a:effectLst/>
              </a:rPr>
              <a:t>的多台路由器和多条路径</a:t>
            </a:r>
            <a:endParaRPr lang="en-US" altLang="zh-CN" dirty="0"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sp>
        <p:nvSpPr>
          <p:cNvPr id="197" name="Freeform 354"/>
          <p:cNvSpPr/>
          <p:nvPr/>
        </p:nvSpPr>
        <p:spPr bwMode="auto">
          <a:xfrm flipH="1">
            <a:off x="3290757" y="2088710"/>
            <a:ext cx="177404" cy="76081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8" name="Freeform 350"/>
          <p:cNvSpPr/>
          <p:nvPr/>
        </p:nvSpPr>
        <p:spPr bwMode="auto">
          <a:xfrm flipH="1">
            <a:off x="1778663" y="3574610"/>
            <a:ext cx="177404" cy="76081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9" name="Freeform 347"/>
          <p:cNvSpPr/>
          <p:nvPr/>
        </p:nvSpPr>
        <p:spPr bwMode="auto">
          <a:xfrm>
            <a:off x="6472107" y="3723438"/>
            <a:ext cx="177404" cy="76080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0" name="Freeform 344"/>
          <p:cNvSpPr/>
          <p:nvPr/>
        </p:nvSpPr>
        <p:spPr bwMode="auto">
          <a:xfrm>
            <a:off x="6797148" y="2212535"/>
            <a:ext cx="177403" cy="76081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1" name="Text Box 14"/>
          <p:cNvSpPr txBox="1">
            <a:spLocks noChangeArrowheads="1"/>
          </p:cNvSpPr>
          <p:nvPr/>
        </p:nvSpPr>
        <p:spPr bwMode="auto">
          <a:xfrm>
            <a:off x="4493288" y="2603060"/>
            <a:ext cx="1434704" cy="296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200" dirty="0">
                <a:solidFill>
                  <a:schemeClr val="tx2"/>
                </a:solidFill>
                <a:latin typeface="Arial" panose="020B0604020202020204" pitchFamily="34" charset="0"/>
              </a:rPr>
              <a:t>finite shared output link buffers</a:t>
            </a:r>
            <a:endParaRPr lang="en-US" altLang="zh-CN" sz="1200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202" name="Line 15"/>
          <p:cNvSpPr>
            <a:spLocks noChangeShapeType="1"/>
          </p:cNvSpPr>
          <p:nvPr/>
        </p:nvSpPr>
        <p:spPr bwMode="auto">
          <a:xfrm flipH="1">
            <a:off x="3508642" y="2888810"/>
            <a:ext cx="692944" cy="65008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3" name="Line 16"/>
          <p:cNvSpPr>
            <a:spLocks noChangeShapeType="1"/>
          </p:cNvSpPr>
          <p:nvPr/>
        </p:nvSpPr>
        <p:spPr bwMode="auto">
          <a:xfrm flipH="1">
            <a:off x="3872973" y="2888810"/>
            <a:ext cx="328613" cy="119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04" name="Group 58"/>
          <p:cNvGrpSpPr/>
          <p:nvPr/>
        </p:nvGrpSpPr>
        <p:grpSpPr bwMode="auto">
          <a:xfrm>
            <a:off x="3463399" y="2124429"/>
            <a:ext cx="488156" cy="678656"/>
            <a:chOff x="12762" y="10336"/>
            <a:chExt cx="1027" cy="1700"/>
          </a:xfrm>
        </p:grpSpPr>
        <p:sp>
          <p:nvSpPr>
            <p:cNvPr id="205" name="Rectangle 5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06" name="Rectangle 6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07" name="Line 6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8" name="Line 6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9" name="Line 6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0" name="Line 6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17" name="Text Box 65"/>
          <p:cNvSpPr txBox="1">
            <a:spLocks noChangeArrowheads="1"/>
          </p:cNvSpPr>
          <p:nvPr/>
        </p:nvSpPr>
        <p:spPr bwMode="auto">
          <a:xfrm>
            <a:off x="3389579" y="1888685"/>
            <a:ext cx="551259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zh-CN" sz="1050">
                <a:solidFill>
                  <a:schemeClr val="tx2"/>
                </a:solidFill>
                <a:latin typeface="Arial" panose="020B0604020202020204" pitchFamily="34" charset="0"/>
              </a:rPr>
              <a:t>Host A</a:t>
            </a:r>
          </a:p>
        </p:txBody>
      </p:sp>
      <p:sp>
        <p:nvSpPr>
          <p:cNvPr id="218" name="Line 67"/>
          <p:cNvSpPr>
            <a:spLocks noChangeShapeType="1"/>
          </p:cNvSpPr>
          <p:nvPr/>
        </p:nvSpPr>
        <p:spPr bwMode="auto">
          <a:xfrm flipH="1">
            <a:off x="2493039" y="4374710"/>
            <a:ext cx="1094185" cy="833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19" name="Group 109"/>
          <p:cNvGrpSpPr/>
          <p:nvPr/>
        </p:nvGrpSpPr>
        <p:grpSpPr bwMode="auto">
          <a:xfrm>
            <a:off x="1956067" y="3603185"/>
            <a:ext cx="488156" cy="678656"/>
            <a:chOff x="12762" y="10336"/>
            <a:chExt cx="1027" cy="1700"/>
          </a:xfrm>
        </p:grpSpPr>
        <p:sp>
          <p:nvSpPr>
            <p:cNvPr id="220" name="Rectangle 11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21" name="Rectangle 11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22" name="Line 11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3" name="Line 11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4" name="Line 11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5" name="Line 11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26" name="Line 117"/>
          <p:cNvSpPr>
            <a:spLocks noChangeShapeType="1"/>
          </p:cNvSpPr>
          <p:nvPr/>
        </p:nvSpPr>
        <p:spPr bwMode="auto">
          <a:xfrm flipH="1">
            <a:off x="3872973" y="3210278"/>
            <a:ext cx="542925" cy="119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7" name="Line 118"/>
          <p:cNvSpPr>
            <a:spLocks noChangeShapeType="1"/>
          </p:cNvSpPr>
          <p:nvPr/>
        </p:nvSpPr>
        <p:spPr bwMode="auto">
          <a:xfrm flipH="1" flipV="1">
            <a:off x="5208854" y="3224566"/>
            <a:ext cx="584597" cy="714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8" name="Line 119"/>
          <p:cNvSpPr>
            <a:spLocks noChangeShapeType="1"/>
          </p:cNvSpPr>
          <p:nvPr/>
        </p:nvSpPr>
        <p:spPr bwMode="auto">
          <a:xfrm flipH="1">
            <a:off x="5165992" y="2903097"/>
            <a:ext cx="972740" cy="9715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9" name="Line 120"/>
          <p:cNvSpPr>
            <a:spLocks noChangeShapeType="1"/>
          </p:cNvSpPr>
          <p:nvPr/>
        </p:nvSpPr>
        <p:spPr bwMode="auto">
          <a:xfrm flipH="1">
            <a:off x="6107776" y="2917385"/>
            <a:ext cx="32980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0" name="Freeform 123"/>
          <p:cNvSpPr/>
          <p:nvPr/>
        </p:nvSpPr>
        <p:spPr bwMode="auto">
          <a:xfrm>
            <a:off x="6426864" y="2480425"/>
            <a:ext cx="236935" cy="270272"/>
          </a:xfrm>
          <a:custGeom>
            <a:avLst/>
            <a:gdLst>
              <a:gd name="T0" fmla="*/ 2147483647 w 650"/>
              <a:gd name="T1" fmla="*/ 2147483647 h 735"/>
              <a:gd name="T2" fmla="*/ 2147483647 w 650"/>
              <a:gd name="T3" fmla="*/ 2147483647 h 735"/>
              <a:gd name="T4" fmla="*/ 2147483647 w 650"/>
              <a:gd name="T5" fmla="*/ 2147483647 h 735"/>
              <a:gd name="T6" fmla="*/ 2147483647 w 650"/>
              <a:gd name="T7" fmla="*/ 2147483647 h 735"/>
              <a:gd name="T8" fmla="*/ 2147483647 w 650"/>
              <a:gd name="T9" fmla="*/ 2147483647 h 735"/>
              <a:gd name="T10" fmla="*/ 2147483647 w 650"/>
              <a:gd name="T11" fmla="*/ 2147483647 h 735"/>
              <a:gd name="T12" fmla="*/ 2147483647 w 650"/>
              <a:gd name="T13" fmla="*/ 2147483647 h 735"/>
              <a:gd name="T14" fmla="*/ 2147483647 w 650"/>
              <a:gd name="T15" fmla="*/ 2147483647 h 735"/>
              <a:gd name="T16" fmla="*/ 2147483647 w 650"/>
              <a:gd name="T17" fmla="*/ 2147483647 h 735"/>
              <a:gd name="T18" fmla="*/ 2147483647 w 650"/>
              <a:gd name="T19" fmla="*/ 0 h 735"/>
              <a:gd name="T20" fmla="*/ 2147483647 w 650"/>
              <a:gd name="T21" fmla="*/ 2147483647 h 735"/>
              <a:gd name="T22" fmla="*/ 2147483647 w 650"/>
              <a:gd name="T23" fmla="*/ 2147483647 h 735"/>
              <a:gd name="T24" fmla="*/ 2147483647 w 650"/>
              <a:gd name="T25" fmla="*/ 2147483647 h 735"/>
              <a:gd name="T26" fmla="*/ 2147483647 w 650"/>
              <a:gd name="T27" fmla="*/ 2147483647 h 735"/>
              <a:gd name="T28" fmla="*/ 2147483647 w 650"/>
              <a:gd name="T29" fmla="*/ 2147483647 h 735"/>
              <a:gd name="T30" fmla="*/ 2147483647 w 650"/>
              <a:gd name="T31" fmla="*/ 2147483647 h 735"/>
              <a:gd name="T32" fmla="*/ 2147483647 w 650"/>
              <a:gd name="T33" fmla="*/ 2147483647 h 735"/>
              <a:gd name="T34" fmla="*/ 2147483647 w 650"/>
              <a:gd name="T35" fmla="*/ 2147483647 h 735"/>
              <a:gd name="T36" fmla="*/ 2147483647 w 650"/>
              <a:gd name="T37" fmla="*/ 2147483647 h 735"/>
              <a:gd name="T38" fmla="*/ 2147483647 w 650"/>
              <a:gd name="T39" fmla="*/ 2147483647 h 735"/>
              <a:gd name="T40" fmla="*/ 2147483647 w 650"/>
              <a:gd name="T41" fmla="*/ 2147483647 h 735"/>
              <a:gd name="T42" fmla="*/ 0 w 650"/>
              <a:gd name="T43" fmla="*/ 2147483647 h 735"/>
              <a:gd name="T44" fmla="*/ 2147483647 w 650"/>
              <a:gd name="T45" fmla="*/ 2147483647 h 735"/>
              <a:gd name="T46" fmla="*/ 2147483647 w 650"/>
              <a:gd name="T47" fmla="*/ 2147483647 h 735"/>
              <a:gd name="T48" fmla="*/ 2147483647 w 650"/>
              <a:gd name="T49" fmla="*/ 2147483647 h 735"/>
              <a:gd name="T50" fmla="*/ 2147483647 w 650"/>
              <a:gd name="T51" fmla="*/ 2147483647 h 735"/>
              <a:gd name="T52" fmla="*/ 2147483647 w 650"/>
              <a:gd name="T53" fmla="*/ 2147483647 h 735"/>
              <a:gd name="T54" fmla="*/ 2147483647 w 650"/>
              <a:gd name="T55" fmla="*/ 2147483647 h 735"/>
              <a:gd name="T56" fmla="*/ 2147483647 w 650"/>
              <a:gd name="T57" fmla="*/ 2147483647 h 735"/>
              <a:gd name="T58" fmla="*/ 2147483647 w 650"/>
              <a:gd name="T59" fmla="*/ 2147483647 h 735"/>
              <a:gd name="T60" fmla="*/ 2147483647 w 650"/>
              <a:gd name="T61" fmla="*/ 2147483647 h 735"/>
              <a:gd name="T62" fmla="*/ 2147483647 w 650"/>
              <a:gd name="T63" fmla="*/ 2147483647 h 735"/>
              <a:gd name="T64" fmla="*/ 2147483647 w 650"/>
              <a:gd name="T65" fmla="*/ 2147483647 h 735"/>
              <a:gd name="T66" fmla="*/ 2147483647 w 650"/>
              <a:gd name="T67" fmla="*/ 2147483647 h 735"/>
              <a:gd name="T68" fmla="*/ 2147483647 w 650"/>
              <a:gd name="T69" fmla="*/ 2147483647 h 735"/>
              <a:gd name="T70" fmla="*/ 2147483647 w 650"/>
              <a:gd name="T71" fmla="*/ 2147483647 h 735"/>
              <a:gd name="T72" fmla="*/ 2147483647 w 650"/>
              <a:gd name="T73" fmla="*/ 2147483647 h 735"/>
              <a:gd name="T74" fmla="*/ 2147483647 w 650"/>
              <a:gd name="T75" fmla="*/ 2147483647 h 735"/>
              <a:gd name="T76" fmla="*/ 2147483647 w 650"/>
              <a:gd name="T77" fmla="*/ 2147483647 h 735"/>
              <a:gd name="T78" fmla="*/ 2147483647 w 650"/>
              <a:gd name="T79" fmla="*/ 2147483647 h 735"/>
              <a:gd name="T80" fmla="*/ 2147483647 w 650"/>
              <a:gd name="T81" fmla="*/ 2147483647 h 735"/>
              <a:gd name="T82" fmla="*/ 2147483647 w 650"/>
              <a:gd name="T83" fmla="*/ 2147483647 h 735"/>
              <a:gd name="T84" fmla="*/ 2147483647 w 650"/>
              <a:gd name="T85" fmla="*/ 2147483647 h 735"/>
              <a:gd name="T86" fmla="*/ 2147483647 w 650"/>
              <a:gd name="T87" fmla="*/ 2147483647 h 735"/>
              <a:gd name="T88" fmla="*/ 2147483647 w 650"/>
              <a:gd name="T89" fmla="*/ 2147483647 h 735"/>
              <a:gd name="T90" fmla="*/ 2147483647 w 650"/>
              <a:gd name="T91" fmla="*/ 2147483647 h 735"/>
              <a:gd name="T92" fmla="*/ 2147483647 w 650"/>
              <a:gd name="T93" fmla="*/ 2147483647 h 735"/>
              <a:gd name="T94" fmla="*/ 2147483647 w 650"/>
              <a:gd name="T95" fmla="*/ 2147483647 h 735"/>
              <a:gd name="T96" fmla="*/ 2147483647 w 650"/>
              <a:gd name="T97" fmla="*/ 2147483647 h 73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650" h="735">
                <a:moveTo>
                  <a:pt x="645" y="27"/>
                </a:moveTo>
                <a:lnTo>
                  <a:pt x="642" y="26"/>
                </a:lnTo>
                <a:lnTo>
                  <a:pt x="631" y="23"/>
                </a:lnTo>
                <a:lnTo>
                  <a:pt x="615" y="19"/>
                </a:lnTo>
                <a:lnTo>
                  <a:pt x="592" y="15"/>
                </a:lnTo>
                <a:lnTo>
                  <a:pt x="565" y="10"/>
                </a:lnTo>
                <a:lnTo>
                  <a:pt x="533" y="6"/>
                </a:lnTo>
                <a:lnTo>
                  <a:pt x="496" y="3"/>
                </a:lnTo>
                <a:lnTo>
                  <a:pt x="456" y="1"/>
                </a:lnTo>
                <a:lnTo>
                  <a:pt x="411" y="0"/>
                </a:lnTo>
                <a:lnTo>
                  <a:pt x="364" y="2"/>
                </a:lnTo>
                <a:lnTo>
                  <a:pt x="315" y="6"/>
                </a:lnTo>
                <a:lnTo>
                  <a:pt x="262" y="15"/>
                </a:lnTo>
                <a:lnTo>
                  <a:pt x="209" y="26"/>
                </a:lnTo>
                <a:lnTo>
                  <a:pt x="154" y="42"/>
                </a:lnTo>
                <a:lnTo>
                  <a:pt x="98" y="61"/>
                </a:lnTo>
                <a:lnTo>
                  <a:pt x="42" y="87"/>
                </a:lnTo>
                <a:lnTo>
                  <a:pt x="38" y="101"/>
                </a:lnTo>
                <a:lnTo>
                  <a:pt x="28" y="141"/>
                </a:lnTo>
                <a:lnTo>
                  <a:pt x="17" y="203"/>
                </a:lnTo>
                <a:lnTo>
                  <a:pt x="6" y="283"/>
                </a:lnTo>
                <a:lnTo>
                  <a:pt x="0" y="378"/>
                </a:lnTo>
                <a:lnTo>
                  <a:pt x="5" y="484"/>
                </a:lnTo>
                <a:lnTo>
                  <a:pt x="21" y="599"/>
                </a:lnTo>
                <a:lnTo>
                  <a:pt x="54" y="716"/>
                </a:lnTo>
                <a:lnTo>
                  <a:pt x="58" y="716"/>
                </a:lnTo>
                <a:lnTo>
                  <a:pt x="66" y="715"/>
                </a:lnTo>
                <a:lnTo>
                  <a:pt x="80" y="713"/>
                </a:lnTo>
                <a:lnTo>
                  <a:pt x="99" y="712"/>
                </a:lnTo>
                <a:lnTo>
                  <a:pt x="124" y="710"/>
                </a:lnTo>
                <a:lnTo>
                  <a:pt x="153" y="708"/>
                </a:lnTo>
                <a:lnTo>
                  <a:pt x="188" y="707"/>
                </a:lnTo>
                <a:lnTo>
                  <a:pt x="225" y="706"/>
                </a:lnTo>
                <a:lnTo>
                  <a:pt x="267" y="705"/>
                </a:lnTo>
                <a:lnTo>
                  <a:pt x="313" y="706"/>
                </a:lnTo>
                <a:lnTo>
                  <a:pt x="362" y="707"/>
                </a:lnTo>
                <a:lnTo>
                  <a:pt x="415" y="709"/>
                </a:lnTo>
                <a:lnTo>
                  <a:pt x="470" y="713"/>
                </a:lnTo>
                <a:lnTo>
                  <a:pt x="528" y="719"/>
                </a:lnTo>
                <a:lnTo>
                  <a:pt x="588" y="726"/>
                </a:lnTo>
                <a:lnTo>
                  <a:pt x="650" y="735"/>
                </a:lnTo>
                <a:lnTo>
                  <a:pt x="647" y="713"/>
                </a:lnTo>
                <a:lnTo>
                  <a:pt x="641" y="655"/>
                </a:lnTo>
                <a:lnTo>
                  <a:pt x="631" y="568"/>
                </a:lnTo>
                <a:lnTo>
                  <a:pt x="623" y="462"/>
                </a:lnTo>
                <a:lnTo>
                  <a:pt x="618" y="345"/>
                </a:lnTo>
                <a:lnTo>
                  <a:pt x="618" y="229"/>
                </a:lnTo>
                <a:lnTo>
                  <a:pt x="627" y="119"/>
                </a:lnTo>
                <a:lnTo>
                  <a:pt x="645" y="27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1" name="Freeform 124"/>
          <p:cNvSpPr/>
          <p:nvPr/>
        </p:nvSpPr>
        <p:spPr bwMode="auto">
          <a:xfrm>
            <a:off x="6453057" y="2554245"/>
            <a:ext cx="389335" cy="267890"/>
          </a:xfrm>
          <a:custGeom>
            <a:avLst/>
            <a:gdLst>
              <a:gd name="T0" fmla="*/ 2147483647 w 1071"/>
              <a:gd name="T1" fmla="*/ 2147483647 h 731"/>
              <a:gd name="T2" fmla="*/ 0 w 1071"/>
              <a:gd name="T3" fmla="*/ 2147483647 h 731"/>
              <a:gd name="T4" fmla="*/ 2147483647 w 1071"/>
              <a:gd name="T5" fmla="*/ 2147483647 h 731"/>
              <a:gd name="T6" fmla="*/ 2147483647 w 1071"/>
              <a:gd name="T7" fmla="*/ 2147483647 h 731"/>
              <a:gd name="T8" fmla="*/ 2147483647 w 1071"/>
              <a:gd name="T9" fmla="*/ 2147483647 h 731"/>
              <a:gd name="T10" fmla="*/ 2147483647 w 1071"/>
              <a:gd name="T11" fmla="*/ 2147483647 h 731"/>
              <a:gd name="T12" fmla="*/ 2147483647 w 1071"/>
              <a:gd name="T13" fmla="*/ 2147483647 h 731"/>
              <a:gd name="T14" fmla="*/ 2147483647 w 1071"/>
              <a:gd name="T15" fmla="*/ 2147483647 h 731"/>
              <a:gd name="T16" fmla="*/ 2147483647 w 1071"/>
              <a:gd name="T17" fmla="*/ 2147483647 h 731"/>
              <a:gd name="T18" fmla="*/ 2147483647 w 1071"/>
              <a:gd name="T19" fmla="*/ 2147483647 h 731"/>
              <a:gd name="T20" fmla="*/ 2147483647 w 1071"/>
              <a:gd name="T21" fmla="*/ 2147483647 h 731"/>
              <a:gd name="T22" fmla="*/ 2147483647 w 1071"/>
              <a:gd name="T23" fmla="*/ 2147483647 h 731"/>
              <a:gd name="T24" fmla="*/ 2147483647 w 1071"/>
              <a:gd name="T25" fmla="*/ 2147483647 h 731"/>
              <a:gd name="T26" fmla="*/ 2147483647 w 1071"/>
              <a:gd name="T27" fmla="*/ 2147483647 h 731"/>
              <a:gd name="T28" fmla="*/ 2147483647 w 1071"/>
              <a:gd name="T29" fmla="*/ 2147483647 h 731"/>
              <a:gd name="T30" fmla="*/ 2147483647 w 1071"/>
              <a:gd name="T31" fmla="*/ 2147483647 h 731"/>
              <a:gd name="T32" fmla="*/ 2147483647 w 1071"/>
              <a:gd name="T33" fmla="*/ 2147483647 h 731"/>
              <a:gd name="T34" fmla="*/ 2147483647 w 1071"/>
              <a:gd name="T35" fmla="*/ 2147483647 h 731"/>
              <a:gd name="T36" fmla="*/ 2147483647 w 1071"/>
              <a:gd name="T37" fmla="*/ 2147483647 h 731"/>
              <a:gd name="T38" fmla="*/ 2147483647 w 1071"/>
              <a:gd name="T39" fmla="*/ 2147483647 h 731"/>
              <a:gd name="T40" fmla="*/ 2147483647 w 1071"/>
              <a:gd name="T41" fmla="*/ 2147483647 h 731"/>
              <a:gd name="T42" fmla="*/ 2147483647 w 1071"/>
              <a:gd name="T43" fmla="*/ 2147483647 h 731"/>
              <a:gd name="T44" fmla="*/ 2147483647 w 1071"/>
              <a:gd name="T45" fmla="*/ 2147483647 h 731"/>
              <a:gd name="T46" fmla="*/ 2147483647 w 1071"/>
              <a:gd name="T47" fmla="*/ 2147483647 h 731"/>
              <a:gd name="T48" fmla="*/ 2147483647 w 1071"/>
              <a:gd name="T49" fmla="*/ 2147483647 h 731"/>
              <a:gd name="T50" fmla="*/ 2147483647 w 1071"/>
              <a:gd name="T51" fmla="*/ 2147483647 h 731"/>
              <a:gd name="T52" fmla="*/ 2147483647 w 1071"/>
              <a:gd name="T53" fmla="*/ 0 h 731"/>
              <a:gd name="T54" fmla="*/ 2147483647 w 1071"/>
              <a:gd name="T55" fmla="*/ 2147483647 h 731"/>
              <a:gd name="T56" fmla="*/ 2147483647 w 1071"/>
              <a:gd name="T57" fmla="*/ 2147483647 h 731"/>
              <a:gd name="T58" fmla="*/ 2147483647 w 1071"/>
              <a:gd name="T59" fmla="*/ 2147483647 h 731"/>
              <a:gd name="T60" fmla="*/ 2147483647 w 1071"/>
              <a:gd name="T61" fmla="*/ 2147483647 h 731"/>
              <a:gd name="T62" fmla="*/ 2147483647 w 1071"/>
              <a:gd name="T63" fmla="*/ 2147483647 h 731"/>
              <a:gd name="T64" fmla="*/ 2147483647 w 1071"/>
              <a:gd name="T65" fmla="*/ 2147483647 h 731"/>
              <a:gd name="T66" fmla="*/ 2147483647 w 1071"/>
              <a:gd name="T67" fmla="*/ 2147483647 h 731"/>
              <a:gd name="T68" fmla="*/ 2147483647 w 1071"/>
              <a:gd name="T69" fmla="*/ 2147483647 h 731"/>
              <a:gd name="T70" fmla="*/ 2147483647 w 1071"/>
              <a:gd name="T71" fmla="*/ 2147483647 h 731"/>
              <a:gd name="T72" fmla="*/ 2147483647 w 1071"/>
              <a:gd name="T73" fmla="*/ 2147483647 h 731"/>
              <a:gd name="T74" fmla="*/ 2147483647 w 1071"/>
              <a:gd name="T75" fmla="*/ 2147483647 h 731"/>
              <a:gd name="T76" fmla="*/ 2147483647 w 1071"/>
              <a:gd name="T77" fmla="*/ 2147483647 h 731"/>
              <a:gd name="T78" fmla="*/ 2147483647 w 1071"/>
              <a:gd name="T79" fmla="*/ 2147483647 h 731"/>
              <a:gd name="T80" fmla="*/ 2147483647 w 1071"/>
              <a:gd name="T81" fmla="*/ 2147483647 h 731"/>
              <a:gd name="T82" fmla="*/ 2147483647 w 1071"/>
              <a:gd name="T83" fmla="*/ 2147483647 h 731"/>
              <a:gd name="T84" fmla="*/ 2147483647 w 1071"/>
              <a:gd name="T85" fmla="*/ 2147483647 h 731"/>
              <a:gd name="T86" fmla="*/ 2147483647 w 1071"/>
              <a:gd name="T87" fmla="*/ 2147483647 h 731"/>
              <a:gd name="T88" fmla="*/ 2147483647 w 1071"/>
              <a:gd name="T89" fmla="*/ 2147483647 h 731"/>
              <a:gd name="T90" fmla="*/ 2147483647 w 1071"/>
              <a:gd name="T91" fmla="*/ 2147483647 h 731"/>
              <a:gd name="T92" fmla="*/ 2147483647 w 1071"/>
              <a:gd name="T93" fmla="*/ 2147483647 h 731"/>
              <a:gd name="T94" fmla="*/ 2147483647 w 1071"/>
              <a:gd name="T95" fmla="*/ 2147483647 h 731"/>
              <a:gd name="T96" fmla="*/ 2147483647 w 1071"/>
              <a:gd name="T97" fmla="*/ 2147483647 h 731"/>
              <a:gd name="T98" fmla="*/ 2147483647 w 1071"/>
              <a:gd name="T99" fmla="*/ 2147483647 h 731"/>
              <a:gd name="T100" fmla="*/ 2147483647 w 1071"/>
              <a:gd name="T101" fmla="*/ 2147483647 h 731"/>
              <a:gd name="T102" fmla="*/ 2147483647 w 1071"/>
              <a:gd name="T103" fmla="*/ 2147483647 h 731"/>
              <a:gd name="T104" fmla="*/ 2147483647 w 1071"/>
              <a:gd name="T105" fmla="*/ 2147483647 h 731"/>
              <a:gd name="T106" fmla="*/ 2147483647 w 1071"/>
              <a:gd name="T107" fmla="*/ 2147483647 h 731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1071" h="731">
                <a:moveTo>
                  <a:pt x="6" y="552"/>
                </a:moveTo>
                <a:lnTo>
                  <a:pt x="0" y="642"/>
                </a:lnTo>
                <a:lnTo>
                  <a:pt x="698" y="731"/>
                </a:lnTo>
                <a:lnTo>
                  <a:pt x="703" y="729"/>
                </a:lnTo>
                <a:lnTo>
                  <a:pt x="717" y="722"/>
                </a:lnTo>
                <a:lnTo>
                  <a:pt x="740" y="710"/>
                </a:lnTo>
                <a:lnTo>
                  <a:pt x="768" y="694"/>
                </a:lnTo>
                <a:lnTo>
                  <a:pt x="801" y="672"/>
                </a:lnTo>
                <a:lnTo>
                  <a:pt x="838" y="645"/>
                </a:lnTo>
                <a:lnTo>
                  <a:pt x="876" y="614"/>
                </a:lnTo>
                <a:lnTo>
                  <a:pt x="915" y="577"/>
                </a:lnTo>
                <a:lnTo>
                  <a:pt x="953" y="536"/>
                </a:lnTo>
                <a:lnTo>
                  <a:pt x="988" y="491"/>
                </a:lnTo>
                <a:lnTo>
                  <a:pt x="1018" y="439"/>
                </a:lnTo>
                <a:lnTo>
                  <a:pt x="1043" y="383"/>
                </a:lnTo>
                <a:lnTo>
                  <a:pt x="1061" y="322"/>
                </a:lnTo>
                <a:lnTo>
                  <a:pt x="1071" y="255"/>
                </a:lnTo>
                <a:lnTo>
                  <a:pt x="1070" y="185"/>
                </a:lnTo>
                <a:lnTo>
                  <a:pt x="1057" y="108"/>
                </a:lnTo>
                <a:lnTo>
                  <a:pt x="1055" y="104"/>
                </a:lnTo>
                <a:lnTo>
                  <a:pt x="1049" y="92"/>
                </a:lnTo>
                <a:lnTo>
                  <a:pt x="1037" y="76"/>
                </a:lnTo>
                <a:lnTo>
                  <a:pt x="1022" y="57"/>
                </a:lnTo>
                <a:lnTo>
                  <a:pt x="1002" y="37"/>
                </a:lnTo>
                <a:lnTo>
                  <a:pt x="979" y="20"/>
                </a:lnTo>
                <a:lnTo>
                  <a:pt x="951" y="7"/>
                </a:lnTo>
                <a:lnTo>
                  <a:pt x="919" y="0"/>
                </a:lnTo>
                <a:lnTo>
                  <a:pt x="924" y="12"/>
                </a:lnTo>
                <a:lnTo>
                  <a:pt x="934" y="44"/>
                </a:lnTo>
                <a:lnTo>
                  <a:pt x="947" y="94"/>
                </a:lnTo>
                <a:lnTo>
                  <a:pt x="958" y="159"/>
                </a:lnTo>
                <a:lnTo>
                  <a:pt x="961" y="238"/>
                </a:lnTo>
                <a:lnTo>
                  <a:pt x="953" y="324"/>
                </a:lnTo>
                <a:lnTo>
                  <a:pt x="928" y="418"/>
                </a:lnTo>
                <a:lnTo>
                  <a:pt x="884" y="516"/>
                </a:lnTo>
                <a:lnTo>
                  <a:pt x="883" y="518"/>
                </a:lnTo>
                <a:lnTo>
                  <a:pt x="879" y="521"/>
                </a:lnTo>
                <a:lnTo>
                  <a:pt x="872" y="526"/>
                </a:lnTo>
                <a:lnTo>
                  <a:pt x="862" y="534"/>
                </a:lnTo>
                <a:lnTo>
                  <a:pt x="851" y="541"/>
                </a:lnTo>
                <a:lnTo>
                  <a:pt x="837" y="550"/>
                </a:lnTo>
                <a:lnTo>
                  <a:pt x="819" y="559"/>
                </a:lnTo>
                <a:lnTo>
                  <a:pt x="800" y="567"/>
                </a:lnTo>
                <a:lnTo>
                  <a:pt x="778" y="575"/>
                </a:lnTo>
                <a:lnTo>
                  <a:pt x="754" y="582"/>
                </a:lnTo>
                <a:lnTo>
                  <a:pt x="727" y="588"/>
                </a:lnTo>
                <a:lnTo>
                  <a:pt x="697" y="592"/>
                </a:lnTo>
                <a:lnTo>
                  <a:pt x="666" y="593"/>
                </a:lnTo>
                <a:lnTo>
                  <a:pt x="631" y="592"/>
                </a:lnTo>
                <a:lnTo>
                  <a:pt x="593" y="589"/>
                </a:lnTo>
                <a:lnTo>
                  <a:pt x="555" y="581"/>
                </a:lnTo>
                <a:lnTo>
                  <a:pt x="555" y="677"/>
                </a:lnTo>
                <a:lnTo>
                  <a:pt x="24" y="623"/>
                </a:lnTo>
                <a:lnTo>
                  <a:pt x="6" y="5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2" name="Freeform 125"/>
          <p:cNvSpPr/>
          <p:nvPr/>
        </p:nvSpPr>
        <p:spPr bwMode="auto">
          <a:xfrm>
            <a:off x="6403051" y="2818563"/>
            <a:ext cx="286941" cy="92869"/>
          </a:xfrm>
          <a:custGeom>
            <a:avLst/>
            <a:gdLst>
              <a:gd name="T0" fmla="*/ 2147483647 w 787"/>
              <a:gd name="T1" fmla="*/ 2147483647 h 253"/>
              <a:gd name="T2" fmla="*/ 2147483647 w 787"/>
              <a:gd name="T3" fmla="*/ 0 h 253"/>
              <a:gd name="T4" fmla="*/ 0 w 787"/>
              <a:gd name="T5" fmla="*/ 2147483647 h 253"/>
              <a:gd name="T6" fmla="*/ 2147483647 w 787"/>
              <a:gd name="T7" fmla="*/ 2147483647 h 253"/>
              <a:gd name="T8" fmla="*/ 2147483647 w 787"/>
              <a:gd name="T9" fmla="*/ 2147483647 h 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87" h="253">
                <a:moveTo>
                  <a:pt x="787" y="91"/>
                </a:moveTo>
                <a:lnTo>
                  <a:pt x="12" y="0"/>
                </a:lnTo>
                <a:lnTo>
                  <a:pt x="0" y="91"/>
                </a:lnTo>
                <a:lnTo>
                  <a:pt x="764" y="253"/>
                </a:lnTo>
                <a:lnTo>
                  <a:pt x="787" y="9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3" name="Freeform 126"/>
          <p:cNvSpPr/>
          <p:nvPr/>
        </p:nvSpPr>
        <p:spPr bwMode="auto">
          <a:xfrm>
            <a:off x="6545926" y="2848329"/>
            <a:ext cx="122635" cy="41672"/>
          </a:xfrm>
          <a:custGeom>
            <a:avLst/>
            <a:gdLst>
              <a:gd name="T0" fmla="*/ 2147483647 w 336"/>
              <a:gd name="T1" fmla="*/ 2147483647 h 115"/>
              <a:gd name="T2" fmla="*/ 2147483647 w 336"/>
              <a:gd name="T3" fmla="*/ 0 h 115"/>
              <a:gd name="T4" fmla="*/ 0 w 336"/>
              <a:gd name="T5" fmla="*/ 2147483647 h 115"/>
              <a:gd name="T6" fmla="*/ 2147483647 w 336"/>
              <a:gd name="T7" fmla="*/ 2147483647 h 115"/>
              <a:gd name="T8" fmla="*/ 2147483647 w 336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6" h="115">
                <a:moveTo>
                  <a:pt x="336" y="50"/>
                </a:moveTo>
                <a:lnTo>
                  <a:pt x="4" y="0"/>
                </a:lnTo>
                <a:lnTo>
                  <a:pt x="0" y="48"/>
                </a:lnTo>
                <a:lnTo>
                  <a:pt x="327" y="115"/>
                </a:lnTo>
                <a:lnTo>
                  <a:pt x="336" y="5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4" name="Freeform 127"/>
          <p:cNvSpPr/>
          <p:nvPr/>
        </p:nvSpPr>
        <p:spPr bwMode="auto">
          <a:xfrm>
            <a:off x="6422101" y="2826898"/>
            <a:ext cx="80963" cy="30956"/>
          </a:xfrm>
          <a:custGeom>
            <a:avLst/>
            <a:gdLst>
              <a:gd name="T0" fmla="*/ 2147483647 w 225"/>
              <a:gd name="T1" fmla="*/ 2147483647 h 85"/>
              <a:gd name="T2" fmla="*/ 0 w 225"/>
              <a:gd name="T3" fmla="*/ 0 h 85"/>
              <a:gd name="T4" fmla="*/ 2147483647 w 225"/>
              <a:gd name="T5" fmla="*/ 2147483647 h 85"/>
              <a:gd name="T6" fmla="*/ 2147483647 w 225"/>
              <a:gd name="T7" fmla="*/ 2147483647 h 85"/>
              <a:gd name="T8" fmla="*/ 2147483647 w 225"/>
              <a:gd name="T9" fmla="*/ 2147483647 h 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5" h="85">
                <a:moveTo>
                  <a:pt x="225" y="39"/>
                </a:moveTo>
                <a:lnTo>
                  <a:pt x="0" y="0"/>
                </a:lnTo>
                <a:lnTo>
                  <a:pt x="3" y="41"/>
                </a:lnTo>
                <a:lnTo>
                  <a:pt x="218" y="85"/>
                </a:lnTo>
                <a:lnTo>
                  <a:pt x="225" y="39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5" name="Freeform 128"/>
          <p:cNvSpPr/>
          <p:nvPr/>
        </p:nvSpPr>
        <p:spPr bwMode="auto">
          <a:xfrm>
            <a:off x="6216123" y="2857853"/>
            <a:ext cx="482203" cy="161925"/>
          </a:xfrm>
          <a:custGeom>
            <a:avLst/>
            <a:gdLst>
              <a:gd name="T0" fmla="*/ 0 w 1325"/>
              <a:gd name="T1" fmla="*/ 2147483647 h 439"/>
              <a:gd name="T2" fmla="*/ 2147483647 w 1325"/>
              <a:gd name="T3" fmla="*/ 2147483647 h 439"/>
              <a:gd name="T4" fmla="*/ 2147483647 w 1325"/>
              <a:gd name="T5" fmla="*/ 2147483647 h 439"/>
              <a:gd name="T6" fmla="*/ 2147483647 w 1325"/>
              <a:gd name="T7" fmla="*/ 2147483647 h 439"/>
              <a:gd name="T8" fmla="*/ 2147483647 w 1325"/>
              <a:gd name="T9" fmla="*/ 2147483647 h 439"/>
              <a:gd name="T10" fmla="*/ 2147483647 w 1325"/>
              <a:gd name="T11" fmla="*/ 2147483647 h 439"/>
              <a:gd name="T12" fmla="*/ 2147483647 w 1325"/>
              <a:gd name="T13" fmla="*/ 2147483647 h 439"/>
              <a:gd name="T14" fmla="*/ 2147483647 w 1325"/>
              <a:gd name="T15" fmla="*/ 2147483647 h 439"/>
              <a:gd name="T16" fmla="*/ 2147483647 w 1325"/>
              <a:gd name="T17" fmla="*/ 2147483647 h 439"/>
              <a:gd name="T18" fmla="*/ 2147483647 w 1325"/>
              <a:gd name="T19" fmla="*/ 2147483647 h 439"/>
              <a:gd name="T20" fmla="*/ 2147483647 w 1325"/>
              <a:gd name="T21" fmla="*/ 2147483647 h 439"/>
              <a:gd name="T22" fmla="*/ 2147483647 w 1325"/>
              <a:gd name="T23" fmla="*/ 2147483647 h 439"/>
              <a:gd name="T24" fmla="*/ 2147483647 w 1325"/>
              <a:gd name="T25" fmla="*/ 2147483647 h 439"/>
              <a:gd name="T26" fmla="*/ 2147483647 w 1325"/>
              <a:gd name="T27" fmla="*/ 2147483647 h 439"/>
              <a:gd name="T28" fmla="*/ 2147483647 w 1325"/>
              <a:gd name="T29" fmla="*/ 2147483647 h 439"/>
              <a:gd name="T30" fmla="*/ 2147483647 w 1325"/>
              <a:gd name="T31" fmla="*/ 2147483647 h 439"/>
              <a:gd name="T32" fmla="*/ 2147483647 w 1325"/>
              <a:gd name="T33" fmla="*/ 0 h 439"/>
              <a:gd name="T34" fmla="*/ 2147483647 w 1325"/>
              <a:gd name="T35" fmla="*/ 2147483647 h 439"/>
              <a:gd name="T36" fmla="*/ 2147483647 w 1325"/>
              <a:gd name="T37" fmla="*/ 2147483647 h 439"/>
              <a:gd name="T38" fmla="*/ 2147483647 w 1325"/>
              <a:gd name="T39" fmla="*/ 2147483647 h 439"/>
              <a:gd name="T40" fmla="*/ 2147483647 w 1325"/>
              <a:gd name="T41" fmla="*/ 2147483647 h 439"/>
              <a:gd name="T42" fmla="*/ 2147483647 w 1325"/>
              <a:gd name="T43" fmla="*/ 2147483647 h 439"/>
              <a:gd name="T44" fmla="*/ 2147483647 w 1325"/>
              <a:gd name="T45" fmla="*/ 2147483647 h 439"/>
              <a:gd name="T46" fmla="*/ 2147483647 w 1325"/>
              <a:gd name="T47" fmla="*/ 2147483647 h 439"/>
              <a:gd name="T48" fmla="*/ 2147483647 w 1325"/>
              <a:gd name="T49" fmla="*/ 2147483647 h 439"/>
              <a:gd name="T50" fmla="*/ 2147483647 w 1325"/>
              <a:gd name="T51" fmla="*/ 2147483647 h 439"/>
              <a:gd name="T52" fmla="*/ 2147483647 w 1325"/>
              <a:gd name="T53" fmla="*/ 2147483647 h 439"/>
              <a:gd name="T54" fmla="*/ 2147483647 w 1325"/>
              <a:gd name="T55" fmla="*/ 2147483647 h 439"/>
              <a:gd name="T56" fmla="*/ 2147483647 w 1325"/>
              <a:gd name="T57" fmla="*/ 2147483647 h 439"/>
              <a:gd name="T58" fmla="*/ 2147483647 w 1325"/>
              <a:gd name="T59" fmla="*/ 2147483647 h 439"/>
              <a:gd name="T60" fmla="*/ 2147483647 w 1325"/>
              <a:gd name="T61" fmla="*/ 2147483647 h 439"/>
              <a:gd name="T62" fmla="*/ 2147483647 w 1325"/>
              <a:gd name="T63" fmla="*/ 2147483647 h 439"/>
              <a:gd name="T64" fmla="*/ 2147483647 w 1325"/>
              <a:gd name="T65" fmla="*/ 2147483647 h 439"/>
              <a:gd name="T66" fmla="*/ 2147483647 w 1325"/>
              <a:gd name="T67" fmla="*/ 2147483647 h 439"/>
              <a:gd name="T68" fmla="*/ 0 w 1325"/>
              <a:gd name="T69" fmla="*/ 2147483647 h 43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325" h="439">
                <a:moveTo>
                  <a:pt x="0" y="132"/>
                </a:moveTo>
                <a:lnTo>
                  <a:pt x="3" y="132"/>
                </a:lnTo>
                <a:lnTo>
                  <a:pt x="10" y="130"/>
                </a:lnTo>
                <a:lnTo>
                  <a:pt x="24" y="128"/>
                </a:lnTo>
                <a:lnTo>
                  <a:pt x="42" y="125"/>
                </a:lnTo>
                <a:lnTo>
                  <a:pt x="62" y="121"/>
                </a:lnTo>
                <a:lnTo>
                  <a:pt x="86" y="116"/>
                </a:lnTo>
                <a:lnTo>
                  <a:pt x="113" y="109"/>
                </a:lnTo>
                <a:lnTo>
                  <a:pt x="141" y="102"/>
                </a:lnTo>
                <a:lnTo>
                  <a:pt x="170" y="94"/>
                </a:lnTo>
                <a:lnTo>
                  <a:pt x="199" y="85"/>
                </a:lnTo>
                <a:lnTo>
                  <a:pt x="228" y="74"/>
                </a:lnTo>
                <a:lnTo>
                  <a:pt x="257" y="62"/>
                </a:lnTo>
                <a:lnTo>
                  <a:pt x="285" y="48"/>
                </a:lnTo>
                <a:lnTo>
                  <a:pt x="309" y="34"/>
                </a:lnTo>
                <a:lnTo>
                  <a:pt x="333" y="18"/>
                </a:lnTo>
                <a:lnTo>
                  <a:pt x="352" y="0"/>
                </a:lnTo>
                <a:lnTo>
                  <a:pt x="1325" y="223"/>
                </a:lnTo>
                <a:lnTo>
                  <a:pt x="1323" y="225"/>
                </a:lnTo>
                <a:lnTo>
                  <a:pt x="1318" y="230"/>
                </a:lnTo>
                <a:lnTo>
                  <a:pt x="1309" y="239"/>
                </a:lnTo>
                <a:lnTo>
                  <a:pt x="1297" y="250"/>
                </a:lnTo>
                <a:lnTo>
                  <a:pt x="1282" y="263"/>
                </a:lnTo>
                <a:lnTo>
                  <a:pt x="1265" y="278"/>
                </a:lnTo>
                <a:lnTo>
                  <a:pt x="1247" y="295"/>
                </a:lnTo>
                <a:lnTo>
                  <a:pt x="1225" y="312"/>
                </a:lnTo>
                <a:lnTo>
                  <a:pt x="1202" y="331"/>
                </a:lnTo>
                <a:lnTo>
                  <a:pt x="1179" y="349"/>
                </a:lnTo>
                <a:lnTo>
                  <a:pt x="1154" y="367"/>
                </a:lnTo>
                <a:lnTo>
                  <a:pt x="1128" y="385"/>
                </a:lnTo>
                <a:lnTo>
                  <a:pt x="1102" y="401"/>
                </a:lnTo>
                <a:lnTo>
                  <a:pt x="1077" y="415"/>
                </a:lnTo>
                <a:lnTo>
                  <a:pt x="1051" y="428"/>
                </a:lnTo>
                <a:lnTo>
                  <a:pt x="1026" y="439"/>
                </a:lnTo>
                <a:lnTo>
                  <a:pt x="0" y="132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6" name="Freeform 129"/>
          <p:cNvSpPr/>
          <p:nvPr/>
        </p:nvSpPr>
        <p:spPr bwMode="auto">
          <a:xfrm>
            <a:off x="6697136" y="2839995"/>
            <a:ext cx="171450" cy="77390"/>
          </a:xfrm>
          <a:custGeom>
            <a:avLst/>
            <a:gdLst>
              <a:gd name="T0" fmla="*/ 2147483647 w 472"/>
              <a:gd name="T1" fmla="*/ 2147483647 h 209"/>
              <a:gd name="T2" fmla="*/ 2147483647 w 472"/>
              <a:gd name="T3" fmla="*/ 2147483647 h 209"/>
              <a:gd name="T4" fmla="*/ 2147483647 w 472"/>
              <a:gd name="T5" fmla="*/ 0 h 209"/>
              <a:gd name="T6" fmla="*/ 2147483647 w 472"/>
              <a:gd name="T7" fmla="*/ 2147483647 h 209"/>
              <a:gd name="T8" fmla="*/ 0 w 472"/>
              <a:gd name="T9" fmla="*/ 2147483647 h 209"/>
              <a:gd name="T10" fmla="*/ 2147483647 w 472"/>
              <a:gd name="T11" fmla="*/ 2147483647 h 20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72" h="209">
                <a:moveTo>
                  <a:pt x="47" y="209"/>
                </a:moveTo>
                <a:lnTo>
                  <a:pt x="472" y="84"/>
                </a:lnTo>
                <a:lnTo>
                  <a:pt x="215" y="0"/>
                </a:lnTo>
                <a:lnTo>
                  <a:pt x="5" y="24"/>
                </a:lnTo>
                <a:lnTo>
                  <a:pt x="0" y="197"/>
                </a:lnTo>
                <a:lnTo>
                  <a:pt x="47" y="209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7" name="Freeform 130"/>
          <p:cNvSpPr/>
          <p:nvPr/>
        </p:nvSpPr>
        <p:spPr bwMode="auto">
          <a:xfrm>
            <a:off x="6253032" y="2510191"/>
            <a:ext cx="91679" cy="367904"/>
          </a:xfrm>
          <a:custGeom>
            <a:avLst/>
            <a:gdLst>
              <a:gd name="T0" fmla="*/ 2147483647 w 251"/>
              <a:gd name="T1" fmla="*/ 2147483647 h 999"/>
              <a:gd name="T2" fmla="*/ 2147483647 w 251"/>
              <a:gd name="T3" fmla="*/ 2147483647 h 999"/>
              <a:gd name="T4" fmla="*/ 2147483647 w 251"/>
              <a:gd name="T5" fmla="*/ 2147483647 h 999"/>
              <a:gd name="T6" fmla="*/ 2147483647 w 251"/>
              <a:gd name="T7" fmla="*/ 2147483647 h 999"/>
              <a:gd name="T8" fmla="*/ 2147483647 w 251"/>
              <a:gd name="T9" fmla="*/ 2147483647 h 999"/>
              <a:gd name="T10" fmla="*/ 2147483647 w 251"/>
              <a:gd name="T11" fmla="*/ 2147483647 h 999"/>
              <a:gd name="T12" fmla="*/ 2147483647 w 251"/>
              <a:gd name="T13" fmla="*/ 2147483647 h 999"/>
              <a:gd name="T14" fmla="*/ 2147483647 w 251"/>
              <a:gd name="T15" fmla="*/ 2147483647 h 999"/>
              <a:gd name="T16" fmla="*/ 2147483647 w 251"/>
              <a:gd name="T17" fmla="*/ 2147483647 h 999"/>
              <a:gd name="T18" fmla="*/ 2147483647 w 251"/>
              <a:gd name="T19" fmla="*/ 0 h 999"/>
              <a:gd name="T20" fmla="*/ 2147483647 w 251"/>
              <a:gd name="T21" fmla="*/ 0 h 999"/>
              <a:gd name="T22" fmla="*/ 2147483647 w 251"/>
              <a:gd name="T23" fmla="*/ 2147483647 h 999"/>
              <a:gd name="T24" fmla="*/ 2147483647 w 251"/>
              <a:gd name="T25" fmla="*/ 2147483647 h 999"/>
              <a:gd name="T26" fmla="*/ 2147483647 w 251"/>
              <a:gd name="T27" fmla="*/ 2147483647 h 999"/>
              <a:gd name="T28" fmla="*/ 2147483647 w 251"/>
              <a:gd name="T29" fmla="*/ 2147483647 h 999"/>
              <a:gd name="T30" fmla="*/ 2147483647 w 251"/>
              <a:gd name="T31" fmla="*/ 2147483647 h 999"/>
              <a:gd name="T32" fmla="*/ 0 w 251"/>
              <a:gd name="T33" fmla="*/ 2147483647 h 999"/>
              <a:gd name="T34" fmla="*/ 0 w 251"/>
              <a:gd name="T35" fmla="*/ 2147483647 h 999"/>
              <a:gd name="T36" fmla="*/ 2147483647 w 251"/>
              <a:gd name="T37" fmla="*/ 2147483647 h 999"/>
              <a:gd name="T38" fmla="*/ 2147483647 w 251"/>
              <a:gd name="T39" fmla="*/ 2147483647 h 999"/>
              <a:gd name="T40" fmla="*/ 2147483647 w 251"/>
              <a:gd name="T41" fmla="*/ 2147483647 h 999"/>
              <a:gd name="T42" fmla="*/ 2147483647 w 251"/>
              <a:gd name="T43" fmla="*/ 2147483647 h 999"/>
              <a:gd name="T44" fmla="*/ 2147483647 w 251"/>
              <a:gd name="T45" fmla="*/ 2147483647 h 999"/>
              <a:gd name="T46" fmla="*/ 2147483647 w 251"/>
              <a:gd name="T47" fmla="*/ 2147483647 h 999"/>
              <a:gd name="T48" fmla="*/ 2147483647 w 251"/>
              <a:gd name="T49" fmla="*/ 2147483647 h 999"/>
              <a:gd name="T50" fmla="*/ 2147483647 w 251"/>
              <a:gd name="T51" fmla="*/ 2147483647 h 999"/>
              <a:gd name="T52" fmla="*/ 2147483647 w 251"/>
              <a:gd name="T53" fmla="*/ 2147483647 h 999"/>
              <a:gd name="T54" fmla="*/ 2147483647 w 251"/>
              <a:gd name="T55" fmla="*/ 2147483647 h 999"/>
              <a:gd name="T56" fmla="*/ 2147483647 w 251"/>
              <a:gd name="T57" fmla="*/ 2147483647 h 999"/>
              <a:gd name="T58" fmla="*/ 2147483647 w 251"/>
              <a:gd name="T59" fmla="*/ 2147483647 h 999"/>
              <a:gd name="T60" fmla="*/ 2147483647 w 251"/>
              <a:gd name="T61" fmla="*/ 2147483647 h 999"/>
              <a:gd name="T62" fmla="*/ 2147483647 w 251"/>
              <a:gd name="T63" fmla="*/ 2147483647 h 999"/>
              <a:gd name="T64" fmla="*/ 2147483647 w 251"/>
              <a:gd name="T65" fmla="*/ 2147483647 h 999"/>
              <a:gd name="T66" fmla="*/ 2147483647 w 251"/>
              <a:gd name="T67" fmla="*/ 2147483647 h 999"/>
              <a:gd name="T68" fmla="*/ 2147483647 w 251"/>
              <a:gd name="T69" fmla="*/ 2147483647 h 99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51" h="999">
                <a:moveTo>
                  <a:pt x="251" y="23"/>
                </a:moveTo>
                <a:lnTo>
                  <a:pt x="250" y="22"/>
                </a:lnTo>
                <a:lnTo>
                  <a:pt x="246" y="20"/>
                </a:lnTo>
                <a:lnTo>
                  <a:pt x="239" y="18"/>
                </a:lnTo>
                <a:lnTo>
                  <a:pt x="230" y="15"/>
                </a:lnTo>
                <a:lnTo>
                  <a:pt x="218" y="11"/>
                </a:lnTo>
                <a:lnTo>
                  <a:pt x="205" y="7"/>
                </a:lnTo>
                <a:lnTo>
                  <a:pt x="190" y="4"/>
                </a:lnTo>
                <a:lnTo>
                  <a:pt x="173" y="1"/>
                </a:lnTo>
                <a:lnTo>
                  <a:pt x="155" y="0"/>
                </a:lnTo>
                <a:lnTo>
                  <a:pt x="134" y="0"/>
                </a:lnTo>
                <a:lnTo>
                  <a:pt x="114" y="2"/>
                </a:lnTo>
                <a:lnTo>
                  <a:pt x="92" y="5"/>
                </a:lnTo>
                <a:lnTo>
                  <a:pt x="70" y="12"/>
                </a:lnTo>
                <a:lnTo>
                  <a:pt x="47" y="20"/>
                </a:lnTo>
                <a:lnTo>
                  <a:pt x="23" y="32"/>
                </a:lnTo>
                <a:lnTo>
                  <a:pt x="0" y="47"/>
                </a:lnTo>
                <a:lnTo>
                  <a:pt x="0" y="999"/>
                </a:lnTo>
                <a:lnTo>
                  <a:pt x="1" y="999"/>
                </a:lnTo>
                <a:lnTo>
                  <a:pt x="6" y="999"/>
                </a:lnTo>
                <a:lnTo>
                  <a:pt x="14" y="998"/>
                </a:lnTo>
                <a:lnTo>
                  <a:pt x="23" y="997"/>
                </a:lnTo>
                <a:lnTo>
                  <a:pt x="35" y="995"/>
                </a:lnTo>
                <a:lnTo>
                  <a:pt x="49" y="993"/>
                </a:lnTo>
                <a:lnTo>
                  <a:pt x="65" y="990"/>
                </a:lnTo>
                <a:lnTo>
                  <a:pt x="83" y="985"/>
                </a:lnTo>
                <a:lnTo>
                  <a:pt x="102" y="980"/>
                </a:lnTo>
                <a:lnTo>
                  <a:pt x="121" y="973"/>
                </a:lnTo>
                <a:lnTo>
                  <a:pt x="143" y="966"/>
                </a:lnTo>
                <a:lnTo>
                  <a:pt x="164" y="956"/>
                </a:lnTo>
                <a:lnTo>
                  <a:pt x="186" y="945"/>
                </a:lnTo>
                <a:lnTo>
                  <a:pt x="208" y="934"/>
                </a:lnTo>
                <a:lnTo>
                  <a:pt x="230" y="919"/>
                </a:lnTo>
                <a:lnTo>
                  <a:pt x="251" y="903"/>
                </a:lnTo>
                <a:lnTo>
                  <a:pt x="251" y="23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8" name="Freeform 131"/>
          <p:cNvSpPr/>
          <p:nvPr/>
        </p:nvSpPr>
        <p:spPr bwMode="auto">
          <a:xfrm>
            <a:off x="6255414" y="2513763"/>
            <a:ext cx="78581" cy="309563"/>
          </a:xfrm>
          <a:custGeom>
            <a:avLst/>
            <a:gdLst>
              <a:gd name="T0" fmla="*/ 2147483647 w 215"/>
              <a:gd name="T1" fmla="*/ 2147483647 h 843"/>
              <a:gd name="T2" fmla="*/ 2147483647 w 215"/>
              <a:gd name="T3" fmla="*/ 2147483647 h 843"/>
              <a:gd name="T4" fmla="*/ 2147483647 w 215"/>
              <a:gd name="T5" fmla="*/ 2147483647 h 843"/>
              <a:gd name="T6" fmla="*/ 2147483647 w 215"/>
              <a:gd name="T7" fmla="*/ 2147483647 h 843"/>
              <a:gd name="T8" fmla="*/ 2147483647 w 215"/>
              <a:gd name="T9" fmla="*/ 2147483647 h 843"/>
              <a:gd name="T10" fmla="*/ 2147483647 w 215"/>
              <a:gd name="T11" fmla="*/ 2147483647 h 843"/>
              <a:gd name="T12" fmla="*/ 2147483647 w 215"/>
              <a:gd name="T13" fmla="*/ 2147483647 h 843"/>
              <a:gd name="T14" fmla="*/ 2147483647 w 215"/>
              <a:gd name="T15" fmla="*/ 2147483647 h 843"/>
              <a:gd name="T16" fmla="*/ 2147483647 w 215"/>
              <a:gd name="T17" fmla="*/ 2147483647 h 843"/>
              <a:gd name="T18" fmla="*/ 2147483647 w 215"/>
              <a:gd name="T19" fmla="*/ 0 h 843"/>
              <a:gd name="T20" fmla="*/ 2147483647 w 215"/>
              <a:gd name="T21" fmla="*/ 0 h 843"/>
              <a:gd name="T22" fmla="*/ 2147483647 w 215"/>
              <a:gd name="T23" fmla="*/ 2147483647 h 843"/>
              <a:gd name="T24" fmla="*/ 2147483647 w 215"/>
              <a:gd name="T25" fmla="*/ 2147483647 h 843"/>
              <a:gd name="T26" fmla="*/ 2147483647 w 215"/>
              <a:gd name="T27" fmla="*/ 2147483647 h 843"/>
              <a:gd name="T28" fmla="*/ 2147483647 w 215"/>
              <a:gd name="T29" fmla="*/ 2147483647 h 843"/>
              <a:gd name="T30" fmla="*/ 2147483647 w 215"/>
              <a:gd name="T31" fmla="*/ 2147483647 h 843"/>
              <a:gd name="T32" fmla="*/ 0 w 215"/>
              <a:gd name="T33" fmla="*/ 2147483647 h 843"/>
              <a:gd name="T34" fmla="*/ 0 w 215"/>
              <a:gd name="T35" fmla="*/ 2147483647 h 843"/>
              <a:gd name="T36" fmla="*/ 2147483647 w 215"/>
              <a:gd name="T37" fmla="*/ 2147483647 h 843"/>
              <a:gd name="T38" fmla="*/ 2147483647 w 215"/>
              <a:gd name="T39" fmla="*/ 2147483647 h 843"/>
              <a:gd name="T40" fmla="*/ 2147483647 w 215"/>
              <a:gd name="T41" fmla="*/ 2147483647 h 843"/>
              <a:gd name="T42" fmla="*/ 2147483647 w 215"/>
              <a:gd name="T43" fmla="*/ 2147483647 h 843"/>
              <a:gd name="T44" fmla="*/ 2147483647 w 215"/>
              <a:gd name="T45" fmla="*/ 2147483647 h 843"/>
              <a:gd name="T46" fmla="*/ 2147483647 w 215"/>
              <a:gd name="T47" fmla="*/ 2147483647 h 843"/>
              <a:gd name="T48" fmla="*/ 2147483647 w 215"/>
              <a:gd name="T49" fmla="*/ 2147483647 h 843"/>
              <a:gd name="T50" fmla="*/ 2147483647 w 215"/>
              <a:gd name="T51" fmla="*/ 2147483647 h 843"/>
              <a:gd name="T52" fmla="*/ 2147483647 w 215"/>
              <a:gd name="T53" fmla="*/ 2147483647 h 843"/>
              <a:gd name="T54" fmla="*/ 2147483647 w 215"/>
              <a:gd name="T55" fmla="*/ 2147483647 h 843"/>
              <a:gd name="T56" fmla="*/ 2147483647 w 215"/>
              <a:gd name="T57" fmla="*/ 2147483647 h 843"/>
              <a:gd name="T58" fmla="*/ 2147483647 w 215"/>
              <a:gd name="T59" fmla="*/ 2147483647 h 843"/>
              <a:gd name="T60" fmla="*/ 2147483647 w 215"/>
              <a:gd name="T61" fmla="*/ 2147483647 h 843"/>
              <a:gd name="T62" fmla="*/ 2147483647 w 215"/>
              <a:gd name="T63" fmla="*/ 2147483647 h 843"/>
              <a:gd name="T64" fmla="*/ 2147483647 w 215"/>
              <a:gd name="T65" fmla="*/ 2147483647 h 843"/>
              <a:gd name="T66" fmla="*/ 2147483647 w 215"/>
              <a:gd name="T67" fmla="*/ 2147483647 h 843"/>
              <a:gd name="T68" fmla="*/ 2147483647 w 215"/>
              <a:gd name="T69" fmla="*/ 2147483647 h 8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15" h="843">
                <a:moveTo>
                  <a:pt x="215" y="20"/>
                </a:moveTo>
                <a:lnTo>
                  <a:pt x="214" y="19"/>
                </a:lnTo>
                <a:lnTo>
                  <a:pt x="211" y="18"/>
                </a:lnTo>
                <a:lnTo>
                  <a:pt x="205" y="15"/>
                </a:lnTo>
                <a:lnTo>
                  <a:pt x="197" y="12"/>
                </a:lnTo>
                <a:lnTo>
                  <a:pt x="187" y="9"/>
                </a:lnTo>
                <a:lnTo>
                  <a:pt x="176" y="6"/>
                </a:lnTo>
                <a:lnTo>
                  <a:pt x="163" y="4"/>
                </a:lnTo>
                <a:lnTo>
                  <a:pt x="149" y="1"/>
                </a:lnTo>
                <a:lnTo>
                  <a:pt x="133" y="0"/>
                </a:lnTo>
                <a:lnTo>
                  <a:pt x="115" y="0"/>
                </a:lnTo>
                <a:lnTo>
                  <a:pt x="98" y="1"/>
                </a:lnTo>
                <a:lnTo>
                  <a:pt x="79" y="5"/>
                </a:lnTo>
                <a:lnTo>
                  <a:pt x="60" y="10"/>
                </a:lnTo>
                <a:lnTo>
                  <a:pt x="40" y="18"/>
                </a:lnTo>
                <a:lnTo>
                  <a:pt x="21" y="27"/>
                </a:lnTo>
                <a:lnTo>
                  <a:pt x="0" y="40"/>
                </a:lnTo>
                <a:lnTo>
                  <a:pt x="0" y="843"/>
                </a:lnTo>
                <a:lnTo>
                  <a:pt x="1" y="843"/>
                </a:lnTo>
                <a:lnTo>
                  <a:pt x="6" y="843"/>
                </a:lnTo>
                <a:lnTo>
                  <a:pt x="12" y="842"/>
                </a:lnTo>
                <a:lnTo>
                  <a:pt x="21" y="841"/>
                </a:lnTo>
                <a:lnTo>
                  <a:pt x="30" y="840"/>
                </a:lnTo>
                <a:lnTo>
                  <a:pt x="43" y="838"/>
                </a:lnTo>
                <a:lnTo>
                  <a:pt x="56" y="835"/>
                </a:lnTo>
                <a:lnTo>
                  <a:pt x="71" y="831"/>
                </a:lnTo>
                <a:lnTo>
                  <a:pt x="87" y="826"/>
                </a:lnTo>
                <a:lnTo>
                  <a:pt x="105" y="821"/>
                </a:lnTo>
                <a:lnTo>
                  <a:pt x="123" y="814"/>
                </a:lnTo>
                <a:lnTo>
                  <a:pt x="141" y="806"/>
                </a:lnTo>
                <a:lnTo>
                  <a:pt x="159" y="797"/>
                </a:lnTo>
                <a:lnTo>
                  <a:pt x="179" y="786"/>
                </a:lnTo>
                <a:lnTo>
                  <a:pt x="197" y="774"/>
                </a:lnTo>
                <a:lnTo>
                  <a:pt x="215" y="760"/>
                </a:lnTo>
                <a:lnTo>
                  <a:pt x="215" y="2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9" name="Freeform 132"/>
          <p:cNvSpPr/>
          <p:nvPr/>
        </p:nvSpPr>
        <p:spPr bwMode="auto">
          <a:xfrm>
            <a:off x="6257795" y="2517335"/>
            <a:ext cx="65485" cy="251222"/>
          </a:xfrm>
          <a:custGeom>
            <a:avLst/>
            <a:gdLst>
              <a:gd name="T0" fmla="*/ 2147483647 w 180"/>
              <a:gd name="T1" fmla="*/ 2147483647 h 685"/>
              <a:gd name="T2" fmla="*/ 2147483647 w 180"/>
              <a:gd name="T3" fmla="*/ 2147483647 h 685"/>
              <a:gd name="T4" fmla="*/ 2147483647 w 180"/>
              <a:gd name="T5" fmla="*/ 2147483647 h 685"/>
              <a:gd name="T6" fmla="*/ 2147483647 w 180"/>
              <a:gd name="T7" fmla="*/ 2147483647 h 685"/>
              <a:gd name="T8" fmla="*/ 2147483647 w 180"/>
              <a:gd name="T9" fmla="*/ 2147483647 h 685"/>
              <a:gd name="T10" fmla="*/ 2147483647 w 180"/>
              <a:gd name="T11" fmla="*/ 2147483647 h 685"/>
              <a:gd name="T12" fmla="*/ 2147483647 w 180"/>
              <a:gd name="T13" fmla="*/ 2147483647 h 685"/>
              <a:gd name="T14" fmla="*/ 2147483647 w 180"/>
              <a:gd name="T15" fmla="*/ 2147483647 h 685"/>
              <a:gd name="T16" fmla="*/ 2147483647 w 180"/>
              <a:gd name="T17" fmla="*/ 0 h 685"/>
              <a:gd name="T18" fmla="*/ 2147483647 w 180"/>
              <a:gd name="T19" fmla="*/ 0 h 685"/>
              <a:gd name="T20" fmla="*/ 2147483647 w 180"/>
              <a:gd name="T21" fmla="*/ 0 h 685"/>
              <a:gd name="T22" fmla="*/ 2147483647 w 180"/>
              <a:gd name="T23" fmla="*/ 2147483647 h 685"/>
              <a:gd name="T24" fmla="*/ 2147483647 w 180"/>
              <a:gd name="T25" fmla="*/ 2147483647 h 685"/>
              <a:gd name="T26" fmla="*/ 2147483647 w 180"/>
              <a:gd name="T27" fmla="*/ 2147483647 h 685"/>
              <a:gd name="T28" fmla="*/ 2147483647 w 180"/>
              <a:gd name="T29" fmla="*/ 2147483647 h 685"/>
              <a:gd name="T30" fmla="*/ 2147483647 w 180"/>
              <a:gd name="T31" fmla="*/ 2147483647 h 685"/>
              <a:gd name="T32" fmla="*/ 0 w 180"/>
              <a:gd name="T33" fmla="*/ 2147483647 h 685"/>
              <a:gd name="T34" fmla="*/ 0 w 180"/>
              <a:gd name="T35" fmla="*/ 2147483647 h 685"/>
              <a:gd name="T36" fmla="*/ 2147483647 w 180"/>
              <a:gd name="T37" fmla="*/ 2147483647 h 685"/>
              <a:gd name="T38" fmla="*/ 2147483647 w 180"/>
              <a:gd name="T39" fmla="*/ 2147483647 h 685"/>
              <a:gd name="T40" fmla="*/ 2147483647 w 180"/>
              <a:gd name="T41" fmla="*/ 2147483647 h 685"/>
              <a:gd name="T42" fmla="*/ 2147483647 w 180"/>
              <a:gd name="T43" fmla="*/ 2147483647 h 685"/>
              <a:gd name="T44" fmla="*/ 2147483647 w 180"/>
              <a:gd name="T45" fmla="*/ 2147483647 h 685"/>
              <a:gd name="T46" fmla="*/ 2147483647 w 180"/>
              <a:gd name="T47" fmla="*/ 2147483647 h 685"/>
              <a:gd name="T48" fmla="*/ 2147483647 w 180"/>
              <a:gd name="T49" fmla="*/ 2147483647 h 685"/>
              <a:gd name="T50" fmla="*/ 2147483647 w 180"/>
              <a:gd name="T51" fmla="*/ 2147483647 h 685"/>
              <a:gd name="T52" fmla="*/ 2147483647 w 180"/>
              <a:gd name="T53" fmla="*/ 2147483647 h 685"/>
              <a:gd name="T54" fmla="*/ 2147483647 w 180"/>
              <a:gd name="T55" fmla="*/ 2147483647 h 685"/>
              <a:gd name="T56" fmla="*/ 2147483647 w 180"/>
              <a:gd name="T57" fmla="*/ 2147483647 h 685"/>
              <a:gd name="T58" fmla="*/ 2147483647 w 180"/>
              <a:gd name="T59" fmla="*/ 2147483647 h 685"/>
              <a:gd name="T60" fmla="*/ 2147483647 w 180"/>
              <a:gd name="T61" fmla="*/ 2147483647 h 685"/>
              <a:gd name="T62" fmla="*/ 2147483647 w 180"/>
              <a:gd name="T63" fmla="*/ 2147483647 h 685"/>
              <a:gd name="T64" fmla="*/ 2147483647 w 180"/>
              <a:gd name="T65" fmla="*/ 2147483647 h 685"/>
              <a:gd name="T66" fmla="*/ 2147483647 w 180"/>
              <a:gd name="T67" fmla="*/ 2147483647 h 685"/>
              <a:gd name="T68" fmla="*/ 2147483647 w 180"/>
              <a:gd name="T69" fmla="*/ 2147483647 h 685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80" h="685">
                <a:moveTo>
                  <a:pt x="180" y="16"/>
                </a:moveTo>
                <a:lnTo>
                  <a:pt x="179" y="16"/>
                </a:lnTo>
                <a:lnTo>
                  <a:pt x="176" y="14"/>
                </a:lnTo>
                <a:lnTo>
                  <a:pt x="172" y="12"/>
                </a:lnTo>
                <a:lnTo>
                  <a:pt x="165" y="10"/>
                </a:lnTo>
                <a:lnTo>
                  <a:pt x="157" y="8"/>
                </a:lnTo>
                <a:lnTo>
                  <a:pt x="147" y="4"/>
                </a:lnTo>
                <a:lnTo>
                  <a:pt x="136" y="2"/>
                </a:lnTo>
                <a:lnTo>
                  <a:pt x="125" y="0"/>
                </a:lnTo>
                <a:lnTo>
                  <a:pt x="111" y="0"/>
                </a:lnTo>
                <a:lnTo>
                  <a:pt x="97" y="0"/>
                </a:lnTo>
                <a:lnTo>
                  <a:pt x="81" y="1"/>
                </a:lnTo>
                <a:lnTo>
                  <a:pt x="66" y="3"/>
                </a:lnTo>
                <a:lnTo>
                  <a:pt x="50" y="8"/>
                </a:lnTo>
                <a:lnTo>
                  <a:pt x="33" y="14"/>
                </a:lnTo>
                <a:lnTo>
                  <a:pt x="17" y="23"/>
                </a:lnTo>
                <a:lnTo>
                  <a:pt x="0" y="33"/>
                </a:lnTo>
                <a:lnTo>
                  <a:pt x="0" y="685"/>
                </a:lnTo>
                <a:lnTo>
                  <a:pt x="1" y="685"/>
                </a:lnTo>
                <a:lnTo>
                  <a:pt x="4" y="685"/>
                </a:lnTo>
                <a:lnTo>
                  <a:pt x="9" y="684"/>
                </a:lnTo>
                <a:lnTo>
                  <a:pt x="17" y="683"/>
                </a:lnTo>
                <a:lnTo>
                  <a:pt x="26" y="682"/>
                </a:lnTo>
                <a:lnTo>
                  <a:pt x="35" y="681"/>
                </a:lnTo>
                <a:lnTo>
                  <a:pt x="47" y="678"/>
                </a:lnTo>
                <a:lnTo>
                  <a:pt x="60" y="676"/>
                </a:lnTo>
                <a:lnTo>
                  <a:pt x="73" y="671"/>
                </a:lnTo>
                <a:lnTo>
                  <a:pt x="87" y="667"/>
                </a:lnTo>
                <a:lnTo>
                  <a:pt x="102" y="662"/>
                </a:lnTo>
                <a:lnTo>
                  <a:pt x="118" y="655"/>
                </a:lnTo>
                <a:lnTo>
                  <a:pt x="133" y="648"/>
                </a:lnTo>
                <a:lnTo>
                  <a:pt x="149" y="639"/>
                </a:lnTo>
                <a:lnTo>
                  <a:pt x="165" y="628"/>
                </a:lnTo>
                <a:lnTo>
                  <a:pt x="180" y="617"/>
                </a:lnTo>
                <a:lnTo>
                  <a:pt x="180" y="1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0" name="Freeform 133"/>
          <p:cNvSpPr/>
          <p:nvPr/>
        </p:nvSpPr>
        <p:spPr bwMode="auto">
          <a:xfrm>
            <a:off x="6260176" y="2519716"/>
            <a:ext cx="53579" cy="195263"/>
          </a:xfrm>
          <a:custGeom>
            <a:avLst/>
            <a:gdLst>
              <a:gd name="T0" fmla="*/ 2147483647 w 146"/>
              <a:gd name="T1" fmla="*/ 2147483647 h 530"/>
              <a:gd name="T2" fmla="*/ 2147483647 w 146"/>
              <a:gd name="T3" fmla="*/ 2147483647 h 530"/>
              <a:gd name="T4" fmla="*/ 2147483647 w 146"/>
              <a:gd name="T5" fmla="*/ 2147483647 h 530"/>
              <a:gd name="T6" fmla="*/ 2147483647 w 146"/>
              <a:gd name="T7" fmla="*/ 2147483647 h 530"/>
              <a:gd name="T8" fmla="*/ 2147483647 w 146"/>
              <a:gd name="T9" fmla="*/ 2147483647 h 530"/>
              <a:gd name="T10" fmla="*/ 2147483647 w 146"/>
              <a:gd name="T11" fmla="*/ 0 h 530"/>
              <a:gd name="T12" fmla="*/ 2147483647 w 146"/>
              <a:gd name="T13" fmla="*/ 2147483647 h 530"/>
              <a:gd name="T14" fmla="*/ 2147483647 w 146"/>
              <a:gd name="T15" fmla="*/ 2147483647 h 530"/>
              <a:gd name="T16" fmla="*/ 0 w 146"/>
              <a:gd name="T17" fmla="*/ 2147483647 h 530"/>
              <a:gd name="T18" fmla="*/ 0 w 146"/>
              <a:gd name="T19" fmla="*/ 2147483647 h 530"/>
              <a:gd name="T20" fmla="*/ 2147483647 w 146"/>
              <a:gd name="T21" fmla="*/ 2147483647 h 530"/>
              <a:gd name="T22" fmla="*/ 2147483647 w 146"/>
              <a:gd name="T23" fmla="*/ 2147483647 h 530"/>
              <a:gd name="T24" fmla="*/ 2147483647 w 146"/>
              <a:gd name="T25" fmla="*/ 2147483647 h 530"/>
              <a:gd name="T26" fmla="*/ 2147483647 w 146"/>
              <a:gd name="T27" fmla="*/ 2147483647 h 530"/>
              <a:gd name="T28" fmla="*/ 2147483647 w 146"/>
              <a:gd name="T29" fmla="*/ 2147483647 h 530"/>
              <a:gd name="T30" fmla="*/ 2147483647 w 146"/>
              <a:gd name="T31" fmla="*/ 2147483647 h 530"/>
              <a:gd name="T32" fmla="*/ 2147483647 w 146"/>
              <a:gd name="T33" fmla="*/ 2147483647 h 530"/>
              <a:gd name="T34" fmla="*/ 2147483647 w 146"/>
              <a:gd name="T35" fmla="*/ 2147483647 h 530"/>
              <a:gd name="T36" fmla="*/ 2147483647 w 146"/>
              <a:gd name="T37" fmla="*/ 2147483647 h 53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46" h="530">
                <a:moveTo>
                  <a:pt x="146" y="14"/>
                </a:moveTo>
                <a:lnTo>
                  <a:pt x="143" y="12"/>
                </a:lnTo>
                <a:lnTo>
                  <a:pt x="134" y="8"/>
                </a:lnTo>
                <a:lnTo>
                  <a:pt x="120" y="4"/>
                </a:lnTo>
                <a:lnTo>
                  <a:pt x="101" y="1"/>
                </a:lnTo>
                <a:lnTo>
                  <a:pt x="79" y="0"/>
                </a:lnTo>
                <a:lnTo>
                  <a:pt x="54" y="3"/>
                </a:lnTo>
                <a:lnTo>
                  <a:pt x="27" y="11"/>
                </a:lnTo>
                <a:lnTo>
                  <a:pt x="0" y="27"/>
                </a:lnTo>
                <a:lnTo>
                  <a:pt x="0" y="530"/>
                </a:lnTo>
                <a:lnTo>
                  <a:pt x="3" y="530"/>
                </a:lnTo>
                <a:lnTo>
                  <a:pt x="14" y="529"/>
                </a:lnTo>
                <a:lnTo>
                  <a:pt x="29" y="526"/>
                </a:lnTo>
                <a:lnTo>
                  <a:pt x="49" y="521"/>
                </a:lnTo>
                <a:lnTo>
                  <a:pt x="71" y="514"/>
                </a:lnTo>
                <a:lnTo>
                  <a:pt x="96" y="505"/>
                </a:lnTo>
                <a:lnTo>
                  <a:pt x="121" y="492"/>
                </a:lnTo>
                <a:lnTo>
                  <a:pt x="146" y="475"/>
                </a:lnTo>
                <a:lnTo>
                  <a:pt x="146" y="1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1" name="Freeform 134"/>
          <p:cNvSpPr/>
          <p:nvPr/>
        </p:nvSpPr>
        <p:spPr bwMode="auto">
          <a:xfrm>
            <a:off x="6263749" y="2522097"/>
            <a:ext cx="39290" cy="138113"/>
          </a:xfrm>
          <a:custGeom>
            <a:avLst/>
            <a:gdLst>
              <a:gd name="T0" fmla="*/ 2147483647 w 109"/>
              <a:gd name="T1" fmla="*/ 2147483647 h 373"/>
              <a:gd name="T2" fmla="*/ 2147483647 w 109"/>
              <a:gd name="T3" fmla="*/ 2147483647 h 373"/>
              <a:gd name="T4" fmla="*/ 2147483647 w 109"/>
              <a:gd name="T5" fmla="*/ 2147483647 h 373"/>
              <a:gd name="T6" fmla="*/ 2147483647 w 109"/>
              <a:gd name="T7" fmla="*/ 2147483647 h 373"/>
              <a:gd name="T8" fmla="*/ 2147483647 w 109"/>
              <a:gd name="T9" fmla="*/ 0 h 373"/>
              <a:gd name="T10" fmla="*/ 2147483647 w 109"/>
              <a:gd name="T11" fmla="*/ 0 h 373"/>
              <a:gd name="T12" fmla="*/ 2147483647 w 109"/>
              <a:gd name="T13" fmla="*/ 2147483647 h 373"/>
              <a:gd name="T14" fmla="*/ 2147483647 w 109"/>
              <a:gd name="T15" fmla="*/ 2147483647 h 373"/>
              <a:gd name="T16" fmla="*/ 0 w 109"/>
              <a:gd name="T17" fmla="*/ 2147483647 h 373"/>
              <a:gd name="T18" fmla="*/ 0 w 109"/>
              <a:gd name="T19" fmla="*/ 2147483647 h 373"/>
              <a:gd name="T20" fmla="*/ 2147483647 w 109"/>
              <a:gd name="T21" fmla="*/ 2147483647 h 373"/>
              <a:gd name="T22" fmla="*/ 2147483647 w 109"/>
              <a:gd name="T23" fmla="*/ 2147483647 h 373"/>
              <a:gd name="T24" fmla="*/ 2147483647 w 109"/>
              <a:gd name="T25" fmla="*/ 2147483647 h 373"/>
              <a:gd name="T26" fmla="*/ 2147483647 w 109"/>
              <a:gd name="T27" fmla="*/ 2147483647 h 373"/>
              <a:gd name="T28" fmla="*/ 2147483647 w 109"/>
              <a:gd name="T29" fmla="*/ 2147483647 h 373"/>
              <a:gd name="T30" fmla="*/ 2147483647 w 109"/>
              <a:gd name="T31" fmla="*/ 2147483647 h 373"/>
              <a:gd name="T32" fmla="*/ 2147483647 w 109"/>
              <a:gd name="T33" fmla="*/ 2147483647 h 373"/>
              <a:gd name="T34" fmla="*/ 2147483647 w 109"/>
              <a:gd name="T35" fmla="*/ 2147483647 h 373"/>
              <a:gd name="T36" fmla="*/ 2147483647 w 109"/>
              <a:gd name="T37" fmla="*/ 2147483647 h 37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09" h="373">
                <a:moveTo>
                  <a:pt x="109" y="10"/>
                </a:moveTo>
                <a:lnTo>
                  <a:pt x="107" y="9"/>
                </a:lnTo>
                <a:lnTo>
                  <a:pt x="100" y="6"/>
                </a:lnTo>
                <a:lnTo>
                  <a:pt x="89" y="2"/>
                </a:lnTo>
                <a:lnTo>
                  <a:pt x="75" y="0"/>
                </a:lnTo>
                <a:lnTo>
                  <a:pt x="59" y="0"/>
                </a:lnTo>
                <a:lnTo>
                  <a:pt x="39" y="2"/>
                </a:lnTo>
                <a:lnTo>
                  <a:pt x="20" y="9"/>
                </a:lnTo>
                <a:lnTo>
                  <a:pt x="0" y="21"/>
                </a:lnTo>
                <a:lnTo>
                  <a:pt x="0" y="373"/>
                </a:lnTo>
                <a:lnTo>
                  <a:pt x="2" y="373"/>
                </a:lnTo>
                <a:lnTo>
                  <a:pt x="9" y="372"/>
                </a:lnTo>
                <a:lnTo>
                  <a:pt x="21" y="369"/>
                </a:lnTo>
                <a:lnTo>
                  <a:pt x="36" y="366"/>
                </a:lnTo>
                <a:lnTo>
                  <a:pt x="53" y="362"/>
                </a:lnTo>
                <a:lnTo>
                  <a:pt x="72" y="354"/>
                </a:lnTo>
                <a:lnTo>
                  <a:pt x="90" y="343"/>
                </a:lnTo>
                <a:lnTo>
                  <a:pt x="109" y="331"/>
                </a:lnTo>
                <a:lnTo>
                  <a:pt x="109" y="1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2" name="Freeform 135"/>
          <p:cNvSpPr/>
          <p:nvPr/>
        </p:nvSpPr>
        <p:spPr bwMode="auto">
          <a:xfrm>
            <a:off x="6266130" y="2525669"/>
            <a:ext cx="26194" cy="79772"/>
          </a:xfrm>
          <a:custGeom>
            <a:avLst/>
            <a:gdLst>
              <a:gd name="T0" fmla="*/ 2147483647 w 75"/>
              <a:gd name="T1" fmla="*/ 2147483647 h 216"/>
              <a:gd name="T2" fmla="*/ 2147483647 w 75"/>
              <a:gd name="T3" fmla="*/ 2147483647 h 216"/>
              <a:gd name="T4" fmla="*/ 2147483647 w 75"/>
              <a:gd name="T5" fmla="*/ 2147483647 h 216"/>
              <a:gd name="T6" fmla="*/ 2147483647 w 75"/>
              <a:gd name="T7" fmla="*/ 2147483647 h 216"/>
              <a:gd name="T8" fmla="*/ 2147483647 w 75"/>
              <a:gd name="T9" fmla="*/ 0 h 216"/>
              <a:gd name="T10" fmla="*/ 2147483647 w 75"/>
              <a:gd name="T11" fmla="*/ 0 h 216"/>
              <a:gd name="T12" fmla="*/ 2147483647 w 75"/>
              <a:gd name="T13" fmla="*/ 2147483647 h 216"/>
              <a:gd name="T14" fmla="*/ 2147483647 w 75"/>
              <a:gd name="T15" fmla="*/ 2147483647 h 216"/>
              <a:gd name="T16" fmla="*/ 0 w 75"/>
              <a:gd name="T17" fmla="*/ 2147483647 h 216"/>
              <a:gd name="T18" fmla="*/ 0 w 75"/>
              <a:gd name="T19" fmla="*/ 2147483647 h 216"/>
              <a:gd name="T20" fmla="*/ 2147483647 w 75"/>
              <a:gd name="T21" fmla="*/ 2147483647 h 216"/>
              <a:gd name="T22" fmla="*/ 2147483647 w 75"/>
              <a:gd name="T23" fmla="*/ 2147483647 h 216"/>
              <a:gd name="T24" fmla="*/ 2147483647 w 75"/>
              <a:gd name="T25" fmla="*/ 2147483647 h 216"/>
              <a:gd name="T26" fmla="*/ 2147483647 w 75"/>
              <a:gd name="T27" fmla="*/ 2147483647 h 216"/>
              <a:gd name="T28" fmla="*/ 2147483647 w 75"/>
              <a:gd name="T29" fmla="*/ 2147483647 h 216"/>
              <a:gd name="T30" fmla="*/ 2147483647 w 75"/>
              <a:gd name="T31" fmla="*/ 2147483647 h 216"/>
              <a:gd name="T32" fmla="*/ 2147483647 w 75"/>
              <a:gd name="T33" fmla="*/ 2147483647 h 216"/>
              <a:gd name="T34" fmla="*/ 2147483647 w 75"/>
              <a:gd name="T35" fmla="*/ 2147483647 h 216"/>
              <a:gd name="T36" fmla="*/ 2147483647 w 75"/>
              <a:gd name="T37" fmla="*/ 2147483647 h 21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75" h="216">
                <a:moveTo>
                  <a:pt x="75" y="6"/>
                </a:moveTo>
                <a:lnTo>
                  <a:pt x="73" y="5"/>
                </a:lnTo>
                <a:lnTo>
                  <a:pt x="69" y="4"/>
                </a:lnTo>
                <a:lnTo>
                  <a:pt x="61" y="2"/>
                </a:lnTo>
                <a:lnTo>
                  <a:pt x="52" y="0"/>
                </a:lnTo>
                <a:lnTo>
                  <a:pt x="41" y="0"/>
                </a:lnTo>
                <a:lnTo>
                  <a:pt x="28" y="1"/>
                </a:lnTo>
                <a:lnTo>
                  <a:pt x="14" y="6"/>
                </a:lnTo>
                <a:lnTo>
                  <a:pt x="0" y="14"/>
                </a:lnTo>
                <a:lnTo>
                  <a:pt x="0" y="216"/>
                </a:lnTo>
                <a:lnTo>
                  <a:pt x="2" y="216"/>
                </a:lnTo>
                <a:lnTo>
                  <a:pt x="7" y="215"/>
                </a:lnTo>
                <a:lnTo>
                  <a:pt x="15" y="214"/>
                </a:lnTo>
                <a:lnTo>
                  <a:pt x="25" y="211"/>
                </a:lnTo>
                <a:lnTo>
                  <a:pt x="37" y="208"/>
                </a:lnTo>
                <a:lnTo>
                  <a:pt x="50" y="203"/>
                </a:lnTo>
                <a:lnTo>
                  <a:pt x="63" y="195"/>
                </a:lnTo>
                <a:lnTo>
                  <a:pt x="75" y="187"/>
                </a:lnTo>
                <a:lnTo>
                  <a:pt x="75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3" name="Freeform 136"/>
          <p:cNvSpPr/>
          <p:nvPr/>
        </p:nvSpPr>
        <p:spPr bwMode="auto">
          <a:xfrm>
            <a:off x="6594742" y="2753079"/>
            <a:ext cx="40481" cy="41672"/>
          </a:xfrm>
          <a:custGeom>
            <a:avLst/>
            <a:gdLst>
              <a:gd name="T0" fmla="*/ 2147483647 w 110"/>
              <a:gd name="T1" fmla="*/ 2147483647 h 111"/>
              <a:gd name="T2" fmla="*/ 2147483647 w 110"/>
              <a:gd name="T3" fmla="*/ 2147483647 h 111"/>
              <a:gd name="T4" fmla="*/ 2147483647 w 110"/>
              <a:gd name="T5" fmla="*/ 2147483647 h 111"/>
              <a:gd name="T6" fmla="*/ 2147483647 w 110"/>
              <a:gd name="T7" fmla="*/ 2147483647 h 111"/>
              <a:gd name="T8" fmla="*/ 2147483647 w 110"/>
              <a:gd name="T9" fmla="*/ 2147483647 h 111"/>
              <a:gd name="T10" fmla="*/ 2147483647 w 110"/>
              <a:gd name="T11" fmla="*/ 2147483647 h 111"/>
              <a:gd name="T12" fmla="*/ 2147483647 w 110"/>
              <a:gd name="T13" fmla="*/ 2147483647 h 111"/>
              <a:gd name="T14" fmla="*/ 2147483647 w 110"/>
              <a:gd name="T15" fmla="*/ 2147483647 h 111"/>
              <a:gd name="T16" fmla="*/ 2147483647 w 110"/>
              <a:gd name="T17" fmla="*/ 2147483647 h 111"/>
              <a:gd name="T18" fmla="*/ 2147483647 w 110"/>
              <a:gd name="T19" fmla="*/ 2147483647 h 111"/>
              <a:gd name="T20" fmla="*/ 2147483647 w 110"/>
              <a:gd name="T21" fmla="*/ 2147483647 h 111"/>
              <a:gd name="T22" fmla="*/ 2147483647 w 110"/>
              <a:gd name="T23" fmla="*/ 2147483647 h 111"/>
              <a:gd name="T24" fmla="*/ 2147483647 w 110"/>
              <a:gd name="T25" fmla="*/ 2147483647 h 111"/>
              <a:gd name="T26" fmla="*/ 2147483647 w 110"/>
              <a:gd name="T27" fmla="*/ 2147483647 h 111"/>
              <a:gd name="T28" fmla="*/ 2147483647 w 110"/>
              <a:gd name="T29" fmla="*/ 2147483647 h 111"/>
              <a:gd name="T30" fmla="*/ 2147483647 w 110"/>
              <a:gd name="T31" fmla="*/ 2147483647 h 111"/>
              <a:gd name="T32" fmla="*/ 2147483647 w 110"/>
              <a:gd name="T33" fmla="*/ 0 h 111"/>
              <a:gd name="T34" fmla="*/ 2147483647 w 110"/>
              <a:gd name="T35" fmla="*/ 2147483647 h 111"/>
              <a:gd name="T36" fmla="*/ 2147483647 w 110"/>
              <a:gd name="T37" fmla="*/ 2147483647 h 111"/>
              <a:gd name="T38" fmla="*/ 2147483647 w 110"/>
              <a:gd name="T39" fmla="*/ 2147483647 h 111"/>
              <a:gd name="T40" fmla="*/ 2147483647 w 110"/>
              <a:gd name="T41" fmla="*/ 2147483647 h 111"/>
              <a:gd name="T42" fmla="*/ 2147483647 w 110"/>
              <a:gd name="T43" fmla="*/ 2147483647 h 111"/>
              <a:gd name="T44" fmla="*/ 2147483647 w 110"/>
              <a:gd name="T45" fmla="*/ 2147483647 h 111"/>
              <a:gd name="T46" fmla="*/ 2147483647 w 110"/>
              <a:gd name="T47" fmla="*/ 2147483647 h 111"/>
              <a:gd name="T48" fmla="*/ 0 w 110"/>
              <a:gd name="T49" fmla="*/ 2147483647 h 111"/>
              <a:gd name="T50" fmla="*/ 2147483647 w 110"/>
              <a:gd name="T51" fmla="*/ 2147483647 h 111"/>
              <a:gd name="T52" fmla="*/ 2147483647 w 110"/>
              <a:gd name="T53" fmla="*/ 2147483647 h 111"/>
              <a:gd name="T54" fmla="*/ 2147483647 w 110"/>
              <a:gd name="T55" fmla="*/ 2147483647 h 111"/>
              <a:gd name="T56" fmla="*/ 2147483647 w 110"/>
              <a:gd name="T57" fmla="*/ 2147483647 h 111"/>
              <a:gd name="T58" fmla="*/ 2147483647 w 110"/>
              <a:gd name="T59" fmla="*/ 2147483647 h 111"/>
              <a:gd name="T60" fmla="*/ 2147483647 w 110"/>
              <a:gd name="T61" fmla="*/ 2147483647 h 111"/>
              <a:gd name="T62" fmla="*/ 2147483647 w 110"/>
              <a:gd name="T63" fmla="*/ 2147483647 h 111"/>
              <a:gd name="T64" fmla="*/ 2147483647 w 110"/>
              <a:gd name="T65" fmla="*/ 2147483647 h 111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10" h="111">
                <a:moveTo>
                  <a:pt x="55" y="111"/>
                </a:moveTo>
                <a:lnTo>
                  <a:pt x="66" y="110"/>
                </a:lnTo>
                <a:lnTo>
                  <a:pt x="76" y="106"/>
                </a:lnTo>
                <a:lnTo>
                  <a:pt x="85" y="101"/>
                </a:lnTo>
                <a:lnTo>
                  <a:pt x="94" y="94"/>
                </a:lnTo>
                <a:lnTo>
                  <a:pt x="100" y="86"/>
                </a:lnTo>
                <a:lnTo>
                  <a:pt x="106" y="77"/>
                </a:lnTo>
                <a:lnTo>
                  <a:pt x="109" y="66"/>
                </a:lnTo>
                <a:lnTo>
                  <a:pt x="110" y="56"/>
                </a:lnTo>
                <a:lnTo>
                  <a:pt x="109" y="44"/>
                </a:lnTo>
                <a:lnTo>
                  <a:pt x="106" y="34"/>
                </a:lnTo>
                <a:lnTo>
                  <a:pt x="100" y="24"/>
                </a:lnTo>
                <a:lnTo>
                  <a:pt x="94" y="17"/>
                </a:lnTo>
                <a:lnTo>
                  <a:pt x="85" y="9"/>
                </a:lnTo>
                <a:lnTo>
                  <a:pt x="76" y="5"/>
                </a:lnTo>
                <a:lnTo>
                  <a:pt x="66" y="2"/>
                </a:lnTo>
                <a:lnTo>
                  <a:pt x="55" y="0"/>
                </a:lnTo>
                <a:lnTo>
                  <a:pt x="44" y="2"/>
                </a:lnTo>
                <a:lnTo>
                  <a:pt x="33" y="5"/>
                </a:lnTo>
                <a:lnTo>
                  <a:pt x="25" y="9"/>
                </a:lnTo>
                <a:lnTo>
                  <a:pt x="16" y="17"/>
                </a:lnTo>
                <a:lnTo>
                  <a:pt x="10" y="24"/>
                </a:lnTo>
                <a:lnTo>
                  <a:pt x="4" y="34"/>
                </a:lnTo>
                <a:lnTo>
                  <a:pt x="1" y="44"/>
                </a:lnTo>
                <a:lnTo>
                  <a:pt x="0" y="56"/>
                </a:lnTo>
                <a:lnTo>
                  <a:pt x="1" y="66"/>
                </a:lnTo>
                <a:lnTo>
                  <a:pt x="4" y="77"/>
                </a:lnTo>
                <a:lnTo>
                  <a:pt x="10" y="86"/>
                </a:lnTo>
                <a:lnTo>
                  <a:pt x="16" y="94"/>
                </a:lnTo>
                <a:lnTo>
                  <a:pt x="25" y="101"/>
                </a:lnTo>
                <a:lnTo>
                  <a:pt x="33" y="106"/>
                </a:lnTo>
                <a:lnTo>
                  <a:pt x="44" y="110"/>
                </a:lnTo>
                <a:lnTo>
                  <a:pt x="55" y="11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4" name="Freeform 137"/>
          <p:cNvSpPr/>
          <p:nvPr/>
        </p:nvSpPr>
        <p:spPr bwMode="auto">
          <a:xfrm>
            <a:off x="6472107" y="2754270"/>
            <a:ext cx="20241" cy="20240"/>
          </a:xfrm>
          <a:custGeom>
            <a:avLst/>
            <a:gdLst>
              <a:gd name="T0" fmla="*/ 2147483647 w 55"/>
              <a:gd name="T1" fmla="*/ 2147483647 h 55"/>
              <a:gd name="T2" fmla="*/ 2147483647 w 55"/>
              <a:gd name="T3" fmla="*/ 2147483647 h 55"/>
              <a:gd name="T4" fmla="*/ 2147483647 w 55"/>
              <a:gd name="T5" fmla="*/ 2147483647 h 55"/>
              <a:gd name="T6" fmla="*/ 2147483647 w 55"/>
              <a:gd name="T7" fmla="*/ 2147483647 h 55"/>
              <a:gd name="T8" fmla="*/ 2147483647 w 55"/>
              <a:gd name="T9" fmla="*/ 2147483647 h 55"/>
              <a:gd name="T10" fmla="*/ 2147483647 w 55"/>
              <a:gd name="T11" fmla="*/ 2147483647 h 55"/>
              <a:gd name="T12" fmla="*/ 2147483647 w 55"/>
              <a:gd name="T13" fmla="*/ 2147483647 h 55"/>
              <a:gd name="T14" fmla="*/ 2147483647 w 55"/>
              <a:gd name="T15" fmla="*/ 2147483647 h 55"/>
              <a:gd name="T16" fmla="*/ 2147483647 w 55"/>
              <a:gd name="T17" fmla="*/ 0 h 55"/>
              <a:gd name="T18" fmla="*/ 2147483647 w 55"/>
              <a:gd name="T19" fmla="*/ 2147483647 h 55"/>
              <a:gd name="T20" fmla="*/ 2147483647 w 55"/>
              <a:gd name="T21" fmla="*/ 2147483647 h 55"/>
              <a:gd name="T22" fmla="*/ 2147483647 w 55"/>
              <a:gd name="T23" fmla="*/ 2147483647 h 55"/>
              <a:gd name="T24" fmla="*/ 0 w 55"/>
              <a:gd name="T25" fmla="*/ 2147483647 h 55"/>
              <a:gd name="T26" fmla="*/ 2147483647 w 55"/>
              <a:gd name="T27" fmla="*/ 2147483647 h 55"/>
              <a:gd name="T28" fmla="*/ 2147483647 w 55"/>
              <a:gd name="T29" fmla="*/ 2147483647 h 55"/>
              <a:gd name="T30" fmla="*/ 2147483647 w 55"/>
              <a:gd name="T31" fmla="*/ 2147483647 h 55"/>
              <a:gd name="T32" fmla="*/ 2147483647 w 55"/>
              <a:gd name="T33" fmla="*/ 2147483647 h 5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5" h="55">
                <a:moveTo>
                  <a:pt x="27" y="55"/>
                </a:moveTo>
                <a:lnTo>
                  <a:pt x="38" y="53"/>
                </a:lnTo>
                <a:lnTo>
                  <a:pt x="48" y="46"/>
                </a:lnTo>
                <a:lnTo>
                  <a:pt x="53" y="37"/>
                </a:lnTo>
                <a:lnTo>
                  <a:pt x="55" y="27"/>
                </a:lnTo>
                <a:lnTo>
                  <a:pt x="53" y="16"/>
                </a:lnTo>
                <a:lnTo>
                  <a:pt x="48" y="7"/>
                </a:lnTo>
                <a:lnTo>
                  <a:pt x="38" y="2"/>
                </a:lnTo>
                <a:lnTo>
                  <a:pt x="27" y="0"/>
                </a:lnTo>
                <a:lnTo>
                  <a:pt x="16" y="2"/>
                </a:lnTo>
                <a:lnTo>
                  <a:pt x="8" y="7"/>
                </a:lnTo>
                <a:lnTo>
                  <a:pt x="2" y="16"/>
                </a:lnTo>
                <a:lnTo>
                  <a:pt x="0" y="27"/>
                </a:lnTo>
                <a:lnTo>
                  <a:pt x="2" y="37"/>
                </a:lnTo>
                <a:lnTo>
                  <a:pt x="8" y="46"/>
                </a:lnTo>
                <a:lnTo>
                  <a:pt x="16" y="53"/>
                </a:lnTo>
                <a:lnTo>
                  <a:pt x="27" y="5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5" name="Freeform 138"/>
          <p:cNvSpPr/>
          <p:nvPr/>
        </p:nvSpPr>
        <p:spPr bwMode="auto">
          <a:xfrm>
            <a:off x="6506636" y="2755460"/>
            <a:ext cx="20240" cy="20241"/>
          </a:xfrm>
          <a:custGeom>
            <a:avLst/>
            <a:gdLst>
              <a:gd name="T0" fmla="*/ 2147483647 w 55"/>
              <a:gd name="T1" fmla="*/ 2147483647 h 55"/>
              <a:gd name="T2" fmla="*/ 2147483647 w 55"/>
              <a:gd name="T3" fmla="*/ 2147483647 h 55"/>
              <a:gd name="T4" fmla="*/ 2147483647 w 55"/>
              <a:gd name="T5" fmla="*/ 2147483647 h 55"/>
              <a:gd name="T6" fmla="*/ 2147483647 w 55"/>
              <a:gd name="T7" fmla="*/ 2147483647 h 55"/>
              <a:gd name="T8" fmla="*/ 2147483647 w 55"/>
              <a:gd name="T9" fmla="*/ 2147483647 h 55"/>
              <a:gd name="T10" fmla="*/ 2147483647 w 55"/>
              <a:gd name="T11" fmla="*/ 2147483647 h 55"/>
              <a:gd name="T12" fmla="*/ 2147483647 w 55"/>
              <a:gd name="T13" fmla="*/ 2147483647 h 55"/>
              <a:gd name="T14" fmla="*/ 2147483647 w 55"/>
              <a:gd name="T15" fmla="*/ 2147483647 h 55"/>
              <a:gd name="T16" fmla="*/ 2147483647 w 55"/>
              <a:gd name="T17" fmla="*/ 0 h 55"/>
              <a:gd name="T18" fmla="*/ 2147483647 w 55"/>
              <a:gd name="T19" fmla="*/ 2147483647 h 55"/>
              <a:gd name="T20" fmla="*/ 2147483647 w 55"/>
              <a:gd name="T21" fmla="*/ 2147483647 h 55"/>
              <a:gd name="T22" fmla="*/ 2147483647 w 55"/>
              <a:gd name="T23" fmla="*/ 2147483647 h 55"/>
              <a:gd name="T24" fmla="*/ 0 w 55"/>
              <a:gd name="T25" fmla="*/ 2147483647 h 55"/>
              <a:gd name="T26" fmla="*/ 2147483647 w 55"/>
              <a:gd name="T27" fmla="*/ 2147483647 h 55"/>
              <a:gd name="T28" fmla="*/ 2147483647 w 55"/>
              <a:gd name="T29" fmla="*/ 2147483647 h 55"/>
              <a:gd name="T30" fmla="*/ 2147483647 w 55"/>
              <a:gd name="T31" fmla="*/ 2147483647 h 55"/>
              <a:gd name="T32" fmla="*/ 2147483647 w 55"/>
              <a:gd name="T33" fmla="*/ 2147483647 h 5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5" h="55">
                <a:moveTo>
                  <a:pt x="28" y="55"/>
                </a:moveTo>
                <a:lnTo>
                  <a:pt x="39" y="53"/>
                </a:lnTo>
                <a:lnTo>
                  <a:pt x="47" y="47"/>
                </a:lnTo>
                <a:lnTo>
                  <a:pt x="53" y="39"/>
                </a:lnTo>
                <a:lnTo>
                  <a:pt x="55" y="28"/>
                </a:lnTo>
                <a:lnTo>
                  <a:pt x="53" y="17"/>
                </a:lnTo>
                <a:lnTo>
                  <a:pt x="47" y="8"/>
                </a:lnTo>
                <a:lnTo>
                  <a:pt x="39" y="2"/>
                </a:lnTo>
                <a:lnTo>
                  <a:pt x="28" y="0"/>
                </a:lnTo>
                <a:lnTo>
                  <a:pt x="17" y="2"/>
                </a:lnTo>
                <a:lnTo>
                  <a:pt x="9" y="8"/>
                </a:lnTo>
                <a:lnTo>
                  <a:pt x="2" y="17"/>
                </a:lnTo>
                <a:lnTo>
                  <a:pt x="0" y="28"/>
                </a:lnTo>
                <a:lnTo>
                  <a:pt x="2" y="39"/>
                </a:lnTo>
                <a:lnTo>
                  <a:pt x="9" y="47"/>
                </a:lnTo>
                <a:lnTo>
                  <a:pt x="17" y="53"/>
                </a:lnTo>
                <a:lnTo>
                  <a:pt x="28" y="5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6" name="Freeform 139"/>
          <p:cNvSpPr/>
          <p:nvPr/>
        </p:nvSpPr>
        <p:spPr bwMode="auto">
          <a:xfrm>
            <a:off x="6372095" y="2478044"/>
            <a:ext cx="57150" cy="276225"/>
          </a:xfrm>
          <a:custGeom>
            <a:avLst/>
            <a:gdLst>
              <a:gd name="T0" fmla="*/ 2147483647 w 156"/>
              <a:gd name="T1" fmla="*/ 2147483647 h 752"/>
              <a:gd name="T2" fmla="*/ 2147483647 w 156"/>
              <a:gd name="T3" fmla="*/ 2147483647 h 752"/>
              <a:gd name="T4" fmla="*/ 2147483647 w 156"/>
              <a:gd name="T5" fmla="*/ 2147483647 h 752"/>
              <a:gd name="T6" fmla="*/ 2147483647 w 156"/>
              <a:gd name="T7" fmla="*/ 2147483647 h 752"/>
              <a:gd name="T8" fmla="*/ 2147483647 w 156"/>
              <a:gd name="T9" fmla="*/ 2147483647 h 752"/>
              <a:gd name="T10" fmla="*/ 0 w 156"/>
              <a:gd name="T11" fmla="*/ 2147483647 h 752"/>
              <a:gd name="T12" fmla="*/ 2147483647 w 156"/>
              <a:gd name="T13" fmla="*/ 2147483647 h 752"/>
              <a:gd name="T14" fmla="*/ 2147483647 w 156"/>
              <a:gd name="T15" fmla="*/ 2147483647 h 752"/>
              <a:gd name="T16" fmla="*/ 2147483647 w 156"/>
              <a:gd name="T17" fmla="*/ 2147483647 h 752"/>
              <a:gd name="T18" fmla="*/ 2147483647 w 156"/>
              <a:gd name="T19" fmla="*/ 2147483647 h 752"/>
              <a:gd name="T20" fmla="*/ 2147483647 w 156"/>
              <a:gd name="T21" fmla="*/ 2147483647 h 752"/>
              <a:gd name="T22" fmla="*/ 2147483647 w 156"/>
              <a:gd name="T23" fmla="*/ 2147483647 h 752"/>
              <a:gd name="T24" fmla="*/ 2147483647 w 156"/>
              <a:gd name="T25" fmla="*/ 2147483647 h 752"/>
              <a:gd name="T26" fmla="*/ 2147483647 w 156"/>
              <a:gd name="T27" fmla="*/ 2147483647 h 752"/>
              <a:gd name="T28" fmla="*/ 2147483647 w 156"/>
              <a:gd name="T29" fmla="*/ 2147483647 h 752"/>
              <a:gd name="T30" fmla="*/ 2147483647 w 156"/>
              <a:gd name="T31" fmla="*/ 2147483647 h 752"/>
              <a:gd name="T32" fmla="*/ 2147483647 w 156"/>
              <a:gd name="T33" fmla="*/ 2147483647 h 752"/>
              <a:gd name="T34" fmla="*/ 2147483647 w 156"/>
              <a:gd name="T35" fmla="*/ 2147483647 h 752"/>
              <a:gd name="T36" fmla="*/ 2147483647 w 156"/>
              <a:gd name="T37" fmla="*/ 2147483647 h 752"/>
              <a:gd name="T38" fmla="*/ 2147483647 w 156"/>
              <a:gd name="T39" fmla="*/ 2147483647 h 752"/>
              <a:gd name="T40" fmla="*/ 2147483647 w 156"/>
              <a:gd name="T41" fmla="*/ 2147483647 h 752"/>
              <a:gd name="T42" fmla="*/ 2147483647 w 156"/>
              <a:gd name="T43" fmla="*/ 0 h 752"/>
              <a:gd name="T44" fmla="*/ 2147483647 w 156"/>
              <a:gd name="T45" fmla="*/ 0 h 752"/>
              <a:gd name="T46" fmla="*/ 2147483647 w 156"/>
              <a:gd name="T47" fmla="*/ 2147483647 h 752"/>
              <a:gd name="T48" fmla="*/ 2147483647 w 156"/>
              <a:gd name="T49" fmla="*/ 2147483647 h 752"/>
              <a:gd name="T50" fmla="*/ 2147483647 w 156"/>
              <a:gd name="T51" fmla="*/ 2147483647 h 75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56" h="752">
                <a:moveTo>
                  <a:pt x="48" y="15"/>
                </a:moveTo>
                <a:lnTo>
                  <a:pt x="44" y="30"/>
                </a:lnTo>
                <a:lnTo>
                  <a:pt x="33" y="73"/>
                </a:lnTo>
                <a:lnTo>
                  <a:pt x="19" y="140"/>
                </a:lnTo>
                <a:lnTo>
                  <a:pt x="7" y="229"/>
                </a:lnTo>
                <a:lnTo>
                  <a:pt x="0" y="337"/>
                </a:lnTo>
                <a:lnTo>
                  <a:pt x="1" y="462"/>
                </a:lnTo>
                <a:lnTo>
                  <a:pt x="14" y="602"/>
                </a:lnTo>
                <a:lnTo>
                  <a:pt x="43" y="752"/>
                </a:lnTo>
                <a:lnTo>
                  <a:pt x="150" y="746"/>
                </a:lnTo>
                <a:lnTo>
                  <a:pt x="146" y="724"/>
                </a:lnTo>
                <a:lnTo>
                  <a:pt x="135" y="663"/>
                </a:lnTo>
                <a:lnTo>
                  <a:pt x="123" y="574"/>
                </a:lnTo>
                <a:lnTo>
                  <a:pt x="111" y="463"/>
                </a:lnTo>
                <a:lnTo>
                  <a:pt x="104" y="342"/>
                </a:lnTo>
                <a:lnTo>
                  <a:pt x="107" y="220"/>
                </a:lnTo>
                <a:lnTo>
                  <a:pt x="124" y="106"/>
                </a:lnTo>
                <a:lnTo>
                  <a:pt x="156" y="9"/>
                </a:lnTo>
                <a:lnTo>
                  <a:pt x="156" y="8"/>
                </a:lnTo>
                <a:lnTo>
                  <a:pt x="156" y="6"/>
                </a:lnTo>
                <a:lnTo>
                  <a:pt x="154" y="4"/>
                </a:lnTo>
                <a:lnTo>
                  <a:pt x="147" y="0"/>
                </a:lnTo>
                <a:lnTo>
                  <a:pt x="134" y="0"/>
                </a:lnTo>
                <a:lnTo>
                  <a:pt x="115" y="1"/>
                </a:lnTo>
                <a:lnTo>
                  <a:pt x="87" y="7"/>
                </a:lnTo>
                <a:lnTo>
                  <a:pt x="48" y="1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7" name="Freeform 140"/>
          <p:cNvSpPr/>
          <p:nvPr/>
        </p:nvSpPr>
        <p:spPr bwMode="auto">
          <a:xfrm>
            <a:off x="6664988" y="2443516"/>
            <a:ext cx="77391" cy="308372"/>
          </a:xfrm>
          <a:custGeom>
            <a:avLst/>
            <a:gdLst>
              <a:gd name="T0" fmla="*/ 2147483647 w 212"/>
              <a:gd name="T1" fmla="*/ 2147483647 h 839"/>
              <a:gd name="T2" fmla="*/ 2147483647 w 212"/>
              <a:gd name="T3" fmla="*/ 2147483647 h 839"/>
              <a:gd name="T4" fmla="*/ 2147483647 w 212"/>
              <a:gd name="T5" fmla="*/ 2147483647 h 839"/>
              <a:gd name="T6" fmla="*/ 2147483647 w 212"/>
              <a:gd name="T7" fmla="*/ 2147483647 h 839"/>
              <a:gd name="T8" fmla="*/ 2147483647 w 212"/>
              <a:gd name="T9" fmla="*/ 2147483647 h 839"/>
              <a:gd name="T10" fmla="*/ 2147483647 w 212"/>
              <a:gd name="T11" fmla="*/ 2147483647 h 839"/>
              <a:gd name="T12" fmla="*/ 2147483647 w 212"/>
              <a:gd name="T13" fmla="*/ 2147483647 h 839"/>
              <a:gd name="T14" fmla="*/ 2147483647 w 212"/>
              <a:gd name="T15" fmla="*/ 2147483647 h 839"/>
              <a:gd name="T16" fmla="*/ 2147483647 w 212"/>
              <a:gd name="T17" fmla="*/ 2147483647 h 839"/>
              <a:gd name="T18" fmla="*/ 2147483647 w 212"/>
              <a:gd name="T19" fmla="*/ 2147483647 h 839"/>
              <a:gd name="T20" fmla="*/ 2147483647 w 212"/>
              <a:gd name="T21" fmla="*/ 2147483647 h 839"/>
              <a:gd name="T22" fmla="*/ 2147483647 w 212"/>
              <a:gd name="T23" fmla="*/ 2147483647 h 839"/>
              <a:gd name="T24" fmla="*/ 2147483647 w 212"/>
              <a:gd name="T25" fmla="*/ 2147483647 h 839"/>
              <a:gd name="T26" fmla="*/ 2147483647 w 212"/>
              <a:gd name="T27" fmla="*/ 2147483647 h 839"/>
              <a:gd name="T28" fmla="*/ 0 w 212"/>
              <a:gd name="T29" fmla="*/ 2147483647 h 839"/>
              <a:gd name="T30" fmla="*/ 2147483647 w 212"/>
              <a:gd name="T31" fmla="*/ 2147483647 h 839"/>
              <a:gd name="T32" fmla="*/ 2147483647 w 212"/>
              <a:gd name="T33" fmla="*/ 2147483647 h 839"/>
              <a:gd name="T34" fmla="*/ 2147483647 w 212"/>
              <a:gd name="T35" fmla="*/ 0 h 839"/>
              <a:gd name="T36" fmla="*/ 2147483647 w 212"/>
              <a:gd name="T37" fmla="*/ 2147483647 h 83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12" h="839">
                <a:moveTo>
                  <a:pt x="212" y="6"/>
                </a:moveTo>
                <a:lnTo>
                  <a:pt x="206" y="11"/>
                </a:lnTo>
                <a:lnTo>
                  <a:pt x="192" y="33"/>
                </a:lnTo>
                <a:lnTo>
                  <a:pt x="174" y="77"/>
                </a:lnTo>
                <a:lnTo>
                  <a:pt x="156" y="148"/>
                </a:lnTo>
                <a:lnTo>
                  <a:pt x="141" y="254"/>
                </a:lnTo>
                <a:lnTo>
                  <a:pt x="133" y="401"/>
                </a:lnTo>
                <a:lnTo>
                  <a:pt x="137" y="593"/>
                </a:lnTo>
                <a:lnTo>
                  <a:pt x="158" y="839"/>
                </a:lnTo>
                <a:lnTo>
                  <a:pt x="38" y="839"/>
                </a:lnTo>
                <a:lnTo>
                  <a:pt x="34" y="814"/>
                </a:lnTo>
                <a:lnTo>
                  <a:pt x="24" y="746"/>
                </a:lnTo>
                <a:lnTo>
                  <a:pt x="12" y="645"/>
                </a:lnTo>
                <a:lnTo>
                  <a:pt x="3" y="521"/>
                </a:lnTo>
                <a:lnTo>
                  <a:pt x="0" y="384"/>
                </a:lnTo>
                <a:lnTo>
                  <a:pt x="6" y="244"/>
                </a:lnTo>
                <a:lnTo>
                  <a:pt x="29" y="114"/>
                </a:lnTo>
                <a:lnTo>
                  <a:pt x="68" y="0"/>
                </a:lnTo>
                <a:lnTo>
                  <a:pt x="212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8" name="Freeform 141"/>
          <p:cNvSpPr/>
          <p:nvPr/>
        </p:nvSpPr>
        <p:spPr bwMode="auto">
          <a:xfrm>
            <a:off x="6374476" y="2494713"/>
            <a:ext cx="50006" cy="241697"/>
          </a:xfrm>
          <a:custGeom>
            <a:avLst/>
            <a:gdLst>
              <a:gd name="T0" fmla="*/ 2147483647 w 137"/>
              <a:gd name="T1" fmla="*/ 2147483647 h 656"/>
              <a:gd name="T2" fmla="*/ 2147483647 w 137"/>
              <a:gd name="T3" fmla="*/ 2147483647 h 656"/>
              <a:gd name="T4" fmla="*/ 2147483647 w 137"/>
              <a:gd name="T5" fmla="*/ 2147483647 h 656"/>
              <a:gd name="T6" fmla="*/ 2147483647 w 137"/>
              <a:gd name="T7" fmla="*/ 2147483647 h 656"/>
              <a:gd name="T8" fmla="*/ 2147483647 w 137"/>
              <a:gd name="T9" fmla="*/ 2147483647 h 656"/>
              <a:gd name="T10" fmla="*/ 0 w 137"/>
              <a:gd name="T11" fmla="*/ 2147483647 h 656"/>
              <a:gd name="T12" fmla="*/ 2147483647 w 137"/>
              <a:gd name="T13" fmla="*/ 2147483647 h 656"/>
              <a:gd name="T14" fmla="*/ 2147483647 w 137"/>
              <a:gd name="T15" fmla="*/ 2147483647 h 656"/>
              <a:gd name="T16" fmla="*/ 2147483647 w 137"/>
              <a:gd name="T17" fmla="*/ 2147483647 h 656"/>
              <a:gd name="T18" fmla="*/ 2147483647 w 137"/>
              <a:gd name="T19" fmla="*/ 2147483647 h 656"/>
              <a:gd name="T20" fmla="*/ 2147483647 w 137"/>
              <a:gd name="T21" fmla="*/ 2147483647 h 656"/>
              <a:gd name="T22" fmla="*/ 2147483647 w 137"/>
              <a:gd name="T23" fmla="*/ 2147483647 h 656"/>
              <a:gd name="T24" fmla="*/ 2147483647 w 137"/>
              <a:gd name="T25" fmla="*/ 2147483647 h 656"/>
              <a:gd name="T26" fmla="*/ 2147483647 w 137"/>
              <a:gd name="T27" fmla="*/ 2147483647 h 656"/>
              <a:gd name="T28" fmla="*/ 2147483647 w 137"/>
              <a:gd name="T29" fmla="*/ 2147483647 h 656"/>
              <a:gd name="T30" fmla="*/ 2147483647 w 137"/>
              <a:gd name="T31" fmla="*/ 2147483647 h 656"/>
              <a:gd name="T32" fmla="*/ 2147483647 w 137"/>
              <a:gd name="T33" fmla="*/ 2147483647 h 656"/>
              <a:gd name="T34" fmla="*/ 2147483647 w 137"/>
              <a:gd name="T35" fmla="*/ 2147483647 h 656"/>
              <a:gd name="T36" fmla="*/ 2147483647 w 137"/>
              <a:gd name="T37" fmla="*/ 2147483647 h 656"/>
              <a:gd name="T38" fmla="*/ 2147483647 w 137"/>
              <a:gd name="T39" fmla="*/ 2147483647 h 656"/>
              <a:gd name="T40" fmla="*/ 2147483647 w 137"/>
              <a:gd name="T41" fmla="*/ 2147483647 h 656"/>
              <a:gd name="T42" fmla="*/ 2147483647 w 137"/>
              <a:gd name="T43" fmla="*/ 0 h 656"/>
              <a:gd name="T44" fmla="*/ 2147483647 w 137"/>
              <a:gd name="T45" fmla="*/ 0 h 656"/>
              <a:gd name="T46" fmla="*/ 2147483647 w 137"/>
              <a:gd name="T47" fmla="*/ 2147483647 h 656"/>
              <a:gd name="T48" fmla="*/ 2147483647 w 137"/>
              <a:gd name="T49" fmla="*/ 2147483647 h 656"/>
              <a:gd name="T50" fmla="*/ 2147483647 w 137"/>
              <a:gd name="T51" fmla="*/ 2147483647 h 65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37" h="656">
                <a:moveTo>
                  <a:pt x="43" y="12"/>
                </a:moveTo>
                <a:lnTo>
                  <a:pt x="39" y="25"/>
                </a:lnTo>
                <a:lnTo>
                  <a:pt x="30" y="62"/>
                </a:lnTo>
                <a:lnTo>
                  <a:pt x="19" y="122"/>
                </a:lnTo>
                <a:lnTo>
                  <a:pt x="7" y="199"/>
                </a:lnTo>
                <a:lnTo>
                  <a:pt x="0" y="294"/>
                </a:lnTo>
                <a:lnTo>
                  <a:pt x="1" y="403"/>
                </a:lnTo>
                <a:lnTo>
                  <a:pt x="12" y="524"/>
                </a:lnTo>
                <a:lnTo>
                  <a:pt x="38" y="656"/>
                </a:lnTo>
                <a:lnTo>
                  <a:pt x="132" y="650"/>
                </a:lnTo>
                <a:lnTo>
                  <a:pt x="127" y="631"/>
                </a:lnTo>
                <a:lnTo>
                  <a:pt x="119" y="578"/>
                </a:lnTo>
                <a:lnTo>
                  <a:pt x="107" y="499"/>
                </a:lnTo>
                <a:lnTo>
                  <a:pt x="97" y="403"/>
                </a:lnTo>
                <a:lnTo>
                  <a:pt x="92" y="297"/>
                </a:lnTo>
                <a:lnTo>
                  <a:pt x="94" y="192"/>
                </a:lnTo>
                <a:lnTo>
                  <a:pt x="108" y="91"/>
                </a:lnTo>
                <a:lnTo>
                  <a:pt x="137" y="7"/>
                </a:lnTo>
                <a:lnTo>
                  <a:pt x="137" y="6"/>
                </a:lnTo>
                <a:lnTo>
                  <a:pt x="137" y="4"/>
                </a:lnTo>
                <a:lnTo>
                  <a:pt x="135" y="2"/>
                </a:lnTo>
                <a:lnTo>
                  <a:pt x="129" y="0"/>
                </a:lnTo>
                <a:lnTo>
                  <a:pt x="119" y="0"/>
                </a:lnTo>
                <a:lnTo>
                  <a:pt x="101" y="1"/>
                </a:lnTo>
                <a:lnTo>
                  <a:pt x="77" y="5"/>
                </a:lnTo>
                <a:lnTo>
                  <a:pt x="43" y="12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9" name="Freeform 142"/>
          <p:cNvSpPr/>
          <p:nvPr/>
        </p:nvSpPr>
        <p:spPr bwMode="auto">
          <a:xfrm>
            <a:off x="6376858" y="2511382"/>
            <a:ext cx="41672" cy="204788"/>
          </a:xfrm>
          <a:custGeom>
            <a:avLst/>
            <a:gdLst>
              <a:gd name="T0" fmla="*/ 2147483647 w 116"/>
              <a:gd name="T1" fmla="*/ 2147483647 h 560"/>
              <a:gd name="T2" fmla="*/ 2147483647 w 116"/>
              <a:gd name="T3" fmla="*/ 2147483647 h 560"/>
              <a:gd name="T4" fmla="*/ 2147483647 w 116"/>
              <a:gd name="T5" fmla="*/ 2147483647 h 560"/>
              <a:gd name="T6" fmla="*/ 2147483647 w 116"/>
              <a:gd name="T7" fmla="*/ 2147483647 h 560"/>
              <a:gd name="T8" fmla="*/ 2147483647 w 116"/>
              <a:gd name="T9" fmla="*/ 2147483647 h 560"/>
              <a:gd name="T10" fmla="*/ 0 w 116"/>
              <a:gd name="T11" fmla="*/ 2147483647 h 560"/>
              <a:gd name="T12" fmla="*/ 2147483647 w 116"/>
              <a:gd name="T13" fmla="*/ 2147483647 h 560"/>
              <a:gd name="T14" fmla="*/ 2147483647 w 116"/>
              <a:gd name="T15" fmla="*/ 2147483647 h 560"/>
              <a:gd name="T16" fmla="*/ 2147483647 w 116"/>
              <a:gd name="T17" fmla="*/ 2147483647 h 560"/>
              <a:gd name="T18" fmla="*/ 2147483647 w 116"/>
              <a:gd name="T19" fmla="*/ 2147483647 h 560"/>
              <a:gd name="T20" fmla="*/ 2147483647 w 116"/>
              <a:gd name="T21" fmla="*/ 2147483647 h 560"/>
              <a:gd name="T22" fmla="*/ 2147483647 w 116"/>
              <a:gd name="T23" fmla="*/ 2147483647 h 560"/>
              <a:gd name="T24" fmla="*/ 2147483647 w 116"/>
              <a:gd name="T25" fmla="*/ 2147483647 h 560"/>
              <a:gd name="T26" fmla="*/ 2147483647 w 116"/>
              <a:gd name="T27" fmla="*/ 2147483647 h 560"/>
              <a:gd name="T28" fmla="*/ 2147483647 w 116"/>
              <a:gd name="T29" fmla="*/ 2147483647 h 560"/>
              <a:gd name="T30" fmla="*/ 2147483647 w 116"/>
              <a:gd name="T31" fmla="*/ 2147483647 h 560"/>
              <a:gd name="T32" fmla="*/ 2147483647 w 116"/>
              <a:gd name="T33" fmla="*/ 2147483647 h 560"/>
              <a:gd name="T34" fmla="*/ 2147483647 w 116"/>
              <a:gd name="T35" fmla="*/ 2147483647 h 560"/>
              <a:gd name="T36" fmla="*/ 2147483647 w 116"/>
              <a:gd name="T37" fmla="*/ 2147483647 h 560"/>
              <a:gd name="T38" fmla="*/ 2147483647 w 116"/>
              <a:gd name="T39" fmla="*/ 2147483647 h 560"/>
              <a:gd name="T40" fmla="*/ 2147483647 w 116"/>
              <a:gd name="T41" fmla="*/ 2147483647 h 560"/>
              <a:gd name="T42" fmla="*/ 2147483647 w 116"/>
              <a:gd name="T43" fmla="*/ 0 h 560"/>
              <a:gd name="T44" fmla="*/ 2147483647 w 116"/>
              <a:gd name="T45" fmla="*/ 0 h 560"/>
              <a:gd name="T46" fmla="*/ 2147483647 w 116"/>
              <a:gd name="T47" fmla="*/ 2147483647 h 560"/>
              <a:gd name="T48" fmla="*/ 2147483647 w 116"/>
              <a:gd name="T49" fmla="*/ 2147483647 h 560"/>
              <a:gd name="T50" fmla="*/ 2147483647 w 116"/>
              <a:gd name="T51" fmla="*/ 2147483647 h 56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16" h="560">
                <a:moveTo>
                  <a:pt x="36" y="11"/>
                </a:moveTo>
                <a:lnTo>
                  <a:pt x="33" y="21"/>
                </a:lnTo>
                <a:lnTo>
                  <a:pt x="24" y="53"/>
                </a:lnTo>
                <a:lnTo>
                  <a:pt x="15" y="103"/>
                </a:lnTo>
                <a:lnTo>
                  <a:pt x="5" y="169"/>
                </a:lnTo>
                <a:lnTo>
                  <a:pt x="0" y="250"/>
                </a:lnTo>
                <a:lnTo>
                  <a:pt x="1" y="344"/>
                </a:lnTo>
                <a:lnTo>
                  <a:pt x="10" y="448"/>
                </a:lnTo>
                <a:lnTo>
                  <a:pt x="32" y="560"/>
                </a:lnTo>
                <a:lnTo>
                  <a:pt x="112" y="555"/>
                </a:lnTo>
                <a:lnTo>
                  <a:pt x="108" y="538"/>
                </a:lnTo>
                <a:lnTo>
                  <a:pt x="101" y="493"/>
                </a:lnTo>
                <a:lnTo>
                  <a:pt x="91" y="426"/>
                </a:lnTo>
                <a:lnTo>
                  <a:pt x="82" y="344"/>
                </a:lnTo>
                <a:lnTo>
                  <a:pt x="77" y="255"/>
                </a:lnTo>
                <a:lnTo>
                  <a:pt x="79" y="164"/>
                </a:lnTo>
                <a:lnTo>
                  <a:pt x="91" y="79"/>
                </a:lnTo>
                <a:lnTo>
                  <a:pt x="116" y="6"/>
                </a:lnTo>
                <a:lnTo>
                  <a:pt x="116" y="5"/>
                </a:lnTo>
                <a:lnTo>
                  <a:pt x="116" y="4"/>
                </a:lnTo>
                <a:lnTo>
                  <a:pt x="114" y="2"/>
                </a:lnTo>
                <a:lnTo>
                  <a:pt x="109" y="0"/>
                </a:lnTo>
                <a:lnTo>
                  <a:pt x="100" y="0"/>
                </a:lnTo>
                <a:lnTo>
                  <a:pt x="86" y="1"/>
                </a:lnTo>
                <a:lnTo>
                  <a:pt x="65" y="4"/>
                </a:lnTo>
                <a:lnTo>
                  <a:pt x="36" y="1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0" name="Freeform 143"/>
          <p:cNvSpPr/>
          <p:nvPr/>
        </p:nvSpPr>
        <p:spPr bwMode="auto">
          <a:xfrm>
            <a:off x="6378048" y="2526860"/>
            <a:ext cx="35719" cy="170260"/>
          </a:xfrm>
          <a:custGeom>
            <a:avLst/>
            <a:gdLst>
              <a:gd name="T0" fmla="*/ 2147483647 w 97"/>
              <a:gd name="T1" fmla="*/ 2147483647 h 463"/>
              <a:gd name="T2" fmla="*/ 2147483647 w 97"/>
              <a:gd name="T3" fmla="*/ 2147483647 h 463"/>
              <a:gd name="T4" fmla="*/ 2147483647 w 97"/>
              <a:gd name="T5" fmla="*/ 2147483647 h 463"/>
              <a:gd name="T6" fmla="*/ 2147483647 w 97"/>
              <a:gd name="T7" fmla="*/ 2147483647 h 463"/>
              <a:gd name="T8" fmla="*/ 2147483647 w 97"/>
              <a:gd name="T9" fmla="*/ 2147483647 h 463"/>
              <a:gd name="T10" fmla="*/ 0 w 97"/>
              <a:gd name="T11" fmla="*/ 2147483647 h 463"/>
              <a:gd name="T12" fmla="*/ 0 w 97"/>
              <a:gd name="T13" fmla="*/ 2147483647 h 463"/>
              <a:gd name="T14" fmla="*/ 2147483647 w 97"/>
              <a:gd name="T15" fmla="*/ 2147483647 h 463"/>
              <a:gd name="T16" fmla="*/ 2147483647 w 97"/>
              <a:gd name="T17" fmla="*/ 2147483647 h 463"/>
              <a:gd name="T18" fmla="*/ 2147483647 w 97"/>
              <a:gd name="T19" fmla="*/ 2147483647 h 463"/>
              <a:gd name="T20" fmla="*/ 2147483647 w 97"/>
              <a:gd name="T21" fmla="*/ 2147483647 h 463"/>
              <a:gd name="T22" fmla="*/ 2147483647 w 97"/>
              <a:gd name="T23" fmla="*/ 2147483647 h 463"/>
              <a:gd name="T24" fmla="*/ 2147483647 w 97"/>
              <a:gd name="T25" fmla="*/ 2147483647 h 463"/>
              <a:gd name="T26" fmla="*/ 2147483647 w 97"/>
              <a:gd name="T27" fmla="*/ 2147483647 h 463"/>
              <a:gd name="T28" fmla="*/ 2147483647 w 97"/>
              <a:gd name="T29" fmla="*/ 2147483647 h 463"/>
              <a:gd name="T30" fmla="*/ 2147483647 w 97"/>
              <a:gd name="T31" fmla="*/ 2147483647 h 463"/>
              <a:gd name="T32" fmla="*/ 2147483647 w 97"/>
              <a:gd name="T33" fmla="*/ 2147483647 h 463"/>
              <a:gd name="T34" fmla="*/ 2147483647 w 97"/>
              <a:gd name="T35" fmla="*/ 2147483647 h 463"/>
              <a:gd name="T36" fmla="*/ 2147483647 w 97"/>
              <a:gd name="T37" fmla="*/ 2147483647 h 463"/>
              <a:gd name="T38" fmla="*/ 2147483647 w 97"/>
              <a:gd name="T39" fmla="*/ 2147483647 h 463"/>
              <a:gd name="T40" fmla="*/ 2147483647 w 97"/>
              <a:gd name="T41" fmla="*/ 2147483647 h 463"/>
              <a:gd name="T42" fmla="*/ 2147483647 w 97"/>
              <a:gd name="T43" fmla="*/ 0 h 463"/>
              <a:gd name="T44" fmla="*/ 2147483647 w 97"/>
              <a:gd name="T45" fmla="*/ 0 h 463"/>
              <a:gd name="T46" fmla="*/ 2147483647 w 97"/>
              <a:gd name="T47" fmla="*/ 0 h 463"/>
              <a:gd name="T48" fmla="*/ 2147483647 w 97"/>
              <a:gd name="T49" fmla="*/ 2147483647 h 463"/>
              <a:gd name="T50" fmla="*/ 2147483647 w 97"/>
              <a:gd name="T51" fmla="*/ 2147483647 h 463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97" h="463">
                <a:moveTo>
                  <a:pt x="30" y="9"/>
                </a:moveTo>
                <a:lnTo>
                  <a:pt x="27" y="17"/>
                </a:lnTo>
                <a:lnTo>
                  <a:pt x="20" y="44"/>
                </a:lnTo>
                <a:lnTo>
                  <a:pt x="12" y="85"/>
                </a:lnTo>
                <a:lnTo>
                  <a:pt x="4" y="140"/>
                </a:lnTo>
                <a:lnTo>
                  <a:pt x="0" y="207"/>
                </a:lnTo>
                <a:lnTo>
                  <a:pt x="0" y="285"/>
                </a:lnTo>
                <a:lnTo>
                  <a:pt x="9" y="370"/>
                </a:lnTo>
                <a:lnTo>
                  <a:pt x="26" y="463"/>
                </a:lnTo>
                <a:lnTo>
                  <a:pt x="93" y="460"/>
                </a:lnTo>
                <a:lnTo>
                  <a:pt x="89" y="446"/>
                </a:lnTo>
                <a:lnTo>
                  <a:pt x="83" y="408"/>
                </a:lnTo>
                <a:lnTo>
                  <a:pt x="75" y="353"/>
                </a:lnTo>
                <a:lnTo>
                  <a:pt x="68" y="285"/>
                </a:lnTo>
                <a:lnTo>
                  <a:pt x="65" y="211"/>
                </a:lnTo>
                <a:lnTo>
                  <a:pt x="67" y="136"/>
                </a:lnTo>
                <a:lnTo>
                  <a:pt x="76" y="65"/>
                </a:lnTo>
                <a:lnTo>
                  <a:pt x="97" y="5"/>
                </a:lnTo>
                <a:lnTo>
                  <a:pt x="97" y="4"/>
                </a:lnTo>
                <a:lnTo>
                  <a:pt x="97" y="3"/>
                </a:lnTo>
                <a:lnTo>
                  <a:pt x="95" y="1"/>
                </a:lnTo>
                <a:lnTo>
                  <a:pt x="91" y="0"/>
                </a:lnTo>
                <a:lnTo>
                  <a:pt x="84" y="0"/>
                </a:lnTo>
                <a:lnTo>
                  <a:pt x="71" y="0"/>
                </a:lnTo>
                <a:lnTo>
                  <a:pt x="54" y="3"/>
                </a:lnTo>
                <a:lnTo>
                  <a:pt x="30" y="9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1" name="Freeform 144"/>
          <p:cNvSpPr/>
          <p:nvPr/>
        </p:nvSpPr>
        <p:spPr bwMode="auto">
          <a:xfrm>
            <a:off x="6380429" y="2543528"/>
            <a:ext cx="27384" cy="134541"/>
          </a:xfrm>
          <a:custGeom>
            <a:avLst/>
            <a:gdLst>
              <a:gd name="T0" fmla="*/ 2147483647 w 77"/>
              <a:gd name="T1" fmla="*/ 2147483647 h 367"/>
              <a:gd name="T2" fmla="*/ 2147483647 w 77"/>
              <a:gd name="T3" fmla="*/ 2147483647 h 367"/>
              <a:gd name="T4" fmla="*/ 2147483647 w 77"/>
              <a:gd name="T5" fmla="*/ 2147483647 h 367"/>
              <a:gd name="T6" fmla="*/ 2147483647 w 77"/>
              <a:gd name="T7" fmla="*/ 2147483647 h 367"/>
              <a:gd name="T8" fmla="*/ 2147483647 w 77"/>
              <a:gd name="T9" fmla="*/ 2147483647 h 367"/>
              <a:gd name="T10" fmla="*/ 0 w 77"/>
              <a:gd name="T11" fmla="*/ 2147483647 h 367"/>
              <a:gd name="T12" fmla="*/ 0 w 77"/>
              <a:gd name="T13" fmla="*/ 2147483647 h 367"/>
              <a:gd name="T14" fmla="*/ 2147483647 w 77"/>
              <a:gd name="T15" fmla="*/ 2147483647 h 367"/>
              <a:gd name="T16" fmla="*/ 2147483647 w 77"/>
              <a:gd name="T17" fmla="*/ 2147483647 h 367"/>
              <a:gd name="T18" fmla="*/ 2147483647 w 77"/>
              <a:gd name="T19" fmla="*/ 2147483647 h 367"/>
              <a:gd name="T20" fmla="*/ 2147483647 w 77"/>
              <a:gd name="T21" fmla="*/ 2147483647 h 367"/>
              <a:gd name="T22" fmla="*/ 2147483647 w 77"/>
              <a:gd name="T23" fmla="*/ 2147483647 h 367"/>
              <a:gd name="T24" fmla="*/ 2147483647 w 77"/>
              <a:gd name="T25" fmla="*/ 2147483647 h 367"/>
              <a:gd name="T26" fmla="*/ 2147483647 w 77"/>
              <a:gd name="T27" fmla="*/ 2147483647 h 367"/>
              <a:gd name="T28" fmla="*/ 2147483647 w 77"/>
              <a:gd name="T29" fmla="*/ 2147483647 h 367"/>
              <a:gd name="T30" fmla="*/ 2147483647 w 77"/>
              <a:gd name="T31" fmla="*/ 2147483647 h 367"/>
              <a:gd name="T32" fmla="*/ 2147483647 w 77"/>
              <a:gd name="T33" fmla="*/ 2147483647 h 367"/>
              <a:gd name="T34" fmla="*/ 2147483647 w 77"/>
              <a:gd name="T35" fmla="*/ 2147483647 h 367"/>
              <a:gd name="T36" fmla="*/ 2147483647 w 77"/>
              <a:gd name="T37" fmla="*/ 2147483647 h 367"/>
              <a:gd name="T38" fmla="*/ 2147483647 w 77"/>
              <a:gd name="T39" fmla="*/ 2147483647 h 367"/>
              <a:gd name="T40" fmla="*/ 2147483647 w 77"/>
              <a:gd name="T41" fmla="*/ 2147483647 h 367"/>
              <a:gd name="T42" fmla="*/ 2147483647 w 77"/>
              <a:gd name="T43" fmla="*/ 0 h 367"/>
              <a:gd name="T44" fmla="*/ 2147483647 w 77"/>
              <a:gd name="T45" fmla="*/ 0 h 367"/>
              <a:gd name="T46" fmla="*/ 2147483647 w 77"/>
              <a:gd name="T47" fmla="*/ 2147483647 h 367"/>
              <a:gd name="T48" fmla="*/ 2147483647 w 77"/>
              <a:gd name="T49" fmla="*/ 2147483647 h 367"/>
              <a:gd name="T50" fmla="*/ 2147483647 w 77"/>
              <a:gd name="T51" fmla="*/ 2147483647 h 367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77" h="367">
                <a:moveTo>
                  <a:pt x="24" y="8"/>
                </a:moveTo>
                <a:lnTo>
                  <a:pt x="22" y="15"/>
                </a:lnTo>
                <a:lnTo>
                  <a:pt x="17" y="36"/>
                </a:lnTo>
                <a:lnTo>
                  <a:pt x="10" y="68"/>
                </a:lnTo>
                <a:lnTo>
                  <a:pt x="4" y="112"/>
                </a:lnTo>
                <a:lnTo>
                  <a:pt x="0" y="164"/>
                </a:lnTo>
                <a:lnTo>
                  <a:pt x="0" y="226"/>
                </a:lnTo>
                <a:lnTo>
                  <a:pt x="7" y="294"/>
                </a:lnTo>
                <a:lnTo>
                  <a:pt x="21" y="367"/>
                </a:lnTo>
                <a:lnTo>
                  <a:pt x="74" y="364"/>
                </a:lnTo>
                <a:lnTo>
                  <a:pt x="71" y="353"/>
                </a:lnTo>
                <a:lnTo>
                  <a:pt x="66" y="323"/>
                </a:lnTo>
                <a:lnTo>
                  <a:pt x="60" y="280"/>
                </a:lnTo>
                <a:lnTo>
                  <a:pt x="54" y="226"/>
                </a:lnTo>
                <a:lnTo>
                  <a:pt x="51" y="168"/>
                </a:lnTo>
                <a:lnTo>
                  <a:pt x="53" y="107"/>
                </a:lnTo>
                <a:lnTo>
                  <a:pt x="61" y="52"/>
                </a:lnTo>
                <a:lnTo>
                  <a:pt x="77" y="5"/>
                </a:lnTo>
                <a:lnTo>
                  <a:pt x="77" y="2"/>
                </a:lnTo>
                <a:lnTo>
                  <a:pt x="76" y="1"/>
                </a:lnTo>
                <a:lnTo>
                  <a:pt x="72" y="0"/>
                </a:lnTo>
                <a:lnTo>
                  <a:pt x="66" y="0"/>
                </a:lnTo>
                <a:lnTo>
                  <a:pt x="56" y="1"/>
                </a:lnTo>
                <a:lnTo>
                  <a:pt x="43" y="4"/>
                </a:lnTo>
                <a:lnTo>
                  <a:pt x="24" y="8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2" name="Freeform 145"/>
          <p:cNvSpPr/>
          <p:nvPr/>
        </p:nvSpPr>
        <p:spPr bwMode="auto">
          <a:xfrm>
            <a:off x="6382811" y="2560198"/>
            <a:ext cx="20240" cy="98822"/>
          </a:xfrm>
          <a:custGeom>
            <a:avLst/>
            <a:gdLst>
              <a:gd name="T0" fmla="*/ 2147483647 w 56"/>
              <a:gd name="T1" fmla="*/ 2147483647 h 271"/>
              <a:gd name="T2" fmla="*/ 2147483647 w 56"/>
              <a:gd name="T3" fmla="*/ 2147483647 h 271"/>
              <a:gd name="T4" fmla="*/ 2147483647 w 56"/>
              <a:gd name="T5" fmla="*/ 2147483647 h 271"/>
              <a:gd name="T6" fmla="*/ 2147483647 w 56"/>
              <a:gd name="T7" fmla="*/ 2147483647 h 271"/>
              <a:gd name="T8" fmla="*/ 2147483647 w 56"/>
              <a:gd name="T9" fmla="*/ 2147483647 h 271"/>
              <a:gd name="T10" fmla="*/ 0 w 56"/>
              <a:gd name="T11" fmla="*/ 2147483647 h 271"/>
              <a:gd name="T12" fmla="*/ 0 w 56"/>
              <a:gd name="T13" fmla="*/ 2147483647 h 271"/>
              <a:gd name="T14" fmla="*/ 2147483647 w 56"/>
              <a:gd name="T15" fmla="*/ 2147483647 h 271"/>
              <a:gd name="T16" fmla="*/ 2147483647 w 56"/>
              <a:gd name="T17" fmla="*/ 2147483647 h 271"/>
              <a:gd name="T18" fmla="*/ 2147483647 w 56"/>
              <a:gd name="T19" fmla="*/ 2147483647 h 271"/>
              <a:gd name="T20" fmla="*/ 2147483647 w 56"/>
              <a:gd name="T21" fmla="*/ 2147483647 h 271"/>
              <a:gd name="T22" fmla="*/ 2147483647 w 56"/>
              <a:gd name="T23" fmla="*/ 2147483647 h 271"/>
              <a:gd name="T24" fmla="*/ 2147483647 w 56"/>
              <a:gd name="T25" fmla="*/ 2147483647 h 271"/>
              <a:gd name="T26" fmla="*/ 2147483647 w 56"/>
              <a:gd name="T27" fmla="*/ 2147483647 h 271"/>
              <a:gd name="T28" fmla="*/ 2147483647 w 56"/>
              <a:gd name="T29" fmla="*/ 2147483647 h 271"/>
              <a:gd name="T30" fmla="*/ 2147483647 w 56"/>
              <a:gd name="T31" fmla="*/ 2147483647 h 271"/>
              <a:gd name="T32" fmla="*/ 2147483647 w 56"/>
              <a:gd name="T33" fmla="*/ 2147483647 h 271"/>
              <a:gd name="T34" fmla="*/ 2147483647 w 56"/>
              <a:gd name="T35" fmla="*/ 2147483647 h 271"/>
              <a:gd name="T36" fmla="*/ 2147483647 w 56"/>
              <a:gd name="T37" fmla="*/ 2147483647 h 271"/>
              <a:gd name="T38" fmla="*/ 2147483647 w 56"/>
              <a:gd name="T39" fmla="*/ 2147483647 h 271"/>
              <a:gd name="T40" fmla="*/ 2147483647 w 56"/>
              <a:gd name="T41" fmla="*/ 2147483647 h 271"/>
              <a:gd name="T42" fmla="*/ 2147483647 w 56"/>
              <a:gd name="T43" fmla="*/ 0 h 271"/>
              <a:gd name="T44" fmla="*/ 2147483647 w 56"/>
              <a:gd name="T45" fmla="*/ 0 h 271"/>
              <a:gd name="T46" fmla="*/ 2147483647 w 56"/>
              <a:gd name="T47" fmla="*/ 0 h 271"/>
              <a:gd name="T48" fmla="*/ 2147483647 w 56"/>
              <a:gd name="T49" fmla="*/ 2147483647 h 271"/>
              <a:gd name="T50" fmla="*/ 2147483647 w 56"/>
              <a:gd name="T51" fmla="*/ 2147483647 h 27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56" h="271">
                <a:moveTo>
                  <a:pt x="17" y="5"/>
                </a:moveTo>
                <a:lnTo>
                  <a:pt x="16" y="10"/>
                </a:lnTo>
                <a:lnTo>
                  <a:pt x="12" y="25"/>
                </a:lnTo>
                <a:lnTo>
                  <a:pt x="6" y="49"/>
                </a:lnTo>
                <a:lnTo>
                  <a:pt x="2" y="82"/>
                </a:lnTo>
                <a:lnTo>
                  <a:pt x="0" y="122"/>
                </a:lnTo>
                <a:lnTo>
                  <a:pt x="0" y="166"/>
                </a:lnTo>
                <a:lnTo>
                  <a:pt x="4" y="217"/>
                </a:lnTo>
                <a:lnTo>
                  <a:pt x="15" y="271"/>
                </a:lnTo>
                <a:lnTo>
                  <a:pt x="54" y="268"/>
                </a:lnTo>
                <a:lnTo>
                  <a:pt x="52" y="261"/>
                </a:lnTo>
                <a:lnTo>
                  <a:pt x="48" y="238"/>
                </a:lnTo>
                <a:lnTo>
                  <a:pt x="44" y="206"/>
                </a:lnTo>
                <a:lnTo>
                  <a:pt x="40" y="166"/>
                </a:lnTo>
                <a:lnTo>
                  <a:pt x="37" y="123"/>
                </a:lnTo>
                <a:lnTo>
                  <a:pt x="39" y="78"/>
                </a:lnTo>
                <a:lnTo>
                  <a:pt x="44" y="37"/>
                </a:lnTo>
                <a:lnTo>
                  <a:pt x="56" y="3"/>
                </a:lnTo>
                <a:lnTo>
                  <a:pt x="56" y="2"/>
                </a:lnTo>
                <a:lnTo>
                  <a:pt x="55" y="1"/>
                </a:lnTo>
                <a:lnTo>
                  <a:pt x="52" y="0"/>
                </a:lnTo>
                <a:lnTo>
                  <a:pt x="48" y="0"/>
                </a:lnTo>
                <a:lnTo>
                  <a:pt x="42" y="0"/>
                </a:lnTo>
                <a:lnTo>
                  <a:pt x="31" y="2"/>
                </a:lnTo>
                <a:lnTo>
                  <a:pt x="17" y="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3" name="Freeform 146"/>
          <p:cNvSpPr/>
          <p:nvPr/>
        </p:nvSpPr>
        <p:spPr bwMode="auto">
          <a:xfrm>
            <a:off x="6667370" y="2462566"/>
            <a:ext cx="67866" cy="269081"/>
          </a:xfrm>
          <a:custGeom>
            <a:avLst/>
            <a:gdLst>
              <a:gd name="T0" fmla="*/ 2147483647 w 186"/>
              <a:gd name="T1" fmla="*/ 2147483647 h 732"/>
              <a:gd name="T2" fmla="*/ 2147483647 w 186"/>
              <a:gd name="T3" fmla="*/ 2147483647 h 732"/>
              <a:gd name="T4" fmla="*/ 2147483647 w 186"/>
              <a:gd name="T5" fmla="*/ 2147483647 h 732"/>
              <a:gd name="T6" fmla="*/ 2147483647 w 186"/>
              <a:gd name="T7" fmla="*/ 2147483647 h 732"/>
              <a:gd name="T8" fmla="*/ 2147483647 w 186"/>
              <a:gd name="T9" fmla="*/ 2147483647 h 732"/>
              <a:gd name="T10" fmla="*/ 2147483647 w 186"/>
              <a:gd name="T11" fmla="*/ 2147483647 h 732"/>
              <a:gd name="T12" fmla="*/ 2147483647 w 186"/>
              <a:gd name="T13" fmla="*/ 2147483647 h 732"/>
              <a:gd name="T14" fmla="*/ 2147483647 w 186"/>
              <a:gd name="T15" fmla="*/ 2147483647 h 732"/>
              <a:gd name="T16" fmla="*/ 2147483647 w 186"/>
              <a:gd name="T17" fmla="*/ 2147483647 h 732"/>
              <a:gd name="T18" fmla="*/ 2147483647 w 186"/>
              <a:gd name="T19" fmla="*/ 2147483647 h 732"/>
              <a:gd name="T20" fmla="*/ 2147483647 w 186"/>
              <a:gd name="T21" fmla="*/ 2147483647 h 732"/>
              <a:gd name="T22" fmla="*/ 2147483647 w 186"/>
              <a:gd name="T23" fmla="*/ 2147483647 h 732"/>
              <a:gd name="T24" fmla="*/ 2147483647 w 186"/>
              <a:gd name="T25" fmla="*/ 2147483647 h 732"/>
              <a:gd name="T26" fmla="*/ 2147483647 w 186"/>
              <a:gd name="T27" fmla="*/ 2147483647 h 732"/>
              <a:gd name="T28" fmla="*/ 0 w 186"/>
              <a:gd name="T29" fmla="*/ 2147483647 h 732"/>
              <a:gd name="T30" fmla="*/ 2147483647 w 186"/>
              <a:gd name="T31" fmla="*/ 2147483647 h 732"/>
              <a:gd name="T32" fmla="*/ 2147483647 w 186"/>
              <a:gd name="T33" fmla="*/ 2147483647 h 732"/>
              <a:gd name="T34" fmla="*/ 2147483647 w 186"/>
              <a:gd name="T35" fmla="*/ 0 h 732"/>
              <a:gd name="T36" fmla="*/ 2147483647 w 186"/>
              <a:gd name="T37" fmla="*/ 2147483647 h 73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86" h="732">
                <a:moveTo>
                  <a:pt x="186" y="6"/>
                </a:moveTo>
                <a:lnTo>
                  <a:pt x="182" y="11"/>
                </a:lnTo>
                <a:lnTo>
                  <a:pt x="169" y="29"/>
                </a:lnTo>
                <a:lnTo>
                  <a:pt x="153" y="67"/>
                </a:lnTo>
                <a:lnTo>
                  <a:pt x="137" y="130"/>
                </a:lnTo>
                <a:lnTo>
                  <a:pt x="124" y="221"/>
                </a:lnTo>
                <a:lnTo>
                  <a:pt x="117" y="350"/>
                </a:lnTo>
                <a:lnTo>
                  <a:pt x="122" y="517"/>
                </a:lnTo>
                <a:lnTo>
                  <a:pt x="139" y="732"/>
                </a:lnTo>
                <a:lnTo>
                  <a:pt x="34" y="732"/>
                </a:lnTo>
                <a:lnTo>
                  <a:pt x="31" y="711"/>
                </a:lnTo>
                <a:lnTo>
                  <a:pt x="22" y="651"/>
                </a:lnTo>
                <a:lnTo>
                  <a:pt x="12" y="563"/>
                </a:lnTo>
                <a:lnTo>
                  <a:pt x="3" y="454"/>
                </a:lnTo>
                <a:lnTo>
                  <a:pt x="0" y="335"/>
                </a:lnTo>
                <a:lnTo>
                  <a:pt x="6" y="213"/>
                </a:lnTo>
                <a:lnTo>
                  <a:pt x="25" y="98"/>
                </a:lnTo>
                <a:lnTo>
                  <a:pt x="60" y="0"/>
                </a:lnTo>
                <a:lnTo>
                  <a:pt x="186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4" name="Freeform 147"/>
          <p:cNvSpPr/>
          <p:nvPr/>
        </p:nvSpPr>
        <p:spPr bwMode="auto">
          <a:xfrm>
            <a:off x="6669751" y="2481616"/>
            <a:ext cx="57150" cy="229791"/>
          </a:xfrm>
          <a:custGeom>
            <a:avLst/>
            <a:gdLst>
              <a:gd name="T0" fmla="*/ 2147483647 w 158"/>
              <a:gd name="T1" fmla="*/ 2147483647 h 625"/>
              <a:gd name="T2" fmla="*/ 2147483647 w 158"/>
              <a:gd name="T3" fmla="*/ 2147483647 h 625"/>
              <a:gd name="T4" fmla="*/ 2147483647 w 158"/>
              <a:gd name="T5" fmla="*/ 2147483647 h 625"/>
              <a:gd name="T6" fmla="*/ 2147483647 w 158"/>
              <a:gd name="T7" fmla="*/ 2147483647 h 625"/>
              <a:gd name="T8" fmla="*/ 2147483647 w 158"/>
              <a:gd name="T9" fmla="*/ 2147483647 h 625"/>
              <a:gd name="T10" fmla="*/ 2147483647 w 158"/>
              <a:gd name="T11" fmla="*/ 2147483647 h 625"/>
              <a:gd name="T12" fmla="*/ 2147483647 w 158"/>
              <a:gd name="T13" fmla="*/ 2147483647 h 625"/>
              <a:gd name="T14" fmla="*/ 2147483647 w 158"/>
              <a:gd name="T15" fmla="*/ 2147483647 h 625"/>
              <a:gd name="T16" fmla="*/ 2147483647 w 158"/>
              <a:gd name="T17" fmla="*/ 2147483647 h 625"/>
              <a:gd name="T18" fmla="*/ 2147483647 w 158"/>
              <a:gd name="T19" fmla="*/ 2147483647 h 625"/>
              <a:gd name="T20" fmla="*/ 2147483647 w 158"/>
              <a:gd name="T21" fmla="*/ 2147483647 h 625"/>
              <a:gd name="T22" fmla="*/ 2147483647 w 158"/>
              <a:gd name="T23" fmla="*/ 2147483647 h 625"/>
              <a:gd name="T24" fmla="*/ 2147483647 w 158"/>
              <a:gd name="T25" fmla="*/ 2147483647 h 625"/>
              <a:gd name="T26" fmla="*/ 2147483647 w 158"/>
              <a:gd name="T27" fmla="*/ 2147483647 h 625"/>
              <a:gd name="T28" fmla="*/ 0 w 158"/>
              <a:gd name="T29" fmla="*/ 2147483647 h 625"/>
              <a:gd name="T30" fmla="*/ 2147483647 w 158"/>
              <a:gd name="T31" fmla="*/ 2147483647 h 625"/>
              <a:gd name="T32" fmla="*/ 2147483647 w 158"/>
              <a:gd name="T33" fmla="*/ 2147483647 h 625"/>
              <a:gd name="T34" fmla="*/ 2147483647 w 158"/>
              <a:gd name="T35" fmla="*/ 0 h 625"/>
              <a:gd name="T36" fmla="*/ 2147483647 w 158"/>
              <a:gd name="T37" fmla="*/ 2147483647 h 62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58" h="625">
                <a:moveTo>
                  <a:pt x="158" y="4"/>
                </a:moveTo>
                <a:lnTo>
                  <a:pt x="153" y="9"/>
                </a:lnTo>
                <a:lnTo>
                  <a:pt x="144" y="25"/>
                </a:lnTo>
                <a:lnTo>
                  <a:pt x="130" y="57"/>
                </a:lnTo>
                <a:lnTo>
                  <a:pt x="116" y="110"/>
                </a:lnTo>
                <a:lnTo>
                  <a:pt x="105" y="189"/>
                </a:lnTo>
                <a:lnTo>
                  <a:pt x="100" y="298"/>
                </a:lnTo>
                <a:lnTo>
                  <a:pt x="103" y="441"/>
                </a:lnTo>
                <a:lnTo>
                  <a:pt x="118" y="625"/>
                </a:lnTo>
                <a:lnTo>
                  <a:pt x="29" y="625"/>
                </a:lnTo>
                <a:lnTo>
                  <a:pt x="25" y="607"/>
                </a:lnTo>
                <a:lnTo>
                  <a:pt x="18" y="556"/>
                </a:lnTo>
                <a:lnTo>
                  <a:pt x="9" y="480"/>
                </a:lnTo>
                <a:lnTo>
                  <a:pt x="2" y="387"/>
                </a:lnTo>
                <a:lnTo>
                  <a:pt x="0" y="286"/>
                </a:lnTo>
                <a:lnTo>
                  <a:pt x="5" y="182"/>
                </a:lnTo>
                <a:lnTo>
                  <a:pt x="21" y="84"/>
                </a:lnTo>
                <a:lnTo>
                  <a:pt x="51" y="0"/>
                </a:lnTo>
                <a:lnTo>
                  <a:pt x="158" y="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5" name="Freeform 148"/>
          <p:cNvSpPr/>
          <p:nvPr/>
        </p:nvSpPr>
        <p:spPr bwMode="auto">
          <a:xfrm>
            <a:off x="6672132" y="2500666"/>
            <a:ext cx="47625" cy="189310"/>
          </a:xfrm>
          <a:custGeom>
            <a:avLst/>
            <a:gdLst>
              <a:gd name="T0" fmla="*/ 2147483647 w 131"/>
              <a:gd name="T1" fmla="*/ 2147483647 h 517"/>
              <a:gd name="T2" fmla="*/ 2147483647 w 131"/>
              <a:gd name="T3" fmla="*/ 2147483647 h 517"/>
              <a:gd name="T4" fmla="*/ 2147483647 w 131"/>
              <a:gd name="T5" fmla="*/ 2147483647 h 517"/>
              <a:gd name="T6" fmla="*/ 2147483647 w 131"/>
              <a:gd name="T7" fmla="*/ 2147483647 h 517"/>
              <a:gd name="T8" fmla="*/ 2147483647 w 131"/>
              <a:gd name="T9" fmla="*/ 2147483647 h 517"/>
              <a:gd name="T10" fmla="*/ 2147483647 w 131"/>
              <a:gd name="T11" fmla="*/ 2147483647 h 517"/>
              <a:gd name="T12" fmla="*/ 2147483647 w 131"/>
              <a:gd name="T13" fmla="*/ 2147483647 h 517"/>
              <a:gd name="T14" fmla="*/ 2147483647 w 131"/>
              <a:gd name="T15" fmla="*/ 2147483647 h 517"/>
              <a:gd name="T16" fmla="*/ 2147483647 w 131"/>
              <a:gd name="T17" fmla="*/ 2147483647 h 517"/>
              <a:gd name="T18" fmla="*/ 2147483647 w 131"/>
              <a:gd name="T19" fmla="*/ 2147483647 h 517"/>
              <a:gd name="T20" fmla="*/ 2147483647 w 131"/>
              <a:gd name="T21" fmla="*/ 2147483647 h 517"/>
              <a:gd name="T22" fmla="*/ 2147483647 w 131"/>
              <a:gd name="T23" fmla="*/ 2147483647 h 517"/>
              <a:gd name="T24" fmla="*/ 2147483647 w 131"/>
              <a:gd name="T25" fmla="*/ 2147483647 h 517"/>
              <a:gd name="T26" fmla="*/ 2147483647 w 131"/>
              <a:gd name="T27" fmla="*/ 2147483647 h 517"/>
              <a:gd name="T28" fmla="*/ 0 w 131"/>
              <a:gd name="T29" fmla="*/ 2147483647 h 517"/>
              <a:gd name="T30" fmla="*/ 2147483647 w 131"/>
              <a:gd name="T31" fmla="*/ 2147483647 h 517"/>
              <a:gd name="T32" fmla="*/ 2147483647 w 131"/>
              <a:gd name="T33" fmla="*/ 2147483647 h 517"/>
              <a:gd name="T34" fmla="*/ 2147483647 w 131"/>
              <a:gd name="T35" fmla="*/ 0 h 517"/>
              <a:gd name="T36" fmla="*/ 2147483647 w 131"/>
              <a:gd name="T37" fmla="*/ 2147483647 h 51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1" h="517">
                <a:moveTo>
                  <a:pt x="131" y="4"/>
                </a:moveTo>
                <a:lnTo>
                  <a:pt x="128" y="7"/>
                </a:lnTo>
                <a:lnTo>
                  <a:pt x="119" y="21"/>
                </a:lnTo>
                <a:lnTo>
                  <a:pt x="109" y="47"/>
                </a:lnTo>
                <a:lnTo>
                  <a:pt x="97" y="91"/>
                </a:lnTo>
                <a:lnTo>
                  <a:pt x="88" y="156"/>
                </a:lnTo>
                <a:lnTo>
                  <a:pt x="84" y="247"/>
                </a:lnTo>
                <a:lnTo>
                  <a:pt x="86" y="366"/>
                </a:lnTo>
                <a:lnTo>
                  <a:pt x="99" y="517"/>
                </a:lnTo>
                <a:lnTo>
                  <a:pt x="25" y="517"/>
                </a:lnTo>
                <a:lnTo>
                  <a:pt x="23" y="502"/>
                </a:lnTo>
                <a:lnTo>
                  <a:pt x="16" y="460"/>
                </a:lnTo>
                <a:lnTo>
                  <a:pt x="9" y="397"/>
                </a:lnTo>
                <a:lnTo>
                  <a:pt x="2" y="320"/>
                </a:lnTo>
                <a:lnTo>
                  <a:pt x="0" y="236"/>
                </a:lnTo>
                <a:lnTo>
                  <a:pt x="4" y="151"/>
                </a:lnTo>
                <a:lnTo>
                  <a:pt x="18" y="70"/>
                </a:lnTo>
                <a:lnTo>
                  <a:pt x="43" y="0"/>
                </a:lnTo>
                <a:lnTo>
                  <a:pt x="131" y="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6" name="Freeform 149"/>
          <p:cNvSpPr/>
          <p:nvPr/>
        </p:nvSpPr>
        <p:spPr bwMode="auto">
          <a:xfrm>
            <a:off x="6674513" y="2518526"/>
            <a:ext cx="38100" cy="151209"/>
          </a:xfrm>
          <a:custGeom>
            <a:avLst/>
            <a:gdLst>
              <a:gd name="T0" fmla="*/ 2147483647 w 104"/>
              <a:gd name="T1" fmla="*/ 2147483647 h 411"/>
              <a:gd name="T2" fmla="*/ 2147483647 w 104"/>
              <a:gd name="T3" fmla="*/ 2147483647 h 411"/>
              <a:gd name="T4" fmla="*/ 2147483647 w 104"/>
              <a:gd name="T5" fmla="*/ 2147483647 h 411"/>
              <a:gd name="T6" fmla="*/ 2147483647 w 104"/>
              <a:gd name="T7" fmla="*/ 2147483647 h 411"/>
              <a:gd name="T8" fmla="*/ 2147483647 w 104"/>
              <a:gd name="T9" fmla="*/ 2147483647 h 411"/>
              <a:gd name="T10" fmla="*/ 2147483647 w 104"/>
              <a:gd name="T11" fmla="*/ 2147483647 h 411"/>
              <a:gd name="T12" fmla="*/ 2147483647 w 104"/>
              <a:gd name="T13" fmla="*/ 2147483647 h 411"/>
              <a:gd name="T14" fmla="*/ 2147483647 w 104"/>
              <a:gd name="T15" fmla="*/ 2147483647 h 411"/>
              <a:gd name="T16" fmla="*/ 2147483647 w 104"/>
              <a:gd name="T17" fmla="*/ 2147483647 h 411"/>
              <a:gd name="T18" fmla="*/ 2147483647 w 104"/>
              <a:gd name="T19" fmla="*/ 2147483647 h 411"/>
              <a:gd name="T20" fmla="*/ 2147483647 w 104"/>
              <a:gd name="T21" fmla="*/ 2147483647 h 411"/>
              <a:gd name="T22" fmla="*/ 2147483647 w 104"/>
              <a:gd name="T23" fmla="*/ 2147483647 h 411"/>
              <a:gd name="T24" fmla="*/ 2147483647 w 104"/>
              <a:gd name="T25" fmla="*/ 2147483647 h 411"/>
              <a:gd name="T26" fmla="*/ 2147483647 w 104"/>
              <a:gd name="T27" fmla="*/ 2147483647 h 411"/>
              <a:gd name="T28" fmla="*/ 0 w 104"/>
              <a:gd name="T29" fmla="*/ 2147483647 h 411"/>
              <a:gd name="T30" fmla="*/ 2147483647 w 104"/>
              <a:gd name="T31" fmla="*/ 2147483647 h 411"/>
              <a:gd name="T32" fmla="*/ 2147483647 w 104"/>
              <a:gd name="T33" fmla="*/ 2147483647 h 411"/>
              <a:gd name="T34" fmla="*/ 2147483647 w 104"/>
              <a:gd name="T35" fmla="*/ 0 h 411"/>
              <a:gd name="T36" fmla="*/ 2147483647 w 104"/>
              <a:gd name="T37" fmla="*/ 2147483647 h 41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04" h="411">
                <a:moveTo>
                  <a:pt x="104" y="4"/>
                </a:moveTo>
                <a:lnTo>
                  <a:pt x="101" y="7"/>
                </a:lnTo>
                <a:lnTo>
                  <a:pt x="94" y="17"/>
                </a:lnTo>
                <a:lnTo>
                  <a:pt x="86" y="38"/>
                </a:lnTo>
                <a:lnTo>
                  <a:pt x="76" y="73"/>
                </a:lnTo>
                <a:lnTo>
                  <a:pt x="69" y="125"/>
                </a:lnTo>
                <a:lnTo>
                  <a:pt x="65" y="196"/>
                </a:lnTo>
                <a:lnTo>
                  <a:pt x="67" y="291"/>
                </a:lnTo>
                <a:lnTo>
                  <a:pt x="77" y="411"/>
                </a:lnTo>
                <a:lnTo>
                  <a:pt x="19" y="411"/>
                </a:lnTo>
                <a:lnTo>
                  <a:pt x="17" y="399"/>
                </a:lnTo>
                <a:lnTo>
                  <a:pt x="11" y="365"/>
                </a:lnTo>
                <a:lnTo>
                  <a:pt x="6" y="316"/>
                </a:lnTo>
                <a:lnTo>
                  <a:pt x="2" y="255"/>
                </a:lnTo>
                <a:lnTo>
                  <a:pt x="0" y="188"/>
                </a:lnTo>
                <a:lnTo>
                  <a:pt x="4" y="120"/>
                </a:lnTo>
                <a:lnTo>
                  <a:pt x="15" y="55"/>
                </a:lnTo>
                <a:lnTo>
                  <a:pt x="34" y="0"/>
                </a:lnTo>
                <a:lnTo>
                  <a:pt x="104" y="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7" name="Freeform 150"/>
          <p:cNvSpPr/>
          <p:nvPr/>
        </p:nvSpPr>
        <p:spPr bwMode="auto">
          <a:xfrm>
            <a:off x="6678086" y="2537576"/>
            <a:ext cx="27384" cy="110728"/>
          </a:xfrm>
          <a:custGeom>
            <a:avLst/>
            <a:gdLst>
              <a:gd name="T0" fmla="*/ 2147483647 w 76"/>
              <a:gd name="T1" fmla="*/ 2147483647 h 302"/>
              <a:gd name="T2" fmla="*/ 2147483647 w 76"/>
              <a:gd name="T3" fmla="*/ 2147483647 h 302"/>
              <a:gd name="T4" fmla="*/ 2147483647 w 76"/>
              <a:gd name="T5" fmla="*/ 2147483647 h 302"/>
              <a:gd name="T6" fmla="*/ 2147483647 w 76"/>
              <a:gd name="T7" fmla="*/ 2147483647 h 302"/>
              <a:gd name="T8" fmla="*/ 2147483647 w 76"/>
              <a:gd name="T9" fmla="*/ 2147483647 h 302"/>
              <a:gd name="T10" fmla="*/ 2147483647 w 76"/>
              <a:gd name="T11" fmla="*/ 2147483647 h 302"/>
              <a:gd name="T12" fmla="*/ 2147483647 w 76"/>
              <a:gd name="T13" fmla="*/ 2147483647 h 302"/>
              <a:gd name="T14" fmla="*/ 2147483647 w 76"/>
              <a:gd name="T15" fmla="*/ 2147483647 h 302"/>
              <a:gd name="T16" fmla="*/ 2147483647 w 76"/>
              <a:gd name="T17" fmla="*/ 2147483647 h 302"/>
              <a:gd name="T18" fmla="*/ 2147483647 w 76"/>
              <a:gd name="T19" fmla="*/ 2147483647 h 302"/>
              <a:gd name="T20" fmla="*/ 2147483647 w 76"/>
              <a:gd name="T21" fmla="*/ 2147483647 h 302"/>
              <a:gd name="T22" fmla="*/ 2147483647 w 76"/>
              <a:gd name="T23" fmla="*/ 2147483647 h 302"/>
              <a:gd name="T24" fmla="*/ 2147483647 w 76"/>
              <a:gd name="T25" fmla="*/ 2147483647 h 302"/>
              <a:gd name="T26" fmla="*/ 2147483647 w 76"/>
              <a:gd name="T27" fmla="*/ 2147483647 h 302"/>
              <a:gd name="T28" fmla="*/ 0 w 76"/>
              <a:gd name="T29" fmla="*/ 2147483647 h 302"/>
              <a:gd name="T30" fmla="*/ 2147483647 w 76"/>
              <a:gd name="T31" fmla="*/ 2147483647 h 302"/>
              <a:gd name="T32" fmla="*/ 2147483647 w 76"/>
              <a:gd name="T33" fmla="*/ 2147483647 h 302"/>
              <a:gd name="T34" fmla="*/ 2147483647 w 76"/>
              <a:gd name="T35" fmla="*/ 0 h 302"/>
              <a:gd name="T36" fmla="*/ 2147483647 w 76"/>
              <a:gd name="T37" fmla="*/ 2147483647 h 30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76" h="302">
                <a:moveTo>
                  <a:pt x="76" y="2"/>
                </a:moveTo>
                <a:lnTo>
                  <a:pt x="74" y="4"/>
                </a:lnTo>
                <a:lnTo>
                  <a:pt x="70" y="12"/>
                </a:lnTo>
                <a:lnTo>
                  <a:pt x="62" y="28"/>
                </a:lnTo>
                <a:lnTo>
                  <a:pt x="56" y="53"/>
                </a:lnTo>
                <a:lnTo>
                  <a:pt x="51" y="92"/>
                </a:lnTo>
                <a:lnTo>
                  <a:pt x="49" y="145"/>
                </a:lnTo>
                <a:lnTo>
                  <a:pt x="50" y="214"/>
                </a:lnTo>
                <a:lnTo>
                  <a:pt x="57" y="302"/>
                </a:lnTo>
                <a:lnTo>
                  <a:pt x="14" y="302"/>
                </a:lnTo>
                <a:lnTo>
                  <a:pt x="13" y="294"/>
                </a:lnTo>
                <a:lnTo>
                  <a:pt x="9" y="269"/>
                </a:lnTo>
                <a:lnTo>
                  <a:pt x="4" y="232"/>
                </a:lnTo>
                <a:lnTo>
                  <a:pt x="1" y="188"/>
                </a:lnTo>
                <a:lnTo>
                  <a:pt x="0" y="138"/>
                </a:lnTo>
                <a:lnTo>
                  <a:pt x="2" y="89"/>
                </a:lnTo>
                <a:lnTo>
                  <a:pt x="10" y="41"/>
                </a:lnTo>
                <a:lnTo>
                  <a:pt x="25" y="0"/>
                </a:lnTo>
                <a:lnTo>
                  <a:pt x="76" y="2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8" name="Rectangle 151"/>
          <p:cNvSpPr>
            <a:spLocks noChangeArrowheads="1"/>
          </p:cNvSpPr>
          <p:nvPr/>
        </p:nvSpPr>
        <p:spPr bwMode="auto">
          <a:xfrm>
            <a:off x="6313754" y="2510191"/>
            <a:ext cx="8334" cy="3524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259" name="Freeform 152"/>
          <p:cNvSpPr/>
          <p:nvPr/>
        </p:nvSpPr>
        <p:spPr bwMode="auto">
          <a:xfrm>
            <a:off x="6437580" y="2505429"/>
            <a:ext cx="135731" cy="160735"/>
          </a:xfrm>
          <a:custGeom>
            <a:avLst/>
            <a:gdLst>
              <a:gd name="T0" fmla="*/ 2147483647 w 375"/>
              <a:gd name="T1" fmla="*/ 2147483647 h 440"/>
              <a:gd name="T2" fmla="*/ 2147483647 w 375"/>
              <a:gd name="T3" fmla="*/ 2147483647 h 440"/>
              <a:gd name="T4" fmla="*/ 2147483647 w 375"/>
              <a:gd name="T5" fmla="*/ 2147483647 h 440"/>
              <a:gd name="T6" fmla="*/ 2147483647 w 375"/>
              <a:gd name="T7" fmla="*/ 2147483647 h 440"/>
              <a:gd name="T8" fmla="*/ 2147483647 w 375"/>
              <a:gd name="T9" fmla="*/ 2147483647 h 440"/>
              <a:gd name="T10" fmla="*/ 2147483647 w 375"/>
              <a:gd name="T11" fmla="*/ 2147483647 h 440"/>
              <a:gd name="T12" fmla="*/ 0 w 375"/>
              <a:gd name="T13" fmla="*/ 2147483647 h 440"/>
              <a:gd name="T14" fmla="*/ 2147483647 w 375"/>
              <a:gd name="T15" fmla="*/ 2147483647 h 440"/>
              <a:gd name="T16" fmla="*/ 2147483647 w 375"/>
              <a:gd name="T17" fmla="*/ 2147483647 h 440"/>
              <a:gd name="T18" fmla="*/ 2147483647 w 375"/>
              <a:gd name="T19" fmla="*/ 2147483647 h 440"/>
              <a:gd name="T20" fmla="*/ 2147483647 w 375"/>
              <a:gd name="T21" fmla="*/ 2147483647 h 440"/>
              <a:gd name="T22" fmla="*/ 2147483647 w 375"/>
              <a:gd name="T23" fmla="*/ 2147483647 h 440"/>
              <a:gd name="T24" fmla="*/ 2147483647 w 375"/>
              <a:gd name="T25" fmla="*/ 2147483647 h 440"/>
              <a:gd name="T26" fmla="*/ 2147483647 w 375"/>
              <a:gd name="T27" fmla="*/ 2147483647 h 440"/>
              <a:gd name="T28" fmla="*/ 2147483647 w 375"/>
              <a:gd name="T29" fmla="*/ 2147483647 h 440"/>
              <a:gd name="T30" fmla="*/ 2147483647 w 375"/>
              <a:gd name="T31" fmla="*/ 2147483647 h 440"/>
              <a:gd name="T32" fmla="*/ 2147483647 w 375"/>
              <a:gd name="T33" fmla="*/ 2147483647 h 440"/>
              <a:gd name="T34" fmla="*/ 2147483647 w 375"/>
              <a:gd name="T35" fmla="*/ 2147483647 h 440"/>
              <a:gd name="T36" fmla="*/ 2147483647 w 375"/>
              <a:gd name="T37" fmla="*/ 2147483647 h 440"/>
              <a:gd name="T38" fmla="*/ 2147483647 w 375"/>
              <a:gd name="T39" fmla="*/ 2147483647 h 440"/>
              <a:gd name="T40" fmla="*/ 2147483647 w 375"/>
              <a:gd name="T41" fmla="*/ 2147483647 h 440"/>
              <a:gd name="T42" fmla="*/ 2147483647 w 375"/>
              <a:gd name="T43" fmla="*/ 2147483647 h 440"/>
              <a:gd name="T44" fmla="*/ 2147483647 w 375"/>
              <a:gd name="T45" fmla="*/ 2147483647 h 440"/>
              <a:gd name="T46" fmla="*/ 2147483647 w 375"/>
              <a:gd name="T47" fmla="*/ 2147483647 h 440"/>
              <a:gd name="T48" fmla="*/ 2147483647 w 375"/>
              <a:gd name="T49" fmla="*/ 2147483647 h 440"/>
              <a:gd name="T50" fmla="*/ 2147483647 w 375"/>
              <a:gd name="T51" fmla="*/ 2147483647 h 440"/>
              <a:gd name="T52" fmla="*/ 2147483647 w 375"/>
              <a:gd name="T53" fmla="*/ 2147483647 h 440"/>
              <a:gd name="T54" fmla="*/ 2147483647 w 375"/>
              <a:gd name="T55" fmla="*/ 2147483647 h 440"/>
              <a:gd name="T56" fmla="*/ 2147483647 w 375"/>
              <a:gd name="T57" fmla="*/ 2147483647 h 440"/>
              <a:gd name="T58" fmla="*/ 2147483647 w 375"/>
              <a:gd name="T59" fmla="*/ 2147483647 h 440"/>
              <a:gd name="T60" fmla="*/ 2147483647 w 375"/>
              <a:gd name="T61" fmla="*/ 2147483647 h 440"/>
              <a:gd name="T62" fmla="*/ 2147483647 w 375"/>
              <a:gd name="T63" fmla="*/ 2147483647 h 440"/>
              <a:gd name="T64" fmla="*/ 2147483647 w 375"/>
              <a:gd name="T65" fmla="*/ 2147483647 h 440"/>
              <a:gd name="T66" fmla="*/ 2147483647 w 375"/>
              <a:gd name="T67" fmla="*/ 2147483647 h 440"/>
              <a:gd name="T68" fmla="*/ 2147483647 w 375"/>
              <a:gd name="T69" fmla="*/ 2147483647 h 440"/>
              <a:gd name="T70" fmla="*/ 2147483647 w 375"/>
              <a:gd name="T71" fmla="*/ 2147483647 h 440"/>
              <a:gd name="T72" fmla="*/ 2147483647 w 375"/>
              <a:gd name="T73" fmla="*/ 2147483647 h 440"/>
              <a:gd name="T74" fmla="*/ 2147483647 w 375"/>
              <a:gd name="T75" fmla="*/ 2147483647 h 440"/>
              <a:gd name="T76" fmla="*/ 2147483647 w 375"/>
              <a:gd name="T77" fmla="*/ 2147483647 h 440"/>
              <a:gd name="T78" fmla="*/ 2147483647 w 375"/>
              <a:gd name="T79" fmla="*/ 2147483647 h 440"/>
              <a:gd name="T80" fmla="*/ 2147483647 w 375"/>
              <a:gd name="T81" fmla="*/ 2147483647 h 440"/>
              <a:gd name="T82" fmla="*/ 2147483647 w 375"/>
              <a:gd name="T83" fmla="*/ 0 h 440"/>
              <a:gd name="T84" fmla="*/ 2147483647 w 375"/>
              <a:gd name="T85" fmla="*/ 2147483647 h 440"/>
              <a:gd name="T86" fmla="*/ 2147483647 w 375"/>
              <a:gd name="T87" fmla="*/ 2147483647 h 440"/>
              <a:gd name="T88" fmla="*/ 2147483647 w 375"/>
              <a:gd name="T89" fmla="*/ 2147483647 h 440"/>
              <a:gd name="T90" fmla="*/ 2147483647 w 375"/>
              <a:gd name="T91" fmla="*/ 2147483647 h 440"/>
              <a:gd name="T92" fmla="*/ 2147483647 w 375"/>
              <a:gd name="T93" fmla="*/ 2147483647 h 440"/>
              <a:gd name="T94" fmla="*/ 2147483647 w 375"/>
              <a:gd name="T95" fmla="*/ 2147483647 h 440"/>
              <a:gd name="T96" fmla="*/ 2147483647 w 375"/>
              <a:gd name="T97" fmla="*/ 2147483647 h 4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375" h="440">
                <a:moveTo>
                  <a:pt x="35" y="41"/>
                </a:moveTo>
                <a:lnTo>
                  <a:pt x="32" y="49"/>
                </a:lnTo>
                <a:lnTo>
                  <a:pt x="25" y="74"/>
                </a:lnTo>
                <a:lnTo>
                  <a:pt x="17" y="112"/>
                </a:lnTo>
                <a:lnTo>
                  <a:pt x="8" y="163"/>
                </a:lnTo>
                <a:lnTo>
                  <a:pt x="2" y="223"/>
                </a:lnTo>
                <a:lnTo>
                  <a:pt x="0" y="290"/>
                </a:lnTo>
                <a:lnTo>
                  <a:pt x="7" y="363"/>
                </a:lnTo>
                <a:lnTo>
                  <a:pt x="23" y="440"/>
                </a:lnTo>
                <a:lnTo>
                  <a:pt x="23" y="437"/>
                </a:lnTo>
                <a:lnTo>
                  <a:pt x="23" y="427"/>
                </a:lnTo>
                <a:lnTo>
                  <a:pt x="23" y="411"/>
                </a:lnTo>
                <a:lnTo>
                  <a:pt x="23" y="391"/>
                </a:lnTo>
                <a:lnTo>
                  <a:pt x="25" y="367"/>
                </a:lnTo>
                <a:lnTo>
                  <a:pt x="28" y="341"/>
                </a:lnTo>
                <a:lnTo>
                  <a:pt x="33" y="312"/>
                </a:lnTo>
                <a:lnTo>
                  <a:pt x="39" y="281"/>
                </a:lnTo>
                <a:lnTo>
                  <a:pt x="49" y="251"/>
                </a:lnTo>
                <a:lnTo>
                  <a:pt x="61" y="222"/>
                </a:lnTo>
                <a:lnTo>
                  <a:pt x="75" y="194"/>
                </a:lnTo>
                <a:lnTo>
                  <a:pt x="93" y="168"/>
                </a:lnTo>
                <a:lnTo>
                  <a:pt x="116" y="145"/>
                </a:lnTo>
                <a:lnTo>
                  <a:pt x="141" y="127"/>
                </a:lnTo>
                <a:lnTo>
                  <a:pt x="173" y="114"/>
                </a:lnTo>
                <a:lnTo>
                  <a:pt x="208" y="106"/>
                </a:lnTo>
                <a:lnTo>
                  <a:pt x="210" y="104"/>
                </a:lnTo>
                <a:lnTo>
                  <a:pt x="217" y="100"/>
                </a:lnTo>
                <a:lnTo>
                  <a:pt x="227" y="92"/>
                </a:lnTo>
                <a:lnTo>
                  <a:pt x="245" y="82"/>
                </a:lnTo>
                <a:lnTo>
                  <a:pt x="267" y="69"/>
                </a:lnTo>
                <a:lnTo>
                  <a:pt x="296" y="54"/>
                </a:lnTo>
                <a:lnTo>
                  <a:pt x="332" y="36"/>
                </a:lnTo>
                <a:lnTo>
                  <a:pt x="375" y="17"/>
                </a:lnTo>
                <a:lnTo>
                  <a:pt x="373" y="16"/>
                </a:lnTo>
                <a:lnTo>
                  <a:pt x="366" y="15"/>
                </a:lnTo>
                <a:lnTo>
                  <a:pt x="357" y="13"/>
                </a:lnTo>
                <a:lnTo>
                  <a:pt x="343" y="10"/>
                </a:lnTo>
                <a:lnTo>
                  <a:pt x="326" y="7"/>
                </a:lnTo>
                <a:lnTo>
                  <a:pt x="307" y="5"/>
                </a:lnTo>
                <a:lnTo>
                  <a:pt x="285" y="3"/>
                </a:lnTo>
                <a:lnTo>
                  <a:pt x="261" y="1"/>
                </a:lnTo>
                <a:lnTo>
                  <a:pt x="235" y="0"/>
                </a:lnTo>
                <a:lnTo>
                  <a:pt x="208" y="1"/>
                </a:lnTo>
                <a:lnTo>
                  <a:pt x="180" y="2"/>
                </a:lnTo>
                <a:lnTo>
                  <a:pt x="151" y="5"/>
                </a:lnTo>
                <a:lnTo>
                  <a:pt x="122" y="10"/>
                </a:lnTo>
                <a:lnTo>
                  <a:pt x="92" y="18"/>
                </a:lnTo>
                <a:lnTo>
                  <a:pt x="63" y="28"/>
                </a:lnTo>
                <a:lnTo>
                  <a:pt x="35" y="4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0" name="Freeform 153"/>
          <p:cNvSpPr/>
          <p:nvPr/>
        </p:nvSpPr>
        <p:spPr bwMode="auto">
          <a:xfrm>
            <a:off x="6248270" y="2625682"/>
            <a:ext cx="111919" cy="29765"/>
          </a:xfrm>
          <a:custGeom>
            <a:avLst/>
            <a:gdLst>
              <a:gd name="T0" fmla="*/ 0 w 305"/>
              <a:gd name="T1" fmla="*/ 2147483647 h 83"/>
              <a:gd name="T2" fmla="*/ 0 w 305"/>
              <a:gd name="T3" fmla="*/ 2147483647 h 83"/>
              <a:gd name="T4" fmla="*/ 2147483647 w 305"/>
              <a:gd name="T5" fmla="*/ 2147483647 h 83"/>
              <a:gd name="T6" fmla="*/ 2147483647 w 305"/>
              <a:gd name="T7" fmla="*/ 2147483647 h 83"/>
              <a:gd name="T8" fmla="*/ 2147483647 w 305"/>
              <a:gd name="T9" fmla="*/ 2147483647 h 83"/>
              <a:gd name="T10" fmla="*/ 2147483647 w 305"/>
              <a:gd name="T11" fmla="*/ 2147483647 h 83"/>
              <a:gd name="T12" fmla="*/ 2147483647 w 305"/>
              <a:gd name="T13" fmla="*/ 2147483647 h 83"/>
              <a:gd name="T14" fmla="*/ 2147483647 w 305"/>
              <a:gd name="T15" fmla="*/ 2147483647 h 83"/>
              <a:gd name="T16" fmla="*/ 2147483647 w 305"/>
              <a:gd name="T17" fmla="*/ 2147483647 h 83"/>
              <a:gd name="T18" fmla="*/ 2147483647 w 305"/>
              <a:gd name="T19" fmla="*/ 2147483647 h 83"/>
              <a:gd name="T20" fmla="*/ 2147483647 w 305"/>
              <a:gd name="T21" fmla="*/ 2147483647 h 83"/>
              <a:gd name="T22" fmla="*/ 2147483647 w 305"/>
              <a:gd name="T23" fmla="*/ 0 h 83"/>
              <a:gd name="T24" fmla="*/ 2147483647 w 305"/>
              <a:gd name="T25" fmla="*/ 0 h 83"/>
              <a:gd name="T26" fmla="*/ 2147483647 w 305"/>
              <a:gd name="T27" fmla="*/ 2147483647 h 83"/>
              <a:gd name="T28" fmla="*/ 2147483647 w 305"/>
              <a:gd name="T29" fmla="*/ 2147483647 h 83"/>
              <a:gd name="T30" fmla="*/ 2147483647 w 305"/>
              <a:gd name="T31" fmla="*/ 2147483647 h 83"/>
              <a:gd name="T32" fmla="*/ 2147483647 w 305"/>
              <a:gd name="T33" fmla="*/ 2147483647 h 83"/>
              <a:gd name="T34" fmla="*/ 2147483647 w 305"/>
              <a:gd name="T35" fmla="*/ 2147483647 h 83"/>
              <a:gd name="T36" fmla="*/ 2147483647 w 305"/>
              <a:gd name="T37" fmla="*/ 2147483647 h 83"/>
              <a:gd name="T38" fmla="*/ 2147483647 w 305"/>
              <a:gd name="T39" fmla="*/ 2147483647 h 83"/>
              <a:gd name="T40" fmla="*/ 2147483647 w 305"/>
              <a:gd name="T41" fmla="*/ 2147483647 h 83"/>
              <a:gd name="T42" fmla="*/ 2147483647 w 305"/>
              <a:gd name="T43" fmla="*/ 2147483647 h 83"/>
              <a:gd name="T44" fmla="*/ 2147483647 w 305"/>
              <a:gd name="T45" fmla="*/ 2147483647 h 83"/>
              <a:gd name="T46" fmla="*/ 2147483647 w 305"/>
              <a:gd name="T47" fmla="*/ 2147483647 h 83"/>
              <a:gd name="T48" fmla="*/ 2147483647 w 305"/>
              <a:gd name="T49" fmla="*/ 2147483647 h 83"/>
              <a:gd name="T50" fmla="*/ 2147483647 w 305"/>
              <a:gd name="T51" fmla="*/ 2147483647 h 83"/>
              <a:gd name="T52" fmla="*/ 2147483647 w 305"/>
              <a:gd name="T53" fmla="*/ 2147483647 h 83"/>
              <a:gd name="T54" fmla="*/ 2147483647 w 305"/>
              <a:gd name="T55" fmla="*/ 2147483647 h 83"/>
              <a:gd name="T56" fmla="*/ 2147483647 w 305"/>
              <a:gd name="T57" fmla="*/ 2147483647 h 83"/>
              <a:gd name="T58" fmla="*/ 2147483647 w 305"/>
              <a:gd name="T59" fmla="*/ 2147483647 h 83"/>
              <a:gd name="T60" fmla="*/ 2147483647 w 305"/>
              <a:gd name="T61" fmla="*/ 2147483647 h 83"/>
              <a:gd name="T62" fmla="*/ 2147483647 w 305"/>
              <a:gd name="T63" fmla="*/ 2147483647 h 83"/>
              <a:gd name="T64" fmla="*/ 2147483647 w 305"/>
              <a:gd name="T65" fmla="*/ 2147483647 h 83"/>
              <a:gd name="T66" fmla="*/ 0 w 305"/>
              <a:gd name="T67" fmla="*/ 2147483647 h 83"/>
              <a:gd name="T68" fmla="*/ 0 w 305"/>
              <a:gd name="T69" fmla="*/ 2147483647 h 8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305" h="83">
                <a:moveTo>
                  <a:pt x="0" y="53"/>
                </a:moveTo>
                <a:lnTo>
                  <a:pt x="0" y="52"/>
                </a:lnTo>
                <a:lnTo>
                  <a:pt x="2" y="48"/>
                </a:lnTo>
                <a:lnTo>
                  <a:pt x="5" y="44"/>
                </a:lnTo>
                <a:lnTo>
                  <a:pt x="11" y="37"/>
                </a:lnTo>
                <a:lnTo>
                  <a:pt x="18" y="31"/>
                </a:lnTo>
                <a:lnTo>
                  <a:pt x="27" y="25"/>
                </a:lnTo>
                <a:lnTo>
                  <a:pt x="39" y="18"/>
                </a:lnTo>
                <a:lnTo>
                  <a:pt x="54" y="12"/>
                </a:lnTo>
                <a:lnTo>
                  <a:pt x="72" y="6"/>
                </a:lnTo>
                <a:lnTo>
                  <a:pt x="92" y="2"/>
                </a:lnTo>
                <a:lnTo>
                  <a:pt x="118" y="0"/>
                </a:lnTo>
                <a:lnTo>
                  <a:pt x="146" y="0"/>
                </a:lnTo>
                <a:lnTo>
                  <a:pt x="180" y="2"/>
                </a:lnTo>
                <a:lnTo>
                  <a:pt x="216" y="7"/>
                </a:lnTo>
                <a:lnTo>
                  <a:pt x="258" y="16"/>
                </a:lnTo>
                <a:lnTo>
                  <a:pt x="305" y="29"/>
                </a:lnTo>
                <a:lnTo>
                  <a:pt x="299" y="47"/>
                </a:lnTo>
                <a:lnTo>
                  <a:pt x="297" y="46"/>
                </a:lnTo>
                <a:lnTo>
                  <a:pt x="289" y="44"/>
                </a:lnTo>
                <a:lnTo>
                  <a:pt x="277" y="41"/>
                </a:lnTo>
                <a:lnTo>
                  <a:pt x="262" y="36"/>
                </a:lnTo>
                <a:lnTo>
                  <a:pt x="244" y="32"/>
                </a:lnTo>
                <a:lnTo>
                  <a:pt x="224" y="28"/>
                </a:lnTo>
                <a:lnTo>
                  <a:pt x="201" y="25"/>
                </a:lnTo>
                <a:lnTo>
                  <a:pt x="176" y="22"/>
                </a:lnTo>
                <a:lnTo>
                  <a:pt x="152" y="21"/>
                </a:lnTo>
                <a:lnTo>
                  <a:pt x="126" y="21"/>
                </a:lnTo>
                <a:lnTo>
                  <a:pt x="101" y="23"/>
                </a:lnTo>
                <a:lnTo>
                  <a:pt x="77" y="29"/>
                </a:lnTo>
                <a:lnTo>
                  <a:pt x="55" y="37"/>
                </a:lnTo>
                <a:lnTo>
                  <a:pt x="33" y="48"/>
                </a:lnTo>
                <a:lnTo>
                  <a:pt x="15" y="63"/>
                </a:lnTo>
                <a:lnTo>
                  <a:pt x="0" y="83"/>
                </a:lnTo>
                <a:lnTo>
                  <a:pt x="0" y="53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1" name="Freeform 154"/>
          <p:cNvSpPr/>
          <p:nvPr/>
        </p:nvSpPr>
        <p:spPr bwMode="auto">
          <a:xfrm>
            <a:off x="6248270" y="2551864"/>
            <a:ext cx="111919" cy="30956"/>
          </a:xfrm>
          <a:custGeom>
            <a:avLst/>
            <a:gdLst>
              <a:gd name="T0" fmla="*/ 0 w 305"/>
              <a:gd name="T1" fmla="*/ 2147483647 h 83"/>
              <a:gd name="T2" fmla="*/ 0 w 305"/>
              <a:gd name="T3" fmla="*/ 2147483647 h 83"/>
              <a:gd name="T4" fmla="*/ 2147483647 w 305"/>
              <a:gd name="T5" fmla="*/ 2147483647 h 83"/>
              <a:gd name="T6" fmla="*/ 2147483647 w 305"/>
              <a:gd name="T7" fmla="*/ 2147483647 h 83"/>
              <a:gd name="T8" fmla="*/ 2147483647 w 305"/>
              <a:gd name="T9" fmla="*/ 2147483647 h 83"/>
              <a:gd name="T10" fmla="*/ 2147483647 w 305"/>
              <a:gd name="T11" fmla="*/ 2147483647 h 83"/>
              <a:gd name="T12" fmla="*/ 2147483647 w 305"/>
              <a:gd name="T13" fmla="*/ 2147483647 h 83"/>
              <a:gd name="T14" fmla="*/ 2147483647 w 305"/>
              <a:gd name="T15" fmla="*/ 2147483647 h 83"/>
              <a:gd name="T16" fmla="*/ 2147483647 w 305"/>
              <a:gd name="T17" fmla="*/ 2147483647 h 83"/>
              <a:gd name="T18" fmla="*/ 2147483647 w 305"/>
              <a:gd name="T19" fmla="*/ 2147483647 h 83"/>
              <a:gd name="T20" fmla="*/ 2147483647 w 305"/>
              <a:gd name="T21" fmla="*/ 2147483647 h 83"/>
              <a:gd name="T22" fmla="*/ 2147483647 w 305"/>
              <a:gd name="T23" fmla="*/ 0 h 83"/>
              <a:gd name="T24" fmla="*/ 2147483647 w 305"/>
              <a:gd name="T25" fmla="*/ 0 h 83"/>
              <a:gd name="T26" fmla="*/ 2147483647 w 305"/>
              <a:gd name="T27" fmla="*/ 2147483647 h 83"/>
              <a:gd name="T28" fmla="*/ 2147483647 w 305"/>
              <a:gd name="T29" fmla="*/ 2147483647 h 83"/>
              <a:gd name="T30" fmla="*/ 2147483647 w 305"/>
              <a:gd name="T31" fmla="*/ 2147483647 h 83"/>
              <a:gd name="T32" fmla="*/ 2147483647 w 305"/>
              <a:gd name="T33" fmla="*/ 2147483647 h 83"/>
              <a:gd name="T34" fmla="*/ 2147483647 w 305"/>
              <a:gd name="T35" fmla="*/ 2147483647 h 83"/>
              <a:gd name="T36" fmla="*/ 2147483647 w 305"/>
              <a:gd name="T37" fmla="*/ 2147483647 h 83"/>
              <a:gd name="T38" fmla="*/ 2147483647 w 305"/>
              <a:gd name="T39" fmla="*/ 2147483647 h 83"/>
              <a:gd name="T40" fmla="*/ 2147483647 w 305"/>
              <a:gd name="T41" fmla="*/ 2147483647 h 83"/>
              <a:gd name="T42" fmla="*/ 2147483647 w 305"/>
              <a:gd name="T43" fmla="*/ 2147483647 h 83"/>
              <a:gd name="T44" fmla="*/ 2147483647 w 305"/>
              <a:gd name="T45" fmla="*/ 2147483647 h 83"/>
              <a:gd name="T46" fmla="*/ 2147483647 w 305"/>
              <a:gd name="T47" fmla="*/ 2147483647 h 83"/>
              <a:gd name="T48" fmla="*/ 2147483647 w 305"/>
              <a:gd name="T49" fmla="*/ 2147483647 h 83"/>
              <a:gd name="T50" fmla="*/ 2147483647 w 305"/>
              <a:gd name="T51" fmla="*/ 2147483647 h 83"/>
              <a:gd name="T52" fmla="*/ 2147483647 w 305"/>
              <a:gd name="T53" fmla="*/ 2147483647 h 83"/>
              <a:gd name="T54" fmla="*/ 2147483647 w 305"/>
              <a:gd name="T55" fmla="*/ 2147483647 h 83"/>
              <a:gd name="T56" fmla="*/ 2147483647 w 305"/>
              <a:gd name="T57" fmla="*/ 2147483647 h 83"/>
              <a:gd name="T58" fmla="*/ 2147483647 w 305"/>
              <a:gd name="T59" fmla="*/ 2147483647 h 83"/>
              <a:gd name="T60" fmla="*/ 2147483647 w 305"/>
              <a:gd name="T61" fmla="*/ 2147483647 h 83"/>
              <a:gd name="T62" fmla="*/ 2147483647 w 305"/>
              <a:gd name="T63" fmla="*/ 2147483647 h 83"/>
              <a:gd name="T64" fmla="*/ 2147483647 w 305"/>
              <a:gd name="T65" fmla="*/ 2147483647 h 83"/>
              <a:gd name="T66" fmla="*/ 0 w 305"/>
              <a:gd name="T67" fmla="*/ 2147483647 h 83"/>
              <a:gd name="T68" fmla="*/ 0 w 305"/>
              <a:gd name="T69" fmla="*/ 2147483647 h 8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305" h="83">
                <a:moveTo>
                  <a:pt x="0" y="53"/>
                </a:moveTo>
                <a:lnTo>
                  <a:pt x="0" y="52"/>
                </a:lnTo>
                <a:lnTo>
                  <a:pt x="2" y="49"/>
                </a:lnTo>
                <a:lnTo>
                  <a:pt x="5" y="44"/>
                </a:lnTo>
                <a:lnTo>
                  <a:pt x="11" y="38"/>
                </a:lnTo>
                <a:lnTo>
                  <a:pt x="18" y="31"/>
                </a:lnTo>
                <a:lnTo>
                  <a:pt x="27" y="25"/>
                </a:lnTo>
                <a:lnTo>
                  <a:pt x="39" y="17"/>
                </a:lnTo>
                <a:lnTo>
                  <a:pt x="54" y="12"/>
                </a:lnTo>
                <a:lnTo>
                  <a:pt x="72" y="7"/>
                </a:lnTo>
                <a:lnTo>
                  <a:pt x="92" y="2"/>
                </a:lnTo>
                <a:lnTo>
                  <a:pt x="118" y="0"/>
                </a:lnTo>
                <a:lnTo>
                  <a:pt x="146" y="0"/>
                </a:lnTo>
                <a:lnTo>
                  <a:pt x="180" y="2"/>
                </a:lnTo>
                <a:lnTo>
                  <a:pt x="216" y="8"/>
                </a:lnTo>
                <a:lnTo>
                  <a:pt x="258" y="16"/>
                </a:lnTo>
                <a:lnTo>
                  <a:pt x="305" y="29"/>
                </a:lnTo>
                <a:lnTo>
                  <a:pt x="299" y="47"/>
                </a:lnTo>
                <a:lnTo>
                  <a:pt x="297" y="45"/>
                </a:lnTo>
                <a:lnTo>
                  <a:pt x="289" y="43"/>
                </a:lnTo>
                <a:lnTo>
                  <a:pt x="277" y="40"/>
                </a:lnTo>
                <a:lnTo>
                  <a:pt x="262" y="36"/>
                </a:lnTo>
                <a:lnTo>
                  <a:pt x="244" y="33"/>
                </a:lnTo>
                <a:lnTo>
                  <a:pt x="224" y="28"/>
                </a:lnTo>
                <a:lnTo>
                  <a:pt x="201" y="25"/>
                </a:lnTo>
                <a:lnTo>
                  <a:pt x="176" y="22"/>
                </a:lnTo>
                <a:lnTo>
                  <a:pt x="152" y="21"/>
                </a:lnTo>
                <a:lnTo>
                  <a:pt x="126" y="22"/>
                </a:lnTo>
                <a:lnTo>
                  <a:pt x="101" y="24"/>
                </a:lnTo>
                <a:lnTo>
                  <a:pt x="77" y="29"/>
                </a:lnTo>
                <a:lnTo>
                  <a:pt x="55" y="38"/>
                </a:lnTo>
                <a:lnTo>
                  <a:pt x="33" y="49"/>
                </a:lnTo>
                <a:lnTo>
                  <a:pt x="15" y="64"/>
                </a:lnTo>
                <a:lnTo>
                  <a:pt x="0" y="83"/>
                </a:lnTo>
                <a:lnTo>
                  <a:pt x="0" y="53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2" name="Freeform 155"/>
          <p:cNvSpPr/>
          <p:nvPr/>
        </p:nvSpPr>
        <p:spPr bwMode="auto">
          <a:xfrm>
            <a:off x="6353045" y="2517335"/>
            <a:ext cx="180975" cy="336947"/>
          </a:xfrm>
          <a:custGeom>
            <a:avLst/>
            <a:gdLst>
              <a:gd name="T0" fmla="*/ 0 w 496"/>
              <a:gd name="T1" fmla="*/ 0 h 917"/>
              <a:gd name="T2" fmla="*/ 0 w 496"/>
              <a:gd name="T3" fmla="*/ 2147483647 h 917"/>
              <a:gd name="T4" fmla="*/ 2147483647 w 496"/>
              <a:gd name="T5" fmla="*/ 2147483647 h 917"/>
              <a:gd name="T6" fmla="*/ 2147483647 w 496"/>
              <a:gd name="T7" fmla="*/ 2147483647 h 917"/>
              <a:gd name="T8" fmla="*/ 2147483647 w 496"/>
              <a:gd name="T9" fmla="*/ 2147483647 h 917"/>
              <a:gd name="T10" fmla="*/ 2147483647 w 496"/>
              <a:gd name="T11" fmla="*/ 2147483647 h 917"/>
              <a:gd name="T12" fmla="*/ 2147483647 w 496"/>
              <a:gd name="T13" fmla="*/ 2147483647 h 917"/>
              <a:gd name="T14" fmla="*/ 2147483647 w 496"/>
              <a:gd name="T15" fmla="*/ 2147483647 h 917"/>
              <a:gd name="T16" fmla="*/ 2147483647 w 496"/>
              <a:gd name="T17" fmla="*/ 2147483647 h 917"/>
              <a:gd name="T18" fmla="*/ 2147483647 w 496"/>
              <a:gd name="T19" fmla="*/ 2147483647 h 917"/>
              <a:gd name="T20" fmla="*/ 2147483647 w 496"/>
              <a:gd name="T21" fmla="*/ 2147483647 h 917"/>
              <a:gd name="T22" fmla="*/ 2147483647 w 496"/>
              <a:gd name="T23" fmla="*/ 2147483647 h 917"/>
              <a:gd name="T24" fmla="*/ 2147483647 w 496"/>
              <a:gd name="T25" fmla="*/ 2147483647 h 917"/>
              <a:gd name="T26" fmla="*/ 2147483647 w 496"/>
              <a:gd name="T27" fmla="*/ 2147483647 h 917"/>
              <a:gd name="T28" fmla="*/ 2147483647 w 496"/>
              <a:gd name="T29" fmla="*/ 2147483647 h 917"/>
              <a:gd name="T30" fmla="*/ 2147483647 w 496"/>
              <a:gd name="T31" fmla="*/ 2147483647 h 917"/>
              <a:gd name="T32" fmla="*/ 2147483647 w 496"/>
              <a:gd name="T33" fmla="*/ 2147483647 h 917"/>
              <a:gd name="T34" fmla="*/ 0 w 496"/>
              <a:gd name="T35" fmla="*/ 0 h 91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496" h="917">
                <a:moveTo>
                  <a:pt x="0" y="0"/>
                </a:moveTo>
                <a:lnTo>
                  <a:pt x="0" y="886"/>
                </a:lnTo>
                <a:lnTo>
                  <a:pt x="150" y="917"/>
                </a:lnTo>
                <a:lnTo>
                  <a:pt x="143" y="797"/>
                </a:lnTo>
                <a:lnTo>
                  <a:pt x="496" y="851"/>
                </a:lnTo>
                <a:lnTo>
                  <a:pt x="490" y="803"/>
                </a:lnTo>
                <a:lnTo>
                  <a:pt x="245" y="773"/>
                </a:lnTo>
                <a:lnTo>
                  <a:pt x="239" y="670"/>
                </a:lnTo>
                <a:lnTo>
                  <a:pt x="72" y="670"/>
                </a:lnTo>
                <a:lnTo>
                  <a:pt x="68" y="657"/>
                </a:lnTo>
                <a:lnTo>
                  <a:pt x="56" y="620"/>
                </a:lnTo>
                <a:lnTo>
                  <a:pt x="41" y="559"/>
                </a:lnTo>
                <a:lnTo>
                  <a:pt x="26" y="480"/>
                </a:lnTo>
                <a:lnTo>
                  <a:pt x="15" y="385"/>
                </a:lnTo>
                <a:lnTo>
                  <a:pt x="11" y="276"/>
                </a:lnTo>
                <a:lnTo>
                  <a:pt x="20" y="158"/>
                </a:lnTo>
                <a:lnTo>
                  <a:pt x="42" y="3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3" name="Freeform 156"/>
          <p:cNvSpPr/>
          <p:nvPr/>
        </p:nvSpPr>
        <p:spPr bwMode="auto">
          <a:xfrm>
            <a:off x="6442342" y="2439944"/>
            <a:ext cx="232172" cy="46434"/>
          </a:xfrm>
          <a:custGeom>
            <a:avLst/>
            <a:gdLst>
              <a:gd name="T0" fmla="*/ 0 w 638"/>
              <a:gd name="T1" fmla="*/ 2147483647 h 125"/>
              <a:gd name="T2" fmla="*/ 2147483647 w 638"/>
              <a:gd name="T3" fmla="*/ 2147483647 h 125"/>
              <a:gd name="T4" fmla="*/ 2147483647 w 638"/>
              <a:gd name="T5" fmla="*/ 2147483647 h 125"/>
              <a:gd name="T6" fmla="*/ 2147483647 w 638"/>
              <a:gd name="T7" fmla="*/ 2147483647 h 125"/>
              <a:gd name="T8" fmla="*/ 2147483647 w 638"/>
              <a:gd name="T9" fmla="*/ 2147483647 h 125"/>
              <a:gd name="T10" fmla="*/ 2147483647 w 638"/>
              <a:gd name="T11" fmla="*/ 2147483647 h 125"/>
              <a:gd name="T12" fmla="*/ 2147483647 w 638"/>
              <a:gd name="T13" fmla="*/ 2147483647 h 125"/>
              <a:gd name="T14" fmla="*/ 2147483647 w 638"/>
              <a:gd name="T15" fmla="*/ 2147483647 h 125"/>
              <a:gd name="T16" fmla="*/ 2147483647 w 638"/>
              <a:gd name="T17" fmla="*/ 2147483647 h 125"/>
              <a:gd name="T18" fmla="*/ 2147483647 w 638"/>
              <a:gd name="T19" fmla="*/ 2147483647 h 125"/>
              <a:gd name="T20" fmla="*/ 2147483647 w 638"/>
              <a:gd name="T21" fmla="*/ 2147483647 h 125"/>
              <a:gd name="T22" fmla="*/ 2147483647 w 638"/>
              <a:gd name="T23" fmla="*/ 2147483647 h 125"/>
              <a:gd name="T24" fmla="*/ 2147483647 w 638"/>
              <a:gd name="T25" fmla="*/ 2147483647 h 125"/>
              <a:gd name="T26" fmla="*/ 2147483647 w 638"/>
              <a:gd name="T27" fmla="*/ 2147483647 h 125"/>
              <a:gd name="T28" fmla="*/ 2147483647 w 638"/>
              <a:gd name="T29" fmla="*/ 2147483647 h 125"/>
              <a:gd name="T30" fmla="*/ 2147483647 w 638"/>
              <a:gd name="T31" fmla="*/ 2147483647 h 125"/>
              <a:gd name="T32" fmla="*/ 2147483647 w 638"/>
              <a:gd name="T33" fmla="*/ 2147483647 h 125"/>
              <a:gd name="T34" fmla="*/ 2147483647 w 638"/>
              <a:gd name="T35" fmla="*/ 0 h 125"/>
              <a:gd name="T36" fmla="*/ 2147483647 w 638"/>
              <a:gd name="T37" fmla="*/ 0 h 125"/>
              <a:gd name="T38" fmla="*/ 2147483647 w 638"/>
              <a:gd name="T39" fmla="*/ 0 h 125"/>
              <a:gd name="T40" fmla="*/ 2147483647 w 638"/>
              <a:gd name="T41" fmla="*/ 0 h 125"/>
              <a:gd name="T42" fmla="*/ 2147483647 w 638"/>
              <a:gd name="T43" fmla="*/ 2147483647 h 125"/>
              <a:gd name="T44" fmla="*/ 2147483647 w 638"/>
              <a:gd name="T45" fmla="*/ 2147483647 h 125"/>
              <a:gd name="T46" fmla="*/ 2147483647 w 638"/>
              <a:gd name="T47" fmla="*/ 2147483647 h 125"/>
              <a:gd name="T48" fmla="*/ 2147483647 w 638"/>
              <a:gd name="T49" fmla="*/ 2147483647 h 125"/>
              <a:gd name="T50" fmla="*/ 2147483647 w 638"/>
              <a:gd name="T51" fmla="*/ 2147483647 h 125"/>
              <a:gd name="T52" fmla="*/ 2147483647 w 638"/>
              <a:gd name="T53" fmla="*/ 2147483647 h 125"/>
              <a:gd name="T54" fmla="*/ 2147483647 w 638"/>
              <a:gd name="T55" fmla="*/ 2147483647 h 125"/>
              <a:gd name="T56" fmla="*/ 2147483647 w 638"/>
              <a:gd name="T57" fmla="*/ 2147483647 h 125"/>
              <a:gd name="T58" fmla="*/ 2147483647 w 638"/>
              <a:gd name="T59" fmla="*/ 2147483647 h 125"/>
              <a:gd name="T60" fmla="*/ 2147483647 w 638"/>
              <a:gd name="T61" fmla="*/ 2147483647 h 125"/>
              <a:gd name="T62" fmla="*/ 2147483647 w 638"/>
              <a:gd name="T63" fmla="*/ 2147483647 h 125"/>
              <a:gd name="T64" fmla="*/ 2147483647 w 638"/>
              <a:gd name="T65" fmla="*/ 2147483647 h 125"/>
              <a:gd name="T66" fmla="*/ 0 w 638"/>
              <a:gd name="T67" fmla="*/ 2147483647 h 125"/>
              <a:gd name="T68" fmla="*/ 0 w 638"/>
              <a:gd name="T69" fmla="*/ 2147483647 h 125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638" h="125">
                <a:moveTo>
                  <a:pt x="0" y="125"/>
                </a:moveTo>
                <a:lnTo>
                  <a:pt x="4" y="124"/>
                </a:lnTo>
                <a:lnTo>
                  <a:pt x="14" y="119"/>
                </a:lnTo>
                <a:lnTo>
                  <a:pt x="31" y="114"/>
                </a:lnTo>
                <a:lnTo>
                  <a:pt x="53" y="106"/>
                </a:lnTo>
                <a:lnTo>
                  <a:pt x="81" y="98"/>
                </a:lnTo>
                <a:lnTo>
                  <a:pt x="113" y="89"/>
                </a:lnTo>
                <a:lnTo>
                  <a:pt x="151" y="81"/>
                </a:lnTo>
                <a:lnTo>
                  <a:pt x="192" y="73"/>
                </a:lnTo>
                <a:lnTo>
                  <a:pt x="237" y="65"/>
                </a:lnTo>
                <a:lnTo>
                  <a:pt x="286" y="60"/>
                </a:lnTo>
                <a:lnTo>
                  <a:pt x="337" y="56"/>
                </a:lnTo>
                <a:lnTo>
                  <a:pt x="390" y="55"/>
                </a:lnTo>
                <a:lnTo>
                  <a:pt x="446" y="56"/>
                </a:lnTo>
                <a:lnTo>
                  <a:pt x="503" y="61"/>
                </a:lnTo>
                <a:lnTo>
                  <a:pt x="561" y="70"/>
                </a:lnTo>
                <a:lnTo>
                  <a:pt x="620" y="83"/>
                </a:lnTo>
                <a:lnTo>
                  <a:pt x="638" y="0"/>
                </a:lnTo>
                <a:lnTo>
                  <a:pt x="634" y="0"/>
                </a:lnTo>
                <a:lnTo>
                  <a:pt x="620" y="0"/>
                </a:lnTo>
                <a:lnTo>
                  <a:pt x="599" y="0"/>
                </a:lnTo>
                <a:lnTo>
                  <a:pt x="571" y="1"/>
                </a:lnTo>
                <a:lnTo>
                  <a:pt x="536" y="2"/>
                </a:lnTo>
                <a:lnTo>
                  <a:pt x="496" y="3"/>
                </a:lnTo>
                <a:lnTo>
                  <a:pt x="452" y="6"/>
                </a:lnTo>
                <a:lnTo>
                  <a:pt x="405" y="8"/>
                </a:lnTo>
                <a:lnTo>
                  <a:pt x="354" y="13"/>
                </a:lnTo>
                <a:lnTo>
                  <a:pt x="302" y="17"/>
                </a:lnTo>
                <a:lnTo>
                  <a:pt x="249" y="22"/>
                </a:lnTo>
                <a:lnTo>
                  <a:pt x="196" y="30"/>
                </a:lnTo>
                <a:lnTo>
                  <a:pt x="144" y="37"/>
                </a:lnTo>
                <a:lnTo>
                  <a:pt x="93" y="47"/>
                </a:lnTo>
                <a:lnTo>
                  <a:pt x="45" y="58"/>
                </a:lnTo>
                <a:lnTo>
                  <a:pt x="0" y="71"/>
                </a:lnTo>
                <a:lnTo>
                  <a:pt x="0" y="12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4" name="Freeform 157"/>
          <p:cNvSpPr/>
          <p:nvPr/>
        </p:nvSpPr>
        <p:spPr bwMode="auto">
          <a:xfrm>
            <a:off x="6305420" y="2861426"/>
            <a:ext cx="391716" cy="130969"/>
          </a:xfrm>
          <a:custGeom>
            <a:avLst/>
            <a:gdLst>
              <a:gd name="T0" fmla="*/ 2147483647 w 1075"/>
              <a:gd name="T1" fmla="*/ 2147483647 h 356"/>
              <a:gd name="T2" fmla="*/ 2147483647 w 1075"/>
              <a:gd name="T3" fmla="*/ 2147483647 h 356"/>
              <a:gd name="T4" fmla="*/ 2147483647 w 1075"/>
              <a:gd name="T5" fmla="*/ 2147483647 h 356"/>
              <a:gd name="T6" fmla="*/ 2147483647 w 1075"/>
              <a:gd name="T7" fmla="*/ 2147483647 h 356"/>
              <a:gd name="T8" fmla="*/ 2147483647 w 1075"/>
              <a:gd name="T9" fmla="*/ 2147483647 h 356"/>
              <a:gd name="T10" fmla="*/ 2147483647 w 1075"/>
              <a:gd name="T11" fmla="*/ 2147483647 h 356"/>
              <a:gd name="T12" fmla="*/ 2147483647 w 1075"/>
              <a:gd name="T13" fmla="*/ 2147483647 h 356"/>
              <a:gd name="T14" fmla="*/ 2147483647 w 1075"/>
              <a:gd name="T15" fmla="*/ 2147483647 h 356"/>
              <a:gd name="T16" fmla="*/ 2147483647 w 1075"/>
              <a:gd name="T17" fmla="*/ 2147483647 h 356"/>
              <a:gd name="T18" fmla="*/ 2147483647 w 1075"/>
              <a:gd name="T19" fmla="*/ 2147483647 h 356"/>
              <a:gd name="T20" fmla="*/ 2147483647 w 1075"/>
              <a:gd name="T21" fmla="*/ 2147483647 h 356"/>
              <a:gd name="T22" fmla="*/ 2147483647 w 1075"/>
              <a:gd name="T23" fmla="*/ 2147483647 h 356"/>
              <a:gd name="T24" fmla="*/ 2147483647 w 1075"/>
              <a:gd name="T25" fmla="*/ 2147483647 h 356"/>
              <a:gd name="T26" fmla="*/ 2147483647 w 1075"/>
              <a:gd name="T27" fmla="*/ 2147483647 h 356"/>
              <a:gd name="T28" fmla="*/ 2147483647 w 1075"/>
              <a:gd name="T29" fmla="*/ 2147483647 h 356"/>
              <a:gd name="T30" fmla="*/ 2147483647 w 1075"/>
              <a:gd name="T31" fmla="*/ 2147483647 h 356"/>
              <a:gd name="T32" fmla="*/ 2147483647 w 1075"/>
              <a:gd name="T33" fmla="*/ 2147483647 h 356"/>
              <a:gd name="T34" fmla="*/ 0 w 1075"/>
              <a:gd name="T35" fmla="*/ 2147483647 h 356"/>
              <a:gd name="T36" fmla="*/ 2147483647 w 1075"/>
              <a:gd name="T37" fmla="*/ 0 h 356"/>
              <a:gd name="T38" fmla="*/ 2147483647 w 1075"/>
              <a:gd name="T39" fmla="*/ 2147483647 h 356"/>
              <a:gd name="T40" fmla="*/ 2147483647 w 1075"/>
              <a:gd name="T41" fmla="*/ 2147483647 h 356"/>
              <a:gd name="T42" fmla="*/ 2147483647 w 1075"/>
              <a:gd name="T43" fmla="*/ 2147483647 h 356"/>
              <a:gd name="T44" fmla="*/ 2147483647 w 1075"/>
              <a:gd name="T45" fmla="*/ 2147483647 h 356"/>
              <a:gd name="T46" fmla="*/ 2147483647 w 1075"/>
              <a:gd name="T47" fmla="*/ 2147483647 h 356"/>
              <a:gd name="T48" fmla="*/ 2147483647 w 1075"/>
              <a:gd name="T49" fmla="*/ 2147483647 h 356"/>
              <a:gd name="T50" fmla="*/ 2147483647 w 1075"/>
              <a:gd name="T51" fmla="*/ 2147483647 h 356"/>
              <a:gd name="T52" fmla="*/ 2147483647 w 1075"/>
              <a:gd name="T53" fmla="*/ 2147483647 h 356"/>
              <a:gd name="T54" fmla="*/ 2147483647 w 1075"/>
              <a:gd name="T55" fmla="*/ 2147483647 h 356"/>
              <a:gd name="T56" fmla="*/ 2147483647 w 1075"/>
              <a:gd name="T57" fmla="*/ 2147483647 h 356"/>
              <a:gd name="T58" fmla="*/ 2147483647 w 1075"/>
              <a:gd name="T59" fmla="*/ 2147483647 h 356"/>
              <a:gd name="T60" fmla="*/ 2147483647 w 1075"/>
              <a:gd name="T61" fmla="*/ 2147483647 h 356"/>
              <a:gd name="T62" fmla="*/ 2147483647 w 1075"/>
              <a:gd name="T63" fmla="*/ 2147483647 h 356"/>
              <a:gd name="T64" fmla="*/ 2147483647 w 1075"/>
              <a:gd name="T65" fmla="*/ 2147483647 h 356"/>
              <a:gd name="T66" fmla="*/ 2147483647 w 1075"/>
              <a:gd name="T67" fmla="*/ 2147483647 h 356"/>
              <a:gd name="T68" fmla="*/ 2147483647 w 1075"/>
              <a:gd name="T69" fmla="*/ 2147483647 h 356"/>
              <a:gd name="T70" fmla="*/ 2147483647 w 1075"/>
              <a:gd name="T71" fmla="*/ 2147483647 h 356"/>
              <a:gd name="T72" fmla="*/ 2147483647 w 1075"/>
              <a:gd name="T73" fmla="*/ 2147483647 h 356"/>
              <a:gd name="T74" fmla="*/ 2147483647 w 1075"/>
              <a:gd name="T75" fmla="*/ 2147483647 h 356"/>
              <a:gd name="T76" fmla="*/ 2147483647 w 1075"/>
              <a:gd name="T77" fmla="*/ 2147483647 h 35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1075" h="356">
                <a:moveTo>
                  <a:pt x="454" y="344"/>
                </a:moveTo>
                <a:lnTo>
                  <a:pt x="456" y="343"/>
                </a:lnTo>
                <a:lnTo>
                  <a:pt x="463" y="341"/>
                </a:lnTo>
                <a:lnTo>
                  <a:pt x="472" y="337"/>
                </a:lnTo>
                <a:lnTo>
                  <a:pt x="485" y="332"/>
                </a:lnTo>
                <a:lnTo>
                  <a:pt x="501" y="325"/>
                </a:lnTo>
                <a:lnTo>
                  <a:pt x="518" y="317"/>
                </a:lnTo>
                <a:lnTo>
                  <a:pt x="538" y="308"/>
                </a:lnTo>
                <a:lnTo>
                  <a:pt x="558" y="298"/>
                </a:lnTo>
                <a:lnTo>
                  <a:pt x="580" y="287"/>
                </a:lnTo>
                <a:lnTo>
                  <a:pt x="600" y="274"/>
                </a:lnTo>
                <a:lnTo>
                  <a:pt x="621" y="262"/>
                </a:lnTo>
                <a:lnTo>
                  <a:pt x="640" y="248"/>
                </a:lnTo>
                <a:lnTo>
                  <a:pt x="658" y="234"/>
                </a:lnTo>
                <a:lnTo>
                  <a:pt x="674" y="219"/>
                </a:lnTo>
                <a:lnTo>
                  <a:pt x="688" y="204"/>
                </a:lnTo>
                <a:lnTo>
                  <a:pt x="699" y="189"/>
                </a:lnTo>
                <a:lnTo>
                  <a:pt x="0" y="18"/>
                </a:lnTo>
                <a:lnTo>
                  <a:pt x="54" y="0"/>
                </a:lnTo>
                <a:lnTo>
                  <a:pt x="1075" y="251"/>
                </a:lnTo>
                <a:lnTo>
                  <a:pt x="1033" y="274"/>
                </a:lnTo>
                <a:lnTo>
                  <a:pt x="738" y="199"/>
                </a:lnTo>
                <a:lnTo>
                  <a:pt x="737" y="200"/>
                </a:lnTo>
                <a:lnTo>
                  <a:pt x="735" y="203"/>
                </a:lnTo>
                <a:lnTo>
                  <a:pt x="730" y="207"/>
                </a:lnTo>
                <a:lnTo>
                  <a:pt x="724" y="214"/>
                </a:lnTo>
                <a:lnTo>
                  <a:pt x="716" y="222"/>
                </a:lnTo>
                <a:lnTo>
                  <a:pt x="706" y="231"/>
                </a:lnTo>
                <a:lnTo>
                  <a:pt x="694" y="242"/>
                </a:lnTo>
                <a:lnTo>
                  <a:pt x="679" y="253"/>
                </a:lnTo>
                <a:lnTo>
                  <a:pt x="662" y="265"/>
                </a:lnTo>
                <a:lnTo>
                  <a:pt x="643" y="278"/>
                </a:lnTo>
                <a:lnTo>
                  <a:pt x="621" y="291"/>
                </a:lnTo>
                <a:lnTo>
                  <a:pt x="597" y="303"/>
                </a:lnTo>
                <a:lnTo>
                  <a:pt x="570" y="317"/>
                </a:lnTo>
                <a:lnTo>
                  <a:pt x="540" y="330"/>
                </a:lnTo>
                <a:lnTo>
                  <a:pt x="508" y="343"/>
                </a:lnTo>
                <a:lnTo>
                  <a:pt x="472" y="356"/>
                </a:lnTo>
                <a:lnTo>
                  <a:pt x="454" y="3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5" name="Freeform 158"/>
          <p:cNvSpPr/>
          <p:nvPr/>
        </p:nvSpPr>
        <p:spPr bwMode="auto">
          <a:xfrm>
            <a:off x="6225648" y="2895954"/>
            <a:ext cx="397669" cy="116681"/>
          </a:xfrm>
          <a:custGeom>
            <a:avLst/>
            <a:gdLst>
              <a:gd name="T0" fmla="*/ 0 w 1095"/>
              <a:gd name="T1" fmla="*/ 0 h 319"/>
              <a:gd name="T2" fmla="*/ 2147483647 w 1095"/>
              <a:gd name="T3" fmla="*/ 2147483647 h 319"/>
              <a:gd name="T4" fmla="*/ 2147483647 w 1095"/>
              <a:gd name="T5" fmla="*/ 2147483647 h 319"/>
              <a:gd name="T6" fmla="*/ 2147483647 w 1095"/>
              <a:gd name="T7" fmla="*/ 0 h 319"/>
              <a:gd name="T8" fmla="*/ 0 w 1095"/>
              <a:gd name="T9" fmla="*/ 0 h 3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5" h="319">
                <a:moveTo>
                  <a:pt x="0" y="0"/>
                </a:moveTo>
                <a:lnTo>
                  <a:pt x="1071" y="319"/>
                </a:lnTo>
                <a:lnTo>
                  <a:pt x="1095" y="319"/>
                </a:lnTo>
                <a:lnTo>
                  <a:pt x="3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6" name="Freeform 159"/>
          <p:cNvSpPr/>
          <p:nvPr/>
        </p:nvSpPr>
        <p:spPr bwMode="auto">
          <a:xfrm>
            <a:off x="6292323" y="2880476"/>
            <a:ext cx="394097" cy="103584"/>
          </a:xfrm>
          <a:custGeom>
            <a:avLst/>
            <a:gdLst>
              <a:gd name="T0" fmla="*/ 0 w 1082"/>
              <a:gd name="T1" fmla="*/ 2147483647 h 285"/>
              <a:gd name="T2" fmla="*/ 2147483647 w 1082"/>
              <a:gd name="T3" fmla="*/ 2147483647 h 285"/>
              <a:gd name="T4" fmla="*/ 2147483647 w 1082"/>
              <a:gd name="T5" fmla="*/ 2147483647 h 285"/>
              <a:gd name="T6" fmla="*/ 2147483647 w 1082"/>
              <a:gd name="T7" fmla="*/ 0 h 285"/>
              <a:gd name="T8" fmla="*/ 0 w 1082"/>
              <a:gd name="T9" fmla="*/ 2147483647 h 2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2" h="285">
                <a:moveTo>
                  <a:pt x="0" y="1"/>
                </a:moveTo>
                <a:lnTo>
                  <a:pt x="1058" y="285"/>
                </a:lnTo>
                <a:lnTo>
                  <a:pt x="1082" y="284"/>
                </a:lnTo>
                <a:lnTo>
                  <a:pt x="33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7" name="Freeform 160"/>
          <p:cNvSpPr/>
          <p:nvPr/>
        </p:nvSpPr>
        <p:spPr bwMode="auto">
          <a:xfrm>
            <a:off x="6260176" y="2885239"/>
            <a:ext cx="395288" cy="115490"/>
          </a:xfrm>
          <a:custGeom>
            <a:avLst/>
            <a:gdLst>
              <a:gd name="T0" fmla="*/ 0 w 1087"/>
              <a:gd name="T1" fmla="*/ 0 h 315"/>
              <a:gd name="T2" fmla="*/ 2147483647 w 1087"/>
              <a:gd name="T3" fmla="*/ 2147483647 h 315"/>
              <a:gd name="T4" fmla="*/ 2147483647 w 1087"/>
              <a:gd name="T5" fmla="*/ 2147483647 h 315"/>
              <a:gd name="T6" fmla="*/ 2147483647 w 1087"/>
              <a:gd name="T7" fmla="*/ 0 h 315"/>
              <a:gd name="T8" fmla="*/ 0 w 1087"/>
              <a:gd name="T9" fmla="*/ 0 h 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7" h="315">
                <a:moveTo>
                  <a:pt x="0" y="0"/>
                </a:moveTo>
                <a:lnTo>
                  <a:pt x="1066" y="315"/>
                </a:lnTo>
                <a:lnTo>
                  <a:pt x="1087" y="308"/>
                </a:lnTo>
                <a:lnTo>
                  <a:pt x="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68" name="Group 161"/>
          <p:cNvGrpSpPr/>
          <p:nvPr/>
        </p:nvGrpSpPr>
        <p:grpSpPr bwMode="auto">
          <a:xfrm>
            <a:off x="6343520" y="2224441"/>
            <a:ext cx="486966" cy="678656"/>
            <a:chOff x="12762" y="10336"/>
            <a:chExt cx="1027" cy="1700"/>
          </a:xfrm>
        </p:grpSpPr>
        <p:sp>
          <p:nvSpPr>
            <p:cNvPr id="269" name="Rectangle 16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70" name="Rectangle 16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71" name="Line 16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2" name="Line 16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3" name="Line 16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4" name="Line 16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75" name="Group 208"/>
          <p:cNvGrpSpPr/>
          <p:nvPr/>
        </p:nvGrpSpPr>
        <p:grpSpPr bwMode="auto">
          <a:xfrm>
            <a:off x="5979188" y="3780588"/>
            <a:ext cx="485775" cy="679847"/>
            <a:chOff x="12762" y="10336"/>
            <a:chExt cx="1027" cy="1700"/>
          </a:xfrm>
        </p:grpSpPr>
        <p:sp>
          <p:nvSpPr>
            <p:cNvPr id="276" name="Rectangle 20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77" name="Rectangle 21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78" name="Line 21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Line 21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0" name="Line 21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1" name="Line 21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282" name="Line 215"/>
          <p:cNvSpPr>
            <a:spLocks noChangeShapeType="1"/>
          </p:cNvSpPr>
          <p:nvPr/>
        </p:nvSpPr>
        <p:spPr bwMode="auto">
          <a:xfrm flipH="1">
            <a:off x="3801536" y="2095854"/>
            <a:ext cx="221456" cy="78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3" name="Text Box 216"/>
          <p:cNvSpPr txBox="1">
            <a:spLocks noChangeArrowheads="1"/>
          </p:cNvSpPr>
          <p:nvPr/>
        </p:nvSpPr>
        <p:spPr bwMode="auto">
          <a:xfrm>
            <a:off x="5973236" y="1870826"/>
            <a:ext cx="463153" cy="27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zh-CN" sz="15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500" baseline="-25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endParaRPr lang="en-US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284" name="Line 217"/>
          <p:cNvSpPr>
            <a:spLocks noChangeShapeType="1"/>
          </p:cNvSpPr>
          <p:nvPr/>
        </p:nvSpPr>
        <p:spPr bwMode="auto">
          <a:xfrm>
            <a:off x="6351855" y="2131573"/>
            <a:ext cx="150019" cy="16430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5" name="Line 218"/>
          <p:cNvSpPr>
            <a:spLocks noChangeShapeType="1"/>
          </p:cNvSpPr>
          <p:nvPr/>
        </p:nvSpPr>
        <p:spPr bwMode="auto">
          <a:xfrm flipH="1">
            <a:off x="5082648" y="2929291"/>
            <a:ext cx="185738" cy="17859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86" name="Group 219"/>
          <p:cNvGrpSpPr/>
          <p:nvPr/>
        </p:nvGrpSpPr>
        <p:grpSpPr bwMode="auto">
          <a:xfrm>
            <a:off x="4395657" y="3036448"/>
            <a:ext cx="804863" cy="316706"/>
            <a:chOff x="9542" y="11900"/>
            <a:chExt cx="1624" cy="640"/>
          </a:xfrm>
        </p:grpSpPr>
        <p:sp>
          <p:nvSpPr>
            <p:cNvPr id="287" name="Oval 220"/>
            <p:cNvSpPr>
              <a:spLocks noChangeArrowheads="1"/>
            </p:cNvSpPr>
            <p:nvPr/>
          </p:nvSpPr>
          <p:spPr bwMode="auto">
            <a:xfrm>
              <a:off x="9557" y="12185"/>
              <a:ext cx="1608" cy="355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88" name="Line 221"/>
            <p:cNvSpPr>
              <a:spLocks noChangeShapeType="1"/>
            </p:cNvSpPr>
            <p:nvPr/>
          </p:nvSpPr>
          <p:spPr bwMode="auto">
            <a:xfrm>
              <a:off x="9557" y="12156"/>
              <a:ext cx="1" cy="2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9" name="Line 222"/>
            <p:cNvSpPr>
              <a:spLocks noChangeShapeType="1"/>
            </p:cNvSpPr>
            <p:nvPr/>
          </p:nvSpPr>
          <p:spPr bwMode="auto">
            <a:xfrm>
              <a:off x="11165" y="12156"/>
              <a:ext cx="1" cy="219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90" name="Rectangle 223"/>
            <p:cNvSpPr>
              <a:spLocks noChangeArrowheads="1"/>
            </p:cNvSpPr>
            <p:nvPr/>
          </p:nvSpPr>
          <p:spPr bwMode="auto">
            <a:xfrm>
              <a:off x="9557" y="12156"/>
              <a:ext cx="381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91" name="Rectangle 224"/>
            <p:cNvSpPr>
              <a:spLocks noChangeArrowheads="1"/>
            </p:cNvSpPr>
            <p:nvPr/>
          </p:nvSpPr>
          <p:spPr bwMode="auto">
            <a:xfrm>
              <a:off x="10679" y="12141"/>
              <a:ext cx="48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92" name="Oval 225"/>
            <p:cNvSpPr>
              <a:spLocks noChangeArrowheads="1"/>
            </p:cNvSpPr>
            <p:nvPr/>
          </p:nvSpPr>
          <p:spPr bwMode="auto">
            <a:xfrm>
              <a:off x="9542" y="11900"/>
              <a:ext cx="1608" cy="414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293" name="Group 226"/>
            <p:cNvGrpSpPr/>
            <p:nvPr/>
          </p:nvGrpSpPr>
          <p:grpSpPr bwMode="auto">
            <a:xfrm>
              <a:off x="9930" y="11991"/>
              <a:ext cx="796" cy="242"/>
              <a:chOff x="2848" y="848"/>
              <a:chExt cx="140" cy="98"/>
            </a:xfrm>
          </p:grpSpPr>
          <p:sp>
            <p:nvSpPr>
              <p:cNvPr id="306" name="Line 22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07" name="Line 22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08" name="Line 22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94" name="Group 230"/>
            <p:cNvGrpSpPr/>
            <p:nvPr/>
          </p:nvGrpSpPr>
          <p:grpSpPr bwMode="auto">
            <a:xfrm flipV="1">
              <a:off x="9930" y="11987"/>
              <a:ext cx="796" cy="242"/>
              <a:chOff x="2848" y="848"/>
              <a:chExt cx="140" cy="98"/>
            </a:xfrm>
          </p:grpSpPr>
          <p:sp>
            <p:nvSpPr>
              <p:cNvPr id="303" name="Line 23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04" name="Line 23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05" name="Line 23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95" name="Group 234"/>
            <p:cNvGrpSpPr/>
            <p:nvPr/>
          </p:nvGrpSpPr>
          <p:grpSpPr bwMode="auto">
            <a:xfrm>
              <a:off x="10534" y="12050"/>
              <a:ext cx="476" cy="374"/>
              <a:chOff x="11283" y="10423"/>
              <a:chExt cx="475" cy="374"/>
            </a:xfrm>
          </p:grpSpPr>
          <p:sp>
            <p:nvSpPr>
              <p:cNvPr id="296" name="Rectangle 235"/>
              <p:cNvSpPr>
                <a:spLocks noChangeArrowheads="1"/>
              </p:cNvSpPr>
              <p:nvPr/>
            </p:nvSpPr>
            <p:spPr bwMode="auto">
              <a:xfrm>
                <a:off x="11283" y="10423"/>
                <a:ext cx="475" cy="3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297" name="Line 236"/>
              <p:cNvSpPr>
                <a:spLocks noChangeShapeType="1"/>
              </p:cNvSpPr>
              <p:nvPr/>
            </p:nvSpPr>
            <p:spPr bwMode="auto">
              <a:xfrm>
                <a:off x="1168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8" name="Line 237"/>
              <p:cNvSpPr>
                <a:spLocks noChangeShapeType="1"/>
              </p:cNvSpPr>
              <p:nvPr/>
            </p:nvSpPr>
            <p:spPr bwMode="auto">
              <a:xfrm>
                <a:off x="11621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9" name="Line 238"/>
              <p:cNvSpPr>
                <a:spLocks noChangeShapeType="1"/>
              </p:cNvSpPr>
              <p:nvPr/>
            </p:nvSpPr>
            <p:spPr bwMode="auto">
              <a:xfrm>
                <a:off x="1155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0" name="Line 239"/>
              <p:cNvSpPr>
                <a:spLocks noChangeShapeType="1"/>
              </p:cNvSpPr>
              <p:nvPr/>
            </p:nvSpPr>
            <p:spPr bwMode="auto">
              <a:xfrm>
                <a:off x="11491" y="10495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1" name="Line 240"/>
              <p:cNvSpPr>
                <a:spLocks noChangeShapeType="1"/>
              </p:cNvSpPr>
              <p:nvPr/>
            </p:nvSpPr>
            <p:spPr bwMode="auto">
              <a:xfrm>
                <a:off x="11426" y="10495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2" name="Line 241"/>
              <p:cNvSpPr>
                <a:spLocks noChangeShapeType="1"/>
              </p:cNvSpPr>
              <p:nvPr/>
            </p:nvSpPr>
            <p:spPr bwMode="auto">
              <a:xfrm>
                <a:off x="11360" y="10495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sp>
        <p:nvSpPr>
          <p:cNvPr id="309" name="Line 242"/>
          <p:cNvSpPr>
            <a:spLocks noChangeShapeType="1"/>
          </p:cNvSpPr>
          <p:nvPr/>
        </p:nvSpPr>
        <p:spPr bwMode="auto">
          <a:xfrm>
            <a:off x="5244573" y="2410178"/>
            <a:ext cx="207169" cy="1191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10" name="Group 243"/>
          <p:cNvGrpSpPr/>
          <p:nvPr/>
        </p:nvGrpSpPr>
        <p:grpSpPr bwMode="auto">
          <a:xfrm>
            <a:off x="3708667" y="2167291"/>
            <a:ext cx="67865" cy="203597"/>
            <a:chOff x="10104" y="10005"/>
            <a:chExt cx="137" cy="411"/>
          </a:xfrm>
        </p:grpSpPr>
        <p:sp>
          <p:nvSpPr>
            <p:cNvPr id="311" name="Oval 244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12" name="Oval 245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313" name="Line 247"/>
          <p:cNvSpPr>
            <a:spLocks noChangeShapeType="1"/>
          </p:cNvSpPr>
          <p:nvPr/>
        </p:nvSpPr>
        <p:spPr bwMode="auto">
          <a:xfrm flipH="1">
            <a:off x="3808679" y="2295878"/>
            <a:ext cx="228600" cy="28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4" name="Oval 248"/>
          <p:cNvSpPr>
            <a:spLocks noChangeArrowheads="1"/>
          </p:cNvSpPr>
          <p:nvPr/>
        </p:nvSpPr>
        <p:spPr bwMode="auto">
          <a:xfrm>
            <a:off x="4915961" y="3719866"/>
            <a:ext cx="798909" cy="176213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315" name="Line 249"/>
          <p:cNvSpPr>
            <a:spLocks noChangeShapeType="1"/>
          </p:cNvSpPr>
          <p:nvPr/>
        </p:nvSpPr>
        <p:spPr bwMode="auto">
          <a:xfrm>
            <a:off x="4915961" y="3705578"/>
            <a:ext cx="1190" cy="1095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16" name="Line 250"/>
          <p:cNvSpPr>
            <a:spLocks noChangeShapeType="1"/>
          </p:cNvSpPr>
          <p:nvPr/>
        </p:nvSpPr>
        <p:spPr bwMode="auto">
          <a:xfrm>
            <a:off x="5714870" y="3705578"/>
            <a:ext cx="0" cy="109538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17" name="Rectangle 251"/>
          <p:cNvSpPr>
            <a:spLocks noChangeArrowheads="1"/>
          </p:cNvSpPr>
          <p:nvPr/>
        </p:nvSpPr>
        <p:spPr bwMode="auto">
          <a:xfrm>
            <a:off x="4915961" y="3705579"/>
            <a:ext cx="189309" cy="10715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18" name="Rectangle 252"/>
          <p:cNvSpPr>
            <a:spLocks noChangeArrowheads="1"/>
          </p:cNvSpPr>
          <p:nvPr/>
        </p:nvSpPr>
        <p:spPr bwMode="auto">
          <a:xfrm>
            <a:off x="5473173" y="3698435"/>
            <a:ext cx="241697" cy="10715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19" name="Oval 253"/>
          <p:cNvSpPr>
            <a:spLocks noChangeArrowheads="1"/>
          </p:cNvSpPr>
          <p:nvPr/>
        </p:nvSpPr>
        <p:spPr bwMode="auto">
          <a:xfrm>
            <a:off x="4901673" y="3579372"/>
            <a:ext cx="797719" cy="20478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grpSp>
        <p:nvGrpSpPr>
          <p:cNvPr id="320" name="Group 254"/>
          <p:cNvGrpSpPr/>
          <p:nvPr/>
        </p:nvGrpSpPr>
        <p:grpSpPr bwMode="auto">
          <a:xfrm>
            <a:off x="5101698" y="3624616"/>
            <a:ext cx="395288" cy="119063"/>
            <a:chOff x="2848" y="848"/>
            <a:chExt cx="140" cy="98"/>
          </a:xfrm>
        </p:grpSpPr>
        <p:sp>
          <p:nvSpPr>
            <p:cNvPr id="321" name="Line 25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22" name="Line 25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23" name="Line 25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24" name="Group 258"/>
          <p:cNvGrpSpPr/>
          <p:nvPr/>
        </p:nvGrpSpPr>
        <p:grpSpPr bwMode="auto">
          <a:xfrm flipV="1">
            <a:off x="5101698" y="3622234"/>
            <a:ext cx="395288" cy="120254"/>
            <a:chOff x="2848" y="848"/>
            <a:chExt cx="140" cy="98"/>
          </a:xfrm>
        </p:grpSpPr>
        <p:sp>
          <p:nvSpPr>
            <p:cNvPr id="325" name="Line 25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26" name="Line 26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27" name="Line 26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28" name="Group 262"/>
          <p:cNvGrpSpPr/>
          <p:nvPr/>
        </p:nvGrpSpPr>
        <p:grpSpPr bwMode="auto">
          <a:xfrm rot="7844936">
            <a:off x="5101698" y="3721057"/>
            <a:ext cx="241697" cy="179784"/>
            <a:chOff x="11283" y="10423"/>
            <a:chExt cx="475" cy="374"/>
          </a:xfrm>
        </p:grpSpPr>
        <p:sp>
          <p:nvSpPr>
            <p:cNvPr id="329" name="Rectangle 263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30" name="Line 264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1" name="Line 265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2" name="Line 266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3" name="Line 267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4" name="Line 268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5" name="Line 269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336" name="Line 270"/>
          <p:cNvSpPr>
            <a:spLocks noChangeShapeType="1"/>
          </p:cNvSpPr>
          <p:nvPr/>
        </p:nvSpPr>
        <p:spPr bwMode="auto">
          <a:xfrm flipH="1" flipV="1">
            <a:off x="4214682" y="4367566"/>
            <a:ext cx="1485900" cy="142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7" name="Line 271"/>
          <p:cNvSpPr>
            <a:spLocks noChangeShapeType="1"/>
          </p:cNvSpPr>
          <p:nvPr/>
        </p:nvSpPr>
        <p:spPr bwMode="auto">
          <a:xfrm flipH="1">
            <a:off x="4679026" y="3881791"/>
            <a:ext cx="465535" cy="49291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" name="Freeform 272"/>
          <p:cNvSpPr/>
          <p:nvPr/>
        </p:nvSpPr>
        <p:spPr bwMode="auto">
          <a:xfrm>
            <a:off x="3743195" y="2195866"/>
            <a:ext cx="2478881" cy="2143125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9" name="Oval 273"/>
          <p:cNvSpPr>
            <a:spLocks noChangeArrowheads="1"/>
          </p:cNvSpPr>
          <p:nvPr/>
        </p:nvSpPr>
        <p:spPr bwMode="auto">
          <a:xfrm>
            <a:off x="3595557" y="4319941"/>
            <a:ext cx="796529" cy="176213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340" name="Line 274"/>
          <p:cNvSpPr>
            <a:spLocks noChangeShapeType="1"/>
          </p:cNvSpPr>
          <p:nvPr/>
        </p:nvSpPr>
        <p:spPr bwMode="auto">
          <a:xfrm>
            <a:off x="3595557" y="4305654"/>
            <a:ext cx="0" cy="10834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41" name="Line 275"/>
          <p:cNvSpPr>
            <a:spLocks noChangeShapeType="1"/>
          </p:cNvSpPr>
          <p:nvPr/>
        </p:nvSpPr>
        <p:spPr bwMode="auto">
          <a:xfrm>
            <a:off x="4392086" y="4305654"/>
            <a:ext cx="1190" cy="108347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42" name="Rectangle 276"/>
          <p:cNvSpPr>
            <a:spLocks noChangeArrowheads="1"/>
          </p:cNvSpPr>
          <p:nvPr/>
        </p:nvSpPr>
        <p:spPr bwMode="auto">
          <a:xfrm>
            <a:off x="3595557" y="4305654"/>
            <a:ext cx="188119" cy="10715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43" name="Rectangle 277"/>
          <p:cNvSpPr>
            <a:spLocks noChangeArrowheads="1"/>
          </p:cNvSpPr>
          <p:nvPr/>
        </p:nvSpPr>
        <p:spPr bwMode="auto">
          <a:xfrm>
            <a:off x="4150389" y="4298510"/>
            <a:ext cx="241697" cy="10715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44" name="Oval 278"/>
          <p:cNvSpPr>
            <a:spLocks noChangeArrowheads="1"/>
          </p:cNvSpPr>
          <p:nvPr/>
        </p:nvSpPr>
        <p:spPr bwMode="auto">
          <a:xfrm>
            <a:off x="3587223" y="4179447"/>
            <a:ext cx="797719" cy="20478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grpSp>
        <p:nvGrpSpPr>
          <p:cNvPr id="345" name="Group 279"/>
          <p:cNvGrpSpPr/>
          <p:nvPr/>
        </p:nvGrpSpPr>
        <p:grpSpPr bwMode="auto">
          <a:xfrm>
            <a:off x="3780104" y="4224691"/>
            <a:ext cx="394097" cy="119063"/>
            <a:chOff x="2848" y="848"/>
            <a:chExt cx="140" cy="98"/>
          </a:xfrm>
        </p:grpSpPr>
        <p:sp>
          <p:nvSpPr>
            <p:cNvPr id="346" name="Line 28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47" name="Line 28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48" name="Line 28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49" name="Group 283"/>
          <p:cNvGrpSpPr/>
          <p:nvPr/>
        </p:nvGrpSpPr>
        <p:grpSpPr bwMode="auto">
          <a:xfrm flipV="1">
            <a:off x="3780104" y="4222309"/>
            <a:ext cx="394097" cy="119063"/>
            <a:chOff x="2848" y="848"/>
            <a:chExt cx="140" cy="98"/>
          </a:xfrm>
        </p:grpSpPr>
        <p:sp>
          <p:nvSpPr>
            <p:cNvPr id="350" name="Line 28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51" name="Line 28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52" name="Line 28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53" name="Group 287"/>
          <p:cNvGrpSpPr/>
          <p:nvPr/>
        </p:nvGrpSpPr>
        <p:grpSpPr bwMode="auto">
          <a:xfrm>
            <a:off x="3643182" y="4274697"/>
            <a:ext cx="236935" cy="185738"/>
            <a:chOff x="11283" y="10423"/>
            <a:chExt cx="475" cy="374"/>
          </a:xfrm>
        </p:grpSpPr>
        <p:sp>
          <p:nvSpPr>
            <p:cNvPr id="354" name="Rectangle 288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55" name="Line 289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6" name="Line 290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7" name="Line 291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8" name="Line 292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9" name="Line 293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0" name="Line 294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361" name="Oval 295"/>
          <p:cNvSpPr>
            <a:spLocks noChangeArrowheads="1"/>
          </p:cNvSpPr>
          <p:nvPr/>
        </p:nvSpPr>
        <p:spPr bwMode="auto">
          <a:xfrm>
            <a:off x="3115736" y="3619854"/>
            <a:ext cx="797719" cy="175022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362" name="Line 296"/>
          <p:cNvSpPr>
            <a:spLocks noChangeShapeType="1"/>
          </p:cNvSpPr>
          <p:nvPr/>
        </p:nvSpPr>
        <p:spPr bwMode="auto">
          <a:xfrm>
            <a:off x="3115736" y="3605566"/>
            <a:ext cx="1190" cy="10834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63" name="Line 297"/>
          <p:cNvSpPr>
            <a:spLocks noChangeShapeType="1"/>
          </p:cNvSpPr>
          <p:nvPr/>
        </p:nvSpPr>
        <p:spPr bwMode="auto">
          <a:xfrm>
            <a:off x="3913454" y="3605566"/>
            <a:ext cx="0" cy="108347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64" name="Rectangle 298"/>
          <p:cNvSpPr>
            <a:spLocks noChangeArrowheads="1"/>
          </p:cNvSpPr>
          <p:nvPr/>
        </p:nvSpPr>
        <p:spPr bwMode="auto">
          <a:xfrm>
            <a:off x="3115736" y="3605566"/>
            <a:ext cx="189309" cy="10596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65" name="Rectangle 299"/>
          <p:cNvSpPr>
            <a:spLocks noChangeArrowheads="1"/>
          </p:cNvSpPr>
          <p:nvPr/>
        </p:nvSpPr>
        <p:spPr bwMode="auto">
          <a:xfrm>
            <a:off x="3671758" y="3598422"/>
            <a:ext cx="241697" cy="10596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366" name="Oval 300"/>
          <p:cNvSpPr>
            <a:spLocks noChangeArrowheads="1"/>
          </p:cNvSpPr>
          <p:nvPr/>
        </p:nvSpPr>
        <p:spPr bwMode="auto">
          <a:xfrm>
            <a:off x="3108592" y="3479359"/>
            <a:ext cx="797719" cy="20478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grpSp>
        <p:nvGrpSpPr>
          <p:cNvPr id="367" name="Group 301"/>
          <p:cNvGrpSpPr/>
          <p:nvPr/>
        </p:nvGrpSpPr>
        <p:grpSpPr bwMode="auto">
          <a:xfrm>
            <a:off x="3301473" y="3524603"/>
            <a:ext cx="394097" cy="119063"/>
            <a:chOff x="2848" y="848"/>
            <a:chExt cx="140" cy="98"/>
          </a:xfrm>
        </p:grpSpPr>
        <p:sp>
          <p:nvSpPr>
            <p:cNvPr id="368" name="Line 30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9" name="Line 30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0" name="Line 30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371" name="Group 305"/>
          <p:cNvGrpSpPr/>
          <p:nvPr/>
        </p:nvGrpSpPr>
        <p:grpSpPr bwMode="auto">
          <a:xfrm flipV="1">
            <a:off x="3301473" y="3522222"/>
            <a:ext cx="394097" cy="119063"/>
            <a:chOff x="2848" y="848"/>
            <a:chExt cx="140" cy="98"/>
          </a:xfrm>
        </p:grpSpPr>
        <p:sp>
          <p:nvSpPr>
            <p:cNvPr id="372" name="Line 30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3" name="Line 30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4" name="Line 30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75" name="Line 309"/>
          <p:cNvSpPr>
            <a:spLocks noChangeShapeType="1"/>
          </p:cNvSpPr>
          <p:nvPr/>
        </p:nvSpPr>
        <p:spPr bwMode="auto">
          <a:xfrm flipH="1">
            <a:off x="2635914" y="3767491"/>
            <a:ext cx="651272" cy="60841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76" name="Group 310"/>
          <p:cNvGrpSpPr/>
          <p:nvPr/>
        </p:nvGrpSpPr>
        <p:grpSpPr bwMode="auto">
          <a:xfrm rot="8027572">
            <a:off x="3372910" y="3471026"/>
            <a:ext cx="241697" cy="179784"/>
            <a:chOff x="11283" y="10423"/>
            <a:chExt cx="475" cy="374"/>
          </a:xfrm>
        </p:grpSpPr>
        <p:sp>
          <p:nvSpPr>
            <p:cNvPr id="377" name="Rectangle 311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78" name="Line 312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9" name="Line 313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0" name="Line 314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1" name="Line 315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2" name="Line 316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3" name="Line 317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384" name="Freeform 318"/>
          <p:cNvSpPr/>
          <p:nvPr/>
        </p:nvSpPr>
        <p:spPr bwMode="auto">
          <a:xfrm>
            <a:off x="2514470" y="2224441"/>
            <a:ext cx="3800475" cy="2200275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85" name="Freeform 319"/>
          <p:cNvSpPr/>
          <p:nvPr/>
        </p:nvSpPr>
        <p:spPr bwMode="auto">
          <a:xfrm>
            <a:off x="2214433" y="2295879"/>
            <a:ext cx="4307681" cy="2164556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86" name="Freeform 320"/>
          <p:cNvSpPr/>
          <p:nvPr/>
        </p:nvSpPr>
        <p:spPr bwMode="auto">
          <a:xfrm>
            <a:off x="2307301" y="2331597"/>
            <a:ext cx="4343400" cy="2000250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FF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87" name="Group 321"/>
          <p:cNvGrpSpPr/>
          <p:nvPr/>
        </p:nvGrpSpPr>
        <p:grpSpPr bwMode="auto">
          <a:xfrm>
            <a:off x="2179905" y="3646048"/>
            <a:ext cx="67865" cy="203597"/>
            <a:chOff x="10104" y="10005"/>
            <a:chExt cx="137" cy="411"/>
          </a:xfrm>
        </p:grpSpPr>
        <p:sp>
          <p:nvSpPr>
            <p:cNvPr id="388" name="Oval 322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89" name="Oval 323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390" name="Group 324"/>
          <p:cNvGrpSpPr/>
          <p:nvPr/>
        </p:nvGrpSpPr>
        <p:grpSpPr bwMode="auto">
          <a:xfrm>
            <a:off x="6272083" y="3823450"/>
            <a:ext cx="69056" cy="203597"/>
            <a:chOff x="10104" y="10005"/>
            <a:chExt cx="137" cy="411"/>
          </a:xfrm>
        </p:grpSpPr>
        <p:sp>
          <p:nvSpPr>
            <p:cNvPr id="391" name="Oval 325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92" name="Oval 326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393" name="Group 327"/>
          <p:cNvGrpSpPr/>
          <p:nvPr/>
        </p:nvGrpSpPr>
        <p:grpSpPr bwMode="auto">
          <a:xfrm>
            <a:off x="6607838" y="2280400"/>
            <a:ext cx="67866" cy="203597"/>
            <a:chOff x="10104" y="10005"/>
            <a:chExt cx="137" cy="411"/>
          </a:xfrm>
        </p:grpSpPr>
        <p:sp>
          <p:nvSpPr>
            <p:cNvPr id="394" name="Oval 328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95" name="Oval 329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396" name="Text Box 335"/>
          <p:cNvSpPr txBox="1">
            <a:spLocks noChangeArrowheads="1"/>
          </p:cNvSpPr>
          <p:nvPr/>
        </p:nvSpPr>
        <p:spPr bwMode="auto">
          <a:xfrm>
            <a:off x="6416148" y="2027989"/>
            <a:ext cx="551259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zh-CN" sz="1050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</a:p>
        </p:txBody>
      </p:sp>
      <p:sp>
        <p:nvSpPr>
          <p:cNvPr id="397" name="Text Box 336"/>
          <p:cNvSpPr txBox="1">
            <a:spLocks noChangeArrowheads="1"/>
          </p:cNvSpPr>
          <p:nvPr/>
        </p:nvSpPr>
        <p:spPr bwMode="auto">
          <a:xfrm>
            <a:off x="6005382" y="3573420"/>
            <a:ext cx="551260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zh-CN" sz="1050">
                <a:solidFill>
                  <a:schemeClr val="tx2"/>
                </a:solidFill>
                <a:latin typeface="Arial" panose="020B0604020202020204" pitchFamily="34" charset="0"/>
              </a:rPr>
              <a:t>Host C</a:t>
            </a:r>
          </a:p>
        </p:txBody>
      </p:sp>
      <p:sp>
        <p:nvSpPr>
          <p:cNvPr id="398" name="Text Box 337"/>
          <p:cNvSpPr txBox="1">
            <a:spLocks noChangeArrowheads="1"/>
          </p:cNvSpPr>
          <p:nvPr/>
        </p:nvSpPr>
        <p:spPr bwMode="auto">
          <a:xfrm>
            <a:off x="1927492" y="3391254"/>
            <a:ext cx="551259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zh-CN" sz="1050">
                <a:solidFill>
                  <a:schemeClr val="tx2"/>
                </a:solidFill>
                <a:latin typeface="Arial" panose="020B0604020202020204" pitchFamily="34" charset="0"/>
              </a:rPr>
              <a:t>Host D</a:t>
            </a:r>
          </a:p>
        </p:txBody>
      </p:sp>
      <p:sp>
        <p:nvSpPr>
          <p:cNvPr id="399" name="Text Box 338"/>
          <p:cNvSpPr txBox="1">
            <a:spLocks noChangeArrowheads="1"/>
          </p:cNvSpPr>
          <p:nvPr/>
        </p:nvSpPr>
        <p:spPr bwMode="auto">
          <a:xfrm>
            <a:off x="4017038" y="1919641"/>
            <a:ext cx="1410891" cy="35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zh-CN" sz="15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5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1200" baseline="-25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</a:rPr>
              <a:t>: original data</a:t>
            </a:r>
            <a:endParaRPr lang="en-US" altLang="zh-CN" sz="12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400" name="Line 340"/>
          <p:cNvSpPr>
            <a:spLocks noChangeShapeType="1"/>
          </p:cNvSpPr>
          <p:nvPr/>
        </p:nvSpPr>
        <p:spPr bwMode="auto">
          <a:xfrm>
            <a:off x="5124320" y="2345885"/>
            <a:ext cx="254794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01" name="Text Box 341"/>
          <p:cNvSpPr txBox="1">
            <a:spLocks noChangeArrowheads="1"/>
          </p:cNvSpPr>
          <p:nvPr/>
        </p:nvSpPr>
        <p:spPr bwMode="auto">
          <a:xfrm>
            <a:off x="3928932" y="2166101"/>
            <a:ext cx="1762125" cy="463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1500" dirty="0" err="1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zh-CN" sz="1500" dirty="0" err="1">
                <a:solidFill>
                  <a:srgbClr val="FF0000"/>
                </a:solidFill>
                <a:latin typeface="Arial" panose="020B0604020202020204" pitchFamily="34" charset="0"/>
              </a:rPr>
              <a:t>'</a:t>
            </a:r>
            <a:r>
              <a:rPr lang="en-US" altLang="zh-CN" sz="1500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1350" dirty="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r>
              <a:rPr lang="en-US" altLang="zh-CN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</a:rPr>
              <a:t>original data, </a:t>
            </a:r>
            <a:r>
              <a:rPr lang="en-US" altLang="zh-CN" sz="1200" i="1" dirty="0">
                <a:solidFill>
                  <a:srgbClr val="FF0000"/>
                </a:solidFill>
                <a:latin typeface="Arial" panose="020B0604020202020204" pitchFamily="34" charset="0"/>
              </a:rPr>
              <a:t>plus</a:t>
            </a:r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</a:rPr>
              <a:t> retransmitted data</a:t>
            </a:r>
            <a:endParaRPr lang="en-US" altLang="zh-CN" sz="1200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402" name="Group 358"/>
          <p:cNvGrpSpPr/>
          <p:nvPr/>
        </p:nvGrpSpPr>
        <p:grpSpPr bwMode="auto">
          <a:xfrm>
            <a:off x="6936451" y="2845947"/>
            <a:ext cx="173831" cy="330994"/>
            <a:chOff x="4140" y="429"/>
            <a:chExt cx="1425" cy="2396"/>
          </a:xfrm>
        </p:grpSpPr>
        <p:sp>
          <p:nvSpPr>
            <p:cNvPr id="403" name="Freeform 359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4" name="Rectangle 360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05" name="Freeform 361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6" name="Freeform 362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7" name="Rectangle 363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08" name="Group 364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3" name="AutoShape 365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34" name="AutoShape 366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09" name="Rectangle 367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10" name="Group 368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1" name="AutoShape 369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32" name="AutoShape 370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11" name="Rectangle 371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12" name="Rectangle 372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13" name="Group 373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9" name="AutoShape 374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5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30" name="AutoShape 375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14" name="Freeform 376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15" name="Group 377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7" name="AutoShape 378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28" name="AutoShape 379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16" name="Rectangle 380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17" name="Freeform 381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8" name="Freeform 382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9" name="Oval 383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20" name="Freeform 384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1" name="AutoShape 385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22" name="AutoShape 386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23" name="Oval 387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24" name="Oval 388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Oval 389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26" name="Rectangle 390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435" name="Group 391"/>
          <p:cNvGrpSpPr/>
          <p:nvPr/>
        </p:nvGrpSpPr>
        <p:grpSpPr bwMode="auto">
          <a:xfrm>
            <a:off x="6576883" y="4238979"/>
            <a:ext cx="173831" cy="330994"/>
            <a:chOff x="4140" y="429"/>
            <a:chExt cx="1425" cy="2396"/>
          </a:xfrm>
        </p:grpSpPr>
        <p:sp>
          <p:nvSpPr>
            <p:cNvPr id="436" name="Freeform 392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7" name="Rectangle 393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38" name="Freeform 394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9" name="Freeform 395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0" name="Rectangle 396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41" name="Group 397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66" name="AutoShape 398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67" name="AutoShape 399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42" name="Rectangle 400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43" name="Group 401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64" name="AutoShape 402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65" name="AutoShape 403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44" name="Rectangle 404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45" name="Rectangle 405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46" name="Group 406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62" name="AutoShape 407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5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63" name="AutoShape 408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47" name="Freeform 409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48" name="Group 410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60" name="AutoShape 411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61" name="AutoShape 412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49" name="Rectangle 413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0" name="Freeform 414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1" name="Freeform 415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2" name="Oval 416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3" name="Freeform 417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4" name="AutoShape 418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5" name="AutoShape 419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6" name="Oval 420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7" name="Oval 421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Oval 422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9" name="Rectangle 423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468" name="Group 424"/>
          <p:cNvGrpSpPr/>
          <p:nvPr/>
        </p:nvGrpSpPr>
        <p:grpSpPr bwMode="auto">
          <a:xfrm>
            <a:off x="1661983" y="4116345"/>
            <a:ext cx="173831" cy="330994"/>
            <a:chOff x="4140" y="429"/>
            <a:chExt cx="1425" cy="2396"/>
          </a:xfrm>
        </p:grpSpPr>
        <p:sp>
          <p:nvSpPr>
            <p:cNvPr id="469" name="Freeform 425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0" name="Rectangle 426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71" name="Freeform 427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2" name="Freeform 428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3" name="Rectangle 429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74" name="Group 430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99" name="AutoShape 431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00" name="AutoShape 432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75" name="Rectangle 433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76" name="Group 434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97" name="AutoShape 435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98" name="AutoShape 436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77" name="Rectangle 437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78" name="Rectangle 438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479" name="Group 439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95" name="AutoShape 440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5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96" name="AutoShape 44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80" name="Freeform 442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81" name="Group 443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93" name="AutoShape 444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94" name="AutoShape 445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482" name="Rectangle 446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83" name="Freeform 447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4" name="Freeform 448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5" name="Oval 449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86" name="Freeform 450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7" name="AutoShape 451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88" name="AutoShape 452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89" name="Oval 453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90" name="Oval 454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Oval 455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92" name="Rectangle 456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501" name="Group 457"/>
          <p:cNvGrpSpPr/>
          <p:nvPr/>
        </p:nvGrpSpPr>
        <p:grpSpPr bwMode="auto">
          <a:xfrm>
            <a:off x="3172886" y="2612585"/>
            <a:ext cx="173831" cy="330994"/>
            <a:chOff x="4140" y="429"/>
            <a:chExt cx="1425" cy="2396"/>
          </a:xfrm>
        </p:grpSpPr>
        <p:sp>
          <p:nvSpPr>
            <p:cNvPr id="502" name="Freeform 458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3" name="Rectangle 459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04" name="Freeform 460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5" name="Freeform 461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6" name="Rectangle 462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507" name="Group 463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32" name="AutoShape 464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33" name="AutoShape 465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08" name="Rectangle 466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509" name="Group 467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30" name="AutoShape 468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31" name="AutoShape 469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10" name="Rectangle 470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11" name="Rectangle 471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512" name="Group 472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28" name="AutoShape 47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5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29" name="AutoShape 474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13" name="Freeform 475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14" name="Group 476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6" name="AutoShape 477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27" name="AutoShape 478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15" name="Rectangle 479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16" name="Freeform 480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7" name="Freeform 481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8" name="Oval 482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19" name="Freeform 483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0" name="AutoShape 484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21" name="AutoShape 485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22" name="Oval 486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23" name="Oval 487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Oval 488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25" name="Rectangle 489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534" name="灯片编号占位符 2">
            <a:extLst>
              <a:ext uri="{FF2B5EF4-FFF2-40B4-BE49-F238E27FC236}">
                <a16:creationId xmlns:a16="http://schemas.microsoft.com/office/drawing/2014/main" id="{18E6349B-0D6F-4C5F-B4EF-986523F3E06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535" name="AutoShape 5">
            <a:extLst>
              <a:ext uri="{FF2B5EF4-FFF2-40B4-BE49-F238E27FC236}">
                <a16:creationId xmlns:a16="http://schemas.microsoft.com/office/drawing/2014/main" id="{D1E45D53-8914-49D4-9D9B-79E679381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272807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3.6.1 </a:t>
            </a:r>
            <a:r>
              <a:rPr lang="zh-CN" altLang="en-US" dirty="0">
                <a:effectLst/>
              </a:rPr>
              <a:t>拥塞的原因和代价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场景</a:t>
            </a:r>
            <a:r>
              <a:rPr lang="en-US" altLang="zh-CN" dirty="0">
                <a:effectLst/>
              </a:rPr>
              <a:t>3 </a:t>
            </a:r>
            <a:r>
              <a:rPr lang="zh-CN" altLang="en-US" dirty="0">
                <a:effectLst/>
              </a:rPr>
              <a:t>：四发送方和一台具有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有限缓存</a:t>
            </a:r>
            <a:r>
              <a:rPr lang="zh-CN" altLang="en-US" dirty="0">
                <a:effectLst/>
              </a:rPr>
              <a:t>的多台路由器和多条路径</a:t>
            </a:r>
            <a:endParaRPr lang="en-US" altLang="zh-CN" dirty="0"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sp>
        <p:nvSpPr>
          <p:cNvPr id="534" name="Line 8"/>
          <p:cNvSpPr>
            <a:spLocks noChangeShapeType="1"/>
          </p:cNvSpPr>
          <p:nvPr/>
        </p:nvSpPr>
        <p:spPr bwMode="auto">
          <a:xfrm flipH="1">
            <a:off x="5299355" y="2581747"/>
            <a:ext cx="302419" cy="3393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35" name="Line 9"/>
          <p:cNvSpPr>
            <a:spLocks noChangeShapeType="1"/>
          </p:cNvSpPr>
          <p:nvPr/>
        </p:nvSpPr>
        <p:spPr bwMode="auto">
          <a:xfrm flipH="1">
            <a:off x="5457707" y="2581746"/>
            <a:ext cx="14406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536" name="Group 51"/>
          <p:cNvGrpSpPr/>
          <p:nvPr/>
        </p:nvGrpSpPr>
        <p:grpSpPr bwMode="auto">
          <a:xfrm>
            <a:off x="5279113" y="2182887"/>
            <a:ext cx="214313" cy="354806"/>
            <a:chOff x="12762" y="10336"/>
            <a:chExt cx="1027" cy="1700"/>
          </a:xfrm>
        </p:grpSpPr>
        <p:sp>
          <p:nvSpPr>
            <p:cNvPr id="537" name="Rectangle 5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38" name="Rectangle 5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39" name="Line 5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0" name="Line 5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1" name="Line 5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2" name="Line 5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43" name="Line 60"/>
          <p:cNvSpPr>
            <a:spLocks noChangeShapeType="1"/>
          </p:cNvSpPr>
          <p:nvPr/>
        </p:nvSpPr>
        <p:spPr bwMode="auto">
          <a:xfrm flipH="1">
            <a:off x="4855251" y="3356843"/>
            <a:ext cx="478631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544" name="Group 102"/>
          <p:cNvGrpSpPr/>
          <p:nvPr/>
        </p:nvGrpSpPr>
        <p:grpSpPr bwMode="auto">
          <a:xfrm>
            <a:off x="4620698" y="2954412"/>
            <a:ext cx="214313" cy="354806"/>
            <a:chOff x="12762" y="10336"/>
            <a:chExt cx="1027" cy="1700"/>
          </a:xfrm>
        </p:grpSpPr>
        <p:sp>
          <p:nvSpPr>
            <p:cNvPr id="545" name="Rectangle 103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46" name="Rectangle 104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47" name="Line 105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8" name="Line 106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9" name="Line 107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0" name="Line 108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51" name="Line 110"/>
          <p:cNvSpPr>
            <a:spLocks noChangeShapeType="1"/>
          </p:cNvSpPr>
          <p:nvPr/>
        </p:nvSpPr>
        <p:spPr bwMode="auto">
          <a:xfrm flipH="1">
            <a:off x="5457707" y="2749624"/>
            <a:ext cx="2381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52" name="Line 111"/>
          <p:cNvSpPr>
            <a:spLocks noChangeShapeType="1"/>
          </p:cNvSpPr>
          <p:nvPr/>
        </p:nvSpPr>
        <p:spPr bwMode="auto">
          <a:xfrm flipH="1" flipV="1">
            <a:off x="6042305" y="2756768"/>
            <a:ext cx="254794" cy="357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53" name="Line 112"/>
          <p:cNvSpPr>
            <a:spLocks noChangeShapeType="1"/>
          </p:cNvSpPr>
          <p:nvPr/>
        </p:nvSpPr>
        <p:spPr bwMode="auto">
          <a:xfrm flipH="1">
            <a:off x="6023255" y="2588891"/>
            <a:ext cx="425053" cy="50720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54" name="Line 113"/>
          <p:cNvSpPr>
            <a:spLocks noChangeShapeType="1"/>
          </p:cNvSpPr>
          <p:nvPr/>
        </p:nvSpPr>
        <p:spPr bwMode="auto">
          <a:xfrm flipH="1">
            <a:off x="6434020" y="2596034"/>
            <a:ext cx="14406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555" name="Group 154"/>
          <p:cNvGrpSpPr/>
          <p:nvPr/>
        </p:nvGrpSpPr>
        <p:grpSpPr bwMode="auto">
          <a:xfrm>
            <a:off x="6537604" y="2235274"/>
            <a:ext cx="213122" cy="353616"/>
            <a:chOff x="12762" y="10336"/>
            <a:chExt cx="1027" cy="1700"/>
          </a:xfrm>
        </p:grpSpPr>
        <p:sp>
          <p:nvSpPr>
            <p:cNvPr id="556" name="Rectangle 155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57" name="Rectangle 156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58" name="Line 157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9" name="Line 158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0" name="Line 159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1" name="Line 160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62" name="Group 201"/>
          <p:cNvGrpSpPr/>
          <p:nvPr/>
        </p:nvGrpSpPr>
        <p:grpSpPr bwMode="auto">
          <a:xfrm>
            <a:off x="6378061" y="3047280"/>
            <a:ext cx="211931" cy="353616"/>
            <a:chOff x="12762" y="10336"/>
            <a:chExt cx="1027" cy="1700"/>
          </a:xfrm>
        </p:grpSpPr>
        <p:sp>
          <p:nvSpPr>
            <p:cNvPr id="563" name="Rectangle 20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64" name="Rectangle 20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65" name="Line 20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6" name="Line 20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7" name="Line 20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8" name="Line 20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69" name="Group 212"/>
          <p:cNvGrpSpPr/>
          <p:nvPr/>
        </p:nvGrpSpPr>
        <p:grpSpPr bwMode="auto">
          <a:xfrm>
            <a:off x="5686307" y="2659137"/>
            <a:ext cx="352425" cy="164306"/>
            <a:chOff x="9542" y="11900"/>
            <a:chExt cx="1624" cy="640"/>
          </a:xfrm>
        </p:grpSpPr>
        <p:sp>
          <p:nvSpPr>
            <p:cNvPr id="570" name="Oval 213"/>
            <p:cNvSpPr>
              <a:spLocks noChangeArrowheads="1"/>
            </p:cNvSpPr>
            <p:nvPr/>
          </p:nvSpPr>
          <p:spPr bwMode="auto">
            <a:xfrm>
              <a:off x="9557" y="12185"/>
              <a:ext cx="1608" cy="355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71" name="Line 214"/>
            <p:cNvSpPr>
              <a:spLocks noChangeShapeType="1"/>
            </p:cNvSpPr>
            <p:nvPr/>
          </p:nvSpPr>
          <p:spPr bwMode="auto">
            <a:xfrm>
              <a:off x="9557" y="12156"/>
              <a:ext cx="1" cy="2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572" name="Line 215"/>
            <p:cNvSpPr>
              <a:spLocks noChangeShapeType="1"/>
            </p:cNvSpPr>
            <p:nvPr/>
          </p:nvSpPr>
          <p:spPr bwMode="auto">
            <a:xfrm>
              <a:off x="11165" y="12156"/>
              <a:ext cx="1" cy="219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573" name="Rectangle 216"/>
            <p:cNvSpPr>
              <a:spLocks noChangeArrowheads="1"/>
            </p:cNvSpPr>
            <p:nvPr/>
          </p:nvSpPr>
          <p:spPr bwMode="auto">
            <a:xfrm>
              <a:off x="9557" y="12156"/>
              <a:ext cx="381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4" name="Rectangle 217"/>
            <p:cNvSpPr>
              <a:spLocks noChangeArrowheads="1"/>
            </p:cNvSpPr>
            <p:nvPr/>
          </p:nvSpPr>
          <p:spPr bwMode="auto">
            <a:xfrm>
              <a:off x="10679" y="12141"/>
              <a:ext cx="48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5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75" name="Oval 218"/>
            <p:cNvSpPr>
              <a:spLocks noChangeArrowheads="1"/>
            </p:cNvSpPr>
            <p:nvPr/>
          </p:nvSpPr>
          <p:spPr bwMode="auto">
            <a:xfrm>
              <a:off x="9542" y="11900"/>
              <a:ext cx="1608" cy="414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576" name="Group 219"/>
            <p:cNvGrpSpPr/>
            <p:nvPr/>
          </p:nvGrpSpPr>
          <p:grpSpPr bwMode="auto">
            <a:xfrm>
              <a:off x="9930" y="11991"/>
              <a:ext cx="796" cy="242"/>
              <a:chOff x="2848" y="848"/>
              <a:chExt cx="140" cy="98"/>
            </a:xfrm>
          </p:grpSpPr>
          <p:sp>
            <p:nvSpPr>
              <p:cNvPr id="589" name="Line 2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90" name="Line 2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91" name="Line 2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577" name="Group 223"/>
            <p:cNvGrpSpPr/>
            <p:nvPr/>
          </p:nvGrpSpPr>
          <p:grpSpPr bwMode="auto">
            <a:xfrm flipV="1">
              <a:off x="9930" y="11987"/>
              <a:ext cx="796" cy="242"/>
              <a:chOff x="2848" y="848"/>
              <a:chExt cx="140" cy="98"/>
            </a:xfrm>
          </p:grpSpPr>
          <p:sp>
            <p:nvSpPr>
              <p:cNvPr id="586" name="Line 22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87" name="Line 22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88" name="Line 22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578" name="Group 227"/>
            <p:cNvGrpSpPr/>
            <p:nvPr/>
          </p:nvGrpSpPr>
          <p:grpSpPr bwMode="auto">
            <a:xfrm>
              <a:off x="10534" y="12050"/>
              <a:ext cx="476" cy="374"/>
              <a:chOff x="11283" y="10423"/>
              <a:chExt cx="475" cy="374"/>
            </a:xfrm>
          </p:grpSpPr>
          <p:sp>
            <p:nvSpPr>
              <p:cNvPr id="579" name="Rectangle 228"/>
              <p:cNvSpPr>
                <a:spLocks noChangeArrowheads="1"/>
              </p:cNvSpPr>
              <p:nvPr/>
            </p:nvSpPr>
            <p:spPr bwMode="auto">
              <a:xfrm>
                <a:off x="11283" y="10423"/>
                <a:ext cx="475" cy="3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580" name="Line 229"/>
              <p:cNvSpPr>
                <a:spLocks noChangeShapeType="1"/>
              </p:cNvSpPr>
              <p:nvPr/>
            </p:nvSpPr>
            <p:spPr bwMode="auto">
              <a:xfrm>
                <a:off x="1168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1" name="Line 230"/>
              <p:cNvSpPr>
                <a:spLocks noChangeShapeType="1"/>
              </p:cNvSpPr>
              <p:nvPr/>
            </p:nvSpPr>
            <p:spPr bwMode="auto">
              <a:xfrm>
                <a:off x="11621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2" name="Line 231"/>
              <p:cNvSpPr>
                <a:spLocks noChangeShapeType="1"/>
              </p:cNvSpPr>
              <p:nvPr/>
            </p:nvSpPr>
            <p:spPr bwMode="auto">
              <a:xfrm>
                <a:off x="1155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3" name="Line 232"/>
              <p:cNvSpPr>
                <a:spLocks noChangeShapeType="1"/>
              </p:cNvSpPr>
              <p:nvPr/>
            </p:nvSpPr>
            <p:spPr bwMode="auto">
              <a:xfrm>
                <a:off x="11491" y="10495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4" name="Line 233"/>
              <p:cNvSpPr>
                <a:spLocks noChangeShapeType="1"/>
              </p:cNvSpPr>
              <p:nvPr/>
            </p:nvSpPr>
            <p:spPr bwMode="auto">
              <a:xfrm>
                <a:off x="11426" y="10495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5" name="Line 234"/>
              <p:cNvSpPr>
                <a:spLocks noChangeShapeType="1"/>
              </p:cNvSpPr>
              <p:nvPr/>
            </p:nvSpPr>
            <p:spPr bwMode="auto">
              <a:xfrm>
                <a:off x="11360" y="10495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sp>
        <p:nvSpPr>
          <p:cNvPr id="592" name="Line 235"/>
          <p:cNvSpPr>
            <a:spLocks noChangeShapeType="1"/>
          </p:cNvSpPr>
          <p:nvPr/>
        </p:nvSpPr>
        <p:spPr bwMode="auto">
          <a:xfrm>
            <a:off x="6057782" y="2331716"/>
            <a:ext cx="90488" cy="119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593" name="Group 236"/>
          <p:cNvGrpSpPr/>
          <p:nvPr/>
        </p:nvGrpSpPr>
        <p:grpSpPr bwMode="auto">
          <a:xfrm>
            <a:off x="5386270" y="2205509"/>
            <a:ext cx="29766" cy="105965"/>
            <a:chOff x="10104" y="10005"/>
            <a:chExt cx="137" cy="411"/>
          </a:xfrm>
        </p:grpSpPr>
        <p:sp>
          <p:nvSpPr>
            <p:cNvPr id="594" name="Oval 237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95" name="Oval 238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596" name="Oval 241"/>
          <p:cNvSpPr>
            <a:spLocks noChangeArrowheads="1"/>
          </p:cNvSpPr>
          <p:nvPr/>
        </p:nvSpPr>
        <p:spPr bwMode="auto">
          <a:xfrm>
            <a:off x="5913717" y="3015134"/>
            <a:ext cx="348853" cy="9167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597" name="Line 242"/>
          <p:cNvSpPr>
            <a:spLocks noChangeShapeType="1"/>
          </p:cNvSpPr>
          <p:nvPr/>
        </p:nvSpPr>
        <p:spPr bwMode="auto">
          <a:xfrm>
            <a:off x="5913717" y="3007990"/>
            <a:ext cx="1190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8" name="Line 243"/>
          <p:cNvSpPr>
            <a:spLocks noChangeShapeType="1"/>
          </p:cNvSpPr>
          <p:nvPr/>
        </p:nvSpPr>
        <p:spPr bwMode="auto">
          <a:xfrm>
            <a:off x="6262570" y="3007990"/>
            <a:ext cx="0" cy="5715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9" name="Rectangle 244"/>
          <p:cNvSpPr>
            <a:spLocks noChangeArrowheads="1"/>
          </p:cNvSpPr>
          <p:nvPr/>
        </p:nvSpPr>
        <p:spPr bwMode="auto">
          <a:xfrm>
            <a:off x="5913717" y="3007990"/>
            <a:ext cx="83344" cy="55959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600" name="Rectangle 245"/>
          <p:cNvSpPr>
            <a:spLocks noChangeArrowheads="1"/>
          </p:cNvSpPr>
          <p:nvPr/>
        </p:nvSpPr>
        <p:spPr bwMode="auto">
          <a:xfrm>
            <a:off x="6157795" y="3004418"/>
            <a:ext cx="104775" cy="5596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601" name="Oval 246"/>
          <p:cNvSpPr>
            <a:spLocks noChangeArrowheads="1"/>
          </p:cNvSpPr>
          <p:nvPr/>
        </p:nvSpPr>
        <p:spPr bwMode="auto">
          <a:xfrm>
            <a:off x="5907763" y="2941316"/>
            <a:ext cx="348854" cy="10715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grpSp>
        <p:nvGrpSpPr>
          <p:cNvPr id="602" name="Group 247"/>
          <p:cNvGrpSpPr/>
          <p:nvPr/>
        </p:nvGrpSpPr>
        <p:grpSpPr bwMode="auto">
          <a:xfrm>
            <a:off x="5994680" y="2965127"/>
            <a:ext cx="172640" cy="61913"/>
            <a:chOff x="2848" y="848"/>
            <a:chExt cx="140" cy="98"/>
          </a:xfrm>
        </p:grpSpPr>
        <p:sp>
          <p:nvSpPr>
            <p:cNvPr id="603" name="Line 24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4" name="Line 24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5" name="Line 25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06" name="Group 251"/>
          <p:cNvGrpSpPr/>
          <p:nvPr/>
        </p:nvGrpSpPr>
        <p:grpSpPr bwMode="auto">
          <a:xfrm flipV="1">
            <a:off x="5994680" y="2963936"/>
            <a:ext cx="172640" cy="63104"/>
            <a:chOff x="2848" y="848"/>
            <a:chExt cx="140" cy="98"/>
          </a:xfrm>
        </p:grpSpPr>
        <p:sp>
          <p:nvSpPr>
            <p:cNvPr id="607" name="Line 25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8" name="Line 25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09" name="Line 25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10" name="Group 255"/>
          <p:cNvGrpSpPr/>
          <p:nvPr/>
        </p:nvGrpSpPr>
        <p:grpSpPr bwMode="auto">
          <a:xfrm rot="7844936">
            <a:off x="5985155" y="3023468"/>
            <a:ext cx="126206" cy="78581"/>
            <a:chOff x="11283" y="10423"/>
            <a:chExt cx="475" cy="374"/>
          </a:xfrm>
        </p:grpSpPr>
        <p:sp>
          <p:nvSpPr>
            <p:cNvPr id="611" name="Rectangle 256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12" name="Line 257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3" name="Line 258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4" name="Line 259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5" name="Line 260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6" name="Line 261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7" name="Line 262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618" name="Line 263"/>
          <p:cNvSpPr>
            <a:spLocks noChangeShapeType="1"/>
          </p:cNvSpPr>
          <p:nvPr/>
        </p:nvSpPr>
        <p:spPr bwMode="auto">
          <a:xfrm flipH="1" flipV="1">
            <a:off x="5607726" y="3353272"/>
            <a:ext cx="648891" cy="714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19" name="Line 264"/>
          <p:cNvSpPr>
            <a:spLocks noChangeShapeType="1"/>
          </p:cNvSpPr>
          <p:nvPr/>
        </p:nvSpPr>
        <p:spPr bwMode="auto">
          <a:xfrm flipH="1">
            <a:off x="5810133" y="3099668"/>
            <a:ext cx="203597" cy="257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20" name="Freeform 265"/>
          <p:cNvSpPr/>
          <p:nvPr/>
        </p:nvSpPr>
        <p:spPr bwMode="auto">
          <a:xfrm>
            <a:off x="5401748" y="2219796"/>
            <a:ext cx="1082278" cy="1117997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21" name="Oval 266"/>
          <p:cNvSpPr>
            <a:spLocks noChangeArrowheads="1"/>
          </p:cNvSpPr>
          <p:nvPr/>
        </p:nvSpPr>
        <p:spPr bwMode="auto">
          <a:xfrm>
            <a:off x="5337454" y="3328268"/>
            <a:ext cx="347663" cy="91679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622" name="Line 267"/>
          <p:cNvSpPr>
            <a:spLocks noChangeShapeType="1"/>
          </p:cNvSpPr>
          <p:nvPr/>
        </p:nvSpPr>
        <p:spPr bwMode="auto">
          <a:xfrm>
            <a:off x="5337454" y="3321124"/>
            <a:ext cx="0" cy="5596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23" name="Line 268"/>
          <p:cNvSpPr>
            <a:spLocks noChangeShapeType="1"/>
          </p:cNvSpPr>
          <p:nvPr/>
        </p:nvSpPr>
        <p:spPr bwMode="auto">
          <a:xfrm>
            <a:off x="5685117" y="3321124"/>
            <a:ext cx="0" cy="5596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24" name="Rectangle 269"/>
          <p:cNvSpPr>
            <a:spLocks noChangeArrowheads="1"/>
          </p:cNvSpPr>
          <p:nvPr/>
        </p:nvSpPr>
        <p:spPr bwMode="auto">
          <a:xfrm>
            <a:off x="5337455" y="3321124"/>
            <a:ext cx="82153" cy="5596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625" name="Rectangle 270"/>
          <p:cNvSpPr>
            <a:spLocks noChangeArrowheads="1"/>
          </p:cNvSpPr>
          <p:nvPr/>
        </p:nvSpPr>
        <p:spPr bwMode="auto">
          <a:xfrm>
            <a:off x="5579151" y="3317553"/>
            <a:ext cx="105966" cy="54769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626" name="Oval 271"/>
          <p:cNvSpPr>
            <a:spLocks noChangeArrowheads="1"/>
          </p:cNvSpPr>
          <p:nvPr/>
        </p:nvSpPr>
        <p:spPr bwMode="auto">
          <a:xfrm>
            <a:off x="5333882" y="3254450"/>
            <a:ext cx="347663" cy="10715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grpSp>
        <p:nvGrpSpPr>
          <p:cNvPr id="627" name="Group 272"/>
          <p:cNvGrpSpPr/>
          <p:nvPr/>
        </p:nvGrpSpPr>
        <p:grpSpPr bwMode="auto">
          <a:xfrm>
            <a:off x="5417226" y="3278261"/>
            <a:ext cx="172641" cy="61913"/>
            <a:chOff x="2848" y="848"/>
            <a:chExt cx="140" cy="98"/>
          </a:xfrm>
        </p:grpSpPr>
        <p:sp>
          <p:nvSpPr>
            <p:cNvPr id="628" name="Line 27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29" name="Line 27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30" name="Line 27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31" name="Group 276"/>
          <p:cNvGrpSpPr/>
          <p:nvPr/>
        </p:nvGrpSpPr>
        <p:grpSpPr bwMode="auto">
          <a:xfrm flipV="1">
            <a:off x="5417226" y="3277071"/>
            <a:ext cx="172641" cy="61913"/>
            <a:chOff x="2848" y="848"/>
            <a:chExt cx="140" cy="98"/>
          </a:xfrm>
        </p:grpSpPr>
        <p:sp>
          <p:nvSpPr>
            <p:cNvPr id="632" name="Line 27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33" name="Line 27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34" name="Line 27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35" name="Group 280"/>
          <p:cNvGrpSpPr/>
          <p:nvPr/>
        </p:nvGrpSpPr>
        <p:grpSpPr bwMode="auto">
          <a:xfrm>
            <a:off x="5357695" y="3304455"/>
            <a:ext cx="103585" cy="96441"/>
            <a:chOff x="11283" y="10423"/>
            <a:chExt cx="475" cy="374"/>
          </a:xfrm>
        </p:grpSpPr>
        <p:sp>
          <p:nvSpPr>
            <p:cNvPr id="636" name="Rectangle 281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37" name="Line 282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8" name="Line 283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9" name="Line 284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0" name="Line 285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1" name="Line 286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2" name="Line 287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643" name="Oval 288"/>
          <p:cNvSpPr>
            <a:spLocks noChangeArrowheads="1"/>
          </p:cNvSpPr>
          <p:nvPr/>
        </p:nvSpPr>
        <p:spPr bwMode="auto">
          <a:xfrm>
            <a:off x="5127904" y="2962747"/>
            <a:ext cx="347663" cy="9167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644" name="Line 289"/>
          <p:cNvSpPr>
            <a:spLocks noChangeShapeType="1"/>
          </p:cNvSpPr>
          <p:nvPr/>
        </p:nvSpPr>
        <p:spPr bwMode="auto">
          <a:xfrm>
            <a:off x="5127904" y="2955603"/>
            <a:ext cx="0" cy="5595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45" name="Line 290"/>
          <p:cNvSpPr>
            <a:spLocks noChangeShapeType="1"/>
          </p:cNvSpPr>
          <p:nvPr/>
        </p:nvSpPr>
        <p:spPr bwMode="auto">
          <a:xfrm>
            <a:off x="5475567" y="2955603"/>
            <a:ext cx="0" cy="55959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46" name="Rectangle 291"/>
          <p:cNvSpPr>
            <a:spLocks noChangeArrowheads="1"/>
          </p:cNvSpPr>
          <p:nvPr/>
        </p:nvSpPr>
        <p:spPr bwMode="auto">
          <a:xfrm>
            <a:off x="5127905" y="2955603"/>
            <a:ext cx="82153" cy="54769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647" name="Rectangle 292"/>
          <p:cNvSpPr>
            <a:spLocks noChangeArrowheads="1"/>
          </p:cNvSpPr>
          <p:nvPr/>
        </p:nvSpPr>
        <p:spPr bwMode="auto">
          <a:xfrm>
            <a:off x="5370792" y="2952031"/>
            <a:ext cx="104775" cy="54769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5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648" name="Oval 293"/>
          <p:cNvSpPr>
            <a:spLocks noChangeArrowheads="1"/>
          </p:cNvSpPr>
          <p:nvPr/>
        </p:nvSpPr>
        <p:spPr bwMode="auto">
          <a:xfrm>
            <a:off x="5124332" y="2890118"/>
            <a:ext cx="348854" cy="10596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/>
          </a:p>
        </p:txBody>
      </p:sp>
      <p:grpSp>
        <p:nvGrpSpPr>
          <p:cNvPr id="649" name="Group 294"/>
          <p:cNvGrpSpPr/>
          <p:nvPr/>
        </p:nvGrpSpPr>
        <p:grpSpPr bwMode="auto">
          <a:xfrm>
            <a:off x="5208867" y="2912740"/>
            <a:ext cx="171450" cy="63103"/>
            <a:chOff x="2848" y="848"/>
            <a:chExt cx="140" cy="98"/>
          </a:xfrm>
        </p:grpSpPr>
        <p:sp>
          <p:nvSpPr>
            <p:cNvPr id="650" name="Line 29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1" name="Line 29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2" name="Line 29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653" name="Group 298"/>
          <p:cNvGrpSpPr/>
          <p:nvPr/>
        </p:nvGrpSpPr>
        <p:grpSpPr bwMode="auto">
          <a:xfrm flipV="1">
            <a:off x="5208867" y="2911549"/>
            <a:ext cx="171450" cy="63104"/>
            <a:chOff x="2848" y="848"/>
            <a:chExt cx="140" cy="98"/>
          </a:xfrm>
        </p:grpSpPr>
        <p:sp>
          <p:nvSpPr>
            <p:cNvPr id="654" name="Line 29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5" name="Line 30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56" name="Line 30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657" name="Line 302"/>
          <p:cNvSpPr>
            <a:spLocks noChangeShapeType="1"/>
          </p:cNvSpPr>
          <p:nvPr/>
        </p:nvSpPr>
        <p:spPr bwMode="auto">
          <a:xfrm flipH="1">
            <a:off x="4917164" y="3040137"/>
            <a:ext cx="284560" cy="31670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58" name="Group 303"/>
          <p:cNvGrpSpPr/>
          <p:nvPr/>
        </p:nvGrpSpPr>
        <p:grpSpPr bwMode="auto">
          <a:xfrm rot="8027572">
            <a:off x="5229108" y="2892500"/>
            <a:ext cx="126206" cy="78581"/>
            <a:chOff x="11283" y="10423"/>
            <a:chExt cx="475" cy="374"/>
          </a:xfrm>
        </p:grpSpPr>
        <p:sp>
          <p:nvSpPr>
            <p:cNvPr id="659" name="Rectangle 304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60" name="Line 305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1" name="Line 306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2" name="Line 307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3" name="Line 308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4" name="Line 309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5" name="Line 310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666" name="Freeform 311"/>
          <p:cNvSpPr/>
          <p:nvPr/>
        </p:nvSpPr>
        <p:spPr bwMode="auto">
          <a:xfrm>
            <a:off x="4864776" y="2235274"/>
            <a:ext cx="1659731" cy="1147763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67" name="Freeform 312"/>
          <p:cNvSpPr/>
          <p:nvPr/>
        </p:nvSpPr>
        <p:spPr bwMode="auto">
          <a:xfrm>
            <a:off x="4733807" y="2272184"/>
            <a:ext cx="1881188" cy="1128713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68" name="Freeform 313"/>
          <p:cNvSpPr/>
          <p:nvPr/>
        </p:nvSpPr>
        <p:spPr bwMode="auto">
          <a:xfrm>
            <a:off x="4774289" y="2291234"/>
            <a:ext cx="1897856" cy="1042988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FF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669" name="Group 314"/>
          <p:cNvGrpSpPr/>
          <p:nvPr/>
        </p:nvGrpSpPr>
        <p:grpSpPr bwMode="auto">
          <a:xfrm>
            <a:off x="4718330" y="2977034"/>
            <a:ext cx="29765" cy="105965"/>
            <a:chOff x="10104" y="10005"/>
            <a:chExt cx="137" cy="411"/>
          </a:xfrm>
        </p:grpSpPr>
        <p:sp>
          <p:nvSpPr>
            <p:cNvPr id="670" name="Oval 315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71" name="Oval 316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672" name="Group 317"/>
          <p:cNvGrpSpPr/>
          <p:nvPr/>
        </p:nvGrpSpPr>
        <p:grpSpPr bwMode="auto">
          <a:xfrm>
            <a:off x="6506649" y="3068712"/>
            <a:ext cx="29765" cy="107156"/>
            <a:chOff x="10104" y="10005"/>
            <a:chExt cx="137" cy="411"/>
          </a:xfrm>
        </p:grpSpPr>
        <p:sp>
          <p:nvSpPr>
            <p:cNvPr id="673" name="Oval 318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74" name="Oval 319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675" name="Group 320"/>
          <p:cNvGrpSpPr/>
          <p:nvPr/>
        </p:nvGrpSpPr>
        <p:grpSpPr bwMode="auto">
          <a:xfrm>
            <a:off x="6653095" y="2263850"/>
            <a:ext cx="29766" cy="107156"/>
            <a:chOff x="10104" y="10005"/>
            <a:chExt cx="137" cy="411"/>
          </a:xfrm>
        </p:grpSpPr>
        <p:sp>
          <p:nvSpPr>
            <p:cNvPr id="676" name="Oval 321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77" name="Oval 322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A28B81B-AA1E-4971-B0A4-191772427CC7}"/>
              </a:ext>
            </a:extLst>
          </p:cNvPr>
          <p:cNvGrpSpPr/>
          <p:nvPr/>
        </p:nvGrpSpPr>
        <p:grpSpPr>
          <a:xfrm>
            <a:off x="1801019" y="2072159"/>
            <a:ext cx="2333625" cy="1808797"/>
            <a:chOff x="1801019" y="2072159"/>
            <a:chExt cx="2333625" cy="1808797"/>
          </a:xfrm>
        </p:grpSpPr>
        <p:sp>
          <p:nvSpPr>
            <p:cNvPr id="678" name="Line 330"/>
            <p:cNvSpPr>
              <a:spLocks noChangeShapeType="1"/>
            </p:cNvSpPr>
            <p:nvPr/>
          </p:nvSpPr>
          <p:spPr bwMode="auto">
            <a:xfrm>
              <a:off x="2276078" y="2144786"/>
              <a:ext cx="0" cy="1395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679" name="Line 331"/>
            <p:cNvSpPr>
              <a:spLocks noChangeShapeType="1"/>
            </p:cNvSpPr>
            <p:nvPr/>
          </p:nvSpPr>
          <p:spPr bwMode="auto">
            <a:xfrm flipV="1">
              <a:off x="2264172" y="3534246"/>
              <a:ext cx="1750219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680" name="Freeform 333"/>
            <p:cNvSpPr/>
            <p:nvPr/>
          </p:nvSpPr>
          <p:spPr bwMode="auto">
            <a:xfrm>
              <a:off x="2267744" y="2931790"/>
              <a:ext cx="1866900" cy="60483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8" h="380">
                  <a:moveTo>
                    <a:pt x="0" y="375"/>
                  </a:moveTo>
                  <a:cubicBezTo>
                    <a:pt x="109" y="315"/>
                    <a:pt x="474" y="0"/>
                    <a:pt x="651" y="14"/>
                  </a:cubicBezTo>
                  <a:cubicBezTo>
                    <a:pt x="828" y="28"/>
                    <a:pt x="730" y="260"/>
                    <a:pt x="914" y="320"/>
                  </a:cubicBezTo>
                  <a:cubicBezTo>
                    <a:pt x="1098" y="380"/>
                    <a:pt x="1432" y="342"/>
                    <a:pt x="1568" y="348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681" name="Line 334"/>
            <p:cNvSpPr>
              <a:spLocks noChangeShapeType="1"/>
            </p:cNvSpPr>
            <p:nvPr/>
          </p:nvSpPr>
          <p:spPr bwMode="auto">
            <a:xfrm>
              <a:off x="2177257" y="2259087"/>
              <a:ext cx="940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682" name="Line 335"/>
            <p:cNvSpPr>
              <a:spLocks noChangeShapeType="1"/>
            </p:cNvSpPr>
            <p:nvPr/>
          </p:nvSpPr>
          <p:spPr bwMode="auto">
            <a:xfrm>
              <a:off x="3627438" y="3540199"/>
              <a:ext cx="0" cy="101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683" name="Text Box 336"/>
            <p:cNvSpPr txBox="1">
              <a:spLocks noChangeArrowheads="1"/>
            </p:cNvSpPr>
            <p:nvPr/>
          </p:nvSpPr>
          <p:spPr bwMode="auto">
            <a:xfrm>
              <a:off x="1801019" y="2072159"/>
              <a:ext cx="389850" cy="2539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C/2</a:t>
              </a:r>
            </a:p>
          </p:txBody>
        </p:sp>
        <p:sp>
          <p:nvSpPr>
            <p:cNvPr id="684" name="Text Box 337"/>
            <p:cNvSpPr txBox="1">
              <a:spLocks noChangeArrowheads="1"/>
            </p:cNvSpPr>
            <p:nvPr/>
          </p:nvSpPr>
          <p:spPr bwMode="auto">
            <a:xfrm>
              <a:off x="3478609" y="3579490"/>
              <a:ext cx="389850" cy="2539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 dirty="0"/>
                <a:t>C/2</a:t>
              </a:r>
            </a:p>
          </p:txBody>
        </p:sp>
        <p:sp>
          <p:nvSpPr>
            <p:cNvPr id="685" name="Text Box 338"/>
            <p:cNvSpPr txBox="1">
              <a:spLocks noChangeArrowheads="1"/>
            </p:cNvSpPr>
            <p:nvPr/>
          </p:nvSpPr>
          <p:spPr bwMode="auto">
            <a:xfrm rot="16200000">
              <a:off x="1731368" y="2754864"/>
              <a:ext cx="606028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800">
                  <a:latin typeface="Symbol" panose="05050102010706020507" charset="0"/>
                </a:rPr>
                <a:t>l</a:t>
              </a:r>
              <a:r>
                <a:rPr lang="en-US" sz="1800" baseline="-25000">
                  <a:latin typeface="Arial" panose="020B0604020202020204" pitchFamily="34" charset="0"/>
                </a:rPr>
                <a:t>out</a:t>
              </a:r>
            </a:p>
          </p:txBody>
        </p:sp>
        <p:sp>
          <p:nvSpPr>
            <p:cNvPr id="686" name="Text Box 339"/>
            <p:cNvSpPr txBox="1">
              <a:spLocks noChangeArrowheads="1"/>
            </p:cNvSpPr>
            <p:nvPr/>
          </p:nvSpPr>
          <p:spPr bwMode="auto">
            <a:xfrm>
              <a:off x="2815431" y="3511624"/>
              <a:ext cx="473206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dirty="0" err="1">
                  <a:latin typeface="Symbol" panose="05050102010706020507" pitchFamily="18" charset="2"/>
                </a:rPr>
                <a:t>l</a:t>
              </a:r>
              <a:r>
                <a:rPr lang="en-US" altLang="zh-CN" sz="1800" baseline="-25000" dirty="0" err="1">
                  <a:latin typeface="Arial" panose="020B0604020202020204" pitchFamily="34" charset="0"/>
                </a:rPr>
                <a:t>in</a:t>
              </a:r>
              <a:r>
                <a:rPr lang="en-US" altLang="zh-CN" sz="1800" dirty="0">
                  <a:latin typeface="Arial" panose="020B0604020202020204" pitchFamily="34" charset="0"/>
                </a:rPr>
                <a:t>'</a:t>
              </a:r>
              <a:endParaRPr lang="en-US" altLang="zh-CN" sz="1800" baseline="30000" dirty="0">
                <a:latin typeface="Arial" panose="020B0604020202020204" pitchFamily="34" charset="0"/>
              </a:endParaRPr>
            </a:p>
          </p:txBody>
        </p:sp>
      </p:grpSp>
      <p:sp>
        <p:nvSpPr>
          <p:cNvPr id="687" name="Rectangle 4"/>
          <p:cNvSpPr>
            <a:spLocks noChangeArrowheads="1"/>
          </p:cNvSpPr>
          <p:nvPr/>
        </p:nvSpPr>
        <p:spPr bwMode="auto">
          <a:xfrm>
            <a:off x="1488083" y="4065265"/>
            <a:ext cx="6572411" cy="77381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spcBef>
                <a:spcPts val="6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新的拥塞代价</a:t>
            </a:r>
            <a:r>
              <a:rPr lang="en-US" altLang="ja-JP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6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一个路由器将分组丢失，这个路径上先前的路由器也做了无用功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灯片编号占位符 2">
            <a:extLst>
              <a:ext uri="{FF2B5EF4-FFF2-40B4-BE49-F238E27FC236}">
                <a16:creationId xmlns:a16="http://schemas.microsoft.com/office/drawing/2014/main" id="{ED535EED-980C-4531-9699-8716CEB171B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159" name="AutoShape 5">
            <a:extLst>
              <a:ext uri="{FF2B5EF4-FFF2-40B4-BE49-F238E27FC236}">
                <a16:creationId xmlns:a16="http://schemas.microsoft.com/office/drawing/2014/main" id="{91397862-C3FA-42D3-8816-EB7F05118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272807" cy="801989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3.6.1 </a:t>
            </a:r>
            <a:r>
              <a:rPr lang="zh-CN" altLang="en-US" dirty="0">
                <a:effectLst/>
              </a:rPr>
              <a:t>拥塞的原因和代价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场景</a:t>
            </a:r>
            <a:r>
              <a:rPr lang="en-US" altLang="zh-CN" dirty="0">
                <a:effectLst/>
              </a:rPr>
              <a:t>1-3</a:t>
            </a: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sp>
        <p:nvSpPr>
          <p:cNvPr id="158" name="灯片编号占位符 2">
            <a:extLst>
              <a:ext uri="{FF2B5EF4-FFF2-40B4-BE49-F238E27FC236}">
                <a16:creationId xmlns:a16="http://schemas.microsoft.com/office/drawing/2014/main" id="{ED535EED-980C-4531-9699-8716CEB171B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159" name="AutoShape 5">
            <a:extLst>
              <a:ext uri="{FF2B5EF4-FFF2-40B4-BE49-F238E27FC236}">
                <a16:creationId xmlns:a16="http://schemas.microsoft.com/office/drawing/2014/main" id="{91397862-C3FA-42D3-8816-EB7F05118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60" name="Group 107">
            <a:extLst>
              <a:ext uri="{FF2B5EF4-FFF2-40B4-BE49-F238E27FC236}">
                <a16:creationId xmlns:a16="http://schemas.microsoft.com/office/drawing/2014/main" id="{577E573E-6937-45FE-8D1F-F50F7F0C205F}"/>
              </a:ext>
            </a:extLst>
          </p:cNvPr>
          <p:cNvGrpSpPr/>
          <p:nvPr/>
        </p:nvGrpSpPr>
        <p:grpSpPr bwMode="auto">
          <a:xfrm>
            <a:off x="730431" y="2138491"/>
            <a:ext cx="2063396" cy="1524116"/>
            <a:chOff x="788" y="2438"/>
            <a:chExt cx="1519" cy="1122"/>
          </a:xfrm>
        </p:grpSpPr>
        <p:sp>
          <p:nvSpPr>
            <p:cNvPr id="161" name="Line 94">
              <a:extLst>
                <a:ext uri="{FF2B5EF4-FFF2-40B4-BE49-F238E27FC236}">
                  <a16:creationId xmlns:a16="http://schemas.microsoft.com/office/drawing/2014/main" id="{DD8DAD32-5A7D-43B0-9762-BBBF72F4B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2507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62" name="Line 95">
              <a:extLst>
                <a:ext uri="{FF2B5EF4-FFF2-40B4-BE49-F238E27FC236}">
                  <a16:creationId xmlns:a16="http://schemas.microsoft.com/office/drawing/2014/main" id="{BE3B27BF-6C4C-48AC-AC5B-E12D4F248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5" y="3307"/>
              <a:ext cx="92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63" name="Line 96">
              <a:extLst>
                <a:ext uri="{FF2B5EF4-FFF2-40B4-BE49-F238E27FC236}">
                  <a16:creationId xmlns:a16="http://schemas.microsoft.com/office/drawing/2014/main" id="{C1A2F2A3-39E7-4D27-A088-86A9DD6DB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" y="2595"/>
              <a:ext cx="0" cy="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64" name="Freeform 97">
              <a:extLst>
                <a:ext uri="{FF2B5EF4-FFF2-40B4-BE49-F238E27FC236}">
                  <a16:creationId xmlns:a16="http://schemas.microsoft.com/office/drawing/2014/main" id="{66014497-4873-4F40-A2FE-BC36C6C224F6}"/>
                </a:ext>
              </a:extLst>
            </p:cNvPr>
            <p:cNvSpPr/>
            <p:nvPr/>
          </p:nvSpPr>
          <p:spPr bwMode="auto">
            <a:xfrm>
              <a:off x="1137" y="2573"/>
              <a:ext cx="1170" cy="732"/>
            </a:xfrm>
            <a:custGeom>
              <a:avLst/>
              <a:gdLst>
                <a:gd name="T0" fmla="*/ 0 w 1170"/>
                <a:gd name="T1" fmla="*/ 732 h 732"/>
                <a:gd name="T2" fmla="*/ 720 w 1170"/>
                <a:gd name="T3" fmla="*/ 0 h 732"/>
                <a:gd name="T4" fmla="*/ 1170 w 1170"/>
                <a:gd name="T5" fmla="*/ 0 h 7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70" h="732">
                  <a:moveTo>
                    <a:pt x="0" y="732"/>
                  </a:moveTo>
                  <a:lnTo>
                    <a:pt x="720" y="0"/>
                  </a:lnTo>
                  <a:lnTo>
                    <a:pt x="117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65" name="Line 98">
              <a:extLst>
                <a:ext uri="{FF2B5EF4-FFF2-40B4-BE49-F238E27FC236}">
                  <a16:creationId xmlns:a16="http://schemas.microsoft.com/office/drawing/2014/main" id="{D9799849-734A-4E67-87E2-163137471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2573"/>
              <a:ext cx="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66" name="Line 99">
              <a:extLst>
                <a:ext uri="{FF2B5EF4-FFF2-40B4-BE49-F238E27FC236}">
                  <a16:creationId xmlns:a16="http://schemas.microsoft.com/office/drawing/2014/main" id="{C0E7E516-7EAB-44BD-BDAB-5E0102180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3" y="3311"/>
              <a:ext cx="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67" name="Text Box 100">
              <a:extLst>
                <a:ext uri="{FF2B5EF4-FFF2-40B4-BE49-F238E27FC236}">
                  <a16:creationId xmlns:a16="http://schemas.microsoft.com/office/drawing/2014/main" id="{1B5B2D97-F7C3-46B0-A97C-A673D31A8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438"/>
              <a:ext cx="341" cy="2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/>
                <a:t>R/2</a:t>
              </a:r>
            </a:p>
          </p:txBody>
        </p:sp>
        <p:sp>
          <p:nvSpPr>
            <p:cNvPr id="168" name="Text Box 101">
              <a:extLst>
                <a:ext uri="{FF2B5EF4-FFF2-40B4-BE49-F238E27FC236}">
                  <a16:creationId xmlns:a16="http://schemas.microsoft.com/office/drawing/2014/main" id="{CEF5ADC0-40A5-4F4E-853F-6367CE3F1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" y="3333"/>
              <a:ext cx="341" cy="2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/>
                <a:t>R/2</a:t>
              </a:r>
            </a:p>
          </p:txBody>
        </p:sp>
        <p:sp>
          <p:nvSpPr>
            <p:cNvPr id="169" name="Text Box 102">
              <a:extLst>
                <a:ext uri="{FF2B5EF4-FFF2-40B4-BE49-F238E27FC236}">
                  <a16:creationId xmlns:a16="http://schemas.microsoft.com/office/drawing/2014/main" id="{7C246665-790E-4F5A-8BA5-904A441D3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836" y="2851"/>
              <a:ext cx="332" cy="2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Symbol" panose="05050102010706020507" charset="0"/>
                </a:rPr>
                <a:t>l</a:t>
              </a:r>
              <a:r>
                <a:rPr lang="en-US" sz="1400" baseline="-25000" dirty="0">
                  <a:latin typeface="Arial" panose="020B0604020202020204" pitchFamily="34" charset="0"/>
                </a:rPr>
                <a:t>out</a:t>
              </a:r>
            </a:p>
          </p:txBody>
        </p:sp>
        <p:sp>
          <p:nvSpPr>
            <p:cNvPr id="170" name="Text Box 103">
              <a:extLst>
                <a:ext uri="{FF2B5EF4-FFF2-40B4-BE49-F238E27FC236}">
                  <a16:creationId xmlns:a16="http://schemas.microsoft.com/office/drawing/2014/main" id="{EACF5545-CBEF-4B53-8EF4-8678A55EB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287"/>
              <a:ext cx="278" cy="2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Symbol" panose="05050102010706020507" charset="0"/>
                </a:rPr>
                <a:t>l</a:t>
              </a:r>
              <a:r>
                <a:rPr lang="en-US" sz="1400" baseline="-25000">
                  <a:latin typeface="Arial" panose="020B0604020202020204" pitchFamily="34" charset="0"/>
                </a:rPr>
                <a:t>in</a:t>
              </a:r>
            </a:p>
          </p:txBody>
        </p:sp>
        <p:sp>
          <p:nvSpPr>
            <p:cNvPr id="171" name="Line 106">
              <a:extLst>
                <a:ext uri="{FF2B5EF4-FFF2-40B4-BE49-F238E27FC236}">
                  <a16:creationId xmlns:a16="http://schemas.microsoft.com/office/drawing/2014/main" id="{1656CBC4-512D-4437-8E43-26B89A25F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2574"/>
              <a:ext cx="6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5F4814-EE8B-48DF-974B-13108C5410E4}"/>
              </a:ext>
            </a:extLst>
          </p:cNvPr>
          <p:cNvGrpSpPr/>
          <p:nvPr/>
        </p:nvGrpSpPr>
        <p:grpSpPr>
          <a:xfrm>
            <a:off x="3371055" y="2073827"/>
            <a:ext cx="2343769" cy="1567607"/>
            <a:chOff x="3320824" y="1950139"/>
            <a:chExt cx="2451634" cy="1656754"/>
          </a:xfrm>
        </p:grpSpPr>
        <p:sp>
          <p:nvSpPr>
            <p:cNvPr id="173" name="Line 239">
              <a:extLst>
                <a:ext uri="{FF2B5EF4-FFF2-40B4-BE49-F238E27FC236}">
                  <a16:creationId xmlns:a16="http://schemas.microsoft.com/office/drawing/2014/main" id="{334D71A0-27C6-4379-97CC-446700AE5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158" y="2034672"/>
              <a:ext cx="0" cy="128706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4" name="Line 240">
              <a:extLst>
                <a:ext uri="{FF2B5EF4-FFF2-40B4-BE49-F238E27FC236}">
                  <a16:creationId xmlns:a16="http://schemas.microsoft.com/office/drawing/2014/main" id="{69F6FD5F-6E42-4EE8-AFAC-1CB70C8F67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23480" y="2652606"/>
              <a:ext cx="0" cy="134897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5" name="Text Box 241">
              <a:extLst>
                <a:ext uri="{FF2B5EF4-FFF2-40B4-BE49-F238E27FC236}">
                  <a16:creationId xmlns:a16="http://schemas.microsoft.com/office/drawing/2014/main" id="{99C08DB0-FE5A-4A2D-A63F-313A48D3F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824" y="1950139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R/2</a:t>
              </a:r>
            </a:p>
          </p:txBody>
        </p:sp>
        <p:sp>
          <p:nvSpPr>
            <p:cNvPr id="176" name="Line 242">
              <a:extLst>
                <a:ext uri="{FF2B5EF4-FFF2-40B4-BE49-F238E27FC236}">
                  <a16:creationId xmlns:a16="http://schemas.microsoft.com/office/drawing/2014/main" id="{114631D7-9081-4942-B880-E734F649E2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60427" y="1186947"/>
              <a:ext cx="0" cy="2024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7" name="Line 243">
              <a:extLst>
                <a:ext uri="{FF2B5EF4-FFF2-40B4-BE49-F238E27FC236}">
                  <a16:creationId xmlns:a16="http://schemas.microsoft.com/office/drawing/2014/main" id="{9D4D3516-9E91-4F1E-9756-C1FC932722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929495" y="2210885"/>
              <a:ext cx="0" cy="1109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8" name="Text Box 244">
              <a:extLst>
                <a:ext uri="{FF2B5EF4-FFF2-40B4-BE49-F238E27FC236}">
                  <a16:creationId xmlns:a16="http://schemas.microsoft.com/office/drawing/2014/main" id="{86860312-C1DF-4C18-A020-74EF65CD8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143" y="3299116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R/2</a:t>
              </a:r>
            </a:p>
          </p:txBody>
        </p:sp>
        <p:sp>
          <p:nvSpPr>
            <p:cNvPr id="179" name="Freeform 245">
              <a:extLst>
                <a:ext uri="{FF2B5EF4-FFF2-40B4-BE49-F238E27FC236}">
                  <a16:creationId xmlns:a16="http://schemas.microsoft.com/office/drawing/2014/main" id="{36D3BF33-BDF6-4164-A999-95924907BBFA}"/>
                </a:ext>
              </a:extLst>
            </p:cNvPr>
            <p:cNvSpPr/>
            <p:nvPr/>
          </p:nvSpPr>
          <p:spPr bwMode="auto">
            <a:xfrm>
              <a:off x="3756730" y="2188263"/>
              <a:ext cx="1900238" cy="1137047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6" h="955">
                  <a:moveTo>
                    <a:pt x="0" y="955"/>
                  </a:moveTo>
                  <a:cubicBezTo>
                    <a:pt x="126" y="837"/>
                    <a:pt x="27" y="927"/>
                    <a:pt x="758" y="246"/>
                  </a:cubicBezTo>
                  <a:cubicBezTo>
                    <a:pt x="1095" y="0"/>
                    <a:pt x="1453" y="57"/>
                    <a:pt x="1636" y="7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84" name="Text Box 247">
              <a:extLst>
                <a:ext uri="{FF2B5EF4-FFF2-40B4-BE49-F238E27FC236}">
                  <a16:creationId xmlns:a16="http://schemas.microsoft.com/office/drawing/2014/main" id="{ED9A878C-2423-4C66-847A-152A93F96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661" y="3271733"/>
              <a:ext cx="556022" cy="3250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r>
                <a:rPr lang="en-US" altLang="zh-CN" sz="1400" dirty="0" err="1">
                  <a:latin typeface="Symbol" panose="05050102010706020507" pitchFamily="18" charset="2"/>
                </a:rPr>
                <a:t>l</a:t>
              </a:r>
              <a:r>
                <a:rPr lang="en-US" altLang="zh-CN" sz="1400" i="1" baseline="-25000" dirty="0" err="1">
                  <a:latin typeface="Arial" panose="020B0604020202020204" pitchFamily="34" charset="0"/>
                </a:rPr>
                <a:t>i</a:t>
              </a:r>
              <a:r>
                <a:rPr lang="en-US" altLang="zh-CN" sz="1400" baseline="-25000" dirty="0" err="1">
                  <a:latin typeface="Arial" panose="020B0604020202020204" pitchFamily="34" charset="0"/>
                </a:rPr>
                <a:t>n</a:t>
              </a:r>
              <a:r>
                <a:rPr lang="en-US" altLang="zh-CN" sz="1400" dirty="0">
                  <a:latin typeface="Arial" panose="020B0604020202020204" pitchFamily="34" charset="0"/>
                </a:rPr>
                <a:t>'</a:t>
              </a:r>
              <a:endParaRPr lang="en-US" altLang="zh-CN" sz="1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181" name="Text Box 249">
              <a:extLst>
                <a:ext uri="{FF2B5EF4-FFF2-40B4-BE49-F238E27FC236}">
                  <a16:creationId xmlns:a16="http://schemas.microsoft.com/office/drawing/2014/main" id="{FD7225BD-B275-4766-8087-8204EEBBB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290005" y="2605279"/>
              <a:ext cx="463154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400" dirty="0">
                  <a:latin typeface="Symbol" panose="05050102010706020507" charset="0"/>
                  <a:cs typeface="Arial" panose="020B0604020202020204" pitchFamily="34" charset="0"/>
                </a:rPr>
                <a:t>l</a:t>
              </a:r>
              <a:r>
                <a:rPr lang="en-US" sz="1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</p:txBody>
        </p:sp>
        <p:sp>
          <p:nvSpPr>
            <p:cNvPr id="182" name="Line 250">
              <a:extLst>
                <a:ext uri="{FF2B5EF4-FFF2-40B4-BE49-F238E27FC236}">
                  <a16:creationId xmlns:a16="http://schemas.microsoft.com/office/drawing/2014/main" id="{1DECFDFC-F43D-41ED-B5DE-5F938C26B1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722201" y="2198978"/>
              <a:ext cx="1213248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3" name="Oval 251">
              <a:extLst>
                <a:ext uri="{FF2B5EF4-FFF2-40B4-BE49-F238E27FC236}">
                  <a16:creationId xmlns:a16="http://schemas.microsoft.com/office/drawing/2014/main" id="{F5900802-904C-4DA5-B3BA-472922264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111" y="2297801"/>
              <a:ext cx="66675" cy="666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400"/>
            </a:p>
          </p:txBody>
        </p: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5F5BB628-ECC2-491F-A3D6-ED7748ED19A6}"/>
              </a:ext>
            </a:extLst>
          </p:cNvPr>
          <p:cNvGrpSpPr/>
          <p:nvPr/>
        </p:nvGrpSpPr>
        <p:grpSpPr>
          <a:xfrm>
            <a:off x="6270514" y="1929516"/>
            <a:ext cx="2333625" cy="1815108"/>
            <a:chOff x="1801019" y="2072159"/>
            <a:chExt cx="2333625" cy="1815108"/>
          </a:xfrm>
        </p:grpSpPr>
        <p:sp>
          <p:nvSpPr>
            <p:cNvPr id="187" name="Line 330">
              <a:extLst>
                <a:ext uri="{FF2B5EF4-FFF2-40B4-BE49-F238E27FC236}">
                  <a16:creationId xmlns:a16="http://schemas.microsoft.com/office/drawing/2014/main" id="{82C7E5FB-4FEF-4D06-AA27-04CB4F3C9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6078" y="2144786"/>
              <a:ext cx="0" cy="1395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8" name="Line 331">
              <a:extLst>
                <a:ext uri="{FF2B5EF4-FFF2-40B4-BE49-F238E27FC236}">
                  <a16:creationId xmlns:a16="http://schemas.microsoft.com/office/drawing/2014/main" id="{47E4A8E9-1B28-4D87-B4F9-D622E34AD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4172" y="3534246"/>
              <a:ext cx="1750219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9" name="Freeform 333">
              <a:extLst>
                <a:ext uri="{FF2B5EF4-FFF2-40B4-BE49-F238E27FC236}">
                  <a16:creationId xmlns:a16="http://schemas.microsoft.com/office/drawing/2014/main" id="{46E84812-DE7A-4821-B50D-0F7925561C78}"/>
                </a:ext>
              </a:extLst>
            </p:cNvPr>
            <p:cNvSpPr/>
            <p:nvPr/>
          </p:nvSpPr>
          <p:spPr bwMode="auto">
            <a:xfrm>
              <a:off x="2267744" y="2931790"/>
              <a:ext cx="1866900" cy="60483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8" h="380">
                  <a:moveTo>
                    <a:pt x="0" y="375"/>
                  </a:moveTo>
                  <a:cubicBezTo>
                    <a:pt x="109" y="315"/>
                    <a:pt x="474" y="0"/>
                    <a:pt x="651" y="14"/>
                  </a:cubicBezTo>
                  <a:cubicBezTo>
                    <a:pt x="828" y="28"/>
                    <a:pt x="730" y="260"/>
                    <a:pt x="914" y="320"/>
                  </a:cubicBezTo>
                  <a:cubicBezTo>
                    <a:pt x="1098" y="380"/>
                    <a:pt x="1432" y="342"/>
                    <a:pt x="1568" y="348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190" name="Line 334">
              <a:extLst>
                <a:ext uri="{FF2B5EF4-FFF2-40B4-BE49-F238E27FC236}">
                  <a16:creationId xmlns:a16="http://schemas.microsoft.com/office/drawing/2014/main" id="{FDB6476A-42D9-423B-809A-31CE1D926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257" y="2259087"/>
              <a:ext cx="940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91" name="Line 335">
              <a:extLst>
                <a:ext uri="{FF2B5EF4-FFF2-40B4-BE49-F238E27FC236}">
                  <a16:creationId xmlns:a16="http://schemas.microsoft.com/office/drawing/2014/main" id="{FC77E17B-1E99-4103-8952-45163B2D5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438" y="3540199"/>
              <a:ext cx="0" cy="101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4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92" name="Text Box 336">
              <a:extLst>
                <a:ext uri="{FF2B5EF4-FFF2-40B4-BE49-F238E27FC236}">
                  <a16:creationId xmlns:a16="http://schemas.microsoft.com/office/drawing/2014/main" id="{BE3EF907-711D-4C3C-BBA6-740823E02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019" y="2072159"/>
              <a:ext cx="458780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/>
                <a:t>C/2</a:t>
              </a:r>
            </a:p>
          </p:txBody>
        </p:sp>
        <p:sp>
          <p:nvSpPr>
            <p:cNvPr id="193" name="Text Box 337">
              <a:extLst>
                <a:ext uri="{FF2B5EF4-FFF2-40B4-BE49-F238E27FC236}">
                  <a16:creationId xmlns:a16="http://schemas.microsoft.com/office/drawing/2014/main" id="{A47663F2-5312-4547-882F-7646F8D31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609" y="3579490"/>
              <a:ext cx="458780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/>
                <a:t>C/2</a:t>
              </a:r>
            </a:p>
          </p:txBody>
        </p:sp>
        <p:sp>
          <p:nvSpPr>
            <p:cNvPr id="194" name="Text Box 338">
              <a:extLst>
                <a:ext uri="{FF2B5EF4-FFF2-40B4-BE49-F238E27FC236}">
                  <a16:creationId xmlns:a16="http://schemas.microsoft.com/office/drawing/2014/main" id="{0D07DA27-5F73-4AE4-9C9E-8F0840899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731368" y="2785641"/>
              <a:ext cx="606028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latin typeface="Symbol" panose="05050102010706020507" charset="0"/>
                </a:rPr>
                <a:t>l</a:t>
              </a:r>
              <a:r>
                <a:rPr lang="en-US" sz="1400" baseline="-25000" dirty="0">
                  <a:latin typeface="Arial" panose="020B0604020202020204" pitchFamily="34" charset="0"/>
                </a:rPr>
                <a:t>out</a:t>
              </a:r>
            </a:p>
          </p:txBody>
        </p:sp>
        <p:sp>
          <p:nvSpPr>
            <p:cNvPr id="195" name="Text Box 339">
              <a:extLst>
                <a:ext uri="{FF2B5EF4-FFF2-40B4-BE49-F238E27FC236}">
                  <a16:creationId xmlns:a16="http://schemas.microsoft.com/office/drawing/2014/main" id="{30B72817-3F46-4AC3-855B-8602A3CF5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431" y="3511624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400" dirty="0" err="1">
                  <a:latin typeface="Symbol" panose="05050102010706020507" pitchFamily="18" charset="2"/>
                </a:rPr>
                <a:t>l</a:t>
              </a:r>
              <a:r>
                <a:rPr lang="en-US" altLang="zh-CN" sz="1400" baseline="-25000" dirty="0" err="1">
                  <a:latin typeface="Arial" panose="020B0604020202020204" pitchFamily="34" charset="0"/>
                </a:rPr>
                <a:t>in</a:t>
              </a:r>
              <a:r>
                <a:rPr lang="en-US" altLang="zh-CN" sz="1400" dirty="0">
                  <a:latin typeface="Arial" panose="020B0604020202020204" pitchFamily="34" charset="0"/>
                </a:rPr>
                <a:t>'</a:t>
              </a:r>
              <a:endParaRPr lang="en-US" altLang="zh-CN" sz="1400" baseline="300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68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409555" cy="134771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3.6.2 </a:t>
            </a:r>
            <a:r>
              <a:rPr lang="zh-CN" altLang="en-US" dirty="0">
                <a:effectLst/>
              </a:rPr>
              <a:t>拥塞控制的方法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问题的关键：让发送方知道网络中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是否产生了拥塞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effectLst/>
              </a:rPr>
              <a:t>主要有两种方法</a:t>
            </a:r>
            <a:endParaRPr lang="en-US" altLang="zh-CN" dirty="0"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3.6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拥塞控制原理</a:t>
            </a:r>
            <a:endParaRPr lang="zh-CN" altLang="en-US" dirty="0">
              <a:effectLst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24FAE9-235F-42A3-9A86-ED04B94EBC3E}"/>
              </a:ext>
            </a:extLst>
          </p:cNvPr>
          <p:cNvSpPr txBox="1"/>
          <p:nvPr/>
        </p:nvSpPr>
        <p:spPr>
          <a:xfrm>
            <a:off x="1115616" y="2715766"/>
            <a:ext cx="3018284" cy="1656000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网络层不提供显式拥塞反馈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端点通过超时和冗余确认来感知是否发生了拥塞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工作在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实现拥塞控制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Rectangle 9"/>
          <p:cNvSpPr>
            <a:spLocks noChangeArrowheads="1"/>
          </p:cNvSpPr>
          <p:nvPr/>
        </p:nvSpPr>
        <p:spPr bwMode="auto">
          <a:xfrm>
            <a:off x="1043608" y="2371725"/>
            <a:ext cx="1490461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端到端拥塞控制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C69755-A482-43B6-ACAE-06C463BBA14D}"/>
              </a:ext>
            </a:extLst>
          </p:cNvPr>
          <p:cNvSpPr txBox="1"/>
          <p:nvPr/>
        </p:nvSpPr>
        <p:spPr>
          <a:xfrm>
            <a:off x="5032298" y="2715765"/>
            <a:ext cx="3018284" cy="1418337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路由器会告知端点产生了拥塞</a:t>
            </a:r>
          </a:p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使用特殊的分组来告知阻塞</a:t>
            </a:r>
          </a:p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工作在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链路层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617326D6-E4EA-41C9-A0B5-030E35B8E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0026" y="2371725"/>
            <a:ext cx="191681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11931" indent="-211931">
              <a:buNone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网络辅助的拥塞控制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58C030F7-442F-4C36-ABFE-A584E64E296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8D3F98BC-54D9-4E3E-A449-104B53B49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altLang="zh-CN" sz="2400" dirty="0"/>
              <a:t>3.6 </a:t>
            </a:r>
            <a:r>
              <a:rPr lang="zh-CN" altLang="en-US" sz="2400" dirty="0"/>
              <a:t>拥塞控制原理</a:t>
            </a:r>
            <a:endParaRPr lang="en-US" altLang="zh-CN" sz="24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3.7 TCP</a:t>
            </a:r>
            <a:r>
              <a:rPr lang="zh-CN" altLang="en-US" sz="2400" dirty="0"/>
              <a:t>拥塞控制</a:t>
            </a:r>
            <a:endParaRPr lang="en-US" altLang="zh-CN" sz="2400" dirty="0"/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F8C4340C-7EA6-4741-9B1C-00613C841EE4}"/>
              </a:ext>
            </a:extLst>
          </p:cNvPr>
          <p:cNvSpPr txBox="1">
            <a:spLocks/>
          </p:cNvSpPr>
          <p:nvPr/>
        </p:nvSpPr>
        <p:spPr>
          <a:xfrm>
            <a:off x="3491880" y="3363886"/>
            <a:ext cx="3068060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3.8 </a:t>
            </a:r>
            <a:r>
              <a:rPr lang="zh-CN" altLang="en-US" sz="2400" dirty="0"/>
              <a:t>本章复习总结</a:t>
            </a:r>
            <a:endParaRPr lang="en-US" altLang="zh-CN" sz="2400" dirty="0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CD6316B-60A2-4BE4-B585-65AD92EFCE4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22FC3CCF-72B8-4C07-9034-F5BE75163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86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192687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发送方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感知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网络的拥塞程度，来限制发送速度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ffectLst/>
              </a:rPr>
              <a:t>如何感知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网络拥塞？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发送方产生超时事件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收到接收方的</a:t>
            </a:r>
            <a:r>
              <a:rPr lang="en-US" altLang="zh-CN" dirty="0">
                <a:solidFill>
                  <a:srgbClr val="0066CC"/>
                </a:solidFill>
              </a:rPr>
              <a:t>3</a:t>
            </a:r>
            <a:r>
              <a:rPr lang="zh-CN" altLang="en-US" dirty="0">
                <a:solidFill>
                  <a:srgbClr val="0066CC"/>
                </a:solidFill>
              </a:rPr>
              <a:t>个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冗余确认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如何控制拥塞？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发送方设计一个动态调节的“阀门”</a:t>
            </a:r>
            <a:r>
              <a:rPr lang="en-US" altLang="zh-CN" dirty="0">
                <a:solidFill>
                  <a:srgbClr val="0066CC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拥塞窗口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82DE063C-BBEC-40F5-BCD8-8F80EFC9962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F30E456-9625-4998-A927-79ED15246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256583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拥塞窗口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(cwnd)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发送端的一个动态参数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用于控制发送速度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初始值为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1MSS(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最大报文段长度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)</a:t>
            </a: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问题：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如何动态调节拥塞窗口？</a:t>
            </a:r>
            <a:endParaRPr lang="en-US" altLang="zh-CN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25DE537-4543-4119-8BD0-EA5C2EF58AF2}"/>
              </a:ext>
            </a:extLst>
          </p:cNvPr>
          <p:cNvGrpSpPr/>
          <p:nvPr/>
        </p:nvGrpSpPr>
        <p:grpSpPr>
          <a:xfrm>
            <a:off x="1948830" y="2715766"/>
            <a:ext cx="4743450" cy="857250"/>
            <a:chOff x="1948830" y="2715766"/>
            <a:chExt cx="4743450" cy="857250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3491880" y="2715766"/>
              <a:ext cx="1200150" cy="74295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+mj-lt"/>
              </a:endParaRPr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4692030" y="3115816"/>
              <a:ext cx="857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+mj-lt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2634630" y="3115816"/>
              <a:ext cx="857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+mj-lt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663330" y="2944366"/>
              <a:ext cx="857250" cy="285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b="1" dirty="0">
                  <a:latin typeface="+mj-lt"/>
                </a:rPr>
                <a:t>Cwnd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948830" y="3287266"/>
              <a:ext cx="142875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 dirty="0">
                  <a:solidFill>
                    <a:srgbClr val="0070C0"/>
                  </a:solidFill>
                  <a:latin typeface="+mj-lt"/>
                </a:rPr>
                <a:t>Sender Process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4863480" y="3287266"/>
              <a:ext cx="18288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 dirty="0">
                  <a:solidFill>
                    <a:srgbClr val="0070C0"/>
                  </a:solidFill>
                  <a:latin typeface="+mj-lt"/>
                </a:rPr>
                <a:t>Sender Network layer</a:t>
              </a:r>
            </a:p>
          </p:txBody>
        </p:sp>
      </p:grp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059B0F89-E1B6-4DC5-98F7-B3DE893B5A5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BF7B7D39-0167-4D47-ACFF-288213555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336703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拥塞窗口的工作机制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限制向网络中传输的数据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LastByteSent-LastByteAcked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 cwnd</a:t>
            </a: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拥塞窗口是动态参数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传输速率也是动态的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</a:rPr>
              <a:t>粗略地估计，在一个</a:t>
            </a:r>
            <a:r>
              <a:rPr lang="en-US" altLang="zh-CN" dirty="0">
                <a:solidFill>
                  <a:srgbClr val="0066CC"/>
                </a:solidFill>
              </a:rPr>
              <a:t>RTT</a:t>
            </a:r>
            <a:r>
              <a:rPr lang="zh-CN" altLang="en-US" dirty="0">
                <a:solidFill>
                  <a:srgbClr val="0066CC"/>
                </a:solidFill>
              </a:rPr>
              <a:t>内可以传输</a:t>
            </a:r>
            <a:r>
              <a:rPr lang="en-US" altLang="zh-CN" dirty="0">
                <a:solidFill>
                  <a:srgbClr val="0066CC"/>
                </a:solidFill>
              </a:rPr>
              <a:t>cwnd</a:t>
            </a:r>
            <a:r>
              <a:rPr lang="zh-CN" altLang="en-US" dirty="0">
                <a:solidFill>
                  <a:srgbClr val="0066CC"/>
                </a:solidFill>
              </a:rPr>
              <a:t>个字节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691680" y="2067694"/>
            <a:ext cx="4017217" cy="1420048"/>
            <a:chOff x="1349638" y="2348880"/>
            <a:chExt cx="5356289" cy="1893397"/>
          </a:xfrm>
        </p:grpSpPr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2923823" y="2667968"/>
              <a:ext cx="65088" cy="622300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3020661" y="2669555"/>
              <a:ext cx="65087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3119086" y="2667968"/>
              <a:ext cx="65087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3215923" y="2667968"/>
              <a:ext cx="65088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3311173" y="2667968"/>
              <a:ext cx="65088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>
              <a:off x="3408011" y="2667968"/>
              <a:ext cx="65087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4" name="Rectangle 18"/>
            <p:cNvSpPr>
              <a:spLocks noChangeArrowheads="1"/>
            </p:cNvSpPr>
            <p:nvPr/>
          </p:nvSpPr>
          <p:spPr bwMode="auto">
            <a:xfrm>
              <a:off x="3500086" y="2667968"/>
              <a:ext cx="65087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3595336" y="2667968"/>
              <a:ext cx="65087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3690586" y="2667968"/>
              <a:ext cx="65087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3796948" y="2667968"/>
              <a:ext cx="65088" cy="622300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3895373" y="2669555"/>
              <a:ext cx="65088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9" name="Rectangle 23"/>
            <p:cNvSpPr>
              <a:spLocks noChangeArrowheads="1"/>
            </p:cNvSpPr>
            <p:nvPr/>
          </p:nvSpPr>
          <p:spPr bwMode="auto">
            <a:xfrm>
              <a:off x="3992211" y="2667968"/>
              <a:ext cx="65087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0" name="Rectangle 24"/>
            <p:cNvSpPr>
              <a:spLocks noChangeArrowheads="1"/>
            </p:cNvSpPr>
            <p:nvPr/>
          </p:nvSpPr>
          <p:spPr bwMode="auto">
            <a:xfrm>
              <a:off x="4089048" y="2667968"/>
              <a:ext cx="65088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1" name="Rectangle 25"/>
            <p:cNvSpPr>
              <a:spLocks noChangeArrowheads="1"/>
            </p:cNvSpPr>
            <p:nvPr/>
          </p:nvSpPr>
          <p:spPr bwMode="auto">
            <a:xfrm>
              <a:off x="4185886" y="2667968"/>
              <a:ext cx="65087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2" name="Rectangle 26"/>
            <p:cNvSpPr>
              <a:spLocks noChangeArrowheads="1"/>
            </p:cNvSpPr>
            <p:nvPr/>
          </p:nvSpPr>
          <p:spPr bwMode="auto">
            <a:xfrm>
              <a:off x="4281136" y="2667968"/>
              <a:ext cx="65087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3" name="Rectangle 27"/>
            <p:cNvSpPr>
              <a:spLocks noChangeArrowheads="1"/>
            </p:cNvSpPr>
            <p:nvPr/>
          </p:nvSpPr>
          <p:spPr bwMode="auto">
            <a:xfrm>
              <a:off x="4373211" y="2667968"/>
              <a:ext cx="65087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4" name="Rectangle 28"/>
            <p:cNvSpPr>
              <a:spLocks noChangeArrowheads="1"/>
            </p:cNvSpPr>
            <p:nvPr/>
          </p:nvSpPr>
          <p:spPr bwMode="auto">
            <a:xfrm>
              <a:off x="4468461" y="2667968"/>
              <a:ext cx="65087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5" name="Rectangle 29"/>
            <p:cNvSpPr>
              <a:spLocks noChangeArrowheads="1"/>
            </p:cNvSpPr>
            <p:nvPr/>
          </p:nvSpPr>
          <p:spPr bwMode="auto">
            <a:xfrm>
              <a:off x="4565298" y="2667968"/>
              <a:ext cx="65088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6" name="Rectangle 30"/>
            <p:cNvSpPr>
              <a:spLocks noChangeArrowheads="1"/>
            </p:cNvSpPr>
            <p:nvPr/>
          </p:nvSpPr>
          <p:spPr bwMode="auto">
            <a:xfrm>
              <a:off x="4654198" y="2667968"/>
              <a:ext cx="65088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4749448" y="2667968"/>
              <a:ext cx="65088" cy="622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>
              <a:off x="4843111" y="2666380"/>
              <a:ext cx="65087" cy="6223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9" name="Rectangle 33"/>
            <p:cNvSpPr>
              <a:spLocks noChangeArrowheads="1"/>
            </p:cNvSpPr>
            <p:nvPr/>
          </p:nvSpPr>
          <p:spPr bwMode="auto">
            <a:xfrm>
              <a:off x="4935186" y="2666380"/>
              <a:ext cx="65087" cy="6223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0" name="Rectangle 34"/>
            <p:cNvSpPr>
              <a:spLocks noChangeArrowheads="1"/>
            </p:cNvSpPr>
            <p:nvPr/>
          </p:nvSpPr>
          <p:spPr bwMode="auto">
            <a:xfrm>
              <a:off x="5032023" y="2666380"/>
              <a:ext cx="65088" cy="6223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1" name="Rectangle 35"/>
            <p:cNvSpPr>
              <a:spLocks noChangeArrowheads="1"/>
            </p:cNvSpPr>
            <p:nvPr/>
          </p:nvSpPr>
          <p:spPr bwMode="auto">
            <a:xfrm>
              <a:off x="5127273" y="2666380"/>
              <a:ext cx="65088" cy="6223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2" name="Rectangle 36"/>
            <p:cNvSpPr>
              <a:spLocks noChangeArrowheads="1"/>
            </p:cNvSpPr>
            <p:nvPr/>
          </p:nvSpPr>
          <p:spPr bwMode="auto">
            <a:xfrm>
              <a:off x="5216173" y="2666380"/>
              <a:ext cx="65088" cy="6223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3" name="Rectangle 37"/>
            <p:cNvSpPr>
              <a:spLocks noChangeArrowheads="1"/>
            </p:cNvSpPr>
            <p:nvPr/>
          </p:nvSpPr>
          <p:spPr bwMode="auto">
            <a:xfrm>
              <a:off x="5311423" y="2666380"/>
              <a:ext cx="65088" cy="6223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4" name="Rectangle 38"/>
            <p:cNvSpPr>
              <a:spLocks noChangeArrowheads="1"/>
            </p:cNvSpPr>
            <p:nvPr/>
          </p:nvSpPr>
          <p:spPr bwMode="auto">
            <a:xfrm>
              <a:off x="5408261" y="2667968"/>
              <a:ext cx="65087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5" name="Rectangle 39"/>
            <p:cNvSpPr>
              <a:spLocks noChangeArrowheads="1"/>
            </p:cNvSpPr>
            <p:nvPr/>
          </p:nvSpPr>
          <p:spPr bwMode="auto">
            <a:xfrm>
              <a:off x="5505098" y="2669555"/>
              <a:ext cx="65088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>
              <a:off x="5601936" y="2667968"/>
              <a:ext cx="65087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7" name="Rectangle 41"/>
            <p:cNvSpPr>
              <a:spLocks noChangeArrowheads="1"/>
            </p:cNvSpPr>
            <p:nvPr/>
          </p:nvSpPr>
          <p:spPr bwMode="auto">
            <a:xfrm>
              <a:off x="5700361" y="2667968"/>
              <a:ext cx="65087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8" name="Rectangle 42"/>
            <p:cNvSpPr>
              <a:spLocks noChangeArrowheads="1"/>
            </p:cNvSpPr>
            <p:nvPr/>
          </p:nvSpPr>
          <p:spPr bwMode="auto">
            <a:xfrm>
              <a:off x="5795611" y="2667968"/>
              <a:ext cx="65087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9" name="Rectangle 43"/>
            <p:cNvSpPr>
              <a:spLocks noChangeArrowheads="1"/>
            </p:cNvSpPr>
            <p:nvPr/>
          </p:nvSpPr>
          <p:spPr bwMode="auto">
            <a:xfrm>
              <a:off x="5890861" y="2667968"/>
              <a:ext cx="65087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0" name="Rectangle 44"/>
            <p:cNvSpPr>
              <a:spLocks noChangeArrowheads="1"/>
            </p:cNvSpPr>
            <p:nvPr/>
          </p:nvSpPr>
          <p:spPr bwMode="auto">
            <a:xfrm>
              <a:off x="5982936" y="2667968"/>
              <a:ext cx="65087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1" name="Rectangle 45"/>
            <p:cNvSpPr>
              <a:spLocks noChangeArrowheads="1"/>
            </p:cNvSpPr>
            <p:nvPr/>
          </p:nvSpPr>
          <p:spPr bwMode="auto">
            <a:xfrm>
              <a:off x="6079773" y="2667968"/>
              <a:ext cx="65088" cy="6223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2" name="Rectangle 46"/>
            <p:cNvSpPr>
              <a:spLocks noChangeArrowheads="1"/>
            </p:cNvSpPr>
            <p:nvPr/>
          </p:nvSpPr>
          <p:spPr bwMode="auto">
            <a:xfrm>
              <a:off x="6175023" y="2667968"/>
              <a:ext cx="65088" cy="622300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3" name="Rectangle 47"/>
            <p:cNvSpPr>
              <a:spLocks noChangeArrowheads="1"/>
            </p:cNvSpPr>
            <p:nvPr/>
          </p:nvSpPr>
          <p:spPr bwMode="auto">
            <a:xfrm>
              <a:off x="2880961" y="3406155"/>
              <a:ext cx="3408362" cy="88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>
              <a:off x="2966686" y="2558430"/>
              <a:ext cx="3408362" cy="88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5" name="Line 51"/>
            <p:cNvSpPr>
              <a:spLocks noChangeShapeType="1"/>
            </p:cNvSpPr>
            <p:nvPr/>
          </p:nvSpPr>
          <p:spPr bwMode="auto">
            <a:xfrm>
              <a:off x="3887436" y="3361705"/>
              <a:ext cx="90963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46" name="Freeform 53"/>
            <p:cNvSpPr/>
            <p:nvPr/>
          </p:nvSpPr>
          <p:spPr bwMode="auto">
            <a:xfrm>
              <a:off x="3679473" y="3341068"/>
              <a:ext cx="144463" cy="384175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27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47" name="Line 56"/>
            <p:cNvSpPr>
              <a:spLocks noChangeShapeType="1"/>
            </p:cNvSpPr>
            <p:nvPr/>
          </p:nvSpPr>
          <p:spPr bwMode="auto">
            <a:xfrm flipH="1">
              <a:off x="4355178" y="3380755"/>
              <a:ext cx="2157" cy="544513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48" name="Text Box 57"/>
            <p:cNvSpPr txBox="1">
              <a:spLocks noChangeArrowheads="1"/>
            </p:cNvSpPr>
            <p:nvPr/>
          </p:nvSpPr>
          <p:spPr bwMode="auto">
            <a:xfrm>
              <a:off x="2268201" y="3612530"/>
              <a:ext cx="1502976" cy="3170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最后确认的序号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Box 58"/>
            <p:cNvSpPr txBox="1">
              <a:spLocks noChangeArrowheads="1"/>
            </p:cNvSpPr>
            <p:nvPr/>
          </p:nvSpPr>
          <p:spPr bwMode="auto">
            <a:xfrm>
              <a:off x="2940337" y="3925268"/>
              <a:ext cx="2929208" cy="3170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已经发送但尚未确认的序号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 Box 59"/>
            <p:cNvSpPr txBox="1">
              <a:spLocks noChangeArrowheads="1"/>
            </p:cNvSpPr>
            <p:nvPr/>
          </p:nvSpPr>
          <p:spPr bwMode="auto">
            <a:xfrm>
              <a:off x="4930422" y="3604593"/>
              <a:ext cx="1775505" cy="31700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最后发送的序号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4323998" y="2348880"/>
              <a:ext cx="673689" cy="32239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105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cwnd</a:t>
              </a:r>
              <a:endParaRPr lang="en-US" altLang="zh-CN" sz="1050" b="1" i="1" dirty="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grpSp>
          <p:nvGrpSpPr>
            <p:cNvPr id="52" name="Group 62"/>
            <p:cNvGrpSpPr/>
            <p:nvPr/>
          </p:nvGrpSpPr>
          <p:grpSpPr bwMode="auto">
            <a:xfrm>
              <a:off x="4930423" y="2433018"/>
              <a:ext cx="447675" cy="117475"/>
              <a:chOff x="4250" y="1692"/>
              <a:chExt cx="374" cy="86"/>
            </a:xfrm>
          </p:grpSpPr>
          <p:sp>
            <p:nvSpPr>
              <p:cNvPr id="53" name="Line 63"/>
              <p:cNvSpPr>
                <a:spLocks noChangeShapeType="1"/>
              </p:cNvSpPr>
              <p:nvPr/>
            </p:nvSpPr>
            <p:spPr bwMode="auto">
              <a:xfrm>
                <a:off x="4250" y="1738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54" name="Line 64"/>
              <p:cNvSpPr>
                <a:spLocks noChangeShapeType="1"/>
              </p:cNvSpPr>
              <p:nvPr/>
            </p:nvSpPr>
            <p:spPr bwMode="auto">
              <a:xfrm>
                <a:off x="4621" y="1692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grpSp>
          <p:nvGrpSpPr>
            <p:cNvPr id="55" name="Group 65"/>
            <p:cNvGrpSpPr/>
            <p:nvPr/>
          </p:nvGrpSpPr>
          <p:grpSpPr bwMode="auto">
            <a:xfrm rot="10800000">
              <a:off x="3892198" y="2452068"/>
              <a:ext cx="466725" cy="123825"/>
              <a:chOff x="4250" y="1692"/>
              <a:chExt cx="374" cy="86"/>
            </a:xfrm>
          </p:grpSpPr>
          <p:sp>
            <p:nvSpPr>
              <p:cNvPr id="56" name="Line 66"/>
              <p:cNvSpPr>
                <a:spLocks noChangeShapeType="1"/>
              </p:cNvSpPr>
              <p:nvPr/>
            </p:nvSpPr>
            <p:spPr bwMode="auto">
              <a:xfrm>
                <a:off x="4253" y="1739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57" name="Line 67"/>
              <p:cNvSpPr>
                <a:spLocks noChangeShapeType="1"/>
              </p:cNvSpPr>
              <p:nvPr/>
            </p:nvSpPr>
            <p:spPr bwMode="auto">
              <a:xfrm>
                <a:off x="4624" y="1693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58" name="Freeform 69"/>
            <p:cNvSpPr/>
            <p:nvPr/>
          </p:nvSpPr>
          <p:spPr bwMode="auto">
            <a:xfrm flipH="1">
              <a:off x="4784373" y="3429968"/>
              <a:ext cx="144463" cy="301625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27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59" name="Text Box 78"/>
            <p:cNvSpPr txBox="1">
              <a:spLocks noChangeArrowheads="1"/>
            </p:cNvSpPr>
            <p:nvPr/>
          </p:nvSpPr>
          <p:spPr bwMode="auto">
            <a:xfrm>
              <a:off x="1349638" y="2818184"/>
              <a:ext cx="1682512" cy="33855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发送方的序号空间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868144" y="3645524"/>
            <a:ext cx="2289616" cy="561976"/>
            <a:chOff x="5651500" y="5627690"/>
            <a:chExt cx="3052821" cy="749301"/>
          </a:xfrm>
        </p:grpSpPr>
        <p:sp>
          <p:nvSpPr>
            <p:cNvPr id="60" name="Text Box 79"/>
            <p:cNvSpPr txBox="1">
              <a:spLocks noChangeArrowheads="1"/>
            </p:cNvSpPr>
            <p:nvPr/>
          </p:nvSpPr>
          <p:spPr bwMode="auto">
            <a:xfrm>
              <a:off x="5695951" y="5751513"/>
              <a:ext cx="688651" cy="4308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500" dirty="0">
                  <a:solidFill>
                    <a:srgbClr val="0000FF"/>
                  </a:solidFill>
                  <a:latin typeface="Arial" panose="020B0604020202020204" pitchFamily="34" charset="0"/>
                </a:rPr>
                <a:t>rate</a:t>
              </a:r>
            </a:p>
          </p:txBody>
        </p:sp>
        <p:grpSp>
          <p:nvGrpSpPr>
            <p:cNvPr id="61" name="Group 82"/>
            <p:cNvGrpSpPr/>
            <p:nvPr/>
          </p:nvGrpSpPr>
          <p:grpSpPr bwMode="auto">
            <a:xfrm>
              <a:off x="6405349" y="5751517"/>
              <a:ext cx="931863" cy="474664"/>
              <a:chOff x="4214" y="2517"/>
              <a:chExt cx="587" cy="299"/>
            </a:xfrm>
          </p:grpSpPr>
          <p:sp>
            <p:nvSpPr>
              <p:cNvPr id="62" name="Text Box 80"/>
              <p:cNvSpPr txBox="1">
                <a:spLocks noChangeArrowheads="1"/>
              </p:cNvSpPr>
              <p:nvPr/>
            </p:nvSpPr>
            <p:spPr bwMode="auto">
              <a:xfrm>
                <a:off x="4216" y="2517"/>
                <a:ext cx="585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0000FF"/>
                    </a:solidFill>
                  </a:rPr>
                  <a:t>~</a:t>
                </a:r>
              </a:p>
            </p:txBody>
          </p:sp>
          <p:sp>
            <p:nvSpPr>
              <p:cNvPr id="63" name="Text Box 81"/>
              <p:cNvSpPr txBox="1">
                <a:spLocks noChangeArrowheads="1"/>
              </p:cNvSpPr>
              <p:nvPr/>
            </p:nvSpPr>
            <p:spPr bwMode="auto">
              <a:xfrm>
                <a:off x="4214" y="2564"/>
                <a:ext cx="585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 dirty="0">
                    <a:solidFill>
                      <a:srgbClr val="0000FF"/>
                    </a:solidFill>
                  </a:rPr>
                  <a:t>~</a:t>
                </a:r>
              </a:p>
            </p:txBody>
          </p:sp>
        </p:grpSp>
        <p:grpSp>
          <p:nvGrpSpPr>
            <p:cNvPr id="64" name="Group 86"/>
            <p:cNvGrpSpPr/>
            <p:nvPr/>
          </p:nvGrpSpPr>
          <p:grpSpPr bwMode="auto">
            <a:xfrm>
              <a:off x="6777043" y="5627690"/>
              <a:ext cx="781050" cy="749301"/>
              <a:chOff x="4400" y="2509"/>
              <a:chExt cx="492" cy="472"/>
            </a:xfrm>
          </p:grpSpPr>
          <p:sp>
            <p:nvSpPr>
              <p:cNvPr id="65" name="Text Box 83"/>
              <p:cNvSpPr txBox="1">
                <a:spLocks noChangeArrowheads="1"/>
              </p:cNvSpPr>
              <p:nvPr/>
            </p:nvSpPr>
            <p:spPr bwMode="auto">
              <a:xfrm>
                <a:off x="4400" y="2509"/>
                <a:ext cx="49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 dirty="0">
                    <a:solidFill>
                      <a:srgbClr val="0000FF"/>
                    </a:solidFill>
                  </a:rPr>
                  <a:t>cwnd</a:t>
                </a:r>
              </a:p>
            </p:txBody>
          </p:sp>
          <p:sp>
            <p:nvSpPr>
              <p:cNvPr id="66" name="Text Box 84"/>
              <p:cNvSpPr txBox="1">
                <a:spLocks noChangeArrowheads="1"/>
              </p:cNvSpPr>
              <p:nvPr/>
            </p:nvSpPr>
            <p:spPr bwMode="auto">
              <a:xfrm>
                <a:off x="4443" y="2729"/>
                <a:ext cx="404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0000FF"/>
                    </a:solidFill>
                  </a:rPr>
                  <a:t>RTT</a:t>
                </a:r>
              </a:p>
            </p:txBody>
          </p:sp>
          <p:sp>
            <p:nvSpPr>
              <p:cNvPr id="67" name="Line 85"/>
              <p:cNvSpPr>
                <a:spLocks noChangeShapeType="1"/>
              </p:cNvSpPr>
              <p:nvPr/>
            </p:nvSpPr>
            <p:spPr bwMode="auto">
              <a:xfrm>
                <a:off x="4430" y="2731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solidFill>
                    <a:srgbClr val="0000FF"/>
                  </a:solidFill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68" name="Text Box 87"/>
            <p:cNvSpPr txBox="1">
              <a:spLocks noChangeArrowheads="1"/>
            </p:cNvSpPr>
            <p:nvPr/>
          </p:nvSpPr>
          <p:spPr bwMode="auto">
            <a:xfrm>
              <a:off x="7494588" y="5786438"/>
              <a:ext cx="1209733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>
                  <a:solidFill>
                    <a:srgbClr val="0000FF"/>
                  </a:solidFill>
                </a:rPr>
                <a:t>bytes/sec</a:t>
              </a:r>
            </a:p>
          </p:txBody>
        </p:sp>
        <p:sp>
          <p:nvSpPr>
            <p:cNvPr id="69" name="Rectangle 88"/>
            <p:cNvSpPr>
              <a:spLocks noChangeArrowheads="1"/>
            </p:cNvSpPr>
            <p:nvPr/>
          </p:nvSpPr>
          <p:spPr bwMode="auto">
            <a:xfrm>
              <a:off x="5651500" y="5662613"/>
              <a:ext cx="3035300" cy="644525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500" dirty="0">
                <a:solidFill>
                  <a:srgbClr val="0000FF"/>
                </a:solidFill>
              </a:endParaRPr>
            </a:p>
          </p:txBody>
        </p:sp>
      </p:grpSp>
      <p:sp>
        <p:nvSpPr>
          <p:cNvPr id="71" name="灯片编号占位符 2">
            <a:extLst>
              <a:ext uri="{FF2B5EF4-FFF2-40B4-BE49-F238E27FC236}">
                <a16:creationId xmlns:a16="http://schemas.microsoft.com/office/drawing/2014/main" id="{0F891D95-F12A-4841-A31C-06A39197933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72" name="AutoShape 5">
            <a:extLst>
              <a:ext uri="{FF2B5EF4-FFF2-40B4-BE49-F238E27FC236}">
                <a16:creationId xmlns:a16="http://schemas.microsoft.com/office/drawing/2014/main" id="{A7F02F3E-290C-4CA9-961E-7198BA468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408711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拥塞窗口的动态调节策略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在拥塞产生之前，保守地增加拥塞窗口的大小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00"/>
                </a:solidFill>
                <a:effectLst/>
              </a:rPr>
              <a:t>加性增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每次增加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1MSS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个字节，直到检测到丢包事件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在感知到拥塞后，迅速地减小拥塞窗口的大小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  <a:effectLst/>
              </a:rPr>
              <a:t>乘性减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发生丢包事件后，拥塞窗口马上缩小</a:t>
            </a:r>
            <a:r>
              <a:rPr lang="zh-CN" altLang="en-US" dirty="0">
                <a:solidFill>
                  <a:srgbClr val="0066CC"/>
                </a:solidFill>
              </a:rPr>
              <a:t>一半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V="1">
            <a:off x="2411760" y="3849434"/>
            <a:ext cx="127397" cy="127397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>
            <a:off x="2547491" y="3841099"/>
            <a:ext cx="0" cy="4822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 flipV="1">
            <a:off x="2539156" y="3604166"/>
            <a:ext cx="736997" cy="735806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267819" y="3605356"/>
            <a:ext cx="0" cy="60126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V="1">
            <a:off x="3261866" y="3828003"/>
            <a:ext cx="394097" cy="392906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20" name="Line 24"/>
          <p:cNvSpPr>
            <a:spLocks noChangeShapeType="1"/>
          </p:cNvSpPr>
          <p:nvPr/>
        </p:nvSpPr>
        <p:spPr bwMode="auto">
          <a:xfrm>
            <a:off x="3655963" y="3824431"/>
            <a:ext cx="0" cy="51673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pitchFamily="34" charset="0"/>
              <a:ea typeface="MS PGothic" charset="0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3664298" y="3511296"/>
            <a:ext cx="1877615" cy="813197"/>
            <a:chOff x="4314926" y="4162450"/>
            <a:chExt cx="2503487" cy="1084262"/>
          </a:xfrm>
        </p:grpSpPr>
        <p:sp>
          <p:nvSpPr>
            <p:cNvPr id="21" name="Line 25"/>
            <p:cNvSpPr>
              <a:spLocks noChangeShapeType="1"/>
            </p:cNvSpPr>
            <p:nvPr/>
          </p:nvSpPr>
          <p:spPr bwMode="auto">
            <a:xfrm flipV="1">
              <a:off x="4314926" y="4265637"/>
              <a:ext cx="969963" cy="981075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5280126" y="4265637"/>
              <a:ext cx="11113" cy="8350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 flipV="1">
              <a:off x="5284888" y="4429150"/>
              <a:ext cx="666750" cy="66675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4" name="Line 30"/>
            <p:cNvSpPr>
              <a:spLocks noChangeShapeType="1"/>
            </p:cNvSpPr>
            <p:nvPr/>
          </p:nvSpPr>
          <p:spPr bwMode="auto">
            <a:xfrm>
              <a:off x="5951638" y="4414862"/>
              <a:ext cx="0" cy="7477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5" name="Line 31"/>
            <p:cNvSpPr>
              <a:spLocks noChangeShapeType="1"/>
            </p:cNvSpPr>
            <p:nvPr/>
          </p:nvSpPr>
          <p:spPr bwMode="auto">
            <a:xfrm flipV="1">
              <a:off x="5942113" y="4162450"/>
              <a:ext cx="876300" cy="1014412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</p:grpSp>
      <p:sp>
        <p:nvSpPr>
          <p:cNvPr id="26" name="Text Box 32"/>
          <p:cNvSpPr txBox="1">
            <a:spLocks noChangeArrowheads="1"/>
          </p:cNvSpPr>
          <p:nvPr/>
        </p:nvSpPr>
        <p:spPr bwMode="auto">
          <a:xfrm>
            <a:off x="3085654" y="2926700"/>
            <a:ext cx="3260123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zh-CN" sz="1200" dirty="0">
                <a:solidFill>
                  <a:srgbClr val="006600"/>
                </a:solidFill>
              </a:rPr>
              <a:t>additively increase window size …</a:t>
            </a:r>
          </a:p>
          <a:p>
            <a:pPr algn="l"/>
            <a:r>
              <a:rPr lang="en-US" altLang="zh-CN" sz="1200" dirty="0"/>
              <a:t>…. </a:t>
            </a:r>
            <a:r>
              <a:rPr lang="en-US" altLang="zh-CN" sz="1200" dirty="0">
                <a:solidFill>
                  <a:srgbClr val="FF0000"/>
                </a:solidFill>
              </a:rPr>
              <a:t>until loss occurs (then cut window in half)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899259" y="3011234"/>
            <a:ext cx="3620032" cy="2080796"/>
            <a:chOff x="1961540" y="3495700"/>
            <a:chExt cx="4826710" cy="2774394"/>
          </a:xfrm>
        </p:grpSpPr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 rot="16200000">
              <a:off x="1168588" y="4569662"/>
              <a:ext cx="2139902" cy="553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 b="1" dirty="0">
                  <a:latin typeface="Courier New" panose="02070309020205020404" pitchFamily="49" charset="0"/>
                </a:rPr>
                <a:t>cwnd:</a:t>
              </a:r>
              <a:r>
                <a:rPr lang="en-US" sz="1050" dirty="0">
                  <a:latin typeface="Arial" panose="020B0604020202020204" pitchFamily="34" charset="0"/>
                </a:rPr>
                <a:t> TCP sender </a:t>
              </a:r>
            </a:p>
            <a:p>
              <a:pPr>
                <a:defRPr/>
              </a:pPr>
              <a:r>
                <a:rPr lang="en-US" sz="1050" dirty="0">
                  <a:latin typeface="Arial" panose="020B0604020202020204" pitchFamily="34" charset="0"/>
                </a:rPr>
                <a:t>congestion window size</a:t>
              </a:r>
            </a:p>
          </p:txBody>
        </p:sp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2644875" y="5910287"/>
              <a:ext cx="4143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2633763" y="3495700"/>
              <a:ext cx="0" cy="2416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31" name="Text Box 40"/>
            <p:cNvSpPr txBox="1">
              <a:spLocks noChangeArrowheads="1"/>
            </p:cNvSpPr>
            <p:nvPr/>
          </p:nvSpPr>
          <p:spPr bwMode="auto">
            <a:xfrm>
              <a:off x="4211738" y="5900762"/>
              <a:ext cx="643765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time</a:t>
              </a:r>
            </a:p>
          </p:txBody>
        </p:sp>
      </p:grpSp>
      <p:sp>
        <p:nvSpPr>
          <p:cNvPr id="27" name="灯片编号占位符 2">
            <a:extLst>
              <a:ext uri="{FF2B5EF4-FFF2-40B4-BE49-F238E27FC236}">
                <a16:creationId xmlns:a16="http://schemas.microsoft.com/office/drawing/2014/main" id="{70DC59B9-FD64-4CBC-81D4-4F5529EA0BA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2581FD71-03FC-4600-B0D3-737A68125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624735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主要包含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3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个部分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marL="685800" lvl="2" indent="0">
              <a:buNone/>
            </a:pPr>
            <a:r>
              <a:rPr lang="en-US" altLang="zh-CN" dirty="0">
                <a:solidFill>
                  <a:srgbClr val="0066CC"/>
                </a:solidFill>
              </a:rPr>
              <a:t>(1) </a:t>
            </a:r>
            <a:r>
              <a:rPr lang="zh-CN" altLang="en-US" dirty="0">
                <a:solidFill>
                  <a:srgbClr val="0066CC"/>
                </a:solidFill>
              </a:rPr>
              <a:t>缓慢启动          </a:t>
            </a:r>
            <a:r>
              <a:rPr lang="en-US" altLang="zh-CN" dirty="0">
                <a:solidFill>
                  <a:srgbClr val="0066CC"/>
                </a:solidFill>
              </a:rPr>
              <a:t>(2) </a:t>
            </a:r>
            <a:r>
              <a:rPr lang="zh-CN" altLang="en-US" dirty="0">
                <a:solidFill>
                  <a:srgbClr val="0066CC"/>
                </a:solidFill>
              </a:rPr>
              <a:t>拥塞避免           </a:t>
            </a:r>
            <a:r>
              <a:rPr lang="en-US" altLang="zh-CN" dirty="0">
                <a:solidFill>
                  <a:srgbClr val="0066CC"/>
                </a:solidFill>
              </a:rPr>
              <a:t>(3) </a:t>
            </a:r>
            <a:r>
              <a:rPr lang="zh-CN" altLang="en-US" dirty="0">
                <a:solidFill>
                  <a:srgbClr val="0066CC"/>
                </a:solidFill>
              </a:rPr>
              <a:t>快速恢复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39FC5BBA-D28D-42B7-A4F9-D5DA39AAFFB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AA0B4CB-F366-4DBF-92B3-F9E19E81A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892010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主要包含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3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个部分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marL="685800" lvl="2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(1) </a:t>
            </a:r>
            <a:r>
              <a:rPr lang="zh-CN" altLang="en-US" dirty="0">
                <a:solidFill>
                  <a:srgbClr val="FF0000"/>
                </a:solidFill>
              </a:rPr>
              <a:t>缓慢启动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(2)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拥塞避免 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(3)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快速恢复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连接开始，速率翻倍提高，直到发生第一个丢包事件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拥塞窗口初始值为</a:t>
            </a:r>
            <a:r>
              <a:rPr lang="en-US" altLang="zh-CN" dirty="0">
                <a:solidFill>
                  <a:srgbClr val="0066CC"/>
                </a:solidFill>
              </a:rPr>
              <a:t>1MSS</a:t>
            </a: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每经历</a:t>
            </a:r>
            <a:r>
              <a:rPr lang="en-US" altLang="zh-CN" dirty="0">
                <a:solidFill>
                  <a:srgbClr val="0066CC"/>
                </a:solidFill>
              </a:rPr>
              <a:t>1RTT</a:t>
            </a:r>
            <a:r>
              <a:rPr lang="zh-CN" altLang="en-US" dirty="0">
                <a:solidFill>
                  <a:srgbClr val="0066CC"/>
                </a:solidFill>
              </a:rPr>
              <a:t>，拥塞窗口翻倍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收到</a:t>
            </a:r>
            <a:r>
              <a:rPr lang="en-US" altLang="zh-CN" dirty="0">
                <a:solidFill>
                  <a:srgbClr val="0066CC"/>
                </a:solidFill>
              </a:rPr>
              <a:t>ACK</a:t>
            </a:r>
            <a:r>
              <a:rPr lang="zh-CN" altLang="en-US" dirty="0">
                <a:solidFill>
                  <a:srgbClr val="0066CC"/>
                </a:solidFill>
              </a:rPr>
              <a:t>后便进行更新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初始速度很低，然后指数增长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问题：可否一直指数增长？</a:t>
            </a:r>
            <a:endParaRPr lang="en-US" altLang="zh-CN" dirty="0">
              <a:solidFill>
                <a:srgbClr val="0000FF"/>
              </a:solidFill>
            </a:endParaRPr>
          </a:p>
          <a:p>
            <a:pPr lvl="3"/>
            <a:r>
              <a:rPr lang="zh-CN" altLang="en-US" dirty="0">
                <a:solidFill>
                  <a:srgbClr val="0000FF"/>
                </a:solidFill>
              </a:rPr>
              <a:t>丢包事件产生后要“缩减”拥塞窗口！！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88224" y="1779662"/>
            <a:ext cx="2020388" cy="2794301"/>
            <a:chOff x="5173663" y="1157288"/>
            <a:chExt cx="3396554" cy="4852987"/>
          </a:xfrm>
        </p:grpSpPr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5616575" y="2309813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5246196" y="1171574"/>
              <a:ext cx="892542" cy="40089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900" dirty="0">
                  <a:latin typeface="Arial" panose="020B0604020202020204" pitchFamily="34" charset="0"/>
                </a:rPr>
                <a:t>Host A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 rot="408567">
              <a:off x="6578709" y="2243403"/>
              <a:ext cx="1296772" cy="3709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788">
                  <a:latin typeface="Arial" panose="020B0604020202020204" pitchFamily="34" charset="0"/>
                </a:rPr>
                <a:t>one segment</a:t>
              </a:r>
              <a:endParaRPr lang="en-US" altLang="zh-CN" sz="525"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 rot="16200000">
              <a:off x="5105808" y="2486672"/>
              <a:ext cx="665934" cy="3590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788">
                  <a:latin typeface="Arial" panose="020B0604020202020204" pitchFamily="34" charset="0"/>
                </a:rPr>
                <a:t>RTT</a:t>
              </a:r>
              <a:endParaRPr lang="en-US" altLang="zh-CN" sz="525">
                <a:latin typeface="Arial" panose="020B0604020202020204" pitchFamily="34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7677675" y="1157288"/>
              <a:ext cx="892542" cy="40089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900">
                  <a:latin typeface="Arial" panose="020B0604020202020204" pitchFamily="34" charset="0"/>
                </a:rPr>
                <a:t>Host B</a:t>
              </a: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5611813" y="2124075"/>
              <a:ext cx="0" cy="384810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8126413" y="2162175"/>
              <a:ext cx="0" cy="384810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 flipV="1">
              <a:off x="5430838" y="2273300"/>
              <a:ext cx="4762" cy="2190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5440363" y="2879725"/>
              <a:ext cx="4762" cy="223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5592763" y="2714625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grpSp>
          <p:nvGrpSpPr>
            <p:cNvPr id="19" name="Group 18"/>
            <p:cNvGrpSpPr/>
            <p:nvPr/>
          </p:nvGrpSpPr>
          <p:grpSpPr bwMode="auto">
            <a:xfrm>
              <a:off x="7850195" y="5456253"/>
              <a:ext cx="676276" cy="401638"/>
              <a:chOff x="3323" y="3527"/>
              <a:chExt cx="426" cy="253"/>
            </a:xfrm>
          </p:grpSpPr>
          <p:sp>
            <p:nvSpPr>
              <p:cNvPr id="72" name="Rectangle 19"/>
              <p:cNvSpPr>
                <a:spLocks noChangeArrowheads="1"/>
              </p:cNvSpPr>
              <p:nvPr/>
            </p:nvSpPr>
            <p:spPr bwMode="auto">
              <a:xfrm>
                <a:off x="3342" y="3576"/>
                <a:ext cx="324" cy="1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73" name="Text Box 20"/>
              <p:cNvSpPr txBox="1">
                <a:spLocks noChangeArrowheads="1"/>
              </p:cNvSpPr>
              <p:nvPr/>
            </p:nvSpPr>
            <p:spPr bwMode="auto">
              <a:xfrm>
                <a:off x="3323" y="3527"/>
                <a:ext cx="426" cy="2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900">
                    <a:latin typeface="Arial" panose="020B0604020202020204" pitchFamily="34" charset="0"/>
                  </a:rPr>
                  <a:t>time</a:t>
                </a:r>
                <a:endParaRPr lang="en-US" altLang="zh-CN" sz="525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5621338" y="3090863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5616575" y="3176588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 flipV="1">
              <a:off x="5616575" y="3700463"/>
              <a:ext cx="2528888" cy="3619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 flipV="1">
              <a:off x="5589588" y="3960813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25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 rot="408567">
              <a:off x="6577013" y="3029217"/>
              <a:ext cx="1366839" cy="3709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788">
                  <a:latin typeface="Arial" panose="020B0604020202020204" pitchFamily="34" charset="0"/>
                </a:rPr>
                <a:t>two segments</a:t>
              </a:r>
              <a:endParaRPr lang="en-US" altLang="zh-CN" sz="525"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 rot="408567">
              <a:off x="6669897" y="4043627"/>
              <a:ext cx="1393787" cy="3709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788">
                  <a:latin typeface="Arial" panose="020B0604020202020204" pitchFamily="34" charset="0"/>
                </a:rPr>
                <a:t>four segments</a:t>
              </a:r>
              <a:endParaRPr lang="en-US" altLang="zh-CN" sz="525">
                <a:latin typeface="Times New Roman" panose="02020603050405020304" pitchFamily="18" charset="0"/>
              </a:endParaRPr>
            </a:p>
          </p:txBody>
        </p:sp>
        <p:grpSp>
          <p:nvGrpSpPr>
            <p:cNvPr id="26" name="Group 27"/>
            <p:cNvGrpSpPr/>
            <p:nvPr/>
          </p:nvGrpSpPr>
          <p:grpSpPr bwMode="auto">
            <a:xfrm>
              <a:off x="5611813" y="4095750"/>
              <a:ext cx="2519362" cy="652463"/>
              <a:chOff x="3954" y="2214"/>
              <a:chExt cx="1587" cy="411"/>
            </a:xfrm>
          </p:grpSpPr>
          <p:sp>
            <p:nvSpPr>
              <p:cNvPr id="68" name="Line 28"/>
              <p:cNvSpPr>
                <a:spLocks noChangeShapeType="1"/>
              </p:cNvSpPr>
              <p:nvPr/>
            </p:nvSpPr>
            <p:spPr bwMode="auto">
              <a:xfrm>
                <a:off x="3963" y="2214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69" name="Line 29"/>
              <p:cNvSpPr>
                <a:spLocks noChangeShapeType="1"/>
              </p:cNvSpPr>
              <p:nvPr/>
            </p:nvSpPr>
            <p:spPr bwMode="auto">
              <a:xfrm>
                <a:off x="3954" y="2274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70" name="Line 30"/>
              <p:cNvSpPr>
                <a:spLocks noChangeShapeType="1"/>
              </p:cNvSpPr>
              <p:nvPr/>
            </p:nvSpPr>
            <p:spPr bwMode="auto">
              <a:xfrm>
                <a:off x="3963" y="2340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71" name="Line 31"/>
              <p:cNvSpPr>
                <a:spLocks noChangeShapeType="1"/>
              </p:cNvSpPr>
              <p:nvPr/>
            </p:nvSpPr>
            <p:spPr bwMode="auto">
              <a:xfrm>
                <a:off x="3957" y="2403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grpSp>
          <p:nvGrpSpPr>
            <p:cNvPr id="27" name="Group 32"/>
            <p:cNvGrpSpPr/>
            <p:nvPr/>
          </p:nvGrpSpPr>
          <p:grpSpPr bwMode="auto">
            <a:xfrm flipV="1">
              <a:off x="5897563" y="4476750"/>
              <a:ext cx="2228850" cy="604838"/>
              <a:chOff x="3954" y="2214"/>
              <a:chExt cx="1587" cy="411"/>
            </a:xfrm>
          </p:grpSpPr>
          <p:sp>
            <p:nvSpPr>
              <p:cNvPr id="64" name="Line 33"/>
              <p:cNvSpPr>
                <a:spLocks noChangeShapeType="1"/>
              </p:cNvSpPr>
              <p:nvPr/>
            </p:nvSpPr>
            <p:spPr bwMode="auto">
              <a:xfrm>
                <a:off x="3963" y="2214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65" name="Line 34"/>
              <p:cNvSpPr>
                <a:spLocks noChangeShapeType="1"/>
              </p:cNvSpPr>
              <p:nvPr/>
            </p:nvSpPr>
            <p:spPr bwMode="auto">
              <a:xfrm>
                <a:off x="3954" y="2274"/>
                <a:ext cx="1578" cy="22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66" name="Line 35"/>
              <p:cNvSpPr>
                <a:spLocks noChangeShapeType="1"/>
              </p:cNvSpPr>
              <p:nvPr/>
            </p:nvSpPr>
            <p:spPr bwMode="auto">
              <a:xfrm>
                <a:off x="3963" y="2340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67" name="Line 36"/>
              <p:cNvSpPr>
                <a:spLocks noChangeShapeType="1"/>
              </p:cNvSpPr>
              <p:nvPr/>
            </p:nvSpPr>
            <p:spPr bwMode="auto">
              <a:xfrm>
                <a:off x="3957" y="2403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825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grpSp>
          <p:nvGrpSpPr>
            <p:cNvPr id="28" name="Group 43"/>
            <p:cNvGrpSpPr/>
            <p:nvPr/>
          </p:nvGrpSpPr>
          <p:grpSpPr bwMode="auto">
            <a:xfrm>
              <a:off x="5173663" y="1495425"/>
              <a:ext cx="654050" cy="601663"/>
              <a:chOff x="-44" y="1473"/>
              <a:chExt cx="981" cy="1105"/>
            </a:xfrm>
          </p:grpSpPr>
          <p:pic>
            <p:nvPicPr>
              <p:cNvPr id="62" name="Picture 4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Freeform 45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825"/>
              </a:p>
            </p:txBody>
          </p:sp>
        </p:grpSp>
        <p:grpSp>
          <p:nvGrpSpPr>
            <p:cNvPr id="29" name="Group 46"/>
            <p:cNvGrpSpPr/>
            <p:nvPr/>
          </p:nvGrpSpPr>
          <p:grpSpPr bwMode="auto">
            <a:xfrm>
              <a:off x="7908925" y="1509713"/>
              <a:ext cx="382588" cy="547687"/>
              <a:chOff x="4140" y="429"/>
              <a:chExt cx="1425" cy="2396"/>
            </a:xfrm>
          </p:grpSpPr>
          <p:sp>
            <p:nvSpPr>
              <p:cNvPr id="30" name="Freeform 47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825"/>
              </a:p>
            </p:txBody>
          </p:sp>
          <p:sp>
            <p:nvSpPr>
              <p:cNvPr id="31" name="Rectangle 48"/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7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32" name="Freeform 49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825"/>
              </a:p>
            </p:txBody>
          </p:sp>
          <p:sp>
            <p:nvSpPr>
              <p:cNvPr id="33" name="Freeform 50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825"/>
              </a:p>
            </p:txBody>
          </p:sp>
          <p:sp>
            <p:nvSpPr>
              <p:cNvPr id="34" name="Rectangle 51"/>
              <p:cNvSpPr>
                <a:spLocks noChangeArrowheads="1"/>
              </p:cNvSpPr>
              <p:nvPr/>
            </p:nvSpPr>
            <p:spPr bwMode="auto">
              <a:xfrm>
                <a:off x="4211" y="693"/>
                <a:ext cx="597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grpSp>
            <p:nvGrpSpPr>
              <p:cNvPr id="35" name="Group 52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0" name="AutoShape 53"/>
                <p:cNvSpPr>
                  <a:spLocks noChangeArrowheads="1"/>
                </p:cNvSpPr>
                <p:nvPr/>
              </p:nvSpPr>
              <p:spPr bwMode="auto">
                <a:xfrm>
                  <a:off x="614" y="2565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  <p:sp>
              <p:nvSpPr>
                <p:cNvPr id="61" name="AutoShape 54"/>
                <p:cNvSpPr>
                  <a:spLocks noChangeArrowheads="1"/>
                </p:cNvSpPr>
                <p:nvPr/>
              </p:nvSpPr>
              <p:spPr bwMode="auto">
                <a:xfrm>
                  <a:off x="629" y="2579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</p:grpSp>
          <p:sp>
            <p:nvSpPr>
              <p:cNvPr id="36" name="Rectangle 55"/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grpSp>
            <p:nvGrpSpPr>
              <p:cNvPr id="37" name="Group 56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8" name="AutoShape 57"/>
                <p:cNvSpPr>
                  <a:spLocks noChangeArrowheads="1"/>
                </p:cNvSpPr>
                <p:nvPr/>
              </p:nvSpPr>
              <p:spPr bwMode="auto">
                <a:xfrm>
                  <a:off x="617" y="2565"/>
                  <a:ext cx="723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  <p:sp>
              <p:nvSpPr>
                <p:cNvPr id="59" name="AutoShape 58"/>
                <p:cNvSpPr>
                  <a:spLocks noChangeArrowheads="1"/>
                </p:cNvSpPr>
                <p:nvPr/>
              </p:nvSpPr>
              <p:spPr bwMode="auto">
                <a:xfrm>
                  <a:off x="631" y="2580"/>
                  <a:ext cx="694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</p:grpSp>
          <p:sp>
            <p:nvSpPr>
              <p:cNvPr id="38" name="Rectangle 59"/>
              <p:cNvSpPr>
                <a:spLocks noChangeArrowheads="1"/>
              </p:cNvSpPr>
              <p:nvPr/>
            </p:nvSpPr>
            <p:spPr bwMode="auto">
              <a:xfrm>
                <a:off x="4217" y="1360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39" name="Rectangle 60"/>
              <p:cNvSpPr>
                <a:spLocks noChangeArrowheads="1"/>
              </p:cNvSpPr>
              <p:nvPr/>
            </p:nvSpPr>
            <p:spPr bwMode="auto">
              <a:xfrm>
                <a:off x="4229" y="1658"/>
                <a:ext cx="597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grpSp>
            <p:nvGrpSpPr>
              <p:cNvPr id="40" name="Group 61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6" name="AutoShape 62"/>
                <p:cNvSpPr>
                  <a:spLocks noChangeArrowheads="1"/>
                </p:cNvSpPr>
                <p:nvPr/>
              </p:nvSpPr>
              <p:spPr bwMode="auto">
                <a:xfrm>
                  <a:off x="617" y="2571"/>
                  <a:ext cx="72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  <p:sp>
              <p:nvSpPr>
                <p:cNvPr id="57" name="AutoShape 63"/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2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</p:grpSp>
          <p:sp>
            <p:nvSpPr>
              <p:cNvPr id="41" name="Freeform 64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825"/>
              </a:p>
            </p:txBody>
          </p:sp>
          <p:grpSp>
            <p:nvGrpSpPr>
              <p:cNvPr id="42" name="Group 65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4" name="AutoShape 66"/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29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  <p:sp>
              <p:nvSpPr>
                <p:cNvPr id="55" name="AutoShape 67"/>
                <p:cNvSpPr>
                  <a:spLocks noChangeArrowheads="1"/>
                </p:cNvSpPr>
                <p:nvPr/>
              </p:nvSpPr>
              <p:spPr bwMode="auto">
                <a:xfrm>
                  <a:off x="626" y="2580"/>
                  <a:ext cx="700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825"/>
                </a:p>
              </p:txBody>
            </p:sp>
          </p:grpSp>
          <p:sp>
            <p:nvSpPr>
              <p:cNvPr id="43" name="Rectangle 68"/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5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44" name="Freeform 69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825"/>
              </a:p>
            </p:txBody>
          </p:sp>
          <p:sp>
            <p:nvSpPr>
              <p:cNvPr id="45" name="Freeform 70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825"/>
              </a:p>
            </p:txBody>
          </p:sp>
          <p:sp>
            <p:nvSpPr>
              <p:cNvPr id="46" name="Oval 71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47" name="Freeform 72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825"/>
              </a:p>
            </p:txBody>
          </p:sp>
          <p:sp>
            <p:nvSpPr>
              <p:cNvPr id="48" name="AutoShape 73"/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200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49" name="AutoShape 74"/>
              <p:cNvSpPr>
                <a:spLocks noChangeArrowheads="1"/>
              </p:cNvSpPr>
              <p:nvPr/>
            </p:nvSpPr>
            <p:spPr bwMode="auto">
              <a:xfrm>
                <a:off x="4205" y="2714"/>
                <a:ext cx="1070" cy="7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50" name="Oval 75"/>
              <p:cNvSpPr>
                <a:spLocks noChangeArrowheads="1"/>
              </p:cNvSpPr>
              <p:nvPr/>
            </p:nvSpPr>
            <p:spPr bwMode="auto">
              <a:xfrm>
                <a:off x="4306" y="2381"/>
                <a:ext cx="160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51" name="Oval 76"/>
              <p:cNvSpPr>
                <a:spLocks noChangeArrowheads="1"/>
              </p:cNvSpPr>
              <p:nvPr/>
            </p:nvSpPr>
            <p:spPr bwMode="auto">
              <a:xfrm>
                <a:off x="4489" y="2387"/>
                <a:ext cx="160" cy="13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zh-CN" altLang="zh-CN" sz="9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77"/>
              <p:cNvSpPr>
                <a:spLocks noChangeArrowheads="1"/>
              </p:cNvSpPr>
              <p:nvPr/>
            </p:nvSpPr>
            <p:spPr bwMode="auto">
              <a:xfrm>
                <a:off x="4660" y="2381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  <p:sp>
            <p:nvSpPr>
              <p:cNvPr id="53" name="Rectangle 78"/>
              <p:cNvSpPr>
                <a:spLocks noChangeArrowheads="1"/>
              </p:cNvSpPr>
              <p:nvPr/>
            </p:nvSpPr>
            <p:spPr bwMode="auto">
              <a:xfrm>
                <a:off x="5062" y="1832"/>
                <a:ext cx="83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825"/>
              </a:p>
            </p:txBody>
          </p:sp>
        </p:grpSp>
      </p:grpSp>
      <p:sp>
        <p:nvSpPr>
          <p:cNvPr id="74" name="灯片编号占位符 2">
            <a:extLst>
              <a:ext uri="{FF2B5EF4-FFF2-40B4-BE49-F238E27FC236}">
                <a16:creationId xmlns:a16="http://schemas.microsoft.com/office/drawing/2014/main" id="{1BE8FC16-1934-4966-91E1-886D124426F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75" name="AutoShape 5">
            <a:extLst>
              <a:ext uri="{FF2B5EF4-FFF2-40B4-BE49-F238E27FC236}">
                <a16:creationId xmlns:a16="http://schemas.microsoft.com/office/drawing/2014/main" id="{F37BD160-891A-4CC9-A198-B1698D5A4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191280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主要包含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3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个部分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marL="685800" lvl="2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(1) </a:t>
            </a:r>
            <a:r>
              <a:rPr lang="zh-CN" altLang="en-US" dirty="0">
                <a:solidFill>
                  <a:srgbClr val="FF0000"/>
                </a:solidFill>
              </a:rPr>
              <a:t>缓慢启动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(2)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拥塞避免 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(3)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快速恢复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问题：可否一直指数增长？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产生超时事件：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拥塞窗口重设为</a:t>
            </a:r>
            <a:r>
              <a:rPr lang="en-US" altLang="zh-CN" dirty="0">
                <a:solidFill>
                  <a:srgbClr val="0066CC"/>
                </a:solidFill>
              </a:rPr>
              <a:t>1MSS</a:t>
            </a:r>
            <a:r>
              <a:rPr lang="zh-CN" altLang="en-US" dirty="0">
                <a:solidFill>
                  <a:srgbClr val="0066CC"/>
                </a:solidFill>
              </a:rPr>
              <a:t>，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重新慢启动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FF9933"/>
                </a:solidFill>
              </a:rPr>
              <a:t>收到</a:t>
            </a:r>
            <a:r>
              <a:rPr lang="en-US" altLang="zh-CN" dirty="0">
                <a:solidFill>
                  <a:srgbClr val="FF9933"/>
                </a:solidFill>
              </a:rPr>
              <a:t>3</a:t>
            </a:r>
            <a:r>
              <a:rPr lang="zh-CN" altLang="en-US" dirty="0">
                <a:solidFill>
                  <a:srgbClr val="FF9933"/>
                </a:solidFill>
              </a:rPr>
              <a:t>个冗余确认：</a:t>
            </a:r>
            <a:endParaRPr lang="en-US" altLang="zh-CN" dirty="0">
              <a:solidFill>
                <a:srgbClr val="FF9933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拥塞窗口减半，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然后线性增长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5582649" y="3102643"/>
            <a:ext cx="904286" cy="898811"/>
          </a:xfrm>
          <a:custGeom>
            <a:avLst/>
            <a:gdLst>
              <a:gd name="connsiteX0" fmla="*/ 0 w 1235675"/>
              <a:gd name="connsiteY0" fmla="*/ 1622854 h 1622854"/>
              <a:gd name="connsiteX1" fmla="*/ 453081 w 1235675"/>
              <a:gd name="connsiteY1" fmla="*/ 1433384 h 1622854"/>
              <a:gd name="connsiteX2" fmla="*/ 807308 w 1235675"/>
              <a:gd name="connsiteY2" fmla="*/ 1054444 h 1622854"/>
              <a:gd name="connsiteX3" fmla="*/ 1070919 w 1235675"/>
              <a:gd name="connsiteY3" fmla="*/ 543698 h 1622854"/>
              <a:gd name="connsiteX4" fmla="*/ 1235675 w 1235675"/>
              <a:gd name="connsiteY4" fmla="*/ 0 h 1622854"/>
              <a:gd name="connsiteX5" fmla="*/ 1235675 w 1235675"/>
              <a:gd name="connsiteY5" fmla="*/ 0 h 162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5675" h="1622854">
                <a:moveTo>
                  <a:pt x="0" y="1622854"/>
                </a:moveTo>
                <a:cubicBezTo>
                  <a:pt x="159265" y="1575486"/>
                  <a:pt x="318530" y="1528119"/>
                  <a:pt x="453081" y="1433384"/>
                </a:cubicBezTo>
                <a:cubicBezTo>
                  <a:pt x="587632" y="1338649"/>
                  <a:pt x="704335" y="1202725"/>
                  <a:pt x="807308" y="1054444"/>
                </a:cubicBezTo>
                <a:cubicBezTo>
                  <a:pt x="910281" y="906163"/>
                  <a:pt x="999525" y="719439"/>
                  <a:pt x="1070919" y="543698"/>
                </a:cubicBezTo>
                <a:cubicBezTo>
                  <a:pt x="1142314" y="367957"/>
                  <a:pt x="1235675" y="0"/>
                  <a:pt x="1235675" y="0"/>
                </a:cubicBezTo>
                <a:lnTo>
                  <a:pt x="12356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77" name="直接箭头连接符 76"/>
          <p:cNvCxnSpPr/>
          <p:nvPr/>
        </p:nvCxnSpPr>
        <p:spPr>
          <a:xfrm flipH="1" flipV="1">
            <a:off x="6468399" y="3102643"/>
            <a:ext cx="31208" cy="997868"/>
          </a:xfrm>
          <a:prstGeom prst="straightConnector1">
            <a:avLst/>
          </a:prstGeom>
          <a:ln w="22225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6353757" y="3417998"/>
            <a:ext cx="6864" cy="676258"/>
          </a:xfrm>
          <a:prstGeom prst="straightConnector1">
            <a:avLst/>
          </a:prstGeom>
          <a:ln w="22225">
            <a:solidFill>
              <a:srgbClr val="FF9933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/>
          <p:cNvGrpSpPr/>
          <p:nvPr/>
        </p:nvGrpSpPr>
        <p:grpSpPr>
          <a:xfrm>
            <a:off x="5575786" y="2733768"/>
            <a:ext cx="2178185" cy="1696909"/>
            <a:chOff x="5910380" y="3645024"/>
            <a:chExt cx="2904247" cy="2262545"/>
          </a:xfrm>
        </p:grpSpPr>
        <p:cxnSp>
          <p:nvCxnSpPr>
            <p:cNvPr id="74" name="直接箭头连接符 73"/>
            <p:cNvCxnSpPr/>
            <p:nvPr/>
          </p:nvCxnSpPr>
          <p:spPr>
            <a:xfrm flipV="1">
              <a:off x="5910380" y="3645024"/>
              <a:ext cx="0" cy="17968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/>
            <p:nvPr/>
          </p:nvCxnSpPr>
          <p:spPr>
            <a:xfrm>
              <a:off x="5910380" y="5441910"/>
              <a:ext cx="28905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 Box 8"/>
            <p:cNvSpPr txBox="1">
              <a:spLocks noChangeArrowheads="1"/>
            </p:cNvSpPr>
            <p:nvPr/>
          </p:nvSpPr>
          <p:spPr bwMode="auto">
            <a:xfrm>
              <a:off x="5940152" y="3717032"/>
              <a:ext cx="722848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panose="020B0604020202020204" pitchFamily="34" charset="0"/>
                </a:rPr>
                <a:t>cwnd</a:t>
              </a:r>
            </a:p>
          </p:txBody>
        </p:sp>
        <p:sp>
          <p:nvSpPr>
            <p:cNvPr id="80" name="Text Box 8"/>
            <p:cNvSpPr txBox="1">
              <a:spLocks noChangeArrowheads="1"/>
            </p:cNvSpPr>
            <p:nvPr/>
          </p:nvSpPr>
          <p:spPr bwMode="auto">
            <a:xfrm>
              <a:off x="8172400" y="5538237"/>
              <a:ext cx="642227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panose="020B0604020202020204" pitchFamily="34" charset="0"/>
                </a:rPr>
                <a:t>RTT</a:t>
              </a:r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6358600" y="3417997"/>
            <a:ext cx="73194" cy="395891"/>
          </a:xfrm>
          <a:prstGeom prst="line">
            <a:avLst/>
          </a:prstGeom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6431794" y="3265114"/>
            <a:ext cx="645333" cy="548774"/>
          </a:xfrm>
          <a:prstGeom prst="line">
            <a:avLst/>
          </a:prstGeom>
          <a:ln w="15875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6476676" y="3102643"/>
            <a:ext cx="183049" cy="89881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多边形 84"/>
          <p:cNvSpPr/>
          <p:nvPr/>
        </p:nvSpPr>
        <p:spPr>
          <a:xfrm>
            <a:off x="6658826" y="3102643"/>
            <a:ext cx="904286" cy="898811"/>
          </a:xfrm>
          <a:custGeom>
            <a:avLst/>
            <a:gdLst>
              <a:gd name="connsiteX0" fmla="*/ 0 w 1235675"/>
              <a:gd name="connsiteY0" fmla="*/ 1622854 h 1622854"/>
              <a:gd name="connsiteX1" fmla="*/ 453081 w 1235675"/>
              <a:gd name="connsiteY1" fmla="*/ 1433384 h 1622854"/>
              <a:gd name="connsiteX2" fmla="*/ 807308 w 1235675"/>
              <a:gd name="connsiteY2" fmla="*/ 1054444 h 1622854"/>
              <a:gd name="connsiteX3" fmla="*/ 1070919 w 1235675"/>
              <a:gd name="connsiteY3" fmla="*/ 543698 h 1622854"/>
              <a:gd name="connsiteX4" fmla="*/ 1235675 w 1235675"/>
              <a:gd name="connsiteY4" fmla="*/ 0 h 1622854"/>
              <a:gd name="connsiteX5" fmla="*/ 1235675 w 1235675"/>
              <a:gd name="connsiteY5" fmla="*/ 0 h 162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5675" h="1622854">
                <a:moveTo>
                  <a:pt x="0" y="1622854"/>
                </a:moveTo>
                <a:cubicBezTo>
                  <a:pt x="159265" y="1575486"/>
                  <a:pt x="318530" y="1528119"/>
                  <a:pt x="453081" y="1433384"/>
                </a:cubicBezTo>
                <a:cubicBezTo>
                  <a:pt x="587632" y="1338649"/>
                  <a:pt x="704335" y="1202725"/>
                  <a:pt x="807308" y="1054444"/>
                </a:cubicBezTo>
                <a:cubicBezTo>
                  <a:pt x="910281" y="906163"/>
                  <a:pt x="999525" y="719439"/>
                  <a:pt x="1070919" y="543698"/>
                </a:cubicBezTo>
                <a:cubicBezTo>
                  <a:pt x="1142314" y="367957"/>
                  <a:pt x="1235675" y="0"/>
                  <a:pt x="1235675" y="0"/>
                </a:cubicBezTo>
                <a:lnTo>
                  <a:pt x="1235675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8" name="Text Box 8"/>
          <p:cNvSpPr txBox="1">
            <a:spLocks noChangeArrowheads="1"/>
          </p:cNvSpPr>
          <p:nvPr/>
        </p:nvSpPr>
        <p:spPr bwMode="auto">
          <a:xfrm>
            <a:off x="6435688" y="4109562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超时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Text Box 8"/>
          <p:cNvSpPr txBox="1">
            <a:spLocks noChangeArrowheads="1"/>
          </p:cNvSpPr>
          <p:nvPr/>
        </p:nvSpPr>
        <p:spPr bwMode="auto">
          <a:xfrm>
            <a:off x="5512446" y="4116946"/>
            <a:ext cx="103906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altLang="zh-CN" sz="1200" dirty="0">
                <a:solidFill>
                  <a:srgbClr val="FF9933"/>
                </a:solidFill>
                <a:latin typeface="Arial" panose="020B0604020202020204" pitchFamily="34" charset="0"/>
              </a:rPr>
              <a:t>3</a:t>
            </a:r>
            <a:r>
              <a:rPr lang="zh-CN" altLang="en-US" sz="1200" dirty="0">
                <a:solidFill>
                  <a:srgbClr val="FF9933"/>
                </a:solidFill>
                <a:latin typeface="Arial" panose="020B0604020202020204" pitchFamily="34" charset="0"/>
              </a:rPr>
              <a:t>个冗余确认</a:t>
            </a:r>
            <a:endParaRPr lang="en-US" sz="1200" dirty="0">
              <a:solidFill>
                <a:srgbClr val="FF9933"/>
              </a:solidFill>
              <a:latin typeface="Arial" panose="020B0604020202020204" pitchFamily="34" charset="0"/>
            </a:endParaRP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850891D0-0500-4D07-AA7D-09992488C88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36F89E1A-024E-48B5-90DE-E8C0C920A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5" grpId="0" animBg="1"/>
      <p:bldP spid="85" grpId="1" animBg="1"/>
      <p:bldP spid="88" grpId="0"/>
      <p:bldP spid="88" grpId="1"/>
      <p:bldP spid="8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765193" cy="37959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主要包含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3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个部分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marL="685800" lvl="2" indent="0">
              <a:buNone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(1)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缓慢启动          </a:t>
            </a:r>
            <a:r>
              <a:rPr lang="en-US" altLang="zh-CN" dirty="0">
                <a:solidFill>
                  <a:srgbClr val="FF0000"/>
                </a:solidFill>
              </a:rPr>
              <a:t>(2) </a:t>
            </a:r>
            <a:r>
              <a:rPr lang="zh-CN" altLang="en-US" dirty="0">
                <a:solidFill>
                  <a:srgbClr val="FF0000"/>
                </a:solidFill>
              </a:rPr>
              <a:t>拥塞避免 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(3)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快速恢复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慢启动阶段可否一直增长窗口？</a:t>
            </a:r>
            <a:r>
              <a:rPr lang="en-US" altLang="zh-CN" dirty="0">
                <a:solidFill>
                  <a:srgbClr val="0066CC"/>
                </a:solidFill>
              </a:rPr>
              <a:t>——</a:t>
            </a:r>
            <a:r>
              <a:rPr lang="zh-CN" altLang="en-US" dirty="0">
                <a:solidFill>
                  <a:srgbClr val="0066CC"/>
                </a:solidFill>
              </a:rPr>
              <a:t>可否提前采取措施？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更保守的方式：</a:t>
            </a:r>
            <a:r>
              <a:rPr lang="zh-CN" altLang="en-US" dirty="0">
                <a:solidFill>
                  <a:srgbClr val="FF0000"/>
                </a:solidFill>
              </a:rPr>
              <a:t>拥塞避免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设定一个门限</a:t>
            </a:r>
            <a:r>
              <a:rPr lang="en-US" altLang="zh-CN" dirty="0">
                <a:solidFill>
                  <a:srgbClr val="0066CC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阈</a:t>
            </a:r>
            <a:r>
              <a:rPr lang="en-US" altLang="zh-CN" dirty="0">
                <a:solidFill>
                  <a:srgbClr val="0066CC"/>
                </a:solidFill>
              </a:rPr>
              <a:t>yù</a:t>
            </a:r>
            <a:r>
              <a:rPr lang="zh-CN" altLang="en-US" dirty="0">
                <a:solidFill>
                  <a:srgbClr val="C00000"/>
                </a:solidFill>
              </a:rPr>
              <a:t>值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拥塞窗口达到门限值后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进入加性增长：每次增加</a:t>
            </a:r>
            <a:r>
              <a:rPr lang="en-US" altLang="zh-CN" dirty="0">
                <a:solidFill>
                  <a:srgbClr val="0066CC"/>
                </a:solidFill>
              </a:rPr>
              <a:t>1MSS</a:t>
            </a:r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问题：可否一直加性增长？</a:t>
            </a:r>
            <a:endParaRPr lang="en-US" altLang="zh-CN" dirty="0">
              <a:solidFill>
                <a:srgbClr val="0000FF"/>
              </a:solidFill>
            </a:endParaRPr>
          </a:p>
          <a:p>
            <a:pPr lvl="3"/>
            <a:r>
              <a:rPr lang="zh-CN" altLang="en-US" dirty="0">
                <a:solidFill>
                  <a:srgbClr val="0000FF"/>
                </a:solidFill>
              </a:rPr>
              <a:t>产生丢包事件后，要收缩窗口！！</a:t>
            </a:r>
            <a:endParaRPr lang="en-US" altLang="zh-CN" dirty="0">
              <a:solidFill>
                <a:srgbClr val="0000FF"/>
              </a:solidFill>
            </a:endParaRPr>
          </a:p>
          <a:p>
            <a:pPr lvl="3"/>
            <a:r>
              <a:rPr lang="zh-CN" altLang="en-US" dirty="0">
                <a:solidFill>
                  <a:srgbClr val="0000FF"/>
                </a:solidFill>
              </a:rPr>
              <a:t>还要收缩阈值！！！怎么收缩？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5651344" y="3597864"/>
            <a:ext cx="378818" cy="403951"/>
          </a:xfrm>
          <a:custGeom>
            <a:avLst/>
            <a:gdLst>
              <a:gd name="connsiteX0" fmla="*/ 0 w 1235675"/>
              <a:gd name="connsiteY0" fmla="*/ 1622854 h 1622854"/>
              <a:gd name="connsiteX1" fmla="*/ 453081 w 1235675"/>
              <a:gd name="connsiteY1" fmla="*/ 1433384 h 1622854"/>
              <a:gd name="connsiteX2" fmla="*/ 807308 w 1235675"/>
              <a:gd name="connsiteY2" fmla="*/ 1054444 h 1622854"/>
              <a:gd name="connsiteX3" fmla="*/ 1070919 w 1235675"/>
              <a:gd name="connsiteY3" fmla="*/ 543698 h 1622854"/>
              <a:gd name="connsiteX4" fmla="*/ 1235675 w 1235675"/>
              <a:gd name="connsiteY4" fmla="*/ 0 h 1622854"/>
              <a:gd name="connsiteX5" fmla="*/ 1235675 w 1235675"/>
              <a:gd name="connsiteY5" fmla="*/ 0 h 162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5675" h="1622854">
                <a:moveTo>
                  <a:pt x="0" y="1622854"/>
                </a:moveTo>
                <a:cubicBezTo>
                  <a:pt x="159265" y="1575486"/>
                  <a:pt x="318530" y="1528119"/>
                  <a:pt x="453081" y="1433384"/>
                </a:cubicBezTo>
                <a:cubicBezTo>
                  <a:pt x="587632" y="1338649"/>
                  <a:pt x="704335" y="1202725"/>
                  <a:pt x="807308" y="1054444"/>
                </a:cubicBezTo>
                <a:cubicBezTo>
                  <a:pt x="910281" y="906163"/>
                  <a:pt x="999525" y="719439"/>
                  <a:pt x="1070919" y="543698"/>
                </a:cubicBezTo>
                <a:cubicBezTo>
                  <a:pt x="1142314" y="367957"/>
                  <a:pt x="1235675" y="0"/>
                  <a:pt x="1235675" y="0"/>
                </a:cubicBezTo>
                <a:lnTo>
                  <a:pt x="1235675" y="0"/>
                </a:lnTo>
              </a:path>
            </a:pathLst>
          </a:custGeom>
          <a:noFill/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0066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644480" y="3597864"/>
            <a:ext cx="547700" cy="0"/>
          </a:xfrm>
          <a:prstGeom prst="straightConnector1">
            <a:avLst/>
          </a:prstGeom>
          <a:ln w="22225">
            <a:solidFill>
              <a:srgbClr val="C0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5126749" y="2734129"/>
            <a:ext cx="2685611" cy="1696909"/>
            <a:chOff x="5311665" y="3645505"/>
            <a:chExt cx="3580815" cy="2262545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6001973" y="3645505"/>
              <a:ext cx="0" cy="17968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6001973" y="5442391"/>
              <a:ext cx="28905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5311665" y="3778320"/>
              <a:ext cx="722848" cy="36933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panose="020B0604020202020204" pitchFamily="34" charset="0"/>
                </a:rPr>
                <a:t>cwnd</a:t>
              </a:r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8126751" y="5538718"/>
              <a:ext cx="642227" cy="369332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panose="020B0604020202020204" pitchFamily="34" charset="0"/>
                </a:rPr>
                <a:t>RTT</a:t>
              </a:r>
            </a:p>
          </p:txBody>
        </p:sp>
      </p:grpSp>
      <p:cxnSp>
        <p:nvCxnSpPr>
          <p:cNvPr id="23" name="直接连接符 22"/>
          <p:cNvCxnSpPr>
            <a:stCxn id="12" idx="4"/>
          </p:cNvCxnSpPr>
          <p:nvPr/>
        </p:nvCxnSpPr>
        <p:spPr>
          <a:xfrm flipV="1">
            <a:off x="6030162" y="3219822"/>
            <a:ext cx="648072" cy="37804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5840753" y="3762962"/>
            <a:ext cx="646331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6600"/>
                </a:solidFill>
                <a:latin typeface="Arial" panose="020B0604020202020204" pitchFamily="34" charset="0"/>
              </a:rPr>
              <a:t>慢启动</a:t>
            </a:r>
            <a:endParaRPr lang="en-US" sz="1200" dirty="0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5840753" y="3113935"/>
            <a:ext cx="800219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拥塞避免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5235366" y="3470906"/>
            <a:ext cx="492443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200" dirty="0">
                <a:latin typeface="Arial" panose="020B0604020202020204" pitchFamily="34" charset="0"/>
              </a:rPr>
              <a:t>阈值</a:t>
            </a:r>
            <a:endParaRPr lang="en-US" sz="1200" dirty="0">
              <a:latin typeface="Arial" panose="020B0604020202020204" pitchFamily="3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6695015" y="2833740"/>
            <a:ext cx="648072" cy="378042"/>
          </a:xfrm>
          <a:prstGeom prst="line">
            <a:avLst/>
          </a:prstGeom>
          <a:ln w="12700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6840141" y="2835718"/>
            <a:ext cx="33855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sz="1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4E0B80E4-B43F-42BD-9613-976F924129F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9E1742BF-15C2-4801-B770-C5A35735B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/>
      <p:bldP spid="26" grpId="0"/>
      <p:bldP spid="27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5999"/>
            <a:ext cx="5825406" cy="4084023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主要包含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3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个部分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marL="685800" lvl="2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(1)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缓慢启动          </a:t>
            </a:r>
            <a:r>
              <a:rPr lang="en-US" altLang="zh-CN" dirty="0">
                <a:solidFill>
                  <a:srgbClr val="FF0000"/>
                </a:solidFill>
              </a:rPr>
              <a:t>(2) </a:t>
            </a:r>
            <a:r>
              <a:rPr lang="zh-CN" altLang="en-US" dirty="0">
                <a:solidFill>
                  <a:srgbClr val="FF0000"/>
                </a:solidFill>
              </a:rPr>
              <a:t>拥塞避免 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(3)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快速恢复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慢启动阶段可否一直增长窗口？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更保守的方式：拥塞避免：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设定一个门限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阈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yù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值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lvl="3"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拥塞窗口达到门限值后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进入加性增长：每次增加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1MSS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问题：可否一直加性增长？</a:t>
            </a:r>
            <a:endParaRPr lang="en-US" altLang="zh-CN" dirty="0">
              <a:solidFill>
                <a:srgbClr val="0000FF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产生</a:t>
            </a:r>
            <a:r>
              <a:rPr lang="zh-CN" altLang="en-US" dirty="0">
                <a:solidFill>
                  <a:srgbClr val="0000FF"/>
                </a:solidFill>
              </a:rPr>
              <a:t>丢包</a:t>
            </a:r>
            <a:r>
              <a:rPr lang="zh-CN" altLang="en-US" dirty="0">
                <a:solidFill>
                  <a:srgbClr val="0066CC"/>
                </a:solidFill>
              </a:rPr>
              <a:t>事件后，要收缩窗口！！怎么收缩？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阈值</a:t>
            </a:r>
            <a:r>
              <a:rPr lang="zh-CN" altLang="en-US" dirty="0">
                <a:solidFill>
                  <a:srgbClr val="0066CC"/>
                </a:solidFill>
              </a:rPr>
              <a:t>：缩减为当前拥塞窗口的一半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超时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>
                <a:solidFill>
                  <a:srgbClr val="0066CC"/>
                </a:solidFill>
              </a:rPr>
              <a:t>拥塞窗口重新进入慢启动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dirty="0">
                <a:solidFill>
                  <a:srgbClr val="FF9933"/>
                </a:solidFill>
              </a:rPr>
              <a:t>三个冗余</a:t>
            </a:r>
            <a:r>
              <a:rPr lang="en-US" altLang="zh-CN" dirty="0">
                <a:solidFill>
                  <a:srgbClr val="FF9933"/>
                </a:solidFill>
              </a:rPr>
              <a:t>ACK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>
                <a:solidFill>
                  <a:srgbClr val="0066CC"/>
                </a:solidFill>
              </a:rPr>
              <a:t>拥塞窗口从新的阈值开始加性增加（策略</a:t>
            </a:r>
            <a:r>
              <a:rPr lang="en-US" altLang="zh-CN" dirty="0">
                <a:solidFill>
                  <a:srgbClr val="0066CC"/>
                </a:solidFill>
              </a:rPr>
              <a:t>1</a:t>
            </a:r>
            <a:r>
              <a:rPr lang="zh-CN" altLang="en-US" dirty="0">
                <a:solidFill>
                  <a:srgbClr val="0066CC"/>
                </a:solidFill>
              </a:rPr>
              <a:t>）</a:t>
            </a:r>
            <a:endParaRPr lang="en-US" altLang="zh-CN" dirty="0">
              <a:solidFill>
                <a:srgbClr val="0066CC"/>
              </a:solidFill>
            </a:endParaRPr>
          </a:p>
          <a:p>
            <a:pPr lvl="4">
              <a:lnSpc>
                <a:spcPct val="110000"/>
              </a:lnSpc>
            </a:pPr>
            <a:endParaRPr lang="en-US" altLang="zh-CN" dirty="0">
              <a:solidFill>
                <a:srgbClr val="0000FF"/>
              </a:solidFill>
            </a:endParaRPr>
          </a:p>
          <a:p>
            <a:pPr lvl="2">
              <a:lnSpc>
                <a:spcPct val="110000"/>
              </a:lnSpc>
            </a:pP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26749" y="2734129"/>
            <a:ext cx="2685611" cy="1696909"/>
            <a:chOff x="5311665" y="3645505"/>
            <a:chExt cx="3580815" cy="2262545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6001973" y="3645505"/>
              <a:ext cx="0" cy="17968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6001973" y="5442391"/>
              <a:ext cx="28905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任意多边形 11"/>
            <p:cNvSpPr/>
            <p:nvPr/>
          </p:nvSpPr>
          <p:spPr>
            <a:xfrm>
              <a:off x="6011125" y="4797152"/>
              <a:ext cx="505091" cy="538601"/>
            </a:xfrm>
            <a:custGeom>
              <a:avLst/>
              <a:gdLst>
                <a:gd name="connsiteX0" fmla="*/ 0 w 1235675"/>
                <a:gd name="connsiteY0" fmla="*/ 1622854 h 1622854"/>
                <a:gd name="connsiteX1" fmla="*/ 453081 w 1235675"/>
                <a:gd name="connsiteY1" fmla="*/ 1433384 h 1622854"/>
                <a:gd name="connsiteX2" fmla="*/ 807308 w 1235675"/>
                <a:gd name="connsiteY2" fmla="*/ 1054444 h 1622854"/>
                <a:gd name="connsiteX3" fmla="*/ 1070919 w 1235675"/>
                <a:gd name="connsiteY3" fmla="*/ 543698 h 1622854"/>
                <a:gd name="connsiteX4" fmla="*/ 1235675 w 1235675"/>
                <a:gd name="connsiteY4" fmla="*/ 0 h 1622854"/>
                <a:gd name="connsiteX5" fmla="*/ 1235675 w 1235675"/>
                <a:gd name="connsiteY5" fmla="*/ 0 h 1622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5675" h="1622854">
                  <a:moveTo>
                    <a:pt x="0" y="1622854"/>
                  </a:moveTo>
                  <a:cubicBezTo>
                    <a:pt x="159265" y="1575486"/>
                    <a:pt x="318530" y="1528119"/>
                    <a:pt x="453081" y="1433384"/>
                  </a:cubicBezTo>
                  <a:cubicBezTo>
                    <a:pt x="587632" y="1338649"/>
                    <a:pt x="704335" y="1202725"/>
                    <a:pt x="807308" y="1054444"/>
                  </a:cubicBezTo>
                  <a:cubicBezTo>
                    <a:pt x="910281" y="906163"/>
                    <a:pt x="999525" y="719439"/>
                    <a:pt x="1070919" y="543698"/>
                  </a:cubicBezTo>
                  <a:cubicBezTo>
                    <a:pt x="1142314" y="367957"/>
                    <a:pt x="1235675" y="0"/>
                    <a:pt x="1235675" y="0"/>
                  </a:cubicBezTo>
                  <a:lnTo>
                    <a:pt x="1235675" y="0"/>
                  </a:lnTo>
                </a:path>
              </a:pathLst>
            </a:cu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006600"/>
                </a:solidFill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6001973" y="4797152"/>
              <a:ext cx="730267" cy="0"/>
            </a:xfrm>
            <a:prstGeom prst="straightConnector1">
              <a:avLst/>
            </a:prstGeom>
            <a:ln w="22225">
              <a:solidFill>
                <a:srgbClr val="C0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5311665" y="3778320"/>
              <a:ext cx="722848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panose="020B0604020202020204" pitchFamily="34" charset="0"/>
                </a:rPr>
                <a:t>cwnd</a:t>
              </a:r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8126751" y="5538718"/>
              <a:ext cx="642227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Arial" panose="020B0604020202020204" pitchFamily="34" charset="0"/>
                </a:rPr>
                <a:t>RTT</a:t>
              </a:r>
            </a:p>
          </p:txBody>
        </p:sp>
        <p:cxnSp>
          <p:nvCxnSpPr>
            <p:cNvPr id="23" name="直接连接符 22"/>
            <p:cNvCxnSpPr>
              <a:stCxn id="12" idx="4"/>
            </p:cNvCxnSpPr>
            <p:nvPr/>
          </p:nvCxnSpPr>
          <p:spPr>
            <a:xfrm flipV="1">
              <a:off x="6516216" y="4293096"/>
              <a:ext cx="864096" cy="50405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8"/>
            <p:cNvSpPr txBox="1">
              <a:spLocks noChangeArrowheads="1"/>
            </p:cNvSpPr>
            <p:nvPr/>
          </p:nvSpPr>
          <p:spPr bwMode="auto">
            <a:xfrm>
              <a:off x="6263670" y="5017282"/>
              <a:ext cx="861775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zh-CN" altLang="en-US" sz="1200" dirty="0">
                  <a:solidFill>
                    <a:srgbClr val="006600"/>
                  </a:solidFill>
                  <a:latin typeface="Arial" panose="020B0604020202020204" pitchFamily="34" charset="0"/>
                </a:rPr>
                <a:t>慢启动</a:t>
              </a:r>
              <a:endParaRPr lang="en-US" sz="1200" dirty="0">
                <a:solidFill>
                  <a:srgbClr val="0066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Text Box 8"/>
            <p:cNvSpPr txBox="1">
              <a:spLocks noChangeArrowheads="1"/>
            </p:cNvSpPr>
            <p:nvPr/>
          </p:nvSpPr>
          <p:spPr bwMode="auto">
            <a:xfrm>
              <a:off x="6263670" y="4151913"/>
              <a:ext cx="1066959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zh-CN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拥塞避免</a:t>
              </a:r>
              <a:endParaRPr lang="en-US" sz="1200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Text Box 8"/>
            <p:cNvSpPr txBox="1">
              <a:spLocks noChangeArrowheads="1"/>
            </p:cNvSpPr>
            <p:nvPr/>
          </p:nvSpPr>
          <p:spPr bwMode="auto">
            <a:xfrm>
              <a:off x="5456486" y="4627874"/>
              <a:ext cx="656591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zh-CN" altLang="en-US" sz="1200" dirty="0">
                  <a:latin typeface="Arial" panose="020B0604020202020204" pitchFamily="34" charset="0"/>
                </a:rPr>
                <a:t>阈值</a:t>
              </a:r>
              <a:endParaRPr lang="en-US" sz="1200" dirty="0">
                <a:latin typeface="Arial" panose="020B0604020202020204" pitchFamily="34" charset="0"/>
              </a:endParaRPr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6678234" y="3219822"/>
            <a:ext cx="0" cy="934217"/>
          </a:xfrm>
          <a:prstGeom prst="line">
            <a:avLst/>
          </a:prstGeom>
          <a:ln w="22225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6435688" y="4109562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00FF"/>
                </a:solidFill>
                <a:latin typeface="Arial" panose="020B0604020202020204" pitchFamily="34" charset="0"/>
              </a:rPr>
              <a:t>丢包</a:t>
            </a:r>
            <a:endParaRPr lang="en-US" sz="12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678235" y="3716254"/>
            <a:ext cx="547700" cy="0"/>
          </a:xfrm>
          <a:prstGeom prst="straightConnector1">
            <a:avLst/>
          </a:prstGeom>
          <a:ln w="22225">
            <a:solidFill>
              <a:srgbClr val="0000F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7162947" y="3587108"/>
            <a:ext cx="57740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00FF"/>
                </a:solidFill>
                <a:latin typeface="Arial" panose="020B0604020202020204" pitchFamily="34" charset="0"/>
              </a:rPr>
              <a:t>阈值</a:t>
            </a:r>
            <a:r>
              <a:rPr lang="en-US" altLang="zh-CN" sz="1200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endParaRPr lang="en-US" sz="12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678234" y="3219822"/>
            <a:ext cx="161907" cy="78199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任意多边形 29"/>
          <p:cNvSpPr/>
          <p:nvPr/>
        </p:nvSpPr>
        <p:spPr>
          <a:xfrm>
            <a:off x="6832123" y="3716254"/>
            <a:ext cx="316992" cy="285561"/>
          </a:xfrm>
          <a:custGeom>
            <a:avLst/>
            <a:gdLst>
              <a:gd name="connsiteX0" fmla="*/ 0 w 1235675"/>
              <a:gd name="connsiteY0" fmla="*/ 1622854 h 1622854"/>
              <a:gd name="connsiteX1" fmla="*/ 453081 w 1235675"/>
              <a:gd name="connsiteY1" fmla="*/ 1433384 h 1622854"/>
              <a:gd name="connsiteX2" fmla="*/ 807308 w 1235675"/>
              <a:gd name="connsiteY2" fmla="*/ 1054444 h 1622854"/>
              <a:gd name="connsiteX3" fmla="*/ 1070919 w 1235675"/>
              <a:gd name="connsiteY3" fmla="*/ 543698 h 1622854"/>
              <a:gd name="connsiteX4" fmla="*/ 1235675 w 1235675"/>
              <a:gd name="connsiteY4" fmla="*/ 0 h 1622854"/>
              <a:gd name="connsiteX5" fmla="*/ 1235675 w 1235675"/>
              <a:gd name="connsiteY5" fmla="*/ 0 h 162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5675" h="1622854">
                <a:moveTo>
                  <a:pt x="0" y="1622854"/>
                </a:moveTo>
                <a:cubicBezTo>
                  <a:pt x="159265" y="1575486"/>
                  <a:pt x="318530" y="1528119"/>
                  <a:pt x="453081" y="1433384"/>
                </a:cubicBezTo>
                <a:cubicBezTo>
                  <a:pt x="587632" y="1338649"/>
                  <a:pt x="704335" y="1202725"/>
                  <a:pt x="807308" y="1054444"/>
                </a:cubicBezTo>
                <a:cubicBezTo>
                  <a:pt x="910281" y="906163"/>
                  <a:pt x="999525" y="719439"/>
                  <a:pt x="1070919" y="543698"/>
                </a:cubicBezTo>
                <a:cubicBezTo>
                  <a:pt x="1142314" y="367957"/>
                  <a:pt x="1235675" y="0"/>
                  <a:pt x="1235675" y="0"/>
                </a:cubicBezTo>
                <a:lnTo>
                  <a:pt x="1235675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006600"/>
              </a:solidFill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7129208" y="3470905"/>
            <a:ext cx="359343" cy="2564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825835" y="3442185"/>
            <a:ext cx="399589" cy="285156"/>
          </a:xfrm>
          <a:prstGeom prst="line">
            <a:avLst/>
          </a:prstGeom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6692065" y="3232471"/>
            <a:ext cx="134285" cy="480326"/>
          </a:xfrm>
          <a:prstGeom prst="line">
            <a:avLst/>
          </a:prstGeom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B64816B-AC97-47AE-A705-76F8EE920D6A}"/>
              </a:ext>
            </a:extLst>
          </p:cNvPr>
          <p:cNvCxnSpPr>
            <a:cxnSpLocks/>
          </p:cNvCxnSpPr>
          <p:nvPr/>
        </p:nvCxnSpPr>
        <p:spPr>
          <a:xfrm>
            <a:off x="5651344" y="3232471"/>
            <a:ext cx="1944992" cy="0"/>
          </a:xfrm>
          <a:prstGeom prst="line">
            <a:avLst/>
          </a:prstGeom>
          <a:ln w="158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灯片编号占位符 2">
            <a:extLst>
              <a:ext uri="{FF2B5EF4-FFF2-40B4-BE49-F238E27FC236}">
                <a16:creationId xmlns:a16="http://schemas.microsoft.com/office/drawing/2014/main" id="{F996F249-FDC6-4C60-AED7-D09BE2FDC42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733007FC-3CB3-4935-925B-DBB22891A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832647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主要包含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3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个部分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marL="685800" lvl="2" indent="0">
              <a:buNone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(1)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缓慢启动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(2)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拥塞避免           </a:t>
            </a:r>
            <a:r>
              <a:rPr lang="en-US" altLang="zh-CN" dirty="0">
                <a:solidFill>
                  <a:srgbClr val="FF0000"/>
                </a:solidFill>
              </a:rPr>
              <a:t>(3) </a:t>
            </a:r>
            <a:r>
              <a:rPr lang="zh-CN" altLang="en-US" dirty="0">
                <a:solidFill>
                  <a:srgbClr val="FF0000"/>
                </a:solidFill>
              </a:rPr>
              <a:t>快</a:t>
            </a:r>
            <a:r>
              <a:rPr lang="zh-CN" altLang="en-US" dirty="0">
                <a:solidFill>
                  <a:srgbClr val="FFDDDD"/>
                </a:solidFill>
              </a:rPr>
              <a:t>速</a:t>
            </a:r>
            <a:r>
              <a:rPr lang="zh-CN" altLang="en-US" dirty="0">
                <a:solidFill>
                  <a:srgbClr val="FF0000"/>
                </a:solidFill>
              </a:rPr>
              <a:t>恢复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sz="1600" dirty="0"/>
              <a:t>快速恢复是</a:t>
            </a:r>
            <a:r>
              <a:rPr lang="en-US" altLang="zh-CN" sz="1600" dirty="0"/>
              <a:t>TCP</a:t>
            </a:r>
            <a:r>
              <a:rPr lang="zh-CN" altLang="en-US" sz="1600" dirty="0"/>
              <a:t>的可选功能</a:t>
            </a:r>
            <a:endParaRPr lang="en-US" altLang="zh-CN" sz="1600" dirty="0"/>
          </a:p>
          <a:p>
            <a:pPr lvl="3"/>
            <a:r>
              <a:rPr lang="en-US" altLang="zh-CN" sz="1600" dirty="0">
                <a:solidFill>
                  <a:srgbClr val="0000FF"/>
                </a:solidFill>
              </a:rPr>
              <a:t>TCP Tahoe</a:t>
            </a:r>
            <a:r>
              <a:rPr lang="zh-CN" altLang="en-US" sz="1600" dirty="0">
                <a:solidFill>
                  <a:srgbClr val="0000FF"/>
                </a:solidFill>
              </a:rPr>
              <a:t>：没有快</a:t>
            </a:r>
            <a:r>
              <a:rPr lang="zh-CN" altLang="en-US" sz="1600" dirty="0">
                <a:solidFill>
                  <a:srgbClr val="9B9BFF"/>
                </a:solidFill>
              </a:rPr>
              <a:t>速</a:t>
            </a:r>
            <a:r>
              <a:rPr lang="zh-CN" altLang="en-US" sz="1600" dirty="0">
                <a:solidFill>
                  <a:srgbClr val="0000FF"/>
                </a:solidFill>
              </a:rPr>
              <a:t>恢复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lvl="3"/>
            <a:r>
              <a:rPr lang="en-US" altLang="zh-CN" sz="1600" dirty="0">
                <a:solidFill>
                  <a:srgbClr val="0000FF"/>
                </a:solidFill>
              </a:rPr>
              <a:t>TCP Reno</a:t>
            </a:r>
            <a:r>
              <a:rPr lang="zh-CN" altLang="en-US" sz="1600" dirty="0">
                <a:solidFill>
                  <a:srgbClr val="0000FF"/>
                </a:solidFill>
              </a:rPr>
              <a:t>：综合了快</a:t>
            </a:r>
            <a:r>
              <a:rPr lang="zh-CN" altLang="en-US" sz="1600" dirty="0">
                <a:solidFill>
                  <a:srgbClr val="9B9BFF"/>
                </a:solidFill>
              </a:rPr>
              <a:t>速</a:t>
            </a:r>
            <a:r>
              <a:rPr lang="zh-CN" altLang="en-US" sz="1600" dirty="0">
                <a:solidFill>
                  <a:srgbClr val="0000FF"/>
                </a:solidFill>
              </a:rPr>
              <a:t>恢复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pic>
        <p:nvPicPr>
          <p:cNvPr id="2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469" y="2347038"/>
            <a:ext cx="4099080" cy="233759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8" name="直接连接符 7"/>
          <p:cNvCxnSpPr/>
          <p:nvPr/>
        </p:nvCxnSpPr>
        <p:spPr>
          <a:xfrm flipV="1">
            <a:off x="7088253" y="2425371"/>
            <a:ext cx="1228163" cy="702078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BCE95BC-E52B-468B-845A-3C2340522F32}"/>
              </a:ext>
            </a:extLst>
          </p:cNvPr>
          <p:cNvCxnSpPr/>
          <p:nvPr/>
        </p:nvCxnSpPr>
        <p:spPr>
          <a:xfrm>
            <a:off x="6876256" y="2715766"/>
            <a:ext cx="211997" cy="411683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63C5B14-A645-4F40-AB21-04D6AB49D7C4}"/>
              </a:ext>
            </a:extLst>
          </p:cNvPr>
          <p:cNvCxnSpPr>
            <a:cxnSpLocks/>
          </p:cNvCxnSpPr>
          <p:nvPr/>
        </p:nvCxnSpPr>
        <p:spPr>
          <a:xfrm>
            <a:off x="6876256" y="2715766"/>
            <a:ext cx="204594" cy="75970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1EDCECB-BD26-4343-BE78-59C21BAC2458}"/>
              </a:ext>
            </a:extLst>
          </p:cNvPr>
          <p:cNvSpPr txBox="1"/>
          <p:nvPr/>
        </p:nvSpPr>
        <p:spPr>
          <a:xfrm>
            <a:off x="8285986" y="2298413"/>
            <a:ext cx="604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v6, 7</a:t>
            </a:r>
            <a:endParaRPr lang="zh-CN" altLang="en-US" sz="105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FF1A908-BB04-482B-93E6-169F121EE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56" y="2931790"/>
            <a:ext cx="2888583" cy="21010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AE4D68E-5596-4ABC-BA0E-ACCA1624D1EA}"/>
              </a:ext>
            </a:extLst>
          </p:cNvPr>
          <p:cNvSpPr txBox="1"/>
          <p:nvPr/>
        </p:nvSpPr>
        <p:spPr>
          <a:xfrm>
            <a:off x="8287512" y="2571750"/>
            <a:ext cx="604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v5-</a:t>
            </a:r>
            <a:endParaRPr lang="zh-CN" altLang="en-US" sz="1050" b="1" dirty="0"/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36713F32-83A9-406B-88B2-8B96FEED68C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2A55EA23-A2DA-47F1-9B07-3E4C83AE5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832647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sz="1400" dirty="0">
                <a:solidFill>
                  <a:srgbClr val="0066CC"/>
                </a:solidFill>
                <a:effectLst/>
              </a:rPr>
              <a:t>习题</a:t>
            </a:r>
            <a:r>
              <a:rPr lang="en-US" altLang="zh-CN" sz="1400" dirty="0">
                <a:solidFill>
                  <a:srgbClr val="0066CC"/>
                </a:solidFill>
                <a:effectLst/>
              </a:rPr>
              <a:t>P40</a:t>
            </a: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指出</a:t>
            </a:r>
            <a:r>
              <a:rPr lang="en-US" altLang="zh-CN" sz="1200" dirty="0">
                <a:solidFill>
                  <a:srgbClr val="0066CC"/>
                </a:solidFill>
              </a:rPr>
              <a:t>TCP</a:t>
            </a:r>
            <a:r>
              <a:rPr lang="zh-CN" altLang="en-US" sz="1200" dirty="0">
                <a:solidFill>
                  <a:srgbClr val="0066CC"/>
                </a:solidFill>
              </a:rPr>
              <a:t>慢启动的时间间隔</a:t>
            </a:r>
            <a:endParaRPr lang="en-US" altLang="zh-CN" sz="16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指出</a:t>
            </a:r>
            <a:r>
              <a:rPr lang="en-US" altLang="zh-CN" sz="1200" dirty="0">
                <a:solidFill>
                  <a:srgbClr val="0066CC"/>
                </a:solidFill>
              </a:rPr>
              <a:t>TCP</a:t>
            </a:r>
            <a:r>
              <a:rPr lang="zh-CN" altLang="en-US" sz="1200" dirty="0">
                <a:solidFill>
                  <a:srgbClr val="0066CC"/>
                </a:solidFill>
              </a:rPr>
              <a:t>拥塞避免的时间间隔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第</a:t>
            </a:r>
            <a:r>
              <a:rPr lang="en-US" altLang="zh-CN" sz="1200" dirty="0">
                <a:solidFill>
                  <a:srgbClr val="0066CC"/>
                </a:solidFill>
              </a:rPr>
              <a:t>16</a:t>
            </a:r>
            <a:r>
              <a:rPr lang="zh-CN" altLang="en-US" sz="1200" dirty="0">
                <a:solidFill>
                  <a:srgbClr val="0066CC"/>
                </a:solidFill>
              </a:rPr>
              <a:t>个回合发生了什么事情？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2"/>
            <a:r>
              <a:rPr lang="zh-CN" altLang="en-US" sz="1100" dirty="0">
                <a:solidFill>
                  <a:srgbClr val="0066CC"/>
                </a:solidFill>
              </a:rPr>
              <a:t>三次冗余确认 </a:t>
            </a:r>
            <a:r>
              <a:rPr lang="en-US" altLang="zh-CN" sz="1100" dirty="0">
                <a:solidFill>
                  <a:srgbClr val="0066CC"/>
                </a:solidFill>
              </a:rPr>
              <a:t>or </a:t>
            </a:r>
            <a:r>
              <a:rPr lang="zh-CN" altLang="en-US" sz="1100" dirty="0">
                <a:solidFill>
                  <a:srgbClr val="0066CC"/>
                </a:solidFill>
              </a:rPr>
              <a:t>超时？</a:t>
            </a:r>
            <a:endParaRPr lang="en-US" altLang="zh-CN" sz="11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第</a:t>
            </a:r>
            <a:r>
              <a:rPr lang="en-US" altLang="zh-CN" sz="1200" dirty="0">
                <a:solidFill>
                  <a:srgbClr val="0066CC"/>
                </a:solidFill>
              </a:rPr>
              <a:t>22</a:t>
            </a:r>
            <a:r>
              <a:rPr lang="zh-CN" altLang="en-US" sz="1200" dirty="0">
                <a:solidFill>
                  <a:srgbClr val="0066CC"/>
                </a:solidFill>
              </a:rPr>
              <a:t>个回合呢？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第</a:t>
            </a:r>
            <a:r>
              <a:rPr lang="en-US" altLang="zh-CN" sz="1200" dirty="0">
                <a:solidFill>
                  <a:srgbClr val="0066CC"/>
                </a:solidFill>
              </a:rPr>
              <a:t>1-16</a:t>
            </a:r>
            <a:r>
              <a:rPr lang="zh-CN" altLang="en-US" sz="1200" dirty="0">
                <a:solidFill>
                  <a:srgbClr val="0066CC"/>
                </a:solidFill>
              </a:rPr>
              <a:t>回合的拥塞窗口阈值多大？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第</a:t>
            </a:r>
            <a:r>
              <a:rPr lang="en-US" altLang="zh-CN" sz="1200" dirty="0">
                <a:solidFill>
                  <a:srgbClr val="0066CC"/>
                </a:solidFill>
              </a:rPr>
              <a:t>18-22</a:t>
            </a:r>
            <a:r>
              <a:rPr lang="zh-CN" altLang="en-US" sz="1200" dirty="0">
                <a:solidFill>
                  <a:srgbClr val="0066CC"/>
                </a:solidFill>
              </a:rPr>
              <a:t>回合拥塞窗口阈值多大？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第</a:t>
            </a:r>
            <a:r>
              <a:rPr lang="en-US" altLang="zh-CN" sz="1200" dirty="0">
                <a:solidFill>
                  <a:srgbClr val="0066CC"/>
                </a:solidFill>
              </a:rPr>
              <a:t>23-26</a:t>
            </a:r>
            <a:r>
              <a:rPr lang="zh-CN" altLang="en-US" sz="1200" dirty="0">
                <a:solidFill>
                  <a:srgbClr val="0066CC"/>
                </a:solidFill>
              </a:rPr>
              <a:t>回合拥塞窗口阈值多大？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在哪个回合发送了第</a:t>
            </a:r>
            <a:r>
              <a:rPr lang="en-US" altLang="zh-CN" sz="1200" dirty="0">
                <a:solidFill>
                  <a:srgbClr val="0066CC"/>
                </a:solidFill>
              </a:rPr>
              <a:t>70</a:t>
            </a:r>
            <a:r>
              <a:rPr lang="zh-CN" altLang="en-US" sz="1200" dirty="0">
                <a:solidFill>
                  <a:srgbClr val="0066CC"/>
                </a:solidFill>
              </a:rPr>
              <a:t>个报文段？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en-US" altLang="zh-CN" sz="1200" dirty="0">
                <a:solidFill>
                  <a:srgbClr val="0066CC"/>
                </a:solidFill>
              </a:rPr>
              <a:t>17-22</a:t>
            </a:r>
            <a:r>
              <a:rPr lang="zh-CN" altLang="en-US" sz="1200" dirty="0">
                <a:solidFill>
                  <a:srgbClr val="0066CC"/>
                </a:solidFill>
              </a:rPr>
              <a:t>个回合发送了多少个分组？</a:t>
            </a:r>
            <a:r>
              <a:rPr lang="en-US" altLang="zh-CN" sz="1200" dirty="0">
                <a:solidFill>
                  <a:srgbClr val="0066CC"/>
                </a:solidFill>
              </a:rPr>
              <a:t>23-26</a:t>
            </a:r>
            <a:r>
              <a:rPr lang="zh-CN" altLang="en-US" sz="1200" dirty="0">
                <a:solidFill>
                  <a:srgbClr val="0066CC"/>
                </a:solidFill>
              </a:rPr>
              <a:t>回合呢？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若第</a:t>
            </a:r>
            <a:r>
              <a:rPr lang="en-US" altLang="zh-CN" sz="1200" dirty="0">
                <a:solidFill>
                  <a:srgbClr val="0066CC"/>
                </a:solidFill>
              </a:rPr>
              <a:t>26</a:t>
            </a:r>
            <a:r>
              <a:rPr lang="zh-CN" altLang="en-US" sz="1200" dirty="0">
                <a:solidFill>
                  <a:srgbClr val="0066CC"/>
                </a:solidFill>
              </a:rPr>
              <a:t>回合检测到</a:t>
            </a:r>
            <a:r>
              <a:rPr lang="en-US" altLang="zh-CN" sz="1200" dirty="0">
                <a:solidFill>
                  <a:srgbClr val="0066CC"/>
                </a:solidFill>
              </a:rPr>
              <a:t>3</a:t>
            </a:r>
            <a:r>
              <a:rPr lang="zh-CN" altLang="en-US" sz="1200" dirty="0">
                <a:solidFill>
                  <a:srgbClr val="0066CC"/>
                </a:solidFill>
              </a:rPr>
              <a:t>个冗余确认，在第</a:t>
            </a:r>
            <a:r>
              <a:rPr lang="en-US" altLang="zh-CN" sz="1200" dirty="0">
                <a:solidFill>
                  <a:srgbClr val="0066CC"/>
                </a:solidFill>
              </a:rPr>
              <a:t>27</a:t>
            </a:r>
            <a:r>
              <a:rPr lang="zh-CN" altLang="en-US" sz="1200" dirty="0">
                <a:solidFill>
                  <a:srgbClr val="0066CC"/>
                </a:solidFill>
              </a:rPr>
              <a:t>个回合拥塞窗口和阈值应该怎么设定？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r>
              <a:rPr lang="zh-CN" altLang="en-US" sz="1200" dirty="0">
                <a:solidFill>
                  <a:srgbClr val="0066CC"/>
                </a:solidFill>
              </a:rPr>
              <a:t>若用</a:t>
            </a:r>
            <a:r>
              <a:rPr lang="en-US" altLang="zh-CN" sz="1200" dirty="0">
                <a:solidFill>
                  <a:srgbClr val="0066CC"/>
                </a:solidFill>
              </a:rPr>
              <a:t>TCP Tahoe</a:t>
            </a:r>
            <a:r>
              <a:rPr lang="zh-CN" altLang="en-US" sz="1200" dirty="0">
                <a:solidFill>
                  <a:srgbClr val="0066CC"/>
                </a:solidFill>
              </a:rPr>
              <a:t>策略，第</a:t>
            </a:r>
            <a:r>
              <a:rPr lang="en-US" altLang="zh-CN" sz="1200" dirty="0">
                <a:solidFill>
                  <a:srgbClr val="0066CC"/>
                </a:solidFill>
              </a:rPr>
              <a:t>19</a:t>
            </a:r>
            <a:r>
              <a:rPr lang="zh-CN" altLang="en-US" sz="1200" dirty="0">
                <a:solidFill>
                  <a:srgbClr val="0066CC"/>
                </a:solidFill>
              </a:rPr>
              <a:t>个回合拥塞窗口和阈值各为多大？（参考虚线）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endParaRPr lang="en-US" altLang="zh-CN" sz="1200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265AF6-1209-4E4D-B2FB-746F4BB04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473" y="843558"/>
            <a:ext cx="5333438" cy="29699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0622F32-2B94-4CEF-9B03-4EAD1E41AD55}"/>
              </a:ext>
            </a:extLst>
          </p:cNvPr>
          <p:cNvCxnSpPr>
            <a:cxnSpLocks/>
          </p:cNvCxnSpPr>
          <p:nvPr/>
        </p:nvCxnSpPr>
        <p:spPr>
          <a:xfrm>
            <a:off x="6732240" y="1430114"/>
            <a:ext cx="84872" cy="168508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964F1F2B-C1EE-484F-82B4-C1D661ABC124}"/>
              </a:ext>
            </a:extLst>
          </p:cNvPr>
          <p:cNvSpPr/>
          <p:nvPr/>
        </p:nvSpPr>
        <p:spPr>
          <a:xfrm>
            <a:off x="6817112" y="2966515"/>
            <a:ext cx="223025" cy="148683"/>
          </a:xfrm>
          <a:custGeom>
            <a:avLst/>
            <a:gdLst>
              <a:gd name="connsiteX0" fmla="*/ 0 w 223025"/>
              <a:gd name="connsiteY0" fmla="*/ 148683 h 148683"/>
              <a:gd name="connsiteX1" fmla="*/ 96644 w 223025"/>
              <a:gd name="connsiteY1" fmla="*/ 126381 h 148683"/>
              <a:gd name="connsiteX2" fmla="*/ 170986 w 223025"/>
              <a:gd name="connsiteY2" fmla="*/ 66907 h 148683"/>
              <a:gd name="connsiteX3" fmla="*/ 223025 w 223025"/>
              <a:gd name="connsiteY3" fmla="*/ 0 h 148683"/>
              <a:gd name="connsiteX4" fmla="*/ 223025 w 223025"/>
              <a:gd name="connsiteY4" fmla="*/ 0 h 148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25" h="148683">
                <a:moveTo>
                  <a:pt x="0" y="148683"/>
                </a:moveTo>
                <a:cubicBezTo>
                  <a:pt x="34073" y="144346"/>
                  <a:pt x="68146" y="140010"/>
                  <a:pt x="96644" y="126381"/>
                </a:cubicBezTo>
                <a:cubicBezTo>
                  <a:pt x="125142" y="112752"/>
                  <a:pt x="149923" y="87970"/>
                  <a:pt x="170986" y="66907"/>
                </a:cubicBezTo>
                <a:cubicBezTo>
                  <a:pt x="192049" y="45844"/>
                  <a:pt x="223025" y="0"/>
                  <a:pt x="223025" y="0"/>
                </a:cubicBezTo>
                <a:lnTo>
                  <a:pt x="223025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灯片编号占位符 2">
            <a:extLst>
              <a:ext uri="{FF2B5EF4-FFF2-40B4-BE49-F238E27FC236}">
                <a16:creationId xmlns:a16="http://schemas.microsoft.com/office/drawing/2014/main" id="{2D2DA152-22C2-4D2B-BE2A-8D00800D75E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013E9C12-409B-4723-A9C3-A744C401C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167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264695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拥塞控制算法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WireShark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实验中将看到的</a:t>
            </a:r>
            <a:r>
              <a:rPr lang="zh-CN" altLang="en-US" dirty="0">
                <a:solidFill>
                  <a:srgbClr val="0066CC"/>
                </a:solidFill>
              </a:rPr>
              <a:t>一些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情况（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Stevens Graph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）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6F622B-4F59-4F16-9906-18A11DA0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759098"/>
            <a:ext cx="4038122" cy="32136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76474A-8D97-4FC4-B65C-5C90FC17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342" y="1759098"/>
            <a:ext cx="4038122" cy="32136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85FBF90C-ECF9-4774-80E3-47C89D5E56E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3C3B962-B2D3-4822-8506-7E15C6D6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C4355E0-C834-4C4F-930C-ACCB0474175E}"/>
              </a:ext>
            </a:extLst>
          </p:cNvPr>
          <p:cNvSpPr txBox="1">
            <a:spLocks/>
          </p:cNvSpPr>
          <p:nvPr/>
        </p:nvSpPr>
        <p:spPr>
          <a:xfrm>
            <a:off x="467545" y="936000"/>
            <a:ext cx="6264695" cy="377968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</a:rPr>
              <a:t>TCP</a:t>
            </a:r>
            <a:r>
              <a:rPr lang="zh-CN" altLang="en-US" dirty="0">
                <a:solidFill>
                  <a:srgbClr val="0066CC"/>
                </a:solidFill>
              </a:rPr>
              <a:t>拥塞控制算法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r>
              <a:rPr lang="en-US" altLang="zh-CN" dirty="0" err="1">
                <a:solidFill>
                  <a:srgbClr val="0066CC"/>
                </a:solidFill>
              </a:rPr>
              <a:t>WireShark</a:t>
            </a:r>
            <a:r>
              <a:rPr lang="zh-CN" altLang="en-US" dirty="0">
                <a:solidFill>
                  <a:srgbClr val="0066CC"/>
                </a:solidFill>
              </a:rPr>
              <a:t>实验中将看到的一些情况（</a:t>
            </a:r>
            <a:r>
              <a:rPr lang="en-US" altLang="zh-CN" dirty="0">
                <a:solidFill>
                  <a:srgbClr val="0066CC"/>
                </a:solidFill>
              </a:rPr>
              <a:t>Stevens Graph</a:t>
            </a:r>
            <a:r>
              <a:rPr lang="zh-CN" altLang="en-US" dirty="0">
                <a:solidFill>
                  <a:srgbClr val="0066CC"/>
                </a:solidFill>
              </a:rPr>
              <a:t>）</a:t>
            </a:r>
            <a:endParaRPr lang="en-US" altLang="zh-CN" dirty="0">
              <a:solidFill>
                <a:srgbClr val="0066CC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94B2CC-9F58-4015-A8D9-06F2104AF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342" y="1753005"/>
            <a:ext cx="4038122" cy="32136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186468-888F-45DE-B7F7-073709D4B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759098"/>
            <a:ext cx="4038122" cy="32136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0D0E0765-1320-4ACB-BD22-8CDCBD144C5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30BDB62E-D01B-4C7A-B0E2-E4665A19D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747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拥塞窗口的工作机制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9" name="Group 240"/>
          <p:cNvGrpSpPr/>
          <p:nvPr/>
        </p:nvGrpSpPr>
        <p:grpSpPr bwMode="auto">
          <a:xfrm>
            <a:off x="3957340" y="2216774"/>
            <a:ext cx="1600200" cy="636985"/>
            <a:chOff x="2168" y="1727"/>
            <a:chExt cx="1344" cy="535"/>
          </a:xfrm>
        </p:grpSpPr>
        <p:grpSp>
          <p:nvGrpSpPr>
            <p:cNvPr id="10" name="Group 171"/>
            <p:cNvGrpSpPr/>
            <p:nvPr/>
          </p:nvGrpSpPr>
          <p:grpSpPr bwMode="auto">
            <a:xfrm>
              <a:off x="2280" y="1727"/>
              <a:ext cx="1166" cy="535"/>
              <a:chOff x="2280" y="1727"/>
              <a:chExt cx="1166" cy="535"/>
            </a:xfrm>
          </p:grpSpPr>
          <p:sp>
            <p:nvSpPr>
              <p:cNvPr id="12" name="Text Box 172"/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419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timeout</a:t>
                </a:r>
              </a:p>
            </p:txBody>
          </p:sp>
          <p:sp>
            <p:nvSpPr>
              <p:cNvPr id="13" name="Text Box 173"/>
              <p:cNvSpPr txBox="1">
                <a:spLocks noChangeArrowheads="1"/>
              </p:cNvSpPr>
              <p:nvPr/>
            </p:nvSpPr>
            <p:spPr bwMode="auto">
              <a:xfrm>
                <a:off x="2280" y="1838"/>
                <a:ext cx="1166" cy="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ssthresh = cwnd/2</a:t>
                </a:r>
              </a:p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cwnd = 1 MSS</a:t>
                </a:r>
              </a:p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dupACKcount = 0</a:t>
                </a:r>
              </a:p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retransmit missing segment</a:t>
                </a:r>
                <a:r>
                  <a:rPr lang="en-US" sz="900">
                    <a:latin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14" name="Line 174"/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11" name="Line 175"/>
            <p:cNvSpPr>
              <a:spLocks noChangeShapeType="1"/>
            </p:cNvSpPr>
            <p:nvPr/>
          </p:nvSpPr>
          <p:spPr bwMode="auto">
            <a:xfrm flipH="1">
              <a:off x="2168" y="173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</p:grpSp>
      <p:grpSp>
        <p:nvGrpSpPr>
          <p:cNvPr id="15" name="Group 239"/>
          <p:cNvGrpSpPr/>
          <p:nvPr/>
        </p:nvGrpSpPr>
        <p:grpSpPr bwMode="auto">
          <a:xfrm>
            <a:off x="3979962" y="1859589"/>
            <a:ext cx="1600200" cy="322660"/>
            <a:chOff x="2187" y="1427"/>
            <a:chExt cx="1344" cy="271"/>
          </a:xfrm>
        </p:grpSpPr>
        <p:sp>
          <p:nvSpPr>
            <p:cNvPr id="16" name="Line 176"/>
            <p:cNvSpPr>
              <a:spLocks noChangeShapeType="1"/>
            </p:cNvSpPr>
            <p:nvPr/>
          </p:nvSpPr>
          <p:spPr bwMode="auto">
            <a:xfrm flipH="1">
              <a:off x="2187" y="1673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7" name="Text Box 181"/>
            <p:cNvSpPr txBox="1">
              <a:spLocks noChangeArrowheads="1"/>
            </p:cNvSpPr>
            <p:nvPr/>
          </p:nvSpPr>
          <p:spPr bwMode="auto">
            <a:xfrm>
              <a:off x="2740" y="1543"/>
              <a:ext cx="210" cy="1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lang="en-US" altLang="zh-CN" sz="750">
                  <a:latin typeface="Symbol" panose="05050102010706020507" pitchFamily="18" charset="2"/>
                </a:rPr>
                <a:t>L</a:t>
              </a:r>
              <a:endParaRPr lang="en-US" altLang="zh-CN" sz="900">
                <a:latin typeface="Symbol" panose="05050102010706020507" pitchFamily="18" charset="2"/>
              </a:endParaRPr>
            </a:p>
          </p:txBody>
        </p:sp>
        <p:sp>
          <p:nvSpPr>
            <p:cNvPr id="18" name="Line 182"/>
            <p:cNvSpPr>
              <a:spLocks noChangeShapeType="1"/>
            </p:cNvSpPr>
            <p:nvPr/>
          </p:nvSpPr>
          <p:spPr bwMode="auto">
            <a:xfrm>
              <a:off x="2572" y="1554"/>
              <a:ext cx="5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grpSp>
          <p:nvGrpSpPr>
            <p:cNvPr id="19" name="Group 183"/>
            <p:cNvGrpSpPr/>
            <p:nvPr/>
          </p:nvGrpSpPr>
          <p:grpSpPr bwMode="auto">
            <a:xfrm>
              <a:off x="2486" y="1427"/>
              <a:ext cx="739" cy="174"/>
              <a:chOff x="2458" y="1450"/>
              <a:chExt cx="739" cy="174"/>
            </a:xfrm>
          </p:grpSpPr>
          <p:sp>
            <p:nvSpPr>
              <p:cNvPr id="20" name="Text Box 184"/>
              <p:cNvSpPr txBox="1">
                <a:spLocks noChangeArrowheads="1"/>
              </p:cNvSpPr>
              <p:nvPr/>
            </p:nvSpPr>
            <p:spPr bwMode="auto">
              <a:xfrm>
                <a:off x="2458" y="1450"/>
                <a:ext cx="739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cwnd &gt; ssthresh</a:t>
                </a:r>
              </a:p>
            </p:txBody>
          </p:sp>
          <p:sp>
            <p:nvSpPr>
              <p:cNvPr id="21" name="Line 185"/>
              <p:cNvSpPr>
                <a:spLocks noChangeShapeType="1"/>
              </p:cNvSpPr>
              <p:nvPr/>
            </p:nvSpPr>
            <p:spPr bwMode="auto">
              <a:xfrm>
                <a:off x="2724" y="1557"/>
                <a:ext cx="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22" name="Group 242"/>
          <p:cNvGrpSpPr/>
          <p:nvPr/>
        </p:nvGrpSpPr>
        <p:grpSpPr bwMode="auto">
          <a:xfrm>
            <a:off x="5565874" y="1063061"/>
            <a:ext cx="2065735" cy="1799035"/>
            <a:chOff x="3519" y="786"/>
            <a:chExt cx="1735" cy="1511"/>
          </a:xfrm>
        </p:grpSpPr>
        <p:grpSp>
          <p:nvGrpSpPr>
            <p:cNvPr id="23" name="Group 164"/>
            <p:cNvGrpSpPr/>
            <p:nvPr/>
          </p:nvGrpSpPr>
          <p:grpSpPr bwMode="auto">
            <a:xfrm>
              <a:off x="3602" y="1330"/>
              <a:ext cx="863" cy="771"/>
              <a:chOff x="2293" y="2021"/>
              <a:chExt cx="863" cy="771"/>
            </a:xfrm>
          </p:grpSpPr>
          <p:sp>
            <p:nvSpPr>
              <p:cNvPr id="35" name="Oval 165"/>
              <p:cNvSpPr>
                <a:spLocks noChangeArrowheads="1"/>
              </p:cNvSpPr>
              <p:nvPr/>
            </p:nvSpPr>
            <p:spPr bwMode="auto"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6" name="Text Box 166"/>
              <p:cNvSpPr txBox="1">
                <a:spLocks noChangeArrowheads="1"/>
              </p:cNvSpPr>
              <p:nvPr/>
            </p:nvSpPr>
            <p:spPr bwMode="auto">
              <a:xfrm>
                <a:off x="2298" y="2191"/>
                <a:ext cx="858" cy="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50">
                    <a:latin typeface="Arial" panose="020B0604020202020204" pitchFamily="34" charset="0"/>
                  </a:rPr>
                  <a:t>congestion</a:t>
                </a:r>
              </a:p>
              <a:p>
                <a:pPr eaLnBrk="1" hangingPunct="1"/>
                <a:r>
                  <a:rPr lang="en-US" altLang="zh-CN" sz="1350">
                    <a:latin typeface="Arial" panose="020B0604020202020204" pitchFamily="34" charset="0"/>
                  </a:rPr>
                  <a:t>avoidance </a:t>
                </a:r>
              </a:p>
              <a:p>
                <a:pPr eaLnBrk="1" hangingPunct="1"/>
                <a:endParaRPr lang="en-US" altLang="zh-CN" sz="135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" name="Group 190"/>
            <p:cNvGrpSpPr/>
            <p:nvPr/>
          </p:nvGrpSpPr>
          <p:grpSpPr bwMode="auto">
            <a:xfrm>
              <a:off x="3519" y="786"/>
              <a:ext cx="1461" cy="565"/>
              <a:chOff x="3542" y="904"/>
              <a:chExt cx="1461" cy="565"/>
            </a:xfrm>
          </p:grpSpPr>
          <p:sp>
            <p:nvSpPr>
              <p:cNvPr id="31" name="Text Box 191"/>
              <p:cNvSpPr txBox="1">
                <a:spLocks noChangeArrowheads="1"/>
              </p:cNvSpPr>
              <p:nvPr/>
            </p:nvSpPr>
            <p:spPr bwMode="auto">
              <a:xfrm>
                <a:off x="3542" y="1037"/>
                <a:ext cx="1461" cy="4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cwnd = cwnd + MSS    (MSS/cwnd)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dupACKcount = 0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zh-CN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transmit new segment(s), as allowed</a:t>
                </a:r>
              </a:p>
              <a:p>
                <a:pPr eaLnBrk="1" hangingPunct="1">
                  <a:lnSpc>
                    <a:spcPct val="80000"/>
                  </a:lnSpc>
                </a:pPr>
                <a:endParaRPr lang="en-US" altLang="zh-CN" sz="900" i="1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Line 192"/>
              <p:cNvSpPr>
                <a:spLocks noChangeShapeType="1"/>
              </p:cNvSpPr>
              <p:nvPr/>
            </p:nvSpPr>
            <p:spPr bwMode="auto">
              <a:xfrm>
                <a:off x="3976" y="1054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33" name="Text Box 193"/>
              <p:cNvSpPr txBox="1">
                <a:spLocks noChangeArrowheads="1"/>
              </p:cNvSpPr>
              <p:nvPr/>
            </p:nvSpPr>
            <p:spPr bwMode="auto">
              <a:xfrm>
                <a:off x="4014" y="923"/>
                <a:ext cx="490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new ACK</a:t>
                </a:r>
              </a:p>
            </p:txBody>
          </p:sp>
          <p:sp>
            <p:nvSpPr>
              <p:cNvPr id="34" name="Text Box 194"/>
              <p:cNvSpPr txBox="1">
                <a:spLocks noChangeArrowheads="1"/>
              </p:cNvSpPr>
              <p:nvPr/>
            </p:nvSpPr>
            <p:spPr bwMode="auto">
              <a:xfrm>
                <a:off x="4311" y="904"/>
                <a:ext cx="204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800">
                    <a:latin typeface="Times New Roman" panose="02020603050405020304" pitchFamily="18" charset="0"/>
                  </a:rPr>
                  <a:t>.</a:t>
                </a:r>
              </a:p>
            </p:txBody>
          </p:sp>
        </p:grpSp>
        <p:sp>
          <p:nvSpPr>
            <p:cNvPr id="25" name="Freeform 195"/>
            <p:cNvSpPr/>
            <p:nvPr/>
          </p:nvSpPr>
          <p:spPr bwMode="auto">
            <a:xfrm rot="9705213">
              <a:off x="4212" y="1145"/>
              <a:ext cx="333" cy="452"/>
            </a:xfrm>
            <a:custGeom>
              <a:avLst/>
              <a:gdLst>
                <a:gd name="T0" fmla="*/ 231 w 376"/>
                <a:gd name="T1" fmla="*/ 306 h 452"/>
                <a:gd name="T2" fmla="*/ 51 w 376"/>
                <a:gd name="T3" fmla="*/ 269 h 452"/>
                <a:gd name="T4" fmla="*/ 128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6" name="Group 196"/>
            <p:cNvGrpSpPr/>
            <p:nvPr/>
          </p:nvGrpSpPr>
          <p:grpSpPr bwMode="auto">
            <a:xfrm>
              <a:off x="4509" y="1909"/>
              <a:ext cx="745" cy="388"/>
              <a:chOff x="4274" y="2922"/>
              <a:chExt cx="745" cy="388"/>
            </a:xfrm>
          </p:grpSpPr>
          <p:sp>
            <p:nvSpPr>
              <p:cNvPr id="28" name="Text Box 197"/>
              <p:cNvSpPr txBox="1">
                <a:spLocks noChangeArrowheads="1"/>
              </p:cNvSpPr>
              <p:nvPr/>
            </p:nvSpPr>
            <p:spPr bwMode="auto">
              <a:xfrm>
                <a:off x="4274" y="3062"/>
                <a:ext cx="745" cy="2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dupACKcount++</a:t>
                </a:r>
              </a:p>
              <a:p>
                <a:pPr eaLnBrk="1" hangingPunct="1">
                  <a:lnSpc>
                    <a:spcPct val="80000"/>
                  </a:lnSpc>
                </a:pPr>
                <a:endParaRPr lang="en-US" altLang="zh-CN" sz="90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Line 198"/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30" name="Text Box 199"/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64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duplicate ACK</a:t>
                </a:r>
              </a:p>
            </p:txBody>
          </p:sp>
        </p:grpSp>
        <p:sp>
          <p:nvSpPr>
            <p:cNvPr id="27" name="Freeform 200"/>
            <p:cNvSpPr/>
            <p:nvPr/>
          </p:nvSpPr>
          <p:spPr bwMode="auto">
            <a:xfrm rot="-7516021">
              <a:off x="4290" y="1673"/>
              <a:ext cx="333" cy="452"/>
            </a:xfrm>
            <a:custGeom>
              <a:avLst/>
              <a:gdLst>
                <a:gd name="T0" fmla="*/ 231 w 376"/>
                <a:gd name="T1" fmla="*/ 306 h 452"/>
                <a:gd name="T2" fmla="*/ 51 w 376"/>
                <a:gd name="T3" fmla="*/ 269 h 452"/>
                <a:gd name="T4" fmla="*/ 128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37" name="Group 245"/>
          <p:cNvGrpSpPr/>
          <p:nvPr/>
        </p:nvGrpSpPr>
        <p:grpSpPr bwMode="auto">
          <a:xfrm>
            <a:off x="4397872" y="3651480"/>
            <a:ext cx="2521744" cy="1313260"/>
            <a:chOff x="2538" y="2960"/>
            <a:chExt cx="2118" cy="1103"/>
          </a:xfrm>
        </p:grpSpPr>
        <p:grpSp>
          <p:nvGrpSpPr>
            <p:cNvPr id="38" name="Group 167"/>
            <p:cNvGrpSpPr/>
            <p:nvPr/>
          </p:nvGrpSpPr>
          <p:grpSpPr bwMode="auto">
            <a:xfrm>
              <a:off x="2538" y="2960"/>
              <a:ext cx="809" cy="760"/>
              <a:chOff x="2454" y="3045"/>
              <a:chExt cx="809" cy="760"/>
            </a:xfrm>
          </p:grpSpPr>
          <p:sp>
            <p:nvSpPr>
              <p:cNvPr id="44" name="Oval 168"/>
              <p:cNvSpPr>
                <a:spLocks noChangeArrowheads="1"/>
              </p:cNvSpPr>
              <p:nvPr/>
            </p:nvSpPr>
            <p:spPr bwMode="auto"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5" name="Text Box 169"/>
              <p:cNvSpPr txBox="1">
                <a:spLocks noChangeArrowheads="1"/>
              </p:cNvSpPr>
              <p:nvPr/>
            </p:nvSpPr>
            <p:spPr bwMode="auto">
              <a:xfrm>
                <a:off x="2796" y="3212"/>
                <a:ext cx="195" cy="4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50">
                    <a:latin typeface="Arial" panose="020B0604020202020204" pitchFamily="34" charset="0"/>
                  </a:rPr>
                  <a:t> </a:t>
                </a:r>
              </a:p>
              <a:p>
                <a:pPr eaLnBrk="1" hangingPunct="1"/>
                <a:endParaRPr lang="en-US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Text Box 170"/>
              <p:cNvSpPr txBox="1">
                <a:spLocks noChangeArrowheads="1"/>
              </p:cNvSpPr>
              <p:nvPr/>
            </p:nvSpPr>
            <p:spPr bwMode="auto">
              <a:xfrm>
                <a:off x="2510" y="3204"/>
                <a:ext cx="753" cy="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50">
                    <a:latin typeface="Arial" panose="020B0604020202020204" pitchFamily="34" charset="0"/>
                  </a:rPr>
                  <a:t>fast</a:t>
                </a:r>
              </a:p>
              <a:p>
                <a:pPr eaLnBrk="1" hangingPunct="1"/>
                <a:r>
                  <a:rPr lang="en-US" altLang="zh-CN" sz="1350">
                    <a:latin typeface="Arial" panose="020B0604020202020204" pitchFamily="34" charset="0"/>
                  </a:rPr>
                  <a:t>recovery </a:t>
                </a:r>
              </a:p>
              <a:p>
                <a:pPr eaLnBrk="1" hangingPunct="1"/>
                <a:endParaRPr lang="en-US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" name="Freeform 220"/>
            <p:cNvSpPr/>
            <p:nvPr/>
          </p:nvSpPr>
          <p:spPr bwMode="auto">
            <a:xfrm>
              <a:off x="2775" y="3708"/>
              <a:ext cx="384" cy="161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0" name="Group 221"/>
            <p:cNvGrpSpPr/>
            <p:nvPr/>
          </p:nvGrpSpPr>
          <p:grpSpPr bwMode="auto">
            <a:xfrm>
              <a:off x="3191" y="3592"/>
              <a:ext cx="1465" cy="471"/>
              <a:chOff x="3542" y="3496"/>
              <a:chExt cx="1465" cy="471"/>
            </a:xfrm>
          </p:grpSpPr>
          <p:sp>
            <p:nvSpPr>
              <p:cNvPr id="41" name="Text Box 222"/>
              <p:cNvSpPr txBox="1">
                <a:spLocks noChangeArrowheads="1"/>
              </p:cNvSpPr>
              <p:nvPr/>
            </p:nvSpPr>
            <p:spPr bwMode="auto">
              <a:xfrm>
                <a:off x="3546" y="3632"/>
                <a:ext cx="1461" cy="3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 eaLnBrk="1" hangingPunct="1">
                  <a:lnSpc>
                    <a:spcPct val="85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cwnd = cwnd + MSS</a:t>
                </a:r>
              </a:p>
              <a:p>
                <a:pPr algn="l" eaLnBrk="1" hangingPunct="1">
                  <a:lnSpc>
                    <a:spcPct val="85000"/>
                  </a:lnSpc>
                </a:pPr>
                <a:r>
                  <a:rPr lang="en-US" altLang="zh-CN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transmit new segment(s), as allowed</a:t>
                </a:r>
              </a:p>
              <a:p>
                <a:pPr algn="l" eaLnBrk="1" hangingPunct="1">
                  <a:lnSpc>
                    <a:spcPct val="80000"/>
                  </a:lnSpc>
                </a:pPr>
                <a:endParaRPr lang="en-US" altLang="zh-CN" sz="900" i="1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2" name="Line 223"/>
              <p:cNvSpPr>
                <a:spLocks noChangeShapeType="1"/>
              </p:cNvSpPr>
              <p:nvPr/>
            </p:nvSpPr>
            <p:spPr bwMode="auto">
              <a:xfrm>
                <a:off x="3600" y="3645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43" name="Text Box 224"/>
              <p:cNvSpPr txBox="1">
                <a:spLocks noChangeArrowheads="1"/>
              </p:cNvSpPr>
              <p:nvPr/>
            </p:nvSpPr>
            <p:spPr bwMode="auto">
              <a:xfrm>
                <a:off x="3542" y="3496"/>
                <a:ext cx="664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duplicate ACK</a:t>
                </a:r>
              </a:p>
            </p:txBody>
          </p:sp>
        </p:grpSp>
      </p:grpSp>
      <p:grpSp>
        <p:nvGrpSpPr>
          <p:cNvPr id="47" name="Group 246"/>
          <p:cNvGrpSpPr/>
          <p:nvPr/>
        </p:nvGrpSpPr>
        <p:grpSpPr bwMode="auto">
          <a:xfrm>
            <a:off x="2015432" y="2662071"/>
            <a:ext cx="2907507" cy="1471612"/>
            <a:chOff x="537" y="2129"/>
            <a:chExt cx="2442" cy="1236"/>
          </a:xfrm>
        </p:grpSpPr>
        <p:grpSp>
          <p:nvGrpSpPr>
            <p:cNvPr id="48" name="Group 212"/>
            <p:cNvGrpSpPr/>
            <p:nvPr/>
          </p:nvGrpSpPr>
          <p:grpSpPr bwMode="auto">
            <a:xfrm>
              <a:off x="537" y="2818"/>
              <a:ext cx="1190" cy="547"/>
              <a:chOff x="396" y="2768"/>
              <a:chExt cx="1190" cy="547"/>
            </a:xfrm>
          </p:grpSpPr>
          <p:sp>
            <p:nvSpPr>
              <p:cNvPr id="55" name="Text Box 213"/>
              <p:cNvSpPr txBox="1">
                <a:spLocks noChangeArrowheads="1"/>
              </p:cNvSpPr>
              <p:nvPr/>
            </p:nvSpPr>
            <p:spPr bwMode="auto">
              <a:xfrm>
                <a:off x="396" y="2912"/>
                <a:ext cx="1139" cy="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ssthresh= cwnd/2</a:t>
                </a:r>
              </a:p>
              <a:p>
                <a:pPr algn="r"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cwnd = ssthresh + 3</a:t>
                </a:r>
              </a:p>
              <a:p>
                <a:pPr algn="r" eaLnBrk="1" hangingPunct="1">
                  <a:lnSpc>
                    <a:spcPct val="80000"/>
                  </a:lnSpc>
                </a:pPr>
                <a:r>
                  <a:rPr lang="en-US" altLang="zh-CN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retransmit missing segment</a:t>
                </a:r>
              </a:p>
              <a:p>
                <a:pPr algn="r" eaLnBrk="1" hangingPunct="1">
                  <a:lnSpc>
                    <a:spcPct val="80000"/>
                  </a:lnSpc>
                </a:pPr>
                <a:endParaRPr lang="en-US" altLang="zh-CN" sz="900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6" name="Line 214"/>
              <p:cNvSpPr>
                <a:spLocks noChangeShapeType="1"/>
              </p:cNvSpPr>
              <p:nvPr/>
            </p:nvSpPr>
            <p:spPr bwMode="auto">
              <a:xfrm>
                <a:off x="925" y="2913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57" name="Text Box 215"/>
              <p:cNvSpPr txBox="1">
                <a:spLocks noChangeArrowheads="1"/>
              </p:cNvSpPr>
              <p:nvPr/>
            </p:nvSpPr>
            <p:spPr bwMode="auto">
              <a:xfrm>
                <a:off x="751" y="2768"/>
                <a:ext cx="835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dupACKcount == 3</a:t>
                </a:r>
              </a:p>
            </p:txBody>
          </p:sp>
        </p:grpSp>
        <p:grpSp>
          <p:nvGrpSpPr>
            <p:cNvPr id="49" name="Group 216"/>
            <p:cNvGrpSpPr/>
            <p:nvPr/>
          </p:nvGrpSpPr>
          <p:grpSpPr bwMode="auto">
            <a:xfrm>
              <a:off x="1813" y="2454"/>
              <a:ext cx="1166" cy="541"/>
              <a:chOff x="419" y="2872"/>
              <a:chExt cx="1166" cy="541"/>
            </a:xfrm>
          </p:grpSpPr>
          <p:sp>
            <p:nvSpPr>
              <p:cNvPr id="52" name="Text Box 217"/>
              <p:cNvSpPr txBox="1">
                <a:spLocks noChangeArrowheads="1"/>
              </p:cNvSpPr>
              <p:nvPr/>
            </p:nvSpPr>
            <p:spPr bwMode="auto">
              <a:xfrm>
                <a:off x="439" y="2872"/>
                <a:ext cx="419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timeout</a:t>
                </a:r>
              </a:p>
            </p:txBody>
          </p:sp>
          <p:sp>
            <p:nvSpPr>
              <p:cNvPr id="53" name="Text Box 218"/>
              <p:cNvSpPr txBox="1">
                <a:spLocks noChangeArrowheads="1"/>
              </p:cNvSpPr>
              <p:nvPr/>
            </p:nvSpPr>
            <p:spPr bwMode="auto">
              <a:xfrm>
                <a:off x="419" y="2989"/>
                <a:ext cx="1166" cy="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ssthresh = cwnd/2</a:t>
                </a:r>
              </a:p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cwnd = 1 </a:t>
                </a:r>
              </a:p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dupACKcount = 0</a:t>
                </a:r>
              </a:p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retransmit missing segment</a:t>
                </a:r>
                <a:r>
                  <a:rPr lang="en-US" sz="900">
                    <a:latin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54" name="Line 219"/>
              <p:cNvSpPr>
                <a:spLocks noChangeShapeType="1"/>
              </p:cNvSpPr>
              <p:nvPr/>
            </p:nvSpPr>
            <p:spPr bwMode="auto">
              <a:xfrm>
                <a:off x="471" y="3014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50" name="Freeform 225"/>
            <p:cNvSpPr/>
            <p:nvPr/>
          </p:nvSpPr>
          <p:spPr bwMode="auto">
            <a:xfrm>
              <a:off x="1722" y="2129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Freeform 226"/>
            <p:cNvSpPr/>
            <p:nvPr/>
          </p:nvSpPr>
          <p:spPr bwMode="auto">
            <a:xfrm>
              <a:off x="1791" y="2146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8" name="Group 244"/>
          <p:cNvGrpSpPr/>
          <p:nvPr/>
        </p:nvGrpSpPr>
        <p:grpSpPr bwMode="auto">
          <a:xfrm>
            <a:off x="5389663" y="2656119"/>
            <a:ext cx="2247900" cy="1463278"/>
            <a:chOff x="3371" y="2124"/>
            <a:chExt cx="1888" cy="1229"/>
          </a:xfrm>
        </p:grpSpPr>
        <p:grpSp>
          <p:nvGrpSpPr>
            <p:cNvPr id="59" name="Group 201"/>
            <p:cNvGrpSpPr/>
            <p:nvPr/>
          </p:nvGrpSpPr>
          <p:grpSpPr bwMode="auto">
            <a:xfrm>
              <a:off x="4120" y="2796"/>
              <a:ext cx="1139" cy="557"/>
              <a:chOff x="4142" y="2802"/>
              <a:chExt cx="1139" cy="557"/>
            </a:xfrm>
          </p:grpSpPr>
          <p:sp>
            <p:nvSpPr>
              <p:cNvPr id="61" name="Text Box 202"/>
              <p:cNvSpPr txBox="1">
                <a:spLocks noChangeArrowheads="1"/>
              </p:cNvSpPr>
              <p:nvPr/>
            </p:nvSpPr>
            <p:spPr bwMode="auto">
              <a:xfrm>
                <a:off x="4142" y="2956"/>
                <a:ext cx="1139" cy="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ssthresh= cwnd/2</a:t>
                </a:r>
              </a:p>
              <a:p>
                <a:pPr algn="l"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cwnd = ssthresh + 3</a:t>
                </a:r>
              </a:p>
              <a:p>
                <a:pPr algn="l" eaLnBrk="1" hangingPunct="1">
                  <a:lnSpc>
                    <a:spcPct val="80000"/>
                  </a:lnSpc>
                </a:pPr>
                <a:r>
                  <a:rPr lang="en-US" altLang="zh-CN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retransmit missing segment</a:t>
                </a:r>
              </a:p>
              <a:p>
                <a:pPr algn="l" eaLnBrk="1" hangingPunct="1">
                  <a:lnSpc>
                    <a:spcPct val="80000"/>
                  </a:lnSpc>
                </a:pPr>
                <a:endParaRPr lang="en-US" altLang="zh-CN" sz="900" i="1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Line 203"/>
              <p:cNvSpPr>
                <a:spLocks noChangeShapeType="1"/>
              </p:cNvSpPr>
              <p:nvPr/>
            </p:nvSpPr>
            <p:spPr bwMode="auto">
              <a:xfrm>
                <a:off x="4211" y="2950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63" name="Text Box 204"/>
              <p:cNvSpPr txBox="1">
                <a:spLocks noChangeArrowheads="1"/>
              </p:cNvSpPr>
              <p:nvPr/>
            </p:nvSpPr>
            <p:spPr bwMode="auto">
              <a:xfrm>
                <a:off x="4154" y="2802"/>
                <a:ext cx="835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dupACKcount == 3</a:t>
                </a:r>
              </a:p>
            </p:txBody>
          </p:sp>
        </p:grpSp>
        <p:sp>
          <p:nvSpPr>
            <p:cNvPr id="60" name="Freeform 227"/>
            <p:cNvSpPr/>
            <p:nvPr/>
          </p:nvSpPr>
          <p:spPr bwMode="auto">
            <a:xfrm flipH="1">
              <a:off x="3371" y="2124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64" name="Group 243"/>
          <p:cNvGrpSpPr/>
          <p:nvPr/>
        </p:nvGrpSpPr>
        <p:grpSpPr bwMode="auto">
          <a:xfrm>
            <a:off x="5209877" y="2675167"/>
            <a:ext cx="960835" cy="1257300"/>
            <a:chOff x="3220" y="2140"/>
            <a:chExt cx="807" cy="1056"/>
          </a:xfrm>
        </p:grpSpPr>
        <p:sp>
          <p:nvSpPr>
            <p:cNvPr id="65" name="Freeform 228"/>
            <p:cNvSpPr/>
            <p:nvPr/>
          </p:nvSpPr>
          <p:spPr bwMode="auto">
            <a:xfrm flipH="1">
              <a:off x="3327" y="2140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66" name="Group 229"/>
            <p:cNvGrpSpPr/>
            <p:nvPr/>
          </p:nvGrpSpPr>
          <p:grpSpPr bwMode="auto">
            <a:xfrm>
              <a:off x="3220" y="2649"/>
              <a:ext cx="788" cy="547"/>
              <a:chOff x="1012" y="3496"/>
              <a:chExt cx="788" cy="547"/>
            </a:xfrm>
          </p:grpSpPr>
          <p:sp>
            <p:nvSpPr>
              <p:cNvPr id="67" name="Text Box 230"/>
              <p:cNvSpPr txBox="1">
                <a:spLocks noChangeArrowheads="1"/>
              </p:cNvSpPr>
              <p:nvPr/>
            </p:nvSpPr>
            <p:spPr bwMode="auto">
              <a:xfrm>
                <a:off x="1012" y="3640"/>
                <a:ext cx="788" cy="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cwnd = ssthresh</a:t>
                </a:r>
              </a:p>
              <a:p>
                <a:pPr algn="r"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dupACKcount = 0</a:t>
                </a:r>
              </a:p>
              <a:p>
                <a:pPr algn="r" eaLnBrk="1" hangingPunct="1">
                  <a:lnSpc>
                    <a:spcPct val="80000"/>
                  </a:lnSpc>
                </a:pPr>
                <a:endParaRPr lang="en-US" altLang="zh-CN" sz="750">
                  <a:latin typeface="Arial" panose="020B0604020202020204" pitchFamily="34" charset="0"/>
                </a:endParaRPr>
              </a:p>
              <a:p>
                <a:pPr algn="r" eaLnBrk="1" hangingPunct="1">
                  <a:lnSpc>
                    <a:spcPct val="80000"/>
                  </a:lnSpc>
                </a:pPr>
                <a:endParaRPr lang="en-US" altLang="zh-CN" sz="900">
                  <a:latin typeface="Arial" panose="020B0604020202020204" pitchFamily="34" charset="0"/>
                </a:endParaRPr>
              </a:p>
            </p:txBody>
          </p:sp>
          <p:grpSp>
            <p:nvGrpSpPr>
              <p:cNvPr id="68" name="Group 231"/>
              <p:cNvGrpSpPr/>
              <p:nvPr/>
            </p:nvGrpSpPr>
            <p:grpSpPr bwMode="auto">
              <a:xfrm>
                <a:off x="1190" y="3496"/>
                <a:ext cx="582" cy="174"/>
                <a:chOff x="1190" y="3496"/>
                <a:chExt cx="582" cy="174"/>
              </a:xfrm>
            </p:grpSpPr>
            <p:sp>
              <p:nvSpPr>
                <p:cNvPr id="69" name="Line 232"/>
                <p:cNvSpPr>
                  <a:spLocks noChangeShapeType="1"/>
                </p:cNvSpPr>
                <p:nvPr/>
              </p:nvSpPr>
              <p:spPr bwMode="auto">
                <a:xfrm>
                  <a:off x="1190" y="3641"/>
                  <a:ext cx="5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Tahoma" panose="020B0604030504040204" pitchFamily="34" charset="0"/>
                    <a:ea typeface="MS PGothic" charset="0"/>
                  </a:endParaRPr>
                </a:p>
              </p:txBody>
            </p:sp>
            <p:sp>
              <p:nvSpPr>
                <p:cNvPr id="70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268" y="3496"/>
                  <a:ext cx="504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charset="0"/>
                    </a:defRPr>
                  </a:lvl9pPr>
                </a:lstStyle>
                <a:p>
                  <a:pPr algn="r" eaLnBrk="1" hangingPunct="1">
                    <a:defRPr/>
                  </a:pPr>
                  <a:r>
                    <a:rPr lang="en-US" sz="750">
                      <a:latin typeface="Arial" panose="020B0604020202020204" pitchFamily="34" charset="0"/>
                    </a:rPr>
                    <a:t>New ACK</a:t>
                  </a:r>
                </a:p>
              </p:txBody>
            </p:sp>
          </p:grpSp>
        </p:grpSp>
      </p:grpSp>
      <p:grpSp>
        <p:nvGrpSpPr>
          <p:cNvPr id="71" name="Group 241"/>
          <p:cNvGrpSpPr/>
          <p:nvPr/>
        </p:nvGrpSpPr>
        <p:grpSpPr bwMode="auto">
          <a:xfrm>
            <a:off x="1991618" y="1149976"/>
            <a:ext cx="3711178" cy="2020491"/>
            <a:chOff x="517" y="859"/>
            <a:chExt cx="3117" cy="1697"/>
          </a:xfrm>
        </p:grpSpPr>
        <p:grpSp>
          <p:nvGrpSpPr>
            <p:cNvPr id="72" name="Group 161"/>
            <p:cNvGrpSpPr/>
            <p:nvPr/>
          </p:nvGrpSpPr>
          <p:grpSpPr bwMode="auto"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94" name="Oval 162"/>
              <p:cNvSpPr>
                <a:spLocks noChangeArrowheads="1"/>
              </p:cNvSpPr>
              <p:nvPr/>
            </p:nvSpPr>
            <p:spPr bwMode="auto">
              <a:xfrm>
                <a:off x="996" y="1773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95" name="Text Box 163"/>
              <p:cNvSpPr txBox="1">
                <a:spLocks noChangeArrowheads="1"/>
              </p:cNvSpPr>
              <p:nvPr/>
            </p:nvSpPr>
            <p:spPr bwMode="auto">
              <a:xfrm>
                <a:off x="1179" y="1946"/>
                <a:ext cx="486" cy="4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350">
                    <a:latin typeface="Arial" panose="020B0604020202020204" pitchFamily="34" charset="0"/>
                  </a:rPr>
                  <a:t>slow </a:t>
                </a:r>
              </a:p>
              <a:p>
                <a:pPr eaLnBrk="1" hangingPunct="1">
                  <a:defRPr/>
                </a:pPr>
                <a:r>
                  <a:rPr lang="en-US" sz="1350">
                    <a:latin typeface="Arial" panose="020B0604020202020204" pitchFamily="34" charset="0"/>
                  </a:rPr>
                  <a:t>start</a:t>
                </a:r>
              </a:p>
            </p:txBody>
          </p:sp>
        </p:grpSp>
        <p:grpSp>
          <p:nvGrpSpPr>
            <p:cNvPr id="73" name="Group 177"/>
            <p:cNvGrpSpPr/>
            <p:nvPr/>
          </p:nvGrpSpPr>
          <p:grpSpPr bwMode="auto">
            <a:xfrm>
              <a:off x="530" y="2026"/>
              <a:ext cx="1166" cy="530"/>
              <a:chOff x="418" y="2713"/>
              <a:chExt cx="1166" cy="530"/>
            </a:xfrm>
          </p:grpSpPr>
          <p:sp>
            <p:nvSpPr>
              <p:cNvPr id="91" name="Text Box 178"/>
              <p:cNvSpPr txBox="1">
                <a:spLocks noChangeArrowheads="1"/>
              </p:cNvSpPr>
              <p:nvPr/>
            </p:nvSpPr>
            <p:spPr bwMode="auto">
              <a:xfrm>
                <a:off x="777" y="2713"/>
                <a:ext cx="419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timeout</a:t>
                </a:r>
              </a:p>
            </p:txBody>
          </p:sp>
          <p:sp>
            <p:nvSpPr>
              <p:cNvPr id="92" name="Text Box 179"/>
              <p:cNvSpPr txBox="1">
                <a:spLocks noChangeArrowheads="1"/>
              </p:cNvSpPr>
              <p:nvPr/>
            </p:nvSpPr>
            <p:spPr bwMode="auto">
              <a:xfrm>
                <a:off x="418" y="2840"/>
                <a:ext cx="1166" cy="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ssthresh = cwnd/2 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cwnd = 1 MSS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dupACKcount = 0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retransmit missing segment</a:t>
                </a:r>
                <a:r>
                  <a:rPr lang="en-US" sz="900">
                    <a:latin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93" name="Line 180"/>
              <p:cNvSpPr>
                <a:spLocks noChangeShapeType="1"/>
              </p:cNvSpPr>
              <p:nvPr/>
            </p:nvSpPr>
            <p:spPr bwMode="auto">
              <a:xfrm>
                <a:off x="709" y="2855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grpSp>
          <p:nvGrpSpPr>
            <p:cNvPr id="74" name="Group 186"/>
            <p:cNvGrpSpPr/>
            <p:nvPr/>
          </p:nvGrpSpPr>
          <p:grpSpPr bwMode="auto">
            <a:xfrm>
              <a:off x="2173" y="960"/>
              <a:ext cx="1461" cy="551"/>
              <a:chOff x="2683" y="798"/>
              <a:chExt cx="1461" cy="551"/>
            </a:xfrm>
          </p:grpSpPr>
          <p:sp>
            <p:nvSpPr>
              <p:cNvPr id="88" name="Text Box 187"/>
              <p:cNvSpPr txBox="1">
                <a:spLocks noChangeArrowheads="1"/>
              </p:cNvSpPr>
              <p:nvPr/>
            </p:nvSpPr>
            <p:spPr bwMode="auto">
              <a:xfrm>
                <a:off x="2683" y="917"/>
                <a:ext cx="1461" cy="4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 eaLnBrk="1" hangingPunct="1">
                  <a:lnSpc>
                    <a:spcPct val="9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cwnd = cwnd+MSS</a:t>
                </a:r>
              </a:p>
              <a:p>
                <a:pPr algn="l" eaLnBrk="1" hangingPunct="1">
                  <a:lnSpc>
                    <a:spcPct val="9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dupACKcount = 0</a:t>
                </a:r>
              </a:p>
              <a:p>
                <a:pPr algn="l" eaLnBrk="1" hangingPunct="1">
                  <a:lnSpc>
                    <a:spcPct val="90000"/>
                  </a:lnSpc>
                </a:pPr>
                <a:r>
                  <a:rPr lang="en-US" altLang="zh-CN" sz="75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transmit new segment(s), as allowed</a:t>
                </a:r>
              </a:p>
              <a:p>
                <a:pPr algn="l" eaLnBrk="1" hangingPunct="1">
                  <a:lnSpc>
                    <a:spcPct val="80000"/>
                  </a:lnSpc>
                </a:pPr>
                <a:endParaRPr lang="en-US" altLang="zh-CN" sz="900">
                  <a:latin typeface="Arial" panose="020B0604020202020204" pitchFamily="34" charset="0"/>
                </a:endParaRPr>
              </a:p>
            </p:txBody>
          </p:sp>
          <p:sp>
            <p:nvSpPr>
              <p:cNvPr id="89" name="Line 188"/>
              <p:cNvSpPr>
                <a:spLocks noChangeShapeType="1"/>
              </p:cNvSpPr>
              <p:nvPr/>
            </p:nvSpPr>
            <p:spPr bwMode="auto">
              <a:xfrm>
                <a:off x="2744" y="934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90" name="Text Box 189"/>
              <p:cNvSpPr txBox="1">
                <a:spLocks noChangeArrowheads="1"/>
              </p:cNvSpPr>
              <p:nvPr/>
            </p:nvSpPr>
            <p:spPr bwMode="auto">
              <a:xfrm>
                <a:off x="2697" y="798"/>
                <a:ext cx="490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new ACK</a:t>
                </a:r>
              </a:p>
            </p:txBody>
          </p:sp>
        </p:grpSp>
        <p:sp>
          <p:nvSpPr>
            <p:cNvPr id="75" name="Freeform 205"/>
            <p:cNvSpPr/>
            <p:nvPr/>
          </p:nvSpPr>
          <p:spPr bwMode="auto">
            <a:xfrm>
              <a:off x="1601" y="1129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Freeform 206"/>
            <p:cNvSpPr/>
            <p:nvPr/>
          </p:nvSpPr>
          <p:spPr bwMode="auto">
            <a:xfrm rot="2575893">
              <a:off x="1950" y="1316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7" name="Group 207"/>
            <p:cNvGrpSpPr/>
            <p:nvPr/>
          </p:nvGrpSpPr>
          <p:grpSpPr bwMode="auto">
            <a:xfrm>
              <a:off x="1465" y="859"/>
              <a:ext cx="745" cy="388"/>
              <a:chOff x="4274" y="2922"/>
              <a:chExt cx="745" cy="388"/>
            </a:xfrm>
          </p:grpSpPr>
          <p:sp>
            <p:nvSpPr>
              <p:cNvPr id="85" name="Text Box 208"/>
              <p:cNvSpPr txBox="1">
                <a:spLocks noChangeArrowheads="1"/>
              </p:cNvSpPr>
              <p:nvPr/>
            </p:nvSpPr>
            <p:spPr bwMode="auto">
              <a:xfrm>
                <a:off x="4274" y="3062"/>
                <a:ext cx="745" cy="2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dupACKcount++</a:t>
                </a:r>
              </a:p>
              <a:p>
                <a:pPr eaLnBrk="1" hangingPunct="1">
                  <a:lnSpc>
                    <a:spcPct val="80000"/>
                  </a:lnSpc>
                </a:pPr>
                <a:endParaRPr lang="en-US" altLang="zh-CN" sz="900">
                  <a:latin typeface="Arial" panose="020B0604020202020204" pitchFamily="34" charset="0"/>
                </a:endParaRPr>
              </a:p>
            </p:txBody>
          </p:sp>
          <p:sp>
            <p:nvSpPr>
              <p:cNvPr id="86" name="Line 209"/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87" name="Text Box 210"/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64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Arial" panose="020B0604020202020204" pitchFamily="34" charset="0"/>
                  </a:rPr>
                  <a:t>duplicate ACK</a:t>
                </a:r>
              </a:p>
            </p:txBody>
          </p:sp>
        </p:grpSp>
        <p:sp>
          <p:nvSpPr>
            <p:cNvPr id="78" name="Freeform 211"/>
            <p:cNvSpPr/>
            <p:nvPr/>
          </p:nvSpPr>
          <p:spPr bwMode="auto">
            <a:xfrm rot="-8222029">
              <a:off x="1204" y="1903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234"/>
            <p:cNvSpPr>
              <a:spLocks noChangeShapeType="1"/>
            </p:cNvSpPr>
            <p:nvPr/>
          </p:nvSpPr>
          <p:spPr bwMode="auto">
            <a:xfrm>
              <a:off x="536" y="1649"/>
              <a:ext cx="7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grpSp>
          <p:nvGrpSpPr>
            <p:cNvPr id="80" name="Group 235"/>
            <p:cNvGrpSpPr/>
            <p:nvPr/>
          </p:nvGrpSpPr>
          <p:grpSpPr bwMode="auto">
            <a:xfrm>
              <a:off x="517" y="1255"/>
              <a:ext cx="788" cy="437"/>
              <a:chOff x="539" y="936"/>
              <a:chExt cx="788" cy="437"/>
            </a:xfrm>
          </p:grpSpPr>
          <p:sp>
            <p:nvSpPr>
              <p:cNvPr id="82" name="Text Box 236"/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210" cy="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750">
                    <a:latin typeface="Symbol" panose="05050102010706020507" charset="0"/>
                  </a:rPr>
                  <a:t>L</a:t>
                </a:r>
              </a:p>
            </p:txBody>
          </p:sp>
          <p:sp>
            <p:nvSpPr>
              <p:cNvPr id="83" name="Text Box 237"/>
              <p:cNvSpPr txBox="1">
                <a:spLocks noChangeArrowheads="1"/>
              </p:cNvSpPr>
              <p:nvPr/>
            </p:nvSpPr>
            <p:spPr bwMode="auto">
              <a:xfrm>
                <a:off x="539" y="1063"/>
                <a:ext cx="788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cwnd = 1 MSS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ssthresh = 64 KB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750">
                    <a:latin typeface="Arial" panose="020B0604020202020204" pitchFamily="34" charset="0"/>
                  </a:rPr>
                  <a:t>dupACKcount = 0</a:t>
                </a:r>
                <a:endParaRPr lang="en-US" altLang="zh-CN" sz="900">
                  <a:latin typeface="Arial" panose="020B0604020202020204" pitchFamily="34" charset="0"/>
                </a:endParaRPr>
              </a:p>
            </p:txBody>
          </p:sp>
          <p:sp>
            <p:nvSpPr>
              <p:cNvPr id="84" name="Line 238"/>
              <p:cNvSpPr>
                <a:spLocks noChangeShapeType="1"/>
              </p:cNvSpPr>
              <p:nvPr/>
            </p:nvSpPr>
            <p:spPr bwMode="auto">
              <a:xfrm>
                <a:off x="641" y="1078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96" name="Group 255"/>
          <p:cNvGrpSpPr/>
          <p:nvPr/>
        </p:nvGrpSpPr>
        <p:grpSpPr bwMode="auto">
          <a:xfrm>
            <a:off x="1979712" y="2227492"/>
            <a:ext cx="2375297" cy="984647"/>
            <a:chOff x="509" y="1766"/>
            <a:chExt cx="1995" cy="827"/>
          </a:xfrm>
        </p:grpSpPr>
        <p:pic>
          <p:nvPicPr>
            <p:cNvPr id="97" name="Picture 25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98" name="Picture 25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99" name="Picture 25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00" name="Group 297"/>
          <p:cNvGrpSpPr/>
          <p:nvPr/>
        </p:nvGrpSpPr>
        <p:grpSpPr bwMode="auto">
          <a:xfrm>
            <a:off x="4002584" y="897565"/>
            <a:ext cx="3250406" cy="2432447"/>
            <a:chOff x="2205" y="641"/>
            <a:chExt cx="2730" cy="2043"/>
          </a:xfrm>
        </p:grpSpPr>
        <p:grpSp>
          <p:nvGrpSpPr>
            <p:cNvPr id="101" name="Group 282"/>
            <p:cNvGrpSpPr/>
            <p:nvPr/>
          </p:nvGrpSpPr>
          <p:grpSpPr bwMode="auto"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112" name="Group 283"/>
              <p:cNvGrpSpPr/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14" name="Picture 284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sp>
              <p:nvSpPr>
                <p:cNvPr id="115" name="Rectangle 285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8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13" name="Text Box 286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lnSpc>
                    <a:spcPct val="80000"/>
                  </a:lnSpc>
                  <a:defRPr/>
                </a:pPr>
                <a:r>
                  <a:rPr lang="en-US" sz="900" b="1" i="1">
                    <a:solidFill>
                      <a:schemeClr val="accent2"/>
                    </a:solidFill>
                    <a:latin typeface="Comic Sans MS" panose="030F0702030302020204" pitchFamily="66" charset="0"/>
                  </a:rPr>
                  <a:t>New</a:t>
                </a:r>
              </a:p>
              <a:p>
                <a:pPr>
                  <a:lnSpc>
                    <a:spcPct val="80000"/>
                  </a:lnSpc>
                  <a:defRPr/>
                </a:pPr>
                <a:r>
                  <a:rPr lang="en-US" sz="900" b="1" i="1">
                    <a:solidFill>
                      <a:schemeClr val="accent2"/>
                    </a:solidFill>
                    <a:latin typeface="Comic Sans MS" panose="030F0702030302020204" pitchFamily="66" charset="0"/>
                  </a:rPr>
                  <a:t>ACK!</a:t>
                </a:r>
              </a:p>
            </p:txBody>
          </p:sp>
        </p:grpSp>
        <p:grpSp>
          <p:nvGrpSpPr>
            <p:cNvPr id="102" name="Group 287"/>
            <p:cNvGrpSpPr/>
            <p:nvPr/>
          </p:nvGrpSpPr>
          <p:grpSpPr bwMode="auto"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108" name="Group 288"/>
              <p:cNvGrpSpPr/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10" name="Picture 289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sp>
              <p:nvSpPr>
                <p:cNvPr id="111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8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9" name="Text Box 291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lnSpc>
                    <a:spcPct val="80000"/>
                  </a:lnSpc>
                  <a:defRPr/>
                </a:pPr>
                <a:r>
                  <a:rPr lang="en-US" sz="900" b="1" i="1">
                    <a:solidFill>
                      <a:schemeClr val="accent2"/>
                    </a:solidFill>
                    <a:latin typeface="Comic Sans MS" panose="030F0702030302020204" pitchFamily="66" charset="0"/>
                  </a:rPr>
                  <a:t>New</a:t>
                </a:r>
              </a:p>
              <a:p>
                <a:pPr>
                  <a:lnSpc>
                    <a:spcPct val="80000"/>
                  </a:lnSpc>
                  <a:defRPr/>
                </a:pPr>
                <a:r>
                  <a:rPr lang="en-US" sz="900" b="1" i="1">
                    <a:solidFill>
                      <a:schemeClr val="accent2"/>
                    </a:solidFill>
                    <a:latin typeface="Comic Sans MS" panose="030F0702030302020204" pitchFamily="66" charset="0"/>
                  </a:rPr>
                  <a:t>ACK!</a:t>
                </a:r>
              </a:p>
            </p:txBody>
          </p:sp>
        </p:grpSp>
        <p:grpSp>
          <p:nvGrpSpPr>
            <p:cNvPr id="103" name="Group 292"/>
            <p:cNvGrpSpPr/>
            <p:nvPr/>
          </p:nvGrpSpPr>
          <p:grpSpPr bwMode="auto"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104" name="Group 293"/>
              <p:cNvGrpSpPr/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06" name="Picture 294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sp>
              <p:nvSpPr>
                <p:cNvPr id="107" name="Rectangle 295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8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sp>
            <p:nvSpPr>
              <p:cNvPr id="105" name="Text Box 296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lnSpc>
                    <a:spcPct val="80000"/>
                  </a:lnSpc>
                  <a:defRPr/>
                </a:pPr>
                <a:r>
                  <a:rPr lang="en-US" sz="900" b="1" i="1">
                    <a:solidFill>
                      <a:schemeClr val="accent2"/>
                    </a:solidFill>
                    <a:latin typeface="Comic Sans MS" panose="030F0702030302020204" pitchFamily="66" charset="0"/>
                  </a:rPr>
                  <a:t>New</a:t>
                </a:r>
              </a:p>
              <a:p>
                <a:pPr>
                  <a:lnSpc>
                    <a:spcPct val="80000"/>
                  </a:lnSpc>
                  <a:defRPr/>
                </a:pPr>
                <a:r>
                  <a:rPr lang="en-US" sz="900" b="1" i="1">
                    <a:solidFill>
                      <a:schemeClr val="accent2"/>
                    </a:solidFill>
                    <a:latin typeface="Comic Sans MS" panose="030F0702030302020204" pitchFamily="66" charset="0"/>
                  </a:rPr>
                  <a:t>ACK!</a:t>
                </a:r>
              </a:p>
            </p:txBody>
          </p:sp>
        </p:grpSp>
      </p:grpSp>
      <p:sp>
        <p:nvSpPr>
          <p:cNvPr id="116" name="灯片编号占位符 2">
            <a:extLst>
              <a:ext uri="{FF2B5EF4-FFF2-40B4-BE49-F238E27FC236}">
                <a16:creationId xmlns:a16="http://schemas.microsoft.com/office/drawing/2014/main" id="{D01C4A81-BD10-4408-BE58-E9928CE7913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117" name="AutoShape 5">
            <a:extLst>
              <a:ext uri="{FF2B5EF4-FFF2-40B4-BE49-F238E27FC236}">
                <a16:creationId xmlns:a16="http://schemas.microsoft.com/office/drawing/2014/main" id="{8B276972-AD14-4156-ABD2-B9A0BC2D5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/>
              <a:t>补充：</a:t>
            </a:r>
            <a:r>
              <a:rPr lang="en-US" altLang="zh-CN" dirty="0"/>
              <a:t>TCP</a:t>
            </a:r>
            <a:r>
              <a:rPr lang="zh-CN" altLang="en-US" dirty="0"/>
              <a:t>协议的发展过程</a:t>
            </a:r>
            <a:endParaRPr lang="en-US" altLang="zh-CN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9D3B3F-8807-4200-B7DF-FE70B5C11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3" y="1929051"/>
            <a:ext cx="4017188" cy="20313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4528E53-AB17-40F9-839E-1AA57B8EE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923678"/>
            <a:ext cx="4613136" cy="2036763"/>
          </a:xfrm>
          <a:prstGeom prst="rect">
            <a:avLst/>
          </a:prstGeom>
        </p:spPr>
      </p:pic>
      <p:sp>
        <p:nvSpPr>
          <p:cNvPr id="117" name="灯片编号占位符 2">
            <a:extLst>
              <a:ext uri="{FF2B5EF4-FFF2-40B4-BE49-F238E27FC236}">
                <a16:creationId xmlns:a16="http://schemas.microsoft.com/office/drawing/2014/main" id="{4A062554-3EBE-4C20-9A92-5FF8B91681C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118" name="AutoShape 5">
            <a:extLst>
              <a:ext uri="{FF2B5EF4-FFF2-40B4-BE49-F238E27FC236}">
                <a16:creationId xmlns:a16="http://schemas.microsoft.com/office/drawing/2014/main" id="{B09A2BE5-06F6-4F3E-A3E5-1664CB5AD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523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768751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吞吐量的宏观描述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平均吞吐量是拥塞窗口和</a:t>
            </a:r>
            <a:r>
              <a:rPr lang="en-US" altLang="zh-CN" dirty="0">
                <a:effectLst/>
              </a:rPr>
              <a:t>RTT</a:t>
            </a:r>
            <a:r>
              <a:rPr lang="zh-CN" altLang="en-US" dirty="0">
                <a:effectLst/>
              </a:rPr>
              <a:t>的函数，</a:t>
            </a:r>
            <a:r>
              <a:rPr lang="en-US" altLang="zh-CN" dirty="0">
                <a:effectLst/>
              </a:rPr>
              <a:t>Why</a:t>
            </a:r>
            <a:r>
              <a:rPr lang="zh-CN" altLang="en-US" dirty="0">
                <a:effectLst/>
              </a:rPr>
              <a:t>？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设</a:t>
            </a:r>
            <a:r>
              <a:rPr lang="en-US" altLang="zh-CN" dirty="0">
                <a:effectLst/>
              </a:rPr>
              <a:t>W</a:t>
            </a:r>
            <a:r>
              <a:rPr lang="zh-CN" altLang="en-US" dirty="0">
                <a:effectLst/>
              </a:rPr>
              <a:t>为丢包事件产生时的拥塞窗口大小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平均窗口大小约 </a:t>
            </a:r>
            <a:r>
              <a:rPr lang="en-US" altLang="zh-CN" dirty="0"/>
              <a:t>3/4W</a:t>
            </a:r>
          </a:p>
          <a:p>
            <a:pPr lvl="2"/>
            <a:r>
              <a:rPr lang="zh-CN" altLang="en-US" dirty="0">
                <a:effectLst/>
              </a:rPr>
              <a:t>平均吞吐量为</a:t>
            </a:r>
            <a:r>
              <a:rPr lang="en-US" altLang="zh-CN" dirty="0">
                <a:effectLst/>
              </a:rPr>
              <a:t>3/4W per RTT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8" name="Group 35"/>
          <p:cNvGrpSpPr/>
          <p:nvPr/>
        </p:nvGrpSpPr>
        <p:grpSpPr bwMode="auto">
          <a:xfrm>
            <a:off x="2897814" y="3049710"/>
            <a:ext cx="3655219" cy="1498997"/>
            <a:chOff x="279" y="2432"/>
            <a:chExt cx="3070" cy="1259"/>
          </a:xfrm>
        </p:grpSpPr>
        <p:sp>
          <p:nvSpPr>
            <p:cNvPr id="9" name="Freeform 26"/>
            <p:cNvSpPr/>
            <p:nvPr/>
          </p:nvSpPr>
          <p:spPr bwMode="auto">
            <a:xfrm>
              <a:off x="678" y="2556"/>
              <a:ext cx="2481" cy="579"/>
            </a:xfrm>
            <a:custGeom>
              <a:avLst/>
              <a:gdLst>
                <a:gd name="T0" fmla="*/ 0 w 2481"/>
                <a:gd name="T1" fmla="*/ 573 h 579"/>
                <a:gd name="T2" fmla="*/ 414 w 2481"/>
                <a:gd name="T3" fmla="*/ 18 h 579"/>
                <a:gd name="T4" fmla="*/ 414 w 2481"/>
                <a:gd name="T5" fmla="*/ 579 h 579"/>
                <a:gd name="T6" fmla="*/ 819 w 2481"/>
                <a:gd name="T7" fmla="*/ 18 h 579"/>
                <a:gd name="T8" fmla="*/ 825 w 2481"/>
                <a:gd name="T9" fmla="*/ 579 h 579"/>
                <a:gd name="T10" fmla="*/ 1245 w 2481"/>
                <a:gd name="T11" fmla="*/ 15 h 579"/>
                <a:gd name="T12" fmla="*/ 1245 w 2481"/>
                <a:gd name="T13" fmla="*/ 576 h 579"/>
                <a:gd name="T14" fmla="*/ 1647 w 2481"/>
                <a:gd name="T15" fmla="*/ 6 h 579"/>
                <a:gd name="T16" fmla="*/ 1647 w 2481"/>
                <a:gd name="T17" fmla="*/ 570 h 579"/>
                <a:gd name="T18" fmla="*/ 2064 w 2481"/>
                <a:gd name="T19" fmla="*/ 6 h 579"/>
                <a:gd name="T20" fmla="*/ 2064 w 2481"/>
                <a:gd name="T21" fmla="*/ 564 h 579"/>
                <a:gd name="T22" fmla="*/ 2481 w 2481"/>
                <a:gd name="T23" fmla="*/ 0 h 5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0" name="Line 28"/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1" name="Line 29"/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2" name="Line 31"/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3" name="Line 32"/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14" name="Text Box 33"/>
            <p:cNvSpPr txBox="1">
              <a:spLocks noChangeArrowheads="1"/>
            </p:cNvSpPr>
            <p:nvPr/>
          </p:nvSpPr>
          <p:spPr bwMode="auto">
            <a:xfrm>
              <a:off x="380" y="2453"/>
              <a:ext cx="272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W</a:t>
              </a:r>
            </a:p>
          </p:txBody>
        </p:sp>
        <p:sp>
          <p:nvSpPr>
            <p:cNvPr id="15" name="Text Box 34"/>
            <p:cNvSpPr txBox="1">
              <a:spLocks noChangeArrowheads="1"/>
            </p:cNvSpPr>
            <p:nvPr/>
          </p:nvSpPr>
          <p:spPr bwMode="auto">
            <a:xfrm>
              <a:off x="279" y="3008"/>
              <a:ext cx="392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W/2</a:t>
              </a:r>
            </a:p>
          </p:txBody>
        </p:sp>
      </p:grpSp>
      <p:grpSp>
        <p:nvGrpSpPr>
          <p:cNvPr id="16" name="Group 45"/>
          <p:cNvGrpSpPr/>
          <p:nvPr/>
        </p:nvGrpSpPr>
        <p:grpSpPr bwMode="auto">
          <a:xfrm>
            <a:off x="3192796" y="2584176"/>
            <a:ext cx="2901554" cy="490537"/>
            <a:chOff x="1722" y="2139"/>
            <a:chExt cx="2437" cy="412"/>
          </a:xfrm>
        </p:grpSpPr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1722" y="2219"/>
              <a:ext cx="1397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 dirty="0" err="1"/>
                <a:t>avg</a:t>
              </a:r>
              <a:r>
                <a:rPr lang="en-US" sz="1350" dirty="0"/>
                <a:t> TCP thruput = </a:t>
              </a:r>
            </a:p>
          </p:txBody>
        </p:sp>
        <p:grpSp>
          <p:nvGrpSpPr>
            <p:cNvPr id="18" name="Group 44"/>
            <p:cNvGrpSpPr/>
            <p:nvPr/>
          </p:nvGrpSpPr>
          <p:grpSpPr bwMode="auto">
            <a:xfrm>
              <a:off x="2986" y="2139"/>
              <a:ext cx="1173" cy="412"/>
              <a:chOff x="3498" y="2153"/>
              <a:chExt cx="1173" cy="412"/>
            </a:xfrm>
          </p:grpSpPr>
          <p:sp>
            <p:nvSpPr>
              <p:cNvPr id="19" name="Text Box 37"/>
              <p:cNvSpPr txBox="1">
                <a:spLocks noChangeArrowheads="1"/>
              </p:cNvSpPr>
              <p:nvPr/>
            </p:nvSpPr>
            <p:spPr bwMode="auto">
              <a:xfrm>
                <a:off x="3501" y="2153"/>
                <a:ext cx="235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3</a:t>
                </a:r>
              </a:p>
            </p:txBody>
          </p:sp>
          <p:sp>
            <p:nvSpPr>
              <p:cNvPr id="20" name="Text Box 38"/>
              <p:cNvSpPr txBox="1">
                <a:spLocks noChangeArrowheads="1"/>
              </p:cNvSpPr>
              <p:nvPr/>
            </p:nvSpPr>
            <p:spPr bwMode="auto">
              <a:xfrm>
                <a:off x="3498" y="2313"/>
                <a:ext cx="235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4</a:t>
                </a:r>
              </a:p>
            </p:txBody>
          </p:sp>
          <p:sp>
            <p:nvSpPr>
              <p:cNvPr id="21" name="Line 39"/>
              <p:cNvSpPr>
                <a:spLocks noChangeShapeType="1"/>
              </p:cNvSpPr>
              <p:nvPr/>
            </p:nvSpPr>
            <p:spPr bwMode="auto">
              <a:xfrm>
                <a:off x="3550" y="2352"/>
                <a:ext cx="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22" name="Text Box 40"/>
              <p:cNvSpPr txBox="1">
                <a:spLocks noChangeArrowheads="1"/>
              </p:cNvSpPr>
              <p:nvPr/>
            </p:nvSpPr>
            <p:spPr bwMode="auto">
              <a:xfrm>
                <a:off x="3702" y="2157"/>
                <a:ext cx="28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 dirty="0"/>
                  <a:t>W</a:t>
                </a:r>
              </a:p>
            </p:txBody>
          </p:sp>
          <p:sp>
            <p:nvSpPr>
              <p:cNvPr id="23" name="Text Box 41"/>
              <p:cNvSpPr txBox="1">
                <a:spLocks noChangeArrowheads="1"/>
              </p:cNvSpPr>
              <p:nvPr/>
            </p:nvSpPr>
            <p:spPr bwMode="auto">
              <a:xfrm>
                <a:off x="3658" y="2309"/>
                <a:ext cx="404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RTT</a:t>
                </a:r>
              </a:p>
            </p:txBody>
          </p:sp>
          <p:sp>
            <p:nvSpPr>
              <p:cNvPr id="24" name="Line 42"/>
              <p:cNvSpPr>
                <a:spLocks noChangeShapeType="1"/>
              </p:cNvSpPr>
              <p:nvPr/>
            </p:nvSpPr>
            <p:spPr bwMode="auto">
              <a:xfrm>
                <a:off x="3726" y="2352"/>
                <a:ext cx="21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25" name="Text Box 43"/>
              <p:cNvSpPr txBox="1">
                <a:spLocks noChangeArrowheads="1"/>
              </p:cNvSpPr>
              <p:nvPr/>
            </p:nvSpPr>
            <p:spPr bwMode="auto">
              <a:xfrm>
                <a:off x="3975" y="2243"/>
                <a:ext cx="696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dirty="0"/>
                  <a:t>bytes/sec</a:t>
                </a:r>
              </a:p>
            </p:txBody>
          </p:sp>
        </p:grpSp>
      </p:grpSp>
      <p:cxnSp>
        <p:nvCxnSpPr>
          <p:cNvPr id="26" name="直接连接符 25"/>
          <p:cNvCxnSpPr/>
          <p:nvPr/>
        </p:nvCxnSpPr>
        <p:spPr>
          <a:xfrm>
            <a:off x="3018068" y="3560569"/>
            <a:ext cx="3534965" cy="0"/>
          </a:xfrm>
          <a:prstGeom prst="line">
            <a:avLst/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灯片编号占位符 2">
            <a:extLst>
              <a:ext uri="{FF2B5EF4-FFF2-40B4-BE49-F238E27FC236}">
                <a16:creationId xmlns:a16="http://schemas.microsoft.com/office/drawing/2014/main" id="{07F35049-D89E-48BC-B5FE-22BA58E97DA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2F8C777F-3663-4654-9373-A074CBDF9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的公平性</a:t>
            </a: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公平性的目标：</a:t>
            </a:r>
            <a:endParaRPr lang="en-US" altLang="zh-CN" dirty="0"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effectLst/>
              </a:rPr>
              <a:t>如果</a:t>
            </a:r>
            <a:r>
              <a:rPr lang="en-US" altLang="zh-CN" dirty="0">
                <a:effectLst/>
              </a:rPr>
              <a:t> K</a:t>
            </a:r>
            <a:r>
              <a:rPr lang="zh-CN" altLang="en-US" dirty="0">
                <a:effectLst/>
              </a:rPr>
              <a:t>个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连接共享一个带宽为</a:t>
            </a:r>
            <a:r>
              <a:rPr lang="en-US" altLang="zh-CN" dirty="0">
                <a:effectLst/>
              </a:rPr>
              <a:t>R</a:t>
            </a:r>
            <a:r>
              <a:rPr lang="zh-CN" altLang="en-US" dirty="0">
                <a:effectLst/>
              </a:rPr>
              <a:t>的链路</a:t>
            </a:r>
            <a:endParaRPr lang="en-US" altLang="zh-CN" dirty="0"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>
                <a:effectLst/>
              </a:rPr>
              <a:t>每个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连接拥有的平均传输率为</a:t>
            </a:r>
            <a:r>
              <a:rPr lang="en-US" altLang="zh-CN" dirty="0">
                <a:effectLst/>
              </a:rPr>
              <a:t> R/K</a:t>
            </a:r>
          </a:p>
          <a:p>
            <a:pPr lvl="1">
              <a:spcBef>
                <a:spcPts val="450"/>
              </a:spcBef>
            </a:pP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425750" y="2619256"/>
            <a:ext cx="4306490" cy="1896710"/>
            <a:chOff x="1907704" y="3093690"/>
            <a:chExt cx="5741987" cy="2528947"/>
          </a:xfrm>
        </p:grpSpPr>
        <p:sp>
          <p:nvSpPr>
            <p:cNvPr id="8" name="Line 68"/>
            <p:cNvSpPr>
              <a:spLocks noChangeShapeType="1"/>
            </p:cNvSpPr>
            <p:nvPr/>
          </p:nvSpPr>
          <p:spPr bwMode="auto">
            <a:xfrm>
              <a:off x="5639916" y="4304952"/>
              <a:ext cx="55880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Tahoma" panose="020B0604030504040204" pitchFamily="34" charset="0"/>
                <a:ea typeface="MS PGothic" charset="0"/>
              </a:endParaRPr>
            </a:p>
          </p:txBody>
        </p:sp>
        <p:grpSp>
          <p:nvGrpSpPr>
            <p:cNvPr id="9" name="Group 59"/>
            <p:cNvGrpSpPr/>
            <p:nvPr/>
          </p:nvGrpSpPr>
          <p:grpSpPr bwMode="auto">
            <a:xfrm>
              <a:off x="4562004" y="3974752"/>
              <a:ext cx="1082675" cy="538163"/>
              <a:chOff x="2356" y="1300"/>
              <a:chExt cx="555" cy="194"/>
            </a:xfrm>
          </p:grpSpPr>
          <p:sp>
            <p:nvSpPr>
              <p:cNvPr id="1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" name="Group 63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6" name="Freeform 64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" name="Freeform 65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" name="Line 66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15" name="Line 67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grpSp>
          <p:nvGrpSpPr>
            <p:cNvPr id="18" name="Group 50"/>
            <p:cNvGrpSpPr/>
            <p:nvPr/>
          </p:nvGrpSpPr>
          <p:grpSpPr bwMode="auto">
            <a:xfrm>
              <a:off x="6195541" y="3958877"/>
              <a:ext cx="1082675" cy="538163"/>
              <a:chOff x="2356" y="1300"/>
              <a:chExt cx="555" cy="194"/>
            </a:xfrm>
          </p:grpSpPr>
          <p:sp>
            <p:nvSpPr>
              <p:cNvPr id="1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" name="Group 54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5" name="Freeform 5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6" name="Freeform 5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3" name="Line 57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24" name="Line 58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5851054" y="4101752"/>
              <a:ext cx="147637" cy="200025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5160491" y="4163665"/>
              <a:ext cx="147638" cy="200025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5451004" y="4101752"/>
              <a:ext cx="147637" cy="200025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1914053" y="3093690"/>
              <a:ext cx="2075868" cy="40010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>
                <a:defRPr/>
              </a:pPr>
              <a:r>
                <a:rPr lang="en-US" sz="1350" dirty="0">
                  <a:latin typeface="Arial" panose="020B0604020202020204" pitchFamily="34" charset="0"/>
                </a:rPr>
                <a:t>TCP connection 1</a:t>
              </a: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4311179" y="4547840"/>
              <a:ext cx="2959232" cy="67710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 dirty="0">
                  <a:latin typeface="Arial" panose="020B0604020202020204" pitchFamily="34" charset="0"/>
                </a:rPr>
                <a:t>Bottleneck router</a:t>
              </a:r>
            </a:p>
            <a:p>
              <a:pPr>
                <a:defRPr/>
              </a:pPr>
              <a:r>
                <a:rPr lang="en-US" sz="1350" dirty="0">
                  <a:latin typeface="Arial" panose="020B0604020202020204" pitchFamily="34" charset="0"/>
                </a:rPr>
                <a:t>capacity R</a:t>
              </a:r>
            </a:p>
          </p:txBody>
        </p:sp>
        <p:sp>
          <p:nvSpPr>
            <p:cNvPr id="32" name="Freeform 40"/>
            <p:cNvSpPr/>
            <p:nvPr/>
          </p:nvSpPr>
          <p:spPr bwMode="auto">
            <a:xfrm>
              <a:off x="3646016" y="3577877"/>
              <a:ext cx="4003675" cy="719138"/>
            </a:xfrm>
            <a:custGeom>
              <a:avLst/>
              <a:gdLst>
                <a:gd name="T0" fmla="*/ 0 w 2412"/>
                <a:gd name="T1" fmla="*/ 0 h 453"/>
                <a:gd name="T2" fmla="*/ 2147483647 w 2412"/>
                <a:gd name="T3" fmla="*/ 2147483647 h 453"/>
                <a:gd name="T4" fmla="*/ 2147483647 w 2412"/>
                <a:gd name="T5" fmla="*/ 2147483647 h 4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2" h="453">
                  <a:moveTo>
                    <a:pt x="0" y="0"/>
                  </a:moveTo>
                  <a:cubicBezTo>
                    <a:pt x="93" y="65"/>
                    <a:pt x="156" y="318"/>
                    <a:pt x="558" y="390"/>
                  </a:cubicBezTo>
                  <a:cubicBezTo>
                    <a:pt x="959" y="453"/>
                    <a:pt x="2026" y="423"/>
                    <a:pt x="2412" y="432"/>
                  </a:cubicBezTo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Rectangle 41"/>
            <p:cNvSpPr>
              <a:spLocks noChangeArrowheads="1"/>
            </p:cNvSpPr>
            <p:nvPr/>
          </p:nvSpPr>
          <p:spPr bwMode="auto">
            <a:xfrm>
              <a:off x="5322416" y="4163665"/>
              <a:ext cx="147638" cy="2000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4" name="Freeform 42"/>
            <p:cNvSpPr/>
            <p:nvPr/>
          </p:nvSpPr>
          <p:spPr bwMode="auto">
            <a:xfrm>
              <a:off x="3588866" y="4312890"/>
              <a:ext cx="4044950" cy="719137"/>
            </a:xfrm>
            <a:custGeom>
              <a:avLst/>
              <a:gdLst>
                <a:gd name="T0" fmla="*/ 0 w 2412"/>
                <a:gd name="T1" fmla="*/ 2147483647 h 453"/>
                <a:gd name="T2" fmla="*/ 2147483647 w 2412"/>
                <a:gd name="T3" fmla="*/ 2147483647 h 453"/>
                <a:gd name="T4" fmla="*/ 2147483647 w 2412"/>
                <a:gd name="T5" fmla="*/ 2147483647 h 4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2" h="453">
                  <a:moveTo>
                    <a:pt x="0" y="453"/>
                  </a:moveTo>
                  <a:cubicBezTo>
                    <a:pt x="93" y="388"/>
                    <a:pt x="156" y="134"/>
                    <a:pt x="558" y="63"/>
                  </a:cubicBezTo>
                  <a:cubicBezTo>
                    <a:pt x="959" y="0"/>
                    <a:pt x="2026" y="36"/>
                    <a:pt x="2412" y="29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5" name="Text Box 48"/>
            <p:cNvSpPr txBox="1">
              <a:spLocks noChangeArrowheads="1"/>
            </p:cNvSpPr>
            <p:nvPr/>
          </p:nvSpPr>
          <p:spPr bwMode="auto">
            <a:xfrm>
              <a:off x="1907704" y="5222528"/>
              <a:ext cx="2075868" cy="40010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>
                <a:defRPr/>
              </a:pPr>
              <a:r>
                <a:rPr lang="en-US" sz="1350" dirty="0">
                  <a:latin typeface="Arial" panose="020B0604020202020204" pitchFamily="34" charset="0"/>
                </a:rPr>
                <a:t>TCP connection </a:t>
              </a:r>
              <a:r>
                <a:rPr lang="en-US" altLang="zh-CN" sz="1350" dirty="0">
                  <a:latin typeface="Arial" panose="020B0604020202020204" pitchFamily="34" charset="0"/>
                </a:rPr>
                <a:t>2</a:t>
              </a:r>
              <a:endParaRPr lang="en-US" sz="1350" dirty="0">
                <a:latin typeface="Arial" panose="020B0604020202020204" pitchFamily="34" charset="0"/>
              </a:endParaRPr>
            </a:p>
          </p:txBody>
        </p:sp>
        <p:grpSp>
          <p:nvGrpSpPr>
            <p:cNvPr id="36" name="Group 69"/>
            <p:cNvGrpSpPr/>
            <p:nvPr/>
          </p:nvGrpSpPr>
          <p:grpSpPr bwMode="auto">
            <a:xfrm>
              <a:off x="2839566" y="3409602"/>
              <a:ext cx="766763" cy="704850"/>
              <a:chOff x="-44" y="1473"/>
              <a:chExt cx="981" cy="1105"/>
            </a:xfrm>
          </p:grpSpPr>
          <p:pic>
            <p:nvPicPr>
              <p:cNvPr id="37" name="Picture 7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Freeform 7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39" name="Group 72"/>
            <p:cNvGrpSpPr/>
            <p:nvPr/>
          </p:nvGrpSpPr>
          <p:grpSpPr bwMode="auto">
            <a:xfrm>
              <a:off x="2855441" y="4655790"/>
              <a:ext cx="766763" cy="704850"/>
              <a:chOff x="-44" y="1473"/>
              <a:chExt cx="981" cy="1105"/>
            </a:xfrm>
          </p:grpSpPr>
          <p:pic>
            <p:nvPicPr>
              <p:cNvPr id="40" name="Picture 7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" name="Freeform 74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42" name="灯片编号占位符 2">
            <a:extLst>
              <a:ext uri="{FF2B5EF4-FFF2-40B4-BE49-F238E27FC236}">
                <a16:creationId xmlns:a16="http://schemas.microsoft.com/office/drawing/2014/main" id="{57443E7C-3432-41A3-979D-A40DA131B50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086F5A05-79A8-4110-BD07-28AC6C470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256583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的公平性</a:t>
            </a: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设有两个相互竞争的连接</a:t>
            </a: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公平性的体现：</a:t>
            </a: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00092" y="1530696"/>
            <a:ext cx="2700300" cy="1336512"/>
            <a:chOff x="1907704" y="3093690"/>
            <a:chExt cx="5741987" cy="2573273"/>
          </a:xfrm>
        </p:grpSpPr>
        <p:sp>
          <p:nvSpPr>
            <p:cNvPr id="42" name="Line 68"/>
            <p:cNvSpPr>
              <a:spLocks noChangeShapeType="1"/>
            </p:cNvSpPr>
            <p:nvPr/>
          </p:nvSpPr>
          <p:spPr bwMode="auto">
            <a:xfrm>
              <a:off x="5639916" y="4304952"/>
              <a:ext cx="55880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900">
                <a:latin typeface="Tahoma" panose="020B0604030504040204" pitchFamily="34" charset="0"/>
                <a:ea typeface="MS PGothic" charset="0"/>
              </a:endParaRPr>
            </a:p>
          </p:txBody>
        </p:sp>
        <p:grpSp>
          <p:nvGrpSpPr>
            <p:cNvPr id="43" name="Group 59"/>
            <p:cNvGrpSpPr/>
            <p:nvPr/>
          </p:nvGrpSpPr>
          <p:grpSpPr bwMode="auto">
            <a:xfrm>
              <a:off x="4562004" y="3974752"/>
              <a:ext cx="1082675" cy="538163"/>
              <a:chOff x="2356" y="1300"/>
              <a:chExt cx="555" cy="194"/>
            </a:xfrm>
          </p:grpSpPr>
          <p:sp>
            <p:nvSpPr>
              <p:cNvPr id="4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2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2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7" name="Group 63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0" name="Freeform 64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900"/>
                </a:p>
              </p:txBody>
            </p:sp>
            <p:sp>
              <p:nvSpPr>
                <p:cNvPr id="51" name="Freeform 65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900"/>
                </a:p>
              </p:txBody>
            </p:sp>
          </p:grpSp>
          <p:sp>
            <p:nvSpPr>
              <p:cNvPr id="48" name="Line 66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49" name="Line 67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grpSp>
          <p:nvGrpSpPr>
            <p:cNvPr id="52" name="Group 50"/>
            <p:cNvGrpSpPr/>
            <p:nvPr/>
          </p:nvGrpSpPr>
          <p:grpSpPr bwMode="auto">
            <a:xfrm>
              <a:off x="6195541" y="3958877"/>
              <a:ext cx="1082675" cy="538163"/>
              <a:chOff x="2356" y="1300"/>
              <a:chExt cx="555" cy="194"/>
            </a:xfrm>
          </p:grpSpPr>
          <p:sp>
            <p:nvSpPr>
              <p:cNvPr id="5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2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zh-CN" altLang="zh-CN" sz="12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4"/>
              <p:cNvGrpSpPr/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9" name="Freeform 5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900"/>
                </a:p>
              </p:txBody>
            </p:sp>
            <p:sp>
              <p:nvSpPr>
                <p:cNvPr id="60" name="Freeform 5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900"/>
                </a:p>
              </p:txBody>
            </p:sp>
          </p:grpSp>
          <p:sp>
            <p:nvSpPr>
              <p:cNvPr id="57" name="Line 57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58" name="Line 58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61" name="Rectangle 25"/>
            <p:cNvSpPr>
              <a:spLocks noChangeArrowheads="1"/>
            </p:cNvSpPr>
            <p:nvPr/>
          </p:nvSpPr>
          <p:spPr bwMode="auto">
            <a:xfrm>
              <a:off x="5851054" y="4101752"/>
              <a:ext cx="147637" cy="200025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825"/>
            </a:p>
          </p:txBody>
        </p:sp>
        <p:sp>
          <p:nvSpPr>
            <p:cNvPr id="62" name="Rectangle 26"/>
            <p:cNvSpPr>
              <a:spLocks noChangeArrowheads="1"/>
            </p:cNvSpPr>
            <p:nvPr/>
          </p:nvSpPr>
          <p:spPr bwMode="auto">
            <a:xfrm>
              <a:off x="5160491" y="4163665"/>
              <a:ext cx="147638" cy="200025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825"/>
            </a:p>
          </p:txBody>
        </p:sp>
        <p:sp>
          <p:nvSpPr>
            <p:cNvPr id="63" name="Rectangle 27"/>
            <p:cNvSpPr>
              <a:spLocks noChangeArrowheads="1"/>
            </p:cNvSpPr>
            <p:nvPr/>
          </p:nvSpPr>
          <p:spPr bwMode="auto">
            <a:xfrm>
              <a:off x="5451004" y="4101752"/>
              <a:ext cx="147637" cy="200025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825"/>
            </a:p>
          </p:txBody>
        </p:sp>
        <p:sp>
          <p:nvSpPr>
            <p:cNvPr id="64" name="Text Box 28"/>
            <p:cNvSpPr txBox="1">
              <a:spLocks noChangeArrowheads="1"/>
            </p:cNvSpPr>
            <p:nvPr/>
          </p:nvSpPr>
          <p:spPr bwMode="auto">
            <a:xfrm>
              <a:off x="1914056" y="3093690"/>
              <a:ext cx="2342436" cy="4444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>
                <a:defRPr/>
              </a:pPr>
              <a:r>
                <a:rPr lang="en-US" sz="900">
                  <a:latin typeface="Arial" panose="020B0604020202020204" pitchFamily="34" charset="0"/>
                </a:rPr>
                <a:t>TCP connection 1</a:t>
              </a:r>
            </a:p>
          </p:txBody>
        </p:sp>
        <p:sp>
          <p:nvSpPr>
            <p:cNvPr id="65" name="Text Box 29"/>
            <p:cNvSpPr txBox="1">
              <a:spLocks noChangeArrowheads="1"/>
            </p:cNvSpPr>
            <p:nvPr/>
          </p:nvSpPr>
          <p:spPr bwMode="auto">
            <a:xfrm>
              <a:off x="4311179" y="4547841"/>
              <a:ext cx="1537990" cy="9777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900">
                  <a:latin typeface="Arial" panose="020B0604020202020204" pitchFamily="34" charset="0"/>
                </a:rPr>
                <a:t>bottleneck</a:t>
              </a:r>
            </a:p>
            <a:p>
              <a:pPr>
                <a:defRPr/>
              </a:pPr>
              <a:r>
                <a:rPr lang="en-US" sz="900">
                  <a:latin typeface="Arial" panose="020B0604020202020204" pitchFamily="34" charset="0"/>
                </a:rPr>
                <a:t>router</a:t>
              </a:r>
            </a:p>
            <a:p>
              <a:pPr>
                <a:defRPr/>
              </a:pPr>
              <a:r>
                <a:rPr lang="en-US" sz="900">
                  <a:latin typeface="Arial" panose="020B0604020202020204" pitchFamily="34" charset="0"/>
                </a:rPr>
                <a:t>capacity R</a:t>
              </a:r>
            </a:p>
          </p:txBody>
        </p:sp>
        <p:sp>
          <p:nvSpPr>
            <p:cNvPr id="66" name="Freeform 40"/>
            <p:cNvSpPr/>
            <p:nvPr/>
          </p:nvSpPr>
          <p:spPr bwMode="auto">
            <a:xfrm>
              <a:off x="3646016" y="3577877"/>
              <a:ext cx="4003675" cy="719138"/>
            </a:xfrm>
            <a:custGeom>
              <a:avLst/>
              <a:gdLst>
                <a:gd name="T0" fmla="*/ 0 w 2412"/>
                <a:gd name="T1" fmla="*/ 0 h 453"/>
                <a:gd name="T2" fmla="*/ 2147483647 w 2412"/>
                <a:gd name="T3" fmla="*/ 2147483647 h 453"/>
                <a:gd name="T4" fmla="*/ 2147483647 w 2412"/>
                <a:gd name="T5" fmla="*/ 2147483647 h 4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2" h="453">
                  <a:moveTo>
                    <a:pt x="0" y="0"/>
                  </a:moveTo>
                  <a:cubicBezTo>
                    <a:pt x="93" y="65"/>
                    <a:pt x="156" y="318"/>
                    <a:pt x="558" y="390"/>
                  </a:cubicBezTo>
                  <a:cubicBezTo>
                    <a:pt x="959" y="453"/>
                    <a:pt x="2026" y="423"/>
                    <a:pt x="2412" y="432"/>
                  </a:cubicBezTo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/>
            </a:p>
          </p:txBody>
        </p:sp>
        <p:sp>
          <p:nvSpPr>
            <p:cNvPr id="67" name="Rectangle 41"/>
            <p:cNvSpPr>
              <a:spLocks noChangeArrowheads="1"/>
            </p:cNvSpPr>
            <p:nvPr/>
          </p:nvSpPr>
          <p:spPr bwMode="auto">
            <a:xfrm>
              <a:off x="5322416" y="4163665"/>
              <a:ext cx="147638" cy="2000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825"/>
            </a:p>
          </p:txBody>
        </p:sp>
        <p:sp>
          <p:nvSpPr>
            <p:cNvPr id="68" name="Freeform 42"/>
            <p:cNvSpPr/>
            <p:nvPr/>
          </p:nvSpPr>
          <p:spPr bwMode="auto">
            <a:xfrm>
              <a:off x="3588866" y="4312890"/>
              <a:ext cx="4044950" cy="719137"/>
            </a:xfrm>
            <a:custGeom>
              <a:avLst/>
              <a:gdLst>
                <a:gd name="T0" fmla="*/ 0 w 2412"/>
                <a:gd name="T1" fmla="*/ 2147483647 h 453"/>
                <a:gd name="T2" fmla="*/ 2147483647 w 2412"/>
                <a:gd name="T3" fmla="*/ 2147483647 h 453"/>
                <a:gd name="T4" fmla="*/ 2147483647 w 2412"/>
                <a:gd name="T5" fmla="*/ 2147483647 h 4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2" h="453">
                  <a:moveTo>
                    <a:pt x="0" y="453"/>
                  </a:moveTo>
                  <a:cubicBezTo>
                    <a:pt x="93" y="388"/>
                    <a:pt x="156" y="134"/>
                    <a:pt x="558" y="63"/>
                  </a:cubicBezTo>
                  <a:cubicBezTo>
                    <a:pt x="959" y="0"/>
                    <a:pt x="2026" y="36"/>
                    <a:pt x="2412" y="29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/>
            </a:p>
          </p:txBody>
        </p:sp>
        <p:sp>
          <p:nvSpPr>
            <p:cNvPr id="69" name="Text Box 48"/>
            <p:cNvSpPr txBox="1">
              <a:spLocks noChangeArrowheads="1"/>
            </p:cNvSpPr>
            <p:nvPr/>
          </p:nvSpPr>
          <p:spPr bwMode="auto">
            <a:xfrm>
              <a:off x="1907704" y="5222527"/>
              <a:ext cx="2342436" cy="4444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charset="0"/>
                </a:defRPr>
              </a:lvl9pPr>
            </a:lstStyle>
            <a:p>
              <a:pPr algn="l">
                <a:defRPr/>
              </a:pPr>
              <a:r>
                <a:rPr lang="en-US" sz="900">
                  <a:latin typeface="Arial" panose="020B0604020202020204" pitchFamily="34" charset="0"/>
                </a:rPr>
                <a:t>TCP connection 2</a:t>
              </a:r>
            </a:p>
          </p:txBody>
        </p:sp>
        <p:grpSp>
          <p:nvGrpSpPr>
            <p:cNvPr id="70" name="Group 69"/>
            <p:cNvGrpSpPr/>
            <p:nvPr/>
          </p:nvGrpSpPr>
          <p:grpSpPr bwMode="auto">
            <a:xfrm>
              <a:off x="2839566" y="3409602"/>
              <a:ext cx="766763" cy="704850"/>
              <a:chOff x="-44" y="1473"/>
              <a:chExt cx="981" cy="1105"/>
            </a:xfrm>
          </p:grpSpPr>
          <p:pic>
            <p:nvPicPr>
              <p:cNvPr id="71" name="Picture 7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" name="Freeform 7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900"/>
              </a:p>
            </p:txBody>
          </p:sp>
        </p:grpSp>
        <p:grpSp>
          <p:nvGrpSpPr>
            <p:cNvPr id="73" name="Group 72"/>
            <p:cNvGrpSpPr/>
            <p:nvPr/>
          </p:nvGrpSpPr>
          <p:grpSpPr bwMode="auto">
            <a:xfrm>
              <a:off x="2855441" y="4655790"/>
              <a:ext cx="766763" cy="704850"/>
              <a:chOff x="-44" y="1473"/>
              <a:chExt cx="981" cy="1105"/>
            </a:xfrm>
          </p:grpSpPr>
          <p:pic>
            <p:nvPicPr>
              <p:cNvPr id="74" name="Picture 7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74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900"/>
              </a:p>
            </p:txBody>
          </p:sp>
        </p:grpSp>
      </p:grpSp>
      <p:sp>
        <p:nvSpPr>
          <p:cNvPr id="79" name="Line 6"/>
          <p:cNvSpPr>
            <a:spLocks noChangeShapeType="1"/>
          </p:cNvSpPr>
          <p:nvPr/>
        </p:nvSpPr>
        <p:spPr bwMode="auto">
          <a:xfrm rot="18661895" flipH="1" flipV="1">
            <a:off x="1727970" y="3508159"/>
            <a:ext cx="2706332" cy="83381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80" name="Line 7"/>
          <p:cNvSpPr>
            <a:spLocks noChangeShapeType="1"/>
          </p:cNvSpPr>
          <p:nvPr/>
        </p:nvSpPr>
        <p:spPr bwMode="auto">
          <a:xfrm>
            <a:off x="2178128" y="2424691"/>
            <a:ext cx="2114550" cy="210740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84" name="Text Box 10"/>
          <p:cNvSpPr txBox="1">
            <a:spLocks noChangeArrowheads="1"/>
          </p:cNvSpPr>
          <p:nvPr/>
        </p:nvSpPr>
        <p:spPr bwMode="auto">
          <a:xfrm>
            <a:off x="3416066" y="2332021"/>
            <a:ext cx="1322854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平等带宽共享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871418" y="2232774"/>
            <a:ext cx="3019018" cy="2643232"/>
            <a:chOff x="971224" y="2564904"/>
            <a:chExt cx="4025357" cy="3524308"/>
          </a:xfrm>
        </p:grpSpPr>
        <p:sp>
          <p:nvSpPr>
            <p:cNvPr id="77" name="Line 4"/>
            <p:cNvSpPr>
              <a:spLocks noChangeShapeType="1"/>
            </p:cNvSpPr>
            <p:nvPr/>
          </p:nvSpPr>
          <p:spPr bwMode="auto">
            <a:xfrm>
              <a:off x="1358031" y="5660529"/>
              <a:ext cx="36385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78" name="Line 5"/>
            <p:cNvSpPr>
              <a:spLocks noChangeShapeType="1"/>
            </p:cNvSpPr>
            <p:nvPr/>
          </p:nvSpPr>
          <p:spPr bwMode="auto">
            <a:xfrm flipV="1">
              <a:off x="1358031" y="2564904"/>
              <a:ext cx="0" cy="30861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82" name="Text Box 8"/>
            <p:cNvSpPr txBox="1">
              <a:spLocks noChangeArrowheads="1"/>
            </p:cNvSpPr>
            <p:nvPr/>
          </p:nvSpPr>
          <p:spPr bwMode="auto">
            <a:xfrm>
              <a:off x="988144" y="2641104"/>
              <a:ext cx="403225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350" dirty="0">
                  <a:latin typeface="Arial" panose="020B0604020202020204" pitchFamily="34" charset="0"/>
                </a:rPr>
                <a:t>R</a:t>
              </a:r>
              <a:endParaRPr lang="en-US" altLang="zh-CN" sz="675" dirty="0">
                <a:latin typeface="Arial" panose="020B0604020202020204" pitchFamily="34" charset="0"/>
              </a:endParaRPr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auto">
            <a:xfrm>
              <a:off x="3940894" y="5689103"/>
              <a:ext cx="403225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350">
                  <a:latin typeface="Arial" panose="020B0604020202020204" pitchFamily="34" charset="0"/>
                </a:rPr>
                <a:t>R</a:t>
              </a:r>
              <a:endParaRPr lang="en-US" altLang="zh-CN" sz="675">
                <a:latin typeface="Arial" panose="020B0604020202020204" pitchFamily="34" charset="0"/>
              </a:endParaRPr>
            </a:p>
          </p:txBody>
        </p:sp>
        <p:sp>
          <p:nvSpPr>
            <p:cNvPr id="85" name="Text Box 11"/>
            <p:cNvSpPr txBox="1">
              <a:spLocks noChangeArrowheads="1"/>
            </p:cNvSpPr>
            <p:nvPr/>
          </p:nvSpPr>
          <p:spPr bwMode="auto">
            <a:xfrm>
              <a:off x="2072407" y="5670053"/>
              <a:ext cx="1590675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的吞吐量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Text Box 12"/>
            <p:cNvSpPr txBox="1">
              <a:spLocks noChangeArrowheads="1"/>
            </p:cNvSpPr>
            <p:nvPr/>
          </p:nvSpPr>
          <p:spPr bwMode="auto">
            <a:xfrm rot="16203358">
              <a:off x="317499" y="3935998"/>
              <a:ext cx="1676782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的吞吐量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7" name="Line 13"/>
          <p:cNvSpPr>
            <a:spLocks noChangeShapeType="1"/>
          </p:cNvSpPr>
          <p:nvPr/>
        </p:nvSpPr>
        <p:spPr bwMode="auto">
          <a:xfrm rot="18661895" flipH="1" flipV="1">
            <a:off x="2989008" y="3997281"/>
            <a:ext cx="970360" cy="357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88" name="Text Box 14"/>
          <p:cNvSpPr txBox="1">
            <a:spLocks noChangeArrowheads="1"/>
          </p:cNvSpPr>
          <p:nvPr/>
        </p:nvSpPr>
        <p:spPr bwMode="auto">
          <a:xfrm>
            <a:off x="3698689" y="3736401"/>
            <a:ext cx="3402806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050" dirty="0">
                <a:latin typeface="Arial" panose="020B0604020202020204" pitchFamily="34" charset="0"/>
              </a:rPr>
              <a:t>congestion avoidance: additive increase</a:t>
            </a:r>
            <a:endParaRPr lang="en-US" altLang="zh-CN" sz="675" dirty="0">
              <a:latin typeface="Arial" panose="020B0604020202020204" pitchFamily="34" charset="0"/>
            </a:endParaRPr>
          </a:p>
        </p:txBody>
      </p:sp>
      <p:sp>
        <p:nvSpPr>
          <p:cNvPr id="89" name="Line 15"/>
          <p:cNvSpPr>
            <a:spLocks noChangeShapeType="1"/>
          </p:cNvSpPr>
          <p:nvPr/>
        </p:nvSpPr>
        <p:spPr bwMode="auto">
          <a:xfrm flipH="1">
            <a:off x="2904474" y="3647237"/>
            <a:ext cx="878681" cy="47386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90" name="Text Box 16"/>
          <p:cNvSpPr txBox="1">
            <a:spLocks noChangeArrowheads="1"/>
          </p:cNvSpPr>
          <p:nvPr/>
        </p:nvSpPr>
        <p:spPr bwMode="auto">
          <a:xfrm>
            <a:off x="3886090" y="3515807"/>
            <a:ext cx="2358338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050" dirty="0">
                <a:latin typeface="Arial" panose="020B0604020202020204" pitchFamily="34" charset="0"/>
              </a:rPr>
              <a:t>loss: decrease window by factor of 2</a:t>
            </a:r>
            <a:endParaRPr lang="en-US" altLang="zh-CN" sz="675" dirty="0">
              <a:latin typeface="Arial" panose="020B0604020202020204" pitchFamily="34" charset="0"/>
            </a:endParaRPr>
          </a:p>
        </p:txBody>
      </p:sp>
      <p:sp>
        <p:nvSpPr>
          <p:cNvPr id="91" name="Line 17"/>
          <p:cNvSpPr>
            <a:spLocks noChangeShapeType="1"/>
          </p:cNvSpPr>
          <p:nvPr/>
        </p:nvSpPr>
        <p:spPr bwMode="auto">
          <a:xfrm rot="18661895" flipH="1" flipV="1">
            <a:off x="2748502" y="3752012"/>
            <a:ext cx="977503" cy="178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92" name="Text Box 18"/>
          <p:cNvSpPr txBox="1">
            <a:spLocks noChangeArrowheads="1"/>
          </p:cNvSpPr>
          <p:nvPr/>
        </p:nvSpPr>
        <p:spPr bwMode="auto">
          <a:xfrm>
            <a:off x="3416066" y="3297193"/>
            <a:ext cx="3402806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050" dirty="0">
                <a:latin typeface="Arial" panose="020B0604020202020204" pitchFamily="34" charset="0"/>
              </a:rPr>
              <a:t>congestion avoidance: additive increase</a:t>
            </a:r>
            <a:endParaRPr lang="en-US" altLang="zh-CN" sz="675" dirty="0">
              <a:latin typeface="Arial" panose="020B0604020202020204" pitchFamily="34" charset="0"/>
            </a:endParaRPr>
          </a:p>
        </p:txBody>
      </p:sp>
      <p:sp>
        <p:nvSpPr>
          <p:cNvPr id="93" name="Line 19"/>
          <p:cNvSpPr>
            <a:spLocks noChangeShapeType="1"/>
          </p:cNvSpPr>
          <p:nvPr/>
        </p:nvSpPr>
        <p:spPr bwMode="auto">
          <a:xfrm flipH="1">
            <a:off x="2797318" y="3432925"/>
            <a:ext cx="735806" cy="57388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94" name="Text Box 20"/>
          <p:cNvSpPr txBox="1">
            <a:spLocks noChangeArrowheads="1"/>
          </p:cNvSpPr>
          <p:nvPr/>
        </p:nvSpPr>
        <p:spPr bwMode="auto">
          <a:xfrm>
            <a:off x="3599075" y="3060570"/>
            <a:ext cx="2358338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050" dirty="0">
                <a:latin typeface="Arial" panose="020B0604020202020204" pitchFamily="34" charset="0"/>
              </a:rPr>
              <a:t>loss: decrease window by factor of 2</a:t>
            </a:r>
            <a:endParaRPr lang="en-US" altLang="zh-CN" sz="675" dirty="0">
              <a:latin typeface="Arial" panose="020B0604020202020204" pitchFamily="34" charset="0"/>
            </a:endParaRPr>
          </a:p>
        </p:txBody>
      </p:sp>
      <p:sp>
        <p:nvSpPr>
          <p:cNvPr id="95" name="Line 21"/>
          <p:cNvSpPr>
            <a:spLocks noChangeShapeType="1"/>
          </p:cNvSpPr>
          <p:nvPr/>
        </p:nvSpPr>
        <p:spPr bwMode="auto">
          <a:xfrm rot="18661895" flipH="1" flipV="1">
            <a:off x="2640750" y="3641880"/>
            <a:ext cx="959644" cy="1071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96" name="Line 22"/>
          <p:cNvSpPr>
            <a:spLocks noChangeShapeType="1"/>
          </p:cNvSpPr>
          <p:nvPr/>
        </p:nvSpPr>
        <p:spPr bwMode="auto">
          <a:xfrm flipH="1">
            <a:off x="2747311" y="3297193"/>
            <a:ext cx="683419" cy="666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97" name="Line 23"/>
          <p:cNvSpPr>
            <a:spLocks noChangeShapeType="1"/>
          </p:cNvSpPr>
          <p:nvPr/>
        </p:nvSpPr>
        <p:spPr bwMode="auto">
          <a:xfrm rot="18661895" flipH="1" flipV="1">
            <a:off x="2581219" y="3594255"/>
            <a:ext cx="959644" cy="1071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Tahoma" panose="020B0604030504040204" pitchFamily="34" charset="0"/>
              <a:ea typeface="MS PGothic" charset="0"/>
            </a:endParaRPr>
          </a:p>
        </p:txBody>
      </p:sp>
      <p:sp>
        <p:nvSpPr>
          <p:cNvPr id="98" name="Text Box 10"/>
          <p:cNvSpPr txBox="1">
            <a:spLocks noChangeArrowheads="1"/>
          </p:cNvSpPr>
          <p:nvPr/>
        </p:nvSpPr>
        <p:spPr bwMode="auto">
          <a:xfrm rot="2665354">
            <a:off x="2029421" y="2640750"/>
            <a:ext cx="1580752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全带宽利用率曲线</a:t>
            </a: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BF775692-5FDC-45C8-844E-8DDAF30A97F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99" name="AutoShape 5">
            <a:extLst>
              <a:ext uri="{FF2B5EF4-FFF2-40B4-BE49-F238E27FC236}">
                <a16:creationId xmlns:a16="http://schemas.microsoft.com/office/drawing/2014/main" id="{F2D98DA9-F008-4244-9A62-1224C907E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840759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的公平性</a:t>
            </a: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挑战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：公平性和</a:t>
            </a:r>
            <a:r>
              <a:rPr lang="en-US" altLang="zh-CN" dirty="0">
                <a:effectLst/>
              </a:rPr>
              <a:t>UDP</a:t>
            </a:r>
          </a:p>
          <a:p>
            <a:pPr lvl="2">
              <a:spcBef>
                <a:spcPts val="450"/>
              </a:spcBef>
            </a:pPr>
            <a:r>
              <a:rPr lang="zh-CN" altLang="en-US" dirty="0"/>
              <a:t>实例：多媒体传输不乐于使用</a:t>
            </a:r>
            <a:r>
              <a:rPr lang="en-US" altLang="zh-CN" dirty="0"/>
              <a:t>TCP</a:t>
            </a:r>
            <a:r>
              <a:rPr lang="zh-CN" altLang="en-US" dirty="0"/>
              <a:t>，而是使用</a:t>
            </a:r>
            <a:r>
              <a:rPr lang="en-US" altLang="zh-CN" dirty="0"/>
              <a:t>UDP</a:t>
            </a:r>
          </a:p>
          <a:p>
            <a:pPr lvl="4">
              <a:spcBef>
                <a:spcPts val="450"/>
              </a:spcBef>
            </a:pPr>
            <a:r>
              <a:rPr lang="zh-CN" altLang="en-US" sz="1600" dirty="0"/>
              <a:t>不希望用拥塞窗口来控制吞吐率</a:t>
            </a:r>
            <a:endParaRPr lang="en-US" altLang="zh-CN" sz="1600" dirty="0"/>
          </a:p>
          <a:p>
            <a:pPr lvl="4">
              <a:spcBef>
                <a:spcPts val="450"/>
              </a:spcBef>
            </a:pPr>
            <a:r>
              <a:rPr lang="zh-CN" altLang="en-US" sz="1600" dirty="0"/>
              <a:t>恒定高速传输数据，也可以容忍数据丢失</a:t>
            </a:r>
            <a:endParaRPr lang="en-US" altLang="zh-CN" sz="1600" dirty="0"/>
          </a:p>
          <a:p>
            <a:pPr lvl="3">
              <a:spcBef>
                <a:spcPts val="450"/>
              </a:spcBef>
            </a:pP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ym typeface="Wingdings" panose="05000000000000000000" pitchFamily="2" charset="2"/>
              </a:rPr>
              <a:t>和</a:t>
            </a:r>
            <a:r>
              <a:rPr lang="en-US" altLang="zh-CN" sz="1600" dirty="0">
                <a:sym typeface="Wingdings" panose="05000000000000000000" pitchFamily="2" charset="2"/>
              </a:rPr>
              <a:t>UDP</a:t>
            </a:r>
            <a:r>
              <a:rPr lang="zh-CN" altLang="en-US" sz="1600" dirty="0">
                <a:sym typeface="Wingdings" panose="05000000000000000000" pitchFamily="2" charset="2"/>
              </a:rPr>
              <a:t>而言，</a:t>
            </a:r>
            <a:r>
              <a:rPr lang="en-US" altLang="zh-CN" sz="1600" dirty="0">
                <a:sym typeface="Wingdings" panose="05000000000000000000" pitchFamily="2" charset="2"/>
              </a:rPr>
              <a:t>TCP</a:t>
            </a:r>
            <a:r>
              <a:rPr lang="zh-CN" altLang="en-US" sz="1600" dirty="0">
                <a:sym typeface="Wingdings" panose="05000000000000000000" pitchFamily="2" charset="2"/>
              </a:rPr>
              <a:t>的公平性受挫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lvl="4">
              <a:spcBef>
                <a:spcPts val="450"/>
              </a:spcBef>
            </a:pPr>
            <a:r>
              <a:rPr lang="en-US" altLang="zh-CN" sz="1600" dirty="0"/>
              <a:t>UDP</a:t>
            </a:r>
            <a:r>
              <a:rPr lang="zh-CN" altLang="en-US" sz="1600" dirty="0"/>
              <a:t>压制</a:t>
            </a:r>
            <a:r>
              <a:rPr lang="en-US" altLang="zh-CN" sz="1600" dirty="0"/>
              <a:t>TCP</a:t>
            </a:r>
            <a:r>
              <a:rPr lang="zh-CN" altLang="en-US" sz="1600" dirty="0"/>
              <a:t>的吞吐量</a:t>
            </a:r>
            <a:endParaRPr lang="en-US" altLang="zh-CN" sz="1600" dirty="0"/>
          </a:p>
          <a:p>
            <a:pPr lvl="4">
              <a:spcBef>
                <a:spcPts val="450"/>
              </a:spcBef>
            </a:pPr>
            <a:endParaRPr lang="en-US" altLang="zh-CN" dirty="0"/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挑战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：公平性和并发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连接</a:t>
            </a:r>
            <a:endParaRPr lang="en-US" altLang="zh-CN" dirty="0">
              <a:effectLst/>
            </a:endParaRPr>
          </a:p>
          <a:p>
            <a:pPr lvl="2">
              <a:spcBef>
                <a:spcPts val="450"/>
              </a:spcBef>
            </a:pPr>
            <a:r>
              <a:rPr lang="zh-CN" altLang="en-US" dirty="0"/>
              <a:t>实例：某些应用使用并发</a:t>
            </a:r>
            <a:r>
              <a:rPr lang="en-US" altLang="zh-CN" dirty="0"/>
              <a:t>TCP</a:t>
            </a:r>
            <a:r>
              <a:rPr lang="zh-CN" altLang="en-US" dirty="0"/>
              <a:t>连接</a:t>
            </a:r>
            <a:endParaRPr lang="en-US" altLang="zh-CN" dirty="0">
              <a:effectLst/>
            </a:endParaRPr>
          </a:p>
          <a:p>
            <a:pPr lvl="2">
              <a:spcBef>
                <a:spcPts val="450"/>
              </a:spcBef>
            </a:pP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0772A375-C442-44A2-931A-2654D76B39B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99" name="AutoShape 5">
            <a:extLst>
              <a:ext uri="{FF2B5EF4-FFF2-40B4-BE49-F238E27FC236}">
                <a16:creationId xmlns:a16="http://schemas.microsoft.com/office/drawing/2014/main" id="{23F09155-E587-4635-8643-8FECEB5FD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37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6840759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effectLst/>
              </a:rPr>
              <a:t>补充：网络辅助拥塞控制</a:t>
            </a: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/>
              <a:t>网络层</a:t>
            </a:r>
            <a:r>
              <a:rPr lang="en-US" altLang="zh-CN" dirty="0"/>
              <a:t>(</a:t>
            </a:r>
            <a:r>
              <a:rPr lang="zh-CN" altLang="en-US" dirty="0"/>
              <a:t>路由器</a:t>
            </a:r>
            <a:r>
              <a:rPr lang="en-US" altLang="zh-CN" dirty="0"/>
              <a:t>)</a:t>
            </a:r>
            <a:r>
              <a:rPr lang="zh-CN" altLang="en-US" dirty="0"/>
              <a:t>产生拥塞信号</a:t>
            </a:r>
            <a:endParaRPr lang="en-US" altLang="zh-CN" dirty="0"/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发送方感知后调节拥塞窗口</a:t>
            </a:r>
            <a:endParaRPr lang="en-US" altLang="zh-CN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3.7 TCP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拥塞控制</a:t>
            </a:r>
            <a:endParaRPr lang="zh-CN" altLang="en-US" dirty="0">
              <a:effectLst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0448E985-B363-4907-9B6A-032EAFFEB65A}"/>
              </a:ext>
            </a:extLst>
          </p:cNvPr>
          <p:cNvGrpSpPr/>
          <p:nvPr/>
        </p:nvGrpSpPr>
        <p:grpSpPr>
          <a:xfrm>
            <a:off x="1475656" y="2355726"/>
            <a:ext cx="6555390" cy="2254082"/>
            <a:chOff x="2250281" y="3838204"/>
            <a:chExt cx="7691436" cy="2644712"/>
          </a:xfrm>
        </p:grpSpPr>
        <p:grpSp>
          <p:nvGrpSpPr>
            <p:cNvPr id="89" name="Group 232">
              <a:extLst>
                <a:ext uri="{FF2B5EF4-FFF2-40B4-BE49-F238E27FC236}">
                  <a16:creationId xmlns:a16="http://schemas.microsoft.com/office/drawing/2014/main" id="{FD67DD4F-02E0-442B-A160-2854CDE7C372}"/>
                </a:ext>
              </a:extLst>
            </p:cNvPr>
            <p:cNvGrpSpPr/>
            <p:nvPr/>
          </p:nvGrpSpPr>
          <p:grpSpPr>
            <a:xfrm>
              <a:off x="2250281" y="3864630"/>
              <a:ext cx="7691436" cy="2578459"/>
              <a:chOff x="2151063" y="3594045"/>
              <a:chExt cx="7691436" cy="2578459"/>
            </a:xfrm>
          </p:grpSpPr>
          <p:sp>
            <p:nvSpPr>
              <p:cNvPr id="123" name="Freeform 2">
                <a:extLst>
                  <a:ext uri="{FF2B5EF4-FFF2-40B4-BE49-F238E27FC236}">
                    <a16:creationId xmlns:a16="http://schemas.microsoft.com/office/drawing/2014/main" id="{FD86B86F-E7BF-4878-98EF-BE5A13E0A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957" y="4691367"/>
                <a:ext cx="2849563" cy="1481137"/>
              </a:xfrm>
              <a:custGeom>
                <a:avLst/>
                <a:gdLst>
                  <a:gd name="T0" fmla="*/ 2147483647 w 1794"/>
                  <a:gd name="T1" fmla="*/ 2147483647 h 933"/>
                  <a:gd name="T2" fmla="*/ 2147483647 w 1794"/>
                  <a:gd name="T3" fmla="*/ 2147483647 h 933"/>
                  <a:gd name="T4" fmla="*/ 2147483647 w 1794"/>
                  <a:gd name="T5" fmla="*/ 2147483647 h 933"/>
                  <a:gd name="T6" fmla="*/ 2147483647 w 1794"/>
                  <a:gd name="T7" fmla="*/ 2147483647 h 933"/>
                  <a:gd name="T8" fmla="*/ 2147483647 w 1794"/>
                  <a:gd name="T9" fmla="*/ 2147483647 h 933"/>
                  <a:gd name="T10" fmla="*/ 2147483647 w 1794"/>
                  <a:gd name="T11" fmla="*/ 2147483647 h 933"/>
                  <a:gd name="T12" fmla="*/ 2147483647 w 1794"/>
                  <a:gd name="T13" fmla="*/ 2147483647 h 933"/>
                  <a:gd name="T14" fmla="*/ 2147483647 w 1794"/>
                  <a:gd name="T15" fmla="*/ 2147483647 h 933"/>
                  <a:gd name="T16" fmla="*/ 2147483647 w 1794"/>
                  <a:gd name="T17" fmla="*/ 2147483647 h 933"/>
                  <a:gd name="T18" fmla="*/ 2147483647 w 1794"/>
                  <a:gd name="T19" fmla="*/ 2147483647 h 933"/>
                  <a:gd name="T20" fmla="*/ 2147483647 w 1794"/>
                  <a:gd name="T21" fmla="*/ 2147483647 h 9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94"/>
                  <a:gd name="T34" fmla="*/ 0 h 933"/>
                  <a:gd name="T35" fmla="*/ 1794 w 1794"/>
                  <a:gd name="T36" fmla="*/ 933 h 93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94" h="933">
                    <a:moveTo>
                      <a:pt x="6" y="483"/>
                    </a:moveTo>
                    <a:cubicBezTo>
                      <a:pt x="0" y="365"/>
                      <a:pt x="16" y="189"/>
                      <a:pt x="108" y="125"/>
                    </a:cubicBezTo>
                    <a:cubicBezTo>
                      <a:pt x="200" y="61"/>
                      <a:pt x="389" y="116"/>
                      <a:pt x="559" y="100"/>
                    </a:cubicBezTo>
                    <a:cubicBezTo>
                      <a:pt x="729" y="84"/>
                      <a:pt x="935" y="0"/>
                      <a:pt x="1128" y="29"/>
                    </a:cubicBezTo>
                    <a:cubicBezTo>
                      <a:pt x="1321" y="58"/>
                      <a:pt x="1638" y="142"/>
                      <a:pt x="1716" y="275"/>
                    </a:cubicBezTo>
                    <a:cubicBezTo>
                      <a:pt x="1794" y="408"/>
                      <a:pt x="1652" y="721"/>
                      <a:pt x="1596" y="827"/>
                    </a:cubicBezTo>
                    <a:cubicBezTo>
                      <a:pt x="1540" y="933"/>
                      <a:pt x="1506" y="894"/>
                      <a:pt x="1380" y="911"/>
                    </a:cubicBezTo>
                    <a:cubicBezTo>
                      <a:pt x="1254" y="928"/>
                      <a:pt x="1001" y="929"/>
                      <a:pt x="840" y="929"/>
                    </a:cubicBezTo>
                    <a:cubicBezTo>
                      <a:pt x="679" y="929"/>
                      <a:pt x="530" y="927"/>
                      <a:pt x="414" y="911"/>
                    </a:cubicBezTo>
                    <a:cubicBezTo>
                      <a:pt x="298" y="895"/>
                      <a:pt x="211" y="903"/>
                      <a:pt x="143" y="832"/>
                    </a:cubicBezTo>
                    <a:cubicBezTo>
                      <a:pt x="75" y="761"/>
                      <a:pt x="4" y="624"/>
                      <a:pt x="6" y="48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4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24" name="Group 234">
                <a:extLst>
                  <a:ext uri="{FF2B5EF4-FFF2-40B4-BE49-F238E27FC236}">
                    <a16:creationId xmlns:a16="http://schemas.microsoft.com/office/drawing/2014/main" id="{8E74B3ED-4E35-4110-A9C9-CC750D7ED5A7}"/>
                  </a:ext>
                </a:extLst>
              </p:cNvPr>
              <p:cNvGrpSpPr/>
              <p:nvPr/>
            </p:nvGrpSpPr>
            <p:grpSpPr>
              <a:xfrm>
                <a:off x="5035264" y="5554092"/>
                <a:ext cx="496248" cy="260542"/>
                <a:chOff x="7141236" y="6068702"/>
                <a:chExt cx="496248" cy="260542"/>
              </a:xfrm>
            </p:grpSpPr>
            <p:sp>
              <p:nvSpPr>
                <p:cNvPr id="199" name="Freeform 396">
                  <a:extLst>
                    <a:ext uri="{FF2B5EF4-FFF2-40B4-BE49-F238E27FC236}">
                      <a16:creationId xmlns:a16="http://schemas.microsoft.com/office/drawing/2014/main" id="{2F4F8C3A-DBCF-4C56-9595-E5A5AF3ABE00}"/>
                    </a:ext>
                  </a:extLst>
                </p:cNvPr>
                <p:cNvSpPr/>
                <p:nvPr/>
              </p:nvSpPr>
              <p:spPr>
                <a:xfrm>
                  <a:off x="7141236" y="6158887"/>
                  <a:ext cx="496248" cy="170357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40000"/>
                    </a:gs>
                    <a:gs pos="21000">
                      <a:schemeClr val="bg1"/>
                    </a:gs>
                    <a:gs pos="51000">
                      <a:srgbClr val="ED356A"/>
                    </a:gs>
                    <a:gs pos="100000">
                      <a:srgbClr val="E40000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     </a:t>
                  </a:r>
                </a:p>
              </p:txBody>
            </p:sp>
            <p:sp>
              <p:nvSpPr>
                <p:cNvPr id="200" name="Oval 397">
                  <a:extLst>
                    <a:ext uri="{FF2B5EF4-FFF2-40B4-BE49-F238E27FC236}">
                      <a16:creationId xmlns:a16="http://schemas.microsoft.com/office/drawing/2014/main" id="{575D2DBA-0DF2-4E2E-8401-C145B2896192}"/>
                    </a:ext>
                  </a:extLst>
                </p:cNvPr>
                <p:cNvSpPr/>
                <p:nvPr/>
              </p:nvSpPr>
              <p:spPr>
                <a:xfrm>
                  <a:off x="7141522" y="6068702"/>
                  <a:ext cx="495647" cy="168664"/>
                </a:xfrm>
                <a:prstGeom prst="ellipse">
                  <a:avLst/>
                </a:prstGeom>
                <a:solidFill>
                  <a:srgbClr val="FA376E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</a:t>
                  </a:r>
                </a:p>
              </p:txBody>
            </p:sp>
            <p:grpSp>
              <p:nvGrpSpPr>
                <p:cNvPr id="201" name="Group 398">
                  <a:extLst>
                    <a:ext uri="{FF2B5EF4-FFF2-40B4-BE49-F238E27FC236}">
                      <a16:creationId xmlns:a16="http://schemas.microsoft.com/office/drawing/2014/main" id="{DE9609F4-B7AF-430F-8E39-1F9FE9308214}"/>
                    </a:ext>
                  </a:extLst>
                </p:cNvPr>
                <p:cNvGrpSpPr/>
                <p:nvPr/>
              </p:nvGrpSpPr>
              <p:grpSpPr>
                <a:xfrm>
                  <a:off x="7214834" y="6090139"/>
                  <a:ext cx="348960" cy="123931"/>
                  <a:chOff x="7786941" y="2884917"/>
                  <a:chExt cx="897649" cy="353919"/>
                </a:xfrm>
              </p:grpSpPr>
              <p:sp>
                <p:nvSpPr>
                  <p:cNvPr id="202" name="Freeform 399">
                    <a:extLst>
                      <a:ext uri="{FF2B5EF4-FFF2-40B4-BE49-F238E27FC236}">
                        <a16:creationId xmlns:a16="http://schemas.microsoft.com/office/drawing/2014/main" id="{73E23DEB-B604-4DE2-A726-B2225705F590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E400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203" name="Freeform 400">
                    <a:extLst>
                      <a:ext uri="{FF2B5EF4-FFF2-40B4-BE49-F238E27FC236}">
                        <a16:creationId xmlns:a16="http://schemas.microsoft.com/office/drawing/2014/main" id="{E610CB1E-0DEC-461C-8127-1438EDFC13D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E400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204" name="Freeform 401">
                    <a:extLst>
                      <a:ext uri="{FF2B5EF4-FFF2-40B4-BE49-F238E27FC236}">
                        <a16:creationId xmlns:a16="http://schemas.microsoft.com/office/drawing/2014/main" id="{A6ACE88D-7256-43C2-AF1E-6EAFBB98C40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E400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205" name="Freeform 402">
                    <a:extLst>
                      <a:ext uri="{FF2B5EF4-FFF2-40B4-BE49-F238E27FC236}">
                        <a16:creationId xmlns:a16="http://schemas.microsoft.com/office/drawing/2014/main" id="{54A403CE-E4AD-4287-A46C-BBB6C1E3C4A9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FFB3D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125" name="Group 235">
                <a:extLst>
                  <a:ext uri="{FF2B5EF4-FFF2-40B4-BE49-F238E27FC236}">
                    <a16:creationId xmlns:a16="http://schemas.microsoft.com/office/drawing/2014/main" id="{040EBF70-28C1-41C1-9B84-68671B6BDC9F}"/>
                  </a:ext>
                </a:extLst>
              </p:cNvPr>
              <p:cNvGrpSpPr/>
              <p:nvPr/>
            </p:nvGrpSpPr>
            <p:grpSpPr>
              <a:xfrm>
                <a:off x="6131364" y="5156690"/>
                <a:ext cx="496248" cy="260542"/>
                <a:chOff x="7493876" y="2774731"/>
                <a:chExt cx="1481958" cy="894622"/>
              </a:xfrm>
            </p:grpSpPr>
            <p:sp>
              <p:nvSpPr>
                <p:cNvPr id="192" name="Freeform 389">
                  <a:extLst>
                    <a:ext uri="{FF2B5EF4-FFF2-40B4-BE49-F238E27FC236}">
                      <a16:creationId xmlns:a16="http://schemas.microsoft.com/office/drawing/2014/main" id="{E50FA623-0308-47DE-893A-FC2C1B492B3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     </a:t>
                  </a:r>
                </a:p>
              </p:txBody>
            </p:sp>
            <p:sp>
              <p:nvSpPr>
                <p:cNvPr id="193" name="Oval 390">
                  <a:extLst>
                    <a:ext uri="{FF2B5EF4-FFF2-40B4-BE49-F238E27FC236}">
                      <a16:creationId xmlns:a16="http://schemas.microsoft.com/office/drawing/2014/main" id="{15C520D8-DE72-41A0-B821-BB785D6FC310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</a:t>
                  </a:r>
                </a:p>
              </p:txBody>
            </p:sp>
            <p:grpSp>
              <p:nvGrpSpPr>
                <p:cNvPr id="194" name="Group 391">
                  <a:extLst>
                    <a:ext uri="{FF2B5EF4-FFF2-40B4-BE49-F238E27FC236}">
                      <a16:creationId xmlns:a16="http://schemas.microsoft.com/office/drawing/2014/main" id="{A8FE77CB-C2BB-4C57-AA48-3E5073014B38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5" name="Freeform 392">
                    <a:extLst>
                      <a:ext uri="{FF2B5EF4-FFF2-40B4-BE49-F238E27FC236}">
                        <a16:creationId xmlns:a16="http://schemas.microsoft.com/office/drawing/2014/main" id="{4A648D7E-69E1-4A9F-894B-2B91A994284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96" name="Freeform 393">
                    <a:extLst>
                      <a:ext uri="{FF2B5EF4-FFF2-40B4-BE49-F238E27FC236}">
                        <a16:creationId xmlns:a16="http://schemas.microsoft.com/office/drawing/2014/main" id="{1F62CA6C-C48C-4CFB-AD57-4CE7A3138744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97" name="Freeform 394">
                    <a:extLst>
                      <a:ext uri="{FF2B5EF4-FFF2-40B4-BE49-F238E27FC236}">
                        <a16:creationId xmlns:a16="http://schemas.microsoft.com/office/drawing/2014/main" id="{BFDF4A85-3EB6-421E-BC20-2CABF8681C2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98" name="Freeform 395">
                    <a:extLst>
                      <a:ext uri="{FF2B5EF4-FFF2-40B4-BE49-F238E27FC236}">
                        <a16:creationId xmlns:a16="http://schemas.microsoft.com/office/drawing/2014/main" id="{1E8064E5-AABC-450A-B361-403C9D2E450D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126" name="Group 236">
                <a:extLst>
                  <a:ext uri="{FF2B5EF4-FFF2-40B4-BE49-F238E27FC236}">
                    <a16:creationId xmlns:a16="http://schemas.microsoft.com/office/drawing/2014/main" id="{6E7181F0-55FD-4F63-8E6F-93280D2C1482}"/>
                  </a:ext>
                </a:extLst>
              </p:cNvPr>
              <p:cNvGrpSpPr/>
              <p:nvPr/>
            </p:nvGrpSpPr>
            <p:grpSpPr>
              <a:xfrm>
                <a:off x="5122533" y="4861037"/>
                <a:ext cx="496248" cy="260542"/>
                <a:chOff x="7493876" y="2774731"/>
                <a:chExt cx="1481958" cy="894622"/>
              </a:xfrm>
            </p:grpSpPr>
            <p:sp>
              <p:nvSpPr>
                <p:cNvPr id="185" name="Freeform 382">
                  <a:extLst>
                    <a:ext uri="{FF2B5EF4-FFF2-40B4-BE49-F238E27FC236}">
                      <a16:creationId xmlns:a16="http://schemas.microsoft.com/office/drawing/2014/main" id="{E02001D8-EFFF-48B6-AD93-B2D6DE35FC4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     </a:t>
                  </a:r>
                </a:p>
              </p:txBody>
            </p:sp>
            <p:sp>
              <p:nvSpPr>
                <p:cNvPr id="186" name="Oval 383">
                  <a:extLst>
                    <a:ext uri="{FF2B5EF4-FFF2-40B4-BE49-F238E27FC236}">
                      <a16:creationId xmlns:a16="http://schemas.microsoft.com/office/drawing/2014/main" id="{C20200B3-87E8-411C-84E0-CEF4EA76CD9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</a:t>
                  </a:r>
                </a:p>
              </p:txBody>
            </p:sp>
            <p:grpSp>
              <p:nvGrpSpPr>
                <p:cNvPr id="187" name="Group 384">
                  <a:extLst>
                    <a:ext uri="{FF2B5EF4-FFF2-40B4-BE49-F238E27FC236}">
                      <a16:creationId xmlns:a16="http://schemas.microsoft.com/office/drawing/2014/main" id="{3C50702B-1405-4156-99EE-8BF422F48064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8" name="Freeform 385">
                    <a:extLst>
                      <a:ext uri="{FF2B5EF4-FFF2-40B4-BE49-F238E27FC236}">
                        <a16:creationId xmlns:a16="http://schemas.microsoft.com/office/drawing/2014/main" id="{9A2B8BBB-98CA-4827-92FF-3F245521785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89" name="Freeform 386">
                    <a:extLst>
                      <a:ext uri="{FF2B5EF4-FFF2-40B4-BE49-F238E27FC236}">
                        <a16:creationId xmlns:a16="http://schemas.microsoft.com/office/drawing/2014/main" id="{24A83520-CCF5-451A-994B-C085BE141689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90" name="Freeform 387">
                    <a:extLst>
                      <a:ext uri="{FF2B5EF4-FFF2-40B4-BE49-F238E27FC236}">
                        <a16:creationId xmlns:a16="http://schemas.microsoft.com/office/drawing/2014/main" id="{C49E3354-A4D1-401E-86D0-055B3E6299A1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91" name="Freeform 388">
                    <a:extLst>
                      <a:ext uri="{FF2B5EF4-FFF2-40B4-BE49-F238E27FC236}">
                        <a16:creationId xmlns:a16="http://schemas.microsoft.com/office/drawing/2014/main" id="{39A7CDB1-B246-41D8-88CC-C22D3B20195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127" name="Group 237">
                <a:extLst>
                  <a:ext uri="{FF2B5EF4-FFF2-40B4-BE49-F238E27FC236}">
                    <a16:creationId xmlns:a16="http://schemas.microsoft.com/office/drawing/2014/main" id="{D1EE5020-16CF-4051-8B0A-007CBA560641}"/>
                  </a:ext>
                </a:extLst>
              </p:cNvPr>
              <p:cNvGrpSpPr/>
              <p:nvPr/>
            </p:nvGrpSpPr>
            <p:grpSpPr>
              <a:xfrm>
                <a:off x="4450588" y="5823254"/>
                <a:ext cx="496248" cy="260542"/>
                <a:chOff x="7493876" y="2774731"/>
                <a:chExt cx="1481958" cy="894622"/>
              </a:xfrm>
            </p:grpSpPr>
            <p:sp>
              <p:nvSpPr>
                <p:cNvPr id="178" name="Freeform 375">
                  <a:extLst>
                    <a:ext uri="{FF2B5EF4-FFF2-40B4-BE49-F238E27FC236}">
                      <a16:creationId xmlns:a16="http://schemas.microsoft.com/office/drawing/2014/main" id="{99B61C2E-2550-4661-95DC-05313C4A2E6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     </a:t>
                  </a:r>
                </a:p>
              </p:txBody>
            </p:sp>
            <p:sp>
              <p:nvSpPr>
                <p:cNvPr id="179" name="Oval 376">
                  <a:extLst>
                    <a:ext uri="{FF2B5EF4-FFF2-40B4-BE49-F238E27FC236}">
                      <a16:creationId xmlns:a16="http://schemas.microsoft.com/office/drawing/2014/main" id="{BA308535-0412-4B90-A493-1651A4969A5B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</a:t>
                  </a:r>
                </a:p>
              </p:txBody>
            </p:sp>
            <p:grpSp>
              <p:nvGrpSpPr>
                <p:cNvPr id="180" name="Group 377">
                  <a:extLst>
                    <a:ext uri="{FF2B5EF4-FFF2-40B4-BE49-F238E27FC236}">
                      <a16:creationId xmlns:a16="http://schemas.microsoft.com/office/drawing/2014/main" id="{611603D4-FDB5-492A-8E6C-B307C8862F8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1" name="Freeform 378">
                    <a:extLst>
                      <a:ext uri="{FF2B5EF4-FFF2-40B4-BE49-F238E27FC236}">
                        <a16:creationId xmlns:a16="http://schemas.microsoft.com/office/drawing/2014/main" id="{166A29BE-063A-4BDF-A0C9-20099A848DB9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82" name="Freeform 379">
                    <a:extLst>
                      <a:ext uri="{FF2B5EF4-FFF2-40B4-BE49-F238E27FC236}">
                        <a16:creationId xmlns:a16="http://schemas.microsoft.com/office/drawing/2014/main" id="{67F73093-1825-4838-987C-E1B1BE28293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83" name="Freeform 380">
                    <a:extLst>
                      <a:ext uri="{FF2B5EF4-FFF2-40B4-BE49-F238E27FC236}">
                        <a16:creationId xmlns:a16="http://schemas.microsoft.com/office/drawing/2014/main" id="{B5AAAFD2-6920-41F2-B1D8-D4CA1DBFA309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84" name="Freeform 381">
                    <a:extLst>
                      <a:ext uri="{FF2B5EF4-FFF2-40B4-BE49-F238E27FC236}">
                        <a16:creationId xmlns:a16="http://schemas.microsoft.com/office/drawing/2014/main" id="{459B3F26-81BF-4984-9724-68E10E24CDC7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128" name="Group 238">
                <a:extLst>
                  <a:ext uri="{FF2B5EF4-FFF2-40B4-BE49-F238E27FC236}">
                    <a16:creationId xmlns:a16="http://schemas.microsoft.com/office/drawing/2014/main" id="{1AD2FBB5-D21D-4774-8E78-328F01B83788}"/>
                  </a:ext>
                </a:extLst>
              </p:cNvPr>
              <p:cNvGrpSpPr/>
              <p:nvPr/>
            </p:nvGrpSpPr>
            <p:grpSpPr>
              <a:xfrm>
                <a:off x="4094463" y="5164346"/>
                <a:ext cx="496248" cy="260542"/>
                <a:chOff x="7493876" y="2774731"/>
                <a:chExt cx="1481958" cy="894622"/>
              </a:xfrm>
            </p:grpSpPr>
            <p:sp>
              <p:nvSpPr>
                <p:cNvPr id="171" name="Freeform 368">
                  <a:extLst>
                    <a:ext uri="{FF2B5EF4-FFF2-40B4-BE49-F238E27FC236}">
                      <a16:creationId xmlns:a16="http://schemas.microsoft.com/office/drawing/2014/main" id="{202AE766-E1DD-4E63-B41B-1D679B7F3AC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     </a:t>
                  </a:r>
                </a:p>
              </p:txBody>
            </p:sp>
            <p:sp>
              <p:nvSpPr>
                <p:cNvPr id="172" name="Oval 369">
                  <a:extLst>
                    <a:ext uri="{FF2B5EF4-FFF2-40B4-BE49-F238E27FC236}">
                      <a16:creationId xmlns:a16="http://schemas.microsoft.com/office/drawing/2014/main" id="{0DA97B53-36F3-4CC2-9789-84418097C2F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</a:t>
                  </a:r>
                </a:p>
              </p:txBody>
            </p:sp>
            <p:grpSp>
              <p:nvGrpSpPr>
                <p:cNvPr id="173" name="Group 370">
                  <a:extLst>
                    <a:ext uri="{FF2B5EF4-FFF2-40B4-BE49-F238E27FC236}">
                      <a16:creationId xmlns:a16="http://schemas.microsoft.com/office/drawing/2014/main" id="{81248A04-D313-4298-B16C-BF2454E5AFC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74" name="Freeform 371">
                    <a:extLst>
                      <a:ext uri="{FF2B5EF4-FFF2-40B4-BE49-F238E27FC236}">
                        <a16:creationId xmlns:a16="http://schemas.microsoft.com/office/drawing/2014/main" id="{0E032CE5-8503-4406-9D0A-A524F75ABD3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75" name="Freeform 372">
                    <a:extLst>
                      <a:ext uri="{FF2B5EF4-FFF2-40B4-BE49-F238E27FC236}">
                        <a16:creationId xmlns:a16="http://schemas.microsoft.com/office/drawing/2014/main" id="{9FE018D6-8059-4E8D-B589-27618942E9BA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76" name="Freeform 373">
                    <a:extLst>
                      <a:ext uri="{FF2B5EF4-FFF2-40B4-BE49-F238E27FC236}">
                        <a16:creationId xmlns:a16="http://schemas.microsoft.com/office/drawing/2014/main" id="{512DDFF4-D6A4-4509-B03B-1C2DDAD3A21A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77" name="Freeform 374">
                    <a:extLst>
                      <a:ext uri="{FF2B5EF4-FFF2-40B4-BE49-F238E27FC236}">
                        <a16:creationId xmlns:a16="http://schemas.microsoft.com/office/drawing/2014/main" id="{AABFCD53-18BD-46BA-88C9-149343D6837B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sp>
            <p:nvSpPr>
              <p:cNvPr id="129" name="Text Box 8">
                <a:extLst>
                  <a:ext uri="{FF2B5EF4-FFF2-40B4-BE49-F238E27FC236}">
                    <a16:creationId xmlns:a16="http://schemas.microsoft.com/office/drawing/2014/main" id="{26C4984C-C054-49B4-864F-DB71134562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657" y="3594045"/>
                <a:ext cx="846737" cy="361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 i="1">
                    <a:solidFill>
                      <a:srgbClr val="000099"/>
                    </a:solidFill>
                    <a:latin typeface="Arial" panose="020B0604020202020204" pitchFamily="34" charset="0"/>
                  </a:rPr>
                  <a:t>source</a:t>
                </a:r>
                <a:endParaRPr lang="en-US" altLang="en-US" sz="1800" i="1">
                  <a:solidFill>
                    <a:srgbClr val="000099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Freeform 10">
                <a:extLst>
                  <a:ext uri="{FF2B5EF4-FFF2-40B4-BE49-F238E27FC236}">
                    <a16:creationId xmlns:a16="http://schemas.microsoft.com/office/drawing/2014/main" id="{2535EBD5-214A-46E0-A161-C3AF5CBABD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481263" y="3925832"/>
                <a:ext cx="326408" cy="1262816"/>
              </a:xfrm>
              <a:custGeom>
                <a:avLst/>
                <a:gdLst>
                  <a:gd name="T0" fmla="*/ 2147483647 w 12213"/>
                  <a:gd name="T1" fmla="*/ 2147483647 h 10000"/>
                  <a:gd name="T2" fmla="*/ 0 w 12213"/>
                  <a:gd name="T3" fmla="*/ 0 h 10000"/>
                  <a:gd name="T4" fmla="*/ 0 w 12213"/>
                  <a:gd name="T5" fmla="*/ 2147483647 h 10000"/>
                  <a:gd name="T6" fmla="*/ 2147483647 w 12213"/>
                  <a:gd name="T7" fmla="*/ 2147483647 h 10000"/>
                  <a:gd name="T8" fmla="*/ 2147483647 w 12213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13" h="10000">
                    <a:moveTo>
                      <a:pt x="11726" y="4661"/>
                    </a:moveTo>
                    <a:lnTo>
                      <a:pt x="0" y="0"/>
                    </a:lnTo>
                    <a:lnTo>
                      <a:pt x="0" y="10000"/>
                    </a:lnTo>
                    <a:lnTo>
                      <a:pt x="12213" y="6473"/>
                    </a:lnTo>
                    <a:lnTo>
                      <a:pt x="11726" y="466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1" name="Rectangle 23">
                <a:extLst>
                  <a:ext uri="{FF2B5EF4-FFF2-40B4-BE49-F238E27FC236}">
                    <a16:creationId xmlns:a16="http://schemas.microsoft.com/office/drawing/2014/main" id="{80ED68C3-2991-4801-8590-EE92B4A04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326" y="3909956"/>
                <a:ext cx="1062368" cy="129063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2" name="Rectangle 24">
                <a:extLst>
                  <a:ext uri="{FF2B5EF4-FFF2-40B4-BE49-F238E27FC236}">
                    <a16:creationId xmlns:a16="http://schemas.microsoft.com/office/drawing/2014/main" id="{FF0720C4-1E28-4AC8-827D-243B9059F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4638" y="3949645"/>
                <a:ext cx="1066800" cy="12319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3" name="Line 25">
                <a:extLst>
                  <a:ext uri="{FF2B5EF4-FFF2-40B4-BE49-F238E27FC236}">
                    <a16:creationId xmlns:a16="http://schemas.microsoft.com/office/drawing/2014/main" id="{14669E27-6DE2-4199-AB3B-A0A6347B6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4638" y="4227457"/>
                <a:ext cx="1058862" cy="31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4" name="Text Box 26">
                <a:extLst>
                  <a:ext uri="{FF2B5EF4-FFF2-40B4-BE49-F238E27FC236}">
                    <a16:creationId xmlns:a16="http://schemas.microsoft.com/office/drawing/2014/main" id="{3FC32DF1-2FE7-43D7-A42F-08580B74A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3604" y="3957054"/>
                <a:ext cx="1104900" cy="1274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35" name="Group 190">
                <a:extLst>
                  <a:ext uri="{FF2B5EF4-FFF2-40B4-BE49-F238E27FC236}">
                    <a16:creationId xmlns:a16="http://schemas.microsoft.com/office/drawing/2014/main" id="{544ED72E-47D5-4F9B-8CE6-A29265CB1F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151063" y="4424307"/>
                <a:ext cx="673100" cy="701675"/>
                <a:chOff x="-44" y="1473"/>
                <a:chExt cx="981" cy="1105"/>
              </a:xfrm>
            </p:grpSpPr>
            <p:pic>
              <p:nvPicPr>
                <p:cNvPr id="169" name="Picture 191" descr="desktop_computer_stylized_medium">
                  <a:extLst>
                    <a:ext uri="{FF2B5EF4-FFF2-40B4-BE49-F238E27FC236}">
                      <a16:creationId xmlns:a16="http://schemas.microsoft.com/office/drawing/2014/main" id="{21B35A57-A686-406A-B5B7-FEFA3EC5638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0" name="Freeform 192">
                  <a:extLst>
                    <a:ext uri="{FF2B5EF4-FFF2-40B4-BE49-F238E27FC236}">
                      <a16:creationId xmlns:a16="http://schemas.microsoft.com/office/drawing/2014/main" id="{7C180C47-1ABE-438A-A57B-B2DD3E8619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136" name="Line 25">
                <a:extLst>
                  <a:ext uri="{FF2B5EF4-FFF2-40B4-BE49-F238E27FC236}">
                    <a16:creationId xmlns:a16="http://schemas.microsoft.com/office/drawing/2014/main" id="{239EFACA-5203-48AE-B495-B5C914C26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9400" y="4456057"/>
                <a:ext cx="1058863" cy="31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7" name="Line 25">
                <a:extLst>
                  <a:ext uri="{FF2B5EF4-FFF2-40B4-BE49-F238E27FC236}">
                    <a16:creationId xmlns:a16="http://schemas.microsoft.com/office/drawing/2014/main" id="{6F3B4E5E-B3F0-4CAA-9B7B-35181BA2C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163" y="4684657"/>
                <a:ext cx="1058862" cy="31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8" name="Line 25">
                <a:extLst>
                  <a:ext uri="{FF2B5EF4-FFF2-40B4-BE49-F238E27FC236}">
                    <a16:creationId xmlns:a16="http://schemas.microsoft.com/office/drawing/2014/main" id="{02FD02E7-EC0A-4307-8F38-CC995AB9B7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7338" y="4924370"/>
                <a:ext cx="1060450" cy="31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39" name="Group 3">
                <a:extLst>
                  <a:ext uri="{FF2B5EF4-FFF2-40B4-BE49-F238E27FC236}">
                    <a16:creationId xmlns:a16="http://schemas.microsoft.com/office/drawing/2014/main" id="{4BD5F1C2-B687-424C-A401-A8E9B1B3CA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91835" y="3673978"/>
                <a:ext cx="2050664" cy="1620287"/>
                <a:chOff x="4879964" y="4007261"/>
                <a:chExt cx="2049604" cy="1619544"/>
              </a:xfrm>
            </p:grpSpPr>
            <p:sp>
              <p:nvSpPr>
                <p:cNvPr id="156" name="Text Box 54">
                  <a:extLst>
                    <a:ext uri="{FF2B5EF4-FFF2-40B4-BE49-F238E27FC236}">
                      <a16:creationId xmlns:a16="http://schemas.microsoft.com/office/drawing/2014/main" id="{C6586ED6-04C7-4DB0-A2AE-31A5CDE637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79964" y="4007261"/>
                  <a:ext cx="1231665" cy="3609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1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destination</a:t>
                  </a:r>
                  <a:endParaRPr kumimoji="0" lang="en-US" altLang="en-US" sz="18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grpSp>
              <p:nvGrpSpPr>
                <p:cNvPr id="157" name="Group 2">
                  <a:extLst>
                    <a:ext uri="{FF2B5EF4-FFF2-40B4-BE49-F238E27FC236}">
                      <a16:creationId xmlns:a16="http://schemas.microsoft.com/office/drawing/2014/main" id="{CC9D2A10-A308-4FA7-A4E6-4194192626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27179" y="4319856"/>
                  <a:ext cx="2002389" cy="1306949"/>
                  <a:chOff x="1305623" y="4714561"/>
                  <a:chExt cx="2002389" cy="1306949"/>
                </a:xfrm>
              </p:grpSpPr>
              <p:sp>
                <p:nvSpPr>
                  <p:cNvPr id="158" name="Freeform 10">
                    <a:extLst>
                      <a:ext uri="{FF2B5EF4-FFF2-40B4-BE49-F238E27FC236}">
                        <a16:creationId xmlns:a16="http://schemas.microsoft.com/office/drawing/2014/main" id="{16DC26D5-F6E9-4604-B3B8-E8FC4641F0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6569" y="4714561"/>
                    <a:ext cx="288261" cy="1290044"/>
                  </a:xfrm>
                  <a:custGeom>
                    <a:avLst/>
                    <a:gdLst>
                      <a:gd name="T0" fmla="*/ 2147483647 w 267"/>
                      <a:gd name="T1" fmla="*/ 2147483647 h 1186"/>
                      <a:gd name="T2" fmla="*/ 0 w 267"/>
                      <a:gd name="T3" fmla="*/ 0 h 1186"/>
                      <a:gd name="T4" fmla="*/ 0 w 267"/>
                      <a:gd name="T5" fmla="*/ 2147483647 h 1186"/>
                      <a:gd name="T6" fmla="*/ 2147483647 w 267"/>
                      <a:gd name="T7" fmla="*/ 2147483647 h 1186"/>
                      <a:gd name="T8" fmla="*/ 2147483647 w 267"/>
                      <a:gd name="T9" fmla="*/ 2147483647 h 118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7"/>
                      <a:gd name="T16" fmla="*/ 0 h 1186"/>
                      <a:gd name="T17" fmla="*/ 267 w 267"/>
                      <a:gd name="T18" fmla="*/ 1186 h 118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7" h="1186">
                        <a:moveTo>
                          <a:pt x="254" y="466"/>
                        </a:moveTo>
                        <a:lnTo>
                          <a:pt x="0" y="0"/>
                        </a:lnTo>
                        <a:lnTo>
                          <a:pt x="0" y="1186"/>
                        </a:lnTo>
                        <a:lnTo>
                          <a:pt x="267" y="652"/>
                        </a:lnTo>
                        <a:lnTo>
                          <a:pt x="254" y="466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3333CC"/>
                      </a:gs>
                      <a:gs pos="100000">
                        <a:srgbClr val="FFFF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  <p:sp>
                <p:nvSpPr>
                  <p:cNvPr id="159" name="Rectangle 23">
                    <a:extLst>
                      <a:ext uri="{FF2B5EF4-FFF2-40B4-BE49-F238E27FC236}">
                        <a16:creationId xmlns:a16="http://schemas.microsoft.com/office/drawing/2014/main" id="{2767BA44-32AF-48FF-A638-62EB21738B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98616" y="4722494"/>
                    <a:ext cx="1045433" cy="1271290"/>
                  </a:xfrm>
                  <a:prstGeom prst="rect">
                    <a:avLst/>
                  </a:pr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  <p:sp>
                <p:nvSpPr>
                  <p:cNvPr id="160" name="Rectangle 24">
                    <a:extLst>
                      <a:ext uri="{FF2B5EF4-FFF2-40B4-BE49-F238E27FC236}">
                        <a16:creationId xmlns:a16="http://schemas.microsoft.com/office/drawing/2014/main" id="{7933E0E1-AF36-496D-AFC2-325B47AD69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41249" y="4752754"/>
                    <a:ext cx="1067215" cy="1231976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  <p:sp>
                <p:nvSpPr>
                  <p:cNvPr id="161" name="Line 25">
                    <a:extLst>
                      <a:ext uri="{FF2B5EF4-FFF2-40B4-BE49-F238E27FC236}">
                        <a16:creationId xmlns:a16="http://schemas.microsoft.com/office/drawing/2014/main" id="{27852C2C-70DD-4D5D-8BBE-14BD4D69B4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1249" y="5031313"/>
                    <a:ext cx="1059231" cy="288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  <p:sp>
                <p:nvSpPr>
                  <p:cNvPr id="162" name="Text Box 26">
                    <a:extLst>
                      <a:ext uri="{FF2B5EF4-FFF2-40B4-BE49-F238E27FC236}">
                        <a16:creationId xmlns:a16="http://schemas.microsoft.com/office/drawing/2014/main" id="{FD552EA0-9A1F-4F31-8155-25EB9E89AB2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05623" y="4747333"/>
                    <a:ext cx="1104329" cy="1274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application</a:t>
                    </a:r>
                  </a:p>
                  <a:p>
                    <a:pPr marL="0" marR="0" lvl="0" indent="0" algn="ctr" defTabSz="914400" eaLnBrk="0" fontAlgn="base" latinLnBrk="0" hangingPunct="0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3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TCP</a:t>
                    </a:r>
                  </a:p>
                  <a:p>
                    <a:pPr marL="0" marR="0" lvl="0" indent="0" algn="ctr" defTabSz="914400" eaLnBrk="0" fontAlgn="base" latinLnBrk="0" hangingPunct="0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network</a:t>
                    </a:r>
                  </a:p>
                  <a:p>
                    <a:pPr marL="0" marR="0" lvl="0" indent="0" algn="ctr" defTabSz="914400" eaLnBrk="0" fontAlgn="base" latinLnBrk="0" hangingPunct="0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link</a:t>
                    </a:r>
                  </a:p>
                  <a:p>
                    <a:pPr marL="0" marR="0" lvl="0" indent="0" algn="ctr" defTabSz="914400" eaLnBrk="0" fontAlgn="base" latinLnBrk="0" hangingPunct="0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physical</a:t>
                    </a:r>
                  </a:p>
                </p:txBody>
              </p:sp>
              <p:grpSp>
                <p:nvGrpSpPr>
                  <p:cNvPr id="163" name="Group 190">
                    <a:extLst>
                      <a:ext uri="{FF2B5EF4-FFF2-40B4-BE49-F238E27FC236}">
                        <a16:creationId xmlns:a16="http://schemas.microsoft.com/office/drawing/2014/main" id="{989C0354-5D89-4497-B3F8-46AF36D5985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2634682" y="5076164"/>
                    <a:ext cx="673330" cy="701684"/>
                    <a:chOff x="-44" y="1473"/>
                    <a:chExt cx="981" cy="1105"/>
                  </a:xfrm>
                </p:grpSpPr>
                <p:pic>
                  <p:nvPicPr>
                    <p:cNvPr id="167" name="Picture 191" descr="desktop_computer_stylized_medium">
                      <a:extLst>
                        <a:ext uri="{FF2B5EF4-FFF2-40B4-BE49-F238E27FC236}">
                          <a16:creationId xmlns:a16="http://schemas.microsoft.com/office/drawing/2014/main" id="{A68FDD91-C0D5-4F40-A5FB-6165719B10D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68" name="Freeform 192">
                      <a:extLst>
                        <a:ext uri="{FF2B5EF4-FFF2-40B4-BE49-F238E27FC236}">
                          <a16:creationId xmlns:a16="http://schemas.microsoft.com/office/drawing/2014/main" id="{52EA08F9-2C00-4B4A-A7FF-06A05704AD2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374" y="1579"/>
                      <a:ext cx="477" cy="506"/>
                    </a:xfrm>
                    <a:custGeom>
                      <a:avLst/>
                      <a:gdLst>
                        <a:gd name="T0" fmla="*/ 0 w 356"/>
                        <a:gd name="T1" fmla="*/ 0 h 368"/>
                        <a:gd name="T2" fmla="*/ 43382 w 356"/>
                        <a:gd name="T3" fmla="*/ 3172 h 368"/>
                        <a:gd name="T4" fmla="*/ 51464 w 356"/>
                        <a:gd name="T5" fmla="*/ 66095 h 368"/>
                        <a:gd name="T6" fmla="*/ 11342 w 356"/>
                        <a:gd name="T7" fmla="*/ 82660 h 368"/>
                        <a:gd name="T8" fmla="*/ 0 w 356"/>
                        <a:gd name="T9" fmla="*/ 0 h 368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356"/>
                        <a:gd name="T16" fmla="*/ 0 h 368"/>
                        <a:gd name="T17" fmla="*/ 356 w 356"/>
                        <a:gd name="T18" fmla="*/ 368 h 368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356" h="368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000099"/>
                        </a:gs>
                        <a:gs pos="100000">
                          <a:srgbClr val="FFFFFF"/>
                        </a:gs>
                      </a:gsLst>
                      <a:lin ang="27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ＭＳ Ｐゴシック" panose="020B0600070205080204" pitchFamily="34" charset="-128"/>
                      </a:endParaRPr>
                    </a:p>
                  </p:txBody>
                </p:sp>
              </p:grpSp>
              <p:sp>
                <p:nvSpPr>
                  <p:cNvPr id="164" name="Line 25">
                    <a:extLst>
                      <a:ext uri="{FF2B5EF4-FFF2-40B4-BE49-F238E27FC236}">
                        <a16:creationId xmlns:a16="http://schemas.microsoft.com/office/drawing/2014/main" id="{1BBC88E5-8864-457B-99B2-F57E8DE061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5720" y="5260213"/>
                    <a:ext cx="1059231" cy="288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  <p:sp>
                <p:nvSpPr>
                  <p:cNvPr id="165" name="Line 25">
                    <a:extLst>
                      <a:ext uri="{FF2B5EF4-FFF2-40B4-BE49-F238E27FC236}">
                        <a16:creationId xmlns:a16="http://schemas.microsoft.com/office/drawing/2014/main" id="{8ED70EBD-DF07-406A-99D0-8B440DF103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50191" y="5489113"/>
                    <a:ext cx="1059231" cy="288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  <p:sp>
                <p:nvSpPr>
                  <p:cNvPr id="166" name="Line 25">
                    <a:extLst>
                      <a:ext uri="{FF2B5EF4-FFF2-40B4-BE49-F238E27FC236}">
                        <a16:creationId xmlns:a16="http://schemas.microsoft.com/office/drawing/2014/main" id="{8C69F4C2-F26C-453C-BAE7-582004C854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54662" y="5728213"/>
                    <a:ext cx="1059231" cy="288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</p:grpSp>
          </p:grpSp>
          <p:sp>
            <p:nvSpPr>
              <p:cNvPr id="140" name="Freeform 6">
                <a:extLst>
                  <a:ext uri="{FF2B5EF4-FFF2-40B4-BE49-F238E27FC236}">
                    <a16:creationId xmlns:a16="http://schemas.microsoft.com/office/drawing/2014/main" id="{5995DF4D-3A4E-4F75-AAC6-FE6866B46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1324" y="4994579"/>
                <a:ext cx="542925" cy="295275"/>
              </a:xfrm>
              <a:custGeom>
                <a:avLst/>
                <a:gdLst>
                  <a:gd name="T0" fmla="*/ 0 w 342"/>
                  <a:gd name="T1" fmla="*/ 2147483647 h 186"/>
                  <a:gd name="T2" fmla="*/ 2147483647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1" name="Freeform 91">
                <a:extLst>
                  <a:ext uri="{FF2B5EF4-FFF2-40B4-BE49-F238E27FC236}">
                    <a16:creationId xmlns:a16="http://schemas.microsoft.com/office/drawing/2014/main" id="{1F33F6DC-EBFA-4F06-99B8-BD42F958D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2724" y="4988229"/>
                <a:ext cx="506413" cy="307975"/>
              </a:xfrm>
              <a:custGeom>
                <a:avLst/>
                <a:gdLst>
                  <a:gd name="T0" fmla="*/ 0 w 318"/>
                  <a:gd name="T1" fmla="*/ 0 h 194"/>
                  <a:gd name="T2" fmla="*/ 2147483647 w 318"/>
                  <a:gd name="T3" fmla="*/ 2147483647 h 194"/>
                  <a:gd name="T4" fmla="*/ 0 60000 65536"/>
                  <a:gd name="T5" fmla="*/ 0 60000 65536"/>
                  <a:gd name="T6" fmla="*/ 0 w 318"/>
                  <a:gd name="T7" fmla="*/ 0 h 194"/>
                  <a:gd name="T8" fmla="*/ 318 w 318"/>
                  <a:gd name="T9" fmla="*/ 194 h 1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18" h="194">
                    <a:moveTo>
                      <a:pt x="0" y="0"/>
                    </a:moveTo>
                    <a:lnTo>
                      <a:pt x="318" y="19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2" name="Freeform 92">
                <a:extLst>
                  <a:ext uri="{FF2B5EF4-FFF2-40B4-BE49-F238E27FC236}">
                    <a16:creationId xmlns:a16="http://schemas.microsoft.com/office/drawing/2014/main" id="{F0F0B515-AC4F-44E8-A502-68F30D280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7512" y="5380342"/>
                <a:ext cx="481012" cy="238125"/>
              </a:xfrm>
              <a:custGeom>
                <a:avLst/>
                <a:gdLst>
                  <a:gd name="T0" fmla="*/ 0 w 294"/>
                  <a:gd name="T1" fmla="*/ 0 h 174"/>
                  <a:gd name="T2" fmla="*/ 2147483647 w 294"/>
                  <a:gd name="T3" fmla="*/ 2147483647 h 174"/>
                  <a:gd name="T4" fmla="*/ 0 60000 65536"/>
                  <a:gd name="T5" fmla="*/ 0 60000 65536"/>
                  <a:gd name="T6" fmla="*/ 0 w 294"/>
                  <a:gd name="T7" fmla="*/ 0 h 174"/>
                  <a:gd name="T8" fmla="*/ 294 w 294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94" h="174">
                    <a:moveTo>
                      <a:pt x="0" y="0"/>
                    </a:moveTo>
                    <a:lnTo>
                      <a:pt x="294" y="17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3" name="Freeform 93">
                <a:extLst>
                  <a:ext uri="{FF2B5EF4-FFF2-40B4-BE49-F238E27FC236}">
                    <a16:creationId xmlns:a16="http://schemas.microsoft.com/office/drawing/2014/main" id="{0B9405DF-7E7D-4A8F-B549-AA05DE072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5249" y="5356529"/>
                <a:ext cx="630238" cy="247650"/>
              </a:xfrm>
              <a:custGeom>
                <a:avLst/>
                <a:gdLst>
                  <a:gd name="T0" fmla="*/ 0 w 378"/>
                  <a:gd name="T1" fmla="*/ 2147483647 h 174"/>
                  <a:gd name="T2" fmla="*/ 2147483647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4" name="Freeform 94">
                <a:extLst>
                  <a:ext uri="{FF2B5EF4-FFF2-40B4-BE49-F238E27FC236}">
                    <a16:creationId xmlns:a16="http://schemas.microsoft.com/office/drawing/2014/main" id="{A24AFE2E-1681-4AAE-B702-DB1C8CAB3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3587" y="5410504"/>
                <a:ext cx="206375" cy="508000"/>
              </a:xfrm>
              <a:custGeom>
                <a:avLst/>
                <a:gdLst>
                  <a:gd name="T0" fmla="*/ 0 w 118"/>
                  <a:gd name="T1" fmla="*/ 2147483647 h 500"/>
                  <a:gd name="T2" fmla="*/ 2147483647 w 118"/>
                  <a:gd name="T3" fmla="*/ 0 h 500"/>
                  <a:gd name="T4" fmla="*/ 0 60000 65536"/>
                  <a:gd name="T5" fmla="*/ 0 60000 65536"/>
                  <a:gd name="T6" fmla="*/ 0 w 118"/>
                  <a:gd name="T7" fmla="*/ 0 h 500"/>
                  <a:gd name="T8" fmla="*/ 118 w 118"/>
                  <a:gd name="T9" fmla="*/ 500 h 5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500">
                    <a:moveTo>
                      <a:pt x="0" y="500"/>
                    </a:moveTo>
                    <a:lnTo>
                      <a:pt x="118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5" name="Freeform 95">
                <a:extLst>
                  <a:ext uri="{FF2B5EF4-FFF2-40B4-BE49-F238E27FC236}">
                    <a16:creationId xmlns:a16="http://schemas.microsoft.com/office/drawing/2014/main" id="{0FD0FAF5-5186-4BB1-AC02-92D2D8351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6923" y="5943904"/>
                <a:ext cx="970395" cy="81756"/>
              </a:xfrm>
              <a:custGeom>
                <a:avLst/>
                <a:gdLst>
                  <a:gd name="T0" fmla="*/ 2147483647 w 370"/>
                  <a:gd name="T1" fmla="*/ 2147483647 h 32"/>
                  <a:gd name="T2" fmla="*/ 0 w 370"/>
                  <a:gd name="T3" fmla="*/ 0 h 32"/>
                  <a:gd name="T4" fmla="*/ 0 60000 65536"/>
                  <a:gd name="T5" fmla="*/ 0 60000 65536"/>
                  <a:gd name="T6" fmla="*/ 0 w 370"/>
                  <a:gd name="T7" fmla="*/ 0 h 32"/>
                  <a:gd name="T8" fmla="*/ 370 w 370"/>
                  <a:gd name="T9" fmla="*/ 32 h 3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0" h="32">
                    <a:moveTo>
                      <a:pt x="370" y="32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6" name="Freeform 96">
                <a:extLst>
                  <a:ext uri="{FF2B5EF4-FFF2-40B4-BE49-F238E27FC236}">
                    <a16:creationId xmlns:a16="http://schemas.microsoft.com/office/drawing/2014/main" id="{35FC5985-44AA-4DA8-B029-89FC791C2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349" y="5424888"/>
                <a:ext cx="193675" cy="404716"/>
              </a:xfrm>
              <a:custGeom>
                <a:avLst/>
                <a:gdLst>
                  <a:gd name="T0" fmla="*/ 2147483647 w 176"/>
                  <a:gd name="T1" fmla="*/ 2147483647 h 412"/>
                  <a:gd name="T2" fmla="*/ 2147483647 w 176"/>
                  <a:gd name="T3" fmla="*/ 2147483647 h 412"/>
                  <a:gd name="T4" fmla="*/ 0 w 176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76"/>
                  <a:gd name="T10" fmla="*/ 0 h 412"/>
                  <a:gd name="T11" fmla="*/ 176 w 176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6" h="412">
                    <a:moveTo>
                      <a:pt x="162" y="408"/>
                    </a:moveTo>
                    <a:lnTo>
                      <a:pt x="176" y="412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7" name="Freeform 7">
                <a:extLst>
                  <a:ext uri="{FF2B5EF4-FFF2-40B4-BE49-F238E27FC236}">
                    <a16:creationId xmlns:a16="http://schemas.microsoft.com/office/drawing/2014/main" id="{A7B325CC-438F-4483-A8C1-7284BC393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9610" y="4423977"/>
                <a:ext cx="5073926" cy="1298611"/>
              </a:xfrm>
              <a:custGeom>
                <a:avLst/>
                <a:gdLst>
                  <a:gd name="T0" fmla="*/ 0 w 5156094"/>
                  <a:gd name="T1" fmla="*/ 0 h 1509215"/>
                  <a:gd name="T2" fmla="*/ 6961 w 5156094"/>
                  <a:gd name="T3" fmla="*/ 1168047 h 1509215"/>
                  <a:gd name="T4" fmla="*/ 1131015 w 5156094"/>
                  <a:gd name="T5" fmla="*/ 1170389 h 1509215"/>
                  <a:gd name="T6" fmla="*/ 1755021 w 5156094"/>
                  <a:gd name="T7" fmla="*/ 1490285 h 1509215"/>
                  <a:gd name="T8" fmla="*/ 2207298 w 5156094"/>
                  <a:gd name="T9" fmla="*/ 1510706 h 1509215"/>
                  <a:gd name="T10" fmla="*/ 2988945 w 5156094"/>
                  <a:gd name="T11" fmla="*/ 1198737 h 1509215"/>
                  <a:gd name="T12" fmla="*/ 3391674 w 5156094"/>
                  <a:gd name="T13" fmla="*/ 1210330 h 1509215"/>
                  <a:gd name="T14" fmla="*/ 5156412 w 5156094"/>
                  <a:gd name="T15" fmla="*/ 1199641 h 1509215"/>
                  <a:gd name="T16" fmla="*/ 5126696 w 5156094"/>
                  <a:gd name="T17" fmla="*/ 64147 h 15092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connsiteX0" fmla="*/ 0 w 5156094"/>
                  <a:gd name="connsiteY0" fmla="*/ 0 h 1559667"/>
                  <a:gd name="connsiteX1" fmla="*/ 6961 w 5156094"/>
                  <a:gd name="connsiteY1" fmla="*/ 1166894 h 1559667"/>
                  <a:gd name="connsiteX2" fmla="*/ 1130946 w 5156094"/>
                  <a:gd name="connsiteY2" fmla="*/ 1169234 h 1559667"/>
                  <a:gd name="connsiteX3" fmla="*/ 1824854 w 5156094"/>
                  <a:gd name="connsiteY3" fmla="*/ 1559667 h 1559667"/>
                  <a:gd name="connsiteX4" fmla="*/ 2207163 w 5156094"/>
                  <a:gd name="connsiteY4" fmla="*/ 1509215 h 1559667"/>
                  <a:gd name="connsiteX5" fmla="*/ 2988762 w 5156094"/>
                  <a:gd name="connsiteY5" fmla="*/ 1197554 h 1559667"/>
                  <a:gd name="connsiteX6" fmla="*/ 3391464 w 5156094"/>
                  <a:gd name="connsiteY6" fmla="*/ 1209136 h 1559667"/>
                  <a:gd name="connsiteX7" fmla="*/ 5156094 w 5156094"/>
                  <a:gd name="connsiteY7" fmla="*/ 1198456 h 1559667"/>
                  <a:gd name="connsiteX8" fmla="*/ 5126381 w 5156094"/>
                  <a:gd name="connsiteY8" fmla="*/ 64084 h 1559667"/>
                  <a:gd name="connsiteX0" fmla="*/ 0 w 5156094"/>
                  <a:gd name="connsiteY0" fmla="*/ 0 h 1559667"/>
                  <a:gd name="connsiteX1" fmla="*/ 6961 w 5156094"/>
                  <a:gd name="connsiteY1" fmla="*/ 1166894 h 1559667"/>
                  <a:gd name="connsiteX2" fmla="*/ 1130946 w 5156094"/>
                  <a:gd name="connsiteY2" fmla="*/ 1169234 h 1559667"/>
                  <a:gd name="connsiteX3" fmla="*/ 1824854 w 5156094"/>
                  <a:gd name="connsiteY3" fmla="*/ 1559667 h 1559667"/>
                  <a:gd name="connsiteX4" fmla="*/ 2145216 w 5156094"/>
                  <a:gd name="connsiteY4" fmla="*/ 1553959 h 1559667"/>
                  <a:gd name="connsiteX5" fmla="*/ 2988762 w 5156094"/>
                  <a:gd name="connsiteY5" fmla="*/ 1197554 h 1559667"/>
                  <a:gd name="connsiteX6" fmla="*/ 3391464 w 5156094"/>
                  <a:gd name="connsiteY6" fmla="*/ 1209136 h 1559667"/>
                  <a:gd name="connsiteX7" fmla="*/ 5156094 w 5156094"/>
                  <a:gd name="connsiteY7" fmla="*/ 1198456 h 1559667"/>
                  <a:gd name="connsiteX8" fmla="*/ 5126381 w 5156094"/>
                  <a:gd name="connsiteY8" fmla="*/ 64084 h 1559667"/>
                  <a:gd name="connsiteX0" fmla="*/ 0 w 5156094"/>
                  <a:gd name="connsiteY0" fmla="*/ 0 h 1559667"/>
                  <a:gd name="connsiteX1" fmla="*/ 6961 w 5156094"/>
                  <a:gd name="connsiteY1" fmla="*/ 1166894 h 1559667"/>
                  <a:gd name="connsiteX2" fmla="*/ 1130946 w 5156094"/>
                  <a:gd name="connsiteY2" fmla="*/ 1169234 h 1559667"/>
                  <a:gd name="connsiteX3" fmla="*/ 1824854 w 5156094"/>
                  <a:gd name="connsiteY3" fmla="*/ 1559667 h 1559667"/>
                  <a:gd name="connsiteX4" fmla="*/ 2145216 w 5156094"/>
                  <a:gd name="connsiteY4" fmla="*/ 1553959 h 1559667"/>
                  <a:gd name="connsiteX5" fmla="*/ 2930257 w 5156094"/>
                  <a:gd name="connsiteY5" fmla="*/ 1152811 h 1559667"/>
                  <a:gd name="connsiteX6" fmla="*/ 3391464 w 5156094"/>
                  <a:gd name="connsiteY6" fmla="*/ 1209136 h 1559667"/>
                  <a:gd name="connsiteX7" fmla="*/ 5156094 w 5156094"/>
                  <a:gd name="connsiteY7" fmla="*/ 1198456 h 1559667"/>
                  <a:gd name="connsiteX8" fmla="*/ 5126381 w 5156094"/>
                  <a:gd name="connsiteY8" fmla="*/ 64084 h 1559667"/>
                  <a:gd name="connsiteX0" fmla="*/ 0 w 5156094"/>
                  <a:gd name="connsiteY0" fmla="*/ 0 h 1559667"/>
                  <a:gd name="connsiteX1" fmla="*/ 6961 w 5156094"/>
                  <a:gd name="connsiteY1" fmla="*/ 1166894 h 1559667"/>
                  <a:gd name="connsiteX2" fmla="*/ 1130946 w 5156094"/>
                  <a:gd name="connsiteY2" fmla="*/ 1169234 h 1559667"/>
                  <a:gd name="connsiteX3" fmla="*/ 1824854 w 5156094"/>
                  <a:gd name="connsiteY3" fmla="*/ 1559667 h 1559667"/>
                  <a:gd name="connsiteX4" fmla="*/ 2145216 w 5156094"/>
                  <a:gd name="connsiteY4" fmla="*/ 1553959 h 1559667"/>
                  <a:gd name="connsiteX5" fmla="*/ 2930257 w 5156094"/>
                  <a:gd name="connsiteY5" fmla="*/ 1152811 h 1559667"/>
                  <a:gd name="connsiteX6" fmla="*/ 5156094 w 5156094"/>
                  <a:gd name="connsiteY6" fmla="*/ 1198456 h 1559667"/>
                  <a:gd name="connsiteX7" fmla="*/ 5126381 w 5156094"/>
                  <a:gd name="connsiteY7" fmla="*/ 64084 h 1559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56094" h="1559667">
                    <a:moveTo>
                      <a:pt x="0" y="0"/>
                    </a:moveTo>
                    <a:cubicBezTo>
                      <a:pt x="2320" y="388965"/>
                      <a:pt x="4641" y="777929"/>
                      <a:pt x="6961" y="1166894"/>
                    </a:cubicBezTo>
                    <a:lnTo>
                      <a:pt x="1130946" y="1169234"/>
                    </a:lnTo>
                    <a:lnTo>
                      <a:pt x="1824854" y="1559667"/>
                    </a:lnTo>
                    <a:lnTo>
                      <a:pt x="2145216" y="1553959"/>
                    </a:lnTo>
                    <a:lnTo>
                      <a:pt x="2930257" y="1152811"/>
                    </a:lnTo>
                    <a:lnTo>
                      <a:pt x="5156094" y="1198456"/>
                    </a:lnTo>
                    <a:lnTo>
                      <a:pt x="5126381" y="64084"/>
                    </a:lnTo>
                  </a:path>
                </a:pathLst>
              </a:custGeom>
              <a:noFill/>
              <a:ln w="22225">
                <a:solidFill>
                  <a:srgbClr val="00009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40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48" name="Group 258">
                <a:extLst>
                  <a:ext uri="{FF2B5EF4-FFF2-40B4-BE49-F238E27FC236}">
                    <a16:creationId xmlns:a16="http://schemas.microsoft.com/office/drawing/2014/main" id="{180A6FBB-08FB-48B0-ACCA-F69B4386C9D2}"/>
                  </a:ext>
                </a:extLst>
              </p:cNvPr>
              <p:cNvGrpSpPr/>
              <p:nvPr/>
            </p:nvGrpSpPr>
            <p:grpSpPr>
              <a:xfrm>
                <a:off x="5868328" y="5862061"/>
                <a:ext cx="496248" cy="260542"/>
                <a:chOff x="7493876" y="2774731"/>
                <a:chExt cx="1481958" cy="894622"/>
              </a:xfrm>
            </p:grpSpPr>
            <p:sp>
              <p:nvSpPr>
                <p:cNvPr id="149" name="Freeform 259">
                  <a:extLst>
                    <a:ext uri="{FF2B5EF4-FFF2-40B4-BE49-F238E27FC236}">
                      <a16:creationId xmlns:a16="http://schemas.microsoft.com/office/drawing/2014/main" id="{10B71E92-3D3C-46E5-AF09-877A1E034C3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     </a:t>
                  </a:r>
                </a:p>
              </p:txBody>
            </p:sp>
            <p:sp>
              <p:nvSpPr>
                <p:cNvPr id="150" name="Oval 260">
                  <a:extLst>
                    <a:ext uri="{FF2B5EF4-FFF2-40B4-BE49-F238E27FC236}">
                      <a16:creationId xmlns:a16="http://schemas.microsoft.com/office/drawing/2014/main" id="{C3786EA8-E5AB-4E6C-BF3E-812BDCDA9198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              </a:t>
                  </a:r>
                </a:p>
              </p:txBody>
            </p:sp>
            <p:grpSp>
              <p:nvGrpSpPr>
                <p:cNvPr id="151" name="Group 261">
                  <a:extLst>
                    <a:ext uri="{FF2B5EF4-FFF2-40B4-BE49-F238E27FC236}">
                      <a16:creationId xmlns:a16="http://schemas.microsoft.com/office/drawing/2014/main" id="{EDE63B65-C6BD-4653-9B42-39343544A3D1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52" name="Freeform 262">
                    <a:extLst>
                      <a:ext uri="{FF2B5EF4-FFF2-40B4-BE49-F238E27FC236}">
                        <a16:creationId xmlns:a16="http://schemas.microsoft.com/office/drawing/2014/main" id="{652F881A-6B9C-436D-9CB2-36CCD2D5BC81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53" name="Freeform 263">
                    <a:extLst>
                      <a:ext uri="{FF2B5EF4-FFF2-40B4-BE49-F238E27FC236}">
                        <a16:creationId xmlns:a16="http://schemas.microsoft.com/office/drawing/2014/main" id="{C9F48B6D-CFA9-4BB2-8E45-DDCF3403217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54" name="Freeform 264">
                    <a:extLst>
                      <a:ext uri="{FF2B5EF4-FFF2-40B4-BE49-F238E27FC236}">
                        <a16:creationId xmlns:a16="http://schemas.microsoft.com/office/drawing/2014/main" id="{8D83389B-F6F5-4CC3-BF3F-B55BE98CDD71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55" name="Freeform 265">
                    <a:extLst>
                      <a:ext uri="{FF2B5EF4-FFF2-40B4-BE49-F238E27FC236}">
                        <a16:creationId xmlns:a16="http://schemas.microsoft.com/office/drawing/2014/main" id="{C18C2719-34EC-4143-959D-9C2B870C249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</p:grpSp>
        <p:grpSp>
          <p:nvGrpSpPr>
            <p:cNvPr id="90" name="Group 281">
              <a:extLst>
                <a:ext uri="{FF2B5EF4-FFF2-40B4-BE49-F238E27FC236}">
                  <a16:creationId xmlns:a16="http://schemas.microsoft.com/office/drawing/2014/main" id="{4F34073C-79B3-4543-AE08-99212AE81B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6593" y="5686055"/>
              <a:ext cx="1493838" cy="325003"/>
              <a:chOff x="1502428" y="5844331"/>
              <a:chExt cx="1493249" cy="324794"/>
            </a:xfrm>
          </p:grpSpPr>
          <p:grpSp>
            <p:nvGrpSpPr>
              <p:cNvPr id="115" name="Group 274">
                <a:extLst>
                  <a:ext uri="{FF2B5EF4-FFF2-40B4-BE49-F238E27FC236}">
                    <a16:creationId xmlns:a16="http://schemas.microsoft.com/office/drawing/2014/main" id="{6D5FF18F-42CC-48C5-A62F-B452210731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2428" y="5844331"/>
                <a:ext cx="1493249" cy="324794"/>
                <a:chOff x="3621632" y="5775938"/>
                <a:chExt cx="1493249" cy="324794"/>
              </a:xfrm>
            </p:grpSpPr>
            <p:grpSp>
              <p:nvGrpSpPr>
                <p:cNvPr id="117" name="Group 275">
                  <a:extLst>
                    <a:ext uri="{FF2B5EF4-FFF2-40B4-BE49-F238E27FC236}">
                      <a16:creationId xmlns:a16="http://schemas.microsoft.com/office/drawing/2014/main" id="{E354A541-B1F4-46D7-B0D6-34971227F4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99159" y="5783287"/>
                  <a:ext cx="806697" cy="257416"/>
                  <a:chOff x="-2975754" y="4128742"/>
                  <a:chExt cx="1258600" cy="450696"/>
                </a:xfrm>
              </p:grpSpPr>
              <p:sp>
                <p:nvSpPr>
                  <p:cNvPr id="119" name="Rectangle 286">
                    <a:extLst>
                      <a:ext uri="{FF2B5EF4-FFF2-40B4-BE49-F238E27FC236}">
                        <a16:creationId xmlns:a16="http://schemas.microsoft.com/office/drawing/2014/main" id="{048CF2C0-F90A-4B90-B762-0B322BED1951}"/>
                      </a:ext>
                    </a:extLst>
                  </p:cNvPr>
                  <p:cNvSpPr/>
                  <p:nvPr/>
                </p:nvSpPr>
                <p:spPr>
                  <a:xfrm>
                    <a:off x="-2903722" y="4135317"/>
                    <a:ext cx="1151258" cy="341655"/>
                  </a:xfrm>
                  <a:prstGeom prst="rect">
                    <a:avLst/>
                  </a:prstGeom>
                  <a:solidFill>
                    <a:srgbClr val="008000"/>
                  </a:solidFill>
                  <a:ln w="12700">
                    <a:solidFill>
                      <a:srgbClr val="00CC99">
                        <a:lumMod val="50000"/>
                      </a:srgbClr>
                    </a:solidFill>
                  </a:ln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20" name="Rectangle 287">
                    <a:extLst>
                      <a:ext uri="{FF2B5EF4-FFF2-40B4-BE49-F238E27FC236}">
                        <a16:creationId xmlns:a16="http://schemas.microsoft.com/office/drawing/2014/main" id="{87AEB691-40AB-4690-A357-09797914D85C}"/>
                      </a:ext>
                    </a:extLst>
                  </p:cNvPr>
                  <p:cNvSpPr/>
                  <p:nvPr/>
                </p:nvSpPr>
                <p:spPr>
                  <a:xfrm>
                    <a:off x="-2968093" y="4221426"/>
                    <a:ext cx="1148783" cy="344432"/>
                  </a:xfrm>
                  <a:prstGeom prst="rect">
                    <a:avLst/>
                  </a:prstGeom>
                  <a:solidFill>
                    <a:srgbClr val="008000"/>
                  </a:solidFill>
                  <a:ln w="12700">
                    <a:solidFill>
                      <a:srgbClr val="00CC99">
                        <a:lumMod val="50000"/>
                      </a:srgbClr>
                    </a:solidFill>
                  </a:ln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21" name="Freeform 288">
                    <a:extLst>
                      <a:ext uri="{FF2B5EF4-FFF2-40B4-BE49-F238E27FC236}">
                        <a16:creationId xmlns:a16="http://schemas.microsoft.com/office/drawing/2014/main" id="{74217F4D-2A44-445F-BBA4-B80A4502898D}"/>
                      </a:ext>
                    </a:extLst>
                  </p:cNvPr>
                  <p:cNvSpPr/>
                  <p:nvPr/>
                </p:nvSpPr>
                <p:spPr>
                  <a:xfrm>
                    <a:off x="-2975522" y="4129762"/>
                    <a:ext cx="1223057" cy="94441"/>
                  </a:xfrm>
                  <a:custGeom>
                    <a:avLst/>
                    <a:gdLst>
                      <a:gd name="connsiteX0" fmla="*/ 0 w 1223105"/>
                      <a:gd name="connsiteY0" fmla="*/ 89042 h 89042"/>
                      <a:gd name="connsiteX1" fmla="*/ 70293 w 1223105"/>
                      <a:gd name="connsiteY1" fmla="*/ 0 h 89042"/>
                      <a:gd name="connsiteX2" fmla="*/ 1223105 w 1223105"/>
                      <a:gd name="connsiteY2" fmla="*/ 4687 h 89042"/>
                      <a:gd name="connsiteX3" fmla="*/ 1148126 w 1223105"/>
                      <a:gd name="connsiteY3" fmla="*/ 84356 h 89042"/>
                      <a:gd name="connsiteX4" fmla="*/ 0 w 1223105"/>
                      <a:gd name="connsiteY4" fmla="*/ 89042 h 89042"/>
                      <a:gd name="connsiteX0" fmla="*/ 0 w 1223105"/>
                      <a:gd name="connsiteY0" fmla="*/ 89042 h 103102"/>
                      <a:gd name="connsiteX1" fmla="*/ 70293 w 1223105"/>
                      <a:gd name="connsiteY1" fmla="*/ 0 h 103102"/>
                      <a:gd name="connsiteX2" fmla="*/ 1223105 w 1223105"/>
                      <a:gd name="connsiteY2" fmla="*/ 4687 h 103102"/>
                      <a:gd name="connsiteX3" fmla="*/ 1148126 w 1223105"/>
                      <a:gd name="connsiteY3" fmla="*/ 103102 h 103102"/>
                      <a:gd name="connsiteX4" fmla="*/ 0 w 1223105"/>
                      <a:gd name="connsiteY4" fmla="*/ 89042 h 103102"/>
                      <a:gd name="connsiteX0" fmla="*/ 0 w 1223105"/>
                      <a:gd name="connsiteY0" fmla="*/ 89042 h 93730"/>
                      <a:gd name="connsiteX1" fmla="*/ 70293 w 1223105"/>
                      <a:gd name="connsiteY1" fmla="*/ 0 h 93730"/>
                      <a:gd name="connsiteX2" fmla="*/ 1223105 w 1223105"/>
                      <a:gd name="connsiteY2" fmla="*/ 4687 h 93730"/>
                      <a:gd name="connsiteX3" fmla="*/ 1143439 w 1223105"/>
                      <a:gd name="connsiteY3" fmla="*/ 93730 h 93730"/>
                      <a:gd name="connsiteX4" fmla="*/ 0 w 1223105"/>
                      <a:gd name="connsiteY4" fmla="*/ 89042 h 93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23105" h="93730">
                        <a:moveTo>
                          <a:pt x="0" y="89042"/>
                        </a:moveTo>
                        <a:lnTo>
                          <a:pt x="70293" y="0"/>
                        </a:lnTo>
                        <a:lnTo>
                          <a:pt x="1223105" y="4687"/>
                        </a:lnTo>
                        <a:lnTo>
                          <a:pt x="1143439" y="93730"/>
                        </a:lnTo>
                        <a:lnTo>
                          <a:pt x="0" y="89042"/>
                        </a:lnTo>
                        <a:close/>
                      </a:path>
                    </a:pathLst>
                  </a:custGeom>
                  <a:solidFill>
                    <a:srgbClr val="AAE2CA">
                      <a:lumMod val="50000"/>
                    </a:srgbClr>
                  </a:solidFill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22" name="Freeform 289">
                    <a:extLst>
                      <a:ext uri="{FF2B5EF4-FFF2-40B4-BE49-F238E27FC236}">
                        <a16:creationId xmlns:a16="http://schemas.microsoft.com/office/drawing/2014/main" id="{DEB4AD04-3CB9-470A-992F-FCD3FB3BD1F9}"/>
                      </a:ext>
                    </a:extLst>
                  </p:cNvPr>
                  <p:cNvSpPr/>
                  <p:nvPr/>
                </p:nvSpPr>
                <p:spPr>
                  <a:xfrm rot="21211447" flipV="1">
                    <a:off x="-1853972" y="4146428"/>
                    <a:ext cx="136170" cy="433318"/>
                  </a:xfrm>
                  <a:custGeom>
                    <a:avLst/>
                    <a:gdLst>
                      <a:gd name="connsiteX0" fmla="*/ 0 w 1223105"/>
                      <a:gd name="connsiteY0" fmla="*/ 89042 h 89042"/>
                      <a:gd name="connsiteX1" fmla="*/ 70293 w 1223105"/>
                      <a:gd name="connsiteY1" fmla="*/ 0 h 89042"/>
                      <a:gd name="connsiteX2" fmla="*/ 1223105 w 1223105"/>
                      <a:gd name="connsiteY2" fmla="*/ 4687 h 89042"/>
                      <a:gd name="connsiteX3" fmla="*/ 1148126 w 1223105"/>
                      <a:gd name="connsiteY3" fmla="*/ 84356 h 89042"/>
                      <a:gd name="connsiteX4" fmla="*/ 0 w 1223105"/>
                      <a:gd name="connsiteY4" fmla="*/ 89042 h 89042"/>
                      <a:gd name="connsiteX0" fmla="*/ 0 w 1223105"/>
                      <a:gd name="connsiteY0" fmla="*/ 89042 h 103102"/>
                      <a:gd name="connsiteX1" fmla="*/ 70293 w 1223105"/>
                      <a:gd name="connsiteY1" fmla="*/ 0 h 103102"/>
                      <a:gd name="connsiteX2" fmla="*/ 1223105 w 1223105"/>
                      <a:gd name="connsiteY2" fmla="*/ 4687 h 103102"/>
                      <a:gd name="connsiteX3" fmla="*/ 1148126 w 1223105"/>
                      <a:gd name="connsiteY3" fmla="*/ 103102 h 103102"/>
                      <a:gd name="connsiteX4" fmla="*/ 0 w 1223105"/>
                      <a:gd name="connsiteY4" fmla="*/ 89042 h 103102"/>
                      <a:gd name="connsiteX0" fmla="*/ 0 w 1223105"/>
                      <a:gd name="connsiteY0" fmla="*/ 89042 h 93730"/>
                      <a:gd name="connsiteX1" fmla="*/ 70293 w 1223105"/>
                      <a:gd name="connsiteY1" fmla="*/ 0 h 93730"/>
                      <a:gd name="connsiteX2" fmla="*/ 1223105 w 1223105"/>
                      <a:gd name="connsiteY2" fmla="*/ 4687 h 93730"/>
                      <a:gd name="connsiteX3" fmla="*/ 1143439 w 1223105"/>
                      <a:gd name="connsiteY3" fmla="*/ 93730 h 93730"/>
                      <a:gd name="connsiteX4" fmla="*/ 0 w 1223105"/>
                      <a:gd name="connsiteY4" fmla="*/ 89042 h 93730"/>
                      <a:gd name="connsiteX0" fmla="*/ 0 w 1143439"/>
                      <a:gd name="connsiteY0" fmla="*/ 604462 h 609150"/>
                      <a:gd name="connsiteX1" fmla="*/ 70293 w 1143439"/>
                      <a:gd name="connsiteY1" fmla="*/ 515420 h 609150"/>
                      <a:gd name="connsiteX2" fmla="*/ 1048102 w 1143439"/>
                      <a:gd name="connsiteY2" fmla="*/ 0 h 609150"/>
                      <a:gd name="connsiteX3" fmla="*/ 1143439 w 1143439"/>
                      <a:gd name="connsiteY3" fmla="*/ 609150 h 609150"/>
                      <a:gd name="connsiteX4" fmla="*/ 0 w 1143439"/>
                      <a:gd name="connsiteY4" fmla="*/ 604462 h 609150"/>
                      <a:gd name="connsiteX0" fmla="*/ 0 w 1143439"/>
                      <a:gd name="connsiteY0" fmla="*/ 750108 h 754796"/>
                      <a:gd name="connsiteX1" fmla="*/ 958091 w 1143439"/>
                      <a:gd name="connsiteY1" fmla="*/ 0 h 754796"/>
                      <a:gd name="connsiteX2" fmla="*/ 1048102 w 1143439"/>
                      <a:gd name="connsiteY2" fmla="*/ 145646 h 754796"/>
                      <a:gd name="connsiteX3" fmla="*/ 1143439 w 1143439"/>
                      <a:gd name="connsiteY3" fmla="*/ 754796 h 754796"/>
                      <a:gd name="connsiteX4" fmla="*/ 0 w 1143439"/>
                      <a:gd name="connsiteY4" fmla="*/ 750108 h 754796"/>
                      <a:gd name="connsiteX0" fmla="*/ 28193 w 185348"/>
                      <a:gd name="connsiteY0" fmla="*/ 675301 h 754796"/>
                      <a:gd name="connsiteX1" fmla="*/ 0 w 185348"/>
                      <a:gd name="connsiteY1" fmla="*/ 0 h 754796"/>
                      <a:gd name="connsiteX2" fmla="*/ 90011 w 185348"/>
                      <a:gd name="connsiteY2" fmla="*/ 145646 h 754796"/>
                      <a:gd name="connsiteX3" fmla="*/ 185348 w 185348"/>
                      <a:gd name="connsiteY3" fmla="*/ 754796 h 754796"/>
                      <a:gd name="connsiteX4" fmla="*/ 28193 w 185348"/>
                      <a:gd name="connsiteY4" fmla="*/ 675301 h 754796"/>
                      <a:gd name="connsiteX0" fmla="*/ 28193 w 133700"/>
                      <a:gd name="connsiteY0" fmla="*/ 675301 h 844174"/>
                      <a:gd name="connsiteX1" fmla="*/ 0 w 133700"/>
                      <a:gd name="connsiteY1" fmla="*/ 0 h 844174"/>
                      <a:gd name="connsiteX2" fmla="*/ 90011 w 133700"/>
                      <a:gd name="connsiteY2" fmla="*/ 145646 h 844174"/>
                      <a:gd name="connsiteX3" fmla="*/ 133700 w 133700"/>
                      <a:gd name="connsiteY3" fmla="*/ 844173 h 844174"/>
                      <a:gd name="connsiteX4" fmla="*/ 28193 w 133700"/>
                      <a:gd name="connsiteY4" fmla="*/ 675301 h 844174"/>
                      <a:gd name="connsiteX0" fmla="*/ 33377 w 133700"/>
                      <a:gd name="connsiteY0" fmla="*/ 683762 h 844174"/>
                      <a:gd name="connsiteX1" fmla="*/ 0 w 133700"/>
                      <a:gd name="connsiteY1" fmla="*/ 0 h 844174"/>
                      <a:gd name="connsiteX2" fmla="*/ 90011 w 133700"/>
                      <a:gd name="connsiteY2" fmla="*/ 145646 h 844174"/>
                      <a:gd name="connsiteX3" fmla="*/ 133700 w 133700"/>
                      <a:gd name="connsiteY3" fmla="*/ 844173 h 844174"/>
                      <a:gd name="connsiteX4" fmla="*/ 33377 w 133700"/>
                      <a:gd name="connsiteY4" fmla="*/ 683762 h 844174"/>
                      <a:gd name="connsiteX0" fmla="*/ 87868 w 188191"/>
                      <a:gd name="connsiteY0" fmla="*/ 816127 h 976539"/>
                      <a:gd name="connsiteX1" fmla="*/ 0 w 188191"/>
                      <a:gd name="connsiteY1" fmla="*/ 0 h 976539"/>
                      <a:gd name="connsiteX2" fmla="*/ 144502 w 188191"/>
                      <a:gd name="connsiteY2" fmla="*/ 278011 h 976539"/>
                      <a:gd name="connsiteX3" fmla="*/ 188191 w 188191"/>
                      <a:gd name="connsiteY3" fmla="*/ 976538 h 976539"/>
                      <a:gd name="connsiteX4" fmla="*/ 87868 w 188191"/>
                      <a:gd name="connsiteY4" fmla="*/ 816127 h 976539"/>
                      <a:gd name="connsiteX0" fmla="*/ 32848 w 133171"/>
                      <a:gd name="connsiteY0" fmla="*/ 674219 h 834631"/>
                      <a:gd name="connsiteX1" fmla="*/ 0 w 133171"/>
                      <a:gd name="connsiteY1" fmla="*/ 1 h 834631"/>
                      <a:gd name="connsiteX2" fmla="*/ 89482 w 133171"/>
                      <a:gd name="connsiteY2" fmla="*/ 136103 h 834631"/>
                      <a:gd name="connsiteX3" fmla="*/ 133171 w 133171"/>
                      <a:gd name="connsiteY3" fmla="*/ 834630 h 834631"/>
                      <a:gd name="connsiteX4" fmla="*/ 32848 w 133171"/>
                      <a:gd name="connsiteY4" fmla="*/ 674219 h 834631"/>
                      <a:gd name="connsiteX0" fmla="*/ 32848 w 133171"/>
                      <a:gd name="connsiteY0" fmla="*/ 674219 h 834631"/>
                      <a:gd name="connsiteX1" fmla="*/ 0 w 133171"/>
                      <a:gd name="connsiteY1" fmla="*/ 1 h 834631"/>
                      <a:gd name="connsiteX2" fmla="*/ 97738 w 133171"/>
                      <a:gd name="connsiteY2" fmla="*/ 114843 h 834631"/>
                      <a:gd name="connsiteX3" fmla="*/ 133171 w 133171"/>
                      <a:gd name="connsiteY3" fmla="*/ 834630 h 834631"/>
                      <a:gd name="connsiteX4" fmla="*/ 32848 w 133171"/>
                      <a:gd name="connsiteY4" fmla="*/ 674219 h 834631"/>
                      <a:gd name="connsiteX0" fmla="*/ 36019 w 136342"/>
                      <a:gd name="connsiteY0" fmla="*/ 731496 h 891908"/>
                      <a:gd name="connsiteX1" fmla="*/ 0 w 136342"/>
                      <a:gd name="connsiteY1" fmla="*/ 1 h 891908"/>
                      <a:gd name="connsiteX2" fmla="*/ 100909 w 136342"/>
                      <a:gd name="connsiteY2" fmla="*/ 172120 h 891908"/>
                      <a:gd name="connsiteX3" fmla="*/ 136342 w 136342"/>
                      <a:gd name="connsiteY3" fmla="*/ 891907 h 891908"/>
                      <a:gd name="connsiteX4" fmla="*/ 36019 w 136342"/>
                      <a:gd name="connsiteY4" fmla="*/ 731496 h 8919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342" h="891908">
                        <a:moveTo>
                          <a:pt x="36019" y="731496"/>
                        </a:moveTo>
                        <a:lnTo>
                          <a:pt x="0" y="1"/>
                        </a:lnTo>
                        <a:lnTo>
                          <a:pt x="100909" y="172120"/>
                        </a:lnTo>
                        <a:lnTo>
                          <a:pt x="136342" y="891907"/>
                        </a:lnTo>
                        <a:lnTo>
                          <a:pt x="36019" y="731496"/>
                        </a:lnTo>
                        <a:close/>
                      </a:path>
                    </a:pathLst>
                  </a:custGeom>
                  <a:solidFill>
                    <a:srgbClr val="AAE2CA">
                      <a:lumMod val="50000"/>
                    </a:srgbClr>
                  </a:solidFill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</p:grpSp>
            <p:sp>
              <p:nvSpPr>
                <p:cNvPr id="118" name="TextBox 276">
                  <a:extLst>
                    <a:ext uri="{FF2B5EF4-FFF2-40B4-BE49-F238E27FC236}">
                      <a16:creationId xmlns:a16="http://schemas.microsoft.com/office/drawing/2014/main" id="{7518118B-344F-44AB-B78E-96513B6BE4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21632" y="5775938"/>
                  <a:ext cx="1493249" cy="3247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rPr>
                    <a:t>ECN=00</a:t>
                  </a:r>
                </a:p>
              </p:txBody>
            </p:sp>
          </p:grpSp>
          <p:cxnSp>
            <p:nvCxnSpPr>
              <p:cNvPr id="116" name="Straight Arrow Connector 15">
                <a:extLst>
                  <a:ext uri="{FF2B5EF4-FFF2-40B4-BE49-F238E27FC236}">
                    <a16:creationId xmlns:a16="http://schemas.microsoft.com/office/drawing/2014/main" id="{D19994BF-10FD-456E-9F28-F1C9A70AFF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150568" y="6133267"/>
                <a:ext cx="612066" cy="1"/>
              </a:xfrm>
              <a:prstGeom prst="straightConnector1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91" name="Group 290">
              <a:extLst>
                <a:ext uri="{FF2B5EF4-FFF2-40B4-BE49-F238E27FC236}">
                  <a16:creationId xmlns:a16="http://schemas.microsoft.com/office/drawing/2014/main" id="{AF227244-F7B3-4B78-B74F-FA3AF5A4A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5906" y="5617791"/>
              <a:ext cx="1493837" cy="358775"/>
              <a:chOff x="3621632" y="5775938"/>
              <a:chExt cx="1493249" cy="357723"/>
            </a:xfrm>
          </p:grpSpPr>
          <p:grpSp>
            <p:nvGrpSpPr>
              <p:cNvPr id="107" name="Group 13">
                <a:extLst>
                  <a:ext uri="{FF2B5EF4-FFF2-40B4-BE49-F238E27FC236}">
                    <a16:creationId xmlns:a16="http://schemas.microsoft.com/office/drawing/2014/main" id="{393F7F26-43B7-4BB4-9D84-A4F0810C81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21632" y="5775938"/>
                <a:ext cx="1493249" cy="324050"/>
                <a:chOff x="3621632" y="5775938"/>
                <a:chExt cx="1493249" cy="324050"/>
              </a:xfrm>
            </p:grpSpPr>
            <p:grpSp>
              <p:nvGrpSpPr>
                <p:cNvPr id="109" name="Group 11">
                  <a:extLst>
                    <a:ext uri="{FF2B5EF4-FFF2-40B4-BE49-F238E27FC236}">
                      <a16:creationId xmlns:a16="http://schemas.microsoft.com/office/drawing/2014/main" id="{40AE2C15-2F51-4B96-948F-88658170C9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99159" y="5783287"/>
                  <a:ext cx="806697" cy="257416"/>
                  <a:chOff x="-2975754" y="4128742"/>
                  <a:chExt cx="1258600" cy="450696"/>
                </a:xfrm>
              </p:grpSpPr>
              <p:sp>
                <p:nvSpPr>
                  <p:cNvPr id="111" name="Rectangle 295">
                    <a:extLst>
                      <a:ext uri="{FF2B5EF4-FFF2-40B4-BE49-F238E27FC236}">
                        <a16:creationId xmlns:a16="http://schemas.microsoft.com/office/drawing/2014/main" id="{69B3413C-06AD-4CED-84D3-36BEFF05987D}"/>
                      </a:ext>
                    </a:extLst>
                  </p:cNvPr>
                  <p:cNvSpPr/>
                  <p:nvPr/>
                </p:nvSpPr>
                <p:spPr>
                  <a:xfrm>
                    <a:off x="-2903723" y="4135274"/>
                    <a:ext cx="1151259" cy="340871"/>
                  </a:xfrm>
                  <a:prstGeom prst="rect">
                    <a:avLst/>
                  </a:prstGeom>
                  <a:solidFill>
                    <a:srgbClr val="008000"/>
                  </a:solidFill>
                  <a:ln w="12700">
                    <a:solidFill>
                      <a:srgbClr val="00CC99">
                        <a:lumMod val="50000"/>
                      </a:srgbClr>
                    </a:solidFill>
                  </a:ln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12" name="Rectangle 296">
                    <a:extLst>
                      <a:ext uri="{FF2B5EF4-FFF2-40B4-BE49-F238E27FC236}">
                        <a16:creationId xmlns:a16="http://schemas.microsoft.com/office/drawing/2014/main" id="{D03C5988-3DF1-473E-92CA-EFA27907E53F}"/>
                      </a:ext>
                    </a:extLst>
                  </p:cNvPr>
                  <p:cNvSpPr/>
                  <p:nvPr/>
                </p:nvSpPr>
                <p:spPr>
                  <a:xfrm>
                    <a:off x="-2968095" y="4221184"/>
                    <a:ext cx="1148783" cy="343644"/>
                  </a:xfrm>
                  <a:prstGeom prst="rect">
                    <a:avLst/>
                  </a:prstGeom>
                  <a:solidFill>
                    <a:srgbClr val="008000"/>
                  </a:solidFill>
                  <a:ln w="12700">
                    <a:solidFill>
                      <a:srgbClr val="00CC99">
                        <a:lumMod val="50000"/>
                      </a:srgbClr>
                    </a:solidFill>
                  </a:ln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13" name="Freeform 297">
                    <a:extLst>
                      <a:ext uri="{FF2B5EF4-FFF2-40B4-BE49-F238E27FC236}">
                        <a16:creationId xmlns:a16="http://schemas.microsoft.com/office/drawing/2014/main" id="{A3CBC118-45A2-4372-9A9F-EF8ED1BC4604}"/>
                      </a:ext>
                    </a:extLst>
                  </p:cNvPr>
                  <p:cNvSpPr/>
                  <p:nvPr/>
                </p:nvSpPr>
                <p:spPr>
                  <a:xfrm>
                    <a:off x="-2975522" y="4129732"/>
                    <a:ext cx="1223057" cy="94225"/>
                  </a:xfrm>
                  <a:custGeom>
                    <a:avLst/>
                    <a:gdLst>
                      <a:gd name="connsiteX0" fmla="*/ 0 w 1223105"/>
                      <a:gd name="connsiteY0" fmla="*/ 89042 h 89042"/>
                      <a:gd name="connsiteX1" fmla="*/ 70293 w 1223105"/>
                      <a:gd name="connsiteY1" fmla="*/ 0 h 89042"/>
                      <a:gd name="connsiteX2" fmla="*/ 1223105 w 1223105"/>
                      <a:gd name="connsiteY2" fmla="*/ 4687 h 89042"/>
                      <a:gd name="connsiteX3" fmla="*/ 1148126 w 1223105"/>
                      <a:gd name="connsiteY3" fmla="*/ 84356 h 89042"/>
                      <a:gd name="connsiteX4" fmla="*/ 0 w 1223105"/>
                      <a:gd name="connsiteY4" fmla="*/ 89042 h 89042"/>
                      <a:gd name="connsiteX0" fmla="*/ 0 w 1223105"/>
                      <a:gd name="connsiteY0" fmla="*/ 89042 h 103102"/>
                      <a:gd name="connsiteX1" fmla="*/ 70293 w 1223105"/>
                      <a:gd name="connsiteY1" fmla="*/ 0 h 103102"/>
                      <a:gd name="connsiteX2" fmla="*/ 1223105 w 1223105"/>
                      <a:gd name="connsiteY2" fmla="*/ 4687 h 103102"/>
                      <a:gd name="connsiteX3" fmla="*/ 1148126 w 1223105"/>
                      <a:gd name="connsiteY3" fmla="*/ 103102 h 103102"/>
                      <a:gd name="connsiteX4" fmla="*/ 0 w 1223105"/>
                      <a:gd name="connsiteY4" fmla="*/ 89042 h 103102"/>
                      <a:gd name="connsiteX0" fmla="*/ 0 w 1223105"/>
                      <a:gd name="connsiteY0" fmla="*/ 89042 h 93730"/>
                      <a:gd name="connsiteX1" fmla="*/ 70293 w 1223105"/>
                      <a:gd name="connsiteY1" fmla="*/ 0 h 93730"/>
                      <a:gd name="connsiteX2" fmla="*/ 1223105 w 1223105"/>
                      <a:gd name="connsiteY2" fmla="*/ 4687 h 93730"/>
                      <a:gd name="connsiteX3" fmla="*/ 1143439 w 1223105"/>
                      <a:gd name="connsiteY3" fmla="*/ 93730 h 93730"/>
                      <a:gd name="connsiteX4" fmla="*/ 0 w 1223105"/>
                      <a:gd name="connsiteY4" fmla="*/ 89042 h 93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23105" h="93730">
                        <a:moveTo>
                          <a:pt x="0" y="89042"/>
                        </a:moveTo>
                        <a:lnTo>
                          <a:pt x="70293" y="0"/>
                        </a:lnTo>
                        <a:lnTo>
                          <a:pt x="1223105" y="4687"/>
                        </a:lnTo>
                        <a:lnTo>
                          <a:pt x="1143439" y="93730"/>
                        </a:lnTo>
                        <a:lnTo>
                          <a:pt x="0" y="89042"/>
                        </a:lnTo>
                        <a:close/>
                      </a:path>
                    </a:pathLst>
                  </a:custGeom>
                  <a:solidFill>
                    <a:srgbClr val="AAE2CA">
                      <a:lumMod val="50000"/>
                    </a:srgbClr>
                  </a:solidFill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  <p:sp>
                <p:nvSpPr>
                  <p:cNvPr id="114" name="Freeform 298">
                    <a:extLst>
                      <a:ext uri="{FF2B5EF4-FFF2-40B4-BE49-F238E27FC236}">
                        <a16:creationId xmlns:a16="http://schemas.microsoft.com/office/drawing/2014/main" id="{43566CB9-2D5B-4B76-9E07-3CD382C6560E}"/>
                      </a:ext>
                    </a:extLst>
                  </p:cNvPr>
                  <p:cNvSpPr/>
                  <p:nvPr/>
                </p:nvSpPr>
                <p:spPr>
                  <a:xfrm rot="21211447" flipV="1">
                    <a:off x="-1853974" y="4146360"/>
                    <a:ext cx="136171" cy="432326"/>
                  </a:xfrm>
                  <a:custGeom>
                    <a:avLst/>
                    <a:gdLst>
                      <a:gd name="connsiteX0" fmla="*/ 0 w 1223105"/>
                      <a:gd name="connsiteY0" fmla="*/ 89042 h 89042"/>
                      <a:gd name="connsiteX1" fmla="*/ 70293 w 1223105"/>
                      <a:gd name="connsiteY1" fmla="*/ 0 h 89042"/>
                      <a:gd name="connsiteX2" fmla="*/ 1223105 w 1223105"/>
                      <a:gd name="connsiteY2" fmla="*/ 4687 h 89042"/>
                      <a:gd name="connsiteX3" fmla="*/ 1148126 w 1223105"/>
                      <a:gd name="connsiteY3" fmla="*/ 84356 h 89042"/>
                      <a:gd name="connsiteX4" fmla="*/ 0 w 1223105"/>
                      <a:gd name="connsiteY4" fmla="*/ 89042 h 89042"/>
                      <a:gd name="connsiteX0" fmla="*/ 0 w 1223105"/>
                      <a:gd name="connsiteY0" fmla="*/ 89042 h 103102"/>
                      <a:gd name="connsiteX1" fmla="*/ 70293 w 1223105"/>
                      <a:gd name="connsiteY1" fmla="*/ 0 h 103102"/>
                      <a:gd name="connsiteX2" fmla="*/ 1223105 w 1223105"/>
                      <a:gd name="connsiteY2" fmla="*/ 4687 h 103102"/>
                      <a:gd name="connsiteX3" fmla="*/ 1148126 w 1223105"/>
                      <a:gd name="connsiteY3" fmla="*/ 103102 h 103102"/>
                      <a:gd name="connsiteX4" fmla="*/ 0 w 1223105"/>
                      <a:gd name="connsiteY4" fmla="*/ 89042 h 103102"/>
                      <a:gd name="connsiteX0" fmla="*/ 0 w 1223105"/>
                      <a:gd name="connsiteY0" fmla="*/ 89042 h 93730"/>
                      <a:gd name="connsiteX1" fmla="*/ 70293 w 1223105"/>
                      <a:gd name="connsiteY1" fmla="*/ 0 h 93730"/>
                      <a:gd name="connsiteX2" fmla="*/ 1223105 w 1223105"/>
                      <a:gd name="connsiteY2" fmla="*/ 4687 h 93730"/>
                      <a:gd name="connsiteX3" fmla="*/ 1143439 w 1223105"/>
                      <a:gd name="connsiteY3" fmla="*/ 93730 h 93730"/>
                      <a:gd name="connsiteX4" fmla="*/ 0 w 1223105"/>
                      <a:gd name="connsiteY4" fmla="*/ 89042 h 93730"/>
                      <a:gd name="connsiteX0" fmla="*/ 0 w 1143439"/>
                      <a:gd name="connsiteY0" fmla="*/ 604462 h 609150"/>
                      <a:gd name="connsiteX1" fmla="*/ 70293 w 1143439"/>
                      <a:gd name="connsiteY1" fmla="*/ 515420 h 609150"/>
                      <a:gd name="connsiteX2" fmla="*/ 1048102 w 1143439"/>
                      <a:gd name="connsiteY2" fmla="*/ 0 h 609150"/>
                      <a:gd name="connsiteX3" fmla="*/ 1143439 w 1143439"/>
                      <a:gd name="connsiteY3" fmla="*/ 609150 h 609150"/>
                      <a:gd name="connsiteX4" fmla="*/ 0 w 1143439"/>
                      <a:gd name="connsiteY4" fmla="*/ 604462 h 609150"/>
                      <a:gd name="connsiteX0" fmla="*/ 0 w 1143439"/>
                      <a:gd name="connsiteY0" fmla="*/ 750108 h 754796"/>
                      <a:gd name="connsiteX1" fmla="*/ 958091 w 1143439"/>
                      <a:gd name="connsiteY1" fmla="*/ 0 h 754796"/>
                      <a:gd name="connsiteX2" fmla="*/ 1048102 w 1143439"/>
                      <a:gd name="connsiteY2" fmla="*/ 145646 h 754796"/>
                      <a:gd name="connsiteX3" fmla="*/ 1143439 w 1143439"/>
                      <a:gd name="connsiteY3" fmla="*/ 754796 h 754796"/>
                      <a:gd name="connsiteX4" fmla="*/ 0 w 1143439"/>
                      <a:gd name="connsiteY4" fmla="*/ 750108 h 754796"/>
                      <a:gd name="connsiteX0" fmla="*/ 28193 w 185348"/>
                      <a:gd name="connsiteY0" fmla="*/ 675301 h 754796"/>
                      <a:gd name="connsiteX1" fmla="*/ 0 w 185348"/>
                      <a:gd name="connsiteY1" fmla="*/ 0 h 754796"/>
                      <a:gd name="connsiteX2" fmla="*/ 90011 w 185348"/>
                      <a:gd name="connsiteY2" fmla="*/ 145646 h 754796"/>
                      <a:gd name="connsiteX3" fmla="*/ 185348 w 185348"/>
                      <a:gd name="connsiteY3" fmla="*/ 754796 h 754796"/>
                      <a:gd name="connsiteX4" fmla="*/ 28193 w 185348"/>
                      <a:gd name="connsiteY4" fmla="*/ 675301 h 754796"/>
                      <a:gd name="connsiteX0" fmla="*/ 28193 w 133700"/>
                      <a:gd name="connsiteY0" fmla="*/ 675301 h 844174"/>
                      <a:gd name="connsiteX1" fmla="*/ 0 w 133700"/>
                      <a:gd name="connsiteY1" fmla="*/ 0 h 844174"/>
                      <a:gd name="connsiteX2" fmla="*/ 90011 w 133700"/>
                      <a:gd name="connsiteY2" fmla="*/ 145646 h 844174"/>
                      <a:gd name="connsiteX3" fmla="*/ 133700 w 133700"/>
                      <a:gd name="connsiteY3" fmla="*/ 844173 h 844174"/>
                      <a:gd name="connsiteX4" fmla="*/ 28193 w 133700"/>
                      <a:gd name="connsiteY4" fmla="*/ 675301 h 844174"/>
                      <a:gd name="connsiteX0" fmla="*/ 33377 w 133700"/>
                      <a:gd name="connsiteY0" fmla="*/ 683762 h 844174"/>
                      <a:gd name="connsiteX1" fmla="*/ 0 w 133700"/>
                      <a:gd name="connsiteY1" fmla="*/ 0 h 844174"/>
                      <a:gd name="connsiteX2" fmla="*/ 90011 w 133700"/>
                      <a:gd name="connsiteY2" fmla="*/ 145646 h 844174"/>
                      <a:gd name="connsiteX3" fmla="*/ 133700 w 133700"/>
                      <a:gd name="connsiteY3" fmla="*/ 844173 h 844174"/>
                      <a:gd name="connsiteX4" fmla="*/ 33377 w 133700"/>
                      <a:gd name="connsiteY4" fmla="*/ 683762 h 844174"/>
                      <a:gd name="connsiteX0" fmla="*/ 87868 w 188191"/>
                      <a:gd name="connsiteY0" fmla="*/ 816127 h 976539"/>
                      <a:gd name="connsiteX1" fmla="*/ 0 w 188191"/>
                      <a:gd name="connsiteY1" fmla="*/ 0 h 976539"/>
                      <a:gd name="connsiteX2" fmla="*/ 144502 w 188191"/>
                      <a:gd name="connsiteY2" fmla="*/ 278011 h 976539"/>
                      <a:gd name="connsiteX3" fmla="*/ 188191 w 188191"/>
                      <a:gd name="connsiteY3" fmla="*/ 976538 h 976539"/>
                      <a:gd name="connsiteX4" fmla="*/ 87868 w 188191"/>
                      <a:gd name="connsiteY4" fmla="*/ 816127 h 976539"/>
                      <a:gd name="connsiteX0" fmla="*/ 32848 w 133171"/>
                      <a:gd name="connsiteY0" fmla="*/ 674219 h 834631"/>
                      <a:gd name="connsiteX1" fmla="*/ 0 w 133171"/>
                      <a:gd name="connsiteY1" fmla="*/ 1 h 834631"/>
                      <a:gd name="connsiteX2" fmla="*/ 89482 w 133171"/>
                      <a:gd name="connsiteY2" fmla="*/ 136103 h 834631"/>
                      <a:gd name="connsiteX3" fmla="*/ 133171 w 133171"/>
                      <a:gd name="connsiteY3" fmla="*/ 834630 h 834631"/>
                      <a:gd name="connsiteX4" fmla="*/ 32848 w 133171"/>
                      <a:gd name="connsiteY4" fmla="*/ 674219 h 834631"/>
                      <a:gd name="connsiteX0" fmla="*/ 32848 w 133171"/>
                      <a:gd name="connsiteY0" fmla="*/ 674219 h 834631"/>
                      <a:gd name="connsiteX1" fmla="*/ 0 w 133171"/>
                      <a:gd name="connsiteY1" fmla="*/ 1 h 834631"/>
                      <a:gd name="connsiteX2" fmla="*/ 97738 w 133171"/>
                      <a:gd name="connsiteY2" fmla="*/ 114843 h 834631"/>
                      <a:gd name="connsiteX3" fmla="*/ 133171 w 133171"/>
                      <a:gd name="connsiteY3" fmla="*/ 834630 h 834631"/>
                      <a:gd name="connsiteX4" fmla="*/ 32848 w 133171"/>
                      <a:gd name="connsiteY4" fmla="*/ 674219 h 834631"/>
                      <a:gd name="connsiteX0" fmla="*/ 36019 w 136342"/>
                      <a:gd name="connsiteY0" fmla="*/ 731496 h 891908"/>
                      <a:gd name="connsiteX1" fmla="*/ 0 w 136342"/>
                      <a:gd name="connsiteY1" fmla="*/ 1 h 891908"/>
                      <a:gd name="connsiteX2" fmla="*/ 100909 w 136342"/>
                      <a:gd name="connsiteY2" fmla="*/ 172120 h 891908"/>
                      <a:gd name="connsiteX3" fmla="*/ 136342 w 136342"/>
                      <a:gd name="connsiteY3" fmla="*/ 891907 h 891908"/>
                      <a:gd name="connsiteX4" fmla="*/ 36019 w 136342"/>
                      <a:gd name="connsiteY4" fmla="*/ 731496 h 8919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342" h="891908">
                        <a:moveTo>
                          <a:pt x="36019" y="731496"/>
                        </a:moveTo>
                        <a:lnTo>
                          <a:pt x="0" y="1"/>
                        </a:lnTo>
                        <a:lnTo>
                          <a:pt x="100909" y="172120"/>
                        </a:lnTo>
                        <a:lnTo>
                          <a:pt x="136342" y="891907"/>
                        </a:lnTo>
                        <a:lnTo>
                          <a:pt x="36019" y="731496"/>
                        </a:lnTo>
                        <a:close/>
                      </a:path>
                    </a:pathLst>
                  </a:custGeom>
                  <a:solidFill>
                    <a:srgbClr val="AAE2CA">
                      <a:lumMod val="50000"/>
                    </a:srgbClr>
                  </a:solidFill>
                </p:spPr>
                <p:txBody>
                  <a:bodyPr wrap="none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</p:grpSp>
            <p:sp>
              <p:nvSpPr>
                <p:cNvPr id="110" name="TextBox 12">
                  <a:extLst>
                    <a:ext uri="{FF2B5EF4-FFF2-40B4-BE49-F238E27FC236}">
                      <a16:creationId xmlns:a16="http://schemas.microsoft.com/office/drawing/2014/main" id="{13A17E0E-EB8C-4F4E-8047-D4ACA4A51C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21632" y="5775938"/>
                  <a:ext cx="1493249" cy="324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rPr>
                    <a:t>ECN=</a:t>
                  </a:r>
                  <a:r>
                    <a:rPr kumimoji="0" lang="en-US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rPr>
                    <a:t>11</a:t>
                  </a:r>
                </a:p>
              </p:txBody>
            </p:sp>
          </p:grpSp>
          <p:cxnSp>
            <p:nvCxnSpPr>
              <p:cNvPr id="108" name="Straight Arrow Connector 286">
                <a:extLst>
                  <a:ext uri="{FF2B5EF4-FFF2-40B4-BE49-F238E27FC236}">
                    <a16:creationId xmlns:a16="http://schemas.microsoft.com/office/drawing/2014/main" id="{6D7F5ADD-CF2C-4FB3-A18E-0718220A35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483694" y="5949896"/>
                <a:ext cx="457353" cy="183765"/>
              </a:xfrm>
              <a:prstGeom prst="straightConnector1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92" name="Group 299">
              <a:extLst>
                <a:ext uri="{FF2B5EF4-FFF2-40B4-BE49-F238E27FC236}">
                  <a16:creationId xmlns:a16="http://schemas.microsoft.com/office/drawing/2014/main" id="{AA27DE52-1062-4489-99C3-8C2C9C88A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8443" y="4376366"/>
              <a:ext cx="3983038" cy="379413"/>
              <a:chOff x="2334273" y="4534486"/>
              <a:chExt cx="3981995" cy="378689"/>
            </a:xfrm>
          </p:grpSpPr>
          <p:grpSp>
            <p:nvGrpSpPr>
              <p:cNvPr id="99" name="Group 27">
                <a:extLst>
                  <a:ext uri="{FF2B5EF4-FFF2-40B4-BE49-F238E27FC236}">
                    <a16:creationId xmlns:a16="http://schemas.microsoft.com/office/drawing/2014/main" id="{C7A3024D-BF7A-4A55-8E50-678294EAFA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8876" y="4534486"/>
                <a:ext cx="1493249" cy="324384"/>
                <a:chOff x="3508876" y="4414358"/>
                <a:chExt cx="1493249" cy="324384"/>
              </a:xfrm>
            </p:grpSpPr>
            <p:sp>
              <p:nvSpPr>
                <p:cNvPr id="102" name="Rectangle 303">
                  <a:extLst>
                    <a:ext uri="{FF2B5EF4-FFF2-40B4-BE49-F238E27FC236}">
                      <a16:creationId xmlns:a16="http://schemas.microsoft.com/office/drawing/2014/main" id="{DAAF8C19-C7E0-4327-8677-E0ED96A237C2}"/>
                    </a:ext>
                  </a:extLst>
                </p:cNvPr>
                <p:cNvSpPr/>
                <p:nvPr/>
              </p:nvSpPr>
              <p:spPr>
                <a:xfrm>
                  <a:off x="3907074" y="4428619"/>
                  <a:ext cx="736407" cy="194890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103" name="Rectangle 298">
                  <a:extLst>
                    <a:ext uri="{FF2B5EF4-FFF2-40B4-BE49-F238E27FC236}">
                      <a16:creationId xmlns:a16="http://schemas.microsoft.com/office/drawing/2014/main" id="{CC837A54-BA52-4BD7-82B2-E2CE0D1490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3891" y="4478563"/>
                  <a:ext cx="737073" cy="196032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solidFill>
                    <a:srgbClr val="00009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04" name="Freeform 299">
                  <a:extLst>
                    <a:ext uri="{FF2B5EF4-FFF2-40B4-BE49-F238E27FC236}">
                      <a16:creationId xmlns:a16="http://schemas.microsoft.com/office/drawing/2014/main" id="{13DDC3B3-B599-49EE-B25E-C651AD7960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59775" y="4425511"/>
                  <a:ext cx="783947" cy="53534"/>
                </a:xfrm>
                <a:custGeom>
                  <a:avLst/>
                  <a:gdLst>
                    <a:gd name="T0" fmla="*/ 0 w 1223105"/>
                    <a:gd name="T1" fmla="*/ 9475 h 93730"/>
                    <a:gd name="T2" fmla="*/ 11863 w 1223105"/>
                    <a:gd name="T3" fmla="*/ 0 h 93730"/>
                    <a:gd name="T4" fmla="*/ 206422 w 1223105"/>
                    <a:gd name="T5" fmla="*/ 499 h 93730"/>
                    <a:gd name="T6" fmla="*/ 192977 w 1223105"/>
                    <a:gd name="T7" fmla="*/ 9975 h 93730"/>
                    <a:gd name="T8" fmla="*/ 0 w 1223105"/>
                    <a:gd name="T9" fmla="*/ 9475 h 937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solidFill>
                    <a:srgbClr val="00009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05" name="Freeform 300">
                  <a:extLst>
                    <a:ext uri="{FF2B5EF4-FFF2-40B4-BE49-F238E27FC236}">
                      <a16:creationId xmlns:a16="http://schemas.microsoft.com/office/drawing/2014/main" id="{C2D3C40F-CFBF-4BA8-B8D6-00DEAEBB99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211447" flipV="1">
                  <a:off x="4579084" y="4434448"/>
                  <a:ext cx="87388" cy="248479"/>
                </a:xfrm>
                <a:custGeom>
                  <a:avLst/>
                  <a:gdLst>
                    <a:gd name="T0" fmla="*/ 6079 w 136342"/>
                    <a:gd name="T1" fmla="*/ 4406 h 891908"/>
                    <a:gd name="T2" fmla="*/ 0 w 136342"/>
                    <a:gd name="T3" fmla="*/ 0 h 891908"/>
                    <a:gd name="T4" fmla="*/ 17030 w 136342"/>
                    <a:gd name="T5" fmla="*/ 1037 h 891908"/>
                    <a:gd name="T6" fmla="*/ 23010 w 136342"/>
                    <a:gd name="T7" fmla="*/ 5373 h 891908"/>
                    <a:gd name="T8" fmla="*/ 6079 w 136342"/>
                    <a:gd name="T9" fmla="*/ 4406 h 8919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solidFill>
                    <a:srgbClr val="000090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06" name="TextBox 296">
                  <a:extLst>
                    <a:ext uri="{FF2B5EF4-FFF2-40B4-BE49-F238E27FC236}">
                      <a16:creationId xmlns:a16="http://schemas.microsoft.com/office/drawing/2014/main" id="{CA665A62-31CF-43E1-9E78-4ABB8FA0C0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8876" y="4414358"/>
                  <a:ext cx="1493249" cy="324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rPr>
                    <a:t>ECE=</a:t>
                  </a:r>
                  <a:r>
                    <a:rPr kumimoji="0" lang="en-US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</a:rPr>
                    <a:t>1</a:t>
                  </a:r>
                </a:p>
              </p:txBody>
            </p:sp>
          </p:grpSp>
          <p:cxnSp>
            <p:nvCxnSpPr>
              <p:cNvPr id="100" name="Straight Arrow Connector 294">
                <a:extLst>
                  <a:ext uri="{FF2B5EF4-FFF2-40B4-BE49-F238E27FC236}">
                    <a16:creationId xmlns:a16="http://schemas.microsoft.com/office/drawing/2014/main" id="{8BF30347-1BCB-4A16-A91B-71C301D1B2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3801047" y="4905427"/>
                <a:ext cx="697737" cy="7748"/>
              </a:xfrm>
              <a:prstGeom prst="straightConnector1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1" name="Straight Arrow Connector 25">
                <a:extLst>
                  <a:ext uri="{FF2B5EF4-FFF2-40B4-BE49-F238E27FC236}">
                    <a16:creationId xmlns:a16="http://schemas.microsoft.com/office/drawing/2014/main" id="{67239164-10E0-4829-9AE2-78F1B9B8BDD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34273" y="4839428"/>
                <a:ext cx="3981995" cy="0"/>
              </a:xfrm>
              <a:prstGeom prst="straightConnector1">
                <a:avLst/>
              </a:prstGeom>
              <a:noFill/>
              <a:ln w="12700">
                <a:solidFill>
                  <a:srgbClr val="0000FF"/>
                </a:solidFill>
                <a:prstDash val="lgDash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93" name="Group 308">
              <a:extLst>
                <a:ext uri="{FF2B5EF4-FFF2-40B4-BE49-F238E27FC236}">
                  <a16:creationId xmlns:a16="http://schemas.microsoft.com/office/drawing/2014/main" id="{AB357323-EF91-4558-8412-6F97B5E825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6585" y="6003553"/>
              <a:ext cx="1200328" cy="479363"/>
              <a:chOff x="882485" y="6160831"/>
              <a:chExt cx="1200231" cy="479637"/>
            </a:xfrm>
          </p:grpSpPr>
          <p:sp>
            <p:nvSpPr>
              <p:cNvPr id="97" name="TextBox 29">
                <a:extLst>
                  <a:ext uri="{FF2B5EF4-FFF2-40B4-BE49-F238E27FC236}">
                    <a16:creationId xmlns:a16="http://schemas.microsoft.com/office/drawing/2014/main" id="{E79A435A-F63E-4025-9C98-5126E1F47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485" y="6315280"/>
                <a:ext cx="1200231" cy="325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</a:rPr>
                  <a:t>IP datagram</a:t>
                </a:r>
              </a:p>
            </p:txBody>
          </p:sp>
          <p:cxnSp>
            <p:nvCxnSpPr>
              <p:cNvPr id="98" name="Straight Connector 31">
                <a:extLst>
                  <a:ext uri="{FF2B5EF4-FFF2-40B4-BE49-F238E27FC236}">
                    <a16:creationId xmlns:a16="http://schemas.microsoft.com/office/drawing/2014/main" id="{C21D469C-7AB9-4202-BC06-3EF1216D06E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85033" y="6160831"/>
                <a:ext cx="274620" cy="2402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94" name="Group 311">
              <a:extLst>
                <a:ext uri="{FF2B5EF4-FFF2-40B4-BE49-F238E27FC236}">
                  <a16:creationId xmlns:a16="http://schemas.microsoft.com/office/drawing/2014/main" id="{A8376054-75BC-480C-ACA0-3C5C711E6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0749" y="3838204"/>
              <a:ext cx="1653603" cy="515937"/>
              <a:chOff x="4515515" y="3996483"/>
              <a:chExt cx="1653725" cy="514832"/>
            </a:xfrm>
          </p:grpSpPr>
          <p:sp>
            <p:nvSpPr>
              <p:cNvPr id="95" name="TextBox 312">
                <a:extLst>
                  <a:ext uri="{FF2B5EF4-FFF2-40B4-BE49-F238E27FC236}">
                    <a16:creationId xmlns:a16="http://schemas.microsoft.com/office/drawing/2014/main" id="{A47E887E-5CEB-4AA6-8550-BA74DB6FE9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5515" y="3996483"/>
                <a:ext cx="1653725" cy="324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</a:rPr>
                  <a:t>TCP ACK segment</a:t>
                </a:r>
              </a:p>
            </p:txBody>
          </p:sp>
          <p:cxnSp>
            <p:nvCxnSpPr>
              <p:cNvPr id="96" name="Straight Connector 313">
                <a:extLst>
                  <a:ext uri="{FF2B5EF4-FFF2-40B4-BE49-F238E27FC236}">
                    <a16:creationId xmlns:a16="http://schemas.microsoft.com/office/drawing/2014/main" id="{CB27C700-D01F-465F-AF79-4E2D8EB8FB4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632144" y="4271060"/>
                <a:ext cx="274620" cy="2402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206" name="灯片编号占位符 2">
            <a:extLst>
              <a:ext uri="{FF2B5EF4-FFF2-40B4-BE49-F238E27FC236}">
                <a16:creationId xmlns:a16="http://schemas.microsoft.com/office/drawing/2014/main" id="{77E82241-6F21-4BDA-AA78-2ADA228B957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207" name="AutoShape 5">
            <a:extLst>
              <a:ext uri="{FF2B5EF4-FFF2-40B4-BE49-F238E27FC236}">
                <a16:creationId xmlns:a16="http://schemas.microsoft.com/office/drawing/2014/main" id="{B2D417BD-11E4-4530-99DC-6588AE81C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altLang="zh-CN" sz="2400" dirty="0"/>
              <a:t>3.6 </a:t>
            </a:r>
            <a:r>
              <a:rPr lang="zh-CN" altLang="en-US" sz="2400" dirty="0"/>
              <a:t>拥塞控制原理</a:t>
            </a:r>
            <a:endParaRPr lang="en-US" altLang="zh-CN" sz="24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3.7 TCP</a:t>
            </a:r>
            <a:r>
              <a:rPr lang="zh-CN" altLang="en-US" sz="2400" dirty="0"/>
              <a:t>拥塞控制</a:t>
            </a:r>
            <a:endParaRPr lang="en-US" altLang="zh-CN" sz="2400" dirty="0"/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F8C4340C-7EA6-4741-9B1C-00613C841EE4}"/>
              </a:ext>
            </a:extLst>
          </p:cNvPr>
          <p:cNvSpPr txBox="1">
            <a:spLocks/>
          </p:cNvSpPr>
          <p:nvPr/>
        </p:nvSpPr>
        <p:spPr>
          <a:xfrm>
            <a:off x="3491880" y="3363886"/>
            <a:ext cx="3068060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3.8 </a:t>
            </a:r>
            <a:r>
              <a:rPr lang="zh-CN" altLang="en-US" sz="2400" dirty="0"/>
              <a:t>本章复习总结</a:t>
            </a:r>
            <a:endParaRPr lang="en-US" altLang="zh-CN" sz="2400" dirty="0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65EFF240-93F7-4A5B-9542-829CD976F50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C183EB2C-A73C-4883-98EE-A18AE612D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781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：运输层概况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/>
              <a:t>提供端到端的逻辑通信</a:t>
            </a:r>
            <a:endParaRPr lang="en-US" altLang="zh-CN" dirty="0"/>
          </a:p>
          <a:p>
            <a:pPr lvl="1"/>
            <a:r>
              <a:rPr lang="zh-CN" altLang="en-US" dirty="0"/>
              <a:t>多路复用和多路分解：端口号</a:t>
            </a:r>
            <a:endParaRPr lang="en-US" altLang="zh-CN" dirty="0"/>
          </a:p>
          <a:p>
            <a:pPr lvl="2"/>
            <a:r>
              <a:rPr lang="zh-CN" altLang="en-US" dirty="0"/>
              <a:t>周知端口区间</a:t>
            </a:r>
            <a:endParaRPr lang="en-US" altLang="zh-CN" dirty="0"/>
          </a:p>
          <a:p>
            <a:pPr lvl="2"/>
            <a:r>
              <a:rPr lang="zh-CN" altLang="en-US" dirty="0"/>
              <a:t>源端口</a:t>
            </a:r>
            <a:r>
              <a:rPr lang="en-US" altLang="zh-CN" dirty="0"/>
              <a:t>/</a:t>
            </a:r>
            <a:r>
              <a:rPr lang="zh-CN" altLang="en-US" dirty="0"/>
              <a:t>目的端口</a:t>
            </a:r>
            <a:endParaRPr lang="en-US" altLang="zh-CN" dirty="0"/>
          </a:p>
          <a:p>
            <a:pPr lvl="1"/>
            <a:r>
              <a:rPr lang="en-US" altLang="zh-CN" dirty="0"/>
              <a:t>Socket</a:t>
            </a:r>
          </a:p>
          <a:p>
            <a:pPr lvl="2"/>
            <a:r>
              <a:rPr lang="en-US" altLang="zh-CN" dirty="0"/>
              <a:t>TCP Socket</a:t>
            </a:r>
          </a:p>
          <a:p>
            <a:pPr lvl="3"/>
            <a:r>
              <a:rPr lang="zh-CN" altLang="en-US" dirty="0"/>
              <a:t>四元组</a:t>
            </a:r>
            <a:endParaRPr lang="en-US" altLang="zh-CN" dirty="0"/>
          </a:p>
          <a:p>
            <a:pPr lvl="2"/>
            <a:r>
              <a:rPr lang="en-US" altLang="zh-CN" dirty="0"/>
              <a:t>UDP Socket</a:t>
            </a:r>
          </a:p>
          <a:p>
            <a:pPr lvl="3"/>
            <a:r>
              <a:rPr lang="zh-CN" altLang="en-US" dirty="0"/>
              <a:t>二元组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E3347AA-62D1-4A65-858B-39BF8911F499}"/>
              </a:ext>
            </a:extLst>
          </p:cNvPr>
          <p:cNvGrpSpPr/>
          <p:nvPr/>
        </p:nvGrpSpPr>
        <p:grpSpPr>
          <a:xfrm>
            <a:off x="4605987" y="847722"/>
            <a:ext cx="3937702" cy="2121005"/>
            <a:chOff x="1575048" y="1419622"/>
            <a:chExt cx="6548544" cy="352731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87A6BD0F-A355-4714-BB0C-2D4460DEA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048" y="1429342"/>
              <a:ext cx="2914650" cy="3086100"/>
            </a:xfrm>
            <a:prstGeom prst="roundRect">
              <a:avLst>
                <a:gd name="adj" fmla="val 7255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2686FAE0-7C08-4864-B946-BE18EA427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048" y="1429342"/>
              <a:ext cx="2914650" cy="3086100"/>
            </a:xfrm>
            <a:prstGeom prst="roundRect">
              <a:avLst>
                <a:gd name="adj" fmla="val 6400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E5D688-C5B7-4002-A7DF-0FB99A2B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198" y="3886792"/>
              <a:ext cx="280035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7E90F20C-908C-4435-A65A-3CE13309E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6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2C2C37F8-A779-4B0E-B53A-592707564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79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5E5B8443-87F7-4B82-9306-0F7C4AE1C7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799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4BE191B2-1C01-49A8-8BBA-BA07367A4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9533" y="2010367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0588D510-DEA2-4619-9C21-5C4403639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9533" y="2800943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66DFE7B0-068C-4C11-A352-3E0C5377F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9533" y="3886793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</a:t>
              </a:r>
            </a:p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络</a:t>
              </a:r>
            </a:p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A5FB4467-CF96-4873-8C4E-A8D90E6E4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4311" y="3387886"/>
              <a:ext cx="1011625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90156876-6F43-4D70-902E-58408F363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5744" y="3397692"/>
              <a:ext cx="1539237" cy="31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67390121-5A51-44E2-8921-6FEF1C361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374" y="1772244"/>
              <a:ext cx="851051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17" name="AutoShape 18">
              <a:extLst>
                <a:ext uri="{FF2B5EF4-FFF2-40B4-BE49-F238E27FC236}">
                  <a16:creationId xmlns:a16="http://schemas.microsoft.com/office/drawing/2014/main" id="{AE2A543F-ACD2-435A-AD2A-CC5029A23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348" y="285809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4EF28A81-E60D-4EAC-A9C8-94975FFA4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249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8395ECB3-2AEA-44B0-BFE1-C67B075AC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7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21">
              <a:extLst>
                <a:ext uri="{FF2B5EF4-FFF2-40B4-BE49-F238E27FC236}">
                  <a16:creationId xmlns:a16="http://schemas.microsoft.com/office/drawing/2014/main" id="{3F696F21-84FC-4957-98D5-C39421B27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84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22">
              <a:extLst>
                <a:ext uri="{FF2B5EF4-FFF2-40B4-BE49-F238E27FC236}">
                  <a16:creationId xmlns:a16="http://schemas.microsoft.com/office/drawing/2014/main" id="{1A527E89-F263-4F84-AB7D-97C195E90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08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2062B55B-8F4C-4FFB-A253-FA2E8D584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80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050AB2FA-D36E-4372-82CB-7404C90B4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253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3E06ED24-028C-4AA2-B379-FAE4F4824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3731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AutoShape 26">
              <a:extLst>
                <a:ext uri="{FF2B5EF4-FFF2-40B4-BE49-F238E27FC236}">
                  <a16:creationId xmlns:a16="http://schemas.microsoft.com/office/drawing/2014/main" id="{0767A3FF-8955-436B-9CB1-B55FF782A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70AF7886-20CA-4477-87E4-8427E2E03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66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92E768A7-2702-49EC-8E4C-95A56924E0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67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AutoShape 29">
              <a:extLst>
                <a:ext uri="{FF2B5EF4-FFF2-40B4-BE49-F238E27FC236}">
                  <a16:creationId xmlns:a16="http://schemas.microsoft.com/office/drawing/2014/main" id="{887494AB-2CDF-4526-B6BD-D1FB72A15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0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D85F6758-68EA-4C44-994B-7DCFAD7E8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999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31">
              <a:extLst>
                <a:ext uri="{FF2B5EF4-FFF2-40B4-BE49-F238E27FC236}">
                  <a16:creationId xmlns:a16="http://schemas.microsoft.com/office/drawing/2014/main" id="{27C82752-3FF1-42A9-B255-8ADB6D04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5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AB99A6CB-6BFE-41EF-86E6-0FAC9B93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5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409B3C0A-36E1-42A2-BE99-B30BDBFCA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6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15B2751F-ECAD-449B-940D-07D448945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67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5950CB31-13B0-4CB1-9608-3283E5B86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6002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BAD620E2-FF1A-4565-A0BB-66C7A57F3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48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EC55CFC5-0474-4933-A543-CDC4F653E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198" y="1886542"/>
              <a:ext cx="2800350" cy="971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FB955C52-34ED-4D0E-BADF-E802C606AA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278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39">
              <a:extLst>
                <a:ext uri="{FF2B5EF4-FFF2-40B4-BE49-F238E27FC236}">
                  <a16:creationId xmlns:a16="http://schemas.microsoft.com/office/drawing/2014/main" id="{A63046C0-B910-4114-968D-FDABD1B5DB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279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40">
              <a:extLst>
                <a:ext uri="{FF2B5EF4-FFF2-40B4-BE49-F238E27FC236}">
                  <a16:creationId xmlns:a16="http://schemas.microsoft.com/office/drawing/2014/main" id="{F52BB887-4D51-4E41-B61C-0EB2A9948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2905" y="3566435"/>
              <a:ext cx="1011625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40" name="AutoShape 42">
              <a:extLst>
                <a:ext uri="{FF2B5EF4-FFF2-40B4-BE49-F238E27FC236}">
                  <a16:creationId xmlns:a16="http://schemas.microsoft.com/office/drawing/2014/main" id="{1EFE4446-E3DB-4EAE-8C9F-1C025E014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92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 Box 43">
              <a:extLst>
                <a:ext uri="{FF2B5EF4-FFF2-40B4-BE49-F238E27FC236}">
                  <a16:creationId xmlns:a16="http://schemas.microsoft.com/office/drawing/2014/main" id="{45C6E92C-C8DC-4163-9FD0-66E9CD401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120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CEC40D3C-CE5D-4F4E-B88C-62007C241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07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45">
              <a:extLst>
                <a:ext uri="{FF2B5EF4-FFF2-40B4-BE49-F238E27FC236}">
                  <a16:creationId xmlns:a16="http://schemas.microsoft.com/office/drawing/2014/main" id="{1F68E537-F8B8-4158-BCE1-842204E0E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7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87251B59-964C-4891-AF66-14D8F5E3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8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7">
              <a:extLst>
                <a:ext uri="{FF2B5EF4-FFF2-40B4-BE49-F238E27FC236}">
                  <a16:creationId xmlns:a16="http://schemas.microsoft.com/office/drawing/2014/main" id="{ACC1BB91-8CC2-4933-92EE-06DA51793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279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 Box 48">
              <a:extLst>
                <a:ext uri="{FF2B5EF4-FFF2-40B4-BE49-F238E27FC236}">
                  <a16:creationId xmlns:a16="http://schemas.microsoft.com/office/drawing/2014/main" id="{EE66FED3-3F14-4B93-900F-64C0D782C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7202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49">
              <a:extLst>
                <a:ext uri="{FF2B5EF4-FFF2-40B4-BE49-F238E27FC236}">
                  <a16:creationId xmlns:a16="http://schemas.microsoft.com/office/drawing/2014/main" id="{EF959BC9-8135-414D-9608-22736F938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368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Group 50">
              <a:extLst>
                <a:ext uri="{FF2B5EF4-FFF2-40B4-BE49-F238E27FC236}">
                  <a16:creationId xmlns:a16="http://schemas.microsoft.com/office/drawing/2014/main" id="{C47592B1-56B9-4EF7-B768-600F6A1759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7998" y="3372442"/>
              <a:ext cx="4838700" cy="521494"/>
              <a:chOff x="912" y="1920"/>
              <a:chExt cx="4064" cy="398"/>
            </a:xfrm>
          </p:grpSpPr>
          <p:sp>
            <p:nvSpPr>
              <p:cNvPr id="76" name="Line 51">
                <a:extLst>
                  <a:ext uri="{FF2B5EF4-FFF2-40B4-BE49-F238E27FC236}">
                    <a16:creationId xmlns:a16="http://schemas.microsoft.com/office/drawing/2014/main" id="{EC471109-CC3A-4267-97D6-C9D2807248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920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52">
                <a:extLst>
                  <a:ext uri="{FF2B5EF4-FFF2-40B4-BE49-F238E27FC236}">
                    <a16:creationId xmlns:a16="http://schemas.microsoft.com/office/drawing/2014/main" id="{2183CD01-AAF2-44F0-9479-FEFAD3F18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928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53">
                <a:extLst>
                  <a:ext uri="{FF2B5EF4-FFF2-40B4-BE49-F238E27FC236}">
                    <a16:creationId xmlns:a16="http://schemas.microsoft.com/office/drawing/2014/main" id="{72487DE8-CDE3-4E70-AF53-5C0FC9403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6" y="1928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54">
                <a:extLst>
                  <a:ext uri="{FF2B5EF4-FFF2-40B4-BE49-F238E27FC236}">
                    <a16:creationId xmlns:a16="http://schemas.microsoft.com/office/drawing/2014/main" id="{BCD8894C-64C2-4805-8D03-90C36F446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76" y="1936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9" name="Line 55">
              <a:extLst>
                <a:ext uri="{FF2B5EF4-FFF2-40B4-BE49-F238E27FC236}">
                  <a16:creationId xmlns:a16="http://schemas.microsoft.com/office/drawing/2014/main" id="{C793BD81-DEB7-4411-92B1-4BD1249BE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566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56">
              <a:extLst>
                <a:ext uri="{FF2B5EF4-FFF2-40B4-BE49-F238E27FC236}">
                  <a16:creationId xmlns:a16="http://schemas.microsoft.com/office/drawing/2014/main" id="{1BFCC7CE-DA1D-4B67-93B7-291872EDB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5669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AutoShape 57">
              <a:extLst>
                <a:ext uri="{FF2B5EF4-FFF2-40B4-BE49-F238E27FC236}">
                  <a16:creationId xmlns:a16="http://schemas.microsoft.com/office/drawing/2014/main" id="{42360349-D720-44EB-8724-911B9CB94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8048" y="287714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 Box 58">
              <a:extLst>
                <a:ext uri="{FF2B5EF4-FFF2-40B4-BE49-F238E27FC236}">
                  <a16:creationId xmlns:a16="http://schemas.microsoft.com/office/drawing/2014/main" id="{F3647174-8575-4495-879C-683F7303E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949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59">
              <a:extLst>
                <a:ext uri="{FF2B5EF4-FFF2-40B4-BE49-F238E27FC236}">
                  <a16:creationId xmlns:a16="http://schemas.microsoft.com/office/drawing/2014/main" id="{9249527D-701E-4A29-8FB0-648116271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94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60">
              <a:extLst>
                <a:ext uri="{FF2B5EF4-FFF2-40B4-BE49-F238E27FC236}">
                  <a16:creationId xmlns:a16="http://schemas.microsoft.com/office/drawing/2014/main" id="{6FCA9A07-BFF6-4346-A83A-88F341CF3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54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61">
              <a:extLst>
                <a:ext uri="{FF2B5EF4-FFF2-40B4-BE49-F238E27FC236}">
                  <a16:creationId xmlns:a16="http://schemas.microsoft.com/office/drawing/2014/main" id="{C55343F4-2FA0-438F-AE3F-B86B79739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95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62">
              <a:extLst>
                <a:ext uri="{FF2B5EF4-FFF2-40B4-BE49-F238E27FC236}">
                  <a16:creationId xmlns:a16="http://schemas.microsoft.com/office/drawing/2014/main" id="{16293137-7733-42FB-9486-ED0D5D1CA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567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Box 63">
              <a:extLst>
                <a:ext uri="{FF2B5EF4-FFF2-40B4-BE49-F238E27FC236}">
                  <a16:creationId xmlns:a16="http://schemas.microsoft.com/office/drawing/2014/main" id="{0CADAAE7-9685-474E-A7CD-7AC624D4A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5952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Box 64">
              <a:extLst>
                <a:ext uri="{FF2B5EF4-FFF2-40B4-BE49-F238E27FC236}">
                  <a16:creationId xmlns:a16="http://schemas.microsoft.com/office/drawing/2014/main" id="{063DCDDF-69B1-4E60-B347-B034A141C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430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65">
              <a:extLst>
                <a:ext uri="{FF2B5EF4-FFF2-40B4-BE49-F238E27FC236}">
                  <a16:creationId xmlns:a16="http://schemas.microsoft.com/office/drawing/2014/main" id="{E5635693-D3AD-4259-BA86-2F2B94B02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7515" y="1772244"/>
              <a:ext cx="851051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60" name="Text Box 66">
              <a:extLst>
                <a:ext uri="{FF2B5EF4-FFF2-40B4-BE49-F238E27FC236}">
                  <a16:creationId xmlns:a16="http://schemas.microsoft.com/office/drawing/2014/main" id="{064CA614-7C21-4D45-A7FB-5774DE600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0545" y="2593590"/>
              <a:ext cx="57004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</a:p>
          </p:txBody>
        </p:sp>
        <p:sp>
          <p:nvSpPr>
            <p:cNvPr id="61" name="Text Box 67">
              <a:extLst>
                <a:ext uri="{FF2B5EF4-FFF2-40B4-BE49-F238E27FC236}">
                  <a16:creationId xmlns:a16="http://schemas.microsoft.com/office/drawing/2014/main" id="{8F9232D9-C6D6-46D0-9A91-7E3CCF0F2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7151" y="2576188"/>
              <a:ext cx="57004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</a:p>
          </p:txBody>
        </p:sp>
        <p:sp>
          <p:nvSpPr>
            <p:cNvPr id="62" name="Text Box 68">
              <a:extLst>
                <a:ext uri="{FF2B5EF4-FFF2-40B4-BE49-F238E27FC236}">
                  <a16:creationId xmlns:a16="http://schemas.microsoft.com/office/drawing/2014/main" id="{02173088-A693-46C9-AC94-E2C4AF321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5526" y="2999777"/>
              <a:ext cx="87112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63" name="Text Box 69">
              <a:extLst>
                <a:ext uri="{FF2B5EF4-FFF2-40B4-BE49-F238E27FC236}">
                  <a16:creationId xmlns:a16="http://schemas.microsoft.com/office/drawing/2014/main" id="{A8B714DE-E59D-42E4-9EAF-EF1346FFD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3799" y="2990252"/>
              <a:ext cx="911267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64" name="Text Box 70">
              <a:extLst>
                <a:ext uri="{FF2B5EF4-FFF2-40B4-BE49-F238E27FC236}">
                  <a16:creationId xmlns:a16="http://schemas.microsoft.com/office/drawing/2014/main" id="{654E9E9D-9D64-4005-8FEE-04781E627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8953" y="4014189"/>
              <a:ext cx="738146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65" name="AutoShape 71">
              <a:extLst>
                <a:ext uri="{FF2B5EF4-FFF2-40B4-BE49-F238E27FC236}">
                  <a16:creationId xmlns:a16="http://schemas.microsoft.com/office/drawing/2014/main" id="{D83D0A76-53D0-477A-A594-327023000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664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AutoShape 72">
              <a:extLst>
                <a:ext uri="{FF2B5EF4-FFF2-40B4-BE49-F238E27FC236}">
                  <a16:creationId xmlns:a16="http://schemas.microsoft.com/office/drawing/2014/main" id="{79CF3102-0877-4044-ACD1-C2EC81FCEF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31849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7" name="Group 73">
              <a:extLst>
                <a:ext uri="{FF2B5EF4-FFF2-40B4-BE49-F238E27FC236}">
                  <a16:creationId xmlns:a16="http://schemas.microsoft.com/office/drawing/2014/main" id="{36D6E401-B3CA-4A22-9C20-5DE328E000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83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74" name="AutoShape 74">
                <a:extLst>
                  <a:ext uri="{FF2B5EF4-FFF2-40B4-BE49-F238E27FC236}">
                    <a16:creationId xmlns:a16="http://schemas.microsoft.com/office/drawing/2014/main" id="{C90FDFF4-8C28-49E9-A75C-89EA901D4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Rectangle 75">
                <a:extLst>
                  <a:ext uri="{FF2B5EF4-FFF2-40B4-BE49-F238E27FC236}">
                    <a16:creationId xmlns:a16="http://schemas.microsoft.com/office/drawing/2014/main" id="{5EA6A0DB-B6D3-409C-9480-961E4DFB4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7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7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</a:p>
            </p:txBody>
          </p:sp>
        </p:grpSp>
        <p:grpSp>
          <p:nvGrpSpPr>
            <p:cNvPr id="68" name="Group 76">
              <a:extLst>
                <a:ext uri="{FF2B5EF4-FFF2-40B4-BE49-F238E27FC236}">
                  <a16:creationId xmlns:a16="http://schemas.microsoft.com/office/drawing/2014/main" id="{BDA38D3A-95A2-4735-BDFB-248E6B415B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81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72" name="AutoShape 77">
                <a:extLst>
                  <a:ext uri="{FF2B5EF4-FFF2-40B4-BE49-F238E27FC236}">
                    <a16:creationId xmlns:a16="http://schemas.microsoft.com/office/drawing/2014/main" id="{3FA592FB-48B0-41B1-AFA9-895E9475E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Rectangle 78">
                <a:extLst>
                  <a:ext uri="{FF2B5EF4-FFF2-40B4-BE49-F238E27FC236}">
                    <a16:creationId xmlns:a16="http://schemas.microsoft.com/office/drawing/2014/main" id="{48F7AE50-47AF-44EE-B110-9D815D3A2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7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7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</a:p>
            </p:txBody>
          </p:sp>
        </p:grpSp>
        <p:sp>
          <p:nvSpPr>
            <p:cNvPr id="69" name="Text Box 79">
              <a:extLst>
                <a:ext uri="{FF2B5EF4-FFF2-40B4-BE49-F238E27FC236}">
                  <a16:creationId xmlns:a16="http://schemas.microsoft.com/office/drawing/2014/main" id="{24F58CD1-D6B4-496F-A770-69C46675F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375" y="1438672"/>
              <a:ext cx="830979" cy="361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9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</a:t>
              </a:r>
            </a:p>
          </p:txBody>
        </p:sp>
        <p:sp>
          <p:nvSpPr>
            <p:cNvPr id="70" name="Text Box 80">
              <a:extLst>
                <a:ext uri="{FF2B5EF4-FFF2-40B4-BE49-F238E27FC236}">
                  <a16:creationId xmlns:a16="http://schemas.microsoft.com/office/drawing/2014/main" id="{184A3E7A-4AFC-4F66-885F-C6B49A7241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6038" y="1419622"/>
              <a:ext cx="830979" cy="361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9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接收方</a:t>
              </a:r>
            </a:p>
          </p:txBody>
        </p:sp>
        <p:sp>
          <p:nvSpPr>
            <p:cNvPr id="71" name="Text Box 82">
              <a:extLst>
                <a:ext uri="{FF2B5EF4-FFF2-40B4-BE49-F238E27FC236}">
                  <a16:creationId xmlns:a16="http://schemas.microsoft.com/office/drawing/2014/main" id="{9460FC7B-7C5D-4D37-A5FD-2CE78755A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1873" y="3605726"/>
              <a:ext cx="1511719" cy="31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B01D66B1-6872-43BC-9E20-E50A55E45D19}"/>
              </a:ext>
            </a:extLst>
          </p:cNvPr>
          <p:cNvGrpSpPr/>
          <p:nvPr/>
        </p:nvGrpSpPr>
        <p:grpSpPr>
          <a:xfrm>
            <a:off x="4673409" y="2993472"/>
            <a:ext cx="1652126" cy="2039023"/>
            <a:chOff x="5253038" y="1556792"/>
            <a:chExt cx="3414712" cy="4214371"/>
          </a:xfrm>
        </p:grpSpPr>
        <p:sp>
          <p:nvSpPr>
            <p:cNvPr id="81" name="Rectangle 2">
              <a:extLst>
                <a:ext uri="{FF2B5EF4-FFF2-40B4-BE49-F238E27FC236}">
                  <a16:creationId xmlns:a16="http://schemas.microsoft.com/office/drawing/2014/main" id="{286A7C51-D981-4613-BCC0-E88C182C5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5" y="2000250"/>
              <a:ext cx="3324225" cy="320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id="{FE5486B0-DE64-4348-9D5A-F786288E2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325" y="2095500"/>
              <a:ext cx="3324225" cy="32004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6">
              <a:extLst>
                <a:ext uri="{FF2B5EF4-FFF2-40B4-BE49-F238E27FC236}">
                  <a16:creationId xmlns:a16="http://schemas.microsoft.com/office/drawing/2014/main" id="{82EBD780-2A69-4A12-8D14-BDAFCD736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4723" y="2117727"/>
              <a:ext cx="1229854" cy="445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源端口号</a:t>
              </a:r>
              <a:endParaRPr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Text Box 7">
              <a:extLst>
                <a:ext uri="{FF2B5EF4-FFF2-40B4-BE49-F238E27FC236}">
                  <a16:creationId xmlns:a16="http://schemas.microsoft.com/office/drawing/2014/main" id="{5FA9510F-0234-40D2-8EB2-D581D6549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6370" y="2117727"/>
              <a:ext cx="1441897" cy="445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目的端口号</a:t>
              </a:r>
              <a:endParaRPr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8">
              <a:extLst>
                <a:ext uri="{FF2B5EF4-FFF2-40B4-BE49-F238E27FC236}">
                  <a16:creationId xmlns:a16="http://schemas.microsoft.com/office/drawing/2014/main" id="{49D3A7C7-8850-4128-B2C4-272E67372F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7800" y="2495550"/>
              <a:ext cx="33289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9">
              <a:extLst>
                <a:ext uri="{FF2B5EF4-FFF2-40B4-BE49-F238E27FC236}">
                  <a16:creationId xmlns:a16="http://schemas.microsoft.com/office/drawing/2014/main" id="{FD11B221-5503-4218-B51B-EA1E73924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67325" y="3486150"/>
              <a:ext cx="3324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10">
              <a:extLst>
                <a:ext uri="{FF2B5EF4-FFF2-40B4-BE49-F238E27FC236}">
                  <a16:creationId xmlns:a16="http://schemas.microsoft.com/office/drawing/2014/main" id="{A6B1E809-5AE5-4EBA-A117-6DAAF3646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05625" y="2095500"/>
              <a:ext cx="0" cy="395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 Box 11">
              <a:extLst>
                <a:ext uri="{FF2B5EF4-FFF2-40B4-BE49-F238E27FC236}">
                  <a16:creationId xmlns:a16="http://schemas.microsoft.com/office/drawing/2014/main" id="{C7A35917-1A9D-408B-BBBE-2B1BE37C6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8054" y="1556792"/>
              <a:ext cx="1067508" cy="445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12">
              <a:extLst>
                <a:ext uri="{FF2B5EF4-FFF2-40B4-BE49-F238E27FC236}">
                  <a16:creationId xmlns:a16="http://schemas.microsoft.com/office/drawing/2014/main" id="{4A399426-C83F-4E28-9087-2C56B891D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2825" y="1862138"/>
              <a:ext cx="1200150" cy="4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13">
              <a:extLst>
                <a:ext uri="{FF2B5EF4-FFF2-40B4-BE49-F238E27FC236}">
                  <a16:creationId xmlns:a16="http://schemas.microsoft.com/office/drawing/2014/main" id="{E6AF7DA8-74AA-4B54-8793-B34AE6D331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253038" y="1871663"/>
              <a:ext cx="11287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Text Box 14">
              <a:extLst>
                <a:ext uri="{FF2B5EF4-FFF2-40B4-BE49-F238E27FC236}">
                  <a16:creationId xmlns:a16="http://schemas.microsoft.com/office/drawing/2014/main" id="{924832B5-9ED5-4CBB-9996-F04BB5933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3864" y="3944939"/>
              <a:ext cx="2740023" cy="763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应用数据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分段报文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 Box 15">
              <a:extLst>
                <a:ext uri="{FF2B5EF4-FFF2-40B4-BE49-F238E27FC236}">
                  <a16:creationId xmlns:a16="http://schemas.microsoft.com/office/drawing/2014/main" id="{613DE9CA-A0A6-4C25-BF0D-41E6A06C8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5010" y="2854326"/>
              <a:ext cx="1812973" cy="477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其他首部字段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Text Box 16">
              <a:extLst>
                <a:ext uri="{FF2B5EF4-FFF2-40B4-BE49-F238E27FC236}">
                  <a16:creationId xmlns:a16="http://schemas.microsoft.com/office/drawing/2014/main" id="{91B51EE4-0AB3-4090-AF23-D5F88431B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763" y="5294066"/>
              <a:ext cx="2455733" cy="47709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9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TCP/UDP </a:t>
              </a:r>
              <a:r>
                <a:rPr lang="zh-CN" altLang="en-US" sz="9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数据封装</a:t>
              </a:r>
              <a:endParaRPr lang="en-US" altLang="zh-CN" sz="1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4" name="灯片编号占位符 2">
            <a:extLst>
              <a:ext uri="{FF2B5EF4-FFF2-40B4-BE49-F238E27FC236}">
                <a16:creationId xmlns:a16="http://schemas.microsoft.com/office/drawing/2014/main" id="{B95C4A28-7E65-4898-8DD2-A96AEBC2817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95" name="AutoShape 5">
            <a:extLst>
              <a:ext uri="{FF2B5EF4-FFF2-40B4-BE49-F238E27FC236}">
                <a16:creationId xmlns:a16="http://schemas.microsoft.com/office/drawing/2014/main" id="{BAE6FC6D-CFFB-495F-AA6E-E946D4EBA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8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256583" cy="3779688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UDP</a:t>
            </a:r>
            <a:r>
              <a:rPr lang="zh-CN" altLang="en-US" dirty="0">
                <a:effectLst/>
              </a:rPr>
              <a:t>协议和</a:t>
            </a:r>
            <a:r>
              <a:rPr lang="en-US" altLang="zh-CN" dirty="0">
                <a:effectLst/>
              </a:rPr>
              <a:t>Checksum</a:t>
            </a:r>
          </a:p>
          <a:p>
            <a:r>
              <a:rPr lang="en-US" altLang="zh-CN" dirty="0"/>
              <a:t>UDP</a:t>
            </a:r>
            <a:r>
              <a:rPr lang="zh-CN" altLang="en-US" dirty="0"/>
              <a:t>协议</a:t>
            </a:r>
          </a:p>
          <a:p>
            <a:pPr lvl="1"/>
            <a:r>
              <a:rPr lang="zh-CN" altLang="en-US" dirty="0"/>
              <a:t>简单高效：尽最大努力交付</a:t>
            </a:r>
          </a:p>
          <a:p>
            <a:pPr lvl="1"/>
            <a:r>
              <a:rPr lang="zh-CN" altLang="en-US" dirty="0"/>
              <a:t>报文格式：首部</a:t>
            </a:r>
            <a:r>
              <a:rPr lang="en-US" altLang="zh-CN" dirty="0"/>
              <a:t>8</a:t>
            </a:r>
            <a:r>
              <a:rPr lang="zh-CN" altLang="en-US" dirty="0"/>
              <a:t>字节</a:t>
            </a:r>
            <a:r>
              <a:rPr lang="en-US" altLang="zh-CN" dirty="0"/>
              <a:t>/4</a:t>
            </a:r>
            <a:r>
              <a:rPr lang="zh-CN" altLang="en-US" dirty="0"/>
              <a:t>个字段</a:t>
            </a:r>
          </a:p>
          <a:p>
            <a:r>
              <a:rPr lang="zh-CN" altLang="en-US" dirty="0"/>
              <a:t>检验和：</a:t>
            </a:r>
            <a:endParaRPr lang="en-US" altLang="zh-CN" dirty="0"/>
          </a:p>
          <a:p>
            <a:pPr lvl="1"/>
            <a:r>
              <a:rPr lang="zh-CN" altLang="en-US" dirty="0"/>
              <a:t>差错检验流程</a:t>
            </a:r>
            <a:endParaRPr lang="en-US" altLang="zh-CN" dirty="0"/>
          </a:p>
          <a:p>
            <a:pPr lvl="1"/>
            <a:r>
              <a:rPr lang="en-US" altLang="zh-CN" dirty="0"/>
              <a:t>Checksum</a:t>
            </a:r>
          </a:p>
          <a:p>
            <a:pPr lvl="2"/>
            <a:r>
              <a:rPr lang="en-US" altLang="zh-CN" dirty="0"/>
              <a:t>16bits</a:t>
            </a:r>
          </a:p>
          <a:p>
            <a:pPr lvl="2"/>
            <a:r>
              <a:rPr lang="zh-CN" altLang="en-US" dirty="0"/>
              <a:t>加法</a:t>
            </a:r>
            <a:endParaRPr lang="en-US" altLang="zh-CN" dirty="0"/>
          </a:p>
          <a:p>
            <a:pPr lvl="2"/>
            <a:r>
              <a:rPr lang="zh-CN" altLang="en-US" dirty="0"/>
              <a:t>回卷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3815C4-B390-4599-9B67-E323B6EFD2B7}"/>
              </a:ext>
            </a:extLst>
          </p:cNvPr>
          <p:cNvGrpSpPr/>
          <p:nvPr/>
        </p:nvGrpSpPr>
        <p:grpSpPr>
          <a:xfrm>
            <a:off x="5436096" y="970208"/>
            <a:ext cx="2470151" cy="1935055"/>
            <a:chOff x="3837351" y="1280617"/>
            <a:chExt cx="4509104" cy="3532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49C8C8-56B6-4F33-9813-EF3D0B9A4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3286" y="1564209"/>
              <a:ext cx="2493169" cy="2400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26ECC5-E665-4CC2-B84E-F156F2D74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6136" y="1635646"/>
              <a:ext cx="2493169" cy="2400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471A512-34F7-4E00-982F-AAA8F96CF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9779" y="1652314"/>
              <a:ext cx="1086200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源端口号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25A6422C-C99A-4085-BE0B-21FFDBF25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6893" y="1652314"/>
              <a:ext cx="1273476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目的端口号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EC85DBF4-36EF-43EE-BDC5-2CBC9287B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8992" y="1935684"/>
              <a:ext cx="24967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03A62886-B477-45E7-81AE-055F1D7629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1849" y="2235721"/>
              <a:ext cx="24931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D25781B9-EA15-42A8-AAB1-D4531EF8BC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4861" y="1635646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238F3006-1522-402C-B835-A1555377D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3006" y="1280617"/>
              <a:ext cx="747992" cy="312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5A5612E3-BE20-4E4A-941D-137670BAA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7761" y="1460624"/>
              <a:ext cx="900113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30F486E2-F36F-4EA2-9B3F-D376666BA6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785421" y="1467768"/>
              <a:ext cx="8465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D19EC203-78D1-448B-AC12-7BF6FEB3C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9499" y="3027487"/>
              <a:ext cx="1945482" cy="5348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载荷：应用数据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  <a:p>
              <a:pPr algn="ctr" eaLnBrk="0" hangingPunct="0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报文，分段报文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01A3EC20-CD77-4586-9950-EF11A3B0A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676" y="4094289"/>
              <a:ext cx="2089219" cy="421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报文段结构</a:t>
              </a:r>
              <a:endParaRPr lang="en-US" altLang="zh-CN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5EA2F2B1-D4E5-454C-B528-F3B10B6ED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4861" y="1942827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1D82C90C-01F0-4324-B695-7C0F8C522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3244" y="1959497"/>
              <a:ext cx="711646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长度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E02A8DBB-FF4E-43E2-A023-C414E96B1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4412" y="1952352"/>
              <a:ext cx="898925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  <a:endParaRPr lang="en-US" altLang="zh-CN" sz="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CF662783-F488-49A5-B447-E02335E87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351" y="2175000"/>
              <a:ext cx="1812080" cy="365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 eaLnBrk="0" hangingPunct="0"/>
              <a:r>
                <a:rPr lang="zh-CN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有效载荷长度</a:t>
              </a:r>
              <a:endPara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6554CB71-BADC-4704-9DB9-BAFA6EE4FE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49432" y="2078558"/>
              <a:ext cx="468173" cy="1774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5">
              <a:extLst>
                <a:ext uri="{FF2B5EF4-FFF2-40B4-BE49-F238E27FC236}">
                  <a16:creationId xmlns:a16="http://schemas.microsoft.com/office/drawing/2014/main" id="{1072F4AF-3CE8-45EB-BFEB-D9BC79D80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377" y="4391567"/>
              <a:ext cx="2578269" cy="421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用户数据报）</a:t>
              </a:r>
              <a:endParaRPr lang="en-US" altLang="zh-CN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278494A-CD84-49B7-9443-A26DA962B86F}"/>
              </a:ext>
            </a:extLst>
          </p:cNvPr>
          <p:cNvGrpSpPr/>
          <p:nvPr/>
        </p:nvGrpSpPr>
        <p:grpSpPr>
          <a:xfrm>
            <a:off x="2993929" y="3003781"/>
            <a:ext cx="3741218" cy="1977267"/>
            <a:chOff x="2126926" y="1540471"/>
            <a:chExt cx="6311219" cy="3335535"/>
          </a:xfrm>
        </p:grpSpPr>
        <p:sp>
          <p:nvSpPr>
            <p:cNvPr id="24" name="Line 115">
              <a:extLst>
                <a:ext uri="{FF2B5EF4-FFF2-40B4-BE49-F238E27FC236}">
                  <a16:creationId xmlns:a16="http://schemas.microsoft.com/office/drawing/2014/main" id="{66F466C7-9646-45EE-8ECF-EF3366657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88753" y="1842890"/>
              <a:ext cx="1" cy="674488"/>
            </a:xfrm>
            <a:prstGeom prst="line">
              <a:avLst/>
            </a:prstGeom>
            <a:noFill/>
            <a:ln w="38100">
              <a:solidFill>
                <a:srgbClr val="0066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FD5D1C98-B281-4B45-BDF6-18FFFB5A9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596" y="2250678"/>
              <a:ext cx="2031205" cy="2322910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5483484C-C87F-4E53-B80B-38745DB03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391" y="2250678"/>
              <a:ext cx="2083020" cy="2405696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Group 7">
              <a:extLst>
                <a:ext uri="{FF2B5EF4-FFF2-40B4-BE49-F238E27FC236}">
                  <a16:creationId xmlns:a16="http://schemas.microsoft.com/office/drawing/2014/main" id="{63CB03D2-7DFD-42BE-9797-6FC4AB5AB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330" y="2326878"/>
              <a:ext cx="486965" cy="594122"/>
              <a:chOff x="1791" y="1997"/>
              <a:chExt cx="409" cy="499"/>
            </a:xfrm>
          </p:grpSpPr>
          <p:sp>
            <p:nvSpPr>
              <p:cNvPr id="100" name="AutoShape 8">
                <a:extLst>
                  <a:ext uri="{FF2B5EF4-FFF2-40B4-BE49-F238E27FC236}">
                    <a16:creationId xmlns:a16="http://schemas.microsoft.com/office/drawing/2014/main" id="{CE8D8AA1-51AB-468B-A5F6-16FF720F3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Line 9">
                <a:extLst>
                  <a:ext uri="{FF2B5EF4-FFF2-40B4-BE49-F238E27FC236}">
                    <a16:creationId xmlns:a16="http://schemas.microsoft.com/office/drawing/2014/main" id="{4A650DEF-AA24-45D8-9444-5CE981E13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10">
                <a:extLst>
                  <a:ext uri="{FF2B5EF4-FFF2-40B4-BE49-F238E27FC236}">
                    <a16:creationId xmlns:a16="http://schemas.microsoft.com/office/drawing/2014/main" id="{39AC2989-5B0C-4DB7-AB75-6E6B67F1B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11">
                <a:extLst>
                  <a:ext uri="{FF2B5EF4-FFF2-40B4-BE49-F238E27FC236}">
                    <a16:creationId xmlns:a16="http://schemas.microsoft.com/office/drawing/2014/main" id="{7A847ED5-5B69-4501-82D0-E3E51A001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Line 12">
                <a:extLst>
                  <a:ext uri="{FF2B5EF4-FFF2-40B4-BE49-F238E27FC236}">
                    <a16:creationId xmlns:a16="http://schemas.microsoft.com/office/drawing/2014/main" id="{5A957108-790A-4F10-BEBA-F935E4384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13">
                <a:extLst>
                  <a:ext uri="{FF2B5EF4-FFF2-40B4-BE49-F238E27FC236}">
                    <a16:creationId xmlns:a16="http://schemas.microsoft.com/office/drawing/2014/main" id="{8802EFF4-EA8A-4599-8EAF-2E4ADB8B2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C65D6946-162C-4EE5-8B76-45CB7EA68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1319" y="2409032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  <a:endParaRPr lang="zh-CN" altLang="en-US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D90A03EE-0D42-452D-8550-E64254A71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4169" y="2921000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Group 16">
              <a:extLst>
                <a:ext uri="{FF2B5EF4-FFF2-40B4-BE49-F238E27FC236}">
                  <a16:creationId xmlns:a16="http://schemas.microsoft.com/office/drawing/2014/main" id="{57974F38-A6AF-40D9-A67A-D01A07637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9254" y="2341166"/>
              <a:ext cx="132159" cy="594122"/>
              <a:chOff x="1791" y="1997"/>
              <a:chExt cx="409" cy="499"/>
            </a:xfrm>
          </p:grpSpPr>
          <p:sp>
            <p:nvSpPr>
              <p:cNvPr id="94" name="AutoShape 17">
                <a:extLst>
                  <a:ext uri="{FF2B5EF4-FFF2-40B4-BE49-F238E27FC236}">
                    <a16:creationId xmlns:a16="http://schemas.microsoft.com/office/drawing/2014/main" id="{0D9E1421-1144-4FFD-91F5-1A7CE6108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18">
                <a:extLst>
                  <a:ext uri="{FF2B5EF4-FFF2-40B4-BE49-F238E27FC236}">
                    <a16:creationId xmlns:a16="http://schemas.microsoft.com/office/drawing/2014/main" id="{1F928B56-1AB3-4FF3-BAFF-AA322C5DC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Line 19">
                <a:extLst>
                  <a:ext uri="{FF2B5EF4-FFF2-40B4-BE49-F238E27FC236}">
                    <a16:creationId xmlns:a16="http://schemas.microsoft.com/office/drawing/2014/main" id="{3714919E-40C9-421A-AA9C-1E1F321F7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20">
                <a:extLst>
                  <a:ext uri="{FF2B5EF4-FFF2-40B4-BE49-F238E27FC236}">
                    <a16:creationId xmlns:a16="http://schemas.microsoft.com/office/drawing/2014/main" id="{F1C07B68-5DAB-47FA-9384-D89D2C01C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Line 21">
                <a:extLst>
                  <a:ext uri="{FF2B5EF4-FFF2-40B4-BE49-F238E27FC236}">
                    <a16:creationId xmlns:a16="http://schemas.microsoft.com/office/drawing/2014/main" id="{A732BA25-AC5C-4FDE-8E56-64B9AD526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Line 22">
                <a:extLst>
                  <a:ext uri="{FF2B5EF4-FFF2-40B4-BE49-F238E27FC236}">
                    <a16:creationId xmlns:a16="http://schemas.microsoft.com/office/drawing/2014/main" id="{FD9263CA-4271-40C7-A882-680B8ADE9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2E44EAE0-0E40-4DEC-B66E-336878B51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4169" y="3547269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Group 25">
              <a:extLst>
                <a:ext uri="{FF2B5EF4-FFF2-40B4-BE49-F238E27FC236}">
                  <a16:creationId xmlns:a16="http://schemas.microsoft.com/office/drawing/2014/main" id="{12D00793-E9AC-4DD0-A082-46450F393D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1782" y="3741341"/>
              <a:ext cx="144066" cy="594122"/>
              <a:chOff x="1791" y="1997"/>
              <a:chExt cx="409" cy="499"/>
            </a:xfrm>
          </p:grpSpPr>
          <p:sp>
            <p:nvSpPr>
              <p:cNvPr id="88" name="AutoShape 26">
                <a:extLst>
                  <a:ext uri="{FF2B5EF4-FFF2-40B4-BE49-F238E27FC236}">
                    <a16:creationId xmlns:a16="http://schemas.microsoft.com/office/drawing/2014/main" id="{74698C11-A3C9-4EF5-9E9D-1D105E2C6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99CCFF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Line 27">
                <a:extLst>
                  <a:ext uri="{FF2B5EF4-FFF2-40B4-BE49-F238E27FC236}">
                    <a16:creationId xmlns:a16="http://schemas.microsoft.com/office/drawing/2014/main" id="{9FE4CCC0-1911-40D7-A17B-CE47B6CD8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Line 28">
                <a:extLst>
                  <a:ext uri="{FF2B5EF4-FFF2-40B4-BE49-F238E27FC236}">
                    <a16:creationId xmlns:a16="http://schemas.microsoft.com/office/drawing/2014/main" id="{1BA082DA-C2F2-413B-BA3A-1AB2754E8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29">
                <a:extLst>
                  <a:ext uri="{FF2B5EF4-FFF2-40B4-BE49-F238E27FC236}">
                    <a16:creationId xmlns:a16="http://schemas.microsoft.com/office/drawing/2014/main" id="{ED592EDA-22E1-4238-8CAF-D25FFD654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30">
                <a:extLst>
                  <a:ext uri="{FF2B5EF4-FFF2-40B4-BE49-F238E27FC236}">
                    <a16:creationId xmlns:a16="http://schemas.microsoft.com/office/drawing/2014/main" id="{AC6A8EB4-9A35-45A4-B5C8-EE70545D2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31">
                <a:extLst>
                  <a:ext uri="{FF2B5EF4-FFF2-40B4-BE49-F238E27FC236}">
                    <a16:creationId xmlns:a16="http://schemas.microsoft.com/office/drawing/2014/main" id="{737ECC0B-4BFF-4842-8C03-23109A226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3" name="Rectangle 39">
              <a:extLst>
                <a:ext uri="{FF2B5EF4-FFF2-40B4-BE49-F238E27FC236}">
                  <a16:creationId xmlns:a16="http://schemas.microsoft.com/office/drawing/2014/main" id="{7C9AB2CF-C7D3-4972-9997-91C423C56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926" y="3904456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</a:p>
          </p:txBody>
        </p:sp>
        <p:grpSp>
          <p:nvGrpSpPr>
            <p:cNvPr id="34" name="Group 43">
              <a:extLst>
                <a:ext uri="{FF2B5EF4-FFF2-40B4-BE49-F238E27FC236}">
                  <a16:creationId xmlns:a16="http://schemas.microsoft.com/office/drawing/2014/main" id="{00502486-EF2F-4AAA-8B79-A1E2B72C65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3017" y="3168650"/>
              <a:ext cx="875109" cy="401240"/>
              <a:chOff x="4422" y="2704"/>
              <a:chExt cx="735" cy="337"/>
            </a:xfrm>
          </p:grpSpPr>
          <p:sp>
            <p:nvSpPr>
              <p:cNvPr id="86" name="Rectangle 44">
                <a:extLst>
                  <a:ext uri="{FF2B5EF4-FFF2-40B4-BE49-F238E27FC236}">
                    <a16:creationId xmlns:a16="http://schemas.microsoft.com/office/drawing/2014/main" id="{12BEB3C5-A36D-4AAA-8FA1-9BF67538F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2" y="2723"/>
                <a:ext cx="725" cy="318"/>
              </a:xfrm>
              <a:prstGeom prst="rect">
                <a:avLst/>
              </a:prstGeom>
              <a:solidFill>
                <a:srgbClr val="1C1C1C"/>
              </a:solidFill>
              <a:ln w="9525" algn="ctr">
                <a:solidFill>
                  <a:srgbClr val="1C1C1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80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Rectangle 45">
                <a:extLst>
                  <a:ext uri="{FF2B5EF4-FFF2-40B4-BE49-F238E27FC236}">
                    <a16:creationId xmlns:a16="http://schemas.microsoft.com/office/drawing/2014/main" id="{CCA6AFFD-666F-4339-80EA-89F4157AE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2" y="2704"/>
                <a:ext cx="725" cy="318"/>
              </a:xfrm>
              <a:prstGeom prst="rect">
                <a:avLst/>
              </a:prstGeom>
              <a:solidFill>
                <a:srgbClr val="FFCC00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800" dirty="0">
                    <a:solidFill>
                      <a:srgbClr val="0066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</a:p>
            </p:txBody>
          </p:sp>
        </p:grpSp>
        <p:grpSp>
          <p:nvGrpSpPr>
            <p:cNvPr id="35" name="Group 46">
              <a:extLst>
                <a:ext uri="{FF2B5EF4-FFF2-40B4-BE49-F238E27FC236}">
                  <a16:creationId xmlns:a16="http://schemas.microsoft.com/office/drawing/2014/main" id="{8EE8CDC0-1FBE-42B0-9D2B-3B2D30F735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1973" y="3168650"/>
              <a:ext cx="813197" cy="401240"/>
              <a:chOff x="4422" y="2704"/>
              <a:chExt cx="735" cy="337"/>
            </a:xfrm>
          </p:grpSpPr>
          <p:sp>
            <p:nvSpPr>
              <p:cNvPr id="84" name="Rectangle 47">
                <a:extLst>
                  <a:ext uri="{FF2B5EF4-FFF2-40B4-BE49-F238E27FC236}">
                    <a16:creationId xmlns:a16="http://schemas.microsoft.com/office/drawing/2014/main" id="{B1F1EA7A-7278-42B4-A1BA-933BCFC9C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2" y="2723"/>
                <a:ext cx="725" cy="318"/>
              </a:xfrm>
              <a:prstGeom prst="rect">
                <a:avLst/>
              </a:prstGeom>
              <a:solidFill>
                <a:srgbClr val="1C1C1C"/>
              </a:solidFill>
              <a:ln w="9525" algn="ctr">
                <a:solidFill>
                  <a:srgbClr val="1C1C1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80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Rectangle 48">
                <a:extLst>
                  <a:ext uri="{FF2B5EF4-FFF2-40B4-BE49-F238E27FC236}">
                    <a16:creationId xmlns:a16="http://schemas.microsoft.com/office/drawing/2014/main" id="{8698A2CD-2870-45A6-B8C2-692E07434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2" y="2704"/>
                <a:ext cx="725" cy="318"/>
              </a:xfrm>
              <a:prstGeom prst="rect">
                <a:avLst/>
              </a:prstGeom>
              <a:solidFill>
                <a:srgbClr val="FFCC00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800" dirty="0">
                    <a:solidFill>
                      <a:srgbClr val="0066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</a:p>
            </p:txBody>
          </p:sp>
        </p:grpSp>
        <p:sp>
          <p:nvSpPr>
            <p:cNvPr id="36" name="Line 49">
              <a:extLst>
                <a:ext uri="{FF2B5EF4-FFF2-40B4-BE49-F238E27FC236}">
                  <a16:creationId xmlns:a16="http://schemas.microsoft.com/office/drawing/2014/main" id="{FB3CF52C-391C-412F-B025-06306C6F1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5213" y="2921000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50">
              <a:extLst>
                <a:ext uri="{FF2B5EF4-FFF2-40B4-BE49-F238E27FC236}">
                  <a16:creationId xmlns:a16="http://schemas.microsoft.com/office/drawing/2014/main" id="{B30F9F49-24EE-4B08-B0DC-0E267F8E5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5213" y="3547269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51">
              <a:extLst>
                <a:ext uri="{FF2B5EF4-FFF2-40B4-BE49-F238E27FC236}">
                  <a16:creationId xmlns:a16="http://schemas.microsoft.com/office/drawing/2014/main" id="{EDA450F4-51EB-447D-9DA1-C91F82587B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57649" y="3752651"/>
              <a:ext cx="215504" cy="2031206"/>
            </a:xfrm>
            <a:prstGeom prst="can">
              <a:avLst>
                <a:gd name="adj" fmla="val 40102"/>
              </a:avLst>
            </a:prstGeom>
            <a:gradFill rotWithShape="1">
              <a:gsLst>
                <a:gs pos="0">
                  <a:schemeClr val="folHlink">
                    <a:gamma/>
                    <a:shade val="6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52">
              <a:extLst>
                <a:ext uri="{FF2B5EF4-FFF2-40B4-BE49-F238E27FC236}">
                  <a16:creationId xmlns:a16="http://schemas.microsoft.com/office/drawing/2014/main" id="{F39B30D6-39F5-4511-AAA9-53417F792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4169" y="4411663"/>
              <a:ext cx="0" cy="3774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53">
              <a:extLst>
                <a:ext uri="{FF2B5EF4-FFF2-40B4-BE49-F238E27FC236}">
                  <a16:creationId xmlns:a16="http://schemas.microsoft.com/office/drawing/2014/main" id="{C560FA2F-8EEE-4459-A28B-F2ECE1569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3454" y="4778375"/>
              <a:ext cx="1254919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54">
              <a:extLst>
                <a:ext uri="{FF2B5EF4-FFF2-40B4-BE49-F238E27FC236}">
                  <a16:creationId xmlns:a16="http://schemas.microsoft.com/office/drawing/2014/main" id="{93666D71-E6FA-4165-825B-2AD97041F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6241" y="4778375"/>
              <a:ext cx="129897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55">
              <a:extLst>
                <a:ext uri="{FF2B5EF4-FFF2-40B4-BE49-F238E27FC236}">
                  <a16:creationId xmlns:a16="http://schemas.microsoft.com/office/drawing/2014/main" id="{2B1850DD-CBBA-4E10-BF6C-E27BEE485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5213" y="4411663"/>
              <a:ext cx="0" cy="3774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56">
              <a:extLst>
                <a:ext uri="{FF2B5EF4-FFF2-40B4-BE49-F238E27FC236}">
                  <a16:creationId xmlns:a16="http://schemas.microsoft.com/office/drawing/2014/main" id="{EC0F90FC-D8C3-4CEB-8F7C-AED3E9B75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598" y="4386102"/>
              <a:ext cx="1457325" cy="270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不可靠的网络</a:t>
              </a:r>
            </a:p>
          </p:txBody>
        </p:sp>
        <p:pic>
          <p:nvPicPr>
            <p:cNvPr id="44" name="Picture 57" descr="j0431640">
              <a:extLst>
                <a:ext uri="{FF2B5EF4-FFF2-40B4-BE49-F238E27FC236}">
                  <a16:creationId xmlns:a16="http://schemas.microsoft.com/office/drawing/2014/main" id="{E5273A7C-44EB-4C0C-A810-F120073CD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3594" y="1978025"/>
              <a:ext cx="539354" cy="539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58" descr="j0431641">
              <a:extLst>
                <a:ext uri="{FF2B5EF4-FFF2-40B4-BE49-F238E27FC236}">
                  <a16:creationId xmlns:a16="http://schemas.microsoft.com/office/drawing/2014/main" id="{9A9282D8-6F81-47EA-A889-DACE85A878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8575" y="1981596"/>
              <a:ext cx="539354" cy="539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Rectangle 59">
              <a:extLst>
                <a:ext uri="{FF2B5EF4-FFF2-40B4-BE49-F238E27FC236}">
                  <a16:creationId xmlns:a16="http://schemas.microsoft.com/office/drawing/2014/main" id="{4FEA462E-C7B8-48F3-A02A-E51A5858C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685" y="2122090"/>
              <a:ext cx="433388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60">
              <a:extLst>
                <a:ext uri="{FF2B5EF4-FFF2-40B4-BE49-F238E27FC236}">
                  <a16:creationId xmlns:a16="http://schemas.microsoft.com/office/drawing/2014/main" id="{F4EDDCA4-4947-4997-8BBC-E3BC650C1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2120" y="2122090"/>
              <a:ext cx="378619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接收方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Group 76">
              <a:extLst>
                <a:ext uri="{FF2B5EF4-FFF2-40B4-BE49-F238E27FC236}">
                  <a16:creationId xmlns:a16="http://schemas.microsoft.com/office/drawing/2014/main" id="{01B4CDA5-A6EA-4208-A0E2-7A2FB8D40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3707" y="3741341"/>
              <a:ext cx="486966" cy="594122"/>
              <a:chOff x="1791" y="1997"/>
              <a:chExt cx="409" cy="499"/>
            </a:xfrm>
          </p:grpSpPr>
          <p:sp>
            <p:nvSpPr>
              <p:cNvPr id="78" name="AutoShape 77">
                <a:extLst>
                  <a:ext uri="{FF2B5EF4-FFF2-40B4-BE49-F238E27FC236}">
                    <a16:creationId xmlns:a16="http://schemas.microsoft.com/office/drawing/2014/main" id="{B8179EBE-B792-44B0-9404-78EF55EDC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78">
                <a:extLst>
                  <a:ext uri="{FF2B5EF4-FFF2-40B4-BE49-F238E27FC236}">
                    <a16:creationId xmlns:a16="http://schemas.microsoft.com/office/drawing/2014/main" id="{E5EA31C4-5260-4B43-8C1B-DFE0F17E8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79">
                <a:extLst>
                  <a:ext uri="{FF2B5EF4-FFF2-40B4-BE49-F238E27FC236}">
                    <a16:creationId xmlns:a16="http://schemas.microsoft.com/office/drawing/2014/main" id="{8E0E4ECD-E073-4460-A820-3ADBD6DA5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Line 80">
                <a:extLst>
                  <a:ext uri="{FF2B5EF4-FFF2-40B4-BE49-F238E27FC236}">
                    <a16:creationId xmlns:a16="http://schemas.microsoft.com/office/drawing/2014/main" id="{08F2D7EE-FC05-47C1-95EE-5E4207D5E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81">
                <a:extLst>
                  <a:ext uri="{FF2B5EF4-FFF2-40B4-BE49-F238E27FC236}">
                    <a16:creationId xmlns:a16="http://schemas.microsoft.com/office/drawing/2014/main" id="{58A0DC0D-BA27-4ABE-87EC-2F2235018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82">
                <a:extLst>
                  <a:ext uri="{FF2B5EF4-FFF2-40B4-BE49-F238E27FC236}">
                    <a16:creationId xmlns:a16="http://schemas.microsoft.com/office/drawing/2014/main" id="{BEB4F7C5-6067-486A-B597-7DD45C6E3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9" name="Line 83">
              <a:extLst>
                <a:ext uri="{FF2B5EF4-FFF2-40B4-BE49-F238E27FC236}">
                  <a16:creationId xmlns:a16="http://schemas.microsoft.com/office/drawing/2014/main" id="{0CEF693B-2F21-494F-8E82-10A1607FD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470" y="3958034"/>
              <a:ext cx="2369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84">
              <a:extLst>
                <a:ext uri="{FF2B5EF4-FFF2-40B4-BE49-F238E27FC236}">
                  <a16:creationId xmlns:a16="http://schemas.microsoft.com/office/drawing/2014/main" id="{53DDAAC6-B3BF-481D-B2DB-3C591CC99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2757" y="2931715"/>
              <a:ext cx="0" cy="1025129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Group 85">
              <a:extLst>
                <a:ext uri="{FF2B5EF4-FFF2-40B4-BE49-F238E27FC236}">
                  <a16:creationId xmlns:a16="http://schemas.microsoft.com/office/drawing/2014/main" id="{3D00AE38-F296-49E5-A461-A23CFFFB7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0401" y="3796109"/>
              <a:ext cx="144066" cy="594122"/>
              <a:chOff x="1791" y="1997"/>
              <a:chExt cx="409" cy="499"/>
            </a:xfrm>
          </p:grpSpPr>
          <p:sp>
            <p:nvSpPr>
              <p:cNvPr id="72" name="AutoShape 86">
                <a:extLst>
                  <a:ext uri="{FF2B5EF4-FFF2-40B4-BE49-F238E27FC236}">
                    <a16:creationId xmlns:a16="http://schemas.microsoft.com/office/drawing/2014/main" id="{D04A6628-057F-47FA-BA7D-305A46852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99CCFF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87">
                <a:extLst>
                  <a:ext uri="{FF2B5EF4-FFF2-40B4-BE49-F238E27FC236}">
                    <a16:creationId xmlns:a16="http://schemas.microsoft.com/office/drawing/2014/main" id="{5F885AA3-3221-4381-AAD8-24D4D287B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88">
                <a:extLst>
                  <a:ext uri="{FF2B5EF4-FFF2-40B4-BE49-F238E27FC236}">
                    <a16:creationId xmlns:a16="http://schemas.microsoft.com/office/drawing/2014/main" id="{35CAA728-BEC4-4B7C-889F-37BAF22C5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89">
                <a:extLst>
                  <a:ext uri="{FF2B5EF4-FFF2-40B4-BE49-F238E27FC236}">
                    <a16:creationId xmlns:a16="http://schemas.microsoft.com/office/drawing/2014/main" id="{965CC971-E23D-4BCC-A2CA-5D522B70C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90">
                <a:extLst>
                  <a:ext uri="{FF2B5EF4-FFF2-40B4-BE49-F238E27FC236}">
                    <a16:creationId xmlns:a16="http://schemas.microsoft.com/office/drawing/2014/main" id="{6CE48E63-2436-4FDA-A3B4-05BB8635E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91">
                <a:extLst>
                  <a:ext uri="{FF2B5EF4-FFF2-40B4-BE49-F238E27FC236}">
                    <a16:creationId xmlns:a16="http://schemas.microsoft.com/office/drawing/2014/main" id="{932AE1B2-E5D2-4634-850B-BFBBA0517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Group 92">
              <a:extLst>
                <a:ext uri="{FF2B5EF4-FFF2-40B4-BE49-F238E27FC236}">
                  <a16:creationId xmlns:a16="http://schemas.microsoft.com/office/drawing/2014/main" id="{9AB79947-F69B-441D-850E-08B83A1D2B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2326" y="3796109"/>
              <a:ext cx="486966" cy="594122"/>
              <a:chOff x="1791" y="1997"/>
              <a:chExt cx="409" cy="499"/>
            </a:xfrm>
          </p:grpSpPr>
          <p:sp>
            <p:nvSpPr>
              <p:cNvPr id="66" name="AutoShape 93">
                <a:extLst>
                  <a:ext uri="{FF2B5EF4-FFF2-40B4-BE49-F238E27FC236}">
                    <a16:creationId xmlns:a16="http://schemas.microsoft.com/office/drawing/2014/main" id="{24E1E252-F6F3-4094-80E8-E90F39B87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F8F8F8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94">
                <a:extLst>
                  <a:ext uri="{FF2B5EF4-FFF2-40B4-BE49-F238E27FC236}">
                    <a16:creationId xmlns:a16="http://schemas.microsoft.com/office/drawing/2014/main" id="{93622561-261B-43DB-8650-54D83F9F90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95">
                <a:extLst>
                  <a:ext uri="{FF2B5EF4-FFF2-40B4-BE49-F238E27FC236}">
                    <a16:creationId xmlns:a16="http://schemas.microsoft.com/office/drawing/2014/main" id="{9078749D-B72A-4537-BDF4-293A09BDC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Line 96">
                <a:extLst>
                  <a:ext uri="{FF2B5EF4-FFF2-40B4-BE49-F238E27FC236}">
                    <a16:creationId xmlns:a16="http://schemas.microsoft.com/office/drawing/2014/main" id="{30DD71E9-235B-4BBE-8189-BD487357B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97">
                <a:extLst>
                  <a:ext uri="{FF2B5EF4-FFF2-40B4-BE49-F238E27FC236}">
                    <a16:creationId xmlns:a16="http://schemas.microsoft.com/office/drawing/2014/main" id="{9B54AEE4-5A1F-4FA4-B400-461B79976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98">
                <a:extLst>
                  <a:ext uri="{FF2B5EF4-FFF2-40B4-BE49-F238E27FC236}">
                    <a16:creationId xmlns:a16="http://schemas.microsoft.com/office/drawing/2014/main" id="{F00BF221-BF0C-4279-953A-EF12F076F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3" name="Rectangle 106">
              <a:extLst>
                <a:ext uri="{FF2B5EF4-FFF2-40B4-BE49-F238E27FC236}">
                  <a16:creationId xmlns:a16="http://schemas.microsoft.com/office/drawing/2014/main" id="{180CD536-4157-4CB6-AC9D-103C414C9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1010" y="3904456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</a:p>
          </p:txBody>
        </p:sp>
        <p:grpSp>
          <p:nvGrpSpPr>
            <p:cNvPr id="54" name="Group 107">
              <a:extLst>
                <a:ext uri="{FF2B5EF4-FFF2-40B4-BE49-F238E27FC236}">
                  <a16:creationId xmlns:a16="http://schemas.microsoft.com/office/drawing/2014/main" id="{08A9DF8E-F3FE-4D79-80E4-A014AB2F91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03701" y="2337593"/>
              <a:ext cx="144066" cy="594122"/>
              <a:chOff x="1791" y="1997"/>
              <a:chExt cx="409" cy="499"/>
            </a:xfrm>
          </p:grpSpPr>
          <p:sp>
            <p:nvSpPr>
              <p:cNvPr id="60" name="AutoShape 108">
                <a:extLst>
                  <a:ext uri="{FF2B5EF4-FFF2-40B4-BE49-F238E27FC236}">
                    <a16:creationId xmlns:a16="http://schemas.microsoft.com/office/drawing/2014/main" id="{EF972C21-3020-4974-80E7-0E2002106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99CCFF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109">
                <a:extLst>
                  <a:ext uri="{FF2B5EF4-FFF2-40B4-BE49-F238E27FC236}">
                    <a16:creationId xmlns:a16="http://schemas.microsoft.com/office/drawing/2014/main" id="{E737890C-17C0-45FF-A081-444C909C4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110">
                <a:extLst>
                  <a:ext uri="{FF2B5EF4-FFF2-40B4-BE49-F238E27FC236}">
                    <a16:creationId xmlns:a16="http://schemas.microsoft.com/office/drawing/2014/main" id="{1F0E9357-F9F8-445F-A427-30A25096C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111">
                <a:extLst>
                  <a:ext uri="{FF2B5EF4-FFF2-40B4-BE49-F238E27FC236}">
                    <a16:creationId xmlns:a16="http://schemas.microsoft.com/office/drawing/2014/main" id="{E92DC04F-E174-496B-B0A6-CC154A646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112">
                <a:extLst>
                  <a:ext uri="{FF2B5EF4-FFF2-40B4-BE49-F238E27FC236}">
                    <a16:creationId xmlns:a16="http://schemas.microsoft.com/office/drawing/2014/main" id="{E345A001-1358-4495-8AA0-45DF2F749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113">
                <a:extLst>
                  <a:ext uri="{FF2B5EF4-FFF2-40B4-BE49-F238E27FC236}">
                    <a16:creationId xmlns:a16="http://schemas.microsoft.com/office/drawing/2014/main" id="{414C6531-B5B5-4F87-95CC-764648E66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id="{10778828-1A84-4953-9C9F-6DF5E9E3D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7057" y="2499519"/>
              <a:ext cx="385763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</a:p>
          </p:txBody>
        </p:sp>
        <p:sp>
          <p:nvSpPr>
            <p:cNvPr id="56" name="Rectangle 116">
              <a:extLst>
                <a:ext uri="{FF2B5EF4-FFF2-40B4-BE49-F238E27FC236}">
                  <a16:creationId xmlns:a16="http://schemas.microsoft.com/office/drawing/2014/main" id="{466228FB-CA08-4C00-8EFF-DD1F5C9D3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5970" y="1540471"/>
              <a:ext cx="2216944" cy="270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确定“数据”</a:t>
              </a:r>
              <a:r>
                <a:rPr lang="zh-CN" altLang="en-US" sz="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是否出错</a:t>
              </a:r>
            </a:p>
          </p:txBody>
        </p:sp>
        <p:sp>
          <p:nvSpPr>
            <p:cNvPr id="57" name="Line 117">
              <a:extLst>
                <a:ext uri="{FF2B5EF4-FFF2-40B4-BE49-F238E27FC236}">
                  <a16:creationId xmlns:a16="http://schemas.microsoft.com/office/drawing/2014/main" id="{438418B2-119D-4D8E-B089-8ABB5D2A5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517" y="2716213"/>
              <a:ext cx="0" cy="10251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118">
              <a:extLst>
                <a:ext uri="{FF2B5EF4-FFF2-40B4-BE49-F238E27FC236}">
                  <a16:creationId xmlns:a16="http://schemas.microsoft.com/office/drawing/2014/main" id="{AC04B0EB-4A1A-47AD-AEF9-26217EB6B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5392" y="2716212"/>
              <a:ext cx="2369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14">
              <a:extLst>
                <a:ext uri="{FF2B5EF4-FFF2-40B4-BE49-F238E27FC236}">
                  <a16:creationId xmlns:a16="http://schemas.microsoft.com/office/drawing/2014/main" id="{FCB384B0-BC6B-4C31-B5C8-69F44089E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8520" y="3973670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Data’</a:t>
              </a:r>
              <a:endParaRPr lang="zh-CN" altLang="en-US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6" name="灯片编号占位符 2">
            <a:extLst>
              <a:ext uri="{FF2B5EF4-FFF2-40B4-BE49-F238E27FC236}">
                <a16:creationId xmlns:a16="http://schemas.microsoft.com/office/drawing/2014/main" id="{E2C7625E-4814-456B-9484-15CC050F13E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107" name="AutoShape 5">
            <a:extLst>
              <a:ext uri="{FF2B5EF4-FFF2-40B4-BE49-F238E27FC236}">
                <a16:creationId xmlns:a16="http://schemas.microsoft.com/office/drawing/2014/main" id="{E536035A-C3DA-4377-A9A6-AB8CE1867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646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453362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3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：可靠传输原理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/>
              <a:t>机制：停止等待协议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工具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方法：有限状态机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差错检验，</a:t>
            </a:r>
            <a:r>
              <a:rPr lang="en-US" altLang="zh-CN" dirty="0"/>
              <a:t>Timer</a:t>
            </a:r>
          </a:p>
          <a:p>
            <a:pPr lvl="2"/>
            <a:r>
              <a:rPr lang="zh-CN" altLang="en-US" dirty="0"/>
              <a:t>确认，重传</a:t>
            </a:r>
            <a:endParaRPr lang="en-US" altLang="zh-CN" dirty="0"/>
          </a:p>
          <a:p>
            <a:pPr lvl="1"/>
            <a:r>
              <a:rPr lang="zh-CN" altLang="en-US" dirty="0"/>
              <a:t>机制：流水线协议</a:t>
            </a:r>
            <a:endParaRPr lang="en-US" altLang="zh-CN" dirty="0"/>
          </a:p>
          <a:p>
            <a:pPr lvl="2"/>
            <a:r>
              <a:rPr lang="zh-CN" altLang="en-US" dirty="0"/>
              <a:t>差错检验，</a:t>
            </a:r>
            <a:r>
              <a:rPr lang="en-US" altLang="zh-CN" dirty="0"/>
              <a:t>Timer</a:t>
            </a:r>
          </a:p>
          <a:p>
            <a:pPr lvl="2"/>
            <a:r>
              <a:rPr lang="zh-CN" altLang="en-US" dirty="0"/>
              <a:t>分组序号</a:t>
            </a:r>
            <a:r>
              <a:rPr lang="en-US" altLang="zh-CN" dirty="0"/>
              <a:t>/</a:t>
            </a:r>
            <a:r>
              <a:rPr lang="zh-CN" altLang="en-US" dirty="0"/>
              <a:t>确认序号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技术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方法：滑动窗口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确认和重传策略（分析各种场景）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回退</a:t>
            </a:r>
            <a:r>
              <a:rPr lang="en-US" altLang="zh-CN" dirty="0"/>
              <a:t>N</a:t>
            </a:r>
            <a:r>
              <a:rPr lang="zh-CN" altLang="en-US" dirty="0"/>
              <a:t>步</a:t>
            </a:r>
            <a:endParaRPr lang="en-US" altLang="zh-CN" dirty="0"/>
          </a:p>
          <a:p>
            <a:pPr lvl="3"/>
            <a:r>
              <a:rPr lang="zh-CN" altLang="en-US" dirty="0"/>
              <a:t>选择重传</a:t>
            </a:r>
            <a:endParaRPr lang="en-US" altLang="zh-CN" dirty="0"/>
          </a:p>
          <a:p>
            <a:pPr lvl="2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A337988-5824-4E61-950C-C50E3F2F9EAB}"/>
              </a:ext>
            </a:extLst>
          </p:cNvPr>
          <p:cNvGrpSpPr/>
          <p:nvPr/>
        </p:nvGrpSpPr>
        <p:grpSpPr>
          <a:xfrm>
            <a:off x="5019623" y="826493"/>
            <a:ext cx="3230775" cy="2045172"/>
            <a:chOff x="873411" y="3035306"/>
            <a:chExt cx="3230775" cy="2045172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1FBF03AE-7535-4314-A96B-4AC50FA16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904" y="3331802"/>
              <a:ext cx="676275" cy="627459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83F930E1-1447-4B80-AF4A-4B10BF1F2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5614" y="3465383"/>
              <a:ext cx="817959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</a:t>
              </a:r>
            </a:p>
            <a:p>
              <a:pPr algn="ctr" eaLnBrk="0" hangingPunct="0"/>
              <a:r>
                <a:rPr lang="en-US" altLang="zh-CN" sz="9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call 0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FAFDCECE-D1D3-43C1-84BC-0AC4557EF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0864" y="3419593"/>
              <a:ext cx="283369" cy="1428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A899ABC0-1A59-4F30-AA6F-49B300C84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6036" y="3292511"/>
              <a:ext cx="702469" cy="648891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66DCD98E-5207-41BE-AE77-299CEFB4A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078" y="3456699"/>
              <a:ext cx="812030" cy="56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0</a:t>
              </a: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366552E-213F-48B4-88DE-A2EDBC773787}"/>
                </a:ext>
              </a:extLst>
            </p:cNvPr>
            <p:cNvSpPr/>
            <p:nvPr/>
          </p:nvSpPr>
          <p:spPr bwMode="auto">
            <a:xfrm flipV="1">
              <a:off x="1812814" y="3200833"/>
              <a:ext cx="1112044" cy="165497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FAAEB33-22A6-456C-B97D-C5BC2E9347EE}"/>
                </a:ext>
              </a:extLst>
            </p:cNvPr>
            <p:cNvSpPr/>
            <p:nvPr/>
          </p:nvSpPr>
          <p:spPr bwMode="auto">
            <a:xfrm rot="-3229536">
              <a:off x="3373738" y="2981134"/>
              <a:ext cx="340519" cy="515540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D9CB16B-2C7C-40F2-B0A6-CC5A7EC6C639}"/>
                </a:ext>
              </a:extLst>
            </p:cNvPr>
            <p:cNvSpPr/>
            <p:nvPr/>
          </p:nvSpPr>
          <p:spPr bwMode="auto">
            <a:xfrm rot="16200000" flipV="1">
              <a:off x="1023429" y="3985454"/>
              <a:ext cx="585788" cy="200025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3284558-C1AF-46DA-AD98-6B14D4E68364}"/>
                </a:ext>
              </a:extLst>
            </p:cNvPr>
            <p:cNvSpPr/>
            <p:nvPr/>
          </p:nvSpPr>
          <p:spPr bwMode="auto">
            <a:xfrm>
              <a:off x="2016411" y="4778411"/>
              <a:ext cx="1060847" cy="171450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98C6B83-0E75-4E4D-99BF-D5E3D5F753FD}"/>
                </a:ext>
              </a:extLst>
            </p:cNvPr>
            <p:cNvSpPr/>
            <p:nvPr/>
          </p:nvSpPr>
          <p:spPr bwMode="auto">
            <a:xfrm rot="5400000" flipH="1" flipV="1">
              <a:off x="3274306" y="4036056"/>
              <a:ext cx="514350" cy="55959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84A6788A-C3A1-45E9-A8CA-F63C7CB92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3661" y="4228342"/>
              <a:ext cx="675085" cy="617935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6DEBBAD7-C9B5-4919-B4C8-26CCB589B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748" y="4371738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</a:t>
              </a:r>
            </a:p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call 1</a:t>
              </a:r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519056EF-BA32-4C5C-AF65-BD0FE1D07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904" y="4217627"/>
              <a:ext cx="675085" cy="617934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F33B896E-49A4-47D1-9107-5E87C34105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6089" y="4355069"/>
              <a:ext cx="78462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1</a:t>
              </a:r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CB86D4C1-D1C9-47D2-93B5-9641BCEBD5EE}"/>
                </a:ext>
              </a:extLst>
            </p:cNvPr>
            <p:cNvSpPr/>
            <p:nvPr/>
          </p:nvSpPr>
          <p:spPr bwMode="auto">
            <a:xfrm rot="10074080">
              <a:off x="1052295" y="4367415"/>
              <a:ext cx="340519" cy="515540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solidFill>
              <a:srgbClr val="FFFFFF"/>
            </a:solidFill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58">
              <a:extLst>
                <a:ext uri="{FF2B5EF4-FFF2-40B4-BE49-F238E27FC236}">
                  <a16:creationId xmlns:a16="http://schemas.microsoft.com/office/drawing/2014/main" id="{278A4136-7E25-4483-8A7E-1BE41456FD08}"/>
                </a:ext>
              </a:extLst>
            </p:cNvPr>
            <p:cNvSpPr/>
            <p:nvPr/>
          </p:nvSpPr>
          <p:spPr bwMode="auto">
            <a:xfrm rot="1081619">
              <a:off x="3547079" y="3424163"/>
              <a:ext cx="340519" cy="515541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61">
              <a:extLst>
                <a:ext uri="{FF2B5EF4-FFF2-40B4-BE49-F238E27FC236}">
                  <a16:creationId xmlns:a16="http://schemas.microsoft.com/office/drawing/2014/main" id="{25698EA8-1997-46F4-B39F-4793AB53F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836" y="3035306"/>
              <a:ext cx="514350" cy="285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Timer</a:t>
              </a:r>
            </a:p>
          </p:txBody>
        </p:sp>
        <p:sp>
          <p:nvSpPr>
            <p:cNvPr id="23" name="Rectangle 62">
              <a:extLst>
                <a:ext uri="{FF2B5EF4-FFF2-40B4-BE49-F238E27FC236}">
                  <a16:creationId xmlns:a16="http://schemas.microsoft.com/office/drawing/2014/main" id="{532248CD-C1BD-4EFB-9CD7-96BD1423F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411" y="4849347"/>
              <a:ext cx="514350" cy="231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Timer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0C93E93-7D70-4849-A1E4-650B02E1C84C}"/>
              </a:ext>
            </a:extLst>
          </p:cNvPr>
          <p:cNvGrpSpPr/>
          <p:nvPr/>
        </p:nvGrpSpPr>
        <p:grpSpPr>
          <a:xfrm>
            <a:off x="4839828" y="3154219"/>
            <a:ext cx="1487165" cy="1753290"/>
            <a:chOff x="4996290" y="1275606"/>
            <a:chExt cx="2955065" cy="3483868"/>
          </a:xfrm>
        </p:grpSpPr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292A6D1C-3813-4513-B452-3F7BC1839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F25B3124-598F-40F7-9ED6-EE9399C62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7">
              <a:extLst>
                <a:ext uri="{FF2B5EF4-FFF2-40B4-BE49-F238E27FC236}">
                  <a16:creationId xmlns:a16="http://schemas.microsoft.com/office/drawing/2014/main" id="{02B11CC1-A8B5-4E37-AA41-DE9A60DF3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9">
              <a:extLst>
                <a:ext uri="{FF2B5EF4-FFF2-40B4-BE49-F238E27FC236}">
                  <a16:creationId xmlns:a16="http://schemas.microsoft.com/office/drawing/2014/main" id="{685D7167-268B-49CE-8A1A-6B76DDCBF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31" name="Rectangle 10">
              <a:extLst>
                <a:ext uri="{FF2B5EF4-FFF2-40B4-BE49-F238E27FC236}">
                  <a16:creationId xmlns:a16="http://schemas.microsoft.com/office/drawing/2014/main" id="{EF9DC870-34E4-4DCE-B027-AE8A240EB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32" name="Rectangle 26">
              <a:extLst>
                <a:ext uri="{FF2B5EF4-FFF2-40B4-BE49-F238E27FC236}">
                  <a16:creationId xmlns:a16="http://schemas.microsoft.com/office/drawing/2014/main" id="{5CFB0B51-7811-437E-A78F-D40FED1E4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9ECB9F5F-9499-419E-A363-E09E303E0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1894FD1A-52E8-4BA9-AF63-72C1AAA3A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BC610E2E-C5F8-47F3-AC44-BD3BD48CC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36" name="Line 7">
              <a:extLst>
                <a:ext uri="{FF2B5EF4-FFF2-40B4-BE49-F238E27FC236}">
                  <a16:creationId xmlns:a16="http://schemas.microsoft.com/office/drawing/2014/main" id="{83AF5C50-E2FA-472C-A6CA-95CD26689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2" y="1882642"/>
              <a:ext cx="1553976" cy="618899"/>
            </a:xfrm>
            <a:prstGeom prst="line">
              <a:avLst/>
            </a:prstGeom>
            <a:noFill/>
            <a:ln w="44450">
              <a:solidFill>
                <a:srgbClr val="C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7">
              <a:extLst>
                <a:ext uri="{FF2B5EF4-FFF2-40B4-BE49-F238E27FC236}">
                  <a16:creationId xmlns:a16="http://schemas.microsoft.com/office/drawing/2014/main" id="{BF5A6BC1-E108-46C6-B701-F8CBEE0D0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80C9CF8B-60A8-4BBA-8013-9144BDAF7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B592EAC9-60EE-4DCE-915F-B04385645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299631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CA3C3124-96AD-45F4-8429-6098BCD62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2950274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1" name="Rectangle 29">
              <a:extLst>
                <a:ext uri="{FF2B5EF4-FFF2-40B4-BE49-F238E27FC236}">
                  <a16:creationId xmlns:a16="http://schemas.microsoft.com/office/drawing/2014/main" id="{AEEA49C5-8843-410A-8D10-35DC44321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3194192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9A9ACD72-A2C9-4DC6-BBE9-3E2444ADB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3430728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43" name="Line 7">
              <a:extLst>
                <a:ext uri="{FF2B5EF4-FFF2-40B4-BE49-F238E27FC236}">
                  <a16:creationId xmlns:a16="http://schemas.microsoft.com/office/drawing/2014/main" id="{16CFAE75-F96B-44C1-AD37-73518F586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324528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7">
              <a:extLst>
                <a:ext uri="{FF2B5EF4-FFF2-40B4-BE49-F238E27FC236}">
                  <a16:creationId xmlns:a16="http://schemas.microsoft.com/office/drawing/2014/main" id="{5CEF77A9-9D8C-434A-A444-E011D6E11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3481095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左大括号 44">
              <a:extLst>
                <a:ext uri="{FF2B5EF4-FFF2-40B4-BE49-F238E27FC236}">
                  <a16:creationId xmlns:a16="http://schemas.microsoft.com/office/drawing/2014/main" id="{7BD64A67-9976-4C2F-8042-6A4B590FBAF6}"/>
                </a:ext>
              </a:extLst>
            </p:cNvPr>
            <p:cNvSpPr/>
            <p:nvPr/>
          </p:nvSpPr>
          <p:spPr>
            <a:xfrm>
              <a:off x="5412205" y="2085783"/>
              <a:ext cx="111710" cy="1337346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94995D87-8497-4C2A-8693-652809F06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290" y="201050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计时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09405A3C-643A-4C76-A0AE-76B129ADA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3674473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48" name="Line 7">
              <a:extLst>
                <a:ext uri="{FF2B5EF4-FFF2-40B4-BE49-F238E27FC236}">
                  <a16:creationId xmlns:a16="http://schemas.microsoft.com/office/drawing/2014/main" id="{BDFB8B63-44B4-4CB0-980E-DB61F5310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376227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B807D6B7-CC1B-4BBA-AD87-4BEAD5B433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76470" y="2313736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A64D11D4-0D19-4D3C-A20E-C9BBAAC727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76470" y="2519548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32">
              <a:extLst>
                <a:ext uri="{FF2B5EF4-FFF2-40B4-BE49-F238E27FC236}">
                  <a16:creationId xmlns:a16="http://schemas.microsoft.com/office/drawing/2014/main" id="{D4F34D59-BF88-4824-A110-783928DE1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994" y="2508666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60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80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Rectangle 32">
              <a:extLst>
                <a:ext uri="{FF2B5EF4-FFF2-40B4-BE49-F238E27FC236}">
                  <a16:creationId xmlns:a16="http://schemas.microsoft.com/office/drawing/2014/main" id="{2BD9F86F-A0A1-425A-AEBE-A467D06FA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994" y="2745985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60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80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32">
              <a:extLst>
                <a:ext uri="{FF2B5EF4-FFF2-40B4-BE49-F238E27FC236}">
                  <a16:creationId xmlns:a16="http://schemas.microsoft.com/office/drawing/2014/main" id="{BA5E4ECB-1A60-45D8-986D-E697BDF9E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1549" y="288513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32">
              <a:extLst>
                <a:ext uri="{FF2B5EF4-FFF2-40B4-BE49-F238E27FC236}">
                  <a16:creationId xmlns:a16="http://schemas.microsoft.com/office/drawing/2014/main" id="{E66C68FD-0E7C-4C43-B6F8-74207BF5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1549" y="263892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32">
              <a:extLst>
                <a:ext uri="{FF2B5EF4-FFF2-40B4-BE49-F238E27FC236}">
                  <a16:creationId xmlns:a16="http://schemas.microsoft.com/office/drawing/2014/main" id="{50A358D7-FC18-4248-918C-0105F50AB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1549" y="2363475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52209A4-1F85-4DA4-9043-857C679FA8EC}"/>
              </a:ext>
            </a:extLst>
          </p:cNvPr>
          <p:cNvGrpSpPr/>
          <p:nvPr/>
        </p:nvGrpSpPr>
        <p:grpSpPr>
          <a:xfrm>
            <a:off x="6644482" y="3209622"/>
            <a:ext cx="1552126" cy="1612927"/>
            <a:chOff x="4572000" y="1275606"/>
            <a:chExt cx="3352540" cy="3483868"/>
          </a:xfrm>
        </p:grpSpPr>
        <p:sp>
          <p:nvSpPr>
            <p:cNvPr id="57" name="Line 5">
              <a:extLst>
                <a:ext uri="{FF2B5EF4-FFF2-40B4-BE49-F238E27FC236}">
                  <a16:creationId xmlns:a16="http://schemas.microsoft.com/office/drawing/2014/main" id="{E4027FC5-6B69-4F9B-AA72-583A09E7D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58" name="Line 6">
              <a:extLst>
                <a:ext uri="{FF2B5EF4-FFF2-40B4-BE49-F238E27FC236}">
                  <a16:creationId xmlns:a16="http://schemas.microsoft.com/office/drawing/2014/main" id="{2A4CFDAF-3CF4-421C-805E-A3113373F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59" name="Line 7">
              <a:extLst>
                <a:ext uri="{FF2B5EF4-FFF2-40B4-BE49-F238E27FC236}">
                  <a16:creationId xmlns:a16="http://schemas.microsoft.com/office/drawing/2014/main" id="{E8750DF7-99A4-49E3-AFFA-B841F56A6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0" name="Rectangle 9">
              <a:extLst>
                <a:ext uri="{FF2B5EF4-FFF2-40B4-BE49-F238E27FC236}">
                  <a16:creationId xmlns:a16="http://schemas.microsoft.com/office/drawing/2014/main" id="{4BBB85C0-2DCE-482F-8169-35CCF16C6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A</a:t>
              </a:r>
            </a:p>
          </p:txBody>
        </p:sp>
        <p:sp>
          <p:nvSpPr>
            <p:cNvPr id="61" name="Rectangle 10">
              <a:extLst>
                <a:ext uri="{FF2B5EF4-FFF2-40B4-BE49-F238E27FC236}">
                  <a16:creationId xmlns:a16="http://schemas.microsoft.com/office/drawing/2014/main" id="{5BC4E67E-9021-465A-82A5-945E0E22C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B</a:t>
              </a:r>
            </a:p>
          </p:txBody>
        </p:sp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8EA4B65D-12B2-4C06-9B3C-06F805789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1</a:t>
              </a:r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92B6C2F9-C398-4B43-9D5B-214268686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7491" y="2310871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4" name="Rectangle 29">
              <a:extLst>
                <a:ext uri="{FF2B5EF4-FFF2-40B4-BE49-F238E27FC236}">
                  <a16:creationId xmlns:a16="http://schemas.microsoft.com/office/drawing/2014/main" id="{D108F731-0324-4D01-B148-7ED4D4EBF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2</a:t>
              </a:r>
            </a:p>
          </p:txBody>
        </p:sp>
        <p:sp>
          <p:nvSpPr>
            <p:cNvPr id="65" name="Rectangle 32">
              <a:extLst>
                <a:ext uri="{FF2B5EF4-FFF2-40B4-BE49-F238E27FC236}">
                  <a16:creationId xmlns:a16="http://schemas.microsoft.com/office/drawing/2014/main" id="{15DA19E6-DE9E-43C9-82CE-6A0F3A405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0</a:t>
              </a:r>
            </a:p>
          </p:txBody>
        </p:sp>
        <p:sp>
          <p:nvSpPr>
            <p:cNvPr id="66" name="Rectangle 29">
              <a:extLst>
                <a:ext uri="{FF2B5EF4-FFF2-40B4-BE49-F238E27FC236}">
                  <a16:creationId xmlns:a16="http://schemas.microsoft.com/office/drawing/2014/main" id="{86367502-5C48-4EEC-893C-79D973BA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3</a:t>
              </a:r>
            </a:p>
          </p:txBody>
        </p:sp>
        <p:sp>
          <p:nvSpPr>
            <p:cNvPr id="67" name="Line 7">
              <a:extLst>
                <a:ext uri="{FF2B5EF4-FFF2-40B4-BE49-F238E27FC236}">
                  <a16:creationId xmlns:a16="http://schemas.microsoft.com/office/drawing/2014/main" id="{DB8C4D09-D9A8-4D52-82E6-B6353C0BA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2" y="1882642"/>
              <a:ext cx="765173" cy="30474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8" name="Line 7">
              <a:extLst>
                <a:ext uri="{FF2B5EF4-FFF2-40B4-BE49-F238E27FC236}">
                  <a16:creationId xmlns:a16="http://schemas.microsoft.com/office/drawing/2014/main" id="{9E8E2854-7098-44BF-9C52-607E4714F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9" name="Line 7">
              <a:extLst>
                <a:ext uri="{FF2B5EF4-FFF2-40B4-BE49-F238E27FC236}">
                  <a16:creationId xmlns:a16="http://schemas.microsoft.com/office/drawing/2014/main" id="{B7DC26F7-C260-45AA-AC89-2F1361F5D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70" name="Rectangle 32">
              <a:extLst>
                <a:ext uri="{FF2B5EF4-FFF2-40B4-BE49-F238E27FC236}">
                  <a16:creationId xmlns:a16="http://schemas.microsoft.com/office/drawing/2014/main" id="{39C029F5-A851-4421-BBAE-A898B518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0776" y="2084117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FF0000"/>
                  </a:solidFill>
                  <a:latin typeface="+mj-ea"/>
                  <a:ea typeface="+mj-ea"/>
                </a:rPr>
                <a:t>失</a:t>
              </a:r>
              <a:endParaRPr lang="en-US" altLang="zh-CN" sz="8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71" name="Line 7">
              <a:extLst>
                <a:ext uri="{FF2B5EF4-FFF2-40B4-BE49-F238E27FC236}">
                  <a16:creationId xmlns:a16="http://schemas.microsoft.com/office/drawing/2014/main" id="{6087615D-239D-4393-85E6-F00B4289F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0891" y="3387908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72" name="Rectangle 26">
              <a:extLst>
                <a:ext uri="{FF2B5EF4-FFF2-40B4-BE49-F238E27FC236}">
                  <a16:creationId xmlns:a16="http://schemas.microsoft.com/office/drawing/2014/main" id="{58585AFE-0A9B-4479-AFAD-0EFD6C63B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3341871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1</a:t>
              </a:r>
            </a:p>
          </p:txBody>
        </p:sp>
        <p:sp>
          <p:nvSpPr>
            <p:cNvPr id="73" name="左大括号 72">
              <a:extLst>
                <a:ext uri="{FF2B5EF4-FFF2-40B4-BE49-F238E27FC236}">
                  <a16:creationId xmlns:a16="http://schemas.microsoft.com/office/drawing/2014/main" id="{030802F3-5050-4AA4-AF72-C729EACD5D68}"/>
                </a:ext>
              </a:extLst>
            </p:cNvPr>
            <p:cNvSpPr/>
            <p:nvPr/>
          </p:nvSpPr>
          <p:spPr>
            <a:xfrm>
              <a:off x="5396315" y="2085784"/>
              <a:ext cx="128595" cy="1256087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700"/>
            </a:p>
          </p:txBody>
        </p:sp>
        <p:sp>
          <p:nvSpPr>
            <p:cNvPr id="74" name="Rectangle 32">
              <a:extLst>
                <a:ext uri="{FF2B5EF4-FFF2-40B4-BE49-F238E27FC236}">
                  <a16:creationId xmlns:a16="http://schemas.microsoft.com/office/drawing/2014/main" id="{2B3E54F5-2D77-4777-873C-6A7DC8A91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273159"/>
              <a:ext cx="881143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800" dirty="0">
                  <a:solidFill>
                    <a:srgbClr val="FF0000"/>
                  </a:solidFill>
                </a:rPr>
                <a:t>pkt</a:t>
              </a:r>
              <a:r>
                <a:rPr lang="en-US" altLang="zh-CN" sz="800" baseline="-25000" dirty="0">
                  <a:solidFill>
                    <a:srgbClr val="FF0000"/>
                  </a:solidFill>
                </a:rPr>
                <a:t>1</a:t>
              </a:r>
              <a:r>
                <a:rPr lang="zh-CN" altLang="en-US" sz="800" dirty="0">
                  <a:solidFill>
                    <a:srgbClr val="FF0000"/>
                  </a:solidFill>
                  <a:latin typeface="+mj-ea"/>
                  <a:ea typeface="+mj-ea"/>
                </a:rPr>
                <a:t>超时</a:t>
              </a:r>
              <a:endParaRPr lang="en-US" altLang="zh-CN" sz="8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75" name="Rectangle 29">
              <a:extLst>
                <a:ext uri="{FF2B5EF4-FFF2-40B4-BE49-F238E27FC236}">
                  <a16:creationId xmlns:a16="http://schemas.microsoft.com/office/drawing/2014/main" id="{5D1D2FAE-7EA0-4765-9EEB-290BDE304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551" y="3611275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4</a:t>
              </a:r>
            </a:p>
          </p:txBody>
        </p:sp>
        <p:sp>
          <p:nvSpPr>
            <p:cNvPr id="76" name="Rectangle 32">
              <a:extLst>
                <a:ext uri="{FF2B5EF4-FFF2-40B4-BE49-F238E27FC236}">
                  <a16:creationId xmlns:a16="http://schemas.microsoft.com/office/drawing/2014/main" id="{A3C92C8D-93F7-4756-AC7D-3BB86D6FB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7417" y="2645328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>
                  <a:solidFill>
                    <a:srgbClr val="0000FF"/>
                  </a:solidFill>
                </a:rPr>
                <a:t>ack</a:t>
              </a:r>
              <a:r>
                <a:rPr lang="en-US" altLang="zh-CN" sz="700" baseline="-25000" dirty="0">
                  <a:solidFill>
                    <a:srgbClr val="0000FF"/>
                  </a:solidFill>
                </a:rPr>
                <a:t>0</a:t>
              </a:r>
              <a:endParaRPr lang="en-US" altLang="zh-CN" sz="9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77" name="Rectangle 32">
              <a:extLst>
                <a:ext uri="{FF2B5EF4-FFF2-40B4-BE49-F238E27FC236}">
                  <a16:creationId xmlns:a16="http://schemas.microsoft.com/office/drawing/2014/main" id="{4E0FE499-FA80-4166-B580-15B271B14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337" y="1997292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800" dirty="0">
                  <a:solidFill>
                    <a:srgbClr val="FF0000"/>
                  </a:solidFill>
                  <a:latin typeface="+mj-ea"/>
                  <a:ea typeface="+mj-ea"/>
                </a:rPr>
                <a:t>计时</a:t>
              </a:r>
              <a:endParaRPr lang="en-US" altLang="zh-CN" sz="8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15B2ECDB-AC67-4788-A023-43F01FE64C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7491" y="2759395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54C6DDA8-A2FE-4420-B2B9-CCA6D1220E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7491" y="3015306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80" name="Rectangle 32">
              <a:extLst>
                <a:ext uri="{FF2B5EF4-FFF2-40B4-BE49-F238E27FC236}">
                  <a16:creationId xmlns:a16="http://schemas.microsoft.com/office/drawing/2014/main" id="{90394188-949F-49C6-8F0D-1418970CA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4838" y="2984913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>
                  <a:solidFill>
                    <a:srgbClr val="0000FF"/>
                  </a:solidFill>
                </a:rPr>
                <a:t>ack</a:t>
              </a:r>
              <a:r>
                <a:rPr lang="en-US" altLang="zh-CN" sz="700" baseline="-25000" dirty="0">
                  <a:solidFill>
                    <a:srgbClr val="0000FF"/>
                  </a:solidFill>
                </a:rPr>
                <a:t>2</a:t>
              </a:r>
              <a:endParaRPr lang="en-US" altLang="zh-CN" sz="9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81" name="Rectangle 32">
              <a:extLst>
                <a:ext uri="{FF2B5EF4-FFF2-40B4-BE49-F238E27FC236}">
                  <a16:creationId xmlns:a16="http://schemas.microsoft.com/office/drawing/2014/main" id="{9EE03B27-2B5D-4BE3-A265-CE98E9D21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3478" y="3291107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>
                  <a:solidFill>
                    <a:srgbClr val="0000FF"/>
                  </a:solidFill>
                </a:rPr>
                <a:t>ack</a:t>
              </a:r>
              <a:r>
                <a:rPr lang="en-US" altLang="zh-CN" sz="700" baseline="-25000" dirty="0">
                  <a:solidFill>
                    <a:srgbClr val="0000FF"/>
                  </a:solidFill>
                </a:rPr>
                <a:t>3</a:t>
              </a:r>
              <a:endParaRPr lang="en-US" altLang="zh-CN" sz="9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DE4E49D5-B081-40E1-BFE7-6CC467CE4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8240" y="363014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dash"/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</p:grpSp>
      <p:sp>
        <p:nvSpPr>
          <p:cNvPr id="83" name="灯片编号占位符 2">
            <a:extLst>
              <a:ext uri="{FF2B5EF4-FFF2-40B4-BE49-F238E27FC236}">
                <a16:creationId xmlns:a16="http://schemas.microsoft.com/office/drawing/2014/main" id="{8DF2107A-F395-49D5-BB31-44799B21467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84" name="AutoShape 5">
            <a:extLst>
              <a:ext uri="{FF2B5EF4-FFF2-40B4-BE49-F238E27FC236}">
                <a16:creationId xmlns:a16="http://schemas.microsoft.com/office/drawing/2014/main" id="{3A2F0D51-B8E3-4BCB-BDC3-7AF3BCD8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34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5256583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可靠传输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/>
              <a:t>可靠的字节流传输</a:t>
            </a:r>
            <a:endParaRPr lang="en-US" altLang="zh-CN" dirty="0"/>
          </a:p>
          <a:p>
            <a:pPr lvl="1"/>
            <a:r>
              <a:rPr lang="zh-CN" altLang="en-US" dirty="0"/>
              <a:t>序号</a:t>
            </a:r>
            <a:r>
              <a:rPr lang="en-US" altLang="zh-CN" dirty="0"/>
              <a:t>/</a:t>
            </a:r>
            <a:r>
              <a:rPr lang="zh-CN" altLang="en-US" dirty="0"/>
              <a:t>确认号的设定机制</a:t>
            </a:r>
            <a:endParaRPr lang="en-US" altLang="zh-CN" dirty="0"/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确认和重传策略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延迟确认</a:t>
            </a:r>
            <a:endParaRPr lang="en-US" altLang="zh-CN" dirty="0"/>
          </a:p>
          <a:p>
            <a:pPr lvl="2"/>
            <a:r>
              <a:rPr lang="zh-CN" altLang="en-US" dirty="0">
                <a:effectLst/>
              </a:rPr>
              <a:t>累积确认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重复确认</a:t>
            </a:r>
            <a:endParaRPr lang="en-US" altLang="zh-CN" dirty="0"/>
          </a:p>
          <a:p>
            <a:pPr lvl="2"/>
            <a:r>
              <a:rPr lang="zh-CN" altLang="en-US" dirty="0">
                <a:effectLst/>
              </a:rPr>
              <a:t>立即确认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快速重传</a:t>
            </a:r>
            <a:endParaRPr lang="en-US" altLang="zh-CN" dirty="0"/>
          </a:p>
          <a:p>
            <a:pPr lvl="2"/>
            <a:r>
              <a:rPr lang="zh-CN" altLang="en-US" dirty="0">
                <a:effectLst/>
              </a:rPr>
              <a:t>加倍超时</a:t>
            </a: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09F01A5-101D-447E-9F9A-B0C5C944DE7B}"/>
              </a:ext>
            </a:extLst>
          </p:cNvPr>
          <p:cNvGrpSpPr/>
          <p:nvPr/>
        </p:nvGrpSpPr>
        <p:grpSpPr>
          <a:xfrm>
            <a:off x="4939836" y="1424779"/>
            <a:ext cx="3016540" cy="2762250"/>
            <a:chOff x="4939836" y="1424779"/>
            <a:chExt cx="3016540" cy="2762250"/>
          </a:xfrm>
        </p:grpSpPr>
        <p:sp>
          <p:nvSpPr>
            <p:cNvPr id="84" name="Line 4">
              <a:extLst>
                <a:ext uri="{FF2B5EF4-FFF2-40B4-BE49-F238E27FC236}">
                  <a16:creationId xmlns:a16="http://schemas.microsoft.com/office/drawing/2014/main" id="{386E2E79-187A-478B-9FDB-A196AA407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07" y="2387995"/>
              <a:ext cx="1939528" cy="43730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" name="Text Box 13">
              <a:extLst>
                <a:ext uri="{FF2B5EF4-FFF2-40B4-BE49-F238E27FC236}">
                  <a16:creationId xmlns:a16="http://schemas.microsoft.com/office/drawing/2014/main" id="{45895AAC-35B3-4C8C-8074-759B5F195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6763" y="1424779"/>
              <a:ext cx="63190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dirty="0"/>
                <a:t>Host B</a:t>
              </a:r>
            </a:p>
          </p:txBody>
        </p:sp>
        <p:sp>
          <p:nvSpPr>
            <p:cNvPr id="86" name="Text Box 17">
              <a:extLst>
                <a:ext uri="{FF2B5EF4-FFF2-40B4-BE49-F238E27FC236}">
                  <a16:creationId xmlns:a16="http://schemas.microsoft.com/office/drawing/2014/main" id="{329D41F6-E78F-4FF3-B56D-6435D3C09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9142" y="1429542"/>
              <a:ext cx="633507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/>
                <a:t>Host A</a:t>
              </a:r>
            </a:p>
          </p:txBody>
        </p:sp>
        <p:sp>
          <p:nvSpPr>
            <p:cNvPr id="87" name="Line 24">
              <a:extLst>
                <a:ext uri="{FF2B5EF4-FFF2-40B4-BE49-F238E27FC236}">
                  <a16:creationId xmlns:a16="http://schemas.microsoft.com/office/drawing/2014/main" id="{CD404CC1-90B6-4C3A-8E10-32B81786B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8938" y="2207019"/>
              <a:ext cx="0" cy="1940719"/>
            </a:xfrm>
            <a:prstGeom prst="line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" name="Line 25">
              <a:extLst>
                <a:ext uri="{FF2B5EF4-FFF2-40B4-BE49-F238E27FC236}">
                  <a16:creationId xmlns:a16="http://schemas.microsoft.com/office/drawing/2014/main" id="{B3775FFC-DC91-42BC-91A8-CF872FBE7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5616" y="2246310"/>
              <a:ext cx="0" cy="1940719"/>
            </a:xfrm>
            <a:prstGeom prst="line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1350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89" name="Group 27">
              <a:extLst>
                <a:ext uri="{FF2B5EF4-FFF2-40B4-BE49-F238E27FC236}">
                  <a16:creationId xmlns:a16="http://schemas.microsoft.com/office/drawing/2014/main" id="{29BA8886-1B46-4FDE-BF27-895243E166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7938" y="1591467"/>
              <a:ext cx="566738" cy="586978"/>
              <a:chOff x="-44" y="1473"/>
              <a:chExt cx="981" cy="1105"/>
            </a:xfrm>
          </p:grpSpPr>
          <p:pic>
            <p:nvPicPr>
              <p:cNvPr id="107" name="Picture 28" descr="desktop_computer_stylized_medium">
                <a:extLst>
                  <a:ext uri="{FF2B5EF4-FFF2-40B4-BE49-F238E27FC236}">
                    <a16:creationId xmlns:a16="http://schemas.microsoft.com/office/drawing/2014/main" id="{04435ACB-D216-47D2-9776-91BBECBABE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29">
                <a:extLst>
                  <a:ext uri="{FF2B5EF4-FFF2-40B4-BE49-F238E27FC236}">
                    <a16:creationId xmlns:a16="http://schemas.microsoft.com/office/drawing/2014/main" id="{A00E5A7E-1CB6-4EA4-90F9-55C638E12D2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90" name="Group 30">
              <a:extLst>
                <a:ext uri="{FF2B5EF4-FFF2-40B4-BE49-F238E27FC236}">
                  <a16:creationId xmlns:a16="http://schemas.microsoft.com/office/drawing/2014/main" id="{45BCC09E-CB2A-4B86-8D76-7BFCBCE81EB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364635" y="1621232"/>
              <a:ext cx="591741" cy="646510"/>
              <a:chOff x="-44" y="1473"/>
              <a:chExt cx="981" cy="1105"/>
            </a:xfrm>
          </p:grpSpPr>
          <p:pic>
            <p:nvPicPr>
              <p:cNvPr id="105" name="Picture 31" descr="desktop_computer_stylized_medium">
                <a:extLst>
                  <a:ext uri="{FF2B5EF4-FFF2-40B4-BE49-F238E27FC236}">
                    <a16:creationId xmlns:a16="http://schemas.microsoft.com/office/drawing/2014/main" id="{0AA0B60B-CF95-422A-B08A-4736FA562E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32">
                <a:extLst>
                  <a:ext uri="{FF2B5EF4-FFF2-40B4-BE49-F238E27FC236}">
                    <a16:creationId xmlns:a16="http://schemas.microsoft.com/office/drawing/2014/main" id="{0CD55914-A5C8-4C2E-A1E3-B82DBB738C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91" name="Line 4">
              <a:extLst>
                <a:ext uri="{FF2B5EF4-FFF2-40B4-BE49-F238E27FC236}">
                  <a16:creationId xmlns:a16="http://schemas.microsoft.com/office/drawing/2014/main" id="{495554EC-2111-4C5C-A0E0-A3581F650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07" y="2315366"/>
              <a:ext cx="1939528" cy="4286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" name="Line 4">
              <a:extLst>
                <a:ext uri="{FF2B5EF4-FFF2-40B4-BE49-F238E27FC236}">
                  <a16:creationId xmlns:a16="http://schemas.microsoft.com/office/drawing/2014/main" id="{10A9C8A9-1D01-45BB-9CFF-22CD21F71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07" y="2252463"/>
              <a:ext cx="1347787" cy="2978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" name="Line 4">
              <a:extLst>
                <a:ext uri="{FF2B5EF4-FFF2-40B4-BE49-F238E27FC236}">
                  <a16:creationId xmlns:a16="http://schemas.microsoft.com/office/drawing/2014/main" id="{FD823BCC-8F0C-46EA-8702-5103A7FD0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07" y="2184002"/>
              <a:ext cx="1939528" cy="4286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4" name="Line 10">
              <a:extLst>
                <a:ext uri="{FF2B5EF4-FFF2-40B4-BE49-F238E27FC236}">
                  <a16:creationId xmlns:a16="http://schemas.microsoft.com/office/drawing/2014/main" id="{938D1DDC-3E6B-49DC-B196-81AA1D0756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08463" y="2759473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" name="Line 10">
              <a:extLst>
                <a:ext uri="{FF2B5EF4-FFF2-40B4-BE49-F238E27FC236}">
                  <a16:creationId xmlns:a16="http://schemas.microsoft.com/office/drawing/2014/main" id="{FD69DC81-DA6C-480D-BE0B-5177EFF9E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08463" y="2922789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6" name="Line 4">
              <a:extLst>
                <a:ext uri="{FF2B5EF4-FFF2-40B4-BE49-F238E27FC236}">
                  <a16:creationId xmlns:a16="http://schemas.microsoft.com/office/drawing/2014/main" id="{6C622637-B87B-4BD6-96F7-52CB7DDE5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07" y="2473767"/>
              <a:ext cx="1939528" cy="4286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7" name="Line 10">
              <a:extLst>
                <a:ext uri="{FF2B5EF4-FFF2-40B4-BE49-F238E27FC236}">
                  <a16:creationId xmlns:a16="http://schemas.microsoft.com/office/drawing/2014/main" id="{8036BA9D-904B-4D0A-AF05-C350B3977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08463" y="2848770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2C1DE43-4E24-4609-99BE-AFE909AFDFB4}"/>
                </a:ext>
              </a:extLst>
            </p:cNvPr>
            <p:cNvSpPr/>
            <p:nvPr/>
          </p:nvSpPr>
          <p:spPr>
            <a:xfrm rot="20712716">
              <a:off x="6244710" y="2976599"/>
              <a:ext cx="723275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rgbClr val="C00000"/>
                  </a:solidFill>
                  <a:latin typeface="+mj-ea"/>
                  <a:ea typeface="+mj-ea"/>
                </a:rPr>
                <a:t>重复确认</a:t>
              </a:r>
            </a:p>
          </p:txBody>
        </p:sp>
        <p:sp>
          <p:nvSpPr>
            <p:cNvPr id="99" name="Line 10">
              <a:extLst>
                <a:ext uri="{FF2B5EF4-FFF2-40B4-BE49-F238E27FC236}">
                  <a16:creationId xmlns:a16="http://schemas.microsoft.com/office/drawing/2014/main" id="{EDB22FA7-F546-4A2B-89F5-E97572D96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08463" y="2622945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0" name="右大括号 99">
              <a:extLst>
                <a:ext uri="{FF2B5EF4-FFF2-40B4-BE49-F238E27FC236}">
                  <a16:creationId xmlns:a16="http://schemas.microsoft.com/office/drawing/2014/main" id="{CD1EEC73-0B4B-42BE-B585-32A002E1C105}"/>
                </a:ext>
              </a:extLst>
            </p:cNvPr>
            <p:cNvSpPr/>
            <p:nvPr/>
          </p:nvSpPr>
          <p:spPr>
            <a:xfrm rot="10800000">
              <a:off x="5220422" y="2253446"/>
              <a:ext cx="239001" cy="1561636"/>
            </a:xfrm>
            <a:prstGeom prst="rightBrace">
              <a:avLst/>
            </a:prstGeom>
            <a:ln w="19050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1" name="Text Box 13">
              <a:extLst>
                <a:ext uri="{FF2B5EF4-FFF2-40B4-BE49-F238E27FC236}">
                  <a16:creationId xmlns:a16="http://schemas.microsoft.com/office/drawing/2014/main" id="{27F1294E-2C78-4941-862F-786BC58E3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9836" y="3657607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zh-CN" altLang="en-US" sz="1200" dirty="0">
                  <a:solidFill>
                    <a:srgbClr val="0066FF"/>
                  </a:solidFill>
                </a:rPr>
                <a:t>超时</a:t>
              </a:r>
              <a:endParaRPr lang="en-US" sz="1200" dirty="0">
                <a:solidFill>
                  <a:srgbClr val="0066FF"/>
                </a:solidFill>
              </a:endParaRPr>
            </a:p>
          </p:txBody>
        </p:sp>
        <p:sp>
          <p:nvSpPr>
            <p:cNvPr id="102" name="Line 4">
              <a:extLst>
                <a:ext uri="{FF2B5EF4-FFF2-40B4-BE49-F238E27FC236}">
                  <a16:creationId xmlns:a16="http://schemas.microsoft.com/office/drawing/2014/main" id="{14C8DFA7-C9CF-4CC2-9B01-857DDB49B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07" y="3487894"/>
              <a:ext cx="1980009" cy="3271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" name="Line 4">
              <a:extLst>
                <a:ext uri="{FF2B5EF4-FFF2-40B4-BE49-F238E27FC236}">
                  <a16:creationId xmlns:a16="http://schemas.microsoft.com/office/drawing/2014/main" id="{E114ACE1-A1E4-4A9A-91C1-3208040DD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07" y="3805387"/>
              <a:ext cx="1980009" cy="3271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prstDash val="sys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charset="0"/>
                <a:ea typeface="ＭＳ Ｐゴシック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D31812DC-550E-49EF-8A66-59B3EF79E775}"/>
                </a:ext>
              </a:extLst>
            </p:cNvPr>
            <p:cNvCxnSpPr/>
            <p:nvPr/>
          </p:nvCxnSpPr>
          <p:spPr>
            <a:xfrm flipV="1">
              <a:off x="6585371" y="3718346"/>
              <a:ext cx="0" cy="1516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灯片编号占位符 2">
            <a:extLst>
              <a:ext uri="{FF2B5EF4-FFF2-40B4-BE49-F238E27FC236}">
                <a16:creationId xmlns:a16="http://schemas.microsoft.com/office/drawing/2014/main" id="{EAA1C167-9347-49B1-91CA-EB0251179C9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110" name="AutoShape 5">
            <a:extLst>
              <a:ext uri="{FF2B5EF4-FFF2-40B4-BE49-F238E27FC236}">
                <a16:creationId xmlns:a16="http://schemas.microsoft.com/office/drawing/2014/main" id="{CA155E75-09AE-47EC-89D2-142C8ACE6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215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往返时延和超时时间间隔</a:t>
            </a:r>
            <a:endParaRPr lang="en-US" altLang="zh-CN" dirty="0">
              <a:effectLst/>
            </a:endParaRPr>
          </a:p>
          <a:p>
            <a:pPr lvl="1"/>
            <a:r>
              <a:rPr lang="en-US" altLang="zh-CN" dirty="0" err="1">
                <a:effectLst/>
              </a:rPr>
              <a:t>SampleRTT</a:t>
            </a:r>
            <a:r>
              <a:rPr lang="en-US" altLang="zh-CN" dirty="0">
                <a:effectLst/>
              </a:rPr>
              <a:t>: </a:t>
            </a:r>
            <a:r>
              <a:rPr lang="zh-CN" altLang="en-US" dirty="0">
                <a:effectLst/>
              </a:rPr>
              <a:t>在某个时刻测量出样本</a:t>
            </a:r>
            <a:endParaRPr lang="en-US" altLang="zh-CN" dirty="0">
              <a:effectLst/>
            </a:endParaRPr>
          </a:p>
          <a:p>
            <a:pPr lvl="1"/>
            <a:r>
              <a:rPr lang="en-US" altLang="zh-CN" dirty="0" err="1"/>
              <a:t>EstimatedRTT</a:t>
            </a:r>
            <a:r>
              <a:rPr lang="zh-CN" altLang="en-US" dirty="0"/>
              <a:t>：使用指数加权平均移动进行估计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charset="0"/>
              </a:rPr>
              <a:t>EstimatedRTT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b="1" dirty="0">
                <a:latin typeface="Courier New" charset="0"/>
              </a:rPr>
              <a:t>(1-</a:t>
            </a:r>
            <a:r>
              <a:rPr lang="en-US" altLang="zh-CN" b="1" dirty="0">
                <a:latin typeface="Courier New" charset="0"/>
                <a:sym typeface="Symbol" charset="0"/>
              </a:rPr>
              <a:t></a:t>
            </a:r>
            <a:r>
              <a:rPr lang="en-US" altLang="zh-CN" b="1" dirty="0">
                <a:latin typeface="Courier New" charset="0"/>
              </a:rPr>
              <a:t>)*</a:t>
            </a:r>
            <a:r>
              <a:rPr lang="en-US" altLang="zh-CN" b="1" dirty="0" err="1">
                <a:latin typeface="Courier New" charset="0"/>
              </a:rPr>
              <a:t>EstimatedRTT</a:t>
            </a:r>
            <a:r>
              <a:rPr lang="en-US" altLang="zh-CN" b="1" dirty="0">
                <a:latin typeface="Courier New" charset="0"/>
              </a:rPr>
              <a:t> + </a:t>
            </a:r>
            <a:r>
              <a:rPr lang="en-US" altLang="zh-CN" b="1" dirty="0">
                <a:latin typeface="Courier New" charset="0"/>
                <a:sym typeface="Symbol" charset="0"/>
              </a:rPr>
              <a:t></a:t>
            </a:r>
            <a:r>
              <a:rPr lang="en-US" altLang="zh-CN" b="1" dirty="0">
                <a:latin typeface="Courier New" charset="0"/>
              </a:rPr>
              <a:t>*</a:t>
            </a:r>
            <a:r>
              <a:rPr lang="en-US" altLang="zh-CN" b="1" dirty="0" err="1">
                <a:latin typeface="Courier New" charset="0"/>
              </a:rPr>
              <a:t>SampleRTT</a:t>
            </a:r>
            <a:endParaRPr lang="en-US" altLang="zh-CN" b="1" dirty="0">
              <a:latin typeface="Courier New" charset="0"/>
            </a:endParaRPr>
          </a:p>
          <a:p>
            <a:pPr lvl="1"/>
            <a:r>
              <a:rPr lang="en-US" altLang="zh-CN" dirty="0" err="1">
                <a:effectLst/>
              </a:rPr>
              <a:t>DevRTT</a:t>
            </a:r>
            <a:r>
              <a:rPr lang="zh-CN" altLang="en-US" dirty="0">
                <a:effectLst/>
              </a:rPr>
              <a:t>：计算偏差</a:t>
            </a:r>
            <a:endParaRPr lang="en-US" altLang="zh-CN" dirty="0">
              <a:effectLst/>
            </a:endParaRPr>
          </a:p>
          <a:p>
            <a:pPr lvl="2"/>
            <a:r>
              <a:rPr lang="en-US" altLang="zh-CN" b="1" dirty="0" err="1">
                <a:latin typeface="Courier New" charset="0"/>
              </a:rPr>
              <a:t>DevRTT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b="1" dirty="0">
                <a:latin typeface="Courier New" charset="0"/>
              </a:rPr>
              <a:t>(1-</a:t>
            </a:r>
            <a:r>
              <a:rPr lang="en-US" altLang="zh-CN" b="1" dirty="0">
                <a:latin typeface="Courier New" charset="0"/>
                <a:sym typeface="Symbol" charset="0"/>
              </a:rPr>
              <a:t></a:t>
            </a:r>
            <a:r>
              <a:rPr lang="en-US" altLang="zh-CN" b="1" dirty="0">
                <a:latin typeface="Courier New" charset="0"/>
              </a:rPr>
              <a:t>)*</a:t>
            </a:r>
            <a:r>
              <a:rPr lang="en-US" altLang="zh-CN" b="1" dirty="0" err="1">
                <a:latin typeface="Courier New" charset="0"/>
              </a:rPr>
              <a:t>DevRTT</a:t>
            </a:r>
            <a:r>
              <a:rPr lang="en-US" altLang="zh-CN" b="1" dirty="0">
                <a:latin typeface="Courier New" charset="0"/>
              </a:rPr>
              <a:t> + </a:t>
            </a:r>
            <a:r>
              <a:rPr lang="en-US" altLang="zh-CN" b="1" dirty="0">
                <a:latin typeface="Courier New" charset="0"/>
                <a:sym typeface="Symbol" charset="0"/>
              </a:rPr>
              <a:t></a:t>
            </a:r>
            <a:r>
              <a:rPr lang="en-US" altLang="zh-CN" b="1" dirty="0">
                <a:latin typeface="Courier New" charset="0"/>
              </a:rPr>
              <a:t>*|</a:t>
            </a:r>
            <a:r>
              <a:rPr lang="en-US" altLang="zh-CN" b="1" dirty="0" err="1">
                <a:latin typeface="Courier New" charset="0"/>
              </a:rPr>
              <a:t>SampleRTT-EstimatedRTT</a:t>
            </a:r>
            <a:r>
              <a:rPr lang="en-US" altLang="zh-CN" b="1" dirty="0">
                <a:latin typeface="Courier New" charset="0"/>
              </a:rPr>
              <a:t>|</a:t>
            </a:r>
          </a:p>
          <a:p>
            <a:pPr lvl="1"/>
            <a:r>
              <a:rPr lang="en-US" altLang="zh-CN" dirty="0"/>
              <a:t>Timer</a:t>
            </a:r>
            <a:r>
              <a:rPr lang="zh-CN" altLang="en-US" dirty="0"/>
              <a:t>：根据估计和偏差设定时间间隔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charset="0"/>
                <a:ea typeface="ＭＳ Ｐゴシック" charset="0"/>
              </a:rPr>
              <a:t>TimeoutInterval</a:t>
            </a:r>
            <a:r>
              <a:rPr lang="en-US" altLang="zh-CN" b="1" dirty="0">
                <a:latin typeface="Courier New" charset="0"/>
                <a:ea typeface="ＭＳ Ｐゴシック" charset="0"/>
              </a:rPr>
              <a:t> = </a:t>
            </a:r>
            <a:r>
              <a:rPr lang="en-US" altLang="zh-CN" b="1" dirty="0" err="1">
                <a:latin typeface="Courier New" charset="0"/>
                <a:ea typeface="ＭＳ Ｐゴシック" charset="0"/>
              </a:rPr>
              <a:t>EstimatedRTT</a:t>
            </a:r>
            <a:r>
              <a:rPr lang="en-US" altLang="zh-CN" b="1" dirty="0">
                <a:latin typeface="Courier New" charset="0"/>
                <a:ea typeface="ＭＳ Ｐゴシック" charset="0"/>
              </a:rPr>
              <a:t> + 4*</a:t>
            </a:r>
            <a:r>
              <a:rPr lang="en-US" altLang="zh-CN" b="1" dirty="0" err="1">
                <a:latin typeface="Courier New" charset="0"/>
                <a:ea typeface="ＭＳ Ｐゴシック" charset="0"/>
              </a:rPr>
              <a:t>DevRTT</a:t>
            </a:r>
            <a:endParaRPr lang="en-US" altLang="zh-CN" b="1" dirty="0">
              <a:latin typeface="Courier New" charset="0"/>
              <a:ea typeface="ＭＳ Ｐゴシック" charset="0"/>
            </a:endParaRPr>
          </a:p>
          <a:p>
            <a:pPr marL="685800" lvl="2" indent="0">
              <a:buNone/>
            </a:pP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sp>
        <p:nvSpPr>
          <p:cNvPr id="30" name="灯片编号占位符 2">
            <a:extLst>
              <a:ext uri="{FF2B5EF4-FFF2-40B4-BE49-F238E27FC236}">
                <a16:creationId xmlns:a16="http://schemas.microsoft.com/office/drawing/2014/main" id="{A6EF1D19-1080-430B-A888-8CBE732DFA7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D634A560-11AF-4B76-B505-1563A52FE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24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53601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6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数据封装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endParaRPr lang="en-US" altLang="zh-CN" b="1" dirty="0">
              <a:latin typeface="Courier New" charset="0"/>
              <a:ea typeface="ＭＳ Ｐゴシック" charset="0"/>
            </a:endParaRPr>
          </a:p>
          <a:p>
            <a:pPr marL="685800" lvl="2" indent="0">
              <a:buNone/>
            </a:pP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sp>
        <p:nvSpPr>
          <p:cNvPr id="4" name="Rectangle 82">
            <a:extLst>
              <a:ext uri="{FF2B5EF4-FFF2-40B4-BE49-F238E27FC236}">
                <a16:creationId xmlns:a16="http://schemas.microsoft.com/office/drawing/2014/main" id="{97ABDD1F-6CCA-40F7-9E16-B06D8CD2F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274" y="3875452"/>
            <a:ext cx="2934460" cy="269054"/>
          </a:xfrm>
          <a:prstGeom prst="rect">
            <a:avLst/>
          </a:prstGeom>
          <a:solidFill>
            <a:srgbClr val="CCECFF"/>
          </a:solidFill>
          <a:ln w="349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85">
            <a:extLst>
              <a:ext uri="{FF2B5EF4-FFF2-40B4-BE49-F238E27FC236}">
                <a16:creationId xmlns:a16="http://schemas.microsoft.com/office/drawing/2014/main" id="{0BA26F5A-E0D1-4150-A4FF-BC43E2143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531" y="3874143"/>
            <a:ext cx="958677" cy="270362"/>
          </a:xfrm>
          <a:prstGeom prst="rect">
            <a:avLst/>
          </a:prstGeom>
          <a:solidFill>
            <a:srgbClr val="FFFFCC"/>
          </a:solidFill>
          <a:ln w="349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90">
            <a:extLst>
              <a:ext uri="{FF2B5EF4-FFF2-40B4-BE49-F238E27FC236}">
                <a16:creationId xmlns:a16="http://schemas.microsoft.com/office/drawing/2014/main" id="{658F5161-F3F6-4EA6-94B6-EC5123536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665" y="4332248"/>
            <a:ext cx="1111243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10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CEA73BB-EBA1-4E79-AF7B-CE4021452482}"/>
              </a:ext>
            </a:extLst>
          </p:cNvPr>
          <p:cNvGrpSpPr/>
          <p:nvPr/>
        </p:nvGrpSpPr>
        <p:grpSpPr>
          <a:xfrm>
            <a:off x="1868477" y="1476000"/>
            <a:ext cx="5714269" cy="2360572"/>
            <a:chOff x="1868477" y="1500917"/>
            <a:chExt cx="5714269" cy="2360572"/>
          </a:xfrm>
        </p:grpSpPr>
        <p:sp>
          <p:nvSpPr>
            <p:cNvPr id="8" name="Line 3">
              <a:extLst>
                <a:ext uri="{FF2B5EF4-FFF2-40B4-BE49-F238E27FC236}">
                  <a16:creationId xmlns:a16="http://schemas.microsoft.com/office/drawing/2014/main" id="{348C4F97-B41F-4E89-A5DA-90EB62E47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6487" y="1926780"/>
              <a:ext cx="10820" cy="151582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77022B2D-EAFC-4930-B853-FF1D8FB93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477" y="2514959"/>
              <a:ext cx="367890" cy="31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C2CDC0E1-B770-4A5C-BE60-04165DE13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300" y="1923289"/>
              <a:ext cx="0" cy="12732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A1D89BC4-BFDE-4687-A36B-FED68DEDD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712" y="2373587"/>
              <a:ext cx="658034" cy="31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FEC2A20F-9C90-4C0A-BC5A-AE16918B5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416" y="1925907"/>
              <a:ext cx="4641900" cy="1519319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5086558-ACE0-4FD9-8E0F-183B7041F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909" y="3445226"/>
              <a:ext cx="4652721" cy="41626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9CFB2DD3-3CDF-4139-BBDF-58ACAC8C3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9088" y="2184217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A384FA02-602F-401A-A377-85055905F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745" y="2439910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42AB2747-9916-4E3F-935A-45B0E60AA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9088" y="269472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FF83D4A0-FA34-4516-B62D-E92670C46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9088" y="294954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CA463B46-22BC-488A-94DD-23AF5438F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745" y="3205241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A60CD44F-CE52-427F-B845-8FBCC87C9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5449" y="1928525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44B2EEA7-6663-4C9B-9E94-01CEAFFE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0407" y="1944476"/>
              <a:ext cx="916117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2D142F94-C8A9-45DF-B7D4-4CA0E9BF8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819" y="2712317"/>
              <a:ext cx="634482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BB516DAE-C372-423F-B5E8-E8F53FE03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852" y="2962755"/>
              <a:ext cx="781465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</a:p>
          </p:txBody>
        </p:sp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12AD328F-4493-45C3-BE27-2A0B08869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121" y="3217080"/>
              <a:ext cx="1931421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209FEEAB-A92B-40D2-B81F-4031FB4AF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101" y="1944476"/>
              <a:ext cx="701315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EF892FE1-E862-4E52-8D42-E5DCE1A15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106" y="2196677"/>
              <a:ext cx="524783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E480AD5A-BFC1-4272-B9B2-08F65A7AC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694" y="2698220"/>
              <a:ext cx="0" cy="5035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3531BD17-3E4E-4A35-A8E7-20B83AFD7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3025" y="2962755"/>
              <a:ext cx="1036343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38C03830-C884-46D6-897F-C9AFDA84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4614" y="2698336"/>
              <a:ext cx="675666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35CFA100-A341-4BE8-8E7F-89D7F47E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867" y="2462842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7F7EB436-0AAB-4E9A-970F-69790C50C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219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8624D0B9-98F6-4C25-8B3D-632577E9C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482" y="2695602"/>
              <a:ext cx="0" cy="2513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0B317C05-990A-4D9F-BF65-9311E6063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842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4C3F9772-D5BF-4044-AFD3-F15D5569A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079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96C51922-7387-457B-9C40-2D8A144CC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465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B8F43925-0B4B-4F92-9D1E-45E383904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47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655809EE-91FB-4627-91E4-866540DB0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370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33">
              <a:extLst>
                <a:ext uri="{FF2B5EF4-FFF2-40B4-BE49-F238E27FC236}">
                  <a16:creationId xmlns:a16="http://schemas.microsoft.com/office/drawing/2014/main" id="{9A466EEC-2DC7-458E-98CC-A2CC3EECF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000" y="2703572"/>
              <a:ext cx="526588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</a:p>
          </p:txBody>
        </p:sp>
        <p:sp>
          <p:nvSpPr>
            <p:cNvPr id="38" name="Rectangle 34">
              <a:extLst>
                <a:ext uri="{FF2B5EF4-FFF2-40B4-BE49-F238E27FC236}">
                  <a16:creationId xmlns:a16="http://schemas.microsoft.com/office/drawing/2014/main" id="{11D94C3B-B5C0-4967-87BA-B72E4C458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174" y="2692732"/>
              <a:ext cx="193058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5">
              <a:extLst>
                <a:ext uri="{FF2B5EF4-FFF2-40B4-BE49-F238E27FC236}">
                  <a16:creationId xmlns:a16="http://schemas.microsoft.com/office/drawing/2014/main" id="{563D811E-97B6-4001-AFF0-0E2C48A30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0990" y="1589056"/>
              <a:ext cx="463108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36">
              <a:extLst>
                <a:ext uri="{FF2B5EF4-FFF2-40B4-BE49-F238E27FC236}">
                  <a16:creationId xmlns:a16="http://schemas.microsoft.com/office/drawing/2014/main" id="{16B4BF8C-EE10-4FA1-A525-302B13DED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304" y="1500917"/>
              <a:ext cx="529794" cy="2289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7">
              <a:extLst>
                <a:ext uri="{FF2B5EF4-FFF2-40B4-BE49-F238E27FC236}">
                  <a16:creationId xmlns:a16="http://schemas.microsoft.com/office/drawing/2014/main" id="{0BAB5322-2438-48B1-86DF-975E4B3C8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1252" y="1868311"/>
              <a:ext cx="4635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38">
              <a:extLst>
                <a:ext uri="{FF2B5EF4-FFF2-40B4-BE49-F238E27FC236}">
                  <a16:creationId xmlns:a16="http://schemas.microsoft.com/office/drawing/2014/main" id="{B629019D-2D34-4762-A0A5-84D788C9E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1252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39">
              <a:extLst>
                <a:ext uri="{FF2B5EF4-FFF2-40B4-BE49-F238E27FC236}">
                  <a16:creationId xmlns:a16="http://schemas.microsoft.com/office/drawing/2014/main" id="{6F490155-FE71-4465-B4BE-8D2BC3F14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244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0">
              <a:extLst>
                <a:ext uri="{FF2B5EF4-FFF2-40B4-BE49-F238E27FC236}">
                  <a16:creationId xmlns:a16="http://schemas.microsoft.com/office/drawing/2014/main" id="{7AAAEEE5-1543-4530-9B56-32695C6B9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23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1">
              <a:extLst>
                <a:ext uri="{FF2B5EF4-FFF2-40B4-BE49-F238E27FC236}">
                  <a16:creationId xmlns:a16="http://schemas.microsoft.com/office/drawing/2014/main" id="{4488946A-F141-46AA-8209-D157030E4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622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B814A68C-ECB3-49A5-ADFA-E61E4D8CB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21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D26C8557-4D0A-4AE8-B91D-FB134D3F0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621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7E3B2B45-6DF4-4DFF-A259-5920B62E1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12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45">
              <a:extLst>
                <a:ext uri="{FF2B5EF4-FFF2-40B4-BE49-F238E27FC236}">
                  <a16:creationId xmlns:a16="http://schemas.microsoft.com/office/drawing/2014/main" id="{560E8AFC-1333-4F82-AA44-E718A7880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511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46">
              <a:extLst>
                <a:ext uri="{FF2B5EF4-FFF2-40B4-BE49-F238E27FC236}">
                  <a16:creationId xmlns:a16="http://schemas.microsoft.com/office/drawing/2014/main" id="{27311E20-01D6-46CA-ACFE-6D60FA8B2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104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47">
              <a:extLst>
                <a:ext uri="{FF2B5EF4-FFF2-40B4-BE49-F238E27FC236}">
                  <a16:creationId xmlns:a16="http://schemas.microsoft.com/office/drawing/2014/main" id="{D8D6E25C-FE53-49C3-8B70-380E0A668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09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48">
              <a:extLst>
                <a:ext uri="{FF2B5EF4-FFF2-40B4-BE49-F238E27FC236}">
                  <a16:creationId xmlns:a16="http://schemas.microsoft.com/office/drawing/2014/main" id="{E2CA00A1-DCBB-4E41-B5B4-23D8FC779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08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49">
              <a:extLst>
                <a:ext uri="{FF2B5EF4-FFF2-40B4-BE49-F238E27FC236}">
                  <a16:creationId xmlns:a16="http://schemas.microsoft.com/office/drawing/2014/main" id="{2610466F-349A-47F1-9EC7-05B56601E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07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0">
              <a:extLst>
                <a:ext uri="{FF2B5EF4-FFF2-40B4-BE49-F238E27FC236}">
                  <a16:creationId xmlns:a16="http://schemas.microsoft.com/office/drawing/2014/main" id="{99EF57AB-0698-4DDC-AEB4-C268A4668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007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BCD540D5-DD73-40B5-B367-D3DDB0514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06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6325D460-8D09-490B-8DC9-B95DB6C00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897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53">
              <a:extLst>
                <a:ext uri="{FF2B5EF4-FFF2-40B4-BE49-F238E27FC236}">
                  <a16:creationId xmlns:a16="http://schemas.microsoft.com/office/drawing/2014/main" id="{86A8D012-2FF7-46C0-BCAD-67E9D9287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396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54">
              <a:extLst>
                <a:ext uri="{FF2B5EF4-FFF2-40B4-BE49-F238E27FC236}">
                  <a16:creationId xmlns:a16="http://schemas.microsoft.com/office/drawing/2014/main" id="{A0A9CBB8-2961-48A0-ACDE-83BBDF588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956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55">
              <a:extLst>
                <a:ext uri="{FF2B5EF4-FFF2-40B4-BE49-F238E27FC236}">
                  <a16:creationId xmlns:a16="http://schemas.microsoft.com/office/drawing/2014/main" id="{3B189C03-D662-4F67-AB5E-82B096B34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94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56">
              <a:extLst>
                <a:ext uri="{FF2B5EF4-FFF2-40B4-BE49-F238E27FC236}">
                  <a16:creationId xmlns:a16="http://schemas.microsoft.com/office/drawing/2014/main" id="{EE6B0DDA-C0B9-49B8-90A1-F88A05A8C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894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57">
              <a:extLst>
                <a:ext uri="{FF2B5EF4-FFF2-40B4-BE49-F238E27FC236}">
                  <a16:creationId xmlns:a16="http://schemas.microsoft.com/office/drawing/2014/main" id="{C09E76E9-C888-448F-B21D-4A543894D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393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58">
              <a:extLst>
                <a:ext uri="{FF2B5EF4-FFF2-40B4-BE49-F238E27FC236}">
                  <a16:creationId xmlns:a16="http://schemas.microsoft.com/office/drawing/2014/main" id="{7307ED19-93B5-4133-A5CD-AB119038F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892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59">
              <a:extLst>
                <a:ext uri="{FF2B5EF4-FFF2-40B4-BE49-F238E27FC236}">
                  <a16:creationId xmlns:a16="http://schemas.microsoft.com/office/drawing/2014/main" id="{ACD57112-54CC-490F-A419-B9ADC6E5C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391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0">
              <a:extLst>
                <a:ext uri="{FF2B5EF4-FFF2-40B4-BE49-F238E27FC236}">
                  <a16:creationId xmlns:a16="http://schemas.microsoft.com/office/drawing/2014/main" id="{DA9B847B-8CF4-445B-A932-0A7393090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782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1">
              <a:extLst>
                <a:ext uri="{FF2B5EF4-FFF2-40B4-BE49-F238E27FC236}">
                  <a16:creationId xmlns:a16="http://schemas.microsoft.com/office/drawing/2014/main" id="{C54494CA-C33E-4D92-A9FE-F004D068D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81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2">
              <a:extLst>
                <a:ext uri="{FF2B5EF4-FFF2-40B4-BE49-F238E27FC236}">
                  <a16:creationId xmlns:a16="http://schemas.microsoft.com/office/drawing/2014/main" id="{9655A289-D9F2-4BB2-A680-F3794FFDD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7808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3">
              <a:extLst>
                <a:ext uri="{FF2B5EF4-FFF2-40B4-BE49-F238E27FC236}">
                  <a16:creationId xmlns:a16="http://schemas.microsoft.com/office/drawing/2014/main" id="{62741048-7C90-471D-BCC9-AC1298478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280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4">
              <a:extLst>
                <a:ext uri="{FF2B5EF4-FFF2-40B4-BE49-F238E27FC236}">
                  <a16:creationId xmlns:a16="http://schemas.microsoft.com/office/drawing/2014/main" id="{2A906D12-E706-4173-AFF3-F21A4C5CF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79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65">
              <a:extLst>
                <a:ext uri="{FF2B5EF4-FFF2-40B4-BE49-F238E27FC236}">
                  <a16:creationId xmlns:a16="http://schemas.microsoft.com/office/drawing/2014/main" id="{1ADD440F-B871-4D9C-80BC-2D3484A3F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78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66">
              <a:extLst>
                <a:ext uri="{FF2B5EF4-FFF2-40B4-BE49-F238E27FC236}">
                  <a16:creationId xmlns:a16="http://schemas.microsoft.com/office/drawing/2014/main" id="{F1CED226-BD2C-4EC7-A4AD-BF0828BD6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777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67">
              <a:extLst>
                <a:ext uri="{FF2B5EF4-FFF2-40B4-BE49-F238E27FC236}">
                  <a16:creationId xmlns:a16="http://schemas.microsoft.com/office/drawing/2014/main" id="{E53D0408-D12F-4A95-BD80-D9AAAFC40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276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68">
              <a:extLst>
                <a:ext uri="{FF2B5EF4-FFF2-40B4-BE49-F238E27FC236}">
                  <a16:creationId xmlns:a16="http://schemas.microsoft.com/office/drawing/2014/main" id="{9A2901BF-0042-4D9A-8026-14A2F7D8F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667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69">
              <a:extLst>
                <a:ext uri="{FF2B5EF4-FFF2-40B4-BE49-F238E27FC236}">
                  <a16:creationId xmlns:a16="http://schemas.microsoft.com/office/drawing/2014/main" id="{6EB500D8-7D23-4381-907F-AC0BA0A61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166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0">
              <a:extLst>
                <a:ext uri="{FF2B5EF4-FFF2-40B4-BE49-F238E27FC236}">
                  <a16:creationId xmlns:a16="http://schemas.microsoft.com/office/drawing/2014/main" id="{114F1F6F-F553-449B-835C-A86CDABE1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6660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>
              <a:extLst>
                <a:ext uri="{FF2B5EF4-FFF2-40B4-BE49-F238E27FC236}">
                  <a16:creationId xmlns:a16="http://schemas.microsoft.com/office/drawing/2014/main" id="{019A1E31-F752-4505-9E0B-02CD8593D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553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 72">
              <a:extLst>
                <a:ext uri="{FF2B5EF4-FFF2-40B4-BE49-F238E27FC236}">
                  <a16:creationId xmlns:a16="http://schemas.microsoft.com/office/drawing/2014/main" id="{6209E02B-E75D-4859-83D3-9542A4DD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405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73">
              <a:extLst>
                <a:ext uri="{FF2B5EF4-FFF2-40B4-BE49-F238E27FC236}">
                  <a16:creationId xmlns:a16="http://schemas.microsoft.com/office/drawing/2014/main" id="{A5CAC4D6-E1B8-4F32-9A2F-6D33551D8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257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3B313614-D032-4EF3-880D-41DB32EAF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4109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75">
              <a:extLst>
                <a:ext uri="{FF2B5EF4-FFF2-40B4-BE49-F238E27FC236}">
                  <a16:creationId xmlns:a16="http://schemas.microsoft.com/office/drawing/2014/main" id="{0B2517AF-4112-4614-8B2A-1F0652730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035" y="2692732"/>
              <a:ext cx="154729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76">
              <a:extLst>
                <a:ext uri="{FF2B5EF4-FFF2-40B4-BE49-F238E27FC236}">
                  <a16:creationId xmlns:a16="http://schemas.microsoft.com/office/drawing/2014/main" id="{C002EF59-384F-4EF2-A632-043523613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594" y="2692732"/>
              <a:ext cx="153648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Rectangle 77">
              <a:extLst>
                <a:ext uri="{FF2B5EF4-FFF2-40B4-BE49-F238E27FC236}">
                  <a16:creationId xmlns:a16="http://schemas.microsoft.com/office/drawing/2014/main" id="{C6F698CD-84E8-45AC-8541-8DBD0D7C6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864" y="2692732"/>
              <a:ext cx="150403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78">
              <a:extLst>
                <a:ext uri="{FF2B5EF4-FFF2-40B4-BE49-F238E27FC236}">
                  <a16:creationId xmlns:a16="http://schemas.microsoft.com/office/drawing/2014/main" id="{E7BFB857-BA23-4400-8FBB-1E4BAA72A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873" y="2692732"/>
              <a:ext cx="160140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79">
              <a:extLst>
                <a:ext uri="{FF2B5EF4-FFF2-40B4-BE49-F238E27FC236}">
                  <a16:creationId xmlns:a16="http://schemas.microsoft.com/office/drawing/2014/main" id="{C771132E-953C-43E1-BD39-64C43F87F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896" y="2692732"/>
              <a:ext cx="154730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 80">
              <a:extLst>
                <a:ext uri="{FF2B5EF4-FFF2-40B4-BE49-F238E27FC236}">
                  <a16:creationId xmlns:a16="http://schemas.microsoft.com/office/drawing/2014/main" id="{1A04036F-5EBF-4D17-B959-F6DF91332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3624" y="1656252"/>
              <a:ext cx="5496688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</a:p>
          </p:txBody>
        </p:sp>
        <p:sp>
          <p:nvSpPr>
            <p:cNvPr id="85" name="Line 81">
              <a:extLst>
                <a:ext uri="{FF2B5EF4-FFF2-40B4-BE49-F238E27FC236}">
                  <a16:creationId xmlns:a16="http://schemas.microsoft.com/office/drawing/2014/main" id="{55171496-26B8-4FF8-A1FF-D9D8798D1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36726" y="3211350"/>
              <a:ext cx="2164" cy="2364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83">
              <a:extLst>
                <a:ext uri="{FF2B5EF4-FFF2-40B4-BE49-F238E27FC236}">
                  <a16:creationId xmlns:a16="http://schemas.microsoft.com/office/drawing/2014/main" id="{3633DB40-97F3-4892-914A-6378CD0B2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6186" y="3217080"/>
              <a:ext cx="686054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</a:p>
          </p:txBody>
        </p:sp>
        <p:sp>
          <p:nvSpPr>
            <p:cNvPr id="87" name="Line 96">
              <a:extLst>
                <a:ext uri="{FF2B5EF4-FFF2-40B4-BE49-F238E27FC236}">
                  <a16:creationId xmlns:a16="http://schemas.microsoft.com/office/drawing/2014/main" id="{A6156DB5-9B28-4147-83C0-A252F6488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9156" y="191718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97">
              <a:extLst>
                <a:ext uri="{FF2B5EF4-FFF2-40B4-BE49-F238E27FC236}">
                  <a16:creationId xmlns:a16="http://schemas.microsoft.com/office/drawing/2014/main" id="{341ECF93-F71F-431A-9DAE-E5A526A16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9156" y="320175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98">
              <a:extLst>
                <a:ext uri="{FF2B5EF4-FFF2-40B4-BE49-F238E27FC236}">
                  <a16:creationId xmlns:a16="http://schemas.microsoft.com/office/drawing/2014/main" id="{DAB67021-F259-42D5-850D-84D403934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183" y="1931143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99">
              <a:extLst>
                <a:ext uri="{FF2B5EF4-FFF2-40B4-BE49-F238E27FC236}">
                  <a16:creationId xmlns:a16="http://schemas.microsoft.com/office/drawing/2014/main" id="{F08D0272-8D67-4F4E-B54D-7117AC341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2839" y="3438244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" name="Rectangle 84">
            <a:extLst>
              <a:ext uri="{FF2B5EF4-FFF2-40B4-BE49-F238E27FC236}">
                <a16:creationId xmlns:a16="http://schemas.microsoft.com/office/drawing/2014/main" id="{48AD3386-B773-4047-968E-B36D73F9D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956" y="3905996"/>
            <a:ext cx="2221403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数据载荷</a:t>
            </a:r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应用层报文分段</a:t>
            </a:r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90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Rectangle 89">
            <a:extLst>
              <a:ext uri="{FF2B5EF4-FFF2-40B4-BE49-F238E27FC236}">
                <a16:creationId xmlns:a16="http://schemas.microsoft.com/office/drawing/2014/main" id="{D57849A6-B7A6-41EE-BA65-822F9921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4031" y="3905995"/>
            <a:ext cx="630782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94" name="灯片编号占位符 2">
            <a:extLst>
              <a:ext uri="{FF2B5EF4-FFF2-40B4-BE49-F238E27FC236}">
                <a16:creationId xmlns:a16="http://schemas.microsoft.com/office/drawing/2014/main" id="{B0E87156-8A89-466B-A198-80DD1EC9651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95" name="AutoShape 5">
            <a:extLst>
              <a:ext uri="{FF2B5EF4-FFF2-40B4-BE49-F238E27FC236}">
                <a16:creationId xmlns:a16="http://schemas.microsoft.com/office/drawing/2014/main" id="{64BB21F6-5AE8-40C0-B0F5-317838536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311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7</a:t>
            </a:r>
            <a:r>
              <a:rPr lang="en-US" altLang="zh-CN" dirty="0"/>
              <a:t>: TCP</a:t>
            </a:r>
            <a:r>
              <a:rPr lang="zh-CN" altLang="en-US" dirty="0"/>
              <a:t>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量</a:t>
            </a:r>
            <a:r>
              <a:rPr lang="zh-CN" altLang="en-US" dirty="0"/>
              <a:t>控制</a:t>
            </a:r>
            <a:endParaRPr lang="en-US" altLang="zh-CN" dirty="0"/>
          </a:p>
          <a:p>
            <a:pPr lvl="1"/>
            <a:r>
              <a:rPr lang="zh-CN" altLang="en-US" dirty="0"/>
              <a:t>机制：</a:t>
            </a:r>
            <a:endParaRPr lang="en-US" altLang="zh-CN" dirty="0"/>
          </a:p>
          <a:p>
            <a:pPr lvl="2" algn="just"/>
            <a:r>
              <a:rPr lang="zh-CN" altLang="en-US" dirty="0"/>
              <a:t>接收窗口：接收缓存中的剩余空间</a:t>
            </a:r>
            <a:endParaRPr lang="en-US" altLang="zh-CN" dirty="0"/>
          </a:p>
          <a:p>
            <a:pPr lvl="2"/>
            <a:r>
              <a:rPr lang="zh-CN" altLang="en-US" dirty="0"/>
              <a:t>接收方在向发送方确认时，</a:t>
            </a:r>
            <a:r>
              <a:rPr lang="zh-CN" altLang="en-US" dirty="0">
                <a:solidFill>
                  <a:srgbClr val="FF0000"/>
                </a:solidFill>
              </a:rPr>
              <a:t>随时告诉</a:t>
            </a:r>
            <a:r>
              <a:rPr lang="zh-CN" altLang="en-US" dirty="0"/>
              <a:t>对方自己接收窗口的大小</a:t>
            </a:r>
            <a:endParaRPr lang="en-US" altLang="zh-CN" dirty="0"/>
          </a:p>
          <a:p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043454B-ED24-4250-99BF-E658D612CEDB}"/>
              </a:ext>
            </a:extLst>
          </p:cNvPr>
          <p:cNvGrpSpPr/>
          <p:nvPr/>
        </p:nvGrpSpPr>
        <p:grpSpPr>
          <a:xfrm>
            <a:off x="1403648" y="3147814"/>
            <a:ext cx="6206368" cy="1810645"/>
            <a:chOff x="1763688" y="3048891"/>
            <a:chExt cx="6206368" cy="1810645"/>
          </a:xfrm>
        </p:grpSpPr>
        <p:pic>
          <p:nvPicPr>
            <p:cNvPr id="6" name="Picture 5" descr="rcvwin">
              <a:extLst>
                <a:ext uri="{FF2B5EF4-FFF2-40B4-BE49-F238E27FC236}">
                  <a16:creationId xmlns:a16="http://schemas.microsoft.com/office/drawing/2014/main" id="{35221D57-86B9-40A2-86CD-8E939CBDE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760" y="3147814"/>
              <a:ext cx="4104456" cy="1498453"/>
            </a:xfrm>
            <a:prstGeom prst="roundRect">
              <a:avLst>
                <a:gd name="adj" fmla="val 0"/>
              </a:avLst>
            </a:prstGeom>
            <a:ln>
              <a:noFill/>
            </a:ln>
            <a:effectLst/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3564C7F-F82A-4910-8C03-FBD23855B432}"/>
                </a:ext>
              </a:extLst>
            </p:cNvPr>
            <p:cNvSpPr txBox="1"/>
            <p:nvPr/>
          </p:nvSpPr>
          <p:spPr>
            <a:xfrm>
              <a:off x="1763688" y="3766235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from IP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E43A1DD-E364-4D2F-953A-91C27E962D27}"/>
                </a:ext>
              </a:extLst>
            </p:cNvPr>
            <p:cNvSpPr txBox="1"/>
            <p:nvPr/>
          </p:nvSpPr>
          <p:spPr>
            <a:xfrm>
              <a:off x="5868144" y="3759046"/>
              <a:ext cx="2101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to application process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EB5B6C1-960C-4992-AC88-B77B9763739B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60" y="4443958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BB9BE49-78E8-49CA-9119-7244B24F90C6}"/>
                </a:ext>
              </a:extLst>
            </p:cNvPr>
            <p:cNvCxnSpPr/>
            <p:nvPr/>
          </p:nvCxnSpPr>
          <p:spPr>
            <a:xfrm>
              <a:off x="5508104" y="4443958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F50EBEB-E7AD-4DB5-853D-57DEF3F8796E}"/>
                </a:ext>
              </a:extLst>
            </p:cNvPr>
            <p:cNvCxnSpPr/>
            <p:nvPr/>
          </p:nvCxnSpPr>
          <p:spPr>
            <a:xfrm>
              <a:off x="3191656" y="4560121"/>
              <a:ext cx="230425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4EEBF38-DFAC-4BF7-BC59-9416C10A70E9}"/>
                </a:ext>
              </a:extLst>
            </p:cNvPr>
            <p:cNvSpPr txBox="1"/>
            <p:nvPr/>
          </p:nvSpPr>
          <p:spPr>
            <a:xfrm>
              <a:off x="3707904" y="4597926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RcvBuffer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315E23E-8DCC-4997-9082-02BE41023257}"/>
                </a:ext>
              </a:extLst>
            </p:cNvPr>
            <p:cNvCxnSpPr>
              <a:cxnSpLocks/>
            </p:cNvCxnSpPr>
            <p:nvPr/>
          </p:nvCxnSpPr>
          <p:spPr>
            <a:xfrm>
              <a:off x="3203848" y="3147814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2EE5DE0-DCFD-496B-A6A1-33A1AA6869F6}"/>
                </a:ext>
              </a:extLst>
            </p:cNvPr>
            <p:cNvCxnSpPr/>
            <p:nvPr/>
          </p:nvCxnSpPr>
          <p:spPr>
            <a:xfrm>
              <a:off x="4499992" y="3147814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6CB7305-7E07-40E2-A721-CC065D79B361}"/>
                </a:ext>
              </a:extLst>
            </p:cNvPr>
            <p:cNvCxnSpPr>
              <a:cxnSpLocks/>
            </p:cNvCxnSpPr>
            <p:nvPr/>
          </p:nvCxnSpPr>
          <p:spPr>
            <a:xfrm>
              <a:off x="3203848" y="3263977"/>
              <a:ext cx="129614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C29EF4C-217D-44BF-84D8-9BBE70ABD99D}"/>
                </a:ext>
              </a:extLst>
            </p:cNvPr>
            <p:cNvSpPr txBox="1"/>
            <p:nvPr/>
          </p:nvSpPr>
          <p:spPr>
            <a:xfrm>
              <a:off x="3279664" y="3048891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RcvWindow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53031DC6-50BF-45F2-A5B1-98C6AFBC7E0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01047D92-BE6E-406F-B1E7-0A5786EE9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761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8</a:t>
            </a:r>
            <a:r>
              <a:rPr lang="en-US" altLang="zh-CN" dirty="0">
                <a:solidFill>
                  <a:srgbClr val="FF0000"/>
                </a:solidFill>
              </a:rPr>
              <a:t>: TCP</a:t>
            </a:r>
            <a:r>
              <a:rPr lang="zh-CN" altLang="en-US" dirty="0">
                <a:solidFill>
                  <a:srgbClr val="FF0000"/>
                </a:solidFill>
              </a:rPr>
              <a:t>连接管理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机制：</a:t>
            </a:r>
            <a:endParaRPr lang="en-US" altLang="zh-CN" dirty="0"/>
          </a:p>
          <a:p>
            <a:pPr lvl="2" algn="just"/>
            <a:r>
              <a:rPr lang="zh-CN" altLang="en-US" dirty="0"/>
              <a:t>建立连接：三次握手</a:t>
            </a:r>
            <a:endParaRPr lang="en-US" altLang="zh-CN" dirty="0"/>
          </a:p>
          <a:p>
            <a:pPr lvl="2" algn="just"/>
            <a:r>
              <a:rPr lang="zh-CN" altLang="en-US" dirty="0">
                <a:effectLst/>
              </a:rPr>
              <a:t>释放连接</a:t>
            </a: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grpSp>
        <p:nvGrpSpPr>
          <p:cNvPr id="17" name="Group 27">
            <a:extLst>
              <a:ext uri="{FF2B5EF4-FFF2-40B4-BE49-F238E27FC236}">
                <a16:creationId xmlns:a16="http://schemas.microsoft.com/office/drawing/2014/main" id="{EC670E78-FE7A-4B87-BD19-96446F2B36D5}"/>
              </a:ext>
            </a:extLst>
          </p:cNvPr>
          <p:cNvGrpSpPr>
            <a:grpSpLocks/>
          </p:cNvGrpSpPr>
          <p:nvPr/>
        </p:nvGrpSpPr>
        <p:grpSpPr bwMode="auto">
          <a:xfrm>
            <a:off x="4957652" y="970794"/>
            <a:ext cx="566738" cy="586978"/>
            <a:chOff x="-44" y="1473"/>
            <a:chExt cx="981" cy="1105"/>
          </a:xfrm>
        </p:grpSpPr>
        <p:pic>
          <p:nvPicPr>
            <p:cNvPr id="18" name="Picture 28" descr="desktop_computer_stylized_medium">
              <a:extLst>
                <a:ext uri="{FF2B5EF4-FFF2-40B4-BE49-F238E27FC236}">
                  <a16:creationId xmlns:a16="http://schemas.microsoft.com/office/drawing/2014/main" id="{FB197677-3216-47DF-AE7C-812356EDBD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874FC9B9-20E7-4AA1-AF4C-DB1FCD89F30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43">
            <a:extLst>
              <a:ext uri="{FF2B5EF4-FFF2-40B4-BE49-F238E27FC236}">
                <a16:creationId xmlns:a16="http://schemas.microsoft.com/office/drawing/2014/main" id="{60AA8870-422A-472C-A41B-F7D4DD6AF1BE}"/>
              </a:ext>
            </a:extLst>
          </p:cNvPr>
          <p:cNvGrpSpPr>
            <a:grpSpLocks/>
          </p:cNvGrpSpPr>
          <p:nvPr/>
        </p:nvGrpSpPr>
        <p:grpSpPr bwMode="auto">
          <a:xfrm>
            <a:off x="7412137" y="940595"/>
            <a:ext cx="317897" cy="513160"/>
            <a:chOff x="4140" y="429"/>
            <a:chExt cx="1425" cy="2396"/>
          </a:xfrm>
        </p:grpSpPr>
        <p:sp>
          <p:nvSpPr>
            <p:cNvPr id="21" name="Freeform 44">
              <a:extLst>
                <a:ext uri="{FF2B5EF4-FFF2-40B4-BE49-F238E27FC236}">
                  <a16:creationId xmlns:a16="http://schemas.microsoft.com/office/drawing/2014/main" id="{120E1A02-3F91-4F5F-A626-6FD0D9B33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45">
              <a:extLst>
                <a:ext uri="{FF2B5EF4-FFF2-40B4-BE49-F238E27FC236}">
                  <a16:creationId xmlns:a16="http://schemas.microsoft.com/office/drawing/2014/main" id="{026EB9AF-64E1-4042-A629-83C4F4E18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46">
              <a:extLst>
                <a:ext uri="{FF2B5EF4-FFF2-40B4-BE49-F238E27FC236}">
                  <a16:creationId xmlns:a16="http://schemas.microsoft.com/office/drawing/2014/main" id="{003BDAF9-5FE9-4DB8-A229-ABEB7A535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47">
              <a:extLst>
                <a:ext uri="{FF2B5EF4-FFF2-40B4-BE49-F238E27FC236}">
                  <a16:creationId xmlns:a16="http://schemas.microsoft.com/office/drawing/2014/main" id="{143AC5EC-64BC-403F-BACF-22E7ECD2D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48">
              <a:extLst>
                <a:ext uri="{FF2B5EF4-FFF2-40B4-BE49-F238E27FC236}">
                  <a16:creationId xmlns:a16="http://schemas.microsoft.com/office/drawing/2014/main" id="{C217C481-312A-4DBD-BC64-9FDFD5139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Group 49">
              <a:extLst>
                <a:ext uri="{FF2B5EF4-FFF2-40B4-BE49-F238E27FC236}">
                  <a16:creationId xmlns:a16="http://schemas.microsoft.com/office/drawing/2014/main" id="{A0135D19-207D-44C9-A395-F8F38CD0E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" name="AutoShape 50">
                <a:extLst>
                  <a:ext uri="{FF2B5EF4-FFF2-40B4-BE49-F238E27FC236}">
                    <a16:creationId xmlns:a16="http://schemas.microsoft.com/office/drawing/2014/main" id="{9A5BDD62-9ECF-46AF-BB89-6A0BCB5A6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AutoShape 51">
                <a:extLst>
                  <a:ext uri="{FF2B5EF4-FFF2-40B4-BE49-F238E27FC236}">
                    <a16:creationId xmlns:a16="http://schemas.microsoft.com/office/drawing/2014/main" id="{AB68982D-73E0-45B6-8F1F-2DFAFEC9E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" name="Rectangle 52">
              <a:extLst>
                <a:ext uri="{FF2B5EF4-FFF2-40B4-BE49-F238E27FC236}">
                  <a16:creationId xmlns:a16="http://schemas.microsoft.com/office/drawing/2014/main" id="{D53113FA-154F-4DDE-AFCC-FAC3804E7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" name="Group 53">
              <a:extLst>
                <a:ext uri="{FF2B5EF4-FFF2-40B4-BE49-F238E27FC236}">
                  <a16:creationId xmlns:a16="http://schemas.microsoft.com/office/drawing/2014/main" id="{88E54EB3-DEE9-4800-8016-7E877F194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9" name="AutoShape 54">
                <a:extLst>
                  <a:ext uri="{FF2B5EF4-FFF2-40B4-BE49-F238E27FC236}">
                    <a16:creationId xmlns:a16="http://schemas.microsoft.com/office/drawing/2014/main" id="{B0B9026F-0280-487A-B2ED-9A2BE2CB9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AutoShape 55">
                <a:extLst>
                  <a:ext uri="{FF2B5EF4-FFF2-40B4-BE49-F238E27FC236}">
                    <a16:creationId xmlns:a16="http://schemas.microsoft.com/office/drawing/2014/main" id="{3614E8B9-D577-4978-A8C9-675584075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" name="Rectangle 56">
              <a:extLst>
                <a:ext uri="{FF2B5EF4-FFF2-40B4-BE49-F238E27FC236}">
                  <a16:creationId xmlns:a16="http://schemas.microsoft.com/office/drawing/2014/main" id="{5CD48B9D-77FE-41D4-90BB-C1A567E43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57">
              <a:extLst>
                <a:ext uri="{FF2B5EF4-FFF2-40B4-BE49-F238E27FC236}">
                  <a16:creationId xmlns:a16="http://schemas.microsoft.com/office/drawing/2014/main" id="{807736E7-A548-4EBD-9C3D-2EB93778B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" name="Group 58">
              <a:extLst>
                <a:ext uri="{FF2B5EF4-FFF2-40B4-BE49-F238E27FC236}">
                  <a16:creationId xmlns:a16="http://schemas.microsoft.com/office/drawing/2014/main" id="{601925D1-3FE3-4114-979D-248A4D883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7" name="AutoShape 59">
                <a:extLst>
                  <a:ext uri="{FF2B5EF4-FFF2-40B4-BE49-F238E27FC236}">
                    <a16:creationId xmlns:a16="http://schemas.microsoft.com/office/drawing/2014/main" id="{3E117B9B-FFE7-4101-87C8-A1798ADE5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AutoShape 60">
                <a:extLst>
                  <a:ext uri="{FF2B5EF4-FFF2-40B4-BE49-F238E27FC236}">
                    <a16:creationId xmlns:a16="http://schemas.microsoft.com/office/drawing/2014/main" id="{47E78233-4956-452F-8927-DD429B8BE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Freeform 61">
              <a:extLst>
                <a:ext uri="{FF2B5EF4-FFF2-40B4-BE49-F238E27FC236}">
                  <a16:creationId xmlns:a16="http://schemas.microsoft.com/office/drawing/2014/main" id="{AA325E3D-D8BE-4AA8-96D0-B786674A5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3" name="Group 62">
              <a:extLst>
                <a:ext uri="{FF2B5EF4-FFF2-40B4-BE49-F238E27FC236}">
                  <a16:creationId xmlns:a16="http://schemas.microsoft.com/office/drawing/2014/main" id="{5C49E9B8-EB3C-4E79-9C3E-32B63F9B8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" name="AutoShape 63">
                <a:extLst>
                  <a:ext uri="{FF2B5EF4-FFF2-40B4-BE49-F238E27FC236}">
                    <a16:creationId xmlns:a16="http://schemas.microsoft.com/office/drawing/2014/main" id="{929BE679-2E87-4244-82A5-CF66C82BB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AutoShape 64">
                <a:extLst>
                  <a:ext uri="{FF2B5EF4-FFF2-40B4-BE49-F238E27FC236}">
                    <a16:creationId xmlns:a16="http://schemas.microsoft.com/office/drawing/2014/main" id="{A8DB20CE-FE69-446F-934F-EA9FC2FEE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Rectangle 65">
              <a:extLst>
                <a:ext uri="{FF2B5EF4-FFF2-40B4-BE49-F238E27FC236}">
                  <a16:creationId xmlns:a16="http://schemas.microsoft.com/office/drawing/2014/main" id="{8ECD30BC-9272-4D3F-9D0D-1867DD60A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66">
              <a:extLst>
                <a:ext uri="{FF2B5EF4-FFF2-40B4-BE49-F238E27FC236}">
                  <a16:creationId xmlns:a16="http://schemas.microsoft.com/office/drawing/2014/main" id="{2CD19FAA-92B8-496F-853D-A9AC852EA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67">
              <a:extLst>
                <a:ext uri="{FF2B5EF4-FFF2-40B4-BE49-F238E27FC236}">
                  <a16:creationId xmlns:a16="http://schemas.microsoft.com/office/drawing/2014/main" id="{6C3001A2-3EBE-4A55-B356-A782AAD8C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68">
              <a:extLst>
                <a:ext uri="{FF2B5EF4-FFF2-40B4-BE49-F238E27FC236}">
                  <a16:creationId xmlns:a16="http://schemas.microsoft.com/office/drawing/2014/main" id="{90D73D40-0762-4313-B084-D2F689D11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69">
              <a:extLst>
                <a:ext uri="{FF2B5EF4-FFF2-40B4-BE49-F238E27FC236}">
                  <a16:creationId xmlns:a16="http://schemas.microsoft.com/office/drawing/2014/main" id="{2FF9687E-C87D-43D4-AB9C-CE6CADBCC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utoShape 70">
              <a:extLst>
                <a:ext uri="{FF2B5EF4-FFF2-40B4-BE49-F238E27FC236}">
                  <a16:creationId xmlns:a16="http://schemas.microsoft.com/office/drawing/2014/main" id="{473041E9-DDB8-4A75-9BEF-0C368DFF7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utoShape 71">
              <a:extLst>
                <a:ext uri="{FF2B5EF4-FFF2-40B4-BE49-F238E27FC236}">
                  <a16:creationId xmlns:a16="http://schemas.microsoft.com/office/drawing/2014/main" id="{18E3E2BB-80B3-4588-94C1-A418AFD31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72">
              <a:extLst>
                <a:ext uri="{FF2B5EF4-FFF2-40B4-BE49-F238E27FC236}">
                  <a16:creationId xmlns:a16="http://schemas.microsoft.com/office/drawing/2014/main" id="{C4A253B1-B40D-4D12-8B5B-06880A921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73">
              <a:extLst>
                <a:ext uri="{FF2B5EF4-FFF2-40B4-BE49-F238E27FC236}">
                  <a16:creationId xmlns:a16="http://schemas.microsoft.com/office/drawing/2014/main" id="{0E38D716-9BA9-4751-A14A-E2D186C26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3" name="Oval 74">
              <a:extLst>
                <a:ext uri="{FF2B5EF4-FFF2-40B4-BE49-F238E27FC236}">
                  <a16:creationId xmlns:a16="http://schemas.microsoft.com/office/drawing/2014/main" id="{828A887A-0F43-4833-8456-B762D8067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Rectangle 75">
              <a:extLst>
                <a:ext uri="{FF2B5EF4-FFF2-40B4-BE49-F238E27FC236}">
                  <a16:creationId xmlns:a16="http://schemas.microsoft.com/office/drawing/2014/main" id="{7B1AE5C5-A686-45B2-A47E-40A64487F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9A382560-4FE0-42EF-9680-9837B357484C}"/>
              </a:ext>
            </a:extLst>
          </p:cNvPr>
          <p:cNvSpPr/>
          <p:nvPr/>
        </p:nvSpPr>
        <p:spPr>
          <a:xfrm>
            <a:off x="4839959" y="1523637"/>
            <a:ext cx="17478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172.20.60.13</a:t>
            </a:r>
          </a:p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86953FB-45AD-4958-B335-1682088B5D59}"/>
              </a:ext>
            </a:extLst>
          </p:cNvPr>
          <p:cNvCxnSpPr>
            <a:cxnSpLocks/>
          </p:cNvCxnSpPr>
          <p:nvPr/>
        </p:nvCxnSpPr>
        <p:spPr>
          <a:xfrm>
            <a:off x="5001977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A4B819BE-E72B-44F5-A809-E1136558C9F2}"/>
              </a:ext>
            </a:extLst>
          </p:cNvPr>
          <p:cNvCxnSpPr>
            <a:cxnSpLocks/>
          </p:cNvCxnSpPr>
          <p:nvPr/>
        </p:nvCxnSpPr>
        <p:spPr>
          <a:xfrm>
            <a:off x="7740352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CA7EBF1-DF35-419F-B965-EC9C34AF03E3}"/>
              </a:ext>
            </a:extLst>
          </p:cNvPr>
          <p:cNvCxnSpPr/>
          <p:nvPr/>
        </p:nvCxnSpPr>
        <p:spPr>
          <a:xfrm>
            <a:off x="5001977" y="2024884"/>
            <a:ext cx="2738375" cy="168824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33D657AF-F870-432F-916E-C2B32ABA167C}"/>
              </a:ext>
            </a:extLst>
          </p:cNvPr>
          <p:cNvSpPr/>
          <p:nvPr/>
        </p:nvSpPr>
        <p:spPr>
          <a:xfrm>
            <a:off x="5686063" y="1969303"/>
            <a:ext cx="131969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[SYN] Seq=0,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4318A8D-E098-42D8-8540-69B82A402BD1}"/>
              </a:ext>
            </a:extLst>
          </p:cNvPr>
          <p:cNvCxnSpPr/>
          <p:nvPr/>
        </p:nvCxnSpPr>
        <p:spPr>
          <a:xfrm flipH="1">
            <a:off x="5001977" y="2224882"/>
            <a:ext cx="2738375" cy="295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AA3F5438-6CA7-4C58-A774-9B038D4EC545}"/>
              </a:ext>
            </a:extLst>
          </p:cNvPr>
          <p:cNvSpPr/>
          <p:nvPr/>
        </p:nvSpPr>
        <p:spPr>
          <a:xfrm>
            <a:off x="5485054" y="2226287"/>
            <a:ext cx="194135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Seq=0, Ack=1,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AED5140-E806-42E0-89A8-447FA59D686E}"/>
              </a:ext>
            </a:extLst>
          </p:cNvPr>
          <p:cNvCxnSpPr/>
          <p:nvPr/>
        </p:nvCxnSpPr>
        <p:spPr>
          <a:xfrm>
            <a:off x="5055984" y="2563028"/>
            <a:ext cx="2670035" cy="231948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295D9C4A-0866-4141-96E0-207CCBD64D58}"/>
              </a:ext>
            </a:extLst>
          </p:cNvPr>
          <p:cNvSpPr/>
          <p:nvPr/>
        </p:nvSpPr>
        <p:spPr>
          <a:xfrm>
            <a:off x="5485054" y="2544829"/>
            <a:ext cx="1941356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Seq=1, Ack=1,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2B2C22A-7169-43A5-A47D-3954B13A66AE}"/>
              </a:ext>
            </a:extLst>
          </p:cNvPr>
          <p:cNvCxnSpPr/>
          <p:nvPr/>
        </p:nvCxnSpPr>
        <p:spPr>
          <a:xfrm>
            <a:off x="5001977" y="2725047"/>
            <a:ext cx="2738375" cy="29864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256C921B-8B98-480A-B946-83464E793FDD}"/>
              </a:ext>
            </a:extLst>
          </p:cNvPr>
          <p:cNvSpPr/>
          <p:nvPr/>
        </p:nvSpPr>
        <p:spPr>
          <a:xfrm>
            <a:off x="5449360" y="2749946"/>
            <a:ext cx="19627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Seq=1, Ack=1, len=300</a:t>
            </a:r>
            <a:endParaRPr lang="zh-CN" altLang="en-US" sz="9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C919738-6761-4B05-8D23-7E1CDA68FBC1}"/>
              </a:ext>
            </a:extLst>
          </p:cNvPr>
          <p:cNvCxnSpPr/>
          <p:nvPr/>
        </p:nvCxnSpPr>
        <p:spPr>
          <a:xfrm flipH="1">
            <a:off x="5001977" y="3049249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1D420F2A-AB4D-4A5E-9B2C-7CCC65E7851E}"/>
              </a:ext>
            </a:extLst>
          </p:cNvPr>
          <p:cNvSpPr/>
          <p:nvPr/>
        </p:nvSpPr>
        <p:spPr>
          <a:xfrm>
            <a:off x="5449359" y="3086679"/>
            <a:ext cx="1962743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1A6782F-EDF1-46B4-A2F0-E83A3EF9DA0F}"/>
              </a:ext>
            </a:extLst>
          </p:cNvPr>
          <p:cNvCxnSpPr/>
          <p:nvPr/>
        </p:nvCxnSpPr>
        <p:spPr>
          <a:xfrm flipH="1">
            <a:off x="5001977" y="3261488"/>
            <a:ext cx="2738375" cy="269957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587A0DC8-DF86-48B0-8C16-69835AF38D71}"/>
              </a:ext>
            </a:extLst>
          </p:cNvPr>
          <p:cNvSpPr/>
          <p:nvPr/>
        </p:nvSpPr>
        <p:spPr>
          <a:xfrm>
            <a:off x="5344510" y="3305947"/>
            <a:ext cx="21724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len=489</a:t>
            </a:r>
            <a:endParaRPr lang="zh-CN" altLang="en-US" sz="9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09943A4-07FF-4C7D-A3CA-B4D9F6E11FEA}"/>
              </a:ext>
            </a:extLst>
          </p:cNvPr>
          <p:cNvCxnSpPr/>
          <p:nvPr/>
        </p:nvCxnSpPr>
        <p:spPr>
          <a:xfrm>
            <a:off x="5028980" y="3568876"/>
            <a:ext cx="2711372" cy="232673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6D8A7FDA-EEE5-4675-80FB-B0F59929C524}"/>
              </a:ext>
            </a:extLst>
          </p:cNvPr>
          <p:cNvSpPr/>
          <p:nvPr/>
        </p:nvSpPr>
        <p:spPr>
          <a:xfrm>
            <a:off x="5380840" y="3583711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E12B6AE-6194-4E9F-B94E-F48A60958EEB}"/>
              </a:ext>
            </a:extLst>
          </p:cNvPr>
          <p:cNvCxnSpPr/>
          <p:nvPr/>
        </p:nvCxnSpPr>
        <p:spPr>
          <a:xfrm flipH="1">
            <a:off x="5001977" y="4132304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F9706ACB-6591-466D-BF96-6A38D155FD16}"/>
              </a:ext>
            </a:extLst>
          </p:cNvPr>
          <p:cNvSpPr/>
          <p:nvPr/>
        </p:nvSpPr>
        <p:spPr>
          <a:xfrm>
            <a:off x="5261709" y="4169734"/>
            <a:ext cx="2296929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[FIN,ACK] Seq=490,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1D7048DA-CA5D-4C81-830A-7DCF289E38AB}"/>
              </a:ext>
            </a:extLst>
          </p:cNvPr>
          <p:cNvCxnSpPr/>
          <p:nvPr/>
        </p:nvCxnSpPr>
        <p:spPr>
          <a:xfrm>
            <a:off x="5001977" y="4472269"/>
            <a:ext cx="2738375" cy="246726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0888B74C-C8DD-4962-A737-D6E07BACDED6}"/>
              </a:ext>
            </a:extLst>
          </p:cNvPr>
          <p:cNvSpPr/>
          <p:nvPr/>
        </p:nvSpPr>
        <p:spPr>
          <a:xfrm>
            <a:off x="5380840" y="4501158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左大括号 73">
            <a:extLst>
              <a:ext uri="{FF2B5EF4-FFF2-40B4-BE49-F238E27FC236}">
                <a16:creationId xmlns:a16="http://schemas.microsoft.com/office/drawing/2014/main" id="{AF237065-A3C3-4488-AF83-C2B2E257DCBB}"/>
              </a:ext>
            </a:extLst>
          </p:cNvPr>
          <p:cNvSpPr/>
          <p:nvPr/>
        </p:nvSpPr>
        <p:spPr>
          <a:xfrm>
            <a:off x="4677941" y="1969303"/>
            <a:ext cx="54006" cy="593726"/>
          </a:xfrm>
          <a:prstGeom prst="leftBrac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A2E3E4A-E8EC-497A-BAA3-9B29DD9CE8C0}"/>
              </a:ext>
            </a:extLst>
          </p:cNvPr>
          <p:cNvSpPr/>
          <p:nvPr/>
        </p:nvSpPr>
        <p:spPr>
          <a:xfrm>
            <a:off x="3336078" y="2139208"/>
            <a:ext cx="1323115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三次握手建立连接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37DA34F-5E9B-49B9-B9E7-7C109C547AAB}"/>
              </a:ext>
            </a:extLst>
          </p:cNvPr>
          <p:cNvCxnSpPr/>
          <p:nvPr/>
        </p:nvCxnSpPr>
        <p:spPr>
          <a:xfrm flipH="1">
            <a:off x="4569930" y="2749946"/>
            <a:ext cx="383567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87CD0613-D4CE-408A-A8DE-F0251F305163}"/>
              </a:ext>
            </a:extLst>
          </p:cNvPr>
          <p:cNvSpPr/>
          <p:nvPr/>
        </p:nvSpPr>
        <p:spPr>
          <a:xfrm>
            <a:off x="3651827" y="2620110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9E75A56-7DA0-4136-9187-7BF2D41190D5}"/>
              </a:ext>
            </a:extLst>
          </p:cNvPr>
          <p:cNvCxnSpPr/>
          <p:nvPr/>
        </p:nvCxnSpPr>
        <p:spPr>
          <a:xfrm flipH="1">
            <a:off x="4569930" y="3531445"/>
            <a:ext cx="383567" cy="0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3D0DB109-2403-4440-9E76-D1AE231C868E}"/>
              </a:ext>
            </a:extLst>
          </p:cNvPr>
          <p:cNvSpPr/>
          <p:nvPr/>
        </p:nvSpPr>
        <p:spPr>
          <a:xfrm>
            <a:off x="3651827" y="3409821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090D044-F89D-4D9B-BD10-C46BB7DCE430}"/>
              </a:ext>
            </a:extLst>
          </p:cNvPr>
          <p:cNvSpPr/>
          <p:nvPr/>
        </p:nvSpPr>
        <p:spPr>
          <a:xfrm>
            <a:off x="3588141" y="4371950"/>
            <a:ext cx="1143038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结束连接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30473FD6-C347-498F-AC84-87924DF00EAA}"/>
              </a:ext>
            </a:extLst>
          </p:cNvPr>
          <p:cNvCxnSpPr/>
          <p:nvPr/>
        </p:nvCxnSpPr>
        <p:spPr>
          <a:xfrm flipH="1">
            <a:off x="4569930" y="4481196"/>
            <a:ext cx="383567" cy="0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B3D8AD0D-AF13-4758-AF5B-A314E6F3FB9A}"/>
              </a:ext>
            </a:extLst>
          </p:cNvPr>
          <p:cNvSpPr/>
          <p:nvPr/>
        </p:nvSpPr>
        <p:spPr>
          <a:xfrm>
            <a:off x="7216593" y="1523637"/>
            <a:ext cx="174789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128.119.245.12</a:t>
            </a:r>
          </a:p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80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灯片编号占位符 2">
            <a:extLst>
              <a:ext uri="{FF2B5EF4-FFF2-40B4-BE49-F238E27FC236}">
                <a16:creationId xmlns:a16="http://schemas.microsoft.com/office/drawing/2014/main" id="{24C57961-20C8-48D5-BDB6-A8F96618143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84" name="AutoShape 5">
            <a:extLst>
              <a:ext uri="{FF2B5EF4-FFF2-40B4-BE49-F238E27FC236}">
                <a16:creationId xmlns:a16="http://schemas.microsoft.com/office/drawing/2014/main" id="{7AC142D6-5E25-4954-AEC0-48278A458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781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66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6600"/>
                </a:solidFill>
                <a:effectLst/>
              </a:rPr>
              <a:t>9</a:t>
            </a:r>
            <a:r>
              <a:rPr lang="en-US" altLang="zh-CN" dirty="0">
                <a:solidFill>
                  <a:srgbClr val="FF6600"/>
                </a:solidFill>
              </a:rPr>
              <a:t>: TCP</a:t>
            </a:r>
            <a:r>
              <a:rPr lang="zh-CN" altLang="en-US" dirty="0">
                <a:solidFill>
                  <a:srgbClr val="FF6600"/>
                </a:solidFill>
              </a:rPr>
              <a:t>拥塞控制</a:t>
            </a:r>
            <a:endParaRPr lang="en-US" altLang="zh-CN" dirty="0">
              <a:solidFill>
                <a:srgbClr val="FF6600"/>
              </a:solidFill>
            </a:endParaRPr>
          </a:p>
          <a:p>
            <a:pPr lvl="1"/>
            <a:r>
              <a:rPr lang="zh-CN" altLang="en-US" dirty="0"/>
              <a:t>机制：</a:t>
            </a:r>
            <a:endParaRPr lang="en-US" altLang="zh-CN" dirty="0"/>
          </a:p>
          <a:p>
            <a:pPr lvl="2" algn="just"/>
            <a:r>
              <a:rPr lang="zh-CN" altLang="en-US" dirty="0"/>
              <a:t>加性增，乘性减</a:t>
            </a:r>
            <a:endParaRPr lang="en-US" altLang="zh-CN" dirty="0"/>
          </a:p>
          <a:p>
            <a:pPr lvl="2" algn="just"/>
            <a:r>
              <a:rPr lang="zh-CN" altLang="en-US" dirty="0"/>
              <a:t>拥塞窗口</a:t>
            </a:r>
            <a:endParaRPr lang="en-US" altLang="zh-CN" dirty="0"/>
          </a:p>
          <a:p>
            <a:pPr lvl="2" algn="just"/>
            <a:r>
              <a:rPr lang="zh-CN" altLang="en-US" dirty="0"/>
              <a:t>拥塞控制算法</a:t>
            </a:r>
            <a:endParaRPr lang="en-US" altLang="zh-CN" dirty="0"/>
          </a:p>
          <a:p>
            <a:pPr lvl="3" algn="just"/>
            <a:r>
              <a:rPr lang="zh-CN" altLang="en-US" dirty="0"/>
              <a:t>慢启动</a:t>
            </a:r>
            <a:endParaRPr lang="en-US" altLang="zh-CN" dirty="0"/>
          </a:p>
          <a:p>
            <a:pPr lvl="3" algn="just"/>
            <a:r>
              <a:rPr lang="zh-CN" altLang="en-US" dirty="0"/>
              <a:t>拥塞避免</a:t>
            </a:r>
            <a:endParaRPr lang="en-US" altLang="zh-CN" dirty="0"/>
          </a:p>
          <a:p>
            <a:pPr lvl="3" algn="just"/>
            <a:r>
              <a:rPr lang="zh-CN" altLang="en-US" dirty="0"/>
              <a:t>快恢复</a:t>
            </a:r>
            <a:endParaRPr lang="en-US" altLang="zh-CN" dirty="0"/>
          </a:p>
          <a:p>
            <a:pPr lvl="2" algn="just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本章复习总结</a:t>
            </a:r>
            <a:endParaRPr lang="en-US" altLang="zh-CN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A0B86F2-F9AF-43B8-A5A6-014A351C318D}"/>
              </a:ext>
            </a:extLst>
          </p:cNvPr>
          <p:cNvGrpSpPr/>
          <p:nvPr/>
        </p:nvGrpSpPr>
        <p:grpSpPr>
          <a:xfrm>
            <a:off x="5122445" y="907307"/>
            <a:ext cx="3792365" cy="1707268"/>
            <a:chOff x="4072223" y="907307"/>
            <a:chExt cx="4953624" cy="2230049"/>
          </a:xfrm>
        </p:grpSpPr>
        <p:sp>
          <p:nvSpPr>
            <p:cNvPr id="83" name="Line 19">
              <a:extLst>
                <a:ext uri="{FF2B5EF4-FFF2-40B4-BE49-F238E27FC236}">
                  <a16:creationId xmlns:a16="http://schemas.microsoft.com/office/drawing/2014/main" id="{3769F55D-C9A0-45DF-8B60-2CA7AAF9C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8186" y="1830041"/>
              <a:ext cx="127397" cy="127397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84" name="Line 20">
              <a:extLst>
                <a:ext uri="{FF2B5EF4-FFF2-40B4-BE49-F238E27FC236}">
                  <a16:creationId xmlns:a16="http://schemas.microsoft.com/office/drawing/2014/main" id="{E8980832-2000-4D99-A63E-DAD0D6211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917" y="1821706"/>
              <a:ext cx="0" cy="482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85" name="Line 21">
              <a:extLst>
                <a:ext uri="{FF2B5EF4-FFF2-40B4-BE49-F238E27FC236}">
                  <a16:creationId xmlns:a16="http://schemas.microsoft.com/office/drawing/2014/main" id="{BCF8EC7F-C3A4-41A5-A759-0EB8CEF97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5582" y="1584773"/>
              <a:ext cx="736997" cy="73580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86" name="Line 22">
              <a:extLst>
                <a:ext uri="{FF2B5EF4-FFF2-40B4-BE49-F238E27FC236}">
                  <a16:creationId xmlns:a16="http://schemas.microsoft.com/office/drawing/2014/main" id="{19FA3131-BEC5-4EAC-A8AB-CED5C84EA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4245" y="1585963"/>
              <a:ext cx="0" cy="60126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87" name="Line 23">
              <a:extLst>
                <a:ext uri="{FF2B5EF4-FFF2-40B4-BE49-F238E27FC236}">
                  <a16:creationId xmlns:a16="http://schemas.microsoft.com/office/drawing/2014/main" id="{12C31A80-E4F7-4708-965E-6C4DF1582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8292" y="1808610"/>
              <a:ext cx="394097" cy="39290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pitchFamily="34" charset="0"/>
                <a:ea typeface="MS PGothic" charset="0"/>
              </a:endParaRPr>
            </a:p>
          </p:txBody>
        </p:sp>
        <p:sp>
          <p:nvSpPr>
            <p:cNvPr id="88" name="Line 24">
              <a:extLst>
                <a:ext uri="{FF2B5EF4-FFF2-40B4-BE49-F238E27FC236}">
                  <a16:creationId xmlns:a16="http://schemas.microsoft.com/office/drawing/2014/main" id="{644CD8A5-9B80-4241-8A67-F0C85EB7F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2389" y="1805038"/>
              <a:ext cx="0" cy="51673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pitchFamily="34" charset="0"/>
                <a:ea typeface="MS PGothic" charset="0"/>
              </a:endParaRPr>
            </a:p>
          </p:txBody>
        </p: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1CE7144A-06DF-4C6C-98E0-835B8D7A3DE4}"/>
                </a:ext>
              </a:extLst>
            </p:cNvPr>
            <p:cNvGrpSpPr/>
            <p:nvPr/>
          </p:nvGrpSpPr>
          <p:grpSpPr>
            <a:xfrm>
              <a:off x="5870724" y="1491903"/>
              <a:ext cx="1877615" cy="813197"/>
              <a:chOff x="4314926" y="4162450"/>
              <a:chExt cx="2503487" cy="1084262"/>
            </a:xfrm>
          </p:grpSpPr>
          <p:sp>
            <p:nvSpPr>
              <p:cNvPr id="90" name="Line 25">
                <a:extLst>
                  <a:ext uri="{FF2B5EF4-FFF2-40B4-BE49-F238E27FC236}">
                    <a16:creationId xmlns:a16="http://schemas.microsoft.com/office/drawing/2014/main" id="{3EAA51BF-CEE1-41F9-A940-D449646D8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4926" y="4265637"/>
                <a:ext cx="969963" cy="981075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91" name="Line 26">
                <a:extLst>
                  <a:ext uri="{FF2B5EF4-FFF2-40B4-BE49-F238E27FC236}">
                    <a16:creationId xmlns:a16="http://schemas.microsoft.com/office/drawing/2014/main" id="{630CB01B-E0A7-48DD-9977-C5CE679D5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126" y="4265637"/>
                <a:ext cx="11113" cy="83502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92" name="Line 29">
                <a:extLst>
                  <a:ext uri="{FF2B5EF4-FFF2-40B4-BE49-F238E27FC236}">
                    <a16:creationId xmlns:a16="http://schemas.microsoft.com/office/drawing/2014/main" id="{C755B4F4-04FB-463F-9FF5-29CE0BCC2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4888" y="4429150"/>
                <a:ext cx="666750" cy="666750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93" name="Line 30">
                <a:extLst>
                  <a:ext uri="{FF2B5EF4-FFF2-40B4-BE49-F238E27FC236}">
                    <a16:creationId xmlns:a16="http://schemas.microsoft.com/office/drawing/2014/main" id="{05FA0632-1379-495B-80EA-808E02500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51638" y="4414862"/>
                <a:ext cx="0" cy="74771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94" name="Line 31">
                <a:extLst>
                  <a:ext uri="{FF2B5EF4-FFF2-40B4-BE49-F238E27FC236}">
                    <a16:creationId xmlns:a16="http://schemas.microsoft.com/office/drawing/2014/main" id="{6998CB28-5946-4CE5-B6F4-80E441EB3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2113" y="4162450"/>
                <a:ext cx="876300" cy="1014412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pitchFamily="34" charset="0"/>
                  <a:ea typeface="MS PGothic" charset="0"/>
                </a:endParaRPr>
              </a:p>
            </p:txBody>
          </p:sp>
        </p:grpSp>
        <p:sp>
          <p:nvSpPr>
            <p:cNvPr id="95" name="Text Box 32">
              <a:extLst>
                <a:ext uri="{FF2B5EF4-FFF2-40B4-BE49-F238E27FC236}">
                  <a16:creationId xmlns:a16="http://schemas.microsoft.com/office/drawing/2014/main" id="{B0FDA1E8-DBEE-4A35-82C9-98A971B1B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080" y="907307"/>
              <a:ext cx="3733767" cy="5427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zh-CN" sz="1050" dirty="0">
                  <a:solidFill>
                    <a:srgbClr val="006600"/>
                  </a:solidFill>
                </a:rPr>
                <a:t>additively increase window size …</a:t>
              </a:r>
            </a:p>
            <a:p>
              <a:pPr algn="l"/>
              <a:r>
                <a:rPr lang="en-US" altLang="zh-CN" sz="1050" dirty="0"/>
                <a:t>…. </a:t>
              </a:r>
              <a:r>
                <a:rPr lang="en-US" altLang="zh-CN" sz="1050" dirty="0">
                  <a:solidFill>
                    <a:srgbClr val="FF0000"/>
                  </a:solidFill>
                </a:rPr>
                <a:t>until loss occurs (then cut window in half)</a:t>
              </a:r>
            </a:p>
          </p:txBody>
        </p: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212417D9-CB05-4EDB-8D87-08FBB9098778}"/>
                </a:ext>
              </a:extLst>
            </p:cNvPr>
            <p:cNvGrpSpPr/>
            <p:nvPr/>
          </p:nvGrpSpPr>
          <p:grpSpPr>
            <a:xfrm>
              <a:off x="4072223" y="991841"/>
              <a:ext cx="3653495" cy="2145515"/>
              <a:chOff x="1916923" y="3495700"/>
              <a:chExt cx="4871327" cy="2860686"/>
            </a:xfrm>
          </p:grpSpPr>
          <p:sp>
            <p:nvSpPr>
              <p:cNvPr id="97" name="Text Box 12">
                <a:extLst>
                  <a:ext uri="{FF2B5EF4-FFF2-40B4-BE49-F238E27FC236}">
                    <a16:creationId xmlns:a16="http://schemas.microsoft.com/office/drawing/2014/main" id="{8B1D2271-DF1E-422A-9EB1-E2B29FD8DC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022428" y="4525044"/>
                <a:ext cx="2432223" cy="6432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900" b="1" dirty="0">
                    <a:latin typeface="Courier New" panose="02070309020205020404" pitchFamily="49" charset="0"/>
                  </a:rPr>
                  <a:t>cwnd:</a:t>
                </a:r>
                <a:r>
                  <a:rPr lang="en-US" sz="900" dirty="0">
                    <a:latin typeface="Arial" panose="020B0604020202020204" pitchFamily="34" charset="0"/>
                  </a:rPr>
                  <a:t> TCP sender </a:t>
                </a:r>
              </a:p>
              <a:p>
                <a:pPr>
                  <a:defRPr/>
                </a:pPr>
                <a:r>
                  <a:rPr lang="en-US" sz="900" dirty="0">
                    <a:latin typeface="Arial" panose="020B0604020202020204" pitchFamily="34" charset="0"/>
                  </a:rPr>
                  <a:t>congestion window size</a:t>
                </a:r>
              </a:p>
            </p:txBody>
          </p:sp>
          <p:sp>
            <p:nvSpPr>
              <p:cNvPr id="98" name="Line 17">
                <a:extLst>
                  <a:ext uri="{FF2B5EF4-FFF2-40B4-BE49-F238E27FC236}">
                    <a16:creationId xmlns:a16="http://schemas.microsoft.com/office/drawing/2014/main" id="{D47C4725-9615-48DB-BFD1-C7574D0B0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875" y="5910287"/>
                <a:ext cx="414337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99" name="Line 18">
                <a:extLst>
                  <a:ext uri="{FF2B5EF4-FFF2-40B4-BE49-F238E27FC236}">
                    <a16:creationId xmlns:a16="http://schemas.microsoft.com/office/drawing/2014/main" id="{89CD56BF-33CC-4E89-801A-EEE2740B7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33763" y="3495700"/>
                <a:ext cx="0" cy="2416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pitchFamily="34" charset="0"/>
                  <a:ea typeface="MS PGothic" charset="0"/>
                </a:endParaRPr>
              </a:p>
            </p:txBody>
          </p:sp>
          <p:sp>
            <p:nvSpPr>
              <p:cNvPr id="100" name="Text Box 40">
                <a:extLst>
                  <a:ext uri="{FF2B5EF4-FFF2-40B4-BE49-F238E27FC236}">
                    <a16:creationId xmlns:a16="http://schemas.microsoft.com/office/drawing/2014/main" id="{7DABE8E7-ED38-45AB-B5D7-00442CBB83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1738" y="5900763"/>
                <a:ext cx="793433" cy="4556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50"/>
                  <a:t>time</a:t>
                </a:r>
              </a:p>
            </p:txBody>
          </p:sp>
        </p:grpSp>
      </p:grpSp>
      <p:pic>
        <p:nvPicPr>
          <p:cNvPr id="101" name="Picture 7">
            <a:extLst>
              <a:ext uri="{FF2B5EF4-FFF2-40B4-BE49-F238E27FC236}">
                <a16:creationId xmlns:a16="http://schemas.microsoft.com/office/drawing/2014/main" id="{338A7620-3CC5-4391-8A36-3E7BBE5E6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90" y="2609841"/>
            <a:ext cx="4099080" cy="233759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0B40F095-14F3-4F99-B0DA-C8BEFEFF3CF9}"/>
              </a:ext>
            </a:extLst>
          </p:cNvPr>
          <p:cNvCxnSpPr/>
          <p:nvPr/>
        </p:nvCxnSpPr>
        <p:spPr>
          <a:xfrm flipV="1">
            <a:off x="7025574" y="2688174"/>
            <a:ext cx="1228163" cy="702078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DE39637C-C0BF-46BC-9F96-7C8064BD61BA}"/>
              </a:ext>
            </a:extLst>
          </p:cNvPr>
          <p:cNvCxnSpPr/>
          <p:nvPr/>
        </p:nvCxnSpPr>
        <p:spPr>
          <a:xfrm>
            <a:off x="6813577" y="2978569"/>
            <a:ext cx="211997" cy="411683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D8D278C9-5007-4F13-8AEB-AE77041350AB}"/>
              </a:ext>
            </a:extLst>
          </p:cNvPr>
          <p:cNvCxnSpPr>
            <a:cxnSpLocks/>
          </p:cNvCxnSpPr>
          <p:nvPr/>
        </p:nvCxnSpPr>
        <p:spPr>
          <a:xfrm>
            <a:off x="6813577" y="2978569"/>
            <a:ext cx="204594" cy="75970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B55F6FD-BB2F-497B-948F-D2D64857D294}"/>
              </a:ext>
            </a:extLst>
          </p:cNvPr>
          <p:cNvSpPr txBox="1"/>
          <p:nvPr/>
        </p:nvSpPr>
        <p:spPr>
          <a:xfrm>
            <a:off x="8223307" y="2561216"/>
            <a:ext cx="604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v6, 7</a:t>
            </a:r>
            <a:endParaRPr lang="zh-CN" altLang="en-US" sz="1050" b="1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2530A08-65F6-4CB4-8CB1-4E6CD484D5D0}"/>
              </a:ext>
            </a:extLst>
          </p:cNvPr>
          <p:cNvSpPr txBox="1"/>
          <p:nvPr/>
        </p:nvSpPr>
        <p:spPr>
          <a:xfrm>
            <a:off x="8224833" y="2834553"/>
            <a:ext cx="604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v5-</a:t>
            </a:r>
            <a:endParaRPr lang="zh-CN" altLang="en-US" sz="1050" b="1" dirty="0"/>
          </a:p>
        </p:txBody>
      </p:sp>
      <p:sp>
        <p:nvSpPr>
          <p:cNvPr id="107" name="灯片编号占位符 2">
            <a:extLst>
              <a:ext uri="{FF2B5EF4-FFF2-40B4-BE49-F238E27FC236}">
                <a16:creationId xmlns:a16="http://schemas.microsoft.com/office/drawing/2014/main" id="{44E5988A-9BB4-425A-99E7-EB9B213CB69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108" name="AutoShape 5">
            <a:extLst>
              <a:ext uri="{FF2B5EF4-FFF2-40B4-BE49-F238E27FC236}">
                <a16:creationId xmlns:a16="http://schemas.microsoft.com/office/drawing/2014/main" id="{2AA7ADDD-27BC-4CC7-9F47-2195204AB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192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2025/3/25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  <a:extLst>
              <a:ext uri="{FF2B5EF4-FFF2-40B4-BE49-F238E27FC236}">
                <a16:creationId xmlns:a16="http://schemas.microsoft.com/office/drawing/2014/main" id="{48B1AFA7-2A5D-4FE2-BF61-5179C502C9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2076</TotalTime>
  <Words>3165</Words>
  <Application>Microsoft Office PowerPoint</Application>
  <PresentationFormat>全屏显示(16:9)</PresentationFormat>
  <Paragraphs>828</Paragraphs>
  <Slides>45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ZapfDingbats</vt:lpstr>
      <vt:lpstr>等线</vt:lpstr>
      <vt:lpstr>等线 Light</vt:lpstr>
      <vt:lpstr>宋体</vt:lpstr>
      <vt:lpstr>微软雅黑</vt:lpstr>
      <vt:lpstr>Arial</vt:lpstr>
      <vt:lpstr>Calibri</vt:lpstr>
      <vt:lpstr>Comic Sans MS</vt:lpstr>
      <vt:lpstr>Courier New</vt:lpstr>
      <vt:lpstr>Symbol</vt:lpstr>
      <vt:lpstr>Tahoma</vt:lpstr>
      <vt:lpstr>Times New Roman</vt:lpstr>
      <vt:lpstr>Wingdings</vt:lpstr>
      <vt:lpstr>Office 主题​​</vt:lpstr>
      <vt:lpstr>计算机网络</vt:lpstr>
      <vt:lpstr>知识回顾</vt:lpstr>
      <vt:lpstr>PowerPoint 演示文稿</vt:lpstr>
      <vt:lpstr>3.6 拥塞控制原理</vt:lpstr>
      <vt:lpstr>3.6 拥塞控制原理</vt:lpstr>
      <vt:lpstr>3.6 拥塞控制原理</vt:lpstr>
      <vt:lpstr>3.6 拥塞控制原理</vt:lpstr>
      <vt:lpstr>3.6 拥塞控制原理</vt:lpstr>
      <vt:lpstr>3.6 拥塞控制原理</vt:lpstr>
      <vt:lpstr>3.6 拥塞控制原理</vt:lpstr>
      <vt:lpstr>3.6 拥塞控制原理</vt:lpstr>
      <vt:lpstr>3.6 拥塞控制原理</vt:lpstr>
      <vt:lpstr>3.6 拥塞控制原理</vt:lpstr>
      <vt:lpstr>PowerPoint 演示文稿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3.7 TCP拥塞控制</vt:lpstr>
      <vt:lpstr>PowerPoint 演示文稿</vt:lpstr>
      <vt:lpstr>3.8 本章复习总结</vt:lpstr>
      <vt:lpstr>3.8 本章复习总结</vt:lpstr>
      <vt:lpstr>3.8 本章复习总结</vt:lpstr>
      <vt:lpstr>3.8 本章复习总结</vt:lpstr>
      <vt:lpstr>3.8 本章复习总结</vt:lpstr>
      <vt:lpstr>3.8 本章复习总结</vt:lpstr>
      <vt:lpstr>3.8 本章复习总结</vt:lpstr>
      <vt:lpstr>3.8 本章复习总结</vt:lpstr>
      <vt:lpstr>3.8 本章复习总结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cistecoram</cp:lastModifiedBy>
  <cp:revision>51</cp:revision>
  <dcterms:created xsi:type="dcterms:W3CDTF">2020-03-21T00:08:25Z</dcterms:created>
  <dcterms:modified xsi:type="dcterms:W3CDTF">2025-03-25T14:00:16Z</dcterms:modified>
</cp:coreProperties>
</file>