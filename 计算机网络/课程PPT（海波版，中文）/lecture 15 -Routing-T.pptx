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62"/>
  </p:notesMasterIdLst>
  <p:handoutMasterIdLst>
    <p:handoutMasterId r:id="rId63"/>
  </p:handoutMasterIdLst>
  <p:sldIdLst>
    <p:sldId id="319" r:id="rId2"/>
    <p:sldId id="453" r:id="rId3"/>
    <p:sldId id="302" r:id="rId4"/>
    <p:sldId id="303" r:id="rId5"/>
    <p:sldId id="304" r:id="rId6"/>
    <p:sldId id="305" r:id="rId7"/>
    <p:sldId id="306" r:id="rId8"/>
    <p:sldId id="777" r:id="rId9"/>
    <p:sldId id="778" r:id="rId10"/>
    <p:sldId id="786" r:id="rId11"/>
    <p:sldId id="321" r:id="rId12"/>
    <p:sldId id="80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439" r:id="rId22"/>
    <p:sldId id="440" r:id="rId23"/>
    <p:sldId id="44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791" r:id="rId49"/>
    <p:sldId id="454" r:id="rId50"/>
    <p:sldId id="792" r:id="rId51"/>
    <p:sldId id="793" r:id="rId52"/>
    <p:sldId id="794" r:id="rId53"/>
    <p:sldId id="795" r:id="rId54"/>
    <p:sldId id="446" r:id="rId55"/>
    <p:sldId id="447" r:id="rId56"/>
    <p:sldId id="796" r:id="rId57"/>
    <p:sldId id="797" r:id="rId58"/>
    <p:sldId id="798" r:id="rId59"/>
    <p:sldId id="799" r:id="rId60"/>
    <p:sldId id="296" r:id="rId61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3300"/>
    <a:srgbClr val="0000FF"/>
    <a:srgbClr val="E18601"/>
    <a:srgbClr val="008000"/>
    <a:srgbClr val="8000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4" autoAdjust="0"/>
    <p:restoredTop sz="94515" autoAdjust="0"/>
  </p:normalViewPr>
  <p:slideViewPr>
    <p:cSldViewPr>
      <p:cViewPr varScale="1">
        <p:scale>
          <a:sx n="181" d="100"/>
          <a:sy n="181" d="100"/>
        </p:scale>
        <p:origin x="319" y="8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4842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555777" y="3448764"/>
            <a:ext cx="391973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15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：路由选择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E9460FE-B79B-40AD-95D9-79C4FE128B0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491880" y="3771571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3E459F-EC02-408F-B202-2C4CE0088229}"/>
              </a:ext>
            </a:extLst>
          </p:cNvPr>
          <p:cNvSpPr/>
          <p:nvPr userDrawn="1"/>
        </p:nvSpPr>
        <p:spPr>
          <a:xfrm>
            <a:off x="2751195" y="3759350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6BD7EB6B-21FD-46F5-B836-46F2EFC7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123921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6400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986400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792E8-FD18-4385-B37E-897D2198B4BA}" type="datetime1">
              <a:rPr lang="zh-CN" altLang="en-US" smtClean="0"/>
              <a:t>2025/4/9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6050354"/>
      </p:ext>
    </p:extLst>
  </p:cSld>
  <p:clrMapOvr>
    <a:masterClrMapping/>
  </p:clrMapOvr>
  <p:transition>
    <p:cut thruBlk="1"/>
    <p:sndAc>
      <p:stSnd>
        <p:snd r:embed="rId1" name="arrow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1" y="822723"/>
            <a:ext cx="3997325" cy="37504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9476" y="822723"/>
            <a:ext cx="3997325" cy="37504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3D60D-82F0-4182-8267-6D762C0EE02D}" type="datetime1">
              <a:rPr lang="zh-CN" altLang="en-US" smtClean="0"/>
              <a:t>2025/4/9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3889832"/>
      </p:ext>
    </p:extLst>
  </p:cSld>
  <p:clrMapOvr>
    <a:masterClrMapping/>
  </p:clrMapOvr>
  <p:transition>
    <p:cut thruBlk="1"/>
    <p:sndAc>
      <p:stSnd>
        <p:snd r:embed="rId1" name="arrow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3932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9" r:id="rId8"/>
    <p:sldLayoutId id="2147483750" r:id="rId9"/>
    <p:sldLayoutId id="2147483751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2" name="arrow.wav"/>
          </p:stSnd>
        </p:sndAc>
      </p:transition>
    </mc:Choice>
    <mc:Fallback xmlns="">
      <p:transition spd="slow">
        <p:fade/>
        <p:sndAc>
          <p:stSnd>
            <p:snd r:embed="rId13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4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 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 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BD139F-F077-4829-A8A8-60336E8DC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CE94D031-D1FD-4D64-B5AF-24FC9892281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251E08A4-A7EF-4545-B830-5955A831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75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sz="1500" dirty="0">
                <a:solidFill>
                  <a:srgbClr val="0066CC"/>
                </a:solidFill>
              </a:rPr>
              <a:t>IPv6 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动机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初始动机：</a:t>
            </a:r>
            <a:r>
              <a:rPr lang="en-US" altLang="zh-CN" dirty="0">
                <a:solidFill>
                  <a:srgbClr val="0066CC"/>
                </a:solidFill>
              </a:rPr>
              <a:t>32-bits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地址空间很快就会耗尽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其他动机：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首部字段：提高处理和转发速度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提高服务质量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IPv6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数据报格式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首部：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40 bytes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的固定长度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分片：在该版本中不允许分片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effectLst/>
              </a:rPr>
              <a:t>RFC 2460</a:t>
            </a: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F704A50-C13D-4152-9FA0-46B87319332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390E5FD-C009-41BE-82CD-67FE41E0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3"/>
            <a:ext cx="5616624" cy="410445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IPv6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数据报格式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版本：</a:t>
            </a:r>
            <a:r>
              <a:rPr lang="en-US" altLang="zh-CN" dirty="0">
                <a:solidFill>
                  <a:srgbClr val="0066CC"/>
                </a:solidFill>
              </a:rPr>
              <a:t>{0110}bin={6}dec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流量类型：同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的服务类型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流标签：标识一条数据报的流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有效载荷长度：数据的长度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下一个首部：相当于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的上层协议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跳限制：相当于</a:t>
            </a:r>
            <a:r>
              <a:rPr lang="en-US" altLang="zh-CN" dirty="0">
                <a:solidFill>
                  <a:srgbClr val="0066CC"/>
                </a:solidFill>
              </a:rPr>
              <a:t>IPv4</a:t>
            </a:r>
            <a:r>
              <a:rPr lang="zh-CN" altLang="en-US" dirty="0">
                <a:solidFill>
                  <a:srgbClr val="0066CC"/>
                </a:solidFill>
              </a:rPr>
              <a:t>的</a:t>
            </a:r>
            <a:r>
              <a:rPr lang="en-US" altLang="zh-CN" dirty="0">
                <a:solidFill>
                  <a:srgbClr val="0066CC"/>
                </a:solidFill>
              </a:rPr>
              <a:t>TTL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源地址和目的地址：各</a:t>
            </a:r>
            <a:r>
              <a:rPr lang="en-US" altLang="zh-CN" dirty="0">
                <a:solidFill>
                  <a:srgbClr val="0066CC"/>
                </a:solidFill>
              </a:rPr>
              <a:t>128</a:t>
            </a:r>
            <a:r>
              <a:rPr lang="zh-CN" altLang="en-US" dirty="0">
                <a:solidFill>
                  <a:srgbClr val="0066CC"/>
                </a:solidFill>
              </a:rPr>
              <a:t>位</a:t>
            </a:r>
            <a:r>
              <a:rPr lang="en-US" altLang="zh-CN" dirty="0">
                <a:solidFill>
                  <a:srgbClr val="0066CC"/>
                </a:solidFill>
              </a:rPr>
              <a:t>(RFC 4291)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数据：</a:t>
            </a:r>
            <a:r>
              <a:rPr lang="en-US" altLang="zh-CN" dirty="0">
                <a:solidFill>
                  <a:srgbClr val="0066CC"/>
                </a:solidFill>
              </a:rPr>
              <a:t>IPv6</a:t>
            </a:r>
            <a:r>
              <a:rPr lang="zh-CN" altLang="en-US" dirty="0">
                <a:solidFill>
                  <a:srgbClr val="0066CC"/>
                </a:solidFill>
              </a:rPr>
              <a:t>数据报的有效载荷部分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其他方面：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取消分片</a:t>
            </a:r>
            <a:r>
              <a:rPr lang="en-US" altLang="zh-CN" dirty="0">
                <a:solidFill>
                  <a:srgbClr val="0066CC"/>
                </a:solidFill>
              </a:rPr>
              <a:t>/</a:t>
            </a:r>
            <a:r>
              <a:rPr lang="zh-CN" altLang="en-US" dirty="0">
                <a:solidFill>
                  <a:srgbClr val="0066CC"/>
                </a:solidFill>
              </a:rPr>
              <a:t>重装：在发送端分片，网络不进行分片和组装</a:t>
            </a:r>
            <a:endParaRPr lang="en-US" altLang="zh-CN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取消首部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Checksum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：中间路由器不再进行检验，提高效率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取消选项字段：通过“下一个首部”来扩展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endParaRPr lang="en-US" altLang="zh-CN" sz="1500" dirty="0">
              <a:solidFill>
                <a:srgbClr val="FF0000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sz="1650" dirty="0">
              <a:solidFill>
                <a:srgbClr val="0066CC"/>
              </a:solidFill>
            </a:endParaRPr>
          </a:p>
          <a:p>
            <a:pPr lvl="2">
              <a:lnSpc>
                <a:spcPct val="110000"/>
              </a:lnSpc>
            </a:pPr>
            <a:endParaRPr lang="en-US" altLang="zh-CN" sz="1800" dirty="0">
              <a:solidFill>
                <a:srgbClr val="0066CC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508104" y="1131590"/>
            <a:ext cx="3264695" cy="2361341"/>
            <a:chOff x="2119313" y="3263900"/>
            <a:chExt cx="4845050" cy="3162830"/>
          </a:xfrm>
        </p:grpSpPr>
        <p:sp>
          <p:nvSpPr>
            <p:cNvPr id="52" name="Rectangle 80"/>
            <p:cNvSpPr>
              <a:spLocks noChangeArrowheads="1"/>
            </p:cNvSpPr>
            <p:nvPr/>
          </p:nvSpPr>
          <p:spPr bwMode="auto">
            <a:xfrm>
              <a:off x="2216150" y="3263900"/>
              <a:ext cx="4748213" cy="2817813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2141538" y="3344863"/>
              <a:ext cx="4748212" cy="28178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4" name="Line 60"/>
            <p:cNvSpPr>
              <a:spLocks noChangeShapeType="1"/>
            </p:cNvSpPr>
            <p:nvPr/>
          </p:nvSpPr>
          <p:spPr bwMode="auto">
            <a:xfrm>
              <a:off x="2143125" y="3654425"/>
              <a:ext cx="47275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5" name="Line 61"/>
            <p:cNvSpPr>
              <a:spLocks noChangeShapeType="1"/>
            </p:cNvSpPr>
            <p:nvPr/>
          </p:nvSpPr>
          <p:spPr bwMode="auto">
            <a:xfrm>
              <a:off x="2794000" y="335438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3482975" y="335121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7" name="Line 64"/>
            <p:cNvSpPr>
              <a:spLocks noChangeShapeType="1"/>
            </p:cNvSpPr>
            <p:nvPr/>
          </p:nvSpPr>
          <p:spPr bwMode="auto">
            <a:xfrm>
              <a:off x="4410075" y="364966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8" name="Line 65"/>
            <p:cNvSpPr>
              <a:spLocks noChangeShapeType="1"/>
            </p:cNvSpPr>
            <p:nvPr/>
          </p:nvSpPr>
          <p:spPr bwMode="auto">
            <a:xfrm>
              <a:off x="5556250" y="365283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9" name="Line 66"/>
            <p:cNvSpPr>
              <a:spLocks noChangeShapeType="1"/>
            </p:cNvSpPr>
            <p:nvPr/>
          </p:nvSpPr>
          <p:spPr bwMode="auto">
            <a:xfrm>
              <a:off x="2130425" y="5175250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0" name="Line 67"/>
            <p:cNvSpPr>
              <a:spLocks noChangeShapeType="1"/>
            </p:cNvSpPr>
            <p:nvPr/>
          </p:nvSpPr>
          <p:spPr bwMode="auto">
            <a:xfrm>
              <a:off x="2147888" y="4535488"/>
              <a:ext cx="4760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1" name="Line 68"/>
            <p:cNvSpPr>
              <a:spLocks noChangeShapeType="1"/>
            </p:cNvSpPr>
            <p:nvPr/>
          </p:nvSpPr>
          <p:spPr bwMode="auto">
            <a:xfrm>
              <a:off x="2133600" y="3952875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2" name="Text Box 69"/>
            <p:cNvSpPr txBox="1">
              <a:spLocks noChangeArrowheads="1"/>
            </p:cNvSpPr>
            <p:nvPr/>
          </p:nvSpPr>
          <p:spPr bwMode="auto">
            <a:xfrm>
              <a:off x="3849193" y="5549285"/>
              <a:ext cx="131543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载荷数据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3" name="Text Box 70"/>
            <p:cNvSpPr txBox="1">
              <a:spLocks noChangeArrowheads="1"/>
            </p:cNvSpPr>
            <p:nvPr/>
          </p:nvSpPr>
          <p:spPr bwMode="auto">
            <a:xfrm>
              <a:off x="3781828" y="4793575"/>
              <a:ext cx="1689072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64" name="Text Box 71"/>
            <p:cNvSpPr txBox="1">
              <a:spLocks noChangeArrowheads="1"/>
            </p:cNvSpPr>
            <p:nvPr/>
          </p:nvSpPr>
          <p:spPr bwMode="auto">
            <a:xfrm>
              <a:off x="3830948" y="4201949"/>
              <a:ext cx="1489240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65" name="Text Box 72"/>
            <p:cNvSpPr txBox="1">
              <a:spLocks noChangeArrowheads="1"/>
            </p:cNvSpPr>
            <p:nvPr/>
          </p:nvSpPr>
          <p:spPr bwMode="auto">
            <a:xfrm>
              <a:off x="2774284" y="3703178"/>
              <a:ext cx="1199003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有效载荷长度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6" name="Text Box 73"/>
            <p:cNvSpPr txBox="1">
              <a:spLocks noChangeArrowheads="1"/>
            </p:cNvSpPr>
            <p:nvPr/>
          </p:nvSpPr>
          <p:spPr bwMode="auto">
            <a:xfrm>
              <a:off x="4480523" y="3711115"/>
              <a:ext cx="99916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下一个首部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7" name="Text Box 74"/>
            <p:cNvSpPr txBox="1">
              <a:spLocks noChangeArrowheads="1"/>
            </p:cNvSpPr>
            <p:nvPr/>
          </p:nvSpPr>
          <p:spPr bwMode="auto">
            <a:xfrm>
              <a:off x="5809927" y="3696829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跳限制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8" name="Text Box 75"/>
            <p:cNvSpPr txBox="1">
              <a:spLocks noChangeArrowheads="1"/>
            </p:cNvSpPr>
            <p:nvPr/>
          </p:nvSpPr>
          <p:spPr bwMode="auto">
            <a:xfrm>
              <a:off x="4679626" y="3405722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流标签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9" name="Text Box 76"/>
            <p:cNvSpPr txBox="1">
              <a:spLocks noChangeArrowheads="1"/>
            </p:cNvSpPr>
            <p:nvPr/>
          </p:nvSpPr>
          <p:spPr bwMode="auto">
            <a:xfrm>
              <a:off x="2913064" y="3391432"/>
              <a:ext cx="399667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类型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0" name="Text Box 77"/>
            <p:cNvSpPr txBox="1">
              <a:spLocks noChangeArrowheads="1"/>
            </p:cNvSpPr>
            <p:nvPr/>
          </p:nvSpPr>
          <p:spPr bwMode="auto">
            <a:xfrm>
              <a:off x="2292315" y="3399370"/>
              <a:ext cx="399670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2119313" y="6400800"/>
              <a:ext cx="4816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2" name="Text Box 78"/>
            <p:cNvSpPr txBox="1">
              <a:spLocks noChangeArrowheads="1"/>
            </p:cNvSpPr>
            <p:nvPr/>
          </p:nvSpPr>
          <p:spPr bwMode="auto">
            <a:xfrm>
              <a:off x="4096256" y="6210302"/>
              <a:ext cx="639945" cy="216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32 bits</a:t>
              </a:r>
            </a:p>
          </p:txBody>
        </p:sp>
      </p:grpSp>
      <p:sp>
        <p:nvSpPr>
          <p:cNvPr id="27" name="灯片编号占位符 2">
            <a:extLst>
              <a:ext uri="{FF2B5EF4-FFF2-40B4-BE49-F238E27FC236}">
                <a16:creationId xmlns:a16="http://schemas.microsoft.com/office/drawing/2014/main" id="{516E777C-39E2-41D0-98C1-D9C424A2B72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99F0E36D-2E33-4FB6-AF55-6274D1E28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500" dirty="0">
                <a:solidFill>
                  <a:srgbClr val="0066CC"/>
                </a:solidFill>
              </a:rPr>
              <a:t>从</a:t>
            </a:r>
            <a:r>
              <a:rPr lang="en-US" altLang="zh-CN" sz="1500" dirty="0">
                <a:solidFill>
                  <a:srgbClr val="0066CC"/>
                </a:solidFill>
              </a:rPr>
              <a:t>IPv4</a:t>
            </a:r>
            <a:r>
              <a:rPr lang="zh-CN" altLang="en-US" sz="1500" dirty="0">
                <a:solidFill>
                  <a:srgbClr val="0066CC"/>
                </a:solidFill>
              </a:rPr>
              <a:t>到</a:t>
            </a:r>
            <a:r>
              <a:rPr lang="en-US" altLang="zh-CN" sz="1500" dirty="0">
                <a:solidFill>
                  <a:srgbClr val="0066CC"/>
                </a:solidFill>
              </a:rPr>
              <a:t>IPv6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迁移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2"/>
            <a:endParaRPr lang="en-US" altLang="zh-CN" sz="1350" dirty="0">
              <a:solidFill>
                <a:srgbClr val="0066CC"/>
              </a:solidFill>
            </a:endParaRPr>
          </a:p>
          <a:p>
            <a:pPr lvl="3"/>
            <a:endParaRPr lang="en-US" altLang="zh-CN" sz="1650" dirty="0">
              <a:solidFill>
                <a:srgbClr val="0066CC"/>
              </a:solidFill>
            </a:endParaRPr>
          </a:p>
          <a:p>
            <a:pPr lvl="2"/>
            <a:endParaRPr lang="en-US" altLang="zh-CN" sz="1800" dirty="0">
              <a:solidFill>
                <a:srgbClr val="0066CC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124508" y="1278842"/>
            <a:ext cx="4833918" cy="186570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不能一下子将所有的路由器全部升级到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</a:p>
          <a:p>
            <a:pPr lvl="1">
              <a:spcBef>
                <a:spcPts val="450"/>
              </a:spcBef>
            </a:pP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 </a:t>
            </a:r>
            <a:r>
              <a:rPr lang="ja-JP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ja-JP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flag days</a:t>
            </a:r>
            <a:r>
              <a:rPr lang="ja-JP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ja-JP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IPv4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路由器混杂起来怎么工作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 </a:t>
            </a:r>
          </a:p>
          <a:p>
            <a:pPr>
              <a:spcBef>
                <a:spcPts val="45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隧道技术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450"/>
              </a:spcBef>
            </a:pP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的数据报，封装成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450"/>
              </a:spcBef>
            </a:pP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以便在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的路由器上面进行处理</a:t>
            </a:r>
            <a:endParaRPr lang="en-US" altLang="zh-CN" sz="135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192238" y="3169555"/>
            <a:ext cx="5030392" cy="1695495"/>
            <a:chOff x="1303338" y="4318000"/>
            <a:chExt cx="6707189" cy="2260660"/>
          </a:xfrm>
        </p:grpSpPr>
        <p:grpSp>
          <p:nvGrpSpPr>
            <p:cNvPr id="60" name="Group 47"/>
            <p:cNvGrpSpPr/>
            <p:nvPr/>
          </p:nvGrpSpPr>
          <p:grpSpPr bwMode="auto">
            <a:xfrm>
              <a:off x="2101850" y="5351463"/>
              <a:ext cx="4854575" cy="473075"/>
              <a:chOff x="1163" y="3504"/>
              <a:chExt cx="3058" cy="298"/>
            </a:xfrm>
          </p:grpSpPr>
          <p:sp>
            <p:nvSpPr>
              <p:cNvPr id="94" name="Rectangle 26"/>
              <p:cNvSpPr>
                <a:spLocks noChangeArrowheads="1"/>
              </p:cNvSpPr>
              <p:nvPr/>
            </p:nvSpPr>
            <p:spPr bwMode="auto">
              <a:xfrm>
                <a:off x="1163" y="3505"/>
                <a:ext cx="3058" cy="295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95" name="Line 27"/>
              <p:cNvSpPr>
                <a:spLocks noChangeShapeType="1"/>
              </p:cNvSpPr>
              <p:nvPr/>
            </p:nvSpPr>
            <p:spPr bwMode="auto">
              <a:xfrm>
                <a:off x="202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6" name="Line 28"/>
              <p:cNvSpPr>
                <a:spLocks noChangeShapeType="1"/>
              </p:cNvSpPr>
              <p:nvPr/>
            </p:nvSpPr>
            <p:spPr bwMode="auto">
              <a:xfrm>
                <a:off x="1781" y="3507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7" name="Line 29"/>
              <p:cNvSpPr>
                <a:spLocks noChangeShapeType="1"/>
              </p:cNvSpPr>
              <p:nvPr/>
            </p:nvSpPr>
            <p:spPr bwMode="auto">
              <a:xfrm>
                <a:off x="153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8" name="Line 31"/>
              <p:cNvSpPr>
                <a:spLocks noChangeShapeType="1"/>
              </p:cNvSpPr>
              <p:nvPr/>
            </p:nvSpPr>
            <p:spPr bwMode="auto">
              <a:xfrm>
                <a:off x="1187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9" name="Line 32"/>
              <p:cNvSpPr>
                <a:spLocks noChangeShapeType="1"/>
              </p:cNvSpPr>
              <p:nvPr/>
            </p:nvSpPr>
            <p:spPr bwMode="auto">
              <a:xfrm>
                <a:off x="1187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0" name="Line 33"/>
              <p:cNvSpPr>
                <a:spLocks noChangeShapeType="1"/>
              </p:cNvSpPr>
              <p:nvPr/>
            </p:nvSpPr>
            <p:spPr bwMode="auto">
              <a:xfrm>
                <a:off x="1283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1" name="Line 34"/>
              <p:cNvSpPr>
                <a:spLocks noChangeShapeType="1"/>
              </p:cNvSpPr>
              <p:nvPr/>
            </p:nvSpPr>
            <p:spPr bwMode="auto">
              <a:xfrm>
                <a:off x="1283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2" name="Line 35"/>
              <p:cNvSpPr>
                <a:spLocks noChangeShapeType="1"/>
              </p:cNvSpPr>
              <p:nvPr/>
            </p:nvSpPr>
            <p:spPr bwMode="auto">
              <a:xfrm>
                <a:off x="1379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3" name="Line 36"/>
              <p:cNvSpPr>
                <a:spLocks noChangeShapeType="1"/>
              </p:cNvSpPr>
              <p:nvPr/>
            </p:nvSpPr>
            <p:spPr bwMode="auto">
              <a:xfrm>
                <a:off x="1379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4" name="Line 37"/>
              <p:cNvSpPr>
                <a:spLocks noChangeShapeType="1"/>
              </p:cNvSpPr>
              <p:nvPr/>
            </p:nvSpPr>
            <p:spPr bwMode="auto">
              <a:xfrm>
                <a:off x="1475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5" name="Line 38"/>
              <p:cNvSpPr>
                <a:spLocks noChangeShapeType="1"/>
              </p:cNvSpPr>
              <p:nvPr/>
            </p:nvSpPr>
            <p:spPr bwMode="auto">
              <a:xfrm>
                <a:off x="1475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6" name="Line 39"/>
              <p:cNvSpPr>
                <a:spLocks noChangeShapeType="1"/>
              </p:cNvSpPr>
              <p:nvPr/>
            </p:nvSpPr>
            <p:spPr bwMode="auto">
              <a:xfrm>
                <a:off x="1327" y="350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7" name="Line 40"/>
              <p:cNvSpPr>
                <a:spLocks noChangeShapeType="1"/>
              </p:cNvSpPr>
              <p:nvPr/>
            </p:nvSpPr>
            <p:spPr bwMode="auto">
              <a:xfrm>
                <a:off x="1327" y="374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8" name="Line 41"/>
              <p:cNvSpPr>
                <a:spLocks noChangeShapeType="1"/>
              </p:cNvSpPr>
              <p:nvPr/>
            </p:nvSpPr>
            <p:spPr bwMode="auto">
              <a:xfrm>
                <a:off x="1213" y="3508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9" name="Line 42"/>
              <p:cNvSpPr>
                <a:spLocks noChangeShapeType="1"/>
              </p:cNvSpPr>
              <p:nvPr/>
            </p:nvSpPr>
            <p:spPr bwMode="auto">
              <a:xfrm>
                <a:off x="1213" y="374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61" name="Text Box 48"/>
            <p:cNvSpPr txBox="1">
              <a:spLocks noChangeArrowheads="1"/>
            </p:cNvSpPr>
            <p:nvPr/>
          </p:nvSpPr>
          <p:spPr bwMode="auto">
            <a:xfrm>
              <a:off x="1597025" y="4549775"/>
              <a:ext cx="2092880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IPv4 source, dest addr </a:t>
              </a:r>
            </a:p>
          </p:txBody>
        </p:sp>
        <p:sp>
          <p:nvSpPr>
            <p:cNvPr id="62" name="Text Box 50"/>
            <p:cNvSpPr txBox="1">
              <a:spLocks noChangeArrowheads="1"/>
            </p:cNvSpPr>
            <p:nvPr/>
          </p:nvSpPr>
          <p:spPr bwMode="auto">
            <a:xfrm>
              <a:off x="1303338" y="4318000"/>
              <a:ext cx="1735945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IPv4 header fields </a:t>
              </a: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>
              <a:off x="2855913" y="4808538"/>
              <a:ext cx="0" cy="73818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2860675" y="4803775"/>
              <a:ext cx="381000" cy="7381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>
              <a:off x="2260600" y="4560888"/>
              <a:ext cx="0" cy="97631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6" name="Text Box 23"/>
            <p:cNvSpPr txBox="1">
              <a:spLocks noChangeArrowheads="1"/>
            </p:cNvSpPr>
            <p:nvPr/>
          </p:nvSpPr>
          <p:spPr bwMode="auto">
            <a:xfrm>
              <a:off x="3663950" y="6178551"/>
              <a:ext cx="1746632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IPv4 datagram</a:t>
              </a:r>
            </a:p>
          </p:txBody>
        </p:sp>
        <p:sp>
          <p:nvSpPr>
            <p:cNvPr id="67" name="Line 24"/>
            <p:cNvSpPr>
              <a:spLocks noChangeShapeType="1"/>
            </p:cNvSpPr>
            <p:nvPr/>
          </p:nvSpPr>
          <p:spPr bwMode="auto">
            <a:xfrm>
              <a:off x="5284788" y="6367463"/>
              <a:ext cx="1695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8" name="Line 25"/>
            <p:cNvSpPr>
              <a:spLocks noChangeShapeType="1"/>
            </p:cNvSpPr>
            <p:nvPr/>
          </p:nvSpPr>
          <p:spPr bwMode="auto">
            <a:xfrm flipH="1">
              <a:off x="2095500" y="6367463"/>
              <a:ext cx="1606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69" name="Text Box 64"/>
            <p:cNvSpPr txBox="1">
              <a:spLocks noChangeArrowheads="1"/>
            </p:cNvSpPr>
            <p:nvPr/>
          </p:nvSpPr>
          <p:spPr bwMode="auto">
            <a:xfrm>
              <a:off x="4384675" y="5829300"/>
              <a:ext cx="1746632" cy="4001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IPv6 datagram</a:t>
              </a: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6021388" y="5999163"/>
              <a:ext cx="857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3522663" y="5999163"/>
              <a:ext cx="925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72" name="Rectangle 69"/>
            <p:cNvSpPr>
              <a:spLocks noChangeArrowheads="1"/>
            </p:cNvSpPr>
            <p:nvPr/>
          </p:nvSpPr>
          <p:spPr bwMode="auto">
            <a:xfrm>
              <a:off x="3490913" y="5386388"/>
              <a:ext cx="3422650" cy="40163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73" name="Group 70"/>
            <p:cNvGrpSpPr/>
            <p:nvPr/>
          </p:nvGrpSpPr>
          <p:grpSpPr bwMode="auto">
            <a:xfrm>
              <a:off x="4552951" y="4416425"/>
              <a:ext cx="3457576" cy="1109663"/>
              <a:chOff x="2868" y="2782"/>
              <a:chExt cx="2178" cy="699"/>
            </a:xfrm>
          </p:grpSpPr>
          <p:sp>
            <p:nvSpPr>
              <p:cNvPr id="92" name="Text Box 51"/>
              <p:cNvSpPr txBox="1">
                <a:spLocks noChangeArrowheads="1"/>
              </p:cNvSpPr>
              <p:nvPr/>
            </p:nvSpPr>
            <p:spPr bwMode="auto">
              <a:xfrm>
                <a:off x="4204" y="2782"/>
                <a:ext cx="842" cy="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50"/>
                  <a:t>IPv4 payload </a:t>
                </a:r>
              </a:p>
            </p:txBody>
          </p:sp>
          <p:sp>
            <p:nvSpPr>
              <p:cNvPr id="93" name="Line 54"/>
              <p:cNvSpPr>
                <a:spLocks noChangeShapeType="1"/>
              </p:cNvSpPr>
              <p:nvPr/>
            </p:nvSpPr>
            <p:spPr bwMode="auto">
              <a:xfrm flipH="1">
                <a:off x="2868" y="2979"/>
                <a:ext cx="1532" cy="50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74" name="Group 71"/>
            <p:cNvGrpSpPr/>
            <p:nvPr/>
          </p:nvGrpSpPr>
          <p:grpSpPr bwMode="auto">
            <a:xfrm>
              <a:off x="3506788" y="4321175"/>
              <a:ext cx="3402012" cy="1476375"/>
              <a:chOff x="2280" y="1247"/>
              <a:chExt cx="2143" cy="930"/>
            </a:xfrm>
          </p:grpSpPr>
          <p:sp>
            <p:nvSpPr>
              <p:cNvPr id="75" name="Rectangle 5"/>
              <p:cNvSpPr>
                <a:spLocks noChangeArrowheads="1"/>
              </p:cNvSpPr>
              <p:nvPr/>
            </p:nvSpPr>
            <p:spPr bwMode="auto">
              <a:xfrm>
                <a:off x="2280" y="1918"/>
                <a:ext cx="2143" cy="25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76" name="Line 8"/>
              <p:cNvSpPr>
                <a:spLocks noChangeShapeType="1"/>
              </p:cNvSpPr>
              <p:nvPr/>
            </p:nvSpPr>
            <p:spPr bwMode="auto">
              <a:xfrm>
                <a:off x="2333" y="1918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7" name="Line 9"/>
              <p:cNvSpPr>
                <a:spLocks noChangeShapeType="1"/>
              </p:cNvSpPr>
              <p:nvPr/>
            </p:nvSpPr>
            <p:spPr bwMode="auto">
              <a:xfrm>
                <a:off x="2307" y="1917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8" name="Line 10"/>
              <p:cNvSpPr>
                <a:spLocks noChangeShapeType="1"/>
              </p:cNvSpPr>
              <p:nvPr/>
            </p:nvSpPr>
            <p:spPr bwMode="auto">
              <a:xfrm>
                <a:off x="2381" y="1918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79" name="Line 11"/>
              <p:cNvSpPr>
                <a:spLocks noChangeShapeType="1"/>
              </p:cNvSpPr>
              <p:nvPr/>
            </p:nvSpPr>
            <p:spPr bwMode="auto">
              <a:xfrm>
                <a:off x="2407" y="1916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0" name="Line 12"/>
              <p:cNvSpPr>
                <a:spLocks noChangeShapeType="1"/>
              </p:cNvSpPr>
              <p:nvPr/>
            </p:nvSpPr>
            <p:spPr bwMode="auto">
              <a:xfrm>
                <a:off x="2441" y="1916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2" name="Line 13"/>
              <p:cNvSpPr>
                <a:spLocks noChangeShapeType="1"/>
              </p:cNvSpPr>
              <p:nvPr/>
            </p:nvSpPr>
            <p:spPr bwMode="auto">
              <a:xfrm>
                <a:off x="2483" y="1916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2679" y="1923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4" name="Line 15"/>
              <p:cNvSpPr>
                <a:spLocks noChangeShapeType="1"/>
              </p:cNvSpPr>
              <p:nvPr/>
            </p:nvSpPr>
            <p:spPr bwMode="auto">
              <a:xfrm>
                <a:off x="2915" y="1923"/>
                <a:ext cx="0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5" name="Text Box 16"/>
              <p:cNvSpPr txBox="1">
                <a:spLocks noChangeArrowheads="1"/>
              </p:cNvSpPr>
              <p:nvPr/>
            </p:nvSpPr>
            <p:spPr bwMode="auto">
              <a:xfrm>
                <a:off x="2672" y="1557"/>
                <a:ext cx="1081" cy="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50"/>
                  <a:t>UDP/TCP payload</a:t>
                </a:r>
              </a:p>
            </p:txBody>
          </p:sp>
          <p:sp>
            <p:nvSpPr>
              <p:cNvPr id="86" name="Text Box 17"/>
              <p:cNvSpPr txBox="1">
                <a:spLocks noChangeArrowheads="1"/>
              </p:cNvSpPr>
              <p:nvPr/>
            </p:nvSpPr>
            <p:spPr bwMode="auto">
              <a:xfrm>
                <a:off x="2473" y="1396"/>
                <a:ext cx="1256" cy="1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algn="ctr">
                  <a:lnSpc>
                    <a:spcPct val="85000"/>
                  </a:lnSpc>
                  <a:defRPr/>
                </a:pPr>
                <a:r>
                  <a:rPr lang="en-US" sz="1050"/>
                  <a:t>IPv6 source dest addr</a:t>
                </a:r>
              </a:p>
            </p:txBody>
          </p:sp>
          <p:sp>
            <p:nvSpPr>
              <p:cNvPr id="87" name="Text Box 18"/>
              <p:cNvSpPr txBox="1">
                <a:spLocks noChangeArrowheads="1"/>
              </p:cNvSpPr>
              <p:nvPr/>
            </p:nvSpPr>
            <p:spPr bwMode="auto">
              <a:xfrm>
                <a:off x="2288" y="1247"/>
                <a:ext cx="1063" cy="1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algn="ctr">
                  <a:lnSpc>
                    <a:spcPct val="85000"/>
                  </a:lnSpc>
                  <a:defRPr/>
                </a:pPr>
                <a:r>
                  <a:rPr lang="en-US" sz="1050"/>
                  <a:t>IPv6 header fields</a:t>
                </a:r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2602" y="1543"/>
                <a:ext cx="3" cy="4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89" name="Line 20"/>
              <p:cNvSpPr>
                <a:spLocks noChangeShapeType="1"/>
              </p:cNvSpPr>
              <p:nvPr/>
            </p:nvSpPr>
            <p:spPr bwMode="auto">
              <a:xfrm>
                <a:off x="2594" y="1546"/>
                <a:ext cx="174" cy="44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0" name="Line 58"/>
              <p:cNvSpPr>
                <a:spLocks noChangeShapeType="1"/>
              </p:cNvSpPr>
              <p:nvPr/>
            </p:nvSpPr>
            <p:spPr bwMode="auto">
              <a:xfrm>
                <a:off x="2386" y="1399"/>
                <a:ext cx="0" cy="549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1" name="Line 59"/>
              <p:cNvSpPr>
                <a:spLocks noChangeShapeType="1"/>
              </p:cNvSpPr>
              <p:nvPr/>
            </p:nvSpPr>
            <p:spPr bwMode="auto">
              <a:xfrm>
                <a:off x="3334" y="1720"/>
                <a:ext cx="0" cy="25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sp>
        <p:nvSpPr>
          <p:cNvPr id="56" name="灯片编号占位符 2">
            <a:extLst>
              <a:ext uri="{FF2B5EF4-FFF2-40B4-BE49-F238E27FC236}">
                <a16:creationId xmlns:a16="http://schemas.microsoft.com/office/drawing/2014/main" id="{48D6BB84-30E3-492D-B627-34398D9E2E8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57" name="AutoShape 5">
            <a:extLst>
              <a:ext uri="{FF2B5EF4-FFF2-40B4-BE49-F238E27FC236}">
                <a16:creationId xmlns:a16="http://schemas.microsoft.com/office/drawing/2014/main" id="{865F806A-3579-42C9-B6A9-D5370FC3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500" dirty="0">
                <a:solidFill>
                  <a:srgbClr val="0066CC"/>
                </a:solidFill>
              </a:rPr>
              <a:t>从</a:t>
            </a:r>
            <a:r>
              <a:rPr lang="en-US" altLang="zh-CN" sz="1500" dirty="0">
                <a:solidFill>
                  <a:srgbClr val="0066CC"/>
                </a:solidFill>
              </a:rPr>
              <a:t>IPv4</a:t>
            </a:r>
            <a:r>
              <a:rPr lang="zh-CN" altLang="en-US" sz="1500" dirty="0">
                <a:solidFill>
                  <a:srgbClr val="0066CC"/>
                </a:solidFill>
              </a:rPr>
              <a:t>到</a:t>
            </a:r>
            <a:r>
              <a:rPr lang="en-US" altLang="zh-CN" sz="1500" dirty="0">
                <a:solidFill>
                  <a:srgbClr val="0066CC"/>
                </a:solidFill>
              </a:rPr>
              <a:t>IPv6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迁移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909900" y="1665781"/>
            <a:ext cx="1220391" cy="25060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隧道技术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sp>
        <p:nvSpPr>
          <p:cNvPr id="110" name="Text Box 76"/>
          <p:cNvSpPr txBox="1">
            <a:spLocks noChangeArrowheads="1"/>
          </p:cNvSpPr>
          <p:nvPr/>
        </p:nvSpPr>
        <p:spPr bwMode="auto">
          <a:xfrm>
            <a:off x="1812615" y="2933198"/>
            <a:ext cx="125226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physical view:</a:t>
            </a:r>
          </a:p>
        </p:txBody>
      </p:sp>
      <p:sp>
        <p:nvSpPr>
          <p:cNvPr id="111" name="Line 147"/>
          <p:cNvSpPr>
            <a:spLocks noChangeShapeType="1"/>
          </p:cNvSpPr>
          <p:nvPr/>
        </p:nvSpPr>
        <p:spPr bwMode="auto">
          <a:xfrm flipV="1">
            <a:off x="4502237" y="3136796"/>
            <a:ext cx="17442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2" name="Text Box 180"/>
          <p:cNvSpPr txBox="1">
            <a:spLocks noChangeArrowheads="1"/>
          </p:cNvSpPr>
          <p:nvPr/>
        </p:nvSpPr>
        <p:spPr bwMode="auto">
          <a:xfrm>
            <a:off x="4751078" y="3229665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sp>
        <p:nvSpPr>
          <p:cNvPr id="113" name="Text Box 181"/>
          <p:cNvSpPr txBox="1">
            <a:spLocks noChangeArrowheads="1"/>
          </p:cNvSpPr>
          <p:nvPr/>
        </p:nvSpPr>
        <p:spPr bwMode="auto">
          <a:xfrm>
            <a:off x="5496409" y="3230855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grpSp>
        <p:nvGrpSpPr>
          <p:cNvPr id="114" name="Group 254"/>
          <p:cNvGrpSpPr/>
          <p:nvPr/>
        </p:nvGrpSpPr>
        <p:grpSpPr bwMode="auto">
          <a:xfrm>
            <a:off x="4753459" y="3012971"/>
            <a:ext cx="520303" cy="253603"/>
            <a:chOff x="4396" y="1245"/>
            <a:chExt cx="672" cy="248"/>
          </a:xfrm>
        </p:grpSpPr>
        <p:sp>
          <p:nvSpPr>
            <p:cNvPr id="11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" name="Group 258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1" name="Freeform 259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2" name="Freeform 260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" name="Line 261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0" name="Line 262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23" name="Group 328"/>
          <p:cNvGrpSpPr/>
          <p:nvPr/>
        </p:nvGrpSpPr>
        <p:grpSpPr bwMode="auto">
          <a:xfrm>
            <a:off x="3203266" y="2755796"/>
            <a:ext cx="1304924" cy="748903"/>
            <a:chOff x="1363" y="1403"/>
            <a:chExt cx="1096" cy="629"/>
          </a:xfrm>
        </p:grpSpPr>
        <p:sp>
          <p:nvSpPr>
            <p:cNvPr id="124" name="Text Box 92"/>
            <p:cNvSpPr txBox="1">
              <a:spLocks noChangeArrowheads="1"/>
            </p:cNvSpPr>
            <p:nvPr/>
          </p:nvSpPr>
          <p:spPr bwMode="auto">
            <a:xfrm>
              <a:off x="1462" y="1403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A</a:t>
              </a:r>
            </a:p>
          </p:txBody>
        </p:sp>
        <p:sp>
          <p:nvSpPr>
            <p:cNvPr id="125" name="Text Box 108"/>
            <p:cNvSpPr txBox="1">
              <a:spLocks noChangeArrowheads="1"/>
            </p:cNvSpPr>
            <p:nvPr/>
          </p:nvSpPr>
          <p:spPr bwMode="auto">
            <a:xfrm>
              <a:off x="2121" y="1406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B</a:t>
              </a:r>
            </a:p>
          </p:txBody>
        </p:sp>
        <p:sp>
          <p:nvSpPr>
            <p:cNvPr id="126" name="Line 141"/>
            <p:cNvSpPr>
              <a:spLocks noChangeShapeType="1"/>
            </p:cNvSpPr>
            <p:nvPr/>
          </p:nvSpPr>
          <p:spPr bwMode="auto">
            <a:xfrm flipV="1">
              <a:off x="1803" y="1729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/>
          </p:nvSpPr>
          <p:spPr bwMode="auto">
            <a:xfrm>
              <a:off x="1386" y="1798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sp>
          <p:nvSpPr>
            <p:cNvPr id="128" name="Text Box 144"/>
            <p:cNvSpPr txBox="1">
              <a:spLocks noChangeArrowheads="1"/>
            </p:cNvSpPr>
            <p:nvPr/>
          </p:nvSpPr>
          <p:spPr bwMode="auto">
            <a:xfrm>
              <a:off x="2045" y="1799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29" name="Group 245"/>
            <p:cNvGrpSpPr/>
            <p:nvPr/>
          </p:nvGrpSpPr>
          <p:grpSpPr bwMode="auto"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2" name="Group 249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45" name="Freeform 2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2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252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44" name="Line 253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30" name="Group 263"/>
            <p:cNvGrpSpPr/>
            <p:nvPr/>
          </p:nvGrpSpPr>
          <p:grpSpPr bwMode="auto"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4" name="Group 267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7" name="Freeform 2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2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270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6" name="Line 271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147" name="Group 272"/>
          <p:cNvGrpSpPr/>
          <p:nvPr/>
        </p:nvGrpSpPr>
        <p:grpSpPr bwMode="auto">
          <a:xfrm>
            <a:off x="5477359" y="3015352"/>
            <a:ext cx="520303" cy="253603"/>
            <a:chOff x="4396" y="1245"/>
            <a:chExt cx="672" cy="248"/>
          </a:xfrm>
        </p:grpSpPr>
        <p:sp>
          <p:nvSpPr>
            <p:cNvPr id="148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0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51" name="Group 27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4" name="Freeform 27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5" name="Freeform 27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52" name="Line 27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3" name="Line 280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56" name="Group 303"/>
          <p:cNvGrpSpPr/>
          <p:nvPr/>
        </p:nvGrpSpPr>
        <p:grpSpPr bwMode="auto">
          <a:xfrm>
            <a:off x="6232216" y="2756986"/>
            <a:ext cx="1281113" cy="744141"/>
            <a:chOff x="3907" y="1404"/>
            <a:chExt cx="1076" cy="625"/>
          </a:xfrm>
        </p:grpSpPr>
        <p:sp>
          <p:nvSpPr>
            <p:cNvPr id="157" name="Text Box 50"/>
            <p:cNvSpPr txBox="1">
              <a:spLocks noChangeArrowheads="1"/>
            </p:cNvSpPr>
            <p:nvPr/>
          </p:nvSpPr>
          <p:spPr bwMode="auto">
            <a:xfrm>
              <a:off x="4012" y="1404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E</a:t>
              </a:r>
            </a:p>
          </p:txBody>
        </p:sp>
        <p:sp>
          <p:nvSpPr>
            <p:cNvPr id="158" name="Line 142"/>
            <p:cNvSpPr>
              <a:spLocks noChangeShapeType="1"/>
            </p:cNvSpPr>
            <p:nvPr/>
          </p:nvSpPr>
          <p:spPr bwMode="auto">
            <a:xfrm flipV="1">
              <a:off x="4352" y="171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9" name="Text Box 145"/>
            <p:cNvSpPr txBox="1">
              <a:spLocks noChangeArrowheads="1"/>
            </p:cNvSpPr>
            <p:nvPr/>
          </p:nvSpPr>
          <p:spPr bwMode="auto">
            <a:xfrm>
              <a:off x="3951" y="1794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sp>
          <p:nvSpPr>
            <p:cNvPr id="160" name="Text Box 146"/>
            <p:cNvSpPr txBox="1">
              <a:spLocks noChangeArrowheads="1"/>
            </p:cNvSpPr>
            <p:nvPr/>
          </p:nvSpPr>
          <p:spPr bwMode="auto">
            <a:xfrm>
              <a:off x="4569" y="1796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61" name="Group 281"/>
            <p:cNvGrpSpPr/>
            <p:nvPr/>
          </p:nvGrpSpPr>
          <p:grpSpPr bwMode="auto"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7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" name="Group 285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8" name="Freeform 286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9" name="Freeform 287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6" name="Line 288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77" name="Line 289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62" name="Group 290"/>
            <p:cNvGrpSpPr/>
            <p:nvPr/>
          </p:nvGrpSpPr>
          <p:grpSpPr bwMode="auto"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64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Group 294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0" name="Freeform 29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1" name="Freeform 29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68" name="Line 297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69" name="Line 298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63" name="Text Box 299"/>
            <p:cNvSpPr txBox="1">
              <a:spLocks noChangeArrowheads="1"/>
            </p:cNvSpPr>
            <p:nvPr/>
          </p:nvSpPr>
          <p:spPr bwMode="auto">
            <a:xfrm>
              <a:off x="4635" y="1408"/>
              <a:ext cx="244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F</a:t>
              </a:r>
            </a:p>
          </p:txBody>
        </p:sp>
      </p:grpSp>
      <p:sp>
        <p:nvSpPr>
          <p:cNvPr id="180" name="Text Box 300"/>
          <p:cNvSpPr txBox="1">
            <a:spLocks noChangeArrowheads="1"/>
          </p:cNvSpPr>
          <p:nvPr/>
        </p:nvSpPr>
        <p:spPr bwMode="auto">
          <a:xfrm>
            <a:off x="4870140" y="2752223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C</a:t>
            </a:r>
          </a:p>
        </p:txBody>
      </p:sp>
      <p:sp>
        <p:nvSpPr>
          <p:cNvPr id="181" name="Text Box 301"/>
          <p:cNvSpPr txBox="1">
            <a:spLocks noChangeArrowheads="1"/>
          </p:cNvSpPr>
          <p:nvPr/>
        </p:nvSpPr>
        <p:spPr bwMode="auto">
          <a:xfrm>
            <a:off x="5602374" y="2754605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D</a:t>
            </a:r>
          </a:p>
        </p:txBody>
      </p:sp>
      <p:grpSp>
        <p:nvGrpSpPr>
          <p:cNvPr id="182" name="Group 354"/>
          <p:cNvGrpSpPr/>
          <p:nvPr/>
        </p:nvGrpSpPr>
        <p:grpSpPr bwMode="auto">
          <a:xfrm>
            <a:off x="1924534" y="2058983"/>
            <a:ext cx="5593556" cy="759619"/>
            <a:chOff x="289" y="766"/>
            <a:chExt cx="4698" cy="638"/>
          </a:xfrm>
        </p:grpSpPr>
        <p:sp>
          <p:nvSpPr>
            <p:cNvPr id="183" name="Rectangle 67"/>
            <p:cNvSpPr>
              <a:spLocks noChangeArrowheads="1"/>
            </p:cNvSpPr>
            <p:nvPr/>
          </p:nvSpPr>
          <p:spPr bwMode="auto"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84" name="Text Box 75"/>
            <p:cNvSpPr txBox="1">
              <a:spLocks noChangeArrowheads="1"/>
            </p:cNvSpPr>
            <p:nvPr/>
          </p:nvSpPr>
          <p:spPr bwMode="auto">
            <a:xfrm>
              <a:off x="289" y="979"/>
              <a:ext cx="939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logical view:</a:t>
              </a:r>
            </a:p>
          </p:txBody>
        </p:sp>
        <p:sp>
          <p:nvSpPr>
            <p:cNvPr id="185" name="Text Box 244"/>
            <p:cNvSpPr txBox="1">
              <a:spLocks noChangeArrowheads="1"/>
            </p:cNvSpPr>
            <p:nvPr/>
          </p:nvSpPr>
          <p:spPr bwMode="auto">
            <a:xfrm>
              <a:off x="2469" y="766"/>
              <a:ext cx="1510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IPv4 tunnel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connecting IPv6 routers</a:t>
              </a:r>
            </a:p>
          </p:txBody>
        </p:sp>
        <p:grpSp>
          <p:nvGrpSpPr>
            <p:cNvPr id="186" name="Group 304"/>
            <p:cNvGrpSpPr/>
            <p:nvPr/>
          </p:nvGrpSpPr>
          <p:grpSpPr bwMode="auto">
            <a:xfrm>
              <a:off x="3911" y="779"/>
              <a:ext cx="1076" cy="625"/>
              <a:chOff x="3907" y="1404"/>
              <a:chExt cx="1076" cy="625"/>
            </a:xfrm>
          </p:grpSpPr>
          <p:sp>
            <p:nvSpPr>
              <p:cNvPr id="211" name="Text Box 305"/>
              <p:cNvSpPr txBox="1">
                <a:spLocks noChangeArrowheads="1"/>
              </p:cNvSpPr>
              <p:nvPr/>
            </p:nvSpPr>
            <p:spPr bwMode="auto">
              <a:xfrm>
                <a:off x="4012" y="1404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E</a:t>
                </a:r>
              </a:p>
            </p:txBody>
          </p:sp>
          <p:sp>
            <p:nvSpPr>
              <p:cNvPr id="212" name="Line 306"/>
              <p:cNvSpPr>
                <a:spLocks noChangeShapeType="1"/>
              </p:cNvSpPr>
              <p:nvPr/>
            </p:nvSpPr>
            <p:spPr bwMode="auto">
              <a:xfrm flipV="1">
                <a:off x="4352" y="171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213" name="Text Box 307"/>
              <p:cNvSpPr txBox="1">
                <a:spLocks noChangeArrowheads="1"/>
              </p:cNvSpPr>
              <p:nvPr/>
            </p:nvSpPr>
            <p:spPr bwMode="auto">
              <a:xfrm>
                <a:off x="3951" y="1794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214" name="Text Box 308"/>
              <p:cNvSpPr txBox="1">
                <a:spLocks noChangeArrowheads="1"/>
              </p:cNvSpPr>
              <p:nvPr/>
            </p:nvSpPr>
            <p:spPr bwMode="auto">
              <a:xfrm>
                <a:off x="4569" y="1796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215" name="Group 309"/>
              <p:cNvGrpSpPr/>
              <p:nvPr/>
            </p:nvGrpSpPr>
            <p:grpSpPr bwMode="auto"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226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8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9" name="Group 313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32" name="Freeform 314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33" name="Freeform 315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30" name="Line 316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31" name="Line 317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216" name="Group 318"/>
              <p:cNvGrpSpPr/>
              <p:nvPr/>
            </p:nvGrpSpPr>
            <p:grpSpPr bwMode="auto"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218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1" name="Group 322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24" name="Freeform 323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25" name="Freeform 324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22" name="Line 325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23" name="Line 326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sp>
            <p:nvSpPr>
              <p:cNvPr id="217" name="Text Box 327"/>
              <p:cNvSpPr txBox="1">
                <a:spLocks noChangeArrowheads="1"/>
              </p:cNvSpPr>
              <p:nvPr/>
            </p:nvSpPr>
            <p:spPr bwMode="auto">
              <a:xfrm>
                <a:off x="4635" y="1408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F</a:t>
                </a:r>
              </a:p>
            </p:txBody>
          </p:sp>
        </p:grpSp>
        <p:grpSp>
          <p:nvGrpSpPr>
            <p:cNvPr id="187" name="Group 329"/>
            <p:cNvGrpSpPr/>
            <p:nvPr/>
          </p:nvGrpSpPr>
          <p:grpSpPr bwMode="auto">
            <a:xfrm>
              <a:off x="1361" y="771"/>
              <a:ext cx="1096" cy="629"/>
              <a:chOff x="1363" y="1403"/>
              <a:chExt cx="1096" cy="629"/>
            </a:xfrm>
          </p:grpSpPr>
          <p:sp>
            <p:nvSpPr>
              <p:cNvPr id="188" name="Text Box 330"/>
              <p:cNvSpPr txBox="1">
                <a:spLocks noChangeArrowheads="1"/>
              </p:cNvSpPr>
              <p:nvPr/>
            </p:nvSpPr>
            <p:spPr bwMode="auto">
              <a:xfrm>
                <a:off x="1462" y="1403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A</a:t>
                </a:r>
              </a:p>
            </p:txBody>
          </p:sp>
          <p:sp>
            <p:nvSpPr>
              <p:cNvPr id="189" name="Text Box 331"/>
              <p:cNvSpPr txBox="1">
                <a:spLocks noChangeArrowheads="1"/>
              </p:cNvSpPr>
              <p:nvPr/>
            </p:nvSpPr>
            <p:spPr bwMode="auto">
              <a:xfrm>
                <a:off x="2121" y="1406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B</a:t>
                </a:r>
              </a:p>
            </p:txBody>
          </p:sp>
          <p:sp>
            <p:nvSpPr>
              <p:cNvPr id="190" name="Line 332"/>
              <p:cNvSpPr>
                <a:spLocks noChangeShapeType="1"/>
              </p:cNvSpPr>
              <p:nvPr/>
            </p:nvSpPr>
            <p:spPr bwMode="auto">
              <a:xfrm flipV="1">
                <a:off x="1803" y="1729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91" name="Text Box 333"/>
              <p:cNvSpPr txBox="1">
                <a:spLocks noChangeArrowheads="1"/>
              </p:cNvSpPr>
              <p:nvPr/>
            </p:nvSpPr>
            <p:spPr bwMode="auto">
              <a:xfrm>
                <a:off x="1386" y="1798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192" name="Text Box 334"/>
              <p:cNvSpPr txBox="1">
                <a:spLocks noChangeArrowheads="1"/>
              </p:cNvSpPr>
              <p:nvPr/>
            </p:nvSpPr>
            <p:spPr bwMode="auto">
              <a:xfrm>
                <a:off x="2045" y="1799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193" name="Group 335"/>
              <p:cNvGrpSpPr/>
              <p:nvPr/>
            </p:nvGrpSpPr>
            <p:grpSpPr bwMode="auto"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203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6" name="Group 339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9" name="Freeform 34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10" name="Freeform 34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07" name="Line 342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8" name="Line 343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94" name="Group 344"/>
              <p:cNvGrpSpPr/>
              <p:nvPr/>
            </p:nvGrpSpPr>
            <p:grpSpPr bwMode="auto"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95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8" name="Group 348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1" name="Freeform 349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02" name="Freeform 350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199" name="Line 351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0" name="Line 352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</p:grpSp>
      <p:sp>
        <p:nvSpPr>
          <p:cNvPr id="234" name="灯片编号占位符 2">
            <a:extLst>
              <a:ext uri="{FF2B5EF4-FFF2-40B4-BE49-F238E27FC236}">
                <a16:creationId xmlns:a16="http://schemas.microsoft.com/office/drawing/2014/main" id="{A1578AFE-566F-4013-BC68-E5A9BE88ABB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235" name="AutoShape 5">
            <a:extLst>
              <a:ext uri="{FF2B5EF4-FFF2-40B4-BE49-F238E27FC236}">
                <a16:creationId xmlns:a16="http://schemas.microsoft.com/office/drawing/2014/main" id="{6F622126-8CDC-4BF5-874D-4FAB3CB5D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4.4.6 IPv6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sz="1500" dirty="0">
                <a:solidFill>
                  <a:srgbClr val="0066CC"/>
                </a:solidFill>
              </a:rPr>
              <a:t>从</a:t>
            </a:r>
            <a:r>
              <a:rPr lang="en-US" altLang="zh-CN" sz="1500" dirty="0">
                <a:solidFill>
                  <a:srgbClr val="0066CC"/>
                </a:solidFill>
              </a:rPr>
              <a:t>IPv4</a:t>
            </a:r>
            <a:r>
              <a:rPr lang="zh-CN" altLang="en-US" sz="1500" dirty="0">
                <a:solidFill>
                  <a:srgbClr val="0066CC"/>
                </a:solidFill>
              </a:rPr>
              <a:t>到</a:t>
            </a:r>
            <a:r>
              <a:rPr lang="en-US" altLang="zh-CN" sz="1500" dirty="0">
                <a:solidFill>
                  <a:srgbClr val="0066CC"/>
                </a:solidFill>
              </a:rPr>
              <a:t>IPv6</a:t>
            </a:r>
            <a:r>
              <a:rPr lang="zh-CN" altLang="en-US" sz="1500" dirty="0">
                <a:solidFill>
                  <a:srgbClr val="0066CC"/>
                </a:solidFill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</a:rPr>
              <a:t>迁移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733626" y="1065811"/>
            <a:ext cx="1220391" cy="25060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50"/>
              </a:spcBef>
              <a:buNone/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隧道技术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sp>
        <p:nvSpPr>
          <p:cNvPr id="110" name="Text Box 76"/>
          <p:cNvSpPr txBox="1">
            <a:spLocks noChangeArrowheads="1"/>
          </p:cNvSpPr>
          <p:nvPr/>
        </p:nvSpPr>
        <p:spPr bwMode="auto">
          <a:xfrm>
            <a:off x="2754957" y="2289029"/>
            <a:ext cx="125226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physical view:</a:t>
            </a:r>
          </a:p>
        </p:txBody>
      </p:sp>
      <p:sp>
        <p:nvSpPr>
          <p:cNvPr id="111" name="Line 147"/>
          <p:cNvSpPr>
            <a:spLocks noChangeShapeType="1"/>
          </p:cNvSpPr>
          <p:nvPr/>
        </p:nvSpPr>
        <p:spPr bwMode="auto">
          <a:xfrm flipV="1">
            <a:off x="5444579" y="2492627"/>
            <a:ext cx="17442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2" name="Text Box 180"/>
          <p:cNvSpPr txBox="1">
            <a:spLocks noChangeArrowheads="1"/>
          </p:cNvSpPr>
          <p:nvPr/>
        </p:nvSpPr>
        <p:spPr bwMode="auto">
          <a:xfrm>
            <a:off x="5693420" y="258549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sp>
        <p:nvSpPr>
          <p:cNvPr id="113" name="Text Box 181"/>
          <p:cNvSpPr txBox="1">
            <a:spLocks noChangeArrowheads="1"/>
          </p:cNvSpPr>
          <p:nvPr/>
        </p:nvSpPr>
        <p:spPr bwMode="auto">
          <a:xfrm>
            <a:off x="6438751" y="258668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</a:rPr>
              <a:t>IPv4</a:t>
            </a:r>
          </a:p>
        </p:txBody>
      </p:sp>
      <p:grpSp>
        <p:nvGrpSpPr>
          <p:cNvPr id="114" name="Group 254"/>
          <p:cNvGrpSpPr/>
          <p:nvPr/>
        </p:nvGrpSpPr>
        <p:grpSpPr bwMode="auto">
          <a:xfrm>
            <a:off x="5695801" y="2368802"/>
            <a:ext cx="520303" cy="253603"/>
            <a:chOff x="4396" y="1245"/>
            <a:chExt cx="672" cy="248"/>
          </a:xfrm>
        </p:grpSpPr>
        <p:sp>
          <p:nvSpPr>
            <p:cNvPr id="11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" name="Group 258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21" name="Freeform 259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2" name="Freeform 260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" name="Line 261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0" name="Line 262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23" name="Group 328"/>
          <p:cNvGrpSpPr/>
          <p:nvPr/>
        </p:nvGrpSpPr>
        <p:grpSpPr bwMode="auto">
          <a:xfrm>
            <a:off x="4145608" y="2111627"/>
            <a:ext cx="1304924" cy="748903"/>
            <a:chOff x="1363" y="1403"/>
            <a:chExt cx="1096" cy="629"/>
          </a:xfrm>
        </p:grpSpPr>
        <p:sp>
          <p:nvSpPr>
            <p:cNvPr id="124" name="Text Box 92"/>
            <p:cNvSpPr txBox="1">
              <a:spLocks noChangeArrowheads="1"/>
            </p:cNvSpPr>
            <p:nvPr/>
          </p:nvSpPr>
          <p:spPr bwMode="auto">
            <a:xfrm>
              <a:off x="1462" y="1403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A</a:t>
              </a:r>
            </a:p>
          </p:txBody>
        </p:sp>
        <p:sp>
          <p:nvSpPr>
            <p:cNvPr id="125" name="Text Box 108"/>
            <p:cNvSpPr txBox="1">
              <a:spLocks noChangeArrowheads="1"/>
            </p:cNvSpPr>
            <p:nvPr/>
          </p:nvSpPr>
          <p:spPr bwMode="auto">
            <a:xfrm>
              <a:off x="2121" y="1406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B</a:t>
              </a:r>
            </a:p>
          </p:txBody>
        </p:sp>
        <p:sp>
          <p:nvSpPr>
            <p:cNvPr id="126" name="Line 141"/>
            <p:cNvSpPr>
              <a:spLocks noChangeShapeType="1"/>
            </p:cNvSpPr>
            <p:nvPr/>
          </p:nvSpPr>
          <p:spPr bwMode="auto">
            <a:xfrm flipV="1">
              <a:off x="1803" y="1729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/>
          </p:nvSpPr>
          <p:spPr bwMode="auto">
            <a:xfrm>
              <a:off x="1386" y="1798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/>
                <a:t>IPv6</a:t>
              </a:r>
            </a:p>
          </p:txBody>
        </p:sp>
        <p:sp>
          <p:nvSpPr>
            <p:cNvPr id="128" name="Text Box 144"/>
            <p:cNvSpPr txBox="1">
              <a:spLocks noChangeArrowheads="1"/>
            </p:cNvSpPr>
            <p:nvPr/>
          </p:nvSpPr>
          <p:spPr bwMode="auto">
            <a:xfrm>
              <a:off x="2045" y="1799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29" name="Group 245"/>
            <p:cNvGrpSpPr/>
            <p:nvPr/>
          </p:nvGrpSpPr>
          <p:grpSpPr bwMode="auto">
            <a:xfrm>
              <a:off x="1363" y="1621"/>
              <a:ext cx="437" cy="213"/>
              <a:chOff x="4396" y="1245"/>
              <a:chExt cx="672" cy="248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2" name="Group 249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45" name="Freeform 2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2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252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44" name="Line 253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30" name="Group 263"/>
            <p:cNvGrpSpPr/>
            <p:nvPr/>
          </p:nvGrpSpPr>
          <p:grpSpPr bwMode="auto">
            <a:xfrm>
              <a:off x="2015" y="1617"/>
              <a:ext cx="437" cy="213"/>
              <a:chOff x="4396" y="1245"/>
              <a:chExt cx="672" cy="248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4" name="Group 267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37" name="Freeform 2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2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270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6" name="Line 271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147" name="Group 272"/>
          <p:cNvGrpSpPr/>
          <p:nvPr/>
        </p:nvGrpSpPr>
        <p:grpSpPr bwMode="auto">
          <a:xfrm>
            <a:off x="6419701" y="2371183"/>
            <a:ext cx="520303" cy="253603"/>
            <a:chOff x="4396" y="1245"/>
            <a:chExt cx="672" cy="248"/>
          </a:xfrm>
        </p:grpSpPr>
        <p:sp>
          <p:nvSpPr>
            <p:cNvPr id="148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0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51" name="Group 27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4" name="Freeform 27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5" name="Freeform 27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rgbClr val="CC0000"/>
                  </a:gs>
                  <a:gs pos="100000">
                    <a:schemeClr val="bg1"/>
                  </a:gs>
                </a:gsLst>
                <a:lin ang="0" scaled="1"/>
              </a:gradFill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52" name="Line 27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3" name="Line 280"/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56" name="Group 303"/>
          <p:cNvGrpSpPr/>
          <p:nvPr/>
        </p:nvGrpSpPr>
        <p:grpSpPr bwMode="auto">
          <a:xfrm>
            <a:off x="7174558" y="2112817"/>
            <a:ext cx="1281113" cy="744141"/>
            <a:chOff x="3907" y="1404"/>
            <a:chExt cx="1076" cy="625"/>
          </a:xfrm>
        </p:grpSpPr>
        <p:sp>
          <p:nvSpPr>
            <p:cNvPr id="157" name="Text Box 50"/>
            <p:cNvSpPr txBox="1">
              <a:spLocks noChangeArrowheads="1"/>
            </p:cNvSpPr>
            <p:nvPr/>
          </p:nvSpPr>
          <p:spPr bwMode="auto">
            <a:xfrm>
              <a:off x="4012" y="1404"/>
              <a:ext cx="25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E</a:t>
              </a:r>
            </a:p>
          </p:txBody>
        </p:sp>
        <p:sp>
          <p:nvSpPr>
            <p:cNvPr id="158" name="Line 142"/>
            <p:cNvSpPr>
              <a:spLocks noChangeShapeType="1"/>
            </p:cNvSpPr>
            <p:nvPr/>
          </p:nvSpPr>
          <p:spPr bwMode="auto">
            <a:xfrm flipV="1">
              <a:off x="4352" y="1717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9" name="Text Box 145"/>
            <p:cNvSpPr txBox="1">
              <a:spLocks noChangeArrowheads="1"/>
            </p:cNvSpPr>
            <p:nvPr/>
          </p:nvSpPr>
          <p:spPr bwMode="auto">
            <a:xfrm>
              <a:off x="3951" y="1794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sp>
          <p:nvSpPr>
            <p:cNvPr id="160" name="Text Box 146"/>
            <p:cNvSpPr txBox="1">
              <a:spLocks noChangeArrowheads="1"/>
            </p:cNvSpPr>
            <p:nvPr/>
          </p:nvSpPr>
          <p:spPr bwMode="auto">
            <a:xfrm>
              <a:off x="4569" y="1796"/>
              <a:ext cx="41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/>
                <a:t>IPv6</a:t>
              </a:r>
            </a:p>
          </p:txBody>
        </p:sp>
        <p:grpSp>
          <p:nvGrpSpPr>
            <p:cNvPr id="161" name="Group 281"/>
            <p:cNvGrpSpPr/>
            <p:nvPr/>
          </p:nvGrpSpPr>
          <p:grpSpPr bwMode="auto">
            <a:xfrm>
              <a:off x="3907" y="1621"/>
              <a:ext cx="437" cy="213"/>
              <a:chOff x="4396" y="1245"/>
              <a:chExt cx="672" cy="248"/>
            </a:xfrm>
          </p:grpSpPr>
          <p:sp>
            <p:nvSpPr>
              <p:cNvPr id="17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" name="Group 285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8" name="Freeform 286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9" name="Freeform 287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6" name="Line 288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77" name="Line 289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62" name="Group 290"/>
            <p:cNvGrpSpPr/>
            <p:nvPr/>
          </p:nvGrpSpPr>
          <p:grpSpPr bwMode="auto">
            <a:xfrm>
              <a:off x="4521" y="1619"/>
              <a:ext cx="437" cy="213"/>
              <a:chOff x="4396" y="1245"/>
              <a:chExt cx="672" cy="248"/>
            </a:xfrm>
          </p:grpSpPr>
          <p:sp>
            <p:nvSpPr>
              <p:cNvPr id="164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Group 294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0" name="Freeform 29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1" name="Freeform 29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68" name="Line 297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69" name="Line 298"/>
              <p:cNvSpPr>
                <a:spLocks noChangeShapeType="1"/>
              </p:cNvSpPr>
              <p:nvPr/>
            </p:nvSpPr>
            <p:spPr bwMode="auto">
              <a:xfrm>
                <a:off x="5063" y="1327"/>
                <a:ext cx="0" cy="10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63" name="Text Box 299"/>
            <p:cNvSpPr txBox="1">
              <a:spLocks noChangeArrowheads="1"/>
            </p:cNvSpPr>
            <p:nvPr/>
          </p:nvSpPr>
          <p:spPr bwMode="auto">
            <a:xfrm>
              <a:off x="4635" y="1408"/>
              <a:ext cx="244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F</a:t>
              </a:r>
            </a:p>
          </p:txBody>
        </p:sp>
      </p:grpSp>
      <p:sp>
        <p:nvSpPr>
          <p:cNvPr id="180" name="Text Box 300"/>
          <p:cNvSpPr txBox="1">
            <a:spLocks noChangeArrowheads="1"/>
          </p:cNvSpPr>
          <p:nvPr/>
        </p:nvSpPr>
        <p:spPr bwMode="auto">
          <a:xfrm>
            <a:off x="5812482" y="2108054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C</a:t>
            </a:r>
          </a:p>
        </p:txBody>
      </p:sp>
      <p:sp>
        <p:nvSpPr>
          <p:cNvPr id="181" name="Text Box 301"/>
          <p:cNvSpPr txBox="1">
            <a:spLocks noChangeArrowheads="1"/>
          </p:cNvSpPr>
          <p:nvPr/>
        </p:nvSpPr>
        <p:spPr bwMode="auto">
          <a:xfrm>
            <a:off x="6544716" y="2110436"/>
            <a:ext cx="30970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/>
              <a:t>D</a:t>
            </a:r>
          </a:p>
        </p:txBody>
      </p:sp>
      <p:grpSp>
        <p:nvGrpSpPr>
          <p:cNvPr id="182" name="Group 354"/>
          <p:cNvGrpSpPr/>
          <p:nvPr/>
        </p:nvGrpSpPr>
        <p:grpSpPr bwMode="auto">
          <a:xfrm>
            <a:off x="2866876" y="1414814"/>
            <a:ext cx="5593556" cy="759619"/>
            <a:chOff x="289" y="766"/>
            <a:chExt cx="4698" cy="638"/>
          </a:xfrm>
        </p:grpSpPr>
        <p:sp>
          <p:nvSpPr>
            <p:cNvPr id="183" name="Rectangle 67"/>
            <p:cNvSpPr>
              <a:spLocks noChangeArrowheads="1"/>
            </p:cNvSpPr>
            <p:nvPr/>
          </p:nvSpPr>
          <p:spPr bwMode="auto">
            <a:xfrm>
              <a:off x="2424" y="1085"/>
              <a:ext cx="1515" cy="42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84" name="Text Box 75"/>
            <p:cNvSpPr txBox="1">
              <a:spLocks noChangeArrowheads="1"/>
            </p:cNvSpPr>
            <p:nvPr/>
          </p:nvSpPr>
          <p:spPr bwMode="auto">
            <a:xfrm>
              <a:off x="289" y="979"/>
              <a:ext cx="939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/>
                <a:t>logical view:</a:t>
              </a:r>
            </a:p>
          </p:txBody>
        </p:sp>
        <p:sp>
          <p:nvSpPr>
            <p:cNvPr id="185" name="Text Box 244"/>
            <p:cNvSpPr txBox="1">
              <a:spLocks noChangeArrowheads="1"/>
            </p:cNvSpPr>
            <p:nvPr/>
          </p:nvSpPr>
          <p:spPr bwMode="auto">
            <a:xfrm>
              <a:off x="2469" y="766"/>
              <a:ext cx="1510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IPv4 tunnel 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i="1">
                  <a:solidFill>
                    <a:srgbClr val="CC0000"/>
                  </a:solidFill>
                </a:rPr>
                <a:t>connecting IPv6 routers</a:t>
              </a:r>
            </a:p>
          </p:txBody>
        </p:sp>
        <p:grpSp>
          <p:nvGrpSpPr>
            <p:cNvPr id="186" name="Group 304"/>
            <p:cNvGrpSpPr/>
            <p:nvPr/>
          </p:nvGrpSpPr>
          <p:grpSpPr bwMode="auto">
            <a:xfrm>
              <a:off x="3911" y="779"/>
              <a:ext cx="1076" cy="625"/>
              <a:chOff x="3907" y="1404"/>
              <a:chExt cx="1076" cy="625"/>
            </a:xfrm>
          </p:grpSpPr>
          <p:sp>
            <p:nvSpPr>
              <p:cNvPr id="211" name="Text Box 305"/>
              <p:cNvSpPr txBox="1">
                <a:spLocks noChangeArrowheads="1"/>
              </p:cNvSpPr>
              <p:nvPr/>
            </p:nvSpPr>
            <p:spPr bwMode="auto">
              <a:xfrm>
                <a:off x="4012" y="1404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E</a:t>
                </a:r>
              </a:p>
            </p:txBody>
          </p:sp>
          <p:sp>
            <p:nvSpPr>
              <p:cNvPr id="212" name="Line 306"/>
              <p:cNvSpPr>
                <a:spLocks noChangeShapeType="1"/>
              </p:cNvSpPr>
              <p:nvPr/>
            </p:nvSpPr>
            <p:spPr bwMode="auto">
              <a:xfrm flipV="1">
                <a:off x="4352" y="1717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213" name="Text Box 307"/>
              <p:cNvSpPr txBox="1">
                <a:spLocks noChangeArrowheads="1"/>
              </p:cNvSpPr>
              <p:nvPr/>
            </p:nvSpPr>
            <p:spPr bwMode="auto">
              <a:xfrm>
                <a:off x="3951" y="1794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214" name="Text Box 308"/>
              <p:cNvSpPr txBox="1">
                <a:spLocks noChangeArrowheads="1"/>
              </p:cNvSpPr>
              <p:nvPr/>
            </p:nvSpPr>
            <p:spPr bwMode="auto">
              <a:xfrm>
                <a:off x="4569" y="1796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215" name="Group 309"/>
              <p:cNvGrpSpPr/>
              <p:nvPr/>
            </p:nvGrpSpPr>
            <p:grpSpPr bwMode="auto">
              <a:xfrm>
                <a:off x="3907" y="1621"/>
                <a:ext cx="437" cy="213"/>
                <a:chOff x="4396" y="1245"/>
                <a:chExt cx="672" cy="248"/>
              </a:xfrm>
            </p:grpSpPr>
            <p:sp>
              <p:nvSpPr>
                <p:cNvPr id="226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8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9" name="Group 313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32" name="Freeform 314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33" name="Freeform 315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30" name="Line 316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31" name="Line 317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216" name="Group 318"/>
              <p:cNvGrpSpPr/>
              <p:nvPr/>
            </p:nvGrpSpPr>
            <p:grpSpPr bwMode="auto">
              <a:xfrm>
                <a:off x="4521" y="1619"/>
                <a:ext cx="437" cy="213"/>
                <a:chOff x="4396" y="1245"/>
                <a:chExt cx="672" cy="248"/>
              </a:xfrm>
            </p:grpSpPr>
            <p:sp>
              <p:nvSpPr>
                <p:cNvPr id="218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1" name="Group 322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24" name="Freeform 323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25" name="Freeform 324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22" name="Line 325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23" name="Line 326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sp>
            <p:nvSpPr>
              <p:cNvPr id="217" name="Text Box 327"/>
              <p:cNvSpPr txBox="1">
                <a:spLocks noChangeArrowheads="1"/>
              </p:cNvSpPr>
              <p:nvPr/>
            </p:nvSpPr>
            <p:spPr bwMode="auto">
              <a:xfrm>
                <a:off x="4635" y="1408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F</a:t>
                </a:r>
              </a:p>
            </p:txBody>
          </p:sp>
        </p:grpSp>
        <p:grpSp>
          <p:nvGrpSpPr>
            <p:cNvPr id="187" name="Group 329"/>
            <p:cNvGrpSpPr/>
            <p:nvPr/>
          </p:nvGrpSpPr>
          <p:grpSpPr bwMode="auto">
            <a:xfrm>
              <a:off x="1361" y="771"/>
              <a:ext cx="1096" cy="629"/>
              <a:chOff x="1363" y="1403"/>
              <a:chExt cx="1096" cy="629"/>
            </a:xfrm>
          </p:grpSpPr>
          <p:sp>
            <p:nvSpPr>
              <p:cNvPr id="188" name="Text Box 330"/>
              <p:cNvSpPr txBox="1">
                <a:spLocks noChangeArrowheads="1"/>
              </p:cNvSpPr>
              <p:nvPr/>
            </p:nvSpPr>
            <p:spPr bwMode="auto">
              <a:xfrm>
                <a:off x="1462" y="1403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A</a:t>
                </a:r>
              </a:p>
            </p:txBody>
          </p:sp>
          <p:sp>
            <p:nvSpPr>
              <p:cNvPr id="189" name="Text Box 331"/>
              <p:cNvSpPr txBox="1">
                <a:spLocks noChangeArrowheads="1"/>
              </p:cNvSpPr>
              <p:nvPr/>
            </p:nvSpPr>
            <p:spPr bwMode="auto">
              <a:xfrm>
                <a:off x="2121" y="1406"/>
                <a:ext cx="252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/>
                  <a:t>B</a:t>
                </a:r>
              </a:p>
            </p:txBody>
          </p:sp>
          <p:sp>
            <p:nvSpPr>
              <p:cNvPr id="190" name="Line 332"/>
              <p:cNvSpPr>
                <a:spLocks noChangeShapeType="1"/>
              </p:cNvSpPr>
              <p:nvPr/>
            </p:nvSpPr>
            <p:spPr bwMode="auto">
              <a:xfrm flipV="1">
                <a:off x="1803" y="1729"/>
                <a:ext cx="2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91" name="Text Box 333"/>
              <p:cNvSpPr txBox="1">
                <a:spLocks noChangeArrowheads="1"/>
              </p:cNvSpPr>
              <p:nvPr/>
            </p:nvSpPr>
            <p:spPr bwMode="auto">
              <a:xfrm>
                <a:off x="1386" y="1798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sp>
            <p:nvSpPr>
              <p:cNvPr id="192" name="Text Box 334"/>
              <p:cNvSpPr txBox="1">
                <a:spLocks noChangeArrowheads="1"/>
              </p:cNvSpPr>
              <p:nvPr/>
            </p:nvSpPr>
            <p:spPr bwMode="auto">
              <a:xfrm>
                <a:off x="2045" y="1799"/>
                <a:ext cx="414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/>
                  <a:t>IPv6</a:t>
                </a:r>
              </a:p>
            </p:txBody>
          </p:sp>
          <p:grpSp>
            <p:nvGrpSpPr>
              <p:cNvPr id="193" name="Group 335"/>
              <p:cNvGrpSpPr/>
              <p:nvPr/>
            </p:nvGrpSpPr>
            <p:grpSpPr bwMode="auto">
              <a:xfrm>
                <a:off x="1363" y="1621"/>
                <a:ext cx="437" cy="213"/>
                <a:chOff x="4396" y="1245"/>
                <a:chExt cx="672" cy="248"/>
              </a:xfrm>
            </p:grpSpPr>
            <p:sp>
              <p:nvSpPr>
                <p:cNvPr id="203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6" name="Group 339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9" name="Freeform 34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10" name="Freeform 34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07" name="Line 342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8" name="Line 343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94" name="Group 344"/>
              <p:cNvGrpSpPr/>
              <p:nvPr/>
            </p:nvGrpSpPr>
            <p:grpSpPr bwMode="auto">
              <a:xfrm>
                <a:off x="2015" y="1617"/>
                <a:ext cx="437" cy="213"/>
                <a:chOff x="4396" y="1245"/>
                <a:chExt cx="672" cy="248"/>
              </a:xfrm>
            </p:grpSpPr>
            <p:sp>
              <p:nvSpPr>
                <p:cNvPr id="195" name="Oval 407"/>
                <p:cNvSpPr>
                  <a:spLocks noChangeArrowheads="1"/>
                </p:cNvSpPr>
                <p:nvPr/>
              </p:nvSpPr>
              <p:spPr bwMode="auto">
                <a:xfrm>
                  <a:off x="4399" y="1355"/>
                  <a:ext cx="666" cy="13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99" y="1339"/>
                  <a:ext cx="669" cy="86"/>
                </a:xfrm>
                <a:prstGeom prst="rect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Oval 411"/>
                <p:cNvSpPr>
                  <a:spLocks noChangeArrowheads="1"/>
                </p:cNvSpPr>
                <p:nvPr/>
              </p:nvSpPr>
              <p:spPr bwMode="auto">
                <a:xfrm>
                  <a:off x="4396" y="1245"/>
                  <a:ext cx="667" cy="16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CCFF"/>
                    </a:gs>
                    <a:gs pos="100000">
                      <a:srgbClr val="FFFFFF"/>
                    </a:gs>
                  </a:gsLst>
                  <a:lin ang="0" scaled="1"/>
                </a:gra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8" name="Group 348"/>
                <p:cNvGrpSpPr/>
                <p:nvPr/>
              </p:nvGrpSpPr>
              <p:grpSpPr bwMode="auto">
                <a:xfrm>
                  <a:off x="4530" y="1287"/>
                  <a:ext cx="377" cy="75"/>
                  <a:chOff x="2468" y="1332"/>
                  <a:chExt cx="310" cy="60"/>
                </a:xfrm>
              </p:grpSpPr>
              <p:sp>
                <p:nvSpPr>
                  <p:cNvPr id="201" name="Freeform 349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02" name="Freeform 350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199" name="Line 351"/>
                <p:cNvSpPr>
                  <a:spLocks noChangeShapeType="1"/>
                </p:cNvSpPr>
                <p:nvPr/>
              </p:nvSpPr>
              <p:spPr bwMode="auto">
                <a:xfrm>
                  <a:off x="4399" y="1321"/>
                  <a:ext cx="0" cy="10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200" name="Line 352"/>
                <p:cNvSpPr>
                  <a:spLocks noChangeShapeType="1"/>
                </p:cNvSpPr>
                <p:nvPr/>
              </p:nvSpPr>
              <p:spPr bwMode="auto">
                <a:xfrm>
                  <a:off x="5063" y="1327"/>
                  <a:ext cx="0" cy="10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</p:grpSp>
      <p:grpSp>
        <p:nvGrpSpPr>
          <p:cNvPr id="302" name="Group 352"/>
          <p:cNvGrpSpPr/>
          <p:nvPr/>
        </p:nvGrpSpPr>
        <p:grpSpPr bwMode="auto">
          <a:xfrm>
            <a:off x="3992113" y="2878085"/>
            <a:ext cx="664368" cy="1984772"/>
            <a:chOff x="1589" y="2174"/>
            <a:chExt cx="558" cy="1667"/>
          </a:xfrm>
        </p:grpSpPr>
        <p:grpSp>
          <p:nvGrpSpPr>
            <p:cNvPr id="303" name="Group 212"/>
            <p:cNvGrpSpPr/>
            <p:nvPr/>
          </p:nvGrpSpPr>
          <p:grpSpPr bwMode="auto">
            <a:xfrm>
              <a:off x="1625" y="2200"/>
              <a:ext cx="500" cy="917"/>
              <a:chOff x="643" y="2144"/>
              <a:chExt cx="500" cy="917"/>
            </a:xfrm>
          </p:grpSpPr>
          <p:sp>
            <p:nvSpPr>
              <p:cNvPr id="307" name="Rectangle 183"/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308" name="Text Box 184"/>
              <p:cNvSpPr txBox="1">
                <a:spLocks noChangeArrowheads="1"/>
              </p:cNvSpPr>
              <p:nvPr/>
            </p:nvSpPr>
            <p:spPr bwMode="auto">
              <a:xfrm>
                <a:off x="643" y="2169"/>
                <a:ext cx="500" cy="8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050"/>
                  <a:t>flow: X</a:t>
                </a:r>
              </a:p>
              <a:p>
                <a:r>
                  <a:rPr lang="en-US" altLang="zh-CN" sz="1050"/>
                  <a:t>src: A</a:t>
                </a:r>
              </a:p>
              <a:p>
                <a:r>
                  <a:rPr lang="en-US" altLang="zh-CN" sz="1050"/>
                  <a:t>dest: F</a:t>
                </a:r>
              </a:p>
              <a:p>
                <a:endParaRPr lang="en-US" altLang="zh-CN" sz="1050"/>
              </a:p>
              <a:p>
                <a:endParaRPr lang="en-US" altLang="zh-CN" sz="1050"/>
              </a:p>
              <a:p>
                <a:r>
                  <a:rPr lang="en-US" altLang="zh-CN" sz="1050"/>
                  <a:t>data</a:t>
                </a:r>
              </a:p>
            </p:txBody>
          </p:sp>
        </p:grpSp>
        <p:sp>
          <p:nvSpPr>
            <p:cNvPr id="304" name="Line 194"/>
            <p:cNvSpPr>
              <a:spLocks noChangeShapeType="1"/>
            </p:cNvSpPr>
            <p:nvPr/>
          </p:nvSpPr>
          <p:spPr bwMode="auto">
            <a:xfrm>
              <a:off x="1661" y="2174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05" name="Text Box 204"/>
            <p:cNvSpPr txBox="1">
              <a:spLocks noChangeArrowheads="1"/>
            </p:cNvSpPr>
            <p:nvPr/>
          </p:nvSpPr>
          <p:spPr bwMode="auto">
            <a:xfrm>
              <a:off x="1589" y="3500"/>
              <a:ext cx="558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A-to-B: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IPv6</a:t>
              </a:r>
            </a:p>
          </p:txBody>
        </p:sp>
        <p:sp>
          <p:nvSpPr>
            <p:cNvPr id="306" name="Line 205"/>
            <p:cNvSpPr>
              <a:spLocks noChangeShapeType="1"/>
            </p:cNvSpPr>
            <p:nvPr/>
          </p:nvSpPr>
          <p:spPr bwMode="auto">
            <a:xfrm>
              <a:off x="1856" y="3230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09" name="Group 353"/>
          <p:cNvGrpSpPr/>
          <p:nvPr/>
        </p:nvGrpSpPr>
        <p:grpSpPr bwMode="auto">
          <a:xfrm>
            <a:off x="4730300" y="2872133"/>
            <a:ext cx="934640" cy="2147889"/>
            <a:chOff x="2209" y="2169"/>
            <a:chExt cx="785" cy="1804"/>
          </a:xfrm>
        </p:grpSpPr>
        <p:grpSp>
          <p:nvGrpSpPr>
            <p:cNvPr id="310" name="Group 216"/>
            <p:cNvGrpSpPr/>
            <p:nvPr/>
          </p:nvGrpSpPr>
          <p:grpSpPr bwMode="auto">
            <a:xfrm>
              <a:off x="2225" y="2194"/>
              <a:ext cx="620" cy="1287"/>
              <a:chOff x="441" y="2082"/>
              <a:chExt cx="620" cy="1287"/>
            </a:xfrm>
          </p:grpSpPr>
          <p:sp>
            <p:nvSpPr>
              <p:cNvPr id="314" name="Rectangle 189"/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281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315" name="Group 190"/>
              <p:cNvGrpSpPr/>
              <p:nvPr/>
            </p:nvGrpSpPr>
            <p:grpSpPr bwMode="auto">
              <a:xfrm>
                <a:off x="499" y="2435"/>
                <a:ext cx="532" cy="910"/>
                <a:chOff x="4869" y="107"/>
                <a:chExt cx="532" cy="910"/>
              </a:xfrm>
            </p:grpSpPr>
            <p:sp>
              <p:nvSpPr>
                <p:cNvPr id="317" name="Rectangle 191"/>
                <p:cNvSpPr>
                  <a:spLocks noChangeArrowheads="1"/>
                </p:cNvSpPr>
                <p:nvPr/>
              </p:nvSpPr>
              <p:spPr bwMode="auto">
                <a:xfrm>
                  <a:off x="4893" y="107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350"/>
                </a:p>
              </p:txBody>
            </p:sp>
            <p:sp>
              <p:nvSpPr>
                <p:cNvPr id="318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869" y="125"/>
                  <a:ext cx="532" cy="8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050" dirty="0"/>
                    <a:t>Flow: X</a:t>
                  </a:r>
                </a:p>
                <a:p>
                  <a:r>
                    <a:rPr lang="en-US" altLang="zh-CN" sz="1050" dirty="0" err="1"/>
                    <a:t>Src</a:t>
                  </a:r>
                  <a:r>
                    <a:rPr lang="en-US" altLang="zh-CN" sz="1050" dirty="0"/>
                    <a:t>: A</a:t>
                  </a:r>
                </a:p>
                <a:p>
                  <a:r>
                    <a:rPr lang="en-US" altLang="zh-CN" sz="1050" dirty="0" err="1"/>
                    <a:t>Dest</a:t>
                  </a:r>
                  <a:r>
                    <a:rPr lang="en-US" altLang="zh-CN" sz="1050" dirty="0"/>
                    <a:t>: F</a:t>
                  </a:r>
                </a:p>
                <a:p>
                  <a:endParaRPr lang="en-US" altLang="zh-CN" sz="1050" dirty="0"/>
                </a:p>
                <a:p>
                  <a:endParaRPr lang="en-US" altLang="zh-CN" sz="1050" dirty="0"/>
                </a:p>
                <a:p>
                  <a:r>
                    <a:rPr lang="en-US" altLang="zh-CN" sz="1050" dirty="0"/>
                    <a:t>data</a:t>
                  </a:r>
                </a:p>
              </p:txBody>
            </p:sp>
          </p:grpSp>
          <p:sp>
            <p:nvSpPr>
              <p:cNvPr id="316" name="Text Box 193"/>
              <p:cNvSpPr txBox="1">
                <a:spLocks noChangeArrowheads="1"/>
              </p:cNvSpPr>
              <p:nvPr/>
            </p:nvSpPr>
            <p:spPr bwMode="auto">
              <a:xfrm>
                <a:off x="441" y="2082"/>
                <a:ext cx="558" cy="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src:B</a:t>
                </a:r>
                <a:endParaRPr lang="en-US" sz="1200" dirty="0">
                  <a:solidFill>
                    <a:schemeClr val="bg1"/>
                  </a:solidFill>
                </a:endParaRPr>
              </a:p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dest</a:t>
                </a:r>
                <a:r>
                  <a:rPr lang="en-US" sz="1200" dirty="0">
                    <a:solidFill>
                      <a:schemeClr val="bg1"/>
                    </a:solidFill>
                  </a:rPr>
                  <a:t>: E</a:t>
                </a:r>
              </a:p>
            </p:txBody>
          </p:sp>
        </p:grpSp>
        <p:sp>
          <p:nvSpPr>
            <p:cNvPr id="311" name="Line 195"/>
            <p:cNvSpPr>
              <a:spLocks noChangeShapeType="1"/>
            </p:cNvSpPr>
            <p:nvPr/>
          </p:nvSpPr>
          <p:spPr bwMode="auto">
            <a:xfrm>
              <a:off x="2345" y="2169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12" name="Text Box 208"/>
            <p:cNvSpPr txBox="1">
              <a:spLocks noChangeArrowheads="1"/>
            </p:cNvSpPr>
            <p:nvPr/>
          </p:nvSpPr>
          <p:spPr bwMode="auto">
            <a:xfrm>
              <a:off x="2209" y="3500"/>
              <a:ext cx="785" cy="4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B-to-C: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IPv6 inside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IPv4</a:t>
              </a:r>
            </a:p>
          </p:txBody>
        </p:sp>
        <p:sp>
          <p:nvSpPr>
            <p:cNvPr id="313" name="Line 209"/>
            <p:cNvSpPr>
              <a:spLocks noChangeShapeType="1"/>
            </p:cNvSpPr>
            <p:nvPr/>
          </p:nvSpPr>
          <p:spPr bwMode="auto">
            <a:xfrm>
              <a:off x="2588" y="3455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19" name="Group 355"/>
          <p:cNvGrpSpPr/>
          <p:nvPr/>
        </p:nvGrpSpPr>
        <p:grpSpPr bwMode="auto">
          <a:xfrm>
            <a:off x="7161556" y="2876896"/>
            <a:ext cx="685800" cy="1985963"/>
            <a:chOff x="4251" y="2173"/>
            <a:chExt cx="576" cy="1668"/>
          </a:xfrm>
        </p:grpSpPr>
        <p:sp>
          <p:nvSpPr>
            <p:cNvPr id="320" name="Line 197"/>
            <p:cNvSpPr>
              <a:spLocks noChangeShapeType="1"/>
            </p:cNvSpPr>
            <p:nvPr/>
          </p:nvSpPr>
          <p:spPr bwMode="auto">
            <a:xfrm>
              <a:off x="4292" y="2173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21" name="Text Box 206"/>
            <p:cNvSpPr txBox="1">
              <a:spLocks noChangeArrowheads="1"/>
            </p:cNvSpPr>
            <p:nvPr/>
          </p:nvSpPr>
          <p:spPr bwMode="auto">
            <a:xfrm>
              <a:off x="4276" y="3500"/>
              <a:ext cx="551" cy="3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E-to-F: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 dirty="0"/>
                <a:t>IPv6</a:t>
              </a:r>
            </a:p>
          </p:txBody>
        </p:sp>
        <p:sp>
          <p:nvSpPr>
            <p:cNvPr id="322" name="Line 207"/>
            <p:cNvSpPr>
              <a:spLocks noChangeShapeType="1"/>
            </p:cNvSpPr>
            <p:nvPr/>
          </p:nvSpPr>
          <p:spPr bwMode="auto">
            <a:xfrm>
              <a:off x="4540" y="3238"/>
              <a:ext cx="0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323" name="Group 213"/>
            <p:cNvGrpSpPr/>
            <p:nvPr/>
          </p:nvGrpSpPr>
          <p:grpSpPr bwMode="auto">
            <a:xfrm>
              <a:off x="4251" y="2205"/>
              <a:ext cx="500" cy="917"/>
              <a:chOff x="643" y="2144"/>
              <a:chExt cx="500" cy="917"/>
            </a:xfrm>
          </p:grpSpPr>
          <p:sp>
            <p:nvSpPr>
              <p:cNvPr id="324" name="Rectangle 214"/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325" name="Text Box 215"/>
              <p:cNvSpPr txBox="1">
                <a:spLocks noChangeArrowheads="1"/>
              </p:cNvSpPr>
              <p:nvPr/>
            </p:nvSpPr>
            <p:spPr bwMode="auto">
              <a:xfrm>
                <a:off x="643" y="2169"/>
                <a:ext cx="500" cy="8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050" dirty="0"/>
                  <a:t>flow: X</a:t>
                </a:r>
              </a:p>
              <a:p>
                <a:r>
                  <a:rPr lang="en-US" altLang="zh-CN" sz="1050" dirty="0" err="1"/>
                  <a:t>src</a:t>
                </a:r>
                <a:r>
                  <a:rPr lang="en-US" altLang="zh-CN" sz="1050" dirty="0"/>
                  <a:t>: A</a:t>
                </a:r>
              </a:p>
              <a:p>
                <a:r>
                  <a:rPr lang="en-US" altLang="zh-CN" sz="1050" dirty="0" err="1"/>
                  <a:t>dest</a:t>
                </a:r>
                <a:r>
                  <a:rPr lang="en-US" altLang="zh-CN" sz="1050" dirty="0"/>
                  <a:t>: F</a:t>
                </a:r>
              </a:p>
              <a:p>
                <a:endParaRPr lang="en-US" altLang="zh-CN" sz="1050" dirty="0"/>
              </a:p>
              <a:p>
                <a:endParaRPr lang="en-US" altLang="zh-CN" sz="1050" dirty="0"/>
              </a:p>
              <a:p>
                <a:r>
                  <a:rPr lang="en-US" altLang="zh-CN" sz="1050" dirty="0"/>
                  <a:t>data</a:t>
                </a:r>
              </a:p>
            </p:txBody>
          </p:sp>
        </p:grpSp>
      </p:grpSp>
      <p:grpSp>
        <p:nvGrpSpPr>
          <p:cNvPr id="326" name="Group 354"/>
          <p:cNvGrpSpPr/>
          <p:nvPr/>
        </p:nvGrpSpPr>
        <p:grpSpPr bwMode="auto">
          <a:xfrm>
            <a:off x="6249539" y="2894754"/>
            <a:ext cx="934641" cy="2125267"/>
            <a:chOff x="3485" y="2188"/>
            <a:chExt cx="785" cy="1785"/>
          </a:xfrm>
        </p:grpSpPr>
        <p:sp>
          <p:nvSpPr>
            <p:cNvPr id="327" name="Line 196"/>
            <p:cNvSpPr>
              <a:spLocks noChangeShapeType="1"/>
            </p:cNvSpPr>
            <p:nvPr/>
          </p:nvSpPr>
          <p:spPr bwMode="auto">
            <a:xfrm>
              <a:off x="3627" y="2188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28" name="Text Box 210"/>
            <p:cNvSpPr txBox="1">
              <a:spLocks noChangeArrowheads="1"/>
            </p:cNvSpPr>
            <p:nvPr/>
          </p:nvSpPr>
          <p:spPr bwMode="auto">
            <a:xfrm>
              <a:off x="3485" y="3500"/>
              <a:ext cx="785" cy="4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200"/>
                <a:t>B-to-C: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/>
                <a:t>IPv6 inside</a:t>
              </a: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200"/>
                <a:t>IPv4</a:t>
              </a:r>
            </a:p>
          </p:txBody>
        </p:sp>
        <p:sp>
          <p:nvSpPr>
            <p:cNvPr id="329" name="Line 211"/>
            <p:cNvSpPr>
              <a:spLocks noChangeShapeType="1"/>
            </p:cNvSpPr>
            <p:nvPr/>
          </p:nvSpPr>
          <p:spPr bwMode="auto">
            <a:xfrm>
              <a:off x="3883" y="3455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330" name="Group 217"/>
            <p:cNvGrpSpPr/>
            <p:nvPr/>
          </p:nvGrpSpPr>
          <p:grpSpPr bwMode="auto">
            <a:xfrm>
              <a:off x="3521" y="2220"/>
              <a:ext cx="620" cy="1261"/>
              <a:chOff x="441" y="2082"/>
              <a:chExt cx="620" cy="1261"/>
            </a:xfrm>
          </p:grpSpPr>
          <p:sp>
            <p:nvSpPr>
              <p:cNvPr id="331" name="Rectangle 218"/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255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332" name="Group 219"/>
              <p:cNvGrpSpPr/>
              <p:nvPr/>
            </p:nvGrpSpPr>
            <p:grpSpPr bwMode="auto">
              <a:xfrm>
                <a:off x="499" y="2410"/>
                <a:ext cx="532" cy="910"/>
                <a:chOff x="4869" y="82"/>
                <a:chExt cx="532" cy="910"/>
              </a:xfrm>
            </p:grpSpPr>
            <p:sp>
              <p:nvSpPr>
                <p:cNvPr id="334" name="Rectangle 220"/>
                <p:cNvSpPr>
                  <a:spLocks noChangeArrowheads="1"/>
                </p:cNvSpPr>
                <p:nvPr/>
              </p:nvSpPr>
              <p:spPr bwMode="auto">
                <a:xfrm>
                  <a:off x="4893" y="82"/>
                  <a:ext cx="462" cy="908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350"/>
                </a:p>
              </p:txBody>
            </p:sp>
            <p:sp>
              <p:nvSpPr>
                <p:cNvPr id="335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4869" y="100"/>
                  <a:ext cx="532" cy="8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050" dirty="0"/>
                    <a:t>Flow: X</a:t>
                  </a:r>
                </a:p>
                <a:p>
                  <a:r>
                    <a:rPr lang="en-US" altLang="zh-CN" sz="1050" dirty="0" err="1"/>
                    <a:t>Src</a:t>
                  </a:r>
                  <a:r>
                    <a:rPr lang="en-US" altLang="zh-CN" sz="1050" dirty="0"/>
                    <a:t>: A</a:t>
                  </a:r>
                </a:p>
                <a:p>
                  <a:r>
                    <a:rPr lang="en-US" altLang="zh-CN" sz="1050" dirty="0" err="1"/>
                    <a:t>Dest</a:t>
                  </a:r>
                  <a:r>
                    <a:rPr lang="en-US" altLang="zh-CN" sz="1050" dirty="0"/>
                    <a:t>: F</a:t>
                  </a:r>
                </a:p>
                <a:p>
                  <a:endParaRPr lang="en-US" altLang="zh-CN" sz="1050" dirty="0"/>
                </a:p>
                <a:p>
                  <a:endParaRPr lang="en-US" altLang="zh-CN" sz="1050" dirty="0"/>
                </a:p>
                <a:p>
                  <a:r>
                    <a:rPr lang="en-US" altLang="zh-CN" sz="1050" dirty="0"/>
                    <a:t>data</a:t>
                  </a:r>
                </a:p>
              </p:txBody>
            </p:sp>
          </p:grpSp>
          <p:sp>
            <p:nvSpPr>
              <p:cNvPr id="333" name="Text Box 222"/>
              <p:cNvSpPr txBox="1">
                <a:spLocks noChangeArrowheads="1"/>
              </p:cNvSpPr>
              <p:nvPr/>
            </p:nvSpPr>
            <p:spPr bwMode="auto">
              <a:xfrm>
                <a:off x="441" y="2082"/>
                <a:ext cx="558" cy="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src:B</a:t>
                </a:r>
                <a:endParaRPr lang="en-US" sz="1200" dirty="0">
                  <a:solidFill>
                    <a:schemeClr val="bg1"/>
                  </a:solidFill>
                </a:endParaRPr>
              </a:p>
              <a:p>
                <a:pPr>
                  <a:defRPr/>
                </a:pPr>
                <a:r>
                  <a:rPr lang="en-US" sz="1200" dirty="0" err="1">
                    <a:solidFill>
                      <a:schemeClr val="bg1"/>
                    </a:solidFill>
                  </a:rPr>
                  <a:t>dest</a:t>
                </a:r>
                <a:r>
                  <a:rPr lang="en-US" sz="1200" dirty="0">
                    <a:solidFill>
                      <a:schemeClr val="bg1"/>
                    </a:solidFill>
                  </a:rPr>
                  <a:t>: E</a:t>
                </a:r>
              </a:p>
            </p:txBody>
          </p:sp>
        </p:grpSp>
      </p:grpSp>
      <p:sp>
        <p:nvSpPr>
          <p:cNvPr id="234" name="灯片编号占位符 2">
            <a:extLst>
              <a:ext uri="{FF2B5EF4-FFF2-40B4-BE49-F238E27FC236}">
                <a16:creationId xmlns:a16="http://schemas.microsoft.com/office/drawing/2014/main" id="{AB11DB0D-DD62-4F46-912F-6E4B1D531DA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235" name="AutoShape 5">
            <a:extLst>
              <a:ext uri="{FF2B5EF4-FFF2-40B4-BE49-F238E27FC236}">
                <a16:creationId xmlns:a16="http://schemas.microsoft.com/office/drawing/2014/main" id="{48B59F61-3159-4DB3-99F8-FD9F7D3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>
            <a:extLst>
              <a:ext uri="{FF2B5EF4-FFF2-40B4-BE49-F238E27FC236}">
                <a16:creationId xmlns:a16="http://schemas.microsoft.com/office/drawing/2014/main" id="{FE82C124-05F8-4A37-9327-0DFF598C1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  <a:endParaRPr lang="en-US" dirty="0">
              <a:cs typeface="+mj-cs"/>
            </a:endParaRP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1E1BCC16-8BE1-40C3-9ABA-5088B57D317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67544" y="987574"/>
            <a:ext cx="6264695" cy="377968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</a:rPr>
              <a:t>4.4.6 IPv6</a:t>
            </a:r>
            <a:r>
              <a:rPr lang="zh-CN" altLang="en-US" dirty="0">
                <a:solidFill>
                  <a:srgbClr val="0066CC"/>
                </a:solidFill>
              </a:rPr>
              <a:t>简介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zh-CN" altLang="en-US" dirty="0">
                <a:cs typeface="ＭＳ Ｐゴシック" panose="020B0600070205080204" pitchFamily="34" charset="-128"/>
              </a:rPr>
              <a:t>什么时候才能全面采用？</a:t>
            </a:r>
            <a:endParaRPr lang="en-US" altLang="zh-CN" dirty="0">
              <a:cs typeface="ＭＳ Ｐゴシック" panose="020B0600070205080204" pitchFamily="34" charset="-128"/>
            </a:endParaRPr>
          </a:p>
          <a:p>
            <a:pPr lvl="2"/>
            <a:r>
              <a:rPr lang="en-US" altLang="zh-CN" sz="1600" dirty="0">
                <a:cs typeface="ＭＳ Ｐゴシック" panose="020B0600070205080204" pitchFamily="34" charset="-128"/>
              </a:rPr>
              <a:t>Google: 8% </a:t>
            </a:r>
            <a:r>
              <a:rPr lang="zh-CN" altLang="en-US" sz="1600" dirty="0">
                <a:cs typeface="ＭＳ Ｐゴシック" panose="020B0600070205080204" pitchFamily="34" charset="-128"/>
              </a:rPr>
              <a:t>的客户端使用</a:t>
            </a:r>
            <a:r>
              <a:rPr lang="en-US" altLang="zh-CN" sz="1600" dirty="0">
                <a:cs typeface="ＭＳ Ｐゴシック" panose="020B0600070205080204" pitchFamily="34" charset="-128"/>
              </a:rPr>
              <a:t>IPv6</a:t>
            </a:r>
            <a:r>
              <a:rPr lang="zh-CN" altLang="en-US" sz="1600" dirty="0">
                <a:cs typeface="ＭＳ Ｐゴシック" panose="020B0600070205080204" pitchFamily="34" charset="-128"/>
              </a:rPr>
              <a:t>访问服务</a:t>
            </a:r>
            <a:endParaRPr lang="en-US" altLang="zh-CN" sz="1600" dirty="0">
              <a:cs typeface="ＭＳ Ｐゴシック" panose="020B0600070205080204" pitchFamily="34" charset="-128"/>
            </a:endParaRPr>
          </a:p>
          <a:p>
            <a:pPr lvl="2"/>
            <a:r>
              <a:rPr lang="en-US" altLang="zh-CN" sz="1600" dirty="0">
                <a:cs typeface="ＭＳ Ｐゴシック" panose="020B0600070205080204" pitchFamily="34" charset="-128"/>
              </a:rPr>
              <a:t>NIST: US</a:t>
            </a:r>
            <a:r>
              <a:rPr lang="zh-CN" altLang="en-US" sz="1600" dirty="0">
                <a:cs typeface="ＭＳ Ｐゴシック" panose="020B0600070205080204" pitchFamily="34" charset="-128"/>
              </a:rPr>
              <a:t>政府有</a:t>
            </a:r>
            <a:r>
              <a:rPr lang="en-US" altLang="zh-CN" sz="1600" dirty="0">
                <a:cs typeface="ＭＳ Ｐゴシック" panose="020B0600070205080204" pitchFamily="34" charset="-128"/>
              </a:rPr>
              <a:t>1/3</a:t>
            </a:r>
            <a:r>
              <a:rPr lang="zh-CN" altLang="en-US" sz="1600" dirty="0">
                <a:cs typeface="ＭＳ Ｐゴシック" panose="020B0600070205080204" pitchFamily="34" charset="-128"/>
              </a:rPr>
              <a:t>的域支持</a:t>
            </a:r>
            <a:r>
              <a:rPr lang="en-US" altLang="zh-CN" sz="1600" dirty="0">
                <a:cs typeface="ＭＳ Ｐゴシック" panose="020B0600070205080204" pitchFamily="34" charset="-128"/>
              </a:rPr>
              <a:t>IPv6</a:t>
            </a:r>
            <a:endParaRPr lang="en-US" altLang="zh-CN" sz="1800" dirty="0">
              <a:cs typeface="ＭＳ Ｐゴシック" panose="020B0600070205080204" pitchFamily="34" charset="-128"/>
            </a:endParaRPr>
          </a:p>
          <a:p>
            <a:pPr marL="342900" lvl="1" indent="0">
              <a:buNone/>
            </a:pPr>
            <a:endParaRPr lang="en-US" altLang="zh-CN" sz="1600" dirty="0"/>
          </a:p>
          <a:p>
            <a:pPr lvl="1"/>
            <a:r>
              <a:rPr lang="en-US" altLang="zh-CN" dirty="0">
                <a:solidFill>
                  <a:srgbClr val="CC0000"/>
                </a:solidFill>
                <a:cs typeface="ＭＳ Ｐゴシック" panose="020B0600070205080204" pitchFamily="34" charset="-128"/>
              </a:rPr>
              <a:t>IPv6 </a:t>
            </a:r>
            <a:r>
              <a:rPr lang="zh-CN" altLang="en-US" dirty="0">
                <a:solidFill>
                  <a:srgbClr val="CC0000"/>
                </a:solidFill>
                <a:cs typeface="ＭＳ Ｐゴシック" panose="020B0600070205080204" pitchFamily="34" charset="-128"/>
              </a:rPr>
              <a:t>还需很长的时间才能全面部署和使用</a:t>
            </a:r>
            <a:endParaRPr lang="en-US" altLang="zh-CN" dirty="0">
              <a:solidFill>
                <a:srgbClr val="CC0000"/>
              </a:solidFill>
              <a:cs typeface="ＭＳ Ｐゴシック" panose="020B0600070205080204" pitchFamily="34" charset="-128"/>
            </a:endParaRPr>
          </a:p>
          <a:p>
            <a:pPr marL="1028700" lvl="3" indent="-239713"/>
            <a:r>
              <a:rPr lang="en-US" altLang="zh-CN" sz="1600" dirty="0"/>
              <a:t>20 years and counting!</a:t>
            </a:r>
          </a:p>
          <a:p>
            <a:pPr marL="1028700" lvl="3" indent="-239713"/>
            <a:r>
              <a:rPr lang="en-US" altLang="zh-CN" sz="1600" dirty="0"/>
              <a:t>think of application-level changes in last 20 years: WWW, Facebook, streaming media, Skype, …</a:t>
            </a:r>
          </a:p>
          <a:p>
            <a:pPr marL="1028700" lvl="3" indent="-239713"/>
            <a:r>
              <a:rPr lang="en-US" altLang="zh-CN" sz="1600" i="1" dirty="0">
                <a:solidFill>
                  <a:srgbClr val="CC0000"/>
                </a:solidFill>
              </a:rPr>
              <a:t>Why?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CF35B390-787C-4E6C-A268-B05FAD29225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0670D6CD-BADD-4B3C-AE18-ED4D63DA4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4032448" cy="432000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4.4 </a:t>
            </a:r>
            <a:r>
              <a:rPr lang="zh-CN" altLang="en-US" sz="2400" dirty="0"/>
              <a:t>通用转发和</a:t>
            </a:r>
            <a:r>
              <a:rPr lang="en-US" altLang="zh-CN" sz="2400" dirty="0"/>
              <a:t>SDN(</a:t>
            </a:r>
            <a:r>
              <a:rPr lang="zh-CN" altLang="en-US" sz="2400" dirty="0"/>
              <a:t>自学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174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CCC462-18FA-4C60-BBC1-32F2A2BB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4F079A-D63F-4968-9E1B-93A338A95F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IPv4: DHCP  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IPv4: NAT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ICMP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IPv6</a:t>
            </a:r>
          </a:p>
          <a:p>
            <a:pPr lvl="1"/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D069D64-6098-437B-8658-7C2995085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798397"/>
            <a:ext cx="2736304" cy="2182305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67B62C91-B58D-43FD-83B8-AAA396FDB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579" y="1679251"/>
            <a:ext cx="2480875" cy="13573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2DB81682-A07D-4157-8737-299DB0E0A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3722127"/>
            <a:ext cx="1686417" cy="1208901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B23DB53A-8A9A-4600-969D-4DB0629EC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800" y="2715065"/>
            <a:ext cx="2041264" cy="866520"/>
          </a:xfrm>
          <a:prstGeom prst="rect">
            <a:avLst/>
          </a:prstGeom>
        </p:spPr>
      </p:pic>
      <p:sp>
        <p:nvSpPr>
          <p:cNvPr id="101" name="灯片编号占位符 2">
            <a:extLst>
              <a:ext uri="{FF2B5EF4-FFF2-40B4-BE49-F238E27FC236}">
                <a16:creationId xmlns:a16="http://schemas.microsoft.com/office/drawing/2014/main" id="{724648C9-E6C6-4E92-BA6F-CDA04C2A6AD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102" name="AutoShape 5">
            <a:extLst>
              <a:ext uri="{FF2B5EF4-FFF2-40B4-BE49-F238E27FC236}">
                <a16:creationId xmlns:a16="http://schemas.microsoft.com/office/drawing/2014/main" id="{A05E835F-C0DA-4454-B755-C41E1B202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316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3456384" cy="432000"/>
          </a:xfrm>
        </p:spPr>
        <p:txBody>
          <a:bodyPr>
            <a:noAutofit/>
          </a:bodyPr>
          <a:lstStyle/>
          <a:p>
            <a:r>
              <a:rPr lang="en-US" altLang="zh-CN" sz="2200" dirty="0">
                <a:solidFill>
                  <a:srgbClr val="FF3300"/>
                </a:solidFill>
              </a:rPr>
              <a:t>4.4 </a:t>
            </a:r>
            <a:r>
              <a:rPr lang="zh-CN" altLang="en-US" sz="2200" dirty="0">
                <a:solidFill>
                  <a:srgbClr val="FF3300"/>
                </a:solidFill>
              </a:rPr>
              <a:t>路由选择算法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91880" y="3028732"/>
            <a:ext cx="4032448" cy="432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4.5 </a:t>
            </a:r>
            <a:r>
              <a:rPr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因特网中的路由选择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自学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endParaRPr lang="zh-CN" alt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B25C7ED1-C6EE-4312-9B72-226D3FD5183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161B265-85AE-4483-AC8F-149051C5D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3EDFBF5-CA3C-4120-9659-63A68ACB1C2E}"/>
              </a:ext>
            </a:extLst>
          </p:cNvPr>
          <p:cNvSpPr txBox="1">
            <a:spLocks/>
          </p:cNvSpPr>
          <p:nvPr/>
        </p:nvSpPr>
        <p:spPr>
          <a:xfrm>
            <a:off x="3491880" y="3758592"/>
            <a:ext cx="3456384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/>
              <a:t>4.6 </a:t>
            </a:r>
            <a:r>
              <a:rPr lang="zh-CN" altLang="en-US" sz="2200" dirty="0"/>
              <a:t>网络层复习总结</a:t>
            </a:r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F89560-3A55-49C3-85DC-70080EE65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8980"/>
            <a:ext cx="7525518" cy="3779688"/>
          </a:xfrm>
        </p:spPr>
        <p:txBody>
          <a:bodyPr/>
          <a:lstStyle/>
          <a:p>
            <a:r>
              <a:rPr lang="en-US" altLang="zh-CN" dirty="0"/>
              <a:t>Graph Theory</a:t>
            </a:r>
            <a:r>
              <a:rPr lang="zh-CN" altLang="en-US" dirty="0"/>
              <a:t>（图论）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78E83F-C729-4778-81AC-7B75F90A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4.4 </a:t>
            </a:r>
            <a:r>
              <a:rPr lang="zh-CN" altLang="en-US" dirty="0">
                <a:effectLst/>
              </a:rPr>
              <a:t>路由选择算法</a:t>
            </a:r>
            <a:endParaRPr lang="zh-CN" altLang="en-US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017631A6-2287-4F0B-ABD7-43C4759D0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55" y="1563638"/>
            <a:ext cx="2341412" cy="184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AA806C2-AC57-471B-9C38-DF8C46729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228" y="3219822"/>
            <a:ext cx="2946594" cy="145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751E8DAA-8084-48F4-A23A-98EA4149B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101" y="994497"/>
            <a:ext cx="14478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938EE7-56C3-42C7-8419-A5C14FCD7656}"/>
              </a:ext>
            </a:extLst>
          </p:cNvPr>
          <p:cNvSpPr txBox="1"/>
          <p:nvPr/>
        </p:nvSpPr>
        <p:spPr>
          <a:xfrm>
            <a:off x="6618975" y="2555659"/>
            <a:ext cx="1601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Leonhard Euler 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1707--1783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401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网络结点的核心功能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4.4 </a:t>
            </a:r>
            <a:r>
              <a:rPr lang="zh-CN" altLang="en-US" dirty="0">
                <a:effectLst/>
              </a:rPr>
              <a:t>路由选择算法</a:t>
            </a:r>
          </a:p>
        </p:txBody>
      </p:sp>
      <p:grpSp>
        <p:nvGrpSpPr>
          <p:cNvPr id="234" name="Group 2"/>
          <p:cNvGrpSpPr>
            <a:grpSpLocks/>
          </p:cNvGrpSpPr>
          <p:nvPr/>
        </p:nvGrpSpPr>
        <p:grpSpPr bwMode="auto">
          <a:xfrm>
            <a:off x="3437874" y="1261742"/>
            <a:ext cx="3640820" cy="3452717"/>
            <a:chOff x="398" y="129"/>
            <a:chExt cx="3484" cy="3304"/>
          </a:xfrm>
        </p:grpSpPr>
        <p:sp>
          <p:nvSpPr>
            <p:cNvPr id="235" name="Freeform 3"/>
            <p:cNvSpPr>
              <a:spLocks/>
            </p:cNvSpPr>
            <p:nvPr/>
          </p:nvSpPr>
          <p:spPr bwMode="auto">
            <a:xfrm>
              <a:off x="2031" y="2058"/>
              <a:ext cx="1794" cy="933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4"/>
            <p:cNvSpPr>
              <a:spLocks/>
            </p:cNvSpPr>
            <p:nvPr/>
          </p:nvSpPr>
          <p:spPr bwMode="auto">
            <a:xfrm>
              <a:off x="1090" y="1594"/>
              <a:ext cx="1443" cy="816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Rectangle 5"/>
            <p:cNvSpPr>
              <a:spLocks noChangeArrowheads="1"/>
            </p:cNvSpPr>
            <p:nvPr/>
          </p:nvSpPr>
          <p:spPr bwMode="auto">
            <a:xfrm>
              <a:off x="1084" y="129"/>
              <a:ext cx="1460" cy="147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38" name="Oval 6"/>
            <p:cNvSpPr>
              <a:spLocks noChangeArrowheads="1"/>
            </p:cNvSpPr>
            <p:nvPr/>
          </p:nvSpPr>
          <p:spPr bwMode="auto">
            <a:xfrm>
              <a:off x="1163" y="162"/>
              <a:ext cx="1320" cy="38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39" name="Freeform 7"/>
            <p:cNvSpPr>
              <a:spLocks/>
            </p:cNvSpPr>
            <p:nvPr/>
          </p:nvSpPr>
          <p:spPr bwMode="auto">
            <a:xfrm>
              <a:off x="2433" y="22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0" name="Group 8"/>
            <p:cNvGrpSpPr>
              <a:grpSpLocks/>
            </p:cNvGrpSpPr>
            <p:nvPr/>
          </p:nvGrpSpPr>
          <p:grpSpPr bwMode="auto">
            <a:xfrm>
              <a:off x="2122" y="2359"/>
              <a:ext cx="316" cy="147"/>
              <a:chOff x="3600" y="219"/>
              <a:chExt cx="360" cy="175"/>
            </a:xfrm>
          </p:grpSpPr>
          <p:sp>
            <p:nvSpPr>
              <p:cNvPr id="385" name="Oval 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6" name="Line 1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7" name="Line 1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8" name="Rectangle 1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9" name="Oval 1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90" name="Group 1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95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6" name="Line 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7" name="Line 1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91" name="Group 1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92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3" name="Line 2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4" name="Line 2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41" name="Group 22"/>
            <p:cNvGrpSpPr>
              <a:grpSpLocks/>
            </p:cNvGrpSpPr>
            <p:nvPr/>
          </p:nvGrpSpPr>
          <p:grpSpPr bwMode="auto">
            <a:xfrm>
              <a:off x="2344" y="2761"/>
              <a:ext cx="316" cy="147"/>
              <a:chOff x="3600" y="219"/>
              <a:chExt cx="360" cy="175"/>
            </a:xfrm>
          </p:grpSpPr>
          <p:sp>
            <p:nvSpPr>
              <p:cNvPr id="372" name="Oval 23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3" name="Line 24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4" name="Line 25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5" name="Rectangle 26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6" name="Oval 27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77" name="Group 28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82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3" name="Line 3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4" name="Line 3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78" name="Group 32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79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0" name="Line 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1" name="Line 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42" name="Group 36"/>
            <p:cNvGrpSpPr>
              <a:grpSpLocks/>
            </p:cNvGrpSpPr>
            <p:nvPr/>
          </p:nvGrpSpPr>
          <p:grpSpPr bwMode="auto">
            <a:xfrm>
              <a:off x="2769" y="2167"/>
              <a:ext cx="316" cy="147"/>
              <a:chOff x="3600" y="219"/>
              <a:chExt cx="360" cy="175"/>
            </a:xfrm>
          </p:grpSpPr>
          <p:sp>
            <p:nvSpPr>
              <p:cNvPr id="359" name="Oval 3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0" name="Line 3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1" name="Line 3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Rectangle 40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3" name="Oval 4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64" name="Group 42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69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0" name="Line 4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1" name="Line 4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65" name="Group 46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66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7" name="Line 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8" name="Line 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43" name="Group 50"/>
            <p:cNvGrpSpPr>
              <a:grpSpLocks/>
            </p:cNvGrpSpPr>
            <p:nvPr/>
          </p:nvGrpSpPr>
          <p:grpSpPr bwMode="auto">
            <a:xfrm>
              <a:off x="2720" y="2586"/>
              <a:ext cx="315" cy="147"/>
              <a:chOff x="3600" y="219"/>
              <a:chExt cx="360" cy="175"/>
            </a:xfrm>
          </p:grpSpPr>
          <p:sp>
            <p:nvSpPr>
              <p:cNvPr id="346" name="Oval 51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47" name="Line 52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Line 53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Rectangle 54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0" name="Oval 55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51" name="Group 56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56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7" name="Line 5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8" name="Line 5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52" name="Group 60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53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4" name="Line 6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5" name="Line 6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44" name="Group 64"/>
            <p:cNvGrpSpPr>
              <a:grpSpLocks/>
            </p:cNvGrpSpPr>
            <p:nvPr/>
          </p:nvGrpSpPr>
          <p:grpSpPr bwMode="auto">
            <a:xfrm>
              <a:off x="3120" y="2773"/>
              <a:ext cx="316" cy="147"/>
              <a:chOff x="3600" y="219"/>
              <a:chExt cx="360" cy="175"/>
            </a:xfrm>
          </p:grpSpPr>
          <p:sp>
            <p:nvSpPr>
              <p:cNvPr id="333" name="Oval 65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34" name="Line 66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67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Rectangle 68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37" name="Oval 69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38" name="Group 70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3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4" name="Line 7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5" name="Line 7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39" name="Group 74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0" name="Line 7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1" name="Line 7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2" name="Line 7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45" name="Group 78"/>
            <p:cNvGrpSpPr>
              <a:grpSpLocks/>
            </p:cNvGrpSpPr>
            <p:nvPr/>
          </p:nvGrpSpPr>
          <p:grpSpPr bwMode="auto">
            <a:xfrm>
              <a:off x="3400" y="2360"/>
              <a:ext cx="316" cy="147"/>
              <a:chOff x="3600" y="219"/>
              <a:chExt cx="360" cy="175"/>
            </a:xfrm>
          </p:grpSpPr>
          <p:sp>
            <p:nvSpPr>
              <p:cNvPr id="320" name="Oval 7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1" name="Line 8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Line 8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Rectangle 8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4" name="Oval 8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grpSp>
            <p:nvGrpSpPr>
              <p:cNvPr id="325" name="Group 8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30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1" name="Line 8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2" name="Line 8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6" name="Group 8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27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" name="Line 9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Line 9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46" name="Freeform 92"/>
            <p:cNvSpPr>
              <a:spLocks/>
            </p:cNvSpPr>
            <p:nvPr/>
          </p:nvSpPr>
          <p:spPr bwMode="auto">
            <a:xfrm>
              <a:off x="3089" y="2245"/>
              <a:ext cx="318" cy="194"/>
            </a:xfrm>
            <a:custGeom>
              <a:avLst/>
              <a:gdLst>
                <a:gd name="T0" fmla="*/ 0 w 318"/>
                <a:gd name="T1" fmla="*/ 0 h 194"/>
                <a:gd name="T2" fmla="*/ 318 w 318"/>
                <a:gd name="T3" fmla="*/ 194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Freeform 93"/>
            <p:cNvSpPr>
              <a:spLocks/>
            </p:cNvSpPr>
            <p:nvPr/>
          </p:nvSpPr>
          <p:spPr bwMode="auto">
            <a:xfrm>
              <a:off x="2418" y="2492"/>
              <a:ext cx="303" cy="150"/>
            </a:xfrm>
            <a:custGeom>
              <a:avLst/>
              <a:gdLst>
                <a:gd name="T0" fmla="*/ 0 w 294"/>
                <a:gd name="T1" fmla="*/ 0 h 174"/>
                <a:gd name="T2" fmla="*/ 303 w 294"/>
                <a:gd name="T3" fmla="*/ 150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Freeform 94"/>
            <p:cNvSpPr>
              <a:spLocks/>
            </p:cNvSpPr>
            <p:nvPr/>
          </p:nvSpPr>
          <p:spPr bwMode="auto">
            <a:xfrm>
              <a:off x="3015" y="2477"/>
              <a:ext cx="396" cy="156"/>
            </a:xfrm>
            <a:custGeom>
              <a:avLst/>
              <a:gdLst>
                <a:gd name="T0" fmla="*/ 0 w 378"/>
                <a:gd name="T1" fmla="*/ 156 h 174"/>
                <a:gd name="T2" fmla="*/ 396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9" name="Freeform 95"/>
            <p:cNvSpPr>
              <a:spLocks/>
            </p:cNvSpPr>
            <p:nvPr/>
          </p:nvSpPr>
          <p:spPr bwMode="auto">
            <a:xfrm>
              <a:off x="3435" y="2511"/>
              <a:ext cx="130" cy="320"/>
            </a:xfrm>
            <a:custGeom>
              <a:avLst/>
              <a:gdLst>
                <a:gd name="T0" fmla="*/ 0 w 118"/>
                <a:gd name="T1" fmla="*/ 320 h 500"/>
                <a:gd name="T2" fmla="*/ 130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0" name="Freeform 96"/>
            <p:cNvSpPr>
              <a:spLocks/>
            </p:cNvSpPr>
            <p:nvPr/>
          </p:nvSpPr>
          <p:spPr bwMode="auto">
            <a:xfrm>
              <a:off x="2657" y="2847"/>
              <a:ext cx="464" cy="47"/>
            </a:xfrm>
            <a:custGeom>
              <a:avLst/>
              <a:gdLst>
                <a:gd name="T0" fmla="*/ 464 w 370"/>
                <a:gd name="T1" fmla="*/ 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1" name="Freeform 97"/>
            <p:cNvSpPr>
              <a:spLocks/>
            </p:cNvSpPr>
            <p:nvPr/>
          </p:nvSpPr>
          <p:spPr bwMode="auto">
            <a:xfrm>
              <a:off x="2319" y="2507"/>
              <a:ext cx="122" cy="268"/>
            </a:xfrm>
            <a:custGeom>
              <a:avLst/>
              <a:gdLst>
                <a:gd name="T0" fmla="*/ 112 w 176"/>
                <a:gd name="T1" fmla="*/ 265 h 412"/>
                <a:gd name="T2" fmla="*/ 122 w 176"/>
                <a:gd name="T3" fmla="*/ 268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Rectangle 98"/>
            <p:cNvSpPr>
              <a:spLocks noChangeArrowheads="1"/>
            </p:cNvSpPr>
            <p:nvPr/>
          </p:nvSpPr>
          <p:spPr bwMode="auto">
            <a:xfrm>
              <a:off x="1128" y="2264"/>
              <a:ext cx="728" cy="1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3" name="Rectangle 99"/>
            <p:cNvSpPr>
              <a:spLocks noChangeArrowheads="1"/>
            </p:cNvSpPr>
            <p:nvPr/>
          </p:nvSpPr>
          <p:spPr bwMode="auto">
            <a:xfrm>
              <a:off x="1113" y="2279"/>
              <a:ext cx="723" cy="15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4" name="Line 100"/>
            <p:cNvSpPr>
              <a:spLocks noChangeShapeType="1"/>
            </p:cNvSpPr>
            <p:nvPr/>
          </p:nvSpPr>
          <p:spPr bwMode="auto">
            <a:xfrm>
              <a:off x="1759" y="2362"/>
              <a:ext cx="266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Text Box 101"/>
            <p:cNvSpPr txBox="1">
              <a:spLocks noChangeArrowheads="1"/>
            </p:cNvSpPr>
            <p:nvPr/>
          </p:nvSpPr>
          <p:spPr bwMode="auto">
            <a:xfrm>
              <a:off x="2390" y="2183"/>
              <a:ext cx="263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56" name="Text Box 102"/>
            <p:cNvSpPr txBox="1">
              <a:spLocks noChangeArrowheads="1"/>
            </p:cNvSpPr>
            <p:nvPr/>
          </p:nvSpPr>
          <p:spPr bwMode="auto">
            <a:xfrm>
              <a:off x="2336" y="2459"/>
              <a:ext cx="252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7" name="Text Box 103"/>
            <p:cNvSpPr txBox="1">
              <a:spLocks noChangeArrowheads="1"/>
            </p:cNvSpPr>
            <p:nvPr/>
          </p:nvSpPr>
          <p:spPr bwMode="auto">
            <a:xfrm>
              <a:off x="2178" y="2505"/>
              <a:ext cx="252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58" name="Rectangle 104"/>
            <p:cNvSpPr>
              <a:spLocks noChangeArrowheads="1"/>
            </p:cNvSpPr>
            <p:nvPr/>
          </p:nvSpPr>
          <p:spPr bwMode="auto">
            <a:xfrm>
              <a:off x="1509" y="2281"/>
              <a:ext cx="269" cy="1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9" name="Text Box 105"/>
            <p:cNvSpPr txBox="1">
              <a:spLocks noChangeArrowheads="1"/>
            </p:cNvSpPr>
            <p:nvPr/>
          </p:nvSpPr>
          <p:spPr bwMode="auto">
            <a:xfrm>
              <a:off x="1479" y="2264"/>
              <a:ext cx="41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0111</a:t>
              </a:r>
            </a:p>
          </p:txBody>
        </p:sp>
        <p:sp>
          <p:nvSpPr>
            <p:cNvPr id="260" name="Text Box 106"/>
            <p:cNvSpPr txBox="1">
              <a:spLocks noChangeArrowheads="1"/>
            </p:cNvSpPr>
            <p:nvPr/>
          </p:nvSpPr>
          <p:spPr bwMode="auto">
            <a:xfrm>
              <a:off x="398" y="1841"/>
              <a:ext cx="1243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value in arriving</a:t>
              </a:r>
            </a:p>
            <a:p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packet’s header</a:t>
              </a:r>
            </a:p>
          </p:txBody>
        </p:sp>
        <p:sp>
          <p:nvSpPr>
            <p:cNvPr id="261" name="Line 107"/>
            <p:cNvSpPr>
              <a:spLocks noChangeShapeType="1"/>
            </p:cNvSpPr>
            <p:nvPr/>
          </p:nvSpPr>
          <p:spPr bwMode="auto">
            <a:xfrm flipH="1">
              <a:off x="1269" y="2444"/>
              <a:ext cx="8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2" name="Text Box 108"/>
            <p:cNvSpPr txBox="1">
              <a:spLocks noChangeArrowheads="1"/>
            </p:cNvSpPr>
            <p:nvPr/>
          </p:nvSpPr>
          <p:spPr bwMode="auto">
            <a:xfrm>
              <a:off x="1244" y="219"/>
              <a:ext cx="1174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路由选择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63" name="Rectangle 109"/>
            <p:cNvSpPr>
              <a:spLocks noChangeArrowheads="1"/>
            </p:cNvSpPr>
            <p:nvPr/>
          </p:nvSpPr>
          <p:spPr bwMode="auto">
            <a:xfrm>
              <a:off x="1197" y="732"/>
              <a:ext cx="1263" cy="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64" name="Text Box 110"/>
            <p:cNvSpPr txBox="1">
              <a:spLocks noChangeArrowheads="1"/>
            </p:cNvSpPr>
            <p:nvPr/>
          </p:nvSpPr>
          <p:spPr bwMode="auto">
            <a:xfrm>
              <a:off x="1595" y="702"/>
              <a:ext cx="50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转发表</a:t>
              </a:r>
              <a:endPara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65" name="Text Box 111"/>
            <p:cNvSpPr txBox="1">
              <a:spLocks noChangeArrowheads="1"/>
            </p:cNvSpPr>
            <p:nvPr/>
          </p:nvSpPr>
          <p:spPr bwMode="auto">
            <a:xfrm>
              <a:off x="1083" y="858"/>
              <a:ext cx="85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header value</a:t>
              </a:r>
            </a:p>
          </p:txBody>
        </p:sp>
        <p:sp>
          <p:nvSpPr>
            <p:cNvPr id="266" name="Text Box 112"/>
            <p:cNvSpPr txBox="1">
              <a:spLocks noChangeArrowheads="1"/>
            </p:cNvSpPr>
            <p:nvPr/>
          </p:nvSpPr>
          <p:spPr bwMode="auto">
            <a:xfrm>
              <a:off x="1846" y="859"/>
              <a:ext cx="656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output link</a:t>
              </a:r>
            </a:p>
          </p:txBody>
        </p:sp>
        <p:sp>
          <p:nvSpPr>
            <p:cNvPr id="267" name="Line 113"/>
            <p:cNvSpPr>
              <a:spLocks noChangeShapeType="1"/>
            </p:cNvSpPr>
            <p:nvPr/>
          </p:nvSpPr>
          <p:spPr bwMode="auto">
            <a:xfrm>
              <a:off x="1908" y="866"/>
              <a:ext cx="5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Text Box 114"/>
            <p:cNvSpPr txBox="1">
              <a:spLocks noChangeArrowheads="1"/>
            </p:cNvSpPr>
            <p:nvPr/>
          </p:nvSpPr>
          <p:spPr bwMode="auto">
            <a:xfrm>
              <a:off x="1499" y="1037"/>
              <a:ext cx="416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0100</a:t>
              </a:r>
            </a:p>
            <a:p>
              <a:pPr algn="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0101</a:t>
              </a:r>
            </a:p>
            <a:p>
              <a:pPr algn="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0111</a:t>
              </a:r>
            </a:p>
            <a:p>
              <a:pPr algn="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1001</a:t>
              </a:r>
            </a:p>
          </p:txBody>
        </p:sp>
        <p:sp>
          <p:nvSpPr>
            <p:cNvPr id="269" name="Text Box 115"/>
            <p:cNvSpPr txBox="1">
              <a:spLocks noChangeArrowheads="1"/>
            </p:cNvSpPr>
            <p:nvPr/>
          </p:nvSpPr>
          <p:spPr bwMode="auto">
            <a:xfrm>
              <a:off x="1884" y="1037"/>
              <a:ext cx="237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</a:p>
            <a:p>
              <a:pPr algn="ct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  <a:p>
              <a:pPr algn="ct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  <a:p>
              <a:pPr algn="ctr"/>
              <a:r>
                <a:rPr lang="en-US" altLang="zh-CN" sz="825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70" name="Line 116"/>
            <p:cNvSpPr>
              <a:spLocks noChangeShapeType="1"/>
            </p:cNvSpPr>
            <p:nvPr/>
          </p:nvSpPr>
          <p:spPr bwMode="auto">
            <a:xfrm>
              <a:off x="1197" y="1028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Line 117"/>
            <p:cNvSpPr>
              <a:spLocks noChangeShapeType="1"/>
            </p:cNvSpPr>
            <p:nvPr/>
          </p:nvSpPr>
          <p:spPr bwMode="auto">
            <a:xfrm>
              <a:off x="1192" y="872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AutoShape 118"/>
            <p:cNvSpPr>
              <a:spLocks noChangeArrowheads="1"/>
            </p:cNvSpPr>
            <p:nvPr/>
          </p:nvSpPr>
          <p:spPr bwMode="auto">
            <a:xfrm rot="5400000">
              <a:off x="1763" y="548"/>
              <a:ext cx="151" cy="172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73" name="Line 119"/>
            <p:cNvSpPr>
              <a:spLocks noChangeShapeType="1"/>
            </p:cNvSpPr>
            <p:nvPr/>
          </p:nvSpPr>
          <p:spPr bwMode="auto">
            <a:xfrm>
              <a:off x="1371" y="2086"/>
              <a:ext cx="229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4" name="Freeform 120"/>
            <p:cNvSpPr>
              <a:spLocks/>
            </p:cNvSpPr>
            <p:nvPr/>
          </p:nvSpPr>
          <p:spPr bwMode="auto">
            <a:xfrm>
              <a:off x="2047" y="2395"/>
              <a:ext cx="554" cy="167"/>
            </a:xfrm>
            <a:custGeom>
              <a:avLst/>
              <a:gdLst>
                <a:gd name="T0" fmla="*/ 0 w 554"/>
                <a:gd name="T1" fmla="*/ 10 h 167"/>
                <a:gd name="T2" fmla="*/ 324 w 554"/>
                <a:gd name="T3" fmla="*/ 26 h 167"/>
                <a:gd name="T4" fmla="*/ 554 w 554"/>
                <a:gd name="T5" fmla="*/ 16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Freeform 121"/>
            <p:cNvSpPr>
              <a:spLocks/>
            </p:cNvSpPr>
            <p:nvPr/>
          </p:nvSpPr>
          <p:spPr bwMode="auto">
            <a:xfrm flipH="1">
              <a:off x="3518" y="2127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Freeform 122"/>
            <p:cNvSpPr>
              <a:spLocks/>
            </p:cNvSpPr>
            <p:nvPr/>
          </p:nvSpPr>
          <p:spPr bwMode="auto">
            <a:xfrm flipH="1">
              <a:off x="2881" y="1948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7" name="Freeform 123"/>
            <p:cNvSpPr>
              <a:spLocks/>
            </p:cNvSpPr>
            <p:nvPr/>
          </p:nvSpPr>
          <p:spPr bwMode="auto">
            <a:xfrm flipH="1" flipV="1">
              <a:off x="3302" y="2922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8" name="Freeform 124"/>
            <p:cNvSpPr>
              <a:spLocks/>
            </p:cNvSpPr>
            <p:nvPr/>
          </p:nvSpPr>
          <p:spPr bwMode="auto">
            <a:xfrm flipH="1" flipV="1">
              <a:off x="2452" y="2912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9" name="Freeform 125"/>
            <p:cNvSpPr>
              <a:spLocks/>
            </p:cNvSpPr>
            <p:nvPr/>
          </p:nvSpPr>
          <p:spPr bwMode="auto">
            <a:xfrm flipH="1" flipV="1">
              <a:off x="2855" y="2728"/>
              <a:ext cx="342" cy="285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73 h 816"/>
                <a:gd name="T4" fmla="*/ 313 w 1443"/>
                <a:gd name="T5" fmla="*/ 275 h 816"/>
                <a:gd name="T6" fmla="*/ 342 w 1443"/>
                <a:gd name="T7" fmla="*/ 2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0" name="Group 126"/>
            <p:cNvGrpSpPr>
              <a:grpSpLocks/>
            </p:cNvGrpSpPr>
            <p:nvPr/>
          </p:nvGrpSpPr>
          <p:grpSpPr bwMode="auto">
            <a:xfrm>
              <a:off x="2886" y="1668"/>
              <a:ext cx="347" cy="285"/>
              <a:chOff x="2886" y="1668"/>
              <a:chExt cx="347" cy="285"/>
            </a:xfrm>
          </p:grpSpPr>
          <p:sp>
            <p:nvSpPr>
              <p:cNvPr id="313" name="Rectangle 127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14" name="Oval 128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15" name="Rectangle 129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16" name="Line 130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Line 131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Line 132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AutoShape 133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1" name="Group 134"/>
            <p:cNvGrpSpPr>
              <a:grpSpLocks/>
            </p:cNvGrpSpPr>
            <p:nvPr/>
          </p:nvGrpSpPr>
          <p:grpSpPr bwMode="auto">
            <a:xfrm>
              <a:off x="3524" y="1840"/>
              <a:ext cx="347" cy="285"/>
              <a:chOff x="2886" y="1668"/>
              <a:chExt cx="347" cy="285"/>
            </a:xfrm>
          </p:grpSpPr>
          <p:sp>
            <p:nvSpPr>
              <p:cNvPr id="306" name="Rectangle 135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7" name="Oval 136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8" name="Rectangle 137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9" name="Line 138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" name="Line 139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Line 140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AutoShape 141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2" name="Group 142"/>
            <p:cNvGrpSpPr>
              <a:grpSpLocks/>
            </p:cNvGrpSpPr>
            <p:nvPr/>
          </p:nvGrpSpPr>
          <p:grpSpPr bwMode="auto">
            <a:xfrm>
              <a:off x="3291" y="3148"/>
              <a:ext cx="347" cy="285"/>
              <a:chOff x="2886" y="1668"/>
              <a:chExt cx="347" cy="285"/>
            </a:xfrm>
          </p:grpSpPr>
          <p:sp>
            <p:nvSpPr>
              <p:cNvPr id="299" name="Rectangle 143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0" name="Oval 144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1" name="Rectangle 145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2" name="Line 146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Line 147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148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AutoShape 149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3" name="Group 150"/>
            <p:cNvGrpSpPr>
              <a:grpSpLocks/>
            </p:cNvGrpSpPr>
            <p:nvPr/>
          </p:nvGrpSpPr>
          <p:grpSpPr bwMode="auto">
            <a:xfrm>
              <a:off x="2853" y="3010"/>
              <a:ext cx="347" cy="285"/>
              <a:chOff x="2886" y="1668"/>
              <a:chExt cx="347" cy="285"/>
            </a:xfrm>
          </p:grpSpPr>
          <p:sp>
            <p:nvSpPr>
              <p:cNvPr id="292" name="Rectangle 151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93" name="Oval 152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94" name="Rectangle 153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95" name="Line 154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Line 155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Line 156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AutoShape 157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4" name="Group 158"/>
            <p:cNvGrpSpPr>
              <a:grpSpLocks/>
            </p:cNvGrpSpPr>
            <p:nvPr/>
          </p:nvGrpSpPr>
          <p:grpSpPr bwMode="auto">
            <a:xfrm>
              <a:off x="2440" y="3131"/>
              <a:ext cx="347" cy="285"/>
              <a:chOff x="2886" y="1668"/>
              <a:chExt cx="347" cy="285"/>
            </a:xfrm>
          </p:grpSpPr>
          <p:sp>
            <p:nvSpPr>
              <p:cNvPr id="285" name="Rectangle 159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6" name="Oval 160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7" name="Rectangle 161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8" name="Line 162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Line 163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Line 164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AutoShape 165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9" name="直接箭头连接符 8"/>
          <p:cNvCxnSpPr/>
          <p:nvPr/>
        </p:nvCxnSpPr>
        <p:spPr>
          <a:xfrm>
            <a:off x="5652120" y="1491630"/>
            <a:ext cx="262886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直接箭头连接符 397"/>
          <p:cNvCxnSpPr/>
          <p:nvPr/>
        </p:nvCxnSpPr>
        <p:spPr>
          <a:xfrm>
            <a:off x="5652120" y="1977684"/>
            <a:ext cx="26288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Text Box 147"/>
          <p:cNvSpPr txBox="1">
            <a:spLocks noChangeArrowheads="1"/>
          </p:cNvSpPr>
          <p:nvPr/>
        </p:nvSpPr>
        <p:spPr bwMode="auto">
          <a:xfrm>
            <a:off x="5941721" y="1352623"/>
            <a:ext cx="2133898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确定网络中端到端的路径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0" name="Text Box 147"/>
          <p:cNvSpPr txBox="1">
            <a:spLocks noChangeArrowheads="1"/>
          </p:cNvSpPr>
          <p:nvPr/>
        </p:nvSpPr>
        <p:spPr bwMode="auto">
          <a:xfrm>
            <a:off x="5941721" y="1856358"/>
            <a:ext cx="1817954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确定分组的输出链路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灯片编号占位符 2">
            <a:extLst>
              <a:ext uri="{FF2B5EF4-FFF2-40B4-BE49-F238E27FC236}">
                <a16:creationId xmlns:a16="http://schemas.microsoft.com/office/drawing/2014/main" id="{CF1BD098-5E3D-4D17-842A-FBB2DE25F84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173" name="AutoShape 5">
            <a:extLst>
              <a:ext uri="{FF2B5EF4-FFF2-40B4-BE49-F238E27FC236}">
                <a16:creationId xmlns:a16="http://schemas.microsoft.com/office/drawing/2014/main" id="{17D95280-BEA4-4B52-AB69-B315910A5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249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0"/>
      <p:bldP spid="400" grpId="0"/>
      <p:bldP spid="173" grpId="0" animBg="1"/>
      <p:bldP spid="17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图：</a:t>
            </a:r>
            <a:r>
              <a:rPr lang="en-US" altLang="zh-CN" dirty="0">
                <a:solidFill>
                  <a:srgbClr val="0066CC"/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点</a:t>
            </a:r>
            <a:r>
              <a:rPr lang="zh-CN" altLang="en-US" dirty="0">
                <a:solidFill>
                  <a:srgbClr val="0066CC"/>
                </a:solidFill>
              </a:rPr>
              <a:t>，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Node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：路由器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边，</a:t>
            </a:r>
            <a:r>
              <a:rPr lang="en-US" altLang="zh-CN" dirty="0">
                <a:solidFill>
                  <a:srgbClr val="0066CC"/>
                </a:solidFill>
              </a:rPr>
              <a:t>Edge</a:t>
            </a:r>
            <a:r>
              <a:rPr lang="zh-CN" altLang="en-US" dirty="0">
                <a:solidFill>
                  <a:srgbClr val="0066CC"/>
                </a:solidFill>
              </a:rPr>
              <a:t>：链路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56" y="1733"/>
              <a:ext cx="255" cy="271"/>
              <a:chOff x="2924" y="2414"/>
              <a:chExt cx="259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24" y="2414"/>
                <a:ext cx="25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47" y="2084"/>
              <a:ext cx="253" cy="310"/>
              <a:chOff x="2925" y="2384"/>
              <a:chExt cx="254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25" y="2384"/>
                <a:ext cx="254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05" y="1427"/>
              <a:ext cx="283" cy="271"/>
              <a:chOff x="2909" y="2414"/>
              <a:chExt cx="287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09" y="2414"/>
                <a:ext cx="28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w</a:t>
                </a:r>
                <a:endParaRPr lang="en-US" altLang="zh-CN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39" y="1427"/>
              <a:ext cx="240" cy="271"/>
              <a:chOff x="2930" y="2414"/>
              <a:chExt cx="244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0" y="2414"/>
                <a:ext cx="24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v</a:t>
                </a:r>
                <a:endParaRPr lang="en-US" altLang="zh-CN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406" name="Text Box 72"/>
          <p:cNvSpPr txBox="1">
            <a:spLocks noChangeArrowheads="1"/>
          </p:cNvSpPr>
          <p:nvPr/>
        </p:nvSpPr>
        <p:spPr bwMode="auto">
          <a:xfrm>
            <a:off x="1785059" y="2719274"/>
            <a:ext cx="6236445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图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G = (N,E)</a:t>
            </a:r>
          </a:p>
          <a:p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 =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路由结点的集合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 { u, v, w, x, y, z }</a:t>
            </a:r>
          </a:p>
          <a:p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 =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链路的集合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={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u,v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u,x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u,w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v,x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v,w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x,w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x,y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w,y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w,z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), (</a:t>
            </a:r>
            <a:r>
              <a:rPr lang="en-US" altLang="zh-CN" sz="135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y,z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}</a:t>
            </a:r>
          </a:p>
        </p:txBody>
      </p:sp>
      <p:sp>
        <p:nvSpPr>
          <p:cNvPr id="407" name="Text Box 74"/>
          <p:cNvSpPr txBox="1">
            <a:spLocks noChangeArrowheads="1"/>
          </p:cNvSpPr>
          <p:nvPr/>
        </p:nvSpPr>
        <p:spPr bwMode="auto">
          <a:xfrm>
            <a:off x="1998767" y="4022690"/>
            <a:ext cx="3942184" cy="71558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备注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图的概念也可以用于其它类型的网络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0" hangingPunct="0"/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0" hangingPunct="0"/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P2P, N </a:t>
            </a:r>
            <a:r>
              <a:rPr lang="zh-CN" altLang="en-US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en-US" altLang="zh-CN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Peer</a:t>
            </a:r>
            <a:r>
              <a:rPr lang="zh-CN" altLang="en-US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的集合，</a:t>
            </a:r>
            <a:r>
              <a:rPr lang="en-US" altLang="zh-CN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en-US" altLang="zh-CN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TCP</a:t>
            </a:r>
            <a:r>
              <a:rPr lang="zh-CN" altLang="en-US" sz="135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连接的集合</a:t>
            </a:r>
            <a:endParaRPr lang="en-US" altLang="zh-CN" sz="135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6" name="灯片编号占位符 2">
            <a:extLst>
              <a:ext uri="{FF2B5EF4-FFF2-40B4-BE49-F238E27FC236}">
                <a16:creationId xmlns:a16="http://schemas.microsoft.com/office/drawing/2014/main" id="{3F2F977C-7145-4077-91D2-BB00305D193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B19DB8C5-288D-463C-907A-3A228F5F0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75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权，</a:t>
            </a:r>
            <a:r>
              <a:rPr lang="en-US" altLang="zh-CN" dirty="0">
                <a:solidFill>
                  <a:srgbClr val="0066CC"/>
                </a:solidFill>
              </a:rPr>
              <a:t>cost</a:t>
            </a:r>
            <a:r>
              <a:rPr lang="zh-CN" altLang="en-US" dirty="0">
                <a:solidFill>
                  <a:srgbClr val="0066CC"/>
                </a:solidFill>
              </a:rPr>
              <a:t>：网络的开销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链路长度，或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链路速度，或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链路费用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 Box 73"/>
          <p:cNvSpPr txBox="1">
            <a:spLocks noChangeArrowheads="1"/>
          </p:cNvSpPr>
          <p:nvPr/>
        </p:nvSpPr>
        <p:spPr bwMode="auto">
          <a:xfrm>
            <a:off x="3574992" y="3508120"/>
            <a:ext cx="3497507" cy="115186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66CC"/>
                </a:solidFill>
                <a:effectLst/>
                <a:latin typeface="+mn-lt"/>
                <a:ea typeface="+mn-ea"/>
              </a:defRPr>
            </a:lvl1pPr>
            <a:lvl2pPr marL="742950" lvl="1" indent="-285750">
              <a:spcBef>
                <a:spcPct val="20000"/>
              </a:spcBef>
              <a:buChar char="–"/>
              <a:defRPr sz="2000">
                <a:solidFill>
                  <a:srgbClr val="0066CC"/>
                </a:solidFill>
                <a:effectLst/>
                <a:latin typeface="+mn-lt"/>
                <a:ea typeface="+mn-ea"/>
              </a:defRPr>
            </a:lvl2pPr>
            <a:lvl3pPr marL="1143000" lvl="2" indent="-228600">
              <a:spcBef>
                <a:spcPct val="20000"/>
              </a:spcBef>
              <a:buChar char="•"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3pPr>
            <a:lvl4pPr marL="1600200" lvl="3" indent="-228600">
              <a:spcBef>
                <a:spcPct val="20000"/>
              </a:spcBef>
              <a:buChar char="–"/>
              <a:defRPr sz="1600">
                <a:solidFill>
                  <a:srgbClr val="0066CC"/>
                </a:solidFill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无权图：边的开销始终为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有权图：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c(x, y) =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(x, y)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的开销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如右上图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c(w, z) = 5</a:t>
            </a:r>
          </a:p>
        </p:txBody>
      </p: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625D6E63-C131-4031-90F7-2AED3D207F7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83" name="AutoShape 5">
            <a:extLst>
              <a:ext uri="{FF2B5EF4-FFF2-40B4-BE49-F238E27FC236}">
                <a16:creationId xmlns:a16="http://schemas.microsoft.com/office/drawing/2014/main" id="{4B1F97B8-983A-4326-AC1B-F626A6A2B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458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无向图：</a:t>
            </a:r>
            <a:r>
              <a:rPr lang="en-US" altLang="zh-CN" dirty="0">
                <a:solidFill>
                  <a:srgbClr val="0066CC"/>
                </a:solidFill>
              </a:rPr>
              <a:t> undirected Graph</a:t>
            </a:r>
          </a:p>
          <a:p>
            <a:pPr lvl="3"/>
            <a:r>
              <a:rPr lang="en-US" altLang="zh-CN" dirty="0">
                <a:solidFill>
                  <a:srgbClr val="0066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∀ </a:t>
            </a:r>
            <a:r>
              <a:rPr lang="en-US" altLang="zh-CN" dirty="0">
                <a:solidFill>
                  <a:srgbClr val="0066CC"/>
                </a:solidFill>
              </a:rPr>
              <a:t>n, n’ </a:t>
            </a:r>
            <a:r>
              <a:rPr lang="zh-CN" altLang="en-US" dirty="0">
                <a:solidFill>
                  <a:srgbClr val="0066CC"/>
                </a:solidFill>
              </a:rPr>
              <a:t>∈</a:t>
            </a:r>
            <a:r>
              <a:rPr lang="en-US" altLang="zh-CN" dirty="0">
                <a:solidFill>
                  <a:srgbClr val="0066CC"/>
                </a:solidFill>
              </a:rPr>
              <a:t>N</a:t>
            </a:r>
          </a:p>
          <a:p>
            <a:pPr marL="1028700" lvl="3" indent="0">
              <a:buNone/>
            </a:pPr>
            <a:r>
              <a:rPr lang="en-US" altLang="zh-CN" dirty="0">
                <a:solidFill>
                  <a:srgbClr val="0066CC"/>
                </a:solidFill>
              </a:rPr>
              <a:t>    c(n, n’) = c(n’, n)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E2086EB1-D8A9-476C-95BA-03DC1B06741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3AFA68DE-2449-415B-96B7-586A7A345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511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无向图：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undirected Graph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邻居，</a:t>
            </a:r>
            <a:r>
              <a:rPr lang="en-US" altLang="zh-CN" dirty="0">
                <a:solidFill>
                  <a:srgbClr val="0066CC"/>
                </a:solidFill>
              </a:rPr>
              <a:t>neighbor</a:t>
            </a: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c(x, y) </a:t>
            </a:r>
            <a:r>
              <a:rPr lang="zh-CN" altLang="en-US" dirty="0">
                <a:solidFill>
                  <a:srgbClr val="0066CC"/>
                </a:solidFill>
              </a:rPr>
              <a:t>≠ ∞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如右上图，</a:t>
            </a:r>
            <a:r>
              <a:rPr lang="en-US" altLang="zh-CN" dirty="0">
                <a:solidFill>
                  <a:srgbClr val="0066CC"/>
                </a:solidFill>
              </a:rPr>
              <a:t>u</a:t>
            </a:r>
            <a:r>
              <a:rPr lang="zh-CN" altLang="en-US" dirty="0">
                <a:solidFill>
                  <a:srgbClr val="0066CC"/>
                </a:solidFill>
              </a:rPr>
              <a:t>的邻居为</a:t>
            </a:r>
            <a:r>
              <a:rPr lang="en-US" altLang="zh-CN" dirty="0">
                <a:solidFill>
                  <a:srgbClr val="0066CC"/>
                </a:solidFill>
              </a:rPr>
              <a:t>x, v, w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093C43B8-1BEC-4579-94C9-19DDE529D4B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8A555BFB-4A6D-40E0-9E88-5906F2CFD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925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无向图：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undirected 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邻居，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neighbor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路径，</a:t>
            </a:r>
            <a:r>
              <a:rPr lang="en-US" altLang="zh-CN" dirty="0">
                <a:solidFill>
                  <a:srgbClr val="0066CC"/>
                </a:solidFill>
              </a:rPr>
              <a:t>path</a:t>
            </a: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从一个结点到另一个结点的点</a:t>
            </a:r>
            <a:r>
              <a:rPr lang="en-US" altLang="zh-CN" dirty="0">
                <a:solidFill>
                  <a:srgbClr val="0066CC"/>
                </a:solidFill>
              </a:rPr>
              <a:t>(</a:t>
            </a:r>
            <a:r>
              <a:rPr lang="zh-CN" altLang="en-US" dirty="0">
                <a:solidFill>
                  <a:srgbClr val="0066CC"/>
                </a:solidFill>
              </a:rPr>
              <a:t>边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  <a:r>
              <a:rPr lang="zh-CN" altLang="en-US" dirty="0">
                <a:solidFill>
                  <a:srgbClr val="0066CC"/>
                </a:solidFill>
              </a:rPr>
              <a:t>的序列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如：</a:t>
            </a:r>
            <a:r>
              <a:rPr lang="en-US" altLang="zh-CN" dirty="0">
                <a:solidFill>
                  <a:srgbClr val="0066CC"/>
                </a:solidFill>
              </a:rPr>
              <a:t>p</a:t>
            </a:r>
            <a:r>
              <a:rPr lang="en-US" altLang="zh-CN" baseline="-25000" dirty="0">
                <a:solidFill>
                  <a:srgbClr val="0066CC"/>
                </a:solidFill>
              </a:rPr>
              <a:t>i</a:t>
            </a:r>
            <a:r>
              <a:rPr lang="en-US" altLang="zh-CN" dirty="0">
                <a:solidFill>
                  <a:srgbClr val="0066CC"/>
                </a:solidFill>
              </a:rPr>
              <a:t>(u, z) = (u, x, w, z)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6" y="1733"/>
              <a:ext cx="239" cy="271"/>
              <a:chOff x="2937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7" y="2414"/>
                <a:ext cx="243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39" y="2084"/>
              <a:ext cx="270" cy="310"/>
              <a:chOff x="2916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6" y="2384"/>
                <a:ext cx="271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4696DE8E-B883-44F2-A55E-67018DB2648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DBE1F583-8766-4724-BACC-B87D60D7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288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无向图：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undirected 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邻居，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neighbor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path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路径的开销：路径中的每个边的开销之和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 </a:t>
            </a:r>
            <a:r>
              <a:rPr lang="en-US" altLang="zh-CN" dirty="0" err="1">
                <a:solidFill>
                  <a:srgbClr val="0066CC"/>
                </a:solidFill>
              </a:rPr>
              <a:t>c</a:t>
            </a:r>
            <a:r>
              <a:rPr lang="en-US" altLang="zh-CN" baseline="-25000" dirty="0" err="1">
                <a:solidFill>
                  <a:srgbClr val="0066CC"/>
                </a:solidFill>
                <a:cs typeface="Arial" panose="020B0604020202020204" pitchFamily="34" charset="0"/>
              </a:rPr>
              <a:t>path</a:t>
            </a:r>
            <a:r>
              <a:rPr lang="en-US" altLang="zh-CN" dirty="0">
                <a:solidFill>
                  <a:srgbClr val="0066CC"/>
                </a:solidFill>
                <a:cs typeface="Arial" panose="020B0604020202020204" pitchFamily="34" charset="0"/>
              </a:rPr>
              <a:t>(u, x, w, z) = c(u, x) + c(x, w) + c(w, z) =  1 + 3 + 5 = 9 </a:t>
            </a: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6" y="1733"/>
              <a:ext cx="239" cy="271"/>
              <a:chOff x="2937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7" y="2414"/>
                <a:ext cx="243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39" y="2084"/>
              <a:ext cx="270" cy="310"/>
              <a:chOff x="2916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6" y="2384"/>
                <a:ext cx="271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5D3BE294-7CD2-4A15-A86A-4F774491ED5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45A53829-05D0-472C-BAA4-29617FE8F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35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03244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无向图：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undirected 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邻居，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neighbor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path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路径的开销：路径中的每个边的开销之和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最短路径：</a:t>
            </a:r>
            <a:r>
              <a:rPr lang="en-US" altLang="zh-CN" dirty="0">
                <a:solidFill>
                  <a:srgbClr val="0066CC"/>
                </a:solidFill>
              </a:rPr>
              <a:t>min {</a:t>
            </a:r>
            <a:r>
              <a:rPr lang="en-US" altLang="zh-CN" dirty="0" err="1">
                <a:solidFill>
                  <a:srgbClr val="0066CC"/>
                </a:solidFill>
              </a:rPr>
              <a:t>c</a:t>
            </a:r>
            <a:r>
              <a:rPr lang="en-US" altLang="zh-CN" baseline="-25000" dirty="0" err="1">
                <a:solidFill>
                  <a:srgbClr val="0066CC"/>
                </a:solidFill>
              </a:rPr>
              <a:t>path</a:t>
            </a:r>
            <a:r>
              <a:rPr lang="en-US" altLang="zh-CN" dirty="0">
                <a:solidFill>
                  <a:srgbClr val="0066CC"/>
                </a:solidFill>
              </a:rPr>
              <a:t>(u, z)}</a:t>
            </a: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问题：怎么寻找两点之间的最短路径？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2EEB008D-EF52-430F-9108-759DEA2FDF7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29700BA5-9B7F-44B8-A25B-B1AE6158D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124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无向图：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undirected 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邻居，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neighbor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path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路径的开销：路径中的每个边的开销之和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最短路径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min {</a:t>
            </a:r>
            <a:r>
              <a:rPr lang="en-US" altLang="zh-CN" dirty="0" err="1">
                <a:solidFill>
                  <a:srgbClr val="0066CC"/>
                </a:solidFill>
              </a:rPr>
              <a:t>c</a:t>
            </a:r>
            <a:r>
              <a:rPr lang="en-US" altLang="zh-CN" baseline="-25000" dirty="0" err="1">
                <a:solidFill>
                  <a:srgbClr val="0066CC"/>
                </a:solidFill>
              </a:rPr>
              <a:t>path</a:t>
            </a:r>
            <a:r>
              <a:rPr lang="en-US" altLang="zh-CN" dirty="0">
                <a:solidFill>
                  <a:srgbClr val="0066CC"/>
                </a:solidFill>
              </a:rPr>
              <a:t>(u, z)}</a:t>
            </a:r>
          </a:p>
          <a:p>
            <a:pPr lvl="2"/>
            <a:r>
              <a:rPr lang="zh-CN" altLang="en-US" dirty="0">
                <a:solidFill>
                  <a:srgbClr val="FF8181"/>
                </a:solidFill>
              </a:rPr>
              <a:t>问题：怎么寻找两点之间的最</a:t>
            </a:r>
            <a:r>
              <a:rPr lang="en-US" altLang="zh-CN" dirty="0">
                <a:solidFill>
                  <a:srgbClr val="FF8181"/>
                </a:solidFill>
              </a:rPr>
              <a:t>”</a:t>
            </a:r>
            <a:r>
              <a:rPr lang="zh-CN" altLang="en-US" dirty="0">
                <a:solidFill>
                  <a:srgbClr val="FF8181"/>
                </a:solidFill>
              </a:rPr>
              <a:t>短</a:t>
            </a:r>
            <a:r>
              <a:rPr lang="en-US" altLang="zh-CN" dirty="0">
                <a:solidFill>
                  <a:srgbClr val="FF8181"/>
                </a:solidFill>
              </a:rPr>
              <a:t>”</a:t>
            </a:r>
            <a:r>
              <a:rPr lang="zh-CN" altLang="en-US" dirty="0">
                <a:solidFill>
                  <a:srgbClr val="FF8181"/>
                </a:solidFill>
              </a:rPr>
              <a:t>路径？</a:t>
            </a:r>
            <a:endParaRPr lang="en-US" altLang="zh-CN" dirty="0">
              <a:solidFill>
                <a:srgbClr val="FF8181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路由选择：寻找图中一个点到其他点的最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短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路径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72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173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4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5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7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1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7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8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2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3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0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1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2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3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4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8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9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1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2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3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14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404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5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5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402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6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400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217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398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8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232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9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230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灯片编号占位符 2">
            <a:extLst>
              <a:ext uri="{FF2B5EF4-FFF2-40B4-BE49-F238E27FC236}">
                <a16:creationId xmlns:a16="http://schemas.microsoft.com/office/drawing/2014/main" id="{7A718FB7-2095-4F16-BCDE-A04873951B9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83" name="AutoShape 5">
            <a:extLst>
              <a:ext uri="{FF2B5EF4-FFF2-40B4-BE49-F238E27FC236}">
                <a16:creationId xmlns:a16="http://schemas.microsoft.com/office/drawing/2014/main" id="{49BEB38E-BC5F-4749-A400-17CDC2E74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827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>
            <a:grpSpLocks/>
          </p:cNvGrpSpPr>
          <p:nvPr/>
        </p:nvGrpSpPr>
        <p:grpSpPr bwMode="auto">
          <a:xfrm>
            <a:off x="4896037" y="1007149"/>
            <a:ext cx="2678906" cy="1677590"/>
            <a:chOff x="3162" y="1071"/>
            <a:chExt cx="2250" cy="1409"/>
          </a:xfrm>
        </p:grpSpPr>
        <p:sp>
          <p:nvSpPr>
            <p:cNvPr id="88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9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1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2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3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4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5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6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7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9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0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3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4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5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6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10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2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3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15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16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7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8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9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1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2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3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4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5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6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7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8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29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45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6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0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43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4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1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41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2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32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39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3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37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4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35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6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147" name="组合 146"/>
          <p:cNvGrpSpPr/>
          <p:nvPr/>
        </p:nvGrpSpPr>
        <p:grpSpPr>
          <a:xfrm>
            <a:off x="5151360" y="1007149"/>
            <a:ext cx="2034796" cy="1632392"/>
            <a:chOff x="5402141" y="1341276"/>
            <a:chExt cx="2713060" cy="2176523"/>
          </a:xfrm>
        </p:grpSpPr>
        <p:sp>
          <p:nvSpPr>
            <p:cNvPr id="148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9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0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1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2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3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4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5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6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7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24847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网络的建模：图论模型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ffectLst/>
              </a:rPr>
              <a:t>Node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effectLst/>
              </a:rPr>
              <a:t>：路由器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边，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：链路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权，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cost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：网络的开销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无向图：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undirected Graph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邻居，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neighbor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path</a:t>
            </a:r>
          </a:p>
          <a:p>
            <a:pPr lvl="2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路径的开销：路径中的每个边的开销之和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最短路径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min {</a:t>
            </a:r>
            <a:r>
              <a:rPr lang="en-US" altLang="zh-CN" dirty="0" err="1">
                <a:solidFill>
                  <a:srgbClr val="0066CC"/>
                </a:solidFill>
              </a:rPr>
              <a:t>c</a:t>
            </a:r>
            <a:r>
              <a:rPr lang="en-US" altLang="zh-CN" baseline="-25000" dirty="0" err="1">
                <a:solidFill>
                  <a:srgbClr val="0066CC"/>
                </a:solidFill>
              </a:rPr>
              <a:t>path</a:t>
            </a:r>
            <a:r>
              <a:rPr lang="en-US" altLang="zh-CN" dirty="0">
                <a:solidFill>
                  <a:srgbClr val="0066CC"/>
                </a:solidFill>
              </a:rPr>
              <a:t>(u, z)}</a:t>
            </a:r>
          </a:p>
          <a:p>
            <a:pPr lvl="2"/>
            <a:r>
              <a:rPr lang="zh-CN" altLang="en-US" dirty="0">
                <a:solidFill>
                  <a:srgbClr val="FF8181"/>
                </a:solidFill>
              </a:rPr>
              <a:t>问题：怎么寻找两点之间的最</a:t>
            </a:r>
            <a:r>
              <a:rPr lang="en-US" altLang="zh-CN" dirty="0">
                <a:solidFill>
                  <a:srgbClr val="FF8181"/>
                </a:solidFill>
              </a:rPr>
              <a:t>”</a:t>
            </a:r>
            <a:r>
              <a:rPr lang="zh-CN" altLang="en-US" dirty="0">
                <a:solidFill>
                  <a:srgbClr val="FF8181"/>
                </a:solidFill>
              </a:rPr>
              <a:t>短</a:t>
            </a:r>
            <a:r>
              <a:rPr lang="en-US" altLang="zh-CN" dirty="0">
                <a:solidFill>
                  <a:srgbClr val="FF8181"/>
                </a:solidFill>
              </a:rPr>
              <a:t>”</a:t>
            </a:r>
            <a:r>
              <a:rPr lang="zh-CN" altLang="en-US" dirty="0">
                <a:solidFill>
                  <a:srgbClr val="FF8181"/>
                </a:solidFill>
              </a:rPr>
              <a:t>路径？</a:t>
            </a:r>
            <a:endParaRPr lang="en-US" altLang="zh-CN" dirty="0">
              <a:solidFill>
                <a:srgbClr val="FF8181"/>
              </a:solidFill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路由选择：寻找图中一个点到其他点的最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短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路径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00B050"/>
                </a:solidFill>
              </a:rPr>
              <a:t>如图：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00B050"/>
                </a:solidFill>
              </a:rPr>
              <a:t>路由选择的结果，</a:t>
            </a:r>
            <a:r>
              <a:rPr lang="en-US" altLang="zh-CN" dirty="0">
                <a:solidFill>
                  <a:srgbClr val="00B050"/>
                </a:solidFill>
              </a:rPr>
              <a:t>u</a:t>
            </a:r>
            <a:r>
              <a:rPr lang="zh-CN" altLang="en-US" dirty="0">
                <a:solidFill>
                  <a:srgbClr val="00B050"/>
                </a:solidFill>
              </a:rPr>
              <a:t>到其它所有结点的最短路径</a:t>
            </a:r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896037" y="989884"/>
            <a:ext cx="2678906" cy="1677590"/>
            <a:chOff x="5287494" y="2727263"/>
            <a:chExt cx="3571875" cy="2236787"/>
          </a:xfrm>
        </p:grpSpPr>
        <p:grpSp>
          <p:nvGrpSpPr>
            <p:cNvPr id="172" name="Group 2"/>
            <p:cNvGrpSpPr>
              <a:grpSpLocks/>
            </p:cNvGrpSpPr>
            <p:nvPr/>
          </p:nvGrpSpPr>
          <p:grpSpPr bwMode="auto">
            <a:xfrm>
              <a:off x="5287494" y="2727263"/>
              <a:ext cx="3571875" cy="2236787"/>
              <a:chOff x="3162" y="1071"/>
              <a:chExt cx="2250" cy="1409"/>
            </a:xfrm>
          </p:grpSpPr>
          <p:sp>
            <p:nvSpPr>
              <p:cNvPr id="173" name="Freeform 3"/>
              <p:cNvSpPr>
                <a:spLocks/>
              </p:cNvSpPr>
              <p:nvPr/>
            </p:nvSpPr>
            <p:spPr bwMode="auto">
              <a:xfrm>
                <a:off x="3162" y="1071"/>
                <a:ext cx="2250" cy="1409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4" name="Freeform 4"/>
              <p:cNvSpPr>
                <a:spLocks/>
              </p:cNvSpPr>
              <p:nvPr/>
            </p:nvSpPr>
            <p:spPr bwMode="auto">
              <a:xfrm>
                <a:off x="3498" y="1620"/>
                <a:ext cx="342" cy="186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5" name="Oval 5"/>
              <p:cNvSpPr>
                <a:spLocks noChangeArrowheads="1"/>
              </p:cNvSpPr>
              <p:nvPr/>
            </p:nvSpPr>
            <p:spPr bwMode="auto">
              <a:xfrm>
                <a:off x="3238" y="186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Line 6"/>
              <p:cNvSpPr>
                <a:spLocks noChangeShapeType="1"/>
              </p:cNvSpPr>
              <p:nvPr/>
            </p:nvSpPr>
            <p:spPr bwMode="auto">
              <a:xfrm>
                <a:off x="3238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7" name="Line 7"/>
              <p:cNvSpPr>
                <a:spLocks noChangeShapeType="1"/>
              </p:cNvSpPr>
              <p:nvPr/>
            </p:nvSpPr>
            <p:spPr bwMode="auto">
              <a:xfrm>
                <a:off x="3551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8" name="Rectangle 8"/>
              <p:cNvSpPr>
                <a:spLocks noChangeArrowheads="1"/>
              </p:cNvSpPr>
              <p:nvPr/>
            </p:nvSpPr>
            <p:spPr bwMode="auto">
              <a:xfrm>
                <a:off x="3238" y="185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9" name="Oval 9"/>
              <p:cNvSpPr>
                <a:spLocks noChangeArrowheads="1"/>
              </p:cNvSpPr>
              <p:nvPr/>
            </p:nvSpPr>
            <p:spPr bwMode="auto">
              <a:xfrm>
                <a:off x="3235" y="179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0" name="Oval 10"/>
              <p:cNvSpPr>
                <a:spLocks noChangeArrowheads="1"/>
              </p:cNvSpPr>
              <p:nvPr/>
            </p:nvSpPr>
            <p:spPr bwMode="auto">
              <a:xfrm>
                <a:off x="3712" y="224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1" name="Line 11"/>
              <p:cNvSpPr>
                <a:spLocks noChangeShapeType="1"/>
              </p:cNvSpPr>
              <p:nvPr/>
            </p:nvSpPr>
            <p:spPr bwMode="auto">
              <a:xfrm>
                <a:off x="3712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82" name="Line 12"/>
              <p:cNvSpPr>
                <a:spLocks noChangeShapeType="1"/>
              </p:cNvSpPr>
              <p:nvPr/>
            </p:nvSpPr>
            <p:spPr bwMode="auto">
              <a:xfrm>
                <a:off x="4025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83" name="Rectangle 13"/>
              <p:cNvSpPr>
                <a:spLocks noChangeArrowheads="1"/>
              </p:cNvSpPr>
              <p:nvPr/>
            </p:nvSpPr>
            <p:spPr bwMode="auto">
              <a:xfrm>
                <a:off x="3712" y="224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l 14"/>
              <p:cNvSpPr>
                <a:spLocks noChangeArrowheads="1"/>
              </p:cNvSpPr>
              <p:nvPr/>
            </p:nvSpPr>
            <p:spPr bwMode="auto">
              <a:xfrm>
                <a:off x="3709" y="218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Oval 15"/>
              <p:cNvSpPr>
                <a:spLocks noChangeArrowheads="1"/>
              </p:cNvSpPr>
              <p:nvPr/>
            </p:nvSpPr>
            <p:spPr bwMode="auto">
              <a:xfrm>
                <a:off x="3708" y="155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Line 16"/>
              <p:cNvSpPr>
                <a:spLocks noChangeShapeType="1"/>
              </p:cNvSpPr>
              <p:nvPr/>
            </p:nvSpPr>
            <p:spPr bwMode="auto">
              <a:xfrm>
                <a:off x="3708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87" name="Line 17"/>
              <p:cNvSpPr>
                <a:spLocks noChangeShapeType="1"/>
              </p:cNvSpPr>
              <p:nvPr/>
            </p:nvSpPr>
            <p:spPr bwMode="auto">
              <a:xfrm>
                <a:off x="4021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88" name="Rectangle 18"/>
              <p:cNvSpPr>
                <a:spLocks noChangeArrowheads="1"/>
              </p:cNvSpPr>
              <p:nvPr/>
            </p:nvSpPr>
            <p:spPr bwMode="auto">
              <a:xfrm>
                <a:off x="3708" y="155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Oval 19"/>
              <p:cNvSpPr>
                <a:spLocks noChangeArrowheads="1"/>
              </p:cNvSpPr>
              <p:nvPr/>
            </p:nvSpPr>
            <p:spPr bwMode="auto">
              <a:xfrm>
                <a:off x="3705" y="149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Oval 20"/>
              <p:cNvSpPr>
                <a:spLocks noChangeArrowheads="1"/>
              </p:cNvSpPr>
              <p:nvPr/>
            </p:nvSpPr>
            <p:spPr bwMode="auto">
              <a:xfrm>
                <a:off x="4391" y="1555"/>
                <a:ext cx="312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1" name="Line 21"/>
              <p:cNvSpPr>
                <a:spLocks noChangeShapeType="1"/>
              </p:cNvSpPr>
              <p:nvPr/>
            </p:nvSpPr>
            <p:spPr bwMode="auto">
              <a:xfrm>
                <a:off x="4391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2" name="Line 22"/>
              <p:cNvSpPr>
                <a:spLocks noChangeShapeType="1"/>
              </p:cNvSpPr>
              <p:nvPr/>
            </p:nvSpPr>
            <p:spPr bwMode="auto">
              <a:xfrm>
                <a:off x="4703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3" name="Rectangle 23"/>
              <p:cNvSpPr>
                <a:spLocks noChangeArrowheads="1"/>
              </p:cNvSpPr>
              <p:nvPr/>
            </p:nvSpPr>
            <p:spPr bwMode="auto">
              <a:xfrm>
                <a:off x="4391" y="1548"/>
                <a:ext cx="309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" name="Oval 24"/>
              <p:cNvSpPr>
                <a:spLocks noChangeArrowheads="1"/>
              </p:cNvSpPr>
              <p:nvPr/>
            </p:nvSpPr>
            <p:spPr bwMode="auto">
              <a:xfrm>
                <a:off x="4394" y="1492"/>
                <a:ext cx="312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5" name="Oval 25"/>
              <p:cNvSpPr>
                <a:spLocks noChangeArrowheads="1"/>
              </p:cNvSpPr>
              <p:nvPr/>
            </p:nvSpPr>
            <p:spPr bwMode="auto">
              <a:xfrm>
                <a:off x="4401" y="224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Line 26"/>
              <p:cNvSpPr>
                <a:spLocks noChangeShapeType="1"/>
              </p:cNvSpPr>
              <p:nvPr/>
            </p:nvSpPr>
            <p:spPr bwMode="auto">
              <a:xfrm>
                <a:off x="4401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7" name="Line 27"/>
              <p:cNvSpPr>
                <a:spLocks noChangeShapeType="1"/>
              </p:cNvSpPr>
              <p:nvPr/>
            </p:nvSpPr>
            <p:spPr bwMode="auto">
              <a:xfrm>
                <a:off x="4714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8" name="Rectangle 28"/>
              <p:cNvSpPr>
                <a:spLocks noChangeArrowheads="1"/>
              </p:cNvSpPr>
              <p:nvPr/>
            </p:nvSpPr>
            <p:spPr bwMode="auto">
              <a:xfrm>
                <a:off x="4401" y="223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" name="Oval 29"/>
              <p:cNvSpPr>
                <a:spLocks noChangeArrowheads="1"/>
              </p:cNvSpPr>
              <p:nvPr/>
            </p:nvSpPr>
            <p:spPr bwMode="auto">
              <a:xfrm>
                <a:off x="4398" y="218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0" name="Oval 30"/>
              <p:cNvSpPr>
                <a:spLocks noChangeArrowheads="1"/>
              </p:cNvSpPr>
              <p:nvPr/>
            </p:nvSpPr>
            <p:spPr bwMode="auto">
              <a:xfrm>
                <a:off x="4966" y="19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1" name="Line 31"/>
              <p:cNvSpPr>
                <a:spLocks noChangeShapeType="1"/>
              </p:cNvSpPr>
              <p:nvPr/>
            </p:nvSpPr>
            <p:spPr bwMode="auto">
              <a:xfrm>
                <a:off x="4966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2" name="Line 32"/>
              <p:cNvSpPr>
                <a:spLocks noChangeShapeType="1"/>
              </p:cNvSpPr>
              <p:nvPr/>
            </p:nvSpPr>
            <p:spPr bwMode="auto">
              <a:xfrm>
                <a:off x="5279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3" name="Rectangle 33"/>
              <p:cNvSpPr>
                <a:spLocks noChangeArrowheads="1"/>
              </p:cNvSpPr>
              <p:nvPr/>
            </p:nvSpPr>
            <p:spPr bwMode="auto">
              <a:xfrm>
                <a:off x="4966" y="18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4" name="Oval 34"/>
              <p:cNvSpPr>
                <a:spLocks noChangeArrowheads="1"/>
              </p:cNvSpPr>
              <p:nvPr/>
            </p:nvSpPr>
            <p:spPr bwMode="auto">
              <a:xfrm>
                <a:off x="4963" y="18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Freeform 35"/>
              <p:cNvSpPr>
                <a:spLocks/>
              </p:cNvSpPr>
              <p:nvPr/>
            </p:nvSpPr>
            <p:spPr bwMode="auto">
              <a:xfrm>
                <a:off x="4557" y="1647"/>
                <a:ext cx="1" cy="522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8" name="Freeform 38"/>
              <p:cNvSpPr>
                <a:spLocks/>
              </p:cNvSpPr>
              <p:nvPr/>
            </p:nvSpPr>
            <p:spPr bwMode="auto">
              <a:xfrm>
                <a:off x="4716" y="1986"/>
                <a:ext cx="366" cy="270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9" name="Freeform 39"/>
              <p:cNvSpPr>
                <a:spLocks/>
              </p:cNvSpPr>
              <p:nvPr/>
            </p:nvSpPr>
            <p:spPr bwMode="auto">
              <a:xfrm>
                <a:off x="4035" y="2268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0" name="Freeform 40"/>
              <p:cNvSpPr>
                <a:spLocks/>
              </p:cNvSpPr>
              <p:nvPr/>
            </p:nvSpPr>
            <p:spPr bwMode="auto">
              <a:xfrm>
                <a:off x="3444" y="1944"/>
                <a:ext cx="276" cy="264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pSp>
            <p:nvGrpSpPr>
              <p:cNvPr id="214" name="Group 44"/>
              <p:cNvGrpSpPr>
                <a:grpSpLocks/>
              </p:cNvGrpSpPr>
              <p:nvPr/>
            </p:nvGrpSpPr>
            <p:grpSpPr bwMode="auto">
              <a:xfrm>
                <a:off x="3261" y="1733"/>
                <a:ext cx="239" cy="271"/>
                <a:chOff x="2932" y="2414"/>
                <a:chExt cx="243" cy="271"/>
              </a:xfrm>
            </p:grpSpPr>
            <p:sp>
              <p:nvSpPr>
                <p:cNvPr id="404" name="Rectangle 4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5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" name="Group 47"/>
              <p:cNvGrpSpPr>
                <a:grpSpLocks/>
              </p:cNvGrpSpPr>
              <p:nvPr/>
            </p:nvGrpSpPr>
            <p:grpSpPr bwMode="auto">
              <a:xfrm>
                <a:off x="4431" y="2117"/>
                <a:ext cx="239" cy="271"/>
                <a:chOff x="2932" y="2414"/>
                <a:chExt cx="243" cy="271"/>
              </a:xfrm>
            </p:grpSpPr>
            <p:sp>
              <p:nvSpPr>
                <p:cNvPr id="402" name="Rectangle 4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3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y</a:t>
                  </a:r>
                  <a:endParaRPr lang="en-US" altLang="zh-CN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6" name="Group 50"/>
              <p:cNvGrpSpPr>
                <a:grpSpLocks/>
              </p:cNvGrpSpPr>
              <p:nvPr/>
            </p:nvGrpSpPr>
            <p:grpSpPr bwMode="auto">
              <a:xfrm>
                <a:off x="3740" y="2084"/>
                <a:ext cx="270" cy="310"/>
                <a:chOff x="2917" y="2384"/>
                <a:chExt cx="271" cy="310"/>
              </a:xfrm>
            </p:grpSpPr>
            <p:sp>
              <p:nvSpPr>
                <p:cNvPr id="400" name="Rectangle 51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1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917" y="2384"/>
                  <a:ext cx="27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217" name="Group 53"/>
              <p:cNvGrpSpPr>
                <a:grpSpLocks/>
              </p:cNvGrpSpPr>
              <p:nvPr/>
            </p:nvGrpSpPr>
            <p:grpSpPr bwMode="auto">
              <a:xfrm>
                <a:off x="4411" y="1427"/>
                <a:ext cx="266" cy="271"/>
                <a:chOff x="2918" y="2414"/>
                <a:chExt cx="270" cy="271"/>
              </a:xfrm>
            </p:grpSpPr>
            <p:sp>
              <p:nvSpPr>
                <p:cNvPr id="398" name="Rectangle 5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9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918" y="2414"/>
                  <a:ext cx="27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w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8" name="Group 56"/>
              <p:cNvGrpSpPr>
                <a:grpSpLocks/>
              </p:cNvGrpSpPr>
              <p:nvPr/>
            </p:nvGrpSpPr>
            <p:grpSpPr bwMode="auto">
              <a:xfrm>
                <a:off x="3742" y="1427"/>
                <a:ext cx="233" cy="271"/>
                <a:chOff x="2934" y="2414"/>
                <a:chExt cx="237" cy="271"/>
              </a:xfrm>
            </p:grpSpPr>
            <p:sp>
              <p:nvSpPr>
                <p:cNvPr id="2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3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934" y="2414"/>
                  <a:ext cx="23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v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9" name="Group 59"/>
              <p:cNvGrpSpPr>
                <a:grpSpLocks/>
              </p:cNvGrpSpPr>
              <p:nvPr/>
            </p:nvGrpSpPr>
            <p:grpSpPr bwMode="auto">
              <a:xfrm>
                <a:off x="4990" y="1745"/>
                <a:ext cx="258" cy="310"/>
                <a:chOff x="2921" y="2384"/>
                <a:chExt cx="261" cy="310"/>
              </a:xfrm>
            </p:grpSpPr>
            <p:sp>
              <p:nvSpPr>
                <p:cNvPr id="230" name="Rectangle 6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921" y="2384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</p:grpSp>
        <p:sp>
          <p:nvSpPr>
            <p:cNvPr id="82" name="Text Box 62"/>
            <p:cNvSpPr txBox="1">
              <a:spLocks noChangeArrowheads="1"/>
            </p:cNvSpPr>
            <p:nvPr/>
          </p:nvSpPr>
          <p:spPr bwMode="auto">
            <a:xfrm>
              <a:off x="5764677" y="3426060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3" name="Text Box 64"/>
            <p:cNvSpPr txBox="1">
              <a:spLocks noChangeArrowheads="1"/>
            </p:cNvSpPr>
            <p:nvPr/>
          </p:nvSpPr>
          <p:spPr bwMode="auto">
            <a:xfrm>
              <a:off x="5643937" y="411186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4" name="Text Box 66"/>
            <p:cNvSpPr txBox="1">
              <a:spLocks noChangeArrowheads="1"/>
            </p:cNvSpPr>
            <p:nvPr/>
          </p:nvSpPr>
          <p:spPr bwMode="auto">
            <a:xfrm>
              <a:off x="6844086" y="4483337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5" name="Text Box 67"/>
            <p:cNvSpPr txBox="1">
              <a:spLocks noChangeArrowheads="1"/>
            </p:cNvSpPr>
            <p:nvPr/>
          </p:nvSpPr>
          <p:spPr bwMode="auto">
            <a:xfrm>
              <a:off x="7415586" y="3802298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6" name="Text Box 68"/>
            <p:cNvSpPr txBox="1">
              <a:spLocks noChangeArrowheads="1"/>
            </p:cNvSpPr>
            <p:nvPr/>
          </p:nvSpPr>
          <p:spPr bwMode="auto">
            <a:xfrm>
              <a:off x="7969713" y="4221398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58" name="灯片编号占位符 2">
            <a:extLst>
              <a:ext uri="{FF2B5EF4-FFF2-40B4-BE49-F238E27FC236}">
                <a16:creationId xmlns:a16="http://schemas.microsoft.com/office/drawing/2014/main" id="{60EA9768-E8E4-4D3D-ACBD-802D053A468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59" name="AutoShape 5">
            <a:extLst>
              <a:ext uri="{FF2B5EF4-FFF2-40B4-BE49-F238E27FC236}">
                <a16:creationId xmlns:a16="http://schemas.microsoft.com/office/drawing/2014/main" id="{3502F935-BE7C-45EB-A591-5136CFD6C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187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4.5.0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路由选择介绍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路由选择算法的分类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(1)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全局式路由选择算法  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or 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分布式路由选择算法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(2)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静态路由选择算法  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or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动态路由选择算法 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(3)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负载敏感路由选择算法 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or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负载迟钝路由选择算法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68" name="Text Box 74"/>
          <p:cNvSpPr txBox="1">
            <a:spLocks noChangeArrowheads="1"/>
          </p:cNvSpPr>
          <p:nvPr/>
        </p:nvSpPr>
        <p:spPr bwMode="auto">
          <a:xfrm>
            <a:off x="1559933" y="1990498"/>
            <a:ext cx="2652027" cy="86690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 eaLnBrk="0" hangingPunct="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全局式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lvl="1" indent="-1809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结点知道完整的网络拓扑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lvl="1" indent="-1809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链路状态算法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" name="Text Box 74"/>
          <p:cNvSpPr txBox="1">
            <a:spLocks noChangeArrowheads="1"/>
          </p:cNvSpPr>
          <p:nvPr/>
        </p:nvSpPr>
        <p:spPr bwMode="auto">
          <a:xfrm>
            <a:off x="4299813" y="1990497"/>
            <a:ext cx="3024336" cy="86690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 eaLnBrk="0" hangingPunct="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分布式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lvl="1" indent="-1809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结点只知道自己的邻居是谁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lvl="1" indent="-1809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距离向量算法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1" name="Text Box 74"/>
          <p:cNvSpPr txBox="1">
            <a:spLocks noChangeArrowheads="1"/>
          </p:cNvSpPr>
          <p:nvPr/>
        </p:nvSpPr>
        <p:spPr bwMode="auto">
          <a:xfrm>
            <a:off x="1559933" y="3583975"/>
            <a:ext cx="2133545" cy="58734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 eaLnBrk="0" hangingPunct="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静态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lvl="1" indent="-1809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路由信息不经常变化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2" name="Text Box 74"/>
          <p:cNvSpPr txBox="1">
            <a:spLocks noChangeArrowheads="1"/>
          </p:cNvSpPr>
          <p:nvPr/>
        </p:nvSpPr>
        <p:spPr bwMode="auto">
          <a:xfrm>
            <a:off x="4299813" y="3583975"/>
            <a:ext cx="2739880" cy="58734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80975" indent="-180975" eaLnBrk="0" hangingPunct="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动态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lvl="1" indent="-1809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路由信息随网络状态经常变化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44D25FC9-8D1E-4F43-868A-894687E5474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A89E836E-8478-4A5F-A224-5AF01C82E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8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2411760" y="1886591"/>
            <a:ext cx="5672138" cy="2897344"/>
            <a:chOff x="1116458" y="2231421"/>
            <a:chExt cx="7562850" cy="386312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6458" y="2593057"/>
              <a:ext cx="7562850" cy="2924175"/>
            </a:xfrm>
            <a:prstGeom prst="rect">
              <a:avLst/>
            </a:prstGeom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</p:pic>
        <p:cxnSp>
          <p:nvCxnSpPr>
            <p:cNvPr id="13" name="直接连接符 12"/>
            <p:cNvCxnSpPr/>
            <p:nvPr/>
          </p:nvCxnSpPr>
          <p:spPr>
            <a:xfrm>
              <a:off x="1257424" y="4431810"/>
              <a:ext cx="4394696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6591418" y="5694436"/>
              <a:ext cx="1872208" cy="40010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+mj-ea"/>
                  <a:ea typeface="+mj-ea"/>
                </a:rPr>
                <a:t>1972</a:t>
              </a:r>
              <a:r>
                <a:rPr lang="zh-CN" altLang="en-US" sz="1350" dirty="0">
                  <a:solidFill>
                    <a:srgbClr val="FF0000"/>
                  </a:solidFill>
                  <a:latin typeface="+mj-ea"/>
                  <a:ea typeface="+mj-ea"/>
                </a:rPr>
                <a:t>年图灵奖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588224" y="4913337"/>
              <a:ext cx="187220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 err="1"/>
                <a:t>Edsger</a:t>
              </a:r>
              <a:r>
                <a:rPr lang="en-US" altLang="zh-CN" sz="900" dirty="0"/>
                <a:t> </a:t>
              </a:r>
              <a:r>
                <a:rPr lang="en-US" altLang="zh-CN" sz="900" dirty="0" err="1"/>
                <a:t>Wybe</a:t>
              </a:r>
              <a:r>
                <a:rPr lang="en-US" altLang="zh-CN" sz="900" dirty="0"/>
                <a:t> Dijkstra</a:t>
              </a:r>
              <a:endParaRPr lang="en-US" altLang="zh-CN" sz="900" dirty="0">
                <a:latin typeface="+mj-ea"/>
                <a:ea typeface="+mj-ea"/>
              </a:endParaRPr>
            </a:p>
            <a:p>
              <a:pPr algn="ctr"/>
              <a:r>
                <a:rPr lang="en-US" altLang="zh-CN" sz="900" dirty="0">
                  <a:latin typeface="+mj-ea"/>
                  <a:ea typeface="+mj-ea"/>
                </a:rPr>
                <a:t>1930-2002</a:t>
              </a:r>
              <a:endParaRPr lang="zh-CN" altLang="en-US" sz="900" dirty="0">
                <a:latin typeface="+mj-ea"/>
                <a:ea typeface="+mj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16458" y="2231421"/>
              <a:ext cx="1442368" cy="400109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solidFill>
                    <a:srgbClr val="0066CC"/>
                  </a:solidFill>
                  <a:latin typeface="+mj-ea"/>
                  <a:ea typeface="+mj-ea"/>
                </a:rPr>
                <a:t>百度百科</a:t>
              </a:r>
            </a:p>
          </p:txBody>
        </p:sp>
      </p:grp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BB11A203-D968-470E-A7B6-F3208217FD6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715E4160-7392-41B6-AF5A-CD84AEB70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19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3"/>
            <a:ext cx="7525518" cy="4155927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sz="2200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sz="2200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算法输入：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网络的完整拓扑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所有结点都知道完整拓扑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通过链路状态广播来实现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所有结点的网络拓扑相同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算法输出：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计算</a:t>
            </a:r>
            <a:r>
              <a:rPr lang="zh-CN" altLang="en-US" dirty="0">
                <a:solidFill>
                  <a:srgbClr val="0066CC"/>
                </a:solidFill>
              </a:rPr>
              <a:t>本结点到其他结点的最短路径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为该结点生成转发表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迭代算法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 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  <a:effectLst/>
              </a:rPr>
              <a:t>经过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k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次迭代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0066CC"/>
                </a:solidFill>
              </a:rPr>
              <a:t>得到</a:t>
            </a:r>
            <a:r>
              <a:rPr lang="en-US" altLang="zh-CN" dirty="0">
                <a:solidFill>
                  <a:srgbClr val="0066CC"/>
                </a:solidFill>
              </a:rPr>
              <a:t>k</a:t>
            </a:r>
            <a:r>
              <a:rPr lang="zh-CN" altLang="en-US" dirty="0">
                <a:solidFill>
                  <a:srgbClr val="0066CC"/>
                </a:solidFill>
              </a:rPr>
              <a:t>个结点的最“短”路径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220" name="组合 219"/>
          <p:cNvGrpSpPr/>
          <p:nvPr/>
        </p:nvGrpSpPr>
        <p:grpSpPr>
          <a:xfrm>
            <a:off x="4896037" y="1007149"/>
            <a:ext cx="2678906" cy="1677590"/>
            <a:chOff x="5004048" y="1342864"/>
            <a:chExt cx="3571875" cy="2236787"/>
          </a:xfrm>
        </p:grpSpPr>
        <p:grpSp>
          <p:nvGrpSpPr>
            <p:cNvPr id="70" name="Group 2"/>
            <p:cNvGrpSpPr>
              <a:grpSpLocks/>
            </p:cNvGrpSpPr>
            <p:nvPr/>
          </p:nvGrpSpPr>
          <p:grpSpPr bwMode="auto">
            <a:xfrm>
              <a:off x="5004048" y="1342864"/>
              <a:ext cx="3571875" cy="2236787"/>
              <a:chOff x="3162" y="1071"/>
              <a:chExt cx="2250" cy="1409"/>
            </a:xfrm>
          </p:grpSpPr>
          <p:sp>
            <p:nvSpPr>
              <p:cNvPr id="71" name="Freeform 3"/>
              <p:cNvSpPr>
                <a:spLocks/>
              </p:cNvSpPr>
              <p:nvPr/>
            </p:nvSpPr>
            <p:spPr bwMode="auto">
              <a:xfrm>
                <a:off x="3162" y="1071"/>
                <a:ext cx="2250" cy="1409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2" name="Freeform 4"/>
              <p:cNvSpPr>
                <a:spLocks/>
              </p:cNvSpPr>
              <p:nvPr/>
            </p:nvSpPr>
            <p:spPr bwMode="auto">
              <a:xfrm>
                <a:off x="3498" y="1620"/>
                <a:ext cx="342" cy="186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3" name="Oval 5"/>
              <p:cNvSpPr>
                <a:spLocks noChangeArrowheads="1"/>
              </p:cNvSpPr>
              <p:nvPr/>
            </p:nvSpPr>
            <p:spPr bwMode="auto">
              <a:xfrm>
                <a:off x="3238" y="186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Line 6"/>
              <p:cNvSpPr>
                <a:spLocks noChangeShapeType="1"/>
              </p:cNvSpPr>
              <p:nvPr/>
            </p:nvSpPr>
            <p:spPr bwMode="auto">
              <a:xfrm>
                <a:off x="3238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Line 7"/>
              <p:cNvSpPr>
                <a:spLocks noChangeShapeType="1"/>
              </p:cNvSpPr>
              <p:nvPr/>
            </p:nvSpPr>
            <p:spPr bwMode="auto">
              <a:xfrm>
                <a:off x="3551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6" name="Rectangle 8"/>
              <p:cNvSpPr>
                <a:spLocks noChangeArrowheads="1"/>
              </p:cNvSpPr>
              <p:nvPr/>
            </p:nvSpPr>
            <p:spPr bwMode="auto">
              <a:xfrm>
                <a:off x="3238" y="185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Oval 9"/>
              <p:cNvSpPr>
                <a:spLocks noChangeArrowheads="1"/>
              </p:cNvSpPr>
              <p:nvPr/>
            </p:nvSpPr>
            <p:spPr bwMode="auto">
              <a:xfrm>
                <a:off x="3235" y="179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" name="Oval 10"/>
              <p:cNvSpPr>
                <a:spLocks noChangeArrowheads="1"/>
              </p:cNvSpPr>
              <p:nvPr/>
            </p:nvSpPr>
            <p:spPr bwMode="auto">
              <a:xfrm>
                <a:off x="3712" y="224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Line 11"/>
              <p:cNvSpPr>
                <a:spLocks noChangeShapeType="1"/>
              </p:cNvSpPr>
              <p:nvPr/>
            </p:nvSpPr>
            <p:spPr bwMode="auto">
              <a:xfrm>
                <a:off x="3712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0" name="Line 12"/>
              <p:cNvSpPr>
                <a:spLocks noChangeShapeType="1"/>
              </p:cNvSpPr>
              <p:nvPr/>
            </p:nvSpPr>
            <p:spPr bwMode="auto">
              <a:xfrm>
                <a:off x="4025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2" name="Rectangle 13"/>
              <p:cNvSpPr>
                <a:spLocks noChangeArrowheads="1"/>
              </p:cNvSpPr>
              <p:nvPr/>
            </p:nvSpPr>
            <p:spPr bwMode="auto">
              <a:xfrm>
                <a:off x="3712" y="224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Oval 14"/>
              <p:cNvSpPr>
                <a:spLocks noChangeArrowheads="1"/>
              </p:cNvSpPr>
              <p:nvPr/>
            </p:nvSpPr>
            <p:spPr bwMode="auto">
              <a:xfrm>
                <a:off x="3709" y="218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Oval 15"/>
              <p:cNvSpPr>
                <a:spLocks noChangeArrowheads="1"/>
              </p:cNvSpPr>
              <p:nvPr/>
            </p:nvSpPr>
            <p:spPr bwMode="auto">
              <a:xfrm>
                <a:off x="3708" y="155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Line 16"/>
              <p:cNvSpPr>
                <a:spLocks noChangeShapeType="1"/>
              </p:cNvSpPr>
              <p:nvPr/>
            </p:nvSpPr>
            <p:spPr bwMode="auto">
              <a:xfrm>
                <a:off x="3708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6" name="Line 17"/>
              <p:cNvSpPr>
                <a:spLocks noChangeShapeType="1"/>
              </p:cNvSpPr>
              <p:nvPr/>
            </p:nvSpPr>
            <p:spPr bwMode="auto">
              <a:xfrm>
                <a:off x="4021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87" name="Rectangle 18"/>
              <p:cNvSpPr>
                <a:spLocks noChangeArrowheads="1"/>
              </p:cNvSpPr>
              <p:nvPr/>
            </p:nvSpPr>
            <p:spPr bwMode="auto">
              <a:xfrm>
                <a:off x="3708" y="155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l 19"/>
              <p:cNvSpPr>
                <a:spLocks noChangeArrowheads="1"/>
              </p:cNvSpPr>
              <p:nvPr/>
            </p:nvSpPr>
            <p:spPr bwMode="auto">
              <a:xfrm>
                <a:off x="3705" y="149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Oval 20"/>
              <p:cNvSpPr>
                <a:spLocks noChangeArrowheads="1"/>
              </p:cNvSpPr>
              <p:nvPr/>
            </p:nvSpPr>
            <p:spPr bwMode="auto">
              <a:xfrm>
                <a:off x="4391" y="1555"/>
                <a:ext cx="312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Line 21"/>
              <p:cNvSpPr>
                <a:spLocks noChangeShapeType="1"/>
              </p:cNvSpPr>
              <p:nvPr/>
            </p:nvSpPr>
            <p:spPr bwMode="auto">
              <a:xfrm>
                <a:off x="4391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1" name="Line 22"/>
              <p:cNvSpPr>
                <a:spLocks noChangeShapeType="1"/>
              </p:cNvSpPr>
              <p:nvPr/>
            </p:nvSpPr>
            <p:spPr bwMode="auto">
              <a:xfrm>
                <a:off x="4703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2" name="Rectangle 23"/>
              <p:cNvSpPr>
                <a:spLocks noChangeArrowheads="1"/>
              </p:cNvSpPr>
              <p:nvPr/>
            </p:nvSpPr>
            <p:spPr bwMode="auto">
              <a:xfrm>
                <a:off x="4391" y="1548"/>
                <a:ext cx="309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Oval 24"/>
              <p:cNvSpPr>
                <a:spLocks noChangeArrowheads="1"/>
              </p:cNvSpPr>
              <p:nvPr/>
            </p:nvSpPr>
            <p:spPr bwMode="auto">
              <a:xfrm>
                <a:off x="4394" y="1492"/>
                <a:ext cx="312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Oval 25"/>
              <p:cNvSpPr>
                <a:spLocks noChangeArrowheads="1"/>
              </p:cNvSpPr>
              <p:nvPr/>
            </p:nvSpPr>
            <p:spPr bwMode="auto">
              <a:xfrm>
                <a:off x="4401" y="224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Line 26"/>
              <p:cNvSpPr>
                <a:spLocks noChangeShapeType="1"/>
              </p:cNvSpPr>
              <p:nvPr/>
            </p:nvSpPr>
            <p:spPr bwMode="auto">
              <a:xfrm>
                <a:off x="4401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6" name="Line 27"/>
              <p:cNvSpPr>
                <a:spLocks noChangeShapeType="1"/>
              </p:cNvSpPr>
              <p:nvPr/>
            </p:nvSpPr>
            <p:spPr bwMode="auto">
              <a:xfrm>
                <a:off x="4714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97" name="Rectangle 28"/>
              <p:cNvSpPr>
                <a:spLocks noChangeArrowheads="1"/>
              </p:cNvSpPr>
              <p:nvPr/>
            </p:nvSpPr>
            <p:spPr bwMode="auto">
              <a:xfrm>
                <a:off x="4401" y="223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Oval 29"/>
              <p:cNvSpPr>
                <a:spLocks noChangeArrowheads="1"/>
              </p:cNvSpPr>
              <p:nvPr/>
            </p:nvSpPr>
            <p:spPr bwMode="auto">
              <a:xfrm>
                <a:off x="4398" y="218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Oval 30"/>
              <p:cNvSpPr>
                <a:spLocks noChangeArrowheads="1"/>
              </p:cNvSpPr>
              <p:nvPr/>
            </p:nvSpPr>
            <p:spPr bwMode="auto">
              <a:xfrm>
                <a:off x="4966" y="19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Line 31"/>
              <p:cNvSpPr>
                <a:spLocks noChangeShapeType="1"/>
              </p:cNvSpPr>
              <p:nvPr/>
            </p:nvSpPr>
            <p:spPr bwMode="auto">
              <a:xfrm>
                <a:off x="4966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1" name="Line 32"/>
              <p:cNvSpPr>
                <a:spLocks noChangeShapeType="1"/>
              </p:cNvSpPr>
              <p:nvPr/>
            </p:nvSpPr>
            <p:spPr bwMode="auto">
              <a:xfrm>
                <a:off x="5279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2" name="Rectangle 33"/>
              <p:cNvSpPr>
                <a:spLocks noChangeArrowheads="1"/>
              </p:cNvSpPr>
              <p:nvPr/>
            </p:nvSpPr>
            <p:spPr bwMode="auto">
              <a:xfrm>
                <a:off x="4966" y="18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Oval 34"/>
              <p:cNvSpPr>
                <a:spLocks noChangeArrowheads="1"/>
              </p:cNvSpPr>
              <p:nvPr/>
            </p:nvSpPr>
            <p:spPr bwMode="auto">
              <a:xfrm>
                <a:off x="4963" y="18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" name="Freeform 35"/>
              <p:cNvSpPr>
                <a:spLocks/>
              </p:cNvSpPr>
              <p:nvPr/>
            </p:nvSpPr>
            <p:spPr bwMode="auto">
              <a:xfrm>
                <a:off x="4557" y="1647"/>
                <a:ext cx="1" cy="522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5" name="Freeform 36"/>
              <p:cNvSpPr>
                <a:spLocks/>
              </p:cNvSpPr>
              <p:nvPr/>
            </p:nvSpPr>
            <p:spPr bwMode="auto">
              <a:xfrm>
                <a:off x="3864" y="1653"/>
                <a:ext cx="1" cy="53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  <a:gd name="T4" fmla="*/ 0 60000 65536"/>
                  <a:gd name="T5" fmla="*/ 0 60000 65536"/>
                  <a:gd name="T6" fmla="*/ 0 w 1"/>
                  <a:gd name="T7" fmla="*/ 0 h 537"/>
                  <a:gd name="T8" fmla="*/ 1 w 1"/>
                  <a:gd name="T9" fmla="*/ 537 h 5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6" name="Freeform 37"/>
              <p:cNvSpPr>
                <a:spLocks/>
              </p:cNvSpPr>
              <p:nvPr/>
            </p:nvSpPr>
            <p:spPr bwMode="auto">
              <a:xfrm>
                <a:off x="4029" y="1638"/>
                <a:ext cx="504" cy="600"/>
              </a:xfrm>
              <a:custGeom>
                <a:avLst/>
                <a:gdLst>
                  <a:gd name="T0" fmla="*/ 0 w 378"/>
                  <a:gd name="T1" fmla="*/ 600 h 174"/>
                  <a:gd name="T2" fmla="*/ 504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7" name="Freeform 38"/>
              <p:cNvSpPr>
                <a:spLocks/>
              </p:cNvSpPr>
              <p:nvPr/>
            </p:nvSpPr>
            <p:spPr bwMode="auto">
              <a:xfrm>
                <a:off x="4716" y="1986"/>
                <a:ext cx="366" cy="270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8" name="Freeform 39"/>
              <p:cNvSpPr>
                <a:spLocks/>
              </p:cNvSpPr>
              <p:nvPr/>
            </p:nvSpPr>
            <p:spPr bwMode="auto">
              <a:xfrm>
                <a:off x="4035" y="2268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09" name="Freeform 40"/>
              <p:cNvSpPr>
                <a:spLocks/>
              </p:cNvSpPr>
              <p:nvPr/>
            </p:nvSpPr>
            <p:spPr bwMode="auto">
              <a:xfrm>
                <a:off x="3444" y="1944"/>
                <a:ext cx="276" cy="264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0" name="Freeform 41"/>
              <p:cNvSpPr>
                <a:spLocks/>
              </p:cNvSpPr>
              <p:nvPr/>
            </p:nvSpPr>
            <p:spPr bwMode="auto">
              <a:xfrm>
                <a:off x="4029" y="1578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1" name="Freeform 42"/>
              <p:cNvSpPr>
                <a:spLocks/>
              </p:cNvSpPr>
              <p:nvPr/>
            </p:nvSpPr>
            <p:spPr bwMode="auto">
              <a:xfrm>
                <a:off x="4704" y="1575"/>
                <a:ext cx="396" cy="267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2" name="Freeform 43"/>
              <p:cNvSpPr>
                <a:spLocks/>
              </p:cNvSpPr>
              <p:nvPr/>
            </p:nvSpPr>
            <p:spPr bwMode="auto">
              <a:xfrm>
                <a:off x="3387" y="1146"/>
                <a:ext cx="1110" cy="645"/>
              </a:xfrm>
              <a:custGeom>
                <a:avLst/>
                <a:gdLst>
                  <a:gd name="T0" fmla="*/ 1110 w 1110"/>
                  <a:gd name="T1" fmla="*/ 342 h 645"/>
                  <a:gd name="T2" fmla="*/ 0 w 1110"/>
                  <a:gd name="T3" fmla="*/ 645 h 645"/>
                  <a:gd name="T4" fmla="*/ 0 60000 65536"/>
                  <a:gd name="T5" fmla="*/ 0 60000 65536"/>
                  <a:gd name="T6" fmla="*/ 0 w 1110"/>
                  <a:gd name="T7" fmla="*/ 0 h 645"/>
                  <a:gd name="T8" fmla="*/ 1110 w 1110"/>
                  <a:gd name="T9" fmla="*/ 645 h 6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10" h="645">
                    <a:moveTo>
                      <a:pt x="1110" y="342"/>
                    </a:moveTo>
                    <a:cubicBezTo>
                      <a:pt x="1104" y="0"/>
                      <a:pt x="21" y="63"/>
                      <a:pt x="0" y="645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pSp>
            <p:nvGrpSpPr>
              <p:cNvPr id="113" name="Group 44"/>
              <p:cNvGrpSpPr>
                <a:grpSpLocks/>
              </p:cNvGrpSpPr>
              <p:nvPr/>
            </p:nvGrpSpPr>
            <p:grpSpPr bwMode="auto">
              <a:xfrm>
                <a:off x="3261" y="1733"/>
                <a:ext cx="239" cy="271"/>
                <a:chOff x="2932" y="2414"/>
                <a:chExt cx="243" cy="271"/>
              </a:xfrm>
            </p:grpSpPr>
            <p:sp>
              <p:nvSpPr>
                <p:cNvPr id="129" name="Rectangle 4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4" name="Group 47"/>
              <p:cNvGrpSpPr>
                <a:grpSpLocks/>
              </p:cNvGrpSpPr>
              <p:nvPr/>
            </p:nvGrpSpPr>
            <p:grpSpPr bwMode="auto">
              <a:xfrm>
                <a:off x="4431" y="2117"/>
                <a:ext cx="239" cy="271"/>
                <a:chOff x="2932" y="2414"/>
                <a:chExt cx="243" cy="271"/>
              </a:xfrm>
            </p:grpSpPr>
            <p:sp>
              <p:nvSpPr>
                <p:cNvPr id="127" name="Rectangle 4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y</a:t>
                  </a:r>
                  <a:endParaRPr lang="en-US" altLang="zh-CN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5" name="Group 50"/>
              <p:cNvGrpSpPr>
                <a:grpSpLocks/>
              </p:cNvGrpSpPr>
              <p:nvPr/>
            </p:nvGrpSpPr>
            <p:grpSpPr bwMode="auto">
              <a:xfrm>
                <a:off x="3740" y="2084"/>
                <a:ext cx="270" cy="310"/>
                <a:chOff x="2917" y="2384"/>
                <a:chExt cx="271" cy="310"/>
              </a:xfrm>
            </p:grpSpPr>
            <p:sp>
              <p:nvSpPr>
                <p:cNvPr id="125" name="Rectangle 51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917" y="2384"/>
                  <a:ext cx="27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116" name="Group 53"/>
              <p:cNvGrpSpPr>
                <a:grpSpLocks/>
              </p:cNvGrpSpPr>
              <p:nvPr/>
            </p:nvGrpSpPr>
            <p:grpSpPr bwMode="auto">
              <a:xfrm>
                <a:off x="4411" y="1427"/>
                <a:ext cx="266" cy="271"/>
                <a:chOff x="2918" y="2414"/>
                <a:chExt cx="270" cy="271"/>
              </a:xfrm>
            </p:grpSpPr>
            <p:sp>
              <p:nvSpPr>
                <p:cNvPr id="123" name="Rectangle 5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918" y="2414"/>
                  <a:ext cx="27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w</a:t>
                  </a:r>
                  <a:endParaRPr lang="en-US" altLang="zh-CN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7" name="Group 56"/>
              <p:cNvGrpSpPr>
                <a:grpSpLocks/>
              </p:cNvGrpSpPr>
              <p:nvPr/>
            </p:nvGrpSpPr>
            <p:grpSpPr bwMode="auto">
              <a:xfrm>
                <a:off x="3742" y="1427"/>
                <a:ext cx="233" cy="271"/>
                <a:chOff x="2934" y="2414"/>
                <a:chExt cx="237" cy="271"/>
              </a:xfrm>
            </p:grpSpPr>
            <p:sp>
              <p:nvSpPr>
                <p:cNvPr id="121" name="Rectangle 5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934" y="2414"/>
                  <a:ext cx="23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v</a:t>
                  </a:r>
                  <a:endParaRPr lang="en-US" altLang="zh-CN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8" name="Group 59"/>
              <p:cNvGrpSpPr>
                <a:grpSpLocks/>
              </p:cNvGrpSpPr>
              <p:nvPr/>
            </p:nvGrpSpPr>
            <p:grpSpPr bwMode="auto">
              <a:xfrm>
                <a:off x="4990" y="1745"/>
                <a:ext cx="258" cy="310"/>
                <a:chOff x="2921" y="2384"/>
                <a:chExt cx="261" cy="310"/>
              </a:xfrm>
            </p:grpSpPr>
            <p:sp>
              <p:nvSpPr>
                <p:cNvPr id="119" name="Rectangle 6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921" y="2384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</p:grpSp>
        <p:grpSp>
          <p:nvGrpSpPr>
            <p:cNvPr id="131" name="组合 130"/>
            <p:cNvGrpSpPr/>
            <p:nvPr/>
          </p:nvGrpSpPr>
          <p:grpSpPr>
            <a:xfrm>
              <a:off x="5344478" y="1342864"/>
              <a:ext cx="2713061" cy="2176523"/>
              <a:chOff x="5402140" y="1341276"/>
              <a:chExt cx="2713061" cy="2176523"/>
            </a:xfrm>
          </p:grpSpPr>
          <p:sp>
            <p:nvSpPr>
              <p:cNvPr id="132" name="Text Box 62"/>
              <p:cNvSpPr txBox="1">
                <a:spLocks noChangeArrowheads="1"/>
              </p:cNvSpPr>
              <p:nvPr/>
            </p:nvSpPr>
            <p:spPr bwMode="auto">
              <a:xfrm>
                <a:off x="5522880" y="2060413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2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Text Box 63"/>
              <p:cNvSpPr txBox="1">
                <a:spLocks noChangeArrowheads="1"/>
              </p:cNvSpPr>
              <p:nvPr/>
            </p:nvSpPr>
            <p:spPr bwMode="auto">
              <a:xfrm>
                <a:off x="6075329" y="2408076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2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Text Box 64"/>
              <p:cNvSpPr txBox="1">
                <a:spLocks noChangeArrowheads="1"/>
              </p:cNvSpPr>
              <p:nvPr/>
            </p:nvSpPr>
            <p:spPr bwMode="auto">
              <a:xfrm>
                <a:off x="5402140" y="2746214"/>
                <a:ext cx="350952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1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5" name="Text Box 65"/>
              <p:cNvSpPr txBox="1">
                <a:spLocks noChangeArrowheads="1"/>
              </p:cNvSpPr>
              <p:nvPr/>
            </p:nvSpPr>
            <p:spPr bwMode="auto">
              <a:xfrm>
                <a:off x="6684929" y="2555714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3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6" name="Text Box 66"/>
              <p:cNvSpPr txBox="1">
                <a:spLocks noChangeArrowheads="1"/>
              </p:cNvSpPr>
              <p:nvPr/>
            </p:nvSpPr>
            <p:spPr bwMode="auto">
              <a:xfrm>
                <a:off x="6602289" y="3117690"/>
                <a:ext cx="350952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1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Text Box 67"/>
              <p:cNvSpPr txBox="1">
                <a:spLocks noChangeArrowheads="1"/>
              </p:cNvSpPr>
              <p:nvPr/>
            </p:nvSpPr>
            <p:spPr bwMode="auto">
              <a:xfrm>
                <a:off x="7173790" y="2436651"/>
                <a:ext cx="350952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1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Text Box 68"/>
              <p:cNvSpPr txBox="1">
                <a:spLocks noChangeArrowheads="1"/>
              </p:cNvSpPr>
              <p:nvPr/>
            </p:nvSpPr>
            <p:spPr bwMode="auto">
              <a:xfrm>
                <a:off x="7727916" y="2855751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2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Text Box 69"/>
              <p:cNvSpPr txBox="1">
                <a:spLocks noChangeArrowheads="1"/>
              </p:cNvSpPr>
              <p:nvPr/>
            </p:nvSpPr>
            <p:spPr bwMode="auto">
              <a:xfrm>
                <a:off x="7685054" y="2003264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5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Text Box 70"/>
              <p:cNvSpPr txBox="1">
                <a:spLocks noChangeArrowheads="1"/>
              </p:cNvSpPr>
              <p:nvPr/>
            </p:nvSpPr>
            <p:spPr bwMode="auto">
              <a:xfrm>
                <a:off x="6518241" y="1765139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3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Text Box 71"/>
              <p:cNvSpPr txBox="1">
                <a:spLocks noChangeArrowheads="1"/>
              </p:cNvSpPr>
              <p:nvPr/>
            </p:nvSpPr>
            <p:spPr bwMode="auto">
              <a:xfrm>
                <a:off x="5961029" y="1341276"/>
                <a:ext cx="387285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 eaLnBrk="0" hangingPunct="0"/>
                <a:r>
                  <a:rPr lang="en-US" altLang="zh-CN" sz="135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5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888893" y="1020289"/>
            <a:ext cx="2678906" cy="1677590"/>
            <a:chOff x="5156448" y="1495264"/>
            <a:chExt cx="3571875" cy="2236787"/>
          </a:xfrm>
        </p:grpSpPr>
        <p:grpSp>
          <p:nvGrpSpPr>
            <p:cNvPr id="142" name="Group 2"/>
            <p:cNvGrpSpPr>
              <a:grpSpLocks/>
            </p:cNvGrpSpPr>
            <p:nvPr/>
          </p:nvGrpSpPr>
          <p:grpSpPr bwMode="auto">
            <a:xfrm>
              <a:off x="5156448" y="1495264"/>
              <a:ext cx="3571875" cy="2236787"/>
              <a:chOff x="3162" y="1071"/>
              <a:chExt cx="2250" cy="1409"/>
            </a:xfrm>
          </p:grpSpPr>
          <p:sp>
            <p:nvSpPr>
              <p:cNvPr id="143" name="Freeform 3"/>
              <p:cNvSpPr>
                <a:spLocks/>
              </p:cNvSpPr>
              <p:nvPr/>
            </p:nvSpPr>
            <p:spPr bwMode="auto">
              <a:xfrm>
                <a:off x="3162" y="1071"/>
                <a:ext cx="2250" cy="1409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4" name="Freeform 4"/>
              <p:cNvSpPr>
                <a:spLocks/>
              </p:cNvSpPr>
              <p:nvPr/>
            </p:nvSpPr>
            <p:spPr bwMode="auto">
              <a:xfrm>
                <a:off x="3498" y="1620"/>
                <a:ext cx="342" cy="186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5" name="Oval 5"/>
              <p:cNvSpPr>
                <a:spLocks noChangeArrowheads="1"/>
              </p:cNvSpPr>
              <p:nvPr/>
            </p:nvSpPr>
            <p:spPr bwMode="auto">
              <a:xfrm>
                <a:off x="3238" y="186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6" name="Line 6"/>
              <p:cNvSpPr>
                <a:spLocks noChangeShapeType="1"/>
              </p:cNvSpPr>
              <p:nvPr/>
            </p:nvSpPr>
            <p:spPr bwMode="auto">
              <a:xfrm>
                <a:off x="3238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7" name="Line 7"/>
              <p:cNvSpPr>
                <a:spLocks noChangeShapeType="1"/>
              </p:cNvSpPr>
              <p:nvPr/>
            </p:nvSpPr>
            <p:spPr bwMode="auto">
              <a:xfrm>
                <a:off x="3551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48" name="Rectangle 8"/>
              <p:cNvSpPr>
                <a:spLocks noChangeArrowheads="1"/>
              </p:cNvSpPr>
              <p:nvPr/>
            </p:nvSpPr>
            <p:spPr bwMode="auto">
              <a:xfrm>
                <a:off x="3238" y="185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Oval 9"/>
              <p:cNvSpPr>
                <a:spLocks noChangeArrowheads="1"/>
              </p:cNvSpPr>
              <p:nvPr/>
            </p:nvSpPr>
            <p:spPr bwMode="auto">
              <a:xfrm>
                <a:off x="3235" y="179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0" name="Oval 10"/>
              <p:cNvSpPr>
                <a:spLocks noChangeArrowheads="1"/>
              </p:cNvSpPr>
              <p:nvPr/>
            </p:nvSpPr>
            <p:spPr bwMode="auto">
              <a:xfrm>
                <a:off x="3712" y="224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Line 11"/>
              <p:cNvSpPr>
                <a:spLocks noChangeShapeType="1"/>
              </p:cNvSpPr>
              <p:nvPr/>
            </p:nvSpPr>
            <p:spPr bwMode="auto">
              <a:xfrm>
                <a:off x="3712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2" name="Line 12"/>
              <p:cNvSpPr>
                <a:spLocks noChangeShapeType="1"/>
              </p:cNvSpPr>
              <p:nvPr/>
            </p:nvSpPr>
            <p:spPr bwMode="auto">
              <a:xfrm>
                <a:off x="4025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3" name="Rectangle 13"/>
              <p:cNvSpPr>
                <a:spLocks noChangeArrowheads="1"/>
              </p:cNvSpPr>
              <p:nvPr/>
            </p:nvSpPr>
            <p:spPr bwMode="auto">
              <a:xfrm>
                <a:off x="3712" y="224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Oval 14"/>
              <p:cNvSpPr>
                <a:spLocks noChangeArrowheads="1"/>
              </p:cNvSpPr>
              <p:nvPr/>
            </p:nvSpPr>
            <p:spPr bwMode="auto">
              <a:xfrm>
                <a:off x="3709" y="218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Oval 15"/>
              <p:cNvSpPr>
                <a:spLocks noChangeArrowheads="1"/>
              </p:cNvSpPr>
              <p:nvPr/>
            </p:nvSpPr>
            <p:spPr bwMode="auto">
              <a:xfrm>
                <a:off x="3708" y="155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Line 16"/>
              <p:cNvSpPr>
                <a:spLocks noChangeShapeType="1"/>
              </p:cNvSpPr>
              <p:nvPr/>
            </p:nvSpPr>
            <p:spPr bwMode="auto">
              <a:xfrm>
                <a:off x="3708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7" name="Line 17"/>
              <p:cNvSpPr>
                <a:spLocks noChangeShapeType="1"/>
              </p:cNvSpPr>
              <p:nvPr/>
            </p:nvSpPr>
            <p:spPr bwMode="auto">
              <a:xfrm>
                <a:off x="4021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58" name="Rectangle 18"/>
              <p:cNvSpPr>
                <a:spLocks noChangeArrowheads="1"/>
              </p:cNvSpPr>
              <p:nvPr/>
            </p:nvSpPr>
            <p:spPr bwMode="auto">
              <a:xfrm>
                <a:off x="3708" y="155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9" name="Oval 19"/>
              <p:cNvSpPr>
                <a:spLocks noChangeArrowheads="1"/>
              </p:cNvSpPr>
              <p:nvPr/>
            </p:nvSpPr>
            <p:spPr bwMode="auto">
              <a:xfrm>
                <a:off x="3705" y="149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0" name="Oval 20"/>
              <p:cNvSpPr>
                <a:spLocks noChangeArrowheads="1"/>
              </p:cNvSpPr>
              <p:nvPr/>
            </p:nvSpPr>
            <p:spPr bwMode="auto">
              <a:xfrm>
                <a:off x="4391" y="1555"/>
                <a:ext cx="312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Line 21"/>
              <p:cNvSpPr>
                <a:spLocks noChangeShapeType="1"/>
              </p:cNvSpPr>
              <p:nvPr/>
            </p:nvSpPr>
            <p:spPr bwMode="auto">
              <a:xfrm>
                <a:off x="4391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2" name="Line 22"/>
              <p:cNvSpPr>
                <a:spLocks noChangeShapeType="1"/>
              </p:cNvSpPr>
              <p:nvPr/>
            </p:nvSpPr>
            <p:spPr bwMode="auto">
              <a:xfrm>
                <a:off x="4703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3" name="Rectangle 23"/>
              <p:cNvSpPr>
                <a:spLocks noChangeArrowheads="1"/>
              </p:cNvSpPr>
              <p:nvPr/>
            </p:nvSpPr>
            <p:spPr bwMode="auto">
              <a:xfrm>
                <a:off x="4391" y="1548"/>
                <a:ext cx="309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Oval 24"/>
              <p:cNvSpPr>
                <a:spLocks noChangeArrowheads="1"/>
              </p:cNvSpPr>
              <p:nvPr/>
            </p:nvSpPr>
            <p:spPr bwMode="auto">
              <a:xfrm>
                <a:off x="4394" y="1492"/>
                <a:ext cx="312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Oval 25"/>
              <p:cNvSpPr>
                <a:spLocks noChangeArrowheads="1"/>
              </p:cNvSpPr>
              <p:nvPr/>
            </p:nvSpPr>
            <p:spPr bwMode="auto">
              <a:xfrm>
                <a:off x="4401" y="224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Line 26"/>
              <p:cNvSpPr>
                <a:spLocks noChangeShapeType="1"/>
              </p:cNvSpPr>
              <p:nvPr/>
            </p:nvSpPr>
            <p:spPr bwMode="auto">
              <a:xfrm>
                <a:off x="4401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7" name="Line 27"/>
              <p:cNvSpPr>
                <a:spLocks noChangeShapeType="1"/>
              </p:cNvSpPr>
              <p:nvPr/>
            </p:nvSpPr>
            <p:spPr bwMode="auto">
              <a:xfrm>
                <a:off x="4714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68" name="Rectangle 28"/>
              <p:cNvSpPr>
                <a:spLocks noChangeArrowheads="1"/>
              </p:cNvSpPr>
              <p:nvPr/>
            </p:nvSpPr>
            <p:spPr bwMode="auto">
              <a:xfrm>
                <a:off x="4401" y="223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Oval 29"/>
              <p:cNvSpPr>
                <a:spLocks noChangeArrowheads="1"/>
              </p:cNvSpPr>
              <p:nvPr/>
            </p:nvSpPr>
            <p:spPr bwMode="auto">
              <a:xfrm>
                <a:off x="4398" y="218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Oval 30"/>
              <p:cNvSpPr>
                <a:spLocks noChangeArrowheads="1"/>
              </p:cNvSpPr>
              <p:nvPr/>
            </p:nvSpPr>
            <p:spPr bwMode="auto">
              <a:xfrm>
                <a:off x="4966" y="19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Line 31"/>
              <p:cNvSpPr>
                <a:spLocks noChangeShapeType="1"/>
              </p:cNvSpPr>
              <p:nvPr/>
            </p:nvSpPr>
            <p:spPr bwMode="auto">
              <a:xfrm>
                <a:off x="4966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2" name="Line 32"/>
              <p:cNvSpPr>
                <a:spLocks noChangeShapeType="1"/>
              </p:cNvSpPr>
              <p:nvPr/>
            </p:nvSpPr>
            <p:spPr bwMode="auto">
              <a:xfrm>
                <a:off x="5279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3" name="Rectangle 33"/>
              <p:cNvSpPr>
                <a:spLocks noChangeArrowheads="1"/>
              </p:cNvSpPr>
              <p:nvPr/>
            </p:nvSpPr>
            <p:spPr bwMode="auto">
              <a:xfrm>
                <a:off x="4966" y="18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val 34"/>
              <p:cNvSpPr>
                <a:spLocks noChangeArrowheads="1"/>
              </p:cNvSpPr>
              <p:nvPr/>
            </p:nvSpPr>
            <p:spPr bwMode="auto">
              <a:xfrm>
                <a:off x="4963" y="18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Freeform 35"/>
              <p:cNvSpPr>
                <a:spLocks/>
              </p:cNvSpPr>
              <p:nvPr/>
            </p:nvSpPr>
            <p:spPr bwMode="auto">
              <a:xfrm>
                <a:off x="4557" y="1647"/>
                <a:ext cx="1" cy="522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6" name="Freeform 38"/>
              <p:cNvSpPr>
                <a:spLocks/>
              </p:cNvSpPr>
              <p:nvPr/>
            </p:nvSpPr>
            <p:spPr bwMode="auto">
              <a:xfrm>
                <a:off x="4716" y="1986"/>
                <a:ext cx="366" cy="270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7" name="Freeform 39"/>
              <p:cNvSpPr>
                <a:spLocks/>
              </p:cNvSpPr>
              <p:nvPr/>
            </p:nvSpPr>
            <p:spPr bwMode="auto">
              <a:xfrm>
                <a:off x="4035" y="2268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78" name="Freeform 40"/>
              <p:cNvSpPr>
                <a:spLocks/>
              </p:cNvSpPr>
              <p:nvPr/>
            </p:nvSpPr>
            <p:spPr bwMode="auto">
              <a:xfrm>
                <a:off x="3444" y="1944"/>
                <a:ext cx="276" cy="264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pSp>
            <p:nvGrpSpPr>
              <p:cNvPr id="179" name="Group 44"/>
              <p:cNvGrpSpPr>
                <a:grpSpLocks/>
              </p:cNvGrpSpPr>
              <p:nvPr/>
            </p:nvGrpSpPr>
            <p:grpSpPr bwMode="auto">
              <a:xfrm>
                <a:off x="3261" y="1733"/>
                <a:ext cx="239" cy="271"/>
                <a:chOff x="2932" y="2414"/>
                <a:chExt cx="243" cy="271"/>
              </a:xfrm>
            </p:grpSpPr>
            <p:sp>
              <p:nvSpPr>
                <p:cNvPr id="195" name="Rectangle 4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0" name="Group 47"/>
              <p:cNvGrpSpPr>
                <a:grpSpLocks/>
              </p:cNvGrpSpPr>
              <p:nvPr/>
            </p:nvGrpSpPr>
            <p:grpSpPr bwMode="auto">
              <a:xfrm>
                <a:off x="4431" y="2117"/>
                <a:ext cx="239" cy="271"/>
                <a:chOff x="2932" y="2414"/>
                <a:chExt cx="243" cy="271"/>
              </a:xfrm>
            </p:grpSpPr>
            <p:sp>
              <p:nvSpPr>
                <p:cNvPr id="193" name="Rectangle 4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y</a:t>
                  </a:r>
                  <a:endParaRPr lang="en-US" altLang="zh-CN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1" name="Group 50"/>
              <p:cNvGrpSpPr>
                <a:grpSpLocks/>
              </p:cNvGrpSpPr>
              <p:nvPr/>
            </p:nvGrpSpPr>
            <p:grpSpPr bwMode="auto">
              <a:xfrm>
                <a:off x="3740" y="2084"/>
                <a:ext cx="270" cy="310"/>
                <a:chOff x="2917" y="2384"/>
                <a:chExt cx="271" cy="310"/>
              </a:xfrm>
            </p:grpSpPr>
            <p:sp>
              <p:nvSpPr>
                <p:cNvPr id="191" name="Rectangle 51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917" y="2384"/>
                  <a:ext cx="27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182" name="Group 53"/>
              <p:cNvGrpSpPr>
                <a:grpSpLocks/>
              </p:cNvGrpSpPr>
              <p:nvPr/>
            </p:nvGrpSpPr>
            <p:grpSpPr bwMode="auto">
              <a:xfrm>
                <a:off x="4411" y="1427"/>
                <a:ext cx="266" cy="271"/>
                <a:chOff x="2918" y="2414"/>
                <a:chExt cx="270" cy="271"/>
              </a:xfrm>
            </p:grpSpPr>
            <p:sp>
              <p:nvSpPr>
                <p:cNvPr id="189" name="Rectangle 5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918" y="2414"/>
                  <a:ext cx="27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w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3" name="Group 56"/>
              <p:cNvGrpSpPr>
                <a:grpSpLocks/>
              </p:cNvGrpSpPr>
              <p:nvPr/>
            </p:nvGrpSpPr>
            <p:grpSpPr bwMode="auto">
              <a:xfrm>
                <a:off x="3742" y="1427"/>
                <a:ext cx="233" cy="271"/>
                <a:chOff x="2934" y="2414"/>
                <a:chExt cx="237" cy="271"/>
              </a:xfrm>
            </p:grpSpPr>
            <p:sp>
              <p:nvSpPr>
                <p:cNvPr id="187" name="Rectangle 5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934" y="2414"/>
                  <a:ext cx="23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v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4" name="Group 59"/>
              <p:cNvGrpSpPr>
                <a:grpSpLocks/>
              </p:cNvGrpSpPr>
              <p:nvPr/>
            </p:nvGrpSpPr>
            <p:grpSpPr bwMode="auto">
              <a:xfrm>
                <a:off x="4990" y="1745"/>
                <a:ext cx="258" cy="310"/>
                <a:chOff x="2921" y="2384"/>
                <a:chExt cx="261" cy="310"/>
              </a:xfrm>
            </p:grpSpPr>
            <p:sp>
              <p:nvSpPr>
                <p:cNvPr id="185" name="Rectangle 6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921" y="2384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</p:grpSp>
        <p:sp>
          <p:nvSpPr>
            <p:cNvPr id="197" name="Text Box 62"/>
            <p:cNvSpPr txBox="1">
              <a:spLocks noChangeArrowheads="1"/>
            </p:cNvSpPr>
            <p:nvPr/>
          </p:nvSpPr>
          <p:spPr bwMode="auto">
            <a:xfrm>
              <a:off x="5617617" y="221440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8" name="Text Box 64"/>
            <p:cNvSpPr txBox="1">
              <a:spLocks noChangeArrowheads="1"/>
            </p:cNvSpPr>
            <p:nvPr/>
          </p:nvSpPr>
          <p:spPr bwMode="auto">
            <a:xfrm>
              <a:off x="5496877" y="2900202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9" name="Text Box 66"/>
            <p:cNvSpPr txBox="1">
              <a:spLocks noChangeArrowheads="1"/>
            </p:cNvSpPr>
            <p:nvPr/>
          </p:nvSpPr>
          <p:spPr bwMode="auto">
            <a:xfrm>
              <a:off x="6697028" y="3271678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0" name="Text Box 67"/>
            <p:cNvSpPr txBox="1">
              <a:spLocks noChangeArrowheads="1"/>
            </p:cNvSpPr>
            <p:nvPr/>
          </p:nvSpPr>
          <p:spPr bwMode="auto">
            <a:xfrm>
              <a:off x="7268528" y="2590639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01" name="Text Box 68"/>
            <p:cNvSpPr txBox="1">
              <a:spLocks noChangeArrowheads="1"/>
            </p:cNvSpPr>
            <p:nvPr/>
          </p:nvSpPr>
          <p:spPr bwMode="auto">
            <a:xfrm>
              <a:off x="7822655" y="30097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5529619" y="3351535"/>
            <a:ext cx="1510733" cy="1380455"/>
            <a:chOff x="5848826" y="4468714"/>
            <a:chExt cx="2014310" cy="1840606"/>
          </a:xfrm>
        </p:grpSpPr>
        <p:sp>
          <p:nvSpPr>
            <p:cNvPr id="217" name="矩形 216"/>
            <p:cNvSpPr/>
            <p:nvPr/>
          </p:nvSpPr>
          <p:spPr>
            <a:xfrm>
              <a:off x="5848826" y="4468714"/>
              <a:ext cx="2014310" cy="1840606"/>
            </a:xfrm>
            <a:prstGeom prst="rect">
              <a:avLst/>
            </a:prstGeom>
            <a:solidFill>
              <a:srgbClr val="FFDDD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02" name="Group 58"/>
            <p:cNvGrpSpPr>
              <a:grpSpLocks/>
            </p:cNvGrpSpPr>
            <p:nvPr/>
          </p:nvGrpSpPr>
          <p:grpSpPr bwMode="auto">
            <a:xfrm>
              <a:off x="5873061" y="4468715"/>
              <a:ext cx="1886778" cy="1816712"/>
              <a:chOff x="259" y="2771"/>
              <a:chExt cx="1508" cy="1452"/>
            </a:xfrm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</p:grpSpPr>
          <p:sp>
            <p:nvSpPr>
              <p:cNvPr id="203" name="Line 59"/>
              <p:cNvSpPr>
                <a:spLocks noChangeShapeType="1"/>
              </p:cNvSpPr>
              <p:nvPr/>
            </p:nvSpPr>
            <p:spPr bwMode="auto">
              <a:xfrm>
                <a:off x="1152" y="2880"/>
                <a:ext cx="8" cy="1322"/>
              </a:xfrm>
              <a:prstGeom prst="line">
                <a:avLst/>
              </a:prstGeom>
              <a:noFill/>
              <a:ln w="9525">
                <a:noFill/>
                <a:round/>
                <a:headEnd/>
                <a:tailEnd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04" name="Line 60"/>
              <p:cNvSpPr>
                <a:spLocks noChangeShapeType="1"/>
              </p:cNvSpPr>
              <p:nvPr/>
            </p:nvSpPr>
            <p:spPr bwMode="auto">
              <a:xfrm>
                <a:off x="357" y="3058"/>
                <a:ext cx="1363" cy="0"/>
              </a:xfrm>
              <a:prstGeom prst="line">
                <a:avLst/>
              </a:prstGeom>
              <a:noFill/>
              <a:ln w="9525">
                <a:noFill/>
                <a:round/>
                <a:headEnd/>
                <a:tailEnd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05" name="Text Box 61"/>
              <p:cNvSpPr txBox="1">
                <a:spLocks noChangeArrowheads="1"/>
              </p:cNvSpPr>
              <p:nvPr/>
            </p:nvSpPr>
            <p:spPr bwMode="auto">
              <a:xfrm>
                <a:off x="883" y="3063"/>
                <a:ext cx="267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</a:p>
            </p:txBody>
          </p:sp>
          <p:sp>
            <p:nvSpPr>
              <p:cNvPr id="206" name="Text Box 62"/>
              <p:cNvSpPr txBox="1">
                <a:spLocks noChangeArrowheads="1"/>
              </p:cNvSpPr>
              <p:nvPr/>
            </p:nvSpPr>
            <p:spPr bwMode="auto">
              <a:xfrm>
                <a:off x="876" y="3250"/>
                <a:ext cx="282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207" name="Text Box 63"/>
              <p:cNvSpPr txBox="1">
                <a:spLocks noChangeArrowheads="1"/>
              </p:cNvSpPr>
              <p:nvPr/>
            </p:nvSpPr>
            <p:spPr bwMode="auto">
              <a:xfrm>
                <a:off x="890" y="3485"/>
                <a:ext cx="272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208" name="Text Box 64"/>
              <p:cNvSpPr txBox="1">
                <a:spLocks noChangeArrowheads="1"/>
              </p:cNvSpPr>
              <p:nvPr/>
            </p:nvSpPr>
            <p:spPr bwMode="auto">
              <a:xfrm>
                <a:off x="875" y="3720"/>
                <a:ext cx="294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</a:p>
            </p:txBody>
          </p:sp>
          <p:sp>
            <p:nvSpPr>
              <p:cNvPr id="209" name="Text Box 65"/>
              <p:cNvSpPr txBox="1">
                <a:spLocks noChangeArrowheads="1"/>
              </p:cNvSpPr>
              <p:nvPr/>
            </p:nvSpPr>
            <p:spPr bwMode="auto">
              <a:xfrm>
                <a:off x="884" y="3946"/>
                <a:ext cx="274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210" name="Text Box 66"/>
              <p:cNvSpPr txBox="1">
                <a:spLocks noChangeArrowheads="1"/>
              </p:cNvSpPr>
              <p:nvPr/>
            </p:nvSpPr>
            <p:spPr bwMode="auto">
              <a:xfrm>
                <a:off x="1248" y="3047"/>
                <a:ext cx="487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050" dirty="0" err="1">
                    <a:latin typeface="Comic Sans MS" panose="030F0702030302020204" pitchFamily="66" charset="0"/>
                    <a:cs typeface="Arial" panose="020B0604020202020204" pitchFamily="34" charset="0"/>
                  </a:rPr>
                  <a:t>u,v</a:t>
                </a:r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11" name="Text Box 67"/>
              <p:cNvSpPr txBox="1">
                <a:spLocks noChangeArrowheads="1"/>
              </p:cNvSpPr>
              <p:nvPr/>
            </p:nvSpPr>
            <p:spPr bwMode="auto">
              <a:xfrm>
                <a:off x="1249" y="3249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050" dirty="0" err="1">
                    <a:latin typeface="Comic Sans MS" panose="030F0702030302020204" pitchFamily="66" charset="0"/>
                    <a:cs typeface="Arial" panose="020B0604020202020204" pitchFamily="34" charset="0"/>
                  </a:rPr>
                  <a:t>u,x</a:t>
                </a:r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12" name="Text Box 68"/>
              <p:cNvSpPr txBox="1">
                <a:spLocks noChangeArrowheads="1"/>
              </p:cNvSpPr>
              <p:nvPr/>
            </p:nvSpPr>
            <p:spPr bwMode="auto">
              <a:xfrm>
                <a:off x="1248" y="3500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050" dirty="0" err="1">
                    <a:latin typeface="Comic Sans MS" panose="030F0702030302020204" pitchFamily="66" charset="0"/>
                    <a:cs typeface="Arial" panose="020B0604020202020204" pitchFamily="34" charset="0"/>
                  </a:rPr>
                  <a:t>u,x</a:t>
                </a:r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13" name="Text Box 69"/>
              <p:cNvSpPr txBox="1">
                <a:spLocks noChangeArrowheads="1"/>
              </p:cNvSpPr>
              <p:nvPr/>
            </p:nvSpPr>
            <p:spPr bwMode="auto">
              <a:xfrm>
                <a:off x="1264" y="3718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(u,x)</a:t>
                </a:r>
              </a:p>
            </p:txBody>
          </p:sp>
          <p:sp>
            <p:nvSpPr>
              <p:cNvPr id="214" name="Text Box 70"/>
              <p:cNvSpPr txBox="1">
                <a:spLocks noChangeArrowheads="1"/>
              </p:cNvSpPr>
              <p:nvPr/>
            </p:nvSpPr>
            <p:spPr bwMode="auto">
              <a:xfrm>
                <a:off x="1254" y="3952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(u,x)</a:t>
                </a:r>
              </a:p>
            </p:txBody>
          </p:sp>
          <p:sp>
            <p:nvSpPr>
              <p:cNvPr id="215" name="Text Box 71"/>
              <p:cNvSpPr txBox="1">
                <a:spLocks noChangeArrowheads="1"/>
              </p:cNvSpPr>
              <p:nvPr/>
            </p:nvSpPr>
            <p:spPr bwMode="auto">
              <a:xfrm>
                <a:off x="259" y="2771"/>
                <a:ext cx="947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destination</a:t>
                </a:r>
              </a:p>
            </p:txBody>
          </p:sp>
          <p:sp>
            <p:nvSpPr>
              <p:cNvPr id="216" name="Text Box 72"/>
              <p:cNvSpPr txBox="1">
                <a:spLocks noChangeArrowheads="1"/>
              </p:cNvSpPr>
              <p:nvPr/>
            </p:nvSpPr>
            <p:spPr bwMode="auto">
              <a:xfrm>
                <a:off x="1232" y="2794"/>
                <a:ext cx="429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link</a:t>
                </a:r>
                <a:endPara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9" name="下箭头 218"/>
          <p:cNvSpPr/>
          <p:nvPr/>
        </p:nvSpPr>
        <p:spPr>
          <a:xfrm>
            <a:off x="6138174" y="2949792"/>
            <a:ext cx="200025" cy="216024"/>
          </a:xfrm>
          <a:prstGeom prst="downArrow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1" name="灯片编号占位符 2">
            <a:extLst>
              <a:ext uri="{FF2B5EF4-FFF2-40B4-BE49-F238E27FC236}">
                <a16:creationId xmlns:a16="http://schemas.microsoft.com/office/drawing/2014/main" id="{3182241B-9AD9-4A7B-AE91-4EC96E67433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222" name="AutoShape 5">
            <a:extLst>
              <a:ext uri="{FF2B5EF4-FFF2-40B4-BE49-F238E27FC236}">
                <a16:creationId xmlns:a16="http://schemas.microsoft.com/office/drawing/2014/main" id="{A0DDD811-FF0F-40C5-BB8B-30767405E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2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标记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:</a:t>
            </a:r>
          </a:p>
          <a:p>
            <a:pPr lvl="2"/>
            <a:r>
              <a:rPr lang="en-US" altLang="zh-CN" dirty="0">
                <a:solidFill>
                  <a:srgbClr val="0066CC"/>
                </a:solidFill>
                <a:effectLst/>
              </a:rPr>
              <a:t>c(x, y): x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y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链路的费用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; </a:t>
            </a: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如果</a:t>
            </a:r>
            <a:r>
              <a:rPr lang="en-US" altLang="zh-CN" dirty="0">
                <a:solidFill>
                  <a:srgbClr val="0066CC"/>
                </a:solidFill>
              </a:rPr>
              <a:t>x</a:t>
            </a:r>
            <a:r>
              <a:rPr lang="zh-CN" altLang="en-US" dirty="0">
                <a:solidFill>
                  <a:srgbClr val="0066CC"/>
                </a:solidFill>
              </a:rPr>
              <a:t>和</a:t>
            </a:r>
            <a:r>
              <a:rPr lang="en-US" altLang="zh-CN" dirty="0">
                <a:solidFill>
                  <a:srgbClr val="0066CC"/>
                </a:solidFill>
              </a:rPr>
              <a:t>y</a:t>
            </a:r>
            <a:r>
              <a:rPr lang="zh-CN" altLang="en-US" dirty="0">
                <a:solidFill>
                  <a:srgbClr val="0066CC"/>
                </a:solidFill>
              </a:rPr>
              <a:t>不是邻居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则</a:t>
            </a:r>
            <a:r>
              <a:rPr lang="en-US" altLang="zh-CN" dirty="0">
                <a:solidFill>
                  <a:srgbClr val="0066CC"/>
                </a:solidFill>
              </a:rPr>
              <a:t>c(x, y) = ∞</a:t>
            </a:r>
          </a:p>
          <a:p>
            <a:pPr lvl="2"/>
            <a:r>
              <a:rPr lang="en-US" altLang="zh-CN" dirty="0">
                <a:solidFill>
                  <a:srgbClr val="0066CC"/>
                </a:solidFill>
                <a:effectLst/>
              </a:rPr>
              <a:t>D(v):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在当前迭代中，从源结点到目标结点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v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的最低费用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rgbClr val="0066CC"/>
                </a:solidFill>
                <a:effectLst/>
              </a:rPr>
              <a:t>p(v):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从源到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v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沿着当前最“短”路径中，</a:t>
            </a:r>
            <a:r>
              <a:rPr lang="en-US" altLang="zh-CN" dirty="0">
                <a:solidFill>
                  <a:srgbClr val="0066CC"/>
                </a:solidFill>
              </a:rPr>
              <a:t>v</a:t>
            </a:r>
            <a:r>
              <a:rPr lang="zh-CN" altLang="en-US" dirty="0">
                <a:solidFill>
                  <a:srgbClr val="0066CC"/>
                </a:solidFill>
              </a:rPr>
              <a:t>的前置结点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rgbClr val="0066CC"/>
                </a:solidFill>
                <a:effectLst/>
              </a:rPr>
              <a:t>N’: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结点子集，如果从源到</a:t>
            </a:r>
            <a:r>
              <a:rPr lang="en-US" altLang="zh-CN" dirty="0">
                <a:solidFill>
                  <a:srgbClr val="0066CC"/>
                </a:solidFill>
              </a:rPr>
              <a:t>v</a:t>
            </a:r>
            <a:r>
              <a:rPr lang="zh-CN" altLang="en-US" dirty="0">
                <a:solidFill>
                  <a:srgbClr val="0066CC"/>
                </a:solidFill>
              </a:rPr>
              <a:t>的最短路径已确知，</a:t>
            </a:r>
            <a:r>
              <a:rPr lang="en-US" altLang="zh-CN" dirty="0">
                <a:solidFill>
                  <a:srgbClr val="0066CC"/>
                </a:solidFill>
              </a:rPr>
              <a:t>v</a:t>
            </a:r>
            <a:r>
              <a:rPr lang="zh-CN" altLang="en-US" dirty="0">
                <a:solidFill>
                  <a:srgbClr val="0066CC"/>
                </a:solidFill>
              </a:rPr>
              <a:t>在</a:t>
            </a:r>
            <a:r>
              <a:rPr lang="en-US" altLang="zh-CN" dirty="0">
                <a:solidFill>
                  <a:srgbClr val="0066CC"/>
                </a:solidFill>
              </a:rPr>
              <a:t>N’</a:t>
            </a:r>
            <a:r>
              <a:rPr lang="zh-CN" altLang="en-US" dirty="0">
                <a:solidFill>
                  <a:srgbClr val="0066CC"/>
                </a:solidFill>
              </a:rPr>
              <a:t>中</a:t>
            </a:r>
            <a:r>
              <a:rPr lang="en-US" altLang="zh-CN" dirty="0">
                <a:solidFill>
                  <a:srgbClr val="0066CC"/>
                </a:solidFill>
              </a:rPr>
              <a:t>.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算法结构：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初始化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迭代</a:t>
            </a:r>
            <a:r>
              <a:rPr lang="en-US" altLang="zh-CN" dirty="0">
                <a:solidFill>
                  <a:srgbClr val="0066CC"/>
                </a:solidFill>
              </a:rPr>
              <a:t>k</a:t>
            </a:r>
            <a:r>
              <a:rPr lang="zh-CN" altLang="en-US" dirty="0">
                <a:solidFill>
                  <a:srgbClr val="0066CC"/>
                </a:solidFill>
              </a:rPr>
              <a:t>次（网络中有</a:t>
            </a:r>
            <a:r>
              <a:rPr lang="en-US" altLang="zh-CN" dirty="0">
                <a:solidFill>
                  <a:srgbClr val="0066CC"/>
                </a:solidFill>
              </a:rPr>
              <a:t>k</a:t>
            </a:r>
            <a:r>
              <a:rPr lang="zh-CN" altLang="en-US" dirty="0">
                <a:solidFill>
                  <a:srgbClr val="0066CC"/>
                </a:solidFill>
              </a:rPr>
              <a:t>个结点）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73DA3D9-660D-4C2E-822E-8C48E641575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8808CA6-DA84-4E99-9A42-DAEA6E635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19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7525518" cy="415592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  </a:t>
            </a:r>
            <a:r>
              <a:rPr lang="en-US" altLang="zh-CN" b="1" i="1" dirty="0">
                <a:solidFill>
                  <a:srgbClr val="0066CC"/>
                </a:solidFill>
                <a:effectLst/>
              </a:rPr>
              <a:t>Initialization: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2    N' = {s}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3    for all nodes n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      if n adjacent to s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          then D(n) = c(s, n)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6      else D(n) = ∞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7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8   </a:t>
            </a:r>
            <a:r>
              <a:rPr lang="en-US" altLang="zh-CN" b="1" i="1" dirty="0">
                <a:solidFill>
                  <a:srgbClr val="0066CC"/>
                </a:solidFill>
                <a:effectLst/>
              </a:rPr>
              <a:t>Loop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9     find m not in N' such that D(m) is a minimum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10    add m to N'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11    update D(n) for all n adjacent to m and not in N' :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12       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D(n) = min( D(n), D(m) + c(m, n) )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13    </a:t>
            </a:r>
            <a:r>
              <a:rPr lang="en-US" altLang="zh-CN" dirty="0">
                <a:solidFill>
                  <a:srgbClr val="00B050"/>
                </a:solidFill>
                <a:effectLst/>
              </a:rPr>
              <a:t>/* new cost to n is either old cost to n or known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14    </a:t>
            </a:r>
            <a:r>
              <a:rPr lang="en-US" altLang="zh-CN" dirty="0">
                <a:solidFill>
                  <a:srgbClr val="00B050"/>
                </a:solidFill>
                <a:effectLst/>
              </a:rPr>
              <a:t> shortest path cost to m plus cost from m to n */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marL="642938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15  </a:t>
            </a:r>
            <a:r>
              <a:rPr lang="en-US" altLang="zh-CN" b="1" i="1" dirty="0">
                <a:solidFill>
                  <a:srgbClr val="0066CC"/>
                </a:solidFill>
                <a:effectLst/>
              </a:rPr>
              <a:t>until all nodes in N'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8" name="Freeform 320"/>
          <p:cNvSpPr>
            <a:spLocks/>
          </p:cNvSpPr>
          <p:nvPr/>
        </p:nvSpPr>
        <p:spPr bwMode="auto">
          <a:xfrm>
            <a:off x="502160" y="3255475"/>
            <a:ext cx="600075" cy="1800902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0066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rgbClr val="0066FF"/>
              </a:solidFill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4F3D4B50-81CE-444C-BC46-9202E6080ED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56D947D-C3A1-4EC7-BF05-5C4770405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49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642938" lvl="2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1  </a:t>
            </a:r>
            <a:r>
              <a:rPr lang="en-US" altLang="zh-CN" b="1" i="1" dirty="0">
                <a:solidFill>
                  <a:srgbClr val="0066CC"/>
                </a:solidFill>
                <a:effectLst/>
              </a:rPr>
              <a:t>Initialization: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marL="642938" lvl="2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2    N' = {s} </a:t>
            </a:r>
          </a:p>
          <a:p>
            <a:pPr marL="642938" lvl="2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3    for all nodes n </a:t>
            </a:r>
          </a:p>
          <a:p>
            <a:pPr marL="642938" lvl="2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      if n adjacent to s </a:t>
            </a:r>
          </a:p>
          <a:p>
            <a:pPr marL="642938" lvl="2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5          then D(n) = c(s, n) </a:t>
            </a:r>
          </a:p>
          <a:p>
            <a:pPr marL="642938" lvl="2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6      else D(n) = ∞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FF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00FF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1402659" y="3172960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Step</a:t>
            </a: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583193" y="3180104"/>
            <a:ext cx="36740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N</a:t>
            </a:r>
            <a:r>
              <a:rPr lang="en-US" altLang="zh-CN" sz="1500" dirty="0">
                <a:cs typeface="Arial" panose="020B0604020202020204" pitchFamily="34" charset="0"/>
              </a:rPr>
              <a:t>'</a:t>
            </a:r>
            <a:endParaRPr lang="en-US" altLang="zh-CN" sz="1500" dirty="0"/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165816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169388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165816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169388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180104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1519470" y="3436088"/>
            <a:ext cx="6379369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1637342" y="366468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9" name="Text Box 9"/>
          <p:cNvSpPr txBox="1">
            <a:spLocks noChangeArrowheads="1"/>
          </p:cNvSpPr>
          <p:nvPr/>
        </p:nvSpPr>
        <p:spPr bwMode="auto">
          <a:xfrm>
            <a:off x="1671964" y="339640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0</a:t>
            </a:r>
          </a:p>
        </p:txBody>
      </p:sp>
      <p:sp>
        <p:nvSpPr>
          <p:cNvPr id="160" name="Text Box 10"/>
          <p:cNvSpPr txBox="1">
            <a:spLocks noChangeArrowheads="1"/>
          </p:cNvSpPr>
          <p:nvPr/>
        </p:nvSpPr>
        <p:spPr bwMode="auto">
          <a:xfrm>
            <a:off x="2660137" y="3403552"/>
            <a:ext cx="29046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161" name="Text Box 11"/>
          <p:cNvSpPr txBox="1">
            <a:spLocks noChangeArrowheads="1"/>
          </p:cNvSpPr>
          <p:nvPr/>
        </p:nvSpPr>
        <p:spPr bwMode="auto">
          <a:xfrm>
            <a:off x="3567600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FF"/>
                </a:solidFill>
              </a:rPr>
              <a:t>2,u</a:t>
            </a: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4528435" y="3392836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FF"/>
                </a:solidFill>
              </a:rPr>
              <a:t>5,u</a:t>
            </a:r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FF"/>
                </a:solidFill>
              </a:rPr>
              <a:t>1,u</a:t>
            </a:r>
          </a:p>
        </p:txBody>
      </p:sp>
      <p:sp>
        <p:nvSpPr>
          <p:cNvPr id="164" name="Text Box 14"/>
          <p:cNvSpPr txBox="1">
            <a:spLocks noChangeArrowheads="1"/>
          </p:cNvSpPr>
          <p:nvPr/>
        </p:nvSpPr>
        <p:spPr bwMode="auto">
          <a:xfrm>
            <a:off x="6545412" y="3392836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65" name="Text Box 15"/>
          <p:cNvSpPr txBox="1">
            <a:spLocks noChangeArrowheads="1"/>
          </p:cNvSpPr>
          <p:nvPr/>
        </p:nvSpPr>
        <p:spPr bwMode="auto">
          <a:xfrm>
            <a:off x="7484815" y="340355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0" name="灯片编号占位符 2">
            <a:extLst>
              <a:ext uri="{FF2B5EF4-FFF2-40B4-BE49-F238E27FC236}">
                <a16:creationId xmlns:a16="http://schemas.microsoft.com/office/drawing/2014/main" id="{6219F6CD-7926-4A2A-B234-19E4FAD0526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151" name="AutoShape 5">
            <a:extLst>
              <a:ext uri="{FF2B5EF4-FFF2-40B4-BE49-F238E27FC236}">
                <a16:creationId xmlns:a16="http://schemas.microsoft.com/office/drawing/2014/main" id="{781B5717-91EB-4975-A395-1A7E47866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02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1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solidFill>
                    <a:srgbClr val="FF00FF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FF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8   </a:t>
            </a:r>
            <a:r>
              <a:rPr lang="en-US" altLang="zh-CN" sz="1050" b="1" i="1" dirty="0">
                <a:solidFill>
                  <a:srgbClr val="0066CC"/>
                </a:solidFill>
              </a:rPr>
              <a:t>Loop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9     find m not in N' such that D(m) is a min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10    add m to N'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11    update D(n) for all n adjacent to m and not in N' :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12       </a:t>
            </a:r>
            <a:r>
              <a:rPr lang="en-US" altLang="zh-CN" sz="1050" dirty="0">
                <a:solidFill>
                  <a:srgbClr val="FF0000"/>
                </a:solidFill>
              </a:rPr>
              <a:t>D(m) = min( D(n), D(m) + c(m, n))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13    </a:t>
            </a:r>
            <a:r>
              <a:rPr lang="en-US" altLang="zh-CN" sz="1050" dirty="0">
                <a:solidFill>
                  <a:srgbClr val="00B050"/>
                </a:solidFill>
              </a:rPr>
              <a:t>/* new cost to n is either old cost to m or known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14    </a:t>
            </a:r>
            <a:r>
              <a:rPr lang="en-US" altLang="zh-CN" sz="1050" dirty="0">
                <a:solidFill>
                  <a:srgbClr val="00B050"/>
                </a:solidFill>
              </a:rPr>
              <a:t> shortest path cost to m plus cost from m to n */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15  </a:t>
            </a:r>
            <a:r>
              <a:rPr lang="en-US" altLang="zh-CN" sz="1050" b="1" i="1" dirty="0">
                <a:solidFill>
                  <a:srgbClr val="0066CC"/>
                </a:solidFill>
              </a:rPr>
              <a:t>until all nodes in N'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642938" lvl="2" indent="0">
              <a:spcBef>
                <a:spcPts val="0"/>
              </a:spcBef>
              <a:buNone/>
            </a:pPr>
            <a:endParaRPr lang="en-US" altLang="zh-CN" sz="1050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1402659" y="3172960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Step</a:t>
            </a: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583193" y="3180104"/>
            <a:ext cx="36740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N</a:t>
            </a:r>
            <a:r>
              <a:rPr lang="en-US" altLang="zh-CN" sz="1500" dirty="0">
                <a:cs typeface="Arial" panose="020B0604020202020204" pitchFamily="34" charset="0"/>
              </a:rPr>
              <a:t>'</a:t>
            </a:r>
            <a:endParaRPr lang="en-US" altLang="zh-CN" sz="1500" dirty="0"/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165816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169388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165816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169388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180104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1519470" y="3436088"/>
            <a:ext cx="6379369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1637342" y="366468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9" name="Text Box 9"/>
          <p:cNvSpPr txBox="1">
            <a:spLocks noChangeArrowheads="1"/>
          </p:cNvSpPr>
          <p:nvPr/>
        </p:nvSpPr>
        <p:spPr bwMode="auto">
          <a:xfrm>
            <a:off x="1671964" y="339640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0</a:t>
            </a:r>
          </a:p>
        </p:txBody>
      </p:sp>
      <p:sp>
        <p:nvSpPr>
          <p:cNvPr id="160" name="Text Box 10"/>
          <p:cNvSpPr txBox="1">
            <a:spLocks noChangeArrowheads="1"/>
          </p:cNvSpPr>
          <p:nvPr/>
        </p:nvSpPr>
        <p:spPr bwMode="auto">
          <a:xfrm>
            <a:off x="2660137" y="3403552"/>
            <a:ext cx="29046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</a:p>
        </p:txBody>
      </p:sp>
      <p:sp>
        <p:nvSpPr>
          <p:cNvPr id="161" name="Text Box 11"/>
          <p:cNvSpPr txBox="1">
            <a:spLocks noChangeArrowheads="1"/>
          </p:cNvSpPr>
          <p:nvPr/>
        </p:nvSpPr>
        <p:spPr bwMode="auto">
          <a:xfrm>
            <a:off x="3567600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4528435" y="3392836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5,u</a:t>
            </a:r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1,u</a:t>
            </a:r>
          </a:p>
        </p:txBody>
      </p:sp>
      <p:sp>
        <p:nvSpPr>
          <p:cNvPr id="164" name="Text Box 14"/>
          <p:cNvSpPr txBox="1">
            <a:spLocks noChangeArrowheads="1"/>
          </p:cNvSpPr>
          <p:nvPr/>
        </p:nvSpPr>
        <p:spPr bwMode="auto">
          <a:xfrm>
            <a:off x="6545412" y="3392836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65" name="Text Box 15"/>
          <p:cNvSpPr txBox="1">
            <a:spLocks noChangeArrowheads="1"/>
          </p:cNvSpPr>
          <p:nvPr/>
        </p:nvSpPr>
        <p:spPr bwMode="auto">
          <a:xfrm>
            <a:off x="7484815" y="340355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0" name="Freeform 320"/>
          <p:cNvSpPr>
            <a:spLocks/>
          </p:cNvSpPr>
          <p:nvPr/>
        </p:nvSpPr>
        <p:spPr bwMode="auto">
          <a:xfrm>
            <a:off x="450815" y="1792344"/>
            <a:ext cx="344207" cy="1416124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0066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solidFill>
                <a:srgbClr val="0066FF"/>
              </a:solidFill>
            </a:endParaRPr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1637342" y="3896627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2" name="Text Box 9"/>
          <p:cNvSpPr txBox="1">
            <a:spLocks noChangeArrowheads="1"/>
          </p:cNvSpPr>
          <p:nvPr/>
        </p:nvSpPr>
        <p:spPr bwMode="auto">
          <a:xfrm>
            <a:off x="1671964" y="363931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</a:t>
            </a:r>
          </a:p>
        </p:txBody>
      </p:sp>
      <p:sp>
        <p:nvSpPr>
          <p:cNvPr id="153" name="Text Box 10"/>
          <p:cNvSpPr txBox="1">
            <a:spLocks noChangeArrowheads="1"/>
          </p:cNvSpPr>
          <p:nvPr/>
        </p:nvSpPr>
        <p:spPr bwMode="auto">
          <a:xfrm>
            <a:off x="2575177" y="3646462"/>
            <a:ext cx="3754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  <a:r>
              <a:rPr lang="en-US" altLang="zh-CN" sz="15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4" name="Text Box 11"/>
          <p:cNvSpPr txBox="1">
            <a:spLocks noChangeArrowheads="1"/>
          </p:cNvSpPr>
          <p:nvPr/>
        </p:nvSpPr>
        <p:spPr bwMode="auto">
          <a:xfrm>
            <a:off x="3567600" y="363217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55" name="Text Box 12"/>
          <p:cNvSpPr txBox="1">
            <a:spLocks noChangeArrowheads="1"/>
          </p:cNvSpPr>
          <p:nvPr/>
        </p:nvSpPr>
        <p:spPr bwMode="auto">
          <a:xfrm>
            <a:off x="4549274" y="3635746"/>
            <a:ext cx="41229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FF"/>
                </a:solidFill>
              </a:rPr>
              <a:t>4,x</a:t>
            </a:r>
          </a:p>
        </p:txBody>
      </p:sp>
      <p:sp>
        <p:nvSpPr>
          <p:cNvPr id="157" name="Text Box 14"/>
          <p:cNvSpPr txBox="1">
            <a:spLocks noChangeArrowheads="1"/>
          </p:cNvSpPr>
          <p:nvPr/>
        </p:nvSpPr>
        <p:spPr bwMode="auto">
          <a:xfrm>
            <a:off x="6481293" y="3635746"/>
            <a:ext cx="4090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solidFill>
                  <a:srgbClr val="FF00FF"/>
                </a:solidFill>
                <a:latin typeface="+mj-ea"/>
                <a:ea typeface="+mj-ea"/>
                <a:cs typeface="Arial" panose="020B0604020202020204" pitchFamily="34" charset="0"/>
              </a:rPr>
              <a:t>2,x</a:t>
            </a:r>
          </a:p>
        </p:txBody>
      </p:sp>
      <p:sp>
        <p:nvSpPr>
          <p:cNvPr id="158" name="Text Box 15"/>
          <p:cNvSpPr txBox="1">
            <a:spLocks noChangeArrowheads="1"/>
          </p:cNvSpPr>
          <p:nvPr/>
        </p:nvSpPr>
        <p:spPr bwMode="auto">
          <a:xfrm>
            <a:off x="7484815" y="364646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cxnSp>
        <p:nvCxnSpPr>
          <p:cNvPr id="8" name="直接箭头连接符 7"/>
          <p:cNvCxnSpPr>
            <a:endCxn id="153" idx="3"/>
          </p:cNvCxnSpPr>
          <p:nvPr/>
        </p:nvCxnSpPr>
        <p:spPr>
          <a:xfrm flipH="1">
            <a:off x="2950601" y="3572592"/>
            <a:ext cx="2659825" cy="235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灯片编号占位符 2">
            <a:extLst>
              <a:ext uri="{FF2B5EF4-FFF2-40B4-BE49-F238E27FC236}">
                <a16:creationId xmlns:a16="http://schemas.microsoft.com/office/drawing/2014/main" id="{BAEEDA56-79F6-47D2-8222-9E3682D9D95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166" name="AutoShape 5">
            <a:extLst>
              <a:ext uri="{FF2B5EF4-FFF2-40B4-BE49-F238E27FC236}">
                <a16:creationId xmlns:a16="http://schemas.microsoft.com/office/drawing/2014/main" id="{796AD780-BF24-4807-9C0C-DAB019A34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356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16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FF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FF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8   </a:t>
            </a:r>
            <a:r>
              <a:rPr lang="en-US" altLang="zh-CN" sz="1050" b="1" i="1" dirty="0">
                <a:solidFill>
                  <a:srgbClr val="0066CC"/>
                </a:solidFill>
              </a:rPr>
              <a:t>Loop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9     find m not in N' such that D(m) is a min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10    add m to N'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11    update D(n) for all n adjacent to m and not in N' :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12       </a:t>
            </a:r>
            <a:r>
              <a:rPr lang="en-US" altLang="zh-CN" sz="1050" dirty="0">
                <a:solidFill>
                  <a:srgbClr val="FF0000"/>
                </a:solidFill>
              </a:rPr>
              <a:t>D(m) = min( D(n), D(m) + c(m, n))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13    </a:t>
            </a:r>
            <a:r>
              <a:rPr lang="en-US" altLang="zh-CN" sz="1050" dirty="0">
                <a:solidFill>
                  <a:srgbClr val="00B050"/>
                </a:solidFill>
              </a:rPr>
              <a:t>/* new cost to n is either old cost to m or known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14    </a:t>
            </a:r>
            <a:r>
              <a:rPr lang="en-US" altLang="zh-CN" sz="1050" dirty="0">
                <a:solidFill>
                  <a:srgbClr val="00B050"/>
                </a:solidFill>
              </a:rPr>
              <a:t> shortest path cost to m plus cost from m to n */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15  </a:t>
            </a:r>
            <a:r>
              <a:rPr lang="en-US" altLang="zh-CN" sz="1050" b="1" i="1" dirty="0">
                <a:solidFill>
                  <a:srgbClr val="0066CC"/>
                </a:solidFill>
              </a:rPr>
              <a:t>until all nodes in N'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642938" lvl="2" indent="0">
              <a:spcBef>
                <a:spcPts val="0"/>
              </a:spcBef>
              <a:buNone/>
            </a:pPr>
            <a:endParaRPr lang="en-US" altLang="zh-CN" sz="1050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FF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FF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1402659" y="3172960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Step</a:t>
            </a: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583193" y="3180104"/>
            <a:ext cx="36740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N</a:t>
            </a:r>
            <a:r>
              <a:rPr lang="en-US" altLang="zh-CN" sz="1500" dirty="0">
                <a:cs typeface="Arial" panose="020B0604020202020204" pitchFamily="34" charset="0"/>
              </a:rPr>
              <a:t>'</a:t>
            </a:r>
            <a:endParaRPr lang="en-US" altLang="zh-CN" sz="1500" dirty="0"/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165816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169388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165816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169388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180104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1519470" y="3436088"/>
            <a:ext cx="6379369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1637342" y="366468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9" name="Text Box 9"/>
          <p:cNvSpPr txBox="1">
            <a:spLocks noChangeArrowheads="1"/>
          </p:cNvSpPr>
          <p:nvPr/>
        </p:nvSpPr>
        <p:spPr bwMode="auto">
          <a:xfrm>
            <a:off x="1671964" y="339640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0</a:t>
            </a:r>
          </a:p>
        </p:txBody>
      </p:sp>
      <p:sp>
        <p:nvSpPr>
          <p:cNvPr id="160" name="Text Box 10"/>
          <p:cNvSpPr txBox="1">
            <a:spLocks noChangeArrowheads="1"/>
          </p:cNvSpPr>
          <p:nvPr/>
        </p:nvSpPr>
        <p:spPr bwMode="auto">
          <a:xfrm>
            <a:off x="2660137" y="3403552"/>
            <a:ext cx="29046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</a:p>
        </p:txBody>
      </p:sp>
      <p:sp>
        <p:nvSpPr>
          <p:cNvPr id="161" name="Text Box 11"/>
          <p:cNvSpPr txBox="1">
            <a:spLocks noChangeArrowheads="1"/>
          </p:cNvSpPr>
          <p:nvPr/>
        </p:nvSpPr>
        <p:spPr bwMode="auto">
          <a:xfrm>
            <a:off x="3567600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4528435" y="3392836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5,u</a:t>
            </a:r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1,u</a:t>
            </a:r>
          </a:p>
        </p:txBody>
      </p:sp>
      <p:sp>
        <p:nvSpPr>
          <p:cNvPr id="164" name="Text Box 14"/>
          <p:cNvSpPr txBox="1">
            <a:spLocks noChangeArrowheads="1"/>
          </p:cNvSpPr>
          <p:nvPr/>
        </p:nvSpPr>
        <p:spPr bwMode="auto">
          <a:xfrm>
            <a:off x="6545412" y="3392836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65" name="Text Box 15"/>
          <p:cNvSpPr txBox="1">
            <a:spLocks noChangeArrowheads="1"/>
          </p:cNvSpPr>
          <p:nvPr/>
        </p:nvSpPr>
        <p:spPr bwMode="auto">
          <a:xfrm>
            <a:off x="7484815" y="340355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0" name="Freeform 320"/>
          <p:cNvSpPr>
            <a:spLocks/>
          </p:cNvSpPr>
          <p:nvPr/>
        </p:nvSpPr>
        <p:spPr bwMode="auto">
          <a:xfrm>
            <a:off x="441824" y="1793428"/>
            <a:ext cx="344207" cy="1416124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0066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solidFill>
                <a:srgbClr val="0066FF"/>
              </a:solidFill>
            </a:endParaRPr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1637342" y="3896627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2" name="Text Box 9"/>
          <p:cNvSpPr txBox="1">
            <a:spLocks noChangeArrowheads="1"/>
          </p:cNvSpPr>
          <p:nvPr/>
        </p:nvSpPr>
        <p:spPr bwMode="auto">
          <a:xfrm>
            <a:off x="1671964" y="363931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</a:t>
            </a:r>
          </a:p>
        </p:txBody>
      </p:sp>
      <p:sp>
        <p:nvSpPr>
          <p:cNvPr id="153" name="Text Box 10"/>
          <p:cNvSpPr txBox="1">
            <a:spLocks noChangeArrowheads="1"/>
          </p:cNvSpPr>
          <p:nvPr/>
        </p:nvSpPr>
        <p:spPr bwMode="auto">
          <a:xfrm>
            <a:off x="2575177" y="3646462"/>
            <a:ext cx="3754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  <a:r>
              <a:rPr lang="en-US" altLang="zh-CN" sz="15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4" name="Text Box 11"/>
          <p:cNvSpPr txBox="1">
            <a:spLocks noChangeArrowheads="1"/>
          </p:cNvSpPr>
          <p:nvPr/>
        </p:nvSpPr>
        <p:spPr bwMode="auto">
          <a:xfrm>
            <a:off x="3567600" y="363217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55" name="Text Box 12"/>
          <p:cNvSpPr txBox="1">
            <a:spLocks noChangeArrowheads="1"/>
          </p:cNvSpPr>
          <p:nvPr/>
        </p:nvSpPr>
        <p:spPr bwMode="auto">
          <a:xfrm>
            <a:off x="4549274" y="3635746"/>
            <a:ext cx="41229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4,x</a:t>
            </a:r>
          </a:p>
        </p:txBody>
      </p:sp>
      <p:sp>
        <p:nvSpPr>
          <p:cNvPr id="157" name="Text Box 14"/>
          <p:cNvSpPr txBox="1">
            <a:spLocks noChangeArrowheads="1"/>
          </p:cNvSpPr>
          <p:nvPr/>
        </p:nvSpPr>
        <p:spPr bwMode="auto">
          <a:xfrm>
            <a:off x="6481293" y="3635746"/>
            <a:ext cx="4090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2,x</a:t>
            </a:r>
          </a:p>
        </p:txBody>
      </p:sp>
      <p:sp>
        <p:nvSpPr>
          <p:cNvPr id="173" name="Line 17"/>
          <p:cNvSpPr>
            <a:spLocks noChangeShapeType="1"/>
          </p:cNvSpPr>
          <p:nvPr/>
        </p:nvSpPr>
        <p:spPr bwMode="auto">
          <a:xfrm>
            <a:off x="1637342" y="4131046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4" name="Text Box 9"/>
          <p:cNvSpPr txBox="1">
            <a:spLocks noChangeArrowheads="1"/>
          </p:cNvSpPr>
          <p:nvPr/>
        </p:nvSpPr>
        <p:spPr bwMode="auto">
          <a:xfrm>
            <a:off x="1671964" y="3873737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</a:t>
            </a:r>
          </a:p>
        </p:txBody>
      </p:sp>
      <p:sp>
        <p:nvSpPr>
          <p:cNvPr id="175" name="Text Box 10"/>
          <p:cNvSpPr txBox="1">
            <a:spLocks noChangeArrowheads="1"/>
          </p:cNvSpPr>
          <p:nvPr/>
        </p:nvSpPr>
        <p:spPr bwMode="auto">
          <a:xfrm>
            <a:off x="2485409" y="3880881"/>
            <a:ext cx="46519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</a:t>
            </a:r>
            <a:r>
              <a:rPr lang="en-US" altLang="zh-CN" sz="1500" dirty="0" err="1">
                <a:solidFill>
                  <a:srgbClr val="FF0000"/>
                </a:solidFill>
              </a:rPr>
              <a:t>y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76" name="Text Box 11"/>
          <p:cNvSpPr txBox="1">
            <a:spLocks noChangeArrowheads="1"/>
          </p:cNvSpPr>
          <p:nvPr/>
        </p:nvSpPr>
        <p:spPr bwMode="auto">
          <a:xfrm>
            <a:off x="3567600" y="3866593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77" name="Text Box 12"/>
          <p:cNvSpPr txBox="1">
            <a:spLocks noChangeArrowheads="1"/>
          </p:cNvSpPr>
          <p:nvPr/>
        </p:nvSpPr>
        <p:spPr bwMode="auto">
          <a:xfrm>
            <a:off x="4544465" y="3870165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FF"/>
                </a:solidFill>
              </a:rPr>
              <a:t>3,y</a:t>
            </a:r>
          </a:p>
        </p:txBody>
      </p:sp>
      <p:sp>
        <p:nvSpPr>
          <p:cNvPr id="179" name="Text Box 15"/>
          <p:cNvSpPr txBox="1">
            <a:spLocks noChangeArrowheads="1"/>
          </p:cNvSpPr>
          <p:nvPr/>
        </p:nvSpPr>
        <p:spPr bwMode="auto">
          <a:xfrm>
            <a:off x="7412680" y="3880881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solidFill>
                  <a:srgbClr val="FF00FF"/>
                </a:solidFill>
                <a:cs typeface="Arial" panose="020B0604020202020204" pitchFamily="34" charset="0"/>
              </a:rPr>
              <a:t>4,y</a:t>
            </a:r>
          </a:p>
        </p:txBody>
      </p:sp>
      <p:cxnSp>
        <p:nvCxnSpPr>
          <p:cNvPr id="180" name="直接箭头连接符 179"/>
          <p:cNvCxnSpPr>
            <a:endCxn id="175" idx="3"/>
          </p:cNvCxnSpPr>
          <p:nvPr/>
        </p:nvCxnSpPr>
        <p:spPr>
          <a:xfrm flipH="1">
            <a:off x="2950601" y="3813976"/>
            <a:ext cx="3548166" cy="2284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 Box 15"/>
          <p:cNvSpPr txBox="1">
            <a:spLocks noChangeArrowheads="1"/>
          </p:cNvSpPr>
          <p:nvPr/>
        </p:nvSpPr>
        <p:spPr bwMode="auto">
          <a:xfrm>
            <a:off x="7484815" y="364646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6" name="灯片编号占位符 2">
            <a:extLst>
              <a:ext uri="{FF2B5EF4-FFF2-40B4-BE49-F238E27FC236}">
                <a16:creationId xmlns:a16="http://schemas.microsoft.com/office/drawing/2014/main" id="{1B0BCB06-D388-462E-943D-C24144523CF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158" name="AutoShape 5">
            <a:extLst>
              <a:ext uri="{FF2B5EF4-FFF2-40B4-BE49-F238E27FC236}">
                <a16:creationId xmlns:a16="http://schemas.microsoft.com/office/drawing/2014/main" id="{45F5ABF1-659E-4C10-9837-6E333C18D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580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58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8   </a:t>
            </a:r>
            <a:r>
              <a:rPr lang="en-US" altLang="zh-CN" sz="1050" b="1" i="1" dirty="0">
                <a:solidFill>
                  <a:srgbClr val="0066CC"/>
                </a:solidFill>
              </a:rPr>
              <a:t>Loop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9     find m not in N' such that D(m) is a min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10    add m to N'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11    update D(n) for all n adjacent to m and not in N' :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12       </a:t>
            </a:r>
            <a:r>
              <a:rPr lang="en-US" altLang="zh-CN" sz="1050" dirty="0">
                <a:solidFill>
                  <a:srgbClr val="FF0000"/>
                </a:solidFill>
              </a:rPr>
              <a:t>D(m) = min( D(n), D(m) + c(m, n))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13    </a:t>
            </a:r>
            <a:r>
              <a:rPr lang="en-US" altLang="zh-CN" sz="1050" dirty="0">
                <a:solidFill>
                  <a:srgbClr val="00B050"/>
                </a:solidFill>
              </a:rPr>
              <a:t>/* new cost to n is either old cost to m or known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14    </a:t>
            </a:r>
            <a:r>
              <a:rPr lang="en-US" altLang="zh-CN" sz="1050" dirty="0">
                <a:solidFill>
                  <a:srgbClr val="00B050"/>
                </a:solidFill>
              </a:rPr>
              <a:t> shortest path cost to m plus cost from m to n */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15  </a:t>
            </a:r>
            <a:r>
              <a:rPr lang="en-US" altLang="zh-CN" sz="1050" b="1" i="1" dirty="0">
                <a:solidFill>
                  <a:srgbClr val="0066CC"/>
                </a:solidFill>
              </a:rPr>
              <a:t>until all nodes in N'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642938" lvl="2" indent="0">
              <a:spcBef>
                <a:spcPts val="0"/>
              </a:spcBef>
              <a:buNone/>
            </a:pPr>
            <a:endParaRPr lang="en-US" altLang="zh-CN" sz="1050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1402659" y="3172960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Step</a:t>
            </a: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583193" y="3180104"/>
            <a:ext cx="36740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N</a:t>
            </a:r>
            <a:r>
              <a:rPr lang="en-US" altLang="zh-CN" sz="1500" dirty="0">
                <a:cs typeface="Arial" panose="020B0604020202020204" pitchFamily="34" charset="0"/>
              </a:rPr>
              <a:t>'</a:t>
            </a:r>
            <a:endParaRPr lang="en-US" altLang="zh-CN" sz="1500" dirty="0"/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165816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169388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165816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169388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180104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1519470" y="3436088"/>
            <a:ext cx="6379369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1637342" y="366468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9" name="Text Box 9"/>
          <p:cNvSpPr txBox="1">
            <a:spLocks noChangeArrowheads="1"/>
          </p:cNvSpPr>
          <p:nvPr/>
        </p:nvSpPr>
        <p:spPr bwMode="auto">
          <a:xfrm>
            <a:off x="1671964" y="339640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0</a:t>
            </a:r>
          </a:p>
        </p:txBody>
      </p:sp>
      <p:sp>
        <p:nvSpPr>
          <p:cNvPr id="160" name="Text Box 10"/>
          <p:cNvSpPr txBox="1">
            <a:spLocks noChangeArrowheads="1"/>
          </p:cNvSpPr>
          <p:nvPr/>
        </p:nvSpPr>
        <p:spPr bwMode="auto">
          <a:xfrm>
            <a:off x="2660137" y="3403552"/>
            <a:ext cx="29046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</a:p>
        </p:txBody>
      </p:sp>
      <p:sp>
        <p:nvSpPr>
          <p:cNvPr id="161" name="Text Box 11"/>
          <p:cNvSpPr txBox="1">
            <a:spLocks noChangeArrowheads="1"/>
          </p:cNvSpPr>
          <p:nvPr/>
        </p:nvSpPr>
        <p:spPr bwMode="auto">
          <a:xfrm>
            <a:off x="3567600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4528435" y="3392836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5,u</a:t>
            </a:r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1,u</a:t>
            </a:r>
          </a:p>
        </p:txBody>
      </p:sp>
      <p:sp>
        <p:nvSpPr>
          <p:cNvPr id="164" name="Text Box 14"/>
          <p:cNvSpPr txBox="1">
            <a:spLocks noChangeArrowheads="1"/>
          </p:cNvSpPr>
          <p:nvPr/>
        </p:nvSpPr>
        <p:spPr bwMode="auto">
          <a:xfrm>
            <a:off x="6545412" y="3392836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65" name="Text Box 15"/>
          <p:cNvSpPr txBox="1">
            <a:spLocks noChangeArrowheads="1"/>
          </p:cNvSpPr>
          <p:nvPr/>
        </p:nvSpPr>
        <p:spPr bwMode="auto">
          <a:xfrm>
            <a:off x="7484815" y="340355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0" name="Freeform 320"/>
          <p:cNvSpPr>
            <a:spLocks/>
          </p:cNvSpPr>
          <p:nvPr/>
        </p:nvSpPr>
        <p:spPr bwMode="auto">
          <a:xfrm>
            <a:off x="441453" y="1808319"/>
            <a:ext cx="344207" cy="1416124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0066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solidFill>
                <a:srgbClr val="0066FF"/>
              </a:solidFill>
            </a:endParaRPr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1637342" y="3896627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2" name="Text Box 9"/>
          <p:cNvSpPr txBox="1">
            <a:spLocks noChangeArrowheads="1"/>
          </p:cNvSpPr>
          <p:nvPr/>
        </p:nvSpPr>
        <p:spPr bwMode="auto">
          <a:xfrm>
            <a:off x="1671964" y="363931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</a:t>
            </a:r>
          </a:p>
        </p:txBody>
      </p:sp>
      <p:sp>
        <p:nvSpPr>
          <p:cNvPr id="153" name="Text Box 10"/>
          <p:cNvSpPr txBox="1">
            <a:spLocks noChangeArrowheads="1"/>
          </p:cNvSpPr>
          <p:nvPr/>
        </p:nvSpPr>
        <p:spPr bwMode="auto">
          <a:xfrm>
            <a:off x="2575177" y="3646462"/>
            <a:ext cx="3754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  <a:r>
              <a:rPr lang="en-US" altLang="zh-CN" sz="15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4" name="Text Box 11"/>
          <p:cNvSpPr txBox="1">
            <a:spLocks noChangeArrowheads="1"/>
          </p:cNvSpPr>
          <p:nvPr/>
        </p:nvSpPr>
        <p:spPr bwMode="auto">
          <a:xfrm>
            <a:off x="3567600" y="363217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55" name="Text Box 12"/>
          <p:cNvSpPr txBox="1">
            <a:spLocks noChangeArrowheads="1"/>
          </p:cNvSpPr>
          <p:nvPr/>
        </p:nvSpPr>
        <p:spPr bwMode="auto">
          <a:xfrm>
            <a:off x="4549274" y="3635746"/>
            <a:ext cx="41229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4,x</a:t>
            </a:r>
          </a:p>
        </p:txBody>
      </p:sp>
      <p:sp>
        <p:nvSpPr>
          <p:cNvPr id="157" name="Text Box 14"/>
          <p:cNvSpPr txBox="1">
            <a:spLocks noChangeArrowheads="1"/>
          </p:cNvSpPr>
          <p:nvPr/>
        </p:nvSpPr>
        <p:spPr bwMode="auto">
          <a:xfrm>
            <a:off x="6481293" y="3635746"/>
            <a:ext cx="4090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2,x</a:t>
            </a:r>
          </a:p>
        </p:txBody>
      </p:sp>
      <p:sp>
        <p:nvSpPr>
          <p:cNvPr id="173" name="Line 17"/>
          <p:cNvSpPr>
            <a:spLocks noChangeShapeType="1"/>
          </p:cNvSpPr>
          <p:nvPr/>
        </p:nvSpPr>
        <p:spPr bwMode="auto">
          <a:xfrm>
            <a:off x="1637342" y="4131046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4" name="Text Box 9"/>
          <p:cNvSpPr txBox="1">
            <a:spLocks noChangeArrowheads="1"/>
          </p:cNvSpPr>
          <p:nvPr/>
        </p:nvSpPr>
        <p:spPr bwMode="auto">
          <a:xfrm>
            <a:off x="1671964" y="3873737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</a:t>
            </a:r>
          </a:p>
        </p:txBody>
      </p:sp>
      <p:sp>
        <p:nvSpPr>
          <p:cNvPr id="175" name="Text Box 10"/>
          <p:cNvSpPr txBox="1">
            <a:spLocks noChangeArrowheads="1"/>
          </p:cNvSpPr>
          <p:nvPr/>
        </p:nvSpPr>
        <p:spPr bwMode="auto">
          <a:xfrm>
            <a:off x="2485409" y="3880881"/>
            <a:ext cx="46519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</a:t>
            </a:r>
            <a:r>
              <a:rPr lang="en-US" altLang="zh-CN" sz="1500" dirty="0" err="1">
                <a:solidFill>
                  <a:srgbClr val="FF0000"/>
                </a:solidFill>
              </a:rPr>
              <a:t>y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76" name="Text Box 11"/>
          <p:cNvSpPr txBox="1">
            <a:spLocks noChangeArrowheads="1"/>
          </p:cNvSpPr>
          <p:nvPr/>
        </p:nvSpPr>
        <p:spPr bwMode="auto">
          <a:xfrm>
            <a:off x="3567600" y="3866593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2,u</a:t>
            </a:r>
          </a:p>
        </p:txBody>
      </p:sp>
      <p:sp>
        <p:nvSpPr>
          <p:cNvPr id="177" name="Text Box 12"/>
          <p:cNvSpPr txBox="1">
            <a:spLocks noChangeArrowheads="1"/>
          </p:cNvSpPr>
          <p:nvPr/>
        </p:nvSpPr>
        <p:spPr bwMode="auto">
          <a:xfrm>
            <a:off x="4544465" y="3870165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3,y</a:t>
            </a:r>
          </a:p>
        </p:txBody>
      </p:sp>
      <p:sp>
        <p:nvSpPr>
          <p:cNvPr id="179" name="Text Box 15"/>
          <p:cNvSpPr txBox="1">
            <a:spLocks noChangeArrowheads="1"/>
          </p:cNvSpPr>
          <p:nvPr/>
        </p:nvSpPr>
        <p:spPr bwMode="auto">
          <a:xfrm>
            <a:off x="7412680" y="3880881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sp>
        <p:nvSpPr>
          <p:cNvPr id="181" name="Text Box 15"/>
          <p:cNvSpPr txBox="1">
            <a:spLocks noChangeArrowheads="1"/>
          </p:cNvSpPr>
          <p:nvPr/>
        </p:nvSpPr>
        <p:spPr bwMode="auto">
          <a:xfrm>
            <a:off x="7484815" y="364646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85" name="Line 17"/>
          <p:cNvSpPr>
            <a:spLocks noChangeShapeType="1"/>
          </p:cNvSpPr>
          <p:nvPr/>
        </p:nvSpPr>
        <p:spPr bwMode="auto">
          <a:xfrm>
            <a:off x="1637342" y="435576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6" name="Text Box 9"/>
          <p:cNvSpPr txBox="1">
            <a:spLocks noChangeArrowheads="1"/>
          </p:cNvSpPr>
          <p:nvPr/>
        </p:nvSpPr>
        <p:spPr bwMode="auto">
          <a:xfrm>
            <a:off x="1671964" y="4098459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</a:t>
            </a:r>
          </a:p>
        </p:txBody>
      </p:sp>
      <p:sp>
        <p:nvSpPr>
          <p:cNvPr id="187" name="Text Box 10"/>
          <p:cNvSpPr txBox="1">
            <a:spLocks noChangeArrowheads="1"/>
          </p:cNvSpPr>
          <p:nvPr/>
        </p:nvSpPr>
        <p:spPr bwMode="auto">
          <a:xfrm>
            <a:off x="2395641" y="4105603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uxy</a:t>
            </a:r>
            <a:r>
              <a:rPr lang="en-US" altLang="zh-CN" sz="1500" dirty="0" err="1">
                <a:solidFill>
                  <a:srgbClr val="FF0000"/>
                </a:solidFill>
              </a:rPr>
              <a:t>v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88" name="Text Box 12"/>
          <p:cNvSpPr txBox="1">
            <a:spLocks noChangeArrowheads="1"/>
          </p:cNvSpPr>
          <p:nvPr/>
        </p:nvSpPr>
        <p:spPr bwMode="auto">
          <a:xfrm>
            <a:off x="4544465" y="4094887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3,y</a:t>
            </a:r>
          </a:p>
        </p:txBody>
      </p:sp>
      <p:sp>
        <p:nvSpPr>
          <p:cNvPr id="189" name="Text Box 15"/>
          <p:cNvSpPr txBox="1">
            <a:spLocks noChangeArrowheads="1"/>
          </p:cNvSpPr>
          <p:nvPr/>
        </p:nvSpPr>
        <p:spPr bwMode="auto">
          <a:xfrm>
            <a:off x="7412680" y="4105603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cxnSp>
        <p:nvCxnSpPr>
          <p:cNvPr id="190" name="直接箭头连接符 189"/>
          <p:cNvCxnSpPr>
            <a:endCxn id="187" idx="3"/>
          </p:cNvCxnSpPr>
          <p:nvPr/>
        </p:nvCxnSpPr>
        <p:spPr>
          <a:xfrm flipH="1">
            <a:off x="2950601" y="4053813"/>
            <a:ext cx="695938" cy="2133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灯片编号占位符 2">
            <a:extLst>
              <a:ext uri="{FF2B5EF4-FFF2-40B4-BE49-F238E27FC236}">
                <a16:creationId xmlns:a16="http://schemas.microsoft.com/office/drawing/2014/main" id="{0B2E24D9-192E-4FC3-850A-E7611D36A62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158" name="AutoShape 5">
            <a:extLst>
              <a:ext uri="{FF2B5EF4-FFF2-40B4-BE49-F238E27FC236}">
                <a16:creationId xmlns:a16="http://schemas.microsoft.com/office/drawing/2014/main" id="{BD7E3280-1CD3-462B-83F3-A066C18D0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35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58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8   </a:t>
            </a:r>
            <a:r>
              <a:rPr lang="en-US" altLang="zh-CN" sz="1050" b="1" i="1" dirty="0">
                <a:solidFill>
                  <a:srgbClr val="0066CC"/>
                </a:solidFill>
              </a:rPr>
              <a:t>Loop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9     find m not in N' such that D(m) is a min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10    add m to N'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11    update D(n) for all n adjacent to m and not in N' :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12       </a:t>
            </a:r>
            <a:r>
              <a:rPr lang="en-US" altLang="zh-CN" sz="1050" dirty="0">
                <a:solidFill>
                  <a:srgbClr val="FF0000"/>
                </a:solidFill>
              </a:rPr>
              <a:t>D(n) = min( D(n), D(m) + c(m, n))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13    </a:t>
            </a:r>
            <a:r>
              <a:rPr lang="en-US" altLang="zh-CN" sz="1050" dirty="0">
                <a:solidFill>
                  <a:srgbClr val="00B050"/>
                </a:solidFill>
              </a:rPr>
              <a:t>/* new cost to n is either old cost to m or known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14    </a:t>
            </a:r>
            <a:r>
              <a:rPr lang="en-US" altLang="zh-CN" sz="1050" dirty="0">
                <a:solidFill>
                  <a:srgbClr val="00B050"/>
                </a:solidFill>
              </a:rPr>
              <a:t> shortest path cost to m plus cost from m to n */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15  </a:t>
            </a:r>
            <a:r>
              <a:rPr lang="en-US" altLang="zh-CN" sz="1050" b="1" i="1" dirty="0">
                <a:solidFill>
                  <a:srgbClr val="0066CC"/>
                </a:solidFill>
              </a:rPr>
              <a:t>until all nodes in N'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642938" lvl="2" indent="0">
              <a:spcBef>
                <a:spcPts val="0"/>
              </a:spcBef>
              <a:buNone/>
            </a:pPr>
            <a:endParaRPr lang="en-US" altLang="zh-CN" sz="1050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1402659" y="3172960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Step</a:t>
            </a: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583193" y="3180104"/>
            <a:ext cx="36740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N</a:t>
            </a:r>
            <a:r>
              <a:rPr lang="en-US" altLang="zh-CN" sz="1500" dirty="0">
                <a:cs typeface="Arial" panose="020B0604020202020204" pitchFamily="34" charset="0"/>
              </a:rPr>
              <a:t>'</a:t>
            </a:r>
            <a:endParaRPr lang="en-US" altLang="zh-CN" sz="1500" dirty="0"/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165816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169388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165816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169388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180104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1519470" y="3436088"/>
            <a:ext cx="6379369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1637342" y="366468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9" name="Text Box 9"/>
          <p:cNvSpPr txBox="1">
            <a:spLocks noChangeArrowheads="1"/>
          </p:cNvSpPr>
          <p:nvPr/>
        </p:nvSpPr>
        <p:spPr bwMode="auto">
          <a:xfrm>
            <a:off x="1671964" y="339640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0</a:t>
            </a:r>
          </a:p>
        </p:txBody>
      </p:sp>
      <p:sp>
        <p:nvSpPr>
          <p:cNvPr id="160" name="Text Box 10"/>
          <p:cNvSpPr txBox="1">
            <a:spLocks noChangeArrowheads="1"/>
          </p:cNvSpPr>
          <p:nvPr/>
        </p:nvSpPr>
        <p:spPr bwMode="auto">
          <a:xfrm>
            <a:off x="2660137" y="3403552"/>
            <a:ext cx="29046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</a:p>
        </p:txBody>
      </p:sp>
      <p:sp>
        <p:nvSpPr>
          <p:cNvPr id="161" name="Text Box 11"/>
          <p:cNvSpPr txBox="1">
            <a:spLocks noChangeArrowheads="1"/>
          </p:cNvSpPr>
          <p:nvPr/>
        </p:nvSpPr>
        <p:spPr bwMode="auto">
          <a:xfrm>
            <a:off x="3567600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4528435" y="3392836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5,u</a:t>
            </a:r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1,u</a:t>
            </a:r>
          </a:p>
        </p:txBody>
      </p:sp>
      <p:sp>
        <p:nvSpPr>
          <p:cNvPr id="164" name="Text Box 14"/>
          <p:cNvSpPr txBox="1">
            <a:spLocks noChangeArrowheads="1"/>
          </p:cNvSpPr>
          <p:nvPr/>
        </p:nvSpPr>
        <p:spPr bwMode="auto">
          <a:xfrm>
            <a:off x="6545412" y="3392836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65" name="Text Box 15"/>
          <p:cNvSpPr txBox="1">
            <a:spLocks noChangeArrowheads="1"/>
          </p:cNvSpPr>
          <p:nvPr/>
        </p:nvSpPr>
        <p:spPr bwMode="auto">
          <a:xfrm>
            <a:off x="7484815" y="340355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0" name="Freeform 320"/>
          <p:cNvSpPr>
            <a:spLocks/>
          </p:cNvSpPr>
          <p:nvPr/>
        </p:nvSpPr>
        <p:spPr bwMode="auto">
          <a:xfrm>
            <a:off x="441453" y="1798084"/>
            <a:ext cx="344207" cy="1416124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0066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solidFill>
                <a:srgbClr val="0066FF"/>
              </a:solidFill>
            </a:endParaRPr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1637342" y="3896627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2" name="Text Box 9"/>
          <p:cNvSpPr txBox="1">
            <a:spLocks noChangeArrowheads="1"/>
          </p:cNvSpPr>
          <p:nvPr/>
        </p:nvSpPr>
        <p:spPr bwMode="auto">
          <a:xfrm>
            <a:off x="1671964" y="363931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</a:t>
            </a:r>
          </a:p>
        </p:txBody>
      </p:sp>
      <p:sp>
        <p:nvSpPr>
          <p:cNvPr id="153" name="Text Box 10"/>
          <p:cNvSpPr txBox="1">
            <a:spLocks noChangeArrowheads="1"/>
          </p:cNvSpPr>
          <p:nvPr/>
        </p:nvSpPr>
        <p:spPr bwMode="auto">
          <a:xfrm>
            <a:off x="2575177" y="3646462"/>
            <a:ext cx="3754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  <a:r>
              <a:rPr lang="en-US" altLang="zh-CN" sz="15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4" name="Text Box 11"/>
          <p:cNvSpPr txBox="1">
            <a:spLocks noChangeArrowheads="1"/>
          </p:cNvSpPr>
          <p:nvPr/>
        </p:nvSpPr>
        <p:spPr bwMode="auto">
          <a:xfrm>
            <a:off x="3567600" y="363217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55" name="Text Box 12"/>
          <p:cNvSpPr txBox="1">
            <a:spLocks noChangeArrowheads="1"/>
          </p:cNvSpPr>
          <p:nvPr/>
        </p:nvSpPr>
        <p:spPr bwMode="auto">
          <a:xfrm>
            <a:off x="4549274" y="3635746"/>
            <a:ext cx="41229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4,x</a:t>
            </a:r>
          </a:p>
        </p:txBody>
      </p:sp>
      <p:sp>
        <p:nvSpPr>
          <p:cNvPr id="157" name="Text Box 14"/>
          <p:cNvSpPr txBox="1">
            <a:spLocks noChangeArrowheads="1"/>
          </p:cNvSpPr>
          <p:nvPr/>
        </p:nvSpPr>
        <p:spPr bwMode="auto">
          <a:xfrm>
            <a:off x="6481293" y="3635746"/>
            <a:ext cx="4090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2,x</a:t>
            </a:r>
          </a:p>
        </p:txBody>
      </p:sp>
      <p:sp>
        <p:nvSpPr>
          <p:cNvPr id="173" name="Line 17"/>
          <p:cNvSpPr>
            <a:spLocks noChangeShapeType="1"/>
          </p:cNvSpPr>
          <p:nvPr/>
        </p:nvSpPr>
        <p:spPr bwMode="auto">
          <a:xfrm>
            <a:off x="1637342" y="4131046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4" name="Text Box 9"/>
          <p:cNvSpPr txBox="1">
            <a:spLocks noChangeArrowheads="1"/>
          </p:cNvSpPr>
          <p:nvPr/>
        </p:nvSpPr>
        <p:spPr bwMode="auto">
          <a:xfrm>
            <a:off x="1671964" y="3873737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</a:t>
            </a:r>
          </a:p>
        </p:txBody>
      </p:sp>
      <p:sp>
        <p:nvSpPr>
          <p:cNvPr id="175" name="Text Box 10"/>
          <p:cNvSpPr txBox="1">
            <a:spLocks noChangeArrowheads="1"/>
          </p:cNvSpPr>
          <p:nvPr/>
        </p:nvSpPr>
        <p:spPr bwMode="auto">
          <a:xfrm>
            <a:off x="2485409" y="3880881"/>
            <a:ext cx="46519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</a:t>
            </a:r>
            <a:r>
              <a:rPr lang="en-US" altLang="zh-CN" sz="1500" dirty="0" err="1">
                <a:solidFill>
                  <a:srgbClr val="FF0000"/>
                </a:solidFill>
              </a:rPr>
              <a:t>y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76" name="Text Box 11"/>
          <p:cNvSpPr txBox="1">
            <a:spLocks noChangeArrowheads="1"/>
          </p:cNvSpPr>
          <p:nvPr/>
        </p:nvSpPr>
        <p:spPr bwMode="auto">
          <a:xfrm>
            <a:off x="3567600" y="3866593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77" name="Text Box 12"/>
          <p:cNvSpPr txBox="1">
            <a:spLocks noChangeArrowheads="1"/>
          </p:cNvSpPr>
          <p:nvPr/>
        </p:nvSpPr>
        <p:spPr bwMode="auto">
          <a:xfrm>
            <a:off x="4544465" y="3870165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3,y</a:t>
            </a:r>
          </a:p>
        </p:txBody>
      </p:sp>
      <p:sp>
        <p:nvSpPr>
          <p:cNvPr id="179" name="Text Box 15"/>
          <p:cNvSpPr txBox="1">
            <a:spLocks noChangeArrowheads="1"/>
          </p:cNvSpPr>
          <p:nvPr/>
        </p:nvSpPr>
        <p:spPr bwMode="auto">
          <a:xfrm>
            <a:off x="7412680" y="3880881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sp>
        <p:nvSpPr>
          <p:cNvPr id="181" name="Text Box 15"/>
          <p:cNvSpPr txBox="1">
            <a:spLocks noChangeArrowheads="1"/>
          </p:cNvSpPr>
          <p:nvPr/>
        </p:nvSpPr>
        <p:spPr bwMode="auto">
          <a:xfrm>
            <a:off x="7484815" y="364646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85" name="Line 17"/>
          <p:cNvSpPr>
            <a:spLocks noChangeShapeType="1"/>
          </p:cNvSpPr>
          <p:nvPr/>
        </p:nvSpPr>
        <p:spPr bwMode="auto">
          <a:xfrm>
            <a:off x="1637342" y="435576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6" name="Text Box 9"/>
          <p:cNvSpPr txBox="1">
            <a:spLocks noChangeArrowheads="1"/>
          </p:cNvSpPr>
          <p:nvPr/>
        </p:nvSpPr>
        <p:spPr bwMode="auto">
          <a:xfrm>
            <a:off x="1671964" y="4098459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</a:t>
            </a:r>
          </a:p>
        </p:txBody>
      </p:sp>
      <p:sp>
        <p:nvSpPr>
          <p:cNvPr id="187" name="Text Box 10"/>
          <p:cNvSpPr txBox="1">
            <a:spLocks noChangeArrowheads="1"/>
          </p:cNvSpPr>
          <p:nvPr/>
        </p:nvSpPr>
        <p:spPr bwMode="auto">
          <a:xfrm>
            <a:off x="2395641" y="4105603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uxy</a:t>
            </a:r>
            <a:r>
              <a:rPr lang="en-US" altLang="zh-CN" sz="1500" dirty="0" err="1">
                <a:solidFill>
                  <a:srgbClr val="FF0000"/>
                </a:solidFill>
              </a:rPr>
              <a:t>v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88" name="Text Box 12"/>
          <p:cNvSpPr txBox="1">
            <a:spLocks noChangeArrowheads="1"/>
          </p:cNvSpPr>
          <p:nvPr/>
        </p:nvSpPr>
        <p:spPr bwMode="auto">
          <a:xfrm>
            <a:off x="4544465" y="4094887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3,y</a:t>
            </a:r>
          </a:p>
        </p:txBody>
      </p:sp>
      <p:sp>
        <p:nvSpPr>
          <p:cNvPr id="189" name="Text Box 15"/>
          <p:cNvSpPr txBox="1">
            <a:spLocks noChangeArrowheads="1"/>
          </p:cNvSpPr>
          <p:nvPr/>
        </p:nvSpPr>
        <p:spPr bwMode="auto">
          <a:xfrm>
            <a:off x="7412680" y="4105603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sp>
        <p:nvSpPr>
          <p:cNvPr id="158" name="Line 17"/>
          <p:cNvSpPr>
            <a:spLocks noChangeShapeType="1"/>
          </p:cNvSpPr>
          <p:nvPr/>
        </p:nvSpPr>
        <p:spPr bwMode="auto">
          <a:xfrm>
            <a:off x="1637342" y="4580491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6" name="Text Box 9"/>
          <p:cNvSpPr txBox="1">
            <a:spLocks noChangeArrowheads="1"/>
          </p:cNvSpPr>
          <p:nvPr/>
        </p:nvSpPr>
        <p:spPr bwMode="auto">
          <a:xfrm>
            <a:off x="1671964" y="4323182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4</a:t>
            </a:r>
          </a:p>
        </p:txBody>
      </p:sp>
      <p:sp>
        <p:nvSpPr>
          <p:cNvPr id="167" name="Text Box 10"/>
          <p:cNvSpPr txBox="1">
            <a:spLocks noChangeArrowheads="1"/>
          </p:cNvSpPr>
          <p:nvPr/>
        </p:nvSpPr>
        <p:spPr bwMode="auto">
          <a:xfrm>
            <a:off x="2260989" y="4330326"/>
            <a:ext cx="68961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uxyv</a:t>
            </a:r>
            <a:r>
              <a:rPr lang="en-US" altLang="zh-CN" sz="1500" dirty="0" err="1">
                <a:solidFill>
                  <a:srgbClr val="FF0000"/>
                </a:solidFill>
              </a:rPr>
              <a:t>w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69" name="Text Box 15"/>
          <p:cNvSpPr txBox="1">
            <a:spLocks noChangeArrowheads="1"/>
          </p:cNvSpPr>
          <p:nvPr/>
        </p:nvSpPr>
        <p:spPr bwMode="auto">
          <a:xfrm>
            <a:off x="7412680" y="4330326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cxnSp>
        <p:nvCxnSpPr>
          <p:cNvPr id="8" name="直接箭头连接符 7"/>
          <p:cNvCxnSpPr>
            <a:stCxn id="188" idx="1"/>
            <a:endCxn id="167" idx="3"/>
          </p:cNvCxnSpPr>
          <p:nvPr/>
        </p:nvCxnSpPr>
        <p:spPr>
          <a:xfrm flipH="1">
            <a:off x="2950601" y="4256470"/>
            <a:ext cx="1593864" cy="2354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灯片编号占位符 2">
            <a:extLst>
              <a:ext uri="{FF2B5EF4-FFF2-40B4-BE49-F238E27FC236}">
                <a16:creationId xmlns:a16="http://schemas.microsoft.com/office/drawing/2014/main" id="{34882A03-7C05-4358-BC6B-462D52780C4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168" name="AutoShape 5">
            <a:extLst>
              <a:ext uri="{FF2B5EF4-FFF2-40B4-BE49-F238E27FC236}">
                <a16:creationId xmlns:a16="http://schemas.microsoft.com/office/drawing/2014/main" id="{5CBE0B8B-02F9-4D54-A592-A4D0BF3BB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21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68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8   </a:t>
            </a:r>
            <a:r>
              <a:rPr lang="en-US" altLang="zh-CN" sz="1050" b="1" i="1" dirty="0">
                <a:solidFill>
                  <a:srgbClr val="0066CC"/>
                </a:solidFill>
              </a:rPr>
              <a:t>Loop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9     find m not in N' such that D(m) is a min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10    add m to N'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11    update D(n) for all n adjacent to m and not in N' :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12       </a:t>
            </a:r>
            <a:r>
              <a:rPr lang="en-US" altLang="zh-CN" sz="1050" dirty="0">
                <a:solidFill>
                  <a:srgbClr val="FF0000"/>
                </a:solidFill>
              </a:rPr>
              <a:t>D(n) = min( D(n), D(m) + c(m, n))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13    </a:t>
            </a:r>
            <a:r>
              <a:rPr lang="en-US" altLang="zh-CN" sz="1050" dirty="0">
                <a:solidFill>
                  <a:srgbClr val="00B050"/>
                </a:solidFill>
              </a:rPr>
              <a:t>/* new cost to n is either old cost to m or known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14    </a:t>
            </a:r>
            <a:r>
              <a:rPr lang="en-US" altLang="zh-CN" sz="1050" dirty="0">
                <a:solidFill>
                  <a:srgbClr val="00B050"/>
                </a:solidFill>
              </a:rPr>
              <a:t> shortest path cost to m plus cost from m to n */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270000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rgbClr val="0066CC"/>
                </a:solidFill>
              </a:rPr>
              <a:t>15  </a:t>
            </a:r>
            <a:r>
              <a:rPr lang="en-US" altLang="zh-CN" sz="1050" b="1" i="1" dirty="0">
                <a:solidFill>
                  <a:srgbClr val="0066CC"/>
                </a:solidFill>
              </a:rPr>
              <a:t>until all nodes in N'</a:t>
            </a:r>
            <a:r>
              <a:rPr lang="en-US" altLang="zh-CN" sz="1050" dirty="0">
                <a:solidFill>
                  <a:srgbClr val="0066CC"/>
                </a:solidFill>
              </a:rPr>
              <a:t> </a:t>
            </a:r>
          </a:p>
          <a:p>
            <a:pPr marL="642938" lvl="2" indent="0">
              <a:spcBef>
                <a:spcPts val="0"/>
              </a:spcBef>
              <a:buNone/>
            </a:pPr>
            <a:endParaRPr lang="en-US" altLang="zh-CN" sz="1050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1" name="Text Box 9"/>
          <p:cNvSpPr txBox="1">
            <a:spLocks noChangeArrowheads="1"/>
          </p:cNvSpPr>
          <p:nvPr/>
        </p:nvSpPr>
        <p:spPr bwMode="auto">
          <a:xfrm>
            <a:off x="1402659" y="3172960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Step</a:t>
            </a:r>
          </a:p>
        </p:txBody>
      </p:sp>
      <p:sp>
        <p:nvSpPr>
          <p:cNvPr id="142" name="Text Box 10"/>
          <p:cNvSpPr txBox="1">
            <a:spLocks noChangeArrowheads="1"/>
          </p:cNvSpPr>
          <p:nvPr/>
        </p:nvSpPr>
        <p:spPr bwMode="auto">
          <a:xfrm>
            <a:off x="2583193" y="3180104"/>
            <a:ext cx="36740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N</a:t>
            </a:r>
            <a:r>
              <a:rPr lang="en-US" altLang="zh-CN" sz="1500" dirty="0">
                <a:cs typeface="Arial" panose="020B0604020202020204" pitchFamily="34" charset="0"/>
              </a:rPr>
              <a:t>'</a:t>
            </a:r>
            <a:endParaRPr lang="en-US" altLang="zh-CN" sz="1500" dirty="0"/>
          </a:p>
        </p:txBody>
      </p: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165816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169388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165816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169388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180104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1519470" y="3436088"/>
            <a:ext cx="6379369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1637342" y="366468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9" name="Text Box 9"/>
          <p:cNvSpPr txBox="1">
            <a:spLocks noChangeArrowheads="1"/>
          </p:cNvSpPr>
          <p:nvPr/>
        </p:nvSpPr>
        <p:spPr bwMode="auto">
          <a:xfrm>
            <a:off x="1671964" y="339640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0</a:t>
            </a:r>
          </a:p>
        </p:txBody>
      </p:sp>
      <p:sp>
        <p:nvSpPr>
          <p:cNvPr id="160" name="Text Box 10"/>
          <p:cNvSpPr txBox="1">
            <a:spLocks noChangeArrowheads="1"/>
          </p:cNvSpPr>
          <p:nvPr/>
        </p:nvSpPr>
        <p:spPr bwMode="auto">
          <a:xfrm>
            <a:off x="2660137" y="3403552"/>
            <a:ext cx="29046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</a:p>
        </p:txBody>
      </p:sp>
      <p:sp>
        <p:nvSpPr>
          <p:cNvPr id="161" name="Text Box 11"/>
          <p:cNvSpPr txBox="1">
            <a:spLocks noChangeArrowheads="1"/>
          </p:cNvSpPr>
          <p:nvPr/>
        </p:nvSpPr>
        <p:spPr bwMode="auto">
          <a:xfrm>
            <a:off x="3567600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4528435" y="3392836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5,u</a:t>
            </a:r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38926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1,u</a:t>
            </a:r>
          </a:p>
        </p:txBody>
      </p:sp>
      <p:sp>
        <p:nvSpPr>
          <p:cNvPr id="164" name="Text Box 14"/>
          <p:cNvSpPr txBox="1">
            <a:spLocks noChangeArrowheads="1"/>
          </p:cNvSpPr>
          <p:nvPr/>
        </p:nvSpPr>
        <p:spPr bwMode="auto">
          <a:xfrm>
            <a:off x="6545412" y="3392836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65" name="Text Box 15"/>
          <p:cNvSpPr txBox="1">
            <a:spLocks noChangeArrowheads="1"/>
          </p:cNvSpPr>
          <p:nvPr/>
        </p:nvSpPr>
        <p:spPr bwMode="auto">
          <a:xfrm>
            <a:off x="7484815" y="340355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50" name="Freeform 320"/>
          <p:cNvSpPr>
            <a:spLocks/>
          </p:cNvSpPr>
          <p:nvPr/>
        </p:nvSpPr>
        <p:spPr bwMode="auto">
          <a:xfrm>
            <a:off x="467545" y="1798084"/>
            <a:ext cx="344207" cy="1416124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0066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350">
              <a:solidFill>
                <a:srgbClr val="0066FF"/>
              </a:solidFill>
            </a:endParaRPr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1637342" y="3896627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2" name="Text Box 9"/>
          <p:cNvSpPr txBox="1">
            <a:spLocks noChangeArrowheads="1"/>
          </p:cNvSpPr>
          <p:nvPr/>
        </p:nvSpPr>
        <p:spPr bwMode="auto">
          <a:xfrm>
            <a:off x="1671964" y="3639318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1</a:t>
            </a:r>
          </a:p>
        </p:txBody>
      </p:sp>
      <p:sp>
        <p:nvSpPr>
          <p:cNvPr id="153" name="Text Box 10"/>
          <p:cNvSpPr txBox="1">
            <a:spLocks noChangeArrowheads="1"/>
          </p:cNvSpPr>
          <p:nvPr/>
        </p:nvSpPr>
        <p:spPr bwMode="auto">
          <a:xfrm>
            <a:off x="2575177" y="3646462"/>
            <a:ext cx="3754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u</a:t>
            </a:r>
            <a:r>
              <a:rPr lang="en-US" altLang="zh-CN" sz="15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4" name="Text Box 11"/>
          <p:cNvSpPr txBox="1">
            <a:spLocks noChangeArrowheads="1"/>
          </p:cNvSpPr>
          <p:nvPr/>
        </p:nvSpPr>
        <p:spPr bwMode="auto">
          <a:xfrm>
            <a:off x="3567600" y="3632175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55" name="Text Box 12"/>
          <p:cNvSpPr txBox="1">
            <a:spLocks noChangeArrowheads="1"/>
          </p:cNvSpPr>
          <p:nvPr/>
        </p:nvSpPr>
        <p:spPr bwMode="auto">
          <a:xfrm>
            <a:off x="4549274" y="3635746"/>
            <a:ext cx="41229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4,x</a:t>
            </a:r>
          </a:p>
        </p:txBody>
      </p:sp>
      <p:sp>
        <p:nvSpPr>
          <p:cNvPr id="157" name="Text Box 14"/>
          <p:cNvSpPr txBox="1">
            <a:spLocks noChangeArrowheads="1"/>
          </p:cNvSpPr>
          <p:nvPr/>
        </p:nvSpPr>
        <p:spPr bwMode="auto">
          <a:xfrm>
            <a:off x="6481293" y="3635746"/>
            <a:ext cx="4090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2,x</a:t>
            </a:r>
          </a:p>
        </p:txBody>
      </p:sp>
      <p:sp>
        <p:nvSpPr>
          <p:cNvPr id="173" name="Line 17"/>
          <p:cNvSpPr>
            <a:spLocks noChangeShapeType="1"/>
          </p:cNvSpPr>
          <p:nvPr/>
        </p:nvSpPr>
        <p:spPr bwMode="auto">
          <a:xfrm>
            <a:off x="1637342" y="4131046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4" name="Text Box 9"/>
          <p:cNvSpPr txBox="1">
            <a:spLocks noChangeArrowheads="1"/>
          </p:cNvSpPr>
          <p:nvPr/>
        </p:nvSpPr>
        <p:spPr bwMode="auto">
          <a:xfrm>
            <a:off x="1671964" y="3873737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</a:t>
            </a:r>
          </a:p>
        </p:txBody>
      </p:sp>
      <p:sp>
        <p:nvSpPr>
          <p:cNvPr id="175" name="Text Box 10"/>
          <p:cNvSpPr txBox="1">
            <a:spLocks noChangeArrowheads="1"/>
          </p:cNvSpPr>
          <p:nvPr/>
        </p:nvSpPr>
        <p:spPr bwMode="auto">
          <a:xfrm>
            <a:off x="2485409" y="3880881"/>
            <a:ext cx="46519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</a:t>
            </a:r>
            <a:r>
              <a:rPr lang="en-US" altLang="zh-CN" sz="1500" dirty="0" err="1">
                <a:solidFill>
                  <a:srgbClr val="FF0000"/>
                </a:solidFill>
              </a:rPr>
              <a:t>y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76" name="Text Box 11"/>
          <p:cNvSpPr txBox="1">
            <a:spLocks noChangeArrowheads="1"/>
          </p:cNvSpPr>
          <p:nvPr/>
        </p:nvSpPr>
        <p:spPr bwMode="auto">
          <a:xfrm>
            <a:off x="3567600" y="3866593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2,u</a:t>
            </a:r>
          </a:p>
        </p:txBody>
      </p:sp>
      <p:sp>
        <p:nvSpPr>
          <p:cNvPr id="177" name="Text Box 12"/>
          <p:cNvSpPr txBox="1">
            <a:spLocks noChangeArrowheads="1"/>
          </p:cNvSpPr>
          <p:nvPr/>
        </p:nvSpPr>
        <p:spPr bwMode="auto">
          <a:xfrm>
            <a:off x="4544465" y="3870165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3,y</a:t>
            </a:r>
          </a:p>
        </p:txBody>
      </p:sp>
      <p:sp>
        <p:nvSpPr>
          <p:cNvPr id="179" name="Text Box 15"/>
          <p:cNvSpPr txBox="1">
            <a:spLocks noChangeArrowheads="1"/>
          </p:cNvSpPr>
          <p:nvPr/>
        </p:nvSpPr>
        <p:spPr bwMode="auto">
          <a:xfrm>
            <a:off x="7412680" y="3880881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sp>
        <p:nvSpPr>
          <p:cNvPr id="181" name="Text Box 15"/>
          <p:cNvSpPr txBox="1">
            <a:spLocks noChangeArrowheads="1"/>
          </p:cNvSpPr>
          <p:nvPr/>
        </p:nvSpPr>
        <p:spPr bwMode="auto">
          <a:xfrm>
            <a:off x="7484815" y="3646462"/>
            <a:ext cx="3449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185" name="Line 17"/>
          <p:cNvSpPr>
            <a:spLocks noChangeShapeType="1"/>
          </p:cNvSpPr>
          <p:nvPr/>
        </p:nvSpPr>
        <p:spPr bwMode="auto">
          <a:xfrm>
            <a:off x="1637342" y="4355768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6" name="Text Box 9"/>
          <p:cNvSpPr txBox="1">
            <a:spLocks noChangeArrowheads="1"/>
          </p:cNvSpPr>
          <p:nvPr/>
        </p:nvSpPr>
        <p:spPr bwMode="auto">
          <a:xfrm>
            <a:off x="1671964" y="4098459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</a:t>
            </a:r>
          </a:p>
        </p:txBody>
      </p:sp>
      <p:sp>
        <p:nvSpPr>
          <p:cNvPr id="187" name="Text Box 10"/>
          <p:cNvSpPr txBox="1">
            <a:spLocks noChangeArrowheads="1"/>
          </p:cNvSpPr>
          <p:nvPr/>
        </p:nvSpPr>
        <p:spPr bwMode="auto">
          <a:xfrm>
            <a:off x="2395641" y="4105603"/>
            <a:ext cx="55496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uxy</a:t>
            </a:r>
            <a:r>
              <a:rPr lang="en-US" altLang="zh-CN" sz="1500" dirty="0" err="1">
                <a:solidFill>
                  <a:srgbClr val="FF0000"/>
                </a:solidFill>
              </a:rPr>
              <a:t>v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88" name="Text Box 12"/>
          <p:cNvSpPr txBox="1">
            <a:spLocks noChangeArrowheads="1"/>
          </p:cNvSpPr>
          <p:nvPr/>
        </p:nvSpPr>
        <p:spPr bwMode="auto">
          <a:xfrm>
            <a:off x="4544465" y="4094887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3,y</a:t>
            </a:r>
          </a:p>
        </p:txBody>
      </p:sp>
      <p:sp>
        <p:nvSpPr>
          <p:cNvPr id="189" name="Text Box 15"/>
          <p:cNvSpPr txBox="1">
            <a:spLocks noChangeArrowheads="1"/>
          </p:cNvSpPr>
          <p:nvPr/>
        </p:nvSpPr>
        <p:spPr bwMode="auto">
          <a:xfrm>
            <a:off x="7412680" y="4105603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cs typeface="Arial" panose="020B0604020202020204" pitchFamily="34" charset="0"/>
              </a:rPr>
              <a:t>4,y</a:t>
            </a:r>
          </a:p>
        </p:txBody>
      </p:sp>
      <p:sp>
        <p:nvSpPr>
          <p:cNvPr id="158" name="Line 17"/>
          <p:cNvSpPr>
            <a:spLocks noChangeShapeType="1"/>
          </p:cNvSpPr>
          <p:nvPr/>
        </p:nvSpPr>
        <p:spPr bwMode="auto">
          <a:xfrm>
            <a:off x="1637342" y="4580491"/>
            <a:ext cx="622220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6" name="Text Box 9"/>
          <p:cNvSpPr txBox="1">
            <a:spLocks noChangeArrowheads="1"/>
          </p:cNvSpPr>
          <p:nvPr/>
        </p:nvSpPr>
        <p:spPr bwMode="auto">
          <a:xfrm>
            <a:off x="1671964" y="4323182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4</a:t>
            </a:r>
          </a:p>
        </p:txBody>
      </p:sp>
      <p:sp>
        <p:nvSpPr>
          <p:cNvPr id="167" name="Text Box 10"/>
          <p:cNvSpPr txBox="1">
            <a:spLocks noChangeArrowheads="1"/>
          </p:cNvSpPr>
          <p:nvPr/>
        </p:nvSpPr>
        <p:spPr bwMode="auto">
          <a:xfrm>
            <a:off x="2260989" y="4330326"/>
            <a:ext cx="68961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uxyv</a:t>
            </a:r>
            <a:r>
              <a:rPr lang="en-US" altLang="zh-CN" sz="1500" dirty="0" err="1">
                <a:solidFill>
                  <a:srgbClr val="FF0000"/>
                </a:solidFill>
              </a:rPr>
              <a:t>w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69" name="Text Box 15"/>
          <p:cNvSpPr txBox="1">
            <a:spLocks noChangeArrowheads="1"/>
          </p:cNvSpPr>
          <p:nvPr/>
        </p:nvSpPr>
        <p:spPr bwMode="auto">
          <a:xfrm>
            <a:off x="7412680" y="4330326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solidFill>
                  <a:srgbClr val="FF0000"/>
                </a:solidFill>
                <a:cs typeface="Arial" panose="020B0604020202020204" pitchFamily="34" charset="0"/>
              </a:rPr>
              <a:t>4,y</a:t>
            </a:r>
          </a:p>
        </p:txBody>
      </p:sp>
      <p:cxnSp>
        <p:nvCxnSpPr>
          <p:cNvPr id="8" name="直接箭头连接符 7"/>
          <p:cNvCxnSpPr>
            <a:stCxn id="169" idx="1"/>
          </p:cNvCxnSpPr>
          <p:nvPr/>
        </p:nvCxnSpPr>
        <p:spPr>
          <a:xfrm flipH="1">
            <a:off x="2914677" y="4491909"/>
            <a:ext cx="4498003" cy="226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 Box 9"/>
          <p:cNvSpPr txBox="1">
            <a:spLocks noChangeArrowheads="1"/>
          </p:cNvSpPr>
          <p:nvPr/>
        </p:nvSpPr>
        <p:spPr bwMode="auto">
          <a:xfrm>
            <a:off x="1671964" y="4547545"/>
            <a:ext cx="28565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5</a:t>
            </a:r>
          </a:p>
        </p:txBody>
      </p:sp>
      <p:sp>
        <p:nvSpPr>
          <p:cNvPr id="171" name="Text Box 10"/>
          <p:cNvSpPr txBox="1">
            <a:spLocks noChangeArrowheads="1"/>
          </p:cNvSpPr>
          <p:nvPr/>
        </p:nvSpPr>
        <p:spPr bwMode="auto">
          <a:xfrm>
            <a:off x="2172824" y="4554689"/>
            <a:ext cx="77777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 err="1"/>
              <a:t>uxyvw</a:t>
            </a:r>
            <a:r>
              <a:rPr lang="en-US" altLang="zh-CN" sz="1500" dirty="0" err="1">
                <a:solidFill>
                  <a:srgbClr val="FF0000"/>
                </a:solidFill>
              </a:rPr>
              <a:t>z</a:t>
            </a: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56" name="灯片编号占位符 2">
            <a:extLst>
              <a:ext uri="{FF2B5EF4-FFF2-40B4-BE49-F238E27FC236}">
                <a16:creationId xmlns:a16="http://schemas.microsoft.com/office/drawing/2014/main" id="{4FAEFAE0-05CE-4779-AF55-0BF6D0EC754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168" name="AutoShape 5">
            <a:extLst>
              <a:ext uri="{FF2B5EF4-FFF2-40B4-BE49-F238E27FC236}">
                <a16:creationId xmlns:a16="http://schemas.microsoft.com/office/drawing/2014/main" id="{42042494-9802-448F-AF02-F8C1C8C37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6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6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spcAft>
                <a:spcPts val="900"/>
              </a:spcAft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marL="642938" lvl="2" indent="0">
              <a:spcBef>
                <a:spcPts val="0"/>
              </a:spcBef>
              <a:buNone/>
            </a:pPr>
            <a:endParaRPr lang="en-US" altLang="zh-CN" sz="1050" dirty="0">
              <a:solidFill>
                <a:srgbClr val="0066CC"/>
              </a:solidFill>
            </a:endParaRPr>
          </a:p>
        </p:txBody>
      </p:sp>
      <p:grpSp>
        <p:nvGrpSpPr>
          <p:cNvPr id="69" name="Group 2"/>
          <p:cNvGrpSpPr>
            <a:grpSpLocks/>
          </p:cNvGrpSpPr>
          <p:nvPr/>
        </p:nvGrpSpPr>
        <p:grpSpPr bwMode="auto">
          <a:xfrm>
            <a:off x="5241466" y="1007149"/>
            <a:ext cx="2678906" cy="1677590"/>
            <a:chOff x="3162" y="1071"/>
            <a:chExt cx="2250" cy="1409"/>
          </a:xfrm>
        </p:grpSpPr>
        <p:sp>
          <p:nvSpPr>
            <p:cNvPr id="7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3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4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7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8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3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4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7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8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99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7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12" name="Group 44"/>
            <p:cNvGrpSpPr>
              <a:grpSpLocks/>
            </p:cNvGrpSpPr>
            <p:nvPr/>
          </p:nvGrpSpPr>
          <p:grpSpPr bwMode="auto">
            <a:xfrm>
              <a:off x="3261" y="1733"/>
              <a:ext cx="239" cy="271"/>
              <a:chOff x="2932" y="2414"/>
              <a:chExt cx="243" cy="271"/>
            </a:xfrm>
          </p:grpSpPr>
          <p:sp>
            <p:nvSpPr>
              <p:cNvPr id="128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46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3" name="Group 47"/>
            <p:cNvGrpSpPr>
              <a:grpSpLocks/>
            </p:cNvGrpSpPr>
            <p:nvPr/>
          </p:nvGrpSpPr>
          <p:grpSpPr bwMode="auto">
            <a:xfrm>
              <a:off x="4431" y="2117"/>
              <a:ext cx="239" cy="271"/>
              <a:chOff x="2932" y="2414"/>
              <a:chExt cx="243" cy="271"/>
            </a:xfrm>
          </p:grpSpPr>
          <p:sp>
            <p:nvSpPr>
              <p:cNvPr id="126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Text Box 49"/>
              <p:cNvSpPr txBox="1">
                <a:spLocks noChangeArrowheads="1"/>
              </p:cNvSpPr>
              <p:nvPr/>
            </p:nvSpPr>
            <p:spPr bwMode="auto">
              <a:xfrm>
                <a:off x="2932" y="2414"/>
                <a:ext cx="2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Group 50"/>
            <p:cNvGrpSpPr>
              <a:grpSpLocks/>
            </p:cNvGrpSpPr>
            <p:nvPr/>
          </p:nvGrpSpPr>
          <p:grpSpPr bwMode="auto">
            <a:xfrm>
              <a:off x="3740" y="2084"/>
              <a:ext cx="270" cy="310"/>
              <a:chOff x="2917" y="2384"/>
              <a:chExt cx="271" cy="310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2"/>
              <p:cNvSpPr txBox="1">
                <a:spLocks noChangeArrowheads="1"/>
              </p:cNvSpPr>
              <p:nvPr/>
            </p:nvSpPr>
            <p:spPr bwMode="auto">
              <a:xfrm>
                <a:off x="2917" y="2384"/>
                <a:ext cx="27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115" name="Group 53"/>
            <p:cNvGrpSpPr>
              <a:grpSpLocks/>
            </p:cNvGrpSpPr>
            <p:nvPr/>
          </p:nvGrpSpPr>
          <p:grpSpPr bwMode="auto">
            <a:xfrm>
              <a:off x="4411" y="1427"/>
              <a:ext cx="266" cy="271"/>
              <a:chOff x="2918" y="2414"/>
              <a:chExt cx="270" cy="271"/>
            </a:xfrm>
          </p:grpSpPr>
          <p:sp>
            <p:nvSpPr>
              <p:cNvPr id="122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 Box 55"/>
              <p:cNvSpPr txBox="1">
                <a:spLocks noChangeArrowheads="1"/>
              </p:cNvSpPr>
              <p:nvPr/>
            </p:nvSpPr>
            <p:spPr bwMode="auto">
              <a:xfrm>
                <a:off x="2918" y="2414"/>
                <a:ext cx="27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6" name="Group 56"/>
            <p:cNvGrpSpPr>
              <a:grpSpLocks/>
            </p:cNvGrpSpPr>
            <p:nvPr/>
          </p:nvGrpSpPr>
          <p:grpSpPr bwMode="auto">
            <a:xfrm>
              <a:off x="3742" y="1427"/>
              <a:ext cx="233" cy="271"/>
              <a:chOff x="2934" y="2414"/>
              <a:chExt cx="237" cy="271"/>
            </a:xfrm>
          </p:grpSpPr>
          <p:sp>
            <p:nvSpPr>
              <p:cNvPr id="120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Text Box 58"/>
              <p:cNvSpPr txBox="1">
                <a:spLocks noChangeArrowheads="1"/>
              </p:cNvSpPr>
              <p:nvPr/>
            </p:nvSpPr>
            <p:spPr bwMode="auto">
              <a:xfrm>
                <a:off x="2934" y="241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59"/>
            <p:cNvGrpSpPr>
              <a:grpSpLocks/>
            </p:cNvGrpSpPr>
            <p:nvPr/>
          </p:nvGrpSpPr>
          <p:grpSpPr bwMode="auto">
            <a:xfrm>
              <a:off x="4990" y="1745"/>
              <a:ext cx="258" cy="310"/>
              <a:chOff x="2921" y="2384"/>
              <a:chExt cx="261" cy="310"/>
            </a:xfrm>
          </p:grpSpPr>
          <p:sp>
            <p:nvSpPr>
              <p:cNvPr id="118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61"/>
              <p:cNvSpPr txBox="1">
                <a:spLocks noChangeArrowheads="1"/>
              </p:cNvSpPr>
              <p:nvPr/>
            </p:nvSpPr>
            <p:spPr bwMode="auto">
              <a:xfrm>
                <a:off x="2921" y="2384"/>
                <a:ext cx="26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5496790" y="1007149"/>
            <a:ext cx="2034796" cy="1632392"/>
            <a:chOff x="5402141" y="1341276"/>
            <a:chExt cx="2713060" cy="2176523"/>
          </a:xfrm>
        </p:grpSpPr>
        <p:sp>
          <p:nvSpPr>
            <p:cNvPr id="131" name="Text Box 62"/>
            <p:cNvSpPr txBox="1">
              <a:spLocks noChangeArrowheads="1"/>
            </p:cNvSpPr>
            <p:nvPr/>
          </p:nvSpPr>
          <p:spPr bwMode="auto">
            <a:xfrm>
              <a:off x="5522880" y="2060413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6075329" y="24080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" name="Text Box 64"/>
            <p:cNvSpPr txBox="1">
              <a:spLocks noChangeArrowheads="1"/>
            </p:cNvSpPr>
            <p:nvPr/>
          </p:nvSpPr>
          <p:spPr bwMode="auto">
            <a:xfrm>
              <a:off x="5402141" y="2746214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4" name="Text Box 65"/>
            <p:cNvSpPr txBox="1">
              <a:spLocks noChangeArrowheads="1"/>
            </p:cNvSpPr>
            <p:nvPr/>
          </p:nvSpPr>
          <p:spPr bwMode="auto">
            <a:xfrm>
              <a:off x="6684929" y="255571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Box 66"/>
            <p:cNvSpPr txBox="1">
              <a:spLocks noChangeArrowheads="1"/>
            </p:cNvSpPr>
            <p:nvPr/>
          </p:nvSpPr>
          <p:spPr bwMode="auto">
            <a:xfrm>
              <a:off x="6602291" y="3117690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6" name="Text Box 67"/>
            <p:cNvSpPr txBox="1">
              <a:spLocks noChangeArrowheads="1"/>
            </p:cNvSpPr>
            <p:nvPr/>
          </p:nvSpPr>
          <p:spPr bwMode="auto">
            <a:xfrm>
              <a:off x="7173791" y="2436651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Box 68"/>
            <p:cNvSpPr txBox="1">
              <a:spLocks noChangeArrowheads="1"/>
            </p:cNvSpPr>
            <p:nvPr/>
          </p:nvSpPr>
          <p:spPr bwMode="auto">
            <a:xfrm>
              <a:off x="7727916" y="285575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8" name="Text Box 69"/>
            <p:cNvSpPr txBox="1">
              <a:spLocks noChangeArrowheads="1"/>
            </p:cNvSpPr>
            <p:nvPr/>
          </p:nvSpPr>
          <p:spPr bwMode="auto">
            <a:xfrm>
              <a:off x="7685055" y="2003264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Box 70"/>
            <p:cNvSpPr txBox="1">
              <a:spLocks noChangeArrowheads="1"/>
            </p:cNvSpPr>
            <p:nvPr/>
          </p:nvSpPr>
          <p:spPr bwMode="auto">
            <a:xfrm>
              <a:off x="6518242" y="17651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0" name="Text Box 71"/>
            <p:cNvSpPr txBox="1">
              <a:spLocks noChangeArrowheads="1"/>
            </p:cNvSpPr>
            <p:nvPr/>
          </p:nvSpPr>
          <p:spPr bwMode="auto">
            <a:xfrm>
              <a:off x="5961029" y="1341276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3" name="Text Box 11"/>
          <p:cNvSpPr txBox="1">
            <a:spLocks noChangeArrowheads="1"/>
          </p:cNvSpPr>
          <p:nvPr/>
        </p:nvSpPr>
        <p:spPr bwMode="auto">
          <a:xfrm>
            <a:off x="3126774" y="3430630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D(v),p(v)</a:t>
            </a:r>
          </a:p>
        </p:txBody>
      </p:sp>
      <p:sp>
        <p:nvSpPr>
          <p:cNvPr id="144" name="Text Box 12"/>
          <p:cNvSpPr txBox="1">
            <a:spLocks noChangeArrowheads="1"/>
          </p:cNvSpPr>
          <p:nvPr/>
        </p:nvSpPr>
        <p:spPr bwMode="auto">
          <a:xfrm>
            <a:off x="3997842" y="3434202"/>
            <a:ext cx="9637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D(w),p(w)</a:t>
            </a:r>
          </a:p>
        </p:txBody>
      </p:sp>
      <p:sp>
        <p:nvSpPr>
          <p:cNvPr id="145" name="Text Box 13"/>
          <p:cNvSpPr txBox="1">
            <a:spLocks noChangeArrowheads="1"/>
          </p:cNvSpPr>
          <p:nvPr/>
        </p:nvSpPr>
        <p:spPr bwMode="auto">
          <a:xfrm>
            <a:off x="5054489" y="3430630"/>
            <a:ext cx="86434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D(x),p(x)</a:t>
            </a:r>
          </a:p>
        </p:txBody>
      </p:sp>
      <p:sp>
        <p:nvSpPr>
          <p:cNvPr id="146" name="Text Box 14"/>
          <p:cNvSpPr txBox="1">
            <a:spLocks noChangeArrowheads="1"/>
          </p:cNvSpPr>
          <p:nvPr/>
        </p:nvSpPr>
        <p:spPr bwMode="auto">
          <a:xfrm>
            <a:off x="6016422" y="3434202"/>
            <a:ext cx="87395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D(y),p(y)</a:t>
            </a:r>
          </a:p>
        </p:txBody>
      </p:sp>
      <p:sp>
        <p:nvSpPr>
          <p:cNvPr id="147" name="Text Box 15"/>
          <p:cNvSpPr txBox="1">
            <a:spLocks noChangeArrowheads="1"/>
          </p:cNvSpPr>
          <p:nvPr/>
        </p:nvSpPr>
        <p:spPr bwMode="auto">
          <a:xfrm>
            <a:off x="6959031" y="3444918"/>
            <a:ext cx="87075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/>
              <a:t>D(z),p(z)</a:t>
            </a:r>
          </a:p>
        </p:txBody>
      </p:sp>
      <p:sp>
        <p:nvSpPr>
          <p:cNvPr id="148" name="Line 16"/>
          <p:cNvSpPr>
            <a:spLocks noChangeShapeType="1"/>
          </p:cNvSpPr>
          <p:nvPr/>
        </p:nvSpPr>
        <p:spPr bwMode="auto">
          <a:xfrm>
            <a:off x="3115635" y="3702689"/>
            <a:ext cx="4783204" cy="535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9" name="Line 17"/>
          <p:cNvSpPr>
            <a:spLocks noChangeShapeType="1"/>
          </p:cNvSpPr>
          <p:nvPr/>
        </p:nvSpPr>
        <p:spPr bwMode="auto">
          <a:xfrm>
            <a:off x="3595332" y="3929502"/>
            <a:ext cx="426421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3" name="Text Box 13"/>
          <p:cNvSpPr txBox="1">
            <a:spLocks noChangeArrowheads="1"/>
          </p:cNvSpPr>
          <p:nvPr/>
        </p:nvSpPr>
        <p:spPr bwMode="auto">
          <a:xfrm>
            <a:off x="5485697" y="3654079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1,u</a:t>
            </a:r>
          </a:p>
        </p:txBody>
      </p:sp>
      <p:sp>
        <p:nvSpPr>
          <p:cNvPr id="151" name="Line 17"/>
          <p:cNvSpPr>
            <a:spLocks noChangeShapeType="1"/>
          </p:cNvSpPr>
          <p:nvPr/>
        </p:nvSpPr>
        <p:spPr bwMode="auto">
          <a:xfrm>
            <a:off x="3595332" y="4161441"/>
            <a:ext cx="426421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7" name="Text Box 14"/>
          <p:cNvSpPr txBox="1">
            <a:spLocks noChangeArrowheads="1"/>
          </p:cNvSpPr>
          <p:nvPr/>
        </p:nvSpPr>
        <p:spPr bwMode="auto">
          <a:xfrm>
            <a:off x="6481293" y="3900560"/>
            <a:ext cx="40908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2,x</a:t>
            </a:r>
          </a:p>
        </p:txBody>
      </p:sp>
      <p:sp>
        <p:nvSpPr>
          <p:cNvPr id="173" name="Line 17"/>
          <p:cNvSpPr>
            <a:spLocks noChangeShapeType="1"/>
          </p:cNvSpPr>
          <p:nvPr/>
        </p:nvSpPr>
        <p:spPr bwMode="auto">
          <a:xfrm>
            <a:off x="3595332" y="4395860"/>
            <a:ext cx="426421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6" name="Text Box 11"/>
          <p:cNvSpPr txBox="1">
            <a:spLocks noChangeArrowheads="1"/>
          </p:cNvSpPr>
          <p:nvPr/>
        </p:nvSpPr>
        <p:spPr bwMode="auto">
          <a:xfrm>
            <a:off x="3567600" y="4131407"/>
            <a:ext cx="43313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2,u</a:t>
            </a:r>
          </a:p>
        </p:txBody>
      </p:sp>
      <p:sp>
        <p:nvSpPr>
          <p:cNvPr id="185" name="Line 17"/>
          <p:cNvSpPr>
            <a:spLocks noChangeShapeType="1"/>
          </p:cNvSpPr>
          <p:nvPr/>
        </p:nvSpPr>
        <p:spPr bwMode="auto">
          <a:xfrm>
            <a:off x="3595332" y="4620582"/>
            <a:ext cx="426421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8" name="Text Box 12"/>
          <p:cNvSpPr txBox="1">
            <a:spLocks noChangeArrowheads="1"/>
          </p:cNvSpPr>
          <p:nvPr/>
        </p:nvSpPr>
        <p:spPr bwMode="auto">
          <a:xfrm>
            <a:off x="4544465" y="4359701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3,y</a:t>
            </a:r>
          </a:p>
        </p:txBody>
      </p:sp>
      <p:sp>
        <p:nvSpPr>
          <p:cNvPr id="169" name="Text Box 15"/>
          <p:cNvSpPr txBox="1">
            <a:spLocks noChangeArrowheads="1"/>
          </p:cNvSpPr>
          <p:nvPr/>
        </p:nvSpPr>
        <p:spPr bwMode="auto">
          <a:xfrm>
            <a:off x="7412680" y="4595140"/>
            <a:ext cx="41710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500" dirty="0">
                <a:solidFill>
                  <a:srgbClr val="FF0000"/>
                </a:solidFill>
                <a:cs typeface="Arial" panose="020B0604020202020204" pitchFamily="34" charset="0"/>
              </a:rPr>
              <a:t>4,y</a:t>
            </a:r>
          </a:p>
        </p:txBody>
      </p:sp>
      <p:sp>
        <p:nvSpPr>
          <p:cNvPr id="156" name="Line 17"/>
          <p:cNvSpPr>
            <a:spLocks noChangeShapeType="1"/>
          </p:cNvSpPr>
          <p:nvPr/>
        </p:nvSpPr>
        <p:spPr bwMode="auto">
          <a:xfrm>
            <a:off x="3595332" y="4844946"/>
            <a:ext cx="426421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68" name="组合 167"/>
          <p:cNvGrpSpPr/>
          <p:nvPr/>
        </p:nvGrpSpPr>
        <p:grpSpPr>
          <a:xfrm>
            <a:off x="873015" y="1849392"/>
            <a:ext cx="2678906" cy="1677590"/>
            <a:chOff x="5156448" y="1495264"/>
            <a:chExt cx="3571875" cy="2236787"/>
          </a:xfrm>
        </p:grpSpPr>
        <p:grpSp>
          <p:nvGrpSpPr>
            <p:cNvPr id="172" name="Group 2"/>
            <p:cNvGrpSpPr>
              <a:grpSpLocks/>
            </p:cNvGrpSpPr>
            <p:nvPr/>
          </p:nvGrpSpPr>
          <p:grpSpPr bwMode="auto">
            <a:xfrm>
              <a:off x="5156448" y="1495264"/>
              <a:ext cx="3571875" cy="2236787"/>
              <a:chOff x="3162" y="1071"/>
              <a:chExt cx="2250" cy="1409"/>
            </a:xfrm>
          </p:grpSpPr>
          <p:sp>
            <p:nvSpPr>
              <p:cNvPr id="190" name="Freeform 3"/>
              <p:cNvSpPr>
                <a:spLocks/>
              </p:cNvSpPr>
              <p:nvPr/>
            </p:nvSpPr>
            <p:spPr bwMode="auto">
              <a:xfrm>
                <a:off x="3162" y="1071"/>
                <a:ext cx="2250" cy="1409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1" name="Freeform 4"/>
              <p:cNvSpPr>
                <a:spLocks/>
              </p:cNvSpPr>
              <p:nvPr/>
            </p:nvSpPr>
            <p:spPr bwMode="auto">
              <a:xfrm>
                <a:off x="3498" y="1620"/>
                <a:ext cx="342" cy="186"/>
              </a:xfrm>
              <a:custGeom>
                <a:avLst/>
                <a:gdLst>
                  <a:gd name="T0" fmla="*/ 0 w 342"/>
                  <a:gd name="T1" fmla="*/ 186 h 186"/>
                  <a:gd name="T2" fmla="*/ 342 w 342"/>
                  <a:gd name="T3" fmla="*/ 0 h 186"/>
                  <a:gd name="T4" fmla="*/ 0 60000 65536"/>
                  <a:gd name="T5" fmla="*/ 0 60000 65536"/>
                  <a:gd name="T6" fmla="*/ 0 w 342"/>
                  <a:gd name="T7" fmla="*/ 0 h 186"/>
                  <a:gd name="T8" fmla="*/ 342 w 342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2" h="186">
                    <a:moveTo>
                      <a:pt x="0" y="186"/>
                    </a:moveTo>
                    <a:lnTo>
                      <a:pt x="34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2" name="Oval 5"/>
              <p:cNvSpPr>
                <a:spLocks noChangeArrowheads="1"/>
              </p:cNvSpPr>
              <p:nvPr/>
            </p:nvSpPr>
            <p:spPr bwMode="auto">
              <a:xfrm>
                <a:off x="3238" y="186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Line 6"/>
              <p:cNvSpPr>
                <a:spLocks noChangeShapeType="1"/>
              </p:cNvSpPr>
              <p:nvPr/>
            </p:nvSpPr>
            <p:spPr bwMode="auto">
              <a:xfrm>
                <a:off x="3238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4" name="Line 7"/>
              <p:cNvSpPr>
                <a:spLocks noChangeShapeType="1"/>
              </p:cNvSpPr>
              <p:nvPr/>
            </p:nvSpPr>
            <p:spPr bwMode="auto">
              <a:xfrm>
                <a:off x="3551" y="185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5" name="Rectangle 8"/>
              <p:cNvSpPr>
                <a:spLocks noChangeArrowheads="1"/>
              </p:cNvSpPr>
              <p:nvPr/>
            </p:nvSpPr>
            <p:spPr bwMode="auto">
              <a:xfrm>
                <a:off x="3238" y="185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Oval 9"/>
              <p:cNvSpPr>
                <a:spLocks noChangeArrowheads="1"/>
              </p:cNvSpPr>
              <p:nvPr/>
            </p:nvSpPr>
            <p:spPr bwMode="auto">
              <a:xfrm>
                <a:off x="3235" y="179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" name="Oval 10"/>
              <p:cNvSpPr>
                <a:spLocks noChangeArrowheads="1"/>
              </p:cNvSpPr>
              <p:nvPr/>
            </p:nvSpPr>
            <p:spPr bwMode="auto">
              <a:xfrm>
                <a:off x="3712" y="224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Line 11"/>
              <p:cNvSpPr>
                <a:spLocks noChangeShapeType="1"/>
              </p:cNvSpPr>
              <p:nvPr/>
            </p:nvSpPr>
            <p:spPr bwMode="auto">
              <a:xfrm>
                <a:off x="3712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99" name="Line 12"/>
              <p:cNvSpPr>
                <a:spLocks noChangeShapeType="1"/>
              </p:cNvSpPr>
              <p:nvPr/>
            </p:nvSpPr>
            <p:spPr bwMode="auto">
              <a:xfrm>
                <a:off x="4025" y="224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0" name="Rectangle 13"/>
              <p:cNvSpPr>
                <a:spLocks noChangeArrowheads="1"/>
              </p:cNvSpPr>
              <p:nvPr/>
            </p:nvSpPr>
            <p:spPr bwMode="auto">
              <a:xfrm>
                <a:off x="3712" y="224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1" name="Oval 14"/>
              <p:cNvSpPr>
                <a:spLocks noChangeArrowheads="1"/>
              </p:cNvSpPr>
              <p:nvPr/>
            </p:nvSpPr>
            <p:spPr bwMode="auto">
              <a:xfrm>
                <a:off x="3709" y="218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2" name="Oval 15"/>
              <p:cNvSpPr>
                <a:spLocks noChangeArrowheads="1"/>
              </p:cNvSpPr>
              <p:nvPr/>
            </p:nvSpPr>
            <p:spPr bwMode="auto">
              <a:xfrm>
                <a:off x="3708" y="155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3" name="Line 16"/>
              <p:cNvSpPr>
                <a:spLocks noChangeShapeType="1"/>
              </p:cNvSpPr>
              <p:nvPr/>
            </p:nvSpPr>
            <p:spPr bwMode="auto">
              <a:xfrm>
                <a:off x="3708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4" name="Line 17"/>
              <p:cNvSpPr>
                <a:spLocks noChangeShapeType="1"/>
              </p:cNvSpPr>
              <p:nvPr/>
            </p:nvSpPr>
            <p:spPr bwMode="auto">
              <a:xfrm>
                <a:off x="4021" y="155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" name="Rectangle 18"/>
              <p:cNvSpPr>
                <a:spLocks noChangeArrowheads="1"/>
              </p:cNvSpPr>
              <p:nvPr/>
            </p:nvSpPr>
            <p:spPr bwMode="auto">
              <a:xfrm>
                <a:off x="3708" y="155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6" name="Oval 19"/>
              <p:cNvSpPr>
                <a:spLocks noChangeArrowheads="1"/>
              </p:cNvSpPr>
              <p:nvPr/>
            </p:nvSpPr>
            <p:spPr bwMode="auto">
              <a:xfrm>
                <a:off x="3705" y="149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7" name="Oval 20"/>
              <p:cNvSpPr>
                <a:spLocks noChangeArrowheads="1"/>
              </p:cNvSpPr>
              <p:nvPr/>
            </p:nvSpPr>
            <p:spPr bwMode="auto">
              <a:xfrm>
                <a:off x="4391" y="1555"/>
                <a:ext cx="312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" name="Line 21"/>
              <p:cNvSpPr>
                <a:spLocks noChangeShapeType="1"/>
              </p:cNvSpPr>
              <p:nvPr/>
            </p:nvSpPr>
            <p:spPr bwMode="auto">
              <a:xfrm>
                <a:off x="4391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9" name="Line 22"/>
              <p:cNvSpPr>
                <a:spLocks noChangeShapeType="1"/>
              </p:cNvSpPr>
              <p:nvPr/>
            </p:nvSpPr>
            <p:spPr bwMode="auto">
              <a:xfrm>
                <a:off x="4703" y="154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0" name="Rectangle 23"/>
              <p:cNvSpPr>
                <a:spLocks noChangeArrowheads="1"/>
              </p:cNvSpPr>
              <p:nvPr/>
            </p:nvSpPr>
            <p:spPr bwMode="auto">
              <a:xfrm>
                <a:off x="4391" y="1548"/>
                <a:ext cx="309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Oval 24"/>
              <p:cNvSpPr>
                <a:spLocks noChangeArrowheads="1"/>
              </p:cNvSpPr>
              <p:nvPr/>
            </p:nvSpPr>
            <p:spPr bwMode="auto">
              <a:xfrm>
                <a:off x="4394" y="1492"/>
                <a:ext cx="312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Oval 25"/>
              <p:cNvSpPr>
                <a:spLocks noChangeArrowheads="1"/>
              </p:cNvSpPr>
              <p:nvPr/>
            </p:nvSpPr>
            <p:spPr bwMode="auto">
              <a:xfrm>
                <a:off x="4401" y="2246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Line 26"/>
              <p:cNvSpPr>
                <a:spLocks noChangeShapeType="1"/>
              </p:cNvSpPr>
              <p:nvPr/>
            </p:nvSpPr>
            <p:spPr bwMode="auto">
              <a:xfrm>
                <a:off x="4401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4" name="Line 27"/>
              <p:cNvSpPr>
                <a:spLocks noChangeShapeType="1"/>
              </p:cNvSpPr>
              <p:nvPr/>
            </p:nvSpPr>
            <p:spPr bwMode="auto">
              <a:xfrm>
                <a:off x="4714" y="223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5" name="Rectangle 28"/>
              <p:cNvSpPr>
                <a:spLocks noChangeArrowheads="1"/>
              </p:cNvSpPr>
              <p:nvPr/>
            </p:nvSpPr>
            <p:spPr bwMode="auto">
              <a:xfrm>
                <a:off x="4401" y="2239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6" name="Oval 29"/>
              <p:cNvSpPr>
                <a:spLocks noChangeArrowheads="1"/>
              </p:cNvSpPr>
              <p:nvPr/>
            </p:nvSpPr>
            <p:spPr bwMode="auto">
              <a:xfrm>
                <a:off x="4398" y="2180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7" name="Oval 30"/>
              <p:cNvSpPr>
                <a:spLocks noChangeArrowheads="1"/>
              </p:cNvSpPr>
              <p:nvPr/>
            </p:nvSpPr>
            <p:spPr bwMode="auto">
              <a:xfrm>
                <a:off x="4966" y="19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8" name="Line 31"/>
              <p:cNvSpPr>
                <a:spLocks noChangeShapeType="1"/>
              </p:cNvSpPr>
              <p:nvPr/>
            </p:nvSpPr>
            <p:spPr bwMode="auto">
              <a:xfrm>
                <a:off x="4966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19" name="Line 32"/>
              <p:cNvSpPr>
                <a:spLocks noChangeShapeType="1"/>
              </p:cNvSpPr>
              <p:nvPr/>
            </p:nvSpPr>
            <p:spPr bwMode="auto">
              <a:xfrm>
                <a:off x="5279" y="18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0" name="Rectangle 33"/>
              <p:cNvSpPr>
                <a:spLocks noChangeArrowheads="1"/>
              </p:cNvSpPr>
              <p:nvPr/>
            </p:nvSpPr>
            <p:spPr bwMode="auto">
              <a:xfrm>
                <a:off x="4966" y="18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1" name="Oval 34"/>
              <p:cNvSpPr>
                <a:spLocks noChangeArrowheads="1"/>
              </p:cNvSpPr>
              <p:nvPr/>
            </p:nvSpPr>
            <p:spPr bwMode="auto">
              <a:xfrm>
                <a:off x="4963" y="18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2" name="Freeform 35"/>
              <p:cNvSpPr>
                <a:spLocks/>
              </p:cNvSpPr>
              <p:nvPr/>
            </p:nvSpPr>
            <p:spPr bwMode="auto">
              <a:xfrm>
                <a:off x="4557" y="1647"/>
                <a:ext cx="1" cy="522"/>
              </a:xfrm>
              <a:custGeom>
                <a:avLst/>
                <a:gdLst>
                  <a:gd name="T0" fmla="*/ 0 w 1"/>
                  <a:gd name="T1" fmla="*/ 0 h 522"/>
                  <a:gd name="T2" fmla="*/ 0 w 1"/>
                  <a:gd name="T3" fmla="*/ 522 h 522"/>
                  <a:gd name="T4" fmla="*/ 0 60000 65536"/>
                  <a:gd name="T5" fmla="*/ 0 60000 65536"/>
                  <a:gd name="T6" fmla="*/ 0 w 1"/>
                  <a:gd name="T7" fmla="*/ 0 h 522"/>
                  <a:gd name="T8" fmla="*/ 1 w 1"/>
                  <a:gd name="T9" fmla="*/ 522 h 5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22">
                    <a:moveTo>
                      <a:pt x="0" y="0"/>
                    </a:moveTo>
                    <a:lnTo>
                      <a:pt x="0" y="522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3" name="Freeform 38"/>
              <p:cNvSpPr>
                <a:spLocks/>
              </p:cNvSpPr>
              <p:nvPr/>
            </p:nvSpPr>
            <p:spPr bwMode="auto">
              <a:xfrm>
                <a:off x="4716" y="1986"/>
                <a:ext cx="366" cy="270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4" name="Freeform 39"/>
              <p:cNvSpPr>
                <a:spLocks/>
              </p:cNvSpPr>
              <p:nvPr/>
            </p:nvSpPr>
            <p:spPr bwMode="auto">
              <a:xfrm>
                <a:off x="4035" y="2268"/>
                <a:ext cx="366" cy="1"/>
              </a:xfrm>
              <a:custGeom>
                <a:avLst/>
                <a:gdLst>
                  <a:gd name="T0" fmla="*/ 366 w 366"/>
                  <a:gd name="T1" fmla="*/ 0 h 1"/>
                  <a:gd name="T2" fmla="*/ 0 w 366"/>
                  <a:gd name="T3" fmla="*/ 0 h 1"/>
                  <a:gd name="T4" fmla="*/ 0 60000 65536"/>
                  <a:gd name="T5" fmla="*/ 0 60000 65536"/>
                  <a:gd name="T6" fmla="*/ 0 w 366"/>
                  <a:gd name="T7" fmla="*/ 0 h 1"/>
                  <a:gd name="T8" fmla="*/ 366 w 36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1">
                    <a:moveTo>
                      <a:pt x="36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5" name="Freeform 40"/>
              <p:cNvSpPr>
                <a:spLocks/>
              </p:cNvSpPr>
              <p:nvPr/>
            </p:nvSpPr>
            <p:spPr bwMode="auto">
              <a:xfrm>
                <a:off x="3444" y="1944"/>
                <a:ext cx="276" cy="264"/>
              </a:xfrm>
              <a:custGeom>
                <a:avLst/>
                <a:gdLst>
                  <a:gd name="T0" fmla="*/ 276 w 276"/>
                  <a:gd name="T1" fmla="*/ 264 h 264"/>
                  <a:gd name="T2" fmla="*/ 0 w 276"/>
                  <a:gd name="T3" fmla="*/ 0 h 264"/>
                  <a:gd name="T4" fmla="*/ 0 60000 65536"/>
                  <a:gd name="T5" fmla="*/ 0 60000 65536"/>
                  <a:gd name="T6" fmla="*/ 0 w 276"/>
                  <a:gd name="T7" fmla="*/ 0 h 264"/>
                  <a:gd name="T8" fmla="*/ 276 w 276"/>
                  <a:gd name="T9" fmla="*/ 264 h 2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264">
                    <a:moveTo>
                      <a:pt x="276" y="264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pSp>
            <p:nvGrpSpPr>
              <p:cNvPr id="226" name="Group 44"/>
              <p:cNvGrpSpPr>
                <a:grpSpLocks/>
              </p:cNvGrpSpPr>
              <p:nvPr/>
            </p:nvGrpSpPr>
            <p:grpSpPr bwMode="auto">
              <a:xfrm>
                <a:off x="3261" y="1733"/>
                <a:ext cx="239" cy="271"/>
                <a:chOff x="2932" y="2414"/>
                <a:chExt cx="243" cy="271"/>
              </a:xfrm>
            </p:grpSpPr>
            <p:sp>
              <p:nvSpPr>
                <p:cNvPr id="242" name="Rectangle 4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3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7" name="Group 47"/>
              <p:cNvGrpSpPr>
                <a:grpSpLocks/>
              </p:cNvGrpSpPr>
              <p:nvPr/>
            </p:nvGrpSpPr>
            <p:grpSpPr bwMode="auto">
              <a:xfrm>
                <a:off x="4431" y="2117"/>
                <a:ext cx="239" cy="271"/>
                <a:chOff x="2932" y="2414"/>
                <a:chExt cx="243" cy="271"/>
              </a:xfrm>
            </p:grpSpPr>
            <p:sp>
              <p:nvSpPr>
                <p:cNvPr id="240" name="Rectangle 4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932" y="2414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y</a:t>
                  </a:r>
                  <a:endParaRPr lang="en-US" altLang="zh-CN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8" name="Group 50"/>
              <p:cNvGrpSpPr>
                <a:grpSpLocks/>
              </p:cNvGrpSpPr>
              <p:nvPr/>
            </p:nvGrpSpPr>
            <p:grpSpPr bwMode="auto">
              <a:xfrm>
                <a:off x="3740" y="2084"/>
                <a:ext cx="270" cy="310"/>
                <a:chOff x="2917" y="2384"/>
                <a:chExt cx="271" cy="310"/>
              </a:xfrm>
            </p:grpSpPr>
            <p:sp>
              <p:nvSpPr>
                <p:cNvPr id="238" name="Rectangle 51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2917" y="2384"/>
                  <a:ext cx="27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</p:grpSp>
          <p:grpSp>
            <p:nvGrpSpPr>
              <p:cNvPr id="229" name="Group 53"/>
              <p:cNvGrpSpPr>
                <a:grpSpLocks/>
              </p:cNvGrpSpPr>
              <p:nvPr/>
            </p:nvGrpSpPr>
            <p:grpSpPr bwMode="auto">
              <a:xfrm>
                <a:off x="4411" y="1427"/>
                <a:ext cx="266" cy="271"/>
                <a:chOff x="2918" y="2414"/>
                <a:chExt cx="270" cy="271"/>
              </a:xfrm>
            </p:grpSpPr>
            <p:sp>
              <p:nvSpPr>
                <p:cNvPr id="236" name="Rectangle 5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918" y="2414"/>
                  <a:ext cx="27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w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0" name="Group 56"/>
              <p:cNvGrpSpPr>
                <a:grpSpLocks/>
              </p:cNvGrpSpPr>
              <p:nvPr/>
            </p:nvGrpSpPr>
            <p:grpSpPr bwMode="auto">
              <a:xfrm>
                <a:off x="3742" y="1427"/>
                <a:ext cx="233" cy="271"/>
                <a:chOff x="2934" y="2414"/>
                <a:chExt cx="237" cy="271"/>
              </a:xfrm>
            </p:grpSpPr>
            <p:sp>
              <p:nvSpPr>
                <p:cNvPr id="234" name="Rectangle 5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5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934" y="2414"/>
                  <a:ext cx="23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v</a:t>
                  </a:r>
                  <a:endParaRPr lang="en-US" altLang="zh-CN" dirty="0">
                    <a:solidFill>
                      <a:srgbClr val="FFFF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1" name="Group 59"/>
              <p:cNvGrpSpPr>
                <a:grpSpLocks/>
              </p:cNvGrpSpPr>
              <p:nvPr/>
            </p:nvGrpSpPr>
            <p:grpSpPr bwMode="auto">
              <a:xfrm>
                <a:off x="4990" y="1745"/>
                <a:ext cx="258" cy="310"/>
                <a:chOff x="2921" y="2384"/>
                <a:chExt cx="261" cy="310"/>
              </a:xfrm>
            </p:grpSpPr>
            <p:sp>
              <p:nvSpPr>
                <p:cNvPr id="232" name="Rectangle 6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921" y="2384"/>
                  <a:ext cx="261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>
                      <a:solidFill>
                        <a:srgbClr val="FFFF00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z</a:t>
                  </a:r>
                </a:p>
              </p:txBody>
            </p:sp>
          </p:grpSp>
        </p:grpSp>
        <p:sp>
          <p:nvSpPr>
            <p:cNvPr id="178" name="Text Box 62"/>
            <p:cNvSpPr txBox="1">
              <a:spLocks noChangeArrowheads="1"/>
            </p:cNvSpPr>
            <p:nvPr/>
          </p:nvSpPr>
          <p:spPr bwMode="auto">
            <a:xfrm>
              <a:off x="5617617" y="2214401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0" name="Text Box 64"/>
            <p:cNvSpPr txBox="1">
              <a:spLocks noChangeArrowheads="1"/>
            </p:cNvSpPr>
            <p:nvPr/>
          </p:nvSpPr>
          <p:spPr bwMode="auto">
            <a:xfrm>
              <a:off x="5496877" y="2900202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2" name="Text Box 66"/>
            <p:cNvSpPr txBox="1">
              <a:spLocks noChangeArrowheads="1"/>
            </p:cNvSpPr>
            <p:nvPr/>
          </p:nvSpPr>
          <p:spPr bwMode="auto">
            <a:xfrm>
              <a:off x="6697028" y="3271678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3" name="Text Box 67"/>
            <p:cNvSpPr txBox="1">
              <a:spLocks noChangeArrowheads="1"/>
            </p:cNvSpPr>
            <p:nvPr/>
          </p:nvSpPr>
          <p:spPr bwMode="auto">
            <a:xfrm>
              <a:off x="7268528" y="2590639"/>
              <a:ext cx="35095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Text Box 68"/>
            <p:cNvSpPr txBox="1">
              <a:spLocks noChangeArrowheads="1"/>
            </p:cNvSpPr>
            <p:nvPr/>
          </p:nvSpPr>
          <p:spPr bwMode="auto">
            <a:xfrm>
              <a:off x="7822655" y="3009739"/>
              <a:ext cx="38728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1289433" y="3639567"/>
            <a:ext cx="1510733" cy="1380455"/>
            <a:chOff x="5848826" y="4468714"/>
            <a:chExt cx="2014310" cy="1840606"/>
          </a:xfrm>
        </p:grpSpPr>
        <p:sp>
          <p:nvSpPr>
            <p:cNvPr id="245" name="矩形 244"/>
            <p:cNvSpPr/>
            <p:nvPr/>
          </p:nvSpPr>
          <p:spPr>
            <a:xfrm>
              <a:off x="5848826" y="4468714"/>
              <a:ext cx="2014310" cy="1840606"/>
            </a:xfrm>
            <a:prstGeom prst="rect">
              <a:avLst/>
            </a:prstGeom>
            <a:solidFill>
              <a:srgbClr val="FFDDD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246" name="Group 58"/>
            <p:cNvGrpSpPr>
              <a:grpSpLocks/>
            </p:cNvGrpSpPr>
            <p:nvPr/>
          </p:nvGrpSpPr>
          <p:grpSpPr bwMode="auto">
            <a:xfrm>
              <a:off x="5873061" y="4468715"/>
              <a:ext cx="1886778" cy="1816712"/>
              <a:chOff x="259" y="2771"/>
              <a:chExt cx="1508" cy="1452"/>
            </a:xfrm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</p:grpSpPr>
          <p:sp>
            <p:nvSpPr>
              <p:cNvPr id="247" name="Line 59"/>
              <p:cNvSpPr>
                <a:spLocks noChangeShapeType="1"/>
              </p:cNvSpPr>
              <p:nvPr/>
            </p:nvSpPr>
            <p:spPr bwMode="auto">
              <a:xfrm>
                <a:off x="1152" y="2880"/>
                <a:ext cx="8" cy="1322"/>
              </a:xfrm>
              <a:prstGeom prst="line">
                <a:avLst/>
              </a:prstGeom>
              <a:noFill/>
              <a:ln w="9525">
                <a:noFill/>
                <a:round/>
                <a:headEnd/>
                <a:tailEnd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48" name="Line 60"/>
              <p:cNvSpPr>
                <a:spLocks noChangeShapeType="1"/>
              </p:cNvSpPr>
              <p:nvPr/>
            </p:nvSpPr>
            <p:spPr bwMode="auto">
              <a:xfrm>
                <a:off x="357" y="3058"/>
                <a:ext cx="1363" cy="0"/>
              </a:xfrm>
              <a:prstGeom prst="line">
                <a:avLst/>
              </a:prstGeom>
              <a:noFill/>
              <a:ln w="9525">
                <a:noFill/>
                <a:round/>
                <a:headEnd/>
                <a:tailEnd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49" name="Text Box 61"/>
              <p:cNvSpPr txBox="1">
                <a:spLocks noChangeArrowheads="1"/>
              </p:cNvSpPr>
              <p:nvPr/>
            </p:nvSpPr>
            <p:spPr bwMode="auto">
              <a:xfrm>
                <a:off x="883" y="3063"/>
                <a:ext cx="267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</a:p>
            </p:txBody>
          </p:sp>
          <p:sp>
            <p:nvSpPr>
              <p:cNvPr id="250" name="Text Box 62"/>
              <p:cNvSpPr txBox="1">
                <a:spLocks noChangeArrowheads="1"/>
              </p:cNvSpPr>
              <p:nvPr/>
            </p:nvSpPr>
            <p:spPr bwMode="auto">
              <a:xfrm>
                <a:off x="876" y="3250"/>
                <a:ext cx="282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251" name="Text Box 63"/>
              <p:cNvSpPr txBox="1">
                <a:spLocks noChangeArrowheads="1"/>
              </p:cNvSpPr>
              <p:nvPr/>
            </p:nvSpPr>
            <p:spPr bwMode="auto">
              <a:xfrm>
                <a:off x="890" y="3485"/>
                <a:ext cx="272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252" name="Text Box 64"/>
              <p:cNvSpPr txBox="1">
                <a:spLocks noChangeArrowheads="1"/>
              </p:cNvSpPr>
              <p:nvPr/>
            </p:nvSpPr>
            <p:spPr bwMode="auto">
              <a:xfrm>
                <a:off x="875" y="3720"/>
                <a:ext cx="294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</a:p>
            </p:txBody>
          </p:sp>
          <p:sp>
            <p:nvSpPr>
              <p:cNvPr id="253" name="Text Box 65"/>
              <p:cNvSpPr txBox="1">
                <a:spLocks noChangeArrowheads="1"/>
              </p:cNvSpPr>
              <p:nvPr/>
            </p:nvSpPr>
            <p:spPr bwMode="auto">
              <a:xfrm>
                <a:off x="884" y="3946"/>
                <a:ext cx="274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254" name="Text Box 66"/>
              <p:cNvSpPr txBox="1">
                <a:spLocks noChangeArrowheads="1"/>
              </p:cNvSpPr>
              <p:nvPr/>
            </p:nvSpPr>
            <p:spPr bwMode="auto">
              <a:xfrm>
                <a:off x="1248" y="3047"/>
                <a:ext cx="487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050" dirty="0" err="1">
                    <a:latin typeface="Comic Sans MS" panose="030F0702030302020204" pitchFamily="66" charset="0"/>
                    <a:cs typeface="Arial" panose="020B0604020202020204" pitchFamily="34" charset="0"/>
                  </a:rPr>
                  <a:t>u,v</a:t>
                </a:r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55" name="Text Box 67"/>
              <p:cNvSpPr txBox="1">
                <a:spLocks noChangeArrowheads="1"/>
              </p:cNvSpPr>
              <p:nvPr/>
            </p:nvSpPr>
            <p:spPr bwMode="auto">
              <a:xfrm>
                <a:off x="1249" y="3249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050" dirty="0" err="1">
                    <a:latin typeface="Comic Sans MS" panose="030F0702030302020204" pitchFamily="66" charset="0"/>
                    <a:cs typeface="Arial" panose="020B0604020202020204" pitchFamily="34" charset="0"/>
                  </a:rPr>
                  <a:t>u,x</a:t>
                </a:r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56" name="Text Box 68"/>
              <p:cNvSpPr txBox="1">
                <a:spLocks noChangeArrowheads="1"/>
              </p:cNvSpPr>
              <p:nvPr/>
            </p:nvSpPr>
            <p:spPr bwMode="auto">
              <a:xfrm>
                <a:off x="1248" y="3500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050" dirty="0" err="1">
                    <a:latin typeface="Comic Sans MS" panose="030F0702030302020204" pitchFamily="66" charset="0"/>
                    <a:cs typeface="Arial" panose="020B0604020202020204" pitchFamily="34" charset="0"/>
                  </a:rPr>
                  <a:t>u,x</a:t>
                </a:r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257" name="Text Box 69"/>
              <p:cNvSpPr txBox="1">
                <a:spLocks noChangeArrowheads="1"/>
              </p:cNvSpPr>
              <p:nvPr/>
            </p:nvSpPr>
            <p:spPr bwMode="auto">
              <a:xfrm>
                <a:off x="1264" y="3718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(u,x)</a:t>
                </a:r>
              </a:p>
            </p:txBody>
          </p:sp>
          <p:sp>
            <p:nvSpPr>
              <p:cNvPr id="258" name="Text Box 70"/>
              <p:cNvSpPr txBox="1">
                <a:spLocks noChangeArrowheads="1"/>
              </p:cNvSpPr>
              <p:nvPr/>
            </p:nvSpPr>
            <p:spPr bwMode="auto">
              <a:xfrm>
                <a:off x="1254" y="3952"/>
                <a:ext cx="503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>
                    <a:latin typeface="Comic Sans MS" panose="030F0702030302020204" pitchFamily="66" charset="0"/>
                    <a:cs typeface="Arial" panose="020B0604020202020204" pitchFamily="34" charset="0"/>
                  </a:rPr>
                  <a:t>(u,x)</a:t>
                </a:r>
              </a:p>
            </p:txBody>
          </p:sp>
          <p:sp>
            <p:nvSpPr>
              <p:cNvPr id="259" name="Text Box 71"/>
              <p:cNvSpPr txBox="1">
                <a:spLocks noChangeArrowheads="1"/>
              </p:cNvSpPr>
              <p:nvPr/>
            </p:nvSpPr>
            <p:spPr bwMode="auto">
              <a:xfrm>
                <a:off x="259" y="2771"/>
                <a:ext cx="947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destination</a:t>
                </a:r>
              </a:p>
            </p:txBody>
          </p:sp>
          <p:sp>
            <p:nvSpPr>
              <p:cNvPr id="260" name="Text Box 72"/>
              <p:cNvSpPr txBox="1">
                <a:spLocks noChangeArrowheads="1"/>
              </p:cNvSpPr>
              <p:nvPr/>
            </p:nvSpPr>
            <p:spPr bwMode="auto">
              <a:xfrm>
                <a:off x="1232" y="2794"/>
                <a:ext cx="429" cy="27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050" dirty="0">
                    <a:latin typeface="Comic Sans MS" panose="030F0702030302020204" pitchFamily="66" charset="0"/>
                    <a:cs typeface="Arial" panose="020B0604020202020204" pitchFamily="34" charset="0"/>
                  </a:rPr>
                  <a:t>link</a:t>
                </a:r>
                <a:endPara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0" name="灯片编号占位符 2">
            <a:extLst>
              <a:ext uri="{FF2B5EF4-FFF2-40B4-BE49-F238E27FC236}">
                <a16:creationId xmlns:a16="http://schemas.microsoft.com/office/drawing/2014/main" id="{048450C2-4AE9-4126-A4F2-0FFD6918483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171" name="AutoShape 5">
            <a:extLst>
              <a:ext uri="{FF2B5EF4-FFF2-40B4-BE49-F238E27FC236}">
                <a16:creationId xmlns:a16="http://schemas.microsoft.com/office/drawing/2014/main" id="{3E2A29CD-FCF1-4C87-BD97-9E10AE5C9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1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课堂练习：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5584974" y="2316997"/>
            <a:ext cx="3163490" cy="2548705"/>
            <a:chOff x="415" y="860"/>
            <a:chExt cx="2910" cy="2281"/>
          </a:xfrm>
        </p:grpSpPr>
        <p:grpSp>
          <p:nvGrpSpPr>
            <p:cNvPr id="9" name="Group 3"/>
            <p:cNvGrpSpPr>
              <a:grpSpLocks/>
            </p:cNvGrpSpPr>
            <p:nvPr/>
          </p:nvGrpSpPr>
          <p:grpSpPr bwMode="auto">
            <a:xfrm>
              <a:off x="1290" y="2001"/>
              <a:ext cx="316" cy="289"/>
              <a:chOff x="1613" y="2015"/>
              <a:chExt cx="316" cy="289"/>
            </a:xfrm>
          </p:grpSpPr>
          <p:sp>
            <p:nvSpPr>
              <p:cNvPr id="71" name="Oval 4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Line 5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3" name="Line 6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Rectangle 7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" name="Oval 8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 9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 Box 10"/>
              <p:cNvSpPr txBox="1">
                <a:spLocks noChangeArrowheads="1"/>
              </p:cNvSpPr>
              <p:nvPr/>
            </p:nvSpPr>
            <p:spPr bwMode="auto">
              <a:xfrm>
                <a:off x="1614" y="2015"/>
                <a:ext cx="291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w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898" y="1962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1403" y="1481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4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3"/>
            <p:cNvGrpSpPr>
              <a:grpSpLocks/>
            </p:cNvGrpSpPr>
            <p:nvPr/>
          </p:nvGrpSpPr>
          <p:grpSpPr bwMode="auto">
            <a:xfrm>
              <a:off x="1299" y="2852"/>
              <a:ext cx="316" cy="289"/>
              <a:chOff x="1613" y="2015"/>
              <a:chExt cx="316" cy="289"/>
            </a:xfrm>
          </p:grpSpPr>
          <p:sp>
            <p:nvSpPr>
              <p:cNvPr id="64" name="Oval 14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Line 15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6" name="Line 16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7" name="Rectangle 17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18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Rectangle 19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Text Box 20"/>
              <p:cNvSpPr txBox="1">
                <a:spLocks noChangeArrowheads="1"/>
              </p:cNvSpPr>
              <p:nvPr/>
            </p:nvSpPr>
            <p:spPr bwMode="auto">
              <a:xfrm>
                <a:off x="1632" y="2015"/>
                <a:ext cx="255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v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Group 21"/>
            <p:cNvGrpSpPr>
              <a:grpSpLocks/>
            </p:cNvGrpSpPr>
            <p:nvPr/>
          </p:nvGrpSpPr>
          <p:grpSpPr bwMode="auto">
            <a:xfrm>
              <a:off x="1295" y="860"/>
              <a:ext cx="316" cy="289"/>
              <a:chOff x="1613" y="2015"/>
              <a:chExt cx="316" cy="289"/>
            </a:xfrm>
          </p:grpSpPr>
          <p:sp>
            <p:nvSpPr>
              <p:cNvPr id="57" name="Oval 22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Line 23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Oval 26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Rectangle 27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 Box 28"/>
              <p:cNvSpPr txBox="1">
                <a:spLocks noChangeArrowheads="1"/>
              </p:cNvSpPr>
              <p:nvPr/>
            </p:nvSpPr>
            <p:spPr bwMode="auto">
              <a:xfrm>
                <a:off x="1623" y="2015"/>
                <a:ext cx="275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29"/>
            <p:cNvGrpSpPr>
              <a:grpSpLocks/>
            </p:cNvGrpSpPr>
            <p:nvPr/>
          </p:nvGrpSpPr>
          <p:grpSpPr bwMode="auto">
            <a:xfrm>
              <a:off x="415" y="2032"/>
              <a:ext cx="316" cy="289"/>
              <a:chOff x="1613" y="2015"/>
              <a:chExt cx="316" cy="289"/>
            </a:xfrm>
          </p:grpSpPr>
          <p:sp>
            <p:nvSpPr>
              <p:cNvPr id="50" name="Oval 30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Line 31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2" name="Line 32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3" name="Rectangle 33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Oval 34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Rectangle 35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 Box 36"/>
              <p:cNvSpPr txBox="1">
                <a:spLocks noChangeArrowheads="1"/>
              </p:cNvSpPr>
              <p:nvPr/>
            </p:nvSpPr>
            <p:spPr bwMode="auto">
              <a:xfrm>
                <a:off x="1629" y="2015"/>
                <a:ext cx="261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</a:t>
                </a:r>
                <a:endParaRPr lang="en-US" altLang="zh-CN" dirty="0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Line 37"/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Line 38"/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39"/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Text Box 40"/>
            <p:cNvSpPr txBox="1">
              <a:spLocks noChangeArrowheads="1"/>
            </p:cNvSpPr>
            <p:nvPr/>
          </p:nvSpPr>
          <p:spPr bwMode="auto">
            <a:xfrm>
              <a:off x="745" y="1371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" name="Line 41"/>
            <p:cNvSpPr>
              <a:spLocks noChangeShapeType="1"/>
            </p:cNvSpPr>
            <p:nvPr/>
          </p:nvSpPr>
          <p:spPr bwMode="auto">
            <a:xfrm>
              <a:off x="1447" y="2206"/>
              <a:ext cx="7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Text Box 42"/>
            <p:cNvSpPr txBox="1">
              <a:spLocks noChangeArrowheads="1"/>
            </p:cNvSpPr>
            <p:nvPr/>
          </p:nvSpPr>
          <p:spPr bwMode="auto">
            <a:xfrm>
              <a:off x="1427" y="2410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3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731" y="2452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" name="Line 45"/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" name="Text Box 46"/>
            <p:cNvSpPr txBox="1">
              <a:spLocks noChangeArrowheads="1"/>
            </p:cNvSpPr>
            <p:nvPr/>
          </p:nvSpPr>
          <p:spPr bwMode="auto">
            <a:xfrm>
              <a:off x="1869" y="2572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4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47"/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6" name="Group 48"/>
            <p:cNvGrpSpPr>
              <a:grpSpLocks/>
            </p:cNvGrpSpPr>
            <p:nvPr/>
          </p:nvGrpSpPr>
          <p:grpSpPr bwMode="auto">
            <a:xfrm>
              <a:off x="2332" y="2025"/>
              <a:ext cx="316" cy="289"/>
              <a:chOff x="1613" y="2015"/>
              <a:chExt cx="316" cy="289"/>
            </a:xfrm>
          </p:grpSpPr>
          <p:sp>
            <p:nvSpPr>
              <p:cNvPr id="43" name="Oval 49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Line 50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5" name="Line 51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6" name="Rectangle 52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Oval 53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angle 54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Text Box 55"/>
              <p:cNvSpPr txBox="1">
                <a:spLocks noChangeArrowheads="1"/>
              </p:cNvSpPr>
              <p:nvPr/>
            </p:nvSpPr>
            <p:spPr bwMode="auto">
              <a:xfrm>
                <a:off x="1629" y="2015"/>
                <a:ext cx="261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y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Text Box 56"/>
            <p:cNvSpPr txBox="1">
              <a:spLocks noChangeArrowheads="1"/>
            </p:cNvSpPr>
            <p:nvPr/>
          </p:nvSpPr>
          <p:spPr bwMode="auto">
            <a:xfrm>
              <a:off x="1787" y="1724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8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8" name="Group 57"/>
            <p:cNvGrpSpPr>
              <a:grpSpLocks/>
            </p:cNvGrpSpPr>
            <p:nvPr/>
          </p:nvGrpSpPr>
          <p:grpSpPr bwMode="auto">
            <a:xfrm>
              <a:off x="3009" y="2006"/>
              <a:ext cx="316" cy="289"/>
              <a:chOff x="1613" y="2015"/>
              <a:chExt cx="316" cy="289"/>
            </a:xfrm>
          </p:grpSpPr>
          <p:sp>
            <p:nvSpPr>
              <p:cNvPr id="36" name="Oval 58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Line 59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" name="Line 60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" name="Rectangle 61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2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 63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 Box 64"/>
              <p:cNvSpPr txBox="1">
                <a:spLocks noChangeArrowheads="1"/>
              </p:cNvSpPr>
              <p:nvPr/>
            </p:nvSpPr>
            <p:spPr bwMode="auto">
              <a:xfrm>
                <a:off x="1628" y="2015"/>
                <a:ext cx="266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solidFill>
                      <a:srgbClr val="FFFF00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z</a:t>
                </a:r>
                <a:endParaRPr lang="en-US" altLang="zh-CN">
                  <a:solidFill>
                    <a:srgbClr val="FFFF00"/>
                  </a:solidFill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Line 65"/>
            <p:cNvSpPr>
              <a:spLocks noChangeShapeType="1"/>
            </p:cNvSpPr>
            <p:nvPr/>
          </p:nvSpPr>
          <p:spPr bwMode="auto">
            <a:xfrm>
              <a:off x="2641" y="2149"/>
              <a:ext cx="3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Text Box 66"/>
            <p:cNvSpPr txBox="1">
              <a:spLocks noChangeArrowheads="1"/>
            </p:cNvSpPr>
            <p:nvPr/>
          </p:nvSpPr>
          <p:spPr bwMode="auto">
            <a:xfrm>
              <a:off x="2679" y="215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2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1" name="Line 67"/>
            <p:cNvSpPr>
              <a:spLocks noChangeShapeType="1"/>
            </p:cNvSpPr>
            <p:nvPr/>
          </p:nvSpPr>
          <p:spPr bwMode="auto">
            <a:xfrm>
              <a:off x="1503" y="990"/>
              <a:ext cx="963" cy="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Text Box 68"/>
            <p:cNvSpPr txBox="1">
              <a:spLocks noChangeArrowheads="1"/>
            </p:cNvSpPr>
            <p:nvPr/>
          </p:nvSpPr>
          <p:spPr bwMode="auto">
            <a:xfrm>
              <a:off x="1892" y="1346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7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69"/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Freeform 70"/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" name="Text Box 71"/>
            <p:cNvSpPr txBox="1">
              <a:spLocks noChangeArrowheads="1"/>
            </p:cNvSpPr>
            <p:nvPr/>
          </p:nvSpPr>
          <p:spPr bwMode="auto">
            <a:xfrm>
              <a:off x="2653" y="1011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9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1395766" y="1925203"/>
            <a:ext cx="58067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Step</a:t>
            </a:r>
          </a:p>
          <a:p>
            <a:pPr algn="r" eaLnBrk="0" hangingPunct="0"/>
            <a:endParaRPr lang="en-US" altLang="zh-CN" sz="1500">
              <a:cs typeface="Arial" panose="020B0604020202020204" pitchFamily="34" charset="0"/>
            </a:endParaRPr>
          </a:p>
        </p:txBody>
      </p:sp>
      <p:sp>
        <p:nvSpPr>
          <p:cNvPr id="79" name="Text Box 74"/>
          <p:cNvSpPr txBox="1">
            <a:spLocks noChangeArrowheads="1"/>
          </p:cNvSpPr>
          <p:nvPr/>
        </p:nvSpPr>
        <p:spPr bwMode="auto">
          <a:xfrm>
            <a:off x="2136934" y="1929966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N'</a:t>
            </a:r>
          </a:p>
        </p:txBody>
      </p:sp>
      <p:sp>
        <p:nvSpPr>
          <p:cNvPr id="80" name="Text Box 75"/>
          <p:cNvSpPr txBox="1">
            <a:spLocks noChangeArrowheads="1"/>
          </p:cNvSpPr>
          <p:nvPr/>
        </p:nvSpPr>
        <p:spPr bwMode="auto">
          <a:xfrm>
            <a:off x="2571574" y="1723988"/>
            <a:ext cx="55977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D(</a:t>
            </a:r>
            <a:r>
              <a:rPr lang="en-US" altLang="zh-CN" sz="1500" b="1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zh-CN" sz="1500">
                <a:cs typeface="Arial" panose="020B0604020202020204" pitchFamily="34" charset="0"/>
              </a:rPr>
              <a:t>)</a:t>
            </a:r>
          </a:p>
          <a:p>
            <a:pPr algn="r" eaLnBrk="0" hangingPunct="0"/>
            <a:r>
              <a:rPr lang="en-US" altLang="zh-CN" sz="1200"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82" name="Text Box 76"/>
          <p:cNvSpPr txBox="1">
            <a:spLocks noChangeArrowheads="1"/>
          </p:cNvSpPr>
          <p:nvPr/>
        </p:nvSpPr>
        <p:spPr bwMode="auto">
          <a:xfrm>
            <a:off x="1426510" y="2179997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0</a:t>
            </a:r>
          </a:p>
        </p:txBody>
      </p:sp>
      <p:sp>
        <p:nvSpPr>
          <p:cNvPr id="83" name="Text Box 77"/>
          <p:cNvSpPr txBox="1">
            <a:spLocks noChangeArrowheads="1"/>
          </p:cNvSpPr>
          <p:nvPr/>
        </p:nvSpPr>
        <p:spPr bwMode="auto">
          <a:xfrm>
            <a:off x="1430082" y="2402644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1</a:t>
            </a:r>
          </a:p>
        </p:txBody>
      </p:sp>
      <p:sp>
        <p:nvSpPr>
          <p:cNvPr id="84" name="Text Box 78"/>
          <p:cNvSpPr txBox="1">
            <a:spLocks noChangeArrowheads="1"/>
          </p:cNvSpPr>
          <p:nvPr/>
        </p:nvSpPr>
        <p:spPr bwMode="auto">
          <a:xfrm>
            <a:off x="1431272" y="2633625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2</a:t>
            </a:r>
          </a:p>
        </p:txBody>
      </p:sp>
      <p:sp>
        <p:nvSpPr>
          <p:cNvPr id="85" name="Text Box 79"/>
          <p:cNvSpPr txBox="1">
            <a:spLocks noChangeArrowheads="1"/>
          </p:cNvSpPr>
          <p:nvPr/>
        </p:nvSpPr>
        <p:spPr bwMode="auto">
          <a:xfrm>
            <a:off x="1426510" y="2859844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3</a:t>
            </a:r>
          </a:p>
        </p:txBody>
      </p:sp>
      <p:sp>
        <p:nvSpPr>
          <p:cNvPr id="86" name="Text Box 80"/>
          <p:cNvSpPr txBox="1">
            <a:spLocks noChangeArrowheads="1"/>
          </p:cNvSpPr>
          <p:nvPr/>
        </p:nvSpPr>
        <p:spPr bwMode="auto">
          <a:xfrm>
            <a:off x="1425319" y="3087253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4</a:t>
            </a:r>
          </a:p>
        </p:txBody>
      </p:sp>
      <p:sp>
        <p:nvSpPr>
          <p:cNvPr id="87" name="Text Box 81"/>
          <p:cNvSpPr txBox="1">
            <a:spLocks noChangeArrowheads="1"/>
          </p:cNvSpPr>
          <p:nvPr/>
        </p:nvSpPr>
        <p:spPr bwMode="auto">
          <a:xfrm>
            <a:off x="1428891" y="3315853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5</a:t>
            </a:r>
          </a:p>
        </p:txBody>
      </p:sp>
      <p:sp>
        <p:nvSpPr>
          <p:cNvPr id="88" name="Text Box 82"/>
          <p:cNvSpPr txBox="1">
            <a:spLocks noChangeArrowheads="1"/>
          </p:cNvSpPr>
          <p:nvPr/>
        </p:nvSpPr>
        <p:spPr bwMode="auto">
          <a:xfrm>
            <a:off x="3012101" y="1729942"/>
            <a:ext cx="60144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D(</a:t>
            </a:r>
            <a:r>
              <a:rPr lang="en-US" altLang="zh-CN" sz="1500" b="1">
                <a:solidFill>
                  <a:srgbClr val="FF0000"/>
                </a:solidFill>
                <a:cs typeface="Arial" panose="020B0604020202020204" pitchFamily="34" charset="0"/>
              </a:rPr>
              <a:t>w</a:t>
            </a:r>
            <a:r>
              <a:rPr lang="en-US" altLang="zh-CN" sz="1500">
                <a:cs typeface="Arial" panose="020B0604020202020204" pitchFamily="34" charset="0"/>
              </a:rPr>
              <a:t>)</a:t>
            </a:r>
          </a:p>
          <a:p>
            <a:pPr algn="r" eaLnBrk="0" hangingPunct="0"/>
            <a:r>
              <a:rPr lang="en-US" altLang="zh-CN" sz="1200"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89" name="Text Box 83"/>
          <p:cNvSpPr txBox="1">
            <a:spLocks noChangeArrowheads="1"/>
          </p:cNvSpPr>
          <p:nvPr/>
        </p:nvSpPr>
        <p:spPr bwMode="auto">
          <a:xfrm>
            <a:off x="3519312" y="1729942"/>
            <a:ext cx="55977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D(</a:t>
            </a:r>
            <a:r>
              <a:rPr lang="en-US" altLang="zh-CN" sz="1500" b="1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altLang="zh-CN" sz="1500">
                <a:cs typeface="Arial" panose="020B0604020202020204" pitchFamily="34" charset="0"/>
              </a:rPr>
              <a:t>)</a:t>
            </a:r>
          </a:p>
          <a:p>
            <a:pPr algn="r" eaLnBrk="0" hangingPunct="0"/>
            <a:r>
              <a:rPr lang="en-US" altLang="zh-CN" sz="1200"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90" name="Text Box 84"/>
          <p:cNvSpPr txBox="1">
            <a:spLocks noChangeArrowheads="1"/>
          </p:cNvSpPr>
          <p:nvPr/>
        </p:nvSpPr>
        <p:spPr bwMode="auto">
          <a:xfrm>
            <a:off x="3999134" y="1729942"/>
            <a:ext cx="55977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D(</a:t>
            </a:r>
            <a:r>
              <a:rPr lang="en-US" altLang="zh-CN" sz="1500" b="1">
                <a:solidFill>
                  <a:srgbClr val="FF0000"/>
                </a:solidFill>
                <a:cs typeface="Arial" panose="020B0604020202020204" pitchFamily="34" charset="0"/>
              </a:rPr>
              <a:t>y</a:t>
            </a:r>
            <a:r>
              <a:rPr lang="en-US" altLang="zh-CN" sz="1500">
                <a:cs typeface="Arial" panose="020B0604020202020204" pitchFamily="34" charset="0"/>
              </a:rPr>
              <a:t>)</a:t>
            </a:r>
          </a:p>
          <a:p>
            <a:pPr algn="r" eaLnBrk="0" hangingPunct="0"/>
            <a:r>
              <a:rPr lang="en-US" altLang="zh-CN" sz="1200"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91" name="Text Box 85"/>
          <p:cNvSpPr txBox="1">
            <a:spLocks noChangeArrowheads="1"/>
          </p:cNvSpPr>
          <p:nvPr/>
        </p:nvSpPr>
        <p:spPr bwMode="auto">
          <a:xfrm>
            <a:off x="4473509" y="1733513"/>
            <a:ext cx="54854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>
                <a:cs typeface="Arial" panose="020B0604020202020204" pitchFamily="34" charset="0"/>
              </a:rPr>
              <a:t>D(</a:t>
            </a:r>
            <a:r>
              <a:rPr lang="en-US" altLang="zh-CN" sz="1500" b="1">
                <a:solidFill>
                  <a:srgbClr val="FF0000"/>
                </a:solidFill>
                <a:cs typeface="Arial" panose="020B0604020202020204" pitchFamily="34" charset="0"/>
              </a:rPr>
              <a:t>z</a:t>
            </a:r>
            <a:r>
              <a:rPr lang="en-US" altLang="zh-CN" sz="1500">
                <a:cs typeface="Arial" panose="020B0604020202020204" pitchFamily="34" charset="0"/>
              </a:rPr>
              <a:t>)</a:t>
            </a:r>
          </a:p>
          <a:p>
            <a:pPr algn="r" eaLnBrk="0" hangingPunct="0"/>
            <a:r>
              <a:rPr lang="en-US" altLang="zh-CN" sz="1200"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92" name="Line 86"/>
          <p:cNvSpPr>
            <a:spLocks noChangeShapeType="1"/>
          </p:cNvSpPr>
          <p:nvPr/>
        </p:nvSpPr>
        <p:spPr bwMode="auto">
          <a:xfrm>
            <a:off x="1540669" y="2195475"/>
            <a:ext cx="34718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3" name="Line 87"/>
          <p:cNvSpPr>
            <a:spLocks noChangeShapeType="1"/>
          </p:cNvSpPr>
          <p:nvPr/>
        </p:nvSpPr>
        <p:spPr bwMode="auto">
          <a:xfrm>
            <a:off x="1526381" y="2431219"/>
            <a:ext cx="3471863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4" name="Text Box 88"/>
          <p:cNvSpPr txBox="1">
            <a:spLocks noChangeArrowheads="1"/>
          </p:cNvSpPr>
          <p:nvPr/>
        </p:nvSpPr>
        <p:spPr bwMode="auto">
          <a:xfrm>
            <a:off x="2162316" y="2172853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u</a:t>
            </a:r>
          </a:p>
        </p:txBody>
      </p:sp>
      <p:sp>
        <p:nvSpPr>
          <p:cNvPr id="95" name="Line 89"/>
          <p:cNvSpPr>
            <a:spLocks noChangeShapeType="1"/>
          </p:cNvSpPr>
          <p:nvPr/>
        </p:nvSpPr>
        <p:spPr bwMode="auto">
          <a:xfrm>
            <a:off x="1526381" y="2652675"/>
            <a:ext cx="3471863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6" name="Line 90"/>
          <p:cNvSpPr>
            <a:spLocks noChangeShapeType="1"/>
          </p:cNvSpPr>
          <p:nvPr/>
        </p:nvSpPr>
        <p:spPr bwMode="auto">
          <a:xfrm>
            <a:off x="1526381" y="2888419"/>
            <a:ext cx="3471863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7" name="Line 91"/>
          <p:cNvSpPr>
            <a:spLocks noChangeShapeType="1"/>
          </p:cNvSpPr>
          <p:nvPr/>
        </p:nvSpPr>
        <p:spPr bwMode="auto">
          <a:xfrm>
            <a:off x="1514475" y="3115829"/>
            <a:ext cx="3471863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8" name="Line 92"/>
          <p:cNvSpPr>
            <a:spLocks noChangeShapeType="1"/>
          </p:cNvSpPr>
          <p:nvPr/>
        </p:nvSpPr>
        <p:spPr bwMode="auto">
          <a:xfrm>
            <a:off x="1522810" y="3345619"/>
            <a:ext cx="3471863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99" name="Line 93"/>
          <p:cNvSpPr>
            <a:spLocks noChangeShapeType="1"/>
          </p:cNvSpPr>
          <p:nvPr/>
        </p:nvSpPr>
        <p:spPr bwMode="auto">
          <a:xfrm>
            <a:off x="1526382" y="3567075"/>
            <a:ext cx="2883601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grpSp>
        <p:nvGrpSpPr>
          <p:cNvPr id="100" name="Group 94"/>
          <p:cNvGrpSpPr>
            <a:grpSpLocks/>
          </p:cNvGrpSpPr>
          <p:nvPr/>
        </p:nvGrpSpPr>
        <p:grpSpPr bwMode="auto">
          <a:xfrm>
            <a:off x="2684860" y="2174046"/>
            <a:ext cx="2362201" cy="303610"/>
            <a:chOff x="1339" y="1014"/>
            <a:chExt cx="1984" cy="255"/>
          </a:xfrm>
        </p:grpSpPr>
        <p:sp>
          <p:nvSpPr>
            <p:cNvPr id="101" name="Text Box 95"/>
            <p:cNvSpPr txBox="1">
              <a:spLocks noChangeArrowheads="1"/>
            </p:cNvSpPr>
            <p:nvPr/>
          </p:nvSpPr>
          <p:spPr bwMode="auto">
            <a:xfrm>
              <a:off x="3004" y="1014"/>
              <a:ext cx="31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 </a:t>
              </a:r>
              <a:endParaRPr lang="en-US" altLang="zh-CN" sz="1500">
                <a:cs typeface="Arial" panose="020B0604020202020204" pitchFamily="34" charset="0"/>
              </a:endParaRPr>
            </a:p>
          </p:txBody>
        </p:sp>
        <p:sp>
          <p:nvSpPr>
            <p:cNvPr id="102" name="Text Box 96"/>
            <p:cNvSpPr txBox="1">
              <a:spLocks noChangeArrowheads="1"/>
            </p:cNvSpPr>
            <p:nvPr/>
          </p:nvSpPr>
          <p:spPr bwMode="auto">
            <a:xfrm>
              <a:off x="2608" y="1014"/>
              <a:ext cx="31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 </a:t>
              </a:r>
              <a:endParaRPr lang="en-US" altLang="zh-CN" sz="1500">
                <a:cs typeface="Arial" panose="020B0604020202020204" pitchFamily="34" charset="0"/>
              </a:endParaRPr>
            </a:p>
          </p:txBody>
        </p:sp>
        <p:sp>
          <p:nvSpPr>
            <p:cNvPr id="103" name="Text Box 97"/>
            <p:cNvSpPr txBox="1">
              <a:spLocks noChangeArrowheads="1"/>
            </p:cNvSpPr>
            <p:nvPr/>
          </p:nvSpPr>
          <p:spPr bwMode="auto">
            <a:xfrm>
              <a:off x="1339" y="1017"/>
              <a:ext cx="3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 dirty="0">
                  <a:cs typeface="Arial" panose="020B0604020202020204" pitchFamily="34" charset="0"/>
                </a:rPr>
                <a:t>7,u</a:t>
              </a:r>
            </a:p>
          </p:txBody>
        </p:sp>
        <p:sp>
          <p:nvSpPr>
            <p:cNvPr id="104" name="Text Box 98"/>
            <p:cNvSpPr txBox="1">
              <a:spLocks noChangeArrowheads="1"/>
            </p:cNvSpPr>
            <p:nvPr/>
          </p:nvSpPr>
          <p:spPr bwMode="auto">
            <a:xfrm>
              <a:off x="1746" y="1015"/>
              <a:ext cx="3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 dirty="0">
                  <a:cs typeface="Arial" panose="020B0604020202020204" pitchFamily="34" charset="0"/>
                </a:rPr>
                <a:t>3,u</a:t>
              </a:r>
            </a:p>
          </p:txBody>
        </p:sp>
        <p:sp>
          <p:nvSpPr>
            <p:cNvPr id="105" name="Text Box 99"/>
            <p:cNvSpPr txBox="1">
              <a:spLocks noChangeArrowheads="1"/>
            </p:cNvSpPr>
            <p:nvPr/>
          </p:nvSpPr>
          <p:spPr bwMode="auto">
            <a:xfrm>
              <a:off x="2149" y="1016"/>
              <a:ext cx="3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cs typeface="Arial" panose="020B0604020202020204" pitchFamily="34" charset="0"/>
                </a:rPr>
                <a:t>5,u</a:t>
              </a:r>
            </a:p>
          </p:txBody>
        </p:sp>
      </p:grp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2051570" y="2395500"/>
            <a:ext cx="40588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uw</a:t>
            </a:r>
          </a:p>
        </p:txBody>
      </p:sp>
      <p:grpSp>
        <p:nvGrpSpPr>
          <p:cNvPr id="107" name="Group 101"/>
          <p:cNvGrpSpPr>
            <a:grpSpLocks/>
          </p:cNvGrpSpPr>
          <p:nvPr/>
        </p:nvGrpSpPr>
        <p:grpSpPr bwMode="auto">
          <a:xfrm>
            <a:off x="2664619" y="2403837"/>
            <a:ext cx="2390774" cy="303610"/>
            <a:chOff x="1315" y="1014"/>
            <a:chExt cx="2008" cy="255"/>
          </a:xfrm>
        </p:grpSpPr>
        <p:sp>
          <p:nvSpPr>
            <p:cNvPr id="108" name="Text Box 102"/>
            <p:cNvSpPr txBox="1">
              <a:spLocks noChangeArrowheads="1"/>
            </p:cNvSpPr>
            <p:nvPr/>
          </p:nvSpPr>
          <p:spPr bwMode="auto">
            <a:xfrm>
              <a:off x="3004" y="1014"/>
              <a:ext cx="31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 </a:t>
              </a:r>
              <a:endParaRPr lang="en-US" altLang="zh-CN" sz="1500">
                <a:cs typeface="Arial" panose="020B0604020202020204" pitchFamily="34" charset="0"/>
              </a:endParaRPr>
            </a:p>
          </p:txBody>
        </p:sp>
        <p:sp>
          <p:nvSpPr>
            <p:cNvPr id="109" name="Text Box 103"/>
            <p:cNvSpPr txBox="1">
              <a:spLocks noChangeArrowheads="1"/>
            </p:cNvSpPr>
            <p:nvPr/>
          </p:nvSpPr>
          <p:spPr bwMode="auto">
            <a:xfrm>
              <a:off x="2450" y="1014"/>
              <a:ext cx="47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200">
                  <a:cs typeface="Arial" panose="020B0604020202020204" pitchFamily="34" charset="0"/>
                </a:rPr>
                <a:t>11</a:t>
              </a:r>
              <a:r>
                <a:rPr lang="en-US" altLang="zh-CN" sz="1350">
                  <a:cs typeface="Arial" panose="020B0604020202020204" pitchFamily="34" charset="0"/>
                </a:rPr>
                <a:t>,w</a:t>
              </a:r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 </a:t>
              </a:r>
              <a:endParaRPr lang="en-US" altLang="zh-CN" sz="1500">
                <a:cs typeface="Arial" panose="020B0604020202020204" pitchFamily="34" charset="0"/>
              </a:endParaRPr>
            </a:p>
          </p:txBody>
        </p:sp>
        <p:sp>
          <p:nvSpPr>
            <p:cNvPr id="110" name="Text Box 104"/>
            <p:cNvSpPr txBox="1">
              <a:spLocks noChangeArrowheads="1"/>
            </p:cNvSpPr>
            <p:nvPr/>
          </p:nvSpPr>
          <p:spPr bwMode="auto">
            <a:xfrm>
              <a:off x="1315" y="1017"/>
              <a:ext cx="38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cs typeface="Arial" panose="020B0604020202020204" pitchFamily="34" charset="0"/>
                </a:rPr>
                <a:t>6,w</a:t>
              </a:r>
            </a:p>
          </p:txBody>
        </p:sp>
        <p:sp>
          <p:nvSpPr>
            <p:cNvPr id="111" name="Text Box 105"/>
            <p:cNvSpPr txBox="1">
              <a:spLocks noChangeArrowheads="1"/>
            </p:cNvSpPr>
            <p:nvPr/>
          </p:nvSpPr>
          <p:spPr bwMode="auto">
            <a:xfrm>
              <a:off x="1948" y="1015"/>
              <a:ext cx="1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112" name="Text Box 106"/>
            <p:cNvSpPr txBox="1">
              <a:spLocks noChangeArrowheads="1"/>
            </p:cNvSpPr>
            <p:nvPr/>
          </p:nvSpPr>
          <p:spPr bwMode="auto">
            <a:xfrm>
              <a:off x="2149" y="1016"/>
              <a:ext cx="35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cs typeface="Arial" panose="020B0604020202020204" pitchFamily="34" charset="0"/>
                </a:rPr>
                <a:t>5,u</a:t>
              </a:r>
            </a:p>
          </p:txBody>
        </p:sp>
      </p:grpSp>
      <p:grpSp>
        <p:nvGrpSpPr>
          <p:cNvPr id="113" name="Group 107"/>
          <p:cNvGrpSpPr>
            <a:grpSpLocks/>
          </p:cNvGrpSpPr>
          <p:nvPr/>
        </p:nvGrpSpPr>
        <p:grpSpPr bwMode="auto">
          <a:xfrm>
            <a:off x="2663428" y="2627679"/>
            <a:ext cx="2390775" cy="307182"/>
            <a:chOff x="1315" y="1011"/>
            <a:chExt cx="2008" cy="258"/>
          </a:xfrm>
        </p:grpSpPr>
        <p:sp>
          <p:nvSpPr>
            <p:cNvPr id="114" name="Text Box 108"/>
            <p:cNvSpPr txBox="1">
              <a:spLocks noChangeArrowheads="1"/>
            </p:cNvSpPr>
            <p:nvPr/>
          </p:nvSpPr>
          <p:spPr bwMode="auto">
            <a:xfrm>
              <a:off x="2872" y="1011"/>
              <a:ext cx="4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200">
                  <a:cs typeface="Arial" panose="020B0604020202020204" pitchFamily="34" charset="0"/>
                </a:rPr>
                <a:t>14</a:t>
              </a:r>
              <a:r>
                <a:rPr lang="en-US" altLang="zh-CN" sz="1350">
                  <a:cs typeface="Arial" panose="020B0604020202020204" pitchFamily="34" charset="0"/>
                </a:rPr>
                <a:t>,x </a:t>
              </a:r>
            </a:p>
          </p:txBody>
        </p:sp>
        <p:sp>
          <p:nvSpPr>
            <p:cNvPr id="115" name="Text Box 109"/>
            <p:cNvSpPr txBox="1">
              <a:spLocks noChangeArrowheads="1"/>
            </p:cNvSpPr>
            <p:nvPr/>
          </p:nvSpPr>
          <p:spPr bwMode="auto">
            <a:xfrm>
              <a:off x="2457" y="1011"/>
              <a:ext cx="4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200">
                  <a:cs typeface="Arial" panose="020B0604020202020204" pitchFamily="34" charset="0"/>
                </a:rPr>
                <a:t>11,</a:t>
              </a:r>
              <a:r>
                <a:rPr lang="en-US" altLang="zh-CN" sz="1350">
                  <a:cs typeface="Arial" panose="020B0604020202020204" pitchFamily="34" charset="0"/>
                </a:rPr>
                <a:t>w </a:t>
              </a:r>
              <a:endParaRPr lang="en-US" altLang="zh-CN" sz="1500">
                <a:cs typeface="Arial" panose="020B0604020202020204" pitchFamily="34" charset="0"/>
              </a:endParaRPr>
            </a:p>
          </p:txBody>
        </p:sp>
        <p:sp>
          <p:nvSpPr>
            <p:cNvPr id="116" name="Text Box 110"/>
            <p:cNvSpPr txBox="1">
              <a:spLocks noChangeArrowheads="1"/>
            </p:cNvSpPr>
            <p:nvPr/>
          </p:nvSpPr>
          <p:spPr bwMode="auto">
            <a:xfrm>
              <a:off x="1315" y="1017"/>
              <a:ext cx="38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350">
                  <a:cs typeface="Arial" panose="020B0604020202020204" pitchFamily="34" charset="0"/>
                </a:rPr>
                <a:t>6,w</a:t>
              </a:r>
            </a:p>
          </p:txBody>
        </p:sp>
        <p:sp>
          <p:nvSpPr>
            <p:cNvPr id="117" name="Text Box 111"/>
            <p:cNvSpPr txBox="1">
              <a:spLocks noChangeArrowheads="1"/>
            </p:cNvSpPr>
            <p:nvPr/>
          </p:nvSpPr>
          <p:spPr bwMode="auto">
            <a:xfrm>
              <a:off x="1948" y="1015"/>
              <a:ext cx="1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118" name="Text Box 112"/>
            <p:cNvSpPr txBox="1">
              <a:spLocks noChangeArrowheads="1"/>
            </p:cNvSpPr>
            <p:nvPr/>
          </p:nvSpPr>
          <p:spPr bwMode="auto">
            <a:xfrm>
              <a:off x="2351" y="1016"/>
              <a:ext cx="1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</p:grpSp>
      <p:sp>
        <p:nvSpPr>
          <p:cNvPr id="119" name="Oval 113"/>
          <p:cNvSpPr>
            <a:spLocks noChangeArrowheads="1"/>
          </p:cNvSpPr>
          <p:nvPr/>
        </p:nvSpPr>
        <p:spPr bwMode="auto">
          <a:xfrm>
            <a:off x="3212306" y="2216907"/>
            <a:ext cx="396479" cy="20716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0" name="Oval 114"/>
          <p:cNvSpPr>
            <a:spLocks noChangeArrowheads="1"/>
          </p:cNvSpPr>
          <p:nvPr/>
        </p:nvSpPr>
        <p:spPr bwMode="auto">
          <a:xfrm>
            <a:off x="3702844" y="2431219"/>
            <a:ext cx="396479" cy="20716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1" name="Text Box 115"/>
          <p:cNvSpPr txBox="1">
            <a:spLocks noChangeArrowheads="1"/>
          </p:cNvSpPr>
          <p:nvPr/>
        </p:nvSpPr>
        <p:spPr bwMode="auto">
          <a:xfrm>
            <a:off x="1970961" y="2627672"/>
            <a:ext cx="4924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uwx</a:t>
            </a:r>
          </a:p>
        </p:txBody>
      </p:sp>
      <p:sp>
        <p:nvSpPr>
          <p:cNvPr id="122" name="Oval 116"/>
          <p:cNvSpPr>
            <a:spLocks noChangeArrowheads="1"/>
          </p:cNvSpPr>
          <p:nvPr/>
        </p:nvSpPr>
        <p:spPr bwMode="auto">
          <a:xfrm>
            <a:off x="2721769" y="2670535"/>
            <a:ext cx="396479" cy="20716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3" name="Text Box 117"/>
          <p:cNvSpPr txBox="1">
            <a:spLocks noChangeArrowheads="1"/>
          </p:cNvSpPr>
          <p:nvPr/>
        </p:nvSpPr>
        <p:spPr bwMode="auto">
          <a:xfrm>
            <a:off x="1898687" y="2841985"/>
            <a:ext cx="57900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uwxv</a:t>
            </a:r>
          </a:p>
        </p:txBody>
      </p:sp>
      <p:grpSp>
        <p:nvGrpSpPr>
          <p:cNvPr id="124" name="Group 118"/>
          <p:cNvGrpSpPr>
            <a:grpSpLocks/>
          </p:cNvGrpSpPr>
          <p:nvPr/>
        </p:nvGrpSpPr>
        <p:grpSpPr bwMode="auto">
          <a:xfrm>
            <a:off x="4048127" y="2850323"/>
            <a:ext cx="1003697" cy="300039"/>
            <a:chOff x="1451" y="2777"/>
            <a:chExt cx="843" cy="252"/>
          </a:xfrm>
        </p:grpSpPr>
        <p:sp>
          <p:nvSpPr>
            <p:cNvPr id="125" name="Text Box 119"/>
            <p:cNvSpPr txBox="1">
              <a:spLocks noChangeArrowheads="1"/>
            </p:cNvSpPr>
            <p:nvPr/>
          </p:nvSpPr>
          <p:spPr bwMode="auto">
            <a:xfrm>
              <a:off x="1843" y="2777"/>
              <a:ext cx="4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200">
                  <a:cs typeface="Arial" panose="020B0604020202020204" pitchFamily="34" charset="0"/>
                </a:rPr>
                <a:t>14</a:t>
              </a:r>
              <a:r>
                <a:rPr lang="en-US" altLang="zh-CN" sz="1350">
                  <a:cs typeface="Arial" panose="020B0604020202020204" pitchFamily="34" charset="0"/>
                </a:rPr>
                <a:t>,x </a:t>
              </a:r>
            </a:p>
          </p:txBody>
        </p:sp>
        <p:sp>
          <p:nvSpPr>
            <p:cNvPr id="126" name="Text Box 120"/>
            <p:cNvSpPr txBox="1">
              <a:spLocks noChangeArrowheads="1"/>
            </p:cNvSpPr>
            <p:nvPr/>
          </p:nvSpPr>
          <p:spPr bwMode="auto">
            <a:xfrm>
              <a:off x="1451" y="2777"/>
              <a:ext cx="44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0" hangingPunct="0"/>
              <a:r>
                <a:rPr lang="en-US" altLang="zh-CN" sz="1200">
                  <a:cs typeface="Arial" panose="020B0604020202020204" pitchFamily="34" charset="0"/>
                </a:rPr>
                <a:t>10,</a:t>
              </a:r>
              <a:r>
                <a:rPr lang="en-US" altLang="zh-CN" sz="1350">
                  <a:cs typeface="Arial" panose="020B0604020202020204" pitchFamily="34" charset="0"/>
                </a:rPr>
                <a:t>v </a:t>
              </a:r>
              <a:endParaRPr lang="en-US" altLang="zh-CN" sz="1500">
                <a:cs typeface="Arial" panose="020B0604020202020204" pitchFamily="34" charset="0"/>
              </a:endParaRPr>
            </a:p>
          </p:txBody>
        </p:sp>
      </p:grpSp>
      <p:sp>
        <p:nvSpPr>
          <p:cNvPr id="127" name="Oval 121"/>
          <p:cNvSpPr>
            <a:spLocks noChangeArrowheads="1"/>
          </p:cNvSpPr>
          <p:nvPr/>
        </p:nvSpPr>
        <p:spPr bwMode="auto">
          <a:xfrm>
            <a:off x="4099323" y="2894373"/>
            <a:ext cx="396478" cy="20716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8" name="Text Box 122"/>
          <p:cNvSpPr txBox="1">
            <a:spLocks noChangeArrowheads="1"/>
          </p:cNvSpPr>
          <p:nvPr/>
        </p:nvSpPr>
        <p:spPr bwMode="auto">
          <a:xfrm>
            <a:off x="1834745" y="3081300"/>
            <a:ext cx="6655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uwxvy</a:t>
            </a:r>
          </a:p>
        </p:txBody>
      </p:sp>
      <p:sp>
        <p:nvSpPr>
          <p:cNvPr id="129" name="Text Box 123"/>
          <p:cNvSpPr txBox="1">
            <a:spLocks noChangeArrowheads="1"/>
          </p:cNvSpPr>
          <p:nvPr/>
        </p:nvSpPr>
        <p:spPr bwMode="auto">
          <a:xfrm>
            <a:off x="4520448" y="3089635"/>
            <a:ext cx="537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200">
                <a:cs typeface="Arial" panose="020B0604020202020204" pitchFamily="34" charset="0"/>
              </a:rPr>
              <a:t>12</a:t>
            </a:r>
            <a:r>
              <a:rPr lang="en-US" altLang="zh-CN" sz="1350">
                <a:cs typeface="Arial" panose="020B0604020202020204" pitchFamily="34" charset="0"/>
              </a:rPr>
              <a:t>,y </a:t>
            </a:r>
          </a:p>
        </p:txBody>
      </p:sp>
      <p:sp>
        <p:nvSpPr>
          <p:cNvPr id="130" name="Oval 124"/>
          <p:cNvSpPr>
            <a:spLocks noChangeArrowheads="1"/>
          </p:cNvSpPr>
          <p:nvPr/>
        </p:nvSpPr>
        <p:spPr bwMode="auto">
          <a:xfrm>
            <a:off x="4598194" y="3120666"/>
            <a:ext cx="396479" cy="20716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31" name="Line 126"/>
          <p:cNvSpPr>
            <a:spLocks noChangeShapeType="1"/>
          </p:cNvSpPr>
          <p:nvPr/>
        </p:nvSpPr>
        <p:spPr bwMode="auto">
          <a:xfrm>
            <a:off x="8010276" y="3735031"/>
            <a:ext cx="4429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32" name="Line 127"/>
          <p:cNvSpPr>
            <a:spLocks noChangeShapeType="1"/>
          </p:cNvSpPr>
          <p:nvPr/>
        </p:nvSpPr>
        <p:spPr bwMode="auto">
          <a:xfrm flipV="1">
            <a:off x="6698208" y="3735031"/>
            <a:ext cx="1097756" cy="90368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33" name="Line 128"/>
          <p:cNvSpPr>
            <a:spLocks noChangeShapeType="1"/>
          </p:cNvSpPr>
          <p:nvPr/>
        </p:nvSpPr>
        <p:spPr bwMode="auto">
          <a:xfrm>
            <a:off x="6691064" y="3820756"/>
            <a:ext cx="7144" cy="7858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34" name="Line 129"/>
          <p:cNvSpPr>
            <a:spLocks noChangeShapeType="1"/>
          </p:cNvSpPr>
          <p:nvPr/>
        </p:nvSpPr>
        <p:spPr bwMode="auto">
          <a:xfrm flipV="1">
            <a:off x="5784999" y="2427725"/>
            <a:ext cx="759619" cy="122158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35" name="Line 130"/>
          <p:cNvSpPr>
            <a:spLocks noChangeShapeType="1"/>
          </p:cNvSpPr>
          <p:nvPr/>
        </p:nvSpPr>
        <p:spPr bwMode="auto">
          <a:xfrm flipV="1">
            <a:off x="5861198" y="3737412"/>
            <a:ext cx="7084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36" name="Text Box 131"/>
          <p:cNvSpPr txBox="1">
            <a:spLocks noChangeArrowheads="1"/>
          </p:cNvSpPr>
          <p:nvPr/>
        </p:nvSpPr>
        <p:spPr bwMode="auto">
          <a:xfrm>
            <a:off x="1737469" y="3305137"/>
            <a:ext cx="75212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350">
                <a:cs typeface="Arial" panose="020B0604020202020204" pitchFamily="34" charset="0"/>
              </a:rPr>
              <a:t>uwxvyz</a:t>
            </a:r>
          </a:p>
        </p:txBody>
      </p:sp>
      <p:cxnSp>
        <p:nvCxnSpPr>
          <p:cNvPr id="137" name="直接连接符 136"/>
          <p:cNvCxnSpPr>
            <a:endCxn id="68" idx="1"/>
          </p:cNvCxnSpPr>
          <p:nvPr/>
        </p:nvCxnSpPr>
        <p:spPr>
          <a:xfrm>
            <a:off x="5784999" y="3834750"/>
            <a:ext cx="810811" cy="787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灯片编号占位符 2">
            <a:extLst>
              <a:ext uri="{FF2B5EF4-FFF2-40B4-BE49-F238E27FC236}">
                <a16:creationId xmlns:a16="http://schemas.microsoft.com/office/drawing/2014/main" id="{FD4E0ED3-00A2-435C-B48F-03B260B36D1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139" name="AutoShape 5">
            <a:extLst>
              <a:ext uri="{FF2B5EF4-FFF2-40B4-BE49-F238E27FC236}">
                <a16:creationId xmlns:a16="http://schemas.microsoft.com/office/drawing/2014/main" id="{59730175-778F-47E3-9E0B-313CBB3C1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45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50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19" grpId="0" animBg="1"/>
      <p:bldP spid="120" grpId="0" animBg="1"/>
      <p:bldP spid="121" grpId="0"/>
      <p:bldP spid="122" grpId="0" animBg="1"/>
      <p:bldP spid="123" grpId="0"/>
      <p:bldP spid="127" grpId="0" animBg="1"/>
      <p:bldP spid="128" grpId="0"/>
      <p:bldP spid="129" grpId="0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/>
      <p:bldP spid="139" grpId="0" animBg="1"/>
      <p:bldP spid="139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4.5.1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链路状态路由选择算法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r>
              <a:rPr lang="en-US" altLang="zh-CN" dirty="0">
                <a:solidFill>
                  <a:srgbClr val="C00000"/>
                </a:solidFill>
                <a:effectLst/>
              </a:rPr>
              <a:t>Dijkstra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’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s algorithm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讨论：算法复杂性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对于</a:t>
            </a:r>
            <a:r>
              <a:rPr lang="en-US" altLang="zh-CN" dirty="0">
                <a:solidFill>
                  <a:srgbClr val="0066CC"/>
                </a:solidFill>
              </a:rPr>
              <a:t>n</a:t>
            </a:r>
            <a:r>
              <a:rPr lang="zh-CN" altLang="en-US" dirty="0">
                <a:solidFill>
                  <a:srgbClr val="0066CC"/>
                </a:solidFill>
              </a:rPr>
              <a:t>个结点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每次迭代</a:t>
            </a:r>
            <a:r>
              <a:rPr lang="en-US" altLang="zh-CN" dirty="0">
                <a:solidFill>
                  <a:srgbClr val="0066CC"/>
                </a:solidFill>
              </a:rPr>
              <a:t>: </a:t>
            </a:r>
            <a:r>
              <a:rPr lang="zh-CN" altLang="en-US" dirty="0">
                <a:solidFill>
                  <a:srgbClr val="0066CC"/>
                </a:solidFill>
              </a:rPr>
              <a:t>检测所有没在</a:t>
            </a:r>
            <a:r>
              <a:rPr lang="en-US" altLang="zh-CN" dirty="0">
                <a:solidFill>
                  <a:srgbClr val="0066CC"/>
                </a:solidFill>
              </a:rPr>
              <a:t>N’</a:t>
            </a:r>
            <a:r>
              <a:rPr lang="zh-CN" altLang="en-US" dirty="0">
                <a:solidFill>
                  <a:srgbClr val="0066CC"/>
                </a:solidFill>
              </a:rPr>
              <a:t>中的结点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en-US" altLang="zh-CN" dirty="0">
                <a:solidFill>
                  <a:srgbClr val="0066CC"/>
                </a:solidFill>
              </a:rPr>
              <a:t>n(n+1)/2 </a:t>
            </a:r>
            <a:r>
              <a:rPr lang="zh-CN" altLang="en-US" dirty="0">
                <a:solidFill>
                  <a:srgbClr val="0066CC"/>
                </a:solidFill>
              </a:rPr>
              <a:t>相当于</a:t>
            </a:r>
            <a:r>
              <a:rPr lang="en-US" altLang="zh-CN" dirty="0">
                <a:solidFill>
                  <a:srgbClr val="0066CC"/>
                </a:solidFill>
              </a:rPr>
              <a:t>: </a:t>
            </a:r>
            <a:r>
              <a:rPr lang="en-US" altLang="zh-CN" dirty="0">
                <a:solidFill>
                  <a:srgbClr val="C00000"/>
                </a:solidFill>
              </a:rPr>
              <a:t>O(n</a:t>
            </a:r>
            <a:r>
              <a:rPr lang="en-US" altLang="zh-CN" baseline="30000" dirty="0">
                <a:solidFill>
                  <a:srgbClr val="C00000"/>
                </a:solidFill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算法优化后的复杂度</a:t>
            </a:r>
            <a:r>
              <a:rPr lang="en-US" altLang="zh-CN" dirty="0">
                <a:solidFill>
                  <a:srgbClr val="0066CC"/>
                </a:solidFill>
              </a:rPr>
              <a:t>: </a:t>
            </a:r>
            <a:r>
              <a:rPr lang="en-US" altLang="zh-CN" dirty="0">
                <a:solidFill>
                  <a:srgbClr val="C00000"/>
                </a:solidFill>
              </a:rPr>
              <a:t>O(n log n)</a:t>
            </a: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2B1FD24D-FAD9-407E-B4C7-12FBF070F9B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C3C8784-51D8-4834-8A52-280BA0B69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52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距离向量路由选择算法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Distance Vector Algorithm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分布式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每个结点都要从一个或多个邻居结点获得某些信息，作为算法的输入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迭代的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交换信息的过程要持续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迭代计算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异步的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不要求所有结点步伐一致地操作</a:t>
            </a:r>
            <a:endParaRPr lang="en-US" altLang="zh-CN" dirty="0">
              <a:solidFill>
                <a:srgbClr val="0066CC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12DAF568-0AFB-401A-A3EB-C35E37DE34D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D0322535-6D61-436B-BB4B-D0CCF4658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884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距离向量路由选择算法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en-US" altLang="zh-CN" dirty="0">
                <a:solidFill>
                  <a:srgbClr val="FF8181"/>
                </a:solidFill>
                <a:effectLst/>
              </a:rPr>
              <a:t>Distance Vector Algorithm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Bellman-Ford 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方程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(dynamic programming)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设：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/>
              <a:t>d</a:t>
            </a:r>
            <a:r>
              <a:rPr lang="en-US" altLang="zh-CN" baseline="-25000" dirty="0"/>
              <a:t>x</a:t>
            </a:r>
            <a:r>
              <a:rPr lang="en-US" altLang="zh-CN" dirty="0"/>
              <a:t>(y)</a:t>
            </a:r>
            <a:r>
              <a:rPr lang="zh-CN" altLang="en-US" dirty="0">
                <a:solidFill>
                  <a:srgbClr val="0066CC"/>
                </a:solidFill>
              </a:rPr>
              <a:t>为</a:t>
            </a:r>
            <a:r>
              <a:rPr lang="en-US" altLang="zh-CN" dirty="0">
                <a:solidFill>
                  <a:srgbClr val="0066CC"/>
                </a:solidFill>
              </a:rPr>
              <a:t>x</a:t>
            </a:r>
            <a:r>
              <a:rPr lang="zh-CN" altLang="en-US" dirty="0">
                <a:solidFill>
                  <a:srgbClr val="0066CC"/>
                </a:solidFill>
              </a:rPr>
              <a:t>结点到</a:t>
            </a:r>
            <a:r>
              <a:rPr lang="en-US" altLang="zh-CN" dirty="0">
                <a:solidFill>
                  <a:srgbClr val="0066CC"/>
                </a:solidFill>
              </a:rPr>
              <a:t>y</a:t>
            </a:r>
            <a:r>
              <a:rPr lang="zh-CN" altLang="en-US" dirty="0">
                <a:solidFill>
                  <a:srgbClr val="0066CC"/>
                </a:solidFill>
              </a:rPr>
              <a:t>节点的最短路径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则：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d</a:t>
            </a:r>
            <a:r>
              <a:rPr lang="en-US" altLang="zh-CN" baseline="-25000" dirty="0">
                <a:solidFill>
                  <a:srgbClr val="0066CC"/>
                </a:solidFill>
              </a:rPr>
              <a:t>x</a:t>
            </a:r>
            <a:r>
              <a:rPr lang="en-US" altLang="zh-CN" dirty="0">
                <a:solidFill>
                  <a:srgbClr val="0066CC"/>
                </a:solidFill>
              </a:rPr>
              <a:t>(y) = min</a:t>
            </a:r>
            <a:r>
              <a:rPr lang="en-US" altLang="zh-CN" baseline="-25000" dirty="0">
                <a:solidFill>
                  <a:srgbClr val="0066CC"/>
                </a:solidFill>
              </a:rPr>
              <a:t>v</a:t>
            </a:r>
            <a:r>
              <a:rPr lang="en-US" altLang="zh-CN" dirty="0">
                <a:solidFill>
                  <a:srgbClr val="0066CC"/>
                </a:solidFill>
              </a:rPr>
              <a:t> {c(x, v) + d</a:t>
            </a:r>
            <a:r>
              <a:rPr lang="en-US" altLang="zh-CN" baseline="-25000" dirty="0">
                <a:solidFill>
                  <a:srgbClr val="0066CC"/>
                </a:solidFill>
              </a:rPr>
              <a:t>v</a:t>
            </a:r>
            <a:r>
              <a:rPr lang="en-US" altLang="zh-CN" dirty="0">
                <a:solidFill>
                  <a:srgbClr val="0066CC"/>
                </a:solidFill>
              </a:rPr>
              <a:t>(y) }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其中：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v</a:t>
            </a:r>
            <a:r>
              <a:rPr lang="zh-CN" altLang="en-US" dirty="0">
                <a:solidFill>
                  <a:srgbClr val="0066CC"/>
                </a:solidFill>
              </a:rPr>
              <a:t>是</a:t>
            </a:r>
            <a:r>
              <a:rPr lang="en-US" altLang="zh-CN" dirty="0">
                <a:solidFill>
                  <a:srgbClr val="0066CC"/>
                </a:solidFill>
              </a:rPr>
              <a:t>x</a:t>
            </a:r>
            <a:r>
              <a:rPr lang="zh-CN" altLang="en-US" dirty="0">
                <a:solidFill>
                  <a:srgbClr val="0066CC"/>
                </a:solidFill>
              </a:rPr>
              <a:t>的邻居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dirty="0">
                <a:solidFill>
                  <a:srgbClr val="0066CC"/>
                </a:solidFill>
              </a:rPr>
              <a:t>x</a:t>
            </a:r>
            <a:r>
              <a:rPr lang="zh-CN" altLang="en-US" dirty="0">
                <a:solidFill>
                  <a:srgbClr val="0066CC"/>
                </a:solidFill>
              </a:rPr>
              <a:t>与</a:t>
            </a:r>
            <a:r>
              <a:rPr lang="en-US" altLang="zh-CN" dirty="0">
                <a:solidFill>
                  <a:srgbClr val="0066CC"/>
                </a:solidFill>
              </a:rPr>
              <a:t>y</a:t>
            </a:r>
            <a:r>
              <a:rPr lang="zh-CN" altLang="en-US" dirty="0">
                <a:solidFill>
                  <a:srgbClr val="0066CC"/>
                </a:solidFill>
              </a:rPr>
              <a:t>不是邻居，则选择</a:t>
            </a:r>
            <a:r>
              <a:rPr lang="en-US" altLang="zh-CN" dirty="0">
                <a:solidFill>
                  <a:srgbClr val="0066CC"/>
                </a:solidFill>
              </a:rPr>
              <a:t>x-v-…-y</a:t>
            </a:r>
            <a:r>
              <a:rPr lang="zh-CN" altLang="en-US" dirty="0">
                <a:solidFill>
                  <a:srgbClr val="0066CC"/>
                </a:solidFill>
              </a:rPr>
              <a:t>的一条最短路径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zh-CN" altLang="en-US" dirty="0">
                <a:solidFill>
                  <a:srgbClr val="0066CC"/>
                </a:solidFill>
              </a:rPr>
              <a:t>直观地：就是选择邻居</a:t>
            </a:r>
            <a:r>
              <a:rPr lang="en-US" altLang="zh-CN" dirty="0">
                <a:solidFill>
                  <a:srgbClr val="0066CC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</a:rPr>
              <a:t>next router</a:t>
            </a:r>
            <a:r>
              <a:rPr lang="en-US" altLang="zh-CN" dirty="0">
                <a:solidFill>
                  <a:srgbClr val="0066CC"/>
                </a:solidFill>
              </a:rPr>
              <a:t>)</a:t>
            </a: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/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63A05AD6-01D7-42D1-9F90-AC2E498FCA5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6F7FC404-12D7-47AA-A32B-8F867B4E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824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距离向量路由选择算法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en-US" altLang="zh-CN" dirty="0">
                <a:solidFill>
                  <a:srgbClr val="FF8181"/>
                </a:solidFill>
                <a:effectLst/>
              </a:rPr>
              <a:t>Distance Vector Algorithm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ffectLst/>
              </a:rPr>
              <a:t>Bellman-Ford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方程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(dynamic programming)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示例：</a:t>
            </a:r>
            <a:r>
              <a:rPr lang="en-US" altLang="zh-CN" dirty="0">
                <a:solidFill>
                  <a:srgbClr val="0066CC"/>
                </a:solidFill>
              </a:rPr>
              <a:t>u</a:t>
            </a:r>
            <a:r>
              <a:rPr lang="zh-CN" altLang="en-US" dirty="0">
                <a:solidFill>
                  <a:srgbClr val="0066CC"/>
                </a:solidFill>
              </a:rPr>
              <a:t>到</a:t>
            </a:r>
            <a:r>
              <a:rPr lang="en-US" altLang="zh-CN" dirty="0">
                <a:solidFill>
                  <a:srgbClr val="0066CC"/>
                </a:solidFill>
              </a:rPr>
              <a:t>z</a:t>
            </a:r>
            <a:r>
              <a:rPr lang="zh-CN" altLang="en-US" dirty="0">
                <a:solidFill>
                  <a:srgbClr val="0066CC"/>
                </a:solidFill>
              </a:rPr>
              <a:t>的最短路径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  <a:latin typeface="+mj-lt"/>
              <a:ea typeface="+mj-ea"/>
            </a:endParaRPr>
          </a:p>
          <a:p>
            <a:pPr lvl="3"/>
            <a:endParaRPr lang="en-US" altLang="zh-CN" dirty="0">
              <a:ea typeface="+mj-ea"/>
            </a:endParaRPr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872743" y="2587833"/>
            <a:ext cx="2678906" cy="1688307"/>
            <a:chOff x="3162" y="1071"/>
            <a:chExt cx="2250" cy="1418"/>
          </a:xfrm>
        </p:grpSpPr>
        <p:sp>
          <p:nvSpPr>
            <p:cNvPr id="9" name="Freeform 4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20" name="Oval 15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30" name="Oval 25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35" name="Oval 30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36" name="Oval 31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" name="Rectangle 34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40" name="Oval 35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41" name="Freeform 36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2" name="Freeform 37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3" name="Freeform 38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4" name="Freeform 39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5" name="Freeform 40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6" name="Freeform 41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8" name="Freeform 43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50" name="Group 45"/>
            <p:cNvGrpSpPr>
              <a:grpSpLocks/>
            </p:cNvGrpSpPr>
            <p:nvPr/>
          </p:nvGrpSpPr>
          <p:grpSpPr bwMode="auto">
            <a:xfrm>
              <a:off x="3262" y="1748"/>
              <a:ext cx="245" cy="271"/>
              <a:chOff x="2934" y="2429"/>
              <a:chExt cx="249" cy="271"/>
            </a:xfrm>
          </p:grpSpPr>
          <p:sp>
            <p:nvSpPr>
              <p:cNvPr id="76" name="Rectangle 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 Box 47"/>
              <p:cNvSpPr txBox="1">
                <a:spLocks noChangeArrowheads="1"/>
              </p:cNvSpPr>
              <p:nvPr/>
            </p:nvSpPr>
            <p:spPr bwMode="auto">
              <a:xfrm>
                <a:off x="2934" y="2429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cs typeface="Arial" panose="020B0604020202020204" pitchFamily="34" charset="0"/>
                  </a:rPr>
                  <a:t>u</a:t>
                </a:r>
                <a:endParaRPr lang="en-US" altLang="zh-CN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Group 48"/>
            <p:cNvGrpSpPr>
              <a:grpSpLocks/>
            </p:cNvGrpSpPr>
            <p:nvPr/>
          </p:nvGrpSpPr>
          <p:grpSpPr bwMode="auto">
            <a:xfrm>
              <a:off x="4437" y="2132"/>
              <a:ext cx="236" cy="271"/>
              <a:chOff x="2938" y="2429"/>
              <a:chExt cx="240" cy="271"/>
            </a:xfrm>
          </p:grpSpPr>
          <p:sp>
            <p:nvSpPr>
              <p:cNvPr id="74" name="Rectangle 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75" name="Text Box 50"/>
              <p:cNvSpPr txBox="1">
                <a:spLocks noChangeArrowheads="1"/>
              </p:cNvSpPr>
              <p:nvPr/>
            </p:nvSpPr>
            <p:spPr bwMode="auto">
              <a:xfrm>
                <a:off x="2938" y="2429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cs typeface="Arial" panose="020B0604020202020204" pitchFamily="34" charset="0"/>
                  </a:rPr>
                  <a:t>y</a:t>
                </a:r>
                <a:endParaRPr lang="en-US" altLang="zh-CN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2" name="Group 51"/>
            <p:cNvGrpSpPr>
              <a:grpSpLocks/>
            </p:cNvGrpSpPr>
            <p:nvPr/>
          </p:nvGrpSpPr>
          <p:grpSpPr bwMode="auto">
            <a:xfrm>
              <a:off x="3754" y="2099"/>
              <a:ext cx="252" cy="310"/>
              <a:chOff x="2931" y="2399"/>
              <a:chExt cx="253" cy="310"/>
            </a:xfrm>
          </p:grpSpPr>
          <p:sp>
            <p:nvSpPr>
              <p:cNvPr id="72" name="Rectangle 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73" name="Text Box 53"/>
              <p:cNvSpPr txBox="1">
                <a:spLocks noChangeArrowheads="1"/>
              </p:cNvSpPr>
              <p:nvPr/>
            </p:nvSpPr>
            <p:spPr bwMode="auto">
              <a:xfrm>
                <a:off x="2931" y="2399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>
                    <a:cs typeface="Arial" panose="020B0604020202020204" pitchFamily="34" charset="0"/>
                  </a:rPr>
                  <a:t>x</a:t>
                </a:r>
              </a:p>
            </p:txBody>
          </p:sp>
        </p:grpSp>
        <p:grpSp>
          <p:nvGrpSpPr>
            <p:cNvPr id="53" name="Group 54"/>
            <p:cNvGrpSpPr>
              <a:grpSpLocks/>
            </p:cNvGrpSpPr>
            <p:nvPr/>
          </p:nvGrpSpPr>
          <p:grpSpPr bwMode="auto">
            <a:xfrm>
              <a:off x="4413" y="1442"/>
              <a:ext cx="272" cy="271"/>
              <a:chOff x="2920" y="2429"/>
              <a:chExt cx="276" cy="271"/>
            </a:xfrm>
          </p:grpSpPr>
          <p:sp>
            <p:nvSpPr>
              <p:cNvPr id="70" name="Rectangle 5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71" name="Text Box 56"/>
              <p:cNvSpPr txBox="1">
                <a:spLocks noChangeArrowheads="1"/>
              </p:cNvSpPr>
              <p:nvPr/>
            </p:nvSpPr>
            <p:spPr bwMode="auto">
              <a:xfrm>
                <a:off x="2920" y="2429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 dirty="0">
                    <a:cs typeface="Arial" panose="020B0604020202020204" pitchFamily="34" charset="0"/>
                  </a:rPr>
                  <a:t>w</a:t>
                </a:r>
                <a:endParaRPr lang="en-US" altLang="zh-CN" dirty="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4" name="Group 57"/>
            <p:cNvGrpSpPr>
              <a:grpSpLocks/>
            </p:cNvGrpSpPr>
            <p:nvPr/>
          </p:nvGrpSpPr>
          <p:grpSpPr bwMode="auto">
            <a:xfrm>
              <a:off x="3748" y="1442"/>
              <a:ext cx="236" cy="271"/>
              <a:chOff x="2938" y="2429"/>
              <a:chExt cx="240" cy="271"/>
            </a:xfrm>
          </p:grpSpPr>
          <p:sp>
            <p:nvSpPr>
              <p:cNvPr id="68" name="Rectangle 5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 Box 59"/>
              <p:cNvSpPr txBox="1">
                <a:spLocks noChangeArrowheads="1"/>
              </p:cNvSpPr>
              <p:nvPr/>
            </p:nvSpPr>
            <p:spPr bwMode="auto">
              <a:xfrm>
                <a:off x="2938" y="2429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cs typeface="Arial" panose="020B0604020202020204" pitchFamily="34" charset="0"/>
                  </a:rPr>
                  <a:t>v</a:t>
                </a:r>
                <a:endParaRPr lang="en-US" altLang="zh-CN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" name="Group 60"/>
            <p:cNvGrpSpPr>
              <a:grpSpLocks/>
            </p:cNvGrpSpPr>
            <p:nvPr/>
          </p:nvGrpSpPr>
          <p:grpSpPr bwMode="auto">
            <a:xfrm>
              <a:off x="4999" y="1760"/>
              <a:ext cx="252" cy="310"/>
              <a:chOff x="2929" y="2399"/>
              <a:chExt cx="255" cy="310"/>
            </a:xfrm>
          </p:grpSpPr>
          <p:sp>
            <p:nvSpPr>
              <p:cNvPr id="66" name="Rectangle 6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67" name="Text Box 62"/>
              <p:cNvSpPr txBox="1">
                <a:spLocks noChangeArrowheads="1"/>
              </p:cNvSpPr>
              <p:nvPr/>
            </p:nvSpPr>
            <p:spPr bwMode="auto">
              <a:xfrm>
                <a:off x="2929" y="2399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dirty="0">
                    <a:cs typeface="Arial" panose="020B0604020202020204" pitchFamily="34" charset="0"/>
                  </a:rPr>
                  <a:t>z</a:t>
                </a:r>
              </a:p>
            </p:txBody>
          </p:sp>
        </p:grpSp>
        <p:sp>
          <p:nvSpPr>
            <p:cNvPr id="56" name="Text Box 63"/>
            <p:cNvSpPr txBox="1">
              <a:spLocks noChangeArrowheads="1"/>
            </p:cNvSpPr>
            <p:nvPr/>
          </p:nvSpPr>
          <p:spPr bwMode="auto">
            <a:xfrm>
              <a:off x="3474" y="1571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2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57" name="Text Box 64"/>
            <p:cNvSpPr txBox="1">
              <a:spLocks noChangeArrowheads="1"/>
            </p:cNvSpPr>
            <p:nvPr/>
          </p:nvSpPr>
          <p:spPr bwMode="auto">
            <a:xfrm>
              <a:off x="3822" y="179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2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58" name="Text Box 65"/>
            <p:cNvSpPr txBox="1">
              <a:spLocks noChangeArrowheads="1"/>
            </p:cNvSpPr>
            <p:nvPr/>
          </p:nvSpPr>
          <p:spPr bwMode="auto">
            <a:xfrm>
              <a:off x="3387" y="2003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1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59" name="Text Box 66"/>
            <p:cNvSpPr txBox="1">
              <a:spLocks noChangeArrowheads="1"/>
            </p:cNvSpPr>
            <p:nvPr/>
          </p:nvSpPr>
          <p:spPr bwMode="auto">
            <a:xfrm>
              <a:off x="4206" y="1883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3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60" name="Text Box 67"/>
            <p:cNvSpPr txBox="1">
              <a:spLocks noChangeArrowheads="1"/>
            </p:cNvSpPr>
            <p:nvPr/>
          </p:nvSpPr>
          <p:spPr bwMode="auto">
            <a:xfrm>
              <a:off x="4143" y="223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1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61" name="Text Box 68"/>
            <p:cNvSpPr txBox="1">
              <a:spLocks noChangeArrowheads="1"/>
            </p:cNvSpPr>
            <p:nvPr/>
          </p:nvSpPr>
          <p:spPr bwMode="auto">
            <a:xfrm>
              <a:off x="4503" y="180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1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62" name="Text Box 69"/>
            <p:cNvSpPr txBox="1">
              <a:spLocks noChangeArrowheads="1"/>
            </p:cNvSpPr>
            <p:nvPr/>
          </p:nvSpPr>
          <p:spPr bwMode="auto">
            <a:xfrm>
              <a:off x="4863" y="207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2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63" name="Text Box 70"/>
            <p:cNvSpPr txBox="1">
              <a:spLocks noChangeArrowheads="1"/>
            </p:cNvSpPr>
            <p:nvPr/>
          </p:nvSpPr>
          <p:spPr bwMode="auto">
            <a:xfrm>
              <a:off x="4836" y="153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5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64" name="Text Box 71"/>
            <p:cNvSpPr txBox="1">
              <a:spLocks noChangeArrowheads="1"/>
            </p:cNvSpPr>
            <p:nvPr/>
          </p:nvSpPr>
          <p:spPr bwMode="auto">
            <a:xfrm>
              <a:off x="4101" y="138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3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65" name="Text Box 72"/>
            <p:cNvSpPr txBox="1">
              <a:spLocks noChangeArrowheads="1"/>
            </p:cNvSpPr>
            <p:nvPr/>
          </p:nvSpPr>
          <p:spPr bwMode="auto">
            <a:xfrm>
              <a:off x="3750" y="111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5</a:t>
              </a:r>
              <a:endParaRPr lang="en-US" altLang="zh-CN">
                <a:cs typeface="Arial" panose="020B0604020202020204" pitchFamily="34" charset="0"/>
              </a:endParaRPr>
            </a:p>
          </p:txBody>
        </p:sp>
      </p:grp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3596773" y="2307732"/>
            <a:ext cx="2607846" cy="138499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已知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pPr marL="405000" indent="-13500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</a:t>
            </a: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的邻居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v, x, w</a:t>
            </a:r>
          </a:p>
          <a:p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且：</a:t>
            </a:r>
            <a:endParaRPr lang="en-US" altLang="zh-CN" sz="1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405000" indent="-13500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140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 = 5</a:t>
            </a:r>
          </a:p>
          <a:p>
            <a:pPr marL="405000" indent="-13500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140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 = 3</a:t>
            </a:r>
          </a:p>
          <a:p>
            <a:pPr marL="405000" indent="-13500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1400" baseline="-250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 = 3</a:t>
            </a:r>
          </a:p>
        </p:txBody>
      </p:sp>
      <p:sp>
        <p:nvSpPr>
          <p:cNvPr id="79" name="Text Box 74"/>
          <p:cNvSpPr txBox="1">
            <a:spLocks noChangeArrowheads="1"/>
          </p:cNvSpPr>
          <p:nvPr/>
        </p:nvSpPr>
        <p:spPr bwMode="auto">
          <a:xfrm>
            <a:off x="5973604" y="2954263"/>
            <a:ext cx="2513830" cy="138499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140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 = min { c(</a:t>
            </a:r>
            <a:r>
              <a:rPr lang="en-US" altLang="zh-CN" sz="14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u,v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+ d</a:t>
            </a:r>
            <a:r>
              <a:rPr lang="en-US" altLang="zh-CN" sz="140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(z),</a:t>
            </a:r>
          </a:p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c(</a:t>
            </a:r>
            <a:r>
              <a:rPr lang="en-US" altLang="zh-CN" sz="14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u,x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+ d</a:t>
            </a:r>
            <a:r>
              <a:rPr lang="en-US" altLang="zh-CN" sz="1400" baseline="-25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(z),</a:t>
            </a:r>
          </a:p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c(</a:t>
            </a:r>
            <a:r>
              <a:rPr lang="en-US" altLang="zh-CN" sz="14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u,w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 + </a:t>
            </a:r>
            <a:r>
              <a:rPr lang="en-US" altLang="zh-CN" sz="14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1400" baseline="-25000" dirty="0" err="1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(z) }</a:t>
            </a:r>
          </a:p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= min {2 + 5,</a:t>
            </a:r>
          </a:p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1 + 3,</a:t>
            </a:r>
          </a:p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5 + 3}  = 4</a:t>
            </a:r>
          </a:p>
        </p:txBody>
      </p:sp>
      <p:sp>
        <p:nvSpPr>
          <p:cNvPr id="80" name="Text Box 76"/>
          <p:cNvSpPr txBox="1">
            <a:spLocks noChangeArrowheads="1"/>
          </p:cNvSpPr>
          <p:nvPr/>
        </p:nvSpPr>
        <p:spPr bwMode="auto">
          <a:xfrm>
            <a:off x="5728505" y="2643792"/>
            <a:ext cx="1643399" cy="30777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B-F </a:t>
            </a: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方程告诉我们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</p:txBody>
      </p: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DA887737-BA30-458D-B448-AC6C041A2CF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666EB90B-1B0B-49CB-8F45-C371E7504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419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2" grpId="0" animBg="1"/>
      <p:bldP spid="82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距离向量路由选择算法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什么是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距离向量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rgbClr val="0066CC"/>
                </a:solidFill>
                <a:effectLst/>
              </a:rPr>
              <a:t>x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到其他结点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y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的距离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en-US" altLang="zh-CN" b="1" i="1" dirty="0">
                <a:solidFill>
                  <a:srgbClr val="FF0000"/>
                </a:solidFill>
              </a:rPr>
              <a:t>D</a:t>
            </a:r>
            <a:r>
              <a:rPr lang="en-US" altLang="zh-CN" baseline="-25000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FF0000"/>
                </a:solidFill>
              </a:rPr>
              <a:t> = [D</a:t>
            </a:r>
            <a:r>
              <a:rPr lang="en-US" altLang="zh-CN" baseline="-25000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FF0000"/>
                </a:solidFill>
              </a:rPr>
              <a:t>(y): y </a:t>
            </a:r>
            <a:r>
              <a:rPr lang="az-Cyrl-AZ" altLang="zh-CN" dirty="0">
                <a:solidFill>
                  <a:srgbClr val="FF0000"/>
                </a:solidFill>
              </a:rPr>
              <a:t>∈ </a:t>
            </a:r>
            <a:r>
              <a:rPr lang="en-US" altLang="zh-CN" dirty="0">
                <a:solidFill>
                  <a:srgbClr val="FF0000"/>
                </a:solidFill>
              </a:rPr>
              <a:t>N]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对于任意结点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x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了解它自己到每个邻居</a:t>
            </a:r>
            <a:r>
              <a:rPr lang="en-US" altLang="zh-CN" dirty="0">
                <a:solidFill>
                  <a:srgbClr val="0066CC"/>
                </a:solidFill>
              </a:rPr>
              <a:t>v</a:t>
            </a:r>
            <a:r>
              <a:rPr lang="zh-CN" altLang="en-US" dirty="0">
                <a:solidFill>
                  <a:srgbClr val="0066CC"/>
                </a:solidFill>
              </a:rPr>
              <a:t>的距离：</a:t>
            </a:r>
            <a:r>
              <a:rPr lang="en-US" altLang="zh-CN" dirty="0">
                <a:solidFill>
                  <a:srgbClr val="0066CC"/>
                </a:solidFill>
              </a:rPr>
              <a:t>D</a:t>
            </a:r>
            <a:r>
              <a:rPr lang="en-US" altLang="zh-CN" baseline="-25000" dirty="0">
                <a:solidFill>
                  <a:srgbClr val="0066CC"/>
                </a:solidFill>
              </a:rPr>
              <a:t>x</a:t>
            </a:r>
            <a:r>
              <a:rPr lang="en-US" altLang="zh-CN" dirty="0">
                <a:solidFill>
                  <a:srgbClr val="0066CC"/>
                </a:solidFill>
              </a:rPr>
              <a:t>(v) = c(x, v)</a:t>
            </a: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因此得出它自己的距离向量</a:t>
            </a:r>
            <a:r>
              <a:rPr lang="en-US" altLang="zh-CN" b="1" i="1" dirty="0">
                <a:solidFill>
                  <a:srgbClr val="FF0000"/>
                </a:solidFill>
              </a:rPr>
              <a:t>D</a:t>
            </a:r>
            <a:r>
              <a:rPr lang="en-US" altLang="zh-CN" baseline="-25000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FF0000"/>
                </a:solidFill>
              </a:rPr>
              <a:t> = [D</a:t>
            </a:r>
            <a:r>
              <a:rPr lang="en-US" altLang="zh-CN" baseline="-25000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FF0000"/>
                </a:solidFill>
              </a:rPr>
              <a:t>(y): y </a:t>
            </a:r>
            <a:r>
              <a:rPr lang="az-Cyrl-AZ" altLang="zh-CN" dirty="0">
                <a:solidFill>
                  <a:srgbClr val="FF0000"/>
                </a:solidFill>
              </a:rPr>
              <a:t>∈ </a:t>
            </a:r>
            <a:r>
              <a:rPr lang="en-US" altLang="zh-CN" dirty="0">
                <a:solidFill>
                  <a:srgbClr val="FF0000"/>
                </a:solidFill>
              </a:rPr>
              <a:t>N]</a:t>
            </a:r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另一方面，</a:t>
            </a:r>
            <a:r>
              <a:rPr lang="en-US" altLang="zh-CN" dirty="0">
                <a:solidFill>
                  <a:srgbClr val="0066CC"/>
                </a:solidFill>
              </a:rPr>
              <a:t>x</a:t>
            </a:r>
            <a:r>
              <a:rPr lang="zh-CN" altLang="en-US" dirty="0">
                <a:solidFill>
                  <a:srgbClr val="0066CC"/>
                </a:solidFill>
              </a:rPr>
              <a:t>通过与邻居</a:t>
            </a:r>
            <a:r>
              <a:rPr lang="en-US" altLang="zh-CN" dirty="0">
                <a:solidFill>
                  <a:srgbClr val="0066CC"/>
                </a:solidFill>
              </a:rPr>
              <a:t>v</a:t>
            </a:r>
            <a:r>
              <a:rPr lang="zh-CN" altLang="en-US" dirty="0">
                <a:solidFill>
                  <a:srgbClr val="0066CC"/>
                </a:solidFill>
              </a:rPr>
              <a:t>交换信息，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也了解它每个邻居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v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的距离向量：</a:t>
            </a:r>
            <a:r>
              <a:rPr lang="en-US" altLang="zh-CN" b="1" i="1" dirty="0">
                <a:solidFill>
                  <a:srgbClr val="FF0000"/>
                </a:solidFill>
              </a:rPr>
              <a:t>D</a:t>
            </a:r>
            <a:r>
              <a:rPr lang="en-US" altLang="zh-CN" b="1" i="1" baseline="-25000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 = [ D</a:t>
            </a:r>
            <a:r>
              <a:rPr lang="en-US" altLang="zh-CN" baseline="-25000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(y): y </a:t>
            </a:r>
            <a:r>
              <a:rPr lang="az-Cyrl-AZ" altLang="zh-CN" dirty="0">
                <a:solidFill>
                  <a:srgbClr val="FF0000"/>
                </a:solidFill>
              </a:rPr>
              <a:t>∈ </a:t>
            </a:r>
            <a:r>
              <a:rPr lang="en-US" altLang="zh-CN" dirty="0">
                <a:solidFill>
                  <a:srgbClr val="FF0000"/>
                </a:solidFill>
              </a:rPr>
              <a:t>N]</a:t>
            </a:r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E72B2CC6-76C0-426F-9CD4-99150661A8B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067415A-38F8-4AD0-86A4-0E43BF962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575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66CC"/>
                </a:solidFill>
                <a:effectLst/>
              </a:rPr>
              <a:t>4.5.2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距离向量路由选择算法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算法基本思想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随着时间的推移，每个节点都会与邻居交换距离向量</a:t>
            </a:r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当</a:t>
            </a:r>
            <a:r>
              <a:rPr lang="en-US" altLang="zh-CN" dirty="0">
                <a:solidFill>
                  <a:srgbClr val="0066CC"/>
                </a:solidFill>
              </a:rPr>
              <a:t>x</a:t>
            </a:r>
            <a:r>
              <a:rPr lang="zh-CN" altLang="en-US" dirty="0">
                <a:solidFill>
                  <a:srgbClr val="0066CC"/>
                </a:solidFill>
              </a:rPr>
              <a:t>结点从邻居处接收到距离向量，</a:t>
            </a:r>
            <a:br>
              <a:rPr lang="en-US" altLang="zh-CN" dirty="0">
                <a:solidFill>
                  <a:srgbClr val="0066CC"/>
                </a:solidFill>
              </a:rPr>
            </a:br>
            <a:r>
              <a:rPr lang="zh-CN" altLang="en-US" dirty="0">
                <a:solidFill>
                  <a:srgbClr val="0066CC"/>
                </a:solidFill>
              </a:rPr>
              <a:t>它便通过</a:t>
            </a:r>
            <a:r>
              <a:rPr lang="en-US" altLang="zh-CN" dirty="0">
                <a:solidFill>
                  <a:srgbClr val="0066CC"/>
                </a:solidFill>
              </a:rPr>
              <a:t> B-F</a:t>
            </a:r>
            <a:r>
              <a:rPr lang="zh-CN" altLang="en-US" dirty="0">
                <a:solidFill>
                  <a:srgbClr val="0066CC"/>
                </a:solidFill>
              </a:rPr>
              <a:t>方程更新自己的距离向量</a:t>
            </a:r>
            <a:r>
              <a:rPr lang="en-US" altLang="zh-CN" dirty="0">
                <a:solidFill>
                  <a:srgbClr val="0066CC"/>
                </a:solidFill>
              </a:rPr>
              <a:t>: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3"/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1500" baseline="-30000" dirty="0">
                <a:solidFill>
                  <a:srgbClr val="FF0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(y) </a:t>
            </a:r>
            <a:r>
              <a:rPr lang="en-US" altLang="zh-CN" sz="1500" dirty="0">
                <a:solidFill>
                  <a:srgbClr val="FF0000"/>
                </a:solidFill>
                <a:ea typeface="Times New Roman" panose="02020603050405020304" pitchFamily="18" charset="0"/>
                <a:cs typeface="Times" panose="02020603050405020304" pitchFamily="18" charset="0"/>
              </a:rPr>
              <a:t>←</a:t>
            </a:r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min</a:t>
            </a:r>
            <a:r>
              <a:rPr lang="en-US" altLang="zh-CN" sz="1500" baseline="-30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{c(</a:t>
            </a:r>
            <a:r>
              <a:rPr lang="en-US" altLang="zh-CN" sz="15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x,v</a:t>
            </a:r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) + D</a:t>
            </a:r>
            <a:r>
              <a:rPr lang="en-US" altLang="zh-CN" sz="1500" baseline="-30000" dirty="0">
                <a:solidFill>
                  <a:srgbClr val="FF0000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(y)}    for each node y </a:t>
            </a:r>
            <a:r>
              <a:rPr lang="en-US" altLang="zh-CN" sz="1500" dirty="0">
                <a:solidFill>
                  <a:srgbClr val="FF0000"/>
                </a:solidFill>
                <a:ea typeface="MS Mincho" panose="02020609040205080304" pitchFamily="49" charset="-128"/>
              </a:rPr>
              <a:t>∊</a:t>
            </a:r>
            <a:r>
              <a:rPr lang="en-US" altLang="zh-CN" sz="1500" dirty="0">
                <a:solidFill>
                  <a:srgbClr val="FF0000"/>
                </a:solidFill>
                <a:cs typeface="Times New Roman" panose="02020603050405020304" pitchFamily="18" charset="0"/>
              </a:rPr>
              <a:t> N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经过有限次迭代</a:t>
            </a:r>
            <a:r>
              <a:rPr lang="en-US" altLang="zh-CN" dirty="0">
                <a:solidFill>
                  <a:srgbClr val="0066CC"/>
                </a:solidFill>
              </a:rPr>
              <a:t>, </a:t>
            </a:r>
            <a:r>
              <a:rPr lang="zh-CN" altLang="en-US" dirty="0">
                <a:solidFill>
                  <a:srgbClr val="0066CC"/>
                </a:solidFill>
              </a:rPr>
              <a:t>费用估计 </a:t>
            </a:r>
            <a:r>
              <a:rPr lang="en-US" altLang="zh-CN" dirty="0" err="1">
                <a:solidFill>
                  <a:srgbClr val="0066CC"/>
                </a:solidFill>
              </a:rPr>
              <a:t>D</a:t>
            </a:r>
            <a:r>
              <a:rPr lang="en-US" altLang="zh-CN" baseline="-25000" dirty="0" err="1">
                <a:solidFill>
                  <a:srgbClr val="0066CC"/>
                </a:solidFill>
              </a:rPr>
              <a:t>x</a:t>
            </a:r>
            <a:r>
              <a:rPr lang="en-US" altLang="zh-CN" dirty="0">
                <a:solidFill>
                  <a:srgbClr val="0066CC"/>
                </a:solidFill>
              </a:rPr>
              <a:t>(y) </a:t>
            </a:r>
            <a:r>
              <a:rPr lang="zh-CN" altLang="en-US" dirty="0">
                <a:solidFill>
                  <a:srgbClr val="0066CC"/>
                </a:solidFill>
              </a:rPr>
              <a:t>收敛到实际最低费用 </a:t>
            </a:r>
            <a:r>
              <a:rPr lang="en-US" altLang="zh-CN" dirty="0">
                <a:solidFill>
                  <a:srgbClr val="0066CC"/>
                </a:solidFill>
              </a:rPr>
              <a:t>d</a:t>
            </a:r>
            <a:r>
              <a:rPr lang="en-US" altLang="zh-CN" baseline="-25000" dirty="0">
                <a:solidFill>
                  <a:srgbClr val="0066CC"/>
                </a:solidFill>
              </a:rPr>
              <a:t>x</a:t>
            </a:r>
            <a:r>
              <a:rPr lang="en-US" altLang="zh-CN" dirty="0">
                <a:solidFill>
                  <a:srgbClr val="0066CC"/>
                </a:solidFill>
              </a:rPr>
              <a:t>(y) </a:t>
            </a: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E47E031F-AD4C-4246-8B06-AE3449E0315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400A484-077D-40CB-B0D2-6CB7C51DC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6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66CC"/>
                </a:solidFill>
                <a:effectLst/>
              </a:rPr>
              <a:t>4.5.2 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距离向量路由选择算法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迭代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, 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异步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 </a:t>
            </a:r>
            <a:br>
              <a:rPr lang="en-US" altLang="zh-CN" dirty="0">
                <a:solidFill>
                  <a:srgbClr val="FF0000"/>
                </a:solidFill>
                <a:effectLst/>
              </a:rPr>
            </a:br>
            <a:r>
              <a:rPr lang="zh-CN" altLang="en-US" sz="1500" dirty="0">
                <a:solidFill>
                  <a:srgbClr val="0066CC"/>
                </a:solidFill>
              </a:rPr>
              <a:t>每次本地迭代由以下两种情况触发</a:t>
            </a:r>
            <a:r>
              <a:rPr lang="en-US" altLang="zh-CN" sz="1200" dirty="0">
                <a:solidFill>
                  <a:srgbClr val="0066CC"/>
                </a:solidFill>
              </a:rPr>
              <a:t>: 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>
              <a:lnSpc>
                <a:spcPct val="125000"/>
              </a:lnSpc>
            </a:pPr>
            <a:r>
              <a:rPr lang="zh-CN" altLang="en-US" sz="1200" dirty="0">
                <a:solidFill>
                  <a:srgbClr val="0066CC"/>
                </a:solidFill>
              </a:rPr>
              <a:t>本地链路的费用发生变化的时候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>
              <a:lnSpc>
                <a:spcPct val="125000"/>
              </a:lnSpc>
            </a:pPr>
            <a:r>
              <a:rPr lang="zh-CN" altLang="en-US" sz="1200" dirty="0">
                <a:solidFill>
                  <a:srgbClr val="0066CC"/>
                </a:solidFill>
              </a:rPr>
              <a:t>从邻居获得更新的</a:t>
            </a:r>
            <a:r>
              <a:rPr lang="en-US" altLang="zh-CN" sz="1200" dirty="0">
                <a:solidFill>
                  <a:srgbClr val="0066CC"/>
                </a:solidFill>
              </a:rPr>
              <a:t>DV</a:t>
            </a:r>
            <a:r>
              <a:rPr lang="zh-CN" altLang="en-US" sz="1200" dirty="0">
                <a:solidFill>
                  <a:srgbClr val="0066CC"/>
                </a:solidFill>
              </a:rPr>
              <a:t>之后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</a:rPr>
              <a:t>分布式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:</a:t>
            </a:r>
            <a:endParaRPr lang="en-US" altLang="zh-CN" dirty="0">
              <a:effectLst/>
            </a:endParaRPr>
          </a:p>
          <a:p>
            <a:pPr lvl="1">
              <a:lnSpc>
                <a:spcPct val="125000"/>
              </a:lnSpc>
            </a:pPr>
            <a:r>
              <a:rPr lang="zh-CN" altLang="en-US" sz="1200" dirty="0">
                <a:solidFill>
                  <a:srgbClr val="0066CC"/>
                </a:solidFill>
              </a:rPr>
              <a:t>节点</a:t>
            </a:r>
            <a:r>
              <a:rPr lang="en-US" altLang="zh-CN" sz="1200" dirty="0">
                <a:solidFill>
                  <a:srgbClr val="0066CC"/>
                </a:solidFill>
              </a:rPr>
              <a:t>DV</a:t>
            </a:r>
            <a:r>
              <a:rPr lang="zh-CN" altLang="en-US" sz="1200" dirty="0">
                <a:solidFill>
                  <a:srgbClr val="0066CC"/>
                </a:solidFill>
              </a:rPr>
              <a:t>更新后通知邻居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>
              <a:lnSpc>
                <a:spcPct val="125000"/>
              </a:lnSpc>
            </a:pPr>
            <a:r>
              <a:rPr lang="zh-CN" altLang="en-US" sz="1200" dirty="0">
                <a:solidFill>
                  <a:srgbClr val="0066CC"/>
                </a:solidFill>
              </a:rPr>
              <a:t>邻居更新</a:t>
            </a:r>
            <a:r>
              <a:rPr lang="en-US" altLang="zh-CN" sz="1200" dirty="0">
                <a:solidFill>
                  <a:srgbClr val="0066CC"/>
                </a:solidFill>
              </a:rPr>
              <a:t>DV</a:t>
            </a:r>
            <a:r>
              <a:rPr lang="zh-CN" altLang="en-US" sz="1200" dirty="0">
                <a:solidFill>
                  <a:srgbClr val="0066CC"/>
                </a:solidFill>
              </a:rPr>
              <a:t>后再通知它们的邻居</a:t>
            </a:r>
            <a:endParaRPr lang="en-US" altLang="zh-CN" sz="1200" dirty="0">
              <a:solidFill>
                <a:srgbClr val="0066CC"/>
              </a:solidFill>
            </a:endParaRPr>
          </a:p>
          <a:p>
            <a:pPr lvl="1">
              <a:lnSpc>
                <a:spcPct val="125000"/>
              </a:lnSpc>
            </a:pP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212302" y="2877418"/>
            <a:ext cx="3942438" cy="136191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57175" indent="-257175" eaLnBrk="0" hangingPunct="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节点的三个活动：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14388" lvl="1" indent="-25717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等待：来自链路或邻居的信息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14388" lvl="1" indent="-25717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计算：更新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DV</a:t>
            </a:r>
          </a:p>
          <a:p>
            <a:pPr marL="814388" lvl="1" indent="-257175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通知：向邻居更新自己的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DV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5D39C469-9F85-4430-B9FB-1DCB6E1F972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C72B846-A8F0-4C07-B312-814A60239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278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10" name="Rectangle 118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392197" name="Group 2"/>
          <p:cNvGrpSpPr>
            <a:grpSpLocks/>
          </p:cNvGrpSpPr>
          <p:nvPr/>
        </p:nvGrpSpPr>
        <p:grpSpPr bwMode="auto">
          <a:xfrm>
            <a:off x="1532335" y="742950"/>
            <a:ext cx="1325165" cy="1328738"/>
            <a:chOff x="231" y="192"/>
            <a:chExt cx="1113" cy="1116"/>
          </a:xfrm>
        </p:grpSpPr>
        <p:sp>
          <p:nvSpPr>
            <p:cNvPr id="392198" name="Line 3"/>
            <p:cNvSpPr>
              <a:spLocks noChangeShapeType="1"/>
            </p:cNvSpPr>
            <p:nvPr/>
          </p:nvSpPr>
          <p:spPr bwMode="auto">
            <a:xfrm>
              <a:off x="672" y="48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392199" name="Line 4"/>
            <p:cNvSpPr>
              <a:spLocks noChangeShapeType="1"/>
            </p:cNvSpPr>
            <p:nvPr/>
          </p:nvSpPr>
          <p:spPr bwMode="auto">
            <a:xfrm>
              <a:off x="480" y="6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392200" name="Text Box 5"/>
            <p:cNvSpPr txBox="1">
              <a:spLocks noChangeArrowheads="1"/>
            </p:cNvSpPr>
            <p:nvPr/>
          </p:nvSpPr>
          <p:spPr bwMode="auto">
            <a:xfrm>
              <a:off x="672" y="384"/>
              <a:ext cx="6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x   y   z</a:t>
              </a:r>
            </a:p>
          </p:txBody>
        </p:sp>
        <p:sp>
          <p:nvSpPr>
            <p:cNvPr id="392201" name="Text Box 6"/>
            <p:cNvSpPr txBox="1">
              <a:spLocks noChangeArrowheads="1"/>
            </p:cNvSpPr>
            <p:nvPr/>
          </p:nvSpPr>
          <p:spPr bwMode="auto">
            <a:xfrm>
              <a:off x="480" y="624"/>
              <a:ext cx="2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92202" name="Text Box 7"/>
            <p:cNvSpPr txBox="1">
              <a:spLocks noChangeArrowheads="1"/>
            </p:cNvSpPr>
            <p:nvPr/>
          </p:nvSpPr>
          <p:spPr bwMode="auto">
            <a:xfrm>
              <a:off x="480" y="816"/>
              <a:ext cx="2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392203" name="Text Box 8"/>
            <p:cNvSpPr txBox="1">
              <a:spLocks noChangeArrowheads="1"/>
            </p:cNvSpPr>
            <p:nvPr/>
          </p:nvSpPr>
          <p:spPr bwMode="auto">
            <a:xfrm>
              <a:off x="480" y="1008"/>
              <a:ext cx="2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392204" name="Text Box 9"/>
            <p:cNvSpPr txBox="1">
              <a:spLocks noChangeArrowheads="1"/>
            </p:cNvSpPr>
            <p:nvPr/>
          </p:nvSpPr>
          <p:spPr bwMode="auto">
            <a:xfrm>
              <a:off x="672" y="624"/>
              <a:ext cx="6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0  2   7</a:t>
              </a:r>
            </a:p>
          </p:txBody>
        </p:sp>
        <p:sp>
          <p:nvSpPr>
            <p:cNvPr id="392205" name="Text Box 10"/>
            <p:cNvSpPr txBox="1">
              <a:spLocks noChangeArrowheads="1"/>
            </p:cNvSpPr>
            <p:nvPr/>
          </p:nvSpPr>
          <p:spPr bwMode="auto">
            <a:xfrm>
              <a:off x="672" y="864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2206" name="Text Box 11"/>
            <p:cNvSpPr txBox="1">
              <a:spLocks noChangeArrowheads="1"/>
            </p:cNvSpPr>
            <p:nvPr/>
          </p:nvSpPr>
          <p:spPr bwMode="auto">
            <a:xfrm>
              <a:off x="816" y="864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2207" name="Text Box 12"/>
            <p:cNvSpPr txBox="1">
              <a:spLocks noChangeArrowheads="1"/>
            </p:cNvSpPr>
            <p:nvPr/>
          </p:nvSpPr>
          <p:spPr bwMode="auto">
            <a:xfrm>
              <a:off x="1056" y="864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2208" name="Text Box 13"/>
            <p:cNvSpPr txBox="1">
              <a:spLocks noChangeArrowheads="1"/>
            </p:cNvSpPr>
            <p:nvPr/>
          </p:nvSpPr>
          <p:spPr bwMode="auto">
            <a:xfrm>
              <a:off x="672" y="1056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2209" name="Text Box 14"/>
            <p:cNvSpPr txBox="1">
              <a:spLocks noChangeArrowheads="1"/>
            </p:cNvSpPr>
            <p:nvPr/>
          </p:nvSpPr>
          <p:spPr bwMode="auto">
            <a:xfrm>
              <a:off x="816" y="1056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2210" name="Text Box 15"/>
            <p:cNvSpPr txBox="1">
              <a:spLocks noChangeArrowheads="1"/>
            </p:cNvSpPr>
            <p:nvPr/>
          </p:nvSpPr>
          <p:spPr bwMode="auto">
            <a:xfrm>
              <a:off x="1056" y="1056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2211" name="Text Box 16"/>
            <p:cNvSpPr txBox="1">
              <a:spLocks noChangeArrowheads="1"/>
            </p:cNvSpPr>
            <p:nvPr/>
          </p:nvSpPr>
          <p:spPr bwMode="auto">
            <a:xfrm rot="16200000">
              <a:off x="112" y="816"/>
              <a:ext cx="48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392212" name="Text Box 17"/>
            <p:cNvSpPr txBox="1">
              <a:spLocks noChangeArrowheads="1"/>
            </p:cNvSpPr>
            <p:nvPr/>
          </p:nvSpPr>
          <p:spPr bwMode="auto">
            <a:xfrm>
              <a:off x="672" y="192"/>
              <a:ext cx="6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cost to</a:t>
              </a:r>
            </a:p>
          </p:txBody>
        </p:sp>
      </p:grpSp>
      <p:sp>
        <p:nvSpPr>
          <p:cNvPr id="392213" name="Text Box 18"/>
          <p:cNvSpPr txBox="1">
            <a:spLocks noChangeArrowheads="1"/>
          </p:cNvSpPr>
          <p:nvPr/>
        </p:nvSpPr>
        <p:spPr bwMode="auto">
          <a:xfrm rot="-5400000">
            <a:off x="1389463" y="2858668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2214" name="Text Box 19"/>
          <p:cNvSpPr txBox="1">
            <a:spLocks noChangeArrowheads="1"/>
          </p:cNvSpPr>
          <p:nvPr/>
        </p:nvSpPr>
        <p:spPr bwMode="auto">
          <a:xfrm rot="-5400000">
            <a:off x="1389463" y="4173118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2215" name="Line 20"/>
          <p:cNvSpPr>
            <a:spLocks noChangeShapeType="1"/>
          </p:cNvSpPr>
          <p:nvPr/>
        </p:nvSpPr>
        <p:spPr bwMode="auto">
          <a:xfrm>
            <a:off x="3600450" y="108585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16" name="Line 21"/>
          <p:cNvSpPr>
            <a:spLocks noChangeShapeType="1"/>
          </p:cNvSpPr>
          <p:nvPr/>
        </p:nvSpPr>
        <p:spPr bwMode="auto">
          <a:xfrm>
            <a:off x="3371850" y="1257300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17" name="Text Box 22"/>
          <p:cNvSpPr txBox="1">
            <a:spLocks noChangeArrowheads="1"/>
          </p:cNvSpPr>
          <p:nvPr/>
        </p:nvSpPr>
        <p:spPr bwMode="auto">
          <a:xfrm>
            <a:off x="3600450" y="971550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2218" name="Text Box 23"/>
          <p:cNvSpPr txBox="1">
            <a:spLocks noChangeArrowheads="1"/>
          </p:cNvSpPr>
          <p:nvPr/>
        </p:nvSpPr>
        <p:spPr bwMode="auto">
          <a:xfrm>
            <a:off x="3371850" y="1257300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2219" name="Text Box 24"/>
          <p:cNvSpPr txBox="1">
            <a:spLocks noChangeArrowheads="1"/>
          </p:cNvSpPr>
          <p:nvPr/>
        </p:nvSpPr>
        <p:spPr bwMode="auto">
          <a:xfrm>
            <a:off x="3371850" y="1485900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2220" name="Text Box 25"/>
          <p:cNvSpPr txBox="1">
            <a:spLocks noChangeArrowheads="1"/>
          </p:cNvSpPr>
          <p:nvPr/>
        </p:nvSpPr>
        <p:spPr bwMode="auto">
          <a:xfrm>
            <a:off x="3371850" y="1714500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2221" name="Text Box 26"/>
          <p:cNvSpPr txBox="1">
            <a:spLocks noChangeArrowheads="1"/>
          </p:cNvSpPr>
          <p:nvPr/>
        </p:nvSpPr>
        <p:spPr bwMode="auto">
          <a:xfrm>
            <a:off x="3615929" y="12573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92222" name="Text Box 27"/>
          <p:cNvSpPr txBox="1">
            <a:spLocks noChangeArrowheads="1"/>
          </p:cNvSpPr>
          <p:nvPr/>
        </p:nvSpPr>
        <p:spPr bwMode="auto">
          <a:xfrm rot="-5400000">
            <a:off x="2932513" y="1487068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2223" name="Text Box 28"/>
          <p:cNvSpPr txBox="1">
            <a:spLocks noChangeArrowheads="1"/>
          </p:cNvSpPr>
          <p:nvPr/>
        </p:nvSpPr>
        <p:spPr bwMode="auto">
          <a:xfrm>
            <a:off x="3600451" y="742950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2224" name="Line 29"/>
          <p:cNvSpPr>
            <a:spLocks noChangeShapeType="1"/>
          </p:cNvSpPr>
          <p:nvPr/>
        </p:nvSpPr>
        <p:spPr bwMode="auto">
          <a:xfrm>
            <a:off x="2057400" y="24003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25" name="Line 30"/>
          <p:cNvSpPr>
            <a:spLocks noChangeShapeType="1"/>
          </p:cNvSpPr>
          <p:nvPr/>
        </p:nvSpPr>
        <p:spPr bwMode="auto">
          <a:xfrm>
            <a:off x="1828800" y="2571750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26" name="Text Box 31"/>
          <p:cNvSpPr txBox="1">
            <a:spLocks noChangeArrowheads="1"/>
          </p:cNvSpPr>
          <p:nvPr/>
        </p:nvSpPr>
        <p:spPr bwMode="auto">
          <a:xfrm>
            <a:off x="2057400" y="2286000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2227" name="Text Box 32"/>
          <p:cNvSpPr txBox="1">
            <a:spLocks noChangeArrowheads="1"/>
          </p:cNvSpPr>
          <p:nvPr/>
        </p:nvSpPr>
        <p:spPr bwMode="auto">
          <a:xfrm>
            <a:off x="1828800" y="2571750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2228" name="Text Box 33"/>
          <p:cNvSpPr txBox="1">
            <a:spLocks noChangeArrowheads="1"/>
          </p:cNvSpPr>
          <p:nvPr/>
        </p:nvSpPr>
        <p:spPr bwMode="auto">
          <a:xfrm>
            <a:off x="1828800" y="2800350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2229" name="Text Box 34"/>
          <p:cNvSpPr txBox="1">
            <a:spLocks noChangeArrowheads="1"/>
          </p:cNvSpPr>
          <p:nvPr/>
        </p:nvSpPr>
        <p:spPr bwMode="auto">
          <a:xfrm>
            <a:off x="1828800" y="3028950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2230" name="Text Box 35"/>
          <p:cNvSpPr txBox="1">
            <a:spLocks noChangeArrowheads="1"/>
          </p:cNvSpPr>
          <p:nvPr/>
        </p:nvSpPr>
        <p:spPr bwMode="auto">
          <a:xfrm>
            <a:off x="2286000" y="257175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31" name="Text Box 36"/>
          <p:cNvSpPr txBox="1">
            <a:spLocks noChangeArrowheads="1"/>
          </p:cNvSpPr>
          <p:nvPr/>
        </p:nvSpPr>
        <p:spPr bwMode="auto">
          <a:xfrm>
            <a:off x="2514600" y="257175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32" name="Text Box 37"/>
          <p:cNvSpPr txBox="1">
            <a:spLocks noChangeArrowheads="1"/>
          </p:cNvSpPr>
          <p:nvPr/>
        </p:nvSpPr>
        <p:spPr bwMode="auto">
          <a:xfrm>
            <a:off x="2057400" y="308610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33" name="Text Box 38"/>
          <p:cNvSpPr txBox="1">
            <a:spLocks noChangeArrowheads="1"/>
          </p:cNvSpPr>
          <p:nvPr/>
        </p:nvSpPr>
        <p:spPr bwMode="auto">
          <a:xfrm>
            <a:off x="2228850" y="308610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34" name="Text Box 39"/>
          <p:cNvSpPr txBox="1">
            <a:spLocks noChangeArrowheads="1"/>
          </p:cNvSpPr>
          <p:nvPr/>
        </p:nvSpPr>
        <p:spPr bwMode="auto">
          <a:xfrm>
            <a:off x="2514600" y="308610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35" name="Text Box 40"/>
          <p:cNvSpPr txBox="1">
            <a:spLocks noChangeArrowheads="1"/>
          </p:cNvSpPr>
          <p:nvPr/>
        </p:nvSpPr>
        <p:spPr bwMode="auto">
          <a:xfrm>
            <a:off x="2057401" y="2057400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2236" name="Line 41"/>
          <p:cNvSpPr>
            <a:spLocks noChangeShapeType="1"/>
          </p:cNvSpPr>
          <p:nvPr/>
        </p:nvSpPr>
        <p:spPr bwMode="auto">
          <a:xfrm>
            <a:off x="2057400" y="37719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37" name="Line 42"/>
          <p:cNvSpPr>
            <a:spLocks noChangeShapeType="1"/>
          </p:cNvSpPr>
          <p:nvPr/>
        </p:nvSpPr>
        <p:spPr bwMode="auto">
          <a:xfrm>
            <a:off x="1828800" y="3943350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38" name="Text Box 43"/>
          <p:cNvSpPr txBox="1">
            <a:spLocks noChangeArrowheads="1"/>
          </p:cNvSpPr>
          <p:nvPr/>
        </p:nvSpPr>
        <p:spPr bwMode="auto">
          <a:xfrm>
            <a:off x="2057400" y="3657600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2239" name="Text Box 44"/>
          <p:cNvSpPr txBox="1">
            <a:spLocks noChangeArrowheads="1"/>
          </p:cNvSpPr>
          <p:nvPr/>
        </p:nvSpPr>
        <p:spPr bwMode="auto">
          <a:xfrm>
            <a:off x="1828800" y="3943350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2240" name="Text Box 45"/>
          <p:cNvSpPr txBox="1">
            <a:spLocks noChangeArrowheads="1"/>
          </p:cNvSpPr>
          <p:nvPr/>
        </p:nvSpPr>
        <p:spPr bwMode="auto">
          <a:xfrm>
            <a:off x="1828800" y="4171950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2241" name="Text Box 46"/>
          <p:cNvSpPr txBox="1">
            <a:spLocks noChangeArrowheads="1"/>
          </p:cNvSpPr>
          <p:nvPr/>
        </p:nvSpPr>
        <p:spPr bwMode="auto">
          <a:xfrm>
            <a:off x="1828800" y="4400550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2242" name="Text Box 47"/>
          <p:cNvSpPr txBox="1">
            <a:spLocks noChangeArrowheads="1"/>
          </p:cNvSpPr>
          <p:nvPr/>
        </p:nvSpPr>
        <p:spPr bwMode="auto">
          <a:xfrm>
            <a:off x="2057400" y="4229100"/>
            <a:ext cx="7429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43" name="Text Box 48"/>
          <p:cNvSpPr txBox="1">
            <a:spLocks noChangeArrowheads="1"/>
          </p:cNvSpPr>
          <p:nvPr/>
        </p:nvSpPr>
        <p:spPr bwMode="auto">
          <a:xfrm>
            <a:off x="2228850" y="422910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44" name="Text Box 49"/>
          <p:cNvSpPr txBox="1">
            <a:spLocks noChangeArrowheads="1"/>
          </p:cNvSpPr>
          <p:nvPr/>
        </p:nvSpPr>
        <p:spPr bwMode="auto">
          <a:xfrm>
            <a:off x="2514600" y="4229100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2245" name="Text Box 50"/>
          <p:cNvSpPr txBox="1">
            <a:spLocks noChangeArrowheads="1"/>
          </p:cNvSpPr>
          <p:nvPr/>
        </p:nvSpPr>
        <p:spPr bwMode="auto">
          <a:xfrm>
            <a:off x="2057400" y="44577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92246" name="Text Box 51"/>
          <p:cNvSpPr txBox="1">
            <a:spLocks noChangeArrowheads="1"/>
          </p:cNvSpPr>
          <p:nvPr/>
        </p:nvSpPr>
        <p:spPr bwMode="auto">
          <a:xfrm>
            <a:off x="2267667" y="4457700"/>
            <a:ext cx="26321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92247" name="Text Box 52"/>
          <p:cNvSpPr txBox="1">
            <a:spLocks noChangeArrowheads="1"/>
          </p:cNvSpPr>
          <p:nvPr/>
        </p:nvSpPr>
        <p:spPr bwMode="auto">
          <a:xfrm>
            <a:off x="2514600" y="4457700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92248" name="Text Box 53"/>
          <p:cNvSpPr txBox="1">
            <a:spLocks noChangeArrowheads="1"/>
          </p:cNvSpPr>
          <p:nvPr/>
        </p:nvSpPr>
        <p:spPr bwMode="auto">
          <a:xfrm>
            <a:off x="2057401" y="3429000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2249" name="Text Box 54"/>
          <p:cNvSpPr txBox="1">
            <a:spLocks noChangeArrowheads="1"/>
          </p:cNvSpPr>
          <p:nvPr/>
        </p:nvSpPr>
        <p:spPr bwMode="auto">
          <a:xfrm>
            <a:off x="2057401" y="2628901"/>
            <a:ext cx="78258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2   0   1</a:t>
            </a:r>
          </a:p>
        </p:txBody>
      </p:sp>
      <p:sp>
        <p:nvSpPr>
          <p:cNvPr id="392250" name="Text Box 55"/>
          <p:cNvSpPr txBox="1">
            <a:spLocks noChangeArrowheads="1"/>
          </p:cNvSpPr>
          <p:nvPr/>
        </p:nvSpPr>
        <p:spPr bwMode="auto">
          <a:xfrm>
            <a:off x="2057400" y="3943350"/>
            <a:ext cx="74295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 ∞  ∞</a:t>
            </a:r>
          </a:p>
        </p:txBody>
      </p:sp>
      <p:sp>
        <p:nvSpPr>
          <p:cNvPr id="392251" name="Text Box 56"/>
          <p:cNvSpPr txBox="1">
            <a:spLocks noChangeArrowheads="1"/>
          </p:cNvSpPr>
          <p:nvPr/>
        </p:nvSpPr>
        <p:spPr bwMode="auto">
          <a:xfrm>
            <a:off x="3588544" y="1516856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2   0   1</a:t>
            </a:r>
          </a:p>
        </p:txBody>
      </p:sp>
      <p:sp>
        <p:nvSpPr>
          <p:cNvPr id="392252" name="Text Box 57"/>
          <p:cNvSpPr txBox="1">
            <a:spLocks noChangeArrowheads="1"/>
          </p:cNvSpPr>
          <p:nvPr/>
        </p:nvSpPr>
        <p:spPr bwMode="auto">
          <a:xfrm>
            <a:off x="3588544" y="1745456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7   1   0</a:t>
            </a:r>
          </a:p>
        </p:txBody>
      </p:sp>
      <p:sp>
        <p:nvSpPr>
          <p:cNvPr id="392253" name="Line 58"/>
          <p:cNvSpPr>
            <a:spLocks noChangeShapeType="1"/>
          </p:cNvSpPr>
          <p:nvPr/>
        </p:nvSpPr>
        <p:spPr bwMode="auto">
          <a:xfrm>
            <a:off x="2800350" y="1485900"/>
            <a:ext cx="51435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54" name="Line 59"/>
          <p:cNvSpPr>
            <a:spLocks noChangeShapeType="1"/>
          </p:cNvSpPr>
          <p:nvPr/>
        </p:nvSpPr>
        <p:spPr bwMode="auto">
          <a:xfrm>
            <a:off x="2743200" y="1543050"/>
            <a:ext cx="514350" cy="2343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55" name="Line 60"/>
          <p:cNvSpPr>
            <a:spLocks noChangeShapeType="1"/>
          </p:cNvSpPr>
          <p:nvPr/>
        </p:nvSpPr>
        <p:spPr bwMode="auto">
          <a:xfrm flipV="1">
            <a:off x="2743200" y="1885950"/>
            <a:ext cx="57150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56" name="Line 61"/>
          <p:cNvSpPr>
            <a:spLocks noChangeShapeType="1"/>
          </p:cNvSpPr>
          <p:nvPr/>
        </p:nvSpPr>
        <p:spPr bwMode="auto">
          <a:xfrm>
            <a:off x="2743200" y="3086100"/>
            <a:ext cx="45720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57" name="Line 62"/>
          <p:cNvSpPr>
            <a:spLocks noChangeShapeType="1"/>
          </p:cNvSpPr>
          <p:nvPr/>
        </p:nvSpPr>
        <p:spPr bwMode="auto">
          <a:xfrm flipV="1">
            <a:off x="2743200" y="1943100"/>
            <a:ext cx="628650" cy="257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58" name="Line 63"/>
          <p:cNvSpPr>
            <a:spLocks noChangeShapeType="1"/>
          </p:cNvSpPr>
          <p:nvPr/>
        </p:nvSpPr>
        <p:spPr bwMode="auto">
          <a:xfrm flipV="1">
            <a:off x="2800350" y="3257550"/>
            <a:ext cx="571500" cy="131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59" name="Line 64"/>
          <p:cNvSpPr>
            <a:spLocks noChangeShapeType="1"/>
          </p:cNvSpPr>
          <p:nvPr/>
        </p:nvSpPr>
        <p:spPr bwMode="auto">
          <a:xfrm>
            <a:off x="1600200" y="4758929"/>
            <a:ext cx="405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2260" name="Text Box 65"/>
          <p:cNvSpPr txBox="1">
            <a:spLocks noChangeArrowheads="1"/>
          </p:cNvSpPr>
          <p:nvPr/>
        </p:nvSpPr>
        <p:spPr bwMode="auto">
          <a:xfrm>
            <a:off x="5694760" y="4606528"/>
            <a:ext cx="54373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time</a:t>
            </a:r>
          </a:p>
        </p:txBody>
      </p:sp>
      <p:grpSp>
        <p:nvGrpSpPr>
          <p:cNvPr id="392261" name="Group 66"/>
          <p:cNvGrpSpPr>
            <a:grpSpLocks/>
          </p:cNvGrpSpPr>
          <p:nvPr/>
        </p:nvGrpSpPr>
        <p:grpSpPr bwMode="auto">
          <a:xfrm>
            <a:off x="6117431" y="2183606"/>
            <a:ext cx="1638300" cy="916782"/>
            <a:chOff x="2352" y="0"/>
            <a:chExt cx="1376" cy="770"/>
          </a:xfrm>
        </p:grpSpPr>
        <p:sp>
          <p:nvSpPr>
            <p:cNvPr id="392262" name="Freeform 67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392263" name="Group 68"/>
            <p:cNvGrpSpPr>
              <a:grpSpLocks/>
            </p:cNvGrpSpPr>
            <p:nvPr/>
          </p:nvGrpSpPr>
          <p:grpSpPr bwMode="auto">
            <a:xfrm>
              <a:off x="2448" y="74"/>
              <a:ext cx="1161" cy="696"/>
              <a:chOff x="-17" y="1286"/>
              <a:chExt cx="1161" cy="696"/>
            </a:xfrm>
          </p:grpSpPr>
          <p:sp>
            <p:nvSpPr>
              <p:cNvPr id="392264" name="Freeform 69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2265" name="Oval 70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2266" name="Line 71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2267" name="Line 72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2268" name="Rectangle 73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2269" name="Oval 74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2270" name="Freeform 75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2271" name="Freeform 76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pSp>
            <p:nvGrpSpPr>
              <p:cNvPr id="392272" name="Group 77"/>
              <p:cNvGrpSpPr>
                <a:grpSpLocks/>
              </p:cNvGrpSpPr>
              <p:nvPr/>
            </p:nvGrpSpPr>
            <p:grpSpPr bwMode="auto">
              <a:xfrm>
                <a:off x="13" y="1598"/>
                <a:ext cx="251" cy="271"/>
                <a:chOff x="2931" y="2429"/>
                <a:chExt cx="252" cy="271"/>
              </a:xfrm>
            </p:grpSpPr>
            <p:sp>
              <p:nvSpPr>
                <p:cNvPr id="392273" name="Rectangle 7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2274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931" y="2429"/>
                  <a:ext cx="252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latin typeface="Comic Sans MS" panose="030F0702030302020204" pitchFamily="66" charset="0"/>
                      <a:cs typeface="Arial" panose="020B0604020202020204" pitchFamily="34" charset="0"/>
                    </a:rPr>
                    <a:t>x</a:t>
                  </a:r>
                  <a:endParaRPr lang="en-US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92275" name="Group 80"/>
              <p:cNvGrpSpPr>
                <a:grpSpLocks/>
              </p:cNvGrpSpPr>
              <p:nvPr/>
            </p:nvGrpSpPr>
            <p:grpSpPr bwMode="auto">
              <a:xfrm>
                <a:off x="828" y="1580"/>
                <a:ext cx="316" cy="310"/>
                <a:chOff x="1740" y="2276"/>
                <a:chExt cx="316" cy="310"/>
              </a:xfrm>
            </p:grpSpPr>
            <p:sp>
              <p:nvSpPr>
                <p:cNvPr id="392276" name="Oval 81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2277" name="Line 82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2278" name="Line 83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2279" name="Rectangle 84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endParaRPr lang="zh-CN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2280" name="Oval 85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92281" name="Group 86"/>
                <p:cNvGrpSpPr>
                  <a:grpSpLocks/>
                </p:cNvGrpSpPr>
                <p:nvPr/>
              </p:nvGrpSpPr>
              <p:grpSpPr bwMode="auto">
                <a:xfrm>
                  <a:off x="1774" y="2276"/>
                  <a:ext cx="259" cy="310"/>
                  <a:chOff x="2928" y="2399"/>
                  <a:chExt cx="260" cy="310"/>
                </a:xfrm>
              </p:grpSpPr>
              <p:sp>
                <p:nvSpPr>
                  <p:cNvPr id="392282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0" hangingPunct="0"/>
                    <a:endParaRPr lang="zh-CN" altLang="zh-CN" sz="1350">
                      <a:latin typeface="Comic Sans MS" panose="030F0702030302020204" pitchFamily="66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2283" name="Text Box 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8" y="2399"/>
                    <a:ext cx="260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0" hangingPunct="0"/>
                    <a:r>
                      <a:rPr lang="en-US" altLang="zh-CN">
                        <a:latin typeface="Comic Sans MS" panose="030F0702030302020204" pitchFamily="66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</p:grpSp>
          </p:grpSp>
          <p:sp>
            <p:nvSpPr>
              <p:cNvPr id="392284" name="Text Box 89"/>
              <p:cNvSpPr txBox="1">
                <a:spLocks noChangeArrowheads="1"/>
              </p:cNvSpPr>
              <p:nvPr/>
            </p:nvSpPr>
            <p:spPr bwMode="auto">
              <a:xfrm>
                <a:off x="711" y="1400"/>
                <a:ext cx="2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latin typeface="Comic Sans MS" panose="030F0702030302020204" pitchFamily="66" charset="0"/>
                    <a:cs typeface="Arial" panose="020B0604020202020204" pitchFamily="34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2285" name="Text Box 90"/>
              <p:cNvSpPr txBox="1">
                <a:spLocks noChangeArrowheads="1"/>
              </p:cNvSpPr>
              <p:nvPr/>
            </p:nvSpPr>
            <p:spPr bwMode="auto">
              <a:xfrm>
                <a:off x="173" y="1397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latin typeface="Comic Sans MS" panose="030F0702030302020204" pitchFamily="66" charset="0"/>
                    <a:cs typeface="Arial" panose="020B0604020202020204" pitchFamily="34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2286" name="Text Box 91"/>
              <p:cNvSpPr txBox="1">
                <a:spLocks noChangeArrowheads="1"/>
              </p:cNvSpPr>
              <p:nvPr/>
            </p:nvSpPr>
            <p:spPr bwMode="auto">
              <a:xfrm>
                <a:off x="458" y="1730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latin typeface="Comic Sans MS" panose="030F0702030302020204" pitchFamily="66" charset="0"/>
                    <a:cs typeface="Arial" panose="020B0604020202020204" pitchFamily="34" charset="0"/>
                  </a:rPr>
                  <a:t>7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92287" name="Group 92"/>
              <p:cNvGrpSpPr>
                <a:grpSpLocks/>
              </p:cNvGrpSpPr>
              <p:nvPr/>
            </p:nvGrpSpPr>
            <p:grpSpPr bwMode="auto">
              <a:xfrm>
                <a:off x="408" y="1286"/>
                <a:ext cx="316" cy="271"/>
                <a:chOff x="1740" y="2306"/>
                <a:chExt cx="316" cy="271"/>
              </a:xfrm>
            </p:grpSpPr>
            <p:sp>
              <p:nvSpPr>
                <p:cNvPr id="392288" name="Oval 93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2289" name="Line 94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2290" name="Line 95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2291" name="Rectangle 96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endParaRPr lang="zh-CN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2292" name="Oval 97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92293" name="Group 98"/>
                <p:cNvGrpSpPr>
                  <a:grpSpLocks/>
                </p:cNvGrpSpPr>
                <p:nvPr/>
              </p:nvGrpSpPr>
              <p:grpSpPr bwMode="auto">
                <a:xfrm>
                  <a:off x="1775" y="2306"/>
                  <a:ext cx="238" cy="271"/>
                  <a:chOff x="2937" y="2429"/>
                  <a:chExt cx="241" cy="271"/>
                </a:xfrm>
              </p:grpSpPr>
              <p:sp>
                <p:nvSpPr>
                  <p:cNvPr id="392294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0" hangingPunct="0"/>
                    <a:endParaRPr lang="zh-CN" altLang="zh-CN" sz="1350">
                      <a:latin typeface="Comic Sans MS" panose="030F0702030302020204" pitchFamily="66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2295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37" y="2429"/>
                    <a:ext cx="241" cy="27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0" hangingPunct="0"/>
                    <a:r>
                      <a:rPr lang="en-US" altLang="zh-CN" sz="1500">
                        <a:latin typeface="Comic Sans MS" panose="030F0702030302020204" pitchFamily="66" charset="0"/>
                        <a:cs typeface="Arial" panose="020B0604020202020204" pitchFamily="34" charset="0"/>
                      </a:rPr>
                      <a:t>y</a:t>
                    </a:r>
                    <a:endParaRPr lang="en-US" altLang="zh-CN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</p:grpSp>
      <p:sp>
        <p:nvSpPr>
          <p:cNvPr id="392296" name="Text Box 101"/>
          <p:cNvSpPr txBox="1">
            <a:spLocks noChangeArrowheads="1"/>
          </p:cNvSpPr>
          <p:nvPr/>
        </p:nvSpPr>
        <p:spPr bwMode="auto">
          <a:xfrm>
            <a:off x="1143000" y="514350"/>
            <a:ext cx="12426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u="sng">
                <a:latin typeface="Comic Sans MS" panose="030F0702030302020204" pitchFamily="66" charset="0"/>
                <a:cs typeface="Arial" panose="020B0604020202020204" pitchFamily="34" charset="0"/>
              </a:rPr>
              <a:t>node x table</a:t>
            </a:r>
          </a:p>
        </p:txBody>
      </p:sp>
      <p:sp>
        <p:nvSpPr>
          <p:cNvPr id="392297" name="Text Box 102"/>
          <p:cNvSpPr txBox="1">
            <a:spLocks noChangeArrowheads="1"/>
          </p:cNvSpPr>
          <p:nvPr/>
        </p:nvSpPr>
        <p:spPr bwMode="auto">
          <a:xfrm>
            <a:off x="1143000" y="1943100"/>
            <a:ext cx="12362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u="sng">
                <a:latin typeface="Comic Sans MS" panose="030F0702030302020204" pitchFamily="66" charset="0"/>
                <a:cs typeface="Arial" panose="020B0604020202020204" pitchFamily="34" charset="0"/>
              </a:rPr>
              <a:t>node y table</a:t>
            </a:r>
          </a:p>
        </p:txBody>
      </p:sp>
      <p:sp>
        <p:nvSpPr>
          <p:cNvPr id="392298" name="Text Box 103"/>
          <p:cNvSpPr txBox="1">
            <a:spLocks noChangeArrowheads="1"/>
          </p:cNvSpPr>
          <p:nvPr/>
        </p:nvSpPr>
        <p:spPr bwMode="auto">
          <a:xfrm>
            <a:off x="1143000" y="3257550"/>
            <a:ext cx="123303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u="sng">
                <a:latin typeface="Comic Sans MS" panose="030F0702030302020204" pitchFamily="66" charset="0"/>
                <a:cs typeface="Arial" panose="020B0604020202020204" pitchFamily="34" charset="0"/>
              </a:rPr>
              <a:t>node z table</a:t>
            </a:r>
          </a:p>
        </p:txBody>
      </p:sp>
      <p:sp>
        <p:nvSpPr>
          <p:cNvPr id="392299" name="Oval 104"/>
          <p:cNvSpPr>
            <a:spLocks noChangeArrowheads="1"/>
          </p:cNvSpPr>
          <p:nvPr/>
        </p:nvSpPr>
        <p:spPr bwMode="auto">
          <a:xfrm>
            <a:off x="2057400" y="1257300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2300" name="Oval 105"/>
          <p:cNvSpPr>
            <a:spLocks noChangeArrowheads="1"/>
          </p:cNvSpPr>
          <p:nvPr/>
        </p:nvSpPr>
        <p:spPr bwMode="auto">
          <a:xfrm>
            <a:off x="2057400" y="2800350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2301" name="Oval 106"/>
          <p:cNvSpPr>
            <a:spLocks noChangeArrowheads="1"/>
          </p:cNvSpPr>
          <p:nvPr/>
        </p:nvSpPr>
        <p:spPr bwMode="auto">
          <a:xfrm>
            <a:off x="2057400" y="4457700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2302" name="Oval 107"/>
          <p:cNvSpPr>
            <a:spLocks noChangeArrowheads="1"/>
          </p:cNvSpPr>
          <p:nvPr/>
        </p:nvSpPr>
        <p:spPr bwMode="auto">
          <a:xfrm>
            <a:off x="3615929" y="1257300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28172" name="Rectangle 108"/>
          <p:cNvSpPr>
            <a:spLocks noChangeArrowheads="1"/>
          </p:cNvSpPr>
          <p:nvPr/>
        </p:nvSpPr>
        <p:spPr bwMode="auto">
          <a:xfrm>
            <a:off x="2296208" y="127085"/>
            <a:ext cx="343715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/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</a:t>
            </a:r>
            <a:r>
              <a:rPr lang="fr-FR" altLang="zh-CN" sz="1350" baseline="-2500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x</a:t>
            </a: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(y) = min{c(x,y) + D</a:t>
            </a:r>
            <a:r>
              <a:rPr lang="fr-FR" altLang="zh-CN" sz="1350" baseline="-2500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y</a:t>
            </a: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(y), c(x,z) + D</a:t>
            </a:r>
            <a:r>
              <a:rPr lang="fr-FR" altLang="zh-CN" sz="1350" baseline="-2500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z</a:t>
            </a: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(y)} </a:t>
            </a:r>
            <a:b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         = min{2+0 , 7+1} = 2</a:t>
            </a:r>
          </a:p>
        </p:txBody>
      </p:sp>
      <p:sp>
        <p:nvSpPr>
          <p:cNvPr id="728173" name="Line 109"/>
          <p:cNvSpPr>
            <a:spLocks noChangeShapeType="1"/>
          </p:cNvSpPr>
          <p:nvPr/>
        </p:nvSpPr>
        <p:spPr bwMode="auto">
          <a:xfrm flipH="1">
            <a:off x="3963591" y="607219"/>
            <a:ext cx="607219" cy="725091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728174" name="Rectangle 110"/>
          <p:cNvSpPr>
            <a:spLocks noChangeArrowheads="1"/>
          </p:cNvSpPr>
          <p:nvPr/>
        </p:nvSpPr>
        <p:spPr bwMode="auto">
          <a:xfrm>
            <a:off x="5899226" y="16746"/>
            <a:ext cx="2167581" cy="82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20000"/>
              </a:lnSpc>
            </a:pP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D</a:t>
            </a:r>
            <a:r>
              <a:rPr lang="fr-FR" altLang="zh-CN" sz="1350" i="1" baseline="-2500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(z) = </a:t>
            </a:r>
            <a:r>
              <a:rPr lang="fr-FR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min{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c(x,y) + </a:t>
            </a:r>
            <a:b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</a:b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      D</a:t>
            </a:r>
            <a:r>
              <a:rPr lang="fr-FR" altLang="zh-CN" sz="1350" i="1" baseline="-2500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(z), c(x,z) + D</a:t>
            </a:r>
            <a:r>
              <a:rPr lang="fr-FR" altLang="zh-CN" sz="1350" i="1" baseline="-2500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(z)</a:t>
            </a:r>
            <a:r>
              <a:rPr lang="fr-FR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} </a:t>
            </a:r>
          </a:p>
          <a:p>
            <a:pPr algn="just" eaLnBrk="0" hangingPunct="0">
              <a:lnSpc>
                <a:spcPct val="120000"/>
              </a:lnSpc>
            </a:pPr>
            <a:r>
              <a:rPr lang="fr-FR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= min{2+1 , 7+0} = 3</a:t>
            </a:r>
          </a:p>
        </p:txBody>
      </p:sp>
      <p:sp>
        <p:nvSpPr>
          <p:cNvPr id="728175" name="Line 111"/>
          <p:cNvSpPr>
            <a:spLocks noChangeShapeType="1"/>
          </p:cNvSpPr>
          <p:nvPr/>
        </p:nvSpPr>
        <p:spPr bwMode="auto">
          <a:xfrm flipH="1">
            <a:off x="4277916" y="361950"/>
            <a:ext cx="1939528" cy="10001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728176" name="Text Box 112"/>
          <p:cNvSpPr txBox="1">
            <a:spLocks noChangeArrowheads="1"/>
          </p:cNvSpPr>
          <p:nvPr/>
        </p:nvSpPr>
        <p:spPr bwMode="auto">
          <a:xfrm>
            <a:off x="4085035" y="12596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28177" name="Text Box 113"/>
          <p:cNvSpPr txBox="1">
            <a:spLocks noChangeArrowheads="1"/>
          </p:cNvSpPr>
          <p:nvPr/>
        </p:nvSpPr>
        <p:spPr bwMode="auto">
          <a:xfrm>
            <a:off x="3827860" y="1259681"/>
            <a:ext cx="25717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2 </a:t>
            </a:r>
          </a:p>
        </p:txBody>
      </p:sp>
      <p:sp>
        <p:nvSpPr>
          <p:cNvPr id="115" name="灯片编号占位符 2">
            <a:extLst>
              <a:ext uri="{FF2B5EF4-FFF2-40B4-BE49-F238E27FC236}">
                <a16:creationId xmlns:a16="http://schemas.microsoft.com/office/drawing/2014/main" id="{15F30EB0-78B4-47C2-AEA3-B1CA519C122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116" name="AutoShape 5">
            <a:extLst>
              <a:ext uri="{FF2B5EF4-FFF2-40B4-BE49-F238E27FC236}">
                <a16:creationId xmlns:a16="http://schemas.microsoft.com/office/drawing/2014/main" id="{85FD1B04-B932-4B18-B776-208123B95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8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172" grpId="0"/>
      <p:bldP spid="728173" grpId="0" animBg="1"/>
      <p:bldP spid="728174" grpId="0"/>
      <p:bldP spid="728175" grpId="0" animBg="1"/>
      <p:bldP spid="728176" grpId="0"/>
      <p:bldP spid="728177" grpId="0"/>
      <p:bldP spid="116" grpId="0" animBg="1"/>
      <p:bldP spid="116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7" name="Rectangle 2"/>
          <p:cNvSpPr>
            <a:spLocks noChangeArrowheads="1"/>
          </p:cNvSpPr>
          <p:nvPr/>
        </p:nvSpPr>
        <p:spPr bwMode="auto">
          <a:xfrm>
            <a:off x="1283494" y="496491"/>
            <a:ext cx="5347097" cy="35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Char char="•"/>
            </a:pPr>
            <a:r>
              <a:rPr lang="en-US" altLang="zh-CN" sz="1800" b="1">
                <a:ea typeface="宋体" panose="02010600030101010101" pitchFamily="2" charset="-122"/>
              </a:rPr>
              <a:t>Distance Vector Algorithm </a:t>
            </a:r>
          </a:p>
        </p:txBody>
      </p:sp>
      <p:sp>
        <p:nvSpPr>
          <p:cNvPr id="395274" name="Rectangle 10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395275" name="Group 2"/>
          <p:cNvGrpSpPr>
            <a:grpSpLocks/>
          </p:cNvGrpSpPr>
          <p:nvPr/>
        </p:nvGrpSpPr>
        <p:grpSpPr bwMode="auto">
          <a:xfrm>
            <a:off x="1558529" y="745331"/>
            <a:ext cx="1325165" cy="1328738"/>
            <a:chOff x="231" y="192"/>
            <a:chExt cx="1113" cy="1116"/>
          </a:xfrm>
        </p:grpSpPr>
        <p:sp>
          <p:nvSpPr>
            <p:cNvPr id="395276" name="Line 3"/>
            <p:cNvSpPr>
              <a:spLocks noChangeShapeType="1"/>
            </p:cNvSpPr>
            <p:nvPr/>
          </p:nvSpPr>
          <p:spPr bwMode="auto">
            <a:xfrm>
              <a:off x="672" y="48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395277" name="Line 4"/>
            <p:cNvSpPr>
              <a:spLocks noChangeShapeType="1"/>
            </p:cNvSpPr>
            <p:nvPr/>
          </p:nvSpPr>
          <p:spPr bwMode="auto">
            <a:xfrm>
              <a:off x="480" y="6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395278" name="Text Box 5"/>
            <p:cNvSpPr txBox="1">
              <a:spLocks noChangeArrowheads="1"/>
            </p:cNvSpPr>
            <p:nvPr/>
          </p:nvSpPr>
          <p:spPr bwMode="auto">
            <a:xfrm>
              <a:off x="672" y="384"/>
              <a:ext cx="65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x   y   z</a:t>
              </a:r>
            </a:p>
          </p:txBody>
        </p:sp>
        <p:sp>
          <p:nvSpPr>
            <p:cNvPr id="395279" name="Text Box 6"/>
            <p:cNvSpPr txBox="1">
              <a:spLocks noChangeArrowheads="1"/>
            </p:cNvSpPr>
            <p:nvPr/>
          </p:nvSpPr>
          <p:spPr bwMode="auto">
            <a:xfrm>
              <a:off x="480" y="624"/>
              <a:ext cx="2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95280" name="Text Box 7"/>
            <p:cNvSpPr txBox="1">
              <a:spLocks noChangeArrowheads="1"/>
            </p:cNvSpPr>
            <p:nvPr/>
          </p:nvSpPr>
          <p:spPr bwMode="auto">
            <a:xfrm>
              <a:off x="480" y="816"/>
              <a:ext cx="2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395281" name="Text Box 8"/>
            <p:cNvSpPr txBox="1">
              <a:spLocks noChangeArrowheads="1"/>
            </p:cNvSpPr>
            <p:nvPr/>
          </p:nvSpPr>
          <p:spPr bwMode="auto">
            <a:xfrm>
              <a:off x="480" y="1008"/>
              <a:ext cx="2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395282" name="Text Box 9"/>
            <p:cNvSpPr txBox="1">
              <a:spLocks noChangeArrowheads="1"/>
            </p:cNvSpPr>
            <p:nvPr/>
          </p:nvSpPr>
          <p:spPr bwMode="auto">
            <a:xfrm>
              <a:off x="672" y="624"/>
              <a:ext cx="6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0  2   7</a:t>
              </a:r>
            </a:p>
          </p:txBody>
        </p:sp>
        <p:sp>
          <p:nvSpPr>
            <p:cNvPr id="395283" name="Text Box 10"/>
            <p:cNvSpPr txBox="1">
              <a:spLocks noChangeArrowheads="1"/>
            </p:cNvSpPr>
            <p:nvPr/>
          </p:nvSpPr>
          <p:spPr bwMode="auto">
            <a:xfrm>
              <a:off x="672" y="864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5284" name="Text Box 11"/>
            <p:cNvSpPr txBox="1">
              <a:spLocks noChangeArrowheads="1"/>
            </p:cNvSpPr>
            <p:nvPr/>
          </p:nvSpPr>
          <p:spPr bwMode="auto">
            <a:xfrm>
              <a:off x="816" y="864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5285" name="Text Box 12"/>
            <p:cNvSpPr txBox="1">
              <a:spLocks noChangeArrowheads="1"/>
            </p:cNvSpPr>
            <p:nvPr/>
          </p:nvSpPr>
          <p:spPr bwMode="auto">
            <a:xfrm>
              <a:off x="1056" y="864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5286" name="Text Box 13"/>
            <p:cNvSpPr txBox="1">
              <a:spLocks noChangeArrowheads="1"/>
            </p:cNvSpPr>
            <p:nvPr/>
          </p:nvSpPr>
          <p:spPr bwMode="auto">
            <a:xfrm>
              <a:off x="672" y="1056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5287" name="Text Box 14"/>
            <p:cNvSpPr txBox="1">
              <a:spLocks noChangeArrowheads="1"/>
            </p:cNvSpPr>
            <p:nvPr/>
          </p:nvSpPr>
          <p:spPr bwMode="auto">
            <a:xfrm>
              <a:off x="816" y="1056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5288" name="Text Box 15"/>
            <p:cNvSpPr txBox="1">
              <a:spLocks noChangeArrowheads="1"/>
            </p:cNvSpPr>
            <p:nvPr/>
          </p:nvSpPr>
          <p:spPr bwMode="auto">
            <a:xfrm>
              <a:off x="1056" y="1056"/>
              <a:ext cx="2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395289" name="Text Box 16"/>
            <p:cNvSpPr txBox="1">
              <a:spLocks noChangeArrowheads="1"/>
            </p:cNvSpPr>
            <p:nvPr/>
          </p:nvSpPr>
          <p:spPr bwMode="auto">
            <a:xfrm rot="16200000">
              <a:off x="112" y="816"/>
              <a:ext cx="48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395290" name="Text Box 17"/>
            <p:cNvSpPr txBox="1">
              <a:spLocks noChangeArrowheads="1"/>
            </p:cNvSpPr>
            <p:nvPr/>
          </p:nvSpPr>
          <p:spPr bwMode="auto">
            <a:xfrm>
              <a:off x="672" y="192"/>
              <a:ext cx="6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cost to</a:t>
              </a:r>
            </a:p>
          </p:txBody>
        </p:sp>
      </p:grpSp>
      <p:sp>
        <p:nvSpPr>
          <p:cNvPr id="395291" name="Text Box 18"/>
          <p:cNvSpPr txBox="1">
            <a:spLocks noChangeArrowheads="1"/>
          </p:cNvSpPr>
          <p:nvPr/>
        </p:nvSpPr>
        <p:spPr bwMode="auto">
          <a:xfrm rot="-5400000">
            <a:off x="1415657" y="286104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292" name="Text Box 19"/>
          <p:cNvSpPr txBox="1">
            <a:spLocks noChangeArrowheads="1"/>
          </p:cNvSpPr>
          <p:nvPr/>
        </p:nvSpPr>
        <p:spPr bwMode="auto">
          <a:xfrm rot="-5400000">
            <a:off x="1415657" y="417549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293" name="Line 20"/>
          <p:cNvSpPr>
            <a:spLocks noChangeShapeType="1"/>
          </p:cNvSpPr>
          <p:nvPr/>
        </p:nvSpPr>
        <p:spPr bwMode="auto">
          <a:xfrm>
            <a:off x="5283994" y="114538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294" name="Line 21"/>
          <p:cNvSpPr>
            <a:spLocks noChangeShapeType="1"/>
          </p:cNvSpPr>
          <p:nvPr/>
        </p:nvSpPr>
        <p:spPr bwMode="auto">
          <a:xfrm>
            <a:off x="5055394" y="131683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295" name="Text Box 22"/>
          <p:cNvSpPr txBox="1">
            <a:spLocks noChangeArrowheads="1"/>
          </p:cNvSpPr>
          <p:nvPr/>
        </p:nvSpPr>
        <p:spPr bwMode="auto">
          <a:xfrm>
            <a:off x="5283994" y="103108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296" name="Text Box 23"/>
          <p:cNvSpPr txBox="1">
            <a:spLocks noChangeArrowheads="1"/>
          </p:cNvSpPr>
          <p:nvPr/>
        </p:nvSpPr>
        <p:spPr bwMode="auto">
          <a:xfrm>
            <a:off x="5055394" y="131683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297" name="Text Box 24"/>
          <p:cNvSpPr txBox="1">
            <a:spLocks noChangeArrowheads="1"/>
          </p:cNvSpPr>
          <p:nvPr/>
        </p:nvSpPr>
        <p:spPr bwMode="auto">
          <a:xfrm>
            <a:off x="5055394" y="154543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298" name="Text Box 25"/>
          <p:cNvSpPr txBox="1">
            <a:spLocks noChangeArrowheads="1"/>
          </p:cNvSpPr>
          <p:nvPr/>
        </p:nvSpPr>
        <p:spPr bwMode="auto">
          <a:xfrm>
            <a:off x="5055394" y="177403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299" name="Text Box 26"/>
          <p:cNvSpPr txBox="1">
            <a:spLocks noChangeArrowheads="1"/>
          </p:cNvSpPr>
          <p:nvPr/>
        </p:nvSpPr>
        <p:spPr bwMode="auto">
          <a:xfrm>
            <a:off x="5283994" y="1316831"/>
            <a:ext cx="75854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0  2   3</a:t>
            </a:r>
          </a:p>
        </p:txBody>
      </p:sp>
      <p:sp>
        <p:nvSpPr>
          <p:cNvPr id="395300" name="Text Box 27"/>
          <p:cNvSpPr txBox="1">
            <a:spLocks noChangeArrowheads="1"/>
          </p:cNvSpPr>
          <p:nvPr/>
        </p:nvSpPr>
        <p:spPr bwMode="auto">
          <a:xfrm rot="-5400000">
            <a:off x="4616057" y="154659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301" name="Text Box 28"/>
          <p:cNvSpPr txBox="1">
            <a:spLocks noChangeArrowheads="1"/>
          </p:cNvSpPr>
          <p:nvPr/>
        </p:nvSpPr>
        <p:spPr bwMode="auto">
          <a:xfrm>
            <a:off x="5283994" y="80248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02" name="Line 29"/>
          <p:cNvSpPr>
            <a:spLocks noChangeShapeType="1"/>
          </p:cNvSpPr>
          <p:nvPr/>
        </p:nvSpPr>
        <p:spPr bwMode="auto">
          <a:xfrm>
            <a:off x="3626644" y="108823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03" name="Line 30"/>
          <p:cNvSpPr>
            <a:spLocks noChangeShapeType="1"/>
          </p:cNvSpPr>
          <p:nvPr/>
        </p:nvSpPr>
        <p:spPr bwMode="auto">
          <a:xfrm>
            <a:off x="3398044" y="125968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04" name="Text Box 31"/>
          <p:cNvSpPr txBox="1">
            <a:spLocks noChangeArrowheads="1"/>
          </p:cNvSpPr>
          <p:nvPr/>
        </p:nvSpPr>
        <p:spPr bwMode="auto">
          <a:xfrm>
            <a:off x="3626644" y="97393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05" name="Text Box 32"/>
          <p:cNvSpPr txBox="1">
            <a:spLocks noChangeArrowheads="1"/>
          </p:cNvSpPr>
          <p:nvPr/>
        </p:nvSpPr>
        <p:spPr bwMode="auto">
          <a:xfrm>
            <a:off x="3398044" y="125968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06" name="Text Box 33"/>
          <p:cNvSpPr txBox="1">
            <a:spLocks noChangeArrowheads="1"/>
          </p:cNvSpPr>
          <p:nvPr/>
        </p:nvSpPr>
        <p:spPr bwMode="auto">
          <a:xfrm>
            <a:off x="3398044" y="148828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07" name="Text Box 34"/>
          <p:cNvSpPr txBox="1">
            <a:spLocks noChangeArrowheads="1"/>
          </p:cNvSpPr>
          <p:nvPr/>
        </p:nvSpPr>
        <p:spPr bwMode="auto">
          <a:xfrm>
            <a:off x="3398044" y="171688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08" name="Text Box 35"/>
          <p:cNvSpPr txBox="1">
            <a:spLocks noChangeArrowheads="1"/>
          </p:cNvSpPr>
          <p:nvPr/>
        </p:nvSpPr>
        <p:spPr bwMode="auto">
          <a:xfrm>
            <a:off x="3626644" y="1259681"/>
            <a:ext cx="75854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0  2   3</a:t>
            </a:r>
          </a:p>
        </p:txBody>
      </p:sp>
      <p:sp>
        <p:nvSpPr>
          <p:cNvPr id="395309" name="Text Box 36"/>
          <p:cNvSpPr txBox="1">
            <a:spLocks noChangeArrowheads="1"/>
          </p:cNvSpPr>
          <p:nvPr/>
        </p:nvSpPr>
        <p:spPr bwMode="auto">
          <a:xfrm rot="-5400000">
            <a:off x="2958707" y="148944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310" name="Text Box 37"/>
          <p:cNvSpPr txBox="1">
            <a:spLocks noChangeArrowheads="1"/>
          </p:cNvSpPr>
          <p:nvPr/>
        </p:nvSpPr>
        <p:spPr bwMode="auto">
          <a:xfrm>
            <a:off x="3626644" y="74533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11" name="Line 38"/>
          <p:cNvSpPr>
            <a:spLocks noChangeShapeType="1"/>
          </p:cNvSpPr>
          <p:nvPr/>
        </p:nvSpPr>
        <p:spPr bwMode="auto">
          <a:xfrm>
            <a:off x="2083594" y="240268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12" name="Line 39"/>
          <p:cNvSpPr>
            <a:spLocks noChangeShapeType="1"/>
          </p:cNvSpPr>
          <p:nvPr/>
        </p:nvSpPr>
        <p:spPr bwMode="auto">
          <a:xfrm>
            <a:off x="1854994" y="257413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13" name="Text Box 40"/>
          <p:cNvSpPr txBox="1">
            <a:spLocks noChangeArrowheads="1"/>
          </p:cNvSpPr>
          <p:nvPr/>
        </p:nvSpPr>
        <p:spPr bwMode="auto">
          <a:xfrm>
            <a:off x="2083594" y="228838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14" name="Text Box 41"/>
          <p:cNvSpPr txBox="1">
            <a:spLocks noChangeArrowheads="1"/>
          </p:cNvSpPr>
          <p:nvPr/>
        </p:nvSpPr>
        <p:spPr bwMode="auto">
          <a:xfrm>
            <a:off x="1854994" y="257413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15" name="Text Box 42"/>
          <p:cNvSpPr txBox="1">
            <a:spLocks noChangeArrowheads="1"/>
          </p:cNvSpPr>
          <p:nvPr/>
        </p:nvSpPr>
        <p:spPr bwMode="auto">
          <a:xfrm>
            <a:off x="1854994" y="280273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16" name="Text Box 43"/>
          <p:cNvSpPr txBox="1">
            <a:spLocks noChangeArrowheads="1"/>
          </p:cNvSpPr>
          <p:nvPr/>
        </p:nvSpPr>
        <p:spPr bwMode="auto">
          <a:xfrm>
            <a:off x="1854994" y="303133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17" name="Text Box 44"/>
          <p:cNvSpPr txBox="1">
            <a:spLocks noChangeArrowheads="1"/>
          </p:cNvSpPr>
          <p:nvPr/>
        </p:nvSpPr>
        <p:spPr bwMode="auto">
          <a:xfrm>
            <a:off x="2312194" y="2574131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18" name="Text Box 45"/>
          <p:cNvSpPr txBox="1">
            <a:spLocks noChangeArrowheads="1"/>
          </p:cNvSpPr>
          <p:nvPr/>
        </p:nvSpPr>
        <p:spPr bwMode="auto">
          <a:xfrm>
            <a:off x="2540794" y="2574131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19" name="Text Box 46"/>
          <p:cNvSpPr txBox="1">
            <a:spLocks noChangeArrowheads="1"/>
          </p:cNvSpPr>
          <p:nvPr/>
        </p:nvSpPr>
        <p:spPr bwMode="auto">
          <a:xfrm>
            <a:off x="2083594" y="3088481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20" name="Text Box 47"/>
          <p:cNvSpPr txBox="1">
            <a:spLocks noChangeArrowheads="1"/>
          </p:cNvSpPr>
          <p:nvPr/>
        </p:nvSpPr>
        <p:spPr bwMode="auto">
          <a:xfrm>
            <a:off x="2255044" y="3088481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21" name="Text Box 48"/>
          <p:cNvSpPr txBox="1">
            <a:spLocks noChangeArrowheads="1"/>
          </p:cNvSpPr>
          <p:nvPr/>
        </p:nvSpPr>
        <p:spPr bwMode="auto">
          <a:xfrm>
            <a:off x="2540794" y="3088481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22" name="Text Box 49"/>
          <p:cNvSpPr txBox="1">
            <a:spLocks noChangeArrowheads="1"/>
          </p:cNvSpPr>
          <p:nvPr/>
        </p:nvSpPr>
        <p:spPr bwMode="auto">
          <a:xfrm>
            <a:off x="2083594" y="205978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23" name="Line 50"/>
          <p:cNvSpPr>
            <a:spLocks noChangeShapeType="1"/>
          </p:cNvSpPr>
          <p:nvPr/>
        </p:nvSpPr>
        <p:spPr bwMode="auto">
          <a:xfrm>
            <a:off x="3626644" y="240268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24" name="Line 51"/>
          <p:cNvSpPr>
            <a:spLocks noChangeShapeType="1"/>
          </p:cNvSpPr>
          <p:nvPr/>
        </p:nvSpPr>
        <p:spPr bwMode="auto">
          <a:xfrm>
            <a:off x="3398044" y="257413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25" name="Text Box 52"/>
          <p:cNvSpPr txBox="1">
            <a:spLocks noChangeArrowheads="1"/>
          </p:cNvSpPr>
          <p:nvPr/>
        </p:nvSpPr>
        <p:spPr bwMode="auto">
          <a:xfrm>
            <a:off x="3626644" y="228838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26" name="Text Box 53"/>
          <p:cNvSpPr txBox="1">
            <a:spLocks noChangeArrowheads="1"/>
          </p:cNvSpPr>
          <p:nvPr/>
        </p:nvSpPr>
        <p:spPr bwMode="auto">
          <a:xfrm>
            <a:off x="3398044" y="257413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27" name="Text Box 54"/>
          <p:cNvSpPr txBox="1">
            <a:spLocks noChangeArrowheads="1"/>
          </p:cNvSpPr>
          <p:nvPr/>
        </p:nvSpPr>
        <p:spPr bwMode="auto">
          <a:xfrm>
            <a:off x="3398044" y="280273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28" name="Text Box 55"/>
          <p:cNvSpPr txBox="1">
            <a:spLocks noChangeArrowheads="1"/>
          </p:cNvSpPr>
          <p:nvPr/>
        </p:nvSpPr>
        <p:spPr bwMode="auto">
          <a:xfrm>
            <a:off x="3398044" y="303133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29" name="Text Box 56"/>
          <p:cNvSpPr txBox="1">
            <a:spLocks noChangeArrowheads="1"/>
          </p:cNvSpPr>
          <p:nvPr/>
        </p:nvSpPr>
        <p:spPr bwMode="auto">
          <a:xfrm>
            <a:off x="3626644" y="2574131"/>
            <a:ext cx="75854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0  2   7</a:t>
            </a:r>
          </a:p>
        </p:txBody>
      </p:sp>
      <p:sp>
        <p:nvSpPr>
          <p:cNvPr id="395330" name="Text Box 57"/>
          <p:cNvSpPr txBox="1">
            <a:spLocks noChangeArrowheads="1"/>
          </p:cNvSpPr>
          <p:nvPr/>
        </p:nvSpPr>
        <p:spPr bwMode="auto">
          <a:xfrm rot="-5400000">
            <a:off x="2958707" y="280389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331" name="Text Box 58"/>
          <p:cNvSpPr txBox="1">
            <a:spLocks noChangeArrowheads="1"/>
          </p:cNvSpPr>
          <p:nvPr/>
        </p:nvSpPr>
        <p:spPr bwMode="auto">
          <a:xfrm>
            <a:off x="3626644" y="205978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32" name="Line 59"/>
          <p:cNvSpPr>
            <a:spLocks noChangeShapeType="1"/>
          </p:cNvSpPr>
          <p:nvPr/>
        </p:nvSpPr>
        <p:spPr bwMode="auto">
          <a:xfrm>
            <a:off x="5283994" y="245983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33" name="Line 60"/>
          <p:cNvSpPr>
            <a:spLocks noChangeShapeType="1"/>
          </p:cNvSpPr>
          <p:nvPr/>
        </p:nvSpPr>
        <p:spPr bwMode="auto">
          <a:xfrm>
            <a:off x="5055394" y="263128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34" name="Text Box 61"/>
          <p:cNvSpPr txBox="1">
            <a:spLocks noChangeArrowheads="1"/>
          </p:cNvSpPr>
          <p:nvPr/>
        </p:nvSpPr>
        <p:spPr bwMode="auto">
          <a:xfrm>
            <a:off x="5283994" y="234553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35" name="Text Box 62"/>
          <p:cNvSpPr txBox="1">
            <a:spLocks noChangeArrowheads="1"/>
          </p:cNvSpPr>
          <p:nvPr/>
        </p:nvSpPr>
        <p:spPr bwMode="auto">
          <a:xfrm>
            <a:off x="5055394" y="263128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36" name="Text Box 63"/>
          <p:cNvSpPr txBox="1">
            <a:spLocks noChangeArrowheads="1"/>
          </p:cNvSpPr>
          <p:nvPr/>
        </p:nvSpPr>
        <p:spPr bwMode="auto">
          <a:xfrm>
            <a:off x="5055394" y="285988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37" name="Text Box 64"/>
          <p:cNvSpPr txBox="1">
            <a:spLocks noChangeArrowheads="1"/>
          </p:cNvSpPr>
          <p:nvPr/>
        </p:nvSpPr>
        <p:spPr bwMode="auto">
          <a:xfrm>
            <a:off x="5055394" y="308848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38" name="Text Box 65"/>
          <p:cNvSpPr txBox="1">
            <a:spLocks noChangeArrowheads="1"/>
          </p:cNvSpPr>
          <p:nvPr/>
        </p:nvSpPr>
        <p:spPr bwMode="auto">
          <a:xfrm>
            <a:off x="5283994" y="2631281"/>
            <a:ext cx="75854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0  2   3</a:t>
            </a:r>
          </a:p>
        </p:txBody>
      </p:sp>
      <p:sp>
        <p:nvSpPr>
          <p:cNvPr id="395339" name="Text Box 66"/>
          <p:cNvSpPr txBox="1">
            <a:spLocks noChangeArrowheads="1"/>
          </p:cNvSpPr>
          <p:nvPr/>
        </p:nvSpPr>
        <p:spPr bwMode="auto">
          <a:xfrm rot="-5400000">
            <a:off x="4616057" y="286104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340" name="Text Box 67"/>
          <p:cNvSpPr txBox="1">
            <a:spLocks noChangeArrowheads="1"/>
          </p:cNvSpPr>
          <p:nvPr/>
        </p:nvSpPr>
        <p:spPr bwMode="auto">
          <a:xfrm>
            <a:off x="5283994" y="211693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41" name="Line 68"/>
          <p:cNvSpPr>
            <a:spLocks noChangeShapeType="1"/>
          </p:cNvSpPr>
          <p:nvPr/>
        </p:nvSpPr>
        <p:spPr bwMode="auto">
          <a:xfrm>
            <a:off x="5226844" y="371713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42" name="Line 69"/>
          <p:cNvSpPr>
            <a:spLocks noChangeShapeType="1"/>
          </p:cNvSpPr>
          <p:nvPr/>
        </p:nvSpPr>
        <p:spPr bwMode="auto">
          <a:xfrm>
            <a:off x="4998244" y="388858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43" name="Text Box 70"/>
          <p:cNvSpPr txBox="1">
            <a:spLocks noChangeArrowheads="1"/>
          </p:cNvSpPr>
          <p:nvPr/>
        </p:nvSpPr>
        <p:spPr bwMode="auto">
          <a:xfrm>
            <a:off x="5226844" y="360283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44" name="Text Box 71"/>
          <p:cNvSpPr txBox="1">
            <a:spLocks noChangeArrowheads="1"/>
          </p:cNvSpPr>
          <p:nvPr/>
        </p:nvSpPr>
        <p:spPr bwMode="auto">
          <a:xfrm>
            <a:off x="4998244" y="388858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45" name="Text Box 72"/>
          <p:cNvSpPr txBox="1">
            <a:spLocks noChangeArrowheads="1"/>
          </p:cNvSpPr>
          <p:nvPr/>
        </p:nvSpPr>
        <p:spPr bwMode="auto">
          <a:xfrm>
            <a:off x="4998244" y="411718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46" name="Text Box 73"/>
          <p:cNvSpPr txBox="1">
            <a:spLocks noChangeArrowheads="1"/>
          </p:cNvSpPr>
          <p:nvPr/>
        </p:nvSpPr>
        <p:spPr bwMode="auto">
          <a:xfrm>
            <a:off x="4998244" y="434578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47" name="Text Box 74"/>
          <p:cNvSpPr txBox="1">
            <a:spLocks noChangeArrowheads="1"/>
          </p:cNvSpPr>
          <p:nvPr/>
        </p:nvSpPr>
        <p:spPr bwMode="auto">
          <a:xfrm>
            <a:off x="5226844" y="3888581"/>
            <a:ext cx="75854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0  2   3</a:t>
            </a:r>
          </a:p>
        </p:txBody>
      </p:sp>
      <p:sp>
        <p:nvSpPr>
          <p:cNvPr id="395348" name="Text Box 75"/>
          <p:cNvSpPr txBox="1">
            <a:spLocks noChangeArrowheads="1"/>
          </p:cNvSpPr>
          <p:nvPr/>
        </p:nvSpPr>
        <p:spPr bwMode="auto">
          <a:xfrm rot="-5400000">
            <a:off x="4558907" y="411834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349" name="Text Box 76"/>
          <p:cNvSpPr txBox="1">
            <a:spLocks noChangeArrowheads="1"/>
          </p:cNvSpPr>
          <p:nvPr/>
        </p:nvSpPr>
        <p:spPr bwMode="auto">
          <a:xfrm>
            <a:off x="5226844" y="337423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50" name="Line 77"/>
          <p:cNvSpPr>
            <a:spLocks noChangeShapeType="1"/>
          </p:cNvSpPr>
          <p:nvPr/>
        </p:nvSpPr>
        <p:spPr bwMode="auto">
          <a:xfrm>
            <a:off x="3626644" y="371713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51" name="Line 78"/>
          <p:cNvSpPr>
            <a:spLocks noChangeShapeType="1"/>
          </p:cNvSpPr>
          <p:nvPr/>
        </p:nvSpPr>
        <p:spPr bwMode="auto">
          <a:xfrm>
            <a:off x="3398044" y="388858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52" name="Text Box 79"/>
          <p:cNvSpPr txBox="1">
            <a:spLocks noChangeArrowheads="1"/>
          </p:cNvSpPr>
          <p:nvPr/>
        </p:nvSpPr>
        <p:spPr bwMode="auto">
          <a:xfrm>
            <a:off x="3626644" y="360283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53" name="Text Box 80"/>
          <p:cNvSpPr txBox="1">
            <a:spLocks noChangeArrowheads="1"/>
          </p:cNvSpPr>
          <p:nvPr/>
        </p:nvSpPr>
        <p:spPr bwMode="auto">
          <a:xfrm>
            <a:off x="3398044" y="388858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54" name="Text Box 81"/>
          <p:cNvSpPr txBox="1">
            <a:spLocks noChangeArrowheads="1"/>
          </p:cNvSpPr>
          <p:nvPr/>
        </p:nvSpPr>
        <p:spPr bwMode="auto">
          <a:xfrm>
            <a:off x="3398044" y="411718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55" name="Text Box 82"/>
          <p:cNvSpPr txBox="1">
            <a:spLocks noChangeArrowheads="1"/>
          </p:cNvSpPr>
          <p:nvPr/>
        </p:nvSpPr>
        <p:spPr bwMode="auto">
          <a:xfrm>
            <a:off x="3398044" y="434578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56" name="Text Box 83"/>
          <p:cNvSpPr txBox="1">
            <a:spLocks noChangeArrowheads="1"/>
          </p:cNvSpPr>
          <p:nvPr/>
        </p:nvSpPr>
        <p:spPr bwMode="auto">
          <a:xfrm>
            <a:off x="3626644" y="3888581"/>
            <a:ext cx="75854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0  2   7</a:t>
            </a:r>
          </a:p>
        </p:txBody>
      </p:sp>
      <p:sp>
        <p:nvSpPr>
          <p:cNvPr id="395357" name="Text Box 84"/>
          <p:cNvSpPr txBox="1">
            <a:spLocks noChangeArrowheads="1"/>
          </p:cNvSpPr>
          <p:nvPr/>
        </p:nvSpPr>
        <p:spPr bwMode="auto">
          <a:xfrm rot="-5400000">
            <a:off x="2958707" y="4118349"/>
            <a:ext cx="58221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from</a:t>
            </a:r>
          </a:p>
        </p:txBody>
      </p:sp>
      <p:sp>
        <p:nvSpPr>
          <p:cNvPr id="395358" name="Text Box 85"/>
          <p:cNvSpPr txBox="1">
            <a:spLocks noChangeArrowheads="1"/>
          </p:cNvSpPr>
          <p:nvPr/>
        </p:nvSpPr>
        <p:spPr bwMode="auto">
          <a:xfrm>
            <a:off x="3626644" y="337423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59" name="Line 86"/>
          <p:cNvSpPr>
            <a:spLocks noChangeShapeType="1"/>
          </p:cNvSpPr>
          <p:nvPr/>
        </p:nvSpPr>
        <p:spPr bwMode="auto">
          <a:xfrm>
            <a:off x="2083594" y="3774281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60" name="Line 87"/>
          <p:cNvSpPr>
            <a:spLocks noChangeShapeType="1"/>
          </p:cNvSpPr>
          <p:nvPr/>
        </p:nvSpPr>
        <p:spPr bwMode="auto">
          <a:xfrm>
            <a:off x="1854994" y="394573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61" name="Text Box 88"/>
          <p:cNvSpPr txBox="1">
            <a:spLocks noChangeArrowheads="1"/>
          </p:cNvSpPr>
          <p:nvPr/>
        </p:nvSpPr>
        <p:spPr bwMode="auto">
          <a:xfrm>
            <a:off x="2083594" y="3659981"/>
            <a:ext cx="7777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   y   z</a:t>
            </a:r>
          </a:p>
        </p:txBody>
      </p:sp>
      <p:sp>
        <p:nvSpPr>
          <p:cNvPr id="395362" name="Text Box 89"/>
          <p:cNvSpPr txBox="1">
            <a:spLocks noChangeArrowheads="1"/>
          </p:cNvSpPr>
          <p:nvPr/>
        </p:nvSpPr>
        <p:spPr bwMode="auto">
          <a:xfrm>
            <a:off x="1854994" y="3945731"/>
            <a:ext cx="2872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95363" name="Text Box 90"/>
          <p:cNvSpPr txBox="1">
            <a:spLocks noChangeArrowheads="1"/>
          </p:cNvSpPr>
          <p:nvPr/>
        </p:nvSpPr>
        <p:spPr bwMode="auto">
          <a:xfrm>
            <a:off x="1854994" y="4174331"/>
            <a:ext cx="27443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95364" name="Text Box 91"/>
          <p:cNvSpPr txBox="1">
            <a:spLocks noChangeArrowheads="1"/>
          </p:cNvSpPr>
          <p:nvPr/>
        </p:nvSpPr>
        <p:spPr bwMode="auto">
          <a:xfrm>
            <a:off x="1854994" y="4402931"/>
            <a:ext cx="27764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395365" name="Text Box 92"/>
          <p:cNvSpPr txBox="1">
            <a:spLocks noChangeArrowheads="1"/>
          </p:cNvSpPr>
          <p:nvPr/>
        </p:nvSpPr>
        <p:spPr bwMode="auto">
          <a:xfrm>
            <a:off x="2083594" y="4201715"/>
            <a:ext cx="7429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66" name="Text Box 93"/>
          <p:cNvSpPr txBox="1">
            <a:spLocks noChangeArrowheads="1"/>
          </p:cNvSpPr>
          <p:nvPr/>
        </p:nvSpPr>
        <p:spPr bwMode="auto">
          <a:xfrm>
            <a:off x="2255044" y="4201715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67" name="Text Box 94"/>
          <p:cNvSpPr txBox="1">
            <a:spLocks noChangeArrowheads="1"/>
          </p:cNvSpPr>
          <p:nvPr/>
        </p:nvSpPr>
        <p:spPr bwMode="auto">
          <a:xfrm>
            <a:off x="2540794" y="4201715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95368" name="Text Box 95"/>
          <p:cNvSpPr txBox="1">
            <a:spLocks noChangeArrowheads="1"/>
          </p:cNvSpPr>
          <p:nvPr/>
        </p:nvSpPr>
        <p:spPr bwMode="auto">
          <a:xfrm>
            <a:off x="2083594" y="44600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95369" name="Text Box 96"/>
          <p:cNvSpPr txBox="1">
            <a:spLocks noChangeArrowheads="1"/>
          </p:cNvSpPr>
          <p:nvPr/>
        </p:nvSpPr>
        <p:spPr bwMode="auto">
          <a:xfrm>
            <a:off x="2255044" y="4460081"/>
            <a:ext cx="26321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95370" name="Text Box 97"/>
          <p:cNvSpPr txBox="1">
            <a:spLocks noChangeArrowheads="1"/>
          </p:cNvSpPr>
          <p:nvPr/>
        </p:nvSpPr>
        <p:spPr bwMode="auto">
          <a:xfrm>
            <a:off x="2540794" y="4460081"/>
            <a:ext cx="2904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95371" name="Text Box 98"/>
          <p:cNvSpPr txBox="1">
            <a:spLocks noChangeArrowheads="1"/>
          </p:cNvSpPr>
          <p:nvPr/>
        </p:nvSpPr>
        <p:spPr bwMode="auto">
          <a:xfrm>
            <a:off x="2083594" y="3431381"/>
            <a:ext cx="75533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cost to</a:t>
            </a:r>
          </a:p>
        </p:txBody>
      </p:sp>
      <p:sp>
        <p:nvSpPr>
          <p:cNvPr id="395372" name="Text Box 99"/>
          <p:cNvSpPr txBox="1">
            <a:spLocks noChangeArrowheads="1"/>
          </p:cNvSpPr>
          <p:nvPr/>
        </p:nvSpPr>
        <p:spPr bwMode="auto">
          <a:xfrm>
            <a:off x="2085590" y="2576170"/>
            <a:ext cx="78258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∞</a:t>
            </a:r>
          </a:p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2   0   1</a:t>
            </a:r>
          </a:p>
        </p:txBody>
      </p:sp>
      <p:sp>
        <p:nvSpPr>
          <p:cNvPr id="395373" name="Text Box 100"/>
          <p:cNvSpPr txBox="1">
            <a:spLocks noChangeArrowheads="1"/>
          </p:cNvSpPr>
          <p:nvPr/>
        </p:nvSpPr>
        <p:spPr bwMode="auto">
          <a:xfrm>
            <a:off x="2083593" y="3945731"/>
            <a:ext cx="86889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∞ ∞  ∞</a:t>
            </a:r>
          </a:p>
        </p:txBody>
      </p:sp>
      <p:sp>
        <p:nvSpPr>
          <p:cNvPr id="395374" name="Text Box 101"/>
          <p:cNvSpPr txBox="1">
            <a:spLocks noChangeArrowheads="1"/>
          </p:cNvSpPr>
          <p:nvPr/>
        </p:nvSpPr>
        <p:spPr bwMode="auto">
          <a:xfrm>
            <a:off x="3614738" y="1519237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2   0   1</a:t>
            </a:r>
          </a:p>
        </p:txBody>
      </p:sp>
      <p:sp>
        <p:nvSpPr>
          <p:cNvPr id="395375" name="Text Box 102"/>
          <p:cNvSpPr txBox="1">
            <a:spLocks noChangeArrowheads="1"/>
          </p:cNvSpPr>
          <p:nvPr/>
        </p:nvSpPr>
        <p:spPr bwMode="auto">
          <a:xfrm>
            <a:off x="3614738" y="1747837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7   1   0</a:t>
            </a:r>
          </a:p>
        </p:txBody>
      </p:sp>
      <p:sp>
        <p:nvSpPr>
          <p:cNvPr id="395376" name="Text Box 103"/>
          <p:cNvSpPr txBox="1">
            <a:spLocks noChangeArrowheads="1"/>
          </p:cNvSpPr>
          <p:nvPr/>
        </p:nvSpPr>
        <p:spPr bwMode="auto">
          <a:xfrm>
            <a:off x="3626644" y="2859881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2  0   1</a:t>
            </a:r>
          </a:p>
        </p:txBody>
      </p:sp>
      <p:sp>
        <p:nvSpPr>
          <p:cNvPr id="395377" name="Text Box 104"/>
          <p:cNvSpPr txBox="1">
            <a:spLocks noChangeArrowheads="1"/>
          </p:cNvSpPr>
          <p:nvPr/>
        </p:nvSpPr>
        <p:spPr bwMode="auto">
          <a:xfrm>
            <a:off x="3626644" y="3088481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7   1   0</a:t>
            </a:r>
          </a:p>
        </p:txBody>
      </p:sp>
      <p:sp>
        <p:nvSpPr>
          <p:cNvPr id="395378" name="Text Box 105"/>
          <p:cNvSpPr txBox="1">
            <a:spLocks noChangeArrowheads="1"/>
          </p:cNvSpPr>
          <p:nvPr/>
        </p:nvSpPr>
        <p:spPr bwMode="auto">
          <a:xfrm>
            <a:off x="3626644" y="4174331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2  0   1</a:t>
            </a:r>
          </a:p>
        </p:txBody>
      </p:sp>
      <p:sp>
        <p:nvSpPr>
          <p:cNvPr id="395379" name="Text Box 106"/>
          <p:cNvSpPr txBox="1">
            <a:spLocks noChangeArrowheads="1"/>
          </p:cNvSpPr>
          <p:nvPr/>
        </p:nvSpPr>
        <p:spPr bwMode="auto">
          <a:xfrm>
            <a:off x="3626644" y="4402931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3  1   0</a:t>
            </a:r>
          </a:p>
        </p:txBody>
      </p:sp>
      <p:sp>
        <p:nvSpPr>
          <p:cNvPr id="395380" name="Text Box 107"/>
          <p:cNvSpPr txBox="1">
            <a:spLocks noChangeArrowheads="1"/>
          </p:cNvSpPr>
          <p:nvPr/>
        </p:nvSpPr>
        <p:spPr bwMode="auto">
          <a:xfrm>
            <a:off x="5274220" y="1588873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2   0   1</a:t>
            </a:r>
          </a:p>
        </p:txBody>
      </p:sp>
      <p:sp>
        <p:nvSpPr>
          <p:cNvPr id="395381" name="Text Box 108"/>
          <p:cNvSpPr txBox="1">
            <a:spLocks noChangeArrowheads="1"/>
          </p:cNvSpPr>
          <p:nvPr/>
        </p:nvSpPr>
        <p:spPr bwMode="auto">
          <a:xfrm>
            <a:off x="5274220" y="1830816"/>
            <a:ext cx="78258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3   1   0</a:t>
            </a:r>
          </a:p>
        </p:txBody>
      </p:sp>
      <p:sp>
        <p:nvSpPr>
          <p:cNvPr id="395382" name="Text Box 109"/>
          <p:cNvSpPr txBox="1">
            <a:spLocks noChangeArrowheads="1"/>
          </p:cNvSpPr>
          <p:nvPr/>
        </p:nvSpPr>
        <p:spPr bwMode="auto">
          <a:xfrm>
            <a:off x="5283994" y="2870603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2  0   1</a:t>
            </a:r>
          </a:p>
        </p:txBody>
      </p:sp>
      <p:sp>
        <p:nvSpPr>
          <p:cNvPr id="395383" name="Text Box 110"/>
          <p:cNvSpPr txBox="1">
            <a:spLocks noChangeArrowheads="1"/>
          </p:cNvSpPr>
          <p:nvPr/>
        </p:nvSpPr>
        <p:spPr bwMode="auto">
          <a:xfrm>
            <a:off x="5226844" y="4402931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3  1   0</a:t>
            </a:r>
          </a:p>
        </p:txBody>
      </p:sp>
      <p:sp>
        <p:nvSpPr>
          <p:cNvPr id="395384" name="Text Box 111"/>
          <p:cNvSpPr txBox="1">
            <a:spLocks noChangeArrowheads="1"/>
          </p:cNvSpPr>
          <p:nvPr/>
        </p:nvSpPr>
        <p:spPr bwMode="auto">
          <a:xfrm>
            <a:off x="5226844" y="4168430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dirty="0">
                <a:latin typeface="Comic Sans MS" panose="030F0702030302020204" pitchFamily="66" charset="0"/>
                <a:cs typeface="Arial" panose="020B0604020202020204" pitchFamily="34" charset="0"/>
              </a:rPr>
              <a:t>2  0   1</a:t>
            </a:r>
          </a:p>
        </p:txBody>
      </p:sp>
      <p:sp>
        <p:nvSpPr>
          <p:cNvPr id="395385" name="Text Box 112"/>
          <p:cNvSpPr txBox="1">
            <a:spLocks noChangeArrowheads="1"/>
          </p:cNvSpPr>
          <p:nvPr/>
        </p:nvSpPr>
        <p:spPr bwMode="auto">
          <a:xfrm>
            <a:off x="5283994" y="3088481"/>
            <a:ext cx="7312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3  1   0</a:t>
            </a:r>
          </a:p>
        </p:txBody>
      </p:sp>
      <p:sp>
        <p:nvSpPr>
          <p:cNvPr id="395386" name="Line 113"/>
          <p:cNvSpPr>
            <a:spLocks noChangeShapeType="1"/>
          </p:cNvSpPr>
          <p:nvPr/>
        </p:nvSpPr>
        <p:spPr bwMode="auto">
          <a:xfrm>
            <a:off x="2826544" y="1488281"/>
            <a:ext cx="51435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87" name="Line 114"/>
          <p:cNvSpPr>
            <a:spLocks noChangeShapeType="1"/>
          </p:cNvSpPr>
          <p:nvPr/>
        </p:nvSpPr>
        <p:spPr bwMode="auto">
          <a:xfrm>
            <a:off x="2769394" y="1545431"/>
            <a:ext cx="514350" cy="2343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88" name="Line 115"/>
          <p:cNvSpPr>
            <a:spLocks noChangeShapeType="1"/>
          </p:cNvSpPr>
          <p:nvPr/>
        </p:nvSpPr>
        <p:spPr bwMode="auto">
          <a:xfrm flipV="1">
            <a:off x="2769394" y="1888331"/>
            <a:ext cx="57150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89" name="Line 116"/>
          <p:cNvSpPr>
            <a:spLocks noChangeShapeType="1"/>
          </p:cNvSpPr>
          <p:nvPr/>
        </p:nvSpPr>
        <p:spPr bwMode="auto">
          <a:xfrm>
            <a:off x="2769394" y="3088481"/>
            <a:ext cx="45720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0" name="Line 117"/>
          <p:cNvSpPr>
            <a:spLocks noChangeShapeType="1"/>
          </p:cNvSpPr>
          <p:nvPr/>
        </p:nvSpPr>
        <p:spPr bwMode="auto">
          <a:xfrm flipV="1">
            <a:off x="2769394" y="1945481"/>
            <a:ext cx="628650" cy="257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1" name="Line 118"/>
          <p:cNvSpPr>
            <a:spLocks noChangeShapeType="1"/>
          </p:cNvSpPr>
          <p:nvPr/>
        </p:nvSpPr>
        <p:spPr bwMode="auto">
          <a:xfrm flipV="1">
            <a:off x="2826544" y="3259931"/>
            <a:ext cx="571500" cy="131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2" name="Line 119"/>
          <p:cNvSpPr>
            <a:spLocks noChangeShapeType="1"/>
          </p:cNvSpPr>
          <p:nvPr/>
        </p:nvSpPr>
        <p:spPr bwMode="auto">
          <a:xfrm>
            <a:off x="4369594" y="1488281"/>
            <a:ext cx="57150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3" name="Line 120"/>
          <p:cNvSpPr>
            <a:spLocks noChangeShapeType="1"/>
          </p:cNvSpPr>
          <p:nvPr/>
        </p:nvSpPr>
        <p:spPr bwMode="auto">
          <a:xfrm>
            <a:off x="4312444" y="1545431"/>
            <a:ext cx="628650" cy="2228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4" name="Line 121"/>
          <p:cNvSpPr>
            <a:spLocks noChangeShapeType="1"/>
          </p:cNvSpPr>
          <p:nvPr/>
        </p:nvSpPr>
        <p:spPr bwMode="auto">
          <a:xfrm flipV="1">
            <a:off x="4255294" y="2059781"/>
            <a:ext cx="857250" cy="2400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5" name="Line 122"/>
          <p:cNvSpPr>
            <a:spLocks noChangeShapeType="1"/>
          </p:cNvSpPr>
          <p:nvPr/>
        </p:nvSpPr>
        <p:spPr bwMode="auto">
          <a:xfrm flipV="1">
            <a:off x="4255294" y="3317081"/>
            <a:ext cx="800100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6" name="Line 123"/>
          <p:cNvSpPr>
            <a:spLocks noChangeShapeType="1"/>
          </p:cNvSpPr>
          <p:nvPr/>
        </p:nvSpPr>
        <p:spPr bwMode="auto">
          <a:xfrm>
            <a:off x="1626394" y="4761310"/>
            <a:ext cx="405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397" name="Text Box 124"/>
          <p:cNvSpPr txBox="1">
            <a:spLocks noChangeArrowheads="1"/>
          </p:cNvSpPr>
          <p:nvPr/>
        </p:nvSpPr>
        <p:spPr bwMode="auto">
          <a:xfrm>
            <a:off x="5720954" y="4608910"/>
            <a:ext cx="54373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time</a:t>
            </a:r>
          </a:p>
        </p:txBody>
      </p:sp>
      <p:grpSp>
        <p:nvGrpSpPr>
          <p:cNvPr id="395398" name="Group 125"/>
          <p:cNvGrpSpPr>
            <a:grpSpLocks/>
          </p:cNvGrpSpPr>
          <p:nvPr/>
        </p:nvGrpSpPr>
        <p:grpSpPr bwMode="auto">
          <a:xfrm>
            <a:off x="6143625" y="2185987"/>
            <a:ext cx="1638300" cy="916782"/>
            <a:chOff x="2352" y="0"/>
            <a:chExt cx="1376" cy="770"/>
          </a:xfrm>
        </p:grpSpPr>
        <p:sp>
          <p:nvSpPr>
            <p:cNvPr id="395399" name="Freeform 126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395400" name="Group 127"/>
            <p:cNvGrpSpPr>
              <a:grpSpLocks/>
            </p:cNvGrpSpPr>
            <p:nvPr/>
          </p:nvGrpSpPr>
          <p:grpSpPr bwMode="auto">
            <a:xfrm>
              <a:off x="2448" y="74"/>
              <a:ext cx="1161" cy="696"/>
              <a:chOff x="-17" y="1286"/>
              <a:chExt cx="1161" cy="696"/>
            </a:xfrm>
          </p:grpSpPr>
          <p:sp>
            <p:nvSpPr>
              <p:cNvPr id="395401" name="Freeform 128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5402" name="Oval 129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403" name="Line 130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5404" name="Line 131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5405" name="Rectangle 132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406" name="Oval 133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407" name="Freeform 134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5408" name="Freeform 135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grpSp>
            <p:nvGrpSpPr>
              <p:cNvPr id="395409" name="Group 136"/>
              <p:cNvGrpSpPr>
                <a:grpSpLocks/>
              </p:cNvGrpSpPr>
              <p:nvPr/>
            </p:nvGrpSpPr>
            <p:grpSpPr bwMode="auto">
              <a:xfrm>
                <a:off x="13" y="1598"/>
                <a:ext cx="251" cy="271"/>
                <a:chOff x="2931" y="2429"/>
                <a:chExt cx="252" cy="271"/>
              </a:xfrm>
            </p:grpSpPr>
            <p:sp>
              <p:nvSpPr>
                <p:cNvPr id="395410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411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2931" y="2429"/>
                  <a:ext cx="252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latin typeface="Comic Sans MS" panose="030F0702030302020204" pitchFamily="66" charset="0"/>
                      <a:cs typeface="Arial" panose="020B0604020202020204" pitchFamily="34" charset="0"/>
                    </a:rPr>
                    <a:t>x</a:t>
                  </a:r>
                  <a:endParaRPr lang="en-US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95412" name="Group 139"/>
              <p:cNvGrpSpPr>
                <a:grpSpLocks/>
              </p:cNvGrpSpPr>
              <p:nvPr/>
            </p:nvGrpSpPr>
            <p:grpSpPr bwMode="auto">
              <a:xfrm>
                <a:off x="828" y="1580"/>
                <a:ext cx="316" cy="310"/>
                <a:chOff x="1740" y="2276"/>
                <a:chExt cx="316" cy="310"/>
              </a:xfrm>
            </p:grpSpPr>
            <p:sp>
              <p:nvSpPr>
                <p:cNvPr id="395413" name="Oval 14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414" name="Line 14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5415" name="Line 14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5416" name="Rectangle 14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endParaRPr lang="zh-CN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417" name="Oval 14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95418" name="Group 145"/>
                <p:cNvGrpSpPr>
                  <a:grpSpLocks/>
                </p:cNvGrpSpPr>
                <p:nvPr/>
              </p:nvGrpSpPr>
              <p:grpSpPr bwMode="auto">
                <a:xfrm>
                  <a:off x="1774" y="2276"/>
                  <a:ext cx="259" cy="310"/>
                  <a:chOff x="2928" y="2399"/>
                  <a:chExt cx="260" cy="310"/>
                </a:xfrm>
              </p:grpSpPr>
              <p:sp>
                <p:nvSpPr>
                  <p:cNvPr id="395419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0" hangingPunct="0"/>
                    <a:endParaRPr lang="zh-CN" altLang="zh-CN" sz="1350">
                      <a:latin typeface="Comic Sans MS" panose="030F0702030302020204" pitchFamily="66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5420" name="Text Box 1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8" y="2399"/>
                    <a:ext cx="260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0" hangingPunct="0"/>
                    <a:r>
                      <a:rPr lang="en-US" altLang="zh-CN">
                        <a:latin typeface="Comic Sans MS" panose="030F0702030302020204" pitchFamily="66" charset="0"/>
                        <a:cs typeface="Arial" panose="020B0604020202020204" pitchFamily="34" charset="0"/>
                      </a:rPr>
                      <a:t>z</a:t>
                    </a:r>
                  </a:p>
                </p:txBody>
              </p:sp>
            </p:grpSp>
          </p:grpSp>
          <p:sp>
            <p:nvSpPr>
              <p:cNvPr id="395421" name="Text Box 148"/>
              <p:cNvSpPr txBox="1">
                <a:spLocks noChangeArrowheads="1"/>
              </p:cNvSpPr>
              <p:nvPr/>
            </p:nvSpPr>
            <p:spPr bwMode="auto">
              <a:xfrm>
                <a:off x="711" y="1400"/>
                <a:ext cx="2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latin typeface="Comic Sans MS" panose="030F0702030302020204" pitchFamily="66" charset="0"/>
                    <a:cs typeface="Arial" panose="020B0604020202020204" pitchFamily="34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422" name="Text Box 149"/>
              <p:cNvSpPr txBox="1">
                <a:spLocks noChangeArrowheads="1"/>
              </p:cNvSpPr>
              <p:nvPr/>
            </p:nvSpPr>
            <p:spPr bwMode="auto">
              <a:xfrm>
                <a:off x="173" y="1397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latin typeface="Comic Sans MS" panose="030F0702030302020204" pitchFamily="66" charset="0"/>
                    <a:cs typeface="Arial" panose="020B0604020202020204" pitchFamily="34" charset="0"/>
                  </a:rPr>
                  <a:t>2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423" name="Text Box 150"/>
              <p:cNvSpPr txBox="1">
                <a:spLocks noChangeArrowheads="1"/>
              </p:cNvSpPr>
              <p:nvPr/>
            </p:nvSpPr>
            <p:spPr bwMode="auto">
              <a:xfrm>
                <a:off x="458" y="1730"/>
                <a:ext cx="24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350">
                    <a:latin typeface="Comic Sans MS" panose="030F0702030302020204" pitchFamily="66" charset="0"/>
                    <a:cs typeface="Arial" panose="020B0604020202020204" pitchFamily="34" charset="0"/>
                  </a:rPr>
                  <a:t>7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95424" name="Group 151"/>
              <p:cNvGrpSpPr>
                <a:grpSpLocks/>
              </p:cNvGrpSpPr>
              <p:nvPr/>
            </p:nvGrpSpPr>
            <p:grpSpPr bwMode="auto">
              <a:xfrm>
                <a:off x="408" y="1286"/>
                <a:ext cx="316" cy="271"/>
                <a:chOff x="1740" y="2306"/>
                <a:chExt cx="316" cy="271"/>
              </a:xfrm>
            </p:grpSpPr>
            <p:sp>
              <p:nvSpPr>
                <p:cNvPr id="395425" name="Oval 152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426" name="Line 153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5427" name="Line 154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95428" name="Rectangle 155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endParaRPr lang="zh-CN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429" name="Oval 156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95430" name="Group 157"/>
                <p:cNvGrpSpPr>
                  <a:grpSpLocks/>
                </p:cNvGrpSpPr>
                <p:nvPr/>
              </p:nvGrpSpPr>
              <p:grpSpPr bwMode="auto">
                <a:xfrm>
                  <a:off x="1775" y="2306"/>
                  <a:ext cx="238" cy="271"/>
                  <a:chOff x="2937" y="2429"/>
                  <a:chExt cx="241" cy="271"/>
                </a:xfrm>
              </p:grpSpPr>
              <p:sp>
                <p:nvSpPr>
                  <p:cNvPr id="395431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0" hangingPunct="0"/>
                    <a:endParaRPr lang="zh-CN" altLang="zh-CN" sz="1350">
                      <a:latin typeface="Comic Sans MS" panose="030F0702030302020204" pitchFamily="66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5432" name="Text Box 1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37" y="2429"/>
                    <a:ext cx="241" cy="27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0" hangingPunct="0"/>
                    <a:r>
                      <a:rPr lang="en-US" altLang="zh-CN" sz="1500">
                        <a:latin typeface="Comic Sans MS" panose="030F0702030302020204" pitchFamily="66" charset="0"/>
                        <a:cs typeface="Arial" panose="020B0604020202020204" pitchFamily="34" charset="0"/>
                      </a:rPr>
                      <a:t>y</a:t>
                    </a:r>
                    <a:endParaRPr lang="en-US" altLang="zh-CN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</p:grpSp>
      <p:sp>
        <p:nvSpPr>
          <p:cNvPr id="395433" name="Text Box 160"/>
          <p:cNvSpPr txBox="1">
            <a:spLocks noChangeArrowheads="1"/>
          </p:cNvSpPr>
          <p:nvPr/>
        </p:nvSpPr>
        <p:spPr bwMode="auto">
          <a:xfrm>
            <a:off x="855052" y="550939"/>
            <a:ext cx="12426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u="sng" dirty="0">
                <a:latin typeface="Comic Sans MS" panose="030F0702030302020204" pitchFamily="66" charset="0"/>
                <a:cs typeface="Arial" panose="020B0604020202020204" pitchFamily="34" charset="0"/>
              </a:rPr>
              <a:t>node x table</a:t>
            </a:r>
          </a:p>
        </p:txBody>
      </p:sp>
      <p:sp>
        <p:nvSpPr>
          <p:cNvPr id="395434" name="Text Box 161"/>
          <p:cNvSpPr txBox="1">
            <a:spLocks noChangeArrowheads="1"/>
          </p:cNvSpPr>
          <p:nvPr/>
        </p:nvSpPr>
        <p:spPr bwMode="auto">
          <a:xfrm>
            <a:off x="846351" y="1948508"/>
            <a:ext cx="12362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u="sng" dirty="0">
                <a:latin typeface="Comic Sans MS" panose="030F0702030302020204" pitchFamily="66" charset="0"/>
                <a:cs typeface="Arial" panose="020B0604020202020204" pitchFamily="34" charset="0"/>
              </a:rPr>
              <a:t>node y table</a:t>
            </a:r>
          </a:p>
        </p:txBody>
      </p:sp>
      <p:sp>
        <p:nvSpPr>
          <p:cNvPr id="395435" name="Text Box 162"/>
          <p:cNvSpPr txBox="1">
            <a:spLocks noChangeArrowheads="1"/>
          </p:cNvSpPr>
          <p:nvPr/>
        </p:nvSpPr>
        <p:spPr bwMode="auto">
          <a:xfrm>
            <a:off x="885391" y="3359346"/>
            <a:ext cx="123303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u="sng" dirty="0">
                <a:latin typeface="Comic Sans MS" panose="030F0702030302020204" pitchFamily="66" charset="0"/>
                <a:cs typeface="Arial" panose="020B0604020202020204" pitchFamily="34" charset="0"/>
              </a:rPr>
              <a:t>node z table</a:t>
            </a:r>
          </a:p>
        </p:txBody>
      </p:sp>
      <p:sp>
        <p:nvSpPr>
          <p:cNvPr id="395436" name="Oval 163"/>
          <p:cNvSpPr>
            <a:spLocks noChangeArrowheads="1"/>
          </p:cNvSpPr>
          <p:nvPr/>
        </p:nvSpPr>
        <p:spPr bwMode="auto">
          <a:xfrm>
            <a:off x="2083594" y="1259681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5437" name="Oval 164"/>
          <p:cNvSpPr>
            <a:spLocks noChangeArrowheads="1"/>
          </p:cNvSpPr>
          <p:nvPr/>
        </p:nvSpPr>
        <p:spPr bwMode="auto">
          <a:xfrm>
            <a:off x="2083594" y="2802731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5438" name="Oval 165"/>
          <p:cNvSpPr>
            <a:spLocks noChangeArrowheads="1"/>
          </p:cNvSpPr>
          <p:nvPr/>
        </p:nvSpPr>
        <p:spPr bwMode="auto">
          <a:xfrm>
            <a:off x="2083594" y="4460081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5439" name="Oval 166"/>
          <p:cNvSpPr>
            <a:spLocks noChangeArrowheads="1"/>
          </p:cNvSpPr>
          <p:nvPr/>
        </p:nvSpPr>
        <p:spPr bwMode="auto">
          <a:xfrm>
            <a:off x="3626644" y="1259681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5440" name="Oval 167"/>
          <p:cNvSpPr>
            <a:spLocks noChangeArrowheads="1"/>
          </p:cNvSpPr>
          <p:nvPr/>
        </p:nvSpPr>
        <p:spPr bwMode="auto">
          <a:xfrm>
            <a:off x="3569494" y="4402931"/>
            <a:ext cx="800100" cy="2857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endParaRPr lang="zh-CN" altLang="zh-CN" sz="135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95441" name="Rectangle 168"/>
          <p:cNvSpPr>
            <a:spLocks noChangeArrowheads="1"/>
          </p:cNvSpPr>
          <p:nvPr/>
        </p:nvSpPr>
        <p:spPr bwMode="auto">
          <a:xfrm>
            <a:off x="2322402" y="129466"/>
            <a:ext cx="343715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/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</a:t>
            </a:r>
            <a:r>
              <a:rPr lang="fr-FR" altLang="zh-CN" sz="1350" baseline="-2500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x</a:t>
            </a: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(y) = min{c(x,y) + D</a:t>
            </a:r>
            <a:r>
              <a:rPr lang="fr-FR" altLang="zh-CN" sz="1350" baseline="-2500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y</a:t>
            </a: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(y), c(x,z) + D</a:t>
            </a:r>
            <a:r>
              <a:rPr lang="fr-FR" altLang="zh-CN" sz="1350" baseline="-2500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z</a:t>
            </a: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(y)} </a:t>
            </a:r>
            <a:b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</a:br>
            <a:r>
              <a:rPr lang="fr-FR" altLang="zh-CN" sz="135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         = min{2+0 , 7+1} = 2</a:t>
            </a:r>
          </a:p>
        </p:txBody>
      </p:sp>
      <p:sp>
        <p:nvSpPr>
          <p:cNvPr id="395442" name="Line 169"/>
          <p:cNvSpPr>
            <a:spLocks noChangeShapeType="1"/>
          </p:cNvSpPr>
          <p:nvPr/>
        </p:nvSpPr>
        <p:spPr bwMode="auto">
          <a:xfrm flipH="1">
            <a:off x="3989785" y="609600"/>
            <a:ext cx="607219" cy="725091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395443" name="Rectangle 170"/>
          <p:cNvSpPr>
            <a:spLocks noChangeArrowheads="1"/>
          </p:cNvSpPr>
          <p:nvPr/>
        </p:nvSpPr>
        <p:spPr bwMode="auto">
          <a:xfrm>
            <a:off x="5925420" y="71431"/>
            <a:ext cx="2167581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/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D</a:t>
            </a:r>
            <a:r>
              <a:rPr lang="fr-FR" altLang="zh-CN" sz="1350" i="1" baseline="-25000">
                <a:latin typeface="Comic Sans MS" panose="030F0702030302020204" pitchFamily="66" charset="0"/>
                <a:cs typeface="Arial" panose="020B0604020202020204" pitchFamily="34" charset="0"/>
              </a:rPr>
              <a:t>x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(z) = </a:t>
            </a:r>
            <a:r>
              <a:rPr lang="fr-FR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min{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c(x,y) + </a:t>
            </a:r>
            <a:b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</a:b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      D</a:t>
            </a:r>
            <a:r>
              <a:rPr lang="fr-FR" altLang="zh-CN" sz="1350" i="1" baseline="-2500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(z), c(x,z) + D</a:t>
            </a:r>
            <a:r>
              <a:rPr lang="fr-FR" altLang="zh-CN" sz="1350" i="1" baseline="-25000">
                <a:latin typeface="Comic Sans MS" panose="030F0702030302020204" pitchFamily="66" charset="0"/>
                <a:cs typeface="Arial" panose="020B0604020202020204" pitchFamily="34" charset="0"/>
              </a:rPr>
              <a:t>z</a:t>
            </a:r>
            <a:r>
              <a:rPr lang="fr-FR" altLang="zh-CN" sz="1350" i="1">
                <a:latin typeface="Comic Sans MS" panose="030F0702030302020204" pitchFamily="66" charset="0"/>
                <a:cs typeface="Arial" panose="020B0604020202020204" pitchFamily="34" charset="0"/>
              </a:rPr>
              <a:t>(z)</a:t>
            </a:r>
            <a:r>
              <a:rPr lang="fr-FR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} </a:t>
            </a:r>
          </a:p>
          <a:p>
            <a:pPr algn="just" eaLnBrk="0" hangingPunct="0"/>
            <a:r>
              <a:rPr lang="fr-FR" altLang="zh-CN" sz="1350">
                <a:latin typeface="Comic Sans MS" panose="030F0702030302020204" pitchFamily="66" charset="0"/>
                <a:cs typeface="Arial" panose="020B0604020202020204" pitchFamily="34" charset="0"/>
              </a:rPr>
              <a:t>= min{2+1 , 7+0} = 3</a:t>
            </a:r>
          </a:p>
        </p:txBody>
      </p:sp>
      <p:sp>
        <p:nvSpPr>
          <p:cNvPr id="395444" name="Line 171"/>
          <p:cNvSpPr>
            <a:spLocks noChangeShapeType="1"/>
          </p:cNvSpPr>
          <p:nvPr/>
        </p:nvSpPr>
        <p:spPr bwMode="auto">
          <a:xfrm flipH="1">
            <a:off x="4304110" y="364331"/>
            <a:ext cx="1939528" cy="10001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174" name="灯片编号占位符 2">
            <a:extLst>
              <a:ext uri="{FF2B5EF4-FFF2-40B4-BE49-F238E27FC236}">
                <a16:creationId xmlns:a16="http://schemas.microsoft.com/office/drawing/2014/main" id="{1AB3D113-0A01-4727-96F9-0A91EDE5841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175" name="AutoShape 5">
            <a:extLst>
              <a:ext uri="{FF2B5EF4-FFF2-40B4-BE49-F238E27FC236}">
                <a16:creationId xmlns:a16="http://schemas.microsoft.com/office/drawing/2014/main" id="{F0B47259-D054-4D53-83EF-63D348049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9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  <p:bldP spid="17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E7AA9E7-DDA2-42DE-ADB0-538B28681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Distance Vector: </a:t>
            </a:r>
            <a:r>
              <a:rPr lang="zh-CN" altLang="en-US" dirty="0">
                <a:latin typeface="黑体" panose="02010609060101010101" pitchFamily="49" charset="-122"/>
              </a:rPr>
              <a:t>链路费用改变</a:t>
            </a:r>
            <a:endParaRPr lang="en-US" altLang="zh-CN" dirty="0">
              <a:latin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  <a:endParaRPr lang="en-US" altLang="zh-CN" dirty="0"/>
          </a:p>
        </p:txBody>
      </p:sp>
      <p:sp>
        <p:nvSpPr>
          <p:cNvPr id="396291" name="Rectangle 2"/>
          <p:cNvSpPr>
            <a:spLocks noChangeArrowheads="1"/>
          </p:cNvSpPr>
          <p:nvPr/>
        </p:nvSpPr>
        <p:spPr bwMode="auto">
          <a:xfrm>
            <a:off x="753034" y="2372875"/>
            <a:ext cx="5347097" cy="35004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Char char="•"/>
            </a:pPr>
            <a:endParaRPr lang="en-US" altLang="zh-CN" sz="1800" b="1" dirty="0">
              <a:effectLst/>
              <a:latin typeface="黑体" panose="02010609060101010101" pitchFamily="49" charset="-122"/>
            </a:endParaRPr>
          </a:p>
        </p:txBody>
      </p:sp>
      <p:sp>
        <p:nvSpPr>
          <p:cNvPr id="396292" name="Rectangle 3"/>
          <p:cNvSpPr>
            <a:spLocks noChangeArrowheads="1"/>
          </p:cNvSpPr>
          <p:nvPr/>
        </p:nvSpPr>
        <p:spPr bwMode="auto">
          <a:xfrm>
            <a:off x="909043" y="1352551"/>
            <a:ext cx="3650456" cy="189309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Link cost changes:</a:t>
            </a:r>
            <a:endParaRPr lang="en-US" altLang="zh-CN" sz="1500" dirty="0"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500" dirty="0">
                <a:latin typeface="+mj-ea"/>
                <a:ea typeface="+mj-ea"/>
                <a:cs typeface="Arial" panose="020B0604020202020204" pitchFamily="34" charset="0"/>
              </a:rPr>
              <a:t>结点检测到局部链路费用改变</a:t>
            </a:r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500" dirty="0">
                <a:latin typeface="+mj-ea"/>
                <a:ea typeface="+mj-ea"/>
                <a:cs typeface="Arial" panose="020B0604020202020204" pitchFamily="34" charset="0"/>
              </a:rPr>
              <a:t>更新录用信息</a:t>
            </a:r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zh-CN" altLang="en-US" sz="1500" dirty="0">
                <a:latin typeface="+mj-ea"/>
                <a:ea typeface="+mj-ea"/>
                <a:cs typeface="Arial" panose="020B0604020202020204" pitchFamily="34" charset="0"/>
              </a:rPr>
              <a:t>重新计算距离向量</a:t>
            </a:r>
            <a:endParaRPr lang="en-US" altLang="zh-CN" sz="1500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1500" dirty="0">
                <a:latin typeface="+mj-ea"/>
                <a:ea typeface="+mj-ea"/>
                <a:cs typeface="Arial" panose="020B0604020202020204" pitchFamily="34" charset="0"/>
              </a:rPr>
              <a:t>如果距离向量变化</a:t>
            </a:r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zh-CN" altLang="en-US" sz="1500" dirty="0">
                <a:latin typeface="+mj-ea"/>
                <a:ea typeface="+mj-ea"/>
                <a:cs typeface="Arial" panose="020B0604020202020204" pitchFamily="34" charset="0"/>
              </a:rPr>
              <a:t>则告知邻居</a:t>
            </a:r>
            <a:r>
              <a:rPr lang="en-US" altLang="zh-CN" sz="1500" dirty="0">
                <a:cs typeface="Arial" panose="020B0604020202020204" pitchFamily="34" charset="0"/>
              </a:rPr>
              <a:t> 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396293" name="Text Box 4"/>
          <p:cNvSpPr txBox="1">
            <a:spLocks noChangeArrowheads="1"/>
          </p:cNvSpPr>
          <p:nvPr/>
        </p:nvSpPr>
        <p:spPr bwMode="auto">
          <a:xfrm>
            <a:off x="1691680" y="3317693"/>
            <a:ext cx="844827" cy="147732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dirty="0">
                <a:solidFill>
                  <a:srgbClr val="000099"/>
                </a:solidFill>
                <a:cs typeface="Arial" panose="020B0604020202020204" pitchFamily="34" charset="0"/>
              </a:rPr>
              <a:t>“good</a:t>
            </a:r>
          </a:p>
          <a:p>
            <a:pPr eaLnBrk="0" hangingPunct="0"/>
            <a:r>
              <a:rPr lang="en-US" altLang="zh-CN" dirty="0">
                <a:solidFill>
                  <a:srgbClr val="000099"/>
                </a:solidFill>
                <a:cs typeface="Arial" panose="020B0604020202020204" pitchFamily="34" charset="0"/>
              </a:rPr>
              <a:t>news </a:t>
            </a:r>
          </a:p>
          <a:p>
            <a:pPr eaLnBrk="0" hangingPunct="0"/>
            <a:r>
              <a:rPr lang="en-US" altLang="zh-CN" dirty="0">
                <a:solidFill>
                  <a:srgbClr val="000099"/>
                </a:solidFill>
                <a:cs typeface="Arial" panose="020B0604020202020204" pitchFamily="34" charset="0"/>
              </a:rPr>
              <a:t>travels</a:t>
            </a:r>
          </a:p>
          <a:p>
            <a:pPr eaLnBrk="0" hangingPunct="0"/>
            <a:r>
              <a:rPr lang="en-US" altLang="zh-CN" dirty="0">
                <a:solidFill>
                  <a:srgbClr val="000099"/>
                </a:solidFill>
                <a:cs typeface="Arial" panose="020B0604020202020204" pitchFamily="34" charset="0"/>
              </a:rPr>
              <a:t>fast”</a:t>
            </a:r>
            <a:endParaRPr lang="en-US" altLang="zh-CN" sz="1200" dirty="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396294" name="Group 5"/>
          <p:cNvGrpSpPr>
            <a:grpSpLocks/>
          </p:cNvGrpSpPr>
          <p:nvPr/>
        </p:nvGrpSpPr>
        <p:grpSpPr bwMode="auto">
          <a:xfrm>
            <a:off x="5630466" y="1306116"/>
            <a:ext cx="1638300" cy="992982"/>
            <a:chOff x="3625" y="1076"/>
            <a:chExt cx="1376" cy="834"/>
          </a:xfrm>
        </p:grpSpPr>
        <p:sp>
          <p:nvSpPr>
            <p:cNvPr id="396295" name="Freeform 6"/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6296" name="Freeform 7"/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6297" name="Oval 8"/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396298" name="Line 9"/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6299" name="Line 10"/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6300" name="Rectangle 11"/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cs typeface="Arial" panose="020B0604020202020204" pitchFamily="34" charset="0"/>
              </a:endParaRPr>
            </a:p>
          </p:txBody>
        </p:sp>
        <p:sp>
          <p:nvSpPr>
            <p:cNvPr id="396301" name="Oval 12"/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cs typeface="Arial" panose="020B0604020202020204" pitchFamily="34" charset="0"/>
              </a:endParaRPr>
            </a:p>
          </p:txBody>
        </p:sp>
        <p:sp>
          <p:nvSpPr>
            <p:cNvPr id="396302" name="Freeform 13"/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6303" name="Freeform 14"/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396304" name="Group 15"/>
            <p:cNvGrpSpPr>
              <a:grpSpLocks/>
            </p:cNvGrpSpPr>
            <p:nvPr/>
          </p:nvGrpSpPr>
          <p:grpSpPr bwMode="auto">
            <a:xfrm>
              <a:off x="3753" y="1526"/>
              <a:ext cx="236" cy="271"/>
              <a:chOff x="2938" y="2429"/>
              <a:chExt cx="240" cy="271"/>
            </a:xfrm>
          </p:grpSpPr>
          <p:sp>
            <p:nvSpPr>
              <p:cNvPr id="396305" name="Rectangle 1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396306" name="Text Box 17"/>
              <p:cNvSpPr txBox="1">
                <a:spLocks noChangeArrowheads="1"/>
              </p:cNvSpPr>
              <p:nvPr/>
            </p:nvSpPr>
            <p:spPr bwMode="auto">
              <a:xfrm>
                <a:off x="2938" y="2429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cs typeface="Arial" panose="020B0604020202020204" pitchFamily="34" charset="0"/>
                  </a:rPr>
                  <a:t>x</a:t>
                </a:r>
                <a:endParaRPr lang="en-US" altLang="zh-CN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6307" name="Group 18"/>
            <p:cNvGrpSpPr>
              <a:grpSpLocks/>
            </p:cNvGrpSpPr>
            <p:nvPr/>
          </p:nvGrpSpPr>
          <p:grpSpPr bwMode="auto">
            <a:xfrm>
              <a:off x="4566" y="1538"/>
              <a:ext cx="316" cy="271"/>
              <a:chOff x="1740" y="2306"/>
              <a:chExt cx="316" cy="271"/>
            </a:xfrm>
          </p:grpSpPr>
          <p:sp>
            <p:nvSpPr>
              <p:cNvPr id="396308" name="Oval 19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396309" name="Line 20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6310" name="Line 21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6311" name="Rectangle 22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cs typeface="Arial" panose="020B0604020202020204" pitchFamily="34" charset="0"/>
                </a:endParaRPr>
              </a:p>
            </p:txBody>
          </p:sp>
          <p:sp>
            <p:nvSpPr>
              <p:cNvPr id="396312" name="Oval 23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grpSp>
            <p:nvGrpSpPr>
              <p:cNvPr id="396313" name="Group 24"/>
              <p:cNvGrpSpPr>
                <a:grpSpLocks/>
              </p:cNvGrpSpPr>
              <p:nvPr/>
            </p:nvGrpSpPr>
            <p:grpSpPr bwMode="auto">
              <a:xfrm>
                <a:off x="1779" y="2306"/>
                <a:ext cx="236" cy="271"/>
                <a:chOff x="2938" y="2429"/>
                <a:chExt cx="240" cy="271"/>
              </a:xfrm>
            </p:grpSpPr>
            <p:sp>
              <p:nvSpPr>
                <p:cNvPr id="3963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631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38" y="2429"/>
                  <a:ext cx="24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cs typeface="Arial" panose="020B0604020202020204" pitchFamily="34" charset="0"/>
                    </a:rPr>
                    <a:t>z</a:t>
                  </a:r>
                  <a:endParaRPr lang="en-US" altLang="zh-CN"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96316" name="Text Box 27"/>
            <p:cNvSpPr txBox="1">
              <a:spLocks noChangeArrowheads="1"/>
            </p:cNvSpPr>
            <p:nvPr/>
          </p:nvSpPr>
          <p:spPr bwMode="auto">
            <a:xfrm>
              <a:off x="4443" y="132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1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396317" name="Text Box 28"/>
            <p:cNvSpPr txBox="1">
              <a:spLocks noChangeArrowheads="1"/>
            </p:cNvSpPr>
            <p:nvPr/>
          </p:nvSpPr>
          <p:spPr bwMode="auto">
            <a:xfrm>
              <a:off x="3915" y="132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4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396318" name="Text Box 29"/>
            <p:cNvSpPr txBox="1">
              <a:spLocks noChangeArrowheads="1"/>
            </p:cNvSpPr>
            <p:nvPr/>
          </p:nvSpPr>
          <p:spPr bwMode="auto">
            <a:xfrm>
              <a:off x="4158" y="1658"/>
              <a:ext cx="3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cs typeface="Arial" panose="020B0604020202020204" pitchFamily="34" charset="0"/>
                </a:rPr>
                <a:t>50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grpSp>
          <p:nvGrpSpPr>
            <p:cNvPr id="396319" name="Group 30"/>
            <p:cNvGrpSpPr>
              <a:grpSpLocks/>
            </p:cNvGrpSpPr>
            <p:nvPr/>
          </p:nvGrpSpPr>
          <p:grpSpPr bwMode="auto">
            <a:xfrm>
              <a:off x="4146" y="1214"/>
              <a:ext cx="316" cy="271"/>
              <a:chOff x="1740" y="2306"/>
              <a:chExt cx="316" cy="271"/>
            </a:xfrm>
          </p:grpSpPr>
          <p:sp>
            <p:nvSpPr>
              <p:cNvPr id="396320" name="Oval 31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sp>
            <p:nvSpPr>
              <p:cNvPr id="396321" name="Line 32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6322" name="Line 33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6323" name="Rectangle 34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cs typeface="Arial" panose="020B0604020202020204" pitchFamily="34" charset="0"/>
                </a:endParaRPr>
              </a:p>
            </p:txBody>
          </p:sp>
          <p:sp>
            <p:nvSpPr>
              <p:cNvPr id="396324" name="Oval 35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cs typeface="Arial" panose="020B0604020202020204" pitchFamily="34" charset="0"/>
                </a:endParaRPr>
              </a:p>
            </p:txBody>
          </p:sp>
          <p:grpSp>
            <p:nvGrpSpPr>
              <p:cNvPr id="396325" name="Group 36"/>
              <p:cNvGrpSpPr>
                <a:grpSpLocks/>
              </p:cNvGrpSpPr>
              <p:nvPr/>
            </p:nvGrpSpPr>
            <p:grpSpPr bwMode="auto">
              <a:xfrm>
                <a:off x="1779" y="2306"/>
                <a:ext cx="236" cy="271"/>
                <a:chOff x="2938" y="2429"/>
                <a:chExt cx="240" cy="271"/>
              </a:xfrm>
            </p:grpSpPr>
            <p:sp>
              <p:nvSpPr>
                <p:cNvPr id="396326" name="Rectangle 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6327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938" y="2429"/>
                  <a:ext cx="24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cs typeface="Arial" panose="020B0604020202020204" pitchFamily="34" charset="0"/>
                    </a:rPr>
                    <a:t>y</a:t>
                  </a:r>
                  <a:endParaRPr lang="en-US" altLang="zh-CN"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96328" name="Text Box 39"/>
            <p:cNvSpPr txBox="1">
              <a:spLocks noChangeArrowheads="1"/>
            </p:cNvSpPr>
            <p:nvPr/>
          </p:nvSpPr>
          <p:spPr bwMode="auto">
            <a:xfrm>
              <a:off x="3813" y="1076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  <a:endParaRPr lang="en-US" altLang="zh-CN">
                <a:cs typeface="Arial" panose="020B0604020202020204" pitchFamily="34" charset="0"/>
              </a:endParaRPr>
            </a:p>
          </p:txBody>
        </p:sp>
        <p:sp>
          <p:nvSpPr>
            <p:cNvPr id="396329" name="Line 40"/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730153" name="Rectangle 41"/>
          <p:cNvSpPr>
            <a:spLocks noChangeArrowheads="1"/>
          </p:cNvSpPr>
          <p:nvPr/>
        </p:nvSpPr>
        <p:spPr bwMode="auto">
          <a:xfrm>
            <a:off x="2743730" y="3129858"/>
            <a:ext cx="5428670" cy="50783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i="1" dirty="0">
                <a:cs typeface="Arial" panose="020B0604020202020204" pitchFamily="34" charset="0"/>
              </a:rPr>
              <a:t>t</a:t>
            </a:r>
            <a:r>
              <a:rPr lang="en-US" altLang="zh-CN" sz="1350" i="1" baseline="-25000" dirty="0">
                <a:cs typeface="Arial" panose="020B0604020202020204" pitchFamily="34" charset="0"/>
              </a:rPr>
              <a:t>0 </a:t>
            </a:r>
            <a:r>
              <a:rPr lang="en-US" altLang="zh-CN" sz="1350" dirty="0">
                <a:cs typeface="Arial" panose="020B0604020202020204" pitchFamily="34" charset="0"/>
              </a:rPr>
              <a:t>: </a:t>
            </a:r>
            <a:r>
              <a:rPr lang="en-US" altLang="zh-CN" sz="1350" i="1" dirty="0">
                <a:cs typeface="Arial" panose="020B0604020202020204" pitchFamily="34" charset="0"/>
              </a:rPr>
              <a:t>y</a:t>
            </a:r>
            <a:r>
              <a:rPr lang="en-US" altLang="zh-CN" sz="1350" dirty="0">
                <a:cs typeface="Arial" panose="020B0604020202020204" pitchFamily="34" charset="0"/>
              </a:rPr>
              <a:t> detects link-cost change, updates its DV, informs its neighbors.</a:t>
            </a:r>
          </a:p>
          <a:p>
            <a:pPr eaLnBrk="0" hangingPunct="0"/>
            <a:endParaRPr lang="en-US" altLang="zh-CN" sz="1350" dirty="0">
              <a:cs typeface="Arial" panose="020B0604020202020204" pitchFamily="34" charset="0"/>
            </a:endParaRPr>
          </a:p>
        </p:txBody>
      </p:sp>
      <p:sp>
        <p:nvSpPr>
          <p:cNvPr id="730154" name="Rectangle 42"/>
          <p:cNvSpPr>
            <a:spLocks noChangeArrowheads="1"/>
          </p:cNvSpPr>
          <p:nvPr/>
        </p:nvSpPr>
        <p:spPr bwMode="auto">
          <a:xfrm>
            <a:off x="2753256" y="3545096"/>
            <a:ext cx="4877990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i="1" dirty="0">
                <a:cs typeface="Arial" panose="020B0604020202020204" pitchFamily="34" charset="0"/>
              </a:rPr>
              <a:t>t</a:t>
            </a:r>
            <a:r>
              <a:rPr lang="en-US" altLang="zh-CN" sz="1350" i="1" baseline="-25000" dirty="0">
                <a:cs typeface="Arial" panose="020B0604020202020204" pitchFamily="34" charset="0"/>
              </a:rPr>
              <a:t>1 </a:t>
            </a:r>
            <a:r>
              <a:rPr lang="en-US" altLang="zh-CN" sz="1350" dirty="0">
                <a:cs typeface="Arial" panose="020B0604020202020204" pitchFamily="34" charset="0"/>
              </a:rPr>
              <a:t>: </a:t>
            </a:r>
            <a:r>
              <a:rPr lang="en-US" altLang="zh-CN" sz="1350" i="1" dirty="0">
                <a:cs typeface="Arial" panose="020B0604020202020204" pitchFamily="34" charset="0"/>
              </a:rPr>
              <a:t>z</a:t>
            </a:r>
            <a:r>
              <a:rPr lang="en-US" altLang="zh-CN" sz="1350" dirty="0">
                <a:cs typeface="Arial" panose="020B0604020202020204" pitchFamily="34" charset="0"/>
              </a:rPr>
              <a:t> receives update from </a:t>
            </a:r>
            <a:r>
              <a:rPr lang="en-US" altLang="zh-CN" sz="1350" i="1" dirty="0">
                <a:cs typeface="Arial" panose="020B0604020202020204" pitchFamily="34" charset="0"/>
              </a:rPr>
              <a:t>y</a:t>
            </a:r>
            <a:r>
              <a:rPr lang="en-US" altLang="zh-CN" sz="1350" dirty="0">
                <a:cs typeface="Arial" panose="020B0604020202020204" pitchFamily="34" charset="0"/>
              </a:rPr>
              <a:t>, updates its table, computes new least cost to </a:t>
            </a:r>
            <a:r>
              <a:rPr lang="en-US" altLang="zh-CN" sz="1350" i="1" dirty="0">
                <a:cs typeface="Arial" panose="020B0604020202020204" pitchFamily="34" charset="0"/>
              </a:rPr>
              <a:t>x</a:t>
            </a:r>
            <a:r>
              <a:rPr lang="en-US" altLang="zh-CN" sz="1350" dirty="0">
                <a:cs typeface="Arial" panose="020B0604020202020204" pitchFamily="34" charset="0"/>
              </a:rPr>
              <a:t> , sends its neighbors its DV.</a:t>
            </a:r>
          </a:p>
          <a:p>
            <a:pPr eaLnBrk="0" hangingPunct="0"/>
            <a:endParaRPr lang="en-US" altLang="zh-CN" sz="1350" dirty="0">
              <a:cs typeface="Arial" panose="020B0604020202020204" pitchFamily="34" charset="0"/>
            </a:endParaRPr>
          </a:p>
        </p:txBody>
      </p:sp>
      <p:sp>
        <p:nvSpPr>
          <p:cNvPr id="730155" name="Rectangle 43"/>
          <p:cNvSpPr>
            <a:spLocks noChangeArrowheads="1"/>
          </p:cNvSpPr>
          <p:nvPr/>
        </p:nvSpPr>
        <p:spPr bwMode="auto">
          <a:xfrm>
            <a:off x="2769924" y="4163030"/>
            <a:ext cx="5368528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350" i="1" dirty="0">
                <a:cs typeface="Arial" panose="020B0604020202020204" pitchFamily="34" charset="0"/>
              </a:rPr>
              <a:t>t</a:t>
            </a:r>
            <a:r>
              <a:rPr lang="en-US" altLang="zh-CN" sz="1350" i="1" baseline="-25000" dirty="0">
                <a:cs typeface="Arial" panose="020B0604020202020204" pitchFamily="34" charset="0"/>
              </a:rPr>
              <a:t>2 </a:t>
            </a:r>
            <a:r>
              <a:rPr lang="en-US" altLang="zh-CN" sz="1350" dirty="0">
                <a:cs typeface="Arial" panose="020B0604020202020204" pitchFamily="34" charset="0"/>
              </a:rPr>
              <a:t>: </a:t>
            </a:r>
            <a:r>
              <a:rPr lang="en-US" altLang="zh-CN" sz="1350" i="1" dirty="0">
                <a:cs typeface="Arial" panose="020B0604020202020204" pitchFamily="34" charset="0"/>
              </a:rPr>
              <a:t>y</a:t>
            </a:r>
            <a:r>
              <a:rPr lang="en-US" altLang="zh-CN" sz="1350" dirty="0">
                <a:cs typeface="Arial" panose="020B0604020202020204" pitchFamily="34" charset="0"/>
              </a:rPr>
              <a:t> receives </a:t>
            </a:r>
            <a:r>
              <a:rPr lang="en-US" altLang="zh-CN" sz="1350" i="1" dirty="0">
                <a:cs typeface="Arial" panose="020B0604020202020204" pitchFamily="34" charset="0"/>
              </a:rPr>
              <a:t>z</a:t>
            </a:r>
            <a:r>
              <a:rPr lang="en-US" altLang="zh-CN" sz="1350" dirty="0">
                <a:cs typeface="Arial" panose="020B0604020202020204" pitchFamily="34" charset="0"/>
              </a:rPr>
              <a:t>’s update, updates its distance table.  </a:t>
            </a:r>
            <a:r>
              <a:rPr lang="en-US" altLang="zh-CN" sz="1350" i="1" dirty="0">
                <a:cs typeface="Arial" panose="020B0604020202020204" pitchFamily="34" charset="0"/>
              </a:rPr>
              <a:t>y</a:t>
            </a:r>
            <a:r>
              <a:rPr lang="en-US" altLang="zh-CN" sz="1350" dirty="0">
                <a:cs typeface="Arial" panose="020B0604020202020204" pitchFamily="34" charset="0"/>
              </a:rPr>
              <a:t>’s least costs do </a:t>
            </a:r>
            <a:r>
              <a:rPr lang="en-US" altLang="zh-CN" sz="1350" i="1" dirty="0">
                <a:cs typeface="Arial" panose="020B0604020202020204" pitchFamily="34" charset="0"/>
              </a:rPr>
              <a:t>not</a:t>
            </a:r>
            <a:r>
              <a:rPr lang="en-US" altLang="zh-CN" sz="1350" dirty="0">
                <a:cs typeface="Arial" panose="020B0604020202020204" pitchFamily="34" charset="0"/>
              </a:rPr>
              <a:t> change, so </a:t>
            </a:r>
            <a:r>
              <a:rPr lang="en-US" altLang="zh-CN" sz="1350" i="1" dirty="0">
                <a:cs typeface="Arial" panose="020B0604020202020204" pitchFamily="34" charset="0"/>
              </a:rPr>
              <a:t>y</a:t>
            </a:r>
            <a:r>
              <a:rPr lang="en-US" altLang="zh-CN" sz="1350" dirty="0">
                <a:cs typeface="Arial" panose="020B0604020202020204" pitchFamily="34" charset="0"/>
              </a:rPr>
              <a:t>  does </a:t>
            </a:r>
            <a:r>
              <a:rPr lang="en-US" altLang="zh-CN" sz="1350" i="1" dirty="0">
                <a:cs typeface="Arial" panose="020B0604020202020204" pitchFamily="34" charset="0"/>
              </a:rPr>
              <a:t>not</a:t>
            </a:r>
            <a:r>
              <a:rPr lang="en-US" altLang="zh-CN" sz="1350" dirty="0">
                <a:cs typeface="Arial" panose="020B0604020202020204" pitchFamily="34" charset="0"/>
              </a:rPr>
              <a:t> send a message to </a:t>
            </a:r>
            <a:r>
              <a:rPr lang="en-US" altLang="zh-CN" sz="1350" i="1" dirty="0">
                <a:cs typeface="Arial" panose="020B0604020202020204" pitchFamily="34" charset="0"/>
              </a:rPr>
              <a:t>z</a:t>
            </a:r>
            <a:r>
              <a:rPr lang="en-US" altLang="zh-CN" sz="1350" dirty="0">
                <a:cs typeface="Arial" panose="020B0604020202020204" pitchFamily="34" charset="0"/>
              </a:rPr>
              <a:t>. </a:t>
            </a:r>
          </a:p>
          <a:p>
            <a:pPr eaLnBrk="0" hangingPunct="0"/>
            <a:endParaRPr lang="en-US" altLang="zh-CN" sz="1350" dirty="0">
              <a:cs typeface="Arial" panose="020B0604020202020204" pitchFamily="34" charset="0"/>
            </a:endParaRPr>
          </a:p>
        </p:txBody>
      </p:sp>
      <p:sp>
        <p:nvSpPr>
          <p:cNvPr id="46" name="灯片编号占位符 2">
            <a:extLst>
              <a:ext uri="{FF2B5EF4-FFF2-40B4-BE49-F238E27FC236}">
                <a16:creationId xmlns:a16="http://schemas.microsoft.com/office/drawing/2014/main" id="{B6CCA7B8-2BB0-45BB-B9AC-DCFC06F760E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97966CBD-26B3-4BED-AA23-ABAFCF237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33085"/>
      </p:ext>
    </p:extLst>
  </p:cSld>
  <p:clrMapOvr>
    <a:masterClrMapping/>
  </p:clrMapOvr>
  <p:transition>
    <p:cut thruBlk="1"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53" grpId="0"/>
      <p:bldP spid="730154" grpId="0"/>
      <p:bldP spid="730155" grpId="0"/>
      <p:bldP spid="47" grpId="0" animBg="1"/>
      <p:bldP spid="47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  <a:endParaRPr lang="en-US" altLang="zh-CN" dirty="0"/>
          </a:p>
        </p:txBody>
      </p:sp>
      <p:sp>
        <p:nvSpPr>
          <p:cNvPr id="397315" name="Rectangle 2"/>
          <p:cNvSpPr>
            <a:spLocks noChangeArrowheads="1"/>
          </p:cNvSpPr>
          <p:nvPr/>
        </p:nvSpPr>
        <p:spPr bwMode="auto">
          <a:xfrm>
            <a:off x="337810" y="853678"/>
            <a:ext cx="5347097" cy="35004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Char char="•"/>
            </a:pPr>
            <a:r>
              <a:rPr lang="en-US" altLang="zh-CN" sz="1800" b="1" dirty="0">
                <a:solidFill>
                  <a:srgbClr val="C00000"/>
                </a:solidFill>
                <a:effectLst/>
                <a:ea typeface="宋体" panose="02010600030101010101" pitchFamily="2" charset="-122"/>
              </a:rPr>
              <a:t>Distance Vector: link cost changes</a:t>
            </a:r>
          </a:p>
        </p:txBody>
      </p:sp>
      <p:sp>
        <p:nvSpPr>
          <p:cNvPr id="397318" name="Rectangle 3"/>
          <p:cNvSpPr>
            <a:spLocks noChangeArrowheads="1"/>
          </p:cNvSpPr>
          <p:nvPr/>
        </p:nvSpPr>
        <p:spPr bwMode="auto">
          <a:xfrm>
            <a:off x="1093590" y="1200150"/>
            <a:ext cx="3628430" cy="377666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链路状态改变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:</a:t>
            </a:r>
            <a:endParaRPr lang="en-US" altLang="zh-CN" sz="1500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500" dirty="0">
                <a:cs typeface="Arial" panose="020B0604020202020204" pitchFamily="34" charset="0"/>
              </a:rPr>
              <a:t>good news travels fast 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500" dirty="0">
                <a:cs typeface="Arial" panose="020B0604020202020204" pitchFamily="34" charset="0"/>
              </a:rPr>
              <a:t>bad news travels slow - “count to infinity” problem!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500" dirty="0">
                <a:cs typeface="Arial" panose="020B0604020202020204" pitchFamily="34" charset="0"/>
              </a:rPr>
              <a:t>44 iterations before algorithm stabilizes: see text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增加毒性逆转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:</a:t>
            </a:r>
            <a:r>
              <a:rPr lang="en-US" altLang="zh-CN" sz="15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500" dirty="0">
                <a:cs typeface="Arial" panose="020B0604020202020204" pitchFamily="34" charset="0"/>
              </a:rPr>
              <a:t>If Z routes through Y to get to X :</a:t>
            </a:r>
          </a:p>
          <a:p>
            <a:pPr lvl="1"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1350" dirty="0">
                <a:cs typeface="Arial" panose="020B0604020202020204" pitchFamily="34" charset="0"/>
              </a:rPr>
              <a:t>Z tells Y its (Z’s) distance to X is infinite (so Y won’t route to X via Z)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1500" dirty="0">
                <a:cs typeface="Arial" panose="020B0604020202020204" pitchFamily="34" charset="0"/>
              </a:rPr>
              <a:t>will this completely solve count to infinity problem?</a:t>
            </a:r>
          </a:p>
        </p:txBody>
      </p:sp>
      <p:grpSp>
        <p:nvGrpSpPr>
          <p:cNvPr id="397319" name="Group 4"/>
          <p:cNvGrpSpPr>
            <a:grpSpLocks/>
          </p:cNvGrpSpPr>
          <p:nvPr/>
        </p:nvGrpSpPr>
        <p:grpSpPr bwMode="auto">
          <a:xfrm>
            <a:off x="5185172" y="1200150"/>
            <a:ext cx="1638300" cy="992982"/>
            <a:chOff x="3805" y="938"/>
            <a:chExt cx="1376" cy="834"/>
          </a:xfrm>
        </p:grpSpPr>
        <p:sp>
          <p:nvSpPr>
            <p:cNvPr id="397320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7321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7322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97323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7324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7325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endParaRPr lang="zh-CN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97326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397327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7328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397329" name="Group 14"/>
            <p:cNvGrpSpPr>
              <a:grpSpLocks/>
            </p:cNvGrpSpPr>
            <p:nvPr/>
          </p:nvGrpSpPr>
          <p:grpSpPr bwMode="auto">
            <a:xfrm>
              <a:off x="3925" y="1388"/>
              <a:ext cx="251" cy="271"/>
              <a:chOff x="2930" y="2429"/>
              <a:chExt cx="255" cy="271"/>
            </a:xfrm>
          </p:grpSpPr>
          <p:sp>
            <p:nvSpPr>
              <p:cNvPr id="397330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331" name="Text Box 16"/>
              <p:cNvSpPr txBox="1">
                <a:spLocks noChangeArrowheads="1"/>
              </p:cNvSpPr>
              <p:nvPr/>
            </p:nvSpPr>
            <p:spPr bwMode="auto">
              <a:xfrm>
                <a:off x="2930" y="2429"/>
                <a:ext cx="25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lang="en-US" altLang="zh-CN" sz="1500">
                    <a:latin typeface="Comic Sans MS" panose="030F0702030302020204" pitchFamily="66" charset="0"/>
                    <a:cs typeface="Arial" panose="020B0604020202020204" pitchFamily="34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7332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71"/>
              <a:chOff x="1740" y="2306"/>
              <a:chExt cx="316" cy="271"/>
            </a:xfrm>
          </p:grpSpPr>
          <p:sp>
            <p:nvSpPr>
              <p:cNvPr id="397333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334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7335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7336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337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97338" name="Group 23"/>
              <p:cNvGrpSpPr>
                <a:grpSpLocks/>
              </p:cNvGrpSpPr>
              <p:nvPr/>
            </p:nvGrpSpPr>
            <p:grpSpPr bwMode="auto">
              <a:xfrm>
                <a:off x="1775" y="2306"/>
                <a:ext cx="243" cy="271"/>
                <a:chOff x="2934" y="2429"/>
                <a:chExt cx="247" cy="271"/>
              </a:xfrm>
            </p:grpSpPr>
            <p:sp>
              <p:nvSpPr>
                <p:cNvPr id="397339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734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34" y="2429"/>
                  <a:ext cx="24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>
                      <a:latin typeface="Comic Sans MS" panose="030F0702030302020204" pitchFamily="66" charset="0"/>
                      <a:cs typeface="Arial" panose="020B0604020202020204" pitchFamily="34" charset="0"/>
                    </a:rPr>
                    <a:t>z</a:t>
                  </a:r>
                  <a:endParaRPr lang="en-US" altLang="zh-CN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97341" name="Text Box 26"/>
            <p:cNvSpPr txBox="1">
              <a:spLocks noChangeArrowheads="1"/>
            </p:cNvSpPr>
            <p:nvPr/>
          </p:nvSpPr>
          <p:spPr bwMode="auto">
            <a:xfrm>
              <a:off x="4629" y="1190"/>
              <a:ext cx="2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1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97342" name="Text Box 27"/>
            <p:cNvSpPr txBox="1">
              <a:spLocks noChangeArrowheads="1"/>
            </p:cNvSpPr>
            <p:nvPr/>
          </p:nvSpPr>
          <p:spPr bwMode="auto">
            <a:xfrm>
              <a:off x="4091" y="1187"/>
              <a:ext cx="2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4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97343" name="Text Box 28"/>
            <p:cNvSpPr txBox="1">
              <a:spLocks noChangeArrowheads="1"/>
            </p:cNvSpPr>
            <p:nvPr/>
          </p:nvSpPr>
          <p:spPr bwMode="auto">
            <a:xfrm>
              <a:off x="4331" y="1520"/>
              <a:ext cx="3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latin typeface="Comic Sans MS" panose="030F0702030302020204" pitchFamily="66" charset="0"/>
                  <a:cs typeface="Arial" panose="020B0604020202020204" pitchFamily="34" charset="0"/>
                </a:rPr>
                <a:t>50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97344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71"/>
              <a:chOff x="1740" y="2306"/>
              <a:chExt cx="316" cy="271"/>
            </a:xfrm>
          </p:grpSpPr>
          <p:sp>
            <p:nvSpPr>
              <p:cNvPr id="397345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346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7347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97348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349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97350" name="Group 35"/>
              <p:cNvGrpSpPr>
                <a:grpSpLocks/>
              </p:cNvGrpSpPr>
              <p:nvPr/>
            </p:nvGrpSpPr>
            <p:grpSpPr bwMode="auto">
              <a:xfrm>
                <a:off x="1778" y="2306"/>
                <a:ext cx="239" cy="271"/>
                <a:chOff x="2937" y="2429"/>
                <a:chExt cx="243" cy="271"/>
              </a:xfrm>
            </p:grpSpPr>
            <p:sp>
              <p:nvSpPr>
                <p:cNvPr id="397351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endParaRPr lang="zh-CN" altLang="zh-CN" sz="1350">
                    <a:latin typeface="Comic Sans MS" panose="030F0702030302020204" pitchFamily="66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7352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37" y="2429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0" hangingPunct="0"/>
                  <a:r>
                    <a:rPr lang="en-US" altLang="zh-CN" sz="1500" dirty="0">
                      <a:latin typeface="Comic Sans MS" panose="030F0702030302020204" pitchFamily="66" charset="0"/>
                      <a:cs typeface="Arial" panose="020B0604020202020204" pitchFamily="34" charset="0"/>
                    </a:rPr>
                    <a:t>y</a:t>
                  </a:r>
                  <a:endParaRPr lang="en-US" altLang="zh-CN" dirty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97353" name="Text Box 38"/>
            <p:cNvSpPr txBox="1">
              <a:spLocks noChangeArrowheads="1"/>
            </p:cNvSpPr>
            <p:nvPr/>
          </p:nvSpPr>
          <p:spPr bwMode="auto">
            <a:xfrm>
              <a:off x="3944" y="938"/>
              <a:ext cx="3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60</a:t>
              </a:r>
              <a:endParaRPr lang="en-US" altLang="zh-CN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97354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1" name="灯片编号占位符 2">
            <a:extLst>
              <a:ext uri="{FF2B5EF4-FFF2-40B4-BE49-F238E27FC236}">
                <a16:creationId xmlns:a16="http://schemas.microsoft.com/office/drawing/2014/main" id="{0006380E-1ECC-405C-9425-153A316871A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46</a:t>
            </a:fld>
            <a:endParaRPr lang="en-US" altLang="zh-CN" dirty="0"/>
          </a:p>
        </p:txBody>
      </p:sp>
      <p:sp>
        <p:nvSpPr>
          <p:cNvPr id="42" name="AutoShape 5">
            <a:extLst>
              <a:ext uri="{FF2B5EF4-FFF2-40B4-BE49-F238E27FC236}">
                <a16:creationId xmlns:a16="http://schemas.microsoft.com/office/drawing/2014/main" id="{600CA520-61A7-4E2B-9A5E-1159B2C5E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213212"/>
      </p:ext>
    </p:extLst>
  </p:cSld>
  <p:clrMapOvr>
    <a:masterClrMapping/>
  </p:clrMapOvr>
  <p:transition>
    <p:cut thruBlk="1"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4.4 </a:t>
            </a:r>
            <a:r>
              <a:rPr lang="zh-CN" altLang="en-US" dirty="0"/>
              <a:t>路由选择算法</a:t>
            </a:r>
            <a:endParaRPr lang="en-US" altLang="zh-CN" dirty="0"/>
          </a:p>
        </p:txBody>
      </p:sp>
      <p:sp>
        <p:nvSpPr>
          <p:cNvPr id="398339" name="Rectangle 2"/>
          <p:cNvSpPr>
            <a:spLocks noChangeArrowheads="1"/>
          </p:cNvSpPr>
          <p:nvPr/>
        </p:nvSpPr>
        <p:spPr bwMode="auto">
          <a:xfrm>
            <a:off x="755576" y="1059582"/>
            <a:ext cx="6240007" cy="35004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indent="358775"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indent="358775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Char char="•"/>
            </a:pPr>
            <a:r>
              <a:rPr lang="en-US" altLang="zh-CN" sz="1800" b="1" dirty="0">
                <a:effectLst/>
                <a:ea typeface="宋体" panose="02010600030101010101" pitchFamily="2" charset="-122"/>
              </a:rPr>
              <a:t>LS </a:t>
            </a:r>
            <a:r>
              <a:rPr lang="en-US" altLang="zh-CN" sz="1800" b="1" dirty="0" err="1">
                <a:effectLst/>
                <a:ea typeface="宋体" panose="02010600030101010101" pitchFamily="2" charset="-122"/>
              </a:rPr>
              <a:t>v.s</a:t>
            </a:r>
            <a:r>
              <a:rPr lang="en-US" altLang="zh-CN" sz="1800" b="1" dirty="0">
                <a:effectLst/>
                <a:ea typeface="宋体" panose="02010600030101010101" pitchFamily="2" charset="-122"/>
              </a:rPr>
              <a:t>. DV</a:t>
            </a:r>
          </a:p>
        </p:txBody>
      </p:sp>
      <p:sp>
        <p:nvSpPr>
          <p:cNvPr id="398340" name="Rectangle 3"/>
          <p:cNvSpPr>
            <a:spLocks noChangeArrowheads="1"/>
          </p:cNvSpPr>
          <p:nvPr/>
        </p:nvSpPr>
        <p:spPr bwMode="auto">
          <a:xfrm>
            <a:off x="872257" y="1541785"/>
            <a:ext cx="3526416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报文复杂性：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LS: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G(N, E), </a:t>
            </a:r>
            <a:r>
              <a:rPr lang="zh-CN" altLang="en-US" sz="14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需发送</a:t>
            </a:r>
            <a:r>
              <a:rPr lang="en-US" altLang="zh-CN" sz="14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O(NE)</a:t>
            </a:r>
            <a:r>
              <a:rPr lang="zh-CN" altLang="en-US" sz="14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个报文</a:t>
            </a:r>
            <a:r>
              <a:rPr lang="en-US" altLang="zh-CN" sz="14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en-US" altLang="zh-CN" sz="14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DV:</a:t>
            </a:r>
            <a:r>
              <a:rPr lang="en-US" altLang="zh-CN" sz="1400" u="sng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只需邻居之间交互报文</a:t>
            </a:r>
            <a:endParaRPr lang="en-US" altLang="zh-CN" sz="1400" dirty="0">
              <a:solidFill>
                <a:srgbClr val="0066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收敛速度：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LS: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O(N</a:t>
            </a:r>
            <a:r>
              <a:rPr lang="en-US" altLang="zh-CN" sz="1400" b="1" baseline="30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/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may have oscillations(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振荡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4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DV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收敛速度不均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路由环路问题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无穷计数问题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8341" name="Rectangle 4"/>
          <p:cNvSpPr>
            <a:spLocks noChangeArrowheads="1"/>
          </p:cNvSpPr>
          <p:nvPr/>
        </p:nvSpPr>
        <p:spPr bwMode="auto">
          <a:xfrm>
            <a:off x="4211960" y="1541785"/>
            <a:ext cx="4059783" cy="348615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健壮性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单个路由器故障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>
              <a:buFontTx/>
              <a:buNone/>
            </a:pPr>
            <a:r>
              <a:rPr lang="en-US" altLang="zh-CN" sz="16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LS: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/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结点广播变化的链路费用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每个结点独立创建自己的转发表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6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DV: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费用变化，逐层告知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错误传播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error propagate thru network</a:t>
            </a: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7CDA2F8-AD77-4F07-9010-85B84EAC18C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8212A68B-8C50-4E0C-B033-89B29154A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121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3456384" cy="432000"/>
          </a:xfrm>
        </p:spPr>
        <p:txBody>
          <a:bodyPr>
            <a:noAutofit/>
          </a:bodyPr>
          <a:lstStyle/>
          <a:p>
            <a:r>
              <a:rPr lang="en-US" altLang="zh-CN" sz="2200" dirty="0"/>
              <a:t>4.4 </a:t>
            </a:r>
            <a:r>
              <a:rPr lang="zh-CN" altLang="en-US" sz="2200" dirty="0"/>
              <a:t>路由选择算法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91880" y="3028732"/>
            <a:ext cx="4032448" cy="432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4.5 </a:t>
            </a:r>
            <a:r>
              <a:rPr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因特网中的路由选择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自学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  <a:endParaRPr lang="zh-CN" alt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B25C7ED1-C6EE-4312-9B72-226D3FD5183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161B265-85AE-4483-AC8F-149051C5D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3EDFBF5-CA3C-4120-9659-63A68ACB1C2E}"/>
              </a:ext>
            </a:extLst>
          </p:cNvPr>
          <p:cNvSpPr txBox="1">
            <a:spLocks/>
          </p:cNvSpPr>
          <p:nvPr/>
        </p:nvSpPr>
        <p:spPr>
          <a:xfrm>
            <a:off x="3491880" y="3758592"/>
            <a:ext cx="3456384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>
                <a:solidFill>
                  <a:srgbClr val="FF3300"/>
                </a:solidFill>
              </a:rPr>
              <a:t>4.6 </a:t>
            </a:r>
            <a:r>
              <a:rPr lang="zh-CN" altLang="en-US" sz="2200" dirty="0">
                <a:solidFill>
                  <a:srgbClr val="FF3300"/>
                </a:solidFill>
              </a:rPr>
              <a:t>网络层复习总结</a:t>
            </a:r>
          </a:p>
        </p:txBody>
      </p:sp>
    </p:spTree>
    <p:extLst>
      <p:ext uri="{BB962C8B-B14F-4D97-AF65-F5344CB8AC3E}">
        <p14:creationId xmlns:p14="http://schemas.microsoft.com/office/powerpoint/2010/main" val="1637951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1</a:t>
            </a:r>
            <a:r>
              <a:rPr lang="zh-CN" altLang="en-US" sz="2200" dirty="0">
                <a:effectLst/>
              </a:rPr>
              <a:t>：网络层服务和协议</a:t>
            </a:r>
            <a:endParaRPr lang="en-US" altLang="zh-CN" sz="22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sz="1900" dirty="0">
                <a:effectLst/>
              </a:rPr>
              <a:t>提供</a:t>
            </a:r>
            <a:r>
              <a:rPr lang="zh-CN" altLang="en-US" sz="1900" dirty="0">
                <a:solidFill>
                  <a:srgbClr val="FF0000"/>
                </a:solidFill>
                <a:effectLst/>
              </a:rPr>
              <a:t>主机之间</a:t>
            </a:r>
            <a:r>
              <a:rPr lang="zh-CN" altLang="en-US" sz="1900" dirty="0">
                <a:effectLst/>
              </a:rPr>
              <a:t>的逻辑通信</a:t>
            </a:r>
            <a:endParaRPr lang="en-US" altLang="zh-CN" sz="19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zh-CN" altLang="en-US" sz="1900" dirty="0">
                <a:effectLst/>
              </a:rPr>
              <a:t>在</a:t>
            </a:r>
            <a:r>
              <a:rPr lang="zh-CN" altLang="en-US" sz="1900" dirty="0">
                <a:solidFill>
                  <a:srgbClr val="FF3300"/>
                </a:solidFill>
                <a:effectLst/>
              </a:rPr>
              <a:t>端系统</a:t>
            </a:r>
            <a:r>
              <a:rPr lang="zh-CN" altLang="en-US" sz="1900" dirty="0">
                <a:effectLst/>
              </a:rPr>
              <a:t>中</a:t>
            </a:r>
            <a:endParaRPr lang="en-US" altLang="zh-CN" sz="1900" dirty="0"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/>
              <a:t>发送方：</a:t>
            </a:r>
            <a:r>
              <a:rPr lang="zh-CN" altLang="en-US" sz="1500" dirty="0"/>
              <a:t>将报文段封装成</a:t>
            </a:r>
            <a:r>
              <a:rPr lang="zh-CN" altLang="en-US" sz="1500" dirty="0">
                <a:solidFill>
                  <a:srgbClr val="FF0000"/>
                </a:solidFill>
              </a:rPr>
              <a:t>数据报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提交给数据链路层</a:t>
            </a:r>
            <a:endParaRPr lang="en-US" altLang="zh-CN" sz="1500" dirty="0"/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effectLst/>
              </a:rPr>
              <a:t>接收方：</a:t>
            </a:r>
            <a:r>
              <a:rPr lang="zh-CN" altLang="en-US" sz="1500" dirty="0">
                <a:effectLst/>
              </a:rPr>
              <a:t>将数据报解析成报文</a:t>
            </a:r>
            <a:r>
              <a:rPr lang="zh-CN" altLang="en-US" sz="1500" dirty="0"/>
              <a:t>段</a:t>
            </a:r>
            <a:endParaRPr lang="en-US" altLang="zh-CN" sz="1500" dirty="0">
              <a:effectLst/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提交给运输层</a:t>
            </a:r>
            <a:endParaRPr lang="en-US" altLang="zh-CN" sz="1500" dirty="0"/>
          </a:p>
          <a:p>
            <a:pPr lvl="1">
              <a:lnSpc>
                <a:spcPct val="110000"/>
              </a:lnSpc>
            </a:pPr>
            <a:r>
              <a:rPr lang="zh-CN" altLang="en-US" dirty="0">
                <a:effectLst/>
              </a:rPr>
              <a:t>在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网络核心节点</a:t>
            </a:r>
            <a:r>
              <a:rPr lang="zh-CN" altLang="en-US" dirty="0">
                <a:effectLst/>
              </a:rPr>
              <a:t>中</a:t>
            </a:r>
            <a:endParaRPr lang="en-US" altLang="zh-CN" dirty="0">
              <a:effectLst/>
            </a:endParaRPr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solidFill>
                  <a:srgbClr val="FF3300"/>
                </a:solidFill>
              </a:rPr>
              <a:t>路由器</a:t>
            </a:r>
            <a:endParaRPr lang="en-US" altLang="zh-CN" sz="1700" dirty="0">
              <a:solidFill>
                <a:srgbClr val="FF33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500" dirty="0"/>
              <a:t>转发数据报</a:t>
            </a:r>
            <a:endParaRPr lang="en-US" altLang="zh-CN" sz="1500" dirty="0"/>
          </a:p>
          <a:p>
            <a:pPr lvl="3">
              <a:lnSpc>
                <a:spcPct val="110000"/>
              </a:lnSpc>
            </a:pPr>
            <a:r>
              <a:rPr lang="zh-CN" altLang="en-US" sz="1500" dirty="0">
                <a:effectLst/>
              </a:rPr>
              <a:t>交付到目的主机</a:t>
            </a:r>
            <a:endParaRPr lang="en-US" altLang="zh-CN" sz="1500" dirty="0">
              <a:effectLst/>
            </a:endParaRPr>
          </a:p>
          <a:p>
            <a:pPr lvl="1"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1036" name="Freeform 1285"/>
          <p:cNvSpPr>
            <a:spLocks/>
          </p:cNvSpPr>
          <p:nvPr/>
        </p:nvSpPr>
        <p:spPr bwMode="auto">
          <a:xfrm>
            <a:off x="6123719" y="2980680"/>
            <a:ext cx="985838" cy="506015"/>
          </a:xfrm>
          <a:custGeom>
            <a:avLst/>
            <a:gdLst>
              <a:gd name="T0" fmla="*/ 962699688 w 828"/>
              <a:gd name="T1" fmla="*/ 75604631 h 425"/>
              <a:gd name="T2" fmla="*/ 932457813 w 828"/>
              <a:gd name="T3" fmla="*/ 75604631 h 425"/>
              <a:gd name="T4" fmla="*/ 317539688 w 828"/>
              <a:gd name="T5" fmla="*/ 80644940 h 425"/>
              <a:gd name="T6" fmla="*/ 15120938 w 828"/>
              <a:gd name="T7" fmla="*/ 317539452 h 425"/>
              <a:gd name="T8" fmla="*/ 231854375 w 828"/>
              <a:gd name="T9" fmla="*/ 690522301 h 425"/>
              <a:gd name="T10" fmla="*/ 735885625 w 828"/>
              <a:gd name="T11" fmla="*/ 967739283 h 425"/>
              <a:gd name="T12" fmla="*/ 1360884375 w 828"/>
              <a:gd name="T13" fmla="*/ 1048384223 h 425"/>
              <a:gd name="T14" fmla="*/ 1759069063 w 828"/>
              <a:gd name="T15" fmla="*/ 831650946 h 425"/>
              <a:gd name="T16" fmla="*/ 1955641250 w 828"/>
              <a:gd name="T17" fmla="*/ 428426245 h 425"/>
              <a:gd name="T18" fmla="*/ 1995963750 w 828"/>
              <a:gd name="T19" fmla="*/ 55443396 h 425"/>
              <a:gd name="T20" fmla="*/ 1411287500 w 828"/>
              <a:gd name="T21" fmla="*/ 95765867 h 425"/>
              <a:gd name="T22" fmla="*/ 962699688 w 828"/>
              <a:gd name="T23" fmla="*/ 75604631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7" name="Freeform 1286"/>
          <p:cNvSpPr>
            <a:spLocks/>
          </p:cNvSpPr>
          <p:nvPr/>
        </p:nvSpPr>
        <p:spPr bwMode="auto">
          <a:xfrm>
            <a:off x="6138007" y="1836489"/>
            <a:ext cx="1297781" cy="844154"/>
          </a:xfrm>
          <a:custGeom>
            <a:avLst/>
            <a:gdLst>
              <a:gd name="T0" fmla="*/ 2147483647 w 765"/>
              <a:gd name="T1" fmla="*/ 216468667 h 459"/>
              <a:gd name="T2" fmla="*/ 2147483647 w 765"/>
              <a:gd name="T3" fmla="*/ 1551366543 h 459"/>
              <a:gd name="T4" fmla="*/ 1422336583 w 765"/>
              <a:gd name="T5" fmla="*/ 2147483647 h 459"/>
              <a:gd name="T6" fmla="*/ 204652469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763656690 h 459"/>
              <a:gd name="T22" fmla="*/ 2147483647 w 765"/>
              <a:gd name="T23" fmla="*/ 21646866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8" name="Freeform 1287"/>
          <p:cNvSpPr>
            <a:spLocks/>
          </p:cNvSpPr>
          <p:nvPr/>
        </p:nvSpPr>
        <p:spPr bwMode="auto">
          <a:xfrm>
            <a:off x="4772360" y="1617414"/>
            <a:ext cx="1302544" cy="803672"/>
          </a:xfrm>
          <a:custGeom>
            <a:avLst/>
            <a:gdLst>
              <a:gd name="T0" fmla="*/ 2141398689 w 1036"/>
              <a:gd name="T1" fmla="*/ 27720938 h 675"/>
              <a:gd name="T2" fmla="*/ 1289897173 w 1036"/>
              <a:gd name="T3" fmla="*/ 133567550 h 675"/>
              <a:gd name="T4" fmla="*/ 682886640 w 1036"/>
              <a:gd name="T5" fmla="*/ 325099514 h 675"/>
              <a:gd name="T6" fmla="*/ 505842949 w 1036"/>
              <a:gd name="T7" fmla="*/ 577115257 h 675"/>
              <a:gd name="T8" fmla="*/ 70255220 w 1036"/>
              <a:gd name="T9" fmla="*/ 748485962 h 675"/>
              <a:gd name="T10" fmla="*/ 59015122 w 1036"/>
              <a:gd name="T11" fmla="*/ 1156751465 h 675"/>
              <a:gd name="T12" fmla="*/ 435586053 w 1036"/>
              <a:gd name="T13" fmla="*/ 1232356188 h 675"/>
              <a:gd name="T14" fmla="*/ 1517527171 w 1036"/>
              <a:gd name="T15" fmla="*/ 1232356188 h 675"/>
              <a:gd name="T16" fmla="*/ 1975595095 w 1036"/>
              <a:gd name="T17" fmla="*/ 1398686578 h 675"/>
              <a:gd name="T18" fmla="*/ 2147483647 w 1036"/>
              <a:gd name="T19" fmla="*/ 1655742635 h 675"/>
              <a:gd name="T20" fmla="*/ 2147483647 w 1036"/>
              <a:gd name="T21" fmla="*/ 1665823265 h 675"/>
              <a:gd name="T22" fmla="*/ 2147483647 w 1036"/>
              <a:gd name="T23" fmla="*/ 1519654134 h 675"/>
              <a:gd name="T24" fmla="*/ 2147483647 w 1036"/>
              <a:gd name="T25" fmla="*/ 1121469261 h 675"/>
              <a:gd name="T26" fmla="*/ 2147483647 w 1036"/>
              <a:gd name="T27" fmla="*/ 733365017 h 675"/>
              <a:gd name="T28" fmla="*/ 2147483647 w 1036"/>
              <a:gd name="T29" fmla="*/ 269656051 h 675"/>
              <a:gd name="T30" fmla="*/ 2147483647 w 1036"/>
              <a:gd name="T31" fmla="*/ 42841882 h 675"/>
              <a:gd name="T32" fmla="*/ 2147483647 w 1036"/>
              <a:gd name="T33" fmla="*/ 7559679 h 675"/>
              <a:gd name="T34" fmla="*/ 2141398689 w 1036"/>
              <a:gd name="T35" fmla="*/ 27720938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39" name="Group 1288"/>
          <p:cNvGrpSpPr>
            <a:grpSpLocks/>
          </p:cNvGrpSpPr>
          <p:nvPr/>
        </p:nvGrpSpPr>
        <p:grpSpPr bwMode="auto">
          <a:xfrm>
            <a:off x="4829510" y="2566342"/>
            <a:ext cx="1094185" cy="700088"/>
            <a:chOff x="2889" y="1631"/>
            <a:chExt cx="980" cy="743"/>
          </a:xfrm>
        </p:grpSpPr>
        <p:sp>
          <p:nvSpPr>
            <p:cNvPr id="1040" name="Rectangle 128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041" name="AutoShape 129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solidFill>
                  <a:srgbClr val="00CCFF"/>
                </a:solidFill>
              </a:endParaRPr>
            </a:p>
          </p:txBody>
        </p:sp>
      </p:grpSp>
      <p:sp>
        <p:nvSpPr>
          <p:cNvPr id="1042" name="Line 1291"/>
          <p:cNvSpPr>
            <a:spLocks noChangeShapeType="1"/>
          </p:cNvSpPr>
          <p:nvPr/>
        </p:nvSpPr>
        <p:spPr bwMode="auto">
          <a:xfrm>
            <a:off x="6417804" y="3194992"/>
            <a:ext cx="122635" cy="90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3" name="Line 1292"/>
          <p:cNvSpPr>
            <a:spLocks noChangeShapeType="1"/>
          </p:cNvSpPr>
          <p:nvPr/>
        </p:nvSpPr>
        <p:spPr bwMode="auto">
          <a:xfrm>
            <a:off x="6490432" y="3135461"/>
            <a:ext cx="209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4" name="Line 1293"/>
          <p:cNvSpPr>
            <a:spLocks noChangeShapeType="1"/>
          </p:cNvSpPr>
          <p:nvPr/>
        </p:nvSpPr>
        <p:spPr bwMode="auto">
          <a:xfrm flipV="1">
            <a:off x="6667834" y="3199755"/>
            <a:ext cx="101204" cy="785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5" name="Line 1294"/>
          <p:cNvSpPr>
            <a:spLocks noChangeShapeType="1"/>
          </p:cNvSpPr>
          <p:nvPr/>
        </p:nvSpPr>
        <p:spPr bwMode="auto">
          <a:xfrm>
            <a:off x="5691522" y="3140224"/>
            <a:ext cx="50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6" name="Line 1295"/>
          <p:cNvSpPr>
            <a:spLocks noChangeShapeType="1"/>
          </p:cNvSpPr>
          <p:nvPr/>
        </p:nvSpPr>
        <p:spPr bwMode="auto">
          <a:xfrm>
            <a:off x="5912978" y="2275830"/>
            <a:ext cx="382191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7" name="Line 1296"/>
          <p:cNvSpPr>
            <a:spLocks noChangeShapeType="1"/>
          </p:cNvSpPr>
          <p:nvPr/>
        </p:nvSpPr>
        <p:spPr bwMode="auto">
          <a:xfrm>
            <a:off x="5587938" y="2137717"/>
            <a:ext cx="114300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48" name="Freeform 1297"/>
          <p:cNvSpPr>
            <a:spLocks/>
          </p:cNvSpPr>
          <p:nvPr/>
        </p:nvSpPr>
        <p:spPr bwMode="auto">
          <a:xfrm>
            <a:off x="4993816" y="3618855"/>
            <a:ext cx="2309813" cy="1248965"/>
          </a:xfrm>
          <a:custGeom>
            <a:avLst/>
            <a:gdLst>
              <a:gd name="T0" fmla="*/ 2147483647 w 1940"/>
              <a:gd name="T1" fmla="*/ 65524043 h 1049"/>
              <a:gd name="T2" fmla="*/ 1902718763 w 1940"/>
              <a:gd name="T3" fmla="*/ 315018643 h 1049"/>
              <a:gd name="T4" fmla="*/ 1229836250 w 1940"/>
              <a:gd name="T5" fmla="*/ 171370574 h 1049"/>
              <a:gd name="T6" fmla="*/ 398184688 w 1940"/>
              <a:gd name="T7" fmla="*/ 254534911 h 1049"/>
              <a:gd name="T8" fmla="*/ 35282188 w 1940"/>
              <a:gd name="T9" fmla="*/ 980339693 h 1049"/>
              <a:gd name="T10" fmla="*/ 178931888 w 1940"/>
              <a:gd name="T11" fmla="*/ 1633060760 h 1049"/>
              <a:gd name="T12" fmla="*/ 725805000 w 1940"/>
              <a:gd name="T13" fmla="*/ 1779229778 h 1049"/>
              <a:gd name="T14" fmla="*/ 1431448750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1799391022 h 1049"/>
              <a:gd name="T24" fmla="*/ 2147483647 w 1940"/>
              <a:gd name="T25" fmla="*/ 632558235 h 1049"/>
              <a:gd name="T26" fmla="*/ 2147483647 w 1940"/>
              <a:gd name="T27" fmla="*/ 287297726 h 1049"/>
              <a:gd name="T28" fmla="*/ 2147483647 w 1940"/>
              <a:gd name="T29" fmla="*/ 37801539 h 1049"/>
              <a:gd name="T30" fmla="*/ 2147483647 w 1940"/>
              <a:gd name="T31" fmla="*/ 65524043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49" name="Line 1298"/>
          <p:cNvSpPr>
            <a:spLocks noChangeShapeType="1"/>
          </p:cNvSpPr>
          <p:nvPr/>
        </p:nvSpPr>
        <p:spPr bwMode="auto">
          <a:xfrm rot="16200000" flipV="1">
            <a:off x="6718436" y="4273103"/>
            <a:ext cx="355997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0" name="Line 1299"/>
          <p:cNvSpPr>
            <a:spLocks noChangeShapeType="1"/>
          </p:cNvSpPr>
          <p:nvPr/>
        </p:nvSpPr>
        <p:spPr bwMode="auto">
          <a:xfrm rot="5400000" flipV="1">
            <a:off x="6864289" y="4415383"/>
            <a:ext cx="2381" cy="64294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1" name="Line 1300"/>
          <p:cNvSpPr>
            <a:spLocks noChangeShapeType="1"/>
          </p:cNvSpPr>
          <p:nvPr/>
        </p:nvSpPr>
        <p:spPr bwMode="auto">
          <a:xfrm rot="16200000" flipH="1">
            <a:off x="6945250" y="4114155"/>
            <a:ext cx="145256" cy="5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2" name="Line 1301"/>
          <p:cNvSpPr>
            <a:spLocks noChangeShapeType="1"/>
          </p:cNvSpPr>
          <p:nvPr/>
        </p:nvSpPr>
        <p:spPr bwMode="auto">
          <a:xfrm>
            <a:off x="6389229" y="3858170"/>
            <a:ext cx="292894" cy="138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3" name="Line 1302"/>
          <p:cNvSpPr>
            <a:spLocks noChangeShapeType="1"/>
          </p:cNvSpPr>
          <p:nvPr/>
        </p:nvSpPr>
        <p:spPr bwMode="auto">
          <a:xfrm flipV="1">
            <a:off x="5923694" y="3848645"/>
            <a:ext cx="241697" cy="1488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4" name="Line 1303"/>
          <p:cNvSpPr>
            <a:spLocks noChangeShapeType="1"/>
          </p:cNvSpPr>
          <p:nvPr/>
        </p:nvSpPr>
        <p:spPr bwMode="auto">
          <a:xfrm flipV="1">
            <a:off x="5955841" y="4067720"/>
            <a:ext cx="72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5" name="Line 1305"/>
          <p:cNvSpPr>
            <a:spLocks noChangeShapeType="1"/>
          </p:cNvSpPr>
          <p:nvPr/>
        </p:nvSpPr>
        <p:spPr bwMode="auto">
          <a:xfrm>
            <a:off x="5446254" y="3915320"/>
            <a:ext cx="175022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6" name="Line 1306"/>
          <p:cNvSpPr>
            <a:spLocks noChangeShapeType="1"/>
          </p:cNvSpPr>
          <p:nvPr/>
        </p:nvSpPr>
        <p:spPr bwMode="auto">
          <a:xfrm flipV="1">
            <a:off x="5252182" y="4092724"/>
            <a:ext cx="302419" cy="75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7" name="Line 1309"/>
          <p:cNvSpPr>
            <a:spLocks noChangeShapeType="1"/>
          </p:cNvSpPr>
          <p:nvPr/>
        </p:nvSpPr>
        <p:spPr bwMode="auto">
          <a:xfrm flipH="1">
            <a:off x="5571269" y="4134395"/>
            <a:ext cx="13335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8" name="Line 1310"/>
          <p:cNvSpPr>
            <a:spLocks noChangeShapeType="1"/>
          </p:cNvSpPr>
          <p:nvPr/>
        </p:nvSpPr>
        <p:spPr bwMode="auto">
          <a:xfrm flipH="1" flipV="1">
            <a:off x="5866545" y="4122489"/>
            <a:ext cx="1190" cy="165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59" name="Line 1311"/>
          <p:cNvSpPr>
            <a:spLocks noChangeShapeType="1"/>
          </p:cNvSpPr>
          <p:nvPr/>
        </p:nvSpPr>
        <p:spPr bwMode="auto">
          <a:xfrm>
            <a:off x="5928457" y="4124871"/>
            <a:ext cx="377428" cy="202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0" name="Line 1313"/>
          <p:cNvSpPr>
            <a:spLocks noChangeShapeType="1"/>
          </p:cNvSpPr>
          <p:nvPr/>
        </p:nvSpPr>
        <p:spPr bwMode="auto">
          <a:xfrm>
            <a:off x="5581985" y="2977108"/>
            <a:ext cx="0" cy="988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1" name="Line 1314"/>
          <p:cNvSpPr>
            <a:spLocks noChangeShapeType="1"/>
          </p:cNvSpPr>
          <p:nvPr/>
        </p:nvSpPr>
        <p:spPr bwMode="auto">
          <a:xfrm flipV="1">
            <a:off x="6553535" y="2204392"/>
            <a:ext cx="92869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2" name="Line 1315"/>
          <p:cNvSpPr>
            <a:spLocks noChangeShapeType="1"/>
          </p:cNvSpPr>
          <p:nvPr/>
        </p:nvSpPr>
        <p:spPr bwMode="auto">
          <a:xfrm>
            <a:off x="6424947" y="2334170"/>
            <a:ext cx="0" cy="61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3" name="Line 1316"/>
          <p:cNvSpPr>
            <a:spLocks noChangeShapeType="1"/>
          </p:cNvSpPr>
          <p:nvPr/>
        </p:nvSpPr>
        <p:spPr bwMode="auto">
          <a:xfrm flipV="1">
            <a:off x="6553535" y="2256780"/>
            <a:ext cx="197644" cy="216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4" name="Line 1317"/>
          <p:cNvSpPr>
            <a:spLocks noChangeShapeType="1"/>
          </p:cNvSpPr>
          <p:nvPr/>
        </p:nvSpPr>
        <p:spPr bwMode="auto">
          <a:xfrm>
            <a:off x="6827378" y="2255589"/>
            <a:ext cx="0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5" name="Line 1318"/>
          <p:cNvSpPr>
            <a:spLocks noChangeShapeType="1"/>
          </p:cNvSpPr>
          <p:nvPr/>
        </p:nvSpPr>
        <p:spPr bwMode="auto">
          <a:xfrm>
            <a:off x="6567822" y="2485380"/>
            <a:ext cx="1416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6" name="Line 1319"/>
          <p:cNvSpPr>
            <a:spLocks noChangeShapeType="1"/>
          </p:cNvSpPr>
          <p:nvPr/>
        </p:nvSpPr>
        <p:spPr bwMode="auto">
          <a:xfrm flipV="1">
            <a:off x="5289091" y="3135462"/>
            <a:ext cx="126206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7" name="Line 1320"/>
          <p:cNvSpPr>
            <a:spLocks noChangeShapeType="1"/>
          </p:cNvSpPr>
          <p:nvPr/>
        </p:nvSpPr>
        <p:spPr bwMode="auto">
          <a:xfrm>
            <a:off x="6983351" y="2478236"/>
            <a:ext cx="13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8" name="Line 1321"/>
          <p:cNvSpPr>
            <a:spLocks noChangeShapeType="1"/>
          </p:cNvSpPr>
          <p:nvPr/>
        </p:nvSpPr>
        <p:spPr bwMode="auto">
          <a:xfrm flipH="1">
            <a:off x="6342795" y="2535386"/>
            <a:ext cx="73819" cy="52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69" name="Line 1322"/>
          <p:cNvSpPr>
            <a:spLocks noChangeShapeType="1"/>
          </p:cNvSpPr>
          <p:nvPr/>
        </p:nvSpPr>
        <p:spPr bwMode="auto">
          <a:xfrm flipH="1">
            <a:off x="6786897" y="2535387"/>
            <a:ext cx="83344" cy="5453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sp>
        <p:nvSpPr>
          <p:cNvPr id="1070" name="Line 1323"/>
          <p:cNvSpPr>
            <a:spLocks noChangeShapeType="1"/>
          </p:cNvSpPr>
          <p:nvPr/>
        </p:nvSpPr>
        <p:spPr bwMode="auto">
          <a:xfrm flipV="1">
            <a:off x="6324935" y="3391446"/>
            <a:ext cx="170260" cy="3274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grpSp>
        <p:nvGrpSpPr>
          <p:cNvPr id="1071" name="Group 1324"/>
          <p:cNvGrpSpPr>
            <a:grpSpLocks/>
          </p:cNvGrpSpPr>
          <p:nvPr/>
        </p:nvGrpSpPr>
        <p:grpSpPr bwMode="auto">
          <a:xfrm flipH="1">
            <a:off x="5202176" y="3735536"/>
            <a:ext cx="310753" cy="279797"/>
            <a:chOff x="2839" y="3501"/>
            <a:chExt cx="755" cy="803"/>
          </a:xfrm>
        </p:grpSpPr>
        <p:pic>
          <p:nvPicPr>
            <p:cNvPr id="1072" name="Picture 1325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3" name="Freeform 132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74" name="Group 1327"/>
          <p:cNvGrpSpPr>
            <a:grpSpLocks/>
          </p:cNvGrpSpPr>
          <p:nvPr/>
        </p:nvGrpSpPr>
        <p:grpSpPr bwMode="auto">
          <a:xfrm flipH="1">
            <a:off x="4964051" y="4051051"/>
            <a:ext cx="361950" cy="304800"/>
            <a:chOff x="2839" y="3501"/>
            <a:chExt cx="755" cy="803"/>
          </a:xfrm>
        </p:grpSpPr>
        <p:pic>
          <p:nvPicPr>
            <p:cNvPr id="1075" name="Picture 132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6" name="Freeform 132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77" name="Group 1330"/>
          <p:cNvGrpSpPr>
            <a:grpSpLocks/>
          </p:cNvGrpSpPr>
          <p:nvPr/>
        </p:nvGrpSpPr>
        <p:grpSpPr bwMode="auto">
          <a:xfrm flipH="1">
            <a:off x="5322428" y="4277270"/>
            <a:ext cx="320279" cy="261938"/>
            <a:chOff x="2839" y="3501"/>
            <a:chExt cx="755" cy="803"/>
          </a:xfrm>
        </p:grpSpPr>
        <p:pic>
          <p:nvPicPr>
            <p:cNvPr id="1078" name="Picture 1331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9" name="Freeform 133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080" name="Group 1333"/>
          <p:cNvGrpSpPr>
            <a:grpSpLocks/>
          </p:cNvGrpSpPr>
          <p:nvPr/>
        </p:nvGrpSpPr>
        <p:grpSpPr bwMode="auto">
          <a:xfrm>
            <a:off x="5783201" y="4264174"/>
            <a:ext cx="320278" cy="263128"/>
            <a:chOff x="2839" y="3501"/>
            <a:chExt cx="755" cy="803"/>
          </a:xfrm>
        </p:grpSpPr>
        <p:pic>
          <p:nvPicPr>
            <p:cNvPr id="1081" name="Picture 1334" descr="desktop_computer_stylized_medium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2" name="Freeform 133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pic>
        <p:nvPicPr>
          <p:cNvPr id="1083" name="Picture 1336" descr="car_icon_smal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229" y="1625749"/>
            <a:ext cx="636985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84" name="Group 1337"/>
          <p:cNvGrpSpPr>
            <a:grpSpLocks/>
          </p:cNvGrpSpPr>
          <p:nvPr/>
        </p:nvGrpSpPr>
        <p:grpSpPr bwMode="auto">
          <a:xfrm>
            <a:off x="5080732" y="1494780"/>
            <a:ext cx="311944" cy="289322"/>
            <a:chOff x="2751" y="1851"/>
            <a:chExt cx="462" cy="478"/>
          </a:xfrm>
        </p:grpSpPr>
        <p:pic>
          <p:nvPicPr>
            <p:cNvPr id="1085" name="Picture 1338" descr="iphone_stylized_smal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6" name="Picture 1339" descr="antenna_radiation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7" name="Group 1340"/>
          <p:cNvGrpSpPr>
            <a:grpSpLocks/>
          </p:cNvGrpSpPr>
          <p:nvPr/>
        </p:nvGrpSpPr>
        <p:grpSpPr bwMode="auto">
          <a:xfrm>
            <a:off x="6638070" y="2131764"/>
            <a:ext cx="292894" cy="127397"/>
            <a:chOff x="4650" y="1129"/>
            <a:chExt cx="246" cy="95"/>
          </a:xfrm>
        </p:grpSpPr>
        <p:sp>
          <p:nvSpPr>
            <p:cNvPr id="108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8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091" name="Group 1344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094" name="Freeform 134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95" name="Freeform 134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092" name="Line 13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093" name="Line 13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96" name="Group 1349"/>
          <p:cNvGrpSpPr>
            <a:grpSpLocks/>
          </p:cNvGrpSpPr>
          <p:nvPr/>
        </p:nvGrpSpPr>
        <p:grpSpPr bwMode="auto">
          <a:xfrm>
            <a:off x="6692838" y="2403227"/>
            <a:ext cx="292894" cy="132160"/>
            <a:chOff x="4650" y="1129"/>
            <a:chExt cx="246" cy="95"/>
          </a:xfrm>
        </p:grpSpPr>
        <p:sp>
          <p:nvSpPr>
            <p:cNvPr id="109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9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00" name="Group 1353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03" name="Freeform 135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04" name="Freeform 135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01" name="Line 1356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02" name="Line 1357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05" name="Group 1358"/>
          <p:cNvGrpSpPr>
            <a:grpSpLocks/>
          </p:cNvGrpSpPr>
          <p:nvPr/>
        </p:nvGrpSpPr>
        <p:grpSpPr bwMode="auto">
          <a:xfrm>
            <a:off x="6273738" y="2205583"/>
            <a:ext cx="292894" cy="127397"/>
            <a:chOff x="4650" y="1129"/>
            <a:chExt cx="246" cy="95"/>
          </a:xfrm>
        </p:grpSpPr>
        <p:sp>
          <p:nvSpPr>
            <p:cNvPr id="110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0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0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09" name="Group 136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12" name="Freeform 136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13" name="Freeform 136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10" name="Line 136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11" name="Line 136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14" name="Group 1367"/>
          <p:cNvGrpSpPr>
            <a:grpSpLocks/>
          </p:cNvGrpSpPr>
          <p:nvPr/>
        </p:nvGrpSpPr>
        <p:grpSpPr bwMode="auto">
          <a:xfrm>
            <a:off x="6282072" y="2403227"/>
            <a:ext cx="292894" cy="127397"/>
            <a:chOff x="4650" y="1129"/>
            <a:chExt cx="246" cy="95"/>
          </a:xfrm>
        </p:grpSpPr>
        <p:sp>
          <p:nvSpPr>
            <p:cNvPr id="111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18" name="Group 1371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21" name="Freeform 137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22" name="Freeform 137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19" name="Line 137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20" name="Line 137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123" name="Line 1376"/>
          <p:cNvSpPr>
            <a:spLocks noChangeShapeType="1"/>
          </p:cNvSpPr>
          <p:nvPr/>
        </p:nvSpPr>
        <p:spPr bwMode="auto">
          <a:xfrm>
            <a:off x="7129797" y="2477045"/>
            <a:ext cx="1333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ＭＳ Ｐゴシック" charset="0"/>
            </a:endParaRPr>
          </a:p>
        </p:txBody>
      </p:sp>
      <p:grpSp>
        <p:nvGrpSpPr>
          <p:cNvPr id="1124" name="Group 1377"/>
          <p:cNvGrpSpPr>
            <a:grpSpLocks/>
          </p:cNvGrpSpPr>
          <p:nvPr/>
        </p:nvGrpSpPr>
        <p:grpSpPr bwMode="auto">
          <a:xfrm>
            <a:off x="6421376" y="3268811"/>
            <a:ext cx="364331" cy="152400"/>
            <a:chOff x="4650" y="1129"/>
            <a:chExt cx="246" cy="95"/>
          </a:xfrm>
        </p:grpSpPr>
        <p:sp>
          <p:nvSpPr>
            <p:cNvPr id="112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2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2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28" name="Group 1381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31" name="Freeform 138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32" name="Freeform 138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29" name="Line 1384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30" name="Line 1385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33" name="Group 1386"/>
          <p:cNvGrpSpPr>
            <a:grpSpLocks/>
          </p:cNvGrpSpPr>
          <p:nvPr/>
        </p:nvGrpSpPr>
        <p:grpSpPr bwMode="auto">
          <a:xfrm>
            <a:off x="6182060" y="3058070"/>
            <a:ext cx="364331" cy="152400"/>
            <a:chOff x="4650" y="1129"/>
            <a:chExt cx="246" cy="95"/>
          </a:xfrm>
        </p:grpSpPr>
        <p:sp>
          <p:nvSpPr>
            <p:cNvPr id="1134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5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6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37" name="Group 1390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40" name="Freeform 139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41" name="Freeform 139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38" name="Line 1393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39" name="Line 1394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42" name="Group 1395"/>
          <p:cNvGrpSpPr>
            <a:grpSpLocks/>
          </p:cNvGrpSpPr>
          <p:nvPr/>
        </p:nvGrpSpPr>
        <p:grpSpPr bwMode="auto">
          <a:xfrm>
            <a:off x="6678551" y="3067595"/>
            <a:ext cx="364331" cy="152400"/>
            <a:chOff x="4650" y="1129"/>
            <a:chExt cx="246" cy="95"/>
          </a:xfrm>
        </p:grpSpPr>
        <p:sp>
          <p:nvSpPr>
            <p:cNvPr id="114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46" name="Group 139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49" name="Freeform 140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0" name="Freeform 140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47" name="Line 140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48" name="Line 140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51" name="Group 1404"/>
          <p:cNvGrpSpPr>
            <a:grpSpLocks/>
          </p:cNvGrpSpPr>
          <p:nvPr/>
        </p:nvGrpSpPr>
        <p:grpSpPr bwMode="auto">
          <a:xfrm>
            <a:off x="6092763" y="3714105"/>
            <a:ext cx="464344" cy="182165"/>
            <a:chOff x="4650" y="1129"/>
            <a:chExt cx="246" cy="95"/>
          </a:xfrm>
        </p:grpSpPr>
        <p:sp>
          <p:nvSpPr>
            <p:cNvPr id="115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5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5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55" name="Group 1408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58" name="Freeform 140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9" name="Freeform 141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56" name="Line 1411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57" name="Line 1412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0" name="Group 1413"/>
          <p:cNvGrpSpPr>
            <a:grpSpLocks/>
          </p:cNvGrpSpPr>
          <p:nvPr/>
        </p:nvGrpSpPr>
        <p:grpSpPr bwMode="auto">
          <a:xfrm>
            <a:off x="6567822" y="3937943"/>
            <a:ext cx="464344" cy="182165"/>
            <a:chOff x="4650" y="1129"/>
            <a:chExt cx="246" cy="95"/>
          </a:xfrm>
        </p:grpSpPr>
        <p:sp>
          <p:nvSpPr>
            <p:cNvPr id="116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6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64" name="Group 1417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67" name="Freeform 141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68" name="Freeform 141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65" name="Line 142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66" name="Line 142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69" name="Group 1422"/>
          <p:cNvGrpSpPr>
            <a:grpSpLocks/>
          </p:cNvGrpSpPr>
          <p:nvPr/>
        </p:nvGrpSpPr>
        <p:grpSpPr bwMode="auto">
          <a:xfrm>
            <a:off x="5555791" y="3971280"/>
            <a:ext cx="464344" cy="182165"/>
            <a:chOff x="4650" y="1129"/>
            <a:chExt cx="246" cy="95"/>
          </a:xfrm>
        </p:grpSpPr>
        <p:sp>
          <p:nvSpPr>
            <p:cNvPr id="1170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1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72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73" name="Group 1426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76" name="Freeform 142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77" name="Freeform 142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74" name="Line 142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75" name="Line 143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78" name="Group 1431"/>
          <p:cNvGrpSpPr>
            <a:grpSpLocks/>
          </p:cNvGrpSpPr>
          <p:nvPr/>
        </p:nvGrpSpPr>
        <p:grpSpPr bwMode="auto">
          <a:xfrm>
            <a:off x="5410535" y="3065214"/>
            <a:ext cx="292894" cy="127397"/>
            <a:chOff x="4650" y="1129"/>
            <a:chExt cx="246" cy="95"/>
          </a:xfrm>
        </p:grpSpPr>
        <p:sp>
          <p:nvSpPr>
            <p:cNvPr id="11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82" name="Group 1435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85" name="Freeform 143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86" name="Freeform 143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83" name="Line 1438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84" name="Line 1439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87" name="Group 1440"/>
          <p:cNvGrpSpPr>
            <a:grpSpLocks/>
          </p:cNvGrpSpPr>
          <p:nvPr/>
        </p:nvGrpSpPr>
        <p:grpSpPr bwMode="auto">
          <a:xfrm>
            <a:off x="5635563" y="2200821"/>
            <a:ext cx="292894" cy="127397"/>
            <a:chOff x="4650" y="1129"/>
            <a:chExt cx="246" cy="95"/>
          </a:xfrm>
        </p:grpSpPr>
        <p:sp>
          <p:nvSpPr>
            <p:cNvPr id="118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9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91" name="Group 1444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194" name="Freeform 144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95" name="Freeform 144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192" name="Line 1447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  <p:sp>
          <p:nvSpPr>
            <p:cNvPr id="1193" name="Line 1448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96" name="Group 1449"/>
          <p:cNvGrpSpPr>
            <a:grpSpLocks/>
          </p:cNvGrpSpPr>
          <p:nvPr/>
        </p:nvGrpSpPr>
        <p:grpSpPr bwMode="auto">
          <a:xfrm>
            <a:off x="5079541" y="2960439"/>
            <a:ext cx="379810" cy="264319"/>
            <a:chOff x="2967" y="478"/>
            <a:chExt cx="788" cy="625"/>
          </a:xfrm>
        </p:grpSpPr>
        <p:pic>
          <p:nvPicPr>
            <p:cNvPr id="1197" name="Picture 1450" descr="access_point_stylized_small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" name="Picture 1451" descr="antenna_radiation_styliz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99" name="Group 1452"/>
          <p:cNvGrpSpPr>
            <a:grpSpLocks/>
          </p:cNvGrpSpPr>
          <p:nvPr/>
        </p:nvGrpSpPr>
        <p:grpSpPr bwMode="auto">
          <a:xfrm>
            <a:off x="6220160" y="4087962"/>
            <a:ext cx="422672" cy="315515"/>
            <a:chOff x="2967" y="478"/>
            <a:chExt cx="788" cy="625"/>
          </a:xfrm>
        </p:grpSpPr>
        <p:pic>
          <p:nvPicPr>
            <p:cNvPr id="1200" name="Picture 1453" descr="access_point_stylized_small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1" name="Picture 1454" descr="antenna_radiation_stylized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02" name="Group 1455"/>
          <p:cNvGrpSpPr>
            <a:grpSpLocks/>
          </p:cNvGrpSpPr>
          <p:nvPr/>
        </p:nvGrpSpPr>
        <p:grpSpPr bwMode="auto">
          <a:xfrm>
            <a:off x="5416488" y="1718618"/>
            <a:ext cx="342900" cy="473869"/>
            <a:chOff x="742" y="2409"/>
            <a:chExt cx="576" cy="881"/>
          </a:xfrm>
        </p:grpSpPr>
        <p:grpSp>
          <p:nvGrpSpPr>
            <p:cNvPr id="1203" name="Group 1456"/>
            <p:cNvGrpSpPr>
              <a:grpSpLocks/>
            </p:cNvGrpSpPr>
            <p:nvPr/>
          </p:nvGrpSpPr>
          <p:grpSpPr bwMode="auto">
            <a:xfrm>
              <a:off x="832" y="2643"/>
              <a:ext cx="376" cy="647"/>
              <a:chOff x="3130" y="3288"/>
              <a:chExt cx="410" cy="742"/>
            </a:xfrm>
          </p:grpSpPr>
          <p:sp>
            <p:nvSpPr>
              <p:cNvPr id="1206" name="Line 270"/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7" name="Line 271"/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8" name="Line 272"/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09" name="Line 273"/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0" name="Line 274"/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1" name="Line 275"/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2" name="Line 276"/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3" name="Line 277"/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4" name="Line 278"/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5" name="Line 279"/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6" name="Line 280"/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7" name="Line 281"/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8" name="Line 282"/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19" name="Line 283"/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220" name="Line 284"/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pic>
          <p:nvPicPr>
            <p:cNvPr id="1204" name="Picture 1472" descr="cell_tower_radiation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" y="2409"/>
              <a:ext cx="576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5" name="Oval 1473"/>
            <p:cNvSpPr>
              <a:spLocks noChangeArrowheads="1"/>
            </p:cNvSpPr>
            <p:nvPr/>
          </p:nvSpPr>
          <p:spPr bwMode="auto">
            <a:xfrm>
              <a:off x="986" y="2597"/>
              <a:ext cx="66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21" name="Group 1474"/>
          <p:cNvGrpSpPr>
            <a:grpSpLocks/>
          </p:cNvGrpSpPr>
          <p:nvPr/>
        </p:nvGrpSpPr>
        <p:grpSpPr bwMode="auto">
          <a:xfrm>
            <a:off x="7051216" y="4086770"/>
            <a:ext cx="170260" cy="360760"/>
            <a:chOff x="4140" y="429"/>
            <a:chExt cx="1425" cy="2396"/>
          </a:xfrm>
        </p:grpSpPr>
        <p:sp>
          <p:nvSpPr>
            <p:cNvPr id="1222" name="Freeform 147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3" name="Rectangle 1476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24" name="Freeform 147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5" name="Freeform 147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6" name="Rectangle 1479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27" name="Group 148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52" name="AutoShape 148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53" name="AutoShape 1482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28" name="Rectangle 1483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29" name="Group 148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50" name="AutoShape 1485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51" name="AutoShape 1486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0" name="Rectangle 1487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1" name="Rectangle 1488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32" name="Group 148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48" name="AutoShape 1490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49" name="AutoShape 1491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3" name="Freeform 149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34" name="Group 149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46" name="AutoShape 1494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47" name="AutoShape 1495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35" name="Rectangle 1496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6" name="Freeform 149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7" name="Freeform 149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8" name="Oval 1499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39" name="Freeform 150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0" name="AutoShape 1501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1" name="AutoShape 1502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2" name="Oval 1503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3" name="Oval 1504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44" name="Oval 1505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45" name="Rectangle 1506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54" name="Group 1507"/>
          <p:cNvGrpSpPr>
            <a:grpSpLocks/>
          </p:cNvGrpSpPr>
          <p:nvPr/>
        </p:nvGrpSpPr>
        <p:grpSpPr bwMode="auto">
          <a:xfrm>
            <a:off x="6814282" y="4312989"/>
            <a:ext cx="170259" cy="360760"/>
            <a:chOff x="4140" y="429"/>
            <a:chExt cx="1425" cy="2396"/>
          </a:xfrm>
        </p:grpSpPr>
        <p:sp>
          <p:nvSpPr>
            <p:cNvPr id="1255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6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57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8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9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0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85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6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1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2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83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4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3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64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1265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81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2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6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67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79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80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68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69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0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1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2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3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4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5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6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77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8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287" name="Group 1540"/>
          <p:cNvGrpSpPr>
            <a:grpSpLocks/>
          </p:cNvGrpSpPr>
          <p:nvPr/>
        </p:nvGrpSpPr>
        <p:grpSpPr bwMode="auto">
          <a:xfrm>
            <a:off x="4847370" y="1867445"/>
            <a:ext cx="401240" cy="305991"/>
            <a:chOff x="877" y="1008"/>
            <a:chExt cx="2747" cy="2591"/>
          </a:xfrm>
        </p:grpSpPr>
        <p:pic>
          <p:nvPicPr>
            <p:cNvPr id="1288" name="Picture 1541" descr="antenna_stylized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9" name="Picture 1542" descr="laptop_keyboard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0" name="Freeform 154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291" name="Picture 1544" descr="screen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92" name="Freeform 154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3" name="Freeform 154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4" name="Freeform 154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5" name="Freeform 154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6" name="Freeform 154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7" name="Freeform 155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98" name="Group 155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05" name="Freeform 155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6" name="Freeform 155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7" name="Freeform 155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8" name="Freeform 155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09" name="Freeform 155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10" name="Freeform 155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299" name="Freeform 155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0" name="Freeform 155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1" name="Freeform 156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2" name="Freeform 156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3" name="Freeform 156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04" name="Freeform 156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11" name="Group 1564"/>
          <p:cNvGrpSpPr>
            <a:grpSpLocks/>
          </p:cNvGrpSpPr>
          <p:nvPr/>
        </p:nvGrpSpPr>
        <p:grpSpPr bwMode="auto">
          <a:xfrm>
            <a:off x="6024898" y="4449912"/>
            <a:ext cx="355997" cy="305990"/>
            <a:chOff x="877" y="1008"/>
            <a:chExt cx="2747" cy="2591"/>
          </a:xfrm>
        </p:grpSpPr>
        <p:pic>
          <p:nvPicPr>
            <p:cNvPr id="1312" name="Picture 1565" descr="antenna_styliz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3" name="Picture 1566" descr="laptop_keyboard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4" name="Freeform 15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15" name="Picture 1568" descr="screen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6" name="Freeform 15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7" name="Freeform 15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8" name="Freeform 15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19" name="Freeform 15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0" name="Freeform 15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1" name="Freeform 15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22" name="Group 15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29" name="Freeform 15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0" name="Freeform 15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1" name="Freeform 15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2" name="Freeform 15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3" name="Freeform 15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4" name="Freeform 15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23" name="Freeform 15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4" name="Freeform 15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5" name="Freeform 15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6" name="Freeform 15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7" name="Freeform 15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8" name="Freeform 15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35" name="Group 1588"/>
          <p:cNvGrpSpPr>
            <a:grpSpLocks/>
          </p:cNvGrpSpPr>
          <p:nvPr/>
        </p:nvGrpSpPr>
        <p:grpSpPr bwMode="auto">
          <a:xfrm>
            <a:off x="5041441" y="2616349"/>
            <a:ext cx="333375" cy="305990"/>
            <a:chOff x="877" y="1008"/>
            <a:chExt cx="2747" cy="2591"/>
          </a:xfrm>
        </p:grpSpPr>
        <p:pic>
          <p:nvPicPr>
            <p:cNvPr id="1336" name="Picture 1589" descr="antenna_stylized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" name="Picture 1590" descr="laptop_keyboard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8" name="Freeform 1591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39" name="Picture 1592" descr="screen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0" name="Freeform 1593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1" name="Freeform 1594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2" name="Freeform 1595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3" name="Freeform 1596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4" name="Freeform 1597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5" name="Freeform 1598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46" name="Group 1599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53" name="Freeform 1600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4" name="Freeform 1601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5" name="Freeform 1602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6" name="Freeform 1603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7" name="Freeform 1604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58" name="Freeform 1605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47" name="Freeform 1606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8" name="Freeform 1607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9" name="Freeform 1608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0" name="Freeform 1609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1" name="Freeform 1610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2" name="Freeform 1611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59" name="Group 1612"/>
          <p:cNvGrpSpPr>
            <a:grpSpLocks/>
          </p:cNvGrpSpPr>
          <p:nvPr/>
        </p:nvGrpSpPr>
        <p:grpSpPr bwMode="auto">
          <a:xfrm flipH="1">
            <a:off x="5326001" y="2752080"/>
            <a:ext cx="310753" cy="279797"/>
            <a:chOff x="2839" y="3501"/>
            <a:chExt cx="755" cy="803"/>
          </a:xfrm>
        </p:grpSpPr>
        <p:pic>
          <p:nvPicPr>
            <p:cNvPr id="1360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1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362" name="Group 1615"/>
          <p:cNvGrpSpPr>
            <a:grpSpLocks/>
          </p:cNvGrpSpPr>
          <p:nvPr/>
        </p:nvGrpSpPr>
        <p:grpSpPr bwMode="auto">
          <a:xfrm>
            <a:off x="6351129" y="4402287"/>
            <a:ext cx="355997" cy="305990"/>
            <a:chOff x="877" y="1008"/>
            <a:chExt cx="2747" cy="2591"/>
          </a:xfrm>
        </p:grpSpPr>
        <p:pic>
          <p:nvPicPr>
            <p:cNvPr id="1363" name="Picture 1616" descr="antenna_stylized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4" name="Picture 1617" descr="laptop_keyboard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5" name="Freeform 161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4 w 2982"/>
                <a:gd name="T1" fmla="*/ 0 h 2442"/>
                <a:gd name="T2" fmla="*/ 0 w 2982"/>
                <a:gd name="T3" fmla="*/ 81 h 2442"/>
                <a:gd name="T4" fmla="*/ 196 w 2982"/>
                <a:gd name="T5" fmla="*/ 114 h 2442"/>
                <a:gd name="T6" fmla="*/ 244 w 2982"/>
                <a:gd name="T7" fmla="*/ 15 h 2442"/>
                <a:gd name="T8" fmla="*/ 4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66" name="Picture 1619" descr="screen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7" name="Freeform 162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06 w 2528"/>
                <a:gd name="T3" fmla="*/ 16 h 455"/>
                <a:gd name="T4" fmla="*/ 202 w 2528"/>
                <a:gd name="T5" fmla="*/ 21 h 455"/>
                <a:gd name="T6" fmla="*/ 0 w 2528"/>
                <a:gd name="T7" fmla="*/ 4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8" name="Freeform 162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7 w 702"/>
                <a:gd name="T1" fmla="*/ 0 h 1893"/>
                <a:gd name="T2" fmla="*/ 0 w 702"/>
                <a:gd name="T3" fmla="*/ 87 h 1893"/>
                <a:gd name="T4" fmla="*/ 9 w 702"/>
                <a:gd name="T5" fmla="*/ 88 h 1893"/>
                <a:gd name="T6" fmla="*/ 57 w 702"/>
                <a:gd name="T7" fmla="*/ 2 h 1893"/>
                <a:gd name="T8" fmla="*/ 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9" name="Freeform 162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62 w 756"/>
                <a:gd name="T1" fmla="*/ 0 h 2184"/>
                <a:gd name="T2" fmla="*/ 12 w 756"/>
                <a:gd name="T3" fmla="*/ 101 h 2184"/>
                <a:gd name="T4" fmla="*/ 0 w 756"/>
                <a:gd name="T5" fmla="*/ 100 h 2184"/>
                <a:gd name="T6" fmla="*/ 49 w 756"/>
                <a:gd name="T7" fmla="*/ 3 h 2184"/>
                <a:gd name="T8" fmla="*/ 6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0" name="Freeform 162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2 w 2773"/>
                <a:gd name="T1" fmla="*/ 0 h 738"/>
                <a:gd name="T2" fmla="*/ 0 w 2773"/>
                <a:gd name="T3" fmla="*/ 5 h 738"/>
                <a:gd name="T4" fmla="*/ 199 w 2773"/>
                <a:gd name="T5" fmla="*/ 34 h 738"/>
                <a:gd name="T6" fmla="*/ 194 w 2773"/>
                <a:gd name="T7" fmla="*/ 28 h 738"/>
                <a:gd name="T8" fmla="*/ 2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1" name="Freeform 162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86 w 637"/>
                <a:gd name="T1" fmla="*/ 0 h 1659"/>
                <a:gd name="T2" fmla="*/ 88 w 637"/>
                <a:gd name="T3" fmla="*/ 0 h 1659"/>
                <a:gd name="T4" fmla="*/ 9 w 637"/>
                <a:gd name="T5" fmla="*/ 311 h 1659"/>
                <a:gd name="T6" fmla="*/ 0 w 637"/>
                <a:gd name="T7" fmla="*/ 308 h 1659"/>
                <a:gd name="T8" fmla="*/ 8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2" name="Freeform 162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1 h 550"/>
                <a:gd name="T4" fmla="*/ 301 w 2216"/>
                <a:gd name="T5" fmla="*/ 104 h 550"/>
                <a:gd name="T6" fmla="*/ 309 w 2216"/>
                <a:gd name="T7" fmla="*/ 93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73" name="Group 162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0" name="Freeform 162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1" name="Freeform 162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2" name="Freeform 162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3" name="Freeform 163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4" name="Freeform 163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85" name="Freeform 163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374" name="Freeform 163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85 h 792"/>
                <a:gd name="T2" fmla="*/ 91 w 990"/>
                <a:gd name="T3" fmla="*/ 0 h 792"/>
                <a:gd name="T4" fmla="*/ 91 w 990"/>
                <a:gd name="T5" fmla="*/ 6 h 792"/>
                <a:gd name="T6" fmla="*/ 0 w 990"/>
                <a:gd name="T7" fmla="*/ 92 h 792"/>
                <a:gd name="T8" fmla="*/ 1 w 990"/>
                <a:gd name="T9" fmla="*/ 85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5" name="Freeform 163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4 w 2532"/>
                <a:gd name="T3" fmla="*/ 0 h 723"/>
                <a:gd name="T4" fmla="*/ 233 w 2532"/>
                <a:gd name="T5" fmla="*/ 78 h 723"/>
                <a:gd name="T6" fmla="*/ 233 w 2532"/>
                <a:gd name="T7" fmla="*/ 83 h 723"/>
                <a:gd name="T8" fmla="*/ 0 w 2532"/>
                <a:gd name="T9" fmla="*/ 3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6" name="Freeform 163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3 w 26"/>
                <a:gd name="T1" fmla="*/ 1 h 147"/>
                <a:gd name="T2" fmla="*/ 3 w 26"/>
                <a:gd name="T3" fmla="*/ 16 h 147"/>
                <a:gd name="T4" fmla="*/ 0 w 26"/>
                <a:gd name="T5" fmla="*/ 16 h 147"/>
                <a:gd name="T6" fmla="*/ 1 w 26"/>
                <a:gd name="T7" fmla="*/ 0 h 147"/>
                <a:gd name="T8" fmla="*/ 3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7" name="Freeform 163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8 w 1176"/>
                <a:gd name="T1" fmla="*/ 0 h 606"/>
                <a:gd name="T2" fmla="*/ 0 w 1176"/>
                <a:gd name="T3" fmla="*/ 69 h 606"/>
                <a:gd name="T4" fmla="*/ 2 w 1176"/>
                <a:gd name="T5" fmla="*/ 69 h 606"/>
                <a:gd name="T6" fmla="*/ 108 w 1176"/>
                <a:gd name="T7" fmla="*/ 2 h 606"/>
                <a:gd name="T8" fmla="*/ 108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8" name="Freeform 163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2 w 2532"/>
                <a:gd name="T3" fmla="*/ 0 h 723"/>
                <a:gd name="T4" fmla="*/ 179 w 2532"/>
                <a:gd name="T5" fmla="*/ 64 h 723"/>
                <a:gd name="T6" fmla="*/ 178 w 2532"/>
                <a:gd name="T7" fmla="*/ 68 h 723"/>
                <a:gd name="T8" fmla="*/ 0 w 2532"/>
                <a:gd name="T9" fmla="*/ 2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9" name="Freeform 163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2 w 2532"/>
                <a:gd name="T5" fmla="*/ 76 h 723"/>
                <a:gd name="T6" fmla="*/ 2 w 2532"/>
                <a:gd name="T7" fmla="*/ 81 h 723"/>
                <a:gd name="T8" fmla="*/ 0 w 2532"/>
                <a:gd name="T9" fmla="*/ 3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386" name="Group 1046"/>
          <p:cNvGrpSpPr>
            <a:grpSpLocks/>
          </p:cNvGrpSpPr>
          <p:nvPr/>
        </p:nvGrpSpPr>
        <p:grpSpPr bwMode="auto">
          <a:xfrm>
            <a:off x="5112881" y="1199505"/>
            <a:ext cx="841773" cy="747713"/>
            <a:chOff x="3402" y="719"/>
            <a:chExt cx="707" cy="628"/>
          </a:xfrm>
        </p:grpSpPr>
        <p:sp>
          <p:nvSpPr>
            <p:cNvPr id="1387" name="Freeform 1030"/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88" name="Group 310"/>
            <p:cNvGrpSpPr>
              <a:grpSpLocks/>
            </p:cNvGrpSpPr>
            <p:nvPr/>
          </p:nvGrpSpPr>
          <p:grpSpPr bwMode="auto">
            <a:xfrm>
              <a:off x="3512" y="719"/>
              <a:ext cx="597" cy="570"/>
              <a:chOff x="2919" y="969"/>
              <a:chExt cx="597" cy="570"/>
            </a:xfrm>
          </p:grpSpPr>
          <p:sp>
            <p:nvSpPr>
              <p:cNvPr id="1389" name="Rectangle 311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0" name="Rectangle 312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1" name="Rectangle 313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92" name="Text Box 314"/>
              <p:cNvSpPr txBox="1">
                <a:spLocks noChangeArrowheads="1"/>
              </p:cNvSpPr>
              <p:nvPr/>
            </p:nvSpPr>
            <p:spPr bwMode="auto">
              <a:xfrm>
                <a:off x="2919" y="977"/>
                <a:ext cx="597" cy="5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750" dirty="0"/>
                  <a:t>application</a:t>
                </a:r>
              </a:p>
              <a:p>
                <a:pPr algn="ctr"/>
                <a:r>
                  <a:rPr lang="en-US" altLang="zh-CN" sz="750" dirty="0"/>
                  <a:t>transport</a:t>
                </a:r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data link</a:t>
                </a:r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  <p:sp>
            <p:nvSpPr>
              <p:cNvPr id="1393" name="Line 315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94" name="Line 316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95" name="Line 317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96" name="Line 318"/>
              <p:cNvSpPr>
                <a:spLocks noChangeShapeType="1"/>
              </p:cNvSpPr>
              <p:nvPr/>
            </p:nvSpPr>
            <p:spPr bwMode="auto">
              <a:xfrm>
                <a:off x="3003" y="111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397" name="Group 1047"/>
          <p:cNvGrpSpPr>
            <a:grpSpLocks/>
          </p:cNvGrpSpPr>
          <p:nvPr/>
        </p:nvGrpSpPr>
        <p:grpSpPr bwMode="auto">
          <a:xfrm>
            <a:off x="7134558" y="3454548"/>
            <a:ext cx="854869" cy="747713"/>
            <a:chOff x="3402" y="719"/>
            <a:chExt cx="718" cy="628"/>
          </a:xfrm>
        </p:grpSpPr>
        <p:sp>
          <p:nvSpPr>
            <p:cNvPr id="1398" name="Freeform 1048"/>
            <p:cNvSpPr>
              <a:spLocks/>
            </p:cNvSpPr>
            <p:nvPr/>
          </p:nvSpPr>
          <p:spPr bwMode="auto">
            <a:xfrm>
              <a:off x="3402" y="753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99" name="Group 1049"/>
            <p:cNvGrpSpPr>
              <a:grpSpLocks/>
            </p:cNvGrpSpPr>
            <p:nvPr/>
          </p:nvGrpSpPr>
          <p:grpSpPr bwMode="auto">
            <a:xfrm>
              <a:off x="3549" y="719"/>
              <a:ext cx="571" cy="571"/>
              <a:chOff x="2956" y="969"/>
              <a:chExt cx="571" cy="571"/>
            </a:xfrm>
          </p:grpSpPr>
          <p:sp>
            <p:nvSpPr>
              <p:cNvPr id="1400" name="Rectangle 1050"/>
              <p:cNvSpPr>
                <a:spLocks noChangeArrowheads="1"/>
              </p:cNvSpPr>
              <p:nvPr/>
            </p:nvSpPr>
            <p:spPr bwMode="auto"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1" name="Rectangle 1051"/>
              <p:cNvSpPr>
                <a:spLocks noChangeArrowheads="1"/>
              </p:cNvSpPr>
              <p:nvPr/>
            </p:nvSpPr>
            <p:spPr bwMode="auto"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2" name="Rectangle 1052"/>
              <p:cNvSpPr>
                <a:spLocks noChangeArrowheads="1"/>
              </p:cNvSpPr>
              <p:nvPr/>
            </p:nvSpPr>
            <p:spPr bwMode="auto"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3" name="Text Box 1053"/>
              <p:cNvSpPr txBox="1">
                <a:spLocks noChangeArrowheads="1"/>
              </p:cNvSpPr>
              <p:nvPr/>
            </p:nvSpPr>
            <p:spPr bwMode="auto">
              <a:xfrm>
                <a:off x="2956" y="978"/>
                <a:ext cx="571" cy="5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750" dirty="0"/>
                  <a:t>application</a:t>
                </a:r>
              </a:p>
              <a:p>
                <a:pPr algn="ctr"/>
                <a:r>
                  <a:rPr lang="en-US" altLang="zh-CN" sz="750" dirty="0"/>
                  <a:t>transport</a:t>
                </a:r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  <a:endParaRPr lang="en-US" altLang="zh-CN" sz="750" dirty="0"/>
              </a:p>
              <a:p>
                <a:pPr algn="ctr"/>
                <a:r>
                  <a:rPr lang="en-US" altLang="zh-CN" sz="750" dirty="0"/>
                  <a:t>data link</a:t>
                </a:r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  <p:sp>
            <p:nvSpPr>
              <p:cNvPr id="1404" name="Line 1054"/>
              <p:cNvSpPr>
                <a:spLocks noChangeShapeType="1"/>
              </p:cNvSpPr>
              <p:nvPr/>
            </p:nvSpPr>
            <p:spPr bwMode="auto">
              <a:xfrm>
                <a:off x="2997" y="119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05" name="Line 1055"/>
              <p:cNvSpPr>
                <a:spLocks noChangeShapeType="1"/>
              </p:cNvSpPr>
              <p:nvPr/>
            </p:nvSpPr>
            <p:spPr bwMode="auto">
              <a:xfrm>
                <a:off x="3003" y="129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06" name="Line 1056"/>
              <p:cNvSpPr>
                <a:spLocks noChangeShapeType="1"/>
              </p:cNvSpPr>
              <p:nvPr/>
            </p:nvSpPr>
            <p:spPr bwMode="auto">
              <a:xfrm>
                <a:off x="3003" y="1374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07" name="Line 1057"/>
              <p:cNvSpPr>
                <a:spLocks noChangeShapeType="1"/>
              </p:cNvSpPr>
              <p:nvPr/>
            </p:nvSpPr>
            <p:spPr bwMode="auto">
              <a:xfrm>
                <a:off x="3003" y="110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408" name="Group 1278"/>
          <p:cNvGrpSpPr>
            <a:grpSpLocks/>
          </p:cNvGrpSpPr>
          <p:nvPr/>
        </p:nvGrpSpPr>
        <p:grpSpPr bwMode="auto">
          <a:xfrm>
            <a:off x="5452207" y="1666230"/>
            <a:ext cx="1909763" cy="2599135"/>
            <a:chOff x="3674" y="1148"/>
            <a:chExt cx="1604" cy="2183"/>
          </a:xfrm>
        </p:grpSpPr>
        <p:grpSp>
          <p:nvGrpSpPr>
            <p:cNvPr id="1409" name="Group 433"/>
            <p:cNvGrpSpPr>
              <a:grpSpLocks/>
            </p:cNvGrpSpPr>
            <p:nvPr/>
          </p:nvGrpSpPr>
          <p:grpSpPr bwMode="auto">
            <a:xfrm>
              <a:off x="3701" y="1305"/>
              <a:ext cx="513" cy="465"/>
              <a:chOff x="3937" y="633"/>
              <a:chExt cx="513" cy="465"/>
            </a:xfrm>
          </p:grpSpPr>
          <p:sp>
            <p:nvSpPr>
              <p:cNvPr id="1630" name="Line 434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1" name="Line 435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2" name="Oval 436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33" name="Line 437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4" name="Line 438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5" name="Rectangle 439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636" name="Oval 440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637" name="Group 441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48" name="Line 4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49" name="Line 44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50" name="Line 4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638" name="Group 445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45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46" name="Line 4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47" name="Line 44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639" name="Rectangle 449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40" name="Rectangle 450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41" name="Line 451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42" name="Line 452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43" name="Rectangle 453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350">
                  <a:solidFill>
                    <a:srgbClr val="CC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44" name="Text Box 454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0" name="Group 1058"/>
            <p:cNvGrpSpPr>
              <a:grpSpLocks/>
            </p:cNvGrpSpPr>
            <p:nvPr/>
          </p:nvGrpSpPr>
          <p:grpSpPr bwMode="auto">
            <a:xfrm>
              <a:off x="4207" y="1532"/>
              <a:ext cx="513" cy="465"/>
              <a:chOff x="3937" y="633"/>
              <a:chExt cx="513" cy="465"/>
            </a:xfrm>
          </p:grpSpPr>
          <p:sp>
            <p:nvSpPr>
              <p:cNvPr id="1609" name="Line 105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0" name="Line 106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1" name="Oval 106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2" name="Line 106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3" name="Line 106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4" name="Rectangle 106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615" name="Oval 106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616" name="Group 1066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27" name="Line 106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8" name="Line 106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9" name="Line 106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617" name="Group 1070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24" name="Line 107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5" name="Line 107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26" name="Line 107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618" name="Rectangle 107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9" name="Rectangle 107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20" name="Line 107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21" name="Line 107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22" name="Rectangle 107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23" name="Text Box 107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1" name="Group 1080"/>
            <p:cNvGrpSpPr>
              <a:grpSpLocks/>
            </p:cNvGrpSpPr>
            <p:nvPr/>
          </p:nvGrpSpPr>
          <p:grpSpPr bwMode="auto">
            <a:xfrm>
              <a:off x="4661" y="1148"/>
              <a:ext cx="513" cy="465"/>
              <a:chOff x="3937" y="633"/>
              <a:chExt cx="513" cy="465"/>
            </a:xfrm>
          </p:grpSpPr>
          <p:sp>
            <p:nvSpPr>
              <p:cNvPr id="1588" name="Line 108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9" name="Line 108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0" name="Oval 108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1" name="Line 108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2" name="Line 108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3" name="Rectangle 108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94" name="Oval 108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95" name="Group 1088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606" name="Line 108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7" name="Line 109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8" name="Line 109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96" name="Group 1092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603" name="Line 109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4" name="Line 109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605" name="Line 109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97" name="Rectangle 109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8" name="Rectangle 109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99" name="Line 109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00" name="Line 109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01" name="Rectangle 110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02" name="Text Box 110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2" name="Group 1102"/>
            <p:cNvGrpSpPr>
              <a:grpSpLocks/>
            </p:cNvGrpSpPr>
            <p:nvPr/>
          </p:nvGrpSpPr>
          <p:grpSpPr bwMode="auto">
            <a:xfrm>
              <a:off x="4702" y="1523"/>
              <a:ext cx="513" cy="465"/>
              <a:chOff x="3937" y="633"/>
              <a:chExt cx="513" cy="465"/>
            </a:xfrm>
          </p:grpSpPr>
          <p:sp>
            <p:nvSpPr>
              <p:cNvPr id="1567" name="Line 110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8" name="Line 110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9" name="Oval 110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0" name="Line 110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1" name="Line 110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2" name="Rectangle 110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73" name="Oval 110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74" name="Group 1110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85" name="Line 111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6" name="Line 111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7" name="Line 111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75" name="Group 1114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82" name="Line 111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3" name="Line 11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84" name="Line 111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76" name="Rectangle 111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7" name="Rectangle 111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78" name="Line 112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9" name="Line 112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0" name="Rectangle 112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81" name="Text Box 112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 dirty="0"/>
              </a:p>
              <a:p>
                <a:pPr algn="ctr"/>
                <a:r>
                  <a:rPr lang="en-US" altLang="zh-CN" sz="750" dirty="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 dirty="0"/>
                  <a:t>data link</a:t>
                </a:r>
              </a:p>
              <a:p>
                <a:pPr algn="ctr"/>
                <a:r>
                  <a:rPr lang="en-US" altLang="zh-CN" sz="750" dirty="0"/>
                  <a:t>physical</a:t>
                </a:r>
                <a:endParaRPr lang="en-US" altLang="zh-CN" sz="1800" dirty="0"/>
              </a:p>
            </p:txBody>
          </p:sp>
        </p:grpSp>
        <p:grpSp>
          <p:nvGrpSpPr>
            <p:cNvPr id="1413" name="Group 1124"/>
            <p:cNvGrpSpPr>
              <a:grpSpLocks/>
            </p:cNvGrpSpPr>
            <p:nvPr/>
          </p:nvGrpSpPr>
          <p:grpSpPr bwMode="auto">
            <a:xfrm>
              <a:off x="4197" y="1157"/>
              <a:ext cx="513" cy="465"/>
              <a:chOff x="3937" y="633"/>
              <a:chExt cx="513" cy="465"/>
            </a:xfrm>
          </p:grpSpPr>
          <p:sp>
            <p:nvSpPr>
              <p:cNvPr id="1546" name="Line 112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7" name="Line 112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8" name="Oval 112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49" name="Line 112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0" name="Line 112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1" name="Rectangle 113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52" name="Oval 113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53" name="Group 1132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64" name="Line 11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5" name="Line 11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6" name="Line 11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54" name="Group 1136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61" name="Line 113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2" name="Line 113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63" name="Line 113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55" name="Rectangle 114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56" name="Rectangle 114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57" name="Line 114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8" name="Line 114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9" name="Rectangle 114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60" name="Text Box 114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4" name="Group 1146"/>
            <p:cNvGrpSpPr>
              <a:grpSpLocks/>
            </p:cNvGrpSpPr>
            <p:nvPr/>
          </p:nvGrpSpPr>
          <p:grpSpPr bwMode="auto">
            <a:xfrm>
              <a:off x="4389" y="2239"/>
              <a:ext cx="513" cy="465"/>
              <a:chOff x="3937" y="633"/>
              <a:chExt cx="513" cy="465"/>
            </a:xfrm>
          </p:grpSpPr>
          <p:sp>
            <p:nvSpPr>
              <p:cNvPr id="1525" name="Line 114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6" name="Line 114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7" name="Oval 114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28" name="Line 115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9" name="Line 115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0" name="Rectangle 115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31" name="Oval 115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32" name="Group 1154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43" name="Line 11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4" name="Line 11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5" name="Line 11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33" name="Group 1158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40" name="Line 11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1" name="Line 11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42" name="Line 116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34" name="Rectangle 116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5" name="Rectangle 116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6" name="Line 116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7" name="Line 116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8" name="Rectangle 116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39" name="Text Box 116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5" name="Group 1168"/>
            <p:cNvGrpSpPr>
              <a:grpSpLocks/>
            </p:cNvGrpSpPr>
            <p:nvPr/>
          </p:nvGrpSpPr>
          <p:grpSpPr bwMode="auto">
            <a:xfrm>
              <a:off x="4765" y="1995"/>
              <a:ext cx="513" cy="465"/>
              <a:chOff x="3937" y="633"/>
              <a:chExt cx="513" cy="465"/>
            </a:xfrm>
          </p:grpSpPr>
          <p:sp>
            <p:nvSpPr>
              <p:cNvPr id="1504" name="Line 1169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5" name="Line 1170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6" name="Oval 1171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07" name="Line 1172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8" name="Line 1173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9" name="Rectangle 1174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510" name="Oval 1175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511" name="Group 1176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22" name="Line 117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3" name="Line 117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4" name="Line 117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512" name="Group 1180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519" name="Line 118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0" name="Line 118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21" name="Line 118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513" name="Rectangle 1184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4" name="Rectangle 1185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5" name="Line 1186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6" name="Line 1187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7" name="Rectangle 1188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8" name="Text Box 1189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6" name="Group 1190"/>
            <p:cNvGrpSpPr>
              <a:grpSpLocks/>
            </p:cNvGrpSpPr>
            <p:nvPr/>
          </p:nvGrpSpPr>
          <p:grpSpPr bwMode="auto">
            <a:xfrm>
              <a:off x="4128" y="2003"/>
              <a:ext cx="513" cy="465"/>
              <a:chOff x="3937" y="633"/>
              <a:chExt cx="513" cy="465"/>
            </a:xfrm>
          </p:grpSpPr>
          <p:sp>
            <p:nvSpPr>
              <p:cNvPr id="1483" name="Line 1191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4" name="Line 1192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5" name="Oval 1193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86" name="Line 1194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7" name="Line 1195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8" name="Rectangle 1196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89" name="Oval 1197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90" name="Group 1198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501" name="Line 119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02" name="Line 120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03" name="Line 120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91" name="Group 1202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98" name="Line 120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99" name="Line 120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00" name="Line 120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92" name="Rectangle 1206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3" name="Rectangle 1207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4" name="Line 1208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5" name="Line 1209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6" name="Rectangle 1210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97" name="Text Box 1211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7" name="Group 1212"/>
            <p:cNvGrpSpPr>
              <a:grpSpLocks/>
            </p:cNvGrpSpPr>
            <p:nvPr/>
          </p:nvGrpSpPr>
          <p:grpSpPr bwMode="auto">
            <a:xfrm>
              <a:off x="4608" y="2771"/>
              <a:ext cx="513" cy="465"/>
              <a:chOff x="3937" y="633"/>
              <a:chExt cx="513" cy="465"/>
            </a:xfrm>
          </p:grpSpPr>
          <p:sp>
            <p:nvSpPr>
              <p:cNvPr id="1462" name="Line 1213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3" name="Line 1214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4" name="Oval 1215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65" name="Line 1216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6" name="Line 1217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7" name="Rectangle 1218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68" name="Oval 1219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69" name="Group 1220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80" name="Line 122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81" name="Line 122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82" name="Line 122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70" name="Group 1224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77" name="Line 122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78" name="Line 122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79" name="Line 122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71" name="Rectangle 1228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2" name="Rectangle 1229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3" name="Line 1230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4" name="Line 1231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5" name="Rectangle 1232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76" name="Text Box 1233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8" name="Group 1234"/>
            <p:cNvGrpSpPr>
              <a:grpSpLocks/>
            </p:cNvGrpSpPr>
            <p:nvPr/>
          </p:nvGrpSpPr>
          <p:grpSpPr bwMode="auto">
            <a:xfrm>
              <a:off x="4119" y="2640"/>
              <a:ext cx="513" cy="465"/>
              <a:chOff x="3937" y="633"/>
              <a:chExt cx="513" cy="465"/>
            </a:xfrm>
          </p:grpSpPr>
          <p:sp>
            <p:nvSpPr>
              <p:cNvPr id="1441" name="Line 1235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2" name="Line 1236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3" name="Oval 1237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44" name="Line 1238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5" name="Line 1239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6" name="Rectangle 1240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47" name="Oval 1241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48" name="Group 1242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59" name="Line 124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60" name="Line 124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61" name="Line 124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49" name="Group 1246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56" name="Line 12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7" name="Line 12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8" name="Line 12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50" name="Rectangle 1250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1" name="Rectangle 1251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2" name="Line 1252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3" name="Line 1253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4" name="Rectangle 1254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55" name="Text Box 1255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  <p:grpSp>
          <p:nvGrpSpPr>
            <p:cNvPr id="1419" name="Group 1256"/>
            <p:cNvGrpSpPr>
              <a:grpSpLocks/>
            </p:cNvGrpSpPr>
            <p:nvPr/>
          </p:nvGrpSpPr>
          <p:grpSpPr bwMode="auto">
            <a:xfrm>
              <a:off x="3674" y="2866"/>
              <a:ext cx="513" cy="465"/>
              <a:chOff x="3937" y="633"/>
              <a:chExt cx="513" cy="465"/>
            </a:xfrm>
          </p:grpSpPr>
          <p:sp>
            <p:nvSpPr>
              <p:cNvPr id="1420" name="Line 1257"/>
              <p:cNvSpPr>
                <a:spLocks noChangeShapeType="1"/>
              </p:cNvSpPr>
              <p:nvPr/>
            </p:nvSpPr>
            <p:spPr bwMode="auto">
              <a:xfrm>
                <a:off x="4061" y="1035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1" name="Line 1258"/>
              <p:cNvSpPr>
                <a:spLocks noChangeShapeType="1"/>
              </p:cNvSpPr>
              <p:nvPr/>
            </p:nvSpPr>
            <p:spPr bwMode="auto">
              <a:xfrm flipV="1">
                <a:off x="4212" y="929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2" name="Oval 1259"/>
              <p:cNvSpPr>
                <a:spLocks noChangeArrowheads="1"/>
              </p:cNvSpPr>
              <p:nvPr/>
            </p:nvSpPr>
            <p:spPr bwMode="auto"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23" name="Line 1260"/>
              <p:cNvSpPr>
                <a:spLocks noChangeShapeType="1"/>
              </p:cNvSpPr>
              <p:nvPr/>
            </p:nvSpPr>
            <p:spPr bwMode="auto">
              <a:xfrm>
                <a:off x="4048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4" name="Line 1261"/>
              <p:cNvSpPr>
                <a:spLocks noChangeShapeType="1"/>
              </p:cNvSpPr>
              <p:nvPr/>
            </p:nvSpPr>
            <p:spPr bwMode="auto">
              <a:xfrm>
                <a:off x="4361" y="84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5" name="Rectangle 1262"/>
              <p:cNvSpPr>
                <a:spLocks noChangeArrowheads="1"/>
              </p:cNvSpPr>
              <p:nvPr/>
            </p:nvSpPr>
            <p:spPr bwMode="auto"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/>
              </a:p>
            </p:txBody>
          </p:sp>
          <p:sp>
            <p:nvSpPr>
              <p:cNvPr id="1426" name="Oval 1263"/>
              <p:cNvSpPr>
                <a:spLocks noChangeArrowheads="1"/>
              </p:cNvSpPr>
              <p:nvPr/>
            </p:nvSpPr>
            <p:spPr bwMode="auto"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grpSp>
            <p:nvGrpSpPr>
              <p:cNvPr id="1427" name="Group 1264"/>
              <p:cNvGrpSpPr>
                <a:grpSpLocks/>
              </p:cNvGrpSpPr>
              <p:nvPr/>
            </p:nvGrpSpPr>
            <p:grpSpPr bwMode="auto"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438" name="Line 12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39" name="Line 12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0" name="Line 12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428" name="Group 1268"/>
              <p:cNvGrpSpPr>
                <a:grpSpLocks/>
              </p:cNvGrpSpPr>
              <p:nvPr/>
            </p:nvGrpSpPr>
            <p:grpSpPr bwMode="auto"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435" name="Line 12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36" name="Line 12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37" name="Line 12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350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29" name="Rectangle 1272"/>
              <p:cNvSpPr>
                <a:spLocks noChangeArrowheads="1"/>
              </p:cNvSpPr>
              <p:nvPr/>
            </p:nvSpPr>
            <p:spPr bwMode="auto"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0" name="Rectangle 1273"/>
              <p:cNvSpPr>
                <a:spLocks noChangeArrowheads="1"/>
              </p:cNvSpPr>
              <p:nvPr/>
            </p:nvSpPr>
            <p:spPr bwMode="auto"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1" name="Line 1274"/>
              <p:cNvSpPr>
                <a:spLocks noChangeShapeType="1"/>
              </p:cNvSpPr>
              <p:nvPr/>
            </p:nvSpPr>
            <p:spPr bwMode="auto">
              <a:xfrm>
                <a:off x="3966" y="94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2" name="Line 1275"/>
              <p:cNvSpPr>
                <a:spLocks noChangeShapeType="1"/>
              </p:cNvSpPr>
              <p:nvPr/>
            </p:nvSpPr>
            <p:spPr bwMode="auto">
              <a:xfrm>
                <a:off x="3972" y="849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3" name="Rectangle 1276"/>
              <p:cNvSpPr>
                <a:spLocks noChangeArrowheads="1"/>
              </p:cNvSpPr>
              <p:nvPr/>
            </p:nvSpPr>
            <p:spPr bwMode="auto"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34" name="Text Box 1277"/>
              <p:cNvSpPr txBox="1">
                <a:spLocks noChangeArrowheads="1"/>
              </p:cNvSpPr>
              <p:nvPr/>
            </p:nvSpPr>
            <p:spPr bwMode="auto">
              <a:xfrm>
                <a:off x="3937" y="633"/>
                <a:ext cx="513" cy="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en-US" altLang="zh-CN" sz="750"/>
              </a:p>
              <a:p>
                <a:pPr algn="ctr"/>
                <a:r>
                  <a:rPr lang="en-US" altLang="zh-CN" sz="750">
                    <a:solidFill>
                      <a:schemeClr val="bg1"/>
                    </a:solidFill>
                  </a:rPr>
                  <a:t>network</a:t>
                </a:r>
              </a:p>
              <a:p>
                <a:pPr algn="ctr"/>
                <a:r>
                  <a:rPr lang="en-US" altLang="zh-CN" sz="750"/>
                  <a:t>data link</a:t>
                </a:r>
              </a:p>
              <a:p>
                <a:pPr algn="ctr"/>
                <a:r>
                  <a:rPr lang="en-US" altLang="zh-CN" sz="750"/>
                  <a:t>physical</a:t>
                </a:r>
                <a:endParaRPr lang="en-US" altLang="zh-CN" sz="1800"/>
              </a:p>
            </p:txBody>
          </p:sp>
        </p:grpSp>
      </p:grp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797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2</a:t>
            </a:r>
            <a:r>
              <a:rPr lang="zh-CN" altLang="en-US" sz="2200" dirty="0">
                <a:effectLst/>
              </a:rPr>
              <a:t>：路由器的职责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1" name="Rectangle 3">
            <a:extLst>
              <a:ext uri="{FF2B5EF4-FFF2-40B4-BE49-F238E27FC236}">
                <a16:creationId xmlns:a16="http://schemas.microsoft.com/office/drawing/2014/main" id="{7873911C-8330-4160-80C2-683E4C0CF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520249"/>
            <a:ext cx="1864633" cy="6933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分组转发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路由选择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4" name="Group 177">
            <a:extLst>
              <a:ext uri="{FF2B5EF4-FFF2-40B4-BE49-F238E27FC236}">
                <a16:creationId xmlns:a16="http://schemas.microsoft.com/office/drawing/2014/main" id="{A8589A6D-3F75-47C8-AFBB-8AEAA5BC9084}"/>
              </a:ext>
            </a:extLst>
          </p:cNvPr>
          <p:cNvGrpSpPr>
            <a:grpSpLocks/>
          </p:cNvGrpSpPr>
          <p:nvPr/>
        </p:nvGrpSpPr>
        <p:grpSpPr bwMode="auto">
          <a:xfrm>
            <a:off x="5716526" y="3238897"/>
            <a:ext cx="2135981" cy="1110853"/>
            <a:chOff x="3787" y="2683"/>
            <a:chExt cx="1794" cy="933"/>
          </a:xfrm>
        </p:grpSpPr>
        <p:sp>
          <p:nvSpPr>
            <p:cNvPr id="625" name="Freeform 2">
              <a:extLst>
                <a:ext uri="{FF2B5EF4-FFF2-40B4-BE49-F238E27FC236}">
                  <a16:creationId xmlns:a16="http://schemas.microsoft.com/office/drawing/2014/main" id="{C6D5CD29-C901-4E05-B625-D228A6CF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683"/>
              <a:ext cx="1794" cy="933"/>
            </a:xfrm>
            <a:custGeom>
              <a:avLst/>
              <a:gdLst>
                <a:gd name="T0" fmla="*/ 6 w 1794"/>
                <a:gd name="T1" fmla="*/ 483 h 933"/>
                <a:gd name="T2" fmla="*/ 108 w 1794"/>
                <a:gd name="T3" fmla="*/ 125 h 933"/>
                <a:gd name="T4" fmla="*/ 559 w 1794"/>
                <a:gd name="T5" fmla="*/ 100 h 933"/>
                <a:gd name="T6" fmla="*/ 1128 w 1794"/>
                <a:gd name="T7" fmla="*/ 29 h 933"/>
                <a:gd name="T8" fmla="*/ 1716 w 1794"/>
                <a:gd name="T9" fmla="*/ 275 h 933"/>
                <a:gd name="T10" fmla="*/ 1596 w 1794"/>
                <a:gd name="T11" fmla="*/ 827 h 933"/>
                <a:gd name="T12" fmla="*/ 1380 w 1794"/>
                <a:gd name="T13" fmla="*/ 911 h 933"/>
                <a:gd name="T14" fmla="*/ 840 w 1794"/>
                <a:gd name="T15" fmla="*/ 929 h 933"/>
                <a:gd name="T16" fmla="*/ 414 w 1794"/>
                <a:gd name="T17" fmla="*/ 911 h 933"/>
                <a:gd name="T18" fmla="*/ 143 w 1794"/>
                <a:gd name="T19" fmla="*/ 832 h 933"/>
                <a:gd name="T20" fmla="*/ 6 w 1794"/>
                <a:gd name="T21" fmla="*/ 483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6" name="Freeform 6">
              <a:extLst>
                <a:ext uri="{FF2B5EF4-FFF2-40B4-BE49-F238E27FC236}">
                  <a16:creationId xmlns:a16="http://schemas.microsoft.com/office/drawing/2014/main" id="{942AC375-1E25-468C-A506-B46A213F3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2874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27" name="Group 7">
              <a:extLst>
                <a:ext uri="{FF2B5EF4-FFF2-40B4-BE49-F238E27FC236}">
                  <a16:creationId xmlns:a16="http://schemas.microsoft.com/office/drawing/2014/main" id="{3BD0378A-23B8-464D-A9FE-F8919B3D07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8" y="2984"/>
              <a:ext cx="316" cy="147"/>
              <a:chOff x="3600" y="219"/>
              <a:chExt cx="360" cy="175"/>
            </a:xfrm>
          </p:grpSpPr>
          <p:sp>
            <p:nvSpPr>
              <p:cNvPr id="707" name="Oval 8">
                <a:extLst>
                  <a:ext uri="{FF2B5EF4-FFF2-40B4-BE49-F238E27FC236}">
                    <a16:creationId xmlns:a16="http://schemas.microsoft.com/office/drawing/2014/main" id="{BED4272A-49FD-458A-87F4-B873ADBEF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8" name="Line 9">
                <a:extLst>
                  <a:ext uri="{FF2B5EF4-FFF2-40B4-BE49-F238E27FC236}">
                    <a16:creationId xmlns:a16="http://schemas.microsoft.com/office/drawing/2014/main" id="{EC786167-3422-42D1-B125-3E80BC1A3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9" name="Line 10">
                <a:extLst>
                  <a:ext uri="{FF2B5EF4-FFF2-40B4-BE49-F238E27FC236}">
                    <a16:creationId xmlns:a16="http://schemas.microsoft.com/office/drawing/2014/main" id="{97661692-78CF-4E5A-BDA8-04A460764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0" name="Rectangle 11">
                <a:extLst>
                  <a:ext uri="{FF2B5EF4-FFF2-40B4-BE49-F238E27FC236}">
                    <a16:creationId xmlns:a16="http://schemas.microsoft.com/office/drawing/2014/main" id="{F5E3A2A9-DFB8-4D9F-82C6-7F6127F87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1" name="Oval 12">
                <a:extLst>
                  <a:ext uri="{FF2B5EF4-FFF2-40B4-BE49-F238E27FC236}">
                    <a16:creationId xmlns:a16="http://schemas.microsoft.com/office/drawing/2014/main" id="{59A78DC8-68B4-45D1-A67E-DB54D5CC1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2" name="Group 13">
                <a:extLst>
                  <a:ext uri="{FF2B5EF4-FFF2-40B4-BE49-F238E27FC236}">
                    <a16:creationId xmlns:a16="http://schemas.microsoft.com/office/drawing/2014/main" id="{DC9F0E60-DBD0-41ED-B1A6-3EBE8724C3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717" name="Line 14">
                  <a:extLst>
                    <a:ext uri="{FF2B5EF4-FFF2-40B4-BE49-F238E27FC236}">
                      <a16:creationId xmlns:a16="http://schemas.microsoft.com/office/drawing/2014/main" id="{EAE13701-72A1-426A-B23D-C3B989B0CE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8" name="Line 15">
                  <a:extLst>
                    <a:ext uri="{FF2B5EF4-FFF2-40B4-BE49-F238E27FC236}">
                      <a16:creationId xmlns:a16="http://schemas.microsoft.com/office/drawing/2014/main" id="{D187B762-E6E8-414A-B054-DE04DCFA0F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9" name="Line 16">
                  <a:extLst>
                    <a:ext uri="{FF2B5EF4-FFF2-40B4-BE49-F238E27FC236}">
                      <a16:creationId xmlns:a16="http://schemas.microsoft.com/office/drawing/2014/main" id="{290B58E6-FCEC-4D46-BCE7-8D5C6413C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13" name="Group 17">
                <a:extLst>
                  <a:ext uri="{FF2B5EF4-FFF2-40B4-BE49-F238E27FC236}">
                    <a16:creationId xmlns:a16="http://schemas.microsoft.com/office/drawing/2014/main" id="{DB9C5118-3137-4F08-93F1-9215CB897B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714" name="Line 18">
                  <a:extLst>
                    <a:ext uri="{FF2B5EF4-FFF2-40B4-BE49-F238E27FC236}">
                      <a16:creationId xmlns:a16="http://schemas.microsoft.com/office/drawing/2014/main" id="{2175665C-4583-412F-BCDB-1CE04F867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5" name="Line 19">
                  <a:extLst>
                    <a:ext uri="{FF2B5EF4-FFF2-40B4-BE49-F238E27FC236}">
                      <a16:creationId xmlns:a16="http://schemas.microsoft.com/office/drawing/2014/main" id="{7C962621-3AD2-41E0-8EE4-2AE6C5362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6" name="Line 20">
                  <a:extLst>
                    <a:ext uri="{FF2B5EF4-FFF2-40B4-BE49-F238E27FC236}">
                      <a16:creationId xmlns:a16="http://schemas.microsoft.com/office/drawing/2014/main" id="{AFEB6DE0-181E-4E61-A349-EA4D8B84C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28" name="Group 21">
              <a:extLst>
                <a:ext uri="{FF2B5EF4-FFF2-40B4-BE49-F238E27FC236}">
                  <a16:creationId xmlns:a16="http://schemas.microsoft.com/office/drawing/2014/main" id="{FB33D093-07BE-4E59-A3AE-0E28B50C9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0" y="3386"/>
              <a:ext cx="316" cy="147"/>
              <a:chOff x="3600" y="219"/>
              <a:chExt cx="360" cy="175"/>
            </a:xfrm>
          </p:grpSpPr>
          <p:sp>
            <p:nvSpPr>
              <p:cNvPr id="694" name="Oval 22">
                <a:extLst>
                  <a:ext uri="{FF2B5EF4-FFF2-40B4-BE49-F238E27FC236}">
                    <a16:creationId xmlns:a16="http://schemas.microsoft.com/office/drawing/2014/main" id="{5DF34129-87C4-4B35-A64A-63AB0DCC9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5" name="Line 23">
                <a:extLst>
                  <a:ext uri="{FF2B5EF4-FFF2-40B4-BE49-F238E27FC236}">
                    <a16:creationId xmlns:a16="http://schemas.microsoft.com/office/drawing/2014/main" id="{0441AAA4-7BC5-4E28-9955-674EA7210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6" name="Line 24">
                <a:extLst>
                  <a:ext uri="{FF2B5EF4-FFF2-40B4-BE49-F238E27FC236}">
                    <a16:creationId xmlns:a16="http://schemas.microsoft.com/office/drawing/2014/main" id="{B4D2B41A-7147-4AD0-A0AA-2522F9E622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7" name="Rectangle 25">
                <a:extLst>
                  <a:ext uri="{FF2B5EF4-FFF2-40B4-BE49-F238E27FC236}">
                    <a16:creationId xmlns:a16="http://schemas.microsoft.com/office/drawing/2014/main" id="{F944CAA3-47FF-4868-8018-6762004B5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8" name="Oval 26">
                <a:extLst>
                  <a:ext uri="{FF2B5EF4-FFF2-40B4-BE49-F238E27FC236}">
                    <a16:creationId xmlns:a16="http://schemas.microsoft.com/office/drawing/2014/main" id="{3F77AE0F-7EE1-4AB3-A7A0-F449BFC83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9" name="Group 27">
                <a:extLst>
                  <a:ext uri="{FF2B5EF4-FFF2-40B4-BE49-F238E27FC236}">
                    <a16:creationId xmlns:a16="http://schemas.microsoft.com/office/drawing/2014/main" id="{46192E92-BFA7-4EE5-B825-BBA4A1ADD5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704" name="Line 28">
                  <a:extLst>
                    <a:ext uri="{FF2B5EF4-FFF2-40B4-BE49-F238E27FC236}">
                      <a16:creationId xmlns:a16="http://schemas.microsoft.com/office/drawing/2014/main" id="{36BC4EAD-35C6-45F9-AAEF-2FF2A686F1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5" name="Line 29">
                  <a:extLst>
                    <a:ext uri="{FF2B5EF4-FFF2-40B4-BE49-F238E27FC236}">
                      <a16:creationId xmlns:a16="http://schemas.microsoft.com/office/drawing/2014/main" id="{D4926818-87DE-44BA-B8BB-F39AE76ABE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6" name="Line 30">
                  <a:extLst>
                    <a:ext uri="{FF2B5EF4-FFF2-40B4-BE49-F238E27FC236}">
                      <a16:creationId xmlns:a16="http://schemas.microsoft.com/office/drawing/2014/main" id="{FED9DA0C-D4D1-4E6A-A082-FB0CFDDE9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00" name="Group 31">
                <a:extLst>
                  <a:ext uri="{FF2B5EF4-FFF2-40B4-BE49-F238E27FC236}">
                    <a16:creationId xmlns:a16="http://schemas.microsoft.com/office/drawing/2014/main" id="{6F24E23B-52CC-4651-BDC9-07E1F626D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701" name="Line 32">
                  <a:extLst>
                    <a:ext uri="{FF2B5EF4-FFF2-40B4-BE49-F238E27FC236}">
                      <a16:creationId xmlns:a16="http://schemas.microsoft.com/office/drawing/2014/main" id="{07D5B4AF-A1FF-4498-842A-A0AFCAEC82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2" name="Line 33">
                  <a:extLst>
                    <a:ext uri="{FF2B5EF4-FFF2-40B4-BE49-F238E27FC236}">
                      <a16:creationId xmlns:a16="http://schemas.microsoft.com/office/drawing/2014/main" id="{4EBF6B7A-FFD8-4248-8A11-BA786849BE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3" name="Line 34">
                  <a:extLst>
                    <a:ext uri="{FF2B5EF4-FFF2-40B4-BE49-F238E27FC236}">
                      <a16:creationId xmlns:a16="http://schemas.microsoft.com/office/drawing/2014/main" id="{827C40E5-61E9-42BF-93F5-06DFFF4B55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29" name="Group 35">
              <a:extLst>
                <a:ext uri="{FF2B5EF4-FFF2-40B4-BE49-F238E27FC236}">
                  <a16:creationId xmlns:a16="http://schemas.microsoft.com/office/drawing/2014/main" id="{5AABDA01-6DBA-44B9-A787-40BA8370CF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5" y="2792"/>
              <a:ext cx="316" cy="147"/>
              <a:chOff x="3600" y="219"/>
              <a:chExt cx="360" cy="175"/>
            </a:xfrm>
          </p:grpSpPr>
          <p:sp>
            <p:nvSpPr>
              <p:cNvPr id="681" name="Oval 36">
                <a:extLst>
                  <a:ext uri="{FF2B5EF4-FFF2-40B4-BE49-F238E27FC236}">
                    <a16:creationId xmlns:a16="http://schemas.microsoft.com/office/drawing/2014/main" id="{119DCBEA-95A5-45CA-8197-BB1265BA5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2" name="Line 37">
                <a:extLst>
                  <a:ext uri="{FF2B5EF4-FFF2-40B4-BE49-F238E27FC236}">
                    <a16:creationId xmlns:a16="http://schemas.microsoft.com/office/drawing/2014/main" id="{5914188E-C0DB-4235-BF56-913A46775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3" name="Line 38">
                <a:extLst>
                  <a:ext uri="{FF2B5EF4-FFF2-40B4-BE49-F238E27FC236}">
                    <a16:creationId xmlns:a16="http://schemas.microsoft.com/office/drawing/2014/main" id="{0F869CF4-3E84-4894-8360-F63B9040C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4" name="Rectangle 39">
                <a:extLst>
                  <a:ext uri="{FF2B5EF4-FFF2-40B4-BE49-F238E27FC236}">
                    <a16:creationId xmlns:a16="http://schemas.microsoft.com/office/drawing/2014/main" id="{9DFDB081-ED2C-4758-80F3-0429C015B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5" name="Oval 40">
                <a:extLst>
                  <a:ext uri="{FF2B5EF4-FFF2-40B4-BE49-F238E27FC236}">
                    <a16:creationId xmlns:a16="http://schemas.microsoft.com/office/drawing/2014/main" id="{09E1B8A7-0D9C-468F-B018-984C46DC0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6" name="Group 41">
                <a:extLst>
                  <a:ext uri="{FF2B5EF4-FFF2-40B4-BE49-F238E27FC236}">
                    <a16:creationId xmlns:a16="http://schemas.microsoft.com/office/drawing/2014/main" id="{DEFD6F32-8575-4947-8C33-AD3A1CC645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91" name="Line 42">
                  <a:extLst>
                    <a:ext uri="{FF2B5EF4-FFF2-40B4-BE49-F238E27FC236}">
                      <a16:creationId xmlns:a16="http://schemas.microsoft.com/office/drawing/2014/main" id="{69C5AFD3-097B-406C-B77D-0D0F67B5B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2" name="Line 43">
                  <a:extLst>
                    <a:ext uri="{FF2B5EF4-FFF2-40B4-BE49-F238E27FC236}">
                      <a16:creationId xmlns:a16="http://schemas.microsoft.com/office/drawing/2014/main" id="{DAFF9277-EB9E-44D2-B8D0-C7B510FAB7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3" name="Line 44">
                  <a:extLst>
                    <a:ext uri="{FF2B5EF4-FFF2-40B4-BE49-F238E27FC236}">
                      <a16:creationId xmlns:a16="http://schemas.microsoft.com/office/drawing/2014/main" id="{2D36774C-B2F8-4CB9-AED9-9C5200579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87" name="Group 45">
                <a:extLst>
                  <a:ext uri="{FF2B5EF4-FFF2-40B4-BE49-F238E27FC236}">
                    <a16:creationId xmlns:a16="http://schemas.microsoft.com/office/drawing/2014/main" id="{A349C7A9-6456-48CE-B661-376A93D6C2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88" name="Line 46">
                  <a:extLst>
                    <a:ext uri="{FF2B5EF4-FFF2-40B4-BE49-F238E27FC236}">
                      <a16:creationId xmlns:a16="http://schemas.microsoft.com/office/drawing/2014/main" id="{BED5032B-DF83-4639-90AE-3E322FDED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9" name="Line 47">
                  <a:extLst>
                    <a:ext uri="{FF2B5EF4-FFF2-40B4-BE49-F238E27FC236}">
                      <a16:creationId xmlns:a16="http://schemas.microsoft.com/office/drawing/2014/main" id="{FEA71612-C336-4A6F-81A1-71EB81E5A3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0" name="Line 48">
                  <a:extLst>
                    <a:ext uri="{FF2B5EF4-FFF2-40B4-BE49-F238E27FC236}">
                      <a16:creationId xmlns:a16="http://schemas.microsoft.com/office/drawing/2014/main" id="{7768C129-2AFA-465C-8274-07A6890CE6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30" name="Group 49">
              <a:extLst>
                <a:ext uri="{FF2B5EF4-FFF2-40B4-BE49-F238E27FC236}">
                  <a16:creationId xmlns:a16="http://schemas.microsoft.com/office/drawing/2014/main" id="{B4BEFE94-61C4-4890-8E73-2C560C6457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6" y="3211"/>
              <a:ext cx="315" cy="147"/>
              <a:chOff x="3600" y="219"/>
              <a:chExt cx="360" cy="175"/>
            </a:xfrm>
          </p:grpSpPr>
          <p:sp>
            <p:nvSpPr>
              <p:cNvPr id="668" name="Oval 50">
                <a:extLst>
                  <a:ext uri="{FF2B5EF4-FFF2-40B4-BE49-F238E27FC236}">
                    <a16:creationId xmlns:a16="http://schemas.microsoft.com/office/drawing/2014/main" id="{87DF8C17-C733-44E7-A43D-4258DABA5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9" name="Line 51">
                <a:extLst>
                  <a:ext uri="{FF2B5EF4-FFF2-40B4-BE49-F238E27FC236}">
                    <a16:creationId xmlns:a16="http://schemas.microsoft.com/office/drawing/2014/main" id="{29092994-10B2-4D82-9BE6-DDA25EC53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0" name="Line 52">
                <a:extLst>
                  <a:ext uri="{FF2B5EF4-FFF2-40B4-BE49-F238E27FC236}">
                    <a16:creationId xmlns:a16="http://schemas.microsoft.com/office/drawing/2014/main" id="{201CFE54-F8B5-4AAF-AE0B-A489C65D7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1" name="Rectangle 53">
                <a:extLst>
                  <a:ext uri="{FF2B5EF4-FFF2-40B4-BE49-F238E27FC236}">
                    <a16:creationId xmlns:a16="http://schemas.microsoft.com/office/drawing/2014/main" id="{088D6E4A-BF75-4648-81F4-CCF74A1A2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2" name="Oval 54">
                <a:extLst>
                  <a:ext uri="{FF2B5EF4-FFF2-40B4-BE49-F238E27FC236}">
                    <a16:creationId xmlns:a16="http://schemas.microsoft.com/office/drawing/2014/main" id="{F0C1E27F-1AF8-41AA-BA2D-608E98AF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3" name="Group 55">
                <a:extLst>
                  <a:ext uri="{FF2B5EF4-FFF2-40B4-BE49-F238E27FC236}">
                    <a16:creationId xmlns:a16="http://schemas.microsoft.com/office/drawing/2014/main" id="{142C6525-ED6C-42B2-86AC-ADF84AF5CC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78" name="Line 56">
                  <a:extLst>
                    <a:ext uri="{FF2B5EF4-FFF2-40B4-BE49-F238E27FC236}">
                      <a16:creationId xmlns:a16="http://schemas.microsoft.com/office/drawing/2014/main" id="{93B74F8F-790D-47FF-9263-DD0FC1BAE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9" name="Line 57">
                  <a:extLst>
                    <a:ext uri="{FF2B5EF4-FFF2-40B4-BE49-F238E27FC236}">
                      <a16:creationId xmlns:a16="http://schemas.microsoft.com/office/drawing/2014/main" id="{9289302F-4BBE-4578-902A-12C561364E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0" name="Line 58">
                  <a:extLst>
                    <a:ext uri="{FF2B5EF4-FFF2-40B4-BE49-F238E27FC236}">
                      <a16:creationId xmlns:a16="http://schemas.microsoft.com/office/drawing/2014/main" id="{E3F2484A-8E1B-417D-886C-2FB26389F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74" name="Group 59">
                <a:extLst>
                  <a:ext uri="{FF2B5EF4-FFF2-40B4-BE49-F238E27FC236}">
                    <a16:creationId xmlns:a16="http://schemas.microsoft.com/office/drawing/2014/main" id="{D788F98F-8400-4574-8E16-5C499AFFBF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75" name="Line 60">
                  <a:extLst>
                    <a:ext uri="{FF2B5EF4-FFF2-40B4-BE49-F238E27FC236}">
                      <a16:creationId xmlns:a16="http://schemas.microsoft.com/office/drawing/2014/main" id="{E489ECC7-67C6-44A6-BFF2-64C193301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6" name="Line 61">
                  <a:extLst>
                    <a:ext uri="{FF2B5EF4-FFF2-40B4-BE49-F238E27FC236}">
                      <a16:creationId xmlns:a16="http://schemas.microsoft.com/office/drawing/2014/main" id="{426442B8-AC92-4424-AF94-D4BDF2A69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7" name="Line 62">
                  <a:extLst>
                    <a:ext uri="{FF2B5EF4-FFF2-40B4-BE49-F238E27FC236}">
                      <a16:creationId xmlns:a16="http://schemas.microsoft.com/office/drawing/2014/main" id="{32CF989F-E853-444D-96DE-B011EDB1B1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31" name="Group 63">
              <a:extLst>
                <a:ext uri="{FF2B5EF4-FFF2-40B4-BE49-F238E27FC236}">
                  <a16:creationId xmlns:a16="http://schemas.microsoft.com/office/drawing/2014/main" id="{225C99DB-327A-4B6D-8044-56908D73D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3398"/>
              <a:ext cx="316" cy="147"/>
              <a:chOff x="3600" y="219"/>
              <a:chExt cx="360" cy="175"/>
            </a:xfrm>
          </p:grpSpPr>
          <p:sp>
            <p:nvSpPr>
              <p:cNvPr id="655" name="Oval 64">
                <a:extLst>
                  <a:ext uri="{FF2B5EF4-FFF2-40B4-BE49-F238E27FC236}">
                    <a16:creationId xmlns:a16="http://schemas.microsoft.com/office/drawing/2014/main" id="{041BDA6A-D68C-46D7-8FDD-53EDD7CB4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6" name="Line 65">
                <a:extLst>
                  <a:ext uri="{FF2B5EF4-FFF2-40B4-BE49-F238E27FC236}">
                    <a16:creationId xmlns:a16="http://schemas.microsoft.com/office/drawing/2014/main" id="{18C6E33D-608B-4746-B9F7-514278184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7" name="Line 66">
                <a:extLst>
                  <a:ext uri="{FF2B5EF4-FFF2-40B4-BE49-F238E27FC236}">
                    <a16:creationId xmlns:a16="http://schemas.microsoft.com/office/drawing/2014/main" id="{4A0D3738-F9D9-4DE9-9D6F-27B514076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8" name="Rectangle 67">
                <a:extLst>
                  <a:ext uri="{FF2B5EF4-FFF2-40B4-BE49-F238E27FC236}">
                    <a16:creationId xmlns:a16="http://schemas.microsoft.com/office/drawing/2014/main" id="{0B3B35AE-4E1C-449F-A89B-10214A325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9" name="Oval 68">
                <a:extLst>
                  <a:ext uri="{FF2B5EF4-FFF2-40B4-BE49-F238E27FC236}">
                    <a16:creationId xmlns:a16="http://schemas.microsoft.com/office/drawing/2014/main" id="{FFD3785C-4CEA-4E18-B101-DA430DD4D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60" name="Group 69">
                <a:extLst>
                  <a:ext uri="{FF2B5EF4-FFF2-40B4-BE49-F238E27FC236}">
                    <a16:creationId xmlns:a16="http://schemas.microsoft.com/office/drawing/2014/main" id="{D3F26B85-7EA4-4CCA-A32C-480333358B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65" name="Line 70">
                  <a:extLst>
                    <a:ext uri="{FF2B5EF4-FFF2-40B4-BE49-F238E27FC236}">
                      <a16:creationId xmlns:a16="http://schemas.microsoft.com/office/drawing/2014/main" id="{60B14D47-F644-4B80-BF1A-B534EBAB3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6" name="Line 71">
                  <a:extLst>
                    <a:ext uri="{FF2B5EF4-FFF2-40B4-BE49-F238E27FC236}">
                      <a16:creationId xmlns:a16="http://schemas.microsoft.com/office/drawing/2014/main" id="{5970A753-81EB-4E8C-BB8D-0DE6792BD7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7" name="Line 72">
                  <a:extLst>
                    <a:ext uri="{FF2B5EF4-FFF2-40B4-BE49-F238E27FC236}">
                      <a16:creationId xmlns:a16="http://schemas.microsoft.com/office/drawing/2014/main" id="{D4AE11ED-0DE3-4FAB-85F1-CB17474DD6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61" name="Group 73">
                <a:extLst>
                  <a:ext uri="{FF2B5EF4-FFF2-40B4-BE49-F238E27FC236}">
                    <a16:creationId xmlns:a16="http://schemas.microsoft.com/office/drawing/2014/main" id="{0C28309C-3A1D-4B4D-A82D-6E667EA291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62" name="Line 74">
                  <a:extLst>
                    <a:ext uri="{FF2B5EF4-FFF2-40B4-BE49-F238E27FC236}">
                      <a16:creationId xmlns:a16="http://schemas.microsoft.com/office/drawing/2014/main" id="{2D6D5347-1F48-4992-9F76-B7840B40AA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3" name="Line 75">
                  <a:extLst>
                    <a:ext uri="{FF2B5EF4-FFF2-40B4-BE49-F238E27FC236}">
                      <a16:creationId xmlns:a16="http://schemas.microsoft.com/office/drawing/2014/main" id="{BD99529F-FE4D-4ECA-B9DA-7A5C7ED18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4" name="Line 76">
                  <a:extLst>
                    <a:ext uri="{FF2B5EF4-FFF2-40B4-BE49-F238E27FC236}">
                      <a16:creationId xmlns:a16="http://schemas.microsoft.com/office/drawing/2014/main" id="{2478741F-065D-4904-8E1F-10D855BFD7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632" name="Group 77">
              <a:extLst>
                <a:ext uri="{FF2B5EF4-FFF2-40B4-BE49-F238E27FC236}">
                  <a16:creationId xmlns:a16="http://schemas.microsoft.com/office/drawing/2014/main" id="{C45C1144-DA5B-4272-A5B0-3AB8BBE93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6" y="2985"/>
              <a:ext cx="316" cy="147"/>
              <a:chOff x="3600" y="219"/>
              <a:chExt cx="360" cy="175"/>
            </a:xfrm>
          </p:grpSpPr>
          <p:sp>
            <p:nvSpPr>
              <p:cNvPr id="642" name="Oval 78">
                <a:extLst>
                  <a:ext uri="{FF2B5EF4-FFF2-40B4-BE49-F238E27FC236}">
                    <a16:creationId xmlns:a16="http://schemas.microsoft.com/office/drawing/2014/main" id="{9B699C91-F71F-4B84-89C1-775D95E70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3" name="Line 79">
                <a:extLst>
                  <a:ext uri="{FF2B5EF4-FFF2-40B4-BE49-F238E27FC236}">
                    <a16:creationId xmlns:a16="http://schemas.microsoft.com/office/drawing/2014/main" id="{9B62ACB2-F7D3-400A-9425-DE904423E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4" name="Line 80">
                <a:extLst>
                  <a:ext uri="{FF2B5EF4-FFF2-40B4-BE49-F238E27FC236}">
                    <a16:creationId xmlns:a16="http://schemas.microsoft.com/office/drawing/2014/main" id="{85CCC174-AD86-42EA-97A0-1EC64675B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5" name="Rectangle 81">
                <a:extLst>
                  <a:ext uri="{FF2B5EF4-FFF2-40B4-BE49-F238E27FC236}">
                    <a16:creationId xmlns:a16="http://schemas.microsoft.com/office/drawing/2014/main" id="{5A4F8566-5FEC-4D21-9776-A9FFD8AB8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6" name="Oval 82">
                <a:extLst>
                  <a:ext uri="{FF2B5EF4-FFF2-40B4-BE49-F238E27FC236}">
                    <a16:creationId xmlns:a16="http://schemas.microsoft.com/office/drawing/2014/main" id="{523A9202-21D8-4C7A-BF55-DCD97377C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47" name="Group 83">
                <a:extLst>
                  <a:ext uri="{FF2B5EF4-FFF2-40B4-BE49-F238E27FC236}">
                    <a16:creationId xmlns:a16="http://schemas.microsoft.com/office/drawing/2014/main" id="{65089FFC-001D-4A59-9E6A-233F6F1B63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52" name="Line 84">
                  <a:extLst>
                    <a:ext uri="{FF2B5EF4-FFF2-40B4-BE49-F238E27FC236}">
                      <a16:creationId xmlns:a16="http://schemas.microsoft.com/office/drawing/2014/main" id="{8F9443D8-8C89-4221-A9A0-4E9DE0A9A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3" name="Line 85">
                  <a:extLst>
                    <a:ext uri="{FF2B5EF4-FFF2-40B4-BE49-F238E27FC236}">
                      <a16:creationId xmlns:a16="http://schemas.microsoft.com/office/drawing/2014/main" id="{C2E73B15-1136-415A-9160-0C0FFE129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4" name="Line 86">
                  <a:extLst>
                    <a:ext uri="{FF2B5EF4-FFF2-40B4-BE49-F238E27FC236}">
                      <a16:creationId xmlns:a16="http://schemas.microsoft.com/office/drawing/2014/main" id="{89C17E08-F8ED-4CBB-A7A8-276F726EB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648" name="Group 87">
                <a:extLst>
                  <a:ext uri="{FF2B5EF4-FFF2-40B4-BE49-F238E27FC236}">
                    <a16:creationId xmlns:a16="http://schemas.microsoft.com/office/drawing/2014/main" id="{9CA28788-C672-4878-A381-7FA7953417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49" name="Line 88">
                  <a:extLst>
                    <a:ext uri="{FF2B5EF4-FFF2-40B4-BE49-F238E27FC236}">
                      <a16:creationId xmlns:a16="http://schemas.microsoft.com/office/drawing/2014/main" id="{650515A6-B0AB-4B44-BC9B-209CA251FF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0" name="Line 89">
                  <a:extLst>
                    <a:ext uri="{FF2B5EF4-FFF2-40B4-BE49-F238E27FC236}">
                      <a16:creationId xmlns:a16="http://schemas.microsoft.com/office/drawing/2014/main" id="{1ED5AED3-286B-4116-ADA5-724FFEBE4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1" name="Line 90">
                  <a:extLst>
                    <a:ext uri="{FF2B5EF4-FFF2-40B4-BE49-F238E27FC236}">
                      <a16:creationId xmlns:a16="http://schemas.microsoft.com/office/drawing/2014/main" id="{97010A9F-5F6B-4E94-A118-E4B073FC3C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33" name="Freeform 91">
              <a:extLst>
                <a:ext uri="{FF2B5EF4-FFF2-40B4-BE49-F238E27FC236}">
                  <a16:creationId xmlns:a16="http://schemas.microsoft.com/office/drawing/2014/main" id="{DE0D7610-2F5B-4AEF-874E-672DDC108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2870"/>
              <a:ext cx="318" cy="194"/>
            </a:xfrm>
            <a:custGeom>
              <a:avLst/>
              <a:gdLst>
                <a:gd name="T0" fmla="*/ 0 w 318"/>
                <a:gd name="T1" fmla="*/ 0 h 194"/>
                <a:gd name="T2" fmla="*/ 318 w 318"/>
                <a:gd name="T3" fmla="*/ 194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4" name="Freeform 92">
              <a:extLst>
                <a:ext uri="{FF2B5EF4-FFF2-40B4-BE49-F238E27FC236}">
                  <a16:creationId xmlns:a16="http://schemas.microsoft.com/office/drawing/2014/main" id="{9B8FF423-7951-4CF7-8976-9307EBFEC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3117"/>
              <a:ext cx="303" cy="150"/>
            </a:xfrm>
            <a:custGeom>
              <a:avLst/>
              <a:gdLst>
                <a:gd name="T0" fmla="*/ 0 w 294"/>
                <a:gd name="T1" fmla="*/ 0 h 174"/>
                <a:gd name="T2" fmla="*/ 303 w 294"/>
                <a:gd name="T3" fmla="*/ 150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5" name="Freeform 93">
              <a:extLst>
                <a:ext uri="{FF2B5EF4-FFF2-40B4-BE49-F238E27FC236}">
                  <a16:creationId xmlns:a16="http://schemas.microsoft.com/office/drawing/2014/main" id="{892FBD31-E3BB-4AED-B20C-72C16844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3102"/>
              <a:ext cx="396" cy="156"/>
            </a:xfrm>
            <a:custGeom>
              <a:avLst/>
              <a:gdLst>
                <a:gd name="T0" fmla="*/ 0 w 378"/>
                <a:gd name="T1" fmla="*/ 156 h 174"/>
                <a:gd name="T2" fmla="*/ 396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6" name="Freeform 94">
              <a:extLst>
                <a:ext uri="{FF2B5EF4-FFF2-40B4-BE49-F238E27FC236}">
                  <a16:creationId xmlns:a16="http://schemas.microsoft.com/office/drawing/2014/main" id="{A50BB6D3-DE51-47FE-8E0E-71FE1C7F3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" y="3136"/>
              <a:ext cx="130" cy="320"/>
            </a:xfrm>
            <a:custGeom>
              <a:avLst/>
              <a:gdLst>
                <a:gd name="T0" fmla="*/ 0 w 118"/>
                <a:gd name="T1" fmla="*/ 320 h 500"/>
                <a:gd name="T2" fmla="*/ 130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7" name="Freeform 95">
              <a:extLst>
                <a:ext uri="{FF2B5EF4-FFF2-40B4-BE49-F238E27FC236}">
                  <a16:creationId xmlns:a16="http://schemas.microsoft.com/office/drawing/2014/main" id="{1A8EA92A-F273-44D2-85D4-09EEAD68E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3472"/>
              <a:ext cx="464" cy="47"/>
            </a:xfrm>
            <a:custGeom>
              <a:avLst/>
              <a:gdLst>
                <a:gd name="T0" fmla="*/ 464 w 370"/>
                <a:gd name="T1" fmla="*/ 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8" name="Freeform 96">
              <a:extLst>
                <a:ext uri="{FF2B5EF4-FFF2-40B4-BE49-F238E27FC236}">
                  <a16:creationId xmlns:a16="http://schemas.microsoft.com/office/drawing/2014/main" id="{C7851DB1-A098-4FED-B3F4-D9341E33E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3132"/>
              <a:ext cx="122" cy="268"/>
            </a:xfrm>
            <a:custGeom>
              <a:avLst/>
              <a:gdLst>
                <a:gd name="T0" fmla="*/ 112 w 176"/>
                <a:gd name="T1" fmla="*/ 265 h 412"/>
                <a:gd name="T2" fmla="*/ 122 w 176"/>
                <a:gd name="T3" fmla="*/ 268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9" name="Text Box 100">
              <a:extLst>
                <a:ext uri="{FF2B5EF4-FFF2-40B4-BE49-F238E27FC236}">
                  <a16:creationId xmlns:a16="http://schemas.microsoft.com/office/drawing/2014/main" id="{33FEDE44-3FD8-4043-8D42-8C823C235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6" y="2808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40" name="Text Box 101">
              <a:extLst>
                <a:ext uri="{FF2B5EF4-FFF2-40B4-BE49-F238E27FC236}">
                  <a16:creationId xmlns:a16="http://schemas.microsoft.com/office/drawing/2014/main" id="{85B58893-3349-4EAF-8923-03E6ABB84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3084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641" name="Text Box 102">
              <a:extLst>
                <a:ext uri="{FF2B5EF4-FFF2-40B4-BE49-F238E27FC236}">
                  <a16:creationId xmlns:a16="http://schemas.microsoft.com/office/drawing/2014/main" id="{AD2132AC-17B2-4068-B4F0-E8C5797E6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4" y="3130"/>
              <a:ext cx="2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sp>
        <p:nvSpPr>
          <p:cNvPr id="720" name="Text Box 106">
            <a:extLst>
              <a:ext uri="{FF2B5EF4-FFF2-40B4-BE49-F238E27FC236}">
                <a16:creationId xmlns:a16="http://schemas.microsoft.com/office/drawing/2014/main" id="{5CC383D7-A12E-454B-A4E1-2F154E287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8657" y="2940050"/>
            <a:ext cx="12618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到达分组：首部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1" name="Group 179">
            <a:extLst>
              <a:ext uri="{FF2B5EF4-FFF2-40B4-BE49-F238E27FC236}">
                <a16:creationId xmlns:a16="http://schemas.microsoft.com/office/drawing/2014/main" id="{E080801E-9DDA-478E-8F19-40609D22968A}"/>
              </a:ext>
            </a:extLst>
          </p:cNvPr>
          <p:cNvGrpSpPr>
            <a:grpSpLocks/>
          </p:cNvGrpSpPr>
          <p:nvPr/>
        </p:nvGrpSpPr>
        <p:grpSpPr bwMode="auto">
          <a:xfrm>
            <a:off x="4589003" y="942181"/>
            <a:ext cx="1738313" cy="2715816"/>
            <a:chOff x="2840" y="754"/>
            <a:chExt cx="1460" cy="2281"/>
          </a:xfrm>
        </p:grpSpPr>
        <p:sp>
          <p:nvSpPr>
            <p:cNvPr id="722" name="Freeform 3">
              <a:extLst>
                <a:ext uri="{FF2B5EF4-FFF2-40B4-BE49-F238E27FC236}">
                  <a16:creationId xmlns:a16="http://schemas.microsoft.com/office/drawing/2014/main" id="{D149A2F0-25D6-4A29-9C92-D9F478F71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" y="2219"/>
              <a:ext cx="1443" cy="816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3" name="Rectangle 4">
              <a:extLst>
                <a:ext uri="{FF2B5EF4-FFF2-40B4-BE49-F238E27FC236}">
                  <a16:creationId xmlns:a16="http://schemas.microsoft.com/office/drawing/2014/main" id="{448D003C-37C6-412D-B04C-E328C7330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754"/>
              <a:ext cx="1460" cy="147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4" name="Oval 5">
              <a:extLst>
                <a:ext uri="{FF2B5EF4-FFF2-40B4-BE49-F238E27FC236}">
                  <a16:creationId xmlns:a16="http://schemas.microsoft.com/office/drawing/2014/main" id="{4781BF13-2222-46E3-9F92-F518D4BC2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" y="787"/>
              <a:ext cx="1320" cy="38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5" name="Text Box 108">
              <a:extLst>
                <a:ext uri="{FF2B5EF4-FFF2-40B4-BE49-F238E27FC236}">
                  <a16:creationId xmlns:a16="http://schemas.microsoft.com/office/drawing/2014/main" id="{DA01DB77-7743-4F14-92BF-B29FD748A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" y="886"/>
              <a:ext cx="11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路由选择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6" name="Rectangle 109">
              <a:extLst>
                <a:ext uri="{FF2B5EF4-FFF2-40B4-BE49-F238E27FC236}">
                  <a16:creationId xmlns:a16="http://schemas.microsoft.com/office/drawing/2014/main" id="{E77FE906-DF05-459D-8FFD-C1E6861E6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1357"/>
              <a:ext cx="1263" cy="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7" name="Text Box 110">
              <a:extLst>
                <a:ext uri="{FF2B5EF4-FFF2-40B4-BE49-F238E27FC236}">
                  <a16:creationId xmlns:a16="http://schemas.microsoft.com/office/drawing/2014/main" id="{20ABAFF6-EAC6-4E7C-BD1E-758A6A626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" y="1327"/>
              <a:ext cx="111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本地转发表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8" name="Text Box 111">
              <a:extLst>
                <a:ext uri="{FF2B5EF4-FFF2-40B4-BE49-F238E27FC236}">
                  <a16:creationId xmlns:a16="http://schemas.microsoft.com/office/drawing/2014/main" id="{0F929D59-C733-4EA4-AE9D-360BE54E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0" y="1483"/>
              <a:ext cx="7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首部值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9" name="Text Box 112">
              <a:extLst>
                <a:ext uri="{FF2B5EF4-FFF2-40B4-BE49-F238E27FC236}">
                  <a16:creationId xmlns:a16="http://schemas.microsoft.com/office/drawing/2014/main" id="{E957DBC1-1AB3-4A99-9BF7-072A4A86C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1484"/>
              <a:ext cx="65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输出链路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0" name="Line 113">
              <a:extLst>
                <a:ext uri="{FF2B5EF4-FFF2-40B4-BE49-F238E27FC236}">
                  <a16:creationId xmlns:a16="http://schemas.microsoft.com/office/drawing/2014/main" id="{339A4027-9723-4988-8879-7D2E0EC1E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4" y="1491"/>
              <a:ext cx="5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1" name="Text Box 114">
              <a:extLst>
                <a:ext uri="{FF2B5EF4-FFF2-40B4-BE49-F238E27FC236}">
                  <a16:creationId xmlns:a16="http://schemas.microsoft.com/office/drawing/2014/main" id="{7B161F27-2FBD-4FF6-9789-062B66E57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1662"/>
              <a:ext cx="38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0100</a:t>
              </a: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0101</a:t>
              </a: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</a:p>
            <a:p>
              <a:pPr algn="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</a:p>
          </p:txBody>
        </p:sp>
        <p:sp>
          <p:nvSpPr>
            <p:cNvPr id="732" name="Text Box 115">
              <a:extLst>
                <a:ext uri="{FF2B5EF4-FFF2-40B4-BE49-F238E27FC236}">
                  <a16:creationId xmlns:a16="http://schemas.microsoft.com/office/drawing/2014/main" id="{6F99372B-BE65-49D1-9345-81B2FCA80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3" y="1662"/>
              <a:ext cx="21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/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33" name="Line 116">
              <a:extLst>
                <a:ext uri="{FF2B5EF4-FFF2-40B4-BE49-F238E27FC236}">
                  <a16:creationId xmlns:a16="http://schemas.microsoft.com/office/drawing/2014/main" id="{C064E64E-0A51-40AF-A2F8-8690650A7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3" y="1653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4" name="Line 117">
              <a:extLst>
                <a:ext uri="{FF2B5EF4-FFF2-40B4-BE49-F238E27FC236}">
                  <a16:creationId xmlns:a16="http://schemas.microsoft.com/office/drawing/2014/main" id="{705C2A3A-0843-43D5-AEB0-6F6D4F91D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1497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5" name="AutoShape 118">
              <a:extLst>
                <a:ext uri="{FF2B5EF4-FFF2-40B4-BE49-F238E27FC236}">
                  <a16:creationId xmlns:a16="http://schemas.microsoft.com/office/drawing/2014/main" id="{31FD482B-37CC-4FCE-8FF1-DEA97356A8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19" y="1173"/>
              <a:ext cx="151" cy="172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36" name="Freeform 120">
            <a:extLst>
              <a:ext uri="{FF2B5EF4-FFF2-40B4-BE49-F238E27FC236}">
                <a16:creationId xmlns:a16="http://schemas.microsoft.com/office/drawing/2014/main" id="{BD7B9045-6A6F-4D20-86E2-F0E9C5B8C052}"/>
              </a:ext>
            </a:extLst>
          </p:cNvPr>
          <p:cNvSpPr>
            <a:spLocks/>
          </p:cNvSpPr>
          <p:nvPr/>
        </p:nvSpPr>
        <p:spPr bwMode="auto">
          <a:xfrm>
            <a:off x="5735576" y="3640137"/>
            <a:ext cx="659606" cy="198835"/>
          </a:xfrm>
          <a:custGeom>
            <a:avLst/>
            <a:gdLst>
              <a:gd name="T0" fmla="*/ 0 w 554"/>
              <a:gd name="T1" fmla="*/ 10 h 167"/>
              <a:gd name="T2" fmla="*/ 324 w 554"/>
              <a:gd name="T3" fmla="*/ 26 h 167"/>
              <a:gd name="T4" fmla="*/ 554 w 554"/>
              <a:gd name="T5" fmla="*/ 16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7" name="Group 172">
            <a:extLst>
              <a:ext uri="{FF2B5EF4-FFF2-40B4-BE49-F238E27FC236}">
                <a16:creationId xmlns:a16="http://schemas.microsoft.com/office/drawing/2014/main" id="{7CBDD3CF-6344-4A1A-951A-D662E3E606C1}"/>
              </a:ext>
            </a:extLst>
          </p:cNvPr>
          <p:cNvGrpSpPr>
            <a:grpSpLocks/>
          </p:cNvGrpSpPr>
          <p:nvPr/>
        </p:nvGrpSpPr>
        <p:grpSpPr bwMode="auto">
          <a:xfrm>
            <a:off x="6728557" y="2774554"/>
            <a:ext cx="433388" cy="611981"/>
            <a:chOff x="4637" y="2293"/>
            <a:chExt cx="364" cy="514"/>
          </a:xfrm>
        </p:grpSpPr>
        <p:sp>
          <p:nvSpPr>
            <p:cNvPr id="738" name="Freeform 122">
              <a:extLst>
                <a:ext uri="{FF2B5EF4-FFF2-40B4-BE49-F238E27FC236}">
                  <a16:creationId xmlns:a16="http://schemas.microsoft.com/office/drawing/2014/main" id="{DAE199DF-2C76-4EAB-A02F-9922537D51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7" y="2573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39" name="Group 126">
              <a:extLst>
                <a:ext uri="{FF2B5EF4-FFF2-40B4-BE49-F238E27FC236}">
                  <a16:creationId xmlns:a16="http://schemas.microsoft.com/office/drawing/2014/main" id="{91FE15C4-722F-4343-82A5-9D744C6DEF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2" y="2293"/>
              <a:ext cx="347" cy="285"/>
              <a:chOff x="2886" y="1668"/>
              <a:chExt cx="347" cy="285"/>
            </a:xfrm>
          </p:grpSpPr>
          <p:sp>
            <p:nvSpPr>
              <p:cNvPr id="740" name="Rectangle 127">
                <a:extLst>
                  <a:ext uri="{FF2B5EF4-FFF2-40B4-BE49-F238E27FC236}">
                    <a16:creationId xmlns:a16="http://schemas.microsoft.com/office/drawing/2014/main" id="{32842F3C-84C4-4028-B749-50A22A7EF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1" name="Oval 128">
                <a:extLst>
                  <a:ext uri="{FF2B5EF4-FFF2-40B4-BE49-F238E27FC236}">
                    <a16:creationId xmlns:a16="http://schemas.microsoft.com/office/drawing/2014/main" id="{2F788E9C-7D18-497D-BC7F-234DE34D0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2" name="Rectangle 129">
                <a:extLst>
                  <a:ext uri="{FF2B5EF4-FFF2-40B4-BE49-F238E27FC236}">
                    <a16:creationId xmlns:a16="http://schemas.microsoft.com/office/drawing/2014/main" id="{7DCED26E-9292-4B78-87C0-554B58EE3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3" name="Line 130">
                <a:extLst>
                  <a:ext uri="{FF2B5EF4-FFF2-40B4-BE49-F238E27FC236}">
                    <a16:creationId xmlns:a16="http://schemas.microsoft.com/office/drawing/2014/main" id="{6E598D11-634E-49D0-9847-33C755781B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4" name="Line 131">
                <a:extLst>
                  <a:ext uri="{FF2B5EF4-FFF2-40B4-BE49-F238E27FC236}">
                    <a16:creationId xmlns:a16="http://schemas.microsoft.com/office/drawing/2014/main" id="{7DD6EEEA-EAC7-4CBA-B0B7-264E8F02E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5" name="Line 132">
                <a:extLst>
                  <a:ext uri="{FF2B5EF4-FFF2-40B4-BE49-F238E27FC236}">
                    <a16:creationId xmlns:a16="http://schemas.microsoft.com/office/drawing/2014/main" id="{FF89FE51-7B01-4A45-AF12-DA6444879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6" name="AutoShape 133">
                <a:extLst>
                  <a:ext uri="{FF2B5EF4-FFF2-40B4-BE49-F238E27FC236}">
                    <a16:creationId xmlns:a16="http://schemas.microsoft.com/office/drawing/2014/main" id="{13644B82-384D-48F1-9A4F-BA8C20A15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47" name="Group 171">
            <a:extLst>
              <a:ext uri="{FF2B5EF4-FFF2-40B4-BE49-F238E27FC236}">
                <a16:creationId xmlns:a16="http://schemas.microsoft.com/office/drawing/2014/main" id="{E5A9E85A-2977-4E82-9594-5711D781BFA8}"/>
              </a:ext>
            </a:extLst>
          </p:cNvPr>
          <p:cNvGrpSpPr>
            <a:grpSpLocks/>
          </p:cNvGrpSpPr>
          <p:nvPr/>
        </p:nvGrpSpPr>
        <p:grpSpPr bwMode="auto">
          <a:xfrm>
            <a:off x="7486984" y="2979341"/>
            <a:ext cx="433388" cy="620315"/>
            <a:chOff x="5274" y="2465"/>
            <a:chExt cx="364" cy="521"/>
          </a:xfrm>
        </p:grpSpPr>
        <p:sp>
          <p:nvSpPr>
            <p:cNvPr id="748" name="Freeform 121">
              <a:extLst>
                <a:ext uri="{FF2B5EF4-FFF2-40B4-BE49-F238E27FC236}">
                  <a16:creationId xmlns:a16="http://schemas.microsoft.com/office/drawing/2014/main" id="{BC869E71-FA7C-4261-81A5-50ECFDDA82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74" y="2752"/>
              <a:ext cx="364" cy="234"/>
            </a:xfrm>
            <a:custGeom>
              <a:avLst/>
              <a:gdLst>
                <a:gd name="T0" fmla="*/ 0 w 1443"/>
                <a:gd name="T1" fmla="*/ 0 h 816"/>
                <a:gd name="T2" fmla="*/ 271 w 1443"/>
                <a:gd name="T3" fmla="*/ 224 h 816"/>
                <a:gd name="T4" fmla="*/ 333 w 1443"/>
                <a:gd name="T5" fmla="*/ 226 h 816"/>
                <a:gd name="T6" fmla="*/ 364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49" name="Group 134">
              <a:extLst>
                <a:ext uri="{FF2B5EF4-FFF2-40B4-BE49-F238E27FC236}">
                  <a16:creationId xmlns:a16="http://schemas.microsoft.com/office/drawing/2014/main" id="{33B9FAE6-F9FA-4EE6-AFE7-CD40C86B5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2465"/>
              <a:ext cx="347" cy="285"/>
              <a:chOff x="2886" y="1668"/>
              <a:chExt cx="347" cy="285"/>
            </a:xfrm>
          </p:grpSpPr>
          <p:sp>
            <p:nvSpPr>
              <p:cNvPr id="750" name="Rectangle 135">
                <a:extLst>
                  <a:ext uri="{FF2B5EF4-FFF2-40B4-BE49-F238E27FC236}">
                    <a16:creationId xmlns:a16="http://schemas.microsoft.com/office/drawing/2014/main" id="{928C3424-92B0-46D4-BE6F-3ACB7CBA9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1" name="Oval 136">
                <a:extLst>
                  <a:ext uri="{FF2B5EF4-FFF2-40B4-BE49-F238E27FC236}">
                    <a16:creationId xmlns:a16="http://schemas.microsoft.com/office/drawing/2014/main" id="{1DE92CAE-02A5-41DF-B2B0-B8073A062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2" name="Rectangle 137">
                <a:extLst>
                  <a:ext uri="{FF2B5EF4-FFF2-40B4-BE49-F238E27FC236}">
                    <a16:creationId xmlns:a16="http://schemas.microsoft.com/office/drawing/2014/main" id="{D8F5B365-7C42-46AA-B7F4-0AB819EB6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3" name="Line 138">
                <a:extLst>
                  <a:ext uri="{FF2B5EF4-FFF2-40B4-BE49-F238E27FC236}">
                    <a16:creationId xmlns:a16="http://schemas.microsoft.com/office/drawing/2014/main" id="{3FA5ABEA-0C8B-46EC-AEB7-3C91F59E8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4" name="Line 139">
                <a:extLst>
                  <a:ext uri="{FF2B5EF4-FFF2-40B4-BE49-F238E27FC236}">
                    <a16:creationId xmlns:a16="http://schemas.microsoft.com/office/drawing/2014/main" id="{F50A61C2-6BE2-4EB5-B664-FEB2B0F8F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5" name="Line 140">
                <a:extLst>
                  <a:ext uri="{FF2B5EF4-FFF2-40B4-BE49-F238E27FC236}">
                    <a16:creationId xmlns:a16="http://schemas.microsoft.com/office/drawing/2014/main" id="{DBEA7927-5AEB-4BAF-9E28-2345D8D2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6" name="AutoShape 141">
                <a:extLst>
                  <a:ext uri="{FF2B5EF4-FFF2-40B4-BE49-F238E27FC236}">
                    <a16:creationId xmlns:a16="http://schemas.microsoft.com/office/drawing/2014/main" id="{EE362AF2-7090-425C-8FFC-5CE872B5E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7" name="Group 170">
            <a:extLst>
              <a:ext uri="{FF2B5EF4-FFF2-40B4-BE49-F238E27FC236}">
                <a16:creationId xmlns:a16="http://schemas.microsoft.com/office/drawing/2014/main" id="{14C58687-565F-469A-BE9C-2C126CDF9029}"/>
              </a:ext>
            </a:extLst>
          </p:cNvPr>
          <p:cNvGrpSpPr>
            <a:grpSpLocks/>
          </p:cNvGrpSpPr>
          <p:nvPr/>
        </p:nvGrpSpPr>
        <p:grpSpPr bwMode="auto">
          <a:xfrm>
            <a:off x="7216714" y="4267597"/>
            <a:ext cx="420290" cy="608409"/>
            <a:chOff x="5047" y="3547"/>
            <a:chExt cx="353" cy="511"/>
          </a:xfrm>
        </p:grpSpPr>
        <p:sp>
          <p:nvSpPr>
            <p:cNvPr id="758" name="Freeform 123">
              <a:extLst>
                <a:ext uri="{FF2B5EF4-FFF2-40B4-BE49-F238E27FC236}">
                  <a16:creationId xmlns:a16="http://schemas.microsoft.com/office/drawing/2014/main" id="{3CBF1CB8-9E21-4491-9332-5F0CC1CD1FD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058" y="3547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59" name="Group 142">
              <a:extLst>
                <a:ext uri="{FF2B5EF4-FFF2-40B4-BE49-F238E27FC236}">
                  <a16:creationId xmlns:a16="http://schemas.microsoft.com/office/drawing/2014/main" id="{F8D76689-C914-467C-90DA-4CB847D06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7" y="3773"/>
              <a:ext cx="347" cy="285"/>
              <a:chOff x="2886" y="1668"/>
              <a:chExt cx="347" cy="285"/>
            </a:xfrm>
          </p:grpSpPr>
          <p:sp>
            <p:nvSpPr>
              <p:cNvPr id="760" name="Rectangle 143">
                <a:extLst>
                  <a:ext uri="{FF2B5EF4-FFF2-40B4-BE49-F238E27FC236}">
                    <a16:creationId xmlns:a16="http://schemas.microsoft.com/office/drawing/2014/main" id="{A6B02E0D-E720-4A6D-8105-CA395A2E4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1" name="Oval 144">
                <a:extLst>
                  <a:ext uri="{FF2B5EF4-FFF2-40B4-BE49-F238E27FC236}">
                    <a16:creationId xmlns:a16="http://schemas.microsoft.com/office/drawing/2014/main" id="{CB1DBC83-003C-416A-B417-94321D6C2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2" name="Rectangle 145">
                <a:extLst>
                  <a:ext uri="{FF2B5EF4-FFF2-40B4-BE49-F238E27FC236}">
                    <a16:creationId xmlns:a16="http://schemas.microsoft.com/office/drawing/2014/main" id="{6A6BE1F5-4115-4328-B4E8-9F9E04C16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3" name="Line 146">
                <a:extLst>
                  <a:ext uri="{FF2B5EF4-FFF2-40B4-BE49-F238E27FC236}">
                    <a16:creationId xmlns:a16="http://schemas.microsoft.com/office/drawing/2014/main" id="{097B6CCA-94E0-428E-BE10-B44CD7EBC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4" name="Line 147">
                <a:extLst>
                  <a:ext uri="{FF2B5EF4-FFF2-40B4-BE49-F238E27FC236}">
                    <a16:creationId xmlns:a16="http://schemas.microsoft.com/office/drawing/2014/main" id="{9264E1E1-FBEF-48C8-8DA2-C610C08F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5" name="Line 148">
                <a:extLst>
                  <a:ext uri="{FF2B5EF4-FFF2-40B4-BE49-F238E27FC236}">
                    <a16:creationId xmlns:a16="http://schemas.microsoft.com/office/drawing/2014/main" id="{63E37A54-E798-4FFD-BDCE-42ED39F66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6" name="AutoShape 149">
                <a:extLst>
                  <a:ext uri="{FF2B5EF4-FFF2-40B4-BE49-F238E27FC236}">
                    <a16:creationId xmlns:a16="http://schemas.microsoft.com/office/drawing/2014/main" id="{16A72DDE-92C4-4F9F-B5B7-91D761A92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67" name="Group 173">
            <a:extLst>
              <a:ext uri="{FF2B5EF4-FFF2-40B4-BE49-F238E27FC236}">
                <a16:creationId xmlns:a16="http://schemas.microsoft.com/office/drawing/2014/main" id="{F3DECDE0-8F2B-45FA-848B-769C32176E74}"/>
              </a:ext>
            </a:extLst>
          </p:cNvPr>
          <p:cNvGrpSpPr>
            <a:grpSpLocks/>
          </p:cNvGrpSpPr>
          <p:nvPr/>
        </p:nvGrpSpPr>
        <p:grpSpPr bwMode="auto">
          <a:xfrm>
            <a:off x="6695219" y="4036616"/>
            <a:ext cx="413147" cy="675084"/>
            <a:chOff x="4609" y="3353"/>
            <a:chExt cx="347" cy="567"/>
          </a:xfrm>
        </p:grpSpPr>
        <p:sp>
          <p:nvSpPr>
            <p:cNvPr id="768" name="Freeform 125">
              <a:extLst>
                <a:ext uri="{FF2B5EF4-FFF2-40B4-BE49-F238E27FC236}">
                  <a16:creationId xmlns:a16="http://schemas.microsoft.com/office/drawing/2014/main" id="{FD706F48-87E0-4B3E-9ACB-D5B0D4FA1A6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611" y="3353"/>
              <a:ext cx="342" cy="285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73 h 816"/>
                <a:gd name="T4" fmla="*/ 313 w 1443"/>
                <a:gd name="T5" fmla="*/ 275 h 816"/>
                <a:gd name="T6" fmla="*/ 342 w 1443"/>
                <a:gd name="T7" fmla="*/ 2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69" name="Group 150">
              <a:extLst>
                <a:ext uri="{FF2B5EF4-FFF2-40B4-BE49-F238E27FC236}">
                  <a16:creationId xmlns:a16="http://schemas.microsoft.com/office/drawing/2014/main" id="{1B8C0FFF-3C96-4AD7-918F-3FE68F5BB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9" y="3635"/>
              <a:ext cx="347" cy="285"/>
              <a:chOff x="2886" y="1668"/>
              <a:chExt cx="347" cy="285"/>
            </a:xfrm>
          </p:grpSpPr>
          <p:sp>
            <p:nvSpPr>
              <p:cNvPr id="770" name="Rectangle 151">
                <a:extLst>
                  <a:ext uri="{FF2B5EF4-FFF2-40B4-BE49-F238E27FC236}">
                    <a16:creationId xmlns:a16="http://schemas.microsoft.com/office/drawing/2014/main" id="{3BA66704-8861-4154-B1FE-D4EC3A0EE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1" name="Oval 152">
                <a:extLst>
                  <a:ext uri="{FF2B5EF4-FFF2-40B4-BE49-F238E27FC236}">
                    <a16:creationId xmlns:a16="http://schemas.microsoft.com/office/drawing/2014/main" id="{F7A2B7F5-50AC-4B7C-9543-B6D86B2A4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2" name="Rectangle 153">
                <a:extLst>
                  <a:ext uri="{FF2B5EF4-FFF2-40B4-BE49-F238E27FC236}">
                    <a16:creationId xmlns:a16="http://schemas.microsoft.com/office/drawing/2014/main" id="{2002F8A2-1529-40C2-A1C6-B6653572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3" name="Line 154">
                <a:extLst>
                  <a:ext uri="{FF2B5EF4-FFF2-40B4-BE49-F238E27FC236}">
                    <a16:creationId xmlns:a16="http://schemas.microsoft.com/office/drawing/2014/main" id="{A68A7E7C-A1C6-4900-9869-75EFF278E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4" name="Line 155">
                <a:extLst>
                  <a:ext uri="{FF2B5EF4-FFF2-40B4-BE49-F238E27FC236}">
                    <a16:creationId xmlns:a16="http://schemas.microsoft.com/office/drawing/2014/main" id="{C5A4F73E-EF5C-403A-9157-1CBE8BB4B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5" name="Line 156">
                <a:extLst>
                  <a:ext uri="{FF2B5EF4-FFF2-40B4-BE49-F238E27FC236}">
                    <a16:creationId xmlns:a16="http://schemas.microsoft.com/office/drawing/2014/main" id="{7EFBCB68-77D7-48A5-B032-CEFB200F8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6" name="AutoShape 157">
                <a:extLst>
                  <a:ext uri="{FF2B5EF4-FFF2-40B4-BE49-F238E27FC236}">
                    <a16:creationId xmlns:a16="http://schemas.microsoft.com/office/drawing/2014/main" id="{A44D4E47-4C15-4DFB-A635-8291BEF84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77" name="Group 174">
            <a:extLst>
              <a:ext uri="{FF2B5EF4-FFF2-40B4-BE49-F238E27FC236}">
                <a16:creationId xmlns:a16="http://schemas.microsoft.com/office/drawing/2014/main" id="{872F321C-B37F-43D0-92DE-B2A89B9047F5}"/>
              </a:ext>
            </a:extLst>
          </p:cNvPr>
          <p:cNvGrpSpPr>
            <a:grpSpLocks/>
          </p:cNvGrpSpPr>
          <p:nvPr/>
        </p:nvGrpSpPr>
        <p:grpSpPr bwMode="auto">
          <a:xfrm>
            <a:off x="6203491" y="4255691"/>
            <a:ext cx="421481" cy="600075"/>
            <a:chOff x="4196" y="3537"/>
            <a:chExt cx="354" cy="504"/>
          </a:xfrm>
        </p:grpSpPr>
        <p:sp>
          <p:nvSpPr>
            <p:cNvPr id="778" name="Freeform 124">
              <a:extLst>
                <a:ext uri="{FF2B5EF4-FFF2-40B4-BE49-F238E27FC236}">
                  <a16:creationId xmlns:a16="http://schemas.microsoft.com/office/drawing/2014/main" id="{4BFE5E84-4A56-4988-8DD5-F1194101C42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208" y="3537"/>
              <a:ext cx="342" cy="234"/>
            </a:xfrm>
            <a:custGeom>
              <a:avLst/>
              <a:gdLst>
                <a:gd name="T0" fmla="*/ 0 w 1443"/>
                <a:gd name="T1" fmla="*/ 0 h 816"/>
                <a:gd name="T2" fmla="*/ 255 w 1443"/>
                <a:gd name="T3" fmla="*/ 224 h 816"/>
                <a:gd name="T4" fmla="*/ 313 w 1443"/>
                <a:gd name="T5" fmla="*/ 226 h 816"/>
                <a:gd name="T6" fmla="*/ 342 w 1443"/>
                <a:gd name="T7" fmla="*/ 1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79" name="Group 158">
              <a:extLst>
                <a:ext uri="{FF2B5EF4-FFF2-40B4-BE49-F238E27FC236}">
                  <a16:creationId xmlns:a16="http://schemas.microsoft.com/office/drawing/2014/main" id="{852953D0-476F-48DD-9B77-87306C2EF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6" y="3756"/>
              <a:ext cx="347" cy="285"/>
              <a:chOff x="2886" y="1668"/>
              <a:chExt cx="347" cy="285"/>
            </a:xfrm>
          </p:grpSpPr>
          <p:sp>
            <p:nvSpPr>
              <p:cNvPr id="780" name="Rectangle 159">
                <a:extLst>
                  <a:ext uri="{FF2B5EF4-FFF2-40B4-BE49-F238E27FC236}">
                    <a16:creationId xmlns:a16="http://schemas.microsoft.com/office/drawing/2014/main" id="{38FD4C29-D912-4B47-A546-5C927CB26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1" name="Oval 160">
                <a:extLst>
                  <a:ext uri="{FF2B5EF4-FFF2-40B4-BE49-F238E27FC236}">
                    <a16:creationId xmlns:a16="http://schemas.microsoft.com/office/drawing/2014/main" id="{4116E81D-AB55-435F-BAFE-0092B8294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2" name="Rectangle 161">
                <a:extLst>
                  <a:ext uri="{FF2B5EF4-FFF2-40B4-BE49-F238E27FC236}">
                    <a16:creationId xmlns:a16="http://schemas.microsoft.com/office/drawing/2014/main" id="{379DA93F-8149-44EF-BE5E-5D69139D4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3" name="Line 162">
                <a:extLst>
                  <a:ext uri="{FF2B5EF4-FFF2-40B4-BE49-F238E27FC236}">
                    <a16:creationId xmlns:a16="http://schemas.microsoft.com/office/drawing/2014/main" id="{D70D2EE0-D419-4F7A-A828-E70E87BED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4" name="Line 163">
                <a:extLst>
                  <a:ext uri="{FF2B5EF4-FFF2-40B4-BE49-F238E27FC236}">
                    <a16:creationId xmlns:a16="http://schemas.microsoft.com/office/drawing/2014/main" id="{7752BA0F-9FA3-47A4-B970-47B12A89C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5" name="Line 164">
                <a:extLst>
                  <a:ext uri="{FF2B5EF4-FFF2-40B4-BE49-F238E27FC236}">
                    <a16:creationId xmlns:a16="http://schemas.microsoft.com/office/drawing/2014/main" id="{9647583B-DF4A-448A-9A8D-149CB3504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6" name="AutoShape 165">
                <a:extLst>
                  <a:ext uri="{FF2B5EF4-FFF2-40B4-BE49-F238E27FC236}">
                    <a16:creationId xmlns:a16="http://schemas.microsoft.com/office/drawing/2014/main" id="{D38D069C-7253-49EA-BD47-F732ADDBD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7" name="Rectangle 181">
            <a:extLst>
              <a:ext uri="{FF2B5EF4-FFF2-40B4-BE49-F238E27FC236}">
                <a16:creationId xmlns:a16="http://schemas.microsoft.com/office/drawing/2014/main" id="{9B9BF3FB-433F-4B0F-856C-AB5A18E51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743" y="2338784"/>
            <a:ext cx="594122" cy="12620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" name="Line 119">
            <a:extLst>
              <a:ext uri="{FF2B5EF4-FFF2-40B4-BE49-F238E27FC236}">
                <a16:creationId xmlns:a16="http://schemas.microsoft.com/office/drawing/2014/main" id="{80563DF0-00E4-4A7D-AB01-0F053A052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4329" y="2464988"/>
            <a:ext cx="265508" cy="10156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9" name="Line 99">
            <a:extLst>
              <a:ext uri="{FF2B5EF4-FFF2-40B4-BE49-F238E27FC236}">
                <a16:creationId xmlns:a16="http://schemas.microsoft.com/office/drawing/2014/main" id="{C66D7DA6-FA60-4D29-83AA-E856FD5BC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2676" y="3600847"/>
            <a:ext cx="316706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90" name="Group 183">
            <a:extLst>
              <a:ext uri="{FF2B5EF4-FFF2-40B4-BE49-F238E27FC236}">
                <a16:creationId xmlns:a16="http://schemas.microsoft.com/office/drawing/2014/main" id="{CAD285AB-D73C-43F3-8E94-BB82312CC0E6}"/>
              </a:ext>
            </a:extLst>
          </p:cNvPr>
          <p:cNvGrpSpPr>
            <a:grpSpLocks/>
          </p:cNvGrpSpPr>
          <p:nvPr/>
        </p:nvGrpSpPr>
        <p:grpSpPr bwMode="auto">
          <a:xfrm>
            <a:off x="4623530" y="3484168"/>
            <a:ext cx="889396" cy="230981"/>
            <a:chOff x="2869" y="2889"/>
            <a:chExt cx="747" cy="194"/>
          </a:xfrm>
        </p:grpSpPr>
        <p:sp>
          <p:nvSpPr>
            <p:cNvPr id="791" name="Rectangle 97">
              <a:extLst>
                <a:ext uri="{FF2B5EF4-FFF2-40B4-BE49-F238E27FC236}">
                  <a16:creationId xmlns:a16="http://schemas.microsoft.com/office/drawing/2014/main" id="{41B54E55-D90C-438C-BC0E-17FE0D38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" y="2889"/>
              <a:ext cx="728" cy="1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2" name="Rectangle 98">
              <a:extLst>
                <a:ext uri="{FF2B5EF4-FFF2-40B4-BE49-F238E27FC236}">
                  <a16:creationId xmlns:a16="http://schemas.microsoft.com/office/drawing/2014/main" id="{3A046C24-4CD4-46D0-B4F5-2000BB1BB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2904"/>
              <a:ext cx="723" cy="15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3" name="Rectangle 104">
              <a:extLst>
                <a:ext uri="{FF2B5EF4-FFF2-40B4-BE49-F238E27FC236}">
                  <a16:creationId xmlns:a16="http://schemas.microsoft.com/office/drawing/2014/main" id="{141007E5-6248-45E1-8A63-EC215AE1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2906"/>
              <a:ext cx="269" cy="1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4" name="Text Box 105">
              <a:extLst>
                <a:ext uri="{FF2B5EF4-FFF2-40B4-BE49-F238E27FC236}">
                  <a16:creationId xmlns:a16="http://schemas.microsoft.com/office/drawing/2014/main" id="{B8D9C1FB-8AE1-4C10-8B11-F3CE0DA30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" y="2889"/>
              <a:ext cx="3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</a:p>
          </p:txBody>
        </p:sp>
      </p:grpSp>
      <p:sp>
        <p:nvSpPr>
          <p:cNvPr id="795" name="Line 107">
            <a:extLst>
              <a:ext uri="{FF2B5EF4-FFF2-40B4-BE49-F238E27FC236}">
                <a16:creationId xmlns:a16="http://schemas.microsoft.com/office/drawing/2014/main" id="{C01DD0A2-28E4-4701-85C8-5A8FCBF84E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9270" y="3698478"/>
            <a:ext cx="10120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6" name="Line 119">
            <a:extLst>
              <a:ext uri="{FF2B5EF4-FFF2-40B4-BE49-F238E27FC236}">
                <a16:creationId xmlns:a16="http://schemas.microsoft.com/office/drawing/2014/main" id="{0F43B330-323F-4610-962E-B587AFF6B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01" y="3263900"/>
            <a:ext cx="296465" cy="2107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7" name="直接连接符 796">
            <a:extLst>
              <a:ext uri="{FF2B5EF4-FFF2-40B4-BE49-F238E27FC236}">
                <a16:creationId xmlns:a16="http://schemas.microsoft.com/office/drawing/2014/main" id="{865891CF-BC96-4A14-B357-7C2425B09DAA}"/>
              </a:ext>
            </a:extLst>
          </p:cNvPr>
          <p:cNvCxnSpPr/>
          <p:nvPr/>
        </p:nvCxnSpPr>
        <p:spPr>
          <a:xfrm flipH="1" flipV="1">
            <a:off x="6423660" y="1866900"/>
            <a:ext cx="6050" cy="1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直接连接符 797">
            <a:extLst>
              <a:ext uri="{FF2B5EF4-FFF2-40B4-BE49-F238E27FC236}">
                <a16:creationId xmlns:a16="http://schemas.microsoft.com/office/drawing/2014/main" id="{F02600F6-D1AB-4946-B359-CC4BAA3AFD7F}"/>
              </a:ext>
            </a:extLst>
          </p:cNvPr>
          <p:cNvCxnSpPr>
            <a:cxnSpLocks/>
          </p:cNvCxnSpPr>
          <p:nvPr/>
        </p:nvCxnSpPr>
        <p:spPr>
          <a:xfrm>
            <a:off x="6392800" y="1453555"/>
            <a:ext cx="1707592" cy="0"/>
          </a:xfrm>
          <a:prstGeom prst="line">
            <a:avLst/>
          </a:prstGeom>
          <a:ln w="254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" name="TextBox 232">
            <a:extLst>
              <a:ext uri="{FF2B5EF4-FFF2-40B4-BE49-F238E27FC236}">
                <a16:creationId xmlns:a16="http://schemas.microsoft.com/office/drawing/2014/main" id="{5D13C12F-DB5C-4FA7-905D-CAD1011FE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458" y="1489236"/>
            <a:ext cx="1212918" cy="2846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14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数据平面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0" name="TextBox 233">
            <a:extLst>
              <a:ext uri="{FF2B5EF4-FFF2-40B4-BE49-F238E27FC236}">
                <a16:creationId xmlns:a16="http://schemas.microsoft.com/office/drawing/2014/main" id="{719E6DA1-D3DF-4A2F-A1A7-9A10E908E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2906" y="1155018"/>
            <a:ext cx="876817" cy="2713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ts val="146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控制平面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9103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3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IP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数据报封装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(IPv4)</a:t>
            </a:r>
            <a:endParaRPr lang="zh-CN" altLang="en-US" dirty="0">
              <a:solidFill>
                <a:srgbClr val="FF0000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51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" name="Line 3">
            <a:extLst>
              <a:ext uri="{FF2B5EF4-FFF2-40B4-BE49-F238E27FC236}">
                <a16:creationId xmlns:a16="http://schemas.microsoft.com/office/drawing/2014/main" id="{01B63DAC-DDF3-4ED3-86CB-33EBEA7B9D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1480" y="1901863"/>
            <a:ext cx="10820" cy="1515827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Rectangle 4">
            <a:extLst>
              <a:ext uri="{FF2B5EF4-FFF2-40B4-BE49-F238E27FC236}">
                <a16:creationId xmlns:a16="http://schemas.microsoft.com/office/drawing/2014/main" id="{0CBF8B02-338E-425F-84C0-AC5B03717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322" y="2518545"/>
            <a:ext cx="521778" cy="2058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</a:pPr>
            <a:r>
              <a:rPr kumimoji="1" lang="en-US" altLang="zh-C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186" name="Line 5">
            <a:extLst>
              <a:ext uri="{FF2B5EF4-FFF2-40B4-BE49-F238E27FC236}">
                <a16:creationId xmlns:a16="http://schemas.microsoft.com/office/drawing/2014/main" id="{B151B023-72F9-44DB-AB95-5E93B069C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0293" y="1898372"/>
            <a:ext cx="0" cy="1273225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Rectangle 6">
            <a:extLst>
              <a:ext uri="{FF2B5EF4-FFF2-40B4-BE49-F238E27FC236}">
                <a16:creationId xmlns:a16="http://schemas.microsoft.com/office/drawing/2014/main" id="{26DD5793-F02D-4580-A88B-FB6B39F4B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213" y="2357541"/>
            <a:ext cx="650018" cy="34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lnSpc>
                <a:spcPct val="90000"/>
              </a:lnSpc>
            </a:pPr>
            <a:r>
              <a:rPr kumimoji="1" lang="en-US" altLang="zh-C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  <a:p>
            <a:pPr algn="ctr" eaLnBrk="0" hangingPunct="0">
              <a:lnSpc>
                <a:spcPct val="90000"/>
              </a:lnSpc>
            </a:pP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固定首部</a:t>
            </a:r>
          </a:p>
        </p:txBody>
      </p:sp>
      <p:sp>
        <p:nvSpPr>
          <p:cNvPr id="188" name="Rectangle 7">
            <a:extLst>
              <a:ext uri="{FF2B5EF4-FFF2-40B4-BE49-F238E27FC236}">
                <a16:creationId xmlns:a16="http://schemas.microsoft.com/office/drawing/2014/main" id="{7EE9753F-64A6-4F56-9C90-628E38062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409" y="1900990"/>
            <a:ext cx="4641900" cy="151931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Freeform 9">
            <a:extLst>
              <a:ext uri="{FF2B5EF4-FFF2-40B4-BE49-F238E27FC236}">
                <a16:creationId xmlns:a16="http://schemas.microsoft.com/office/drawing/2014/main" id="{32493C4E-4E1B-4491-9733-F43D96F19A2A}"/>
              </a:ext>
            </a:extLst>
          </p:cNvPr>
          <p:cNvSpPr>
            <a:spLocks/>
          </p:cNvSpPr>
          <p:nvPr/>
        </p:nvSpPr>
        <p:spPr bwMode="auto">
          <a:xfrm>
            <a:off x="2144901" y="3453948"/>
            <a:ext cx="4652720" cy="382623"/>
          </a:xfrm>
          <a:custGeom>
            <a:avLst/>
            <a:gdLst>
              <a:gd name="T0" fmla="*/ 0 w 4626"/>
              <a:gd name="T1" fmla="*/ 0 h 544"/>
              <a:gd name="T2" fmla="*/ 861 w 4626"/>
              <a:gd name="T3" fmla="*/ 544 h 544"/>
              <a:gd name="T4" fmla="*/ 1814 w 4626"/>
              <a:gd name="T5" fmla="*/ 544 h 544"/>
              <a:gd name="T6" fmla="*/ 4626 w 4626"/>
              <a:gd name="T7" fmla="*/ 0 h 544"/>
              <a:gd name="T8" fmla="*/ 0 w 4626"/>
              <a:gd name="T9" fmla="*/ 0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26" h="544">
                <a:moveTo>
                  <a:pt x="0" y="0"/>
                </a:moveTo>
                <a:lnTo>
                  <a:pt x="861" y="544"/>
                </a:lnTo>
                <a:lnTo>
                  <a:pt x="1814" y="544"/>
                </a:lnTo>
                <a:lnTo>
                  <a:pt x="4626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FFCC">
                  <a:gamma/>
                  <a:shade val="69804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Line 10">
            <a:extLst>
              <a:ext uri="{FF2B5EF4-FFF2-40B4-BE49-F238E27FC236}">
                <a16:creationId xmlns:a16="http://schemas.microsoft.com/office/drawing/2014/main" id="{6F93C8EE-52AB-44A9-BEBE-2E90013F8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081" y="2159300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Line 11">
            <a:extLst>
              <a:ext uri="{FF2B5EF4-FFF2-40B4-BE49-F238E27FC236}">
                <a16:creationId xmlns:a16="http://schemas.microsoft.com/office/drawing/2014/main" id="{DBD7EE56-55D8-4377-8351-1D9ED71EB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2738" y="2414993"/>
            <a:ext cx="464081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Line 12">
            <a:extLst>
              <a:ext uri="{FF2B5EF4-FFF2-40B4-BE49-F238E27FC236}">
                <a16:creationId xmlns:a16="http://schemas.microsoft.com/office/drawing/2014/main" id="{27A88D5A-40F1-4FED-8378-C777D42E4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081" y="2669812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Line 13">
            <a:extLst>
              <a:ext uri="{FF2B5EF4-FFF2-40B4-BE49-F238E27FC236}">
                <a16:creationId xmlns:a16="http://schemas.microsoft.com/office/drawing/2014/main" id="{CA1961E0-5268-44A5-9628-4C349901D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081" y="2924632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Line 14">
            <a:extLst>
              <a:ext uri="{FF2B5EF4-FFF2-40B4-BE49-F238E27FC236}">
                <a16:creationId xmlns:a16="http://schemas.microsoft.com/office/drawing/2014/main" id="{6FB2606E-DDF4-4066-AAFF-173CFD9F4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2738" y="3180324"/>
            <a:ext cx="464081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Line 15">
            <a:extLst>
              <a:ext uri="{FF2B5EF4-FFF2-40B4-BE49-F238E27FC236}">
                <a16:creationId xmlns:a16="http://schemas.microsoft.com/office/drawing/2014/main" id="{E25372A8-0FD0-468B-BB59-49B5FB776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41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Line 35">
            <a:extLst>
              <a:ext uri="{FF2B5EF4-FFF2-40B4-BE49-F238E27FC236}">
                <a16:creationId xmlns:a16="http://schemas.microsoft.com/office/drawing/2014/main" id="{ED8D6F38-8E3D-4447-AEEC-99DD0882E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983" y="1564139"/>
            <a:ext cx="46310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Rectangle 36">
            <a:extLst>
              <a:ext uri="{FF2B5EF4-FFF2-40B4-BE49-F238E27FC236}">
                <a16:creationId xmlns:a16="http://schemas.microsoft.com/office/drawing/2014/main" id="{2A07A739-3727-43DE-972A-AC906E859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8551" y="1371446"/>
            <a:ext cx="595516" cy="228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bits</a:t>
            </a:r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ECED2553-2F2F-4D3A-84E9-3796EF083D0B}"/>
              </a:ext>
            </a:extLst>
          </p:cNvPr>
          <p:cNvGrpSpPr/>
          <p:nvPr/>
        </p:nvGrpSpPr>
        <p:grpSpPr>
          <a:xfrm>
            <a:off x="1765733" y="1606091"/>
            <a:ext cx="5078416" cy="206822"/>
            <a:chOff x="1765733" y="1636571"/>
            <a:chExt cx="5078416" cy="206822"/>
          </a:xfrm>
        </p:grpSpPr>
        <p:sp>
          <p:nvSpPr>
            <p:cNvPr id="199" name="Line 37">
              <a:extLst>
                <a:ext uri="{FF2B5EF4-FFF2-40B4-BE49-F238E27FC236}">
                  <a16:creationId xmlns:a16="http://schemas.microsoft.com/office/drawing/2014/main" id="{2628DD7B-B543-472F-9366-06ED3DC4B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246" y="1843393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38">
              <a:extLst>
                <a:ext uri="{FF2B5EF4-FFF2-40B4-BE49-F238E27FC236}">
                  <a16:creationId xmlns:a16="http://schemas.microsoft.com/office/drawing/2014/main" id="{6FC07AA9-65AA-4791-AECE-602948EA3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246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Line 39">
              <a:extLst>
                <a:ext uri="{FF2B5EF4-FFF2-40B4-BE49-F238E27FC236}">
                  <a16:creationId xmlns:a16="http://schemas.microsoft.com/office/drawing/2014/main" id="{928BE8BA-959D-4778-953A-9E14C116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237" y="1799982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Line 40">
              <a:extLst>
                <a:ext uri="{FF2B5EF4-FFF2-40B4-BE49-F238E27FC236}">
                  <a16:creationId xmlns:a16="http://schemas.microsoft.com/office/drawing/2014/main" id="{09ACB3C6-265D-4545-834A-D5CC0F4E5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229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41">
              <a:extLst>
                <a:ext uri="{FF2B5EF4-FFF2-40B4-BE49-F238E27FC236}">
                  <a16:creationId xmlns:a16="http://schemas.microsoft.com/office/drawing/2014/main" id="{F5F4E3C4-1AAD-440E-ABE2-53CB802DF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122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42">
              <a:extLst>
                <a:ext uri="{FF2B5EF4-FFF2-40B4-BE49-F238E27FC236}">
                  <a16:creationId xmlns:a16="http://schemas.microsoft.com/office/drawing/2014/main" id="{5B1579DB-371E-4A7E-B4B2-5904E9246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6212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43">
              <a:extLst>
                <a:ext uri="{FF2B5EF4-FFF2-40B4-BE49-F238E27FC236}">
                  <a16:creationId xmlns:a16="http://schemas.microsoft.com/office/drawing/2014/main" id="{1F8A1A04-CE59-4F06-BDE1-2F6EE7F0E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120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44">
              <a:extLst>
                <a:ext uri="{FF2B5EF4-FFF2-40B4-BE49-F238E27FC236}">
                  <a16:creationId xmlns:a16="http://schemas.microsoft.com/office/drawing/2014/main" id="{9740D07D-630F-47F9-B290-8ABE2B573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1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Line 45">
              <a:extLst>
                <a:ext uri="{FF2B5EF4-FFF2-40B4-BE49-F238E27FC236}">
                  <a16:creationId xmlns:a16="http://schemas.microsoft.com/office/drawing/2014/main" id="{4D7F47C6-871E-45CE-B923-BB8AABD4D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10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46">
              <a:extLst>
                <a:ext uri="{FF2B5EF4-FFF2-40B4-BE49-F238E27FC236}">
                  <a16:creationId xmlns:a16="http://schemas.microsoft.com/office/drawing/2014/main" id="{87E21CA9-4984-4353-BBFD-3028E7706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097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47">
              <a:extLst>
                <a:ext uri="{FF2B5EF4-FFF2-40B4-BE49-F238E27FC236}">
                  <a16:creationId xmlns:a16="http://schemas.microsoft.com/office/drawing/2014/main" id="{56160792-56CB-41B0-9CF2-CDA9C1D74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008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Line 48">
              <a:extLst>
                <a:ext uri="{FF2B5EF4-FFF2-40B4-BE49-F238E27FC236}">
                  <a16:creationId xmlns:a16="http://schemas.microsoft.com/office/drawing/2014/main" id="{7ED8D2BD-F75D-43EC-B3D3-95F5795AF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08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Line 49">
              <a:extLst>
                <a:ext uri="{FF2B5EF4-FFF2-40B4-BE49-F238E27FC236}">
                  <a16:creationId xmlns:a16="http://schemas.microsoft.com/office/drawing/2014/main" id="{0A0BBD62-F4BE-4386-A23D-CBB92A34C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072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50">
              <a:extLst>
                <a:ext uri="{FF2B5EF4-FFF2-40B4-BE49-F238E27FC236}">
                  <a16:creationId xmlns:a16="http://schemas.microsoft.com/office/drawing/2014/main" id="{BB8D3FDB-8A3F-4400-AE1E-6B48CE6AD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06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Line 51">
              <a:extLst>
                <a:ext uri="{FF2B5EF4-FFF2-40B4-BE49-F238E27FC236}">
                  <a16:creationId xmlns:a16="http://schemas.microsoft.com/office/drawing/2014/main" id="{4FF32806-1580-4E31-9BFE-6AC831841D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05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52">
              <a:extLst>
                <a:ext uri="{FF2B5EF4-FFF2-40B4-BE49-F238E27FC236}">
                  <a16:creationId xmlns:a16="http://schemas.microsoft.com/office/drawing/2014/main" id="{EEC39FC7-2929-43BF-82F0-5A67E87D9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96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53">
              <a:extLst>
                <a:ext uri="{FF2B5EF4-FFF2-40B4-BE49-F238E27FC236}">
                  <a16:creationId xmlns:a16="http://schemas.microsoft.com/office/drawing/2014/main" id="{EF6067FB-3642-4227-8217-267E72219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95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54">
              <a:extLst>
                <a:ext uri="{FF2B5EF4-FFF2-40B4-BE49-F238E27FC236}">
                  <a16:creationId xmlns:a16="http://schemas.microsoft.com/office/drawing/2014/main" id="{C979BD41-7B2C-40E9-8F3A-1A4D04F51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949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55">
              <a:extLst>
                <a:ext uri="{FF2B5EF4-FFF2-40B4-BE49-F238E27FC236}">
                  <a16:creationId xmlns:a16="http://schemas.microsoft.com/office/drawing/2014/main" id="{A0999AB4-E01D-47D8-8BCB-4A7559F36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894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56">
              <a:extLst>
                <a:ext uri="{FF2B5EF4-FFF2-40B4-BE49-F238E27FC236}">
                  <a16:creationId xmlns:a16="http://schemas.microsoft.com/office/drawing/2014/main" id="{D8A9470F-F73A-4565-8734-E1DA0F12A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93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57">
              <a:extLst>
                <a:ext uri="{FF2B5EF4-FFF2-40B4-BE49-F238E27FC236}">
                  <a16:creationId xmlns:a16="http://schemas.microsoft.com/office/drawing/2014/main" id="{383B737F-40E4-4FC7-9791-2AF147738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892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58">
              <a:extLst>
                <a:ext uri="{FF2B5EF4-FFF2-40B4-BE49-F238E27FC236}">
                  <a16:creationId xmlns:a16="http://schemas.microsoft.com/office/drawing/2014/main" id="{45E990C5-87A8-4664-8B0D-DC8191548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3916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59">
              <a:extLst>
                <a:ext uri="{FF2B5EF4-FFF2-40B4-BE49-F238E27FC236}">
                  <a16:creationId xmlns:a16="http://schemas.microsoft.com/office/drawing/2014/main" id="{7E0DB950-77A3-47C5-A81F-D1F60C250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890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60">
              <a:extLst>
                <a:ext uri="{FF2B5EF4-FFF2-40B4-BE49-F238E27FC236}">
                  <a16:creationId xmlns:a16="http://schemas.microsoft.com/office/drawing/2014/main" id="{A89FB743-6685-4972-A67E-4562DDF5A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817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61">
              <a:extLst>
                <a:ext uri="{FF2B5EF4-FFF2-40B4-BE49-F238E27FC236}">
                  <a16:creationId xmlns:a16="http://schemas.microsoft.com/office/drawing/2014/main" id="{82078006-86AE-4A34-A3A4-D3D8746F6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7809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Line 62">
              <a:extLst>
                <a:ext uri="{FF2B5EF4-FFF2-40B4-BE49-F238E27FC236}">
                  <a16:creationId xmlns:a16="http://schemas.microsoft.com/office/drawing/2014/main" id="{DC767EEB-345C-4EDD-B06F-C9F2879AB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2801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Line 63">
              <a:extLst>
                <a:ext uri="{FF2B5EF4-FFF2-40B4-BE49-F238E27FC236}">
                  <a16:creationId xmlns:a16="http://schemas.microsoft.com/office/drawing/2014/main" id="{47AE3A65-956D-4F5C-A775-DA36DA278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779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64">
              <a:extLst>
                <a:ext uri="{FF2B5EF4-FFF2-40B4-BE49-F238E27FC236}">
                  <a16:creationId xmlns:a16="http://schemas.microsoft.com/office/drawing/2014/main" id="{2CD3CAEA-377A-4ECB-91C2-BF8B6BDF9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78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65">
              <a:extLst>
                <a:ext uri="{FF2B5EF4-FFF2-40B4-BE49-F238E27FC236}">
                  <a16:creationId xmlns:a16="http://schemas.microsoft.com/office/drawing/2014/main" id="{4689507B-B6BC-44DC-A328-F908BE919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7776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8" name="Line 66">
              <a:extLst>
                <a:ext uri="{FF2B5EF4-FFF2-40B4-BE49-F238E27FC236}">
                  <a16:creationId xmlns:a16="http://schemas.microsoft.com/office/drawing/2014/main" id="{1934447B-E3B3-4FF6-AD91-BB5A02649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767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Line 67">
              <a:extLst>
                <a:ext uri="{FF2B5EF4-FFF2-40B4-BE49-F238E27FC236}">
                  <a16:creationId xmlns:a16="http://schemas.microsoft.com/office/drawing/2014/main" id="{A50DED11-DF5C-4D6B-B44B-3CD0893E4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776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0" name="Line 68">
              <a:extLst>
                <a:ext uri="{FF2B5EF4-FFF2-40B4-BE49-F238E27FC236}">
                  <a16:creationId xmlns:a16="http://schemas.microsoft.com/office/drawing/2014/main" id="{D339B270-AC2E-4577-893F-DB5FD919D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167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Line 69">
              <a:extLst>
                <a:ext uri="{FF2B5EF4-FFF2-40B4-BE49-F238E27FC236}">
                  <a16:creationId xmlns:a16="http://schemas.microsoft.com/office/drawing/2014/main" id="{BE336D68-250D-41A8-98BE-FEE40AA0B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666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Line 70">
              <a:extLst>
                <a:ext uri="{FF2B5EF4-FFF2-40B4-BE49-F238E27FC236}">
                  <a16:creationId xmlns:a16="http://schemas.microsoft.com/office/drawing/2014/main" id="{813475E6-43B4-49AE-BFA9-694B4B45E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1653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Rectangle 80">
              <a:extLst>
                <a:ext uri="{FF2B5EF4-FFF2-40B4-BE49-F238E27FC236}">
                  <a16:creationId xmlns:a16="http://schemas.microsoft.com/office/drawing/2014/main" id="{3FF38BCA-34DC-46B3-89B7-4B7509E67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733" y="1636571"/>
              <a:ext cx="5078416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  </a:t>
              </a:r>
              <a:r>
                <a:rPr kumimoji="1"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0                                8                                16                              24                          31</a:t>
              </a:r>
            </a:p>
          </p:txBody>
        </p:sp>
      </p:grpSp>
      <p:sp>
        <p:nvSpPr>
          <p:cNvPr id="234" name="Line 96">
            <a:extLst>
              <a:ext uri="{FF2B5EF4-FFF2-40B4-BE49-F238E27FC236}">
                <a16:creationId xmlns:a16="http://schemas.microsoft.com/office/drawing/2014/main" id="{20F12152-89B1-4EB4-9C1D-2E19AAF69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4149" y="1892263"/>
            <a:ext cx="32014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Line 97">
            <a:extLst>
              <a:ext uri="{FF2B5EF4-FFF2-40B4-BE49-F238E27FC236}">
                <a16:creationId xmlns:a16="http://schemas.microsoft.com/office/drawing/2014/main" id="{99C8D06E-8864-4B9A-B50D-7D0BC689A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4148" y="3176833"/>
            <a:ext cx="320141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Line 98">
            <a:extLst>
              <a:ext uri="{FF2B5EF4-FFF2-40B4-BE49-F238E27FC236}">
                <a16:creationId xmlns:a16="http://schemas.microsoft.com/office/drawing/2014/main" id="{4083A633-51E8-48E5-95C2-A7EDB4EAA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9176" y="1906226"/>
            <a:ext cx="3202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" name="Line 99">
            <a:extLst>
              <a:ext uri="{FF2B5EF4-FFF2-40B4-BE49-F238E27FC236}">
                <a16:creationId xmlns:a16="http://schemas.microsoft.com/office/drawing/2014/main" id="{F488D259-28EE-48F6-8060-84EDEAF76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7832" y="3413327"/>
            <a:ext cx="3202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Line 15">
            <a:extLst>
              <a:ext uri="{FF2B5EF4-FFF2-40B4-BE49-F238E27FC236}">
                <a16:creationId xmlns:a16="http://schemas.microsoft.com/office/drawing/2014/main" id="{48F7A9CB-6D09-486A-A1D4-947386347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8801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Line 15">
            <a:extLst>
              <a:ext uri="{FF2B5EF4-FFF2-40B4-BE49-F238E27FC236}">
                <a16:creationId xmlns:a16="http://schemas.microsoft.com/office/drawing/2014/main" id="{028A5A3F-671C-4BD9-A16A-5996B5AEC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41" y="2159290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Line 15">
            <a:extLst>
              <a:ext uri="{FF2B5EF4-FFF2-40B4-BE49-F238E27FC236}">
                <a16:creationId xmlns:a16="http://schemas.microsoft.com/office/drawing/2014/main" id="{7C1D1BD7-A50E-4D7D-BDCD-F8058A594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967" y="2153056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Line 15">
            <a:extLst>
              <a:ext uri="{FF2B5EF4-FFF2-40B4-BE49-F238E27FC236}">
                <a16:creationId xmlns:a16="http://schemas.microsoft.com/office/drawing/2014/main" id="{52B80460-87C1-4655-B936-28C0C914B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3874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Line 15">
            <a:extLst>
              <a:ext uri="{FF2B5EF4-FFF2-40B4-BE49-F238E27FC236}">
                <a16:creationId xmlns:a16="http://schemas.microsoft.com/office/drawing/2014/main" id="{66EC7120-38AB-42D9-917C-16CAD95AA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3874" y="2414993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Line 15">
            <a:extLst>
              <a:ext uri="{FF2B5EF4-FFF2-40B4-BE49-F238E27FC236}">
                <a16:creationId xmlns:a16="http://schemas.microsoft.com/office/drawing/2014/main" id="{B0840FD8-6EFB-497C-B214-51999FD75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441" y="2410504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Line 15">
            <a:extLst>
              <a:ext uri="{FF2B5EF4-FFF2-40B4-BE49-F238E27FC236}">
                <a16:creationId xmlns:a16="http://schemas.microsoft.com/office/drawing/2014/main" id="{2647E17C-CB40-40C1-8588-3F6242D3E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157" y="317159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B060FA78-2209-4ECF-AEA6-41ABC9467BC4}"/>
              </a:ext>
            </a:extLst>
          </p:cNvPr>
          <p:cNvGrpSpPr/>
          <p:nvPr/>
        </p:nvGrpSpPr>
        <p:grpSpPr>
          <a:xfrm>
            <a:off x="2149674" y="1919559"/>
            <a:ext cx="4459415" cy="1500658"/>
            <a:chOff x="2149674" y="1919559"/>
            <a:chExt cx="4459415" cy="1500658"/>
          </a:xfrm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246" name="Rectangle 16">
              <a:extLst>
                <a:ext uri="{FF2B5EF4-FFF2-40B4-BE49-F238E27FC236}">
                  <a16:creationId xmlns:a16="http://schemas.microsoft.com/office/drawing/2014/main" id="{B4F57908-16C1-4F0D-AC4B-50C72513E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005" y="1919559"/>
              <a:ext cx="1185422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数据报长度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7" name="Rectangle 18">
              <a:extLst>
                <a:ext uri="{FF2B5EF4-FFF2-40B4-BE49-F238E27FC236}">
                  <a16:creationId xmlns:a16="http://schemas.microsoft.com/office/drawing/2014/main" id="{673674D6-4364-472A-8E34-F5EB914DB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891" y="2438983"/>
              <a:ext cx="810319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首部检验和</a:t>
              </a:r>
            </a:p>
          </p:txBody>
        </p:sp>
        <p:sp>
          <p:nvSpPr>
            <p:cNvPr id="248" name="Rectangle 19">
              <a:extLst>
                <a:ext uri="{FF2B5EF4-FFF2-40B4-BE49-F238E27FC236}">
                  <a16:creationId xmlns:a16="http://schemas.microsoft.com/office/drawing/2014/main" id="{6DAFA442-B684-4D50-A295-566AE6233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043" y="3185291"/>
              <a:ext cx="1931421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选项字段（如果有的话）</a:t>
              </a:r>
            </a:p>
          </p:txBody>
        </p:sp>
        <p:sp>
          <p:nvSpPr>
            <p:cNvPr id="249" name="Rectangle 20">
              <a:extLst>
                <a:ext uri="{FF2B5EF4-FFF2-40B4-BE49-F238E27FC236}">
                  <a16:creationId xmlns:a16="http://schemas.microsoft.com/office/drawing/2014/main" id="{63EC6838-B60B-4AC1-962C-22E223D02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892" y="1919559"/>
              <a:ext cx="71920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服务类型</a:t>
              </a:r>
            </a:p>
          </p:txBody>
        </p:sp>
        <p:sp>
          <p:nvSpPr>
            <p:cNvPr id="250" name="Rectangle 21">
              <a:extLst>
                <a:ext uri="{FF2B5EF4-FFF2-40B4-BE49-F238E27FC236}">
                  <a16:creationId xmlns:a16="http://schemas.microsoft.com/office/drawing/2014/main" id="{C7143215-080F-4011-81D3-F019D3922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490" y="2172088"/>
              <a:ext cx="534870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标志</a:t>
              </a:r>
            </a:p>
          </p:txBody>
        </p:sp>
        <p:sp>
          <p:nvSpPr>
            <p:cNvPr id="251" name="Rectangle 25">
              <a:extLst>
                <a:ext uri="{FF2B5EF4-FFF2-40B4-BE49-F238E27FC236}">
                  <a16:creationId xmlns:a16="http://schemas.microsoft.com/office/drawing/2014/main" id="{E9564983-AEAD-458B-A9C0-CC3B876A1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010" y="2431740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生存次数</a:t>
              </a:r>
            </a:p>
          </p:txBody>
        </p:sp>
        <p:sp>
          <p:nvSpPr>
            <p:cNvPr id="252" name="Rectangle 21">
              <a:extLst>
                <a:ext uri="{FF2B5EF4-FFF2-40B4-BE49-F238E27FC236}">
                  <a16:creationId xmlns:a16="http://schemas.microsoft.com/office/drawing/2014/main" id="{C5E38F34-96BE-4804-81E1-E4728F974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436" y="2171760"/>
              <a:ext cx="8086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16bit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标识</a:t>
              </a:r>
            </a:p>
          </p:txBody>
        </p:sp>
        <p:sp>
          <p:nvSpPr>
            <p:cNvPr id="253" name="Rectangle 25">
              <a:extLst>
                <a:ext uri="{FF2B5EF4-FFF2-40B4-BE49-F238E27FC236}">
                  <a16:creationId xmlns:a16="http://schemas.microsoft.com/office/drawing/2014/main" id="{A8B3EB9A-39F4-4B8A-B7D1-ED7E2D5DC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149" y="2431740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上层协议</a:t>
              </a:r>
            </a:p>
          </p:txBody>
        </p:sp>
        <p:sp>
          <p:nvSpPr>
            <p:cNvPr id="254" name="Rectangle 18">
              <a:extLst>
                <a:ext uri="{FF2B5EF4-FFF2-40B4-BE49-F238E27FC236}">
                  <a16:creationId xmlns:a16="http://schemas.microsoft.com/office/drawing/2014/main" id="{038FC5B2-055B-4716-84EB-BD28F9E29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525" y="2693751"/>
              <a:ext cx="1132523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32bits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255" name="Rectangle 18">
              <a:extLst>
                <a:ext uri="{FF2B5EF4-FFF2-40B4-BE49-F238E27FC236}">
                  <a16:creationId xmlns:a16="http://schemas.microsoft.com/office/drawing/2014/main" id="{26917F09-E2D5-4591-A063-6A9B89B60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067" y="2943502"/>
              <a:ext cx="1267175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32bits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256" name="Rectangle 20">
              <a:extLst>
                <a:ext uri="{FF2B5EF4-FFF2-40B4-BE49-F238E27FC236}">
                  <a16:creationId xmlns:a16="http://schemas.microsoft.com/office/drawing/2014/main" id="{463B6C60-60DE-4621-A1EC-EE2EB155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9674" y="1926029"/>
              <a:ext cx="577108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</a:t>
              </a:r>
            </a:p>
          </p:txBody>
        </p:sp>
        <p:sp>
          <p:nvSpPr>
            <p:cNvPr id="257" name="Rectangle 20">
              <a:extLst>
                <a:ext uri="{FF2B5EF4-FFF2-40B4-BE49-F238E27FC236}">
                  <a16:creationId xmlns:a16="http://schemas.microsoft.com/office/drawing/2014/main" id="{A873E265-27F2-471C-BF88-72D1D8958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444" y="1926029"/>
              <a:ext cx="710363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首部长度</a:t>
              </a:r>
            </a:p>
          </p:txBody>
        </p:sp>
        <p:sp>
          <p:nvSpPr>
            <p:cNvPr id="258" name="Rectangle 21">
              <a:extLst>
                <a:ext uri="{FF2B5EF4-FFF2-40B4-BE49-F238E27FC236}">
                  <a16:creationId xmlns:a16="http://schemas.microsoft.com/office/drawing/2014/main" id="{5A93105B-43FF-4B8F-B45D-4591BA8BC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4219" y="3191307"/>
              <a:ext cx="534870" cy="22891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充</a:t>
              </a:r>
            </a:p>
          </p:txBody>
        </p:sp>
        <p:sp>
          <p:nvSpPr>
            <p:cNvPr id="259" name="Rectangle 21">
              <a:extLst>
                <a:ext uri="{FF2B5EF4-FFF2-40B4-BE49-F238E27FC236}">
                  <a16:creationId xmlns:a16="http://schemas.microsoft.com/office/drawing/2014/main" id="{E177AED6-2D44-46D2-95FB-2C82A2938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037" y="2171760"/>
              <a:ext cx="1174174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13bit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片偏移</a:t>
              </a:r>
            </a:p>
          </p:txBody>
        </p:sp>
      </p:grpSp>
      <p:sp>
        <p:nvSpPr>
          <p:cNvPr id="260" name="Rectangle 86">
            <a:extLst>
              <a:ext uri="{FF2B5EF4-FFF2-40B4-BE49-F238E27FC236}">
                <a16:creationId xmlns:a16="http://schemas.microsoft.com/office/drawing/2014/main" id="{6C75F454-52A2-42E1-8185-5B31C119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07" y="3861489"/>
            <a:ext cx="787090" cy="36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752BD200-0BB3-46E2-8794-0AABC7CB5E36}"/>
              </a:ext>
            </a:extLst>
          </p:cNvPr>
          <p:cNvSpPr/>
          <p:nvPr/>
        </p:nvSpPr>
        <p:spPr>
          <a:xfrm>
            <a:off x="3787596" y="3861230"/>
            <a:ext cx="3736721" cy="368432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Rectangle 2">
            <a:extLst>
              <a:ext uri="{FF2B5EF4-FFF2-40B4-BE49-F238E27FC236}">
                <a16:creationId xmlns:a16="http://schemas.microsoft.com/office/drawing/2014/main" id="{468EB615-56AE-4583-A515-9824220ED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744" y="4526489"/>
            <a:ext cx="835325" cy="277509"/>
          </a:xfrm>
          <a:prstGeom prst="rect">
            <a:avLst/>
          </a:prstGeom>
          <a:solidFill>
            <a:srgbClr val="CCFF99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Rectangle 86">
            <a:extLst>
              <a:ext uri="{FF2B5EF4-FFF2-40B4-BE49-F238E27FC236}">
                <a16:creationId xmlns:a16="http://schemas.microsoft.com/office/drawing/2014/main" id="{5A5084B0-6798-48EE-AC4C-A3461015F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402" y="3906093"/>
            <a:ext cx="2118759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87">
            <a:extLst>
              <a:ext uri="{FF2B5EF4-FFF2-40B4-BE49-F238E27FC236}">
                <a16:creationId xmlns:a16="http://schemas.microsoft.com/office/drawing/2014/main" id="{61818A28-3339-40C1-9C31-4D258C1BD9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5403" y="3912203"/>
            <a:ext cx="0" cy="2722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Rectangle 88">
            <a:extLst>
              <a:ext uri="{FF2B5EF4-FFF2-40B4-BE49-F238E27FC236}">
                <a16:creationId xmlns:a16="http://schemas.microsoft.com/office/drawing/2014/main" id="{E29EEA4F-C01E-4E34-8F35-508D1045F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815" y="3932176"/>
            <a:ext cx="491240" cy="14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Rectangle 89">
            <a:extLst>
              <a:ext uri="{FF2B5EF4-FFF2-40B4-BE49-F238E27FC236}">
                <a16:creationId xmlns:a16="http://schemas.microsoft.com/office/drawing/2014/main" id="{02312BC0-F838-4A37-B35A-C0C965AC5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226" y="3939902"/>
            <a:ext cx="579486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267" name="Rectangle 90">
            <a:extLst>
              <a:ext uri="{FF2B5EF4-FFF2-40B4-BE49-F238E27FC236}">
                <a16:creationId xmlns:a16="http://schemas.microsoft.com/office/drawing/2014/main" id="{B0959C04-1AE1-4FBF-B8FB-F31AE59F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495" y="3920056"/>
            <a:ext cx="693940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268" name="Rectangle 91">
            <a:extLst>
              <a:ext uri="{FF2B5EF4-FFF2-40B4-BE49-F238E27FC236}">
                <a16:creationId xmlns:a16="http://schemas.microsoft.com/office/drawing/2014/main" id="{151F071F-ECFA-45AE-8D44-A5AA6E912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070" y="4526489"/>
            <a:ext cx="4526247" cy="277509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9" name="Rectangle 92">
            <a:extLst>
              <a:ext uri="{FF2B5EF4-FFF2-40B4-BE49-F238E27FC236}">
                <a16:creationId xmlns:a16="http://schemas.microsoft.com/office/drawing/2014/main" id="{DA50AD5A-6C3D-4C6E-9682-A27A7CCD1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490" y="4558778"/>
            <a:ext cx="714139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270" name="Rectangle 93">
            <a:extLst>
              <a:ext uri="{FF2B5EF4-FFF2-40B4-BE49-F238E27FC236}">
                <a16:creationId xmlns:a16="http://schemas.microsoft.com/office/drawing/2014/main" id="{D9206481-B01E-4EAE-A7C9-8CE14A499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966" y="4558778"/>
            <a:ext cx="541014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帧首部</a:t>
            </a:r>
          </a:p>
        </p:txBody>
      </p:sp>
      <p:sp>
        <p:nvSpPr>
          <p:cNvPr id="271" name="Line 87">
            <a:extLst>
              <a:ext uri="{FF2B5EF4-FFF2-40B4-BE49-F238E27FC236}">
                <a16:creationId xmlns:a16="http://schemas.microsoft.com/office/drawing/2014/main" id="{BA1AEBC1-A2DF-48AB-9E8C-F351521544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4930" y="3905834"/>
            <a:ext cx="0" cy="2722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2" name="Rectangle 89">
            <a:extLst>
              <a:ext uri="{FF2B5EF4-FFF2-40B4-BE49-F238E27FC236}">
                <a16:creationId xmlns:a16="http://schemas.microsoft.com/office/drawing/2014/main" id="{2264D162-BFBB-4C85-A658-2747BDE90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2444" y="3950599"/>
            <a:ext cx="714139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报文段首部</a:t>
            </a:r>
          </a:p>
        </p:txBody>
      </p:sp>
      <p:sp>
        <p:nvSpPr>
          <p:cNvPr id="273" name="Rectangle 84">
            <a:extLst>
              <a:ext uri="{FF2B5EF4-FFF2-40B4-BE49-F238E27FC236}">
                <a16:creationId xmlns:a16="http://schemas.microsoft.com/office/drawing/2014/main" id="{A6064233-22FD-4B42-A429-11F03025A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778" y="3945426"/>
            <a:ext cx="105237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TCP/UDP </a:t>
            </a:r>
            <a:r>
              <a:rPr kumimoji="1"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</a:p>
        </p:txBody>
      </p:sp>
      <p:sp>
        <p:nvSpPr>
          <p:cNvPr id="274" name="AutoShape 94">
            <a:extLst>
              <a:ext uri="{FF2B5EF4-FFF2-40B4-BE49-F238E27FC236}">
                <a16:creationId xmlns:a16="http://schemas.microsoft.com/office/drawing/2014/main" id="{AEC396AF-E526-4A26-B75F-863F863FD8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25149" y="4322201"/>
            <a:ext cx="187968" cy="129670"/>
          </a:xfrm>
          <a:prstGeom prst="leftArrow">
            <a:avLst>
              <a:gd name="adj1" fmla="val 50000"/>
              <a:gd name="adj2" fmla="val 70710"/>
            </a:avLst>
          </a:prstGeom>
          <a:solidFill>
            <a:schemeClr val="tx1">
              <a:lumMod val="50000"/>
              <a:lumOff val="50000"/>
              <a:alpha val="42999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Rectangle 82">
            <a:extLst>
              <a:ext uri="{FF2B5EF4-FFF2-40B4-BE49-F238E27FC236}">
                <a16:creationId xmlns:a16="http://schemas.microsoft.com/office/drawing/2014/main" id="{FA9C446B-4F61-472F-ACF7-39EA27825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1" y="3920056"/>
            <a:ext cx="970817" cy="2714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altLang="zh-CN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ICMP </a:t>
            </a:r>
            <a:r>
              <a:rPr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276" name="Rectangle 86">
            <a:extLst>
              <a:ext uri="{FF2B5EF4-FFF2-40B4-BE49-F238E27FC236}">
                <a16:creationId xmlns:a16="http://schemas.microsoft.com/office/drawing/2014/main" id="{2DE3B70D-CD96-4C5B-B4B4-BC4C61EF0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756" y="3906093"/>
            <a:ext cx="976342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Rectangle 90">
            <a:extLst>
              <a:ext uri="{FF2B5EF4-FFF2-40B4-BE49-F238E27FC236}">
                <a16:creationId xmlns:a16="http://schemas.microsoft.com/office/drawing/2014/main" id="{E91CCE5F-FA2E-422E-9E31-9ADB556AA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423" y="3920056"/>
            <a:ext cx="334758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endParaRPr kumimoji="1" lang="zh-CN" altLang="en-US" sz="105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122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3</a:t>
            </a:r>
            <a:r>
              <a:rPr lang="zh-CN" altLang="en-US" sz="2200" dirty="0">
                <a:effectLst/>
              </a:rPr>
              <a:t>：</a:t>
            </a:r>
            <a:r>
              <a:rPr lang="en-US" altLang="zh-CN" sz="2200" dirty="0">
                <a:effectLst/>
              </a:rPr>
              <a:t>IP</a:t>
            </a:r>
            <a:r>
              <a:rPr lang="zh-CN" altLang="en-US" sz="2200" dirty="0">
                <a:effectLst/>
              </a:rPr>
              <a:t>数据报封装</a:t>
            </a:r>
            <a:r>
              <a:rPr lang="en-US" altLang="zh-CN" sz="2200" dirty="0">
                <a:effectLst/>
              </a:rPr>
              <a:t>(IPv6)</a:t>
            </a: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52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4ABA09A-2CF7-4715-899F-C13DA77B8926}"/>
              </a:ext>
            </a:extLst>
          </p:cNvPr>
          <p:cNvGrpSpPr/>
          <p:nvPr/>
        </p:nvGrpSpPr>
        <p:grpSpPr>
          <a:xfrm>
            <a:off x="2771800" y="1813968"/>
            <a:ext cx="3264695" cy="2361341"/>
            <a:chOff x="2119313" y="3263900"/>
            <a:chExt cx="4845050" cy="3162830"/>
          </a:xfrm>
        </p:grpSpPr>
        <p:sp>
          <p:nvSpPr>
            <p:cNvPr id="101" name="Rectangle 80">
              <a:extLst>
                <a:ext uri="{FF2B5EF4-FFF2-40B4-BE49-F238E27FC236}">
                  <a16:creationId xmlns:a16="http://schemas.microsoft.com/office/drawing/2014/main" id="{D447938D-D783-4A99-8714-16ACBD43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6150" y="3263900"/>
              <a:ext cx="4748213" cy="2817813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Rectangle 56">
              <a:extLst>
                <a:ext uri="{FF2B5EF4-FFF2-40B4-BE49-F238E27FC236}">
                  <a16:creationId xmlns:a16="http://schemas.microsoft.com/office/drawing/2014/main" id="{28A63D31-A278-47D2-8928-DCED39023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538" y="3344863"/>
              <a:ext cx="4748212" cy="28178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3" name="Line 60">
              <a:extLst>
                <a:ext uri="{FF2B5EF4-FFF2-40B4-BE49-F238E27FC236}">
                  <a16:creationId xmlns:a16="http://schemas.microsoft.com/office/drawing/2014/main" id="{7CC365FE-A3CD-4712-ADC3-4E81BF71E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3654425"/>
              <a:ext cx="47275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4" name="Line 61">
              <a:extLst>
                <a:ext uri="{FF2B5EF4-FFF2-40B4-BE49-F238E27FC236}">
                  <a16:creationId xmlns:a16="http://schemas.microsoft.com/office/drawing/2014/main" id="{92DE11BF-5783-44FC-B9DF-BFD4E3033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00" y="335438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5" name="Line 63">
              <a:extLst>
                <a:ext uri="{FF2B5EF4-FFF2-40B4-BE49-F238E27FC236}">
                  <a16:creationId xmlns:a16="http://schemas.microsoft.com/office/drawing/2014/main" id="{EAFAB216-5618-49E7-A707-611440E02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975" y="335121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6" name="Line 64">
              <a:extLst>
                <a:ext uri="{FF2B5EF4-FFF2-40B4-BE49-F238E27FC236}">
                  <a16:creationId xmlns:a16="http://schemas.microsoft.com/office/drawing/2014/main" id="{56402A69-1EF0-410E-9938-72A54813F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075" y="3649663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7" name="Line 65">
              <a:extLst>
                <a:ext uri="{FF2B5EF4-FFF2-40B4-BE49-F238E27FC236}">
                  <a16:creationId xmlns:a16="http://schemas.microsoft.com/office/drawing/2014/main" id="{7BDFA3BE-08E1-4DBC-AD95-29AAAD3607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250" y="3652838"/>
              <a:ext cx="0" cy="293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8" name="Line 66">
              <a:extLst>
                <a:ext uri="{FF2B5EF4-FFF2-40B4-BE49-F238E27FC236}">
                  <a16:creationId xmlns:a16="http://schemas.microsoft.com/office/drawing/2014/main" id="{1682DE04-B0E8-4A50-A526-311AC7223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0425" y="5175250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9" name="Line 67">
              <a:extLst>
                <a:ext uri="{FF2B5EF4-FFF2-40B4-BE49-F238E27FC236}">
                  <a16:creationId xmlns:a16="http://schemas.microsoft.com/office/drawing/2014/main" id="{A1922355-F1E3-4612-BA19-67C758536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88" y="4535488"/>
              <a:ext cx="4760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0" name="Line 68">
              <a:extLst>
                <a:ext uri="{FF2B5EF4-FFF2-40B4-BE49-F238E27FC236}">
                  <a16:creationId xmlns:a16="http://schemas.microsoft.com/office/drawing/2014/main" id="{BCEF2022-8432-46F5-8479-8A82B0B0C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3952875"/>
              <a:ext cx="4760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1" name="Text Box 69">
              <a:extLst>
                <a:ext uri="{FF2B5EF4-FFF2-40B4-BE49-F238E27FC236}">
                  <a16:creationId xmlns:a16="http://schemas.microsoft.com/office/drawing/2014/main" id="{D7E0A673-CB9E-49CD-98B4-D19EA2498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9193" y="5549285"/>
              <a:ext cx="131543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载荷数据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2" name="Text Box 70">
              <a:extLst>
                <a:ext uri="{FF2B5EF4-FFF2-40B4-BE49-F238E27FC236}">
                  <a16:creationId xmlns:a16="http://schemas.microsoft.com/office/drawing/2014/main" id="{001EDEA9-0D4B-406D-AF91-5DA2D8D21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828" y="4793575"/>
              <a:ext cx="1689072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目的地址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113" name="Text Box 71">
              <a:extLst>
                <a:ext uri="{FF2B5EF4-FFF2-40B4-BE49-F238E27FC236}">
                  <a16:creationId xmlns:a16="http://schemas.microsoft.com/office/drawing/2014/main" id="{D7CE62E7-C9E4-4AF5-A90A-ED84CE0A04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948" y="4201949"/>
              <a:ext cx="1489240" cy="183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源地址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(128 bits)</a:t>
              </a:r>
            </a:p>
          </p:txBody>
        </p:sp>
        <p:sp>
          <p:nvSpPr>
            <p:cNvPr id="114" name="Text Box 72">
              <a:extLst>
                <a:ext uri="{FF2B5EF4-FFF2-40B4-BE49-F238E27FC236}">
                  <a16:creationId xmlns:a16="http://schemas.microsoft.com/office/drawing/2014/main" id="{354B05C0-E9C4-43D9-85D7-A8EEABE46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284" y="3703178"/>
              <a:ext cx="1199003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有效载荷长度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5" name="Text Box 73">
              <a:extLst>
                <a:ext uri="{FF2B5EF4-FFF2-40B4-BE49-F238E27FC236}">
                  <a16:creationId xmlns:a16="http://schemas.microsoft.com/office/drawing/2014/main" id="{025B20AD-9B2C-4E07-82AA-749B53E3D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0523" y="3711115"/>
              <a:ext cx="999169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下一个首部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6" name="Text Box 74">
              <a:extLst>
                <a:ext uri="{FF2B5EF4-FFF2-40B4-BE49-F238E27FC236}">
                  <a16:creationId xmlns:a16="http://schemas.microsoft.com/office/drawing/2014/main" id="{84CC2F77-AC85-46F0-8007-A75EDFA0A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9927" y="3696829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跳限制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7" name="Text Box 75">
              <a:extLst>
                <a:ext uri="{FF2B5EF4-FFF2-40B4-BE49-F238E27FC236}">
                  <a16:creationId xmlns:a16="http://schemas.microsoft.com/office/drawing/2014/main" id="{6DEBEC54-B7DA-49AB-BC7B-B207E82B5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9626" y="3405722"/>
              <a:ext cx="599504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流标签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8" name="Text Box 76">
              <a:extLst>
                <a:ext uri="{FF2B5EF4-FFF2-40B4-BE49-F238E27FC236}">
                  <a16:creationId xmlns:a16="http://schemas.microsoft.com/office/drawing/2014/main" id="{E9D84A86-5F1C-4F5A-B958-D05824860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064" y="3391432"/>
              <a:ext cx="399667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类型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9" name="Text Box 77">
              <a:extLst>
                <a:ext uri="{FF2B5EF4-FFF2-40B4-BE49-F238E27FC236}">
                  <a16:creationId xmlns:a16="http://schemas.microsoft.com/office/drawing/2014/main" id="{271AB783-0854-4A7C-A0E6-092DDA0F9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2315" y="3399370"/>
              <a:ext cx="399670" cy="2164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0" name="Line 79">
              <a:extLst>
                <a:ext uri="{FF2B5EF4-FFF2-40B4-BE49-F238E27FC236}">
                  <a16:creationId xmlns:a16="http://schemas.microsoft.com/office/drawing/2014/main" id="{354023D9-DF7A-4E16-A538-D36A98089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9313" y="6400800"/>
              <a:ext cx="4816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lIns="0" tIns="0" rIns="0" bIns="0"/>
            <a:lstStyle/>
            <a:p>
              <a:pPr algn="ctr">
                <a:defRPr/>
              </a:pP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1" name="Text Box 78">
              <a:extLst>
                <a:ext uri="{FF2B5EF4-FFF2-40B4-BE49-F238E27FC236}">
                  <a16:creationId xmlns:a16="http://schemas.microsoft.com/office/drawing/2014/main" id="{7DD65F93-2D14-4F2F-869F-052264B37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6256" y="6210302"/>
              <a:ext cx="639945" cy="216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32 bits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418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effectLst/>
              </a:rPr>
              <a:t>知识点</a:t>
            </a:r>
            <a:r>
              <a:rPr lang="en-US" altLang="zh-CN" sz="2200" dirty="0">
                <a:solidFill>
                  <a:srgbClr val="FF0000"/>
                </a:solidFill>
                <a:effectLst/>
              </a:rPr>
              <a:t>4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：</a:t>
            </a:r>
            <a:r>
              <a:rPr lang="en-US" altLang="zh-CN" sz="2200" dirty="0">
                <a:solidFill>
                  <a:srgbClr val="FF0000"/>
                </a:solidFill>
              </a:rPr>
              <a:t>IPv4</a:t>
            </a:r>
            <a:r>
              <a:rPr lang="zh-CN" altLang="en-US" sz="2200" dirty="0">
                <a:solidFill>
                  <a:srgbClr val="FF0000"/>
                </a:solidFill>
              </a:rPr>
              <a:t>网络编址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zh-CN" altLang="en-US" sz="1650" dirty="0"/>
              <a:t>老方法：</a:t>
            </a:r>
            <a:r>
              <a:rPr lang="en-US" altLang="zh-CN" sz="1650" dirty="0"/>
              <a:t>IP</a:t>
            </a:r>
            <a:r>
              <a:rPr lang="zh-CN" altLang="en-US" sz="1650" dirty="0"/>
              <a:t>地址分为四类，根据规模划分子网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A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0</a:t>
            </a:r>
            <a:r>
              <a:rPr lang="en-US" altLang="zh-CN" sz="1350" dirty="0">
                <a:solidFill>
                  <a:srgbClr val="0066CC"/>
                </a:solidFill>
              </a:rPr>
              <a:t>.0.0.0-</a:t>
            </a:r>
            <a:r>
              <a:rPr lang="en-US" altLang="zh-CN" sz="1350" dirty="0">
                <a:solidFill>
                  <a:srgbClr val="FF0000"/>
                </a:solidFill>
              </a:rPr>
              <a:t>127</a:t>
            </a:r>
            <a:r>
              <a:rPr lang="en-US" altLang="zh-CN" sz="1350" dirty="0">
                <a:solidFill>
                  <a:srgbClr val="0066CC"/>
                </a:solidFill>
              </a:rPr>
              <a:t>.0.0.0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126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 16777214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B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128.0</a:t>
            </a:r>
            <a:r>
              <a:rPr lang="en-US" altLang="zh-CN" sz="1350" dirty="0">
                <a:solidFill>
                  <a:srgbClr val="0066CC"/>
                </a:solidFill>
              </a:rPr>
              <a:t>.0.0-</a:t>
            </a:r>
            <a:r>
              <a:rPr lang="en-US" altLang="zh-CN" sz="1350" dirty="0">
                <a:solidFill>
                  <a:srgbClr val="FF0000"/>
                </a:solidFill>
              </a:rPr>
              <a:t>191.254</a:t>
            </a:r>
            <a:r>
              <a:rPr lang="en-US" altLang="zh-CN" sz="1350" dirty="0">
                <a:solidFill>
                  <a:srgbClr val="0066CC"/>
                </a:solidFill>
              </a:rPr>
              <a:t>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16256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×65534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192.0.0</a:t>
            </a:r>
            <a:r>
              <a:rPr lang="en-US" altLang="zh-CN" sz="1350" dirty="0">
                <a:solidFill>
                  <a:srgbClr val="0066CC"/>
                </a:solidFill>
              </a:rPr>
              <a:t>.0-</a:t>
            </a:r>
            <a:r>
              <a:rPr lang="en-US" altLang="zh-CN" sz="1350" dirty="0">
                <a:solidFill>
                  <a:srgbClr val="FF0000"/>
                </a:solidFill>
              </a:rPr>
              <a:t>223.254.254</a:t>
            </a:r>
            <a:r>
              <a:rPr lang="en-US" altLang="zh-CN" sz="1350" dirty="0">
                <a:solidFill>
                  <a:srgbClr val="0066CC"/>
                </a:solidFill>
              </a:rPr>
              <a:t>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2064512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×254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D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0066CC"/>
                </a:solidFill>
              </a:rPr>
              <a:t>224-254</a:t>
            </a:r>
            <a:r>
              <a:rPr lang="zh-CN" altLang="en-US" sz="1350" dirty="0">
                <a:solidFill>
                  <a:srgbClr val="0066CC"/>
                </a:solidFill>
              </a:rPr>
              <a:t>，用于组播和调查等特殊用途</a:t>
            </a:r>
            <a:endParaRPr lang="en-US" altLang="zh-CN" sz="1350" dirty="0">
              <a:solidFill>
                <a:srgbClr val="0066CC"/>
              </a:solidFill>
            </a:endParaRPr>
          </a:p>
          <a:p>
            <a:r>
              <a:rPr lang="zh-CN" altLang="en-US" sz="1650" dirty="0"/>
              <a:t>新方法：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CIDR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C</a:t>
            </a:r>
            <a:r>
              <a:rPr lang="en-US" altLang="zh-CN" sz="1350" dirty="0">
                <a:solidFill>
                  <a:srgbClr val="0066CC"/>
                </a:solidFill>
              </a:rPr>
              <a:t>lassless </a:t>
            </a:r>
            <a:r>
              <a:rPr lang="en-US" altLang="zh-CN" sz="1350" dirty="0" err="1">
                <a:solidFill>
                  <a:srgbClr val="FF0000"/>
                </a:solidFill>
              </a:rPr>
              <a:t>I</a:t>
            </a:r>
            <a:r>
              <a:rPr lang="en-US" altLang="zh-CN" sz="1350" dirty="0" err="1">
                <a:solidFill>
                  <a:srgbClr val="0066CC"/>
                </a:solidFill>
              </a:rPr>
              <a:t>nter</a:t>
            </a:r>
            <a:r>
              <a:rPr lang="en-US" altLang="zh-CN" sz="1350" dirty="0" err="1">
                <a:solidFill>
                  <a:srgbClr val="FF0000"/>
                </a:solidFill>
              </a:rPr>
              <a:t>D</a:t>
            </a:r>
            <a:r>
              <a:rPr lang="en-US" altLang="zh-CN" sz="1350" dirty="0" err="1">
                <a:solidFill>
                  <a:srgbClr val="0066CC"/>
                </a:solidFill>
              </a:rPr>
              <a:t>omain</a:t>
            </a:r>
            <a:r>
              <a:rPr lang="en-US" altLang="zh-CN" sz="1350" dirty="0">
                <a:solidFill>
                  <a:srgbClr val="0066CC"/>
                </a:solidFill>
              </a:rPr>
              <a:t> </a:t>
            </a:r>
            <a:r>
              <a:rPr lang="en-US" altLang="zh-CN" sz="1350" dirty="0">
                <a:solidFill>
                  <a:srgbClr val="FF0000"/>
                </a:solidFill>
              </a:rPr>
              <a:t>R</a:t>
            </a:r>
            <a:r>
              <a:rPr lang="en-US" altLang="zh-CN" sz="1350" dirty="0">
                <a:solidFill>
                  <a:srgbClr val="0066CC"/>
                </a:solidFill>
              </a:rPr>
              <a:t>outing</a:t>
            </a:r>
            <a:r>
              <a:rPr lang="zh-CN" altLang="en-US" sz="1350" dirty="0">
                <a:solidFill>
                  <a:srgbClr val="0066CC"/>
                </a:solidFill>
              </a:rPr>
              <a:t>，无类别域间路由选择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子网标识部分的长度任意选择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不对子网分类</a:t>
            </a:r>
            <a:r>
              <a:rPr lang="en-US" altLang="zh-CN" sz="1350" dirty="0">
                <a:solidFill>
                  <a:srgbClr val="0066CC"/>
                </a:solidFill>
              </a:rPr>
              <a:t>)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地址格式：</a:t>
            </a:r>
            <a:r>
              <a:rPr lang="en-US" altLang="zh-CN" sz="1350" dirty="0" err="1">
                <a:solidFill>
                  <a:srgbClr val="0066CC"/>
                </a:solidFill>
              </a:rPr>
              <a:t>a.b.c.d</a:t>
            </a:r>
            <a:r>
              <a:rPr lang="en-US" altLang="zh-CN" sz="1350" dirty="0">
                <a:solidFill>
                  <a:srgbClr val="0066CC"/>
                </a:solidFill>
              </a:rPr>
              <a:t> / x </a:t>
            </a:r>
            <a:r>
              <a:rPr lang="zh-CN" altLang="en-US" sz="1350" dirty="0">
                <a:solidFill>
                  <a:srgbClr val="0066CC"/>
                </a:solidFill>
              </a:rPr>
              <a:t>；</a:t>
            </a:r>
            <a:r>
              <a:rPr lang="en-US" altLang="zh-CN" sz="1350" dirty="0">
                <a:solidFill>
                  <a:srgbClr val="0066CC"/>
                </a:solidFill>
              </a:rPr>
              <a:t>x </a:t>
            </a:r>
            <a:r>
              <a:rPr lang="zh-CN" altLang="en-US" sz="1350" dirty="0">
                <a:solidFill>
                  <a:srgbClr val="0066CC"/>
                </a:solidFill>
              </a:rPr>
              <a:t>是子网标识的长度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子网掩码</a:t>
            </a:r>
            <a:r>
              <a:rPr lang="en-US" altLang="zh-CN" sz="1350" dirty="0">
                <a:solidFill>
                  <a:srgbClr val="0066CC"/>
                </a:solidFill>
              </a:rPr>
              <a:t>) </a:t>
            </a: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53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76EAE69B-DEB8-47DE-BA97-3B3B80D7A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515" y="4214305"/>
            <a:ext cx="5009705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" panose="02027200000000000000" pitchFamily="18" charset="0"/>
              </a:rPr>
              <a:t>11001000 00010111 0001000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F9D22BB3-F362-4D63-807C-16BEABFCD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791" y="4207501"/>
            <a:ext cx="1470274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500" dirty="0"/>
              <a:t>200.23.16.0/23</a:t>
            </a:r>
            <a:endParaRPr lang="en-US" altLang="zh-CN" sz="12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8798F5C-FA9A-49DB-B302-B8EAE6C9B4E9}"/>
              </a:ext>
            </a:extLst>
          </p:cNvPr>
          <p:cNvGrpSpPr/>
          <p:nvPr/>
        </p:nvGrpSpPr>
        <p:grpSpPr>
          <a:xfrm>
            <a:off x="1000003" y="3993660"/>
            <a:ext cx="3386623" cy="300082"/>
            <a:chOff x="1428154" y="5051628"/>
            <a:chExt cx="4219575" cy="400108"/>
          </a:xfrm>
        </p:grpSpPr>
        <p:sp>
          <p:nvSpPr>
            <p:cNvPr id="31" name="Text Box 6">
              <a:extLst>
                <a:ext uri="{FF2B5EF4-FFF2-40B4-BE49-F238E27FC236}">
                  <a16:creationId xmlns:a16="http://schemas.microsoft.com/office/drawing/2014/main" id="{F027AAE5-90BE-4CE9-8918-9832F9AF3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513" y="5051628"/>
              <a:ext cx="1378118" cy="40010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FF0000"/>
                  </a:solidFill>
                </a:rPr>
                <a:t>Subnet part</a:t>
              </a:r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E759FDBB-B457-4614-A3CA-70000425C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892" y="5247407"/>
              <a:ext cx="16208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DEA9ADA4-58E9-422B-8320-A4AC6EB36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8154" y="5237882"/>
              <a:ext cx="14382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BCE737D-8633-4B03-8986-D63A600E0372}"/>
              </a:ext>
            </a:extLst>
          </p:cNvPr>
          <p:cNvGrpSpPr/>
          <p:nvPr/>
        </p:nvGrpSpPr>
        <p:grpSpPr>
          <a:xfrm>
            <a:off x="4466080" y="3924739"/>
            <a:ext cx="1294209" cy="300082"/>
            <a:chOff x="5687417" y="5088185"/>
            <a:chExt cx="1725612" cy="400110"/>
          </a:xfrm>
        </p:grpSpPr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2F6C694D-88A7-4715-B132-1C4F1987B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6994" y="5088185"/>
              <a:ext cx="1328983" cy="400110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0066FF"/>
                  </a:solidFill>
                </a:rPr>
                <a:t>Host part</a:t>
              </a:r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4296375A-48D9-4A5C-840A-81914D06E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7717" y="5405388"/>
              <a:ext cx="595312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7" name="Line 15">
              <a:extLst>
                <a:ext uri="{FF2B5EF4-FFF2-40B4-BE49-F238E27FC236}">
                  <a16:creationId xmlns:a16="http://schemas.microsoft.com/office/drawing/2014/main" id="{8C93890A-D2B6-4B8A-BA9A-40AA6163D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87417" y="5393010"/>
              <a:ext cx="647700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38" name="Text Box 61">
            <a:extLst>
              <a:ext uri="{FF2B5EF4-FFF2-40B4-BE49-F238E27FC236}">
                <a16:creationId xmlns:a16="http://schemas.microsoft.com/office/drawing/2014/main" id="{1D9E0EC9-2A88-483F-9B57-337A3CA63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958" y="4626484"/>
            <a:ext cx="1973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mask</a:t>
            </a:r>
            <a:r>
              <a:rPr lang="en-US" altLang="zh-CN" sz="1500" dirty="0"/>
              <a:t>: 255.255.254.0</a:t>
            </a:r>
          </a:p>
        </p:txBody>
      </p:sp>
      <p:sp>
        <p:nvSpPr>
          <p:cNvPr id="39" name="Text Box 5">
            <a:extLst>
              <a:ext uri="{FF2B5EF4-FFF2-40B4-BE49-F238E27FC236}">
                <a16:creationId xmlns:a16="http://schemas.microsoft.com/office/drawing/2014/main" id="{FCF8A608-D8E1-4432-88DB-7327D60F3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131" y="4626484"/>
            <a:ext cx="5403726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0000"/>
                </a:solidFill>
                <a:ea typeface="MS PGothic" panose="020B0600070205080204" pitchFamily="34" charset="-128"/>
              </a:defRPr>
            </a:lvl1pPr>
            <a:lvl2pPr marL="742950" indent="-285750">
              <a:defRPr sz="2400">
                <a:ea typeface="MS PGothic" panose="020B0600070205080204" pitchFamily="34" charset="-128"/>
              </a:defRPr>
            </a:lvl2pPr>
            <a:lvl3pPr marL="1143000" indent="-228600">
              <a:defRPr sz="2400">
                <a:ea typeface="MS PGothic" panose="020B0600070205080204" pitchFamily="34" charset="-128"/>
              </a:defRPr>
            </a:lvl3pPr>
            <a:lvl4pPr marL="1600200" indent="-228600">
              <a:defRPr sz="2400">
                <a:ea typeface="MS PGothic" panose="020B0600070205080204" pitchFamily="34" charset="-128"/>
              </a:defRPr>
            </a:lvl4pPr>
            <a:lvl5pPr marL="2057400" indent="-228600">
              <a:defRPr sz="2400"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latin typeface="Courier" panose="02027200000000000000" pitchFamily="18" charset="0"/>
              </a:rPr>
              <a:t>11111111 11111111 1111111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</p:spTree>
    <p:extLst>
      <p:ext uri="{BB962C8B-B14F-4D97-AF65-F5344CB8AC3E}">
        <p14:creationId xmlns:p14="http://schemas.microsoft.com/office/powerpoint/2010/main" val="2120001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包括学院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7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①-⑦)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，每个学院最多有主机设备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500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台，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en-US" sz="1400" dirty="0">
                <a:effectLst/>
              </a:rPr>
              <a:t>还有</a:t>
            </a:r>
            <a:r>
              <a:rPr lang="zh-CN" altLang="zh-CN" sz="1400" dirty="0">
                <a:effectLst/>
              </a:rPr>
              <a:t>直属机关部门</a:t>
            </a:r>
            <a:r>
              <a:rPr lang="en-US" altLang="zh-CN" sz="1400" dirty="0">
                <a:effectLst/>
              </a:rPr>
              <a:t>8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1-8)</a:t>
            </a:r>
            <a:r>
              <a:rPr lang="zh-CN" altLang="zh-CN" sz="1400" dirty="0">
                <a:effectLst/>
              </a:rPr>
              <a:t>每个机关部门最多有主机设备</a:t>
            </a:r>
            <a:r>
              <a:rPr lang="en-US" altLang="zh-CN" sz="1400" dirty="0">
                <a:effectLst/>
              </a:rPr>
              <a:t>60</a:t>
            </a:r>
            <a:r>
              <a:rPr lang="zh-CN" altLang="zh-CN" sz="1400" dirty="0">
                <a:effectLst/>
              </a:rPr>
              <a:t>台。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按分层结构为各部门和学院规划子网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学院和部门的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地址段按升序排列</a:t>
            </a:r>
            <a:r>
              <a:rPr lang="en-US" altLang="zh-CN" sz="1400" dirty="0">
                <a:effectLst/>
              </a:rPr>
              <a:t>)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请</a:t>
            </a:r>
            <a:r>
              <a:rPr lang="zh-CN" altLang="en-US" sz="1400" dirty="0">
                <a:effectLst/>
              </a:rPr>
              <a:t>为</a:t>
            </a:r>
            <a:r>
              <a:rPr lang="zh-CN" altLang="zh-CN" sz="1400" dirty="0">
                <a:effectLst/>
              </a:rPr>
              <a:t>所有学院与部门</a:t>
            </a:r>
            <a:r>
              <a:rPr lang="zh-CN" altLang="en-US" sz="1400" dirty="0">
                <a:effectLst/>
              </a:rPr>
              <a:t>分配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地址段。</a:t>
            </a:r>
            <a:endParaRPr lang="zh-CN" altLang="en-US" sz="1400" dirty="0"/>
          </a:p>
          <a:p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地址段以</a:t>
            </a:r>
            <a:r>
              <a:rPr lang="en-US" altLang="zh-CN" sz="1400" dirty="0">
                <a:effectLst/>
              </a:rPr>
              <a:t>CIDR</a:t>
            </a:r>
            <a:r>
              <a:rPr lang="zh-CN" altLang="zh-CN" sz="1400" dirty="0">
                <a:effectLst/>
              </a:rPr>
              <a:t>记法表示</a:t>
            </a:r>
            <a:r>
              <a:rPr lang="en-US" altLang="zh-CN" sz="1400" dirty="0">
                <a:effectLst/>
              </a:rPr>
              <a:t>a.b.c.d/x</a:t>
            </a:r>
            <a:r>
              <a:rPr lang="zh-CN" altLang="zh-CN" sz="1400" dirty="0">
                <a:effectLst/>
              </a:rPr>
              <a:t>，如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/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/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194A00D-20F3-472C-8BB3-4FED92064AE4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3513058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286D0F-7A64-481A-BE33-8CEB369C2F15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389839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010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C5415BB-C073-483A-B471-9CC3D7750313}"/>
              </a:ext>
            </a:extLst>
          </p:cNvPr>
          <p:cNvCxnSpPr>
            <a:cxnSpLocks/>
          </p:cNvCxnSpPr>
          <p:nvPr/>
        </p:nvCxnSpPr>
        <p:spPr>
          <a:xfrm>
            <a:off x="5610592" y="3401938"/>
            <a:ext cx="10081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BFDC513-F5DD-4B2E-AC64-19282BECE9A8}"/>
              </a:ext>
            </a:extLst>
          </p:cNvPr>
          <p:cNvSpPr/>
          <p:nvPr/>
        </p:nvSpPr>
        <p:spPr>
          <a:xfrm>
            <a:off x="4921520" y="1203598"/>
            <a:ext cx="658592" cy="288032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51B6F57-3C2B-48B7-BCFC-CC74F0318058}"/>
              </a:ext>
            </a:extLst>
          </p:cNvPr>
          <p:cNvCxnSpPr>
            <a:cxnSpLocks/>
            <a:stCxn id="28" idx="3"/>
            <a:endCxn id="6" idx="3"/>
          </p:cNvCxnSpPr>
          <p:nvPr/>
        </p:nvCxnSpPr>
        <p:spPr>
          <a:xfrm>
            <a:off x="5580112" y="1347614"/>
            <a:ext cx="1387909" cy="1975078"/>
          </a:xfrm>
          <a:prstGeom prst="bentConnector3">
            <a:avLst>
              <a:gd name="adj1" fmla="val 116471"/>
            </a:avLst>
          </a:prstGeom>
          <a:ln w="19050">
            <a:solidFill>
              <a:srgbClr val="00B0F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61B86BD-DEC2-41B8-9B42-E8F3904BF80F}"/>
              </a:ext>
            </a:extLst>
          </p:cNvPr>
          <p:cNvGraphicFramePr>
            <a:graphicFrameLocks noGrp="1"/>
          </p:cNvGraphicFramePr>
          <p:nvPr/>
        </p:nvGraphicFramePr>
        <p:xfrm>
          <a:off x="827581" y="429398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……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8402827C-3835-4614-A164-724B51B07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13" y="1119733"/>
            <a:ext cx="1141048" cy="743794"/>
          </a:xfrm>
          <a:prstGeom prst="rect">
            <a:avLst/>
          </a:prstGeom>
          <a:ln w="22225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960BD7-D2AC-42E2-BEFD-A8A0C870AB22}"/>
              </a:ext>
            </a:extLst>
          </p:cNvPr>
          <p:cNvCxnSpPr>
            <a:cxnSpLocks/>
          </p:cNvCxnSpPr>
          <p:nvPr/>
        </p:nvCxnSpPr>
        <p:spPr>
          <a:xfrm>
            <a:off x="4860032" y="379588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E4905D1-BA3C-4B8C-9B7A-B70705FF10B7}"/>
              </a:ext>
            </a:extLst>
          </p:cNvPr>
          <p:cNvCxnSpPr>
            <a:cxnSpLocks/>
          </p:cNvCxnSpPr>
          <p:nvPr/>
        </p:nvCxnSpPr>
        <p:spPr>
          <a:xfrm>
            <a:off x="4860032" y="415592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D9A27A-C396-4380-A0F3-27B2B992A97B}"/>
              </a:ext>
            </a:extLst>
          </p:cNvPr>
          <p:cNvCxnSpPr>
            <a:cxnSpLocks/>
          </p:cNvCxnSpPr>
          <p:nvPr/>
        </p:nvCxnSpPr>
        <p:spPr>
          <a:xfrm>
            <a:off x="4860032" y="4549874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36D396AD-0402-4F75-BD71-79DC5931F0D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54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C7519F9F-3D7B-4E56-9973-B28BCEA47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4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包括学院</a:t>
            </a:r>
            <a:r>
              <a:rPr lang="en-US" altLang="zh-CN" sz="1400" dirty="0">
                <a:effectLst/>
              </a:rPr>
              <a:t>7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①-⑦)</a:t>
            </a:r>
            <a:r>
              <a:rPr lang="zh-CN" altLang="zh-CN" sz="1400" dirty="0">
                <a:effectLst/>
              </a:rPr>
              <a:t>，每个学院最多有主机设备</a:t>
            </a:r>
            <a:r>
              <a:rPr lang="en-US" altLang="zh-CN" sz="1400" dirty="0">
                <a:effectLst/>
              </a:rPr>
              <a:t>500</a:t>
            </a:r>
            <a:r>
              <a:rPr lang="zh-CN" altLang="zh-CN" sz="1400" dirty="0">
                <a:effectLst/>
              </a:rPr>
              <a:t>台，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solidFill>
                  <a:srgbClr val="C00000"/>
                </a:solidFill>
                <a:effectLst/>
              </a:rPr>
              <a:t>还有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直属机关部门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8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1-8)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每个机关部门最多有主机设备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60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台。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按分层结构为各部门和学院规划子网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学院和部门的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地址段按升序排列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请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为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所有学院与部门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分配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地址段。</a:t>
            </a:r>
            <a:endParaRPr lang="zh-CN" altLang="en-US" sz="1400" dirty="0">
              <a:solidFill>
                <a:srgbClr val="0070C0"/>
              </a:solidFill>
            </a:endParaRPr>
          </a:p>
          <a:p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地址段以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CIDR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记法表示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a.b.c.d/x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，如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202.23.48.0/20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/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/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6443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rgbClr val="FFFF00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0B63BAD4-D389-48E5-BA5D-75DF6C7DBFC5}"/>
              </a:ext>
            </a:extLst>
          </p:cNvPr>
          <p:cNvGraphicFramePr>
            <a:graphicFrameLocks noGrp="1"/>
          </p:cNvGraphicFramePr>
          <p:nvPr/>
        </p:nvGraphicFramePr>
        <p:xfrm>
          <a:off x="1084426" y="3723878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43358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chemeClr val="bg1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5449BC66-A291-46A0-98A7-C43B92BDA650}"/>
              </a:ext>
            </a:extLst>
          </p:cNvPr>
          <p:cNvSpPr/>
          <p:nvPr/>
        </p:nvSpPr>
        <p:spPr>
          <a:xfrm>
            <a:off x="5641370" y="1498543"/>
            <a:ext cx="586814" cy="2880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743B9C9C-BB2B-4F97-A416-5A118AD7BC66}"/>
              </a:ext>
            </a:extLst>
          </p:cNvPr>
          <p:cNvCxnSpPr>
            <a:cxnSpLocks/>
            <a:stCxn id="53" idx="3"/>
            <a:endCxn id="20" idx="3"/>
          </p:cNvCxnSpPr>
          <p:nvPr/>
        </p:nvCxnSpPr>
        <p:spPr>
          <a:xfrm>
            <a:off x="6228184" y="1642559"/>
            <a:ext cx="1111310" cy="2665623"/>
          </a:xfrm>
          <a:prstGeom prst="bentConnector3">
            <a:avLst>
              <a:gd name="adj1" fmla="val 120570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1D645DC-84C9-4DAF-937B-D0BC049D719B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4122762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D1A40F7B-3CD5-480B-A85D-4C2BF1343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843" y="1320002"/>
            <a:ext cx="526588" cy="343256"/>
          </a:xfrm>
          <a:prstGeom prst="rect">
            <a:avLst/>
          </a:prstGeom>
          <a:ln w="22225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21C2ED4-92C5-4643-9775-A538D5DE6CAE}"/>
              </a:ext>
            </a:extLst>
          </p:cNvPr>
          <p:cNvCxnSpPr>
            <a:cxnSpLocks/>
          </p:cNvCxnSpPr>
          <p:nvPr/>
        </p:nvCxnSpPr>
        <p:spPr>
          <a:xfrm>
            <a:off x="6444208" y="4371950"/>
            <a:ext cx="5421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9F569BC-230A-4B42-9712-485651AD3A30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4530938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9540CAF-6105-4125-88FF-3D5B224DBB9E}"/>
              </a:ext>
            </a:extLst>
          </p:cNvPr>
          <p:cNvCxnSpPr>
            <a:cxnSpLocks/>
          </p:cNvCxnSpPr>
          <p:nvPr/>
        </p:nvCxnSpPr>
        <p:spPr>
          <a:xfrm>
            <a:off x="5209322" y="4803998"/>
            <a:ext cx="123488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11C301A7-A630-4B0F-8E34-D0291074CC4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55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551C915D-5F26-4AFF-88C2-8D410B6F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39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5</a:t>
            </a:r>
            <a:r>
              <a:rPr lang="zh-CN" altLang="en-US" sz="2200" dirty="0">
                <a:effectLst/>
              </a:rPr>
              <a:t>：</a:t>
            </a:r>
            <a:r>
              <a:rPr lang="en-US" altLang="zh-CN" sz="2200" dirty="0"/>
              <a:t>DHCP</a:t>
            </a:r>
            <a:r>
              <a:rPr lang="zh-CN" altLang="en-US" sz="2200" dirty="0"/>
              <a:t>动态主机配置协议</a:t>
            </a: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56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D234BD-DC94-41CD-A035-BF1D2E5003AE}"/>
              </a:ext>
            </a:extLst>
          </p:cNvPr>
          <p:cNvGrpSpPr/>
          <p:nvPr/>
        </p:nvGrpSpPr>
        <p:grpSpPr>
          <a:xfrm>
            <a:off x="4152157" y="1437624"/>
            <a:ext cx="4308275" cy="3472227"/>
            <a:chOff x="2719253" y="1436018"/>
            <a:chExt cx="6209015" cy="5127979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8DE1EDEE-71D2-4FE5-B422-4393B92B7615}"/>
                </a:ext>
              </a:extLst>
            </p:cNvPr>
            <p:cNvGrpSpPr/>
            <p:nvPr/>
          </p:nvGrpSpPr>
          <p:grpSpPr bwMode="auto">
            <a:xfrm>
              <a:off x="8212063" y="1839243"/>
              <a:ext cx="460375" cy="492125"/>
              <a:chOff x="2870" y="1518"/>
              <a:chExt cx="292" cy="320"/>
            </a:xfrm>
          </p:grpSpPr>
          <p:graphicFrame>
            <p:nvGraphicFramePr>
              <p:cNvPr id="58" name="Object 5">
                <a:extLst>
                  <a:ext uri="{FF2B5EF4-FFF2-40B4-BE49-F238E27FC236}">
                    <a16:creationId xmlns:a16="http://schemas.microsoft.com/office/drawing/2014/main" id="{C77EBA28-CDAA-4020-A201-DC62BAFFD4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8" r:id="rId3" imgW="11601450" imgH="11791950" progId="">
                      <p:embed/>
                    </p:oleObj>
                  </mc:Choice>
                  <mc:Fallback>
                    <p:oleObj r:id="rId3" imgW="11601450" imgH="11791950" progId="">
                      <p:embed/>
                      <p:pic>
                        <p:nvPicPr>
                          <p:cNvPr id="91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6">
                <a:extLst>
                  <a:ext uri="{FF2B5EF4-FFF2-40B4-BE49-F238E27FC236}">
                    <a16:creationId xmlns:a16="http://schemas.microsoft.com/office/drawing/2014/main" id="{5224C9DB-7F6D-4B8F-AA44-56E200150E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9" r:id="rId5" imgW="17716500" imgH="16754475" progId="">
                      <p:embed/>
                    </p:oleObj>
                  </mc:Choice>
                  <mc:Fallback>
                    <p:oleObj r:id="rId5" imgW="17716500" imgH="16754475" progId="">
                      <p:embed/>
                      <p:pic>
                        <p:nvPicPr>
                          <p:cNvPr id="9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" name="Text Box 7">
              <a:extLst>
                <a:ext uri="{FF2B5EF4-FFF2-40B4-BE49-F238E27FC236}">
                  <a16:creationId xmlns:a16="http://schemas.microsoft.com/office/drawing/2014/main" id="{82C5CF2B-0FFD-4987-B0E1-D22AF67A6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9253" y="1436018"/>
              <a:ext cx="2257549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050" b="1" dirty="0">
                  <a:solidFill>
                    <a:srgbClr val="0000FF"/>
                  </a:solidFill>
                  <a:latin typeface="+mn-lt"/>
                </a:rPr>
                <a:t>DHCP server: 223.1.2.5</a:t>
              </a:r>
            </a:p>
          </p:txBody>
        </p:sp>
        <p:sp>
          <p:nvSpPr>
            <p:cNvPr id="31" name="Text Box 8">
              <a:extLst>
                <a:ext uri="{FF2B5EF4-FFF2-40B4-BE49-F238E27FC236}">
                  <a16:creationId xmlns:a16="http://schemas.microsoft.com/office/drawing/2014/main" id="{CAFA8987-EF59-4EF2-8D8C-68606682C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06" y="1436018"/>
              <a:ext cx="1566862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050" b="1" dirty="0">
                  <a:solidFill>
                    <a:srgbClr val="0000FF"/>
                  </a:solidFill>
                  <a:latin typeface="+mn-lt"/>
                </a:rPr>
                <a:t>Arriving client</a:t>
              </a:r>
              <a:endParaRPr lang="en-US" altLang="zh-CN" sz="1200" b="1" dirty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06DECDCF-BA52-4DE7-A5C0-80D07B666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5325" y="2307556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831C5852-FAF6-4717-B554-E9F591CAA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988" y="2263106"/>
              <a:ext cx="0" cy="376078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966B3C34-32C5-4B8B-A1A2-6849DF1D6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7950" y="2339306"/>
              <a:ext cx="0" cy="37623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343FE72D-3377-4DC5-A4B0-CBEBEF650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888" y="3031456"/>
              <a:ext cx="0" cy="1906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6" name="Text Box 13">
              <a:extLst>
                <a:ext uri="{FF2B5EF4-FFF2-40B4-BE49-F238E27FC236}">
                  <a16:creationId xmlns:a16="http://schemas.microsoft.com/office/drawing/2014/main" id="{F69111FF-79BA-4C13-B683-6FE4FCC0D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125" y="4906293"/>
              <a:ext cx="560388" cy="393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788">
                  <a:latin typeface="+mn-lt"/>
                </a:rPr>
                <a:t>time</a:t>
              </a:r>
              <a:endParaRPr lang="en-US" altLang="zh-CN" sz="1200">
                <a:latin typeface="+mn-lt"/>
              </a:endParaRPr>
            </a:p>
          </p:txBody>
        </p:sp>
        <p:grpSp>
          <p:nvGrpSpPr>
            <p:cNvPr id="37" name="Group 14">
              <a:extLst>
                <a:ext uri="{FF2B5EF4-FFF2-40B4-BE49-F238E27FC236}">
                  <a16:creationId xmlns:a16="http://schemas.microsoft.com/office/drawing/2014/main" id="{8445DE50-6D8D-40D8-8A51-46892BCEF839}"/>
                </a:ext>
              </a:extLst>
            </p:cNvPr>
            <p:cNvGrpSpPr/>
            <p:nvPr/>
          </p:nvGrpSpPr>
          <p:grpSpPr bwMode="auto">
            <a:xfrm>
              <a:off x="3740075" y="1829718"/>
              <a:ext cx="182563" cy="400050"/>
              <a:chOff x="4180" y="783"/>
              <a:chExt cx="150" cy="307"/>
            </a:xfrm>
          </p:grpSpPr>
          <p:sp>
            <p:nvSpPr>
              <p:cNvPr id="50" name="AutoShape 15">
                <a:extLst>
                  <a:ext uri="{FF2B5EF4-FFF2-40B4-BE49-F238E27FC236}">
                    <a16:creationId xmlns:a16="http://schemas.microsoft.com/office/drawing/2014/main" id="{97E8AEAA-02CB-414F-A6D2-B3B0532CC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1" name="Rectangle 16">
                <a:extLst>
                  <a:ext uri="{FF2B5EF4-FFF2-40B4-BE49-F238E27FC236}">
                    <a16:creationId xmlns:a16="http://schemas.microsoft.com/office/drawing/2014/main" id="{1A010F53-7461-4872-BE73-EEECF8D06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2" name="Rectangle 17">
                <a:extLst>
                  <a:ext uri="{FF2B5EF4-FFF2-40B4-BE49-F238E27FC236}">
                    <a16:creationId xmlns:a16="http://schemas.microsoft.com/office/drawing/2014/main" id="{2D7C8A14-5177-4842-BE05-63BBFEC74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3" name="AutoShape 18">
                <a:extLst>
                  <a:ext uri="{FF2B5EF4-FFF2-40B4-BE49-F238E27FC236}">
                    <a16:creationId xmlns:a16="http://schemas.microsoft.com/office/drawing/2014/main" id="{B703E370-3753-48CF-8AB1-234D8EB3F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4" name="Line 19">
                <a:extLst>
                  <a:ext uri="{FF2B5EF4-FFF2-40B4-BE49-F238E27FC236}">
                    <a16:creationId xmlns:a16="http://schemas.microsoft.com/office/drawing/2014/main" id="{4425D263-2BE1-4D5D-959F-C0AAD7255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55" name="Line 20">
                <a:extLst>
                  <a:ext uri="{FF2B5EF4-FFF2-40B4-BE49-F238E27FC236}">
                    <a16:creationId xmlns:a16="http://schemas.microsoft.com/office/drawing/2014/main" id="{CB6E9CFC-5837-4CB0-A4F7-BBE07EBAF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56" name="Rectangle 21">
                <a:extLst>
                  <a:ext uri="{FF2B5EF4-FFF2-40B4-BE49-F238E27FC236}">
                    <a16:creationId xmlns:a16="http://schemas.microsoft.com/office/drawing/2014/main" id="{8F0998C7-9EF4-4575-9E75-6D996DD28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57" name="Rectangle 22">
                <a:extLst>
                  <a:ext uri="{FF2B5EF4-FFF2-40B4-BE49-F238E27FC236}">
                    <a16:creationId xmlns:a16="http://schemas.microsoft.com/office/drawing/2014/main" id="{4C12772E-6463-4D0D-9493-06F1C216E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</p:grpSp>
        <p:grpSp>
          <p:nvGrpSpPr>
            <p:cNvPr id="38" name="Group 23">
              <a:extLst>
                <a:ext uri="{FF2B5EF4-FFF2-40B4-BE49-F238E27FC236}">
                  <a16:creationId xmlns:a16="http://schemas.microsoft.com/office/drawing/2014/main" id="{F219BC1A-882C-4412-9C2F-34F92DD47BE7}"/>
                </a:ext>
              </a:extLst>
            </p:cNvPr>
            <p:cNvGrpSpPr/>
            <p:nvPr/>
          </p:nvGrpSpPr>
          <p:grpSpPr bwMode="auto">
            <a:xfrm>
              <a:off x="5364088" y="1442369"/>
              <a:ext cx="2673350" cy="1258615"/>
              <a:chOff x="11865" y="3885"/>
              <a:chExt cx="3720" cy="1421"/>
            </a:xfrm>
          </p:grpSpPr>
          <p:sp>
            <p:nvSpPr>
              <p:cNvPr id="48" name="Text Box 24">
                <a:extLst>
                  <a:ext uri="{FF2B5EF4-FFF2-40B4-BE49-F238E27FC236}">
                    <a16:creationId xmlns:a16="http://schemas.microsoft.com/office/drawing/2014/main" id="{D27B4495-7FAB-46B8-AEA0-953C09B061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825" b="1" dirty="0">
                    <a:latin typeface="+mn-lt"/>
                  </a:rPr>
                  <a:t>DHCP discover</a:t>
                </a:r>
              </a:p>
            </p:txBody>
          </p:sp>
          <p:sp>
            <p:nvSpPr>
              <p:cNvPr id="49" name="Text Box 25">
                <a:extLst>
                  <a:ext uri="{FF2B5EF4-FFF2-40B4-BE49-F238E27FC236}">
                    <a16:creationId xmlns:a16="http://schemas.microsoft.com/office/drawing/2014/main" id="{1EE7C041-EFCA-4207-9DD3-A8AB2C4D4E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10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825" dirty="0" err="1">
                    <a:latin typeface="+mn-lt"/>
                  </a:rPr>
                  <a:t>src</a:t>
                </a:r>
                <a:r>
                  <a:rPr lang="en-US" altLang="zh-CN" sz="825" dirty="0">
                    <a:latin typeface="+mn-lt"/>
                  </a:rPr>
                  <a:t> : 0.0.0.0, 68     </a:t>
                </a:r>
              </a:p>
              <a:p>
                <a:pPr eaLnBrk="0" hangingPunct="0"/>
                <a:r>
                  <a:rPr lang="en-US" altLang="zh-CN" sz="825" dirty="0" err="1">
                    <a:latin typeface="+mn-lt"/>
                  </a:rPr>
                  <a:t>dest</a:t>
                </a:r>
                <a:r>
                  <a:rPr lang="en-US" altLang="zh-CN" sz="825" dirty="0">
                    <a:latin typeface="+mn-lt"/>
                  </a:rPr>
                  <a:t>.: </a:t>
                </a:r>
                <a:r>
                  <a:rPr lang="en-US" altLang="zh-CN" sz="825" dirty="0">
                    <a:solidFill>
                      <a:srgbClr val="FF0000"/>
                    </a:solidFill>
                    <a:latin typeface="+mn-lt"/>
                  </a:rPr>
                  <a:t>255.255.255.255</a:t>
                </a:r>
                <a:r>
                  <a:rPr lang="en-US" altLang="zh-CN" sz="825" dirty="0">
                    <a:latin typeface="+mn-lt"/>
                  </a:rPr>
                  <a:t>,67</a:t>
                </a:r>
              </a:p>
              <a:p>
                <a:pPr eaLnBrk="0" hangingPunct="0"/>
                <a:r>
                  <a:rPr lang="en-US" altLang="zh-CN" sz="825" dirty="0" err="1">
                    <a:latin typeface="+mn-lt"/>
                  </a:rPr>
                  <a:t>yiaddr</a:t>
                </a:r>
                <a:r>
                  <a:rPr lang="en-US" altLang="zh-CN" sz="825" dirty="0">
                    <a:latin typeface="+mn-lt"/>
                  </a:rPr>
                  <a:t>:    0.0.0.0</a:t>
                </a:r>
              </a:p>
              <a:p>
                <a:pPr eaLnBrk="0" hangingPunct="0"/>
                <a:r>
                  <a:rPr lang="en-US" altLang="zh-CN" sz="825" dirty="0">
                    <a:latin typeface="+mn-lt"/>
                  </a:rPr>
                  <a:t>transaction ID: 654</a:t>
                </a:r>
                <a:endParaRPr lang="en-US" altLang="zh-CN" sz="1200" dirty="0">
                  <a:latin typeface="+mn-lt"/>
                </a:endParaRPr>
              </a:p>
            </p:txBody>
          </p:sp>
        </p:grpSp>
        <p:sp>
          <p:nvSpPr>
            <p:cNvPr id="39" name="Line 26">
              <a:extLst>
                <a:ext uri="{FF2B5EF4-FFF2-40B4-BE49-F238E27FC236}">
                  <a16:creationId xmlns:a16="http://schemas.microsoft.com/office/drawing/2014/main" id="{EBAFE220-37F0-4D0B-B175-7A0B73459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188" y="3293393"/>
              <a:ext cx="4395787" cy="538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0" name="Text Box 27">
              <a:extLst>
                <a:ext uri="{FF2B5EF4-FFF2-40B4-BE49-F238E27FC236}">
                  <a16:creationId xmlns:a16="http://schemas.microsoft.com/office/drawing/2014/main" id="{1FF5BF82-069D-494C-96F4-F988367A6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8664" y="2779856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offer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41" name="Text Box 28">
              <a:extLst>
                <a:ext uri="{FF2B5EF4-FFF2-40B4-BE49-F238E27FC236}">
                  <a16:creationId xmlns:a16="http://schemas.microsoft.com/office/drawing/2014/main" id="{F584E6B2-3A29-4C51-B9A9-A72B67971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187" y="3042921"/>
              <a:ext cx="2424112" cy="10788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dirty="0" err="1">
                  <a:latin typeface="+mn-lt"/>
                </a:rPr>
                <a:t>src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00FF"/>
                  </a:solidFill>
                  <a:latin typeface="+mn-lt"/>
                </a:rPr>
                <a:t>223.1.2.5</a:t>
              </a:r>
              <a:r>
                <a:rPr lang="en-US" altLang="zh-CN" sz="825" dirty="0">
                  <a:latin typeface="+mn-lt"/>
                </a:rPr>
                <a:t>, 67      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dest</a:t>
              </a:r>
              <a:r>
                <a:rPr lang="en-US" altLang="zh-CN" sz="825" dirty="0">
                  <a:latin typeface="+mn-lt"/>
                </a:rPr>
                <a:t>:  </a:t>
              </a:r>
              <a:r>
                <a:rPr lang="en-US" altLang="zh-CN" sz="825" dirty="0">
                  <a:solidFill>
                    <a:srgbClr val="C00000"/>
                  </a:solidFill>
                  <a:latin typeface="+mn-lt"/>
                </a:rPr>
                <a:t>255.255.255.255</a:t>
              </a:r>
              <a:r>
                <a:rPr lang="en-US" altLang="zh-CN" sz="825" dirty="0">
                  <a:latin typeface="+mn-lt"/>
                </a:rPr>
                <a:t>, 68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yiaddrr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transaction ID: 654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Lifetime: 3600 </a:t>
              </a:r>
              <a:r>
                <a:rPr lang="en-US" altLang="zh-CN" sz="825" dirty="0" err="1">
                  <a:latin typeface="+mn-lt"/>
                </a:rPr>
                <a:t>secs</a:t>
              </a:r>
              <a:endParaRPr lang="en-US" altLang="zh-CN" sz="525" dirty="0">
                <a:latin typeface="+mn-lt"/>
              </a:endParaRPr>
            </a:p>
          </p:txBody>
        </p:sp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A19DD036-5B1C-43F8-B46E-778F4103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0238" y="4522118"/>
              <a:ext cx="4395787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3" name="Text Box 30">
              <a:extLst>
                <a:ext uri="{FF2B5EF4-FFF2-40B4-BE49-F238E27FC236}">
                  <a16:creationId xmlns:a16="http://schemas.microsoft.com/office/drawing/2014/main" id="{A710E83E-B79B-4802-802B-D9A9BC272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7175" y="3924479"/>
              <a:ext cx="1379537" cy="3286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request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44" name="Text Box 31">
              <a:extLst>
                <a:ext uri="{FF2B5EF4-FFF2-40B4-BE49-F238E27FC236}">
                  <a16:creationId xmlns:a16="http://schemas.microsoft.com/office/drawing/2014/main" id="{47D7523D-57D9-4038-913D-243451AFB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806" y="4198255"/>
              <a:ext cx="2757487" cy="1037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>
                  <a:latin typeface="+mn-lt"/>
                </a:rPr>
                <a:t>src:  0.0.0.0, 68     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dest::  255.255.255.255, 67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yiaddrr: </a:t>
              </a:r>
              <a:r>
                <a:rPr lang="en-US" altLang="zh-CN" sz="825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transaction ID: 655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Lifetime: 3600 secs</a:t>
              </a:r>
              <a:endParaRPr lang="en-US" altLang="zh-CN" sz="1200">
                <a:latin typeface="+mn-lt"/>
              </a:endParaRPr>
            </a:p>
          </p:txBody>
        </p:sp>
        <p:sp>
          <p:nvSpPr>
            <p:cNvPr id="45" name="Line 32">
              <a:extLst>
                <a:ext uri="{FF2B5EF4-FFF2-40B4-BE49-F238E27FC236}">
                  <a16:creationId xmlns:a16="http://schemas.microsoft.com/office/drawing/2014/main" id="{921A324F-FFD5-41D7-BCD3-BD152AF79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963" y="5552406"/>
              <a:ext cx="4395787" cy="538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6" name="Text Box 33">
              <a:extLst>
                <a:ext uri="{FF2B5EF4-FFF2-40B4-BE49-F238E27FC236}">
                  <a16:creationId xmlns:a16="http://schemas.microsoft.com/office/drawing/2014/main" id="{C7FDAE7E-3392-4229-A7B2-61212835C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997" y="5255380"/>
              <a:ext cx="1379537" cy="3286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ACK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47" name="Text Box 34">
              <a:extLst>
                <a:ext uri="{FF2B5EF4-FFF2-40B4-BE49-F238E27FC236}">
                  <a16:creationId xmlns:a16="http://schemas.microsoft.com/office/drawing/2014/main" id="{C5AAE150-BFE9-435C-848A-2A94E171F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8198" y="5526726"/>
              <a:ext cx="2412999" cy="1037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dirty="0" err="1">
                  <a:latin typeface="+mn-lt"/>
                </a:rPr>
                <a:t>src</a:t>
              </a:r>
              <a:r>
                <a:rPr lang="en-US" altLang="zh-CN" sz="825" dirty="0">
                  <a:latin typeface="+mn-lt"/>
                </a:rPr>
                <a:t>: 223.1.2.5, 67      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dest</a:t>
              </a:r>
              <a:r>
                <a:rPr lang="en-US" altLang="zh-CN" sz="825" dirty="0">
                  <a:latin typeface="+mn-lt"/>
                </a:rPr>
                <a:t>:  255.255.255.255, 68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yiaddrr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transaction ID: 655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Lifetime: 3600 secs</a:t>
              </a:r>
              <a:endParaRPr lang="en-US" altLang="zh-CN" sz="675" dirty="0">
                <a:latin typeface="+mn-lt"/>
              </a:endParaRPr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674DE9C3-1FD0-4929-A471-3963C83FECAF}"/>
              </a:ext>
            </a:extLst>
          </p:cNvPr>
          <p:cNvSpPr/>
          <p:nvPr/>
        </p:nvSpPr>
        <p:spPr>
          <a:xfrm>
            <a:off x="1807554" y="4394682"/>
            <a:ext cx="2387192" cy="300082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255.255.255.255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是广播地址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7962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6</a:t>
            </a:r>
            <a:r>
              <a:rPr lang="zh-CN" altLang="en-US" sz="2200" dirty="0">
                <a:effectLst/>
              </a:rPr>
              <a:t>：</a:t>
            </a:r>
            <a:r>
              <a:rPr lang="en-US" altLang="zh-CN" sz="2200" dirty="0"/>
              <a:t>NAT</a:t>
            </a:r>
            <a:r>
              <a:rPr lang="zh-CN" altLang="en-US" sz="2200" dirty="0"/>
              <a:t>网络地址转换</a:t>
            </a:r>
            <a:r>
              <a:rPr lang="en-US" altLang="zh-CN" sz="2200" dirty="0"/>
              <a:t>(IPv4)</a:t>
            </a:r>
            <a:endParaRPr lang="zh-CN" altLang="en-US" sz="2200" dirty="0"/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57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1" name="Group 159">
            <a:extLst>
              <a:ext uri="{FF2B5EF4-FFF2-40B4-BE49-F238E27FC236}">
                <a16:creationId xmlns:a16="http://schemas.microsoft.com/office/drawing/2014/main" id="{1A1EF52B-28C6-454D-8977-602ED8B28EB0}"/>
              </a:ext>
            </a:extLst>
          </p:cNvPr>
          <p:cNvGrpSpPr/>
          <p:nvPr/>
        </p:nvGrpSpPr>
        <p:grpSpPr bwMode="auto">
          <a:xfrm flipH="1">
            <a:off x="6798469" y="3246853"/>
            <a:ext cx="481013" cy="419100"/>
            <a:chOff x="-44" y="1473"/>
            <a:chExt cx="981" cy="1105"/>
          </a:xfrm>
        </p:grpSpPr>
        <p:pic>
          <p:nvPicPr>
            <p:cNvPr id="62" name="Picture 160" descr="desktop_computer_stylized_medium">
              <a:extLst>
                <a:ext uri="{FF2B5EF4-FFF2-40B4-BE49-F238E27FC236}">
                  <a16:creationId xmlns:a16="http://schemas.microsoft.com/office/drawing/2014/main" id="{E6C3D48D-FCDC-4646-B65A-776F40A359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Freeform 161">
              <a:extLst>
                <a:ext uri="{FF2B5EF4-FFF2-40B4-BE49-F238E27FC236}">
                  <a16:creationId xmlns:a16="http://schemas.microsoft.com/office/drawing/2014/main" id="{F3D41159-6005-4A83-B9D6-A0E99909B6BA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4" name="Group 162">
            <a:extLst>
              <a:ext uri="{FF2B5EF4-FFF2-40B4-BE49-F238E27FC236}">
                <a16:creationId xmlns:a16="http://schemas.microsoft.com/office/drawing/2014/main" id="{A7F63C4F-490E-41D1-B89C-A646C24BC46A}"/>
              </a:ext>
            </a:extLst>
          </p:cNvPr>
          <p:cNvGrpSpPr/>
          <p:nvPr/>
        </p:nvGrpSpPr>
        <p:grpSpPr bwMode="auto">
          <a:xfrm flipH="1">
            <a:off x="6804422" y="3812400"/>
            <a:ext cx="481013" cy="419100"/>
            <a:chOff x="-44" y="1473"/>
            <a:chExt cx="981" cy="1105"/>
          </a:xfrm>
        </p:grpSpPr>
        <p:pic>
          <p:nvPicPr>
            <p:cNvPr id="65" name="Picture 163" descr="desktop_computer_stylized_medium">
              <a:extLst>
                <a:ext uri="{FF2B5EF4-FFF2-40B4-BE49-F238E27FC236}">
                  <a16:creationId xmlns:a16="http://schemas.microsoft.com/office/drawing/2014/main" id="{F043FAFD-43C9-45E0-8513-A7F8C590D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164">
              <a:extLst>
                <a:ext uri="{FF2B5EF4-FFF2-40B4-BE49-F238E27FC236}">
                  <a16:creationId xmlns:a16="http://schemas.microsoft.com/office/drawing/2014/main" id="{8DEC396F-AA97-41A9-9039-6C663024CB67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67" name="Freeform 139">
            <a:extLst>
              <a:ext uri="{FF2B5EF4-FFF2-40B4-BE49-F238E27FC236}">
                <a16:creationId xmlns:a16="http://schemas.microsoft.com/office/drawing/2014/main" id="{10A6FA0A-9DAB-4A38-A8F8-A8B4A2E54933}"/>
              </a:ext>
            </a:extLst>
          </p:cNvPr>
          <p:cNvSpPr/>
          <p:nvPr/>
        </p:nvSpPr>
        <p:spPr bwMode="auto">
          <a:xfrm>
            <a:off x="1277541" y="2944434"/>
            <a:ext cx="3067050" cy="1016794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8" name="Freeform 29">
            <a:extLst>
              <a:ext uri="{FF2B5EF4-FFF2-40B4-BE49-F238E27FC236}">
                <a16:creationId xmlns:a16="http://schemas.microsoft.com/office/drawing/2014/main" id="{834CB89A-71D6-4835-B45E-F403FCFA0677}"/>
              </a:ext>
            </a:extLst>
          </p:cNvPr>
          <p:cNvSpPr/>
          <p:nvPr/>
        </p:nvSpPr>
        <p:spPr bwMode="auto">
          <a:xfrm>
            <a:off x="4494610" y="2397937"/>
            <a:ext cx="2803922" cy="202287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>
              <a:alpha val="64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9" name="Line 32">
            <a:extLst>
              <a:ext uri="{FF2B5EF4-FFF2-40B4-BE49-F238E27FC236}">
                <a16:creationId xmlns:a16="http://schemas.microsoft.com/office/drawing/2014/main" id="{FE19BE61-23AA-49CB-8DDD-110911E2D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0335" y="3389728"/>
            <a:ext cx="213002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0" name="Line 34">
            <a:extLst>
              <a:ext uri="{FF2B5EF4-FFF2-40B4-BE49-F238E27FC236}">
                <a16:creationId xmlns:a16="http://schemas.microsoft.com/office/drawing/2014/main" id="{4FAE05AC-067C-4282-8197-AF006E8C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0362" y="2828944"/>
            <a:ext cx="1000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1" name="Line 35">
            <a:extLst>
              <a:ext uri="{FF2B5EF4-FFF2-40B4-BE49-F238E27FC236}">
                <a16:creationId xmlns:a16="http://schemas.microsoft.com/office/drawing/2014/main" id="{BDD5F66C-319E-4A95-845F-E0DEB5A806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5125" y="3957656"/>
            <a:ext cx="1285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2" name="Text Box 36">
            <a:extLst>
              <a:ext uri="{FF2B5EF4-FFF2-40B4-BE49-F238E27FC236}">
                <a16:creationId xmlns:a16="http://schemas.microsoft.com/office/drawing/2014/main" id="{6C95F890-9C56-4CDC-BB12-7409AEB5B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469" y="2626538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10.0.0.1</a:t>
            </a:r>
          </a:p>
        </p:txBody>
      </p:sp>
      <p:sp>
        <p:nvSpPr>
          <p:cNvPr id="73" name="Text Box 37">
            <a:extLst>
              <a:ext uri="{FF2B5EF4-FFF2-40B4-BE49-F238E27FC236}">
                <a16:creationId xmlns:a16="http://schemas.microsoft.com/office/drawing/2014/main" id="{152064B6-1AA9-4431-A577-9A7987006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4719" y="320280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dirty="0"/>
              <a:t>10.0.0.2</a:t>
            </a:r>
          </a:p>
        </p:txBody>
      </p:sp>
      <p:sp>
        <p:nvSpPr>
          <p:cNvPr id="74" name="Text Box 38">
            <a:extLst>
              <a:ext uri="{FF2B5EF4-FFF2-40B4-BE49-F238E27FC236}">
                <a16:creationId xmlns:a16="http://schemas.microsoft.com/office/drawing/2014/main" id="{CD02B4C6-F0A8-43CE-B9BA-643F47DEE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144" y="3874313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10.0.0.3</a:t>
            </a:r>
          </a:p>
        </p:txBody>
      </p:sp>
      <p:sp>
        <p:nvSpPr>
          <p:cNvPr id="75" name="Text Box 54">
            <a:extLst>
              <a:ext uri="{FF2B5EF4-FFF2-40B4-BE49-F238E27FC236}">
                <a16:creationId xmlns:a16="http://schemas.microsoft.com/office/drawing/2014/main" id="{42DC6807-E4A5-4A64-BB07-0ACA2E0CF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3069451"/>
            <a:ext cx="7393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10.0.0.4</a:t>
            </a:r>
          </a:p>
        </p:txBody>
      </p:sp>
      <p:sp>
        <p:nvSpPr>
          <p:cNvPr id="76" name="Line 55">
            <a:extLst>
              <a:ext uri="{FF2B5EF4-FFF2-40B4-BE49-F238E27FC236}">
                <a16:creationId xmlns:a16="http://schemas.microsoft.com/office/drawing/2014/main" id="{5384679E-759F-4D57-83D1-ED56E4DB0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36294" y="3261140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77" name="Text Box 56">
            <a:extLst>
              <a:ext uri="{FF2B5EF4-FFF2-40B4-BE49-F238E27FC236}">
                <a16:creationId xmlns:a16="http://schemas.microsoft.com/office/drawing/2014/main" id="{B93D72F4-C15D-4AF2-BA02-C96B07149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682" y="3487360"/>
            <a:ext cx="99418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/>
              <a:t>138.76.29.7</a:t>
            </a:r>
          </a:p>
        </p:txBody>
      </p:sp>
      <p:sp>
        <p:nvSpPr>
          <p:cNvPr id="78" name="Line 57">
            <a:extLst>
              <a:ext uri="{FF2B5EF4-FFF2-40B4-BE49-F238E27FC236}">
                <a16:creationId xmlns:a16="http://schemas.microsoft.com/office/drawing/2014/main" id="{166A1016-CC13-4A48-A321-44B9CD6E40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1463" y="3439734"/>
            <a:ext cx="64294" cy="964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79" name="Group 59">
            <a:extLst>
              <a:ext uri="{FF2B5EF4-FFF2-40B4-BE49-F238E27FC236}">
                <a16:creationId xmlns:a16="http://schemas.microsoft.com/office/drawing/2014/main" id="{9BF08EAA-C309-414F-8F30-6677E3B52216}"/>
              </a:ext>
            </a:extLst>
          </p:cNvPr>
          <p:cNvGrpSpPr/>
          <p:nvPr/>
        </p:nvGrpSpPr>
        <p:grpSpPr bwMode="auto">
          <a:xfrm>
            <a:off x="5932344" y="1603196"/>
            <a:ext cx="1876425" cy="1041797"/>
            <a:chOff x="3944" y="989"/>
            <a:chExt cx="1576" cy="875"/>
          </a:xfrm>
        </p:grpSpPr>
        <p:sp>
          <p:nvSpPr>
            <p:cNvPr id="80" name="Text Box 53">
              <a:extLst>
                <a:ext uri="{FF2B5EF4-FFF2-40B4-BE49-F238E27FC236}">
                  <a16:creationId xmlns:a16="http://schemas.microsoft.com/office/drawing/2014/main" id="{A941E755-0D72-413F-97FC-9F5A2823D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989"/>
              <a:ext cx="1399" cy="5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sz="1350" b="1" i="1" dirty="0">
                  <a:solidFill>
                    <a:srgbClr val="CC0000"/>
                  </a:solidFill>
                </a:rPr>
                <a:t>1:</a:t>
              </a:r>
              <a:r>
                <a:rPr lang="en-US" sz="1350" dirty="0">
                  <a:solidFill>
                    <a:srgbClr val="FF0000"/>
                  </a:solidFill>
                </a:rPr>
                <a:t> </a:t>
              </a:r>
              <a:r>
                <a:rPr lang="en-US" sz="1350" dirty="0">
                  <a:solidFill>
                    <a:srgbClr val="000099"/>
                  </a:solidFill>
                </a:rPr>
                <a:t>host 10.0.0.1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sends datagram to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128.119.40.186, 80</a:t>
              </a:r>
            </a:p>
          </p:txBody>
        </p:sp>
        <p:sp>
          <p:nvSpPr>
            <p:cNvPr id="81" name="Line 58">
              <a:extLst>
                <a:ext uri="{FF2B5EF4-FFF2-40B4-BE49-F238E27FC236}">
                  <a16:creationId xmlns:a16="http://schemas.microsoft.com/office/drawing/2014/main" id="{F72CE1AD-C3BB-4D97-A699-20F33C923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82" name="Freeform 67">
            <a:extLst>
              <a:ext uri="{FF2B5EF4-FFF2-40B4-BE49-F238E27FC236}">
                <a16:creationId xmlns:a16="http://schemas.microsoft.com/office/drawing/2014/main" id="{DFB57141-2E9F-4E5A-A40A-EA9E2389ADB6}"/>
              </a:ext>
            </a:extLst>
          </p:cNvPr>
          <p:cNvSpPr/>
          <p:nvPr/>
        </p:nvSpPr>
        <p:spPr bwMode="auto">
          <a:xfrm>
            <a:off x="2949349" y="2589630"/>
            <a:ext cx="2848995" cy="735805"/>
          </a:xfrm>
          <a:custGeom>
            <a:avLst/>
            <a:gdLst>
              <a:gd name="T0" fmla="*/ 0 w 2433"/>
              <a:gd name="T1" fmla="*/ 2147483647 h 965"/>
              <a:gd name="T2" fmla="*/ 2147483647 w 2433"/>
              <a:gd name="T3" fmla="*/ 2147483647 h 965"/>
              <a:gd name="T4" fmla="*/ 2147483647 w 2433"/>
              <a:gd name="T5" fmla="*/ 2147483647 h 965"/>
              <a:gd name="T6" fmla="*/ 2147483647 w 2433"/>
              <a:gd name="T7" fmla="*/ 2147483647 h 965"/>
              <a:gd name="T8" fmla="*/ 2147483647 w 2433"/>
              <a:gd name="T9" fmla="*/ 2147483647 h 965"/>
              <a:gd name="T10" fmla="*/ 2147483647 w 2433"/>
              <a:gd name="T11" fmla="*/ 2147483647 h 965"/>
              <a:gd name="T12" fmla="*/ 0 w 2433"/>
              <a:gd name="T13" fmla="*/ 2147483647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bg1"/>
              </a:gs>
            </a:gsLst>
            <a:lin ang="5400000" scaled="1"/>
          </a:gradFill>
          <a:ln w="3175" cap="flat" cmpd="sng">
            <a:solidFill>
              <a:schemeClr val="hlink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83" name="Rectangle 62">
            <a:extLst>
              <a:ext uri="{FF2B5EF4-FFF2-40B4-BE49-F238E27FC236}">
                <a16:creationId xmlns:a16="http://schemas.microsoft.com/office/drawing/2014/main" id="{3E0B3D06-E08B-4203-989B-5C57F5825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873" y="1615179"/>
            <a:ext cx="2838450" cy="10156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/>
          </a:p>
        </p:txBody>
      </p:sp>
      <p:sp>
        <p:nvSpPr>
          <p:cNvPr id="84" name="Text Box 60">
            <a:extLst>
              <a:ext uri="{FF2B5EF4-FFF2-40B4-BE49-F238E27FC236}">
                <a16:creationId xmlns:a16="http://schemas.microsoft.com/office/drawing/2014/main" id="{6436FAA3-7BF2-477E-BA03-BE728CBC6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342" y="1605655"/>
            <a:ext cx="2449613" cy="57195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spcBef>
                <a:spcPts val="450"/>
              </a:spcBef>
              <a:defRPr/>
            </a:pPr>
            <a:r>
              <a:rPr lang="en-US" sz="1350" dirty="0">
                <a:solidFill>
                  <a:srgbClr val="FF00FF"/>
                </a:solidFill>
                <a:latin typeface="+mj-lt"/>
                <a:ea typeface="+mj-ea"/>
              </a:rPr>
              <a:t>NAT </a:t>
            </a:r>
            <a:r>
              <a:rPr lang="zh-CN" altLang="en-US" sz="1350" dirty="0">
                <a:solidFill>
                  <a:srgbClr val="FF00FF"/>
                </a:solidFill>
                <a:latin typeface="+mj-lt"/>
                <a:ea typeface="+mj-ea"/>
              </a:rPr>
              <a:t>端口</a:t>
            </a:r>
            <a:r>
              <a:rPr lang="en-US" altLang="zh-CN" sz="1350" dirty="0">
                <a:solidFill>
                  <a:srgbClr val="FF00FF"/>
                </a:solidFill>
                <a:latin typeface="+mj-lt"/>
                <a:ea typeface="+mj-ea"/>
              </a:rPr>
              <a:t>/</a:t>
            </a:r>
            <a:r>
              <a:rPr lang="zh-CN" altLang="en-US" sz="1350" dirty="0">
                <a:solidFill>
                  <a:srgbClr val="FF00FF"/>
                </a:solidFill>
                <a:latin typeface="+mj-lt"/>
                <a:ea typeface="+mj-ea"/>
              </a:rPr>
              <a:t>地址映射表</a:t>
            </a:r>
            <a:endParaRPr lang="en-US" sz="1350" dirty="0">
              <a:solidFill>
                <a:srgbClr val="FF00FF"/>
              </a:solidFill>
              <a:latin typeface="+mj-lt"/>
              <a:ea typeface="+mj-ea"/>
            </a:endParaRPr>
          </a:p>
          <a:p>
            <a:pPr algn="ctr">
              <a:spcBef>
                <a:spcPts val="450"/>
              </a:spcBef>
              <a:defRPr/>
            </a:pPr>
            <a:r>
              <a:rPr lang="zh-CN" altLang="en-US" sz="1350" dirty="0">
                <a:latin typeface="+mj-lt"/>
                <a:ea typeface="+mj-ea"/>
              </a:rPr>
              <a:t>广域网地址</a:t>
            </a:r>
            <a:r>
              <a:rPr lang="en-US" sz="1350" dirty="0">
                <a:latin typeface="+mj-lt"/>
                <a:ea typeface="+mj-ea"/>
              </a:rPr>
              <a:t>        </a:t>
            </a:r>
            <a:r>
              <a:rPr lang="zh-CN" altLang="en-US" sz="1350" dirty="0">
                <a:latin typeface="+mj-lt"/>
                <a:ea typeface="+mj-ea"/>
              </a:rPr>
              <a:t>局域网地址</a:t>
            </a:r>
            <a:endParaRPr lang="en-US" sz="1350" dirty="0">
              <a:latin typeface="+mj-lt"/>
              <a:ea typeface="+mj-ea"/>
            </a:endParaRPr>
          </a:p>
        </p:txBody>
      </p:sp>
      <p:sp>
        <p:nvSpPr>
          <p:cNvPr id="85" name="Line 63">
            <a:extLst>
              <a:ext uri="{FF2B5EF4-FFF2-40B4-BE49-F238E27FC236}">
                <a16:creationId xmlns:a16="http://schemas.microsoft.com/office/drawing/2014/main" id="{D3588EF0-04F3-47AE-9F33-11B864BA5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873" y="1894976"/>
            <a:ext cx="2843213" cy="8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86" name="Line 64">
            <a:extLst>
              <a:ext uri="{FF2B5EF4-FFF2-40B4-BE49-F238E27FC236}">
                <a16:creationId xmlns:a16="http://schemas.microsoft.com/office/drawing/2014/main" id="{1E71DCFF-7392-4E0E-B7EE-AB98505E9C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4589" y="2103336"/>
            <a:ext cx="2812256" cy="83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87" name="Line 65">
            <a:extLst>
              <a:ext uri="{FF2B5EF4-FFF2-40B4-BE49-F238E27FC236}">
                <a16:creationId xmlns:a16="http://schemas.microsoft.com/office/drawing/2014/main" id="{4DAC449C-218B-4E75-86B7-F4CDA51E7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6930" y="1911646"/>
            <a:ext cx="2381" cy="716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88" name="Text Box 61">
            <a:extLst>
              <a:ext uri="{FF2B5EF4-FFF2-40B4-BE49-F238E27FC236}">
                <a16:creationId xmlns:a16="http://schemas.microsoft.com/office/drawing/2014/main" id="{E4BD056A-44F6-4C99-BAA5-611E795C9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576" y="2117623"/>
            <a:ext cx="2848857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1350" dirty="0">
                <a:solidFill>
                  <a:srgbClr val="FF6600"/>
                </a:solidFill>
              </a:rPr>
              <a:t>138.76.29.7</a:t>
            </a:r>
            <a:r>
              <a:rPr lang="en-US" altLang="zh-CN" sz="1350" dirty="0">
                <a:solidFill>
                  <a:srgbClr val="CC0000"/>
                </a:solidFill>
              </a:rPr>
              <a:t>, </a:t>
            </a:r>
            <a:r>
              <a:rPr lang="en-US" altLang="zh-CN" sz="1350" dirty="0"/>
              <a:t>5001</a:t>
            </a:r>
            <a:r>
              <a:rPr lang="en-US" altLang="zh-CN" sz="1350" dirty="0">
                <a:solidFill>
                  <a:srgbClr val="CC0000"/>
                </a:solidFill>
              </a:rPr>
              <a:t>   </a:t>
            </a:r>
            <a:r>
              <a:rPr lang="en-US" altLang="zh-CN" sz="1350" dirty="0">
                <a:solidFill>
                  <a:srgbClr val="FF8181"/>
                </a:solidFill>
              </a:rPr>
              <a:t>10.0.0.1</a:t>
            </a:r>
            <a:r>
              <a:rPr lang="en-US" altLang="zh-CN" sz="1350" dirty="0">
                <a:solidFill>
                  <a:srgbClr val="CC0000"/>
                </a:solidFill>
              </a:rPr>
              <a:t>, </a:t>
            </a:r>
            <a:r>
              <a:rPr lang="en-US" altLang="zh-CN" sz="1350" dirty="0"/>
              <a:t>3345</a:t>
            </a:r>
          </a:p>
          <a:p>
            <a:pPr algn="ctr"/>
            <a:r>
              <a:rPr lang="en-US" altLang="zh-CN" sz="1350" dirty="0"/>
              <a:t>……                                         ……</a:t>
            </a:r>
          </a:p>
        </p:txBody>
      </p:sp>
      <p:grpSp>
        <p:nvGrpSpPr>
          <p:cNvPr id="89" name="Group 135">
            <a:extLst>
              <a:ext uri="{FF2B5EF4-FFF2-40B4-BE49-F238E27FC236}">
                <a16:creationId xmlns:a16="http://schemas.microsoft.com/office/drawing/2014/main" id="{A2AAFD3E-663D-4405-BAB4-C0EF161BCCEA}"/>
              </a:ext>
            </a:extLst>
          </p:cNvPr>
          <p:cNvGrpSpPr/>
          <p:nvPr/>
        </p:nvGrpSpPr>
        <p:grpSpPr bwMode="auto">
          <a:xfrm>
            <a:off x="4717257" y="2782510"/>
            <a:ext cx="2088356" cy="1252538"/>
            <a:chOff x="3002" y="2417"/>
            <a:chExt cx="1754" cy="1052"/>
          </a:xfrm>
        </p:grpSpPr>
        <p:sp>
          <p:nvSpPr>
            <p:cNvPr id="90" name="Rectangle 91">
              <a:extLst>
                <a:ext uri="{FF2B5EF4-FFF2-40B4-BE49-F238E27FC236}">
                  <a16:creationId xmlns:a16="http://schemas.microsoft.com/office/drawing/2014/main" id="{0E967ED9-9B60-48FB-8BCD-A00F64C97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91" name="Text Box 92">
              <a:extLst>
                <a:ext uri="{FF2B5EF4-FFF2-40B4-BE49-F238E27FC236}">
                  <a16:creationId xmlns:a16="http://schemas.microsoft.com/office/drawing/2014/main" id="{BDE2B7D0-BF9F-430C-91C4-2504B70DB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S: 128.119.40.186, 80 </a:t>
              </a:r>
            </a:p>
            <a:p>
              <a:r>
                <a:rPr lang="en-US" altLang="zh-CN" sz="900" b="1" dirty="0"/>
                <a:t>D: 10.0.0.1, 3345</a:t>
              </a:r>
            </a:p>
            <a:p>
              <a:endParaRPr lang="en-US" altLang="zh-CN" sz="900" dirty="0"/>
            </a:p>
          </p:txBody>
        </p:sp>
        <p:grpSp>
          <p:nvGrpSpPr>
            <p:cNvPr id="92" name="Group 93">
              <a:extLst>
                <a:ext uri="{FF2B5EF4-FFF2-40B4-BE49-F238E27FC236}">
                  <a16:creationId xmlns:a16="http://schemas.microsoft.com/office/drawing/2014/main" id="{0328FA9B-38FA-48DB-87F5-B00CE21E9836}"/>
                </a:ext>
              </a:extLst>
            </p:cNvPr>
            <p:cNvGrpSpPr/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01" name="Freeform 94">
                <a:extLst>
                  <a:ext uri="{FF2B5EF4-FFF2-40B4-BE49-F238E27FC236}">
                    <a16:creationId xmlns:a16="http://schemas.microsoft.com/office/drawing/2014/main" id="{F00E0D45-A67A-4CB1-9267-A0E665BA32BC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02" name="Line 95">
                <a:extLst>
                  <a:ext uri="{FF2B5EF4-FFF2-40B4-BE49-F238E27FC236}">
                    <a16:creationId xmlns:a16="http://schemas.microsoft.com/office/drawing/2014/main" id="{46BCD9B4-E89D-47CD-8940-3C3A2170D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3" name="Line 96">
                <a:extLst>
                  <a:ext uri="{FF2B5EF4-FFF2-40B4-BE49-F238E27FC236}">
                    <a16:creationId xmlns:a16="http://schemas.microsoft.com/office/drawing/2014/main" id="{1CE0A6DD-F1D3-4A79-BA01-F9F245A28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93" name="Group 97">
              <a:extLst>
                <a:ext uri="{FF2B5EF4-FFF2-40B4-BE49-F238E27FC236}">
                  <a16:creationId xmlns:a16="http://schemas.microsoft.com/office/drawing/2014/main" id="{D28F04FC-67C6-45B8-ABC6-46CD125D0094}"/>
                </a:ext>
              </a:extLst>
            </p:cNvPr>
            <p:cNvGrpSpPr/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98" name="Freeform 98">
                <a:extLst>
                  <a:ext uri="{FF2B5EF4-FFF2-40B4-BE49-F238E27FC236}">
                    <a16:creationId xmlns:a16="http://schemas.microsoft.com/office/drawing/2014/main" id="{A9EF22F0-639E-4DE1-871D-DE1E4B2E3116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99" name="Line 99">
                <a:extLst>
                  <a:ext uri="{FF2B5EF4-FFF2-40B4-BE49-F238E27FC236}">
                    <a16:creationId xmlns:a16="http://schemas.microsoft.com/office/drawing/2014/main" id="{3BEEAF79-C26C-4683-AC5A-930AC7166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00" name="Line 100">
                <a:extLst>
                  <a:ext uri="{FF2B5EF4-FFF2-40B4-BE49-F238E27FC236}">
                    <a16:creationId xmlns:a16="http://schemas.microsoft.com/office/drawing/2014/main" id="{054D2CED-BFB5-4C94-BCB5-BECBF3CF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327C1DD0-B5EE-4019-B508-28B5F10599D9}"/>
                </a:ext>
              </a:extLst>
            </p:cNvPr>
            <p:cNvSpPr/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38100" cap="flat" cmpd="sng">
              <a:solidFill>
                <a:srgbClr val="C0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95" name="Group 102">
              <a:extLst>
                <a:ext uri="{FF2B5EF4-FFF2-40B4-BE49-F238E27FC236}">
                  <a16:creationId xmlns:a16="http://schemas.microsoft.com/office/drawing/2014/main" id="{59EFE3E7-35B0-49BD-A5E7-87BC9F43B15E}"/>
                </a:ext>
              </a:extLst>
            </p:cNvPr>
            <p:cNvGrpSpPr/>
            <p:nvPr/>
          </p:nvGrpSpPr>
          <p:grpSpPr bwMode="auto">
            <a:xfrm>
              <a:off x="4240" y="3061"/>
              <a:ext cx="250" cy="252"/>
              <a:chOff x="5140" y="400"/>
              <a:chExt cx="250" cy="252"/>
            </a:xfrm>
          </p:grpSpPr>
          <p:sp>
            <p:nvSpPr>
              <p:cNvPr id="96" name="Oval 103">
                <a:extLst>
                  <a:ext uri="{FF2B5EF4-FFF2-40B4-BE49-F238E27FC236}">
                    <a16:creationId xmlns:a16="http://schemas.microsoft.com/office/drawing/2014/main" id="{9A2FCB6A-77A2-4B32-B6EC-F13BD2F29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97" name="Text Box 104">
                <a:extLst>
                  <a:ext uri="{FF2B5EF4-FFF2-40B4-BE49-F238E27FC236}">
                    <a16:creationId xmlns:a16="http://schemas.microsoft.com/office/drawing/2014/main" id="{F19A4424-475C-4D48-BDFD-91EF24A5A1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104" name="Group 108">
            <a:extLst>
              <a:ext uri="{FF2B5EF4-FFF2-40B4-BE49-F238E27FC236}">
                <a16:creationId xmlns:a16="http://schemas.microsoft.com/office/drawing/2014/main" id="{F7D0D33C-9ACC-48BA-A432-6EF49627BDB1}"/>
              </a:ext>
            </a:extLst>
          </p:cNvPr>
          <p:cNvGrpSpPr/>
          <p:nvPr/>
        </p:nvGrpSpPr>
        <p:grpSpPr bwMode="auto">
          <a:xfrm>
            <a:off x="2291954" y="2945625"/>
            <a:ext cx="1872853" cy="425053"/>
            <a:chOff x="1026" y="3559"/>
            <a:chExt cx="1573" cy="357"/>
          </a:xfrm>
        </p:grpSpPr>
        <p:grpSp>
          <p:nvGrpSpPr>
            <p:cNvPr id="105" name="Group 68">
              <a:extLst>
                <a:ext uri="{FF2B5EF4-FFF2-40B4-BE49-F238E27FC236}">
                  <a16:creationId xmlns:a16="http://schemas.microsoft.com/office/drawing/2014/main" id="{187F3E3F-D934-43BB-ACB6-6A986C961685}"/>
                </a:ext>
              </a:extLst>
            </p:cNvPr>
            <p:cNvGrpSpPr/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10" name="Rectangle 69">
                <a:extLst>
                  <a:ext uri="{FF2B5EF4-FFF2-40B4-BE49-F238E27FC236}">
                    <a16:creationId xmlns:a16="http://schemas.microsoft.com/office/drawing/2014/main" id="{4CB3E992-2523-4A76-8F8F-D1C7EE76E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11" name="Text Box 70">
                <a:extLst>
                  <a:ext uri="{FF2B5EF4-FFF2-40B4-BE49-F238E27FC236}">
                    <a16:creationId xmlns:a16="http://schemas.microsoft.com/office/drawing/2014/main" id="{7853EE24-D076-4A22-BC04-9FB316A63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/>
                  <a:t>S: 138.76.29.7, 5001</a:t>
                </a:r>
              </a:p>
              <a:p>
                <a:pPr>
                  <a:defRPr/>
                </a:pPr>
                <a:r>
                  <a:rPr lang="en-US" sz="900" dirty="0"/>
                  <a:t>D: 128.119.40.186, 80</a:t>
                </a:r>
              </a:p>
            </p:txBody>
          </p:sp>
          <p:grpSp>
            <p:nvGrpSpPr>
              <p:cNvPr id="112" name="Group 71">
                <a:extLst>
                  <a:ext uri="{FF2B5EF4-FFF2-40B4-BE49-F238E27FC236}">
                    <a16:creationId xmlns:a16="http://schemas.microsoft.com/office/drawing/2014/main" id="{AA35C5F9-0D43-4168-8AB0-3BAEF21A2E6D}"/>
                  </a:ext>
                </a:extLst>
              </p:cNvPr>
              <p:cNvGrpSpPr/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17" name="Freeform 72">
                  <a:extLst>
                    <a:ext uri="{FF2B5EF4-FFF2-40B4-BE49-F238E27FC236}">
                      <a16:creationId xmlns:a16="http://schemas.microsoft.com/office/drawing/2014/main" id="{55FA52B9-C5DA-413C-9EC6-9615A0A48999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18" name="Line 73">
                  <a:extLst>
                    <a:ext uri="{FF2B5EF4-FFF2-40B4-BE49-F238E27FC236}">
                      <a16:creationId xmlns:a16="http://schemas.microsoft.com/office/drawing/2014/main" id="{D2044FFB-9F62-4144-8522-747A1F51FC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19" name="Line 74">
                  <a:extLst>
                    <a:ext uri="{FF2B5EF4-FFF2-40B4-BE49-F238E27FC236}">
                      <a16:creationId xmlns:a16="http://schemas.microsoft.com/office/drawing/2014/main" id="{AB565C9F-3829-4D10-B068-0B0B66CB35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13" name="Group 75">
                <a:extLst>
                  <a:ext uri="{FF2B5EF4-FFF2-40B4-BE49-F238E27FC236}">
                    <a16:creationId xmlns:a16="http://schemas.microsoft.com/office/drawing/2014/main" id="{6C556387-6CF6-43A1-9CA4-6BC9C1A1BFD5}"/>
                  </a:ext>
                </a:extLst>
              </p:cNvPr>
              <p:cNvGrpSpPr/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14" name="Freeform 76">
                  <a:extLst>
                    <a:ext uri="{FF2B5EF4-FFF2-40B4-BE49-F238E27FC236}">
                      <a16:creationId xmlns:a16="http://schemas.microsoft.com/office/drawing/2014/main" id="{16638964-BDB5-4204-84DB-8D9AEA7D2E05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15" name="Line 77">
                  <a:extLst>
                    <a:ext uri="{FF2B5EF4-FFF2-40B4-BE49-F238E27FC236}">
                      <a16:creationId xmlns:a16="http://schemas.microsoft.com/office/drawing/2014/main" id="{324B0E1B-C7B6-4648-BE64-599AD7742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16" name="Line 78">
                  <a:extLst>
                    <a:ext uri="{FF2B5EF4-FFF2-40B4-BE49-F238E27FC236}">
                      <a16:creationId xmlns:a16="http://schemas.microsoft.com/office/drawing/2014/main" id="{7A199027-715B-44A2-B866-26992B6AAE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  <p:sp>
          <p:nvSpPr>
            <p:cNvPr id="106" name="Line 79">
              <a:extLst>
                <a:ext uri="{FF2B5EF4-FFF2-40B4-BE49-F238E27FC236}">
                  <a16:creationId xmlns:a16="http://schemas.microsoft.com/office/drawing/2014/main" id="{0F848320-B13C-4177-A21E-0E1F109E5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107" name="Group 105">
              <a:extLst>
                <a:ext uri="{FF2B5EF4-FFF2-40B4-BE49-F238E27FC236}">
                  <a16:creationId xmlns:a16="http://schemas.microsoft.com/office/drawing/2014/main" id="{D2EDA0CD-4820-43F6-9E1D-84E861F240B7}"/>
                </a:ext>
              </a:extLst>
            </p:cNvPr>
            <p:cNvGrpSpPr/>
            <p:nvPr/>
          </p:nvGrpSpPr>
          <p:grpSpPr bwMode="auto">
            <a:xfrm>
              <a:off x="1143" y="3613"/>
              <a:ext cx="250" cy="252"/>
              <a:chOff x="5140" y="400"/>
              <a:chExt cx="250" cy="252"/>
            </a:xfrm>
          </p:grpSpPr>
          <p:sp>
            <p:nvSpPr>
              <p:cNvPr id="108" name="Oval 106">
                <a:extLst>
                  <a:ext uri="{FF2B5EF4-FFF2-40B4-BE49-F238E27FC236}">
                    <a16:creationId xmlns:a16="http://schemas.microsoft.com/office/drawing/2014/main" id="{DB4FA080-914A-485A-A6C6-0DBDE5055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09" name="Text Box 107">
                <a:extLst>
                  <a:ext uri="{FF2B5EF4-FFF2-40B4-BE49-F238E27FC236}">
                    <a16:creationId xmlns:a16="http://schemas.microsoft.com/office/drawing/2014/main" id="{FF52547F-ACAE-4650-A2E1-A1FD92AB5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20" name="Group 112">
            <a:extLst>
              <a:ext uri="{FF2B5EF4-FFF2-40B4-BE49-F238E27FC236}">
                <a16:creationId xmlns:a16="http://schemas.microsoft.com/office/drawing/2014/main" id="{2C9BD4A5-F5FF-45C3-AA4E-BC51E57E7C52}"/>
              </a:ext>
            </a:extLst>
          </p:cNvPr>
          <p:cNvGrpSpPr/>
          <p:nvPr/>
        </p:nvGrpSpPr>
        <p:grpSpPr bwMode="auto">
          <a:xfrm>
            <a:off x="1201342" y="1922878"/>
            <a:ext cx="3832622" cy="1151334"/>
            <a:chOff x="49" y="1695"/>
            <a:chExt cx="3219" cy="967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382D4758-580C-45D1-BBD1-F0B985D76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" y="1695"/>
              <a:ext cx="1367" cy="9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sz="1350" b="1" i="1" dirty="0">
                  <a:solidFill>
                    <a:srgbClr val="CC0000"/>
                  </a:solidFill>
                </a:rPr>
                <a:t>2:</a:t>
              </a:r>
              <a:r>
                <a:rPr lang="en-US" sz="1350" dirty="0">
                  <a:solidFill>
                    <a:srgbClr val="FF0000"/>
                  </a:solidFill>
                </a:rPr>
                <a:t> </a:t>
              </a:r>
              <a:r>
                <a:rPr lang="en-US" sz="1350" dirty="0">
                  <a:solidFill>
                    <a:srgbClr val="000099"/>
                  </a:solidFill>
                </a:rPr>
                <a:t>NAT router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changes datagram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source </a:t>
              </a:r>
              <a:r>
                <a:rPr lang="en-US" sz="1350" dirty="0" err="1">
                  <a:solidFill>
                    <a:srgbClr val="000099"/>
                  </a:solidFill>
                </a:rPr>
                <a:t>addr</a:t>
              </a:r>
              <a:r>
                <a:rPr lang="en-US" sz="1350" dirty="0">
                  <a:solidFill>
                    <a:srgbClr val="000099"/>
                  </a:solidFill>
                </a:rPr>
                <a:t> from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10.0.0.1, 3345 to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138.76.29.7, 5001,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sz="1350" dirty="0">
                  <a:solidFill>
                    <a:srgbClr val="000099"/>
                  </a:solidFill>
                </a:rPr>
                <a:t>updates table</a:t>
              </a: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3EB0667E-A870-4B24-BF9A-E0DAB8B21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3" name="Line 110">
              <a:extLst>
                <a:ext uri="{FF2B5EF4-FFF2-40B4-BE49-F238E27FC236}">
                  <a16:creationId xmlns:a16="http://schemas.microsoft.com/office/drawing/2014/main" id="{48101A15-8D26-4D08-82C1-4B3B6CE90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2057"/>
              <a:ext cx="690" cy="1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24" name="Line 111">
              <a:extLst>
                <a:ext uri="{FF2B5EF4-FFF2-40B4-BE49-F238E27FC236}">
                  <a16:creationId xmlns:a16="http://schemas.microsoft.com/office/drawing/2014/main" id="{84C8E41A-DC86-4E94-BE28-123EE2D5C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2068"/>
              <a:ext cx="1993" cy="17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25" name="Group 129">
            <a:extLst>
              <a:ext uri="{FF2B5EF4-FFF2-40B4-BE49-F238E27FC236}">
                <a16:creationId xmlns:a16="http://schemas.microsoft.com/office/drawing/2014/main" id="{8852DB9F-F570-4B43-B18C-311122416B5C}"/>
              </a:ext>
            </a:extLst>
          </p:cNvPr>
          <p:cNvGrpSpPr/>
          <p:nvPr/>
        </p:nvGrpSpPr>
        <p:grpSpPr bwMode="auto">
          <a:xfrm>
            <a:off x="2163366" y="3717153"/>
            <a:ext cx="1853803" cy="551260"/>
            <a:chOff x="1163" y="3752"/>
            <a:chExt cx="1557" cy="463"/>
          </a:xfrm>
        </p:grpSpPr>
        <p:sp>
          <p:nvSpPr>
            <p:cNvPr id="126" name="Rectangle 115">
              <a:extLst>
                <a:ext uri="{FF2B5EF4-FFF2-40B4-BE49-F238E27FC236}">
                  <a16:creationId xmlns:a16="http://schemas.microsoft.com/office/drawing/2014/main" id="{FDEC2DBB-DABF-4932-8A2A-9DF9635ED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27" name="Text Box 116">
              <a:extLst>
                <a:ext uri="{FF2B5EF4-FFF2-40B4-BE49-F238E27FC236}">
                  <a16:creationId xmlns:a16="http://schemas.microsoft.com/office/drawing/2014/main" id="{E8DC2D9A-73B6-49D7-B53B-7CB3976B6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S: 128.119.40.186, 80 </a:t>
              </a:r>
            </a:p>
            <a:p>
              <a:r>
                <a:rPr lang="en-US" altLang="zh-CN" sz="900" b="1" dirty="0"/>
                <a:t>D: 138.76.29.7, 5001</a:t>
              </a:r>
            </a:p>
            <a:p>
              <a:endParaRPr lang="en-US" altLang="zh-CN" sz="900" dirty="0"/>
            </a:p>
          </p:txBody>
        </p:sp>
        <p:grpSp>
          <p:nvGrpSpPr>
            <p:cNvPr id="128" name="Group 117">
              <a:extLst>
                <a:ext uri="{FF2B5EF4-FFF2-40B4-BE49-F238E27FC236}">
                  <a16:creationId xmlns:a16="http://schemas.microsoft.com/office/drawing/2014/main" id="{833807FB-B572-4013-9C1E-29110B5443BD}"/>
                </a:ext>
              </a:extLst>
            </p:cNvPr>
            <p:cNvGrpSpPr/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137" name="Freeform 118">
                <a:extLst>
                  <a:ext uri="{FF2B5EF4-FFF2-40B4-BE49-F238E27FC236}">
                    <a16:creationId xmlns:a16="http://schemas.microsoft.com/office/drawing/2014/main" id="{8635B728-FAC6-4750-9910-712CC4DE84B9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8" name="Line 119">
                <a:extLst>
                  <a:ext uri="{FF2B5EF4-FFF2-40B4-BE49-F238E27FC236}">
                    <a16:creationId xmlns:a16="http://schemas.microsoft.com/office/drawing/2014/main" id="{A1DCD830-02B1-434A-ACF7-6700F14BD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9" name="Line 120">
                <a:extLst>
                  <a:ext uri="{FF2B5EF4-FFF2-40B4-BE49-F238E27FC236}">
                    <a16:creationId xmlns:a16="http://schemas.microsoft.com/office/drawing/2014/main" id="{7F79A6A1-8E6D-4DDC-A50A-039E59B84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29" name="Group 121">
              <a:extLst>
                <a:ext uri="{FF2B5EF4-FFF2-40B4-BE49-F238E27FC236}">
                  <a16:creationId xmlns:a16="http://schemas.microsoft.com/office/drawing/2014/main" id="{AF2513D1-2828-4C28-A151-D6C9C5778E49}"/>
                </a:ext>
              </a:extLst>
            </p:cNvPr>
            <p:cNvGrpSpPr/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134" name="Freeform 122">
                <a:extLst>
                  <a:ext uri="{FF2B5EF4-FFF2-40B4-BE49-F238E27FC236}">
                    <a16:creationId xmlns:a16="http://schemas.microsoft.com/office/drawing/2014/main" id="{CC079FB9-1A51-4F5B-A55F-739056268927}"/>
                  </a:ext>
                </a:extLst>
              </p:cNvPr>
              <p:cNvSpPr/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135" name="Line 123">
                <a:extLst>
                  <a:ext uri="{FF2B5EF4-FFF2-40B4-BE49-F238E27FC236}">
                    <a16:creationId xmlns:a16="http://schemas.microsoft.com/office/drawing/2014/main" id="{21843023-97DB-4324-B72F-15E93A2EA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36" name="Line 124">
                <a:extLst>
                  <a:ext uri="{FF2B5EF4-FFF2-40B4-BE49-F238E27FC236}">
                    <a16:creationId xmlns:a16="http://schemas.microsoft.com/office/drawing/2014/main" id="{7049D823-8B7E-4588-9468-AC0A9EB2D5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30" name="Line 125">
              <a:extLst>
                <a:ext uri="{FF2B5EF4-FFF2-40B4-BE49-F238E27FC236}">
                  <a16:creationId xmlns:a16="http://schemas.microsoft.com/office/drawing/2014/main" id="{74689305-788D-46B3-B19B-1F2A193B26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34925">
              <a:solidFill>
                <a:srgbClr val="C0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131" name="Group 126">
              <a:extLst>
                <a:ext uri="{FF2B5EF4-FFF2-40B4-BE49-F238E27FC236}">
                  <a16:creationId xmlns:a16="http://schemas.microsoft.com/office/drawing/2014/main" id="{547BA45F-5CA1-48F8-B5BB-653245F5F3A9}"/>
                </a:ext>
              </a:extLst>
            </p:cNvPr>
            <p:cNvGrpSpPr/>
            <p:nvPr/>
          </p:nvGrpSpPr>
          <p:grpSpPr bwMode="auto">
            <a:xfrm>
              <a:off x="2409" y="3815"/>
              <a:ext cx="250" cy="252"/>
              <a:chOff x="5140" y="400"/>
              <a:chExt cx="250" cy="252"/>
            </a:xfrm>
          </p:grpSpPr>
          <p:sp>
            <p:nvSpPr>
              <p:cNvPr id="132" name="Oval 127">
                <a:extLst>
                  <a:ext uri="{FF2B5EF4-FFF2-40B4-BE49-F238E27FC236}">
                    <a16:creationId xmlns:a16="http://schemas.microsoft.com/office/drawing/2014/main" id="{FBA55966-9A75-455F-9B41-F77085B12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33" name="Text Box 128">
                <a:extLst>
                  <a:ext uri="{FF2B5EF4-FFF2-40B4-BE49-F238E27FC236}">
                    <a16:creationId xmlns:a16="http://schemas.microsoft.com/office/drawing/2014/main" id="{E660CCE3-D0C1-40EB-8CDC-8894D2E3B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3</a:t>
                </a:r>
              </a:p>
            </p:txBody>
          </p:sp>
        </p:grpSp>
      </p:grpSp>
      <p:sp>
        <p:nvSpPr>
          <p:cNvPr id="140" name="Text Box 131">
            <a:extLst>
              <a:ext uri="{FF2B5EF4-FFF2-40B4-BE49-F238E27FC236}">
                <a16:creationId xmlns:a16="http://schemas.microsoft.com/office/drawing/2014/main" id="{8EA5931B-181D-4713-9B3D-3DF8F01C3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219" y="4083863"/>
            <a:ext cx="1627369" cy="6220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1350" b="1" i="1">
                <a:solidFill>
                  <a:srgbClr val="CC0000"/>
                </a:solidFill>
              </a:rPr>
              <a:t>3:</a:t>
            </a:r>
            <a:r>
              <a:rPr lang="en-US" sz="1350">
                <a:solidFill>
                  <a:srgbClr val="FF0000"/>
                </a:solidFill>
              </a:rPr>
              <a:t> </a:t>
            </a:r>
            <a:r>
              <a:rPr lang="en-US" sz="1350">
                <a:solidFill>
                  <a:srgbClr val="000099"/>
                </a:solidFill>
              </a:rPr>
              <a:t>reply arrives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solidFill>
                  <a:srgbClr val="000099"/>
                </a:solidFill>
              </a:rPr>
              <a:t> dest. address:</a:t>
            </a:r>
          </a:p>
          <a:p>
            <a:pPr>
              <a:lnSpc>
                <a:spcPct val="85000"/>
              </a:lnSpc>
              <a:defRPr/>
            </a:pPr>
            <a:r>
              <a:rPr lang="en-US" sz="1350">
                <a:solidFill>
                  <a:srgbClr val="000099"/>
                </a:solidFill>
              </a:rPr>
              <a:t> 138.76.29.7, 5001</a:t>
            </a:r>
          </a:p>
        </p:txBody>
      </p:sp>
      <p:sp>
        <p:nvSpPr>
          <p:cNvPr id="141" name="Text Box 136">
            <a:extLst>
              <a:ext uri="{FF2B5EF4-FFF2-40B4-BE49-F238E27FC236}">
                <a16:creationId xmlns:a16="http://schemas.microsoft.com/office/drawing/2014/main" id="{EB544182-412B-42E5-BCDD-D7029A7AF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398" y="3972893"/>
            <a:ext cx="2925801" cy="7986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350" b="1" i="1" dirty="0">
                <a:solidFill>
                  <a:srgbClr val="CC0000"/>
                </a:solidFill>
              </a:rPr>
              <a:t>4:</a:t>
            </a:r>
            <a:r>
              <a:rPr lang="en-US" altLang="zh-CN" sz="1350" dirty="0">
                <a:solidFill>
                  <a:srgbClr val="FF0000"/>
                </a:solidFill>
              </a:rPr>
              <a:t> </a:t>
            </a:r>
            <a:r>
              <a:rPr lang="en-US" altLang="zh-CN" sz="1350" dirty="0">
                <a:solidFill>
                  <a:srgbClr val="000099"/>
                </a:solidFill>
              </a:rPr>
              <a:t>NAT router</a:t>
            </a:r>
          </a:p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000099"/>
                </a:solidFill>
              </a:rPr>
              <a:t>changes datagram</a:t>
            </a:r>
          </a:p>
          <a:p>
            <a:pPr>
              <a:lnSpc>
                <a:spcPct val="85000"/>
              </a:lnSpc>
            </a:pPr>
            <a:r>
              <a:rPr lang="en-US" altLang="zh-CN" sz="1350" dirty="0" err="1">
                <a:solidFill>
                  <a:srgbClr val="000099"/>
                </a:solidFill>
              </a:rPr>
              <a:t>dest</a:t>
            </a:r>
            <a:r>
              <a:rPr lang="en-US" altLang="zh-CN" sz="1350" dirty="0">
                <a:solidFill>
                  <a:srgbClr val="000099"/>
                </a:solidFill>
              </a:rPr>
              <a:t> </a:t>
            </a:r>
            <a:r>
              <a:rPr lang="en-US" altLang="zh-CN" sz="1350" dirty="0" err="1">
                <a:solidFill>
                  <a:srgbClr val="000099"/>
                </a:solidFill>
              </a:rPr>
              <a:t>addr</a:t>
            </a:r>
            <a:r>
              <a:rPr lang="en-US" altLang="zh-CN" sz="1350" dirty="0">
                <a:solidFill>
                  <a:srgbClr val="000099"/>
                </a:solidFill>
              </a:rPr>
              <a:t> from</a:t>
            </a:r>
          </a:p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000099"/>
                </a:solidFill>
              </a:rPr>
              <a:t>138.76.29.7, 5001 to 10.0.0.1, 3345</a:t>
            </a:r>
          </a:p>
        </p:txBody>
      </p:sp>
      <p:sp>
        <p:nvSpPr>
          <p:cNvPr id="142" name="Line 138">
            <a:extLst>
              <a:ext uri="{FF2B5EF4-FFF2-40B4-BE49-F238E27FC236}">
                <a16:creationId xmlns:a16="http://schemas.microsoft.com/office/drawing/2014/main" id="{24D89A81-4E68-46A3-B2A9-9F78C5444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9763" y="3411159"/>
            <a:ext cx="2269331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43" name="Group 143">
            <a:extLst>
              <a:ext uri="{FF2B5EF4-FFF2-40B4-BE49-F238E27FC236}">
                <a16:creationId xmlns:a16="http://schemas.microsoft.com/office/drawing/2014/main" id="{D5A38DAD-10F4-4210-9D2A-EB97C9462782}"/>
              </a:ext>
            </a:extLst>
          </p:cNvPr>
          <p:cNvGrpSpPr/>
          <p:nvPr/>
        </p:nvGrpSpPr>
        <p:grpSpPr bwMode="auto">
          <a:xfrm>
            <a:off x="4169569" y="3277809"/>
            <a:ext cx="440531" cy="242888"/>
            <a:chOff x="4396" y="1245"/>
            <a:chExt cx="672" cy="248"/>
          </a:xfrm>
        </p:grpSpPr>
        <p:sp>
          <p:nvSpPr>
            <p:cNvPr id="144" name="Oval 407">
              <a:extLst>
                <a:ext uri="{FF2B5EF4-FFF2-40B4-BE49-F238E27FC236}">
                  <a16:creationId xmlns:a16="http://schemas.microsoft.com/office/drawing/2014/main" id="{C1B72A38-7C72-4943-8A8F-C1958FBD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5" name="Rectangle 410">
              <a:extLst>
                <a:ext uri="{FF2B5EF4-FFF2-40B4-BE49-F238E27FC236}">
                  <a16:creationId xmlns:a16="http://schemas.microsoft.com/office/drawing/2014/main" id="{31DEE859-1064-4FCE-989B-CD9C23D8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6" name="Oval 411">
              <a:extLst>
                <a:ext uri="{FF2B5EF4-FFF2-40B4-BE49-F238E27FC236}">
                  <a16:creationId xmlns:a16="http://schemas.microsoft.com/office/drawing/2014/main" id="{F610C2FA-32CA-4413-B7CF-FCE545B6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47" name="Group 147">
              <a:extLst>
                <a:ext uri="{FF2B5EF4-FFF2-40B4-BE49-F238E27FC236}">
                  <a16:creationId xmlns:a16="http://schemas.microsoft.com/office/drawing/2014/main" id="{370AA061-125E-47F6-B0C1-F1DEF6328E42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0" name="Freeform 148">
                <a:extLst>
                  <a:ext uri="{FF2B5EF4-FFF2-40B4-BE49-F238E27FC236}">
                    <a16:creationId xmlns:a16="http://schemas.microsoft.com/office/drawing/2014/main" id="{D722C2A5-3D58-428F-9CF0-0D227B27DA68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1" name="Freeform 149">
                <a:extLst>
                  <a:ext uri="{FF2B5EF4-FFF2-40B4-BE49-F238E27FC236}">
                    <a16:creationId xmlns:a16="http://schemas.microsoft.com/office/drawing/2014/main" id="{E1025824-5E45-4576-971E-6936DECD70DE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48" name="Line 150">
              <a:extLst>
                <a:ext uri="{FF2B5EF4-FFF2-40B4-BE49-F238E27FC236}">
                  <a16:creationId xmlns:a16="http://schemas.microsoft.com/office/drawing/2014/main" id="{513164B9-AD74-4BD8-A634-3FB553930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2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9" name="Line 151">
              <a:extLst>
                <a:ext uri="{FF2B5EF4-FFF2-40B4-BE49-F238E27FC236}">
                  <a16:creationId xmlns:a16="http://schemas.microsoft.com/office/drawing/2014/main" id="{BAD77087-8028-4500-9707-FDEA08104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52" name="Group 156">
            <a:extLst>
              <a:ext uri="{FF2B5EF4-FFF2-40B4-BE49-F238E27FC236}">
                <a16:creationId xmlns:a16="http://schemas.microsoft.com/office/drawing/2014/main" id="{3F193585-5500-411B-9DFF-38866C018BA5}"/>
              </a:ext>
            </a:extLst>
          </p:cNvPr>
          <p:cNvGrpSpPr/>
          <p:nvPr/>
        </p:nvGrpSpPr>
        <p:grpSpPr bwMode="auto">
          <a:xfrm flipH="1">
            <a:off x="6790135" y="2689640"/>
            <a:ext cx="481013" cy="419100"/>
            <a:chOff x="-44" y="1473"/>
            <a:chExt cx="981" cy="1105"/>
          </a:xfrm>
        </p:grpSpPr>
        <p:pic>
          <p:nvPicPr>
            <p:cNvPr id="153" name="Picture 157" descr="desktop_computer_stylized_medium">
              <a:extLst>
                <a:ext uri="{FF2B5EF4-FFF2-40B4-BE49-F238E27FC236}">
                  <a16:creationId xmlns:a16="http://schemas.microsoft.com/office/drawing/2014/main" id="{F8C06A22-841D-435E-8946-BB59C551BE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4" name="Freeform 158">
              <a:extLst>
                <a:ext uri="{FF2B5EF4-FFF2-40B4-BE49-F238E27FC236}">
                  <a16:creationId xmlns:a16="http://schemas.microsoft.com/office/drawing/2014/main" id="{296A358B-2561-400D-BA8C-022B788A1CCF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55" name="Line 32">
            <a:extLst>
              <a:ext uri="{FF2B5EF4-FFF2-40B4-BE49-F238E27FC236}">
                <a16:creationId xmlns:a16="http://schemas.microsoft.com/office/drawing/2014/main" id="{18780B24-7579-4FA2-8757-5C978D3CF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2979" y="3384965"/>
            <a:ext cx="16430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56" name="Group 88">
            <a:extLst>
              <a:ext uri="{FF2B5EF4-FFF2-40B4-BE49-F238E27FC236}">
                <a16:creationId xmlns:a16="http://schemas.microsoft.com/office/drawing/2014/main" id="{C27B61AF-7C73-4FD9-9DA7-AB01CA97EB01}"/>
              </a:ext>
            </a:extLst>
          </p:cNvPr>
          <p:cNvGrpSpPr/>
          <p:nvPr/>
        </p:nvGrpSpPr>
        <p:grpSpPr bwMode="auto">
          <a:xfrm>
            <a:off x="5102074" y="2632638"/>
            <a:ext cx="1403747" cy="729853"/>
            <a:chOff x="3550" y="2055"/>
            <a:chExt cx="1179" cy="613"/>
          </a:xfrm>
        </p:grpSpPr>
        <p:grpSp>
          <p:nvGrpSpPr>
            <p:cNvPr id="157" name="Group 50">
              <a:extLst>
                <a:ext uri="{FF2B5EF4-FFF2-40B4-BE49-F238E27FC236}">
                  <a16:creationId xmlns:a16="http://schemas.microsoft.com/office/drawing/2014/main" id="{A6513893-61A6-444E-A452-A29E6DACFFAC}"/>
                </a:ext>
              </a:extLst>
            </p:cNvPr>
            <p:cNvGrpSpPr/>
            <p:nvPr/>
          </p:nvGrpSpPr>
          <p:grpSpPr bwMode="auto">
            <a:xfrm>
              <a:off x="3550" y="2055"/>
              <a:ext cx="1179" cy="357"/>
              <a:chOff x="4380" y="786"/>
              <a:chExt cx="1108" cy="357"/>
            </a:xfrm>
          </p:grpSpPr>
          <p:sp>
            <p:nvSpPr>
              <p:cNvPr id="162" name="Rectangle 40">
                <a:extLst>
                  <a:ext uri="{FF2B5EF4-FFF2-40B4-BE49-F238E27FC236}">
                    <a16:creationId xmlns:a16="http://schemas.microsoft.com/office/drawing/2014/main" id="{F905CB02-7346-41AD-AAE1-CE900A345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4" y="830"/>
                <a:ext cx="1104" cy="256"/>
              </a:xfrm>
              <a:prstGeom prst="rect">
                <a:avLst/>
              </a:prstGeom>
              <a:solidFill>
                <a:srgbClr val="FFDDDD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3" name="Text Box 39">
                <a:extLst>
                  <a:ext uri="{FF2B5EF4-FFF2-40B4-BE49-F238E27FC236}">
                    <a16:creationId xmlns:a16="http://schemas.microsoft.com/office/drawing/2014/main" id="{6364A421-1314-4A1F-B3EC-1F1A70B778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0" y="813"/>
                <a:ext cx="1045" cy="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900" b="1" dirty="0"/>
                  <a:t>S: 10.0.0.1, 3345</a:t>
                </a:r>
              </a:p>
              <a:p>
                <a:pPr>
                  <a:defRPr/>
                </a:pPr>
                <a:r>
                  <a:rPr lang="en-US" sz="900" dirty="0"/>
                  <a:t>D: 128.119.40.186, 80</a:t>
                </a:r>
              </a:p>
            </p:txBody>
          </p:sp>
          <p:grpSp>
            <p:nvGrpSpPr>
              <p:cNvPr id="164" name="Group 44">
                <a:extLst>
                  <a:ext uri="{FF2B5EF4-FFF2-40B4-BE49-F238E27FC236}">
                    <a16:creationId xmlns:a16="http://schemas.microsoft.com/office/drawing/2014/main" id="{F398D438-B94A-4EA9-BF13-8C5C50EEE856}"/>
                  </a:ext>
                </a:extLst>
              </p:cNvPr>
              <p:cNvGrpSpPr/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69" name="Freeform 43">
                  <a:extLst>
                    <a:ext uri="{FF2B5EF4-FFF2-40B4-BE49-F238E27FC236}">
                      <a16:creationId xmlns:a16="http://schemas.microsoft.com/office/drawing/2014/main" id="{7A98E17F-9087-470F-8B42-5D6084D8C7F3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70" name="Line 41">
                  <a:extLst>
                    <a:ext uri="{FF2B5EF4-FFF2-40B4-BE49-F238E27FC236}">
                      <a16:creationId xmlns:a16="http://schemas.microsoft.com/office/drawing/2014/main" id="{4EB348F6-3A01-4733-B482-49F5A3C75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71" name="Line 42">
                  <a:extLst>
                    <a:ext uri="{FF2B5EF4-FFF2-40B4-BE49-F238E27FC236}">
                      <a16:creationId xmlns:a16="http://schemas.microsoft.com/office/drawing/2014/main" id="{3C9F213F-16BB-4D39-A38B-7EC4B53819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  <p:grpSp>
            <p:nvGrpSpPr>
              <p:cNvPr id="165" name="Group 45">
                <a:extLst>
                  <a:ext uri="{FF2B5EF4-FFF2-40B4-BE49-F238E27FC236}">
                    <a16:creationId xmlns:a16="http://schemas.microsoft.com/office/drawing/2014/main" id="{A6ABB244-1067-451E-9870-F2B8546D2EC3}"/>
                  </a:ext>
                </a:extLst>
              </p:cNvPr>
              <p:cNvGrpSpPr/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66" name="Freeform 46">
                  <a:extLst>
                    <a:ext uri="{FF2B5EF4-FFF2-40B4-BE49-F238E27FC236}">
                      <a16:creationId xmlns:a16="http://schemas.microsoft.com/office/drawing/2014/main" id="{FA46E7CD-B791-495A-85B3-850924D20567}"/>
                    </a:ext>
                  </a:extLst>
                </p:cNvPr>
                <p:cNvSpPr/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prstDash val="solid"/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167" name="Line 47">
                  <a:extLst>
                    <a:ext uri="{FF2B5EF4-FFF2-40B4-BE49-F238E27FC236}">
                      <a16:creationId xmlns:a16="http://schemas.microsoft.com/office/drawing/2014/main" id="{28C56C76-B339-4B9A-992E-ED7D66676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  <p:sp>
              <p:nvSpPr>
                <p:cNvPr id="168" name="Line 48">
                  <a:extLst>
                    <a:ext uri="{FF2B5EF4-FFF2-40B4-BE49-F238E27FC236}">
                      <a16:creationId xmlns:a16="http://schemas.microsoft.com/office/drawing/2014/main" id="{E599A07B-FC1C-4D33-99B2-D78E61404A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sz="1350">
                    <a:latin typeface="Arial" panose="020B0604020202020204" pitchFamily="34" charset="0"/>
                    <a:ea typeface="MS PGothic" charset="0"/>
                  </a:endParaRPr>
                </a:p>
              </p:txBody>
            </p:sp>
          </p:grpSp>
        </p:grpSp>
        <p:sp>
          <p:nvSpPr>
            <p:cNvPr id="158" name="Freeform 51">
              <a:extLst>
                <a:ext uri="{FF2B5EF4-FFF2-40B4-BE49-F238E27FC236}">
                  <a16:creationId xmlns:a16="http://schemas.microsoft.com/office/drawing/2014/main" id="{FC20E3C2-0E1D-488F-A8C9-2E2C08EE6944}"/>
                </a:ext>
              </a:extLst>
            </p:cNvPr>
            <p:cNvSpPr/>
            <p:nvPr/>
          </p:nvSpPr>
          <p:spPr bwMode="auto">
            <a:xfrm>
              <a:off x="3573" y="2364"/>
              <a:ext cx="564" cy="286"/>
            </a:xfrm>
            <a:custGeom>
              <a:avLst/>
              <a:gdLst>
                <a:gd name="T0" fmla="*/ 0 w 417"/>
                <a:gd name="T1" fmla="*/ 964 h 264"/>
                <a:gd name="T2" fmla="*/ 1888 w 417"/>
                <a:gd name="T3" fmla="*/ 964 h 264"/>
                <a:gd name="T4" fmla="*/ 1888 w 417"/>
                <a:gd name="T5" fmla="*/ 0 h 2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34925" cap="flat" cmpd="sng">
              <a:solidFill>
                <a:srgbClr val="FF66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59" name="Group 87">
              <a:extLst>
                <a:ext uri="{FF2B5EF4-FFF2-40B4-BE49-F238E27FC236}">
                  <a16:creationId xmlns:a16="http://schemas.microsoft.com/office/drawing/2014/main" id="{5B59BCC5-BB0A-4240-9A17-0A6FC0EF20FD}"/>
                </a:ext>
              </a:extLst>
            </p:cNvPr>
            <p:cNvGrpSpPr/>
            <p:nvPr/>
          </p:nvGrpSpPr>
          <p:grpSpPr bwMode="auto">
            <a:xfrm>
              <a:off x="4032" y="2416"/>
              <a:ext cx="250" cy="252"/>
              <a:chOff x="5140" y="400"/>
              <a:chExt cx="250" cy="252"/>
            </a:xfrm>
          </p:grpSpPr>
          <p:sp>
            <p:nvSpPr>
              <p:cNvPr id="160" name="Oval 86">
                <a:extLst>
                  <a:ext uri="{FF2B5EF4-FFF2-40B4-BE49-F238E27FC236}">
                    <a16:creationId xmlns:a16="http://schemas.microsoft.com/office/drawing/2014/main" id="{DD51B177-E38D-4A4A-BA9E-1E38248EC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C0000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61" name="Text Box 52">
                <a:extLst>
                  <a:ext uri="{FF2B5EF4-FFF2-40B4-BE49-F238E27FC236}">
                    <a16:creationId xmlns:a16="http://schemas.microsoft.com/office/drawing/2014/main" id="{A0F8AE99-0A8E-42BF-8797-A518B3D93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350">
                    <a:solidFill>
                      <a:srgbClr val="CC0000"/>
                    </a:solidFill>
                  </a:rPr>
                  <a:t>1</a:t>
                </a:r>
              </a:p>
            </p:txBody>
          </p:sp>
        </p:grpSp>
      </p:grp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F07BEF80-BB10-4311-919B-7D59A932C488}"/>
              </a:ext>
            </a:extLst>
          </p:cNvPr>
          <p:cNvCxnSpPr/>
          <p:nvPr/>
        </p:nvCxnSpPr>
        <p:spPr>
          <a:xfrm>
            <a:off x="6716074" y="2841751"/>
            <a:ext cx="4763" cy="112871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780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rgbClr val="FF6600"/>
                </a:solidFill>
              </a:rPr>
              <a:t>知识点</a:t>
            </a:r>
            <a:r>
              <a:rPr lang="en-US" altLang="zh-CN" sz="2200" dirty="0">
                <a:solidFill>
                  <a:srgbClr val="FF6600"/>
                </a:solidFill>
              </a:rPr>
              <a:t>7</a:t>
            </a:r>
            <a:r>
              <a:rPr lang="zh-CN" altLang="en-US" sz="2200" dirty="0">
                <a:solidFill>
                  <a:srgbClr val="FF6600"/>
                </a:solidFill>
              </a:rPr>
              <a:t>：</a:t>
            </a:r>
            <a:r>
              <a:rPr lang="en-US" altLang="zh-CN" sz="2200" dirty="0">
                <a:solidFill>
                  <a:srgbClr val="FF6600"/>
                </a:solidFill>
              </a:rPr>
              <a:t>ICMP</a:t>
            </a:r>
            <a:r>
              <a:rPr lang="zh-CN" altLang="en-US" sz="2200" dirty="0">
                <a:solidFill>
                  <a:srgbClr val="FF6600"/>
                </a:solidFill>
              </a:rPr>
              <a:t>因特网控制报文协议</a:t>
            </a:r>
            <a:endParaRPr lang="en-US" altLang="zh-CN" sz="2200" dirty="0">
              <a:solidFill>
                <a:srgbClr val="FF66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RFC 7 92</a:t>
            </a: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Ping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Tracert/Traceroute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58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5" name="Text Box 4">
            <a:extLst>
              <a:ext uri="{FF2B5EF4-FFF2-40B4-BE49-F238E27FC236}">
                <a16:creationId xmlns:a16="http://schemas.microsoft.com/office/drawing/2014/main" id="{4AEA6F2D-F70A-4DA9-80D1-6F682993A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3481" y="1513603"/>
            <a:ext cx="2637260" cy="300082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350" u="sng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description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0       0        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回显应答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(ping)</a:t>
            </a: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目标网络不可达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3       1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3       2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目标协议不可达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3       3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目标端口不可达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3       6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目标网络未知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3       7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目标主机未知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源抑制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8       0        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回显请求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(ping)</a:t>
            </a: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9       0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路由器通告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10      0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路由器发现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     0         TTL 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过期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     0         IP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首部损坏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1832CCA9-42E3-4AE6-A5BF-8D9EF1B5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923678"/>
            <a:ext cx="4279763" cy="18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9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4.6 </a:t>
            </a:r>
            <a:r>
              <a:rPr lang="zh-CN" altLang="en-US" dirty="0"/>
              <a:t>本章复习总结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5999"/>
            <a:ext cx="7992888" cy="4156031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>
                <a:effectLst/>
              </a:rPr>
              <a:t>知识点</a:t>
            </a:r>
            <a:r>
              <a:rPr lang="en-US" altLang="zh-CN" sz="2200" dirty="0">
                <a:effectLst/>
              </a:rPr>
              <a:t>8</a:t>
            </a:r>
            <a:r>
              <a:rPr lang="zh-CN" altLang="en-US" sz="2200" dirty="0">
                <a:effectLst/>
              </a:rPr>
              <a:t>：</a:t>
            </a:r>
            <a:r>
              <a:rPr lang="zh-CN" altLang="en-US" sz="2200" dirty="0"/>
              <a:t>路由选择算法</a:t>
            </a:r>
            <a:endParaRPr lang="en-US" altLang="zh-CN" sz="2200" dirty="0"/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a </a:t>
            </a:r>
            <a:r>
              <a:rPr lang="zh-CN" altLang="en-US" sz="2000" dirty="0"/>
              <a:t>链路状态</a:t>
            </a:r>
            <a:endParaRPr lang="en-US" altLang="zh-CN" sz="2000" dirty="0"/>
          </a:p>
          <a:p>
            <a:pPr lvl="2">
              <a:lnSpc>
                <a:spcPct val="110000"/>
              </a:lnSpc>
            </a:pPr>
            <a:r>
              <a:rPr lang="zh-CN" altLang="en-US" sz="1800" dirty="0"/>
              <a:t>输入：图</a:t>
            </a:r>
            <a:endParaRPr lang="en-US" altLang="zh-CN" sz="1800" dirty="0"/>
          </a:p>
          <a:p>
            <a:pPr lvl="2">
              <a:lnSpc>
                <a:spcPct val="110000"/>
              </a:lnSpc>
            </a:pPr>
            <a:r>
              <a:rPr lang="zh-CN" altLang="en-US" sz="1800" dirty="0"/>
              <a:t>输出：最小生成树</a:t>
            </a:r>
            <a:endParaRPr lang="en-US" altLang="zh-CN" sz="1800" dirty="0"/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b </a:t>
            </a:r>
            <a:r>
              <a:rPr lang="zh-CN" altLang="en-US" sz="2000" dirty="0"/>
              <a:t>距离向量</a:t>
            </a:r>
            <a:endParaRPr lang="en-US" altLang="zh-CN" sz="2000" dirty="0"/>
          </a:p>
          <a:p>
            <a:pPr marL="685800" lvl="2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{</a:t>
            </a:r>
          </a:p>
          <a:p>
            <a:pPr marL="1028700" lvl="3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邻居交换信息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1028700" lvl="3" indent="0">
              <a:lnSpc>
                <a:spcPct val="110000"/>
              </a:lnSpc>
              <a:buNone/>
            </a:pPr>
            <a:r>
              <a:rPr lang="en-US" altLang="zh-CN" sz="1600" dirty="0">
                <a:solidFill>
                  <a:schemeClr val="tx1"/>
                </a:solidFill>
              </a:rPr>
              <a:t>Bellman-Ford</a:t>
            </a:r>
            <a:r>
              <a:rPr lang="zh-CN" altLang="en-US" sz="1600" dirty="0">
                <a:solidFill>
                  <a:schemeClr val="tx1"/>
                </a:solidFill>
              </a:rPr>
              <a:t>方程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1028700" lvl="3" indent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更新</a:t>
            </a:r>
            <a:r>
              <a:rPr lang="zh-CN" alt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距离向量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685800" lvl="2" indent="0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</a:rPr>
              <a:t>}</a:t>
            </a:r>
          </a:p>
          <a:p>
            <a:pPr>
              <a:lnSpc>
                <a:spcPct val="110000"/>
              </a:lnSpc>
            </a:pPr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622" name="灯片编号占位符 2">
            <a:extLst>
              <a:ext uri="{FF2B5EF4-FFF2-40B4-BE49-F238E27FC236}">
                <a16:creationId xmlns:a16="http://schemas.microsoft.com/office/drawing/2014/main" id="{6745A72C-36C8-496F-B7E1-88D3F674DAE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59</a:t>
            </a:fld>
            <a:endParaRPr lang="en-US" altLang="zh-CN" dirty="0"/>
          </a:p>
        </p:txBody>
      </p:sp>
      <p:sp>
        <p:nvSpPr>
          <p:cNvPr id="623" name="AutoShape 5">
            <a:extLst>
              <a:ext uri="{FF2B5EF4-FFF2-40B4-BE49-F238E27FC236}">
                <a16:creationId xmlns:a16="http://schemas.microsoft.com/office/drawing/2014/main" id="{C6CF457F-AC46-48E6-9365-26C522954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E3332D-CC43-46DE-90CE-FC87F57BD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131590"/>
            <a:ext cx="1626460" cy="10528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B4828C5-78B0-45D0-A3F7-73254E576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54" y="2571750"/>
            <a:ext cx="1800200" cy="1140266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F4AB9D12-09A7-45B2-91E0-509F6AE432DC}"/>
              </a:ext>
            </a:extLst>
          </p:cNvPr>
          <p:cNvSpPr/>
          <p:nvPr/>
        </p:nvSpPr>
        <p:spPr>
          <a:xfrm>
            <a:off x="7293442" y="2249102"/>
            <a:ext cx="216024" cy="261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12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2025/4/9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1418</TotalTime>
  <Words>6028</Words>
  <Application>Microsoft Office PowerPoint</Application>
  <PresentationFormat>全屏显示(16:9)</PresentationFormat>
  <Paragraphs>1712</Paragraphs>
  <Slides>60</Slides>
  <Notes>3</Notes>
  <HiddenSlides>2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60</vt:i4>
      </vt:variant>
    </vt:vector>
  </HeadingPairs>
  <TitlesOfParts>
    <vt:vector size="74" baseType="lpstr">
      <vt:lpstr>Arial Unicode MS</vt:lpstr>
      <vt:lpstr>Courier</vt:lpstr>
      <vt:lpstr>PingFang SC</vt:lpstr>
      <vt:lpstr>等线</vt:lpstr>
      <vt:lpstr>等线 Light</vt:lpstr>
      <vt:lpstr>黑体</vt:lpstr>
      <vt:lpstr>微软雅黑</vt:lpstr>
      <vt:lpstr>Arial</vt:lpstr>
      <vt:lpstr>Calibri</vt:lpstr>
      <vt:lpstr>Comic Sans MS</vt:lpstr>
      <vt:lpstr>Times</vt:lpstr>
      <vt:lpstr>Times New Roman</vt:lpstr>
      <vt:lpstr>Wingdings</vt:lpstr>
      <vt:lpstr>Office 主题​​</vt:lpstr>
      <vt:lpstr>计算机网络</vt:lpstr>
      <vt:lpstr>4.3 IP: 网际协议 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PowerPoint 演示文稿</vt:lpstr>
      <vt:lpstr>知识回顾</vt:lpstr>
      <vt:lpstr>PowerPoint 演示文稿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4.4 路由选择算法</vt:lpstr>
      <vt:lpstr>PowerPoint 演示文稿</vt:lpstr>
      <vt:lpstr>PowerPoint 演示文稿</vt:lpstr>
      <vt:lpstr>4.4 路由选择算法</vt:lpstr>
      <vt:lpstr>4.4 路由选择算法</vt:lpstr>
      <vt:lpstr>4.4 路由选择算法</vt:lpstr>
      <vt:lpstr>PowerPoint 演示文稿</vt:lpstr>
      <vt:lpstr>4.6 本章复习总结</vt:lpstr>
      <vt:lpstr>4.6 本章复习总结</vt:lpstr>
      <vt:lpstr>4.6 本章复习总结</vt:lpstr>
      <vt:lpstr>4.6 本章复习总结</vt:lpstr>
      <vt:lpstr>4.6 本章复习总结</vt:lpstr>
      <vt:lpstr>例题：</vt:lpstr>
      <vt:lpstr>例题：</vt:lpstr>
      <vt:lpstr>4.6 本章复习总结</vt:lpstr>
      <vt:lpstr>4.6 本章复习总结</vt:lpstr>
      <vt:lpstr>4.6 本章复习总结</vt:lpstr>
      <vt:lpstr>4.6 本章复习总结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Haibo</dc:creator>
  <cp:lastModifiedBy>cistecoram</cp:lastModifiedBy>
  <cp:revision>35</cp:revision>
  <dcterms:created xsi:type="dcterms:W3CDTF">2020-04-12T12:27:05Z</dcterms:created>
  <dcterms:modified xsi:type="dcterms:W3CDTF">2025-04-09T06:00:05Z</dcterms:modified>
</cp:coreProperties>
</file>