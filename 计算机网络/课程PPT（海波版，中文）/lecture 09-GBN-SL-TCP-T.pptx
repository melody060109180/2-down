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JPG" ContentType="image/.jpg"/>
  <Default Extension="wmf" ContentType="image/x-wmf"/>
  <Default Extension="png" ContentType="image/png"/>
  <Default Extension="m4a" ContentType="audi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54"/>
  </p:handoutMasterIdLst>
  <p:sldIdLst>
    <p:sldId id="447" r:id="rId3"/>
    <p:sldId id="257" r:id="rId5"/>
    <p:sldId id="258" r:id="rId6"/>
    <p:sldId id="260" r:id="rId7"/>
    <p:sldId id="440" r:id="rId8"/>
    <p:sldId id="262" r:id="rId9"/>
    <p:sldId id="446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441" r:id="rId29"/>
    <p:sldId id="282" r:id="rId30"/>
    <p:sldId id="283" r:id="rId31"/>
    <p:sldId id="284" r:id="rId32"/>
    <p:sldId id="285" r:id="rId33"/>
    <p:sldId id="442" r:id="rId34"/>
    <p:sldId id="288" r:id="rId35"/>
    <p:sldId id="290" r:id="rId36"/>
    <p:sldId id="291" r:id="rId37"/>
    <p:sldId id="292" r:id="rId38"/>
    <p:sldId id="443" r:id="rId39"/>
    <p:sldId id="294" r:id="rId40"/>
    <p:sldId id="295" r:id="rId41"/>
    <p:sldId id="439" r:id="rId42"/>
    <p:sldId id="297" r:id="rId43"/>
    <p:sldId id="314" r:id="rId44"/>
    <p:sldId id="315" r:id="rId45"/>
    <p:sldId id="316" r:id="rId46"/>
    <p:sldId id="317" r:id="rId47"/>
    <p:sldId id="318" r:id="rId48"/>
    <p:sldId id="444" r:id="rId49"/>
    <p:sldId id="320" r:id="rId50"/>
    <p:sldId id="321" r:id="rId51"/>
    <p:sldId id="300" r:id="rId52"/>
    <p:sldId id="296" r:id="rId53"/>
  </p:sldIdLst>
  <p:sldSz cx="9144000" cy="5143500" type="screen16x9"/>
  <p:notesSz cx="7099300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0000FF"/>
    <a:srgbClr val="E18601"/>
    <a:srgbClr val="008000"/>
    <a:srgbClr val="FF3300"/>
    <a:srgbClr val="FF66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1427" autoAdjust="0"/>
  </p:normalViewPr>
  <p:slideViewPr>
    <p:cSldViewPr showGuides="1">
      <p:cViewPr varScale="1">
        <p:scale>
          <a:sx n="152" d="100"/>
          <a:sy n="152" d="100"/>
        </p:scale>
        <p:origin x="106" y="24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216" y="3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handoutMaster" Target="handoutMasters/handoutMaster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  <a:endParaRPr lang="zh-CN" altLang="en-US" sz="1400" b="1">
              <a:solidFill>
                <a:srgbClr val="0000FF"/>
              </a:solidFill>
            </a:endParaRP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  <a:endParaRPr lang="zh-CN" altLang="en-US" sz="1400" b="1">
              <a:solidFill>
                <a:srgbClr val="0000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/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3419871" y="3448764"/>
            <a:ext cx="2191541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9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  <a:endParaRPr lang="zh-CN" altLang="en-US" sz="36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/>
          <p:cNvSpPr>
            <a:spLocks noGrp="1"/>
          </p:cNvSpPr>
          <p:nvPr>
            <p:ph idx="13"/>
          </p:nvPr>
        </p:nvSpPr>
        <p:spPr>
          <a:xfrm>
            <a:off x="3491880" y="2298872"/>
            <a:ext cx="3888432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0" name="椭圆 19"/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/>
          <p:cNvSpPr>
            <a:spLocks noGrp="1"/>
          </p:cNvSpPr>
          <p:nvPr>
            <p:ph idx="14"/>
          </p:nvPr>
        </p:nvSpPr>
        <p:spPr>
          <a:xfrm>
            <a:off x="3491880" y="3028732"/>
            <a:ext cx="3888432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2" name="椭圆 21"/>
          <p:cNvSpPr/>
          <p:nvPr userDrawn="1"/>
        </p:nvSpPr>
        <p:spPr>
          <a:xfrm>
            <a:off x="2751195" y="3016511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67545" y="936000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113971"/>
            <a:ext cx="648072" cy="6480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9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audio" Target="../media/audio1.wav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8" name="arrow.wav"/>
          </p:stSnd>
        </p:sndAc>
      </p:transition>
    </mc:Choice>
    <mc:Fallback>
      <p:transition spd="slow">
        <p:fade/>
        <p:sndAc>
          <p:stSnd>
            <p:snd r:embed="rId8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6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7.wmf"/><Relationship Id="rId1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10.wmf"/><Relationship Id="rId1" Type="http://schemas.openxmlformats.org/officeDocument/2006/relationships/oleObject" Target="../embeddings/oleObject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hyperlink" Target="../Video/01-gbn.swf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hyperlink" Target="../Video/02-sr.swf" TargetMode="Externa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audio" Target="../media/audio1.wav"/><Relationship Id="rId3" Type="http://schemas.openxmlformats.org/officeDocument/2006/relationships/image" Target="../media/image13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7.png"/><Relationship Id="rId1" Type="http://schemas.openxmlformats.org/officeDocument/2006/relationships/image" Target="../media/image15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8.png"/><Relationship Id="rId1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8.png"/><Relationship Id="rId1" Type="http://schemas.openxmlformats.org/officeDocument/2006/relationships/image" Target="../media/image19.png"/></Relationships>
</file>

<file path=ppt/slides/_rels/slide5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21.png"/><Relationship Id="rId3" Type="http://schemas.microsoft.com/office/2007/relationships/media" Target="../media/media1.m4a"/><Relationship Id="rId2" Type="http://schemas.openxmlformats.org/officeDocument/2006/relationships/audio" Target="../media/media1.m4a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/>
              <a:t>知识回顾</a:t>
            </a:r>
            <a:endParaRPr lang="en-US" altLang="zh-CN" dirty="0">
              <a:effectLst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795990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可靠数据传输原理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处理分组差错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(rdt2.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x) 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Checksum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ARQ: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停止等待来自接收方的确认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重传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分组编号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(0,1)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比特交替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确认编号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(0,1)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处理分组丢失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(rdt3.0)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超时重传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48000" y="1041457"/>
            <a:ext cx="3971305" cy="3708970"/>
            <a:chOff x="4548000" y="1041457"/>
            <a:chExt cx="3971305" cy="3708970"/>
          </a:xfrm>
        </p:grpSpPr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5810023" y="1337953"/>
              <a:ext cx="676275" cy="627459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5770733" y="1471534"/>
              <a:ext cx="817959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</a:t>
              </a:r>
              <a:endPara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en-US" altLang="zh-CN" sz="9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call 0</a:t>
              </a:r>
              <a:endParaRPr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>
              <a:off x="5535983" y="1425744"/>
              <a:ext cx="283369" cy="1428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7241155" y="1298662"/>
              <a:ext cx="702469" cy="648891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7185196" y="1462850"/>
              <a:ext cx="816769" cy="489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ACK 0</a:t>
              </a:r>
              <a:endPara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Freeform 10"/>
            <p:cNvSpPr/>
            <p:nvPr/>
          </p:nvSpPr>
          <p:spPr bwMode="auto">
            <a:xfrm flipV="1">
              <a:off x="6227933" y="1206984"/>
              <a:ext cx="1112044" cy="165497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 rot="18370464">
              <a:off x="7788857" y="987285"/>
              <a:ext cx="340519" cy="515540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Freeform 12"/>
            <p:cNvSpPr/>
            <p:nvPr/>
          </p:nvSpPr>
          <p:spPr bwMode="auto">
            <a:xfrm rot="16200000" flipV="1">
              <a:off x="5438548" y="1991605"/>
              <a:ext cx="585788" cy="200025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6431530" y="2784562"/>
              <a:ext cx="1060847" cy="171450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14"/>
            <p:cNvSpPr/>
            <p:nvPr/>
          </p:nvSpPr>
          <p:spPr bwMode="auto">
            <a:xfrm rot="5400000" flipH="1" flipV="1">
              <a:off x="7689425" y="2042207"/>
              <a:ext cx="514350" cy="55959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Oval 15"/>
            <p:cNvSpPr>
              <a:spLocks noChangeArrowheads="1"/>
            </p:cNvSpPr>
            <p:nvPr/>
          </p:nvSpPr>
          <p:spPr bwMode="auto">
            <a:xfrm>
              <a:off x="7288780" y="2234493"/>
              <a:ext cx="675085" cy="617935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7226867" y="2377889"/>
              <a:ext cx="8382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</a:t>
              </a:r>
              <a:endPara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call 1</a:t>
              </a:r>
              <a:endPara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Oval 17"/>
            <p:cNvSpPr>
              <a:spLocks noChangeArrowheads="1"/>
            </p:cNvSpPr>
            <p:nvPr/>
          </p:nvSpPr>
          <p:spPr bwMode="auto">
            <a:xfrm>
              <a:off x="5810023" y="2223778"/>
              <a:ext cx="675085" cy="617934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5761208" y="2361220"/>
              <a:ext cx="78462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ACK 1</a:t>
              </a:r>
              <a:endPara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Freeform 20"/>
            <p:cNvSpPr/>
            <p:nvPr/>
          </p:nvSpPr>
          <p:spPr bwMode="auto">
            <a:xfrm rot="10074080">
              <a:off x="5467414" y="2373566"/>
              <a:ext cx="340519" cy="515540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38100" cmpd="sng">
              <a:solidFill>
                <a:srgbClr val="FF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Freeform 58"/>
            <p:cNvSpPr/>
            <p:nvPr/>
          </p:nvSpPr>
          <p:spPr bwMode="auto">
            <a:xfrm rot="1081619">
              <a:off x="7966246" y="1443918"/>
              <a:ext cx="340519" cy="515541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Rectangle 61"/>
            <p:cNvSpPr>
              <a:spLocks noChangeArrowheads="1"/>
            </p:cNvSpPr>
            <p:nvPr/>
          </p:nvSpPr>
          <p:spPr bwMode="auto">
            <a:xfrm>
              <a:off x="8004955" y="1041457"/>
              <a:ext cx="514350" cy="285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zh-CN" sz="12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Timer</a:t>
              </a:r>
              <a:endParaRPr lang="en-US" altLang="zh-CN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Rectangle 62"/>
            <p:cNvSpPr>
              <a:spLocks noChangeArrowheads="1"/>
            </p:cNvSpPr>
            <p:nvPr/>
          </p:nvSpPr>
          <p:spPr bwMode="auto">
            <a:xfrm>
              <a:off x="5288530" y="2855498"/>
              <a:ext cx="514350" cy="231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Timer</a:t>
              </a:r>
              <a:endPara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Oval 47"/>
            <p:cNvSpPr>
              <a:spLocks noChangeArrowheads="1"/>
            </p:cNvSpPr>
            <p:nvPr/>
          </p:nvSpPr>
          <p:spPr bwMode="auto">
            <a:xfrm>
              <a:off x="6083698" y="3834835"/>
              <a:ext cx="583406" cy="596504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Text Box 48"/>
            <p:cNvSpPr txBox="1">
              <a:spLocks noChangeArrowheads="1"/>
            </p:cNvSpPr>
            <p:nvPr/>
          </p:nvSpPr>
          <p:spPr bwMode="auto">
            <a:xfrm>
              <a:off x="6025896" y="3905633"/>
              <a:ext cx="715577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</a:t>
              </a:r>
              <a:endPara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from below</a:t>
              </a:r>
              <a:endPara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49"/>
            <p:cNvSpPr>
              <a:spLocks noChangeShapeType="1"/>
            </p:cNvSpPr>
            <p:nvPr/>
          </p:nvSpPr>
          <p:spPr bwMode="auto">
            <a:xfrm>
              <a:off x="6015832" y="3632429"/>
              <a:ext cx="259556" cy="2095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50"/>
            <p:cNvSpPr/>
            <p:nvPr/>
          </p:nvSpPr>
          <p:spPr bwMode="auto">
            <a:xfrm>
              <a:off x="6484938" y="4446817"/>
              <a:ext cx="1193006" cy="214313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51"/>
            <p:cNvSpPr>
              <a:spLocks noChangeArrowheads="1"/>
            </p:cNvSpPr>
            <p:nvPr/>
          </p:nvSpPr>
          <p:spPr bwMode="auto">
            <a:xfrm>
              <a:off x="7357666" y="3861030"/>
              <a:ext cx="603647" cy="597694"/>
            </a:xfrm>
            <a:prstGeom prst="ellipse">
              <a:avLst/>
            </a:prstGeom>
            <a:solidFill>
              <a:srgbClr val="99CC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Text Box 52"/>
            <p:cNvSpPr txBox="1">
              <a:spLocks noChangeArrowheads="1"/>
            </p:cNvSpPr>
            <p:nvPr/>
          </p:nvSpPr>
          <p:spPr bwMode="auto">
            <a:xfrm>
              <a:off x="7294386" y="3919050"/>
              <a:ext cx="749312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Wait for </a:t>
              </a:r>
              <a:endPara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/>
              <a:r>
                <a:rPr lang="en-US" altLang="zh-CN" sz="9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from below</a:t>
              </a:r>
              <a:endParaRPr lang="en-US" altLang="zh-CN" sz="9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Freeform 54"/>
            <p:cNvSpPr/>
            <p:nvPr/>
          </p:nvSpPr>
          <p:spPr bwMode="auto">
            <a:xfrm rot="18306163">
              <a:off x="7732117" y="3535394"/>
              <a:ext cx="340519" cy="515541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Freeform 55"/>
            <p:cNvSpPr/>
            <p:nvPr/>
          </p:nvSpPr>
          <p:spPr bwMode="auto">
            <a:xfrm rot="1364962">
              <a:off x="7901781" y="4089629"/>
              <a:ext cx="340519" cy="515541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Freeform 56"/>
            <p:cNvSpPr/>
            <p:nvPr/>
          </p:nvSpPr>
          <p:spPr bwMode="auto">
            <a:xfrm flipV="1">
              <a:off x="6415881" y="3518130"/>
              <a:ext cx="1227535" cy="279797"/>
            </a:xfrm>
            <a:custGeom>
              <a:avLst/>
              <a:gdLst>
                <a:gd name="T0" fmla="*/ 0 w 2835"/>
                <a:gd name="T1" fmla="*/ 0 h 525"/>
                <a:gd name="T2" fmla="*/ 2835 w 2835"/>
                <a:gd name="T3" fmla="*/ 0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835" h="52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Freeform 57"/>
            <p:cNvSpPr/>
            <p:nvPr/>
          </p:nvSpPr>
          <p:spPr bwMode="auto">
            <a:xfrm rot="7789110">
              <a:off x="5973564" y="4322398"/>
              <a:ext cx="340519" cy="515540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Freeform 53"/>
            <p:cNvSpPr/>
            <p:nvPr/>
          </p:nvSpPr>
          <p:spPr bwMode="auto">
            <a:xfrm rot="10800000">
              <a:off x="5724129" y="3780067"/>
              <a:ext cx="340519" cy="515541"/>
            </a:xfrm>
            <a:custGeom>
              <a:avLst/>
              <a:gdLst>
                <a:gd name="T0" fmla="*/ 0 w 735"/>
                <a:gd name="T1" fmla="*/ 195 h 1080"/>
                <a:gd name="T2" fmla="*/ 0 w 735"/>
                <a:gd name="T3" fmla="*/ 855 h 10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35" h="1080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19"/>
            <p:cNvSpPr>
              <a:spLocks noChangeArrowheads="1"/>
            </p:cNvSpPr>
            <p:nvPr/>
          </p:nvSpPr>
          <p:spPr bwMode="auto">
            <a:xfrm>
              <a:off x="4548000" y="1798723"/>
              <a:ext cx="514350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rdt2.2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Rectangle 60"/>
            <p:cNvSpPr>
              <a:spLocks noChangeArrowheads="1"/>
            </p:cNvSpPr>
            <p:nvPr/>
          </p:nvSpPr>
          <p:spPr bwMode="auto">
            <a:xfrm>
              <a:off x="4548000" y="2178532"/>
              <a:ext cx="514350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rdt3.0</a:t>
              </a:r>
              <a:endPara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可靠数据传输原理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</a:t>
            </a:r>
            <a:r>
              <a:rPr lang="en-US" altLang="zh-CN" dirty="0"/>
              <a:t>: TCP</a:t>
            </a:r>
            <a:endParaRPr lang="zh-CN" altLang="en-US" dirty="0"/>
          </a:p>
        </p:txBody>
      </p:sp>
      <p:sp>
        <p:nvSpPr>
          <p:cNvPr id="11" name="内容占位符 2"/>
          <p:cNvSpPr txBox="1"/>
          <p:nvPr/>
        </p:nvSpPr>
        <p:spPr>
          <a:xfrm>
            <a:off x="683568" y="3734475"/>
            <a:ext cx="3888432" cy="43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2" name="内容占位符 2"/>
          <p:cNvSpPr txBox="1"/>
          <p:nvPr/>
        </p:nvSpPr>
        <p:spPr>
          <a:xfrm>
            <a:off x="683568" y="4464335"/>
            <a:ext cx="3888432" cy="43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上回书说到：可靠网络通信，还要解决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效率问题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450"/>
              </a:spcBef>
            </a:pPr>
            <a:endParaRPr lang="zh-CN" altLang="en-US" sz="20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543100"/>
            <a:ext cx="6054574" cy="3357537"/>
          </a:xfrm>
          <a:prstGeom prst="rect">
            <a:avLst/>
          </a:prstGeom>
        </p:spPr>
      </p:pic>
      <p:sp>
        <p:nvSpPr>
          <p:cNvPr id="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4104000" cy="177059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rdt2.1~rdt3.0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比特交替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rdt3.0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可以正确工作了！！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事实如此！可靠性有保障了！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1298984" y="3028070"/>
            <a:ext cx="3934447" cy="145010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效率：糟糕之极！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案例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1Gbps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的链路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传输一个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1KB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的数据分组，链路有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30ms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的往返时延。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链路的利用率有多少？吞吐率是多少？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150734" y="2551017"/>
            <a:ext cx="3990913" cy="376238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Rdt2.X~3.0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效率如何？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07" y="2415636"/>
            <a:ext cx="571429" cy="584127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5606322" y="1275606"/>
            <a:ext cx="3286158" cy="3312367"/>
            <a:chOff x="5606322" y="1275606"/>
            <a:chExt cx="3286158" cy="3312367"/>
          </a:xfrm>
        </p:grpSpPr>
        <p:sp>
          <p:nvSpPr>
            <p:cNvPr id="15" name="Line 3"/>
            <p:cNvSpPr>
              <a:spLocks noChangeShapeType="1"/>
            </p:cNvSpPr>
            <p:nvPr/>
          </p:nvSpPr>
          <p:spPr bwMode="auto">
            <a:xfrm>
              <a:off x="6247079" y="1841962"/>
              <a:ext cx="2154222" cy="9401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5"/>
            <p:cNvSpPr>
              <a:spLocks noChangeShapeType="1"/>
            </p:cNvSpPr>
            <p:nvPr/>
          </p:nvSpPr>
          <p:spPr bwMode="auto">
            <a:xfrm>
              <a:off x="6236330" y="1618656"/>
              <a:ext cx="0" cy="29693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8390553" y="1631602"/>
              <a:ext cx="0" cy="29466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>
              <a:off x="5666683" y="1275606"/>
              <a:ext cx="915123" cy="39318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r" eaLnBrk="0" hangingPunct="0"/>
              <a:r>
                <a:rPr lang="en-US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sender</a:t>
              </a:r>
              <a:endPara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 Box 8"/>
            <p:cNvSpPr txBox="1">
              <a:spLocks noChangeArrowheads="1"/>
            </p:cNvSpPr>
            <p:nvPr/>
          </p:nvSpPr>
          <p:spPr bwMode="auto">
            <a:xfrm>
              <a:off x="7831652" y="1275607"/>
              <a:ext cx="1060828" cy="333341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algn="r" eaLnBrk="0" hangingPunct="0"/>
              <a:r>
                <a:rPr lang="en-US" altLang="zh-CN" sz="1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receiver</a:t>
              </a:r>
              <a:endPara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9"/>
            <p:cNvSpPr>
              <a:spLocks noChangeShapeType="1"/>
            </p:cNvSpPr>
            <p:nvPr/>
          </p:nvSpPr>
          <p:spPr bwMode="auto">
            <a:xfrm>
              <a:off x="5666682" y="1840344"/>
              <a:ext cx="2711587" cy="0"/>
            </a:xfrm>
            <a:prstGeom prst="line">
              <a:avLst/>
            </a:prstGeom>
            <a:noFill/>
            <a:ln w="0">
              <a:solidFill>
                <a:srgbClr val="7030A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0"/>
            <p:cNvSpPr>
              <a:spLocks noChangeShapeType="1"/>
            </p:cNvSpPr>
            <p:nvPr/>
          </p:nvSpPr>
          <p:spPr bwMode="auto">
            <a:xfrm>
              <a:off x="5666683" y="3989255"/>
              <a:ext cx="2717728" cy="0"/>
            </a:xfrm>
            <a:prstGeom prst="line">
              <a:avLst/>
            </a:prstGeom>
            <a:noFill/>
            <a:ln w="0">
              <a:solidFill>
                <a:srgbClr val="7030A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11"/>
            <p:cNvSpPr>
              <a:spLocks noChangeShapeType="1"/>
            </p:cNvSpPr>
            <p:nvPr/>
          </p:nvSpPr>
          <p:spPr bwMode="auto">
            <a:xfrm flipV="1">
              <a:off x="6263967" y="3028070"/>
              <a:ext cx="2137332" cy="9401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Freeform 12"/>
            <p:cNvSpPr/>
            <p:nvPr/>
          </p:nvSpPr>
          <p:spPr bwMode="auto">
            <a:xfrm>
              <a:off x="6242472" y="1835489"/>
              <a:ext cx="2141938" cy="1178018"/>
            </a:xfrm>
            <a:custGeom>
              <a:avLst/>
              <a:gdLst>
                <a:gd name="T0" fmla="*/ 0 w 2902"/>
                <a:gd name="T1" fmla="*/ 0 h 1185"/>
                <a:gd name="T2" fmla="*/ 2895 w 2902"/>
                <a:gd name="T3" fmla="*/ 937 h 1185"/>
                <a:gd name="T4" fmla="*/ 2902 w 2902"/>
                <a:gd name="T5" fmla="*/ 1185 h 1185"/>
                <a:gd name="T6" fmla="*/ 0 w 2902"/>
                <a:gd name="T7" fmla="*/ 247 h 1185"/>
                <a:gd name="T8" fmla="*/ 0 w 2902"/>
                <a:gd name="T9" fmla="*/ 0 h 1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2" h="1185">
                  <a:moveTo>
                    <a:pt x="0" y="0"/>
                  </a:moveTo>
                  <a:lnTo>
                    <a:pt x="2895" y="937"/>
                  </a:lnTo>
                  <a:lnTo>
                    <a:pt x="2902" y="1185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14"/>
            <p:cNvSpPr>
              <a:spLocks noChangeShapeType="1"/>
            </p:cNvSpPr>
            <p:nvPr/>
          </p:nvSpPr>
          <p:spPr bwMode="auto">
            <a:xfrm flipH="1">
              <a:off x="5685300" y="2081449"/>
              <a:ext cx="544889" cy="0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 Box 16"/>
            <p:cNvSpPr txBox="1">
              <a:spLocks noChangeArrowheads="1"/>
            </p:cNvSpPr>
            <p:nvPr/>
          </p:nvSpPr>
          <p:spPr bwMode="auto">
            <a:xfrm>
              <a:off x="5658964" y="2876788"/>
              <a:ext cx="531070" cy="254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eaLnBrk="0" hangingPunct="0"/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RTT</a:t>
              </a:r>
              <a:r>
                <a:rPr lang="en-US" altLang="zh-CN" sz="75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Line 17"/>
            <p:cNvSpPr>
              <a:spLocks noChangeShapeType="1"/>
            </p:cNvSpPr>
            <p:nvPr/>
          </p:nvSpPr>
          <p:spPr bwMode="auto">
            <a:xfrm>
              <a:off x="5956926" y="3141342"/>
              <a:ext cx="0" cy="826879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Line 18"/>
            <p:cNvSpPr>
              <a:spLocks noChangeShapeType="1"/>
            </p:cNvSpPr>
            <p:nvPr/>
          </p:nvSpPr>
          <p:spPr bwMode="auto">
            <a:xfrm flipV="1">
              <a:off x="5961532" y="2104103"/>
              <a:ext cx="0" cy="783188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Freeform 25"/>
            <p:cNvSpPr/>
            <p:nvPr/>
          </p:nvSpPr>
          <p:spPr bwMode="auto">
            <a:xfrm>
              <a:off x="6241074" y="3984401"/>
              <a:ext cx="1372683" cy="589010"/>
            </a:xfrm>
            <a:custGeom>
              <a:avLst/>
              <a:gdLst>
                <a:gd name="T0" fmla="*/ 0 w 1845"/>
                <a:gd name="T1" fmla="*/ 0 h 592"/>
                <a:gd name="T2" fmla="*/ 1845 w 1845"/>
                <a:gd name="T3" fmla="*/ 592 h 592"/>
                <a:gd name="T4" fmla="*/ 1095 w 1845"/>
                <a:gd name="T5" fmla="*/ 592 h 592"/>
                <a:gd name="T6" fmla="*/ 0 w 1845"/>
                <a:gd name="T7" fmla="*/ 247 h 592"/>
                <a:gd name="T8" fmla="*/ 0 w 1845"/>
                <a:gd name="T9" fmla="*/ 0 h 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7" name="Group 26"/>
            <p:cNvGrpSpPr/>
            <p:nvPr/>
          </p:nvGrpSpPr>
          <p:grpSpPr bwMode="auto">
            <a:xfrm>
              <a:off x="6234932" y="3976310"/>
              <a:ext cx="1239099" cy="545319"/>
              <a:chOff x="12315" y="13225"/>
              <a:chExt cx="2775" cy="913"/>
            </a:xfrm>
          </p:grpSpPr>
          <p:sp>
            <p:nvSpPr>
              <p:cNvPr id="38" name="Line 27"/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Line 28"/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>
              <a:off x="6234932" y="4222270"/>
              <a:ext cx="307088" cy="12621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30"/>
            <p:cNvSpPr>
              <a:spLocks noChangeShapeType="1"/>
            </p:cNvSpPr>
            <p:nvPr/>
          </p:nvSpPr>
          <p:spPr bwMode="auto">
            <a:xfrm>
              <a:off x="6548162" y="4348485"/>
              <a:ext cx="523585" cy="2394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Text Box 16"/>
            <p:cNvSpPr txBox="1">
              <a:spLocks noChangeArrowheads="1"/>
            </p:cNvSpPr>
            <p:nvPr/>
          </p:nvSpPr>
          <p:spPr bwMode="auto">
            <a:xfrm>
              <a:off x="5606322" y="1828816"/>
              <a:ext cx="350601" cy="254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r" eaLnBrk="0" hangingPunct="0"/>
              <a:r>
                <a:rPr lang="en-US" altLang="zh-CN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18"/>
            <p:cNvSpPr>
              <a:spLocks noChangeShapeType="1"/>
            </p:cNvSpPr>
            <p:nvPr/>
          </p:nvSpPr>
          <p:spPr bwMode="auto">
            <a:xfrm flipV="1">
              <a:off x="5961532" y="1828816"/>
              <a:ext cx="0" cy="252633"/>
            </a:xfrm>
            <a:prstGeom prst="line">
              <a:avLst/>
            </a:prstGeom>
            <a:noFill/>
            <a:ln w="3175">
              <a:solidFill>
                <a:srgbClr val="000000"/>
              </a:solidFill>
              <a:round/>
              <a:headEnd type="triangle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3" name="Object 31"/>
          <p:cNvGraphicFramePr>
            <a:graphicFrameLocks noChangeAspect="1"/>
          </p:cNvGraphicFramePr>
          <p:nvPr/>
        </p:nvGraphicFramePr>
        <p:xfrm>
          <a:off x="1962279" y="4437348"/>
          <a:ext cx="3862388" cy="601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Picture" r:id="rId2" imgW="3177540" imgH="498475" progId="Word.Picture.8">
                  <p:embed/>
                </p:oleObj>
              </mc:Choice>
              <mc:Fallback>
                <p:oleObj name="Picture" r:id="rId2" imgW="3177540" imgH="498475" progId="Word.Picture.8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279" y="4437348"/>
                        <a:ext cx="3862388" cy="601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4" name="arrow.wav"/>
          </p:stSnd>
        </p:sndAc>
      </p:transition>
    </mc:Choice>
    <mc:Fallback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3.4.1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构造可靠数据传输协议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rdt2.x~3.0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：停止等待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大部分的时光都消耗在等待中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如何提高吞吐量？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提高网络利用率？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3968" y="2058402"/>
            <a:ext cx="3607549" cy="1857888"/>
          </a:xfrm>
          <a:prstGeom prst="roundRect">
            <a:avLst>
              <a:gd name="adj" fmla="val 8054"/>
            </a:avLst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contourClr>
              <a:srgbClr val="969696"/>
            </a:contourClr>
          </a:sp3d>
        </p:spPr>
      </p:pic>
      <p:sp>
        <p:nvSpPr>
          <p:cNvPr id="9" name="矩形 8"/>
          <p:cNvSpPr/>
          <p:nvPr/>
        </p:nvSpPr>
        <p:spPr>
          <a:xfrm>
            <a:off x="4579149" y="4074626"/>
            <a:ext cx="3219157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 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pipeline…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07" y="2415636"/>
            <a:ext cx="571429" cy="584127"/>
          </a:xfrm>
          <a:prstGeom prst="rect">
            <a:avLst/>
          </a:prstGeom>
        </p:spPr>
      </p:pic>
      <p:sp>
        <p:nvSpPr>
          <p:cNvPr id="1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7544" y="936000"/>
            <a:ext cx="4257054" cy="2056486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从停止等待协议到流水线协议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流水线：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发送方发送一个分组之后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接到对方确认之前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可继续发其他分组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不再是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590219" y="3182610"/>
            <a:ext cx="3888432" cy="1687045"/>
            <a:chOff x="4283968" y="2571750"/>
            <a:chExt cx="4560240" cy="1978517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3968" y="2571750"/>
              <a:ext cx="4560240" cy="1978517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grpSp>
          <p:nvGrpSpPr>
            <p:cNvPr id="14" name="组合 13"/>
            <p:cNvGrpSpPr/>
            <p:nvPr/>
          </p:nvGrpSpPr>
          <p:grpSpPr>
            <a:xfrm>
              <a:off x="4905258" y="3538329"/>
              <a:ext cx="144016" cy="356230"/>
              <a:chOff x="6732240" y="847368"/>
              <a:chExt cx="144016" cy="356230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3" name="矩形 12"/>
              <p:cNvSpPr/>
              <p:nvPr/>
            </p:nvSpPr>
            <p:spPr>
              <a:xfrm>
                <a:off x="6732240" y="847368"/>
                <a:ext cx="144016" cy="144016"/>
              </a:xfrm>
              <a:prstGeom prst="rect">
                <a:avLst/>
              </a:prstGeom>
              <a:solidFill>
                <a:srgbClr val="800000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6732240" y="993934"/>
                <a:ext cx="144016" cy="65648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6732240" y="1059582"/>
                <a:ext cx="144016" cy="144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8269138" y="3037726"/>
              <a:ext cx="144016" cy="356230"/>
              <a:chOff x="6732240" y="847368"/>
              <a:chExt cx="144016" cy="356230"/>
            </a:xfrm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grpSpPr>
          <p:sp>
            <p:nvSpPr>
              <p:cNvPr id="19" name="矩形 18"/>
              <p:cNvSpPr/>
              <p:nvPr/>
            </p:nvSpPr>
            <p:spPr>
              <a:xfrm>
                <a:off x="6732240" y="847368"/>
                <a:ext cx="144016" cy="14401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6732240" y="993934"/>
                <a:ext cx="144016" cy="65648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6732240" y="1059582"/>
                <a:ext cx="144016" cy="144016"/>
              </a:xfrm>
              <a:prstGeom prst="rect">
                <a:avLst/>
              </a:prstGeom>
              <a:solidFill>
                <a:srgbClr val="800000"/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" name="任意多边形: 形状 21"/>
            <p:cNvSpPr/>
            <p:nvPr/>
          </p:nvSpPr>
          <p:spPr>
            <a:xfrm>
              <a:off x="5081569" y="2907461"/>
              <a:ext cx="3103418" cy="623494"/>
            </a:xfrm>
            <a:custGeom>
              <a:avLst/>
              <a:gdLst>
                <a:gd name="connsiteX0" fmla="*/ 0 w 3103418"/>
                <a:gd name="connsiteY0" fmla="*/ 623494 h 623494"/>
                <a:gd name="connsiteX1" fmla="*/ 1392381 w 3103418"/>
                <a:gd name="connsiteY1" fmla="*/ 13894 h 623494"/>
                <a:gd name="connsiteX2" fmla="*/ 3103418 w 3103418"/>
                <a:gd name="connsiteY2" fmla="*/ 256348 h 623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03418" h="623494">
                  <a:moveTo>
                    <a:pt x="0" y="623494"/>
                  </a:moveTo>
                  <a:cubicBezTo>
                    <a:pt x="437572" y="349289"/>
                    <a:pt x="875145" y="75085"/>
                    <a:pt x="1392381" y="13894"/>
                  </a:cubicBezTo>
                  <a:cubicBezTo>
                    <a:pt x="1909617" y="-47297"/>
                    <a:pt x="2506517" y="104525"/>
                    <a:pt x="3103418" y="256348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4" name="任意多边形: 形状 23"/>
            <p:cNvSpPr/>
            <p:nvPr/>
          </p:nvSpPr>
          <p:spPr>
            <a:xfrm rot="10800000">
              <a:off x="5084287" y="3512107"/>
              <a:ext cx="3103418" cy="623494"/>
            </a:xfrm>
            <a:custGeom>
              <a:avLst/>
              <a:gdLst>
                <a:gd name="connsiteX0" fmla="*/ 0 w 3103418"/>
                <a:gd name="connsiteY0" fmla="*/ 623494 h 623494"/>
                <a:gd name="connsiteX1" fmla="*/ 1392381 w 3103418"/>
                <a:gd name="connsiteY1" fmla="*/ 13894 h 623494"/>
                <a:gd name="connsiteX2" fmla="*/ 3103418 w 3103418"/>
                <a:gd name="connsiteY2" fmla="*/ 256348 h 623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03418" h="623494">
                  <a:moveTo>
                    <a:pt x="0" y="623494"/>
                  </a:moveTo>
                  <a:cubicBezTo>
                    <a:pt x="437572" y="349289"/>
                    <a:pt x="875145" y="75085"/>
                    <a:pt x="1392381" y="13894"/>
                  </a:cubicBezTo>
                  <a:cubicBezTo>
                    <a:pt x="1909617" y="-47297"/>
                    <a:pt x="2506517" y="104525"/>
                    <a:pt x="3103418" y="256348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6444208" y="2763444"/>
              <a:ext cx="45719" cy="28803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6921581" y="3940111"/>
              <a:ext cx="45719" cy="288032"/>
            </a:xfrm>
            <a:prstGeom prst="rect">
              <a:avLst/>
            </a:prstGeom>
            <a:solidFill>
              <a:srgbClr val="0000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966" y="3182611"/>
            <a:ext cx="3888432" cy="168704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31" name="组合 30"/>
          <p:cNvGrpSpPr/>
          <p:nvPr/>
        </p:nvGrpSpPr>
        <p:grpSpPr>
          <a:xfrm>
            <a:off x="5535728" y="4006795"/>
            <a:ext cx="122800" cy="303751"/>
            <a:chOff x="6732240" y="847368"/>
            <a:chExt cx="144016" cy="35623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40" name="矩形 39"/>
            <p:cNvSpPr/>
            <p:nvPr/>
          </p:nvSpPr>
          <p:spPr>
            <a:xfrm>
              <a:off x="6732240" y="847368"/>
              <a:ext cx="144016" cy="144016"/>
            </a:xfrm>
            <a:prstGeom prst="rect">
              <a:avLst/>
            </a:prstGeom>
            <a:solidFill>
              <a:srgbClr val="8000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6732240" y="993934"/>
              <a:ext cx="144016" cy="6564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6732240" y="1059582"/>
              <a:ext cx="144016" cy="144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404046" y="3579940"/>
            <a:ext cx="122800" cy="303751"/>
            <a:chOff x="6732240" y="847368"/>
            <a:chExt cx="144016" cy="35623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37" name="矩形 36"/>
            <p:cNvSpPr/>
            <p:nvPr/>
          </p:nvSpPr>
          <p:spPr>
            <a:xfrm>
              <a:off x="6732240" y="847368"/>
              <a:ext cx="144016" cy="144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6732240" y="993934"/>
              <a:ext cx="144016" cy="6564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6732240" y="1059582"/>
              <a:ext cx="144016" cy="144016"/>
            </a:xfrm>
            <a:prstGeom prst="rect">
              <a:avLst/>
            </a:prstGeom>
            <a:solidFill>
              <a:srgbClr val="8000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3" name="任意多边形: 形状 32"/>
          <p:cNvSpPr/>
          <p:nvPr/>
        </p:nvSpPr>
        <p:spPr>
          <a:xfrm>
            <a:off x="5686066" y="3468866"/>
            <a:ext cx="2646227" cy="531642"/>
          </a:xfrm>
          <a:custGeom>
            <a:avLst/>
            <a:gdLst>
              <a:gd name="connsiteX0" fmla="*/ 0 w 3103418"/>
              <a:gd name="connsiteY0" fmla="*/ 623494 h 623494"/>
              <a:gd name="connsiteX1" fmla="*/ 1392381 w 3103418"/>
              <a:gd name="connsiteY1" fmla="*/ 13894 h 623494"/>
              <a:gd name="connsiteX2" fmla="*/ 3103418 w 3103418"/>
              <a:gd name="connsiteY2" fmla="*/ 256348 h 62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3418" h="623494">
                <a:moveTo>
                  <a:pt x="0" y="623494"/>
                </a:moveTo>
                <a:cubicBezTo>
                  <a:pt x="437572" y="349289"/>
                  <a:pt x="875145" y="75085"/>
                  <a:pt x="1392381" y="13894"/>
                </a:cubicBezTo>
                <a:cubicBezTo>
                  <a:pt x="1909617" y="-47297"/>
                  <a:pt x="2506517" y="104525"/>
                  <a:pt x="3103418" y="256348"/>
                </a:cubicBezTo>
              </a:path>
            </a:pathLst>
          </a:custGeom>
          <a:noFill/>
          <a:ln w="25400"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4" name="任意多边形: 形状 33"/>
          <p:cNvSpPr/>
          <p:nvPr/>
        </p:nvSpPr>
        <p:spPr>
          <a:xfrm rot="10800000">
            <a:off x="5688383" y="3984436"/>
            <a:ext cx="2646227" cy="531642"/>
          </a:xfrm>
          <a:custGeom>
            <a:avLst/>
            <a:gdLst>
              <a:gd name="connsiteX0" fmla="*/ 0 w 3103418"/>
              <a:gd name="connsiteY0" fmla="*/ 623494 h 623494"/>
              <a:gd name="connsiteX1" fmla="*/ 1392381 w 3103418"/>
              <a:gd name="connsiteY1" fmla="*/ 13894 h 623494"/>
              <a:gd name="connsiteX2" fmla="*/ 3103418 w 3103418"/>
              <a:gd name="connsiteY2" fmla="*/ 256348 h 62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3418" h="623494">
                <a:moveTo>
                  <a:pt x="0" y="623494"/>
                </a:moveTo>
                <a:cubicBezTo>
                  <a:pt x="437572" y="349289"/>
                  <a:pt x="875145" y="75085"/>
                  <a:pt x="1392381" y="13894"/>
                </a:cubicBezTo>
                <a:cubicBezTo>
                  <a:pt x="1909617" y="-47297"/>
                  <a:pt x="2506517" y="104525"/>
                  <a:pt x="3103418" y="256348"/>
                </a:cubicBezTo>
              </a:path>
            </a:pathLst>
          </a:custGeom>
          <a:noFill/>
          <a:ln w="25400">
            <a:solidFill>
              <a:srgbClr val="0000FF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737226" y="3306881"/>
            <a:ext cx="271953" cy="329214"/>
            <a:chOff x="6737226" y="3306881"/>
            <a:chExt cx="271953" cy="329214"/>
          </a:xfrm>
        </p:grpSpPr>
        <p:sp>
          <p:nvSpPr>
            <p:cNvPr id="35" name="矩形 34"/>
            <p:cNvSpPr/>
            <p:nvPr/>
          </p:nvSpPr>
          <p:spPr>
            <a:xfrm>
              <a:off x="6847963" y="3346065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>
            <a:xfrm>
              <a:off x="6737226" y="3390495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6970195" y="3306881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6048695" y="3574821"/>
            <a:ext cx="271953" cy="329214"/>
            <a:chOff x="6737226" y="3306881"/>
            <a:chExt cx="271953" cy="329214"/>
          </a:xfrm>
        </p:grpSpPr>
        <p:sp>
          <p:nvSpPr>
            <p:cNvPr id="48" name="矩形 47"/>
            <p:cNvSpPr/>
            <p:nvPr/>
          </p:nvSpPr>
          <p:spPr>
            <a:xfrm>
              <a:off x="6847963" y="3346065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6737226" y="3390495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6970195" y="3306881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7473643" y="3366611"/>
            <a:ext cx="271953" cy="360040"/>
            <a:chOff x="8057430" y="2643758"/>
            <a:chExt cx="271953" cy="360040"/>
          </a:xfrm>
        </p:grpSpPr>
        <p:sp>
          <p:nvSpPr>
            <p:cNvPr id="52" name="矩形 51"/>
            <p:cNvSpPr/>
            <p:nvPr/>
          </p:nvSpPr>
          <p:spPr>
            <a:xfrm>
              <a:off x="8168167" y="2692651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8057430" y="2643758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8290399" y="2758198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421379" y="4226319"/>
            <a:ext cx="271953" cy="329214"/>
            <a:chOff x="6737226" y="3306881"/>
            <a:chExt cx="271953" cy="329214"/>
          </a:xfrm>
          <a:solidFill>
            <a:srgbClr val="0000FF"/>
          </a:solidFill>
        </p:grpSpPr>
        <p:sp>
          <p:nvSpPr>
            <p:cNvPr id="57" name="矩形 56"/>
            <p:cNvSpPr/>
            <p:nvPr/>
          </p:nvSpPr>
          <p:spPr>
            <a:xfrm>
              <a:off x="6847963" y="3346065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/>
            <p:cNvSpPr/>
            <p:nvPr/>
          </p:nvSpPr>
          <p:spPr>
            <a:xfrm>
              <a:off x="6737226" y="3390495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6970195" y="3306881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4" name="组合 63"/>
          <p:cNvGrpSpPr/>
          <p:nvPr/>
        </p:nvGrpSpPr>
        <p:grpSpPr>
          <a:xfrm>
            <a:off x="6338296" y="4310098"/>
            <a:ext cx="271953" cy="360040"/>
            <a:chOff x="8057430" y="2643758"/>
            <a:chExt cx="271953" cy="360040"/>
          </a:xfrm>
          <a:solidFill>
            <a:srgbClr val="0000FF"/>
          </a:solidFill>
        </p:grpSpPr>
        <p:sp>
          <p:nvSpPr>
            <p:cNvPr id="65" name="矩形 64"/>
            <p:cNvSpPr/>
            <p:nvPr/>
          </p:nvSpPr>
          <p:spPr>
            <a:xfrm>
              <a:off x="8168167" y="2692651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 65"/>
            <p:cNvSpPr/>
            <p:nvPr/>
          </p:nvSpPr>
          <p:spPr>
            <a:xfrm>
              <a:off x="8057430" y="2643758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矩形 66"/>
            <p:cNvSpPr/>
            <p:nvPr/>
          </p:nvSpPr>
          <p:spPr>
            <a:xfrm>
              <a:off x="8290399" y="2758198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4896710" y="1580612"/>
            <a:ext cx="3630136" cy="13080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问题：让流水线工作的前提？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数据分组的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序号空间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增大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在发送方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设置缓存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710" y="1942573"/>
            <a:ext cx="571429" cy="584127"/>
          </a:xfrm>
          <a:prstGeom prst="rect">
            <a:avLst/>
          </a:prstGeom>
        </p:spPr>
      </p:pic>
      <p:sp>
        <p:nvSpPr>
          <p:cNvPr id="5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0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0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从停止等待协议到流水线协议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Line 3"/>
          <p:cNvSpPr>
            <a:spLocks noChangeShapeType="1"/>
          </p:cNvSpPr>
          <p:nvPr/>
        </p:nvSpPr>
        <p:spPr bwMode="auto">
          <a:xfrm>
            <a:off x="3878815" y="1908349"/>
            <a:ext cx="1670447" cy="69175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385646" y="1754758"/>
            <a:ext cx="2424113" cy="2643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 eaLnBrk="0" hangingPunct="0"/>
            <a:r>
              <a:rPr lang="en-US" altLang="zh-CN" sz="1200" dirty="0"/>
              <a:t>first packet bit transmitted, t = 0</a:t>
            </a:r>
            <a:endParaRPr lang="en-US" altLang="zh-CN" sz="1200" dirty="0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>
            <a:off x="3870480" y="1744042"/>
            <a:ext cx="17860" cy="21847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5540928" y="1753568"/>
            <a:ext cx="16669" cy="216812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3474003" y="1491630"/>
            <a:ext cx="664369" cy="26312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 eaLnBrk="0" hangingPunct="0"/>
            <a:r>
              <a:rPr lang="en-US" altLang="zh-CN" sz="1200"/>
              <a:t>sender</a:t>
            </a:r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5107540" y="1491630"/>
            <a:ext cx="709613" cy="26312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 eaLnBrk="0" hangingPunct="0"/>
            <a:r>
              <a:rPr lang="en-US" altLang="zh-CN" sz="1200"/>
              <a:t>receiver</a:t>
            </a:r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3888340" y="1904777"/>
            <a:ext cx="1643063" cy="2381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3891911" y="3488308"/>
            <a:ext cx="1644254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 flipV="1">
            <a:off x="3891911" y="2781076"/>
            <a:ext cx="1657350" cy="6917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7" name="Freeform 12"/>
          <p:cNvSpPr/>
          <p:nvPr/>
        </p:nvSpPr>
        <p:spPr bwMode="auto">
          <a:xfrm>
            <a:off x="3875243" y="1903586"/>
            <a:ext cx="1674019" cy="866775"/>
          </a:xfrm>
          <a:custGeom>
            <a:avLst/>
            <a:gdLst>
              <a:gd name="T0" fmla="*/ 0 w 2902"/>
              <a:gd name="T1" fmla="*/ 0 h 1185"/>
              <a:gd name="T2" fmla="*/ 2895 w 2902"/>
              <a:gd name="T3" fmla="*/ 937 h 1185"/>
              <a:gd name="T4" fmla="*/ 2902 w 2902"/>
              <a:gd name="T5" fmla="*/ 1185 h 1185"/>
              <a:gd name="T6" fmla="*/ 0 w 2902"/>
              <a:gd name="T7" fmla="*/ 247 h 1185"/>
              <a:gd name="T8" fmla="*/ 0 w 2902"/>
              <a:gd name="T9" fmla="*/ 0 h 11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 flipH="1">
            <a:off x="3766896" y="1903586"/>
            <a:ext cx="9882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 flipH="1">
            <a:off x="3766896" y="2084561"/>
            <a:ext cx="9882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 flipH="1">
            <a:off x="3775230" y="3478783"/>
            <a:ext cx="1000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3277549" y="2633439"/>
            <a:ext cx="635794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eaLnBrk="0" hangingPunct="0"/>
            <a:r>
              <a:rPr lang="en-US" altLang="zh-CN" sz="1200">
                <a:solidFill>
                  <a:srgbClr val="FF0000"/>
                </a:solidFill>
              </a:rPr>
              <a:t>RTT</a:t>
            </a:r>
            <a:r>
              <a:rPr lang="en-US" altLang="zh-CN" sz="750"/>
              <a:t> 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3793090" y="2864421"/>
            <a:ext cx="8334" cy="60841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 flipV="1">
            <a:off x="3796662" y="2101230"/>
            <a:ext cx="2381" cy="5762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 flipH="1">
            <a:off x="5531402" y="2589386"/>
            <a:ext cx="10001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" name="Text Box 21"/>
          <p:cNvSpPr txBox="1">
            <a:spLocks noChangeArrowheads="1"/>
          </p:cNvSpPr>
          <p:nvPr/>
        </p:nvSpPr>
        <p:spPr bwMode="auto">
          <a:xfrm>
            <a:off x="5592124" y="2457227"/>
            <a:ext cx="1819275" cy="264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/>
              <a:t>first packet bit arrives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5549261" y="2776314"/>
            <a:ext cx="952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" name="Text Box 23"/>
          <p:cNvSpPr txBox="1">
            <a:spLocks noChangeArrowheads="1"/>
          </p:cNvSpPr>
          <p:nvPr/>
        </p:nvSpPr>
        <p:spPr bwMode="auto">
          <a:xfrm>
            <a:off x="5596887" y="2646536"/>
            <a:ext cx="2336006" cy="427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r>
              <a:rPr lang="en-US" altLang="zh-CN" sz="1200" dirty="0"/>
              <a:t>last packet bit arrives, send ACK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1829749" y="3233514"/>
            <a:ext cx="201453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eaLnBrk="0" hangingPunct="0"/>
            <a:r>
              <a:rPr lang="en-US" altLang="zh-CN" sz="1200" dirty="0"/>
              <a:t>ACK arrives, send next </a:t>
            </a:r>
            <a:endParaRPr lang="en-US" altLang="zh-CN" sz="1200" dirty="0"/>
          </a:p>
          <a:p>
            <a:pPr algn="r" eaLnBrk="0" hangingPunct="0"/>
            <a:r>
              <a:rPr lang="en-US" altLang="zh-CN" sz="1200" dirty="0"/>
              <a:t>packet, </a:t>
            </a:r>
            <a:r>
              <a:rPr lang="en-US" altLang="zh-CN" sz="1200" dirty="0">
                <a:solidFill>
                  <a:srgbClr val="FF0000"/>
                </a:solidFill>
              </a:rPr>
              <a:t>t = RTT + L / R</a:t>
            </a:r>
            <a:endParaRPr lang="en-US" altLang="zh-CN" sz="12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Freeform 25"/>
          <p:cNvSpPr/>
          <p:nvPr/>
        </p:nvSpPr>
        <p:spPr bwMode="auto">
          <a:xfrm>
            <a:off x="3888340" y="3484736"/>
            <a:ext cx="1064419" cy="433388"/>
          </a:xfrm>
          <a:custGeom>
            <a:avLst/>
            <a:gdLst>
              <a:gd name="T0" fmla="*/ 0 w 1845"/>
              <a:gd name="T1" fmla="*/ 0 h 592"/>
              <a:gd name="T2" fmla="*/ 1845 w 1845"/>
              <a:gd name="T3" fmla="*/ 592 h 592"/>
              <a:gd name="T4" fmla="*/ 1095 w 1845"/>
              <a:gd name="T5" fmla="*/ 592 h 592"/>
              <a:gd name="T6" fmla="*/ 0 w 1845"/>
              <a:gd name="T7" fmla="*/ 247 h 592"/>
              <a:gd name="T8" fmla="*/ 0 w 1845"/>
              <a:gd name="T9" fmla="*/ 0 h 5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45" h="592">
                <a:moveTo>
                  <a:pt x="0" y="0"/>
                </a:moveTo>
                <a:lnTo>
                  <a:pt x="1845" y="592"/>
                </a:lnTo>
                <a:lnTo>
                  <a:pt x="1095" y="592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30" name="Group 26"/>
          <p:cNvGrpSpPr/>
          <p:nvPr/>
        </p:nvGrpSpPr>
        <p:grpSpPr bwMode="auto">
          <a:xfrm>
            <a:off x="3883577" y="3478783"/>
            <a:ext cx="960834" cy="401241"/>
            <a:chOff x="12315" y="13225"/>
            <a:chExt cx="2775" cy="913"/>
          </a:xfrm>
        </p:grpSpPr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12315" y="13225"/>
              <a:ext cx="1587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>
              <a:off x="13915" y="13737"/>
              <a:ext cx="1175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33" name="Line 29"/>
          <p:cNvSpPr>
            <a:spLocks noChangeShapeType="1"/>
          </p:cNvSpPr>
          <p:nvPr/>
        </p:nvSpPr>
        <p:spPr bwMode="auto">
          <a:xfrm>
            <a:off x="3883577" y="3659758"/>
            <a:ext cx="238125" cy="9286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>
            <a:off x="4126465" y="3752626"/>
            <a:ext cx="406003" cy="176213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35" name="Object 31"/>
          <p:cNvGraphicFramePr>
            <a:graphicFrameLocks noChangeAspect="1"/>
          </p:cNvGraphicFramePr>
          <p:nvPr/>
        </p:nvGraphicFramePr>
        <p:xfrm>
          <a:off x="2857258" y="4137925"/>
          <a:ext cx="3862388" cy="601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Picture" r:id="rId1" imgW="3177540" imgH="498475" progId="Word.Picture.8">
                  <p:embed/>
                </p:oleObj>
              </mc:Choice>
              <mc:Fallback>
                <p:oleObj name="Picture" r:id="rId1" imgW="3177540" imgH="498475" progId="Word.Picture.8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58" y="4137925"/>
                        <a:ext cx="3862388" cy="6012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从停止等待协议到流水线协议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流水线：成倍提高网络的利用率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3"/>
          <p:cNvSpPr>
            <a:spLocks noChangeShapeType="1"/>
          </p:cNvSpPr>
          <p:nvPr/>
        </p:nvSpPr>
        <p:spPr bwMode="auto">
          <a:xfrm>
            <a:off x="3656409" y="1961886"/>
            <a:ext cx="1562100" cy="6988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1025129" y="1801151"/>
            <a:ext cx="2381220" cy="265509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200" dirty="0"/>
              <a:t>first packet bit transmitted, t = 0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3" name="Line 5"/>
          <p:cNvSpPr>
            <a:spLocks noChangeShapeType="1"/>
          </p:cNvSpPr>
          <p:nvPr/>
        </p:nvSpPr>
        <p:spPr bwMode="auto">
          <a:xfrm>
            <a:off x="3649265" y="1795199"/>
            <a:ext cx="15479" cy="246340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4" name="Line 6"/>
          <p:cNvSpPr>
            <a:spLocks noChangeShapeType="1"/>
          </p:cNvSpPr>
          <p:nvPr/>
        </p:nvSpPr>
        <p:spPr bwMode="auto">
          <a:xfrm>
            <a:off x="5210175" y="1804724"/>
            <a:ext cx="16669" cy="251340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5" name="Text Box 7"/>
          <p:cNvSpPr txBox="1">
            <a:spLocks noChangeArrowheads="1"/>
          </p:cNvSpPr>
          <p:nvPr/>
        </p:nvSpPr>
        <p:spPr bwMode="auto">
          <a:xfrm>
            <a:off x="3303984" y="1607266"/>
            <a:ext cx="782241" cy="266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200" dirty="0"/>
              <a:t>sender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4825603" y="1549930"/>
            <a:ext cx="831056" cy="266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200" dirty="0"/>
              <a:t>receiver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17" name="Line 9"/>
          <p:cNvSpPr>
            <a:spLocks noChangeShapeType="1"/>
          </p:cNvSpPr>
          <p:nvPr/>
        </p:nvSpPr>
        <p:spPr bwMode="auto">
          <a:xfrm>
            <a:off x="3664744" y="1958315"/>
            <a:ext cx="1537097" cy="2381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8" name="Line 10"/>
          <p:cNvSpPr>
            <a:spLocks noChangeShapeType="1"/>
          </p:cNvSpPr>
          <p:nvPr/>
        </p:nvSpPr>
        <p:spPr bwMode="auto">
          <a:xfrm>
            <a:off x="3669506" y="3557324"/>
            <a:ext cx="1537097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9" name="Freeform 11"/>
          <p:cNvSpPr/>
          <p:nvPr/>
        </p:nvSpPr>
        <p:spPr bwMode="auto">
          <a:xfrm>
            <a:off x="3652837" y="1955933"/>
            <a:ext cx="1565672" cy="877491"/>
          </a:xfrm>
          <a:custGeom>
            <a:avLst/>
            <a:gdLst>
              <a:gd name="T0" fmla="*/ 0 w 2902"/>
              <a:gd name="T1" fmla="*/ 0 h 1185"/>
              <a:gd name="T2" fmla="*/ 2082527 w 2902"/>
              <a:gd name="T3" fmla="*/ 925130 h 1185"/>
              <a:gd name="T4" fmla="*/ 2087562 w 2902"/>
              <a:gd name="T5" fmla="*/ 1169988 h 1185"/>
              <a:gd name="T6" fmla="*/ 0 w 2902"/>
              <a:gd name="T7" fmla="*/ 243871 h 1185"/>
              <a:gd name="T8" fmla="*/ 0 w 2902"/>
              <a:gd name="T9" fmla="*/ 0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20" name="Line 12"/>
          <p:cNvSpPr>
            <a:spLocks noChangeShapeType="1"/>
          </p:cNvSpPr>
          <p:nvPr/>
        </p:nvSpPr>
        <p:spPr bwMode="auto">
          <a:xfrm flipH="1">
            <a:off x="3551634" y="1955933"/>
            <a:ext cx="92869" cy="238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1" name="Line 13"/>
          <p:cNvSpPr>
            <a:spLocks noChangeShapeType="1"/>
          </p:cNvSpPr>
          <p:nvPr/>
        </p:nvSpPr>
        <p:spPr bwMode="auto">
          <a:xfrm flipH="1">
            <a:off x="3551634" y="2139289"/>
            <a:ext cx="92869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2965847" y="2694121"/>
            <a:ext cx="723900" cy="254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200"/>
              <a:t>RTT </a:t>
            </a:r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3" name="Line 15"/>
          <p:cNvSpPr>
            <a:spLocks noChangeShapeType="1"/>
          </p:cNvSpPr>
          <p:nvPr/>
        </p:nvSpPr>
        <p:spPr bwMode="auto">
          <a:xfrm>
            <a:off x="3576638" y="2927483"/>
            <a:ext cx="7144" cy="61555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" name="Line 16"/>
          <p:cNvSpPr>
            <a:spLocks noChangeShapeType="1"/>
          </p:cNvSpPr>
          <p:nvPr/>
        </p:nvSpPr>
        <p:spPr bwMode="auto">
          <a:xfrm flipV="1">
            <a:off x="3580209" y="2155958"/>
            <a:ext cx="1191" cy="58221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1345893" y="1984286"/>
            <a:ext cx="2055019" cy="265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200"/>
              <a:t>last bit transmitted, t = L / R</a:t>
            </a:r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6" name="Line 18"/>
          <p:cNvSpPr>
            <a:spLocks noChangeShapeType="1"/>
          </p:cNvSpPr>
          <p:nvPr/>
        </p:nvSpPr>
        <p:spPr bwMode="auto">
          <a:xfrm flipH="1">
            <a:off x="5201841" y="2650068"/>
            <a:ext cx="9406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7" name="Text Box 19"/>
          <p:cNvSpPr txBox="1">
            <a:spLocks noChangeArrowheads="1"/>
          </p:cNvSpPr>
          <p:nvPr/>
        </p:nvSpPr>
        <p:spPr bwMode="auto">
          <a:xfrm>
            <a:off x="5258990" y="2516718"/>
            <a:ext cx="19812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/>
              <a:t>first packet bit arrives</a:t>
            </a:r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8" name="Line 20"/>
          <p:cNvSpPr>
            <a:spLocks noChangeShapeType="1"/>
          </p:cNvSpPr>
          <p:nvPr/>
        </p:nvSpPr>
        <p:spPr bwMode="auto">
          <a:xfrm>
            <a:off x="5218510" y="2838186"/>
            <a:ext cx="8929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9" name="Text Box 21"/>
          <p:cNvSpPr txBox="1">
            <a:spLocks noChangeArrowheads="1"/>
          </p:cNvSpPr>
          <p:nvPr/>
        </p:nvSpPr>
        <p:spPr bwMode="auto">
          <a:xfrm>
            <a:off x="5262563" y="2706027"/>
            <a:ext cx="2686050" cy="288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 dirty="0"/>
              <a:t>last packet bit arrives, send ACK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30" name="Text Box 22"/>
          <p:cNvSpPr txBox="1">
            <a:spLocks noChangeArrowheads="1"/>
          </p:cNvSpPr>
          <p:nvPr/>
        </p:nvSpPr>
        <p:spPr bwMode="auto">
          <a:xfrm>
            <a:off x="1536511" y="3300558"/>
            <a:ext cx="1976438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en-US" altLang="zh-CN" sz="1200" dirty="0"/>
              <a:t>ACK arrives, send next </a:t>
            </a:r>
            <a:endParaRPr lang="en-US" altLang="zh-CN" sz="1200" dirty="0"/>
          </a:p>
          <a:p>
            <a:pPr algn="r"/>
            <a:r>
              <a:rPr lang="en-US" altLang="zh-CN" sz="1200" dirty="0"/>
              <a:t>packet, t = RTT + L / R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grpSp>
        <p:nvGrpSpPr>
          <p:cNvPr id="31" name="Group 23"/>
          <p:cNvGrpSpPr/>
          <p:nvPr/>
        </p:nvGrpSpPr>
        <p:grpSpPr bwMode="auto">
          <a:xfrm>
            <a:off x="3559969" y="3547799"/>
            <a:ext cx="1100138" cy="456009"/>
            <a:chOff x="12502" y="21425"/>
            <a:chExt cx="3400" cy="1025"/>
          </a:xfrm>
        </p:grpSpPr>
        <p:sp>
          <p:nvSpPr>
            <p:cNvPr id="32" name="Line 24"/>
            <p:cNvSpPr>
              <a:spLocks noChangeShapeType="1"/>
            </p:cNvSpPr>
            <p:nvPr/>
          </p:nvSpPr>
          <p:spPr bwMode="auto">
            <a:xfrm flipH="1">
              <a:off x="12502" y="21425"/>
              <a:ext cx="28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3" name="Freeform 25"/>
            <p:cNvSpPr/>
            <p:nvPr/>
          </p:nvSpPr>
          <p:spPr bwMode="auto">
            <a:xfrm>
              <a:off x="12827" y="21438"/>
              <a:ext cx="3075" cy="987"/>
            </a:xfrm>
            <a:custGeom>
              <a:avLst/>
              <a:gdLst>
                <a:gd name="T0" fmla="*/ 0 w 1845"/>
                <a:gd name="T1" fmla="*/ 0 h 592"/>
                <a:gd name="T2" fmla="*/ 3075 w 1845"/>
                <a:gd name="T3" fmla="*/ 987 h 592"/>
                <a:gd name="T4" fmla="*/ 1825 w 1845"/>
                <a:gd name="T5" fmla="*/ 987 h 592"/>
                <a:gd name="T6" fmla="*/ 0 w 1845"/>
                <a:gd name="T7" fmla="*/ 412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34" name="Group 26"/>
            <p:cNvGrpSpPr/>
            <p:nvPr/>
          </p:nvGrpSpPr>
          <p:grpSpPr bwMode="auto">
            <a:xfrm>
              <a:off x="12815" y="21425"/>
              <a:ext cx="2776" cy="913"/>
              <a:chOff x="12315" y="13225"/>
              <a:chExt cx="2775" cy="913"/>
            </a:xfrm>
          </p:grpSpPr>
          <p:sp>
            <p:nvSpPr>
              <p:cNvPr id="37" name="Line 27"/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38" name="Line 28"/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35" name="Line 29"/>
            <p:cNvSpPr>
              <a:spLocks noChangeShapeType="1"/>
            </p:cNvSpPr>
            <p:nvPr/>
          </p:nvSpPr>
          <p:spPr bwMode="auto">
            <a:xfrm>
              <a:off x="12815" y="21837"/>
              <a:ext cx="687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6" name="Line 30"/>
            <p:cNvSpPr>
              <a:spLocks noChangeShapeType="1"/>
            </p:cNvSpPr>
            <p:nvPr/>
          </p:nvSpPr>
          <p:spPr bwMode="auto">
            <a:xfrm>
              <a:off x="13515" y="22048"/>
              <a:ext cx="1175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39" name="Freeform 31"/>
          <p:cNvSpPr/>
          <p:nvPr/>
        </p:nvSpPr>
        <p:spPr bwMode="auto">
          <a:xfrm>
            <a:off x="3656410" y="2145243"/>
            <a:ext cx="1565672" cy="876300"/>
          </a:xfrm>
          <a:custGeom>
            <a:avLst/>
            <a:gdLst>
              <a:gd name="T0" fmla="*/ 0 w 2902"/>
              <a:gd name="T1" fmla="*/ 0 h 1185"/>
              <a:gd name="T2" fmla="*/ 2082528 w 2902"/>
              <a:gd name="T3" fmla="*/ 923874 h 1185"/>
              <a:gd name="T4" fmla="*/ 2087563 w 2902"/>
              <a:gd name="T5" fmla="*/ 1168400 h 1185"/>
              <a:gd name="T6" fmla="*/ 0 w 2902"/>
              <a:gd name="T7" fmla="*/ 243540 h 1185"/>
              <a:gd name="T8" fmla="*/ 0 w 2902"/>
              <a:gd name="T9" fmla="*/ 0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0" name="Freeform 32"/>
          <p:cNvSpPr/>
          <p:nvPr/>
        </p:nvSpPr>
        <p:spPr bwMode="auto">
          <a:xfrm>
            <a:off x="3656410" y="2333361"/>
            <a:ext cx="1565672" cy="876300"/>
          </a:xfrm>
          <a:custGeom>
            <a:avLst/>
            <a:gdLst>
              <a:gd name="T0" fmla="*/ 0 w 2902"/>
              <a:gd name="T1" fmla="*/ 0 h 1185"/>
              <a:gd name="T2" fmla="*/ 2082528 w 2902"/>
              <a:gd name="T3" fmla="*/ 923874 h 1185"/>
              <a:gd name="T4" fmla="*/ 2087563 w 2902"/>
              <a:gd name="T5" fmla="*/ 1168400 h 1185"/>
              <a:gd name="T6" fmla="*/ 0 w 2902"/>
              <a:gd name="T7" fmla="*/ 243540 h 1185"/>
              <a:gd name="T8" fmla="*/ 0 w 2902"/>
              <a:gd name="T9" fmla="*/ 0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000000"/>
            </a:solidFill>
            <a:round/>
          </a:ln>
        </p:spPr>
        <p:txBody>
          <a:bodyPr/>
          <a:lstStyle/>
          <a:p>
            <a:endParaRPr lang="zh-CN" altLang="en-US" sz="1350"/>
          </a:p>
        </p:txBody>
      </p:sp>
      <p:sp>
        <p:nvSpPr>
          <p:cNvPr id="41" name="Line 33"/>
          <p:cNvSpPr>
            <a:spLocks noChangeShapeType="1"/>
          </p:cNvSpPr>
          <p:nvPr/>
        </p:nvSpPr>
        <p:spPr bwMode="auto">
          <a:xfrm flipV="1">
            <a:off x="3669507" y="2844140"/>
            <a:ext cx="1549003" cy="6988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2" name="Line 34"/>
          <p:cNvSpPr>
            <a:spLocks noChangeShapeType="1"/>
          </p:cNvSpPr>
          <p:nvPr/>
        </p:nvSpPr>
        <p:spPr bwMode="auto">
          <a:xfrm flipV="1">
            <a:off x="3669507" y="3032258"/>
            <a:ext cx="1549003" cy="6988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pSp>
        <p:nvGrpSpPr>
          <p:cNvPr id="43" name="Group 35"/>
          <p:cNvGrpSpPr/>
          <p:nvPr/>
        </p:nvGrpSpPr>
        <p:grpSpPr bwMode="auto">
          <a:xfrm>
            <a:off x="3551634" y="3726393"/>
            <a:ext cx="1100138" cy="454819"/>
            <a:chOff x="12502" y="21425"/>
            <a:chExt cx="3400" cy="1025"/>
          </a:xfrm>
        </p:grpSpPr>
        <p:sp>
          <p:nvSpPr>
            <p:cNvPr id="44" name="Line 36"/>
            <p:cNvSpPr>
              <a:spLocks noChangeShapeType="1"/>
            </p:cNvSpPr>
            <p:nvPr/>
          </p:nvSpPr>
          <p:spPr bwMode="auto">
            <a:xfrm flipH="1">
              <a:off x="12502" y="21425"/>
              <a:ext cx="28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5" name="Freeform 37"/>
            <p:cNvSpPr/>
            <p:nvPr/>
          </p:nvSpPr>
          <p:spPr bwMode="auto">
            <a:xfrm>
              <a:off x="12827" y="21438"/>
              <a:ext cx="3075" cy="987"/>
            </a:xfrm>
            <a:custGeom>
              <a:avLst/>
              <a:gdLst>
                <a:gd name="T0" fmla="*/ 0 w 1845"/>
                <a:gd name="T1" fmla="*/ 0 h 592"/>
                <a:gd name="T2" fmla="*/ 3075 w 1845"/>
                <a:gd name="T3" fmla="*/ 987 h 592"/>
                <a:gd name="T4" fmla="*/ 1825 w 1845"/>
                <a:gd name="T5" fmla="*/ 987 h 592"/>
                <a:gd name="T6" fmla="*/ 0 w 1845"/>
                <a:gd name="T7" fmla="*/ 412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6" name="Group 38"/>
            <p:cNvGrpSpPr/>
            <p:nvPr/>
          </p:nvGrpSpPr>
          <p:grpSpPr bwMode="auto">
            <a:xfrm>
              <a:off x="12815" y="21425"/>
              <a:ext cx="2776" cy="913"/>
              <a:chOff x="12315" y="13225"/>
              <a:chExt cx="2775" cy="913"/>
            </a:xfrm>
          </p:grpSpPr>
          <p:sp>
            <p:nvSpPr>
              <p:cNvPr id="49" name="Line 39"/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0" name="Line 40"/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47" name="Line 41"/>
            <p:cNvSpPr>
              <a:spLocks noChangeShapeType="1"/>
            </p:cNvSpPr>
            <p:nvPr/>
          </p:nvSpPr>
          <p:spPr bwMode="auto">
            <a:xfrm>
              <a:off x="12815" y="21837"/>
              <a:ext cx="687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8" name="Line 42"/>
            <p:cNvSpPr>
              <a:spLocks noChangeShapeType="1"/>
            </p:cNvSpPr>
            <p:nvPr/>
          </p:nvSpPr>
          <p:spPr bwMode="auto">
            <a:xfrm>
              <a:off x="13515" y="22048"/>
              <a:ext cx="1175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51" name="Group 43"/>
          <p:cNvGrpSpPr/>
          <p:nvPr/>
        </p:nvGrpSpPr>
        <p:grpSpPr bwMode="auto">
          <a:xfrm>
            <a:off x="3559969" y="3914512"/>
            <a:ext cx="1100138" cy="454819"/>
            <a:chOff x="12502" y="21425"/>
            <a:chExt cx="3400" cy="1025"/>
          </a:xfrm>
        </p:grpSpPr>
        <p:sp>
          <p:nvSpPr>
            <p:cNvPr id="52" name="Line 44"/>
            <p:cNvSpPr>
              <a:spLocks noChangeShapeType="1"/>
            </p:cNvSpPr>
            <p:nvPr/>
          </p:nvSpPr>
          <p:spPr bwMode="auto">
            <a:xfrm flipH="1">
              <a:off x="12502" y="21425"/>
              <a:ext cx="288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3" name="Freeform 45"/>
            <p:cNvSpPr/>
            <p:nvPr/>
          </p:nvSpPr>
          <p:spPr bwMode="auto">
            <a:xfrm>
              <a:off x="12827" y="21438"/>
              <a:ext cx="3075" cy="987"/>
            </a:xfrm>
            <a:custGeom>
              <a:avLst/>
              <a:gdLst>
                <a:gd name="T0" fmla="*/ 0 w 1845"/>
                <a:gd name="T1" fmla="*/ 0 h 592"/>
                <a:gd name="T2" fmla="*/ 3075 w 1845"/>
                <a:gd name="T3" fmla="*/ 987 h 592"/>
                <a:gd name="T4" fmla="*/ 1825 w 1845"/>
                <a:gd name="T5" fmla="*/ 987 h 592"/>
                <a:gd name="T6" fmla="*/ 0 w 1845"/>
                <a:gd name="T7" fmla="*/ 412 h 592"/>
                <a:gd name="T8" fmla="*/ 0 w 1845"/>
                <a:gd name="T9" fmla="*/ 0 h 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45" h="592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4" name="Group 46"/>
            <p:cNvGrpSpPr/>
            <p:nvPr/>
          </p:nvGrpSpPr>
          <p:grpSpPr bwMode="auto">
            <a:xfrm>
              <a:off x="12815" y="21425"/>
              <a:ext cx="2776" cy="913"/>
              <a:chOff x="12315" y="13225"/>
              <a:chExt cx="2775" cy="913"/>
            </a:xfrm>
          </p:grpSpPr>
          <p:sp>
            <p:nvSpPr>
              <p:cNvPr id="57" name="Line 47"/>
              <p:cNvSpPr>
                <a:spLocks noChangeShapeType="1"/>
              </p:cNvSpPr>
              <p:nvPr/>
            </p:nvSpPr>
            <p:spPr bwMode="auto">
              <a:xfrm>
                <a:off x="12315" y="13225"/>
                <a:ext cx="1587" cy="5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58" name="Line 48"/>
              <p:cNvSpPr>
                <a:spLocks noChangeShapeType="1"/>
              </p:cNvSpPr>
              <p:nvPr/>
            </p:nvSpPr>
            <p:spPr bwMode="auto">
              <a:xfrm>
                <a:off x="13915" y="13737"/>
                <a:ext cx="1175" cy="40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sysDot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55" name="Line 49"/>
            <p:cNvSpPr>
              <a:spLocks noChangeShapeType="1"/>
            </p:cNvSpPr>
            <p:nvPr/>
          </p:nvSpPr>
          <p:spPr bwMode="auto">
            <a:xfrm>
              <a:off x="12815" y="21837"/>
              <a:ext cx="687" cy="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6" name="Line 50"/>
            <p:cNvSpPr>
              <a:spLocks noChangeShapeType="1"/>
            </p:cNvSpPr>
            <p:nvPr/>
          </p:nvSpPr>
          <p:spPr bwMode="auto">
            <a:xfrm>
              <a:off x="13515" y="22048"/>
              <a:ext cx="1175" cy="4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59" name="Line 51"/>
          <p:cNvSpPr>
            <a:spLocks noChangeShapeType="1"/>
          </p:cNvSpPr>
          <p:nvPr/>
        </p:nvSpPr>
        <p:spPr bwMode="auto">
          <a:xfrm flipV="1">
            <a:off x="3673078" y="3221567"/>
            <a:ext cx="1549004" cy="69889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0" name="Text Box 52"/>
          <p:cNvSpPr txBox="1">
            <a:spLocks noChangeArrowheads="1"/>
          </p:cNvSpPr>
          <p:nvPr/>
        </p:nvSpPr>
        <p:spPr bwMode="auto">
          <a:xfrm>
            <a:off x="5260182" y="2896527"/>
            <a:ext cx="3044143" cy="288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 dirty="0"/>
              <a:t>last bit of 2</a:t>
            </a:r>
            <a:r>
              <a:rPr lang="en-US" altLang="zh-CN" sz="1200" baseline="30000" dirty="0"/>
              <a:t>nd</a:t>
            </a:r>
            <a:r>
              <a:rPr lang="en-US" altLang="zh-CN" sz="1200" dirty="0"/>
              <a:t> packet arrives, send ACK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1" name="Line 53"/>
          <p:cNvSpPr>
            <a:spLocks noChangeShapeType="1"/>
          </p:cNvSpPr>
          <p:nvPr/>
        </p:nvSpPr>
        <p:spPr bwMode="auto">
          <a:xfrm flipV="1">
            <a:off x="5218509" y="3015589"/>
            <a:ext cx="8453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2" name="Line 54"/>
          <p:cNvSpPr>
            <a:spLocks noChangeShapeType="1"/>
          </p:cNvSpPr>
          <p:nvPr/>
        </p:nvSpPr>
        <p:spPr bwMode="auto">
          <a:xfrm flipV="1">
            <a:off x="5226844" y="3204899"/>
            <a:ext cx="8453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3" name="Text Box 55"/>
          <p:cNvSpPr txBox="1">
            <a:spLocks noChangeArrowheads="1"/>
          </p:cNvSpPr>
          <p:nvPr/>
        </p:nvSpPr>
        <p:spPr bwMode="auto">
          <a:xfrm>
            <a:off x="5255420" y="3087576"/>
            <a:ext cx="2771775" cy="288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200" dirty="0"/>
              <a:t>last bit of 3</a:t>
            </a:r>
            <a:r>
              <a:rPr lang="en-US" altLang="zh-CN" sz="1200" baseline="30000" dirty="0"/>
              <a:t>rd</a:t>
            </a:r>
            <a:r>
              <a:rPr lang="en-US" altLang="zh-CN" sz="1200" dirty="0"/>
              <a:t> packet arrives, send ACK</a:t>
            </a:r>
            <a:endParaRPr lang="en-US" altLang="zh-CN" sz="1200" dirty="0">
              <a:latin typeface="Times New Roman" panose="02020603050405020304" pitchFamily="18" charset="0"/>
            </a:endParaRPr>
          </a:p>
        </p:txBody>
      </p:sp>
      <p:sp>
        <p:nvSpPr>
          <p:cNvPr id="64" name="Text Box 57"/>
          <p:cNvSpPr txBox="1">
            <a:spLocks noChangeArrowheads="1"/>
          </p:cNvSpPr>
          <p:nvPr/>
        </p:nvSpPr>
        <p:spPr bwMode="auto">
          <a:xfrm>
            <a:off x="6015965" y="3899172"/>
            <a:ext cx="194636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1500" dirty="0">
                <a:solidFill>
                  <a:srgbClr val="FF0000"/>
                </a:solidFill>
                <a:latin typeface="Comic Sans MS" panose="030F0702030302020204" pitchFamily="66" charset="0"/>
              </a:rPr>
              <a:t>Increase utilization</a:t>
            </a:r>
            <a:endParaRPr lang="en-US" altLang="zh-CN" sz="1500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US" altLang="zh-CN" sz="1500" dirty="0">
                <a:solidFill>
                  <a:srgbClr val="FF0000"/>
                </a:solidFill>
                <a:latin typeface="Comic Sans MS" panose="030F0702030302020204" pitchFamily="66" charset="0"/>
              </a:rPr>
              <a:t>by a factor of 3!</a:t>
            </a:r>
            <a:endParaRPr lang="en-US" altLang="zh-CN" sz="15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5" name="Line 58"/>
          <p:cNvSpPr>
            <a:spLocks noChangeShapeType="1"/>
          </p:cNvSpPr>
          <p:nvPr/>
        </p:nvSpPr>
        <p:spPr bwMode="auto">
          <a:xfrm flipH="1">
            <a:off x="6013847" y="4196225"/>
            <a:ext cx="94059" cy="38457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66" name="Object 56"/>
          <p:cNvGraphicFramePr>
            <a:graphicFrameLocks noChangeAspect="1"/>
          </p:cNvGraphicFramePr>
          <p:nvPr/>
        </p:nvGraphicFramePr>
        <p:xfrm>
          <a:off x="2735796" y="4358242"/>
          <a:ext cx="3787378" cy="589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" name="Picture" r:id="rId1" imgW="3177540" imgH="498475" progId="Word.Picture.8">
                  <p:embed/>
                </p:oleObj>
              </mc:Choice>
              <mc:Fallback>
                <p:oleObj name="Picture" r:id="rId1" imgW="3177540" imgH="498475" progId="Word.Picture.8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796" y="4358242"/>
                        <a:ext cx="3787378" cy="5897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119637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从停止等待协议到流水线协议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优点：成倍地提高网络的通信效率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问题：流水线中如何实现可靠控制？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Rectangle 10"/>
          <p:cNvSpPr>
            <a:spLocks noChangeArrowheads="1"/>
          </p:cNvSpPr>
          <p:nvPr/>
        </p:nvSpPr>
        <p:spPr bwMode="auto">
          <a:xfrm>
            <a:off x="3077747" y="2139702"/>
            <a:ext cx="648890" cy="216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1350" dirty="0"/>
              <a:t>B</a:t>
            </a:r>
            <a:endParaRPr lang="en-US" altLang="zh-CN" sz="1350" dirty="0"/>
          </a:p>
        </p:txBody>
      </p:sp>
      <p:sp>
        <p:nvSpPr>
          <p:cNvPr id="107" name="Text Box 57"/>
          <p:cNvSpPr txBox="1">
            <a:spLocks noChangeArrowheads="1"/>
          </p:cNvSpPr>
          <p:nvPr/>
        </p:nvSpPr>
        <p:spPr bwMode="auto">
          <a:xfrm>
            <a:off x="3931469" y="2645504"/>
            <a:ext cx="2219836" cy="78483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换言之：出现分组丢失、差错或延时后如何考虑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重传策略</a:t>
            </a:r>
            <a:r>
              <a: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5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左大括号 6"/>
          <p:cNvSpPr/>
          <p:nvPr/>
        </p:nvSpPr>
        <p:spPr>
          <a:xfrm>
            <a:off x="4972604" y="3556447"/>
            <a:ext cx="148405" cy="848816"/>
          </a:xfrm>
          <a:prstGeom prst="leftBrace">
            <a:avLst>
              <a:gd name="adj1" fmla="val 78293"/>
              <a:gd name="adj2" fmla="val 53672"/>
            </a:avLst>
          </a:prstGeom>
          <a:ln w="34925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8" name="Text Box 57"/>
          <p:cNvSpPr txBox="1">
            <a:spLocks noChangeArrowheads="1"/>
          </p:cNvSpPr>
          <p:nvPr/>
        </p:nvSpPr>
        <p:spPr bwMode="auto">
          <a:xfrm>
            <a:off x="5188628" y="3428462"/>
            <a:ext cx="2716882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 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(go-back-N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GBN)</a:t>
            </a:r>
            <a:endParaRPr lang="en-US" altLang="zh-CN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Text Box 57"/>
          <p:cNvSpPr txBox="1">
            <a:spLocks noChangeArrowheads="1"/>
          </p:cNvSpPr>
          <p:nvPr/>
        </p:nvSpPr>
        <p:spPr bwMode="auto">
          <a:xfrm>
            <a:off x="5188627" y="4183600"/>
            <a:ext cx="3166072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选择重传 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(selective repeat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</a:t>
            </a:r>
            <a:r>
              <a:rPr lang="zh-CN" altLang="en-US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5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403648" y="2139702"/>
            <a:ext cx="2000249" cy="2808312"/>
            <a:chOff x="2357754" y="2211710"/>
            <a:chExt cx="2000249" cy="2808312"/>
          </a:xfrm>
        </p:grpSpPr>
        <p:sp>
          <p:nvSpPr>
            <p:cNvPr id="69" name="Line 5"/>
            <p:cNvSpPr>
              <a:spLocks noChangeShapeType="1"/>
            </p:cNvSpPr>
            <p:nvPr/>
          </p:nvSpPr>
          <p:spPr bwMode="auto">
            <a:xfrm>
              <a:off x="2790626" y="2428404"/>
              <a:ext cx="0" cy="25916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70" name="Line 6"/>
            <p:cNvSpPr>
              <a:spLocks noChangeShapeType="1"/>
            </p:cNvSpPr>
            <p:nvPr/>
          </p:nvSpPr>
          <p:spPr bwMode="auto">
            <a:xfrm>
              <a:off x="4358003" y="2428404"/>
              <a:ext cx="0" cy="25916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71" name="Line 7"/>
            <p:cNvSpPr>
              <a:spLocks noChangeShapeType="1"/>
            </p:cNvSpPr>
            <p:nvPr/>
          </p:nvSpPr>
          <p:spPr bwMode="auto">
            <a:xfrm>
              <a:off x="2797094" y="2589138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73" name="Rectangle 9"/>
            <p:cNvSpPr>
              <a:spLocks noChangeArrowheads="1"/>
            </p:cNvSpPr>
            <p:nvPr/>
          </p:nvSpPr>
          <p:spPr bwMode="auto">
            <a:xfrm>
              <a:off x="2472649" y="2211710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A</a:t>
              </a:r>
              <a:endParaRPr lang="en-US" altLang="zh-CN" sz="1350" dirty="0"/>
            </a:p>
          </p:txBody>
        </p:sp>
        <p:sp>
          <p:nvSpPr>
            <p:cNvPr id="77" name="Rectangle 26"/>
            <p:cNvSpPr>
              <a:spLocks noChangeArrowheads="1"/>
            </p:cNvSpPr>
            <p:nvPr/>
          </p:nvSpPr>
          <p:spPr bwMode="auto">
            <a:xfrm>
              <a:off x="2357754" y="2805194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1</a:t>
              </a:r>
              <a:endParaRPr lang="en-US" altLang="zh-CN" sz="1350" baseline="-25000" dirty="0"/>
            </a:p>
          </p:txBody>
        </p:sp>
        <p:sp>
          <p:nvSpPr>
            <p:cNvPr id="78" name="Line 27"/>
            <p:cNvSpPr>
              <a:spLocks noChangeShapeType="1"/>
            </p:cNvSpPr>
            <p:nvPr/>
          </p:nvSpPr>
          <p:spPr bwMode="auto">
            <a:xfrm flipH="1">
              <a:off x="2792331" y="3246975"/>
              <a:ext cx="1509639" cy="79858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82" name="Rectangle 29"/>
            <p:cNvSpPr>
              <a:spLocks noChangeArrowheads="1"/>
            </p:cNvSpPr>
            <p:nvPr/>
          </p:nvSpPr>
          <p:spPr bwMode="auto">
            <a:xfrm>
              <a:off x="2357754" y="3049112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2</a:t>
              </a:r>
              <a:endParaRPr lang="en-US" altLang="zh-CN" sz="1350" baseline="-25000" dirty="0"/>
            </a:p>
          </p:txBody>
        </p:sp>
        <p:sp>
          <p:nvSpPr>
            <p:cNvPr id="83" name="Rectangle 32"/>
            <p:cNvSpPr>
              <a:spLocks noChangeArrowheads="1"/>
            </p:cNvSpPr>
            <p:nvPr/>
          </p:nvSpPr>
          <p:spPr bwMode="auto">
            <a:xfrm>
              <a:off x="2357754" y="2562789"/>
              <a:ext cx="439806" cy="2166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0</a:t>
              </a:r>
              <a:endParaRPr lang="en-US" altLang="zh-CN" sz="1350" baseline="-25000" dirty="0"/>
            </a:p>
          </p:txBody>
        </p:sp>
        <p:sp>
          <p:nvSpPr>
            <p:cNvPr id="85" name="Rectangle 29"/>
            <p:cNvSpPr>
              <a:spLocks noChangeArrowheads="1"/>
            </p:cNvSpPr>
            <p:nvPr/>
          </p:nvSpPr>
          <p:spPr bwMode="auto">
            <a:xfrm>
              <a:off x="2357754" y="3285648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3</a:t>
              </a:r>
              <a:endParaRPr lang="en-US" altLang="zh-CN" sz="1350" baseline="-25000" dirty="0"/>
            </a:p>
          </p:txBody>
        </p:sp>
        <p:sp>
          <p:nvSpPr>
            <p:cNvPr id="95" name="Line 7"/>
            <p:cNvSpPr>
              <a:spLocks noChangeShapeType="1"/>
            </p:cNvSpPr>
            <p:nvPr/>
          </p:nvSpPr>
          <p:spPr bwMode="auto">
            <a:xfrm>
              <a:off x="2797095" y="2818746"/>
              <a:ext cx="765173" cy="304744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96" name="Line 7"/>
            <p:cNvSpPr>
              <a:spLocks noChangeShapeType="1"/>
            </p:cNvSpPr>
            <p:nvPr/>
          </p:nvSpPr>
          <p:spPr bwMode="auto">
            <a:xfrm>
              <a:off x="2797094" y="3054954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97" name="Line 7"/>
            <p:cNvSpPr>
              <a:spLocks noChangeShapeType="1"/>
            </p:cNvSpPr>
            <p:nvPr/>
          </p:nvSpPr>
          <p:spPr bwMode="auto">
            <a:xfrm>
              <a:off x="2797094" y="3292155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99" name="Line 27"/>
            <p:cNvSpPr>
              <a:spLocks noChangeShapeType="1"/>
            </p:cNvSpPr>
            <p:nvPr/>
          </p:nvSpPr>
          <p:spPr bwMode="auto">
            <a:xfrm flipH="1">
              <a:off x="2798800" y="3707284"/>
              <a:ext cx="1509639" cy="79858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00" name="Line 27"/>
            <p:cNvSpPr>
              <a:spLocks noChangeShapeType="1"/>
            </p:cNvSpPr>
            <p:nvPr/>
          </p:nvSpPr>
          <p:spPr bwMode="auto">
            <a:xfrm flipH="1">
              <a:off x="2798800" y="3949991"/>
              <a:ext cx="1509639" cy="79858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01" name="Rectangle 32"/>
            <p:cNvSpPr>
              <a:spLocks noChangeArrowheads="1"/>
            </p:cNvSpPr>
            <p:nvPr/>
          </p:nvSpPr>
          <p:spPr bwMode="auto">
            <a:xfrm>
              <a:off x="3562268" y="3119423"/>
              <a:ext cx="439806" cy="216694"/>
            </a:xfrm>
            <a:prstGeom prst="rect">
              <a:avLst/>
            </a:prstGeom>
            <a:solidFill>
              <a:srgbClr val="FFDDDD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FF0000"/>
                  </a:solidFill>
                </a:rPr>
                <a:t>lost</a:t>
              </a:r>
              <a:endParaRPr lang="en-US" altLang="zh-CN" sz="1350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103" name="Line 7"/>
            <p:cNvSpPr>
              <a:spLocks noChangeShapeType="1"/>
            </p:cNvSpPr>
            <p:nvPr/>
          </p:nvSpPr>
          <p:spPr bwMode="auto">
            <a:xfrm>
              <a:off x="2797094" y="4068295"/>
              <a:ext cx="1559204" cy="632126"/>
            </a:xfrm>
            <a:prstGeom prst="line">
              <a:avLst/>
            </a:prstGeom>
            <a:noFill/>
            <a:ln w="44450">
              <a:solidFill>
                <a:schemeClr val="tx1">
                  <a:lumMod val="50000"/>
                  <a:lumOff val="50000"/>
                </a:schemeClr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04" name="Rectangle 32"/>
            <p:cNvSpPr>
              <a:spLocks noChangeArrowheads="1"/>
            </p:cNvSpPr>
            <p:nvPr/>
          </p:nvSpPr>
          <p:spPr bwMode="auto">
            <a:xfrm>
              <a:off x="2357754" y="4260577"/>
              <a:ext cx="439806" cy="2166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 err="1"/>
                <a:t>pkt</a:t>
              </a:r>
              <a:r>
                <a:rPr lang="en-US" altLang="zh-CN" sz="1350" baseline="-25000" dirty="0"/>
                <a:t>?</a:t>
              </a:r>
              <a:endParaRPr lang="en-US" altLang="zh-CN" sz="1350" baseline="-25000" dirty="0"/>
            </a:p>
          </p:txBody>
        </p:sp>
        <p:sp>
          <p:nvSpPr>
            <p:cNvPr id="105" name="Line 7"/>
            <p:cNvSpPr>
              <a:spLocks noChangeShapeType="1"/>
            </p:cNvSpPr>
            <p:nvPr/>
          </p:nvSpPr>
          <p:spPr bwMode="auto">
            <a:xfrm>
              <a:off x="2797094" y="4297490"/>
              <a:ext cx="1559204" cy="632126"/>
            </a:xfrm>
            <a:prstGeom prst="line">
              <a:avLst/>
            </a:prstGeom>
            <a:noFill/>
            <a:ln w="44450">
              <a:solidFill>
                <a:schemeClr val="tx1">
                  <a:lumMod val="65000"/>
                  <a:lumOff val="35000"/>
                </a:schemeClr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10" name="Rectangle 32"/>
            <p:cNvSpPr>
              <a:spLocks noChangeArrowheads="1"/>
            </p:cNvSpPr>
            <p:nvPr/>
          </p:nvSpPr>
          <p:spPr bwMode="auto">
            <a:xfrm>
              <a:off x="2357754" y="4030955"/>
              <a:ext cx="439806" cy="21669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 err="1"/>
                <a:t>pkt</a:t>
              </a:r>
              <a:r>
                <a:rPr lang="en-US" altLang="zh-CN" sz="1350" baseline="-25000" dirty="0"/>
                <a:t>?</a:t>
              </a:r>
              <a:endParaRPr lang="en-US" altLang="zh-CN" sz="1350" baseline="-25000" dirty="0"/>
            </a:p>
          </p:txBody>
        </p:sp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3638"/>
            <a:ext cx="571429" cy="584127"/>
          </a:xfrm>
          <a:prstGeom prst="rect">
            <a:avLst/>
          </a:prstGeom>
        </p:spPr>
      </p:pic>
      <p:sp>
        <p:nvSpPr>
          <p:cNvPr id="3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5999"/>
            <a:ext cx="6408256" cy="4012015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发送方：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允许发送方发送多个分组，而不需等待确认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未确认的分组数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&lt;N 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窗口长度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问题：为什么要限制一下，必须小于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发送方的缓存容量是有限度的！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不能让发送方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肆无忌惮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地发数据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否则跟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没太大区别了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流控制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的需要：发送速率不能大于接收速率！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也是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拥塞控制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的需要：不要擅自给网络添堵！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设置定时器：处理丢失，进行重传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问题：设置多少个定时器？</a:t>
            </a:r>
            <a:endParaRPr lang="en-US" altLang="zh-CN" sz="16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多多益善么？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定时器也耗费资源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787774"/>
            <a:ext cx="571429" cy="584127"/>
          </a:xfrm>
          <a:prstGeom prst="rect">
            <a:avLst/>
          </a:prstGeom>
        </p:spPr>
      </p:pic>
      <p:sp>
        <p:nvSpPr>
          <p:cNvPr id="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前提：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没有缓存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降低成本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只接收有序的分组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向上提交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丢弃失序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有点可惜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2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前提：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接收方没有缓存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降低成本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只接收有序的分组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向上提交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会丢弃失序的分组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有点可惜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问题：接收方肿么确认分组？</a:t>
            </a: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：分组丢失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数据失序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接收方：丢弃失序分组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013337" y="1275606"/>
            <a:ext cx="2938018" cy="3510390"/>
            <a:chOff x="5013337" y="1275606"/>
            <a:chExt cx="2938018" cy="351039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6034424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601801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6040891" y="1653034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5716446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7275650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5601551" y="1869090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 flipH="1">
              <a:off x="6027491" y="2310871"/>
              <a:ext cx="1518277" cy="56886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29"/>
            <p:cNvSpPr>
              <a:spLocks noChangeArrowheads="1"/>
            </p:cNvSpPr>
            <p:nvPr/>
          </p:nvSpPr>
          <p:spPr bwMode="auto">
            <a:xfrm>
              <a:off x="5601551" y="2113008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ctangle 32"/>
            <p:cNvSpPr>
              <a:spLocks noChangeArrowheads="1"/>
            </p:cNvSpPr>
            <p:nvPr/>
          </p:nvSpPr>
          <p:spPr bwMode="auto">
            <a:xfrm>
              <a:off x="5601551" y="1626685"/>
              <a:ext cx="439806" cy="2166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Rectangle 29"/>
            <p:cNvSpPr>
              <a:spLocks noChangeArrowheads="1"/>
            </p:cNvSpPr>
            <p:nvPr/>
          </p:nvSpPr>
          <p:spPr bwMode="auto">
            <a:xfrm>
              <a:off x="5601551" y="2349544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7"/>
            <p:cNvSpPr>
              <a:spLocks noChangeShapeType="1"/>
            </p:cNvSpPr>
            <p:nvPr/>
          </p:nvSpPr>
          <p:spPr bwMode="auto">
            <a:xfrm>
              <a:off x="6040892" y="1882642"/>
              <a:ext cx="765173" cy="30474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7"/>
            <p:cNvSpPr>
              <a:spLocks noChangeShapeType="1"/>
            </p:cNvSpPr>
            <p:nvPr/>
          </p:nvSpPr>
          <p:spPr bwMode="auto">
            <a:xfrm>
              <a:off x="6040891" y="2118850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7"/>
            <p:cNvSpPr>
              <a:spLocks noChangeShapeType="1"/>
            </p:cNvSpPr>
            <p:nvPr/>
          </p:nvSpPr>
          <p:spPr bwMode="auto">
            <a:xfrm>
              <a:off x="6040891" y="235605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32"/>
            <p:cNvSpPr>
              <a:spLocks noChangeArrowheads="1"/>
            </p:cNvSpPr>
            <p:nvPr/>
          </p:nvSpPr>
          <p:spPr bwMode="auto">
            <a:xfrm>
              <a:off x="6650776" y="2084117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失</a:t>
              </a:r>
              <a:endPara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6040891" y="3387908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5601551" y="3341871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5601551" y="3585789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Rectangle 29"/>
            <p:cNvSpPr>
              <a:spLocks noChangeArrowheads="1"/>
            </p:cNvSpPr>
            <p:nvPr/>
          </p:nvSpPr>
          <p:spPr bwMode="auto">
            <a:xfrm>
              <a:off x="5601551" y="3822326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7"/>
            <p:cNvSpPr>
              <a:spLocks noChangeShapeType="1"/>
            </p:cNvSpPr>
            <p:nvPr/>
          </p:nvSpPr>
          <p:spPr bwMode="auto">
            <a:xfrm>
              <a:off x="6040891" y="3636880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7"/>
            <p:cNvSpPr>
              <a:spLocks noChangeShapeType="1"/>
            </p:cNvSpPr>
            <p:nvPr/>
          </p:nvSpPr>
          <p:spPr bwMode="auto">
            <a:xfrm>
              <a:off x="6040891" y="3872692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Rectangle 32"/>
            <p:cNvSpPr>
              <a:spLocks noChangeArrowheads="1"/>
            </p:cNvSpPr>
            <p:nvPr/>
          </p:nvSpPr>
          <p:spPr bwMode="auto">
            <a:xfrm>
              <a:off x="7511549" y="288513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弃</a:t>
              </a:r>
              <a:endPara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7511549" y="2613984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弃</a:t>
              </a:r>
              <a:endPara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左大括号 6"/>
            <p:cNvSpPr/>
            <p:nvPr/>
          </p:nvSpPr>
          <p:spPr>
            <a:xfrm>
              <a:off x="5396315" y="2085784"/>
              <a:ext cx="128595" cy="1256087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Rectangle 32"/>
            <p:cNvSpPr>
              <a:spLocks noChangeArrowheads="1"/>
            </p:cNvSpPr>
            <p:nvPr/>
          </p:nvSpPr>
          <p:spPr bwMode="auto">
            <a:xfrm>
              <a:off x="5013337" y="3273159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超时</a:t>
              </a:r>
              <a:endPara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Rectangle 29"/>
            <p:cNvSpPr>
              <a:spLocks noChangeArrowheads="1"/>
            </p:cNvSpPr>
            <p:nvPr/>
          </p:nvSpPr>
          <p:spPr bwMode="auto">
            <a:xfrm>
              <a:off x="5601551" y="4066071"/>
              <a:ext cx="439806" cy="2166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Rectangle 32"/>
            <p:cNvSpPr>
              <a:spLocks noChangeArrowheads="1"/>
            </p:cNvSpPr>
            <p:nvPr/>
          </p:nvSpPr>
          <p:spPr bwMode="auto">
            <a:xfrm>
              <a:off x="6167417" y="2645328"/>
              <a:ext cx="433797" cy="2166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r>
                <a:rPr lang="en-US" altLang="zh-CN" sz="1350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7"/>
            <p:cNvSpPr>
              <a:spLocks noChangeShapeType="1"/>
            </p:cNvSpPr>
            <p:nvPr/>
          </p:nvSpPr>
          <p:spPr bwMode="auto">
            <a:xfrm>
              <a:off x="6040891" y="4153870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Rectangle 32"/>
            <p:cNvSpPr>
              <a:spLocks noChangeArrowheads="1"/>
            </p:cNvSpPr>
            <p:nvPr/>
          </p:nvSpPr>
          <p:spPr bwMode="auto">
            <a:xfrm>
              <a:off x="5013337" y="1997292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计时</a:t>
              </a:r>
              <a:endPara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4" name="图片 3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099804"/>
            <a:ext cx="571429" cy="584127"/>
          </a:xfrm>
          <a:prstGeom prst="rect">
            <a:avLst/>
          </a:prstGeom>
        </p:spPr>
      </p:pic>
      <p:sp>
        <p:nvSpPr>
          <p:cNvPr id="3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33272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前提：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接收方没有缓存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降低成本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只接收有序的分组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向上提交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会丢弃失序的分组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有点可惜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问题：接收方肿么确认分组？</a:t>
            </a:r>
            <a:endParaRPr lang="en-US" altLang="zh-CN" sz="15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：分组丢失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数据失序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：确认丢失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累积确认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ack</a:t>
            </a:r>
            <a:r>
              <a:rPr lang="en-US" altLang="zh-CN" sz="14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：小于等于序号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的分组</a:t>
            </a:r>
            <a:b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都被确认收到了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996290" y="1275606"/>
            <a:ext cx="2928250" cy="3496353"/>
            <a:chOff x="4996290" y="1275606"/>
            <a:chExt cx="2928250" cy="3496353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6034424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601801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6040891" y="1653034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5716446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7275650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5601551" y="1869090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 flipH="1">
              <a:off x="6557503" y="2517424"/>
              <a:ext cx="988263" cy="27581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29"/>
            <p:cNvSpPr>
              <a:spLocks noChangeArrowheads="1"/>
            </p:cNvSpPr>
            <p:nvPr/>
          </p:nvSpPr>
          <p:spPr bwMode="auto">
            <a:xfrm>
              <a:off x="5601551" y="2113008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ctangle 32"/>
            <p:cNvSpPr>
              <a:spLocks noChangeArrowheads="1"/>
            </p:cNvSpPr>
            <p:nvPr/>
          </p:nvSpPr>
          <p:spPr bwMode="auto">
            <a:xfrm>
              <a:off x="5601551" y="1626685"/>
              <a:ext cx="439806" cy="2166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Rectangle 29"/>
            <p:cNvSpPr>
              <a:spLocks noChangeArrowheads="1"/>
            </p:cNvSpPr>
            <p:nvPr/>
          </p:nvSpPr>
          <p:spPr bwMode="auto">
            <a:xfrm>
              <a:off x="5601551" y="2349544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7"/>
            <p:cNvSpPr>
              <a:spLocks noChangeShapeType="1"/>
            </p:cNvSpPr>
            <p:nvPr/>
          </p:nvSpPr>
          <p:spPr bwMode="auto">
            <a:xfrm>
              <a:off x="6040892" y="1882642"/>
              <a:ext cx="1553976" cy="618899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7"/>
            <p:cNvSpPr>
              <a:spLocks noChangeShapeType="1"/>
            </p:cNvSpPr>
            <p:nvPr/>
          </p:nvSpPr>
          <p:spPr bwMode="auto">
            <a:xfrm>
              <a:off x="6040891" y="2118850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7"/>
            <p:cNvSpPr>
              <a:spLocks noChangeShapeType="1"/>
            </p:cNvSpPr>
            <p:nvPr/>
          </p:nvSpPr>
          <p:spPr bwMode="auto">
            <a:xfrm>
              <a:off x="6040891" y="235605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32"/>
            <p:cNvSpPr>
              <a:spLocks noChangeArrowheads="1"/>
            </p:cNvSpPr>
            <p:nvPr/>
          </p:nvSpPr>
          <p:spPr bwMode="auto">
            <a:xfrm>
              <a:off x="6314937" y="2668978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endPara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6040891" y="337387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5601551" y="3327834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5601551" y="3571752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Rectangle 29"/>
            <p:cNvSpPr>
              <a:spLocks noChangeArrowheads="1"/>
            </p:cNvSpPr>
            <p:nvPr/>
          </p:nvSpPr>
          <p:spPr bwMode="auto">
            <a:xfrm>
              <a:off x="5601551" y="3808289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7"/>
            <p:cNvSpPr>
              <a:spLocks noChangeShapeType="1"/>
            </p:cNvSpPr>
            <p:nvPr/>
          </p:nvSpPr>
          <p:spPr bwMode="auto">
            <a:xfrm>
              <a:off x="6040891" y="3622843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7"/>
            <p:cNvSpPr>
              <a:spLocks noChangeShapeType="1"/>
            </p:cNvSpPr>
            <p:nvPr/>
          </p:nvSpPr>
          <p:spPr bwMode="auto">
            <a:xfrm>
              <a:off x="6040891" y="3858655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左大括号 6"/>
            <p:cNvSpPr/>
            <p:nvPr/>
          </p:nvSpPr>
          <p:spPr>
            <a:xfrm>
              <a:off x="5412205" y="2085783"/>
              <a:ext cx="111710" cy="1337346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Rectangle 32"/>
            <p:cNvSpPr>
              <a:spLocks noChangeArrowheads="1"/>
            </p:cNvSpPr>
            <p:nvPr/>
          </p:nvSpPr>
          <p:spPr bwMode="auto">
            <a:xfrm>
              <a:off x="4996290" y="201050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计时</a:t>
              </a:r>
              <a:endPara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Rectangle 29"/>
            <p:cNvSpPr>
              <a:spLocks noChangeArrowheads="1"/>
            </p:cNvSpPr>
            <p:nvPr/>
          </p:nvSpPr>
          <p:spPr bwMode="auto">
            <a:xfrm>
              <a:off x="5601551" y="4052034"/>
              <a:ext cx="439806" cy="2166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7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7"/>
            <p:cNvSpPr>
              <a:spLocks noChangeShapeType="1"/>
            </p:cNvSpPr>
            <p:nvPr/>
          </p:nvSpPr>
          <p:spPr bwMode="auto">
            <a:xfrm>
              <a:off x="6040891" y="4139833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27"/>
            <p:cNvSpPr>
              <a:spLocks noChangeShapeType="1"/>
            </p:cNvSpPr>
            <p:nvPr/>
          </p:nvSpPr>
          <p:spPr bwMode="auto">
            <a:xfrm flipH="1">
              <a:off x="6034423" y="2999948"/>
              <a:ext cx="1536746" cy="308043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Rectangle 32"/>
            <p:cNvSpPr>
              <a:spLocks noChangeArrowheads="1"/>
            </p:cNvSpPr>
            <p:nvPr/>
          </p:nvSpPr>
          <p:spPr bwMode="auto">
            <a:xfrm>
              <a:off x="6250398" y="3100857"/>
              <a:ext cx="433797" cy="2166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r>
                <a:rPr lang="en-US" altLang="zh-CN" sz="1350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27"/>
            <p:cNvSpPr>
              <a:spLocks noChangeShapeType="1"/>
            </p:cNvSpPr>
            <p:nvPr/>
          </p:nvSpPr>
          <p:spPr bwMode="auto">
            <a:xfrm flipH="1">
              <a:off x="6065056" y="2754161"/>
              <a:ext cx="1480710" cy="1251836"/>
            </a:xfrm>
            <a:prstGeom prst="line">
              <a:avLst/>
            </a:prstGeom>
            <a:noFill/>
            <a:ln w="9525">
              <a:solidFill>
                <a:srgbClr val="0066CC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27"/>
            <p:cNvSpPr>
              <a:spLocks noChangeShapeType="1"/>
            </p:cNvSpPr>
            <p:nvPr/>
          </p:nvSpPr>
          <p:spPr bwMode="auto">
            <a:xfrm flipH="1">
              <a:off x="6034423" y="2298804"/>
              <a:ext cx="1511343" cy="41659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lg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099804"/>
            <a:ext cx="571429" cy="584127"/>
          </a:xfrm>
          <a:prstGeom prst="rect">
            <a:avLst/>
          </a:prstGeom>
        </p:spPr>
      </p:pic>
      <p:sp>
        <p:nvSpPr>
          <p:cNvPr id="3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93365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前提：</a:t>
            </a:r>
            <a:endParaRPr lang="en-US" altLang="zh-CN" sz="1600" dirty="0">
              <a:solidFill>
                <a:schemeClr val="bg1">
                  <a:lumMod val="6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接收方没有缓存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降低成本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只接收有序的分组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向上提交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会丢弃失序的分组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有点可惜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5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问题：接收方肿么确认分组？</a:t>
            </a:r>
            <a:endParaRPr lang="en-US" altLang="zh-CN" sz="15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：分组丢失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数据失序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：确认丢失</a:t>
            </a:r>
            <a:r>
              <a:rPr lang="en-US" altLang="zh-CN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累积确认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：分组出错</a:t>
            </a:r>
            <a:r>
              <a:rPr lang="en-US" altLang="zh-CN" sz="1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重复确认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接收方：重复确认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发送方：可在超时之前就重传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果断处之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996290" y="1275606"/>
            <a:ext cx="2955065" cy="3483868"/>
            <a:chOff x="4996290" y="1275606"/>
            <a:chExt cx="2955065" cy="3483868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6034424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601801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6040891" y="1653034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5716446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7275650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B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5601551" y="1869090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Rectangle 29"/>
            <p:cNvSpPr>
              <a:spLocks noChangeArrowheads="1"/>
            </p:cNvSpPr>
            <p:nvPr/>
          </p:nvSpPr>
          <p:spPr bwMode="auto">
            <a:xfrm>
              <a:off x="5601551" y="2113008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Rectangle 32"/>
            <p:cNvSpPr>
              <a:spLocks noChangeArrowheads="1"/>
            </p:cNvSpPr>
            <p:nvPr/>
          </p:nvSpPr>
          <p:spPr bwMode="auto">
            <a:xfrm>
              <a:off x="5601551" y="1626685"/>
              <a:ext cx="439806" cy="2166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Rectangle 29"/>
            <p:cNvSpPr>
              <a:spLocks noChangeArrowheads="1"/>
            </p:cNvSpPr>
            <p:nvPr/>
          </p:nvSpPr>
          <p:spPr bwMode="auto">
            <a:xfrm>
              <a:off x="5601551" y="2349544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7"/>
            <p:cNvSpPr>
              <a:spLocks noChangeShapeType="1"/>
            </p:cNvSpPr>
            <p:nvPr/>
          </p:nvSpPr>
          <p:spPr bwMode="auto">
            <a:xfrm>
              <a:off x="6040892" y="1882642"/>
              <a:ext cx="1553976" cy="618899"/>
            </a:xfrm>
            <a:prstGeom prst="line">
              <a:avLst/>
            </a:prstGeom>
            <a:noFill/>
            <a:ln w="44450">
              <a:solidFill>
                <a:srgbClr val="C0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7"/>
            <p:cNvSpPr>
              <a:spLocks noChangeShapeType="1"/>
            </p:cNvSpPr>
            <p:nvPr/>
          </p:nvSpPr>
          <p:spPr bwMode="auto">
            <a:xfrm>
              <a:off x="6040891" y="2118850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7"/>
            <p:cNvSpPr>
              <a:spLocks noChangeShapeType="1"/>
            </p:cNvSpPr>
            <p:nvPr/>
          </p:nvSpPr>
          <p:spPr bwMode="auto">
            <a:xfrm>
              <a:off x="6040891" y="235605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6040891" y="299631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5601551" y="2950274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5601551" y="3194192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Rectangle 29"/>
            <p:cNvSpPr>
              <a:spLocks noChangeArrowheads="1"/>
            </p:cNvSpPr>
            <p:nvPr/>
          </p:nvSpPr>
          <p:spPr bwMode="auto">
            <a:xfrm>
              <a:off x="5601551" y="3430728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7"/>
            <p:cNvSpPr>
              <a:spLocks noChangeShapeType="1"/>
            </p:cNvSpPr>
            <p:nvPr/>
          </p:nvSpPr>
          <p:spPr bwMode="auto">
            <a:xfrm>
              <a:off x="6040891" y="3245283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7"/>
            <p:cNvSpPr>
              <a:spLocks noChangeShapeType="1"/>
            </p:cNvSpPr>
            <p:nvPr/>
          </p:nvSpPr>
          <p:spPr bwMode="auto">
            <a:xfrm>
              <a:off x="6040891" y="3481095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左大括号 6"/>
            <p:cNvSpPr/>
            <p:nvPr/>
          </p:nvSpPr>
          <p:spPr>
            <a:xfrm>
              <a:off x="5412205" y="2085783"/>
              <a:ext cx="111710" cy="1337346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Rectangle 32"/>
            <p:cNvSpPr>
              <a:spLocks noChangeArrowheads="1"/>
            </p:cNvSpPr>
            <p:nvPr/>
          </p:nvSpPr>
          <p:spPr bwMode="auto">
            <a:xfrm>
              <a:off x="4996290" y="201050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计时</a:t>
              </a:r>
              <a:endPara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Rectangle 29"/>
            <p:cNvSpPr>
              <a:spLocks noChangeArrowheads="1"/>
            </p:cNvSpPr>
            <p:nvPr/>
          </p:nvSpPr>
          <p:spPr bwMode="auto">
            <a:xfrm>
              <a:off x="5601551" y="3674473"/>
              <a:ext cx="439806" cy="2166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pkt</a:t>
              </a:r>
              <a:r>
                <a:rPr lang="en-US" altLang="zh-CN" sz="1350" baseline="-25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en-US" altLang="zh-CN" sz="1350" baseline="-25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7"/>
            <p:cNvSpPr>
              <a:spLocks noChangeShapeType="1"/>
            </p:cNvSpPr>
            <p:nvPr/>
          </p:nvSpPr>
          <p:spPr bwMode="auto">
            <a:xfrm>
              <a:off x="6040891" y="3762273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27"/>
            <p:cNvSpPr>
              <a:spLocks noChangeShapeType="1"/>
            </p:cNvSpPr>
            <p:nvPr/>
          </p:nvSpPr>
          <p:spPr bwMode="auto">
            <a:xfrm flipH="1">
              <a:off x="6076470" y="2313736"/>
              <a:ext cx="1506581" cy="40206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27"/>
            <p:cNvSpPr>
              <a:spLocks noChangeShapeType="1"/>
            </p:cNvSpPr>
            <p:nvPr/>
          </p:nvSpPr>
          <p:spPr bwMode="auto">
            <a:xfrm flipH="1">
              <a:off x="6076470" y="2519548"/>
              <a:ext cx="1506581" cy="40206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6118994" y="2508666"/>
              <a:ext cx="433797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r>
                <a:rPr lang="en-US" altLang="zh-CN" sz="1350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Rectangle 32"/>
            <p:cNvSpPr>
              <a:spLocks noChangeArrowheads="1"/>
            </p:cNvSpPr>
            <p:nvPr/>
          </p:nvSpPr>
          <p:spPr bwMode="auto">
            <a:xfrm>
              <a:off x="6118994" y="2745985"/>
              <a:ext cx="433797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ack</a:t>
              </a:r>
              <a:r>
                <a:rPr lang="en-US" altLang="zh-CN" sz="1350" baseline="-250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  <a:endParaRPr lang="en-US" altLang="zh-CN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Rectangle 32"/>
            <p:cNvSpPr>
              <a:spLocks noChangeArrowheads="1"/>
            </p:cNvSpPr>
            <p:nvPr/>
          </p:nvSpPr>
          <p:spPr bwMode="auto">
            <a:xfrm>
              <a:off x="7511549" y="288513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弃</a:t>
              </a:r>
              <a:endPara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Rectangle 32"/>
            <p:cNvSpPr>
              <a:spLocks noChangeArrowheads="1"/>
            </p:cNvSpPr>
            <p:nvPr/>
          </p:nvSpPr>
          <p:spPr bwMode="auto">
            <a:xfrm>
              <a:off x="7511549" y="263892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弃</a:t>
              </a:r>
              <a:endPara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Rectangle 32"/>
            <p:cNvSpPr>
              <a:spLocks noChangeArrowheads="1"/>
            </p:cNvSpPr>
            <p:nvPr/>
          </p:nvSpPr>
          <p:spPr bwMode="auto">
            <a:xfrm>
              <a:off x="7511549" y="2363475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错</a:t>
              </a:r>
              <a:endParaRPr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099804"/>
            <a:ext cx="571429" cy="584127"/>
          </a:xfrm>
          <a:prstGeom prst="rect">
            <a:avLst/>
          </a:prstGeom>
        </p:spPr>
      </p:pic>
      <p:sp>
        <p:nvSpPr>
          <p:cNvPr id="4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4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5999"/>
            <a:ext cx="7886700" cy="2369155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又回到发送方：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接收方没缓存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机制简单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重担落在发送方了！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引入一个新概念：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滑动窗口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(slide window)</a:t>
            </a:r>
            <a:endParaRPr lang="en-US" altLang="zh-CN" sz="14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窗口长度是固定的：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窗口可以滑动？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735796" y="3401596"/>
            <a:ext cx="3662538" cy="1042362"/>
            <a:chOff x="2735796" y="3401596"/>
            <a:chExt cx="3662538" cy="1042362"/>
          </a:xfrm>
        </p:grpSpPr>
        <p:sp>
          <p:nvSpPr>
            <p:cNvPr id="8" name="矩形 7"/>
            <p:cNvSpPr/>
            <p:nvPr/>
          </p:nvSpPr>
          <p:spPr>
            <a:xfrm>
              <a:off x="2735796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5" name="矩形 44"/>
            <p:cNvSpPr/>
            <p:nvPr/>
          </p:nvSpPr>
          <p:spPr>
            <a:xfrm>
              <a:off x="2826068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7" name="矩形 46"/>
            <p:cNvSpPr/>
            <p:nvPr/>
          </p:nvSpPr>
          <p:spPr>
            <a:xfrm>
              <a:off x="2915859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3" name="矩形 52"/>
            <p:cNvSpPr/>
            <p:nvPr/>
          </p:nvSpPr>
          <p:spPr>
            <a:xfrm>
              <a:off x="3011885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5" name="矩形 54"/>
            <p:cNvSpPr/>
            <p:nvPr/>
          </p:nvSpPr>
          <p:spPr>
            <a:xfrm>
              <a:off x="3099613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6" name="矩形 55"/>
            <p:cNvSpPr/>
            <p:nvPr/>
          </p:nvSpPr>
          <p:spPr>
            <a:xfrm>
              <a:off x="3200570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7" name="矩形 56"/>
            <p:cNvSpPr/>
            <p:nvPr/>
          </p:nvSpPr>
          <p:spPr>
            <a:xfrm>
              <a:off x="3290842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8" name="矩形 57"/>
            <p:cNvSpPr/>
            <p:nvPr/>
          </p:nvSpPr>
          <p:spPr>
            <a:xfrm>
              <a:off x="3380633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9" name="矩形 58"/>
            <p:cNvSpPr/>
            <p:nvPr/>
          </p:nvSpPr>
          <p:spPr>
            <a:xfrm>
              <a:off x="3476660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0" name="矩形 59"/>
            <p:cNvSpPr/>
            <p:nvPr/>
          </p:nvSpPr>
          <p:spPr>
            <a:xfrm>
              <a:off x="3564387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1" name="矩形 70"/>
            <p:cNvSpPr/>
            <p:nvPr/>
          </p:nvSpPr>
          <p:spPr>
            <a:xfrm>
              <a:off x="3660601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2" name="矩形 71"/>
            <p:cNvSpPr/>
            <p:nvPr/>
          </p:nvSpPr>
          <p:spPr>
            <a:xfrm>
              <a:off x="3750872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3" name="矩形 72"/>
            <p:cNvSpPr/>
            <p:nvPr/>
          </p:nvSpPr>
          <p:spPr>
            <a:xfrm>
              <a:off x="3840664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4" name="矩形 73"/>
            <p:cNvSpPr/>
            <p:nvPr/>
          </p:nvSpPr>
          <p:spPr>
            <a:xfrm>
              <a:off x="3936690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5" name="矩形 74"/>
            <p:cNvSpPr/>
            <p:nvPr/>
          </p:nvSpPr>
          <p:spPr>
            <a:xfrm>
              <a:off x="4024418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6" name="矩形 75"/>
            <p:cNvSpPr/>
            <p:nvPr/>
          </p:nvSpPr>
          <p:spPr>
            <a:xfrm>
              <a:off x="4125375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7" name="矩形 76"/>
            <p:cNvSpPr/>
            <p:nvPr/>
          </p:nvSpPr>
          <p:spPr>
            <a:xfrm>
              <a:off x="4215647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8" name="矩形 77"/>
            <p:cNvSpPr/>
            <p:nvPr/>
          </p:nvSpPr>
          <p:spPr>
            <a:xfrm>
              <a:off x="4305438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9" name="矩形 78"/>
            <p:cNvSpPr/>
            <p:nvPr/>
          </p:nvSpPr>
          <p:spPr>
            <a:xfrm>
              <a:off x="4401464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0" name="矩形 79"/>
            <p:cNvSpPr/>
            <p:nvPr/>
          </p:nvSpPr>
          <p:spPr>
            <a:xfrm>
              <a:off x="4489192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2" name="矩形 81"/>
            <p:cNvSpPr/>
            <p:nvPr/>
          </p:nvSpPr>
          <p:spPr>
            <a:xfrm>
              <a:off x="4590932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3" name="矩形 82"/>
            <p:cNvSpPr/>
            <p:nvPr/>
          </p:nvSpPr>
          <p:spPr>
            <a:xfrm>
              <a:off x="4681204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4" name="矩形 83"/>
            <p:cNvSpPr/>
            <p:nvPr/>
          </p:nvSpPr>
          <p:spPr>
            <a:xfrm>
              <a:off x="4770995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5" name="矩形 84"/>
            <p:cNvSpPr/>
            <p:nvPr/>
          </p:nvSpPr>
          <p:spPr>
            <a:xfrm>
              <a:off x="4867022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6" name="矩形 85"/>
            <p:cNvSpPr/>
            <p:nvPr/>
          </p:nvSpPr>
          <p:spPr>
            <a:xfrm>
              <a:off x="4954749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7" name="矩形 86"/>
            <p:cNvSpPr/>
            <p:nvPr/>
          </p:nvSpPr>
          <p:spPr>
            <a:xfrm>
              <a:off x="5055707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8" name="矩形 87"/>
            <p:cNvSpPr/>
            <p:nvPr/>
          </p:nvSpPr>
          <p:spPr>
            <a:xfrm>
              <a:off x="5145978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9" name="矩形 88"/>
            <p:cNvSpPr/>
            <p:nvPr/>
          </p:nvSpPr>
          <p:spPr>
            <a:xfrm>
              <a:off x="5235770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0" name="矩形 89"/>
            <p:cNvSpPr/>
            <p:nvPr/>
          </p:nvSpPr>
          <p:spPr>
            <a:xfrm>
              <a:off x="5331796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1" name="矩形 90"/>
            <p:cNvSpPr/>
            <p:nvPr/>
          </p:nvSpPr>
          <p:spPr>
            <a:xfrm>
              <a:off x="5419523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2" name="矩形 91"/>
            <p:cNvSpPr/>
            <p:nvPr/>
          </p:nvSpPr>
          <p:spPr>
            <a:xfrm>
              <a:off x="5515737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3" name="矩形 92"/>
            <p:cNvSpPr/>
            <p:nvPr/>
          </p:nvSpPr>
          <p:spPr>
            <a:xfrm>
              <a:off x="5606009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4" name="矩形 93"/>
            <p:cNvSpPr/>
            <p:nvPr/>
          </p:nvSpPr>
          <p:spPr>
            <a:xfrm>
              <a:off x="5695800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5" name="矩形 94"/>
            <p:cNvSpPr/>
            <p:nvPr/>
          </p:nvSpPr>
          <p:spPr>
            <a:xfrm>
              <a:off x="5791826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6" name="矩形 95"/>
            <p:cNvSpPr/>
            <p:nvPr/>
          </p:nvSpPr>
          <p:spPr>
            <a:xfrm>
              <a:off x="5879554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7" name="矩形 96"/>
            <p:cNvSpPr/>
            <p:nvPr/>
          </p:nvSpPr>
          <p:spPr>
            <a:xfrm>
              <a:off x="5980511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8" name="矩形 97"/>
            <p:cNvSpPr/>
            <p:nvPr/>
          </p:nvSpPr>
          <p:spPr>
            <a:xfrm>
              <a:off x="6070783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9" name="矩形 98"/>
            <p:cNvSpPr/>
            <p:nvPr/>
          </p:nvSpPr>
          <p:spPr>
            <a:xfrm>
              <a:off x="6160574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0" name="矩形 99"/>
            <p:cNvSpPr/>
            <p:nvPr/>
          </p:nvSpPr>
          <p:spPr>
            <a:xfrm>
              <a:off x="6256601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6344328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左大括号 22"/>
            <p:cNvSpPr/>
            <p:nvPr/>
          </p:nvSpPr>
          <p:spPr>
            <a:xfrm rot="16200000">
              <a:off x="4586941" y="3057750"/>
              <a:ext cx="146732" cy="1999414"/>
            </a:xfrm>
            <a:prstGeom prst="leftBrace">
              <a:avLst>
                <a:gd name="adj1" fmla="val 8333"/>
                <a:gd name="adj2" fmla="val 49175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2" name="Rectangle 32"/>
            <p:cNvSpPr>
              <a:spLocks noChangeArrowheads="1"/>
            </p:cNvSpPr>
            <p:nvPr/>
          </p:nvSpPr>
          <p:spPr bwMode="auto">
            <a:xfrm>
              <a:off x="4409429" y="4227264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latin typeface="+mj-ea"/>
                  <a:ea typeface="+mj-ea"/>
                </a:rPr>
                <a:t>窗口</a:t>
              </a:r>
              <a:endParaRPr lang="en-US" altLang="zh-CN" sz="1500" dirty="0">
                <a:latin typeface="+mj-ea"/>
                <a:ea typeface="+mj-ea"/>
              </a:endParaRPr>
            </a:p>
          </p:txBody>
        </p:sp>
      </p:grpSp>
      <p:sp>
        <p:nvSpPr>
          <p:cNvPr id="4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735796" y="3401596"/>
            <a:ext cx="3662538" cy="1042362"/>
            <a:chOff x="2735796" y="3401596"/>
            <a:chExt cx="3662538" cy="1042362"/>
          </a:xfrm>
        </p:grpSpPr>
        <p:sp>
          <p:nvSpPr>
            <p:cNvPr id="8" name="矩形 7"/>
            <p:cNvSpPr/>
            <p:nvPr/>
          </p:nvSpPr>
          <p:spPr>
            <a:xfrm>
              <a:off x="2735796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5" name="矩形 44"/>
            <p:cNvSpPr/>
            <p:nvPr/>
          </p:nvSpPr>
          <p:spPr>
            <a:xfrm>
              <a:off x="2826068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7" name="矩形 46"/>
            <p:cNvSpPr/>
            <p:nvPr/>
          </p:nvSpPr>
          <p:spPr>
            <a:xfrm>
              <a:off x="2915859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3" name="矩形 52"/>
            <p:cNvSpPr/>
            <p:nvPr/>
          </p:nvSpPr>
          <p:spPr>
            <a:xfrm>
              <a:off x="3011885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5" name="矩形 54"/>
            <p:cNvSpPr/>
            <p:nvPr/>
          </p:nvSpPr>
          <p:spPr>
            <a:xfrm>
              <a:off x="3099613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6" name="矩形 55"/>
            <p:cNvSpPr/>
            <p:nvPr/>
          </p:nvSpPr>
          <p:spPr>
            <a:xfrm>
              <a:off x="3200570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7" name="矩形 56"/>
            <p:cNvSpPr/>
            <p:nvPr/>
          </p:nvSpPr>
          <p:spPr>
            <a:xfrm>
              <a:off x="3290842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8" name="矩形 57"/>
            <p:cNvSpPr/>
            <p:nvPr/>
          </p:nvSpPr>
          <p:spPr>
            <a:xfrm>
              <a:off x="3380633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9" name="矩形 58"/>
            <p:cNvSpPr/>
            <p:nvPr/>
          </p:nvSpPr>
          <p:spPr>
            <a:xfrm>
              <a:off x="3476660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0" name="矩形 59"/>
            <p:cNvSpPr/>
            <p:nvPr/>
          </p:nvSpPr>
          <p:spPr>
            <a:xfrm>
              <a:off x="3564387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1" name="矩形 70"/>
            <p:cNvSpPr/>
            <p:nvPr/>
          </p:nvSpPr>
          <p:spPr>
            <a:xfrm>
              <a:off x="3660601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2" name="矩形 71"/>
            <p:cNvSpPr/>
            <p:nvPr/>
          </p:nvSpPr>
          <p:spPr>
            <a:xfrm>
              <a:off x="3750872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3" name="矩形 72"/>
            <p:cNvSpPr/>
            <p:nvPr/>
          </p:nvSpPr>
          <p:spPr>
            <a:xfrm>
              <a:off x="3840664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4" name="矩形 73"/>
            <p:cNvSpPr/>
            <p:nvPr/>
          </p:nvSpPr>
          <p:spPr>
            <a:xfrm>
              <a:off x="3936690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5" name="矩形 74"/>
            <p:cNvSpPr/>
            <p:nvPr/>
          </p:nvSpPr>
          <p:spPr>
            <a:xfrm>
              <a:off x="4024418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6" name="矩形 75"/>
            <p:cNvSpPr/>
            <p:nvPr/>
          </p:nvSpPr>
          <p:spPr>
            <a:xfrm>
              <a:off x="4125375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7" name="矩形 76"/>
            <p:cNvSpPr/>
            <p:nvPr/>
          </p:nvSpPr>
          <p:spPr>
            <a:xfrm>
              <a:off x="4215647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8" name="矩形 77"/>
            <p:cNvSpPr/>
            <p:nvPr/>
          </p:nvSpPr>
          <p:spPr>
            <a:xfrm>
              <a:off x="4305438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9" name="矩形 78"/>
            <p:cNvSpPr/>
            <p:nvPr/>
          </p:nvSpPr>
          <p:spPr>
            <a:xfrm>
              <a:off x="4401464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0" name="矩形 79"/>
            <p:cNvSpPr/>
            <p:nvPr/>
          </p:nvSpPr>
          <p:spPr>
            <a:xfrm>
              <a:off x="4489192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2" name="矩形 81"/>
            <p:cNvSpPr/>
            <p:nvPr/>
          </p:nvSpPr>
          <p:spPr>
            <a:xfrm>
              <a:off x="4590932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3" name="矩形 82"/>
            <p:cNvSpPr/>
            <p:nvPr/>
          </p:nvSpPr>
          <p:spPr>
            <a:xfrm>
              <a:off x="4681204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4" name="矩形 83"/>
            <p:cNvSpPr/>
            <p:nvPr/>
          </p:nvSpPr>
          <p:spPr>
            <a:xfrm>
              <a:off x="4770995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5" name="矩形 84"/>
            <p:cNvSpPr/>
            <p:nvPr/>
          </p:nvSpPr>
          <p:spPr>
            <a:xfrm>
              <a:off x="4867022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6" name="矩形 85"/>
            <p:cNvSpPr/>
            <p:nvPr/>
          </p:nvSpPr>
          <p:spPr>
            <a:xfrm>
              <a:off x="4954749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7" name="矩形 86"/>
            <p:cNvSpPr/>
            <p:nvPr/>
          </p:nvSpPr>
          <p:spPr>
            <a:xfrm>
              <a:off x="5055707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8" name="矩形 87"/>
            <p:cNvSpPr/>
            <p:nvPr/>
          </p:nvSpPr>
          <p:spPr>
            <a:xfrm>
              <a:off x="5145978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9" name="矩形 88"/>
            <p:cNvSpPr/>
            <p:nvPr/>
          </p:nvSpPr>
          <p:spPr>
            <a:xfrm>
              <a:off x="5235770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0" name="矩形 89"/>
            <p:cNvSpPr/>
            <p:nvPr/>
          </p:nvSpPr>
          <p:spPr>
            <a:xfrm>
              <a:off x="5331796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1" name="矩形 90"/>
            <p:cNvSpPr/>
            <p:nvPr/>
          </p:nvSpPr>
          <p:spPr>
            <a:xfrm>
              <a:off x="5419523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2" name="矩形 91"/>
            <p:cNvSpPr/>
            <p:nvPr/>
          </p:nvSpPr>
          <p:spPr>
            <a:xfrm>
              <a:off x="5515737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3" name="矩形 92"/>
            <p:cNvSpPr/>
            <p:nvPr/>
          </p:nvSpPr>
          <p:spPr>
            <a:xfrm>
              <a:off x="5606009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4" name="矩形 93"/>
            <p:cNvSpPr/>
            <p:nvPr/>
          </p:nvSpPr>
          <p:spPr>
            <a:xfrm>
              <a:off x="5695800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5" name="矩形 94"/>
            <p:cNvSpPr/>
            <p:nvPr/>
          </p:nvSpPr>
          <p:spPr>
            <a:xfrm>
              <a:off x="5791826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6" name="矩形 95"/>
            <p:cNvSpPr/>
            <p:nvPr/>
          </p:nvSpPr>
          <p:spPr>
            <a:xfrm>
              <a:off x="5879554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7" name="矩形 96"/>
            <p:cNvSpPr/>
            <p:nvPr/>
          </p:nvSpPr>
          <p:spPr>
            <a:xfrm>
              <a:off x="5980511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8" name="矩形 97"/>
            <p:cNvSpPr/>
            <p:nvPr/>
          </p:nvSpPr>
          <p:spPr>
            <a:xfrm>
              <a:off x="6070783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9" name="矩形 98"/>
            <p:cNvSpPr/>
            <p:nvPr/>
          </p:nvSpPr>
          <p:spPr>
            <a:xfrm>
              <a:off x="6160574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0" name="矩形 99"/>
            <p:cNvSpPr/>
            <p:nvPr/>
          </p:nvSpPr>
          <p:spPr>
            <a:xfrm>
              <a:off x="6256601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6344328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左大括号 22"/>
            <p:cNvSpPr/>
            <p:nvPr/>
          </p:nvSpPr>
          <p:spPr>
            <a:xfrm rot="16200000">
              <a:off x="4687060" y="3057750"/>
              <a:ext cx="146732" cy="1999414"/>
            </a:xfrm>
            <a:prstGeom prst="leftBrace">
              <a:avLst>
                <a:gd name="adj1" fmla="val 8333"/>
                <a:gd name="adj2" fmla="val 49175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2" name="Rectangle 32"/>
            <p:cNvSpPr>
              <a:spLocks noChangeArrowheads="1"/>
            </p:cNvSpPr>
            <p:nvPr/>
          </p:nvSpPr>
          <p:spPr bwMode="auto">
            <a:xfrm>
              <a:off x="4509547" y="4227264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latin typeface="+mj-ea"/>
                  <a:ea typeface="+mj-ea"/>
                </a:rPr>
                <a:t>窗口</a:t>
              </a:r>
              <a:endParaRPr lang="en-US" altLang="zh-CN" sz="1500" dirty="0">
                <a:latin typeface="+mj-ea"/>
                <a:ea typeface="+mj-ea"/>
              </a:endParaRPr>
            </a:p>
          </p:txBody>
        </p:sp>
      </p:grpSp>
      <p:sp>
        <p:nvSpPr>
          <p:cNvPr id="46" name="内容占位符 2"/>
          <p:cNvSpPr txBox="1"/>
          <p:nvPr/>
        </p:nvSpPr>
        <p:spPr>
          <a:xfrm>
            <a:off x="468000" y="936000"/>
            <a:ext cx="7886700" cy="206779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又回到发送方：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接收方没缓存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机制简单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重担落在发送方了！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引入一个新概念：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(slide window)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窗口长度是固定的：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窗口可以滑动？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735796" y="3401596"/>
            <a:ext cx="3662538" cy="1042362"/>
            <a:chOff x="2735796" y="3401596"/>
            <a:chExt cx="3662538" cy="1042362"/>
          </a:xfrm>
        </p:grpSpPr>
        <p:sp>
          <p:nvSpPr>
            <p:cNvPr id="8" name="矩形 7"/>
            <p:cNvSpPr/>
            <p:nvPr/>
          </p:nvSpPr>
          <p:spPr>
            <a:xfrm>
              <a:off x="2735796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5" name="矩形 44"/>
            <p:cNvSpPr/>
            <p:nvPr/>
          </p:nvSpPr>
          <p:spPr>
            <a:xfrm>
              <a:off x="2826068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7" name="矩形 46"/>
            <p:cNvSpPr/>
            <p:nvPr/>
          </p:nvSpPr>
          <p:spPr>
            <a:xfrm>
              <a:off x="2915859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3" name="矩形 52"/>
            <p:cNvSpPr/>
            <p:nvPr/>
          </p:nvSpPr>
          <p:spPr>
            <a:xfrm>
              <a:off x="3011885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5" name="矩形 54"/>
            <p:cNvSpPr/>
            <p:nvPr/>
          </p:nvSpPr>
          <p:spPr>
            <a:xfrm>
              <a:off x="3099613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6" name="矩形 55"/>
            <p:cNvSpPr/>
            <p:nvPr/>
          </p:nvSpPr>
          <p:spPr>
            <a:xfrm>
              <a:off x="3200570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7" name="矩形 56"/>
            <p:cNvSpPr/>
            <p:nvPr/>
          </p:nvSpPr>
          <p:spPr>
            <a:xfrm>
              <a:off x="3290842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8" name="矩形 57"/>
            <p:cNvSpPr/>
            <p:nvPr/>
          </p:nvSpPr>
          <p:spPr>
            <a:xfrm>
              <a:off x="3380633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9" name="矩形 58"/>
            <p:cNvSpPr/>
            <p:nvPr/>
          </p:nvSpPr>
          <p:spPr>
            <a:xfrm>
              <a:off x="3476660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0" name="矩形 59"/>
            <p:cNvSpPr/>
            <p:nvPr/>
          </p:nvSpPr>
          <p:spPr>
            <a:xfrm>
              <a:off x="3564387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1" name="矩形 70"/>
            <p:cNvSpPr/>
            <p:nvPr/>
          </p:nvSpPr>
          <p:spPr>
            <a:xfrm>
              <a:off x="3660601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2" name="矩形 71"/>
            <p:cNvSpPr/>
            <p:nvPr/>
          </p:nvSpPr>
          <p:spPr>
            <a:xfrm>
              <a:off x="3750872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3" name="矩形 72"/>
            <p:cNvSpPr/>
            <p:nvPr/>
          </p:nvSpPr>
          <p:spPr>
            <a:xfrm>
              <a:off x="3840664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4" name="矩形 73"/>
            <p:cNvSpPr/>
            <p:nvPr/>
          </p:nvSpPr>
          <p:spPr>
            <a:xfrm>
              <a:off x="3936690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5" name="矩形 74"/>
            <p:cNvSpPr/>
            <p:nvPr/>
          </p:nvSpPr>
          <p:spPr>
            <a:xfrm>
              <a:off x="4024418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6" name="矩形 75"/>
            <p:cNvSpPr/>
            <p:nvPr/>
          </p:nvSpPr>
          <p:spPr>
            <a:xfrm>
              <a:off x="4125375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7" name="矩形 76"/>
            <p:cNvSpPr/>
            <p:nvPr/>
          </p:nvSpPr>
          <p:spPr>
            <a:xfrm>
              <a:off x="4215647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8" name="矩形 77"/>
            <p:cNvSpPr/>
            <p:nvPr/>
          </p:nvSpPr>
          <p:spPr>
            <a:xfrm>
              <a:off x="4305438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79" name="矩形 78"/>
            <p:cNvSpPr/>
            <p:nvPr/>
          </p:nvSpPr>
          <p:spPr>
            <a:xfrm>
              <a:off x="4401464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0" name="矩形 79"/>
            <p:cNvSpPr/>
            <p:nvPr/>
          </p:nvSpPr>
          <p:spPr>
            <a:xfrm>
              <a:off x="4489192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2" name="矩形 81"/>
            <p:cNvSpPr/>
            <p:nvPr/>
          </p:nvSpPr>
          <p:spPr>
            <a:xfrm>
              <a:off x="4590932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3" name="矩形 82"/>
            <p:cNvSpPr/>
            <p:nvPr/>
          </p:nvSpPr>
          <p:spPr>
            <a:xfrm>
              <a:off x="4681204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4" name="矩形 83"/>
            <p:cNvSpPr/>
            <p:nvPr/>
          </p:nvSpPr>
          <p:spPr>
            <a:xfrm>
              <a:off x="4770995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5" name="矩形 84"/>
            <p:cNvSpPr/>
            <p:nvPr/>
          </p:nvSpPr>
          <p:spPr>
            <a:xfrm>
              <a:off x="4867022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6" name="矩形 85"/>
            <p:cNvSpPr/>
            <p:nvPr/>
          </p:nvSpPr>
          <p:spPr>
            <a:xfrm>
              <a:off x="4954749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7" name="矩形 86"/>
            <p:cNvSpPr/>
            <p:nvPr/>
          </p:nvSpPr>
          <p:spPr>
            <a:xfrm>
              <a:off x="5055707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8" name="矩形 87"/>
            <p:cNvSpPr/>
            <p:nvPr/>
          </p:nvSpPr>
          <p:spPr>
            <a:xfrm>
              <a:off x="5145978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9" name="矩形 88"/>
            <p:cNvSpPr/>
            <p:nvPr/>
          </p:nvSpPr>
          <p:spPr>
            <a:xfrm>
              <a:off x="5235770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0" name="矩形 89"/>
            <p:cNvSpPr/>
            <p:nvPr/>
          </p:nvSpPr>
          <p:spPr>
            <a:xfrm>
              <a:off x="5331796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1" name="矩形 90"/>
            <p:cNvSpPr/>
            <p:nvPr/>
          </p:nvSpPr>
          <p:spPr>
            <a:xfrm>
              <a:off x="5419523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2" name="矩形 91"/>
            <p:cNvSpPr/>
            <p:nvPr/>
          </p:nvSpPr>
          <p:spPr>
            <a:xfrm>
              <a:off x="5515737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3" name="矩形 92"/>
            <p:cNvSpPr/>
            <p:nvPr/>
          </p:nvSpPr>
          <p:spPr>
            <a:xfrm>
              <a:off x="5606009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4" name="矩形 93"/>
            <p:cNvSpPr/>
            <p:nvPr/>
          </p:nvSpPr>
          <p:spPr>
            <a:xfrm>
              <a:off x="5695800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5" name="矩形 94"/>
            <p:cNvSpPr/>
            <p:nvPr/>
          </p:nvSpPr>
          <p:spPr>
            <a:xfrm>
              <a:off x="5791826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6" name="矩形 95"/>
            <p:cNvSpPr/>
            <p:nvPr/>
          </p:nvSpPr>
          <p:spPr>
            <a:xfrm>
              <a:off x="5879554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7" name="矩形 96"/>
            <p:cNvSpPr/>
            <p:nvPr/>
          </p:nvSpPr>
          <p:spPr>
            <a:xfrm>
              <a:off x="5980511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8" name="矩形 97"/>
            <p:cNvSpPr/>
            <p:nvPr/>
          </p:nvSpPr>
          <p:spPr>
            <a:xfrm>
              <a:off x="6070783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9" name="矩形 98"/>
            <p:cNvSpPr/>
            <p:nvPr/>
          </p:nvSpPr>
          <p:spPr>
            <a:xfrm>
              <a:off x="6160574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0" name="矩形 99"/>
            <p:cNvSpPr/>
            <p:nvPr/>
          </p:nvSpPr>
          <p:spPr>
            <a:xfrm>
              <a:off x="6256601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1" name="矩形 100"/>
            <p:cNvSpPr/>
            <p:nvPr/>
          </p:nvSpPr>
          <p:spPr>
            <a:xfrm>
              <a:off x="6344328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左大括号 22"/>
            <p:cNvSpPr/>
            <p:nvPr/>
          </p:nvSpPr>
          <p:spPr>
            <a:xfrm rot="16200000">
              <a:off x="4954153" y="3057750"/>
              <a:ext cx="146732" cy="1999414"/>
            </a:xfrm>
            <a:prstGeom prst="leftBrace">
              <a:avLst>
                <a:gd name="adj1" fmla="val 8333"/>
                <a:gd name="adj2" fmla="val 49175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2" name="Rectangle 32"/>
            <p:cNvSpPr>
              <a:spLocks noChangeArrowheads="1"/>
            </p:cNvSpPr>
            <p:nvPr/>
          </p:nvSpPr>
          <p:spPr bwMode="auto">
            <a:xfrm>
              <a:off x="4776641" y="4227264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latin typeface="+mj-ea"/>
                  <a:ea typeface="+mj-ea"/>
                </a:rPr>
                <a:t>窗口</a:t>
              </a:r>
              <a:endParaRPr lang="en-US" altLang="zh-CN" sz="1500" dirty="0">
                <a:latin typeface="+mj-ea"/>
                <a:ea typeface="+mj-ea"/>
              </a:endParaRPr>
            </a:p>
          </p:txBody>
        </p:sp>
      </p:grpSp>
      <p:sp>
        <p:nvSpPr>
          <p:cNvPr id="46" name="内容占位符 2"/>
          <p:cNvSpPr txBox="1"/>
          <p:nvPr/>
        </p:nvSpPr>
        <p:spPr>
          <a:xfrm>
            <a:off x="468000" y="936000"/>
            <a:ext cx="7886700" cy="206779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又回到发送方：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接收方没缓存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机制简单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重担落在发送方了！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引入一个新概念：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(slide window)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窗口长度是固定的：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窗口可以滑动？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735796" y="3401596"/>
            <a:ext cx="3662538" cy="1042362"/>
            <a:chOff x="2735796" y="3401596"/>
            <a:chExt cx="3662538" cy="1042362"/>
          </a:xfrm>
        </p:grpSpPr>
        <p:sp>
          <p:nvSpPr>
            <p:cNvPr id="8" name="矩形 7"/>
            <p:cNvSpPr/>
            <p:nvPr/>
          </p:nvSpPr>
          <p:spPr>
            <a:xfrm>
              <a:off x="2735796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2826068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2915859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3011885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3099613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3200570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3290842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3380633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3476660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3564387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3660601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3750872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3840664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3936690" y="34015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4024418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4125375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4215647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4305438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4401464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4489192" y="34015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4590932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4681204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4770995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4867022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4954749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5055707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5145978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5235770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5331796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90"/>
            <p:cNvSpPr/>
            <p:nvPr/>
          </p:nvSpPr>
          <p:spPr>
            <a:xfrm>
              <a:off x="5419523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5515737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5606009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5695800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5791826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5879554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5980511" y="34015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6070783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6160574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6256601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6344328" y="34015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左大括号 22"/>
            <p:cNvSpPr/>
            <p:nvPr/>
          </p:nvSpPr>
          <p:spPr>
            <a:xfrm rot="16200000">
              <a:off x="4954153" y="3057750"/>
              <a:ext cx="146732" cy="1999414"/>
            </a:xfrm>
            <a:prstGeom prst="leftBrace">
              <a:avLst>
                <a:gd name="adj1" fmla="val 8333"/>
                <a:gd name="adj2" fmla="val 49175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Rectangle 32"/>
            <p:cNvSpPr>
              <a:spLocks noChangeArrowheads="1"/>
            </p:cNvSpPr>
            <p:nvPr/>
          </p:nvSpPr>
          <p:spPr bwMode="auto">
            <a:xfrm>
              <a:off x="4776641" y="4227264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窗口</a:t>
              </a:r>
              <a:endParaRPr lang="en-US" altLang="zh-CN" sz="1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0" name="Rectangle 32"/>
          <p:cNvSpPr>
            <a:spLocks noChangeArrowheads="1"/>
          </p:cNvSpPr>
          <p:nvPr/>
        </p:nvSpPr>
        <p:spPr bwMode="auto">
          <a:xfrm>
            <a:off x="2879110" y="2858672"/>
            <a:ext cx="978811" cy="2166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05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已经确认的分组</a:t>
            </a:r>
            <a:endParaRPr lang="en-US" altLang="zh-CN" sz="105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左大括号 53"/>
          <p:cNvSpPr/>
          <p:nvPr/>
        </p:nvSpPr>
        <p:spPr>
          <a:xfrm rot="5400000">
            <a:off x="3273878" y="2596242"/>
            <a:ext cx="162685" cy="1270950"/>
          </a:xfrm>
          <a:prstGeom prst="leftBrace">
            <a:avLst>
              <a:gd name="adj1" fmla="val 8333"/>
              <a:gd name="adj2" fmla="val 49175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左大括号 60"/>
          <p:cNvSpPr/>
          <p:nvPr/>
        </p:nvSpPr>
        <p:spPr>
          <a:xfrm rot="5400000">
            <a:off x="4194988" y="2964852"/>
            <a:ext cx="162686" cy="533734"/>
          </a:xfrm>
          <a:prstGeom prst="leftBrace">
            <a:avLst>
              <a:gd name="adj1" fmla="val 8333"/>
              <a:gd name="adj2" fmla="val 49175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左大括号 61"/>
          <p:cNvSpPr/>
          <p:nvPr/>
        </p:nvSpPr>
        <p:spPr>
          <a:xfrm rot="5400000">
            <a:off x="5216850" y="2502687"/>
            <a:ext cx="162687" cy="1458063"/>
          </a:xfrm>
          <a:prstGeom prst="leftBrace">
            <a:avLst>
              <a:gd name="adj1" fmla="val 8333"/>
              <a:gd name="adj2" fmla="val 49175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左大括号 62"/>
          <p:cNvSpPr/>
          <p:nvPr/>
        </p:nvSpPr>
        <p:spPr>
          <a:xfrm rot="5400000">
            <a:off x="6144417" y="3059146"/>
            <a:ext cx="162688" cy="345146"/>
          </a:xfrm>
          <a:prstGeom prst="leftBrace">
            <a:avLst>
              <a:gd name="adj1" fmla="val 8333"/>
              <a:gd name="adj2" fmla="val 49175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Rectangle 32"/>
          <p:cNvSpPr>
            <a:spLocks noChangeArrowheads="1"/>
          </p:cNvSpPr>
          <p:nvPr/>
        </p:nvSpPr>
        <p:spPr bwMode="auto">
          <a:xfrm>
            <a:off x="3905759" y="2858672"/>
            <a:ext cx="685174" cy="2166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05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待确认分组</a:t>
            </a:r>
            <a:endParaRPr lang="en-US" altLang="zh-CN" sz="105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ectangle 32"/>
          <p:cNvSpPr>
            <a:spLocks noChangeArrowheads="1"/>
          </p:cNvSpPr>
          <p:nvPr/>
        </p:nvSpPr>
        <p:spPr bwMode="auto">
          <a:xfrm>
            <a:off x="4921028" y="2858672"/>
            <a:ext cx="753355" cy="2166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05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待发送的分组</a:t>
            </a:r>
            <a:endParaRPr lang="en-US" altLang="zh-CN" sz="105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Rectangle 32"/>
          <p:cNvSpPr>
            <a:spLocks noChangeArrowheads="1"/>
          </p:cNvSpPr>
          <p:nvPr/>
        </p:nvSpPr>
        <p:spPr bwMode="auto">
          <a:xfrm>
            <a:off x="5871993" y="2858672"/>
            <a:ext cx="685174" cy="2166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sz="105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不能发送的分组</a:t>
            </a:r>
            <a:endParaRPr lang="en-US" altLang="zh-CN" sz="105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内容占位符 2"/>
          <p:cNvSpPr txBox="1"/>
          <p:nvPr/>
        </p:nvSpPr>
        <p:spPr>
          <a:xfrm>
            <a:off x="468000" y="936000"/>
            <a:ext cx="7886700" cy="192267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又回到发送方：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接收方没缓存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机制简单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重担落在发送方了！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引入一个新概念：滑动窗口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(slide window)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窗口长度是固定的：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窗口可以滑动？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4" grpId="0" animBg="1"/>
      <p:bldP spid="61" grpId="0" animBg="1"/>
      <p:bldP spid="62" grpId="0" animBg="1"/>
      <p:bldP spid="63" grpId="0" animBg="1"/>
      <p:bldP spid="64" grpId="0"/>
      <p:bldP spid="65" grpId="0"/>
      <p:bldP spid="66" grpId="0"/>
      <p:bldP spid="69" grpId="0" animBg="1"/>
      <p:bldP spid="69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735796" y="2866772"/>
            <a:ext cx="3662538" cy="1937226"/>
            <a:chOff x="2735796" y="2866772"/>
            <a:chExt cx="3662538" cy="1937226"/>
          </a:xfrm>
        </p:grpSpPr>
        <p:sp>
          <p:nvSpPr>
            <p:cNvPr id="8" name="矩形 7"/>
            <p:cNvSpPr/>
            <p:nvPr/>
          </p:nvSpPr>
          <p:spPr>
            <a:xfrm>
              <a:off x="2735796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2826068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2915859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3011885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3099613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3200570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3290842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3380633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3476660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3564387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3660601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3750872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3840664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3936690" y="3409696"/>
              <a:ext cx="54006" cy="486054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4024418" y="3409696"/>
              <a:ext cx="54006" cy="48605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4125375" y="34096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4215647" y="34096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4305438" y="34096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4401464" y="34096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4489192" y="3409696"/>
              <a:ext cx="54006" cy="486054"/>
            </a:xfrm>
            <a:prstGeom prst="rect">
              <a:avLst/>
            </a:prstGeom>
            <a:solidFill>
              <a:srgbClr val="FFFF00"/>
            </a:solidFill>
            <a:ln w="31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矩形 81"/>
            <p:cNvSpPr/>
            <p:nvPr/>
          </p:nvSpPr>
          <p:spPr>
            <a:xfrm>
              <a:off x="4590932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4681204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矩形 83"/>
            <p:cNvSpPr/>
            <p:nvPr/>
          </p:nvSpPr>
          <p:spPr>
            <a:xfrm>
              <a:off x="4770995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4867022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矩形 85"/>
            <p:cNvSpPr/>
            <p:nvPr/>
          </p:nvSpPr>
          <p:spPr>
            <a:xfrm>
              <a:off x="4954749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矩形 86"/>
            <p:cNvSpPr/>
            <p:nvPr/>
          </p:nvSpPr>
          <p:spPr>
            <a:xfrm>
              <a:off x="5055707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>
              <a:off x="5145978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5235770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5331796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90"/>
            <p:cNvSpPr/>
            <p:nvPr/>
          </p:nvSpPr>
          <p:spPr>
            <a:xfrm>
              <a:off x="5419523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2" name="矩形 91"/>
            <p:cNvSpPr/>
            <p:nvPr/>
          </p:nvSpPr>
          <p:spPr>
            <a:xfrm>
              <a:off x="5515737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5606009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5695800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5791826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矩形 95"/>
            <p:cNvSpPr/>
            <p:nvPr/>
          </p:nvSpPr>
          <p:spPr>
            <a:xfrm>
              <a:off x="5879554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矩形 96"/>
            <p:cNvSpPr/>
            <p:nvPr/>
          </p:nvSpPr>
          <p:spPr>
            <a:xfrm>
              <a:off x="5980511" y="3409696"/>
              <a:ext cx="54006" cy="486054"/>
            </a:xfrm>
            <a:prstGeom prst="rect">
              <a:avLst/>
            </a:prstGeom>
            <a:solidFill>
              <a:srgbClr val="0066CC"/>
            </a:solidFill>
            <a:ln w="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97"/>
            <p:cNvSpPr/>
            <p:nvPr/>
          </p:nvSpPr>
          <p:spPr>
            <a:xfrm>
              <a:off x="6070783" y="34096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矩形 98"/>
            <p:cNvSpPr/>
            <p:nvPr/>
          </p:nvSpPr>
          <p:spPr>
            <a:xfrm>
              <a:off x="6160574" y="34096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矩形 99"/>
            <p:cNvSpPr/>
            <p:nvPr/>
          </p:nvSpPr>
          <p:spPr>
            <a:xfrm>
              <a:off x="6256601" y="34096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矩形 100"/>
            <p:cNvSpPr/>
            <p:nvPr/>
          </p:nvSpPr>
          <p:spPr>
            <a:xfrm>
              <a:off x="6344328" y="3409696"/>
              <a:ext cx="54006" cy="486054"/>
            </a:xfrm>
            <a:prstGeom prst="rect">
              <a:avLst/>
            </a:prstGeom>
            <a:solidFill>
              <a:schemeClr val="bg1">
                <a:alpha val="9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左大括号 22"/>
            <p:cNvSpPr/>
            <p:nvPr/>
          </p:nvSpPr>
          <p:spPr>
            <a:xfrm rot="16200000">
              <a:off x="4954153" y="3065850"/>
              <a:ext cx="146732" cy="1999414"/>
            </a:xfrm>
            <a:prstGeom prst="leftBrace">
              <a:avLst>
                <a:gd name="adj1" fmla="val 8333"/>
                <a:gd name="adj2" fmla="val 49175"/>
              </a:avLst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Rectangle 32"/>
            <p:cNvSpPr>
              <a:spLocks noChangeArrowheads="1"/>
            </p:cNvSpPr>
            <p:nvPr/>
          </p:nvSpPr>
          <p:spPr bwMode="auto">
            <a:xfrm>
              <a:off x="4776641" y="4235364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窗口</a:t>
              </a:r>
              <a:endPara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Rectangle 32"/>
            <p:cNvSpPr>
              <a:spLocks noChangeArrowheads="1"/>
            </p:cNvSpPr>
            <p:nvPr/>
          </p:nvSpPr>
          <p:spPr bwMode="auto">
            <a:xfrm>
              <a:off x="3905759" y="2866772"/>
              <a:ext cx="685174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05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send_base</a:t>
              </a:r>
              <a:endParaRPr lang="en-US" altLang="zh-CN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0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基序号</a:t>
              </a:r>
              <a:endParaRPr lang="en-US" altLang="zh-CN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Rectangle 32"/>
            <p:cNvSpPr>
              <a:spLocks noChangeArrowheads="1"/>
            </p:cNvSpPr>
            <p:nvPr/>
          </p:nvSpPr>
          <p:spPr bwMode="auto">
            <a:xfrm>
              <a:off x="4989209" y="2866772"/>
              <a:ext cx="685174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0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nextseqnum</a:t>
              </a:r>
              <a:endParaRPr lang="en-US" altLang="zh-CN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0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下一个要发送的序号</a:t>
              </a:r>
              <a:endParaRPr lang="en-US" altLang="zh-CN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 flipH="1">
              <a:off x="4049356" y="3083465"/>
              <a:ext cx="100958" cy="326231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>
            <a:xfrm flipH="1">
              <a:off x="4635214" y="3083465"/>
              <a:ext cx="445874" cy="326231"/>
            </a:xfrm>
            <a:prstGeom prst="straightConnector1">
              <a:avLst/>
            </a:prstGeom>
            <a:ln w="158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/>
            <p:nvPr/>
          </p:nvCxnSpPr>
          <p:spPr>
            <a:xfrm flipH="1">
              <a:off x="4078424" y="4560069"/>
              <a:ext cx="1917774" cy="0"/>
            </a:xfrm>
            <a:prstGeom prst="straightConnector1">
              <a:avLst/>
            </a:prstGeom>
            <a:ln w="1587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32"/>
            <p:cNvSpPr>
              <a:spLocks noChangeArrowheads="1"/>
            </p:cNvSpPr>
            <p:nvPr/>
          </p:nvSpPr>
          <p:spPr bwMode="auto">
            <a:xfrm>
              <a:off x="4673625" y="4587304"/>
              <a:ext cx="685174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0" name="Rectangle 32"/>
          <p:cNvSpPr>
            <a:spLocks noChangeArrowheads="1"/>
          </p:cNvSpPr>
          <p:nvPr/>
        </p:nvSpPr>
        <p:spPr bwMode="auto">
          <a:xfrm>
            <a:off x="7020272" y="4255328"/>
            <a:ext cx="945554" cy="2166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" action="ppaction://hlinkfile"/>
              </a:rPr>
              <a:t>动画演示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内容占位符 2"/>
          <p:cNvSpPr txBox="1"/>
          <p:nvPr/>
        </p:nvSpPr>
        <p:spPr>
          <a:xfrm>
            <a:off x="468000" y="936000"/>
            <a:ext cx="7886700" cy="1903538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又回到发送方：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接收方没缓存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机制简单，重担落在发送方了！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引入一个新概念：滑动窗口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(slide window)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窗口长度是固定的：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窗口可以滑动？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62" grpId="0" animBg="1"/>
      <p:bldP spid="6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2743191" cy="864989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r>
              <a:rPr lang="en-US" altLang="zh-CN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FSM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69331" y="843558"/>
            <a:ext cx="6863109" cy="4212432"/>
            <a:chOff x="1669331" y="843558"/>
            <a:chExt cx="6863109" cy="4212432"/>
          </a:xfrm>
        </p:grpSpPr>
        <p:grpSp>
          <p:nvGrpSpPr>
            <p:cNvPr id="61" name="Group 3"/>
            <p:cNvGrpSpPr/>
            <p:nvPr/>
          </p:nvGrpSpPr>
          <p:grpSpPr bwMode="auto">
            <a:xfrm>
              <a:off x="4341094" y="2903340"/>
              <a:ext cx="600075" cy="492919"/>
              <a:chOff x="1939" y="2515"/>
              <a:chExt cx="504" cy="414"/>
            </a:xfrm>
          </p:grpSpPr>
          <p:sp>
            <p:nvSpPr>
              <p:cNvPr id="62" name="Oval 4"/>
              <p:cNvSpPr>
                <a:spLocks noChangeArrowheads="1"/>
              </p:cNvSpPr>
              <p:nvPr/>
            </p:nvSpPr>
            <p:spPr bwMode="auto">
              <a:xfrm>
                <a:off x="2004" y="2515"/>
                <a:ext cx="420" cy="414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1350"/>
              </a:p>
            </p:txBody>
          </p:sp>
          <p:sp>
            <p:nvSpPr>
              <p:cNvPr id="63" name="Text Box 5"/>
              <p:cNvSpPr txBox="1">
                <a:spLocks noChangeArrowheads="1"/>
              </p:cNvSpPr>
              <p:nvPr/>
            </p:nvSpPr>
            <p:spPr bwMode="auto">
              <a:xfrm>
                <a:off x="1939" y="2611"/>
                <a:ext cx="504" cy="1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200"/>
                  <a:t>Wait</a:t>
                </a:r>
                <a:endParaRPr lang="en-US" altLang="zh-CN" sz="12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6" name="Line 6"/>
            <p:cNvSpPr>
              <a:spLocks noChangeShapeType="1"/>
            </p:cNvSpPr>
            <p:nvPr/>
          </p:nvSpPr>
          <p:spPr bwMode="auto">
            <a:xfrm>
              <a:off x="3211191" y="2218731"/>
              <a:ext cx="1218010" cy="80248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sysDot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0" name="Text Box 7"/>
            <p:cNvSpPr txBox="1">
              <a:spLocks noChangeArrowheads="1"/>
            </p:cNvSpPr>
            <p:nvPr/>
          </p:nvSpPr>
          <p:spPr bwMode="auto">
            <a:xfrm>
              <a:off x="5253113" y="2953346"/>
              <a:ext cx="2094309" cy="857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 err="1"/>
                <a:t>start_timer</a:t>
              </a:r>
              <a:endParaRPr lang="en-US" altLang="zh-CN" sz="1050" dirty="0"/>
            </a:p>
            <a:p>
              <a:r>
                <a:rPr lang="en-US" altLang="zh-CN" sz="1050" dirty="0" err="1"/>
                <a:t>udt_send</a:t>
              </a:r>
              <a:r>
                <a:rPr lang="en-US" altLang="zh-CN" sz="1050" dirty="0"/>
                <a:t>(</a:t>
              </a:r>
              <a:r>
                <a:rPr lang="en-US" altLang="zh-CN" sz="1050" dirty="0" err="1"/>
                <a:t>sndpkt</a:t>
              </a:r>
              <a:r>
                <a:rPr lang="en-US" altLang="zh-CN" sz="1050" dirty="0"/>
                <a:t>[base])</a:t>
              </a:r>
              <a:endParaRPr lang="en-US" altLang="zh-CN" sz="1050" dirty="0"/>
            </a:p>
            <a:p>
              <a:r>
                <a:rPr lang="en-US" altLang="zh-CN" sz="1050" dirty="0" err="1"/>
                <a:t>udt_send</a:t>
              </a:r>
              <a:r>
                <a:rPr lang="en-US" altLang="zh-CN" sz="1050" dirty="0"/>
                <a:t>(</a:t>
              </a:r>
              <a:r>
                <a:rPr lang="en-US" altLang="zh-CN" sz="1050" dirty="0" err="1"/>
                <a:t>sndpkt</a:t>
              </a:r>
              <a:r>
                <a:rPr lang="en-US" altLang="zh-CN" sz="1050" dirty="0"/>
                <a:t>[base+1])</a:t>
              </a:r>
              <a:endParaRPr lang="en-US" altLang="zh-CN" sz="1050" dirty="0"/>
            </a:p>
            <a:p>
              <a:r>
                <a:rPr lang="en-US" altLang="zh-CN" sz="1050" dirty="0"/>
                <a:t>…</a:t>
              </a:r>
              <a:endParaRPr lang="en-US" altLang="zh-CN" sz="1050" dirty="0"/>
            </a:p>
            <a:p>
              <a:r>
                <a:rPr lang="en-US" altLang="zh-CN" sz="1050" dirty="0" err="1"/>
                <a:t>udt_send</a:t>
              </a:r>
              <a:r>
                <a:rPr lang="en-US" altLang="zh-CN" sz="1050" dirty="0"/>
                <a:t>(</a:t>
              </a:r>
              <a:r>
                <a:rPr lang="en-US" altLang="zh-CN" sz="1050" dirty="0" err="1"/>
                <a:t>sndpkt</a:t>
              </a:r>
              <a:r>
                <a:rPr lang="en-US" altLang="zh-CN" sz="1050" dirty="0"/>
                <a:t>[nextseqnum-1])</a:t>
              </a:r>
              <a:endParaRPr lang="en-US" altLang="zh-CN" sz="1050" dirty="0"/>
            </a:p>
            <a:p>
              <a:pPr algn="ctr"/>
              <a:endParaRPr lang="en-US" altLang="zh-CN" sz="1050" dirty="0">
                <a:latin typeface="Times New Roman" panose="02020603050405020304" pitchFamily="18" charset="0"/>
              </a:endParaRPr>
            </a:p>
          </p:txBody>
        </p:sp>
        <p:sp>
          <p:nvSpPr>
            <p:cNvPr id="103" name="Text Box 8"/>
            <p:cNvSpPr txBox="1">
              <a:spLocks noChangeArrowheads="1"/>
            </p:cNvSpPr>
            <p:nvPr/>
          </p:nvSpPr>
          <p:spPr bwMode="auto">
            <a:xfrm>
              <a:off x="5269782" y="2777133"/>
              <a:ext cx="825103" cy="2059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/>
                <a:t>timeout</a:t>
              </a:r>
              <a:endParaRPr lang="en-US" altLang="zh-CN" sz="1050">
                <a:latin typeface="Times New Roman" panose="02020603050405020304" pitchFamily="18" charset="0"/>
              </a:endParaRPr>
            </a:p>
            <a:p>
              <a:pPr algn="ctr"/>
              <a:endParaRPr lang="en-US" altLang="zh-CN" sz="1050">
                <a:latin typeface="Times New Roman" panose="02020603050405020304" pitchFamily="18" charset="0"/>
              </a:endParaRPr>
            </a:p>
          </p:txBody>
        </p:sp>
        <p:sp>
          <p:nvSpPr>
            <p:cNvPr id="104" name="Line 9"/>
            <p:cNvSpPr>
              <a:spLocks noChangeShapeType="1"/>
            </p:cNvSpPr>
            <p:nvPr/>
          </p:nvSpPr>
          <p:spPr bwMode="auto">
            <a:xfrm>
              <a:off x="5332884" y="2984302"/>
              <a:ext cx="12144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5" name="Freeform 10"/>
            <p:cNvSpPr/>
            <p:nvPr/>
          </p:nvSpPr>
          <p:spPr bwMode="auto">
            <a:xfrm>
              <a:off x="4960219" y="2719983"/>
              <a:ext cx="295275" cy="864394"/>
            </a:xfrm>
            <a:custGeom>
              <a:avLst/>
              <a:gdLst>
                <a:gd name="T0" fmla="*/ 24805 w 619"/>
                <a:gd name="T1" fmla="*/ 721360 h 1815"/>
                <a:gd name="T2" fmla="*/ 0 w 619"/>
                <a:gd name="T3" fmla="*/ 490855 h 18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9" h="1815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6" name="Text Box 11"/>
            <p:cNvSpPr txBox="1">
              <a:spLocks noChangeArrowheads="1"/>
            </p:cNvSpPr>
            <p:nvPr/>
          </p:nvSpPr>
          <p:spPr bwMode="auto">
            <a:xfrm>
              <a:off x="4085109" y="898327"/>
              <a:ext cx="1750219" cy="192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 err="1"/>
                <a:t>rdt_send</a:t>
              </a:r>
              <a:r>
                <a:rPr lang="en-US" altLang="zh-CN" sz="1050" dirty="0"/>
                <a:t>(data)</a:t>
              </a:r>
              <a:r>
                <a:rPr lang="en-US" altLang="zh-CN" sz="750" dirty="0"/>
                <a:t> 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07" name="Line 12"/>
            <p:cNvSpPr>
              <a:spLocks noChangeShapeType="1"/>
            </p:cNvSpPr>
            <p:nvPr/>
          </p:nvSpPr>
          <p:spPr bwMode="auto">
            <a:xfrm>
              <a:off x="4166072" y="1137643"/>
              <a:ext cx="143589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8" name="Text Box 13"/>
            <p:cNvSpPr txBox="1">
              <a:spLocks noChangeArrowheads="1"/>
            </p:cNvSpPr>
            <p:nvPr/>
          </p:nvSpPr>
          <p:spPr bwMode="auto">
            <a:xfrm>
              <a:off x="4085109" y="1154311"/>
              <a:ext cx="4447331" cy="1548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/>
                <a:t>if (</a:t>
              </a:r>
              <a:r>
                <a:rPr lang="en-US" altLang="zh-CN" sz="1050" dirty="0">
                  <a:solidFill>
                    <a:srgbClr val="0000FF"/>
                  </a:solidFill>
                </a:rPr>
                <a:t>nextseqnum &lt; </a:t>
              </a:r>
              <a:r>
                <a:rPr lang="en-US" altLang="zh-CN" sz="1050" dirty="0" err="1">
                  <a:solidFill>
                    <a:srgbClr val="0000FF"/>
                  </a:solidFill>
                </a:rPr>
                <a:t>base+N</a:t>
              </a:r>
              <a:r>
                <a:rPr lang="en-US" altLang="zh-CN" sz="1050" dirty="0"/>
                <a:t>) {</a:t>
              </a:r>
              <a:endParaRPr lang="en-US" altLang="zh-CN" sz="1050" dirty="0"/>
            </a:p>
            <a:p>
              <a:r>
                <a:rPr lang="en-US" altLang="zh-CN" sz="1050" dirty="0"/>
                <a:t>    </a:t>
              </a:r>
              <a:r>
                <a:rPr lang="en-US" altLang="zh-CN" sz="1050" dirty="0" err="1"/>
                <a:t>sndpkt</a:t>
              </a:r>
              <a:r>
                <a:rPr lang="en-US" altLang="zh-CN" sz="1050" dirty="0"/>
                <a:t>[nextseqnum] = </a:t>
              </a:r>
              <a:r>
                <a:rPr lang="en-US" altLang="zh-CN" sz="1050" dirty="0" err="1"/>
                <a:t>make_pkt</a:t>
              </a:r>
              <a:r>
                <a:rPr lang="en-US" altLang="zh-CN" sz="1050" dirty="0"/>
                <a:t>(nextseqnum, data, </a:t>
              </a:r>
              <a:r>
                <a:rPr lang="en-US" altLang="zh-CN" sz="1050" dirty="0" err="1"/>
                <a:t>chksum</a:t>
              </a:r>
              <a:r>
                <a:rPr lang="en-US" altLang="zh-CN" sz="1050" dirty="0"/>
                <a:t>)</a:t>
              </a:r>
              <a:endParaRPr lang="en-US" altLang="zh-CN" sz="1050" dirty="0"/>
            </a:p>
            <a:p>
              <a:r>
                <a:rPr lang="en-US" altLang="zh-CN" sz="1050" dirty="0"/>
                <a:t>    </a:t>
              </a:r>
              <a:r>
                <a:rPr lang="en-US" altLang="zh-CN" sz="1050" dirty="0" err="1"/>
                <a:t>udt_send</a:t>
              </a:r>
              <a:r>
                <a:rPr lang="en-US" altLang="zh-CN" sz="1050" dirty="0"/>
                <a:t>(</a:t>
              </a:r>
              <a:r>
                <a:rPr lang="en-US" altLang="zh-CN" sz="1050" dirty="0" err="1"/>
                <a:t>sndpkt</a:t>
              </a:r>
              <a:r>
                <a:rPr lang="en-US" altLang="zh-CN" sz="1050" dirty="0"/>
                <a:t>[nextseqnum])</a:t>
              </a:r>
              <a:endParaRPr lang="en-US" altLang="zh-CN" sz="1050" dirty="0"/>
            </a:p>
            <a:p>
              <a:r>
                <a:rPr lang="en-US" altLang="zh-CN" sz="1050" dirty="0"/>
                <a:t>    if (base == nextseqnum)</a:t>
              </a:r>
              <a:endParaRPr lang="en-US" altLang="zh-CN" sz="1050" dirty="0"/>
            </a:p>
            <a:p>
              <a:r>
                <a:rPr lang="en-US" altLang="zh-CN" sz="1050" dirty="0"/>
                <a:t>       </a:t>
              </a:r>
              <a:r>
                <a:rPr lang="en-US" altLang="zh-CN" sz="1050" dirty="0" err="1"/>
                <a:t>start_timer</a:t>
              </a:r>
              <a:endParaRPr lang="en-US" altLang="zh-CN" sz="1050" dirty="0"/>
            </a:p>
            <a:p>
              <a:r>
                <a:rPr lang="en-US" altLang="zh-CN" sz="1050" dirty="0">
                  <a:solidFill>
                    <a:srgbClr val="0000FF"/>
                  </a:solidFill>
                </a:rPr>
                <a:t>    nextseqnum++</a:t>
              </a:r>
              <a:endParaRPr lang="en-US" altLang="zh-CN" sz="1050" dirty="0">
                <a:solidFill>
                  <a:srgbClr val="0000FF"/>
                </a:solidFill>
              </a:endParaRPr>
            </a:p>
            <a:p>
              <a:r>
                <a:rPr lang="en-US" altLang="zh-CN" sz="1050" dirty="0"/>
                <a:t>    }</a:t>
              </a:r>
              <a:endParaRPr lang="en-US" altLang="zh-CN" sz="1050" dirty="0"/>
            </a:p>
            <a:p>
              <a:r>
                <a:rPr lang="en-US" altLang="zh-CN" sz="1050" dirty="0"/>
                <a:t>else</a:t>
              </a:r>
              <a:endParaRPr lang="en-US" altLang="zh-CN" sz="1050" dirty="0"/>
            </a:p>
            <a:p>
              <a:r>
                <a:rPr lang="en-US" altLang="zh-CN" sz="1050" dirty="0"/>
                <a:t>  </a:t>
              </a:r>
              <a:r>
                <a:rPr lang="en-US" altLang="zh-CN" sz="1050" dirty="0" err="1"/>
                <a:t>refuse_data</a:t>
              </a:r>
              <a:r>
                <a:rPr lang="en-US" altLang="zh-CN" sz="1050" dirty="0"/>
                <a:t>(data)</a:t>
              </a:r>
              <a:endParaRPr lang="en-US" altLang="zh-CN" sz="1050" dirty="0">
                <a:latin typeface="Times New Roman" panose="02020603050405020304" pitchFamily="18" charset="0"/>
              </a:endParaRPr>
            </a:p>
          </p:txBody>
        </p:sp>
        <p:sp>
          <p:nvSpPr>
            <p:cNvPr id="109" name="Freeform 14"/>
            <p:cNvSpPr/>
            <p:nvPr/>
          </p:nvSpPr>
          <p:spPr bwMode="auto">
            <a:xfrm rot="5142103" flipH="1">
              <a:off x="4530404" y="2296121"/>
              <a:ext cx="295275" cy="864394"/>
            </a:xfrm>
            <a:custGeom>
              <a:avLst/>
              <a:gdLst>
                <a:gd name="T0" fmla="*/ 24805 w 619"/>
                <a:gd name="T1" fmla="*/ 721360 h 1815"/>
                <a:gd name="T2" fmla="*/ 0 w 619"/>
                <a:gd name="T3" fmla="*/ 490855 h 18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9" h="1815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0" name="Text Box 15"/>
            <p:cNvSpPr txBox="1">
              <a:spLocks noChangeArrowheads="1"/>
            </p:cNvSpPr>
            <p:nvPr/>
          </p:nvSpPr>
          <p:spPr bwMode="auto">
            <a:xfrm>
              <a:off x="4197028" y="4204693"/>
              <a:ext cx="2805113" cy="851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/>
                <a:t>base = </a:t>
              </a:r>
              <a:r>
                <a:rPr lang="en-US" altLang="zh-CN" sz="1050" dirty="0" err="1"/>
                <a:t>getacknum</a:t>
              </a:r>
              <a:r>
                <a:rPr lang="en-US" altLang="zh-CN" sz="1050" dirty="0"/>
                <a:t>(</a:t>
              </a:r>
              <a:r>
                <a:rPr lang="en-US" altLang="zh-CN" sz="1050" dirty="0" err="1"/>
                <a:t>rcvpkt</a:t>
              </a:r>
              <a:r>
                <a:rPr lang="en-US" altLang="zh-CN" sz="1050" dirty="0"/>
                <a:t>)+1</a:t>
              </a:r>
              <a:endParaRPr lang="en-US" altLang="zh-CN" sz="1050" dirty="0"/>
            </a:p>
            <a:p>
              <a:r>
                <a:rPr lang="en-US" altLang="zh-CN" sz="1050" dirty="0"/>
                <a:t>If (base == nextseqnum)</a:t>
              </a:r>
              <a:endParaRPr lang="en-US" altLang="zh-CN" sz="1050" dirty="0"/>
            </a:p>
            <a:p>
              <a:r>
                <a:rPr lang="en-US" altLang="zh-CN" sz="1050" dirty="0"/>
                <a:t>    </a:t>
              </a:r>
              <a:r>
                <a:rPr lang="en-US" altLang="zh-CN" sz="1050" dirty="0" err="1"/>
                <a:t>stop_timer</a:t>
              </a:r>
              <a:endParaRPr lang="en-US" altLang="zh-CN" sz="1050" dirty="0"/>
            </a:p>
            <a:p>
              <a:r>
                <a:rPr lang="en-US" altLang="zh-CN" sz="1050" dirty="0"/>
                <a:t>  else</a:t>
              </a:r>
              <a:endParaRPr lang="en-US" altLang="zh-CN" sz="1050" dirty="0"/>
            </a:p>
            <a:p>
              <a:r>
                <a:rPr lang="en-US" altLang="zh-CN" sz="1050" dirty="0"/>
                <a:t>    </a:t>
              </a:r>
              <a:r>
                <a:rPr lang="en-US" altLang="zh-CN" sz="1050" dirty="0" err="1"/>
                <a:t>start_timer</a:t>
              </a:r>
              <a:endParaRPr lang="en-US" altLang="zh-CN" sz="1050" dirty="0">
                <a:latin typeface="Times New Roman" panose="02020603050405020304" pitchFamily="18" charset="0"/>
              </a:endParaRPr>
            </a:p>
          </p:txBody>
        </p:sp>
        <p:sp>
          <p:nvSpPr>
            <p:cNvPr id="111" name="Text Box 16"/>
            <p:cNvSpPr txBox="1">
              <a:spLocks noChangeArrowheads="1"/>
            </p:cNvSpPr>
            <p:nvPr/>
          </p:nvSpPr>
          <p:spPr bwMode="auto">
            <a:xfrm>
              <a:off x="4206553" y="3829646"/>
              <a:ext cx="2125266" cy="335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 err="1"/>
                <a:t>rdt_rcv</a:t>
              </a:r>
              <a:r>
                <a:rPr lang="en-US" altLang="zh-CN" sz="1050" dirty="0"/>
                <a:t>(</a:t>
              </a:r>
              <a:r>
                <a:rPr lang="en-US" altLang="zh-CN" sz="1050" dirty="0" err="1"/>
                <a:t>rcvpkt</a:t>
              </a:r>
              <a:r>
                <a:rPr lang="en-US" altLang="zh-CN" sz="1050" dirty="0"/>
                <a:t>) &amp;&amp; </a:t>
              </a:r>
              <a:endParaRPr lang="en-US" altLang="zh-CN" sz="1050" dirty="0"/>
            </a:p>
            <a:p>
              <a:r>
                <a:rPr lang="en-US" altLang="zh-CN" sz="1050" dirty="0"/>
                <a:t>   </a:t>
              </a:r>
              <a:r>
                <a:rPr lang="en-US" altLang="zh-CN" sz="1050" dirty="0" err="1"/>
                <a:t>notcorrupt</a:t>
              </a:r>
              <a:r>
                <a:rPr lang="en-US" altLang="zh-CN" sz="1050" dirty="0"/>
                <a:t>(</a:t>
              </a:r>
              <a:r>
                <a:rPr lang="en-US" altLang="zh-CN" sz="1050" dirty="0" err="1"/>
                <a:t>rcvpkt</a:t>
              </a:r>
              <a:r>
                <a:rPr lang="en-US" altLang="zh-CN" sz="1050" dirty="0"/>
                <a:t>) </a:t>
              </a:r>
              <a:endParaRPr lang="en-US" altLang="zh-CN" sz="1050" dirty="0"/>
            </a:p>
            <a:p>
              <a:pPr algn="ctr"/>
              <a:endParaRPr lang="en-US" altLang="zh-CN" sz="1050" dirty="0">
                <a:latin typeface="Times New Roman" panose="02020603050405020304" pitchFamily="18" charset="0"/>
              </a:endParaRPr>
            </a:p>
          </p:txBody>
        </p:sp>
        <p:sp>
          <p:nvSpPr>
            <p:cNvPr id="112" name="Line 17"/>
            <p:cNvSpPr>
              <a:spLocks noChangeShapeType="1"/>
            </p:cNvSpPr>
            <p:nvPr/>
          </p:nvSpPr>
          <p:spPr bwMode="auto">
            <a:xfrm>
              <a:off x="4275609" y="4222552"/>
              <a:ext cx="12144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3" name="Freeform 18"/>
            <p:cNvSpPr/>
            <p:nvPr/>
          </p:nvSpPr>
          <p:spPr bwMode="auto">
            <a:xfrm>
              <a:off x="4318472" y="3430787"/>
              <a:ext cx="790575" cy="506015"/>
            </a:xfrm>
            <a:custGeom>
              <a:avLst/>
              <a:gdLst>
                <a:gd name="T0" fmla="*/ 382588 w 664"/>
                <a:gd name="T1" fmla="*/ 31750 h 425"/>
                <a:gd name="T2" fmla="*/ 615950 w 664"/>
                <a:gd name="T3" fmla="*/ 0 h 4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64" h="425">
                  <a:moveTo>
                    <a:pt x="241" y="20"/>
                  </a:moveTo>
                  <a:cubicBezTo>
                    <a:pt x="0" y="393"/>
                    <a:pt x="664" y="425"/>
                    <a:pt x="388" y="0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4" name="Line 19"/>
            <p:cNvSpPr>
              <a:spLocks noChangeShapeType="1"/>
            </p:cNvSpPr>
            <p:nvPr/>
          </p:nvSpPr>
          <p:spPr bwMode="auto">
            <a:xfrm>
              <a:off x="2900438" y="2539008"/>
              <a:ext cx="60245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5" name="Text Box 20"/>
            <p:cNvSpPr txBox="1">
              <a:spLocks noChangeArrowheads="1"/>
            </p:cNvSpPr>
            <p:nvPr/>
          </p:nvSpPr>
          <p:spPr bwMode="auto">
            <a:xfrm>
              <a:off x="2805188" y="2516386"/>
              <a:ext cx="1114425" cy="376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/>
                <a:t>base=1</a:t>
              </a:r>
              <a:endParaRPr lang="en-US" altLang="zh-CN" sz="1050" dirty="0"/>
            </a:p>
            <a:p>
              <a:r>
                <a:rPr lang="en-US" altLang="zh-CN" sz="1050" dirty="0"/>
                <a:t>nextseqnum=1</a:t>
              </a:r>
              <a:endParaRPr lang="en-US" altLang="zh-CN" sz="1050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16" name="Text Box 21"/>
            <p:cNvSpPr txBox="1">
              <a:spLocks noChangeArrowheads="1"/>
            </p:cNvSpPr>
            <p:nvPr/>
          </p:nvSpPr>
          <p:spPr bwMode="auto">
            <a:xfrm>
              <a:off x="2627785" y="3312915"/>
              <a:ext cx="1535906" cy="335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 err="1"/>
                <a:t>rdt_rcv</a:t>
              </a:r>
              <a:r>
                <a:rPr lang="en-US" altLang="zh-CN" sz="1050" dirty="0"/>
                <a:t>(</a:t>
              </a:r>
              <a:r>
                <a:rPr lang="en-US" altLang="zh-CN" sz="1050" dirty="0" err="1"/>
                <a:t>rcvpkt</a:t>
              </a:r>
              <a:r>
                <a:rPr lang="en-US" altLang="zh-CN" sz="1050" dirty="0"/>
                <a:t>) </a:t>
              </a:r>
              <a:endParaRPr lang="en-US" altLang="zh-CN" sz="1050" dirty="0"/>
            </a:p>
            <a:p>
              <a:r>
                <a:rPr lang="en-US" altLang="zh-CN" sz="1050" dirty="0"/>
                <a:t>   &amp;&amp; corrupt(</a:t>
              </a:r>
              <a:r>
                <a:rPr lang="en-US" altLang="zh-CN" sz="1050" dirty="0" err="1"/>
                <a:t>rcvpkt</a:t>
              </a:r>
              <a:r>
                <a:rPr lang="en-US" altLang="zh-CN" sz="1050" dirty="0"/>
                <a:t>)</a:t>
              </a:r>
              <a:r>
                <a:rPr lang="en-US" altLang="zh-CN" sz="750" dirty="0"/>
                <a:t> </a:t>
              </a:r>
              <a:endParaRPr lang="en-US" altLang="zh-CN" sz="750" dirty="0"/>
            </a:p>
            <a:p>
              <a:pPr algn="ctr"/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17" name="Line 22"/>
            <p:cNvSpPr>
              <a:spLocks noChangeShapeType="1"/>
            </p:cNvSpPr>
            <p:nvPr/>
          </p:nvSpPr>
          <p:spPr bwMode="auto">
            <a:xfrm flipV="1">
              <a:off x="2696841" y="3686771"/>
              <a:ext cx="114061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8" name="Freeform 23"/>
            <p:cNvSpPr/>
            <p:nvPr/>
          </p:nvSpPr>
          <p:spPr bwMode="auto">
            <a:xfrm>
              <a:off x="3863653" y="3261718"/>
              <a:ext cx="521494" cy="478631"/>
            </a:xfrm>
            <a:custGeom>
              <a:avLst/>
              <a:gdLst>
                <a:gd name="T0" fmla="*/ 638175 w 1095"/>
                <a:gd name="T1" fmla="*/ 0 h 1005"/>
                <a:gd name="T2" fmla="*/ 695325 w 1095"/>
                <a:gd name="T3" fmla="*/ 104775 h 100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95" h="1005">
                  <a:moveTo>
                    <a:pt x="1005" y="0"/>
                  </a:moveTo>
                  <a:cubicBezTo>
                    <a:pt x="0" y="30"/>
                    <a:pt x="645" y="1005"/>
                    <a:pt x="1095" y="165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9" name="Text Box 24"/>
            <p:cNvSpPr txBox="1">
              <a:spLocks noChangeArrowheads="1"/>
            </p:cNvSpPr>
            <p:nvPr/>
          </p:nvSpPr>
          <p:spPr bwMode="auto">
            <a:xfrm>
              <a:off x="2813546" y="2291359"/>
              <a:ext cx="2904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200">
                  <a:latin typeface="Symbol" panose="05050102010706020507" pitchFamily="18" charset="2"/>
                </a:rPr>
                <a:t>L</a:t>
              </a:r>
              <a:endParaRPr lang="en-US" altLang="zh-CN" sz="1200">
                <a:latin typeface="Symbol" panose="05050102010706020507" pitchFamily="18" charset="2"/>
              </a:endParaRPr>
            </a:p>
          </p:txBody>
        </p:sp>
        <p:sp>
          <p:nvSpPr>
            <p:cNvPr id="120" name="Rectangle 27"/>
            <p:cNvSpPr>
              <a:spLocks noChangeArrowheads="1"/>
            </p:cNvSpPr>
            <p:nvPr/>
          </p:nvSpPr>
          <p:spPr bwMode="auto">
            <a:xfrm>
              <a:off x="5705550" y="843558"/>
              <a:ext cx="971550" cy="377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GB" sz="1200" b="1" dirty="0">
                  <a:solidFill>
                    <a:srgbClr val="0000FF"/>
                  </a:solidFill>
                  <a:ea typeface="微软雅黑" panose="020B0503020204020204" pitchFamily="34" charset="-122"/>
                </a:rPr>
                <a:t>上层的调用</a:t>
              </a:r>
              <a:endParaRPr lang="zh-CN" altLang="en-US" sz="1200" b="1" dirty="0">
                <a:solidFill>
                  <a:srgbClr val="0000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21" name="Rectangle 28"/>
            <p:cNvSpPr>
              <a:spLocks noChangeArrowheads="1"/>
            </p:cNvSpPr>
            <p:nvPr/>
          </p:nvSpPr>
          <p:spPr bwMode="auto">
            <a:xfrm>
              <a:off x="5758787" y="2627282"/>
              <a:ext cx="971550" cy="377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GB" sz="1200" b="1" dirty="0">
                  <a:solidFill>
                    <a:srgbClr val="0000FF"/>
                  </a:solidFill>
                  <a:ea typeface="微软雅黑" panose="020B0503020204020204" pitchFamily="34" charset="-122"/>
                </a:rPr>
                <a:t>超时事件</a:t>
              </a:r>
              <a:endParaRPr lang="zh-CN" altLang="en-US" sz="1200" b="1" dirty="0">
                <a:solidFill>
                  <a:srgbClr val="0000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22" name="Rectangle 29"/>
            <p:cNvSpPr>
              <a:spLocks noChangeArrowheads="1"/>
            </p:cNvSpPr>
            <p:nvPr/>
          </p:nvSpPr>
          <p:spPr bwMode="auto">
            <a:xfrm>
              <a:off x="3454082" y="3917156"/>
              <a:ext cx="971550" cy="377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GB" sz="1200" b="1" dirty="0">
                  <a:solidFill>
                    <a:srgbClr val="0000FF"/>
                  </a:solidFill>
                  <a:ea typeface="微软雅黑" panose="020B0503020204020204" pitchFamily="34" charset="-122"/>
                </a:rPr>
                <a:t>收到</a:t>
              </a:r>
              <a:r>
                <a:rPr lang="en-GB" altLang="zh-CN" sz="1200" b="1" dirty="0">
                  <a:solidFill>
                    <a:srgbClr val="0000FF"/>
                  </a:solidFill>
                  <a:ea typeface="微软雅黑" panose="020B0503020204020204" pitchFamily="34" charset="-122"/>
                </a:rPr>
                <a:t>ACK</a:t>
              </a:r>
              <a:endParaRPr lang="en-US" altLang="zh-CN" sz="1200" b="1" dirty="0">
                <a:solidFill>
                  <a:srgbClr val="0000FF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29"/>
            <p:cNvSpPr>
              <a:spLocks noChangeArrowheads="1"/>
            </p:cNvSpPr>
            <p:nvPr/>
          </p:nvSpPr>
          <p:spPr bwMode="auto">
            <a:xfrm>
              <a:off x="1669331" y="3385265"/>
              <a:ext cx="971550" cy="3774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GB" sz="1200" b="1" dirty="0">
                  <a:solidFill>
                    <a:srgbClr val="0000FF"/>
                  </a:solidFill>
                  <a:ea typeface="微软雅黑" panose="020B0503020204020204" pitchFamily="34" charset="-122"/>
                </a:rPr>
                <a:t>收到</a:t>
              </a:r>
              <a:r>
                <a:rPr lang="zh-CN" altLang="en-US" sz="1200" b="1" dirty="0">
                  <a:solidFill>
                    <a:srgbClr val="0000FF"/>
                  </a:solidFill>
                  <a:ea typeface="微软雅黑" panose="020B0503020204020204" pitchFamily="34" charset="-122"/>
                </a:rPr>
                <a:t>错误</a:t>
              </a:r>
              <a:r>
                <a:rPr lang="en-GB" altLang="zh-CN" sz="1200" b="1" dirty="0">
                  <a:solidFill>
                    <a:srgbClr val="0000FF"/>
                  </a:solidFill>
                  <a:ea typeface="微软雅黑" panose="020B0503020204020204" pitchFamily="34" charset="-122"/>
                </a:rPr>
                <a:t>ACK</a:t>
              </a:r>
              <a:endParaRPr lang="en-US" altLang="zh-CN" sz="1200" b="1" dirty="0">
                <a:solidFill>
                  <a:srgbClr val="0000FF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28220" y="1879524"/>
            <a:ext cx="7216188" cy="1556322"/>
            <a:chOff x="668180" y="1840804"/>
            <a:chExt cx="7216188" cy="1556322"/>
          </a:xfrm>
        </p:grpSpPr>
        <p:sp>
          <p:nvSpPr>
            <p:cNvPr id="8" name="Oval 4"/>
            <p:cNvSpPr>
              <a:spLocks noChangeArrowheads="1"/>
            </p:cNvSpPr>
            <p:nvPr/>
          </p:nvSpPr>
          <p:spPr bwMode="auto">
            <a:xfrm>
              <a:off x="3450710" y="2567261"/>
              <a:ext cx="500063" cy="49291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350"/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3382845" y="2693467"/>
              <a:ext cx="600075" cy="1785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200"/>
                <a:t>Wait</a:t>
              </a:r>
              <a:endParaRPr lang="en-US" altLang="zh-CN" sz="1200">
                <a:latin typeface="Times New Roman" panose="02020603050405020304" pitchFamily="18" charset="0"/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1714779" y="2447007"/>
              <a:ext cx="1724025" cy="35599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2999464" y="2047974"/>
              <a:ext cx="1213247" cy="235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 err="1"/>
                <a:t>udt_send</a:t>
              </a:r>
              <a:r>
                <a:rPr lang="en-US" altLang="zh-CN" sz="1050" dirty="0"/>
                <a:t>(</a:t>
              </a:r>
              <a:r>
                <a:rPr lang="en-US" altLang="zh-CN" sz="1050" dirty="0" err="1"/>
                <a:t>sndpkt</a:t>
              </a:r>
              <a:r>
                <a:rPr lang="en-US" altLang="zh-CN" sz="1050" dirty="0"/>
                <a:t>)</a:t>
              </a:r>
              <a:endParaRPr lang="en-US" altLang="zh-CN" sz="1050" dirty="0">
                <a:latin typeface="Times New Roman" panose="02020603050405020304" pitchFamily="18" charset="0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3029228" y="1840804"/>
              <a:ext cx="1038715" cy="175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/>
                <a:t>default</a:t>
              </a:r>
              <a:endParaRPr lang="en-US" altLang="zh-CN" sz="1050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3089952" y="2063452"/>
              <a:ext cx="61198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" name="Freeform 10"/>
            <p:cNvSpPr/>
            <p:nvPr/>
          </p:nvSpPr>
          <p:spPr bwMode="auto">
            <a:xfrm>
              <a:off x="3955536" y="2374379"/>
              <a:ext cx="621506" cy="864394"/>
            </a:xfrm>
            <a:custGeom>
              <a:avLst/>
              <a:gdLst>
                <a:gd name="T0" fmla="*/ 52211 w 619"/>
                <a:gd name="T1" fmla="*/ 721360 h 1815"/>
                <a:gd name="T2" fmla="*/ 0 w 619"/>
                <a:gd name="T3" fmla="*/ 490855 h 18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9" h="1815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4325821" y="2201739"/>
              <a:ext cx="2677715" cy="422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/>
                <a:t>rdt_rcv(rcvpkt)</a:t>
              </a:r>
              <a:endParaRPr lang="en-US" altLang="zh-CN" sz="1050"/>
            </a:p>
            <a:p>
              <a:r>
                <a:rPr lang="en-US" altLang="zh-CN" sz="1050"/>
                <a:t>  &amp;&amp; notcurrupt(rcvpkt)</a:t>
              </a:r>
              <a:endParaRPr lang="en-US" altLang="zh-CN" sz="1050"/>
            </a:p>
            <a:p>
              <a:r>
                <a:rPr lang="en-US" altLang="zh-CN" sz="1050"/>
                <a:t>  &amp;&amp; hasseqnum(rcvpkt,expectedseqnum) </a:t>
              </a:r>
              <a:endParaRPr lang="en-US" altLang="zh-CN" sz="1050">
                <a:latin typeface="Times New Roman" panose="02020603050405020304" pitchFamily="18" charset="0"/>
              </a:endParaRPr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4378208" y="2720851"/>
              <a:ext cx="2381250" cy="119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4406783" y="2752998"/>
              <a:ext cx="3477585" cy="644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/>
                <a:t>extract(</a:t>
              </a:r>
              <a:r>
                <a:rPr lang="en-US" altLang="zh-CN" sz="1050" dirty="0" err="1"/>
                <a:t>rcvpkt,data</a:t>
              </a:r>
              <a:r>
                <a:rPr lang="en-US" altLang="zh-CN" sz="1050" dirty="0"/>
                <a:t>)</a:t>
              </a:r>
              <a:endParaRPr lang="en-US" altLang="zh-CN" sz="1050" dirty="0"/>
            </a:p>
            <a:p>
              <a:r>
                <a:rPr lang="en-US" altLang="zh-CN" sz="1050" dirty="0" err="1"/>
                <a:t>deliver_data</a:t>
              </a:r>
              <a:r>
                <a:rPr lang="en-US" altLang="zh-CN" sz="1050" dirty="0"/>
                <a:t>(data)</a:t>
              </a:r>
              <a:endParaRPr lang="en-US" altLang="zh-CN" sz="1050" dirty="0"/>
            </a:p>
            <a:p>
              <a:r>
                <a:rPr lang="en-US" altLang="zh-CN" sz="1050" dirty="0" err="1"/>
                <a:t>sndpkt</a:t>
              </a:r>
              <a:r>
                <a:rPr lang="en-US" altLang="zh-CN" sz="1050" dirty="0"/>
                <a:t> = </a:t>
              </a:r>
              <a:r>
                <a:rPr lang="en-US" altLang="zh-CN" sz="1050" dirty="0" err="1"/>
                <a:t>make_pkt</a:t>
              </a:r>
              <a:r>
                <a:rPr lang="en-US" altLang="zh-CN" sz="1050" dirty="0"/>
                <a:t>(</a:t>
              </a:r>
              <a:r>
                <a:rPr lang="en-US" altLang="zh-CN" sz="1050" dirty="0" err="1"/>
                <a:t>expectedseqnum</a:t>
              </a:r>
              <a:r>
                <a:rPr lang="en-US" altLang="zh-CN" sz="1050" dirty="0"/>
                <a:t>, ACK, </a:t>
              </a:r>
              <a:r>
                <a:rPr lang="en-US" altLang="zh-CN" sz="1050" dirty="0" err="1"/>
                <a:t>chksum</a:t>
              </a:r>
              <a:r>
                <a:rPr lang="en-US" altLang="zh-CN" sz="1050" dirty="0"/>
                <a:t>)</a:t>
              </a:r>
              <a:endParaRPr lang="en-US" altLang="zh-CN" sz="1050" dirty="0"/>
            </a:p>
            <a:p>
              <a:r>
                <a:rPr lang="en-US" altLang="zh-CN" sz="1050" dirty="0" err="1"/>
                <a:t>udt_send</a:t>
              </a:r>
              <a:r>
                <a:rPr lang="en-US" altLang="zh-CN" sz="1050" dirty="0"/>
                <a:t>(</a:t>
              </a:r>
              <a:r>
                <a:rPr lang="en-US" altLang="zh-CN" sz="1050" dirty="0" err="1"/>
                <a:t>sndpkt</a:t>
              </a:r>
              <a:r>
                <a:rPr lang="en-US" altLang="zh-CN" sz="1050" dirty="0"/>
                <a:t>)</a:t>
              </a:r>
              <a:endParaRPr lang="en-US" altLang="zh-CN" sz="1050" dirty="0"/>
            </a:p>
            <a:p>
              <a:r>
                <a:rPr lang="en-US" altLang="zh-CN" sz="1050" dirty="0" err="1"/>
                <a:t>expectedseqnum</a:t>
              </a:r>
              <a:r>
                <a:rPr lang="en-US" altLang="zh-CN" sz="1050" dirty="0"/>
                <a:t>++</a:t>
              </a:r>
              <a:endParaRPr lang="en-US" altLang="zh-CN" sz="1050" dirty="0">
                <a:latin typeface="Times New Roman" panose="02020603050405020304" pitchFamily="18" charset="0"/>
              </a:endParaRPr>
            </a:p>
          </p:txBody>
        </p:sp>
        <p:sp>
          <p:nvSpPr>
            <p:cNvPr id="18" name="Freeform 14"/>
            <p:cNvSpPr/>
            <p:nvPr/>
          </p:nvSpPr>
          <p:spPr bwMode="auto">
            <a:xfrm rot="5142103" flipH="1">
              <a:off x="3560249" y="1981472"/>
              <a:ext cx="295275" cy="864394"/>
            </a:xfrm>
            <a:custGeom>
              <a:avLst/>
              <a:gdLst>
                <a:gd name="T0" fmla="*/ 24805 w 619"/>
                <a:gd name="T1" fmla="*/ 721360 h 1815"/>
                <a:gd name="T2" fmla="*/ 0 w 619"/>
                <a:gd name="T3" fmla="*/ 490855 h 18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19" h="1815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>
              <a:off x="786091" y="2959992"/>
              <a:ext cx="9286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668180" y="2959992"/>
              <a:ext cx="3267205" cy="388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1050" dirty="0" err="1"/>
                <a:t>expectedseqnum</a:t>
              </a:r>
              <a:r>
                <a:rPr lang="en-US" altLang="zh-CN" sz="1050" dirty="0"/>
                <a:t>=1</a:t>
              </a:r>
              <a:endParaRPr lang="en-US" altLang="zh-CN" sz="1050" dirty="0"/>
            </a:p>
            <a:p>
              <a:r>
                <a:rPr lang="en-US" altLang="zh-CN" sz="1050" dirty="0" err="1"/>
                <a:t>sndpkt</a:t>
              </a:r>
              <a:r>
                <a:rPr lang="en-US" altLang="zh-CN" sz="1050" dirty="0"/>
                <a:t> = </a:t>
              </a:r>
              <a:r>
                <a:rPr lang="en-US" altLang="zh-CN" sz="1050" dirty="0" err="1"/>
                <a:t>make_pkt</a:t>
              </a:r>
              <a:r>
                <a:rPr lang="en-US" altLang="zh-CN" sz="1050" dirty="0"/>
                <a:t>(</a:t>
              </a:r>
              <a:r>
                <a:rPr lang="en-US" altLang="zh-CN" sz="1050" dirty="0" err="1"/>
                <a:t>expectedseqnum,ACK,chksum</a:t>
              </a:r>
              <a:r>
                <a:rPr lang="en-US" altLang="zh-CN" sz="1050" dirty="0"/>
                <a:t>)</a:t>
              </a:r>
              <a:endParaRPr lang="en-US" altLang="zh-CN" sz="1050" dirty="0"/>
            </a:p>
            <a:p>
              <a:endParaRPr lang="en-US" altLang="zh-CN" sz="1050" dirty="0">
                <a:latin typeface="Times New Roman" panose="02020603050405020304" pitchFamily="18" charset="0"/>
              </a:endParaRPr>
            </a:p>
            <a:p>
              <a:pPr algn="ctr"/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1085299" y="2664504"/>
              <a:ext cx="290464" cy="2769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200" dirty="0">
                  <a:latin typeface="Symbol" panose="05050102010706020507" pitchFamily="18" charset="2"/>
                </a:rPr>
                <a:t>L</a:t>
              </a:r>
              <a:endParaRPr lang="en-US" altLang="zh-CN" sz="1200" dirty="0">
                <a:latin typeface="Symbol" panose="05050102010706020507" pitchFamily="18" charset="2"/>
              </a:endParaRPr>
            </a:p>
          </p:txBody>
        </p:sp>
      </p:grpSp>
      <p:sp>
        <p:nvSpPr>
          <p:cNvPr id="22" name="内容占位符 2"/>
          <p:cNvSpPr txBox="1"/>
          <p:nvPr/>
        </p:nvSpPr>
        <p:spPr>
          <a:xfrm>
            <a:off x="468000" y="936000"/>
            <a:ext cx="7886700" cy="834733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FSM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回退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步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存在的问题：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丢弃所有失序分组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好可惜啊！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发送端可能一下子要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重传很多个分组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7544" y="936000"/>
            <a:ext cx="7886700" cy="2286220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选择重传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允许发送方发送多个分组，而不需等待确认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方：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对正确接收的分组进行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逐个确认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分组失序：把分组缓存，向上层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有序提交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有选择地重传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哪个分组的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ack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没收到，就重传那个分组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发送方和接收方都有缓存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5"/>
          <p:cNvGrpSpPr/>
          <p:nvPr/>
        </p:nvGrpSpPr>
        <p:grpSpPr bwMode="auto">
          <a:xfrm>
            <a:off x="2915042" y="3375904"/>
            <a:ext cx="5342983" cy="1572110"/>
            <a:chOff x="136" y="3183"/>
            <a:chExt cx="3139" cy="624"/>
          </a:xfrm>
        </p:grpSpPr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136" y="3333"/>
              <a:ext cx="293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socket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69" y="3420"/>
              <a:ext cx="218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door</a:t>
              </a:r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543" y="3183"/>
              <a:ext cx="623" cy="624"/>
            </a:xfrm>
            <a:prstGeom prst="rect">
              <a:avLst/>
            </a:prstGeom>
            <a:solidFill>
              <a:srgbClr val="97D2FF"/>
            </a:solidFill>
            <a:ln w="793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610" y="3495"/>
              <a:ext cx="491" cy="182"/>
            </a:xfrm>
            <a:prstGeom prst="rect">
              <a:avLst/>
            </a:prstGeom>
            <a:solidFill>
              <a:srgbClr val="FFFF00"/>
            </a:solidFill>
            <a:ln w="793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439" y="3443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507" y="3443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575" y="3443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644" y="3443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712" y="3443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780" y="3443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848" y="3443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916" y="3443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985" y="3443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1053" y="3443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1121" y="3443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1189" y="3443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1257" y="3443"/>
              <a:ext cx="14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855" y="3392"/>
              <a:ext cx="1" cy="7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24"/>
            <p:cNvSpPr/>
            <p:nvPr/>
          </p:nvSpPr>
          <p:spPr bwMode="auto">
            <a:xfrm>
              <a:off x="837" y="3458"/>
              <a:ext cx="37" cy="37"/>
            </a:xfrm>
            <a:custGeom>
              <a:avLst/>
              <a:gdLst>
                <a:gd name="T0" fmla="*/ 37 w 37"/>
                <a:gd name="T1" fmla="*/ 0 h 37"/>
                <a:gd name="T2" fmla="*/ 18 w 37"/>
                <a:gd name="T3" fmla="*/ 37 h 37"/>
                <a:gd name="T4" fmla="*/ 0 w 37"/>
                <a:gd name="T5" fmla="*/ 0 h 37"/>
                <a:gd name="T6" fmla="*/ 37 w 37"/>
                <a:gd name="T7" fmla="*/ 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37">
                  <a:moveTo>
                    <a:pt x="37" y="0"/>
                  </a:moveTo>
                  <a:lnTo>
                    <a:pt x="18" y="37"/>
                  </a:lnTo>
                  <a:lnTo>
                    <a:pt x="0" y="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782" y="3506"/>
              <a:ext cx="174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Rectangle 26"/>
            <p:cNvSpPr>
              <a:spLocks noChangeArrowheads="1"/>
            </p:cNvSpPr>
            <p:nvPr/>
          </p:nvSpPr>
          <p:spPr bwMode="auto">
            <a:xfrm>
              <a:off x="652" y="3593"/>
              <a:ext cx="460" cy="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5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send buffer</a:t>
              </a:r>
              <a:endPara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2206" y="3183"/>
              <a:ext cx="624" cy="624"/>
            </a:xfrm>
            <a:prstGeom prst="rect">
              <a:avLst/>
            </a:prstGeom>
            <a:solidFill>
              <a:srgbClr val="D5EDFF"/>
            </a:solidFill>
            <a:ln w="793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Rectangle 28"/>
            <p:cNvSpPr>
              <a:spLocks noChangeArrowheads="1"/>
            </p:cNvSpPr>
            <p:nvPr/>
          </p:nvSpPr>
          <p:spPr bwMode="auto">
            <a:xfrm>
              <a:off x="2266" y="3495"/>
              <a:ext cx="534" cy="182"/>
            </a:xfrm>
            <a:prstGeom prst="rect">
              <a:avLst/>
            </a:prstGeom>
            <a:solidFill>
              <a:srgbClr val="FFFF00"/>
            </a:solidFill>
            <a:ln w="793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Line 29"/>
            <p:cNvSpPr>
              <a:spLocks noChangeShapeType="1"/>
            </p:cNvSpPr>
            <p:nvPr/>
          </p:nvSpPr>
          <p:spPr bwMode="auto">
            <a:xfrm>
              <a:off x="2106" y="3446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>
              <a:off x="2175" y="3446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>
              <a:off x="2243" y="3446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>
              <a:off x="2311" y="3446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33"/>
            <p:cNvSpPr>
              <a:spLocks noChangeShapeType="1"/>
            </p:cNvSpPr>
            <p:nvPr/>
          </p:nvSpPr>
          <p:spPr bwMode="auto">
            <a:xfrm>
              <a:off x="2379" y="3446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>
              <a:off x="2447" y="3446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>
              <a:off x="2516" y="3446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36"/>
            <p:cNvSpPr>
              <a:spLocks noChangeShapeType="1"/>
            </p:cNvSpPr>
            <p:nvPr/>
          </p:nvSpPr>
          <p:spPr bwMode="auto">
            <a:xfrm>
              <a:off x="2584" y="3446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37"/>
            <p:cNvSpPr>
              <a:spLocks noChangeShapeType="1"/>
            </p:cNvSpPr>
            <p:nvPr/>
          </p:nvSpPr>
          <p:spPr bwMode="auto">
            <a:xfrm>
              <a:off x="2652" y="3446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>
              <a:off x="2720" y="3446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Line 39"/>
            <p:cNvSpPr>
              <a:spLocks noChangeShapeType="1"/>
            </p:cNvSpPr>
            <p:nvPr/>
          </p:nvSpPr>
          <p:spPr bwMode="auto">
            <a:xfrm>
              <a:off x="2788" y="3446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Line 40"/>
            <p:cNvSpPr>
              <a:spLocks noChangeShapeType="1"/>
            </p:cNvSpPr>
            <p:nvPr/>
          </p:nvSpPr>
          <p:spPr bwMode="auto">
            <a:xfrm>
              <a:off x="2857" y="3446"/>
              <a:ext cx="4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>
              <a:off x="2925" y="3446"/>
              <a:ext cx="12" cy="1"/>
            </a:xfrm>
            <a:prstGeom prst="line">
              <a:avLst/>
            </a:prstGeom>
            <a:noFill/>
            <a:ln w="7938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42"/>
            <p:cNvSpPr>
              <a:spLocks noChangeShapeType="1"/>
            </p:cNvSpPr>
            <p:nvPr/>
          </p:nvSpPr>
          <p:spPr bwMode="auto">
            <a:xfrm>
              <a:off x="2517" y="3433"/>
              <a:ext cx="1" cy="6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Freeform 43"/>
            <p:cNvSpPr/>
            <p:nvPr/>
          </p:nvSpPr>
          <p:spPr bwMode="auto">
            <a:xfrm>
              <a:off x="2494" y="3392"/>
              <a:ext cx="47" cy="47"/>
            </a:xfrm>
            <a:custGeom>
              <a:avLst/>
              <a:gdLst>
                <a:gd name="T0" fmla="*/ 0 w 47"/>
                <a:gd name="T1" fmla="*/ 47 h 47"/>
                <a:gd name="T2" fmla="*/ 23 w 47"/>
                <a:gd name="T3" fmla="*/ 0 h 47"/>
                <a:gd name="T4" fmla="*/ 47 w 47"/>
                <a:gd name="T5" fmla="*/ 47 h 47"/>
                <a:gd name="T6" fmla="*/ 0 w 47"/>
                <a:gd name="T7" fmla="*/ 47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47">
                  <a:moveTo>
                    <a:pt x="0" y="47"/>
                  </a:moveTo>
                  <a:lnTo>
                    <a:pt x="23" y="0"/>
                  </a:lnTo>
                  <a:lnTo>
                    <a:pt x="47" y="47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Rectangle 44"/>
            <p:cNvSpPr>
              <a:spLocks noChangeArrowheads="1"/>
            </p:cNvSpPr>
            <p:nvPr/>
          </p:nvSpPr>
          <p:spPr bwMode="auto">
            <a:xfrm>
              <a:off x="2444" y="3506"/>
              <a:ext cx="174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Rectangle 45"/>
            <p:cNvSpPr>
              <a:spLocks noChangeArrowheads="1"/>
            </p:cNvSpPr>
            <p:nvPr/>
          </p:nvSpPr>
          <p:spPr bwMode="auto">
            <a:xfrm>
              <a:off x="2277" y="3593"/>
              <a:ext cx="553" cy="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5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receive buffer</a:t>
              </a:r>
              <a:endPara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Rectangle 46"/>
            <p:cNvSpPr>
              <a:spLocks noChangeArrowheads="1"/>
            </p:cNvSpPr>
            <p:nvPr/>
          </p:nvSpPr>
          <p:spPr bwMode="auto">
            <a:xfrm>
              <a:off x="2982" y="3355"/>
              <a:ext cx="293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socket</a:t>
              </a:r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Rectangle 47"/>
            <p:cNvSpPr>
              <a:spLocks noChangeArrowheads="1"/>
            </p:cNvSpPr>
            <p:nvPr/>
          </p:nvSpPr>
          <p:spPr bwMode="auto">
            <a:xfrm>
              <a:off x="3016" y="3443"/>
              <a:ext cx="218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door</a:t>
              </a:r>
              <a:endPara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48"/>
            <p:cNvSpPr/>
            <p:nvPr/>
          </p:nvSpPr>
          <p:spPr bwMode="auto">
            <a:xfrm>
              <a:off x="1037" y="3704"/>
              <a:ext cx="78" cy="77"/>
            </a:xfrm>
            <a:custGeom>
              <a:avLst/>
              <a:gdLst>
                <a:gd name="T0" fmla="*/ 0 w 78"/>
                <a:gd name="T1" fmla="*/ 39 h 77"/>
                <a:gd name="T2" fmla="*/ 1 w 78"/>
                <a:gd name="T3" fmla="*/ 27 h 77"/>
                <a:gd name="T4" fmla="*/ 6 w 78"/>
                <a:gd name="T5" fmla="*/ 18 h 77"/>
                <a:gd name="T6" fmla="*/ 13 w 78"/>
                <a:gd name="T7" fmla="*/ 9 h 77"/>
                <a:gd name="T8" fmla="*/ 23 w 78"/>
                <a:gd name="T9" fmla="*/ 3 h 77"/>
                <a:gd name="T10" fmla="*/ 33 w 78"/>
                <a:gd name="T11" fmla="*/ 0 h 77"/>
                <a:gd name="T12" fmla="*/ 45 w 78"/>
                <a:gd name="T13" fmla="*/ 0 h 77"/>
                <a:gd name="T14" fmla="*/ 55 w 78"/>
                <a:gd name="T15" fmla="*/ 3 h 77"/>
                <a:gd name="T16" fmla="*/ 64 w 78"/>
                <a:gd name="T17" fmla="*/ 9 h 77"/>
                <a:gd name="T18" fmla="*/ 72 w 78"/>
                <a:gd name="T19" fmla="*/ 18 h 77"/>
                <a:gd name="T20" fmla="*/ 76 w 78"/>
                <a:gd name="T21" fmla="*/ 27 h 77"/>
                <a:gd name="T22" fmla="*/ 78 w 78"/>
                <a:gd name="T23" fmla="*/ 39 h 77"/>
                <a:gd name="T24" fmla="*/ 76 w 78"/>
                <a:gd name="T25" fmla="*/ 49 h 77"/>
                <a:gd name="T26" fmla="*/ 72 w 78"/>
                <a:gd name="T27" fmla="*/ 60 h 77"/>
                <a:gd name="T28" fmla="*/ 64 w 78"/>
                <a:gd name="T29" fmla="*/ 67 h 77"/>
                <a:gd name="T30" fmla="*/ 55 w 78"/>
                <a:gd name="T31" fmla="*/ 73 h 77"/>
                <a:gd name="T32" fmla="*/ 45 w 78"/>
                <a:gd name="T33" fmla="*/ 77 h 77"/>
                <a:gd name="T34" fmla="*/ 33 w 78"/>
                <a:gd name="T35" fmla="*/ 77 h 77"/>
                <a:gd name="T36" fmla="*/ 23 w 78"/>
                <a:gd name="T37" fmla="*/ 73 h 77"/>
                <a:gd name="T38" fmla="*/ 13 w 78"/>
                <a:gd name="T39" fmla="*/ 67 h 77"/>
                <a:gd name="T40" fmla="*/ 6 w 78"/>
                <a:gd name="T41" fmla="*/ 60 h 77"/>
                <a:gd name="T42" fmla="*/ 1 w 78"/>
                <a:gd name="T43" fmla="*/ 49 h 77"/>
                <a:gd name="T44" fmla="*/ 0 w 78"/>
                <a:gd name="T45" fmla="*/ 39 h 7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78" h="77">
                  <a:moveTo>
                    <a:pt x="0" y="39"/>
                  </a:moveTo>
                  <a:lnTo>
                    <a:pt x="1" y="27"/>
                  </a:lnTo>
                  <a:lnTo>
                    <a:pt x="6" y="18"/>
                  </a:lnTo>
                  <a:lnTo>
                    <a:pt x="13" y="9"/>
                  </a:lnTo>
                  <a:lnTo>
                    <a:pt x="23" y="3"/>
                  </a:lnTo>
                  <a:lnTo>
                    <a:pt x="33" y="0"/>
                  </a:lnTo>
                  <a:lnTo>
                    <a:pt x="45" y="0"/>
                  </a:lnTo>
                  <a:lnTo>
                    <a:pt x="55" y="3"/>
                  </a:lnTo>
                  <a:lnTo>
                    <a:pt x="64" y="9"/>
                  </a:lnTo>
                  <a:lnTo>
                    <a:pt x="72" y="18"/>
                  </a:lnTo>
                  <a:lnTo>
                    <a:pt x="76" y="27"/>
                  </a:lnTo>
                  <a:lnTo>
                    <a:pt x="78" y="39"/>
                  </a:lnTo>
                  <a:lnTo>
                    <a:pt x="76" y="49"/>
                  </a:lnTo>
                  <a:lnTo>
                    <a:pt x="72" y="60"/>
                  </a:lnTo>
                  <a:lnTo>
                    <a:pt x="64" y="67"/>
                  </a:lnTo>
                  <a:lnTo>
                    <a:pt x="55" y="73"/>
                  </a:lnTo>
                  <a:lnTo>
                    <a:pt x="45" y="77"/>
                  </a:lnTo>
                  <a:lnTo>
                    <a:pt x="33" y="77"/>
                  </a:lnTo>
                  <a:lnTo>
                    <a:pt x="23" y="73"/>
                  </a:lnTo>
                  <a:lnTo>
                    <a:pt x="13" y="67"/>
                  </a:lnTo>
                  <a:lnTo>
                    <a:pt x="6" y="60"/>
                  </a:lnTo>
                  <a:lnTo>
                    <a:pt x="1" y="49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00"/>
            </a:solidFill>
            <a:ln w="793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49"/>
            <p:cNvSpPr/>
            <p:nvPr/>
          </p:nvSpPr>
          <p:spPr bwMode="auto">
            <a:xfrm>
              <a:off x="2258" y="3704"/>
              <a:ext cx="78" cy="77"/>
            </a:xfrm>
            <a:custGeom>
              <a:avLst/>
              <a:gdLst>
                <a:gd name="T0" fmla="*/ 0 w 78"/>
                <a:gd name="T1" fmla="*/ 39 h 77"/>
                <a:gd name="T2" fmla="*/ 1 w 78"/>
                <a:gd name="T3" fmla="*/ 27 h 77"/>
                <a:gd name="T4" fmla="*/ 6 w 78"/>
                <a:gd name="T5" fmla="*/ 18 h 77"/>
                <a:gd name="T6" fmla="*/ 13 w 78"/>
                <a:gd name="T7" fmla="*/ 9 h 77"/>
                <a:gd name="T8" fmla="*/ 22 w 78"/>
                <a:gd name="T9" fmla="*/ 3 h 77"/>
                <a:gd name="T10" fmla="*/ 33 w 78"/>
                <a:gd name="T11" fmla="*/ 0 h 77"/>
                <a:gd name="T12" fmla="*/ 44 w 78"/>
                <a:gd name="T13" fmla="*/ 0 h 77"/>
                <a:gd name="T14" fmla="*/ 55 w 78"/>
                <a:gd name="T15" fmla="*/ 3 h 77"/>
                <a:gd name="T16" fmla="*/ 64 w 78"/>
                <a:gd name="T17" fmla="*/ 9 h 77"/>
                <a:gd name="T18" fmla="*/ 71 w 78"/>
                <a:gd name="T19" fmla="*/ 18 h 77"/>
                <a:gd name="T20" fmla="*/ 76 w 78"/>
                <a:gd name="T21" fmla="*/ 27 h 77"/>
                <a:gd name="T22" fmla="*/ 78 w 78"/>
                <a:gd name="T23" fmla="*/ 39 h 77"/>
                <a:gd name="T24" fmla="*/ 76 w 78"/>
                <a:gd name="T25" fmla="*/ 49 h 77"/>
                <a:gd name="T26" fmla="*/ 71 w 78"/>
                <a:gd name="T27" fmla="*/ 60 h 77"/>
                <a:gd name="T28" fmla="*/ 64 w 78"/>
                <a:gd name="T29" fmla="*/ 67 h 77"/>
                <a:gd name="T30" fmla="*/ 55 w 78"/>
                <a:gd name="T31" fmla="*/ 73 h 77"/>
                <a:gd name="T32" fmla="*/ 44 w 78"/>
                <a:gd name="T33" fmla="*/ 77 h 77"/>
                <a:gd name="T34" fmla="*/ 33 w 78"/>
                <a:gd name="T35" fmla="*/ 77 h 77"/>
                <a:gd name="T36" fmla="*/ 22 w 78"/>
                <a:gd name="T37" fmla="*/ 73 h 77"/>
                <a:gd name="T38" fmla="*/ 13 w 78"/>
                <a:gd name="T39" fmla="*/ 67 h 77"/>
                <a:gd name="T40" fmla="*/ 6 w 78"/>
                <a:gd name="T41" fmla="*/ 60 h 77"/>
                <a:gd name="T42" fmla="*/ 1 w 78"/>
                <a:gd name="T43" fmla="*/ 49 h 77"/>
                <a:gd name="T44" fmla="*/ 0 w 78"/>
                <a:gd name="T45" fmla="*/ 39 h 77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78" h="77">
                  <a:moveTo>
                    <a:pt x="0" y="39"/>
                  </a:moveTo>
                  <a:lnTo>
                    <a:pt x="1" y="27"/>
                  </a:lnTo>
                  <a:lnTo>
                    <a:pt x="6" y="18"/>
                  </a:lnTo>
                  <a:lnTo>
                    <a:pt x="13" y="9"/>
                  </a:lnTo>
                  <a:lnTo>
                    <a:pt x="22" y="3"/>
                  </a:lnTo>
                  <a:lnTo>
                    <a:pt x="33" y="0"/>
                  </a:lnTo>
                  <a:lnTo>
                    <a:pt x="44" y="0"/>
                  </a:lnTo>
                  <a:lnTo>
                    <a:pt x="55" y="3"/>
                  </a:lnTo>
                  <a:lnTo>
                    <a:pt x="64" y="9"/>
                  </a:lnTo>
                  <a:lnTo>
                    <a:pt x="71" y="18"/>
                  </a:lnTo>
                  <a:lnTo>
                    <a:pt x="76" y="27"/>
                  </a:lnTo>
                  <a:lnTo>
                    <a:pt x="78" y="39"/>
                  </a:lnTo>
                  <a:lnTo>
                    <a:pt x="76" y="49"/>
                  </a:lnTo>
                  <a:lnTo>
                    <a:pt x="71" y="60"/>
                  </a:lnTo>
                  <a:lnTo>
                    <a:pt x="64" y="67"/>
                  </a:lnTo>
                  <a:lnTo>
                    <a:pt x="55" y="73"/>
                  </a:lnTo>
                  <a:lnTo>
                    <a:pt x="44" y="77"/>
                  </a:lnTo>
                  <a:lnTo>
                    <a:pt x="33" y="77"/>
                  </a:lnTo>
                  <a:lnTo>
                    <a:pt x="22" y="73"/>
                  </a:lnTo>
                  <a:lnTo>
                    <a:pt x="13" y="67"/>
                  </a:lnTo>
                  <a:lnTo>
                    <a:pt x="6" y="60"/>
                  </a:lnTo>
                  <a:lnTo>
                    <a:pt x="1" y="49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FFFF00"/>
            </a:solidFill>
            <a:ln w="7938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50"/>
            <p:cNvSpPr>
              <a:spLocks noChangeShapeType="1"/>
            </p:cNvSpPr>
            <p:nvPr/>
          </p:nvSpPr>
          <p:spPr bwMode="auto">
            <a:xfrm>
              <a:off x="1089" y="3703"/>
              <a:ext cx="1195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51"/>
            <p:cNvSpPr>
              <a:spLocks noChangeShapeType="1"/>
            </p:cNvSpPr>
            <p:nvPr/>
          </p:nvSpPr>
          <p:spPr bwMode="auto">
            <a:xfrm>
              <a:off x="1089" y="3781"/>
              <a:ext cx="1195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Rectangle 52"/>
            <p:cNvSpPr>
              <a:spLocks noChangeArrowheads="1"/>
            </p:cNvSpPr>
            <p:nvPr/>
          </p:nvSpPr>
          <p:spPr bwMode="auto">
            <a:xfrm>
              <a:off x="1489" y="3719"/>
              <a:ext cx="353" cy="49"/>
            </a:xfrm>
            <a:prstGeom prst="rect">
              <a:avLst/>
            </a:prstGeom>
            <a:solidFill>
              <a:srgbClr val="FFFF00"/>
            </a:solidFill>
            <a:ln w="7938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Rectangle 53"/>
            <p:cNvSpPr>
              <a:spLocks noChangeArrowheads="1"/>
            </p:cNvSpPr>
            <p:nvPr/>
          </p:nvSpPr>
          <p:spPr bwMode="auto">
            <a:xfrm>
              <a:off x="1507" y="3706"/>
              <a:ext cx="345" cy="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05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segment</a:t>
              </a:r>
              <a:endPara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54"/>
            <p:cNvSpPr>
              <a:spLocks noChangeShapeType="1"/>
            </p:cNvSpPr>
            <p:nvPr/>
          </p:nvSpPr>
          <p:spPr bwMode="auto">
            <a:xfrm>
              <a:off x="1894" y="3743"/>
              <a:ext cx="63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Freeform 55"/>
            <p:cNvSpPr/>
            <p:nvPr/>
          </p:nvSpPr>
          <p:spPr bwMode="auto">
            <a:xfrm>
              <a:off x="1951" y="3719"/>
              <a:ext cx="47" cy="47"/>
            </a:xfrm>
            <a:custGeom>
              <a:avLst/>
              <a:gdLst>
                <a:gd name="T0" fmla="*/ 0 w 47"/>
                <a:gd name="T1" fmla="*/ 0 h 47"/>
                <a:gd name="T2" fmla="*/ 47 w 47"/>
                <a:gd name="T3" fmla="*/ 24 h 47"/>
                <a:gd name="T4" fmla="*/ 0 w 47"/>
                <a:gd name="T5" fmla="*/ 47 h 47"/>
                <a:gd name="T6" fmla="*/ 0 w 47"/>
                <a:gd name="T7" fmla="*/ 0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47">
                  <a:moveTo>
                    <a:pt x="0" y="0"/>
                  </a:moveTo>
                  <a:lnTo>
                    <a:pt x="47" y="24"/>
                  </a:lnTo>
                  <a:lnTo>
                    <a:pt x="0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Rectangle 56"/>
            <p:cNvSpPr>
              <a:spLocks noChangeArrowheads="1"/>
            </p:cNvSpPr>
            <p:nvPr/>
          </p:nvSpPr>
          <p:spPr bwMode="auto">
            <a:xfrm>
              <a:off x="631" y="3207"/>
              <a:ext cx="506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application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Rectangle 57"/>
            <p:cNvSpPr>
              <a:spLocks noChangeArrowheads="1"/>
            </p:cNvSpPr>
            <p:nvPr/>
          </p:nvSpPr>
          <p:spPr bwMode="auto">
            <a:xfrm>
              <a:off x="629" y="3294"/>
              <a:ext cx="506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writes data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Rectangle 58"/>
            <p:cNvSpPr>
              <a:spLocks noChangeArrowheads="1"/>
            </p:cNvSpPr>
            <p:nvPr/>
          </p:nvSpPr>
          <p:spPr bwMode="auto">
            <a:xfrm>
              <a:off x="2290" y="3213"/>
              <a:ext cx="506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application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Rectangle 59"/>
            <p:cNvSpPr>
              <a:spLocks noChangeArrowheads="1"/>
            </p:cNvSpPr>
            <p:nvPr/>
          </p:nvSpPr>
          <p:spPr bwMode="auto">
            <a:xfrm>
              <a:off x="2290" y="3300"/>
              <a:ext cx="476" cy="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reads data</a:t>
              </a:r>
              <a:endPara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Freeform 60"/>
            <p:cNvSpPr/>
            <p:nvPr/>
          </p:nvSpPr>
          <p:spPr bwMode="auto">
            <a:xfrm>
              <a:off x="855" y="3677"/>
              <a:ext cx="140" cy="66"/>
            </a:xfrm>
            <a:custGeom>
              <a:avLst/>
              <a:gdLst>
                <a:gd name="T0" fmla="*/ 0 w 140"/>
                <a:gd name="T1" fmla="*/ 0 h 66"/>
                <a:gd name="T2" fmla="*/ 0 w 140"/>
                <a:gd name="T3" fmla="*/ 66 h 66"/>
                <a:gd name="T4" fmla="*/ 140 w 140"/>
                <a:gd name="T5" fmla="*/ 66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0" h="66">
                  <a:moveTo>
                    <a:pt x="0" y="0"/>
                  </a:moveTo>
                  <a:lnTo>
                    <a:pt x="0" y="66"/>
                  </a:lnTo>
                  <a:lnTo>
                    <a:pt x="140" y="66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Freeform 61"/>
            <p:cNvSpPr/>
            <p:nvPr/>
          </p:nvSpPr>
          <p:spPr bwMode="auto">
            <a:xfrm>
              <a:off x="990" y="3719"/>
              <a:ext cx="47" cy="47"/>
            </a:xfrm>
            <a:custGeom>
              <a:avLst/>
              <a:gdLst>
                <a:gd name="T0" fmla="*/ 0 w 47"/>
                <a:gd name="T1" fmla="*/ 0 h 47"/>
                <a:gd name="T2" fmla="*/ 47 w 47"/>
                <a:gd name="T3" fmla="*/ 24 h 47"/>
                <a:gd name="T4" fmla="*/ 0 w 47"/>
                <a:gd name="T5" fmla="*/ 47 h 47"/>
                <a:gd name="T6" fmla="*/ 0 w 47"/>
                <a:gd name="T7" fmla="*/ 0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47">
                  <a:moveTo>
                    <a:pt x="0" y="0"/>
                  </a:moveTo>
                  <a:lnTo>
                    <a:pt x="47" y="24"/>
                  </a:lnTo>
                  <a:lnTo>
                    <a:pt x="0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Freeform 62"/>
            <p:cNvSpPr/>
            <p:nvPr/>
          </p:nvSpPr>
          <p:spPr bwMode="auto">
            <a:xfrm>
              <a:off x="2336" y="3719"/>
              <a:ext cx="181" cy="24"/>
            </a:xfrm>
            <a:custGeom>
              <a:avLst/>
              <a:gdLst>
                <a:gd name="T0" fmla="*/ 0 w 181"/>
                <a:gd name="T1" fmla="*/ 24 h 24"/>
                <a:gd name="T2" fmla="*/ 181 w 181"/>
                <a:gd name="T3" fmla="*/ 24 h 24"/>
                <a:gd name="T4" fmla="*/ 181 w 18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1" h="24">
                  <a:moveTo>
                    <a:pt x="0" y="24"/>
                  </a:moveTo>
                  <a:lnTo>
                    <a:pt x="181" y="24"/>
                  </a:lnTo>
                  <a:lnTo>
                    <a:pt x="181" y="0"/>
                  </a:lnTo>
                </a:path>
              </a:pathLst>
            </a:custGeom>
            <a:noFill/>
            <a:ln w="79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Freeform 63"/>
            <p:cNvSpPr/>
            <p:nvPr/>
          </p:nvSpPr>
          <p:spPr bwMode="auto">
            <a:xfrm>
              <a:off x="2494" y="3677"/>
              <a:ext cx="47" cy="47"/>
            </a:xfrm>
            <a:custGeom>
              <a:avLst/>
              <a:gdLst>
                <a:gd name="T0" fmla="*/ 0 w 47"/>
                <a:gd name="T1" fmla="*/ 47 h 47"/>
                <a:gd name="T2" fmla="*/ 23 w 47"/>
                <a:gd name="T3" fmla="*/ 0 h 47"/>
                <a:gd name="T4" fmla="*/ 47 w 47"/>
                <a:gd name="T5" fmla="*/ 47 h 47"/>
                <a:gd name="T6" fmla="*/ 0 w 47"/>
                <a:gd name="T7" fmla="*/ 47 h 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47">
                  <a:moveTo>
                    <a:pt x="0" y="47"/>
                  </a:moveTo>
                  <a:lnTo>
                    <a:pt x="23" y="0"/>
                  </a:lnTo>
                  <a:lnTo>
                    <a:pt x="47" y="47"/>
                  </a:lnTo>
                  <a:lnTo>
                    <a:pt x="0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8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选择重传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前提：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接收方有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可接收失序的分组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暂缓提交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6000"/>
            <a:ext cx="788670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选择重传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前提：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接收方有缓存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可接收失序的分组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暂缓提交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问题：接收方肿么确认分组？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：分组丢失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数据失序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接收方：缓存失序分组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逐个确认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正确收到的分组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72000" y="1275606"/>
            <a:ext cx="3352540" cy="3483868"/>
            <a:chOff x="4572000" y="1275606"/>
            <a:chExt cx="3352540" cy="3483868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6034424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601801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6040891" y="1653034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5716446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A</a:t>
              </a:r>
              <a:endParaRPr lang="en-US" altLang="zh-CN" sz="1350" dirty="0"/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7275650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B</a:t>
              </a:r>
              <a:endParaRPr lang="en-US" altLang="zh-CN" sz="1350" dirty="0"/>
            </a:p>
          </p:txBody>
        </p:sp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5601551" y="1869090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1</a:t>
              </a:r>
              <a:endParaRPr lang="en-US" altLang="zh-CN" sz="1350" baseline="-25000" dirty="0"/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 flipH="1">
              <a:off x="6027491" y="2310871"/>
              <a:ext cx="1518277" cy="56886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7" name="Rectangle 29"/>
            <p:cNvSpPr>
              <a:spLocks noChangeArrowheads="1"/>
            </p:cNvSpPr>
            <p:nvPr/>
          </p:nvSpPr>
          <p:spPr bwMode="auto">
            <a:xfrm>
              <a:off x="5601551" y="2113008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2</a:t>
              </a:r>
              <a:endParaRPr lang="en-US" altLang="zh-CN" sz="1350" baseline="-25000" dirty="0"/>
            </a:p>
          </p:txBody>
        </p:sp>
        <p:sp>
          <p:nvSpPr>
            <p:cNvPr id="18" name="Rectangle 32"/>
            <p:cNvSpPr>
              <a:spLocks noChangeArrowheads="1"/>
            </p:cNvSpPr>
            <p:nvPr/>
          </p:nvSpPr>
          <p:spPr bwMode="auto">
            <a:xfrm>
              <a:off x="5601551" y="1626685"/>
              <a:ext cx="439806" cy="2166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0</a:t>
              </a:r>
              <a:endParaRPr lang="en-US" altLang="zh-CN" sz="1350" baseline="-25000" dirty="0"/>
            </a:p>
          </p:txBody>
        </p:sp>
        <p:sp>
          <p:nvSpPr>
            <p:cNvPr id="19" name="Rectangle 29"/>
            <p:cNvSpPr>
              <a:spLocks noChangeArrowheads="1"/>
            </p:cNvSpPr>
            <p:nvPr/>
          </p:nvSpPr>
          <p:spPr bwMode="auto">
            <a:xfrm>
              <a:off x="5601551" y="2349544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3</a:t>
              </a:r>
              <a:endParaRPr lang="en-US" altLang="zh-CN" sz="1350" baseline="-25000" dirty="0"/>
            </a:p>
          </p:txBody>
        </p:sp>
        <p:sp>
          <p:nvSpPr>
            <p:cNvPr id="20" name="Line 7"/>
            <p:cNvSpPr>
              <a:spLocks noChangeShapeType="1"/>
            </p:cNvSpPr>
            <p:nvPr/>
          </p:nvSpPr>
          <p:spPr bwMode="auto">
            <a:xfrm>
              <a:off x="6040892" y="1882642"/>
              <a:ext cx="765173" cy="304744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1" name="Line 7"/>
            <p:cNvSpPr>
              <a:spLocks noChangeShapeType="1"/>
            </p:cNvSpPr>
            <p:nvPr/>
          </p:nvSpPr>
          <p:spPr bwMode="auto">
            <a:xfrm>
              <a:off x="6040891" y="2118850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2" name="Line 7"/>
            <p:cNvSpPr>
              <a:spLocks noChangeShapeType="1"/>
            </p:cNvSpPr>
            <p:nvPr/>
          </p:nvSpPr>
          <p:spPr bwMode="auto">
            <a:xfrm>
              <a:off x="6040891" y="235605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5" name="Rectangle 32"/>
            <p:cNvSpPr>
              <a:spLocks noChangeArrowheads="1"/>
            </p:cNvSpPr>
            <p:nvPr/>
          </p:nvSpPr>
          <p:spPr bwMode="auto">
            <a:xfrm>
              <a:off x="6650776" y="2084117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+mj-ea"/>
                  <a:ea typeface="+mj-ea"/>
                </a:rPr>
                <a:t>失</a:t>
              </a:r>
              <a:endParaRPr lang="en-US" altLang="zh-CN" sz="15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6040891" y="3387908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5601551" y="3341871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1</a:t>
              </a:r>
              <a:endParaRPr lang="en-US" altLang="zh-CN" sz="1350" baseline="-25000" dirty="0"/>
            </a:p>
          </p:txBody>
        </p:sp>
        <p:sp>
          <p:nvSpPr>
            <p:cNvPr id="7" name="左大括号 6"/>
            <p:cNvSpPr/>
            <p:nvPr/>
          </p:nvSpPr>
          <p:spPr>
            <a:xfrm>
              <a:off x="5396315" y="2085784"/>
              <a:ext cx="128595" cy="1256087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1" name="Rectangle 32"/>
            <p:cNvSpPr>
              <a:spLocks noChangeArrowheads="1"/>
            </p:cNvSpPr>
            <p:nvPr/>
          </p:nvSpPr>
          <p:spPr bwMode="auto">
            <a:xfrm>
              <a:off x="4572000" y="3273159"/>
              <a:ext cx="881143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500" dirty="0">
                  <a:solidFill>
                    <a:srgbClr val="FF0000"/>
                  </a:solidFill>
                </a:rPr>
                <a:t>pkt</a:t>
              </a:r>
              <a:r>
                <a:rPr lang="en-US" altLang="zh-CN" sz="1500" baseline="-25000" dirty="0">
                  <a:solidFill>
                    <a:srgbClr val="FF0000"/>
                  </a:solidFill>
                </a:rPr>
                <a:t>1</a:t>
              </a:r>
              <a:r>
                <a:rPr lang="zh-CN" altLang="en-US" sz="1500" dirty="0">
                  <a:solidFill>
                    <a:srgbClr val="FF0000"/>
                  </a:solidFill>
                  <a:latin typeface="+mj-ea"/>
                  <a:ea typeface="+mj-ea"/>
                </a:rPr>
                <a:t>超时</a:t>
              </a:r>
              <a:endParaRPr lang="en-US" altLang="zh-CN" sz="15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42" name="Rectangle 29"/>
            <p:cNvSpPr>
              <a:spLocks noChangeArrowheads="1"/>
            </p:cNvSpPr>
            <p:nvPr/>
          </p:nvSpPr>
          <p:spPr bwMode="auto">
            <a:xfrm>
              <a:off x="5601551" y="3611275"/>
              <a:ext cx="439806" cy="2166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4</a:t>
              </a:r>
              <a:endParaRPr lang="en-US" altLang="zh-CN" sz="1350" baseline="-25000" dirty="0"/>
            </a:p>
          </p:txBody>
        </p:sp>
        <p:sp>
          <p:nvSpPr>
            <p:cNvPr id="43" name="Rectangle 32"/>
            <p:cNvSpPr>
              <a:spLocks noChangeArrowheads="1"/>
            </p:cNvSpPr>
            <p:nvPr/>
          </p:nvSpPr>
          <p:spPr bwMode="auto">
            <a:xfrm>
              <a:off x="6167417" y="2645328"/>
              <a:ext cx="433797" cy="2166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0000FF"/>
                  </a:solidFill>
                </a:rPr>
                <a:t>ack</a:t>
              </a:r>
              <a:r>
                <a:rPr lang="en-US" altLang="zh-CN" sz="1350" baseline="-25000" dirty="0">
                  <a:solidFill>
                    <a:srgbClr val="0000FF"/>
                  </a:solidFill>
                </a:rPr>
                <a:t>0</a:t>
              </a:r>
              <a:endParaRPr lang="en-US" altLang="zh-CN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45" name="Rectangle 32"/>
            <p:cNvSpPr>
              <a:spLocks noChangeArrowheads="1"/>
            </p:cNvSpPr>
            <p:nvPr/>
          </p:nvSpPr>
          <p:spPr bwMode="auto">
            <a:xfrm>
              <a:off x="5013337" y="1997292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+mj-ea"/>
                  <a:ea typeface="+mj-ea"/>
                </a:rPr>
                <a:t>计时</a:t>
              </a:r>
              <a:endParaRPr lang="en-US" altLang="zh-CN" sz="15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37" name="Line 27"/>
            <p:cNvSpPr>
              <a:spLocks noChangeShapeType="1"/>
            </p:cNvSpPr>
            <p:nvPr/>
          </p:nvSpPr>
          <p:spPr bwMode="auto">
            <a:xfrm flipH="1">
              <a:off x="6027491" y="2759395"/>
              <a:ext cx="1518277" cy="56886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9" name="Line 27"/>
            <p:cNvSpPr>
              <a:spLocks noChangeShapeType="1"/>
            </p:cNvSpPr>
            <p:nvPr/>
          </p:nvSpPr>
          <p:spPr bwMode="auto">
            <a:xfrm flipH="1">
              <a:off x="6027491" y="3015306"/>
              <a:ext cx="1518277" cy="56886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6" name="Rectangle 32"/>
            <p:cNvSpPr>
              <a:spLocks noChangeArrowheads="1"/>
            </p:cNvSpPr>
            <p:nvPr/>
          </p:nvSpPr>
          <p:spPr bwMode="auto">
            <a:xfrm>
              <a:off x="6344838" y="2984913"/>
              <a:ext cx="433797" cy="2166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0000FF"/>
                  </a:solidFill>
                </a:rPr>
                <a:t>ack</a:t>
              </a:r>
              <a:r>
                <a:rPr lang="en-US" altLang="zh-CN" sz="1350" baseline="-25000" dirty="0">
                  <a:solidFill>
                    <a:srgbClr val="0000FF"/>
                  </a:solidFill>
                </a:rPr>
                <a:t>2</a:t>
              </a:r>
              <a:endParaRPr lang="en-US" altLang="zh-CN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47" name="Rectangle 32"/>
            <p:cNvSpPr>
              <a:spLocks noChangeArrowheads="1"/>
            </p:cNvSpPr>
            <p:nvPr/>
          </p:nvSpPr>
          <p:spPr bwMode="auto">
            <a:xfrm>
              <a:off x="6423478" y="3291107"/>
              <a:ext cx="433797" cy="2166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0000FF"/>
                  </a:solidFill>
                </a:rPr>
                <a:t>ack</a:t>
              </a:r>
              <a:r>
                <a:rPr lang="en-US" altLang="zh-CN" sz="1350" baseline="-25000" dirty="0">
                  <a:solidFill>
                    <a:srgbClr val="0000FF"/>
                  </a:solidFill>
                </a:rPr>
                <a:t>3</a:t>
              </a:r>
              <a:endParaRPr lang="en-US" altLang="zh-CN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49" name="Line 7"/>
            <p:cNvSpPr>
              <a:spLocks noChangeShapeType="1"/>
            </p:cNvSpPr>
            <p:nvPr/>
          </p:nvSpPr>
          <p:spPr bwMode="auto">
            <a:xfrm>
              <a:off x="6028240" y="363014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45" y="2844785"/>
            <a:ext cx="571429" cy="584127"/>
          </a:xfrm>
          <a:prstGeom prst="rect">
            <a:avLst/>
          </a:prstGeom>
        </p:spPr>
      </p:pic>
      <p:sp>
        <p:nvSpPr>
          <p:cNvPr id="3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996290" y="1275606"/>
            <a:ext cx="2928250" cy="3496353"/>
            <a:chOff x="4996290" y="1275606"/>
            <a:chExt cx="2928250" cy="3496353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6034424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601801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6040891" y="1653034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5716446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A</a:t>
              </a:r>
              <a:endParaRPr lang="en-US" altLang="zh-CN" sz="1350" dirty="0"/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7275650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B</a:t>
              </a:r>
              <a:endParaRPr lang="en-US" altLang="zh-CN" sz="1350" dirty="0"/>
            </a:p>
          </p:txBody>
        </p:sp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5601551" y="1869090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1</a:t>
              </a:r>
              <a:endParaRPr lang="en-US" altLang="zh-CN" sz="1350" baseline="-25000" dirty="0"/>
            </a:p>
          </p:txBody>
        </p:sp>
        <p:sp>
          <p:nvSpPr>
            <p:cNvPr id="16" name="Line 27"/>
            <p:cNvSpPr>
              <a:spLocks noChangeShapeType="1"/>
            </p:cNvSpPr>
            <p:nvPr/>
          </p:nvSpPr>
          <p:spPr bwMode="auto">
            <a:xfrm flipH="1">
              <a:off x="6557503" y="2517424"/>
              <a:ext cx="988263" cy="27581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7" name="Rectangle 29"/>
            <p:cNvSpPr>
              <a:spLocks noChangeArrowheads="1"/>
            </p:cNvSpPr>
            <p:nvPr/>
          </p:nvSpPr>
          <p:spPr bwMode="auto">
            <a:xfrm>
              <a:off x="5601551" y="2113008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2</a:t>
              </a:r>
              <a:endParaRPr lang="en-US" altLang="zh-CN" sz="1350" baseline="-25000" dirty="0"/>
            </a:p>
          </p:txBody>
        </p:sp>
        <p:sp>
          <p:nvSpPr>
            <p:cNvPr id="18" name="Rectangle 32"/>
            <p:cNvSpPr>
              <a:spLocks noChangeArrowheads="1"/>
            </p:cNvSpPr>
            <p:nvPr/>
          </p:nvSpPr>
          <p:spPr bwMode="auto">
            <a:xfrm>
              <a:off x="5601551" y="1626685"/>
              <a:ext cx="439806" cy="2166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0</a:t>
              </a:r>
              <a:endParaRPr lang="en-US" altLang="zh-CN" sz="1350" baseline="-25000" dirty="0"/>
            </a:p>
          </p:txBody>
        </p:sp>
        <p:sp>
          <p:nvSpPr>
            <p:cNvPr id="19" name="Rectangle 29"/>
            <p:cNvSpPr>
              <a:spLocks noChangeArrowheads="1"/>
            </p:cNvSpPr>
            <p:nvPr/>
          </p:nvSpPr>
          <p:spPr bwMode="auto">
            <a:xfrm>
              <a:off x="5601551" y="2349544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3</a:t>
              </a:r>
              <a:endParaRPr lang="en-US" altLang="zh-CN" sz="1350" baseline="-25000" dirty="0"/>
            </a:p>
          </p:txBody>
        </p:sp>
        <p:sp>
          <p:nvSpPr>
            <p:cNvPr id="20" name="Line 7"/>
            <p:cNvSpPr>
              <a:spLocks noChangeShapeType="1"/>
            </p:cNvSpPr>
            <p:nvPr/>
          </p:nvSpPr>
          <p:spPr bwMode="auto">
            <a:xfrm>
              <a:off x="6040892" y="1882642"/>
              <a:ext cx="1553976" cy="618899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1" name="Line 7"/>
            <p:cNvSpPr>
              <a:spLocks noChangeShapeType="1"/>
            </p:cNvSpPr>
            <p:nvPr/>
          </p:nvSpPr>
          <p:spPr bwMode="auto">
            <a:xfrm>
              <a:off x="6040891" y="2118850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2" name="Line 7"/>
            <p:cNvSpPr>
              <a:spLocks noChangeShapeType="1"/>
            </p:cNvSpPr>
            <p:nvPr/>
          </p:nvSpPr>
          <p:spPr bwMode="auto">
            <a:xfrm>
              <a:off x="6040891" y="235605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5" name="Rectangle 32"/>
            <p:cNvSpPr>
              <a:spLocks noChangeArrowheads="1"/>
            </p:cNvSpPr>
            <p:nvPr/>
          </p:nvSpPr>
          <p:spPr bwMode="auto">
            <a:xfrm>
              <a:off x="6314937" y="2668978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FF0000"/>
                  </a:solidFill>
                </a:rPr>
                <a:t>X</a:t>
              </a:r>
              <a:endParaRPr lang="en-US" altLang="zh-CN" sz="1350" dirty="0">
                <a:solidFill>
                  <a:srgbClr val="FF0000"/>
                </a:solidFill>
              </a:endParaRPr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6040891" y="337387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5601551" y="3327834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1</a:t>
              </a:r>
              <a:endParaRPr lang="en-US" altLang="zh-CN" sz="1350" baseline="-25000" dirty="0"/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5601551" y="3571752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4</a:t>
              </a:r>
              <a:endParaRPr lang="en-US" altLang="zh-CN" sz="1350" baseline="-25000" dirty="0"/>
            </a:p>
          </p:txBody>
        </p:sp>
        <p:sp>
          <p:nvSpPr>
            <p:cNvPr id="33" name="Rectangle 29"/>
            <p:cNvSpPr>
              <a:spLocks noChangeArrowheads="1"/>
            </p:cNvSpPr>
            <p:nvPr/>
          </p:nvSpPr>
          <p:spPr bwMode="auto">
            <a:xfrm>
              <a:off x="5601551" y="3808289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5</a:t>
              </a:r>
              <a:endParaRPr lang="en-US" altLang="zh-CN" sz="1350" baseline="-25000" dirty="0"/>
            </a:p>
          </p:txBody>
        </p:sp>
        <p:sp>
          <p:nvSpPr>
            <p:cNvPr id="35" name="Line 7"/>
            <p:cNvSpPr>
              <a:spLocks noChangeShapeType="1"/>
            </p:cNvSpPr>
            <p:nvPr/>
          </p:nvSpPr>
          <p:spPr bwMode="auto">
            <a:xfrm>
              <a:off x="6040891" y="3622843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6" name="Line 7"/>
            <p:cNvSpPr>
              <a:spLocks noChangeShapeType="1"/>
            </p:cNvSpPr>
            <p:nvPr/>
          </p:nvSpPr>
          <p:spPr bwMode="auto">
            <a:xfrm>
              <a:off x="6040891" y="3858655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7" name="左大括号 6"/>
            <p:cNvSpPr/>
            <p:nvPr/>
          </p:nvSpPr>
          <p:spPr>
            <a:xfrm>
              <a:off x="5412205" y="2085783"/>
              <a:ext cx="111710" cy="1337346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1" name="Rectangle 32"/>
            <p:cNvSpPr>
              <a:spLocks noChangeArrowheads="1"/>
            </p:cNvSpPr>
            <p:nvPr/>
          </p:nvSpPr>
          <p:spPr bwMode="auto">
            <a:xfrm>
              <a:off x="4996290" y="201050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+mj-ea"/>
                  <a:ea typeface="+mj-ea"/>
                </a:rPr>
                <a:t>计时</a:t>
              </a:r>
              <a:endParaRPr lang="en-US" altLang="zh-CN" sz="15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42" name="Rectangle 29"/>
            <p:cNvSpPr>
              <a:spLocks noChangeArrowheads="1"/>
            </p:cNvSpPr>
            <p:nvPr/>
          </p:nvSpPr>
          <p:spPr bwMode="auto">
            <a:xfrm>
              <a:off x="5601551" y="4052034"/>
              <a:ext cx="439806" cy="2166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6</a:t>
              </a:r>
              <a:endParaRPr lang="en-US" altLang="zh-CN" sz="1350" baseline="-25000" dirty="0"/>
            </a:p>
          </p:txBody>
        </p:sp>
        <p:sp>
          <p:nvSpPr>
            <p:cNvPr id="44" name="Line 7"/>
            <p:cNvSpPr>
              <a:spLocks noChangeShapeType="1"/>
            </p:cNvSpPr>
            <p:nvPr/>
          </p:nvSpPr>
          <p:spPr bwMode="auto">
            <a:xfrm>
              <a:off x="6040891" y="4139833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5" name="Line 27"/>
            <p:cNvSpPr>
              <a:spLocks noChangeShapeType="1"/>
            </p:cNvSpPr>
            <p:nvPr/>
          </p:nvSpPr>
          <p:spPr bwMode="auto">
            <a:xfrm flipH="1">
              <a:off x="6039185" y="2999948"/>
              <a:ext cx="1531983" cy="576858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6" name="Rectangle 32"/>
            <p:cNvSpPr>
              <a:spLocks noChangeArrowheads="1"/>
            </p:cNvSpPr>
            <p:nvPr/>
          </p:nvSpPr>
          <p:spPr bwMode="auto">
            <a:xfrm>
              <a:off x="6391379" y="3213302"/>
              <a:ext cx="433797" cy="21669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0000FF"/>
                  </a:solidFill>
                </a:rPr>
                <a:t>ack</a:t>
              </a:r>
              <a:r>
                <a:rPr lang="en-US" altLang="zh-CN" sz="1350" baseline="-25000" dirty="0">
                  <a:solidFill>
                    <a:srgbClr val="0000FF"/>
                  </a:solidFill>
                </a:rPr>
                <a:t>3</a:t>
              </a:r>
              <a:endParaRPr lang="en-US" altLang="zh-CN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55" name="Line 27"/>
            <p:cNvSpPr>
              <a:spLocks noChangeShapeType="1"/>
            </p:cNvSpPr>
            <p:nvPr/>
          </p:nvSpPr>
          <p:spPr bwMode="auto">
            <a:xfrm flipH="1">
              <a:off x="6034423" y="2298804"/>
              <a:ext cx="1511343" cy="41659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prstDash val="lgDash"/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</p:grpSp>
      <p:sp>
        <p:nvSpPr>
          <p:cNvPr id="34" name="内容占位符 2"/>
          <p:cNvSpPr txBox="1"/>
          <p:nvPr/>
        </p:nvSpPr>
        <p:spPr>
          <a:xfrm>
            <a:off x="468000" y="936000"/>
            <a:ext cx="7886700" cy="326231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选择重传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前提：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接收方有缓存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可接收失序的分组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暂缓提交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问题：接收方肿么确认分组？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：分组丢失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数据失序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：确认丢失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超时事件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发送方重传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45" y="2844785"/>
            <a:ext cx="571429" cy="584127"/>
          </a:xfrm>
          <a:prstGeom prst="rect">
            <a:avLst/>
          </a:prstGeom>
        </p:spPr>
      </p:pic>
      <p:sp>
        <p:nvSpPr>
          <p:cNvPr id="3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996290" y="1275606"/>
            <a:ext cx="2955065" cy="3483868"/>
            <a:chOff x="4996290" y="1275606"/>
            <a:chExt cx="2955065" cy="3483868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6034424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7601801" y="1492300"/>
              <a:ext cx="0" cy="32671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2" name="Line 7"/>
            <p:cNvSpPr>
              <a:spLocks noChangeShapeType="1"/>
            </p:cNvSpPr>
            <p:nvPr/>
          </p:nvSpPr>
          <p:spPr bwMode="auto">
            <a:xfrm>
              <a:off x="6040891" y="1653034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5716446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A</a:t>
              </a:r>
              <a:endParaRPr lang="en-US" altLang="zh-CN" sz="1350" dirty="0"/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7275650" y="1275606"/>
              <a:ext cx="648890" cy="216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B</a:t>
              </a:r>
              <a:endParaRPr lang="en-US" altLang="zh-CN" sz="1350" dirty="0"/>
            </a:p>
          </p:txBody>
        </p:sp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5601551" y="1869090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1</a:t>
              </a:r>
              <a:endParaRPr lang="en-US" altLang="zh-CN" sz="1350" baseline="-25000" dirty="0"/>
            </a:p>
          </p:txBody>
        </p:sp>
        <p:sp>
          <p:nvSpPr>
            <p:cNvPr id="17" name="Rectangle 29"/>
            <p:cNvSpPr>
              <a:spLocks noChangeArrowheads="1"/>
            </p:cNvSpPr>
            <p:nvPr/>
          </p:nvSpPr>
          <p:spPr bwMode="auto">
            <a:xfrm>
              <a:off x="5601551" y="2113008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2</a:t>
              </a:r>
              <a:endParaRPr lang="en-US" altLang="zh-CN" sz="1350" baseline="-25000" dirty="0"/>
            </a:p>
          </p:txBody>
        </p:sp>
        <p:sp>
          <p:nvSpPr>
            <p:cNvPr id="18" name="Rectangle 32"/>
            <p:cNvSpPr>
              <a:spLocks noChangeArrowheads="1"/>
            </p:cNvSpPr>
            <p:nvPr/>
          </p:nvSpPr>
          <p:spPr bwMode="auto">
            <a:xfrm>
              <a:off x="5601551" y="1626685"/>
              <a:ext cx="439806" cy="21669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0</a:t>
              </a:r>
              <a:endParaRPr lang="en-US" altLang="zh-CN" sz="1350" baseline="-25000" dirty="0"/>
            </a:p>
          </p:txBody>
        </p:sp>
        <p:sp>
          <p:nvSpPr>
            <p:cNvPr id="19" name="Rectangle 29"/>
            <p:cNvSpPr>
              <a:spLocks noChangeArrowheads="1"/>
            </p:cNvSpPr>
            <p:nvPr/>
          </p:nvSpPr>
          <p:spPr bwMode="auto">
            <a:xfrm>
              <a:off x="5601551" y="2349544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3</a:t>
              </a:r>
              <a:endParaRPr lang="en-US" altLang="zh-CN" sz="1350" baseline="-25000" dirty="0"/>
            </a:p>
          </p:txBody>
        </p:sp>
        <p:sp>
          <p:nvSpPr>
            <p:cNvPr id="20" name="Line 7"/>
            <p:cNvSpPr>
              <a:spLocks noChangeShapeType="1"/>
            </p:cNvSpPr>
            <p:nvPr/>
          </p:nvSpPr>
          <p:spPr bwMode="auto">
            <a:xfrm>
              <a:off x="6040892" y="1882642"/>
              <a:ext cx="1553976" cy="618899"/>
            </a:xfrm>
            <a:prstGeom prst="line">
              <a:avLst/>
            </a:prstGeom>
            <a:noFill/>
            <a:ln w="44450">
              <a:solidFill>
                <a:srgbClr val="C00000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1" name="Line 7"/>
            <p:cNvSpPr>
              <a:spLocks noChangeShapeType="1"/>
            </p:cNvSpPr>
            <p:nvPr/>
          </p:nvSpPr>
          <p:spPr bwMode="auto">
            <a:xfrm>
              <a:off x="6040891" y="2118850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2" name="Line 7"/>
            <p:cNvSpPr>
              <a:spLocks noChangeShapeType="1"/>
            </p:cNvSpPr>
            <p:nvPr/>
          </p:nvSpPr>
          <p:spPr bwMode="auto">
            <a:xfrm>
              <a:off x="6040891" y="235605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28" name="Line 7"/>
            <p:cNvSpPr>
              <a:spLocks noChangeShapeType="1"/>
            </p:cNvSpPr>
            <p:nvPr/>
          </p:nvSpPr>
          <p:spPr bwMode="auto">
            <a:xfrm>
              <a:off x="6040891" y="2996311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5601551" y="2950274"/>
              <a:ext cx="439806" cy="216694"/>
            </a:xfrm>
            <a:prstGeom prst="rect">
              <a:avLst/>
            </a:prstGeom>
            <a:solidFill>
              <a:srgbClr val="97D2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1</a:t>
              </a:r>
              <a:endParaRPr lang="en-US" altLang="zh-CN" sz="1350" baseline="-25000" dirty="0"/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5601551" y="3194192"/>
              <a:ext cx="439806" cy="216694"/>
            </a:xfrm>
            <a:prstGeom prst="rect">
              <a:avLst/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4</a:t>
              </a:r>
              <a:endParaRPr lang="en-US" altLang="zh-CN" sz="1350" baseline="-25000" dirty="0"/>
            </a:p>
          </p:txBody>
        </p:sp>
        <p:sp>
          <p:nvSpPr>
            <p:cNvPr id="33" name="Rectangle 29"/>
            <p:cNvSpPr>
              <a:spLocks noChangeArrowheads="1"/>
            </p:cNvSpPr>
            <p:nvPr/>
          </p:nvSpPr>
          <p:spPr bwMode="auto">
            <a:xfrm>
              <a:off x="5601551" y="3430728"/>
              <a:ext cx="439806" cy="21669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5</a:t>
              </a:r>
              <a:endParaRPr lang="en-US" altLang="zh-CN" sz="1350" baseline="-25000" dirty="0"/>
            </a:p>
          </p:txBody>
        </p:sp>
        <p:sp>
          <p:nvSpPr>
            <p:cNvPr id="35" name="Line 7"/>
            <p:cNvSpPr>
              <a:spLocks noChangeShapeType="1"/>
            </p:cNvSpPr>
            <p:nvPr/>
          </p:nvSpPr>
          <p:spPr bwMode="auto">
            <a:xfrm>
              <a:off x="6040891" y="3245283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6" name="Line 7"/>
            <p:cNvSpPr>
              <a:spLocks noChangeShapeType="1"/>
            </p:cNvSpPr>
            <p:nvPr/>
          </p:nvSpPr>
          <p:spPr bwMode="auto">
            <a:xfrm>
              <a:off x="6040891" y="3481095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7" name="左大括号 6"/>
            <p:cNvSpPr/>
            <p:nvPr/>
          </p:nvSpPr>
          <p:spPr>
            <a:xfrm>
              <a:off x="5412205" y="2085783"/>
              <a:ext cx="111710" cy="1337346"/>
            </a:xfrm>
            <a:prstGeom prst="leftBrace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1" name="Rectangle 32"/>
            <p:cNvSpPr>
              <a:spLocks noChangeArrowheads="1"/>
            </p:cNvSpPr>
            <p:nvPr/>
          </p:nvSpPr>
          <p:spPr bwMode="auto">
            <a:xfrm>
              <a:off x="4996290" y="2010503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+mj-ea"/>
                  <a:ea typeface="+mj-ea"/>
                </a:rPr>
                <a:t>计时</a:t>
              </a:r>
              <a:endParaRPr lang="en-US" altLang="zh-CN" sz="15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42" name="Rectangle 29"/>
            <p:cNvSpPr>
              <a:spLocks noChangeArrowheads="1"/>
            </p:cNvSpPr>
            <p:nvPr/>
          </p:nvSpPr>
          <p:spPr bwMode="auto">
            <a:xfrm>
              <a:off x="5601551" y="3674473"/>
              <a:ext cx="439806" cy="216694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/>
                <a:t>pkt</a:t>
              </a:r>
              <a:r>
                <a:rPr lang="en-US" altLang="zh-CN" sz="1350" baseline="-25000" dirty="0"/>
                <a:t>6</a:t>
              </a:r>
              <a:endParaRPr lang="en-US" altLang="zh-CN" sz="1350" baseline="-25000" dirty="0"/>
            </a:p>
          </p:txBody>
        </p:sp>
        <p:sp>
          <p:nvSpPr>
            <p:cNvPr id="44" name="Line 7"/>
            <p:cNvSpPr>
              <a:spLocks noChangeShapeType="1"/>
            </p:cNvSpPr>
            <p:nvPr/>
          </p:nvSpPr>
          <p:spPr bwMode="auto">
            <a:xfrm>
              <a:off x="6040891" y="3762273"/>
              <a:ext cx="1559204" cy="632126"/>
            </a:xfrm>
            <a:prstGeom prst="line">
              <a:avLst/>
            </a:prstGeom>
            <a:noFill/>
            <a:ln w="44450">
              <a:solidFill>
                <a:srgbClr val="0000FF"/>
              </a:solidFill>
              <a:prstDash val="sysDash"/>
              <a:rou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9" name="Line 27"/>
            <p:cNvSpPr>
              <a:spLocks noChangeShapeType="1"/>
            </p:cNvSpPr>
            <p:nvPr/>
          </p:nvSpPr>
          <p:spPr bwMode="auto">
            <a:xfrm flipH="1">
              <a:off x="6076470" y="2313736"/>
              <a:ext cx="1506581" cy="40206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38" name="Line 27"/>
            <p:cNvSpPr>
              <a:spLocks noChangeShapeType="1"/>
            </p:cNvSpPr>
            <p:nvPr/>
          </p:nvSpPr>
          <p:spPr bwMode="auto">
            <a:xfrm flipH="1">
              <a:off x="6076470" y="2519548"/>
              <a:ext cx="1506581" cy="402065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0" name="Rectangle 32"/>
            <p:cNvSpPr>
              <a:spLocks noChangeArrowheads="1"/>
            </p:cNvSpPr>
            <p:nvPr/>
          </p:nvSpPr>
          <p:spPr bwMode="auto">
            <a:xfrm>
              <a:off x="6118994" y="2508666"/>
              <a:ext cx="433797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0000FF"/>
                  </a:solidFill>
                </a:rPr>
                <a:t>ack</a:t>
              </a:r>
              <a:r>
                <a:rPr lang="en-US" altLang="zh-CN" sz="1350" baseline="-25000" dirty="0">
                  <a:solidFill>
                    <a:srgbClr val="0000FF"/>
                  </a:solidFill>
                </a:rPr>
                <a:t>0</a:t>
              </a:r>
              <a:endParaRPr lang="en-US" altLang="zh-CN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43" name="Rectangle 32"/>
            <p:cNvSpPr>
              <a:spLocks noChangeArrowheads="1"/>
            </p:cNvSpPr>
            <p:nvPr/>
          </p:nvSpPr>
          <p:spPr bwMode="auto">
            <a:xfrm>
              <a:off x="6118994" y="2745985"/>
              <a:ext cx="433797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0000FF"/>
                  </a:solidFill>
                </a:rPr>
                <a:t>ack</a:t>
              </a:r>
              <a:r>
                <a:rPr lang="en-US" altLang="zh-CN" sz="1350" baseline="-25000" dirty="0">
                  <a:solidFill>
                    <a:srgbClr val="0000FF"/>
                  </a:solidFill>
                </a:rPr>
                <a:t>0</a:t>
              </a:r>
              <a:endParaRPr lang="en-US" altLang="zh-CN" baseline="-25000" dirty="0">
                <a:solidFill>
                  <a:srgbClr val="0000FF"/>
                </a:solidFill>
              </a:endParaRPr>
            </a:p>
          </p:txBody>
        </p:sp>
        <p:sp>
          <p:nvSpPr>
            <p:cNvPr id="51" name="Rectangle 32"/>
            <p:cNvSpPr>
              <a:spLocks noChangeArrowheads="1"/>
            </p:cNvSpPr>
            <p:nvPr/>
          </p:nvSpPr>
          <p:spPr bwMode="auto">
            <a:xfrm>
              <a:off x="7511549" y="2363475"/>
              <a:ext cx="439806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zh-CN" altLang="en-US" sz="1500" dirty="0">
                  <a:solidFill>
                    <a:srgbClr val="FF0000"/>
                  </a:solidFill>
                  <a:latin typeface="+mj-ea"/>
                  <a:ea typeface="+mj-ea"/>
                </a:rPr>
                <a:t>错</a:t>
              </a:r>
              <a:endParaRPr lang="en-US" altLang="zh-CN" sz="1500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sp>
          <p:nvSpPr>
            <p:cNvPr id="45" name="Line 27"/>
            <p:cNvSpPr>
              <a:spLocks noChangeShapeType="1"/>
            </p:cNvSpPr>
            <p:nvPr/>
          </p:nvSpPr>
          <p:spPr bwMode="auto">
            <a:xfrm flipH="1">
              <a:off x="6057640" y="3027032"/>
              <a:ext cx="1525410" cy="19718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6" name="Rectangle 32"/>
            <p:cNvSpPr>
              <a:spLocks noChangeArrowheads="1"/>
            </p:cNvSpPr>
            <p:nvPr/>
          </p:nvSpPr>
          <p:spPr bwMode="auto">
            <a:xfrm rot="21130835">
              <a:off x="6496889" y="2963917"/>
              <a:ext cx="433797" cy="21669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lang="en-US" altLang="zh-CN" sz="1350" dirty="0">
                  <a:solidFill>
                    <a:srgbClr val="0000FF"/>
                  </a:solidFill>
                </a:rPr>
                <a:t>ack</a:t>
              </a:r>
              <a:r>
                <a:rPr lang="en-US" altLang="zh-CN" sz="1350" baseline="-25000" dirty="0">
                  <a:solidFill>
                    <a:srgbClr val="0000FF"/>
                  </a:solidFill>
                </a:rPr>
                <a:t>3</a:t>
              </a:r>
              <a:endParaRPr lang="en-US" altLang="zh-CN" baseline="-25000" dirty="0">
                <a:solidFill>
                  <a:srgbClr val="0000FF"/>
                </a:solidFill>
              </a:endParaRPr>
            </a:p>
          </p:txBody>
        </p:sp>
      </p:grpSp>
      <p:sp>
        <p:nvSpPr>
          <p:cNvPr id="37" name="内容占位符 2"/>
          <p:cNvSpPr txBox="1"/>
          <p:nvPr/>
        </p:nvSpPr>
        <p:spPr>
          <a:xfrm>
            <a:off x="468000" y="936000"/>
            <a:ext cx="7886700" cy="393365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3.4.4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选择重传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前提：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接收方有缓存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可接收失序的分组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暂缓提交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问题：接收方肿么确认分组？</a:t>
            </a:r>
            <a:endParaRPr lang="en-US" altLang="zh-CN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：分组丢失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数据失序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：确认丢失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超时事件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：分组出错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重复确认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接收方：重复确认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发送方：可在超时之前就重传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5">
              <a:lnSpc>
                <a:spcPct val="10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果断处之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sz="1350" dirty="0">
              <a:solidFill>
                <a:srgbClr val="0066CC"/>
              </a:solidFill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645" y="2844785"/>
            <a:ext cx="571429" cy="584127"/>
          </a:xfrm>
          <a:prstGeom prst="rect">
            <a:avLst/>
          </a:prstGeom>
        </p:spPr>
      </p:pic>
      <p:sp>
        <p:nvSpPr>
          <p:cNvPr id="4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7544" y="936000"/>
            <a:ext cx="7886700" cy="326231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选择重传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450"/>
              </a:spcBef>
            </a:pPr>
            <a:endParaRPr lang="en-US" altLang="zh-CN" sz="1500" dirty="0">
              <a:solidFill>
                <a:srgbClr val="FF0000"/>
              </a:solidFill>
            </a:endParaRPr>
          </a:p>
        </p:txBody>
      </p:sp>
      <p:pic>
        <p:nvPicPr>
          <p:cNvPr id="8" name="Picture 3" descr="sr_seqnum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726" y="1469932"/>
            <a:ext cx="5654452" cy="3375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7596336" y="4270698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ial" panose="020B0604020202020204"/>
                <a:ea typeface="黑体" panose="02010609060101010101" charset="-122"/>
                <a:hlinkClick r:id="rId2" action="ppaction://hlinkfile"/>
              </a:rPr>
              <a:t>动画演示</a:t>
            </a:r>
            <a:endParaRPr lang="zh-CN" altLang="en-US" sz="1350" dirty="0"/>
          </a:p>
        </p:txBody>
      </p:sp>
      <p:sp>
        <p:nvSpPr>
          <p:cNvPr id="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3.4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可靠数据传输原理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468000" y="935999"/>
            <a:ext cx="7886700" cy="4025335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3.4.5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实现可靠传输的</a:t>
            </a:r>
            <a:r>
              <a:rPr lang="zh-CN" altLang="en-US" sz="20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基础构件</a:t>
            </a:r>
            <a:endParaRPr lang="en-US" altLang="zh-CN" sz="20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检验和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Checksum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定时器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Timer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序号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Sequence Nu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ber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序号空间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确认序号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Acknowledgement Number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累积确认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，重复确认，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逐一确认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流水线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滑动窗口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Slide Window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窗口尺寸：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窗口变量：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base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nextsqnum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835" y="2427734"/>
            <a:ext cx="1867865" cy="1512168"/>
          </a:xfrm>
          <a:prstGeom prst="rect">
            <a:avLst/>
          </a:prstGeom>
        </p:spPr>
      </p:pic>
      <p:sp>
        <p:nvSpPr>
          <p:cNvPr id="9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可靠数据传输原理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</a:t>
            </a:r>
            <a:r>
              <a:rPr lang="en-US" altLang="zh-CN" dirty="0"/>
              <a:t>: TCP</a:t>
            </a:r>
            <a:endParaRPr lang="zh-CN" altLang="en-US" dirty="0"/>
          </a:p>
        </p:txBody>
      </p:sp>
      <p:sp>
        <p:nvSpPr>
          <p:cNvPr id="11" name="内容占位符 2"/>
          <p:cNvSpPr txBox="1"/>
          <p:nvPr/>
        </p:nvSpPr>
        <p:spPr>
          <a:xfrm>
            <a:off x="683568" y="3734475"/>
            <a:ext cx="3888432" cy="43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12" name="内容占位符 2"/>
          <p:cNvSpPr txBox="1"/>
          <p:nvPr/>
        </p:nvSpPr>
        <p:spPr>
          <a:xfrm>
            <a:off x="683568" y="4464335"/>
            <a:ext cx="3888432" cy="43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171450" indent="-17145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8" name="Rectangle 15"/>
          <p:cNvSpPr txBox="1">
            <a:spLocks noChangeArrowheads="1"/>
          </p:cNvSpPr>
          <p:nvPr/>
        </p:nvSpPr>
        <p:spPr bwMode="auto">
          <a:xfrm>
            <a:off x="2804464" y="1518632"/>
            <a:ext cx="3639744" cy="256528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0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3.5.2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数据封装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往返时间估计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3.5.5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流量控制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3.5.6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46" descr="j043386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302" y="1518632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410445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altLang="zh-CN" sz="2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2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2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TCP: RFCs 793, 1122,1323, 2018, 2581</a:t>
            </a:r>
            <a:endParaRPr lang="en-US" altLang="zh-CN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因特网最复杂的协议</a:t>
            </a:r>
            <a:r>
              <a:rPr lang="zh-CN" altLang="en-US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，没有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之一</a:t>
            </a:r>
            <a:endParaRPr lang="en-US" altLang="zh-CN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端到端协议：一个发送方，一个接收方 </a:t>
            </a:r>
            <a:r>
              <a:rPr lang="en-US" altLang="zh-CN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不会广播</a:t>
            </a:r>
            <a:r>
              <a:rPr lang="en-US" altLang="zh-CN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zh-CN" altLang="en-US" sz="17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可靠传输：</a:t>
            </a:r>
            <a:endParaRPr lang="en-US" altLang="zh-CN" sz="17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有序的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字节流传输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无损坏、</a:t>
            </a:r>
            <a:r>
              <a:rPr lang="zh-CN" altLang="en-US" dirty="0">
                <a:solidFill>
                  <a:srgbClr val="C00000"/>
                </a:solidFill>
              </a:rPr>
              <a:t>无</a:t>
            </a: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冗余、按序交付</a:t>
            </a: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差错检验：</a:t>
            </a: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Checksum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重传：解决数据差错、分组丢失、超时等问题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累积确认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序号，确认号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流水线协议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20000"/>
              </a:lnSpc>
              <a:spcBef>
                <a:spcPts val="600"/>
              </a:spcBef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提供流控制和拥塞控制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  <a:spcBef>
                <a:spcPts val="600"/>
              </a:spcBef>
            </a:pP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4207500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全双工协议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连接中，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数据流是双向的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接收方：可以发送数据，也可以接收数据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：最大报文段长度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面向连接的协议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握手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交换控制信息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初始化发送方和接收方的状态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可实现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流控制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发送方的发送速度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不能</a:t>
            </a:r>
            <a:r>
              <a:rPr lang="zh-CN" altLang="en-US" dirty="0"/>
              <a:t>大于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接收方的接收速度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741885" y="1624473"/>
            <a:ext cx="6687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5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</a:t>
            </a:r>
            <a:endParaRPr kumimoji="1" lang="en-US" altLang="zh-CN" sz="54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3405187" y="4341480"/>
            <a:ext cx="233363" cy="122635"/>
          </a:xfrm>
          <a:prstGeom prst="rightArrow">
            <a:avLst>
              <a:gd name="adj1" fmla="val 50000"/>
              <a:gd name="adj2" fmla="val 4757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6706792" y="4341480"/>
            <a:ext cx="230981" cy="122635"/>
          </a:xfrm>
          <a:prstGeom prst="rightArrow">
            <a:avLst>
              <a:gd name="adj1" fmla="val 50000"/>
              <a:gd name="adj2" fmla="val 4708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4852987" y="4341480"/>
            <a:ext cx="233363" cy="122635"/>
          </a:xfrm>
          <a:prstGeom prst="rightArrow">
            <a:avLst>
              <a:gd name="adj1" fmla="val 50000"/>
              <a:gd name="adj2" fmla="val 4757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521619" y="2888918"/>
            <a:ext cx="56938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endParaRPr kumimoji="1" lang="zh-CN" altLang="en-US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2044304" y="2307892"/>
            <a:ext cx="5953" cy="88582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 rot="5400000">
            <a:off x="2103075" y="2734479"/>
            <a:ext cx="37061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en-US" altLang="zh-CN" sz="1500" b="1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3791668" y="4624849"/>
            <a:ext cx="144398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kumimoji="1" lang="zh-CN" altLang="en-US" sz="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kumimoji="1" lang="en-US" altLang="zh-CN" sz="6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endParaRPr kumimoji="1" lang="zh-CN" altLang="en-US" sz="14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2166938" y="2438862"/>
            <a:ext cx="489347" cy="127397"/>
          </a:xfrm>
          <a:prstGeom prst="rect">
            <a:avLst/>
          </a:prstGeom>
          <a:solidFill>
            <a:srgbClr val="CC00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2166938" y="2630552"/>
            <a:ext cx="121444" cy="130969"/>
          </a:xfrm>
          <a:prstGeom prst="rect">
            <a:avLst/>
          </a:prstGeom>
          <a:solidFill>
            <a:srgbClr val="CC00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2166938" y="3017505"/>
            <a:ext cx="305991" cy="130969"/>
          </a:xfrm>
          <a:prstGeom prst="rect">
            <a:avLst/>
          </a:prstGeom>
          <a:solidFill>
            <a:srgbClr val="CC00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1308497" y="3275871"/>
            <a:ext cx="1471613" cy="840581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kumimoji="1" lang="en-US" altLang="zh-CN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endParaRPr kumimoji="1" lang="en-US" altLang="zh-CN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en-US" altLang="zh-CN" sz="75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en-US" altLang="zh-CN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 flipV="1">
            <a:off x="7131844" y="2307892"/>
            <a:ext cx="0" cy="967979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 rot="5400000">
            <a:off x="7189425" y="2738051"/>
            <a:ext cx="37061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en-US" altLang="zh-CN" sz="1500" b="1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7254479" y="3017505"/>
            <a:ext cx="367903" cy="130969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6396038" y="3275871"/>
            <a:ext cx="1470422" cy="840581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kumimoji="1" lang="en-US" altLang="zh-CN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endParaRPr kumimoji="1" lang="en-US" altLang="zh-CN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en-US" altLang="zh-CN" sz="75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en-US" altLang="zh-CN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6556772" y="3729498"/>
            <a:ext cx="1165622" cy="253604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接收缓存</a:t>
            </a:r>
            <a:endParaRPr kumimoji="1" lang="zh-CN" altLang="en-US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Freeform 20"/>
          <p:cNvSpPr/>
          <p:nvPr/>
        </p:nvSpPr>
        <p:spPr bwMode="auto">
          <a:xfrm>
            <a:off x="2044304" y="4116452"/>
            <a:ext cx="5087540" cy="514350"/>
          </a:xfrm>
          <a:custGeom>
            <a:avLst/>
            <a:gdLst>
              <a:gd name="T0" fmla="*/ 0 w 3264"/>
              <a:gd name="T1" fmla="*/ 0 h 384"/>
              <a:gd name="T2" fmla="*/ 0 w 3264"/>
              <a:gd name="T3" fmla="*/ 384 h 384"/>
              <a:gd name="T4" fmla="*/ 3264 w 3264"/>
              <a:gd name="T5" fmla="*/ 384 h 384"/>
              <a:gd name="T6" fmla="*/ 3264 w 3264"/>
              <a:gd name="T7" fmla="*/ 0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64" h="384">
                <a:moveTo>
                  <a:pt x="0" y="0"/>
                </a:moveTo>
                <a:lnTo>
                  <a:pt x="0" y="384"/>
                </a:lnTo>
                <a:lnTo>
                  <a:pt x="3264" y="384"/>
                </a:lnTo>
                <a:lnTo>
                  <a:pt x="3264" y="0"/>
                </a:lnTo>
              </a:path>
            </a:pathLst>
          </a:custGeom>
          <a:noFill/>
          <a:ln w="28575" cmpd="sng">
            <a:solidFill>
              <a:srgbClr val="33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1"/>
          <p:cNvSpPr>
            <a:spLocks noChangeArrowheads="1"/>
          </p:cNvSpPr>
          <p:nvPr/>
        </p:nvSpPr>
        <p:spPr bwMode="auto">
          <a:xfrm>
            <a:off x="1470423" y="3729498"/>
            <a:ext cx="1163240" cy="253604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发送缓存</a:t>
            </a:r>
            <a:endParaRPr kumimoji="1" lang="zh-CN" altLang="en-US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350294" y="4243849"/>
            <a:ext cx="1041797" cy="258366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kumimoji="1" lang="zh-CN" altLang="en-US" sz="12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endParaRPr kumimoji="1" lang="zh-CN" altLang="en-US" sz="12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5169694" y="4160505"/>
            <a:ext cx="37061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en-US" altLang="zh-CN" sz="1500" b="1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4"/>
          <p:cNvSpPr>
            <a:spLocks noChangeArrowheads="1"/>
          </p:cNvSpPr>
          <p:nvPr/>
        </p:nvSpPr>
        <p:spPr bwMode="auto">
          <a:xfrm>
            <a:off x="3821907" y="4243849"/>
            <a:ext cx="1041797" cy="258366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kumimoji="1" lang="zh-CN" altLang="en-US" sz="12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endParaRPr kumimoji="1" lang="zh-CN" altLang="en-US" sz="12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5660232" y="4243849"/>
            <a:ext cx="1041797" cy="258366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kumimoji="1" lang="zh-CN" altLang="en-US" sz="12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endParaRPr kumimoji="1" lang="zh-CN" altLang="en-US" sz="12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ectangle 26"/>
          <p:cNvSpPr>
            <a:spLocks noChangeArrowheads="1"/>
          </p:cNvSpPr>
          <p:nvPr/>
        </p:nvSpPr>
        <p:spPr bwMode="auto">
          <a:xfrm>
            <a:off x="7254479" y="2630552"/>
            <a:ext cx="367903" cy="130969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7254479" y="2438862"/>
            <a:ext cx="367903" cy="127397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Box 28"/>
          <p:cNvSpPr txBox="1">
            <a:spLocks noChangeArrowheads="1"/>
          </p:cNvSpPr>
          <p:nvPr/>
        </p:nvSpPr>
        <p:spPr bwMode="auto">
          <a:xfrm>
            <a:off x="6566298" y="2907968"/>
            <a:ext cx="56938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endParaRPr kumimoji="1" lang="zh-CN" altLang="en-US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1652715" y="1497077"/>
            <a:ext cx="76174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发送端</a:t>
            </a:r>
            <a:endParaRPr kumimoji="1" lang="zh-CN" altLang="en-US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Box 30"/>
          <p:cNvSpPr txBox="1">
            <a:spLocks noChangeArrowheads="1"/>
          </p:cNvSpPr>
          <p:nvPr/>
        </p:nvSpPr>
        <p:spPr bwMode="auto">
          <a:xfrm>
            <a:off x="6736683" y="1498268"/>
            <a:ext cx="76174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接收端</a:t>
            </a:r>
            <a:endParaRPr kumimoji="1" lang="zh-CN" altLang="en-US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AutoShape 31"/>
          <p:cNvSpPr>
            <a:spLocks noChangeArrowheads="1"/>
          </p:cNvSpPr>
          <p:nvPr/>
        </p:nvSpPr>
        <p:spPr bwMode="auto">
          <a:xfrm>
            <a:off x="2997896" y="2955916"/>
            <a:ext cx="1066800" cy="411719"/>
          </a:xfrm>
          <a:prstGeom prst="wedgeRoundRectCallout">
            <a:avLst>
              <a:gd name="adj1" fmla="val -82422"/>
              <a:gd name="adj2" fmla="val 163418"/>
              <a:gd name="adj3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/>
            <a:r>
              <a:rPr kumimoji="1" lang="zh-CN" altLang="en-US" sz="11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向发送缓存</a:t>
            </a:r>
            <a:endParaRPr kumimoji="1" lang="zh-CN" altLang="en-US" sz="11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1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写入数据块</a:t>
            </a:r>
            <a:endParaRPr kumimoji="1" lang="zh-CN" altLang="en-US" sz="11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AutoShape 33"/>
          <p:cNvSpPr>
            <a:spLocks noChangeArrowheads="1"/>
          </p:cNvSpPr>
          <p:nvPr/>
        </p:nvSpPr>
        <p:spPr bwMode="auto">
          <a:xfrm>
            <a:off x="4977580" y="2988931"/>
            <a:ext cx="1045369" cy="411719"/>
          </a:xfrm>
          <a:prstGeom prst="wedgeRoundRectCallout">
            <a:avLst>
              <a:gd name="adj1" fmla="val 93582"/>
              <a:gd name="adj2" fmla="val 151256"/>
              <a:gd name="adj3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/>
            <a:r>
              <a:rPr kumimoji="1" lang="zh-CN" altLang="en-US" sz="11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从接收缓存</a:t>
            </a:r>
            <a:endParaRPr kumimoji="1" lang="zh-CN" altLang="en-US" sz="11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1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读取数据块</a:t>
            </a:r>
            <a:endParaRPr kumimoji="1" lang="zh-CN" altLang="en-US" sz="11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Box 35"/>
          <p:cNvSpPr txBox="1">
            <a:spLocks noChangeArrowheads="1"/>
          </p:cNvSpPr>
          <p:nvPr/>
        </p:nvSpPr>
        <p:spPr bwMode="auto">
          <a:xfrm>
            <a:off x="926761" y="1915711"/>
            <a:ext cx="95410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应用进程</a:t>
            </a:r>
            <a:endParaRPr kumimoji="1" lang="zh-CN" altLang="en-US" sz="15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Box 36"/>
          <p:cNvSpPr txBox="1">
            <a:spLocks noChangeArrowheads="1"/>
          </p:cNvSpPr>
          <p:nvPr/>
        </p:nvSpPr>
        <p:spPr bwMode="auto">
          <a:xfrm>
            <a:off x="7348954" y="1944353"/>
            <a:ext cx="95410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应用进程</a:t>
            </a:r>
            <a:endParaRPr kumimoji="1" lang="zh-CN" altLang="en-US" sz="15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Box 37"/>
          <p:cNvSpPr txBox="1">
            <a:spLocks noChangeArrowheads="1"/>
          </p:cNvSpPr>
          <p:nvPr/>
        </p:nvSpPr>
        <p:spPr bwMode="auto">
          <a:xfrm>
            <a:off x="6824663" y="1660192"/>
            <a:ext cx="6687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5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</a:t>
            </a:r>
            <a:endParaRPr kumimoji="1" lang="en-US" altLang="zh-CN" sz="54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38"/>
          <p:cNvSpPr>
            <a:spLocks noChangeArrowheads="1"/>
          </p:cNvSpPr>
          <p:nvPr/>
        </p:nvSpPr>
        <p:spPr bwMode="auto">
          <a:xfrm>
            <a:off x="1982392" y="3193717"/>
            <a:ext cx="134540" cy="14406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39"/>
          <p:cNvSpPr>
            <a:spLocks noChangeArrowheads="1"/>
          </p:cNvSpPr>
          <p:nvPr/>
        </p:nvSpPr>
        <p:spPr bwMode="auto">
          <a:xfrm>
            <a:off x="7060406" y="3193717"/>
            <a:ext cx="134541" cy="14406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utoShape 42"/>
          <p:cNvSpPr/>
          <p:nvPr/>
        </p:nvSpPr>
        <p:spPr bwMode="auto">
          <a:xfrm rot="5400000">
            <a:off x="4275535" y="3493755"/>
            <a:ext cx="161925" cy="1081088"/>
          </a:xfrm>
          <a:prstGeom prst="leftBrace">
            <a:avLst>
              <a:gd name="adj1" fmla="val 131613"/>
              <a:gd name="adj2" fmla="val 4953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/>
            <a:endParaRPr lang="zh-CN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43"/>
          <p:cNvSpPr>
            <a:spLocks noChangeArrowheads="1"/>
          </p:cNvSpPr>
          <p:nvPr/>
        </p:nvSpPr>
        <p:spPr bwMode="auto">
          <a:xfrm>
            <a:off x="3855245" y="3633653"/>
            <a:ext cx="1041797" cy="25836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66CC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MSS</a:t>
            </a:r>
            <a:endParaRPr kumimoji="1"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8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8" name="Rectangle 15"/>
          <p:cNvSpPr txBox="1">
            <a:spLocks noChangeArrowheads="1"/>
          </p:cNvSpPr>
          <p:nvPr/>
        </p:nvSpPr>
        <p:spPr bwMode="auto">
          <a:xfrm>
            <a:off x="2804464" y="1518632"/>
            <a:ext cx="3639744" cy="256528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0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0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3.5.2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数据封装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往返时间估计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3.5.5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流量控制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3.5.6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46" descr="j043386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302" y="1518632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6408711" cy="264386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的序号、确认号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序号空间：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[0~2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序号规则：面向字节流编序号：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报文段的编号是该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报文段数据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中第一个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字节的编号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Sq#(i+1) == Sq#(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+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segment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不是对报文段编号</a:t>
            </a: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499742"/>
            <a:ext cx="399573" cy="36115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2935" y="4128839"/>
            <a:ext cx="45719" cy="270000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24501" y="4111059"/>
            <a:ext cx="840118" cy="30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22701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95007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67313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41418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12983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82008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053573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125138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198526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268046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731579" y="4128839"/>
            <a:ext cx="45719" cy="270000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703145" y="4111059"/>
            <a:ext cx="1023352" cy="30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801345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873651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945957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2020062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653563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2091627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2160652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2232217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2303782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2377170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2446690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516407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584985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3013907" y="4128839"/>
            <a:ext cx="45719" cy="270000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2985473" y="4111059"/>
            <a:ext cx="1023352" cy="30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3083673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155979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228285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302390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3935891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373955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3442980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3514545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586110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659498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3729018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3798735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3867313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524501" y="3445113"/>
            <a:ext cx="3342812" cy="261610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34580" y="4712245"/>
            <a:ext cx="1153244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200" dirty="0"/>
              <a:t>Segments</a:t>
            </a:r>
            <a:endParaRPr lang="zh-CN" altLang="en-US" sz="1200" dirty="0"/>
          </a:p>
        </p:txBody>
      </p:sp>
      <p:sp>
        <p:nvSpPr>
          <p:cNvPr id="59" name="文本框 58"/>
          <p:cNvSpPr txBox="1"/>
          <p:nvPr/>
        </p:nvSpPr>
        <p:spPr>
          <a:xfrm>
            <a:off x="467544" y="4507501"/>
            <a:ext cx="373874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200" dirty="0">
                <a:solidFill>
                  <a:srgbClr val="0070C0"/>
                </a:solidFill>
              </a:rPr>
              <a:t>#1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416537" y="4507501"/>
            <a:ext cx="628649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200" dirty="0">
                <a:solidFill>
                  <a:srgbClr val="0070C0"/>
                </a:solidFill>
              </a:rPr>
              <a:t>#526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1350095" y="3363838"/>
            <a:ext cx="1008112" cy="468000"/>
            <a:chOff x="2933818" y="2175758"/>
            <a:chExt cx="1008112" cy="468000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3005826" y="2175758"/>
              <a:ext cx="0" cy="4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3867344" y="2175758"/>
              <a:ext cx="0" cy="4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2933818" y="2303688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2933818" y="2395441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3797914" y="2311122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3797914" y="2402875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文本框 68"/>
          <p:cNvSpPr txBox="1"/>
          <p:nvPr/>
        </p:nvSpPr>
        <p:spPr>
          <a:xfrm>
            <a:off x="1270442" y="3400859"/>
            <a:ext cx="1153244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200" dirty="0"/>
              <a:t>Message</a:t>
            </a:r>
            <a:endParaRPr lang="zh-CN" altLang="en-US" sz="1200" dirty="0"/>
          </a:p>
        </p:txBody>
      </p:sp>
      <p:sp>
        <p:nvSpPr>
          <p:cNvPr id="70" name="文本框 69"/>
          <p:cNvSpPr txBox="1"/>
          <p:nvPr/>
        </p:nvSpPr>
        <p:spPr>
          <a:xfrm>
            <a:off x="2819291" y="3426893"/>
            <a:ext cx="8473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719017" y="4507501"/>
            <a:ext cx="628649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#?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82087" y="3835497"/>
            <a:ext cx="1169037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900" b="1" dirty="0"/>
              <a:t>Len==525Bytes</a:t>
            </a:r>
            <a:endParaRPr lang="zh-CN" altLang="en-US" sz="900" b="1" dirty="0"/>
          </a:p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976" y="3080185"/>
            <a:ext cx="4734209" cy="18678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1650251" y="3835497"/>
            <a:ext cx="1169037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900" b="1" dirty="0"/>
              <a:t>Len==1440Bytes</a:t>
            </a:r>
            <a:endParaRPr lang="zh-CN" altLang="en-US" sz="900" b="1" dirty="0"/>
          </a:p>
        </p:txBody>
      </p:sp>
      <p:cxnSp>
        <p:nvCxnSpPr>
          <p:cNvPr id="83" name="直接箭头连接符 82"/>
          <p:cNvCxnSpPr>
            <a:endCxn id="85" idx="1"/>
          </p:cNvCxnSpPr>
          <p:nvPr/>
        </p:nvCxnSpPr>
        <p:spPr>
          <a:xfrm flipV="1">
            <a:off x="3155979" y="1444883"/>
            <a:ext cx="1055981" cy="40678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4211960" y="1275606"/>
            <a:ext cx="4608512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连接理论上能传输的最大字节数是多少？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11" grpId="0" animBg="1"/>
      <p:bldP spid="11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4322966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的序号、确认号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序号空间：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[0~(2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-1)]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序号规则：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确认号：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ACK#(0) == 0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ACK#(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==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en-US" altLang="zh-CN" dirty="0"/>
              <a:t>+ </a:t>
            </a:r>
            <a:r>
              <a:rPr lang="en-US" altLang="zh-CN" dirty="0" err="1"/>
              <a:t>L</a:t>
            </a:r>
            <a:r>
              <a:rPr lang="en-US" altLang="zh-CN" baseline="-25000" dirty="0" err="1"/>
              <a:t>segment</a:t>
            </a:r>
            <a:r>
              <a:rPr lang="en-US" altLang="zh-CN" baseline="-25000" dirty="0"/>
              <a:t>(</a:t>
            </a:r>
            <a:r>
              <a:rPr lang="en-US" altLang="zh-CN" baseline="-25000" dirty="0" err="1"/>
              <a:t>i</a:t>
            </a:r>
            <a:r>
              <a:rPr lang="en-US" altLang="zh-CN" baseline="-25000" dirty="0"/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报文段长度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期望的下一个报文段</a:t>
            </a:r>
            <a:r>
              <a:rPr lang="zh-CN" altLang="en-US" dirty="0">
                <a:solidFill>
                  <a:srgbClr val="FF0000"/>
                </a:solidFill>
              </a:rPr>
              <a:t>序号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3"/>
          <p:cNvSpPr>
            <a:spLocks noChangeShapeType="1"/>
          </p:cNvSpPr>
          <p:nvPr/>
        </p:nvSpPr>
        <p:spPr bwMode="auto">
          <a:xfrm>
            <a:off x="5799834" y="3714351"/>
            <a:ext cx="1943100" cy="37981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2" name="Line 4"/>
          <p:cNvSpPr>
            <a:spLocks noChangeShapeType="1"/>
          </p:cNvSpPr>
          <p:nvPr/>
        </p:nvSpPr>
        <p:spPr bwMode="auto">
          <a:xfrm>
            <a:off x="5810550" y="2387994"/>
            <a:ext cx="1939528" cy="4286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632113" y="2271148"/>
            <a:ext cx="1257019" cy="2585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1200" dirty="0"/>
              <a:t>User types </a:t>
            </a:r>
            <a:r>
              <a:rPr lang="ja-JP" altLang="en-US" sz="1200" dirty="0"/>
              <a:t>‘</a:t>
            </a:r>
            <a:r>
              <a:rPr lang="en-US" altLang="ja-JP" sz="1200" dirty="0"/>
              <a:t>C</a:t>
            </a:r>
            <a:r>
              <a:rPr lang="ja-JP" altLang="en-US" sz="1200" dirty="0"/>
              <a:t>’</a:t>
            </a:r>
            <a:endParaRPr lang="en-US" altLang="zh-CN" sz="750" dirty="0"/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4901888" y="3328570"/>
            <a:ext cx="867545" cy="7571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altLang="zh-CN" sz="1200" dirty="0"/>
              <a:t>host ACKs</a:t>
            </a:r>
            <a:endParaRPr lang="en-US" altLang="zh-CN" sz="1200" dirty="0"/>
          </a:p>
          <a:p>
            <a:pPr algn="r">
              <a:lnSpc>
                <a:spcPct val="90000"/>
              </a:lnSpc>
            </a:pPr>
            <a:r>
              <a:rPr lang="en-US" altLang="zh-CN" sz="1200" dirty="0"/>
              <a:t>receipt </a:t>
            </a:r>
            <a:endParaRPr lang="en-US" altLang="zh-CN" sz="1200" dirty="0"/>
          </a:p>
          <a:p>
            <a:pPr algn="r">
              <a:lnSpc>
                <a:spcPct val="90000"/>
              </a:lnSpc>
            </a:pPr>
            <a:r>
              <a:rPr lang="en-US" altLang="zh-CN" sz="1200" dirty="0"/>
              <a:t>of echoed</a:t>
            </a:r>
            <a:endParaRPr lang="en-US" altLang="zh-CN" sz="1200" dirty="0"/>
          </a:p>
          <a:p>
            <a:pPr algn="r">
              <a:lnSpc>
                <a:spcPct val="90000"/>
              </a:lnSpc>
            </a:pPr>
            <a:r>
              <a:rPr lang="ja-JP" altLang="en-US" sz="1200" dirty="0"/>
              <a:t>‘</a:t>
            </a:r>
            <a:r>
              <a:rPr lang="en-US" altLang="ja-JP" sz="1200" dirty="0"/>
              <a:t>C</a:t>
            </a:r>
            <a:r>
              <a:rPr lang="ja-JP" altLang="en-US" sz="1200" dirty="0"/>
              <a:t>’</a:t>
            </a:r>
            <a:endParaRPr lang="en-US" altLang="zh-CN" sz="750" dirty="0"/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7773523" y="2583486"/>
            <a:ext cx="1306758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l"/>
            <a:r>
              <a:rPr lang="en-US" altLang="zh-CN" sz="1200" dirty="0"/>
              <a:t>host ACKs</a:t>
            </a:r>
            <a:endParaRPr lang="en-US" altLang="zh-CN" sz="1200" dirty="0"/>
          </a:p>
          <a:p>
            <a:pPr algn="l"/>
            <a:r>
              <a:rPr lang="en-US" altLang="zh-CN" sz="1200" dirty="0"/>
              <a:t>receipt of </a:t>
            </a:r>
            <a:r>
              <a:rPr lang="ja-JP" altLang="en-US" sz="1200" dirty="0"/>
              <a:t>‘</a:t>
            </a:r>
            <a:r>
              <a:rPr lang="en-US" altLang="ja-JP" sz="1200" dirty="0"/>
              <a:t>C</a:t>
            </a:r>
            <a:r>
              <a:rPr lang="ja-JP" altLang="en-US" sz="1200" dirty="0"/>
              <a:t>’</a:t>
            </a:r>
            <a:r>
              <a:rPr lang="en-US" altLang="ja-JP" sz="1200" dirty="0"/>
              <a:t>, echoes </a:t>
            </a:r>
            <a:r>
              <a:rPr lang="en-US" altLang="zh-CN" sz="1200" dirty="0"/>
              <a:t>back </a:t>
            </a:r>
            <a:r>
              <a:rPr lang="ja-JP" altLang="en-US" sz="1200" dirty="0"/>
              <a:t>‘</a:t>
            </a:r>
            <a:r>
              <a:rPr lang="en-US" altLang="ja-JP" sz="1200" dirty="0"/>
              <a:t>C</a:t>
            </a:r>
            <a:r>
              <a:rPr lang="ja-JP" altLang="en-US" sz="1200" dirty="0"/>
              <a:t>’</a:t>
            </a:r>
            <a:endParaRPr lang="en-US" altLang="zh-CN" sz="1200" dirty="0"/>
          </a:p>
        </p:txBody>
      </p:sp>
      <p:sp>
        <p:nvSpPr>
          <p:cNvPr id="16" name="Line 10"/>
          <p:cNvSpPr>
            <a:spLocks noChangeShapeType="1"/>
          </p:cNvSpPr>
          <p:nvPr/>
        </p:nvSpPr>
        <p:spPr bwMode="auto">
          <a:xfrm flipH="1">
            <a:off x="5803407" y="2967829"/>
            <a:ext cx="1915715" cy="6000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5948663" y="4320379"/>
            <a:ext cx="1872820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简单的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telnet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交互场景</a:t>
            </a:r>
            <a:endParaRPr lang="en-US" altLang="zh-CN" sz="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7441706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B</a:t>
            </a:r>
            <a:endParaRPr lang="en-US" sz="1200"/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5514085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 rot="731052">
            <a:off x="5896771" y="2363750"/>
            <a:ext cx="1952779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r>
              <a:rPr lang="en-US" altLang="zh-CN" sz="1050" dirty="0"/>
              <a:t>Seq=42, ACK=79, data = </a:t>
            </a:r>
            <a:r>
              <a:rPr lang="ja-JP" altLang="en-US" sz="1050" dirty="0"/>
              <a:t>‘</a:t>
            </a:r>
            <a:r>
              <a:rPr lang="en-US" altLang="ja-JP" sz="1050" dirty="0"/>
              <a:t>C</a:t>
            </a:r>
            <a:r>
              <a:rPr lang="ja-JP" altLang="en-US" sz="1050" dirty="0"/>
              <a:t>’</a:t>
            </a:r>
            <a:endParaRPr lang="en-US" altLang="zh-CN" sz="1050" dirty="0"/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 rot="20526830">
            <a:off x="5795226" y="3004125"/>
            <a:ext cx="1955985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r>
              <a:rPr lang="en-US" altLang="zh-CN" sz="1050" dirty="0">
                <a:latin typeface="Arial" panose="020B0604020202020204" pitchFamily="34" charset="0"/>
              </a:rPr>
              <a:t>Seq=79, ACK=43, data = </a:t>
            </a:r>
            <a:r>
              <a:rPr lang="ja-JP" altLang="en-US" sz="1050" dirty="0">
                <a:latin typeface="Arial" panose="020B0604020202020204" pitchFamily="34" charset="0"/>
              </a:rPr>
              <a:t>‘</a:t>
            </a:r>
            <a:r>
              <a:rPr lang="en-US" altLang="ja-JP" sz="1050" dirty="0">
                <a:latin typeface="Arial" panose="020B0604020202020204" pitchFamily="34" charset="0"/>
              </a:rPr>
              <a:t>C</a:t>
            </a:r>
            <a:r>
              <a:rPr lang="ja-JP" altLang="en-US" sz="1050" dirty="0">
                <a:latin typeface="Arial" panose="020B0604020202020204" pitchFamily="34" charset="0"/>
              </a:rPr>
              <a:t>’</a:t>
            </a:r>
            <a:endParaRPr lang="en-US" altLang="zh-CN" sz="750" dirty="0">
              <a:latin typeface="Times New Roman" panose="02020603050405020304" pitchFamily="18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 rot="621452">
            <a:off x="6195486" y="3667309"/>
            <a:ext cx="1234633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l"/>
            <a:r>
              <a:rPr lang="en-US" altLang="zh-CN" sz="1050" dirty="0">
                <a:latin typeface="Arial" panose="020B0604020202020204" pitchFamily="34" charset="0"/>
              </a:rPr>
              <a:t>Seq=43, ACK=80</a:t>
            </a:r>
            <a:endParaRPr lang="en-US" altLang="zh-CN" sz="750" dirty="0">
              <a:latin typeface="Times New Roman" panose="02020603050405020304" pitchFamily="18" charset="0"/>
            </a:endParaRPr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5793881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7790559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8" name="Group 27"/>
          <p:cNvGrpSpPr/>
          <p:nvPr/>
        </p:nvGrpSpPr>
        <p:grpSpPr bwMode="auto">
          <a:xfrm>
            <a:off x="5412881" y="1591467"/>
            <a:ext cx="566738" cy="586978"/>
            <a:chOff x="-44" y="1473"/>
            <a:chExt cx="981" cy="1105"/>
          </a:xfrm>
        </p:grpSpPr>
        <p:pic>
          <p:nvPicPr>
            <p:cNvPr id="29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31" name="Group 30"/>
          <p:cNvGrpSpPr/>
          <p:nvPr/>
        </p:nvGrpSpPr>
        <p:grpSpPr bwMode="auto">
          <a:xfrm flipH="1">
            <a:off x="7559578" y="1621232"/>
            <a:ext cx="591741" cy="646510"/>
            <a:chOff x="-44" y="1473"/>
            <a:chExt cx="981" cy="1105"/>
          </a:xfrm>
        </p:grpSpPr>
        <p:pic>
          <p:nvPicPr>
            <p:cNvPr id="32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cxnSp>
        <p:nvCxnSpPr>
          <p:cNvPr id="34" name="直接箭头连接符 33"/>
          <p:cNvCxnSpPr/>
          <p:nvPr/>
        </p:nvCxnSpPr>
        <p:spPr>
          <a:xfrm>
            <a:off x="6322896" y="2490708"/>
            <a:ext cx="318582" cy="6021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6449137" y="3410919"/>
            <a:ext cx="727333" cy="3681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646574"/>
            <a:ext cx="399573" cy="36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4" name="arrow.wav"/>
          </p:stSnd>
        </p:sndAc>
      </p:transition>
    </mc:Choice>
    <mc:Fallback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的序号、确认号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实验为例</a:t>
            </a: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27"/>
          <p:cNvGrpSpPr/>
          <p:nvPr/>
        </p:nvGrpSpPr>
        <p:grpSpPr bwMode="auto">
          <a:xfrm>
            <a:off x="4635687" y="970794"/>
            <a:ext cx="566738" cy="586978"/>
            <a:chOff x="-44" y="1473"/>
            <a:chExt cx="981" cy="1105"/>
          </a:xfrm>
        </p:grpSpPr>
        <p:pic>
          <p:nvPicPr>
            <p:cNvPr id="9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 b="1"/>
            </a:p>
          </p:txBody>
        </p:sp>
      </p:grpSp>
      <p:grpSp>
        <p:nvGrpSpPr>
          <p:cNvPr id="11" name="Group 43"/>
          <p:cNvGrpSpPr/>
          <p:nvPr/>
        </p:nvGrpSpPr>
        <p:grpSpPr bwMode="auto">
          <a:xfrm>
            <a:off x="7090172" y="940595"/>
            <a:ext cx="317897" cy="513160"/>
            <a:chOff x="4140" y="429"/>
            <a:chExt cx="1425" cy="2396"/>
          </a:xfrm>
        </p:grpSpPr>
        <p:sp>
          <p:nvSpPr>
            <p:cNvPr id="12" name="Freeform 44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Rectangle 45"/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4" name="Freeform 46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Freeform 47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" name="Rectangle 48"/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7" name="Group 49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" name="AutoShape 50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3" name="AutoShape 51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" name="Rectangle 52"/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9" name="Group 53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" name="AutoShape 5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AutoShape 55"/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" name="Rectangle 56"/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1" name="Rectangle 57"/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22" name="Group 58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" name="AutoShape 59"/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AutoShape 60"/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" name="Freeform 61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4" name="Group 62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" name="AutoShape 63"/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AutoShape 64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5" name="Rectangle 65"/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6" name="Freeform 66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" name="Freeform 67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Oval 68"/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9" name="Freeform 69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AutoShape 70"/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1" name="AutoShape 71"/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2" name="Oval 72"/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3" name="Oval 73"/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74"/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5" name="Rectangle 75"/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2097504" y="2072292"/>
            <a:ext cx="4840981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http://gaia.cs.umass.edu/wireshark-labs/HTTP-wireshark-file1.html</a:t>
            </a:r>
            <a:endParaRPr lang="zh-CN" altLang="en-US" sz="1350" u="sng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5328084" y="1240438"/>
            <a:ext cx="1674186" cy="0"/>
          </a:xfrm>
          <a:prstGeom prst="straightConnector1">
            <a:avLst/>
          </a:prstGeom>
          <a:ln w="57150">
            <a:solidFill>
              <a:srgbClr val="0066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4517995" y="1523637"/>
            <a:ext cx="114380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66CC"/>
                </a:solidFill>
                <a:latin typeface="+mj-lt"/>
              </a:rPr>
              <a:t>IP: 172.20.60.13</a:t>
            </a:r>
            <a:endParaRPr lang="en-US" altLang="zh-CN" sz="1050" dirty="0">
              <a:solidFill>
                <a:srgbClr val="0066CC"/>
              </a:solidFill>
              <a:latin typeface="+mj-lt"/>
            </a:endParaRPr>
          </a:p>
          <a:p>
            <a:r>
              <a:rPr lang="en-US" altLang="zh-CN" sz="1050" dirty="0">
                <a:solidFill>
                  <a:srgbClr val="0066CC"/>
                </a:solidFill>
                <a:latin typeface="+mj-lt"/>
              </a:rPr>
              <a:t>Port: 49753</a:t>
            </a:r>
            <a:endParaRPr lang="zh-CN" altLang="en-US" sz="1050" dirty="0">
              <a:solidFill>
                <a:srgbClr val="0066CC"/>
              </a:solidFill>
              <a:latin typeface="+mj-lt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640528" y="1523637"/>
            <a:ext cx="127984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66CC"/>
                </a:solidFill>
                <a:latin typeface="+mj-lt"/>
              </a:rPr>
              <a:t>IP: 128.119.245.12</a:t>
            </a:r>
            <a:endParaRPr lang="en-US" altLang="zh-CN" sz="1050" dirty="0">
              <a:solidFill>
                <a:srgbClr val="0066CC"/>
              </a:solidFill>
              <a:latin typeface="+mj-lt"/>
            </a:endParaRPr>
          </a:p>
          <a:p>
            <a:r>
              <a:rPr lang="en-US" altLang="zh-CN" sz="1050" dirty="0">
                <a:solidFill>
                  <a:srgbClr val="0066CC"/>
                </a:solidFill>
                <a:latin typeface="+mj-lt"/>
              </a:rPr>
              <a:t>Port: 80</a:t>
            </a:r>
            <a:endParaRPr lang="zh-CN" altLang="en-US" sz="1050" dirty="0">
              <a:solidFill>
                <a:srgbClr val="0066CC"/>
              </a:solidFill>
              <a:latin typeface="+mj-lt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7" y="2398476"/>
            <a:ext cx="8984846" cy="171792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的序号、确认号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实验为例</a:t>
            </a: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27"/>
          <p:cNvGrpSpPr/>
          <p:nvPr/>
        </p:nvGrpSpPr>
        <p:grpSpPr bwMode="auto">
          <a:xfrm>
            <a:off x="4635687" y="970794"/>
            <a:ext cx="566738" cy="586978"/>
            <a:chOff x="-44" y="1473"/>
            <a:chExt cx="981" cy="1105"/>
          </a:xfrm>
        </p:grpSpPr>
        <p:pic>
          <p:nvPicPr>
            <p:cNvPr id="9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Group 43"/>
          <p:cNvGrpSpPr/>
          <p:nvPr/>
        </p:nvGrpSpPr>
        <p:grpSpPr bwMode="auto">
          <a:xfrm>
            <a:off x="7090172" y="940595"/>
            <a:ext cx="317897" cy="513160"/>
            <a:chOff x="4140" y="429"/>
            <a:chExt cx="1425" cy="2396"/>
          </a:xfrm>
        </p:grpSpPr>
        <p:sp>
          <p:nvSpPr>
            <p:cNvPr id="12" name="Freeform 44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Rectangle 45"/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46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47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48"/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7" name="Group 49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" name="AutoShape 50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AutoShape 51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Rectangle 52"/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Group 53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" name="AutoShape 5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AutoShape 55"/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0" name="Rectangle 56"/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57"/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" name="Group 58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" name="AutoShape 59"/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AutoShape 60"/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3" name="Freeform 61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" name="Group 62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" name="AutoShape 63"/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AutoShape 64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" name="Rectangle 65"/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66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67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68"/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69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AutoShape 70"/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AutoShape 71"/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72"/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73"/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4" name="Oval 74"/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75"/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4517994" y="1523637"/>
            <a:ext cx="174788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IP: 172.20.60.13</a:t>
            </a:r>
            <a:endParaRPr lang="en-US" altLang="zh-CN" sz="10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Port: 49753</a:t>
            </a:r>
            <a:endParaRPr lang="zh-CN" altLang="en-US" sz="10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640527" y="1523637"/>
            <a:ext cx="174789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IP: 128.119.245.12</a:t>
            </a:r>
            <a:endParaRPr lang="en-US" altLang="zh-CN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Port: 80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4680012" y="1916052"/>
            <a:ext cx="0" cy="310397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7418387" y="1916052"/>
            <a:ext cx="0" cy="310397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4680012" y="2024884"/>
            <a:ext cx="2738375" cy="168824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5364098" y="1969303"/>
            <a:ext cx="1319698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[SYN] Seq=0,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 flipH="1">
            <a:off x="4680012" y="2224882"/>
            <a:ext cx="2738375" cy="2950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5163089" y="2226287"/>
            <a:ext cx="1941358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[SYN,ACK] Seq=0, Ack=1,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4734019" y="2563028"/>
            <a:ext cx="2670035" cy="231948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5163089" y="2544829"/>
            <a:ext cx="1941356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Seq=1, Ack=1,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箭头连接符 63"/>
          <p:cNvCxnSpPr/>
          <p:nvPr/>
        </p:nvCxnSpPr>
        <p:spPr>
          <a:xfrm>
            <a:off x="4680012" y="2725047"/>
            <a:ext cx="2738375" cy="29864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5127395" y="2749946"/>
            <a:ext cx="196274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Seq=1, Ack=1, len=300</a:t>
            </a:r>
            <a:endParaRPr lang="zh-CN" altLang="en-US" sz="9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4680012" y="3049249"/>
            <a:ext cx="2738375" cy="3202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5127394" y="3086679"/>
            <a:ext cx="1962743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[ACK]Seq=1, Ack=301,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 flipH="1">
            <a:off x="4680012" y="3261488"/>
            <a:ext cx="2738375" cy="269957"/>
          </a:xfrm>
          <a:prstGeom prst="straightConnector1">
            <a:avLst/>
          </a:prstGeom>
          <a:ln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022545" y="3305947"/>
            <a:ext cx="217244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[ACK]Seq=1, Ack=301, len=489</a:t>
            </a:r>
            <a:endParaRPr lang="zh-CN" altLang="en-US" sz="9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/>
          <p:cNvCxnSpPr/>
          <p:nvPr/>
        </p:nvCxnSpPr>
        <p:spPr>
          <a:xfrm>
            <a:off x="4707015" y="3568876"/>
            <a:ext cx="2711372" cy="232673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5058875" y="3583711"/>
            <a:ext cx="209978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Seq=301, Ack=490,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 flipH="1">
            <a:off x="4680012" y="4132304"/>
            <a:ext cx="2738375" cy="3202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4939744" y="4169734"/>
            <a:ext cx="2296929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[FIN,ACK] Seq=490, Ack=301,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4" name="直接箭头连接符 83"/>
          <p:cNvCxnSpPr/>
          <p:nvPr/>
        </p:nvCxnSpPr>
        <p:spPr>
          <a:xfrm>
            <a:off x="4680012" y="4472269"/>
            <a:ext cx="2738375" cy="246726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5058875" y="4501158"/>
            <a:ext cx="209978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Seq=301, Ack=491,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左大括号 89"/>
          <p:cNvSpPr/>
          <p:nvPr/>
        </p:nvSpPr>
        <p:spPr>
          <a:xfrm>
            <a:off x="4355976" y="1969303"/>
            <a:ext cx="54006" cy="593726"/>
          </a:xfrm>
          <a:prstGeom prst="leftBrace">
            <a:avLst/>
          </a:prstGeom>
          <a:ln w="1905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014113" y="2139208"/>
            <a:ext cx="1323115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三次握手建立连接</a:t>
            </a:r>
            <a:endParaRPr lang="zh-CN" altLang="en-US" sz="105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3" name="直接箭头连接符 92"/>
          <p:cNvCxnSpPr/>
          <p:nvPr/>
        </p:nvCxnSpPr>
        <p:spPr>
          <a:xfrm flipH="1">
            <a:off x="4247965" y="2749946"/>
            <a:ext cx="383567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3329862" y="2620110"/>
            <a:ext cx="986206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0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endParaRPr lang="zh-CN" altLang="en-US" sz="10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5" name="直接箭头连接符 94"/>
          <p:cNvCxnSpPr/>
          <p:nvPr/>
        </p:nvCxnSpPr>
        <p:spPr>
          <a:xfrm flipH="1">
            <a:off x="4247965" y="3531445"/>
            <a:ext cx="383567" cy="0"/>
          </a:xfrm>
          <a:prstGeom prst="straightConnector1">
            <a:avLst/>
          </a:prstGeom>
          <a:ln w="190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3329862" y="3409821"/>
            <a:ext cx="986206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05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endParaRPr lang="zh-CN" altLang="en-US" sz="105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266176" y="4371950"/>
            <a:ext cx="1143038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结束连接</a:t>
            </a:r>
            <a:endParaRPr lang="zh-CN" altLang="en-US" sz="105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9" name="直接箭头连接符 98"/>
          <p:cNvCxnSpPr/>
          <p:nvPr/>
        </p:nvCxnSpPr>
        <p:spPr>
          <a:xfrm flipH="1">
            <a:off x="4247965" y="4481196"/>
            <a:ext cx="383567" cy="0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02" y="3132350"/>
            <a:ext cx="1990464" cy="1320206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 tmFilter="0, 0; .2, .5; .8, .5; 1, 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" dur="250" autoRev="1" fill="hold"/>
                                        <p:tgtEl>
                                          <p:spTgt spid="7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7" grpId="0" animBg="1"/>
      <p:bldP spid="63" grpId="0" animBg="1"/>
      <p:bldP spid="65" grpId="0" animBg="1"/>
      <p:bldP spid="67" grpId="0" animBg="1"/>
      <p:bldP spid="69" grpId="0" animBg="1"/>
      <p:bldP spid="71" grpId="0" animBg="1"/>
      <p:bldP spid="83" grpId="0" animBg="1"/>
      <p:bldP spid="85" grpId="0" animBg="1"/>
      <p:bldP spid="90" grpId="0" animBg="1"/>
      <p:bldP spid="91" grpId="0"/>
      <p:bldP spid="94" grpId="0"/>
      <p:bldP spid="96" grpId="0"/>
      <p:bldP spid="98" grpId="0"/>
      <p:bldP spid="73" grpId="0" animBg="1"/>
      <p:bldP spid="73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3.5.4 TCP</a:t>
            </a:r>
            <a:r>
              <a:rPr lang="zh-CN" altLang="en-US" dirty="0">
                <a:effectLst/>
              </a:rPr>
              <a:t>可靠运输</a:t>
            </a:r>
            <a:endParaRPr lang="en-US" altLang="zh-CN" dirty="0"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的确认和重传机制</a:t>
            </a:r>
            <a:endParaRPr lang="en-US" altLang="zh-CN" sz="1650" dirty="0"/>
          </a:p>
          <a:p>
            <a:pPr lvl="2"/>
            <a:r>
              <a:rPr lang="zh-CN" altLang="en-US" dirty="0"/>
              <a:t>流水线协议</a:t>
            </a:r>
            <a:endParaRPr lang="en-US" altLang="zh-CN" dirty="0"/>
          </a:p>
          <a:p>
            <a:pPr lvl="2"/>
            <a:r>
              <a:rPr lang="en-US" altLang="zh-CN" dirty="0">
                <a:solidFill>
                  <a:srgbClr val="FF0000"/>
                </a:solidFill>
              </a:rPr>
              <a:t>GBN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SR</a:t>
            </a:r>
            <a:r>
              <a:rPr lang="zh-CN" altLang="en-US" dirty="0">
                <a:solidFill>
                  <a:srgbClr val="FF0000"/>
                </a:solidFill>
              </a:rPr>
              <a:t>的混合体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此外，接收端也有定时器！</a:t>
            </a:r>
            <a:endParaRPr lang="en-US" altLang="zh-CN" dirty="0"/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955601" y="1737812"/>
            <a:ext cx="122800" cy="303751"/>
            <a:chOff x="6732240" y="847368"/>
            <a:chExt cx="144016" cy="35623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" name="矩形 7"/>
            <p:cNvSpPr/>
            <p:nvPr/>
          </p:nvSpPr>
          <p:spPr>
            <a:xfrm>
              <a:off x="6732240" y="847368"/>
              <a:ext cx="144016" cy="144016"/>
            </a:xfrm>
            <a:prstGeom prst="rect">
              <a:avLst/>
            </a:prstGeom>
            <a:solidFill>
              <a:srgbClr val="8000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732240" y="993934"/>
              <a:ext cx="144016" cy="6564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6732240" y="1059582"/>
              <a:ext cx="144016" cy="144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823919" y="1310957"/>
            <a:ext cx="122800" cy="303751"/>
            <a:chOff x="6732240" y="847368"/>
            <a:chExt cx="144016" cy="35623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2" name="矩形 11"/>
            <p:cNvSpPr/>
            <p:nvPr/>
          </p:nvSpPr>
          <p:spPr>
            <a:xfrm>
              <a:off x="6732240" y="847368"/>
              <a:ext cx="144016" cy="144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6732240" y="993934"/>
              <a:ext cx="144016" cy="6564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732240" y="1059582"/>
              <a:ext cx="144016" cy="144016"/>
            </a:xfrm>
            <a:prstGeom prst="rect">
              <a:avLst/>
            </a:prstGeom>
            <a:solidFill>
              <a:srgbClr val="8000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/>
          <p:cNvSpPr/>
          <p:nvPr/>
        </p:nvSpPr>
        <p:spPr>
          <a:xfrm>
            <a:off x="5105939" y="1199883"/>
            <a:ext cx="2646227" cy="531642"/>
          </a:xfrm>
          <a:custGeom>
            <a:avLst/>
            <a:gdLst>
              <a:gd name="connsiteX0" fmla="*/ 0 w 3103418"/>
              <a:gd name="connsiteY0" fmla="*/ 623494 h 623494"/>
              <a:gd name="connsiteX1" fmla="*/ 1392381 w 3103418"/>
              <a:gd name="connsiteY1" fmla="*/ 13894 h 623494"/>
              <a:gd name="connsiteX2" fmla="*/ 3103418 w 3103418"/>
              <a:gd name="connsiteY2" fmla="*/ 256348 h 62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3418" h="623494">
                <a:moveTo>
                  <a:pt x="0" y="623494"/>
                </a:moveTo>
                <a:cubicBezTo>
                  <a:pt x="437572" y="349289"/>
                  <a:pt x="875145" y="75085"/>
                  <a:pt x="1392381" y="13894"/>
                </a:cubicBezTo>
                <a:cubicBezTo>
                  <a:pt x="1909617" y="-47297"/>
                  <a:pt x="2506517" y="104525"/>
                  <a:pt x="3103418" y="256348"/>
                </a:cubicBezTo>
              </a:path>
            </a:pathLst>
          </a:custGeom>
          <a:noFill/>
          <a:ln w="25400"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任意多边形: 形状 15"/>
          <p:cNvSpPr/>
          <p:nvPr/>
        </p:nvSpPr>
        <p:spPr>
          <a:xfrm rot="10800000">
            <a:off x="5108256" y="1715453"/>
            <a:ext cx="2646227" cy="531642"/>
          </a:xfrm>
          <a:custGeom>
            <a:avLst/>
            <a:gdLst>
              <a:gd name="connsiteX0" fmla="*/ 0 w 3103418"/>
              <a:gd name="connsiteY0" fmla="*/ 623494 h 623494"/>
              <a:gd name="connsiteX1" fmla="*/ 1392381 w 3103418"/>
              <a:gd name="connsiteY1" fmla="*/ 13894 h 623494"/>
              <a:gd name="connsiteX2" fmla="*/ 3103418 w 3103418"/>
              <a:gd name="connsiteY2" fmla="*/ 256348 h 62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3418" h="623494">
                <a:moveTo>
                  <a:pt x="0" y="623494"/>
                </a:moveTo>
                <a:cubicBezTo>
                  <a:pt x="437572" y="349289"/>
                  <a:pt x="875145" y="75085"/>
                  <a:pt x="1392381" y="13894"/>
                </a:cubicBezTo>
                <a:cubicBezTo>
                  <a:pt x="1909617" y="-47297"/>
                  <a:pt x="2506517" y="104525"/>
                  <a:pt x="3103418" y="256348"/>
                </a:cubicBezTo>
              </a:path>
            </a:pathLst>
          </a:custGeom>
          <a:noFill/>
          <a:ln w="25400">
            <a:solidFill>
              <a:srgbClr val="0000FF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157099" y="1037898"/>
            <a:ext cx="271953" cy="329214"/>
            <a:chOff x="6737226" y="3306881"/>
            <a:chExt cx="271953" cy="329214"/>
          </a:xfrm>
        </p:grpSpPr>
        <p:sp>
          <p:nvSpPr>
            <p:cNvPr id="18" name="矩形 17"/>
            <p:cNvSpPr/>
            <p:nvPr/>
          </p:nvSpPr>
          <p:spPr>
            <a:xfrm>
              <a:off x="6847963" y="3346065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6737226" y="3390495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6970195" y="3306881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468568" y="1305838"/>
            <a:ext cx="271953" cy="329214"/>
            <a:chOff x="6737226" y="3306881"/>
            <a:chExt cx="271953" cy="329214"/>
          </a:xfrm>
        </p:grpSpPr>
        <p:sp>
          <p:nvSpPr>
            <p:cNvPr id="22" name="矩形 21"/>
            <p:cNvSpPr/>
            <p:nvPr/>
          </p:nvSpPr>
          <p:spPr>
            <a:xfrm>
              <a:off x="6847963" y="3346065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6737226" y="3390495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6970195" y="3306881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893516" y="1097628"/>
            <a:ext cx="271953" cy="360040"/>
            <a:chOff x="8057430" y="2643758"/>
            <a:chExt cx="271953" cy="360040"/>
          </a:xfrm>
        </p:grpSpPr>
        <p:sp>
          <p:nvSpPr>
            <p:cNvPr id="26" name="矩形 25"/>
            <p:cNvSpPr/>
            <p:nvPr/>
          </p:nvSpPr>
          <p:spPr>
            <a:xfrm>
              <a:off x="8168167" y="2692651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8057430" y="2643758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8290399" y="2758198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841252" y="1957336"/>
            <a:ext cx="271953" cy="329214"/>
            <a:chOff x="6737226" y="3306881"/>
            <a:chExt cx="271953" cy="329214"/>
          </a:xfrm>
          <a:solidFill>
            <a:srgbClr val="0000FF"/>
          </a:solidFill>
        </p:grpSpPr>
        <p:sp>
          <p:nvSpPr>
            <p:cNvPr id="30" name="矩形 29"/>
            <p:cNvSpPr/>
            <p:nvPr/>
          </p:nvSpPr>
          <p:spPr>
            <a:xfrm>
              <a:off x="6847963" y="3346065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6737226" y="3390495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6970195" y="3306881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758169" y="2041115"/>
            <a:ext cx="271953" cy="360040"/>
            <a:chOff x="8057430" y="2643758"/>
            <a:chExt cx="271953" cy="360040"/>
          </a:xfrm>
          <a:solidFill>
            <a:srgbClr val="0000FF"/>
          </a:solidFill>
        </p:grpSpPr>
        <p:sp>
          <p:nvSpPr>
            <p:cNvPr id="34" name="矩形 33"/>
            <p:cNvSpPr/>
            <p:nvPr/>
          </p:nvSpPr>
          <p:spPr>
            <a:xfrm>
              <a:off x="8168167" y="2692651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8057430" y="2643758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8290399" y="2758198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椭圆 3"/>
          <p:cNvSpPr/>
          <p:nvPr/>
        </p:nvSpPr>
        <p:spPr>
          <a:xfrm>
            <a:off x="5304009" y="3064439"/>
            <a:ext cx="1073399" cy="53164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GBN</a:t>
            </a:r>
            <a:endParaRPr lang="zh-CN" altLang="en-US" dirty="0"/>
          </a:p>
        </p:txBody>
      </p:sp>
      <p:sp>
        <p:nvSpPr>
          <p:cNvPr id="37" name="椭圆 36"/>
          <p:cNvSpPr/>
          <p:nvPr/>
        </p:nvSpPr>
        <p:spPr>
          <a:xfrm>
            <a:off x="6496763" y="3020009"/>
            <a:ext cx="1073399" cy="5316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SR</a:t>
            </a:r>
            <a:endParaRPr lang="zh-CN" altLang="en-US" dirty="0"/>
          </a:p>
        </p:txBody>
      </p:sp>
      <p:sp>
        <p:nvSpPr>
          <p:cNvPr id="38" name="椭圆 37"/>
          <p:cNvSpPr/>
          <p:nvPr/>
        </p:nvSpPr>
        <p:spPr>
          <a:xfrm>
            <a:off x="5878624" y="3357391"/>
            <a:ext cx="1185127" cy="65058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TCP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408402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3.5.4 TCP</a:t>
            </a:r>
            <a:r>
              <a:rPr lang="zh-CN" altLang="en-US" dirty="0">
                <a:effectLst/>
              </a:rPr>
              <a:t>可靠运输</a:t>
            </a:r>
            <a:endParaRPr lang="en-US" altLang="zh-CN" dirty="0"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的确认</a:t>
            </a:r>
            <a:r>
              <a:rPr lang="zh-CN" altLang="en-US" dirty="0">
                <a:effectLst/>
              </a:rPr>
              <a:t>和重传机制</a:t>
            </a:r>
            <a:endParaRPr lang="en-US" altLang="zh-CN" sz="1650" dirty="0"/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流水线协议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GBN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的混合体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场景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：延迟确认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前提：</a:t>
            </a:r>
            <a:endParaRPr lang="en-US" altLang="zh-CN" sz="1600" dirty="0"/>
          </a:p>
          <a:p>
            <a:pPr lvl="4"/>
            <a:r>
              <a:rPr lang="zh-CN" altLang="en-US" sz="1400" dirty="0"/>
              <a:t>期望序号的报文段按序到达</a:t>
            </a:r>
            <a:endParaRPr lang="en-US" altLang="zh-CN" sz="1400" dirty="0"/>
          </a:p>
          <a:p>
            <a:pPr lvl="4"/>
            <a:r>
              <a:rPr lang="zh-CN" altLang="en-US" sz="1400" dirty="0"/>
              <a:t>之前的报文段都已经被确认</a:t>
            </a:r>
            <a:endParaRPr lang="en-US" altLang="zh-CN" sz="1400" dirty="0"/>
          </a:p>
          <a:p>
            <a:pPr lvl="3"/>
            <a:r>
              <a:rPr lang="zh-CN" altLang="en-US" sz="1600" dirty="0"/>
              <a:t>确认动作</a:t>
            </a:r>
            <a:endParaRPr lang="en-US" altLang="zh-CN" sz="1600" dirty="0"/>
          </a:p>
          <a:p>
            <a:pPr lvl="4"/>
            <a:r>
              <a:rPr lang="zh-CN" altLang="en-US" sz="1400" dirty="0"/>
              <a:t>延迟</a:t>
            </a:r>
            <a:r>
              <a:rPr lang="en-US" altLang="zh-CN" sz="1400" dirty="0"/>
              <a:t>500ms</a:t>
            </a:r>
            <a:r>
              <a:rPr lang="zh-CN" altLang="en-US" sz="1400" dirty="0"/>
              <a:t>确认新到的分组</a:t>
            </a:r>
            <a:endParaRPr lang="en-US" altLang="zh-CN" sz="1400" dirty="0"/>
          </a:p>
          <a:p>
            <a:pPr lvl="4"/>
            <a:r>
              <a:rPr lang="zh-CN" altLang="en-US" sz="1400" dirty="0"/>
              <a:t>为后面的</a:t>
            </a:r>
            <a:r>
              <a:rPr lang="zh-CN" altLang="en-US" sz="1400" dirty="0">
                <a:solidFill>
                  <a:srgbClr val="FF0000"/>
                </a:solidFill>
              </a:rPr>
              <a:t>累积确认</a:t>
            </a:r>
            <a:r>
              <a:rPr lang="zh-CN" altLang="en-US" sz="1400" dirty="0"/>
              <a:t>做准备</a:t>
            </a:r>
            <a:endParaRPr lang="en-US" altLang="zh-CN" sz="1400" dirty="0"/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5625126" y="2387994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56282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28661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608457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605135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27457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74154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7" name="右大括号 6"/>
          <p:cNvSpPr/>
          <p:nvPr/>
        </p:nvSpPr>
        <p:spPr>
          <a:xfrm>
            <a:off x="7666639" y="2816619"/>
            <a:ext cx="121853" cy="241185"/>
          </a:xfrm>
          <a:prstGeom prst="rightBrace">
            <a:avLst/>
          </a:prstGeom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7785397" y="2800988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rgbClr val="0066FF"/>
                </a:solidFill>
              </a:rPr>
              <a:t>500</a:t>
            </a:r>
            <a:r>
              <a:rPr lang="en-US" altLang="zh-CN" sz="1200" dirty="0">
                <a:solidFill>
                  <a:srgbClr val="0066FF"/>
                </a:solidFill>
              </a:rPr>
              <a:t>ms</a:t>
            </a:r>
            <a:endParaRPr lang="en-US" sz="1200" dirty="0">
              <a:solidFill>
                <a:srgbClr val="0066FF"/>
              </a:solidFill>
            </a:endParaRPr>
          </a:p>
        </p:txBody>
      </p: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5625126" y="2315366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625126" y="2252463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625126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 flipH="1">
            <a:off x="5617982" y="3068636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0" name="矩形 29"/>
          <p:cNvSpPr/>
          <p:nvPr/>
        </p:nvSpPr>
        <p:spPr>
          <a:xfrm rot="20712716">
            <a:off x="6277379" y="3212545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延迟确认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5999"/>
            <a:ext cx="4369719" cy="4207501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dirty="0">
                <a:effectLst/>
              </a:rPr>
              <a:t>3.5.4 TCP</a:t>
            </a:r>
            <a:r>
              <a:rPr lang="zh-CN" altLang="en-US" dirty="0">
                <a:effectLst/>
              </a:rPr>
              <a:t>可靠运输</a:t>
            </a:r>
            <a:endParaRPr lang="en-US" altLang="zh-CN" dirty="0">
              <a:effectLst/>
            </a:endParaRPr>
          </a:p>
          <a:p>
            <a:pPr lvl="1">
              <a:lnSpc>
                <a:spcPct val="110000"/>
              </a:lnSpc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>
              <a:lnSpc>
                <a:spcPct val="110000"/>
              </a:lnSpc>
            </a:pPr>
            <a:r>
              <a:rPr lang="en-US" altLang="zh-CN" dirty="0">
                <a:solidFill>
                  <a:srgbClr val="C00000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的确认</a:t>
            </a:r>
            <a:r>
              <a:rPr lang="zh-CN" altLang="en-US" dirty="0">
                <a:effectLst/>
              </a:rPr>
              <a:t>和重传机制</a:t>
            </a:r>
            <a:endParaRPr lang="en-US" altLang="zh-CN" sz="1600" dirty="0"/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流水线协议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>
              <a:lnSpc>
                <a:spcPct val="110000"/>
              </a:lnSpc>
            </a:pP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GBN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的混合体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：延迟确认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场景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：累积确认</a:t>
            </a:r>
            <a:endParaRPr lang="en-US" altLang="zh-CN" dirty="0">
              <a:solidFill>
                <a:srgbClr val="C00000"/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sz="1600" dirty="0"/>
              <a:t>前提：</a:t>
            </a:r>
            <a:endParaRPr lang="en-US" altLang="zh-CN" sz="1600" dirty="0"/>
          </a:p>
          <a:p>
            <a:pPr lvl="4">
              <a:lnSpc>
                <a:spcPct val="110000"/>
              </a:lnSpc>
            </a:pPr>
            <a:r>
              <a:rPr lang="zh-CN" altLang="en-US" sz="1400" dirty="0"/>
              <a:t>期望序号的报文段按序到达</a:t>
            </a:r>
            <a:endParaRPr lang="en-US" altLang="zh-CN" sz="1400" dirty="0"/>
          </a:p>
          <a:p>
            <a:pPr lvl="4">
              <a:lnSpc>
                <a:spcPct val="110000"/>
              </a:lnSpc>
            </a:pPr>
            <a:r>
              <a:rPr lang="zh-CN" altLang="en-US" sz="1400" dirty="0"/>
              <a:t>另一个按序报文等待确认</a:t>
            </a:r>
            <a:endParaRPr lang="en-US" altLang="zh-CN" sz="1400" dirty="0"/>
          </a:p>
          <a:p>
            <a:pPr lvl="3">
              <a:lnSpc>
                <a:spcPct val="110000"/>
              </a:lnSpc>
            </a:pPr>
            <a:r>
              <a:rPr lang="zh-CN" altLang="en-US" sz="1600" dirty="0"/>
              <a:t>确认动作</a:t>
            </a:r>
            <a:endParaRPr lang="en-US" altLang="zh-CN" sz="1600" dirty="0"/>
          </a:p>
          <a:p>
            <a:pPr lvl="4">
              <a:lnSpc>
                <a:spcPct val="110000"/>
              </a:lnSpc>
            </a:pPr>
            <a:r>
              <a:rPr lang="zh-CN" altLang="en-US" sz="1400" dirty="0"/>
              <a:t>立即发送</a:t>
            </a:r>
            <a:r>
              <a:rPr lang="zh-CN" altLang="en-US" sz="1400" dirty="0">
                <a:solidFill>
                  <a:srgbClr val="FF0000"/>
                </a:solidFill>
              </a:rPr>
              <a:t>单个累积确认 </a:t>
            </a:r>
            <a:r>
              <a:rPr lang="en-US" altLang="zh-CN" sz="1400" dirty="0">
                <a:solidFill>
                  <a:srgbClr val="FF0000"/>
                </a:solidFill>
              </a:rPr>
              <a:t>(</a:t>
            </a:r>
            <a:r>
              <a:rPr lang="zh-CN" altLang="en-US" sz="1400" dirty="0">
                <a:solidFill>
                  <a:srgbClr val="FF0000"/>
                </a:solidFill>
              </a:rPr>
              <a:t>不能多！</a:t>
            </a:r>
            <a:r>
              <a:rPr lang="en-US" altLang="zh-CN" sz="1400" dirty="0">
                <a:solidFill>
                  <a:srgbClr val="FF0000"/>
                </a:solidFill>
              </a:rPr>
              <a:t>)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lvl="4">
              <a:lnSpc>
                <a:spcPct val="11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确认两个</a:t>
            </a:r>
            <a:r>
              <a:rPr lang="zh-CN" altLang="en-US" sz="1400" dirty="0"/>
              <a:t>按序报文段</a:t>
            </a:r>
            <a:endParaRPr lang="en-US" altLang="zh-CN" sz="1400" dirty="0"/>
          </a:p>
          <a:p>
            <a:pPr lvl="3">
              <a:lnSpc>
                <a:spcPct val="110000"/>
              </a:lnSpc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lnSpc>
                <a:spcPct val="110000"/>
              </a:lnSpc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lnSpc>
                <a:spcPct val="110000"/>
              </a:lnSpc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lnSpc>
                <a:spcPct val="110000"/>
              </a:lnSpc>
            </a:pP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5599004" y="2387994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30160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02539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582335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579013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16203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48032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7" name="右大括号 6"/>
          <p:cNvSpPr/>
          <p:nvPr/>
        </p:nvSpPr>
        <p:spPr>
          <a:xfrm>
            <a:off x="7640517" y="2816619"/>
            <a:ext cx="121853" cy="241185"/>
          </a:xfrm>
          <a:prstGeom prst="rightBrace">
            <a:avLst/>
          </a:prstGeom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7861763" y="2800988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rgbClr val="0066FF"/>
                </a:solidFill>
              </a:rPr>
              <a:t>500</a:t>
            </a:r>
            <a:r>
              <a:rPr lang="en-US" altLang="zh-CN" sz="1200" dirty="0">
                <a:solidFill>
                  <a:srgbClr val="0066FF"/>
                </a:solidFill>
              </a:rPr>
              <a:t>ms</a:t>
            </a:r>
            <a:endParaRPr lang="en-US" sz="1200" dirty="0">
              <a:solidFill>
                <a:srgbClr val="0066FF"/>
              </a:solidFill>
            </a:endParaRPr>
          </a:p>
        </p:txBody>
      </p: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5599004" y="2315366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599004" y="2252463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599004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H="1">
            <a:off x="5591860" y="2826379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 flipH="1">
            <a:off x="5591860" y="2985996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5599004" y="2529880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8" name="矩形 7"/>
          <p:cNvSpPr/>
          <p:nvPr/>
        </p:nvSpPr>
        <p:spPr>
          <a:xfrm rot="20712716">
            <a:off x="6207131" y="3138636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累积确认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4207500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sz="2200" dirty="0">
                <a:effectLst/>
              </a:rPr>
              <a:t>3.5.4 TCP</a:t>
            </a:r>
            <a:r>
              <a:rPr lang="zh-CN" altLang="en-US" sz="2200" dirty="0">
                <a:effectLst/>
              </a:rPr>
              <a:t>可靠运输</a:t>
            </a:r>
            <a:endParaRPr lang="en-US" altLang="zh-CN" sz="2200" dirty="0">
              <a:effectLst/>
            </a:endParaRPr>
          </a:p>
          <a:p>
            <a:pPr lvl="1">
              <a:lnSpc>
                <a:spcPct val="110000"/>
              </a:lnSpc>
            </a:pPr>
            <a:r>
              <a:rPr lang="en-US" altLang="zh-CN" sz="19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sz="19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sz="1900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>
              <a:lnSpc>
                <a:spcPct val="110000"/>
              </a:lnSpc>
            </a:pPr>
            <a:r>
              <a:rPr lang="en-US" altLang="zh-CN" sz="1900" dirty="0">
                <a:solidFill>
                  <a:srgbClr val="C00000"/>
                </a:solidFill>
                <a:effectLst/>
              </a:rPr>
              <a:t>TCP</a:t>
            </a:r>
            <a:r>
              <a:rPr lang="zh-CN" altLang="en-US" sz="1900" dirty="0">
                <a:solidFill>
                  <a:srgbClr val="C00000"/>
                </a:solidFill>
                <a:effectLst/>
              </a:rPr>
              <a:t>的确认</a:t>
            </a:r>
            <a:r>
              <a:rPr lang="zh-CN" altLang="en-US" sz="1900" dirty="0">
                <a:effectLst/>
              </a:rPr>
              <a:t>和重传机制</a:t>
            </a:r>
            <a:endParaRPr lang="en-US" altLang="zh-CN" sz="1700" dirty="0"/>
          </a:p>
          <a:p>
            <a:pPr lvl="2">
              <a:lnSpc>
                <a:spcPct val="110000"/>
              </a:lnSpc>
            </a:pPr>
            <a:r>
              <a:rPr lang="zh-CN" altLang="en-US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流水线协议</a:t>
            </a:r>
            <a:endParaRPr lang="en-US" altLang="zh-CN" sz="1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>
              <a:lnSpc>
                <a:spcPct val="110000"/>
              </a:lnSpc>
            </a:pPr>
            <a:r>
              <a:rPr lang="en-US" altLang="zh-CN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GBN</a:t>
            </a:r>
            <a:r>
              <a:rPr lang="zh-CN" altLang="en-US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</a:t>
            </a:r>
            <a:r>
              <a:rPr lang="en-US" altLang="zh-CN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</a:t>
            </a:r>
            <a:r>
              <a:rPr lang="zh-CN" altLang="en-US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的混合体</a:t>
            </a:r>
            <a:endParaRPr lang="en-US" altLang="zh-CN" sz="1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zh-CN" altLang="en-US" sz="17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：延迟确认</a:t>
            </a:r>
            <a:endParaRPr lang="en-US" altLang="zh-CN" sz="17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>
              <a:lnSpc>
                <a:spcPct val="110000"/>
              </a:lnSpc>
            </a:pPr>
            <a:r>
              <a:rPr lang="zh-CN" altLang="en-US" sz="1700" dirty="0">
                <a:solidFill>
                  <a:srgbClr val="C00000"/>
                </a:solidFill>
              </a:rPr>
              <a:t>场景</a:t>
            </a:r>
            <a:r>
              <a:rPr lang="en-US" altLang="zh-CN" sz="1700" dirty="0">
                <a:solidFill>
                  <a:srgbClr val="C00000"/>
                </a:solidFill>
              </a:rPr>
              <a:t>2</a:t>
            </a:r>
            <a:r>
              <a:rPr lang="zh-CN" altLang="en-US" sz="1700" dirty="0">
                <a:solidFill>
                  <a:srgbClr val="C00000"/>
                </a:solidFill>
              </a:rPr>
              <a:t>：累积确认</a:t>
            </a:r>
            <a:endParaRPr lang="en-US" altLang="zh-CN" sz="1700" dirty="0">
              <a:solidFill>
                <a:srgbClr val="C00000"/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前提：</a:t>
            </a:r>
            <a:endParaRPr lang="en-US" altLang="zh-CN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4">
              <a:lnSpc>
                <a:spcPct val="110000"/>
              </a:lnSpc>
            </a:pPr>
            <a:r>
              <a: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期望序号的报文段按序到达</a:t>
            </a:r>
            <a:endParaRPr lang="en-US" altLang="zh-CN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4">
              <a:lnSpc>
                <a:spcPct val="110000"/>
              </a:lnSpc>
            </a:pPr>
            <a:r>
              <a: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另一个按序报文等待确认</a:t>
            </a:r>
            <a:endParaRPr lang="en-US" altLang="zh-CN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sz="17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确认动作</a:t>
            </a:r>
            <a:endParaRPr lang="en-US" altLang="zh-CN" sz="1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4">
              <a:lnSpc>
                <a:spcPct val="110000"/>
              </a:lnSpc>
            </a:pPr>
            <a:r>
              <a: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立即发送单个累积确认</a:t>
            </a:r>
            <a:endParaRPr lang="en-US" altLang="zh-CN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4">
              <a:lnSpc>
                <a:spcPct val="110000"/>
              </a:lnSpc>
            </a:pPr>
            <a:r>
              <a:rPr lang="zh-CN" altLang="en-US" sz="15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确认两个按序报文段</a:t>
            </a:r>
            <a:endParaRPr lang="en-US" altLang="zh-CN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3">
              <a:lnSpc>
                <a:spcPct val="110000"/>
              </a:lnSpc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lnSpc>
                <a:spcPct val="110000"/>
              </a:lnSpc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lnSpc>
                <a:spcPct val="110000"/>
              </a:lnSpc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lnSpc>
                <a:spcPct val="110000"/>
              </a:lnSpc>
            </a:pP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43874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16253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596049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592727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15049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61746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5612718" y="2315366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612718" y="2252463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612718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H="1">
            <a:off x="5949760" y="2759474"/>
            <a:ext cx="1595341" cy="456083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 flipH="1">
            <a:off x="5605574" y="2985996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5612718" y="2529880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8" name="矩形 7"/>
          <p:cNvSpPr/>
          <p:nvPr/>
        </p:nvSpPr>
        <p:spPr>
          <a:xfrm rot="20712716">
            <a:off x="6220845" y="3138636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累积确认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966628" y="4195362"/>
            <a:ext cx="3689431" cy="7386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补充：累积确认还可以解决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确认丢失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的问题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发送方不会重传分组，这样就可以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累计多个确认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 rot="20712716">
            <a:off x="6093397" y="2873922"/>
            <a:ext cx="883453" cy="2539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确认丢失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393365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3.5.4 TCP</a:t>
            </a:r>
            <a:r>
              <a:rPr lang="zh-CN" altLang="en-US" dirty="0">
                <a:effectLst/>
              </a:rPr>
              <a:t>可靠运输</a:t>
            </a:r>
            <a:endParaRPr lang="en-US" altLang="zh-CN" dirty="0"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的确认</a:t>
            </a:r>
            <a:r>
              <a:rPr lang="zh-CN" altLang="en-US" dirty="0">
                <a:effectLst/>
              </a:rPr>
              <a:t>和重传机制</a:t>
            </a:r>
            <a:endParaRPr lang="en-US" altLang="zh-CN" sz="1650" dirty="0"/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流水线协议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GBN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的混合体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：延迟确认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：累积确认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场景</a:t>
            </a: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：冗余确认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前提：</a:t>
            </a:r>
            <a:r>
              <a:rPr lang="zh-CN" altLang="en-US" sz="1400" dirty="0">
                <a:solidFill>
                  <a:srgbClr val="FF0000"/>
                </a:solidFill>
              </a:rPr>
              <a:t>比期望序号大的报文段到达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lvl="3"/>
            <a:r>
              <a:rPr lang="zh-CN" altLang="en-US" sz="1600" dirty="0"/>
              <a:t>确认动作：</a:t>
            </a:r>
            <a:r>
              <a:rPr lang="zh-CN" altLang="en-US" sz="1400" dirty="0"/>
              <a:t>立即发送冗余确认</a:t>
            </a:r>
            <a:r>
              <a:rPr lang="en-US" altLang="zh-CN" sz="1400" dirty="0"/>
              <a:t>(</a:t>
            </a:r>
            <a:r>
              <a:rPr lang="zh-CN" altLang="en-US" sz="1400" dirty="0"/>
              <a:t>重复确认</a:t>
            </a:r>
            <a:r>
              <a:rPr lang="en-US" altLang="zh-CN" sz="1400" dirty="0"/>
              <a:t>)</a:t>
            </a:r>
            <a:endParaRPr lang="en-US" altLang="zh-CN" sz="1400" dirty="0"/>
          </a:p>
          <a:p>
            <a:pPr lvl="3"/>
            <a:r>
              <a:rPr lang="zh-CN" altLang="en-US" sz="1600" dirty="0"/>
              <a:t>言外之意：</a:t>
            </a:r>
            <a:r>
              <a:rPr lang="zh-CN" altLang="en-US" dirty="0"/>
              <a:t>我这边分组失序咧</a:t>
            </a:r>
            <a:r>
              <a:rPr lang="en-US" altLang="zh-CN" dirty="0"/>
              <a:t>!</a:t>
            </a:r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5615608" y="2387995"/>
            <a:ext cx="1177415" cy="26020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46763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19142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598938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595616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17938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64635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5615607" y="2315366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615607" y="2252463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615607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H="1">
            <a:off x="5608463" y="2759473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 flipH="1">
            <a:off x="5608463" y="2985996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5615607" y="2529880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8" name="矩形 7"/>
          <p:cNvSpPr/>
          <p:nvPr/>
        </p:nvSpPr>
        <p:spPr>
          <a:xfrm rot="20712716">
            <a:off x="6223734" y="3138636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重复确认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 rot="1536663">
            <a:off x="6703500" y="2546685"/>
            <a:ext cx="26000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050" dirty="0">
                <a:solidFill>
                  <a:srgbClr val="0000FF"/>
                </a:solidFill>
                <a:latin typeface="+mj-lt"/>
                <a:ea typeface="+mj-ea"/>
              </a:rPr>
              <a:t>X</a:t>
            </a:r>
            <a:endParaRPr lang="zh-CN" altLang="en-US" sz="1050" dirty="0">
              <a:solidFill>
                <a:srgbClr val="0000FF"/>
              </a:solidFill>
              <a:latin typeface="+mj-lt"/>
              <a:ea typeface="+mj-ea"/>
            </a:endParaRPr>
          </a:p>
        </p:txBody>
      </p:sp>
      <p:sp>
        <p:nvSpPr>
          <p:cNvPr id="3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  <p:bldP spid="15" grpId="0"/>
      <p:bldP spid="22" grpId="0" animBg="1"/>
      <p:bldP spid="23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30" grpId="0" animBg="1"/>
      <p:bldP spid="8" grpId="0" animBg="1"/>
      <p:bldP spid="31" grpId="0"/>
      <p:bldP spid="33" grpId="0" animBg="1"/>
      <p:bldP spid="33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6192683" cy="408402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00"/>
                </a:solidFill>
                <a:effectLst/>
              </a:rPr>
              <a:t>3.5.4 TCP</a:t>
            </a:r>
            <a:r>
              <a:rPr lang="zh-CN" altLang="en-US" dirty="0">
                <a:solidFill>
                  <a:srgbClr val="006600"/>
                </a:solidFill>
                <a:effectLst/>
              </a:rPr>
              <a:t>可靠运输</a:t>
            </a:r>
            <a:endParaRPr lang="en-US" altLang="zh-CN" dirty="0">
              <a:solidFill>
                <a:srgbClr val="006600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的确认</a:t>
            </a:r>
            <a:r>
              <a:rPr lang="zh-CN" altLang="en-US" dirty="0">
                <a:effectLst/>
              </a:rPr>
              <a:t>和重传机制</a:t>
            </a:r>
            <a:endParaRPr lang="en-US" altLang="zh-CN" sz="1700" dirty="0"/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流水线协议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GBN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的混合体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：延迟确认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：累积确认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：冗余确认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场景</a:t>
            </a:r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：立即确认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dirty="0"/>
              <a:t>前提：失序后最低望序号的报文段到达</a:t>
            </a:r>
            <a:endParaRPr lang="en-US" altLang="zh-CN" dirty="0"/>
          </a:p>
          <a:p>
            <a:pPr lvl="3"/>
            <a:r>
              <a:rPr lang="zh-CN" altLang="en-US" dirty="0"/>
              <a:t>确认动作：立即发送确认</a:t>
            </a:r>
            <a:r>
              <a:rPr lang="en-US" altLang="zh-CN" dirty="0"/>
              <a:t>(</a:t>
            </a:r>
            <a:r>
              <a:rPr lang="zh-CN" altLang="en-US" dirty="0"/>
              <a:t>期望的分组序号</a:t>
            </a:r>
            <a:r>
              <a:rPr lang="en-US" altLang="zh-CN" dirty="0"/>
              <a:t>)</a:t>
            </a:r>
            <a:endParaRPr lang="en-US" altLang="zh-CN" dirty="0"/>
          </a:p>
          <a:p>
            <a:pPr lvl="3"/>
            <a:r>
              <a:rPr lang="zh-CN" altLang="en-US" dirty="0"/>
              <a:t>言外之意：网络中有轻度拥塞，这个分组来得真及时，赞！</a:t>
            </a:r>
            <a:endParaRPr lang="en-US" altLang="zh-CN" dirty="0"/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5615608" y="2387995"/>
            <a:ext cx="1980008" cy="731444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46763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19142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598938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595616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17938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64635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5615607" y="2315366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615607" y="2252463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615607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H="1">
            <a:off x="5608463" y="2759473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 flipH="1">
            <a:off x="5608463" y="2985996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5615607" y="2529880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8" name="矩形 7"/>
          <p:cNvSpPr/>
          <p:nvPr/>
        </p:nvSpPr>
        <p:spPr>
          <a:xfrm rot="20712716">
            <a:off x="6223734" y="3088758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FFDDDD"/>
                </a:solidFill>
                <a:latin typeface="+mj-ea"/>
                <a:ea typeface="+mj-ea"/>
              </a:rPr>
              <a:t>重复确认</a:t>
            </a:r>
            <a:endParaRPr lang="zh-CN" altLang="en-US" sz="1050" dirty="0">
              <a:solidFill>
                <a:srgbClr val="FFDDDD"/>
              </a:solidFill>
              <a:latin typeface="+mj-ea"/>
              <a:ea typeface="+mj-ea"/>
            </a:endParaRPr>
          </a:p>
        </p:txBody>
      </p:sp>
      <p:sp>
        <p:nvSpPr>
          <p:cNvPr id="31" name="Line 10"/>
          <p:cNvSpPr>
            <a:spLocks noChangeShapeType="1"/>
          </p:cNvSpPr>
          <p:nvPr/>
        </p:nvSpPr>
        <p:spPr bwMode="auto">
          <a:xfrm flipH="1">
            <a:off x="5608463" y="3146695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2" name="矩形 31"/>
          <p:cNvSpPr/>
          <p:nvPr/>
        </p:nvSpPr>
        <p:spPr>
          <a:xfrm rot="20712716">
            <a:off x="6223734" y="3311856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立即确认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右中括号 3"/>
          <p:cNvSpPr/>
          <p:nvPr/>
        </p:nvSpPr>
        <p:spPr>
          <a:xfrm>
            <a:off x="2956297" y="2797152"/>
            <a:ext cx="467540" cy="1008112"/>
          </a:xfrm>
          <a:prstGeom prst="rightBracket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/>
      <p:bldP spid="15" grpId="0"/>
      <p:bldP spid="22" grpId="0" animBg="1"/>
      <p:bldP spid="23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30" grpId="0" animBg="1"/>
      <p:bldP spid="8" grpId="0" animBg="1"/>
      <p:bldP spid="31" grpId="0" animBg="1"/>
      <p:bldP spid="32" grpId="0" animBg="1"/>
      <p:bldP spid="34" grpId="0" animBg="1"/>
      <p:bldP spid="34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00"/>
                </a:solidFill>
                <a:effectLst/>
              </a:rPr>
              <a:t>3.5.4 TCP</a:t>
            </a:r>
            <a:r>
              <a:rPr lang="zh-CN" altLang="en-US" dirty="0">
                <a:solidFill>
                  <a:srgbClr val="006600"/>
                </a:solidFill>
                <a:effectLst/>
              </a:rPr>
              <a:t>可靠运输</a:t>
            </a:r>
            <a:endParaRPr lang="en-US" altLang="zh-CN" dirty="0">
              <a:solidFill>
                <a:srgbClr val="006600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的确认和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重传机制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(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发送方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)</a:t>
            </a:r>
            <a:endParaRPr lang="en-US" altLang="zh-CN" sz="1650" dirty="0">
              <a:solidFill>
                <a:srgbClr val="C00000"/>
              </a:solidFill>
            </a:endParaRPr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场景</a:t>
            </a:r>
            <a:r>
              <a:rPr lang="en-US" altLang="zh-CN" dirty="0">
                <a:solidFill>
                  <a:srgbClr val="C00000"/>
                </a:solidFill>
              </a:rPr>
              <a:t>5</a:t>
            </a:r>
            <a:r>
              <a:rPr lang="zh-CN" altLang="en-US" dirty="0">
                <a:solidFill>
                  <a:srgbClr val="C00000"/>
                </a:solidFill>
              </a:rPr>
              <a:t>：快速重传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前提：</a:t>
            </a:r>
            <a:endParaRPr lang="en-US" altLang="zh-CN" sz="1600" dirty="0"/>
          </a:p>
          <a:p>
            <a:pPr lvl="4"/>
            <a:r>
              <a:rPr lang="zh-CN" altLang="en-US" sz="1400" dirty="0">
                <a:solidFill>
                  <a:srgbClr val="C00000"/>
                </a:solidFill>
              </a:rPr>
              <a:t>发送方收到</a:t>
            </a:r>
            <a:r>
              <a:rPr lang="en-US" altLang="zh-CN" sz="1400" dirty="0">
                <a:solidFill>
                  <a:srgbClr val="C00000"/>
                </a:solidFill>
              </a:rPr>
              <a:t>3</a:t>
            </a:r>
            <a:r>
              <a:rPr lang="zh-CN" altLang="en-US" sz="1400" dirty="0">
                <a:solidFill>
                  <a:srgbClr val="C00000"/>
                </a:solidFill>
              </a:rPr>
              <a:t>个冗余确认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重传动作</a:t>
            </a:r>
            <a:endParaRPr lang="en-US" altLang="zh-CN" sz="1600" dirty="0"/>
          </a:p>
          <a:p>
            <a:pPr lvl="4"/>
            <a:r>
              <a:rPr lang="zh-CN" altLang="en-US" sz="1400" dirty="0"/>
              <a:t>超时之前重发报文段</a:t>
            </a:r>
            <a:endParaRPr lang="en-US" altLang="zh-CN" sz="1400" dirty="0"/>
          </a:p>
          <a:p>
            <a:pPr lvl="4"/>
            <a:r>
              <a:rPr lang="zh-CN" altLang="en-US" sz="1400" dirty="0"/>
              <a:t>避免无谓的等待</a:t>
            </a:r>
            <a:endParaRPr lang="en-US" altLang="zh-CN" sz="1400" dirty="0"/>
          </a:p>
          <a:p>
            <a:pPr lvl="3"/>
            <a:r>
              <a:rPr lang="zh-CN" altLang="en-US" sz="1600" dirty="0"/>
              <a:t>言外之意：</a:t>
            </a:r>
            <a:endParaRPr lang="en-US" altLang="zh-CN" sz="1600" dirty="0"/>
          </a:p>
          <a:p>
            <a:pPr lvl="4"/>
            <a:r>
              <a:rPr lang="zh-CN" altLang="en-US" sz="1400" dirty="0"/>
              <a:t>网络中出现了比较糟糕的情况：</a:t>
            </a:r>
            <a:r>
              <a:rPr lang="zh-CN" altLang="en-US" sz="1400" b="1" dirty="0"/>
              <a:t>中度拥塞！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5615607" y="2387995"/>
            <a:ext cx="1939528" cy="437303"/>
          </a:xfrm>
          <a:prstGeom prst="line">
            <a:avLst/>
          </a:prstGeom>
          <a:noFill/>
          <a:ln w="28575">
            <a:solidFill>
              <a:srgbClr val="0000FF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46763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19142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598938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595616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17938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64635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5615607" y="2315366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615607" y="2252463"/>
            <a:ext cx="1347787" cy="297854"/>
          </a:xfrm>
          <a:prstGeom prst="line">
            <a:avLst/>
          </a:prstGeom>
          <a:noFill/>
          <a:ln w="28575">
            <a:solidFill>
              <a:srgbClr val="006600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615607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H="1">
            <a:off x="5608463" y="2759473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 flipH="1">
            <a:off x="5608463" y="2922789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5615607" y="2473767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3" name="Line 10"/>
          <p:cNvSpPr>
            <a:spLocks noChangeShapeType="1"/>
          </p:cNvSpPr>
          <p:nvPr/>
        </p:nvSpPr>
        <p:spPr bwMode="auto">
          <a:xfrm flipH="1">
            <a:off x="5608463" y="2848770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8" name="矩形 7"/>
          <p:cNvSpPr/>
          <p:nvPr/>
        </p:nvSpPr>
        <p:spPr>
          <a:xfrm rot="20712716">
            <a:off x="6244710" y="2976599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C00000"/>
                </a:solidFill>
                <a:latin typeface="+mj-ea"/>
                <a:ea typeface="+mj-ea"/>
              </a:rPr>
              <a:t>重复确认</a:t>
            </a:r>
            <a:endParaRPr lang="zh-CN" altLang="en-US" sz="1050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34" name="Line 10"/>
          <p:cNvSpPr>
            <a:spLocks noChangeShapeType="1"/>
          </p:cNvSpPr>
          <p:nvPr/>
        </p:nvSpPr>
        <p:spPr bwMode="auto">
          <a:xfrm flipH="1">
            <a:off x="5608463" y="2622945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5" name="右大括号 34"/>
          <p:cNvSpPr/>
          <p:nvPr/>
        </p:nvSpPr>
        <p:spPr>
          <a:xfrm rot="10800000">
            <a:off x="5220422" y="2253446"/>
            <a:ext cx="239001" cy="1561636"/>
          </a:xfrm>
          <a:prstGeom prst="rightBrace">
            <a:avLst/>
          </a:prstGeom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4939836" y="3657607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zh-CN" altLang="en-US" sz="1200" dirty="0">
                <a:solidFill>
                  <a:srgbClr val="0066FF"/>
                </a:solidFill>
              </a:rPr>
              <a:t>超时</a:t>
            </a:r>
            <a:endParaRPr lang="en-US" sz="1200" dirty="0">
              <a:solidFill>
                <a:srgbClr val="0066FF"/>
              </a:solidFill>
            </a:endParaRPr>
          </a:p>
        </p:txBody>
      </p:sp>
      <p:sp>
        <p:nvSpPr>
          <p:cNvPr id="43" name="Line 4"/>
          <p:cNvSpPr>
            <a:spLocks noChangeShapeType="1"/>
          </p:cNvSpPr>
          <p:nvPr/>
        </p:nvSpPr>
        <p:spPr bwMode="auto">
          <a:xfrm>
            <a:off x="5615607" y="3487894"/>
            <a:ext cx="1980009" cy="327188"/>
          </a:xfrm>
          <a:prstGeom prst="line">
            <a:avLst/>
          </a:prstGeom>
          <a:noFill/>
          <a:ln w="28575">
            <a:solidFill>
              <a:srgbClr val="006600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4" name="Line 4"/>
          <p:cNvSpPr>
            <a:spLocks noChangeShapeType="1"/>
          </p:cNvSpPr>
          <p:nvPr/>
        </p:nvSpPr>
        <p:spPr bwMode="auto">
          <a:xfrm>
            <a:off x="5615607" y="3805387"/>
            <a:ext cx="1980009" cy="327188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6585371" y="3718346"/>
            <a:ext cx="0" cy="151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3933656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006600"/>
                </a:solidFill>
                <a:effectLst/>
              </a:rPr>
              <a:t>3.5.4 TCP</a:t>
            </a:r>
            <a:r>
              <a:rPr lang="zh-CN" altLang="en-US" dirty="0">
                <a:solidFill>
                  <a:srgbClr val="006600"/>
                </a:solidFill>
                <a:effectLst/>
              </a:rPr>
              <a:t>可靠运输</a:t>
            </a:r>
            <a:endParaRPr lang="en-US" altLang="zh-CN" dirty="0">
              <a:solidFill>
                <a:srgbClr val="006600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的确认和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重传机制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(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发送方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)</a:t>
            </a:r>
            <a:endParaRPr lang="en-US" altLang="zh-CN" sz="1650" dirty="0">
              <a:solidFill>
                <a:srgbClr val="C00000"/>
              </a:solidFill>
            </a:endParaRPr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场景</a:t>
            </a:r>
            <a:r>
              <a:rPr lang="en-US" altLang="zh-CN" dirty="0">
                <a:solidFill>
                  <a:srgbClr val="C00000"/>
                </a:solidFill>
              </a:rPr>
              <a:t>6</a:t>
            </a:r>
            <a:r>
              <a:rPr lang="zh-CN" altLang="en-US" dirty="0">
                <a:solidFill>
                  <a:srgbClr val="C00000"/>
                </a:solidFill>
              </a:rPr>
              <a:t>：加倍超时</a:t>
            </a:r>
            <a:endParaRPr lang="en-US" altLang="zh-CN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前提：</a:t>
            </a:r>
            <a:endParaRPr lang="en-US" altLang="zh-CN" sz="1600" dirty="0"/>
          </a:p>
          <a:p>
            <a:pPr lvl="4"/>
            <a:r>
              <a:rPr lang="zh-CN" altLang="en-US" sz="1400" dirty="0"/>
              <a:t>发送方产生一次超时重传</a:t>
            </a:r>
            <a:endParaRPr lang="en-US" altLang="zh-CN" sz="1400" dirty="0"/>
          </a:p>
          <a:p>
            <a:pPr lvl="4"/>
            <a:r>
              <a:rPr lang="zh-CN" altLang="en-US" sz="1400" dirty="0"/>
              <a:t>网络发生了</a:t>
            </a:r>
            <a:r>
              <a:rPr lang="zh-CN" altLang="en-US" sz="1400" b="1" dirty="0"/>
              <a:t>重度拥塞</a:t>
            </a:r>
            <a:r>
              <a:rPr lang="en-US" altLang="zh-CN" sz="1400" dirty="0"/>
              <a:t>…</a:t>
            </a:r>
            <a:endParaRPr lang="en-US" altLang="zh-CN" sz="1400" dirty="0"/>
          </a:p>
          <a:p>
            <a:pPr lvl="3"/>
            <a:r>
              <a:rPr lang="zh-CN" altLang="en-US" sz="1600" dirty="0"/>
              <a:t>动作</a:t>
            </a:r>
            <a:endParaRPr lang="en-US" altLang="zh-CN" sz="1600" dirty="0"/>
          </a:p>
          <a:p>
            <a:pPr lvl="4"/>
            <a:r>
              <a:rPr lang="zh-CN" altLang="en-US" sz="1400" dirty="0"/>
              <a:t>发送方</a:t>
            </a:r>
            <a:r>
              <a:rPr lang="zh-CN" altLang="en-US" sz="1400" dirty="0">
                <a:solidFill>
                  <a:srgbClr val="C00000"/>
                </a:solidFill>
              </a:rPr>
              <a:t>加倍超时间隔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效果：</a:t>
            </a:r>
            <a:endParaRPr lang="en-US" altLang="zh-CN" sz="1600" dirty="0"/>
          </a:p>
          <a:p>
            <a:pPr lvl="4"/>
            <a:r>
              <a:rPr lang="zh-CN" altLang="en-US" sz="1400" dirty="0"/>
              <a:t>是一种有限形式的拥塞控制</a:t>
            </a:r>
            <a:endParaRPr lang="en-US" altLang="zh-CN" sz="1400" dirty="0"/>
          </a:p>
          <a:p>
            <a:pPr lvl="4"/>
            <a:r>
              <a:rPr lang="zh-CN" altLang="en-US" sz="1400" dirty="0"/>
              <a:t>让发送方适当放缓节奏</a:t>
            </a:r>
            <a:endParaRPr lang="en-US" altLang="zh-CN" sz="1400" dirty="0"/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46763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19142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598938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595616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17938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64635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615607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4" name="Line 10"/>
          <p:cNvSpPr>
            <a:spLocks noChangeShapeType="1"/>
          </p:cNvSpPr>
          <p:nvPr/>
        </p:nvSpPr>
        <p:spPr bwMode="auto">
          <a:xfrm flipH="1">
            <a:off x="5598938" y="2622945"/>
            <a:ext cx="1949052" cy="803698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5" name="右大括号 34"/>
          <p:cNvSpPr/>
          <p:nvPr/>
        </p:nvSpPr>
        <p:spPr>
          <a:xfrm rot="10800000">
            <a:off x="5226509" y="2184002"/>
            <a:ext cx="239001" cy="873802"/>
          </a:xfrm>
          <a:prstGeom prst="rightBrace">
            <a:avLst/>
          </a:prstGeom>
          <a:ln w="19050">
            <a:solidFill>
              <a:srgbClr val="0066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4937455" y="2922789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zh-CN" altLang="en-US" sz="1200" dirty="0">
                <a:solidFill>
                  <a:srgbClr val="0066FF"/>
                </a:solidFill>
              </a:rPr>
              <a:t>超时</a:t>
            </a:r>
            <a:endParaRPr lang="en-US" sz="1200" dirty="0">
              <a:solidFill>
                <a:srgbClr val="0066FF"/>
              </a:solidFill>
            </a:endParaRPr>
          </a:p>
        </p:txBody>
      </p:sp>
      <p:sp>
        <p:nvSpPr>
          <p:cNvPr id="42" name="右大括号 41"/>
          <p:cNvSpPr/>
          <p:nvPr/>
        </p:nvSpPr>
        <p:spPr>
          <a:xfrm rot="10800000">
            <a:off x="5226509" y="3075407"/>
            <a:ext cx="239001" cy="1454335"/>
          </a:xfrm>
          <a:prstGeom prst="rightBrace">
            <a:avLst/>
          </a:prstGeom>
          <a:ln w="19050">
            <a:solidFill>
              <a:srgbClr val="0066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5" name="Line 4"/>
          <p:cNvSpPr>
            <a:spLocks noChangeShapeType="1"/>
          </p:cNvSpPr>
          <p:nvPr/>
        </p:nvSpPr>
        <p:spPr bwMode="auto">
          <a:xfrm>
            <a:off x="5615607" y="3069350"/>
            <a:ext cx="1980009" cy="327188"/>
          </a:xfrm>
          <a:prstGeom prst="line">
            <a:avLst/>
          </a:prstGeom>
          <a:noFill/>
          <a:ln w="28575">
            <a:solidFill>
              <a:srgbClr val="0000FF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6" name="矩形 45"/>
          <p:cNvSpPr/>
          <p:nvPr/>
        </p:nvSpPr>
        <p:spPr>
          <a:xfrm rot="492074">
            <a:off x="6454428" y="3132738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0000FF"/>
                </a:solidFill>
                <a:latin typeface="+mj-ea"/>
                <a:ea typeface="+mj-ea"/>
              </a:rPr>
              <a:t>超时重传</a:t>
            </a:r>
            <a:endParaRPr lang="zh-CN" altLang="en-US" sz="1050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3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6588224" y="3426643"/>
            <a:ext cx="0" cy="151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/>
              </a:rPr>
              <a:t>本讲总结</a:t>
            </a:r>
            <a:endParaRPr lang="en-US" altLang="zh-CN" dirty="0">
              <a:solidFill>
                <a:srgbClr val="C00000"/>
              </a:solidFill>
              <a:effectLst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3779688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zh-CN" altLang="en-US" dirty="0">
                <a:solidFill>
                  <a:srgbClr val="0066CC"/>
                </a:solidFill>
                <a:effectLst/>
              </a:rPr>
              <a:t>可靠数据传输原理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流水线协议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提高网络传输效率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回退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N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步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选择重传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协议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协议简介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0066CC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可靠传输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</a:rPr>
              <a:t>确认和重传策略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zh-CN" altLang="en-US" dirty="0">
              <a:solidFill>
                <a:srgbClr val="0066CC"/>
              </a:solidFill>
              <a:effectLst/>
            </a:endParaRPr>
          </a:p>
        </p:txBody>
      </p:sp>
      <p:sp>
        <p:nvSpPr>
          <p:cNvPr id="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603" y="4011910"/>
            <a:ext cx="587786" cy="58778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684" y="2700782"/>
            <a:ext cx="2271667" cy="1506718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矩形 2"/>
          <p:cNvSpPr/>
          <p:nvPr/>
        </p:nvSpPr>
        <p:spPr>
          <a:xfrm>
            <a:off x="5635757" y="4504459"/>
            <a:ext cx="1937519" cy="2738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课后复习巩固！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  <p:sndAc>
          <p:stSnd>
            <p:snd r:embed="rId3" name="arrow.wav"/>
          </p:stSnd>
        </p:sndAc>
      </p:transition>
    </mc:Choice>
    <mc:Fallback>
      <p:transition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  <a:endParaRPr lang="en-US" altLang="zh-CN" sz="4500" dirty="0"/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下课铃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56376" y="4231337"/>
            <a:ext cx="487363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5" name="arrow.wav"/>
          </p:stSnd>
        </p:sndAc>
      </p:transition>
    </mc:Choice>
    <mc:Fallback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0</TotalTime>
  <Words>7782</Words>
  <Application>WPS 演示</Application>
  <PresentationFormat>全屏显示(16:9)</PresentationFormat>
  <Paragraphs>1250</Paragraphs>
  <Slides>50</Slides>
  <Notes>4</Notes>
  <HiddenSlides>0</HiddenSlides>
  <MMClips>1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50</vt:i4>
      </vt:variant>
    </vt:vector>
  </HeadingPairs>
  <TitlesOfParts>
    <vt:vector size="72" baseType="lpstr">
      <vt:lpstr>Arial</vt:lpstr>
      <vt:lpstr>宋体</vt:lpstr>
      <vt:lpstr>Wingdings</vt:lpstr>
      <vt:lpstr>微软雅黑</vt:lpstr>
      <vt:lpstr>Times New Roman</vt:lpstr>
      <vt:lpstr>Comic Sans MS</vt:lpstr>
      <vt:lpstr>等线</vt:lpstr>
      <vt:lpstr>Arial Unicode MS</vt:lpstr>
      <vt:lpstr>等线 Light</vt:lpstr>
      <vt:lpstr>Calibri</vt:lpstr>
      <vt:lpstr>Symbol</vt:lpstr>
      <vt:lpstr>Arial</vt:lpstr>
      <vt:lpstr>黑体</vt:lpstr>
      <vt:lpstr>Tahoma</vt:lpstr>
      <vt:lpstr>MS PGothic</vt:lpstr>
      <vt:lpstr>Gill Sans MT</vt:lpstr>
      <vt:lpstr>ZapfDingbats</vt:lpstr>
      <vt:lpstr>华文新魏</vt:lpstr>
      <vt:lpstr>Office 主题​​</vt:lpstr>
      <vt:lpstr>Word.Picture.8</vt:lpstr>
      <vt:lpstr>Word.Picture.8</vt:lpstr>
      <vt:lpstr>Word.Picture.8</vt:lpstr>
      <vt:lpstr>计算机网络</vt:lpstr>
      <vt:lpstr>知识回顾</vt:lpstr>
      <vt:lpstr>PowerPoint 演示文稿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3.4 可靠数据传输原理</vt:lpstr>
      <vt:lpstr>PowerPoint 演示文稿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本讲总结</vt:lpstr>
      <vt:lpstr>Q &amp; 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Whhou</dc:creator>
  <cp:lastModifiedBy>传输</cp:lastModifiedBy>
  <cp:revision>72</cp:revision>
  <dcterms:created xsi:type="dcterms:W3CDTF">2020-03-17T03:08:00Z</dcterms:created>
  <dcterms:modified xsi:type="dcterms:W3CDTF">2025-05-27T08:03:02Z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181617EDB12147E09D1C4503EC72BADE_12</vt:lpwstr>
  </property>
  <property fmtid="{D5CDD505-2E9C-101B-9397-08002B2CF9AE}" pid="3" name="KSOProductBuildVer">
    <vt:lpwstr>2052-12.1.0.21171</vt:lpwstr>
  </property>
</Properties>
</file>