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</p:sldMasterIdLst>
  <p:notesMasterIdLst>
    <p:notesMasterId r:id="rId45"/>
  </p:notesMasterIdLst>
  <p:handoutMasterIdLst>
    <p:handoutMasterId r:id="rId46"/>
  </p:handoutMasterIdLst>
  <p:sldIdLst>
    <p:sldId id="319" r:id="rId2"/>
    <p:sldId id="449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456" r:id="rId11"/>
    <p:sldId id="439" r:id="rId12"/>
    <p:sldId id="440" r:id="rId13"/>
    <p:sldId id="441" r:id="rId14"/>
    <p:sldId id="322" r:id="rId15"/>
    <p:sldId id="323" r:id="rId16"/>
    <p:sldId id="324" r:id="rId17"/>
    <p:sldId id="325" r:id="rId18"/>
    <p:sldId id="450" r:id="rId19"/>
    <p:sldId id="327" r:id="rId20"/>
    <p:sldId id="328" r:id="rId21"/>
    <p:sldId id="346" r:id="rId22"/>
    <p:sldId id="347" r:id="rId23"/>
    <p:sldId id="329" r:id="rId24"/>
    <p:sldId id="330" r:id="rId25"/>
    <p:sldId id="331" r:id="rId26"/>
    <p:sldId id="454" r:id="rId27"/>
    <p:sldId id="455" r:id="rId28"/>
    <p:sldId id="332" r:id="rId29"/>
    <p:sldId id="333" r:id="rId30"/>
    <p:sldId id="451" r:id="rId31"/>
    <p:sldId id="335" r:id="rId32"/>
    <p:sldId id="336" r:id="rId33"/>
    <p:sldId id="337" r:id="rId34"/>
    <p:sldId id="338" r:id="rId35"/>
    <p:sldId id="339" r:id="rId36"/>
    <p:sldId id="442" r:id="rId37"/>
    <p:sldId id="443" r:id="rId38"/>
    <p:sldId id="452" r:id="rId39"/>
    <p:sldId id="445" r:id="rId40"/>
    <p:sldId id="446" r:id="rId41"/>
    <p:sldId id="447" r:id="rId42"/>
    <p:sldId id="448" r:id="rId43"/>
    <p:sldId id="296" r:id="rId44"/>
  </p:sldIdLst>
  <p:sldSz cx="9144000" cy="5143500" type="screen16x9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FF"/>
    <a:srgbClr val="FF3300"/>
    <a:srgbClr val="E18601"/>
    <a:srgbClr val="008000"/>
    <a:srgbClr val="800000"/>
    <a:srgbClr val="FF6600"/>
    <a:srgbClr val="D43005"/>
    <a:srgbClr val="EAEAEA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515" autoAdjust="0"/>
  </p:normalViewPr>
  <p:slideViewPr>
    <p:cSldViewPr>
      <p:cViewPr varScale="1">
        <p:scale>
          <a:sx n="133" d="100"/>
          <a:sy n="133" d="100"/>
        </p:scale>
        <p:origin x="96" y="55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3216" y="3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</a:p>
        </p:txBody>
      </p:sp>
    </p:spTree>
    <p:extLst>
      <p:ext uri="{BB962C8B-B14F-4D97-AF65-F5344CB8AC3E}">
        <p14:creationId xmlns:p14="http://schemas.microsoft.com/office/powerpoint/2010/main" val="2979530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1015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603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93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BF73F6-FC25-43EE-BD37-B234601ED84A}"/>
              </a:ext>
            </a:extLst>
          </p:cNvPr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2B9ECC-60CE-4B04-9BDA-A9A978A5B8C8}"/>
              </a:ext>
            </a:extLst>
          </p:cNvPr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66C9EA2-02EF-49B6-884B-FE28F4050007}"/>
              </a:ext>
            </a:extLst>
          </p:cNvPr>
          <p:cNvCxnSpPr>
            <a:cxnSpLocks/>
          </p:cNvCxnSpPr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24CC51-87DB-4BE4-8BAE-8B55B1365D96}"/>
              </a:ext>
            </a:extLst>
          </p:cNvPr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516295A-1591-4010-96FF-5F1923C2DE28}"/>
                </a:ext>
              </a:extLst>
            </p:cNvPr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>
              <a:extLst>
                <a:ext uri="{FF2B5EF4-FFF2-40B4-BE49-F238E27FC236}">
                  <a16:creationId xmlns:a16="http://schemas.microsoft.com/office/drawing/2014/main" id="{2D1886B6-7E23-4412-A0B1-4CCECA07B7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1E4BF40-3BEE-476D-BE93-5753343553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CE977E-FA0E-4577-BD81-986F98C75317}"/>
              </a:ext>
            </a:extLst>
          </p:cNvPr>
          <p:cNvSpPr/>
          <p:nvPr userDrawn="1"/>
        </p:nvSpPr>
        <p:spPr>
          <a:xfrm>
            <a:off x="3419871" y="3448764"/>
            <a:ext cx="2191541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17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D4BB677-D21E-436A-910D-78E4C256580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春季</a:t>
            </a:r>
          </a:p>
        </p:txBody>
      </p:sp>
    </p:spTree>
    <p:extLst>
      <p:ext uri="{BB962C8B-B14F-4D97-AF65-F5344CB8AC3E}">
        <p14:creationId xmlns:p14="http://schemas.microsoft.com/office/powerpoint/2010/main" val="3036410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20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E6EDCF5-1A0A-4487-9F7F-7541297824A8}"/>
              </a:ext>
            </a:extLst>
          </p:cNvPr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31F689-8CAB-4D55-94CB-B849C4F1C9B8}"/>
              </a:ext>
            </a:extLst>
          </p:cNvPr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AE735-22F4-4DD9-A6E9-4FE9156B2BEA}"/>
              </a:ext>
            </a:extLst>
          </p:cNvPr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42F7023-66D6-46EC-973C-E47B2962AC43}"/>
              </a:ext>
            </a:extLst>
          </p:cNvPr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D0361D10-56FC-4A8F-B9ED-A7F17A40456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0BD16B8-5620-4656-80AA-13BDFE28D31C}"/>
              </a:ext>
            </a:extLst>
          </p:cNvPr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>
            <a:extLst>
              <a:ext uri="{FF2B5EF4-FFF2-40B4-BE49-F238E27FC236}">
                <a16:creationId xmlns:a16="http://schemas.microsoft.com/office/drawing/2014/main" id="{5927D490-4D90-4B32-B7A0-4E810E7B3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783955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04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A6774-B625-4A77-88AA-BF23D6B62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110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E7F7271-A452-45BF-930E-E01F92E4E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BD81CF26-63C0-4F1A-B1DA-89873C52A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43322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90213-035A-4D7B-9DD8-F23D6790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9" name="Picture 22" descr="Network Globe">
            <a:extLst>
              <a:ext uri="{FF2B5EF4-FFF2-40B4-BE49-F238E27FC236}">
                <a16:creationId xmlns:a16="http://schemas.microsoft.com/office/drawing/2014/main" id="{8F91DDCF-4DE7-43B0-913B-3D2AF4294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388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>
            <a:extLst>
              <a:ext uri="{FF2B5EF4-FFF2-40B4-BE49-F238E27FC236}">
                <a16:creationId xmlns:a16="http://schemas.microsoft.com/office/drawing/2014/main" id="{77EB77E8-8B3F-4748-B4DF-C40AD5D905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690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B65725-9EC8-4128-831B-BF3BD514AF1B}" type="datetime1">
              <a:rPr lang="zh-CN" altLang="en-US" smtClean="0"/>
              <a:t>2025/4/16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36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audio" Target="../media/audio1.wav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A653AA-5300-4340-BCBA-3AE3C81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5259C-52C1-4225-899D-5C122DDF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2B90B-5705-4B4F-9FB6-FDC7563CD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47" r:id="rId2"/>
    <p:sldLayoutId id="2147483735" r:id="rId3"/>
    <p:sldLayoutId id="2147483737" r:id="rId4"/>
    <p:sldLayoutId id="2147483746" r:id="rId5"/>
    <p:sldLayoutId id="2147483739" r:id="rId6"/>
    <p:sldLayoutId id="2147483740" r:id="rId7"/>
    <p:sldLayoutId id="2147483749" r:id="rId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0" name="arrow.wav"/>
          </p:stSnd>
        </p:sndAc>
      </p:transition>
    </mc:Choice>
    <mc:Fallback xmlns="">
      <p:transition spd="slow">
        <p:fade/>
        <p:sndAc>
          <p:stSnd>
            <p:snd r:embed="rId11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7.png"/><Relationship Id="rId7" Type="http://schemas.openxmlformats.org/officeDocument/2006/relationships/image" Target="../media/image1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28.png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28.png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4FB47-84C8-4C76-9EB1-A57108491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</a:p>
        </p:txBody>
      </p:sp>
    </p:spTree>
    <p:extLst>
      <p:ext uri="{BB962C8B-B14F-4D97-AF65-F5344CB8AC3E}">
        <p14:creationId xmlns:p14="http://schemas.microsoft.com/office/powerpoint/2010/main" val="3154207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5.4 </a:t>
            </a:r>
            <a:r>
              <a:rPr lang="zh-CN" altLang="en-US" dirty="0">
                <a:solidFill>
                  <a:srgbClr val="FF0000"/>
                </a:solidFill>
              </a:rPr>
              <a:t>局域交换网 </a:t>
            </a:r>
          </a:p>
        </p:txBody>
      </p:sp>
    </p:spTree>
    <p:extLst>
      <p:ext uri="{BB962C8B-B14F-4D97-AF65-F5344CB8AC3E}">
        <p14:creationId xmlns:p14="http://schemas.microsoft.com/office/powerpoint/2010/main" val="3896683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某机构的网络示意图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269" y="1498844"/>
            <a:ext cx="5179529" cy="333542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88B16A17-E3C8-49AC-82A2-C242A78BC53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B43C48ED-5563-43F6-AE0B-6710D2C05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692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699792" y="1703711"/>
            <a:ext cx="4320479" cy="158417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FF0000"/>
                </a:solidFill>
                <a:effectLst/>
              </a:rPr>
              <a:t>5.4.1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链路层寻址和地址解析协议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5.4.2 </a:t>
            </a:r>
            <a:r>
              <a:rPr lang="zh-CN" altLang="en-US" dirty="0">
                <a:effectLst/>
              </a:rPr>
              <a:t>以太网</a:t>
            </a:r>
            <a:endParaRPr lang="en-US" altLang="zh-CN" dirty="0">
              <a:effectLst/>
            </a:endParaRPr>
          </a:p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5.4.3 </a:t>
            </a:r>
            <a:r>
              <a:rPr lang="zh-CN" altLang="en-US" dirty="0">
                <a:effectLst/>
              </a:rPr>
              <a:t>链路层交换机</a:t>
            </a:r>
            <a:endParaRPr lang="en-US" altLang="zh-CN" dirty="0">
              <a:effectLst/>
            </a:endParaRPr>
          </a:p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5.4.4 </a:t>
            </a:r>
            <a:r>
              <a:rPr lang="zh-CN" altLang="en-US" dirty="0">
                <a:effectLst/>
              </a:rPr>
              <a:t>虚拟局域网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DF7558-5E1A-49CB-B7BD-3CE20640B3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635646"/>
            <a:ext cx="1668571" cy="1491630"/>
          </a:xfrm>
          <a:prstGeom prst="rect">
            <a:avLst/>
          </a:prstGeom>
        </p:spPr>
      </p:pic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AC60631-7521-42A6-9178-EEEA9CDC0FF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F0A05DD7-3C42-4DF7-88CE-EE123E7C0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552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链路层寻址和地址解析协议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FF0000"/>
                </a:solidFill>
                <a:effectLst/>
              </a:rPr>
              <a:t>(1)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链路层编址  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MAC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地址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(LAN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地址、物理地址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)</a:t>
            </a: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功能：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给每一个网络接口编的地址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在局域网内工作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将</a:t>
            </a:r>
            <a:r>
              <a:rPr lang="zh-CN" altLang="en-US" dirty="0">
                <a:solidFill>
                  <a:srgbClr val="0066CC"/>
                </a:solidFill>
              </a:rPr>
              <a:t>数据帧从一个网络接口传输到</a:t>
            </a:r>
            <a:br>
              <a:rPr lang="en-US" altLang="zh-CN" dirty="0">
                <a:solidFill>
                  <a:srgbClr val="0066CC"/>
                </a:solidFill>
              </a:rPr>
            </a:br>
            <a:r>
              <a:rPr lang="zh-CN" altLang="en-US" dirty="0">
                <a:solidFill>
                  <a:srgbClr val="0066CC"/>
                </a:solidFill>
              </a:rPr>
              <a:t>物理连接的另外一个网络接口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48bit MAC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地址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-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分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16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进制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)</a:t>
            </a: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如：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1A-2F-BB-76-09-AD</a:t>
            </a: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MAC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地址：烧写在网卡的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ROM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中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950044" y="1491631"/>
            <a:ext cx="3163761" cy="2941259"/>
            <a:chOff x="5076056" y="1988840"/>
            <a:chExt cx="4218346" cy="3921679"/>
          </a:xfrm>
        </p:grpSpPr>
        <p:grpSp>
          <p:nvGrpSpPr>
            <p:cNvPr id="8" name="组合 7"/>
            <p:cNvGrpSpPr/>
            <p:nvPr/>
          </p:nvGrpSpPr>
          <p:grpSpPr>
            <a:xfrm>
              <a:off x="5076056" y="1988840"/>
              <a:ext cx="4218346" cy="3706237"/>
              <a:chOff x="156986" y="2025650"/>
              <a:chExt cx="7361586" cy="4974395"/>
            </a:xfrm>
          </p:grpSpPr>
          <p:sp>
            <p:nvSpPr>
              <p:cNvPr id="9" name="Text Box 18"/>
              <p:cNvSpPr txBox="1">
                <a:spLocks noChangeArrowheads="1"/>
              </p:cNvSpPr>
              <p:nvPr/>
            </p:nvSpPr>
            <p:spPr bwMode="auto">
              <a:xfrm>
                <a:off x="6022119" y="6545647"/>
                <a:ext cx="1496453" cy="454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50" dirty="0">
                    <a:latin typeface="Arial" panose="020B0604020202020204" pitchFamily="34" charset="0"/>
                  </a:rPr>
                  <a:t>adapter</a:t>
                </a:r>
              </a:p>
            </p:txBody>
          </p:sp>
          <p:sp>
            <p:nvSpPr>
              <p:cNvPr id="10" name="Freeform 8"/>
              <p:cNvSpPr>
                <a:spLocks/>
              </p:cNvSpPr>
              <p:nvPr/>
            </p:nvSpPr>
            <p:spPr bwMode="auto">
              <a:xfrm>
                <a:off x="2152650" y="3262313"/>
                <a:ext cx="2046288" cy="2049462"/>
              </a:xfrm>
              <a:custGeom>
                <a:avLst/>
                <a:gdLst>
                  <a:gd name="T0" fmla="*/ 2147483646 w 1292"/>
                  <a:gd name="T1" fmla="*/ 2147483646 h 1255"/>
                  <a:gd name="T2" fmla="*/ 2147483646 w 1292"/>
                  <a:gd name="T3" fmla="*/ 2147483646 h 1255"/>
                  <a:gd name="T4" fmla="*/ 2147483646 w 1292"/>
                  <a:gd name="T5" fmla="*/ 2147483646 h 1255"/>
                  <a:gd name="T6" fmla="*/ 2147483646 w 1292"/>
                  <a:gd name="T7" fmla="*/ 2147483646 h 1255"/>
                  <a:gd name="T8" fmla="*/ 2147483646 w 1292"/>
                  <a:gd name="T9" fmla="*/ 2147483646 h 1255"/>
                  <a:gd name="T10" fmla="*/ 2147483646 w 1292"/>
                  <a:gd name="T11" fmla="*/ 2147483646 h 1255"/>
                  <a:gd name="T12" fmla="*/ 2147483646 w 1292"/>
                  <a:gd name="T13" fmla="*/ 2147483646 h 1255"/>
                  <a:gd name="T14" fmla="*/ 2147483646 w 1292"/>
                  <a:gd name="T15" fmla="*/ 2147483646 h 1255"/>
                  <a:gd name="T16" fmla="*/ 2147483646 w 1292"/>
                  <a:gd name="T17" fmla="*/ 2147483646 h 1255"/>
                  <a:gd name="T18" fmla="*/ 2147483646 w 1292"/>
                  <a:gd name="T19" fmla="*/ 2147483646 h 1255"/>
                  <a:gd name="T20" fmla="*/ 2147483646 w 1292"/>
                  <a:gd name="T21" fmla="*/ 2147483646 h 1255"/>
                  <a:gd name="T22" fmla="*/ 2147483646 w 1292"/>
                  <a:gd name="T23" fmla="*/ 2147483646 h 125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292" h="1255">
                    <a:moveTo>
                      <a:pt x="239" y="7"/>
                    </a:moveTo>
                    <a:cubicBezTo>
                      <a:pt x="120" y="14"/>
                      <a:pt x="70" y="71"/>
                      <a:pt x="35" y="157"/>
                    </a:cubicBezTo>
                    <a:cubicBezTo>
                      <a:pt x="0" y="243"/>
                      <a:pt x="26" y="411"/>
                      <a:pt x="29" y="523"/>
                    </a:cubicBezTo>
                    <a:cubicBezTo>
                      <a:pt x="32" y="635"/>
                      <a:pt x="17" y="771"/>
                      <a:pt x="53" y="829"/>
                    </a:cubicBezTo>
                    <a:cubicBezTo>
                      <a:pt x="89" y="887"/>
                      <a:pt x="146" y="821"/>
                      <a:pt x="245" y="871"/>
                    </a:cubicBezTo>
                    <a:cubicBezTo>
                      <a:pt x="344" y="921"/>
                      <a:pt x="522" y="1068"/>
                      <a:pt x="647" y="1129"/>
                    </a:cubicBezTo>
                    <a:cubicBezTo>
                      <a:pt x="772" y="1190"/>
                      <a:pt x="903" y="1255"/>
                      <a:pt x="995" y="1237"/>
                    </a:cubicBezTo>
                    <a:cubicBezTo>
                      <a:pt x="1087" y="1219"/>
                      <a:pt x="1153" y="1153"/>
                      <a:pt x="1199" y="1021"/>
                    </a:cubicBezTo>
                    <a:cubicBezTo>
                      <a:pt x="1245" y="889"/>
                      <a:pt x="1270" y="580"/>
                      <a:pt x="1271" y="445"/>
                    </a:cubicBezTo>
                    <a:cubicBezTo>
                      <a:pt x="1272" y="310"/>
                      <a:pt x="1292" y="266"/>
                      <a:pt x="1205" y="211"/>
                    </a:cubicBezTo>
                    <a:cubicBezTo>
                      <a:pt x="1118" y="156"/>
                      <a:pt x="908" y="150"/>
                      <a:pt x="749" y="115"/>
                    </a:cubicBezTo>
                    <a:cubicBezTo>
                      <a:pt x="590" y="80"/>
                      <a:pt x="358" y="0"/>
                      <a:pt x="239" y="7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/>
              </a:p>
            </p:txBody>
          </p:sp>
          <p:sp>
            <p:nvSpPr>
              <p:cNvPr id="11" name="Line 19"/>
              <p:cNvSpPr>
                <a:spLocks noChangeShapeType="1"/>
              </p:cNvSpPr>
              <p:nvPr/>
            </p:nvSpPr>
            <p:spPr bwMode="auto">
              <a:xfrm>
                <a:off x="1300163" y="3940175"/>
                <a:ext cx="9017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050"/>
              </a:p>
            </p:txBody>
          </p:sp>
          <p:sp>
            <p:nvSpPr>
              <p:cNvPr id="12" name="Line 20"/>
              <p:cNvSpPr>
                <a:spLocks noChangeShapeType="1"/>
              </p:cNvSpPr>
              <p:nvPr/>
            </p:nvSpPr>
            <p:spPr bwMode="auto">
              <a:xfrm>
                <a:off x="3309938" y="2808288"/>
                <a:ext cx="0" cy="6556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050"/>
              </a:p>
            </p:txBody>
          </p:sp>
          <p:sp>
            <p:nvSpPr>
              <p:cNvPr id="13" name="Line 21"/>
              <p:cNvSpPr>
                <a:spLocks noChangeShapeType="1"/>
              </p:cNvSpPr>
              <p:nvPr/>
            </p:nvSpPr>
            <p:spPr bwMode="auto">
              <a:xfrm flipH="1">
                <a:off x="4173538" y="4108450"/>
                <a:ext cx="7969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050"/>
              </a:p>
            </p:txBody>
          </p:sp>
          <p:sp>
            <p:nvSpPr>
              <p:cNvPr id="14" name="Line 22"/>
              <p:cNvSpPr>
                <a:spLocks noChangeShapeType="1"/>
              </p:cNvSpPr>
              <p:nvPr/>
            </p:nvSpPr>
            <p:spPr bwMode="auto">
              <a:xfrm flipV="1">
                <a:off x="3271838" y="5113338"/>
                <a:ext cx="0" cy="4381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050"/>
              </a:p>
            </p:txBody>
          </p:sp>
          <p:sp>
            <p:nvSpPr>
              <p:cNvPr id="15" name="Text Box 24"/>
              <p:cNvSpPr txBox="1">
                <a:spLocks noChangeArrowheads="1"/>
              </p:cNvSpPr>
              <p:nvPr/>
            </p:nvSpPr>
            <p:spPr bwMode="auto">
              <a:xfrm>
                <a:off x="3630614" y="2513013"/>
                <a:ext cx="2652736" cy="392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825">
                    <a:latin typeface="Arial" panose="020B0604020202020204" pitchFamily="34" charset="0"/>
                  </a:rPr>
                  <a:t>1A-2F-BB-76-09-AD</a:t>
                </a:r>
              </a:p>
            </p:txBody>
          </p:sp>
          <p:sp>
            <p:nvSpPr>
              <p:cNvPr id="16" name="Line 25"/>
              <p:cNvSpPr>
                <a:spLocks noChangeShapeType="1"/>
              </p:cNvSpPr>
              <p:nvPr/>
            </p:nvSpPr>
            <p:spPr bwMode="auto">
              <a:xfrm flipH="1" flipV="1">
                <a:off x="3449638" y="2652713"/>
                <a:ext cx="257175" cy="12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050"/>
              </a:p>
            </p:txBody>
          </p:sp>
          <p:sp>
            <p:nvSpPr>
              <p:cNvPr id="17" name="Line 26"/>
              <p:cNvSpPr>
                <a:spLocks noChangeShapeType="1"/>
              </p:cNvSpPr>
              <p:nvPr/>
            </p:nvSpPr>
            <p:spPr bwMode="auto">
              <a:xfrm flipV="1">
                <a:off x="4999038" y="4289425"/>
                <a:ext cx="0" cy="3730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050"/>
              </a:p>
            </p:txBody>
          </p:sp>
          <p:sp>
            <p:nvSpPr>
              <p:cNvPr id="18" name="Text Box 27"/>
              <p:cNvSpPr txBox="1">
                <a:spLocks noChangeArrowheads="1"/>
              </p:cNvSpPr>
              <p:nvPr/>
            </p:nvSpPr>
            <p:spPr bwMode="auto">
              <a:xfrm>
                <a:off x="4479925" y="4662486"/>
                <a:ext cx="2600516" cy="392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825" dirty="0">
                    <a:latin typeface="Arial" panose="020B0604020202020204" pitchFamily="34" charset="0"/>
                  </a:rPr>
                  <a:t>58-23-D7-FA-20-B0</a:t>
                </a:r>
              </a:p>
            </p:txBody>
          </p:sp>
          <p:sp>
            <p:nvSpPr>
              <p:cNvPr id="19" name="Line 28"/>
              <p:cNvSpPr>
                <a:spLocks noChangeShapeType="1"/>
              </p:cNvSpPr>
              <p:nvPr/>
            </p:nvSpPr>
            <p:spPr bwMode="auto">
              <a:xfrm flipH="1">
                <a:off x="3375025" y="5667375"/>
                <a:ext cx="3603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050"/>
              </a:p>
            </p:txBody>
          </p:sp>
          <p:sp>
            <p:nvSpPr>
              <p:cNvPr id="20" name="Text Box 29"/>
              <p:cNvSpPr txBox="1">
                <a:spLocks noChangeArrowheads="1"/>
              </p:cNvSpPr>
              <p:nvPr/>
            </p:nvSpPr>
            <p:spPr bwMode="auto">
              <a:xfrm>
                <a:off x="3797298" y="5551486"/>
                <a:ext cx="2615436" cy="392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825" dirty="0">
                    <a:latin typeface="Arial" panose="020B0604020202020204" pitchFamily="34" charset="0"/>
                  </a:rPr>
                  <a:t>0C-C4-11-6F-E3-98</a:t>
                </a:r>
              </a:p>
            </p:txBody>
          </p:sp>
          <p:sp>
            <p:nvSpPr>
              <p:cNvPr id="21" name="Line 30"/>
              <p:cNvSpPr>
                <a:spLocks noChangeShapeType="1"/>
              </p:cNvSpPr>
              <p:nvPr/>
            </p:nvSpPr>
            <p:spPr bwMode="auto">
              <a:xfrm flipV="1">
                <a:off x="1236663" y="4095750"/>
                <a:ext cx="0" cy="3730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050"/>
              </a:p>
            </p:txBody>
          </p:sp>
          <p:sp>
            <p:nvSpPr>
              <p:cNvPr id="22" name="Text Box 31"/>
              <p:cNvSpPr txBox="1">
                <a:spLocks noChangeArrowheads="1"/>
              </p:cNvSpPr>
              <p:nvPr/>
            </p:nvSpPr>
            <p:spPr bwMode="auto">
              <a:xfrm>
                <a:off x="156986" y="4503816"/>
                <a:ext cx="2533377" cy="392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825" dirty="0">
                    <a:latin typeface="Arial" panose="020B0604020202020204" pitchFamily="34" charset="0"/>
                  </a:rPr>
                  <a:t>71-65-F7-2B-08-53</a:t>
                </a:r>
              </a:p>
            </p:txBody>
          </p:sp>
          <p:sp>
            <p:nvSpPr>
              <p:cNvPr id="23" name="Text Box 32"/>
              <p:cNvSpPr txBox="1">
                <a:spLocks noChangeArrowheads="1"/>
              </p:cNvSpPr>
              <p:nvPr/>
            </p:nvSpPr>
            <p:spPr bwMode="auto">
              <a:xfrm>
                <a:off x="2636837" y="3621088"/>
                <a:ext cx="1671760" cy="1032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50" dirty="0">
                    <a:latin typeface="Arial" panose="020B0604020202020204" pitchFamily="34" charset="0"/>
                  </a:rPr>
                  <a:t>   LAN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50" dirty="0">
                    <a:latin typeface="Arial" panose="020B0604020202020204" pitchFamily="34" charset="0"/>
                  </a:rPr>
                  <a:t>(wired or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50" dirty="0">
                    <a:latin typeface="Arial" panose="020B0604020202020204" pitchFamily="34" charset="0"/>
                  </a:rPr>
                  <a:t>wireless)</a:t>
                </a:r>
              </a:p>
            </p:txBody>
          </p:sp>
          <p:sp>
            <p:nvSpPr>
              <p:cNvPr id="24" name="Rectangle 37"/>
              <p:cNvSpPr>
                <a:spLocks noChangeArrowheads="1"/>
              </p:cNvSpPr>
              <p:nvPr/>
            </p:nvSpPr>
            <p:spPr bwMode="auto">
              <a:xfrm>
                <a:off x="5831618" y="6596446"/>
                <a:ext cx="160338" cy="25558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050"/>
              </a:p>
            </p:txBody>
          </p:sp>
          <p:grpSp>
            <p:nvGrpSpPr>
              <p:cNvPr id="25" name="Group 51"/>
              <p:cNvGrpSpPr>
                <a:grpSpLocks/>
              </p:cNvGrpSpPr>
              <p:nvPr/>
            </p:nvGrpSpPr>
            <p:grpSpPr bwMode="auto">
              <a:xfrm>
                <a:off x="423863" y="3562350"/>
                <a:ext cx="922337" cy="658813"/>
                <a:chOff x="267" y="2244"/>
                <a:chExt cx="581" cy="415"/>
              </a:xfrm>
            </p:grpSpPr>
            <p:sp>
              <p:nvSpPr>
                <p:cNvPr id="41" name="Rectangle 36"/>
                <p:cNvSpPr>
                  <a:spLocks noChangeArrowheads="1"/>
                </p:cNvSpPr>
                <p:nvPr/>
              </p:nvSpPr>
              <p:spPr bwMode="auto">
                <a:xfrm rot="-5400000">
                  <a:off x="717" y="2400"/>
                  <a:ext cx="101" cy="161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defRPr/>
                  </a:pPr>
                  <a:endParaRPr lang="zh-CN" altLang="zh-CN" sz="1050"/>
                </a:p>
              </p:txBody>
            </p:sp>
            <p:grpSp>
              <p:nvGrpSpPr>
                <p:cNvPr id="42" name="Group 38"/>
                <p:cNvGrpSpPr>
                  <a:grpSpLocks/>
                </p:cNvGrpSpPr>
                <p:nvPr/>
              </p:nvGrpSpPr>
              <p:grpSpPr bwMode="auto">
                <a:xfrm>
                  <a:off x="267" y="2244"/>
                  <a:ext cx="512" cy="415"/>
                  <a:chOff x="-44" y="1473"/>
                  <a:chExt cx="981" cy="1105"/>
                </a:xfrm>
              </p:grpSpPr>
              <p:pic>
                <p:nvPicPr>
                  <p:cNvPr id="43" name="Picture 39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4" name="Freeform 40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050"/>
                  </a:p>
                </p:txBody>
              </p:sp>
            </p:grpSp>
          </p:grpSp>
          <p:grpSp>
            <p:nvGrpSpPr>
              <p:cNvPr id="26" name="Group 50"/>
              <p:cNvGrpSpPr>
                <a:grpSpLocks/>
              </p:cNvGrpSpPr>
              <p:nvPr/>
            </p:nvGrpSpPr>
            <p:grpSpPr bwMode="auto">
              <a:xfrm>
                <a:off x="2744788" y="5559425"/>
                <a:ext cx="812800" cy="833438"/>
                <a:chOff x="1729" y="3502"/>
                <a:chExt cx="512" cy="525"/>
              </a:xfrm>
            </p:grpSpPr>
            <p:sp>
              <p:nvSpPr>
                <p:cNvPr id="37" name="Rectangle 34"/>
                <p:cNvSpPr>
                  <a:spLocks noChangeArrowheads="1"/>
                </p:cNvSpPr>
                <p:nvPr/>
              </p:nvSpPr>
              <p:spPr bwMode="auto">
                <a:xfrm>
                  <a:off x="2021" y="3502"/>
                  <a:ext cx="101" cy="161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defRPr/>
                  </a:pPr>
                  <a:endParaRPr lang="zh-CN" altLang="zh-CN" sz="1050"/>
                </a:p>
              </p:txBody>
            </p:sp>
            <p:grpSp>
              <p:nvGrpSpPr>
                <p:cNvPr id="38" name="Group 41"/>
                <p:cNvGrpSpPr>
                  <a:grpSpLocks/>
                </p:cNvGrpSpPr>
                <p:nvPr/>
              </p:nvGrpSpPr>
              <p:grpSpPr bwMode="auto">
                <a:xfrm>
                  <a:off x="1729" y="3612"/>
                  <a:ext cx="512" cy="415"/>
                  <a:chOff x="-44" y="1473"/>
                  <a:chExt cx="981" cy="1105"/>
                </a:xfrm>
              </p:grpSpPr>
              <p:pic>
                <p:nvPicPr>
                  <p:cNvPr id="39" name="Picture 42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0" name="Freeform 43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050"/>
                  </a:p>
                </p:txBody>
              </p:sp>
            </p:grpSp>
          </p:grpSp>
          <p:grpSp>
            <p:nvGrpSpPr>
              <p:cNvPr id="27" name="Group 52"/>
              <p:cNvGrpSpPr>
                <a:grpSpLocks/>
              </p:cNvGrpSpPr>
              <p:nvPr/>
            </p:nvGrpSpPr>
            <p:grpSpPr bwMode="auto">
              <a:xfrm>
                <a:off x="2770188" y="2025650"/>
                <a:ext cx="812800" cy="776288"/>
                <a:chOff x="1745" y="1276"/>
                <a:chExt cx="512" cy="489"/>
              </a:xfrm>
            </p:grpSpPr>
            <p:sp>
              <p:nvSpPr>
                <p:cNvPr id="33" name="Rectangle 14"/>
                <p:cNvSpPr>
                  <a:spLocks noChangeArrowheads="1"/>
                </p:cNvSpPr>
                <p:nvPr/>
              </p:nvSpPr>
              <p:spPr bwMode="auto">
                <a:xfrm>
                  <a:off x="2039" y="1604"/>
                  <a:ext cx="101" cy="161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defRPr/>
                  </a:pPr>
                  <a:endParaRPr lang="zh-CN" altLang="zh-CN" sz="1050"/>
                </a:p>
              </p:txBody>
            </p:sp>
            <p:grpSp>
              <p:nvGrpSpPr>
                <p:cNvPr id="34" name="Group 44"/>
                <p:cNvGrpSpPr>
                  <a:grpSpLocks/>
                </p:cNvGrpSpPr>
                <p:nvPr/>
              </p:nvGrpSpPr>
              <p:grpSpPr bwMode="auto">
                <a:xfrm>
                  <a:off x="1745" y="1276"/>
                  <a:ext cx="512" cy="415"/>
                  <a:chOff x="-44" y="1473"/>
                  <a:chExt cx="981" cy="1105"/>
                </a:xfrm>
              </p:grpSpPr>
              <p:pic>
                <p:nvPicPr>
                  <p:cNvPr id="35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6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050"/>
                  </a:p>
                </p:txBody>
              </p:sp>
            </p:grpSp>
          </p:grpSp>
          <p:grpSp>
            <p:nvGrpSpPr>
              <p:cNvPr id="28" name="Group 53"/>
              <p:cNvGrpSpPr>
                <a:grpSpLocks/>
              </p:cNvGrpSpPr>
              <p:nvPr/>
            </p:nvGrpSpPr>
            <p:grpSpPr bwMode="auto">
              <a:xfrm>
                <a:off x="4868863" y="3836988"/>
                <a:ext cx="812800" cy="658812"/>
                <a:chOff x="3067" y="2417"/>
                <a:chExt cx="512" cy="415"/>
              </a:xfrm>
            </p:grpSpPr>
            <p:sp>
              <p:nvSpPr>
                <p:cNvPr id="29" name="Rectangle 35"/>
                <p:cNvSpPr>
                  <a:spLocks noChangeArrowheads="1"/>
                </p:cNvSpPr>
                <p:nvPr/>
              </p:nvSpPr>
              <p:spPr bwMode="auto">
                <a:xfrm rot="-5400000">
                  <a:off x="3162" y="2514"/>
                  <a:ext cx="101" cy="161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defRPr/>
                  </a:pPr>
                  <a:endParaRPr lang="zh-CN" altLang="zh-CN" sz="1050"/>
                </a:p>
              </p:txBody>
            </p:sp>
            <p:grpSp>
              <p:nvGrpSpPr>
                <p:cNvPr id="30" name="Group 47"/>
                <p:cNvGrpSpPr>
                  <a:grpSpLocks/>
                </p:cNvGrpSpPr>
                <p:nvPr/>
              </p:nvGrpSpPr>
              <p:grpSpPr bwMode="auto">
                <a:xfrm>
                  <a:off x="3067" y="2417"/>
                  <a:ext cx="512" cy="415"/>
                  <a:chOff x="-44" y="1473"/>
                  <a:chExt cx="981" cy="1105"/>
                </a:xfrm>
              </p:grpSpPr>
              <p:pic>
                <p:nvPicPr>
                  <p:cNvPr id="31" name="Picture 48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2" name="Freeform 49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050"/>
                  </a:p>
                </p:txBody>
              </p:sp>
            </p:grpSp>
          </p:grpSp>
        </p:grpSp>
        <p:sp>
          <p:nvSpPr>
            <p:cNvPr id="45" name="Text Box 35"/>
            <p:cNvSpPr txBox="1">
              <a:spLocks noChangeArrowheads="1"/>
            </p:cNvSpPr>
            <p:nvPr/>
          </p:nvSpPr>
          <p:spPr bwMode="auto">
            <a:xfrm>
              <a:off x="5925446" y="5356522"/>
              <a:ext cx="1812890" cy="553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050" dirty="0">
                  <a:solidFill>
                    <a:srgbClr val="FF0000"/>
                  </a:solidFill>
                </a:rPr>
                <a:t>Broadcast address =</a:t>
              </a:r>
            </a:p>
            <a:p>
              <a:pPr eaLnBrk="0" hangingPunct="0"/>
              <a:r>
                <a:rPr lang="en-US" altLang="zh-CN" sz="1050" dirty="0">
                  <a:solidFill>
                    <a:srgbClr val="FF0000"/>
                  </a:solidFill>
                </a:rPr>
                <a:t>FF-FF-FF-FF-FF-FF</a:t>
              </a:r>
            </a:p>
          </p:txBody>
        </p:sp>
      </p:grpSp>
      <p:sp>
        <p:nvSpPr>
          <p:cNvPr id="46" name="灯片编号占位符 2">
            <a:extLst>
              <a:ext uri="{FF2B5EF4-FFF2-40B4-BE49-F238E27FC236}">
                <a16:creationId xmlns:a16="http://schemas.microsoft.com/office/drawing/2014/main" id="{0A402183-F4EA-44CA-A786-D3CBBF90F356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47" name="AutoShape 5">
            <a:extLst>
              <a:ext uri="{FF2B5EF4-FFF2-40B4-BE49-F238E27FC236}">
                <a16:creationId xmlns:a16="http://schemas.microsoft.com/office/drawing/2014/main" id="{A04BD72F-997A-4124-805F-9AEF4C782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846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链路层寻址和地址解析协议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(1)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链路层编址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FF0000"/>
                </a:solidFill>
                <a:effectLst/>
              </a:rPr>
              <a:t>问题：有了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IP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地址，为什么又杀出一个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MAC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地址？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MAC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地址 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vs IP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地址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工作在不同的协议层次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IP</a:t>
            </a:r>
            <a:r>
              <a:rPr lang="zh-CN" altLang="en-US" dirty="0">
                <a:solidFill>
                  <a:srgbClr val="0066CC"/>
                </a:solidFill>
              </a:rPr>
              <a:t>地址是在广域网</a:t>
            </a:r>
            <a:r>
              <a:rPr lang="en-US" altLang="zh-CN" dirty="0">
                <a:solidFill>
                  <a:srgbClr val="0066CC"/>
                </a:solidFill>
              </a:rPr>
              <a:t>/</a:t>
            </a:r>
            <a:r>
              <a:rPr lang="zh-CN" altLang="en-US" dirty="0">
                <a:solidFill>
                  <a:srgbClr val="0066CC"/>
                </a:solidFill>
              </a:rPr>
              <a:t>互联网中寻址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IP</a:t>
            </a:r>
            <a:r>
              <a:rPr lang="zh-CN" altLang="en-US" dirty="0">
                <a:solidFill>
                  <a:srgbClr val="0066CC"/>
                </a:solidFill>
              </a:rPr>
              <a:t>地址可以动态改变，</a:t>
            </a:r>
            <a:r>
              <a:rPr lang="en-US" altLang="zh-CN" dirty="0">
                <a:solidFill>
                  <a:srgbClr val="0066CC"/>
                </a:solidFill>
              </a:rPr>
              <a:t>MAC</a:t>
            </a:r>
            <a:r>
              <a:rPr lang="zh-CN" altLang="en-US" dirty="0">
                <a:solidFill>
                  <a:srgbClr val="0066CC"/>
                </a:solidFill>
              </a:rPr>
              <a:t>地址一般是固定的</a:t>
            </a:r>
            <a:r>
              <a:rPr lang="en-US" altLang="zh-CN" dirty="0">
                <a:solidFill>
                  <a:srgbClr val="0066CC"/>
                </a:solidFill>
              </a:rPr>
              <a:t>(</a:t>
            </a:r>
            <a:r>
              <a:rPr lang="zh-CN" altLang="en-US" dirty="0">
                <a:solidFill>
                  <a:srgbClr val="0066CC"/>
                </a:solidFill>
              </a:rPr>
              <a:t>也不会重复</a:t>
            </a:r>
            <a:r>
              <a:rPr lang="en-US" altLang="zh-CN" dirty="0">
                <a:solidFill>
                  <a:srgbClr val="0066CC"/>
                </a:solidFill>
              </a:rPr>
              <a:t>)</a:t>
            </a: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IP</a:t>
            </a:r>
            <a:r>
              <a:rPr lang="zh-CN" altLang="en-US" dirty="0">
                <a:solidFill>
                  <a:srgbClr val="0066CC"/>
                </a:solidFill>
              </a:rPr>
              <a:t>地址是层次结构，</a:t>
            </a:r>
            <a:r>
              <a:rPr lang="en-US" altLang="zh-CN" dirty="0">
                <a:solidFill>
                  <a:srgbClr val="0066CC"/>
                </a:solidFill>
              </a:rPr>
              <a:t>MAC</a:t>
            </a:r>
            <a:r>
              <a:rPr lang="zh-CN" altLang="en-US" dirty="0">
                <a:solidFill>
                  <a:srgbClr val="0066CC"/>
                </a:solidFill>
              </a:rPr>
              <a:t>地址是</a:t>
            </a:r>
            <a:r>
              <a:rPr lang="zh-CN" altLang="en-US" dirty="0">
                <a:solidFill>
                  <a:srgbClr val="FF0000"/>
                </a:solidFill>
              </a:rPr>
              <a:t>扁平结构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709738" y="3507854"/>
            <a:ext cx="2089547" cy="1213247"/>
          </a:xfrm>
          <a:prstGeom prst="rect">
            <a:avLst/>
          </a:prstGeom>
          <a:solidFill>
            <a:srgbClr val="EFF8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邮政编码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103500</a:t>
            </a:r>
          </a:p>
          <a:p>
            <a:pPr eaLnBrk="0" hangingPunct="0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北京市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261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信箱</a:t>
            </a:r>
          </a:p>
          <a:p>
            <a:pPr eaLnBrk="0" hangingPunct="0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收件人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张三</a:t>
            </a: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3228976" y="3887663"/>
            <a:ext cx="131802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589860" y="3761457"/>
            <a:ext cx="685800" cy="232172"/>
          </a:xfrm>
          <a:prstGeom prst="rect">
            <a:avLst/>
          </a:prstGeom>
          <a:solidFill>
            <a:srgbClr val="EFF8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Router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4589860" y="4015060"/>
            <a:ext cx="685800" cy="232172"/>
          </a:xfrm>
          <a:prstGeom prst="rect">
            <a:avLst/>
          </a:prstGeom>
          <a:solidFill>
            <a:srgbClr val="EFF8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Addr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4589860" y="4288904"/>
            <a:ext cx="685800" cy="232172"/>
          </a:xfrm>
          <a:prstGeom prst="rect">
            <a:avLst/>
          </a:prstGeom>
          <a:solidFill>
            <a:srgbClr val="EFF8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Port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＃</a:t>
            </a: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3524251" y="4140076"/>
            <a:ext cx="102274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2915816" y="4388917"/>
            <a:ext cx="163118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5657875" y="3687043"/>
            <a:ext cx="2154485" cy="1203722"/>
          </a:xfrm>
          <a:prstGeom prst="rect">
            <a:avLst/>
          </a:prstGeom>
          <a:solidFill>
            <a:srgbClr val="EFF8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261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信箱可能由海淀区</a:t>
            </a:r>
          </a:p>
          <a:p>
            <a:pPr eaLnBrk="0" hangingPunct="0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搬迁到潮阳区</a:t>
            </a:r>
          </a:p>
          <a:p>
            <a:pPr eaLnBrk="0" hangingPunct="0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邮局知道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261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信箱的</a:t>
            </a:r>
          </a:p>
          <a:p>
            <a:pPr eaLnBrk="0" hangingPunct="0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物理位置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6" name="灯片编号占位符 2">
            <a:extLst>
              <a:ext uri="{FF2B5EF4-FFF2-40B4-BE49-F238E27FC236}">
                <a16:creationId xmlns:a16="http://schemas.microsoft.com/office/drawing/2014/main" id="{6DE04BB5-7B85-4FB7-8D13-7C00950B2E0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C13D6C8E-DD15-412B-8CDB-E4D7F425A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225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链路层寻址和地址解析协议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(1)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链路层编址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FF0000"/>
                </a:solidFill>
                <a:effectLst/>
              </a:rPr>
              <a:t>问题：谁来分配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MAC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地址？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IEEE (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国际电气和电子工程师协会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)</a:t>
            </a: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设备生产商向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IEEE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购买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MAC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地址段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247" y="1491630"/>
            <a:ext cx="1571625" cy="521494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013F7409-50F8-4310-8BF8-0126012C0DB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7FBA4745-0400-447D-8B3A-CFED7DA81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507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链路层寻址和地址解析协议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sz="1600" dirty="0">
                <a:solidFill>
                  <a:srgbClr val="FF0000"/>
                </a:solidFill>
              </a:rPr>
              <a:t>问题：</a:t>
            </a:r>
            <a:r>
              <a:rPr lang="en-US" altLang="zh-CN" sz="1600" dirty="0">
                <a:solidFill>
                  <a:srgbClr val="FF0000"/>
                </a:solidFill>
              </a:rPr>
              <a:t>A</a:t>
            </a:r>
            <a:r>
              <a:rPr lang="zh-CN" altLang="en-US" sz="1600" dirty="0">
                <a:solidFill>
                  <a:srgbClr val="FF0000"/>
                </a:solidFill>
              </a:rPr>
              <a:t>知道</a:t>
            </a:r>
            <a:r>
              <a:rPr lang="en-US" altLang="zh-CN" sz="1600" dirty="0">
                <a:solidFill>
                  <a:srgbClr val="FF0000"/>
                </a:solidFill>
              </a:rPr>
              <a:t>B</a:t>
            </a:r>
            <a:r>
              <a:rPr lang="zh-CN" altLang="en-US" sz="1600" dirty="0">
                <a:solidFill>
                  <a:srgbClr val="FF0000"/>
                </a:solidFill>
              </a:rPr>
              <a:t>主机的</a:t>
            </a:r>
            <a:r>
              <a:rPr lang="en-US" altLang="zh-CN" sz="1600" dirty="0">
                <a:solidFill>
                  <a:srgbClr val="FF0000"/>
                </a:solidFill>
              </a:rPr>
              <a:t>IP</a:t>
            </a:r>
            <a:r>
              <a:rPr lang="zh-CN" altLang="en-US" sz="1600" dirty="0">
                <a:solidFill>
                  <a:srgbClr val="FF0000"/>
                </a:solidFill>
              </a:rPr>
              <a:t>地址，怎么确定</a:t>
            </a:r>
            <a:r>
              <a:rPr lang="en-US" altLang="zh-CN" sz="1600" dirty="0">
                <a:solidFill>
                  <a:srgbClr val="FF0000"/>
                </a:solidFill>
              </a:rPr>
              <a:t>B</a:t>
            </a:r>
            <a:r>
              <a:rPr lang="zh-CN" altLang="en-US" sz="1600" dirty="0">
                <a:solidFill>
                  <a:srgbClr val="FF0000"/>
                </a:solidFill>
              </a:rPr>
              <a:t>的</a:t>
            </a:r>
            <a:r>
              <a:rPr lang="en-US" altLang="zh-CN" sz="1600" dirty="0">
                <a:solidFill>
                  <a:srgbClr val="FF0000"/>
                </a:solidFill>
              </a:rPr>
              <a:t>MAC</a:t>
            </a:r>
            <a:r>
              <a:rPr lang="zh-CN" altLang="en-US" sz="1600" dirty="0">
                <a:solidFill>
                  <a:srgbClr val="FF0000"/>
                </a:solidFill>
              </a:rPr>
              <a:t>地址？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FF0000"/>
                </a:solidFill>
                <a:effectLst/>
              </a:rPr>
              <a:t>(2)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地址解析协议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(ARP)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每个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IP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结点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主机或路由器端口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)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，在链路层有一个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ARP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表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TW" dirty="0">
                <a:ea typeface="新細明體" panose="02020500000000000000" pitchFamily="18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&lt; IP address; MAC address; TTL&gt;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683390" y="2569716"/>
            <a:ext cx="3489010" cy="2450306"/>
            <a:chOff x="363538" y="2987675"/>
            <a:chExt cx="4652012" cy="3267075"/>
          </a:xfrm>
        </p:grpSpPr>
        <p:sp>
          <p:nvSpPr>
            <p:cNvPr id="38" name="Freeform 10"/>
            <p:cNvSpPr>
              <a:spLocks/>
            </p:cNvSpPr>
            <p:nvPr/>
          </p:nvSpPr>
          <p:spPr bwMode="auto">
            <a:xfrm>
              <a:off x="1800225" y="3944938"/>
              <a:ext cx="1393825" cy="1525587"/>
            </a:xfrm>
            <a:custGeom>
              <a:avLst/>
              <a:gdLst>
                <a:gd name="T0" fmla="*/ 2147483646 w 1292"/>
                <a:gd name="T1" fmla="*/ 2147483646 h 1255"/>
                <a:gd name="T2" fmla="*/ 2147483646 w 1292"/>
                <a:gd name="T3" fmla="*/ 2147483646 h 1255"/>
                <a:gd name="T4" fmla="*/ 2147483646 w 1292"/>
                <a:gd name="T5" fmla="*/ 2147483646 h 1255"/>
                <a:gd name="T6" fmla="*/ 2147483646 w 1292"/>
                <a:gd name="T7" fmla="*/ 2147483646 h 1255"/>
                <a:gd name="T8" fmla="*/ 2147483646 w 1292"/>
                <a:gd name="T9" fmla="*/ 2147483646 h 1255"/>
                <a:gd name="T10" fmla="*/ 2147483646 w 1292"/>
                <a:gd name="T11" fmla="*/ 2147483646 h 1255"/>
                <a:gd name="T12" fmla="*/ 2147483646 w 1292"/>
                <a:gd name="T13" fmla="*/ 2147483646 h 1255"/>
                <a:gd name="T14" fmla="*/ 2147483646 w 1292"/>
                <a:gd name="T15" fmla="*/ 2147483646 h 1255"/>
                <a:gd name="T16" fmla="*/ 2147483646 w 1292"/>
                <a:gd name="T17" fmla="*/ 2147483646 h 1255"/>
                <a:gd name="T18" fmla="*/ 2147483646 w 1292"/>
                <a:gd name="T19" fmla="*/ 2147483646 h 1255"/>
                <a:gd name="T20" fmla="*/ 2147483646 w 1292"/>
                <a:gd name="T21" fmla="*/ 2147483646 h 1255"/>
                <a:gd name="T22" fmla="*/ 2147483646 w 1292"/>
                <a:gd name="T23" fmla="*/ 2147483646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9" name="Line 18"/>
            <p:cNvSpPr>
              <a:spLocks noChangeShapeType="1"/>
            </p:cNvSpPr>
            <p:nvPr/>
          </p:nvSpPr>
          <p:spPr bwMode="auto">
            <a:xfrm>
              <a:off x="1357313" y="4449763"/>
              <a:ext cx="476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40" name="Line 19"/>
            <p:cNvSpPr>
              <a:spLocks noChangeShapeType="1"/>
            </p:cNvSpPr>
            <p:nvPr/>
          </p:nvSpPr>
          <p:spPr bwMode="auto">
            <a:xfrm>
              <a:off x="2587625" y="3606800"/>
              <a:ext cx="0" cy="488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41" name="Line 20"/>
            <p:cNvSpPr>
              <a:spLocks noChangeShapeType="1"/>
            </p:cNvSpPr>
            <p:nvPr/>
          </p:nvSpPr>
          <p:spPr bwMode="auto">
            <a:xfrm flipH="1">
              <a:off x="3176588" y="4575175"/>
              <a:ext cx="447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42" name="Line 21"/>
            <p:cNvSpPr>
              <a:spLocks noChangeShapeType="1"/>
            </p:cNvSpPr>
            <p:nvPr/>
          </p:nvSpPr>
          <p:spPr bwMode="auto">
            <a:xfrm flipV="1">
              <a:off x="2562225" y="5322888"/>
              <a:ext cx="0" cy="327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43" name="Text Box 22"/>
            <p:cNvSpPr txBox="1">
              <a:spLocks noChangeArrowheads="1"/>
            </p:cNvSpPr>
            <p:nvPr/>
          </p:nvSpPr>
          <p:spPr bwMode="auto">
            <a:xfrm>
              <a:off x="2806700" y="3386138"/>
              <a:ext cx="1866322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latin typeface="Arial" panose="020B0604020202020204" pitchFamily="34" charset="0"/>
                </a:rPr>
                <a:t>1A-2F-BB-76-09-AD</a:t>
              </a:r>
            </a:p>
          </p:txBody>
        </p:sp>
        <p:sp>
          <p:nvSpPr>
            <p:cNvPr id="44" name="Line 23"/>
            <p:cNvSpPr>
              <a:spLocks noChangeShapeType="1"/>
            </p:cNvSpPr>
            <p:nvPr/>
          </p:nvSpPr>
          <p:spPr bwMode="auto">
            <a:xfrm flipH="1" flipV="1">
              <a:off x="2678113" y="3538538"/>
              <a:ext cx="2047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45" name="Line 24"/>
            <p:cNvSpPr>
              <a:spLocks noChangeShapeType="1"/>
            </p:cNvSpPr>
            <p:nvPr/>
          </p:nvSpPr>
          <p:spPr bwMode="auto">
            <a:xfrm flipV="1">
              <a:off x="3633788" y="4651375"/>
              <a:ext cx="0" cy="373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46" name="Text Box 25"/>
            <p:cNvSpPr txBox="1">
              <a:spLocks noChangeArrowheads="1"/>
            </p:cNvSpPr>
            <p:nvPr/>
          </p:nvSpPr>
          <p:spPr bwMode="auto">
            <a:xfrm>
              <a:off x="3187700" y="4953001"/>
              <a:ext cx="1827850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solidFill>
                    <a:srgbClr val="FF00FF"/>
                  </a:solidFill>
                  <a:latin typeface="Arial" panose="020B0604020202020204" pitchFamily="34" charset="0"/>
                </a:rPr>
                <a:t>58-23-D7-FA-20-B0</a:t>
              </a:r>
            </a:p>
          </p:txBody>
        </p:sp>
        <p:sp>
          <p:nvSpPr>
            <p:cNvPr id="47" name="Line 26"/>
            <p:cNvSpPr>
              <a:spLocks noChangeShapeType="1"/>
            </p:cNvSpPr>
            <p:nvPr/>
          </p:nvSpPr>
          <p:spPr bwMode="auto">
            <a:xfrm flipH="1">
              <a:off x="2632075" y="5735638"/>
              <a:ext cx="246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48" name="Text Box 27"/>
            <p:cNvSpPr txBox="1">
              <a:spLocks noChangeArrowheads="1"/>
            </p:cNvSpPr>
            <p:nvPr/>
          </p:nvSpPr>
          <p:spPr bwMode="auto">
            <a:xfrm>
              <a:off x="2816225" y="5578475"/>
              <a:ext cx="1838538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latin typeface="Arial" panose="020B0604020202020204" pitchFamily="34" charset="0"/>
                </a:rPr>
                <a:t>0C-C4-11-6F-E3-98</a:t>
              </a:r>
            </a:p>
          </p:txBody>
        </p:sp>
        <p:sp>
          <p:nvSpPr>
            <p:cNvPr id="49" name="Line 28"/>
            <p:cNvSpPr>
              <a:spLocks noChangeShapeType="1"/>
            </p:cNvSpPr>
            <p:nvPr/>
          </p:nvSpPr>
          <p:spPr bwMode="auto">
            <a:xfrm flipV="1">
              <a:off x="1320800" y="4552950"/>
              <a:ext cx="0" cy="3317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50" name="Text Box 29"/>
            <p:cNvSpPr txBox="1">
              <a:spLocks noChangeArrowheads="1"/>
            </p:cNvSpPr>
            <p:nvPr/>
          </p:nvSpPr>
          <p:spPr bwMode="auto">
            <a:xfrm>
              <a:off x="491511" y="4850605"/>
              <a:ext cx="1778693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latin typeface="Arial" panose="020B0604020202020204" pitchFamily="34" charset="0"/>
                </a:rPr>
                <a:t>71-65-F7-2B-08-53</a:t>
              </a:r>
            </a:p>
          </p:txBody>
        </p:sp>
        <p:sp>
          <p:nvSpPr>
            <p:cNvPr id="51" name="Text Box 30"/>
            <p:cNvSpPr txBox="1">
              <a:spLocks noChangeArrowheads="1"/>
            </p:cNvSpPr>
            <p:nvPr/>
          </p:nvSpPr>
          <p:spPr bwMode="auto">
            <a:xfrm>
              <a:off x="2012950" y="4430712"/>
              <a:ext cx="88742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Arial" panose="020B0604020202020204" pitchFamily="34" charset="0"/>
                </a:rPr>
                <a:t>   LAN</a:t>
              </a:r>
            </a:p>
          </p:txBody>
        </p:sp>
        <p:sp>
          <p:nvSpPr>
            <p:cNvPr id="52" name="Text Box 31"/>
            <p:cNvSpPr txBox="1">
              <a:spLocks noChangeArrowheads="1"/>
            </p:cNvSpPr>
            <p:nvPr/>
          </p:nvSpPr>
          <p:spPr bwMode="auto">
            <a:xfrm>
              <a:off x="363538" y="3665538"/>
              <a:ext cx="1297790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solidFill>
                    <a:srgbClr val="FF0000"/>
                  </a:solidFill>
                  <a:latin typeface="Arial" panose="020B0604020202020204" pitchFamily="34" charset="0"/>
                </a:rPr>
                <a:t>137.196.7.23</a:t>
              </a:r>
            </a:p>
          </p:txBody>
        </p:sp>
        <p:sp>
          <p:nvSpPr>
            <p:cNvPr id="53" name="Line 32"/>
            <p:cNvSpPr>
              <a:spLocks noChangeShapeType="1"/>
            </p:cNvSpPr>
            <p:nvPr/>
          </p:nvSpPr>
          <p:spPr bwMode="auto">
            <a:xfrm>
              <a:off x="1009650" y="3921125"/>
              <a:ext cx="0" cy="246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54" name="Text Box 33"/>
            <p:cNvSpPr txBox="1">
              <a:spLocks noChangeArrowheads="1"/>
            </p:cNvSpPr>
            <p:nvPr/>
          </p:nvSpPr>
          <p:spPr bwMode="auto">
            <a:xfrm>
              <a:off x="2944813" y="2987675"/>
              <a:ext cx="1297790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latin typeface="Arial" panose="020B0604020202020204" pitchFamily="34" charset="0"/>
                </a:rPr>
                <a:t>137.196.7.78</a:t>
              </a:r>
            </a:p>
          </p:txBody>
        </p:sp>
        <p:sp>
          <p:nvSpPr>
            <p:cNvPr id="55" name="Line 34"/>
            <p:cNvSpPr>
              <a:spLocks noChangeShapeType="1"/>
            </p:cNvSpPr>
            <p:nvPr/>
          </p:nvSpPr>
          <p:spPr bwMode="auto">
            <a:xfrm flipH="1" flipV="1">
              <a:off x="2774950" y="3125788"/>
              <a:ext cx="234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56" name="Line 35"/>
            <p:cNvSpPr>
              <a:spLocks noChangeShapeType="1"/>
            </p:cNvSpPr>
            <p:nvPr/>
          </p:nvSpPr>
          <p:spPr bwMode="auto">
            <a:xfrm>
              <a:off x="3954463" y="4121150"/>
              <a:ext cx="0" cy="246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57" name="Text Box 36"/>
            <p:cNvSpPr txBox="1">
              <a:spLocks noChangeArrowheads="1"/>
            </p:cNvSpPr>
            <p:nvPr/>
          </p:nvSpPr>
          <p:spPr bwMode="auto">
            <a:xfrm>
              <a:off x="3344862" y="3887788"/>
              <a:ext cx="1297790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solidFill>
                    <a:srgbClr val="FF0000"/>
                  </a:solidFill>
                  <a:latin typeface="Arial" panose="020B0604020202020204" pitchFamily="34" charset="0"/>
                </a:rPr>
                <a:t>137.196.7.14</a:t>
              </a:r>
            </a:p>
          </p:txBody>
        </p:sp>
        <p:sp>
          <p:nvSpPr>
            <p:cNvPr id="58" name="Line 38"/>
            <p:cNvSpPr>
              <a:spLocks noChangeShapeType="1"/>
            </p:cNvSpPr>
            <p:nvPr/>
          </p:nvSpPr>
          <p:spPr bwMode="auto">
            <a:xfrm>
              <a:off x="2136775" y="6002338"/>
              <a:ext cx="2317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59" name="Text Box 39"/>
            <p:cNvSpPr txBox="1">
              <a:spLocks noChangeArrowheads="1"/>
            </p:cNvSpPr>
            <p:nvPr/>
          </p:nvSpPr>
          <p:spPr bwMode="auto">
            <a:xfrm>
              <a:off x="955675" y="5848350"/>
              <a:ext cx="1297790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latin typeface="Arial" panose="020B0604020202020204" pitchFamily="34" charset="0"/>
                </a:rPr>
                <a:t>137.196.7.88</a:t>
              </a:r>
            </a:p>
          </p:txBody>
        </p:sp>
        <p:sp>
          <p:nvSpPr>
            <p:cNvPr id="60" name="Rectangle 43"/>
            <p:cNvSpPr>
              <a:spLocks noChangeArrowheads="1"/>
            </p:cNvSpPr>
            <p:nvPr/>
          </p:nvSpPr>
          <p:spPr bwMode="auto">
            <a:xfrm rot="16200000">
              <a:off x="3659982" y="4482306"/>
              <a:ext cx="127000" cy="1952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/>
            </a:p>
          </p:txBody>
        </p:sp>
        <p:grpSp>
          <p:nvGrpSpPr>
            <p:cNvPr id="61" name="Group 44"/>
            <p:cNvGrpSpPr>
              <a:grpSpLocks/>
            </p:cNvGrpSpPr>
            <p:nvPr/>
          </p:nvGrpSpPr>
          <p:grpSpPr bwMode="auto">
            <a:xfrm>
              <a:off x="3562350" y="4357688"/>
              <a:ext cx="598488" cy="520700"/>
              <a:chOff x="-44" y="1473"/>
              <a:chExt cx="981" cy="1105"/>
            </a:xfrm>
          </p:grpSpPr>
          <p:pic>
            <p:nvPicPr>
              <p:cNvPr id="6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64" name="Group 47"/>
            <p:cNvGrpSpPr>
              <a:grpSpLocks/>
            </p:cNvGrpSpPr>
            <p:nvPr/>
          </p:nvGrpSpPr>
          <p:grpSpPr bwMode="auto">
            <a:xfrm>
              <a:off x="657225" y="4160838"/>
              <a:ext cx="709613" cy="520700"/>
              <a:chOff x="267" y="2244"/>
              <a:chExt cx="581" cy="415"/>
            </a:xfrm>
          </p:grpSpPr>
          <p:sp>
            <p:nvSpPr>
              <p:cNvPr id="65" name="Rectangle 48"/>
              <p:cNvSpPr>
                <a:spLocks noChangeArrowheads="1"/>
              </p:cNvSpPr>
              <p:nvPr/>
            </p:nvSpPr>
            <p:spPr bwMode="auto">
              <a:xfrm rot="-5400000">
                <a:off x="717" y="2400"/>
                <a:ext cx="101" cy="161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/>
              </a:p>
            </p:txBody>
          </p:sp>
          <p:grpSp>
            <p:nvGrpSpPr>
              <p:cNvPr id="66" name="Group 49"/>
              <p:cNvGrpSpPr>
                <a:grpSpLocks/>
              </p:cNvGrpSpPr>
              <p:nvPr/>
            </p:nvGrpSpPr>
            <p:grpSpPr bwMode="auto">
              <a:xfrm>
                <a:off x="267" y="2244"/>
                <a:ext cx="512" cy="415"/>
                <a:chOff x="-44" y="1473"/>
                <a:chExt cx="981" cy="1105"/>
              </a:xfrm>
            </p:grpSpPr>
            <p:pic>
              <p:nvPicPr>
                <p:cNvPr id="67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8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</p:grpSp>
        <p:grpSp>
          <p:nvGrpSpPr>
            <p:cNvPr id="69" name="Group 52"/>
            <p:cNvGrpSpPr>
              <a:grpSpLocks/>
            </p:cNvGrpSpPr>
            <p:nvPr/>
          </p:nvGrpSpPr>
          <p:grpSpPr bwMode="auto">
            <a:xfrm>
              <a:off x="2157413" y="3048000"/>
              <a:ext cx="631825" cy="554038"/>
              <a:chOff x="1745" y="1276"/>
              <a:chExt cx="512" cy="489"/>
            </a:xfrm>
          </p:grpSpPr>
          <p:sp>
            <p:nvSpPr>
              <p:cNvPr id="70" name="Rectangle 53"/>
              <p:cNvSpPr>
                <a:spLocks noChangeArrowheads="1"/>
              </p:cNvSpPr>
              <p:nvPr/>
            </p:nvSpPr>
            <p:spPr bwMode="auto">
              <a:xfrm>
                <a:off x="2040" y="1604"/>
                <a:ext cx="100" cy="161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/>
              </a:p>
            </p:txBody>
          </p:sp>
          <p:grpSp>
            <p:nvGrpSpPr>
              <p:cNvPr id="71" name="Group 54"/>
              <p:cNvGrpSpPr>
                <a:grpSpLocks/>
              </p:cNvGrpSpPr>
              <p:nvPr/>
            </p:nvGrpSpPr>
            <p:grpSpPr bwMode="auto">
              <a:xfrm>
                <a:off x="1745" y="1276"/>
                <a:ext cx="512" cy="415"/>
                <a:chOff x="-44" y="1473"/>
                <a:chExt cx="981" cy="1105"/>
              </a:xfrm>
            </p:grpSpPr>
            <p:pic>
              <p:nvPicPr>
                <p:cNvPr id="72" name="Picture 5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3" name="Freeform 5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</p:grpSp>
        <p:sp>
          <p:nvSpPr>
            <p:cNvPr id="74" name="Rectangle 58"/>
            <p:cNvSpPr>
              <a:spLocks noChangeArrowheads="1"/>
            </p:cNvSpPr>
            <p:nvPr/>
          </p:nvSpPr>
          <p:spPr bwMode="auto">
            <a:xfrm>
              <a:off x="2501900" y="5645150"/>
              <a:ext cx="123825" cy="1825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/>
            </a:p>
          </p:txBody>
        </p:sp>
        <p:grpSp>
          <p:nvGrpSpPr>
            <p:cNvPr id="75" name="Group 59"/>
            <p:cNvGrpSpPr>
              <a:grpSpLocks/>
            </p:cNvGrpSpPr>
            <p:nvPr/>
          </p:nvGrpSpPr>
          <p:grpSpPr bwMode="auto">
            <a:xfrm>
              <a:off x="2166938" y="5784850"/>
              <a:ext cx="584200" cy="469900"/>
              <a:chOff x="-44" y="1473"/>
              <a:chExt cx="981" cy="1105"/>
            </a:xfrm>
          </p:grpSpPr>
          <p:pic>
            <p:nvPicPr>
              <p:cNvPr id="76" name="Picture 6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" name="Freeform 6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sp>
          <p:nvSpPr>
            <p:cNvPr id="79" name="Text Box 31"/>
            <p:cNvSpPr txBox="1">
              <a:spLocks noChangeArrowheads="1"/>
            </p:cNvSpPr>
            <p:nvPr/>
          </p:nvSpPr>
          <p:spPr bwMode="auto">
            <a:xfrm>
              <a:off x="537521" y="4295336"/>
              <a:ext cx="365912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solidFill>
                    <a:srgbClr val="FF0000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80" name="Text Box 31"/>
            <p:cNvSpPr txBox="1">
              <a:spLocks noChangeArrowheads="1"/>
            </p:cNvSpPr>
            <p:nvPr/>
          </p:nvSpPr>
          <p:spPr bwMode="auto">
            <a:xfrm>
              <a:off x="4187432" y="4520936"/>
              <a:ext cx="365912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solidFill>
                    <a:srgbClr val="FF0000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82" name="灯片编号占位符 2">
            <a:extLst>
              <a:ext uri="{FF2B5EF4-FFF2-40B4-BE49-F238E27FC236}">
                <a16:creationId xmlns:a16="http://schemas.microsoft.com/office/drawing/2014/main" id="{6BB9A7C2-2759-49CA-9796-5265E47D8E76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83" name="AutoShape 5">
            <a:extLst>
              <a:ext uri="{FF2B5EF4-FFF2-40B4-BE49-F238E27FC236}">
                <a16:creationId xmlns:a16="http://schemas.microsoft.com/office/drawing/2014/main" id="{5D978869-F02E-4C96-9099-30E154CAC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2D41D9-A11C-44D2-82EA-F044B9CF69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148" y="2671442"/>
            <a:ext cx="3525526" cy="232597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5945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403244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链路层寻址和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地址解析协议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FF0000"/>
                </a:solidFill>
                <a:effectLst/>
              </a:rPr>
              <a:t>(2)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地址解析协议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(ARP)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A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想给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发送数据报，且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MAC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地址不在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A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ARP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表中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A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通过链路广播来发送查询分组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帧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)</a:t>
            </a: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广播的目的</a:t>
            </a:r>
            <a:r>
              <a:rPr lang="en-US" altLang="zh-CN" dirty="0">
                <a:solidFill>
                  <a:srgbClr val="0066CC"/>
                </a:solidFill>
              </a:rPr>
              <a:t>MAC</a:t>
            </a:r>
            <a:r>
              <a:rPr lang="zh-CN" altLang="en-US" dirty="0">
                <a:solidFill>
                  <a:srgbClr val="0066CC"/>
                </a:solidFill>
              </a:rPr>
              <a:t>地址：</a:t>
            </a:r>
            <a:r>
              <a:rPr lang="en-US" altLang="zh-CN" dirty="0">
                <a:solidFill>
                  <a:srgbClr val="0066CC"/>
                </a:solidFill>
              </a:rPr>
              <a:t>FF-FF-FF-FF-FF-FF</a:t>
            </a: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who has IP address x.x.x.x</a:t>
            </a:r>
            <a:r>
              <a:rPr lang="zh-CN" altLang="en-US" dirty="0">
                <a:solidFill>
                  <a:srgbClr val="0066CC"/>
                </a:solidFill>
              </a:rPr>
              <a:t>，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tell </a:t>
            </a:r>
            <a:r>
              <a:rPr lang="en-US" altLang="zh-CN" dirty="0" err="1">
                <a:solidFill>
                  <a:srgbClr val="0066CC"/>
                </a:solidFill>
              </a:rPr>
              <a:t>a.a.a.a</a:t>
            </a:r>
            <a:r>
              <a:rPr lang="en-US" altLang="zh-CN" dirty="0">
                <a:solidFill>
                  <a:srgbClr val="0066CC"/>
                </a:solidFill>
              </a:rPr>
              <a:t> (A</a:t>
            </a:r>
            <a:r>
              <a:rPr lang="en-US" altLang="zh-CN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</a:t>
            </a:r>
            <a:r>
              <a:rPr lang="en-US" altLang="zh-CN" dirty="0">
                <a:solidFill>
                  <a:srgbClr val="0066CC"/>
                </a:solidFill>
              </a:rPr>
              <a:t>s IP</a:t>
            </a:r>
            <a:r>
              <a:rPr lang="zh-CN" altLang="en-US" dirty="0">
                <a:solidFill>
                  <a:srgbClr val="0066CC"/>
                </a:solidFill>
              </a:rPr>
              <a:t>地址</a:t>
            </a:r>
            <a:r>
              <a:rPr lang="en-US" altLang="zh-CN" dirty="0">
                <a:solidFill>
                  <a:srgbClr val="0066CC"/>
                </a:solidFill>
              </a:rPr>
              <a:t>)</a:t>
            </a: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局域网内的所有主机都会收到这个广播的查询帧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B</a:t>
            </a:r>
            <a:r>
              <a:rPr lang="zh-CN" altLang="en-US" dirty="0">
                <a:solidFill>
                  <a:srgbClr val="0066CC"/>
                </a:solidFill>
              </a:rPr>
              <a:t>收到这个</a:t>
            </a:r>
            <a:r>
              <a:rPr lang="en-US" altLang="zh-CN" dirty="0">
                <a:solidFill>
                  <a:srgbClr val="0066CC"/>
                </a:solidFill>
              </a:rPr>
              <a:t>APR</a:t>
            </a:r>
            <a:r>
              <a:rPr lang="zh-CN" altLang="en-US" dirty="0">
                <a:solidFill>
                  <a:srgbClr val="0066CC"/>
                </a:solidFill>
              </a:rPr>
              <a:t>查询后，向</a:t>
            </a:r>
            <a:r>
              <a:rPr lang="en-US" altLang="zh-CN" dirty="0">
                <a:solidFill>
                  <a:srgbClr val="0066CC"/>
                </a:solidFill>
              </a:rPr>
              <a:t>A</a:t>
            </a:r>
            <a:r>
              <a:rPr lang="zh-CN" altLang="en-US" dirty="0">
                <a:solidFill>
                  <a:srgbClr val="0066CC"/>
                </a:solidFill>
              </a:rPr>
              <a:t>回应自己的</a:t>
            </a:r>
            <a:r>
              <a:rPr lang="en-US" altLang="zh-CN" dirty="0">
                <a:solidFill>
                  <a:srgbClr val="0066CC"/>
                </a:solidFill>
              </a:rPr>
              <a:t>MAC</a:t>
            </a:r>
            <a:r>
              <a:rPr lang="zh-CN" altLang="en-US" dirty="0">
                <a:solidFill>
                  <a:srgbClr val="0066CC"/>
                </a:solidFill>
              </a:rPr>
              <a:t>地址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B</a:t>
            </a:r>
            <a:r>
              <a:rPr lang="zh-CN" altLang="en-US" dirty="0">
                <a:solidFill>
                  <a:srgbClr val="0066CC"/>
                </a:solidFill>
              </a:rPr>
              <a:t>封装一个响应数据帧，发送到</a:t>
            </a:r>
            <a:r>
              <a:rPr lang="en-US" altLang="zh-CN" dirty="0">
                <a:solidFill>
                  <a:srgbClr val="0066CC"/>
                </a:solidFill>
              </a:rPr>
              <a:t>A</a:t>
            </a:r>
            <a:r>
              <a:rPr lang="zh-CN" altLang="en-US" dirty="0">
                <a:solidFill>
                  <a:srgbClr val="0066CC"/>
                </a:solidFill>
              </a:rPr>
              <a:t>的</a:t>
            </a:r>
            <a:r>
              <a:rPr lang="en-US" altLang="zh-CN" dirty="0">
                <a:solidFill>
                  <a:srgbClr val="0066CC"/>
                </a:solidFill>
              </a:rPr>
              <a:t>MAC</a:t>
            </a:r>
            <a:r>
              <a:rPr lang="zh-CN" altLang="en-US" dirty="0">
                <a:solidFill>
                  <a:srgbClr val="0066CC"/>
                </a:solidFill>
              </a:rPr>
              <a:t>地址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这次是单播，不是广播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A</a:t>
            </a:r>
            <a:r>
              <a:rPr lang="zh-CN" altLang="en-US" dirty="0">
                <a:solidFill>
                  <a:srgbClr val="0066CC"/>
                </a:solidFill>
              </a:rPr>
              <a:t>收到</a:t>
            </a:r>
            <a:r>
              <a:rPr lang="en-US" altLang="zh-CN" dirty="0">
                <a:solidFill>
                  <a:srgbClr val="0066CC"/>
                </a:solidFill>
              </a:rPr>
              <a:t>B</a:t>
            </a:r>
            <a:r>
              <a:rPr lang="zh-CN" altLang="en-US" dirty="0">
                <a:solidFill>
                  <a:srgbClr val="0066CC"/>
                </a:solidFill>
              </a:rPr>
              <a:t>的响应之后，将它存入</a:t>
            </a:r>
            <a:r>
              <a:rPr lang="en-US" altLang="zh-CN" dirty="0">
                <a:solidFill>
                  <a:srgbClr val="0066CC"/>
                </a:solidFill>
              </a:rPr>
              <a:t>ARP</a:t>
            </a:r>
            <a:r>
              <a:rPr lang="zh-CN" altLang="en-US" dirty="0">
                <a:solidFill>
                  <a:srgbClr val="0066CC"/>
                </a:solidFill>
              </a:rPr>
              <a:t>表中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APR</a:t>
            </a:r>
            <a:r>
              <a:rPr lang="zh-CN" altLang="en-US" dirty="0">
                <a:solidFill>
                  <a:srgbClr val="0066CC"/>
                </a:solidFill>
              </a:rPr>
              <a:t>是“即插即用”的协议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结点自主创建</a:t>
            </a:r>
            <a:r>
              <a:rPr lang="en-US" altLang="zh-CN" dirty="0">
                <a:solidFill>
                  <a:srgbClr val="0066CC"/>
                </a:solidFill>
              </a:rPr>
              <a:t>/</a:t>
            </a:r>
            <a:r>
              <a:rPr lang="zh-CN" altLang="en-US" dirty="0">
                <a:solidFill>
                  <a:srgbClr val="0066CC"/>
                </a:solidFill>
              </a:rPr>
              <a:t>更新</a:t>
            </a:r>
            <a:r>
              <a:rPr lang="en-US" altLang="zh-CN" dirty="0">
                <a:solidFill>
                  <a:srgbClr val="0066CC"/>
                </a:solidFill>
              </a:rPr>
              <a:t>ARP</a:t>
            </a:r>
            <a:r>
              <a:rPr lang="zh-CN" altLang="en-US" dirty="0">
                <a:solidFill>
                  <a:srgbClr val="0066CC"/>
                </a:solidFill>
              </a:rPr>
              <a:t>表，不需网络管理员干预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DB0EBED5-49D1-4E52-87AE-7BEAEC12444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B42494CE-581E-4452-B2AD-14EE3D8CC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279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403244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链路层寻址和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地址解析协议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FF0000"/>
                </a:solidFill>
                <a:effectLst/>
              </a:rPr>
              <a:t>(2)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地址解析协议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(ARP)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协议层次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DB0EBED5-49D1-4E52-87AE-7BEAEC12444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B42494CE-581E-4452-B2AD-14EE3D8CC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A8B0C9C-CEA2-4A5D-9CE0-F18468ED84DB}"/>
              </a:ext>
            </a:extLst>
          </p:cNvPr>
          <p:cNvCxnSpPr>
            <a:cxnSpLocks/>
          </p:cNvCxnSpPr>
          <p:nvPr/>
        </p:nvCxnSpPr>
        <p:spPr>
          <a:xfrm>
            <a:off x="1907704" y="2664202"/>
            <a:ext cx="380133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B13DA70-F6A9-404B-829E-26D9EB759E1F}"/>
              </a:ext>
            </a:extLst>
          </p:cNvPr>
          <p:cNvCxnSpPr>
            <a:cxnSpLocks/>
          </p:cNvCxnSpPr>
          <p:nvPr/>
        </p:nvCxnSpPr>
        <p:spPr>
          <a:xfrm>
            <a:off x="1907704" y="3245368"/>
            <a:ext cx="380133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3517067-9EE2-42A4-B467-15DC3D467E87}"/>
              </a:ext>
            </a:extLst>
          </p:cNvPr>
          <p:cNvCxnSpPr>
            <a:cxnSpLocks/>
          </p:cNvCxnSpPr>
          <p:nvPr/>
        </p:nvCxnSpPr>
        <p:spPr>
          <a:xfrm>
            <a:off x="1907704" y="4248378"/>
            <a:ext cx="540059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CB5F0F7-D792-412D-BEE9-7A527E5D5130}"/>
              </a:ext>
            </a:extLst>
          </p:cNvPr>
          <p:cNvCxnSpPr>
            <a:cxnSpLocks/>
          </p:cNvCxnSpPr>
          <p:nvPr/>
        </p:nvCxnSpPr>
        <p:spPr>
          <a:xfrm>
            <a:off x="1907704" y="4866714"/>
            <a:ext cx="525658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1914A5D-BE1E-4990-B527-942CBEE79339}"/>
              </a:ext>
            </a:extLst>
          </p:cNvPr>
          <p:cNvSpPr txBox="1"/>
          <p:nvPr/>
        </p:nvSpPr>
        <p:spPr>
          <a:xfrm>
            <a:off x="2337703" y="2202418"/>
            <a:ext cx="720080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HTTP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C3811E-1F98-4D29-95C5-89863EF75BD6}"/>
              </a:ext>
            </a:extLst>
          </p:cNvPr>
          <p:cNvSpPr txBox="1"/>
          <p:nvPr/>
        </p:nvSpPr>
        <p:spPr>
          <a:xfrm>
            <a:off x="4249663" y="2202418"/>
            <a:ext cx="662095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DNS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6E71014-6385-48E7-A39A-A75BE2A60C8D}"/>
              </a:ext>
            </a:extLst>
          </p:cNvPr>
          <p:cNvSpPr txBox="1"/>
          <p:nvPr/>
        </p:nvSpPr>
        <p:spPr>
          <a:xfrm>
            <a:off x="5976946" y="220241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......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51619DA-1A70-4E64-A1BC-984F7C0501D5}"/>
              </a:ext>
            </a:extLst>
          </p:cNvPr>
          <p:cNvSpPr txBox="1"/>
          <p:nvPr/>
        </p:nvSpPr>
        <p:spPr>
          <a:xfrm>
            <a:off x="2337702" y="2773836"/>
            <a:ext cx="1630908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5706A5-FC63-4C3D-8ED4-23635D7E62BC}"/>
              </a:ext>
            </a:extLst>
          </p:cNvPr>
          <p:cNvSpPr txBox="1"/>
          <p:nvPr/>
        </p:nvSpPr>
        <p:spPr>
          <a:xfrm>
            <a:off x="4262810" y="2773836"/>
            <a:ext cx="1446230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UDP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CC648D-8FAB-4514-836C-6C4C76A39E0B}"/>
              </a:ext>
            </a:extLst>
          </p:cNvPr>
          <p:cNvSpPr txBox="1"/>
          <p:nvPr/>
        </p:nvSpPr>
        <p:spPr>
          <a:xfrm>
            <a:off x="2337703" y="3795341"/>
            <a:ext cx="4970600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IP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B8691CD-A409-4916-9710-5DB81B976F36}"/>
              </a:ext>
            </a:extLst>
          </p:cNvPr>
          <p:cNvSpPr txBox="1"/>
          <p:nvPr/>
        </p:nvSpPr>
        <p:spPr>
          <a:xfrm>
            <a:off x="5792038" y="3389838"/>
            <a:ext cx="720080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ICMP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8E51DA8-C487-4611-A8BB-7216B1B1993A}"/>
              </a:ext>
            </a:extLst>
          </p:cNvPr>
          <p:cNvSpPr txBox="1"/>
          <p:nvPr/>
        </p:nvSpPr>
        <p:spPr>
          <a:xfrm>
            <a:off x="6579106" y="3389838"/>
            <a:ext cx="720080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IGMP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7591C04-E801-4B0D-9CCB-382482AD0800}"/>
              </a:ext>
            </a:extLst>
          </p:cNvPr>
          <p:cNvSpPr txBox="1"/>
          <p:nvPr/>
        </p:nvSpPr>
        <p:spPr>
          <a:xfrm>
            <a:off x="7527214" y="3932654"/>
            <a:ext cx="72008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ARP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C0323F4-CDA6-4E63-BB04-C30ECF88F129}"/>
              </a:ext>
            </a:extLst>
          </p:cNvPr>
          <p:cNvSpPr txBox="1"/>
          <p:nvPr/>
        </p:nvSpPr>
        <p:spPr>
          <a:xfrm>
            <a:off x="2337702" y="4384090"/>
            <a:ext cx="5909592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802.X</a:t>
            </a:r>
            <a:endParaRPr lang="zh-CN" altLang="en-US" dirty="0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FE26A81-32E0-4BCF-B246-4D6E97D982FB}"/>
              </a:ext>
            </a:extLst>
          </p:cNvPr>
          <p:cNvCxnSpPr/>
          <p:nvPr/>
        </p:nvCxnSpPr>
        <p:spPr>
          <a:xfrm>
            <a:off x="2699792" y="2067694"/>
            <a:ext cx="0" cy="2952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1784668-66A9-4B8F-ACDA-038B16105374}"/>
              </a:ext>
            </a:extLst>
          </p:cNvPr>
          <p:cNvCxnSpPr/>
          <p:nvPr/>
        </p:nvCxnSpPr>
        <p:spPr>
          <a:xfrm>
            <a:off x="4572000" y="2067694"/>
            <a:ext cx="0" cy="2952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EE78EF6C-52C8-4C85-ABA5-E9CB6AFF5E40}"/>
              </a:ext>
            </a:extLst>
          </p:cNvPr>
          <p:cNvCxnSpPr>
            <a:cxnSpLocks/>
          </p:cNvCxnSpPr>
          <p:nvPr/>
        </p:nvCxnSpPr>
        <p:spPr>
          <a:xfrm>
            <a:off x="6126050" y="3282538"/>
            <a:ext cx="0" cy="1737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9A7F7F46-088A-436F-994A-344EB11C253F}"/>
              </a:ext>
            </a:extLst>
          </p:cNvPr>
          <p:cNvCxnSpPr>
            <a:cxnSpLocks/>
          </p:cNvCxnSpPr>
          <p:nvPr/>
        </p:nvCxnSpPr>
        <p:spPr>
          <a:xfrm>
            <a:off x="6939146" y="3282538"/>
            <a:ext cx="0" cy="1737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B5441890-56A7-42FD-95ED-A3C24E4DCB71}"/>
              </a:ext>
            </a:extLst>
          </p:cNvPr>
          <p:cNvCxnSpPr>
            <a:cxnSpLocks/>
          </p:cNvCxnSpPr>
          <p:nvPr/>
        </p:nvCxnSpPr>
        <p:spPr>
          <a:xfrm>
            <a:off x="7668344" y="3846168"/>
            <a:ext cx="0" cy="1173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C531E610-FF1F-4AB2-AD85-CB03082B3619}"/>
              </a:ext>
            </a:extLst>
          </p:cNvPr>
          <p:cNvSpPr txBox="1"/>
          <p:nvPr/>
        </p:nvSpPr>
        <p:spPr>
          <a:xfrm>
            <a:off x="1367564" y="2277137"/>
            <a:ext cx="10102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应用层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D90EB00B-25B4-42C6-8979-91B053FF829E}"/>
              </a:ext>
            </a:extLst>
          </p:cNvPr>
          <p:cNvSpPr txBox="1"/>
          <p:nvPr/>
        </p:nvSpPr>
        <p:spPr>
          <a:xfrm>
            <a:off x="1367564" y="2810507"/>
            <a:ext cx="10102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运输层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07C979F-CE76-4599-88FB-AEAEA4CADF0D}"/>
              </a:ext>
            </a:extLst>
          </p:cNvPr>
          <p:cNvSpPr txBox="1"/>
          <p:nvPr/>
        </p:nvSpPr>
        <p:spPr>
          <a:xfrm>
            <a:off x="1367564" y="3538391"/>
            <a:ext cx="10102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网络层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86D7B6C-39AA-487B-BDED-6EBFCFD4834A}"/>
              </a:ext>
            </a:extLst>
          </p:cNvPr>
          <p:cNvSpPr txBox="1"/>
          <p:nvPr/>
        </p:nvSpPr>
        <p:spPr>
          <a:xfrm>
            <a:off x="1367564" y="4410214"/>
            <a:ext cx="10102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链路层</a:t>
            </a:r>
          </a:p>
        </p:txBody>
      </p:sp>
      <p:cxnSp>
        <p:nvCxnSpPr>
          <p:cNvPr id="12" name="肘形连接符 11"/>
          <p:cNvCxnSpPr>
            <a:cxnSpLocks/>
            <a:endCxn id="26" idx="0"/>
          </p:cNvCxnSpPr>
          <p:nvPr/>
        </p:nvCxnSpPr>
        <p:spPr>
          <a:xfrm>
            <a:off x="3514331" y="1563639"/>
            <a:ext cx="4372923" cy="2369015"/>
          </a:xfrm>
          <a:prstGeom prst="bentConnector2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E2C3811E-1F98-4D29-95C5-89863EF75BD6}"/>
              </a:ext>
            </a:extLst>
          </p:cNvPr>
          <p:cNvSpPr txBox="1"/>
          <p:nvPr/>
        </p:nvSpPr>
        <p:spPr>
          <a:xfrm>
            <a:off x="4975813" y="2202418"/>
            <a:ext cx="720080" cy="33855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DHCP</a:t>
            </a:r>
            <a:endParaRPr lang="zh-CN" altLang="en-US" sz="1600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1784668-66A9-4B8F-ACDA-038B16105374}"/>
              </a:ext>
            </a:extLst>
          </p:cNvPr>
          <p:cNvCxnSpPr/>
          <p:nvPr/>
        </p:nvCxnSpPr>
        <p:spPr>
          <a:xfrm>
            <a:off x="5292080" y="2067694"/>
            <a:ext cx="0" cy="2952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418583F1-5CDF-42FF-AA08-0B66C811741F}"/>
              </a:ext>
            </a:extLst>
          </p:cNvPr>
          <p:cNvSpPr txBox="1"/>
          <p:nvPr/>
        </p:nvSpPr>
        <p:spPr>
          <a:xfrm>
            <a:off x="3103474" y="2202418"/>
            <a:ext cx="865136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SMTP</a:t>
            </a:r>
            <a:endParaRPr lang="zh-CN" altLang="en-US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0ED2555F-A83A-4316-93AB-D89040E7B1B2}"/>
              </a:ext>
            </a:extLst>
          </p:cNvPr>
          <p:cNvCxnSpPr/>
          <p:nvPr/>
        </p:nvCxnSpPr>
        <p:spPr>
          <a:xfrm>
            <a:off x="3578386" y="2067694"/>
            <a:ext cx="0" cy="2952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930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链路层寻址和地址解析协议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FF0000"/>
                </a:solidFill>
                <a:effectLst/>
              </a:rPr>
              <a:t>(2)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地址解析协议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(ARP)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ARP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实验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420" y="1980250"/>
            <a:ext cx="5717892" cy="280886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3120162"/>
            <a:ext cx="6512793" cy="1611828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5700556" y="3397336"/>
            <a:ext cx="1080120" cy="0"/>
          </a:xfrm>
          <a:prstGeom prst="line">
            <a:avLst/>
          </a:prstGeom>
          <a:ln w="38100" cmpd="sng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1491232" y="4538606"/>
            <a:ext cx="2233947" cy="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灯片编号占位符 2">
            <a:extLst>
              <a:ext uri="{FF2B5EF4-FFF2-40B4-BE49-F238E27FC236}">
                <a16:creationId xmlns:a16="http://schemas.microsoft.com/office/drawing/2014/main" id="{0F3368C8-8BBE-45FA-95D9-2F051AD8111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31AD96C3-6A8C-409F-937F-714CFF527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585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链路层寻址和地址解析协议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(3)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跨子网的地址解析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FF0000"/>
                </a:solidFill>
                <a:effectLst/>
              </a:rPr>
              <a:t>问题：如何穿过路由器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设：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chemeClr val="tx1"/>
                </a:solidFill>
                <a:effectLst/>
              </a:rPr>
              <a:t>A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知道</a:t>
            </a:r>
            <a:r>
              <a:rPr lang="en-US" altLang="zh-CN" dirty="0">
                <a:solidFill>
                  <a:srgbClr val="CC00CC"/>
                </a:solidFill>
                <a:effectLst/>
              </a:rPr>
              <a:t>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</a:t>
            </a:r>
            <a:r>
              <a:rPr lang="en-US" altLang="zh-CN" dirty="0">
                <a:solidFill>
                  <a:srgbClr val="CC00CC"/>
                </a:solidFill>
                <a:effectLst/>
              </a:rPr>
              <a:t>IP</a:t>
            </a:r>
            <a:r>
              <a:rPr lang="zh-CN" altLang="en-US" dirty="0">
                <a:solidFill>
                  <a:srgbClr val="CC00CC"/>
                </a:solidFill>
                <a:effectLst/>
              </a:rPr>
              <a:t>地址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，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A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知道路由器的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IP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地址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/</a:t>
            </a:r>
            <a:r>
              <a:rPr lang="en-US" altLang="zh-CN" dirty="0">
                <a:solidFill>
                  <a:srgbClr val="0000FF"/>
                </a:solidFill>
                <a:effectLst/>
              </a:rPr>
              <a:t>MAC</a:t>
            </a:r>
            <a:r>
              <a:rPr lang="zh-CN" altLang="en-US" dirty="0">
                <a:solidFill>
                  <a:srgbClr val="0000FF"/>
                </a:solidFill>
                <a:effectLst/>
              </a:rPr>
              <a:t>地址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如何知道？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)</a:t>
            </a:r>
          </a:p>
          <a:p>
            <a:pPr lvl="1"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1675210" y="3089027"/>
            <a:ext cx="6309126" cy="1786979"/>
            <a:chOff x="709613" y="3962400"/>
            <a:chExt cx="8412168" cy="2382639"/>
          </a:xfrm>
        </p:grpSpPr>
        <p:grpSp>
          <p:nvGrpSpPr>
            <p:cNvPr id="9" name="Group 99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68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70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1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9" name="Rectangle 43"/>
              <p:cNvSpPr>
                <a:spLocks noChangeArrowheads="1"/>
              </p:cNvSpPr>
              <p:nvPr/>
            </p:nvSpPr>
            <p:spPr bwMode="auto"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" name="Group 2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64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5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66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7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4229657" y="4222877"/>
              <a:ext cx="447131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712435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1A-23-F9-CD-06-9B</a:t>
              </a:r>
            </a:p>
          </p:txBody>
        </p:sp>
        <p:sp>
          <p:nvSpPr>
            <p:cNvPr id="13" name="Text Box 22"/>
            <p:cNvSpPr txBox="1">
              <a:spLocks noChangeArrowheads="1"/>
            </p:cNvSpPr>
            <p:nvPr/>
          </p:nvSpPr>
          <p:spPr bwMode="auto">
            <a:xfrm>
              <a:off x="4016374" y="5205414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222.222.222.220</a:t>
              </a:r>
            </a:p>
          </p:txBody>
        </p:sp>
        <p:grpSp>
          <p:nvGrpSpPr>
            <p:cNvPr id="14" name="Group 23"/>
            <p:cNvGrpSpPr>
              <a:grpSpLocks/>
            </p:cNvGrpSpPr>
            <p:nvPr/>
          </p:nvGrpSpPr>
          <p:grpSpPr bwMode="auto">
            <a:xfrm>
              <a:off x="2878139" y="5756277"/>
              <a:ext cx="1665289" cy="520701"/>
              <a:chOff x="1829" y="2381"/>
              <a:chExt cx="1049" cy="328"/>
            </a:xfrm>
          </p:grpSpPr>
          <p:sp>
            <p:nvSpPr>
              <p:cNvPr id="62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381"/>
                <a:ext cx="90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111.111.111.110</a:t>
                </a:r>
              </a:p>
            </p:txBody>
          </p:sp>
          <p:sp>
            <p:nvSpPr>
              <p:cNvPr id="63" name="Text Box 25"/>
              <p:cNvSpPr txBox="1">
                <a:spLocks noChangeArrowheads="1"/>
              </p:cNvSpPr>
              <p:nvPr/>
            </p:nvSpPr>
            <p:spPr bwMode="auto">
              <a:xfrm>
                <a:off x="1829" y="2515"/>
                <a:ext cx="104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E6-E9-00-17-BB-4B</a:t>
                </a:r>
              </a:p>
            </p:txBody>
          </p:sp>
        </p:grpSp>
        <p:sp>
          <p:nvSpPr>
            <p:cNvPr id="15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78510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CC-49-DE-D0-AB-7D</a:t>
              </a:r>
            </a:p>
          </p:txBody>
        </p:sp>
        <p:sp>
          <p:nvSpPr>
            <p:cNvPr id="16" name="Text Box 27"/>
            <p:cNvSpPr txBox="1">
              <a:spLocks noChangeArrowheads="1"/>
            </p:cNvSpPr>
            <p:nvPr/>
          </p:nvSpPr>
          <p:spPr bwMode="auto">
            <a:xfrm>
              <a:off x="942974" y="5854700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111.111.111.112</a:t>
              </a:r>
            </a:p>
          </p:txBody>
        </p:sp>
        <p:sp>
          <p:nvSpPr>
            <p:cNvPr id="17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111.111.111.111</a:t>
              </a:r>
            </a:p>
          </p:txBody>
        </p:sp>
        <p:sp>
          <p:nvSpPr>
            <p:cNvPr id="18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646177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74-29-9C-E8-FF-55</a:t>
              </a:r>
            </a:p>
          </p:txBody>
        </p:sp>
        <p:sp>
          <p:nvSpPr>
            <p:cNvPr id="19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6 w 1005"/>
                <a:gd name="T1" fmla="*/ 2147483646 h 996"/>
                <a:gd name="T2" fmla="*/ 2147483646 w 1005"/>
                <a:gd name="T3" fmla="*/ 2147483646 h 996"/>
                <a:gd name="T4" fmla="*/ 2147483646 w 1005"/>
                <a:gd name="T5" fmla="*/ 2147483646 h 996"/>
                <a:gd name="T6" fmla="*/ 2147483646 w 1005"/>
                <a:gd name="T7" fmla="*/ 2147483646 h 996"/>
                <a:gd name="T8" fmla="*/ 2147483646 w 1005"/>
                <a:gd name="T9" fmla="*/ 2147483646 h 996"/>
                <a:gd name="T10" fmla="*/ 2147483646 w 1005"/>
                <a:gd name="T11" fmla="*/ 2147483646 h 996"/>
                <a:gd name="T12" fmla="*/ 2147483646 w 1005"/>
                <a:gd name="T13" fmla="*/ 2147483646 h 996"/>
                <a:gd name="T14" fmla="*/ 2147483646 w 1005"/>
                <a:gd name="T15" fmla="*/ 2147483646 h 996"/>
                <a:gd name="T16" fmla="*/ 2147483646 w 1005"/>
                <a:gd name="T17" fmla="*/ 2147483646 h 996"/>
                <a:gd name="T18" fmla="*/ 2147483646 w 1005"/>
                <a:gd name="T19" fmla="*/ 2147483646 h 996"/>
                <a:gd name="T20" fmla="*/ 2147483646 w 1005"/>
                <a:gd name="T21" fmla="*/ 2147483646 h 996"/>
                <a:gd name="T22" fmla="*/ 2147483646 w 1005"/>
                <a:gd name="T23" fmla="*/ 2147483646 h 996"/>
                <a:gd name="T24" fmla="*/ 2147483646 w 1005"/>
                <a:gd name="T25" fmla="*/ 2147483646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462093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28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9" name="Group 63"/>
            <p:cNvGrpSpPr>
              <a:grpSpLocks/>
            </p:cNvGrpSpPr>
            <p:nvPr/>
          </p:nvGrpSpPr>
          <p:grpSpPr bwMode="auto">
            <a:xfrm>
              <a:off x="7372355" y="4845059"/>
              <a:ext cx="1749426" cy="495301"/>
              <a:chOff x="4351" y="2786"/>
              <a:chExt cx="1102" cy="312"/>
            </a:xfrm>
          </p:grpSpPr>
          <p:sp>
            <p:nvSpPr>
              <p:cNvPr id="60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951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 b="1" dirty="0">
                    <a:solidFill>
                      <a:srgbClr val="CC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222.222.222.222</a:t>
                </a:r>
              </a:p>
            </p:txBody>
          </p:sp>
          <p:sp>
            <p:nvSpPr>
              <p:cNvPr id="61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10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49-BD-D2-C7-56-2A</a:t>
                </a:r>
              </a:p>
            </p:txBody>
          </p:sp>
        </p:grpSp>
        <p:sp>
          <p:nvSpPr>
            <p:cNvPr id="30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222.222.222.221</a:t>
              </a:r>
            </a:p>
          </p:txBody>
        </p:sp>
        <p:sp>
          <p:nvSpPr>
            <p:cNvPr id="33" name="Text Box 72"/>
            <p:cNvSpPr txBox="1">
              <a:spLocks noChangeArrowheads="1"/>
            </p:cNvSpPr>
            <p:nvPr/>
          </p:nvSpPr>
          <p:spPr bwMode="auto">
            <a:xfrm>
              <a:off x="7077076" y="5986463"/>
              <a:ext cx="1663276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88-B2-2F-54-1A-0F</a:t>
              </a:r>
            </a:p>
          </p:txBody>
        </p:sp>
        <p:sp>
          <p:nvSpPr>
            <p:cNvPr id="34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6 w 1005"/>
                <a:gd name="T1" fmla="*/ 2147483646 h 996"/>
                <a:gd name="T2" fmla="*/ 2147483646 w 1005"/>
                <a:gd name="T3" fmla="*/ 2147483646 h 996"/>
                <a:gd name="T4" fmla="*/ 2147483646 w 1005"/>
                <a:gd name="T5" fmla="*/ 2147483646 h 996"/>
                <a:gd name="T6" fmla="*/ 2147483646 w 1005"/>
                <a:gd name="T7" fmla="*/ 2147483646 h 996"/>
                <a:gd name="T8" fmla="*/ 2147483646 w 1005"/>
                <a:gd name="T9" fmla="*/ 2147483646 h 996"/>
                <a:gd name="T10" fmla="*/ 2147483646 w 1005"/>
                <a:gd name="T11" fmla="*/ 2147483646 h 996"/>
                <a:gd name="T12" fmla="*/ 2147483646 w 1005"/>
                <a:gd name="T13" fmla="*/ 2147483646 h 996"/>
                <a:gd name="T14" fmla="*/ 2147483646 w 1005"/>
                <a:gd name="T15" fmla="*/ 2147483646 h 996"/>
                <a:gd name="T16" fmla="*/ 2147483646 w 1005"/>
                <a:gd name="T17" fmla="*/ 2147483646 h 996"/>
                <a:gd name="T18" fmla="*/ 2147483646 w 1005"/>
                <a:gd name="T19" fmla="*/ 2147483646 h 996"/>
                <a:gd name="T20" fmla="*/ 2147483646 w 1005"/>
                <a:gd name="T21" fmla="*/ 2147483646 h 996"/>
                <a:gd name="T22" fmla="*/ 2147483646 w 1005"/>
                <a:gd name="T23" fmla="*/ 2147483646 h 996"/>
                <a:gd name="T24" fmla="*/ 2147483646 w 1005"/>
                <a:gd name="T25" fmla="*/ 2147483646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438581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grpSp>
          <p:nvGrpSpPr>
            <p:cNvPr id="38" name="Group 3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56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58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9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7" name="Rectangle 43"/>
              <p:cNvSpPr>
                <a:spLocks noChangeArrowheads="1"/>
              </p:cNvSpPr>
              <p:nvPr/>
            </p:nvSpPr>
            <p:spPr bwMode="auto"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1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45" name="Rectangle 43"/>
              <p:cNvSpPr>
                <a:spLocks noChangeArrowheads="1"/>
              </p:cNvSpPr>
              <p:nvPr/>
            </p:nvSpPr>
            <p:spPr bwMode="auto"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6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48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1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54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52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7" name="Rectangle 43"/>
              <p:cNvSpPr>
                <a:spLocks noChangeArrowheads="1"/>
              </p:cNvSpPr>
              <p:nvPr/>
            </p:nvSpPr>
            <p:spPr bwMode="auto"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" name="Group 93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41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2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43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4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72" name="灯片编号占位符 2">
            <a:extLst>
              <a:ext uri="{FF2B5EF4-FFF2-40B4-BE49-F238E27FC236}">
                <a16:creationId xmlns:a16="http://schemas.microsoft.com/office/drawing/2014/main" id="{CB2BED87-8892-4DEB-AE5D-1A763EDAA4E6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sp>
        <p:nvSpPr>
          <p:cNvPr id="73" name="AutoShape 5">
            <a:extLst>
              <a:ext uri="{FF2B5EF4-FFF2-40B4-BE49-F238E27FC236}">
                <a16:creationId xmlns:a16="http://schemas.microsoft.com/office/drawing/2014/main" id="{9AF817AF-E2D5-4ED2-BAC5-F6BE11EED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A797A1-04CA-4098-8AB0-928796FA4F01}"/>
              </a:ext>
            </a:extLst>
          </p:cNvPr>
          <p:cNvSpPr txBox="1"/>
          <p:nvPr/>
        </p:nvSpPr>
        <p:spPr>
          <a:xfrm>
            <a:off x="4482917" y="437920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网关地址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3108A0D1-19B6-41C8-9E23-0FAF081CECEF}"/>
              </a:ext>
            </a:extLst>
          </p:cNvPr>
          <p:cNvSpPr txBox="1"/>
          <p:nvPr/>
        </p:nvSpPr>
        <p:spPr>
          <a:xfrm>
            <a:off x="4482917" y="4580193"/>
            <a:ext cx="891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</a:rPr>
              <a:t>ARP</a:t>
            </a:r>
            <a:r>
              <a:rPr lang="zh-CN" altLang="en-US" sz="1400" dirty="0">
                <a:solidFill>
                  <a:srgbClr val="0000FF"/>
                </a:solidFill>
              </a:rPr>
              <a:t>查询</a:t>
            </a:r>
          </a:p>
        </p:txBody>
      </p:sp>
    </p:spTree>
    <p:extLst>
      <p:ext uri="{BB962C8B-B14F-4D97-AF65-F5344CB8AC3E}">
        <p14:creationId xmlns:p14="http://schemas.microsoft.com/office/powerpoint/2010/main" val="157295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3" grpId="1" animBg="1"/>
      <p:bldP spid="4" grpId="0"/>
      <p:bldP spid="7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链路层寻址和地址解析协议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(3)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跨子网的地址解析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1675210" y="2971801"/>
            <a:ext cx="6309126" cy="1786979"/>
            <a:chOff x="709613" y="3962400"/>
            <a:chExt cx="8412168" cy="2382639"/>
          </a:xfrm>
        </p:grpSpPr>
        <p:grpSp>
          <p:nvGrpSpPr>
            <p:cNvPr id="9" name="Group 95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68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70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1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9" name="Rectangle 43"/>
              <p:cNvSpPr>
                <a:spLocks noChangeArrowheads="1"/>
              </p:cNvSpPr>
              <p:nvPr/>
            </p:nvSpPr>
            <p:spPr bwMode="auto"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" name="Group 96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64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5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66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7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4237038" y="4231924"/>
              <a:ext cx="447131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712435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1A-23-F9-CD-06-9B</a:t>
              </a:r>
            </a:p>
          </p:txBody>
        </p:sp>
        <p:sp>
          <p:nvSpPr>
            <p:cNvPr id="13" name="Text Box 22"/>
            <p:cNvSpPr txBox="1">
              <a:spLocks noChangeArrowheads="1"/>
            </p:cNvSpPr>
            <p:nvPr/>
          </p:nvSpPr>
          <p:spPr bwMode="auto">
            <a:xfrm>
              <a:off x="4016374" y="5205414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222.222.222.220</a:t>
              </a:r>
            </a:p>
          </p:txBody>
        </p:sp>
        <p:grpSp>
          <p:nvGrpSpPr>
            <p:cNvPr id="14" name="Group 23"/>
            <p:cNvGrpSpPr>
              <a:grpSpLocks/>
            </p:cNvGrpSpPr>
            <p:nvPr/>
          </p:nvGrpSpPr>
          <p:grpSpPr bwMode="auto">
            <a:xfrm>
              <a:off x="3044827" y="5794378"/>
              <a:ext cx="1671639" cy="482601"/>
              <a:chOff x="1934" y="2405"/>
              <a:chExt cx="1053" cy="304"/>
            </a:xfrm>
          </p:grpSpPr>
          <p:sp>
            <p:nvSpPr>
              <p:cNvPr id="62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90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111.111.111.110</a:t>
                </a:r>
              </a:p>
            </p:txBody>
          </p:sp>
          <p:sp>
            <p:nvSpPr>
              <p:cNvPr id="63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104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E6-E9-00-17-BB-4B</a:t>
                </a:r>
              </a:p>
            </p:txBody>
          </p:sp>
        </p:grpSp>
        <p:sp>
          <p:nvSpPr>
            <p:cNvPr id="15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78510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CC-49-DE-D0-AB-7D</a:t>
              </a:r>
            </a:p>
          </p:txBody>
        </p:sp>
        <p:sp>
          <p:nvSpPr>
            <p:cNvPr id="16" name="Text Box 27"/>
            <p:cNvSpPr txBox="1">
              <a:spLocks noChangeArrowheads="1"/>
            </p:cNvSpPr>
            <p:nvPr/>
          </p:nvSpPr>
          <p:spPr bwMode="auto">
            <a:xfrm>
              <a:off x="942974" y="5854700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111.111.111.112</a:t>
              </a:r>
            </a:p>
          </p:txBody>
        </p:sp>
        <p:sp>
          <p:nvSpPr>
            <p:cNvPr id="17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111.111.111.111</a:t>
              </a:r>
            </a:p>
          </p:txBody>
        </p:sp>
        <p:sp>
          <p:nvSpPr>
            <p:cNvPr id="18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646177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74-29-9C-E8-FF-55</a:t>
              </a:r>
            </a:p>
          </p:txBody>
        </p:sp>
        <p:sp>
          <p:nvSpPr>
            <p:cNvPr id="19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6 w 1005"/>
                <a:gd name="T1" fmla="*/ 2147483646 h 996"/>
                <a:gd name="T2" fmla="*/ 2147483646 w 1005"/>
                <a:gd name="T3" fmla="*/ 2147483646 h 996"/>
                <a:gd name="T4" fmla="*/ 2147483646 w 1005"/>
                <a:gd name="T5" fmla="*/ 2147483646 h 996"/>
                <a:gd name="T6" fmla="*/ 2147483646 w 1005"/>
                <a:gd name="T7" fmla="*/ 2147483646 h 996"/>
                <a:gd name="T8" fmla="*/ 2147483646 w 1005"/>
                <a:gd name="T9" fmla="*/ 2147483646 h 996"/>
                <a:gd name="T10" fmla="*/ 2147483646 w 1005"/>
                <a:gd name="T11" fmla="*/ 2147483646 h 996"/>
                <a:gd name="T12" fmla="*/ 2147483646 w 1005"/>
                <a:gd name="T13" fmla="*/ 2147483646 h 996"/>
                <a:gd name="T14" fmla="*/ 2147483646 w 1005"/>
                <a:gd name="T15" fmla="*/ 2147483646 h 996"/>
                <a:gd name="T16" fmla="*/ 2147483646 w 1005"/>
                <a:gd name="T17" fmla="*/ 2147483646 h 996"/>
                <a:gd name="T18" fmla="*/ 2147483646 w 1005"/>
                <a:gd name="T19" fmla="*/ 2147483646 h 996"/>
                <a:gd name="T20" fmla="*/ 2147483646 w 1005"/>
                <a:gd name="T21" fmla="*/ 2147483646 h 996"/>
                <a:gd name="T22" fmla="*/ 2147483646 w 1005"/>
                <a:gd name="T23" fmla="*/ 2147483646 h 996"/>
                <a:gd name="T24" fmla="*/ 2147483646 w 1005"/>
                <a:gd name="T25" fmla="*/ 2147483646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462093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28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9" name="Group 63"/>
            <p:cNvGrpSpPr>
              <a:grpSpLocks/>
            </p:cNvGrpSpPr>
            <p:nvPr/>
          </p:nvGrpSpPr>
          <p:grpSpPr bwMode="auto">
            <a:xfrm>
              <a:off x="7372355" y="4845059"/>
              <a:ext cx="1749426" cy="495301"/>
              <a:chOff x="4351" y="2786"/>
              <a:chExt cx="1102" cy="312"/>
            </a:xfrm>
          </p:grpSpPr>
          <p:sp>
            <p:nvSpPr>
              <p:cNvPr id="60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90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222.222.222.222</a:t>
                </a:r>
              </a:p>
            </p:txBody>
          </p:sp>
          <p:sp>
            <p:nvSpPr>
              <p:cNvPr id="61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10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49-BD-D2-C7-56-2A</a:t>
                </a:r>
              </a:p>
            </p:txBody>
          </p:sp>
        </p:grpSp>
        <p:sp>
          <p:nvSpPr>
            <p:cNvPr id="30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222.222.222.221</a:t>
              </a:r>
            </a:p>
          </p:txBody>
        </p:sp>
        <p:sp>
          <p:nvSpPr>
            <p:cNvPr id="33" name="Text Box 72"/>
            <p:cNvSpPr txBox="1">
              <a:spLocks noChangeArrowheads="1"/>
            </p:cNvSpPr>
            <p:nvPr/>
          </p:nvSpPr>
          <p:spPr bwMode="auto">
            <a:xfrm>
              <a:off x="7077076" y="5986463"/>
              <a:ext cx="1663276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88-B2-2F-54-1A-0F</a:t>
              </a:r>
            </a:p>
          </p:txBody>
        </p:sp>
        <p:sp>
          <p:nvSpPr>
            <p:cNvPr id="34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6 w 1005"/>
                <a:gd name="T1" fmla="*/ 2147483646 h 996"/>
                <a:gd name="T2" fmla="*/ 2147483646 w 1005"/>
                <a:gd name="T3" fmla="*/ 2147483646 h 996"/>
                <a:gd name="T4" fmla="*/ 2147483646 w 1005"/>
                <a:gd name="T5" fmla="*/ 2147483646 h 996"/>
                <a:gd name="T6" fmla="*/ 2147483646 w 1005"/>
                <a:gd name="T7" fmla="*/ 2147483646 h 996"/>
                <a:gd name="T8" fmla="*/ 2147483646 w 1005"/>
                <a:gd name="T9" fmla="*/ 2147483646 h 996"/>
                <a:gd name="T10" fmla="*/ 2147483646 w 1005"/>
                <a:gd name="T11" fmla="*/ 2147483646 h 996"/>
                <a:gd name="T12" fmla="*/ 2147483646 w 1005"/>
                <a:gd name="T13" fmla="*/ 2147483646 h 996"/>
                <a:gd name="T14" fmla="*/ 2147483646 w 1005"/>
                <a:gd name="T15" fmla="*/ 2147483646 h 996"/>
                <a:gd name="T16" fmla="*/ 2147483646 w 1005"/>
                <a:gd name="T17" fmla="*/ 2147483646 h 996"/>
                <a:gd name="T18" fmla="*/ 2147483646 w 1005"/>
                <a:gd name="T19" fmla="*/ 2147483646 h 996"/>
                <a:gd name="T20" fmla="*/ 2147483646 w 1005"/>
                <a:gd name="T21" fmla="*/ 2147483646 h 996"/>
                <a:gd name="T22" fmla="*/ 2147483646 w 1005"/>
                <a:gd name="T23" fmla="*/ 2147483646 h 996"/>
                <a:gd name="T24" fmla="*/ 2147483646 w 1005"/>
                <a:gd name="T25" fmla="*/ 2147483646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438581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grpSp>
          <p:nvGrpSpPr>
            <p:cNvPr id="38" name="Group 12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56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58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9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7" name="Rectangle 43"/>
              <p:cNvSpPr>
                <a:spLocks noChangeArrowheads="1"/>
              </p:cNvSpPr>
              <p:nvPr/>
            </p:nvSpPr>
            <p:spPr bwMode="auto"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125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45" name="Rectangle 43"/>
              <p:cNvSpPr>
                <a:spLocks noChangeArrowheads="1"/>
              </p:cNvSpPr>
              <p:nvPr/>
            </p:nvSpPr>
            <p:spPr bwMode="auto"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6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48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1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54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52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7" name="Rectangle 43"/>
              <p:cNvSpPr>
                <a:spLocks noChangeArrowheads="1"/>
              </p:cNvSpPr>
              <p:nvPr/>
            </p:nvSpPr>
            <p:spPr bwMode="auto"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" name="Group 126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41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2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43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4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73" name="Group 130"/>
          <p:cNvGrpSpPr>
            <a:grpSpLocks/>
          </p:cNvGrpSpPr>
          <p:nvPr/>
        </p:nvGrpSpPr>
        <p:grpSpPr bwMode="auto">
          <a:xfrm>
            <a:off x="1544241" y="2014538"/>
            <a:ext cx="732234" cy="1095375"/>
            <a:chOff x="337" y="1692"/>
            <a:chExt cx="615" cy="920"/>
          </a:xfrm>
        </p:grpSpPr>
        <p:sp>
          <p:nvSpPr>
            <p:cNvPr id="74" name="Freeform 65"/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Rectangle 67"/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Text Box 68"/>
            <p:cNvSpPr txBox="1">
              <a:spLocks noChangeArrowheads="1"/>
            </p:cNvSpPr>
            <p:nvPr/>
          </p:nvSpPr>
          <p:spPr bwMode="auto">
            <a:xfrm>
              <a:off x="390" y="1692"/>
              <a:ext cx="383" cy="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Eth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Phy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Line 69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Line 70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Line 71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Line 72"/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2" name="Group 151"/>
          <p:cNvGrpSpPr>
            <a:grpSpLocks/>
          </p:cNvGrpSpPr>
          <p:nvPr/>
        </p:nvGrpSpPr>
        <p:grpSpPr bwMode="auto">
          <a:xfrm>
            <a:off x="2563416" y="1982391"/>
            <a:ext cx="1609725" cy="570309"/>
            <a:chOff x="1197" y="1665"/>
            <a:chExt cx="1352" cy="479"/>
          </a:xfrm>
        </p:grpSpPr>
        <p:grpSp>
          <p:nvGrpSpPr>
            <p:cNvPr id="83" name="Group 150"/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85" name="Rectangle 123"/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Line 124"/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Line 125"/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4" name="Text Box 126"/>
            <p:cNvSpPr txBox="1">
              <a:spLocks noChangeArrowheads="1"/>
            </p:cNvSpPr>
            <p:nvPr/>
          </p:nvSpPr>
          <p:spPr bwMode="auto">
            <a:xfrm>
              <a:off x="1197" y="1665"/>
              <a:ext cx="13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lang="en-US" altLang="zh-CN" sz="9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src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 111.111.111.111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IP </a:t>
              </a:r>
              <a:r>
                <a:rPr lang="en-US" altLang="zh-CN" sz="9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dest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 222.222.222.222</a:t>
              </a:r>
            </a:p>
          </p:txBody>
        </p:sp>
      </p:grpSp>
      <p:grpSp>
        <p:nvGrpSpPr>
          <p:cNvPr id="88" name="Group 141"/>
          <p:cNvGrpSpPr>
            <a:grpSpLocks/>
          </p:cNvGrpSpPr>
          <p:nvPr/>
        </p:nvGrpSpPr>
        <p:grpSpPr bwMode="auto">
          <a:xfrm>
            <a:off x="2663428" y="2177653"/>
            <a:ext cx="109538" cy="289322"/>
            <a:chOff x="1272" y="1762"/>
            <a:chExt cx="92" cy="243"/>
          </a:xfrm>
        </p:grpSpPr>
        <p:sp>
          <p:nvSpPr>
            <p:cNvPr id="89" name="Line 127"/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Line 128"/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1" name="Group 152"/>
          <p:cNvGrpSpPr>
            <a:grpSpLocks/>
          </p:cNvGrpSpPr>
          <p:nvPr/>
        </p:nvGrpSpPr>
        <p:grpSpPr bwMode="auto">
          <a:xfrm>
            <a:off x="2251472" y="1683544"/>
            <a:ext cx="1951434" cy="1139429"/>
            <a:chOff x="931" y="1414"/>
            <a:chExt cx="1639" cy="957"/>
          </a:xfrm>
        </p:grpSpPr>
        <p:sp>
          <p:nvSpPr>
            <p:cNvPr id="92" name="Text Box 135"/>
            <p:cNvSpPr txBox="1">
              <a:spLocks noChangeArrowheads="1"/>
            </p:cNvSpPr>
            <p:nvPr/>
          </p:nvSpPr>
          <p:spPr bwMode="auto">
            <a:xfrm>
              <a:off x="931" y="1414"/>
              <a:ext cx="163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MAC </a:t>
              </a:r>
              <a:r>
                <a:rPr lang="en-US" altLang="zh-CN" sz="9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src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 74-29-9C-E8-FF-55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MAC </a:t>
              </a:r>
              <a:r>
                <a:rPr lang="en-US" altLang="zh-CN" sz="9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dest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lang="en-US" altLang="zh-CN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E6-E9-00-17-BB-4B</a:t>
              </a:r>
            </a:p>
          </p:txBody>
        </p:sp>
        <p:grpSp>
          <p:nvGrpSpPr>
            <p:cNvPr id="93" name="Group 145"/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98" name="Rectangle 138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Rectangle 132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Line 133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Line 134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Line 139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Line 140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4" name="Line 146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Line 147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Line 148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Line 149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4" name="Rectangle 143"/>
          <p:cNvSpPr>
            <a:spLocks noChangeArrowheads="1"/>
          </p:cNvSpPr>
          <p:nvPr/>
        </p:nvSpPr>
        <p:spPr bwMode="auto">
          <a:xfrm>
            <a:off x="4624408" y="1422094"/>
            <a:ext cx="2979094" cy="27311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marL="243000" indent="-1620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w"/>
            </a:pPr>
            <a:r>
              <a:rPr lang="en-US" altLang="zh-CN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  <a:r>
              <a:rPr lang="en-US" altLang="zh-CN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</a:t>
            </a:r>
            <a:r>
              <a:rPr lang="en-US" altLang="zh-CN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en-US" altLang="zh-CN" sz="1350" i="0" baseline="-250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  <a:r>
              <a:rPr lang="en-US" altLang="zh-CN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en-US" altLang="zh-CN" sz="1350" i="0" baseline="-250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  <p:sp>
        <p:nvSpPr>
          <p:cNvPr id="105" name="Rectangle 143"/>
          <p:cNvSpPr>
            <a:spLocks noChangeArrowheads="1"/>
          </p:cNvSpPr>
          <p:nvPr/>
        </p:nvSpPr>
        <p:spPr bwMode="auto">
          <a:xfrm>
            <a:off x="4624408" y="1758571"/>
            <a:ext cx="3220028" cy="27311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marL="243000" indent="-1620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w"/>
            </a:pPr>
            <a:r>
              <a:rPr lang="en-US" altLang="zh-CN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创建链路帧</a:t>
            </a:r>
            <a:r>
              <a:rPr lang="en-US" altLang="zh-CN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</a:t>
            </a:r>
            <a:r>
              <a:rPr lang="en-US" altLang="zh-CN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en-US" altLang="zh-CN" sz="1350" i="0" baseline="-250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  <a:r>
              <a:rPr lang="en-US" altLang="zh-CN" sz="135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en-US" altLang="zh-CN" sz="1350" i="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en-US" altLang="zh-CN" sz="1350" i="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  <p:sp>
        <p:nvSpPr>
          <p:cNvPr id="72" name="AutoShape 153"/>
          <p:cNvSpPr>
            <a:spLocks noChangeArrowheads="1"/>
          </p:cNvSpPr>
          <p:nvPr/>
        </p:nvSpPr>
        <p:spPr bwMode="auto">
          <a:xfrm>
            <a:off x="2933700" y="2314575"/>
            <a:ext cx="235744" cy="712007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chemeClr val="bg1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灯片编号占位符 2">
            <a:extLst>
              <a:ext uri="{FF2B5EF4-FFF2-40B4-BE49-F238E27FC236}">
                <a16:creationId xmlns:a16="http://schemas.microsoft.com/office/drawing/2014/main" id="{46AF41BD-91AB-4D62-AA0B-48A43D6A022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sp>
        <p:nvSpPr>
          <p:cNvPr id="107" name="AutoShape 5">
            <a:extLst>
              <a:ext uri="{FF2B5EF4-FFF2-40B4-BE49-F238E27FC236}">
                <a16:creationId xmlns:a16="http://schemas.microsoft.com/office/drawing/2014/main" id="{49858E06-2B7D-4EDC-A7EF-48ACBFD5D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410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10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107" grpId="0" animBg="1"/>
      <p:bldP spid="107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链路层寻址和地址解析协议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(3)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跨子网的地址解析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8" name="Group 163"/>
          <p:cNvGrpSpPr>
            <a:grpSpLocks/>
          </p:cNvGrpSpPr>
          <p:nvPr/>
        </p:nvGrpSpPr>
        <p:grpSpPr bwMode="auto">
          <a:xfrm>
            <a:off x="1675210" y="2971801"/>
            <a:ext cx="6309126" cy="1786979"/>
            <a:chOff x="709613" y="3962400"/>
            <a:chExt cx="8412168" cy="2382639"/>
          </a:xfrm>
        </p:grpSpPr>
        <p:grpSp>
          <p:nvGrpSpPr>
            <p:cNvPr id="9" name="Group 164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68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70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1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9" name="Rectangle 43"/>
              <p:cNvSpPr>
                <a:spLocks noChangeArrowheads="1"/>
              </p:cNvSpPr>
              <p:nvPr/>
            </p:nvSpPr>
            <p:spPr bwMode="auto"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" name="Group 165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64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5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66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7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447131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712435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1A-23-F9-CD-06-9B</a:t>
              </a:r>
            </a:p>
          </p:txBody>
        </p:sp>
        <p:sp>
          <p:nvSpPr>
            <p:cNvPr id="13" name="Text Box 22"/>
            <p:cNvSpPr txBox="1">
              <a:spLocks noChangeArrowheads="1"/>
            </p:cNvSpPr>
            <p:nvPr/>
          </p:nvSpPr>
          <p:spPr bwMode="auto">
            <a:xfrm>
              <a:off x="4016374" y="5205414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222.222.222.220</a:t>
              </a:r>
            </a:p>
          </p:txBody>
        </p:sp>
        <p:grpSp>
          <p:nvGrpSpPr>
            <p:cNvPr id="14" name="Group 23"/>
            <p:cNvGrpSpPr>
              <a:grpSpLocks/>
            </p:cNvGrpSpPr>
            <p:nvPr/>
          </p:nvGrpSpPr>
          <p:grpSpPr bwMode="auto">
            <a:xfrm>
              <a:off x="3044827" y="5794378"/>
              <a:ext cx="1671639" cy="482601"/>
              <a:chOff x="1934" y="2405"/>
              <a:chExt cx="1053" cy="304"/>
            </a:xfrm>
          </p:grpSpPr>
          <p:sp>
            <p:nvSpPr>
              <p:cNvPr id="62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90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111.111.111.110</a:t>
                </a:r>
              </a:p>
            </p:txBody>
          </p:sp>
          <p:sp>
            <p:nvSpPr>
              <p:cNvPr id="63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104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E6-E9-00-17-BB-4B</a:t>
                </a:r>
              </a:p>
            </p:txBody>
          </p:sp>
        </p:grpSp>
        <p:sp>
          <p:nvSpPr>
            <p:cNvPr id="15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78510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CC-49-DE-D0-AB-7D</a:t>
              </a:r>
            </a:p>
          </p:txBody>
        </p:sp>
        <p:sp>
          <p:nvSpPr>
            <p:cNvPr id="16" name="Text Box 27"/>
            <p:cNvSpPr txBox="1">
              <a:spLocks noChangeArrowheads="1"/>
            </p:cNvSpPr>
            <p:nvPr/>
          </p:nvSpPr>
          <p:spPr bwMode="auto">
            <a:xfrm>
              <a:off x="942974" y="5854700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111.111.111.112</a:t>
              </a:r>
            </a:p>
          </p:txBody>
        </p:sp>
        <p:sp>
          <p:nvSpPr>
            <p:cNvPr id="17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111.111.111.111</a:t>
              </a:r>
            </a:p>
          </p:txBody>
        </p:sp>
        <p:sp>
          <p:nvSpPr>
            <p:cNvPr id="18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646177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74-29-9C-E8-FF-55</a:t>
              </a:r>
            </a:p>
          </p:txBody>
        </p:sp>
        <p:sp>
          <p:nvSpPr>
            <p:cNvPr id="19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6 w 1005"/>
                <a:gd name="T1" fmla="*/ 2147483646 h 996"/>
                <a:gd name="T2" fmla="*/ 2147483646 w 1005"/>
                <a:gd name="T3" fmla="*/ 2147483646 h 996"/>
                <a:gd name="T4" fmla="*/ 2147483646 w 1005"/>
                <a:gd name="T5" fmla="*/ 2147483646 h 996"/>
                <a:gd name="T6" fmla="*/ 2147483646 w 1005"/>
                <a:gd name="T7" fmla="*/ 2147483646 h 996"/>
                <a:gd name="T8" fmla="*/ 2147483646 w 1005"/>
                <a:gd name="T9" fmla="*/ 2147483646 h 996"/>
                <a:gd name="T10" fmla="*/ 2147483646 w 1005"/>
                <a:gd name="T11" fmla="*/ 2147483646 h 996"/>
                <a:gd name="T12" fmla="*/ 2147483646 w 1005"/>
                <a:gd name="T13" fmla="*/ 2147483646 h 996"/>
                <a:gd name="T14" fmla="*/ 2147483646 w 1005"/>
                <a:gd name="T15" fmla="*/ 2147483646 h 996"/>
                <a:gd name="T16" fmla="*/ 2147483646 w 1005"/>
                <a:gd name="T17" fmla="*/ 2147483646 h 996"/>
                <a:gd name="T18" fmla="*/ 2147483646 w 1005"/>
                <a:gd name="T19" fmla="*/ 2147483646 h 996"/>
                <a:gd name="T20" fmla="*/ 2147483646 w 1005"/>
                <a:gd name="T21" fmla="*/ 2147483646 h 996"/>
                <a:gd name="T22" fmla="*/ 2147483646 w 1005"/>
                <a:gd name="T23" fmla="*/ 2147483646 h 996"/>
                <a:gd name="T24" fmla="*/ 2147483646 w 1005"/>
                <a:gd name="T25" fmla="*/ 2147483646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462093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28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9" name="Group 63"/>
            <p:cNvGrpSpPr>
              <a:grpSpLocks/>
            </p:cNvGrpSpPr>
            <p:nvPr/>
          </p:nvGrpSpPr>
          <p:grpSpPr bwMode="auto">
            <a:xfrm>
              <a:off x="7372355" y="4845059"/>
              <a:ext cx="1749426" cy="495301"/>
              <a:chOff x="4351" y="2786"/>
              <a:chExt cx="1102" cy="312"/>
            </a:xfrm>
          </p:grpSpPr>
          <p:sp>
            <p:nvSpPr>
              <p:cNvPr id="60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90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222.222.222.222</a:t>
                </a:r>
              </a:p>
            </p:txBody>
          </p:sp>
          <p:sp>
            <p:nvSpPr>
              <p:cNvPr id="61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10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49-BD-D2-C7-56-2A</a:t>
                </a:r>
              </a:p>
            </p:txBody>
          </p:sp>
        </p:grpSp>
        <p:sp>
          <p:nvSpPr>
            <p:cNvPr id="30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222.222.222.221</a:t>
              </a:r>
            </a:p>
          </p:txBody>
        </p:sp>
        <p:sp>
          <p:nvSpPr>
            <p:cNvPr id="33" name="Text Box 72"/>
            <p:cNvSpPr txBox="1">
              <a:spLocks noChangeArrowheads="1"/>
            </p:cNvSpPr>
            <p:nvPr/>
          </p:nvSpPr>
          <p:spPr bwMode="auto">
            <a:xfrm>
              <a:off x="7077076" y="5986463"/>
              <a:ext cx="1663276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88-B2-2F-54-1A-0F</a:t>
              </a:r>
            </a:p>
          </p:txBody>
        </p:sp>
        <p:sp>
          <p:nvSpPr>
            <p:cNvPr id="34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6 w 1005"/>
                <a:gd name="T1" fmla="*/ 2147483646 h 996"/>
                <a:gd name="T2" fmla="*/ 2147483646 w 1005"/>
                <a:gd name="T3" fmla="*/ 2147483646 h 996"/>
                <a:gd name="T4" fmla="*/ 2147483646 w 1005"/>
                <a:gd name="T5" fmla="*/ 2147483646 h 996"/>
                <a:gd name="T6" fmla="*/ 2147483646 w 1005"/>
                <a:gd name="T7" fmla="*/ 2147483646 h 996"/>
                <a:gd name="T8" fmla="*/ 2147483646 w 1005"/>
                <a:gd name="T9" fmla="*/ 2147483646 h 996"/>
                <a:gd name="T10" fmla="*/ 2147483646 w 1005"/>
                <a:gd name="T11" fmla="*/ 2147483646 h 996"/>
                <a:gd name="T12" fmla="*/ 2147483646 w 1005"/>
                <a:gd name="T13" fmla="*/ 2147483646 h 996"/>
                <a:gd name="T14" fmla="*/ 2147483646 w 1005"/>
                <a:gd name="T15" fmla="*/ 2147483646 h 996"/>
                <a:gd name="T16" fmla="*/ 2147483646 w 1005"/>
                <a:gd name="T17" fmla="*/ 2147483646 h 996"/>
                <a:gd name="T18" fmla="*/ 2147483646 w 1005"/>
                <a:gd name="T19" fmla="*/ 2147483646 h 996"/>
                <a:gd name="T20" fmla="*/ 2147483646 w 1005"/>
                <a:gd name="T21" fmla="*/ 2147483646 h 996"/>
                <a:gd name="T22" fmla="*/ 2147483646 w 1005"/>
                <a:gd name="T23" fmla="*/ 2147483646 h 996"/>
                <a:gd name="T24" fmla="*/ 2147483646 w 1005"/>
                <a:gd name="T25" fmla="*/ 2147483646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438581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grpSp>
          <p:nvGrpSpPr>
            <p:cNvPr id="38" name="Group 193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56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58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9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7" name="Rectangle 43"/>
              <p:cNvSpPr>
                <a:spLocks noChangeArrowheads="1"/>
              </p:cNvSpPr>
              <p:nvPr/>
            </p:nvSpPr>
            <p:spPr bwMode="auto"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194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45" name="Rectangle 43"/>
              <p:cNvSpPr>
                <a:spLocks noChangeArrowheads="1"/>
              </p:cNvSpPr>
              <p:nvPr/>
            </p:nvSpPr>
            <p:spPr bwMode="auto"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6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48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1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54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52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7" name="Rectangle 43"/>
              <p:cNvSpPr>
                <a:spLocks noChangeArrowheads="1"/>
              </p:cNvSpPr>
              <p:nvPr/>
            </p:nvSpPr>
            <p:spPr bwMode="auto"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" name="Group 195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41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2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43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4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72" name="Group 59"/>
          <p:cNvGrpSpPr>
            <a:grpSpLocks/>
          </p:cNvGrpSpPr>
          <p:nvPr/>
        </p:nvGrpSpPr>
        <p:grpSpPr bwMode="auto">
          <a:xfrm>
            <a:off x="1544241" y="2014538"/>
            <a:ext cx="732234" cy="1095375"/>
            <a:chOff x="337" y="1692"/>
            <a:chExt cx="615" cy="920"/>
          </a:xfrm>
        </p:grpSpPr>
        <p:sp>
          <p:nvSpPr>
            <p:cNvPr id="73" name="Freeform 60"/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Rectangle 61"/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Text Box 62"/>
            <p:cNvSpPr txBox="1">
              <a:spLocks noChangeArrowheads="1"/>
            </p:cNvSpPr>
            <p:nvPr/>
          </p:nvSpPr>
          <p:spPr bwMode="auto">
            <a:xfrm>
              <a:off x="390" y="1692"/>
              <a:ext cx="383" cy="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Eth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Phy</a:t>
              </a:r>
            </a:p>
          </p:txBody>
        </p:sp>
        <p:sp>
          <p:nvSpPr>
            <p:cNvPr id="76" name="Line 63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Line 64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Line 65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Line 66"/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0" name="Group 68"/>
          <p:cNvGrpSpPr>
            <a:grpSpLocks/>
          </p:cNvGrpSpPr>
          <p:nvPr/>
        </p:nvGrpSpPr>
        <p:grpSpPr bwMode="auto">
          <a:xfrm>
            <a:off x="3177778" y="2449117"/>
            <a:ext cx="822722" cy="183356"/>
            <a:chOff x="1231" y="1990"/>
            <a:chExt cx="691" cy="154"/>
          </a:xfrm>
        </p:grpSpPr>
        <p:sp>
          <p:nvSpPr>
            <p:cNvPr id="82" name="Rectangle 69"/>
            <p:cNvSpPr>
              <a:spLocks noChangeArrowheads="1"/>
            </p:cNvSpPr>
            <p:nvPr/>
          </p:nvSpPr>
          <p:spPr bwMode="auto">
            <a:xfrm>
              <a:off x="1231" y="1991"/>
              <a:ext cx="691" cy="1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Line 70"/>
            <p:cNvSpPr>
              <a:spLocks noChangeShapeType="1"/>
            </p:cNvSpPr>
            <p:nvPr/>
          </p:nvSpPr>
          <p:spPr bwMode="auto">
            <a:xfrm>
              <a:off x="1337" y="1990"/>
              <a:ext cx="0" cy="15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Line 71"/>
            <p:cNvSpPr>
              <a:spLocks noChangeShapeType="1"/>
            </p:cNvSpPr>
            <p:nvPr/>
          </p:nvSpPr>
          <p:spPr bwMode="auto">
            <a:xfrm>
              <a:off x="1427" y="1992"/>
              <a:ext cx="0" cy="15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5" name="Group 100"/>
          <p:cNvGrpSpPr>
            <a:grpSpLocks/>
          </p:cNvGrpSpPr>
          <p:nvPr/>
        </p:nvGrpSpPr>
        <p:grpSpPr bwMode="auto">
          <a:xfrm>
            <a:off x="4107656" y="2075260"/>
            <a:ext cx="671513" cy="1528763"/>
            <a:chOff x="2823" y="1545"/>
            <a:chExt cx="564" cy="1284"/>
          </a:xfrm>
        </p:grpSpPr>
        <p:sp>
          <p:nvSpPr>
            <p:cNvPr id="86" name="Freeform 93"/>
            <p:cNvSpPr>
              <a:spLocks/>
            </p:cNvSpPr>
            <p:nvPr/>
          </p:nvSpPr>
          <p:spPr bwMode="auto">
            <a:xfrm>
              <a:off x="2823" y="2265"/>
              <a:ext cx="564" cy="56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4" h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Rectangle 94"/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Text Box 95"/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Eth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Phy</a:t>
              </a:r>
            </a:p>
          </p:txBody>
        </p:sp>
        <p:sp>
          <p:nvSpPr>
            <p:cNvPr id="89" name="Line 98"/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Line 99"/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1" name="Group 131"/>
          <p:cNvGrpSpPr>
            <a:grpSpLocks/>
          </p:cNvGrpSpPr>
          <p:nvPr/>
        </p:nvGrpSpPr>
        <p:grpSpPr bwMode="auto">
          <a:xfrm>
            <a:off x="2251472" y="1683544"/>
            <a:ext cx="1951435" cy="1139429"/>
            <a:chOff x="931" y="1414"/>
            <a:chExt cx="1639" cy="957"/>
          </a:xfrm>
        </p:grpSpPr>
        <p:sp>
          <p:nvSpPr>
            <p:cNvPr id="92" name="Text Box 79"/>
            <p:cNvSpPr txBox="1">
              <a:spLocks noChangeArrowheads="1"/>
            </p:cNvSpPr>
            <p:nvPr/>
          </p:nvSpPr>
          <p:spPr bwMode="auto">
            <a:xfrm>
              <a:off x="931" y="1414"/>
              <a:ext cx="163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MAC src: 74-29-9C-E8-FF-55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MAC dest: E6-E9-00-17-BB-4B</a:t>
              </a:r>
            </a:p>
          </p:txBody>
        </p:sp>
        <p:grpSp>
          <p:nvGrpSpPr>
            <p:cNvPr id="93" name="Group 80"/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99" name="Rectangle 81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Rectangle 82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Line 83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Line 84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Line 85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Line 86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4" name="Line 87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Line 88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Line 89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Line 90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Text Box 130"/>
            <p:cNvSpPr txBox="1">
              <a:spLocks noChangeArrowheads="1"/>
            </p:cNvSpPr>
            <p:nvPr/>
          </p:nvSpPr>
          <p:spPr bwMode="auto">
            <a:xfrm>
              <a:off x="1193" y="1665"/>
              <a:ext cx="13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src: 111.111.111.111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IP dest: 222.222.222.222</a:t>
              </a:r>
            </a:p>
          </p:txBody>
        </p:sp>
      </p:grpSp>
      <p:grpSp>
        <p:nvGrpSpPr>
          <p:cNvPr id="105" name="Group 146"/>
          <p:cNvGrpSpPr>
            <a:grpSpLocks/>
          </p:cNvGrpSpPr>
          <p:nvPr/>
        </p:nvGrpSpPr>
        <p:grpSpPr bwMode="auto">
          <a:xfrm>
            <a:off x="3143249" y="1826419"/>
            <a:ext cx="1609726" cy="734616"/>
            <a:chOff x="4493" y="1480"/>
            <a:chExt cx="1352" cy="617"/>
          </a:xfrm>
        </p:grpSpPr>
        <p:sp>
          <p:nvSpPr>
            <p:cNvPr id="106" name="Line 143"/>
            <p:cNvSpPr>
              <a:spLocks noChangeShapeType="1"/>
            </p:cNvSpPr>
            <p:nvPr/>
          </p:nvSpPr>
          <p:spPr bwMode="auto">
            <a:xfrm flipH="1" flipV="1">
              <a:off x="4576" y="1627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Line 144"/>
            <p:cNvSpPr>
              <a:spLocks noChangeShapeType="1"/>
            </p:cNvSpPr>
            <p:nvPr/>
          </p:nvSpPr>
          <p:spPr bwMode="auto">
            <a:xfrm>
              <a:off x="4668" y="1739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Text Box 145"/>
            <p:cNvSpPr txBox="1">
              <a:spLocks noChangeArrowheads="1"/>
            </p:cNvSpPr>
            <p:nvPr/>
          </p:nvSpPr>
          <p:spPr bwMode="auto">
            <a:xfrm>
              <a:off x="4493" y="1480"/>
              <a:ext cx="13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src: 111.111.111.111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IP dest: 222.222.222.222</a:t>
              </a:r>
            </a:p>
          </p:txBody>
        </p:sp>
      </p:grpSp>
      <p:sp>
        <p:nvSpPr>
          <p:cNvPr id="109" name="Rectangle 143"/>
          <p:cNvSpPr>
            <a:spLocks noChangeArrowheads="1"/>
          </p:cNvSpPr>
          <p:nvPr/>
        </p:nvSpPr>
        <p:spPr bwMode="auto">
          <a:xfrm>
            <a:off x="4624408" y="1422094"/>
            <a:ext cx="2979094" cy="27311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43000" indent="-1620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w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数据帧从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</a:p>
        </p:txBody>
      </p:sp>
      <p:sp>
        <p:nvSpPr>
          <p:cNvPr id="110" name="Rectangle 143"/>
          <p:cNvSpPr>
            <a:spLocks noChangeArrowheads="1"/>
          </p:cNvSpPr>
          <p:nvPr/>
        </p:nvSpPr>
        <p:spPr bwMode="auto">
          <a:xfrm>
            <a:off x="4624408" y="1758571"/>
            <a:ext cx="3220028" cy="27311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43000" indent="-1620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w"/>
            </a:pP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解析数据帧，提交到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灯片编号占位符 2">
            <a:extLst>
              <a:ext uri="{FF2B5EF4-FFF2-40B4-BE49-F238E27FC236}">
                <a16:creationId xmlns:a16="http://schemas.microsoft.com/office/drawing/2014/main" id="{0EC164EC-5353-420B-94A4-117A4F28F84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sp>
        <p:nvSpPr>
          <p:cNvPr id="112" name="AutoShape 5">
            <a:extLst>
              <a:ext uri="{FF2B5EF4-FFF2-40B4-BE49-F238E27FC236}">
                <a16:creationId xmlns:a16="http://schemas.microsoft.com/office/drawing/2014/main" id="{4A802FB2-95A3-4779-B86C-EA7F0E4DF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646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2.96296E-6 L -1.38889E-6 0.13334 L 0.04045 0.16297 L 0.08629 0.16297 L 0.08524 0.01482 " pathEditMode="relative" rAng="0" ptsTypes="AAAAA">
                                      <p:cBhvr>
                                        <p:cTn id="11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6" y="8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1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11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链路层寻址和地址解析协议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(3)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跨子网的地址解析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8" name="Group 100"/>
          <p:cNvGrpSpPr>
            <a:grpSpLocks/>
          </p:cNvGrpSpPr>
          <p:nvPr/>
        </p:nvGrpSpPr>
        <p:grpSpPr bwMode="auto">
          <a:xfrm>
            <a:off x="1675210" y="2971801"/>
            <a:ext cx="6309126" cy="1786979"/>
            <a:chOff x="709613" y="3962400"/>
            <a:chExt cx="8412168" cy="2382639"/>
          </a:xfrm>
        </p:grpSpPr>
        <p:grpSp>
          <p:nvGrpSpPr>
            <p:cNvPr id="9" name="Group 101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68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70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1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9" name="Rectangle 43"/>
              <p:cNvSpPr>
                <a:spLocks noChangeArrowheads="1"/>
              </p:cNvSpPr>
              <p:nvPr/>
            </p:nvSpPr>
            <p:spPr bwMode="auto"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" name="Group 102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64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5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66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7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447131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712435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dirty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1A-23-F9-CD-06-9B</a:t>
              </a:r>
            </a:p>
          </p:txBody>
        </p:sp>
        <p:sp>
          <p:nvSpPr>
            <p:cNvPr id="13" name="Text Box 22"/>
            <p:cNvSpPr txBox="1">
              <a:spLocks noChangeArrowheads="1"/>
            </p:cNvSpPr>
            <p:nvPr/>
          </p:nvSpPr>
          <p:spPr bwMode="auto">
            <a:xfrm>
              <a:off x="4016374" y="5205414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222.222.222.220</a:t>
              </a:r>
            </a:p>
          </p:txBody>
        </p:sp>
        <p:grpSp>
          <p:nvGrpSpPr>
            <p:cNvPr id="14" name="Group 23"/>
            <p:cNvGrpSpPr>
              <a:grpSpLocks/>
            </p:cNvGrpSpPr>
            <p:nvPr/>
          </p:nvGrpSpPr>
          <p:grpSpPr bwMode="auto">
            <a:xfrm>
              <a:off x="3044827" y="5794378"/>
              <a:ext cx="1671639" cy="482601"/>
              <a:chOff x="1934" y="2405"/>
              <a:chExt cx="1053" cy="304"/>
            </a:xfrm>
          </p:grpSpPr>
          <p:sp>
            <p:nvSpPr>
              <p:cNvPr id="62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90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111.111.111.110</a:t>
                </a:r>
              </a:p>
            </p:txBody>
          </p:sp>
          <p:sp>
            <p:nvSpPr>
              <p:cNvPr id="63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104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E6-E9-00-17-BB-4B</a:t>
                </a:r>
              </a:p>
            </p:txBody>
          </p:sp>
        </p:grpSp>
        <p:sp>
          <p:nvSpPr>
            <p:cNvPr id="15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78510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CC-49-DE-D0-AB-7D</a:t>
              </a:r>
            </a:p>
          </p:txBody>
        </p:sp>
        <p:sp>
          <p:nvSpPr>
            <p:cNvPr id="16" name="Text Box 27"/>
            <p:cNvSpPr txBox="1">
              <a:spLocks noChangeArrowheads="1"/>
            </p:cNvSpPr>
            <p:nvPr/>
          </p:nvSpPr>
          <p:spPr bwMode="auto">
            <a:xfrm>
              <a:off x="942974" y="5854700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111.111.111.112</a:t>
              </a:r>
            </a:p>
          </p:txBody>
        </p:sp>
        <p:sp>
          <p:nvSpPr>
            <p:cNvPr id="17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111.111.111.111</a:t>
              </a:r>
            </a:p>
          </p:txBody>
        </p:sp>
        <p:sp>
          <p:nvSpPr>
            <p:cNvPr id="18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646177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74-29-9C-E8-FF-55</a:t>
              </a:r>
            </a:p>
          </p:txBody>
        </p:sp>
        <p:sp>
          <p:nvSpPr>
            <p:cNvPr id="19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6 w 1005"/>
                <a:gd name="T1" fmla="*/ 2147483646 h 996"/>
                <a:gd name="T2" fmla="*/ 2147483646 w 1005"/>
                <a:gd name="T3" fmla="*/ 2147483646 h 996"/>
                <a:gd name="T4" fmla="*/ 2147483646 w 1005"/>
                <a:gd name="T5" fmla="*/ 2147483646 h 996"/>
                <a:gd name="T6" fmla="*/ 2147483646 w 1005"/>
                <a:gd name="T7" fmla="*/ 2147483646 h 996"/>
                <a:gd name="T8" fmla="*/ 2147483646 w 1005"/>
                <a:gd name="T9" fmla="*/ 2147483646 h 996"/>
                <a:gd name="T10" fmla="*/ 2147483646 w 1005"/>
                <a:gd name="T11" fmla="*/ 2147483646 h 996"/>
                <a:gd name="T12" fmla="*/ 2147483646 w 1005"/>
                <a:gd name="T13" fmla="*/ 2147483646 h 996"/>
                <a:gd name="T14" fmla="*/ 2147483646 w 1005"/>
                <a:gd name="T15" fmla="*/ 2147483646 h 996"/>
                <a:gd name="T16" fmla="*/ 2147483646 w 1005"/>
                <a:gd name="T17" fmla="*/ 2147483646 h 996"/>
                <a:gd name="T18" fmla="*/ 2147483646 w 1005"/>
                <a:gd name="T19" fmla="*/ 2147483646 h 996"/>
                <a:gd name="T20" fmla="*/ 2147483646 w 1005"/>
                <a:gd name="T21" fmla="*/ 2147483646 h 996"/>
                <a:gd name="T22" fmla="*/ 2147483646 w 1005"/>
                <a:gd name="T23" fmla="*/ 2147483646 h 996"/>
                <a:gd name="T24" fmla="*/ 2147483646 w 1005"/>
                <a:gd name="T25" fmla="*/ 2147483646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462093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28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9" name="Group 63"/>
            <p:cNvGrpSpPr>
              <a:grpSpLocks/>
            </p:cNvGrpSpPr>
            <p:nvPr/>
          </p:nvGrpSpPr>
          <p:grpSpPr bwMode="auto">
            <a:xfrm>
              <a:off x="7372355" y="4845059"/>
              <a:ext cx="1749426" cy="495301"/>
              <a:chOff x="4351" y="2786"/>
              <a:chExt cx="1102" cy="312"/>
            </a:xfrm>
          </p:grpSpPr>
          <p:sp>
            <p:nvSpPr>
              <p:cNvPr id="60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90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222.222.222.222</a:t>
                </a:r>
              </a:p>
            </p:txBody>
          </p:sp>
          <p:sp>
            <p:nvSpPr>
              <p:cNvPr id="61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10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49-BD-D2-C7-56-2A</a:t>
                </a:r>
              </a:p>
            </p:txBody>
          </p:sp>
        </p:grpSp>
        <p:sp>
          <p:nvSpPr>
            <p:cNvPr id="30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222.222.222.221</a:t>
              </a:r>
            </a:p>
          </p:txBody>
        </p:sp>
        <p:sp>
          <p:nvSpPr>
            <p:cNvPr id="33" name="Text Box 72"/>
            <p:cNvSpPr txBox="1">
              <a:spLocks noChangeArrowheads="1"/>
            </p:cNvSpPr>
            <p:nvPr/>
          </p:nvSpPr>
          <p:spPr bwMode="auto">
            <a:xfrm>
              <a:off x="7077076" y="5986463"/>
              <a:ext cx="1663276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88-B2-2F-54-1A-0F</a:t>
              </a:r>
            </a:p>
          </p:txBody>
        </p:sp>
        <p:sp>
          <p:nvSpPr>
            <p:cNvPr id="34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6 w 1005"/>
                <a:gd name="T1" fmla="*/ 2147483646 h 996"/>
                <a:gd name="T2" fmla="*/ 2147483646 w 1005"/>
                <a:gd name="T3" fmla="*/ 2147483646 h 996"/>
                <a:gd name="T4" fmla="*/ 2147483646 w 1005"/>
                <a:gd name="T5" fmla="*/ 2147483646 h 996"/>
                <a:gd name="T6" fmla="*/ 2147483646 w 1005"/>
                <a:gd name="T7" fmla="*/ 2147483646 h 996"/>
                <a:gd name="T8" fmla="*/ 2147483646 w 1005"/>
                <a:gd name="T9" fmla="*/ 2147483646 h 996"/>
                <a:gd name="T10" fmla="*/ 2147483646 w 1005"/>
                <a:gd name="T11" fmla="*/ 2147483646 h 996"/>
                <a:gd name="T12" fmla="*/ 2147483646 w 1005"/>
                <a:gd name="T13" fmla="*/ 2147483646 h 996"/>
                <a:gd name="T14" fmla="*/ 2147483646 w 1005"/>
                <a:gd name="T15" fmla="*/ 2147483646 h 996"/>
                <a:gd name="T16" fmla="*/ 2147483646 w 1005"/>
                <a:gd name="T17" fmla="*/ 2147483646 h 996"/>
                <a:gd name="T18" fmla="*/ 2147483646 w 1005"/>
                <a:gd name="T19" fmla="*/ 2147483646 h 996"/>
                <a:gd name="T20" fmla="*/ 2147483646 w 1005"/>
                <a:gd name="T21" fmla="*/ 2147483646 h 996"/>
                <a:gd name="T22" fmla="*/ 2147483646 w 1005"/>
                <a:gd name="T23" fmla="*/ 2147483646 h 996"/>
                <a:gd name="T24" fmla="*/ 2147483646 w 1005"/>
                <a:gd name="T25" fmla="*/ 2147483646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438581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grpSp>
          <p:nvGrpSpPr>
            <p:cNvPr id="38" name="Group 130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56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58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9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7" name="Rectangle 43"/>
              <p:cNvSpPr>
                <a:spLocks noChangeArrowheads="1"/>
              </p:cNvSpPr>
              <p:nvPr/>
            </p:nvSpPr>
            <p:spPr bwMode="auto"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131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45" name="Rectangle 43"/>
              <p:cNvSpPr>
                <a:spLocks noChangeArrowheads="1"/>
              </p:cNvSpPr>
              <p:nvPr/>
            </p:nvSpPr>
            <p:spPr bwMode="auto"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6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48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1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54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52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7" name="Rectangle 43"/>
              <p:cNvSpPr>
                <a:spLocks noChangeArrowheads="1"/>
              </p:cNvSpPr>
              <p:nvPr/>
            </p:nvSpPr>
            <p:spPr bwMode="auto"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" name="Group 132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41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2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43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4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73" name="Group 67"/>
          <p:cNvGrpSpPr>
            <a:grpSpLocks/>
          </p:cNvGrpSpPr>
          <p:nvPr/>
        </p:nvGrpSpPr>
        <p:grpSpPr bwMode="auto">
          <a:xfrm>
            <a:off x="5055394" y="2026444"/>
            <a:ext cx="1609726" cy="570310"/>
            <a:chOff x="1197" y="1665"/>
            <a:chExt cx="1352" cy="479"/>
          </a:xfrm>
        </p:grpSpPr>
        <p:grpSp>
          <p:nvGrpSpPr>
            <p:cNvPr id="74" name="Group 68"/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76" name="Rectangle 69"/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70"/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Line 71"/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5" name="Text Box 72"/>
            <p:cNvSpPr txBox="1">
              <a:spLocks noChangeArrowheads="1"/>
            </p:cNvSpPr>
            <p:nvPr/>
          </p:nvSpPr>
          <p:spPr bwMode="auto">
            <a:xfrm>
              <a:off x="1197" y="1665"/>
              <a:ext cx="13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src: 111.111.111.111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IP dest: 222.222.222.222</a:t>
              </a:r>
            </a:p>
          </p:txBody>
        </p:sp>
      </p:grpSp>
      <p:grpSp>
        <p:nvGrpSpPr>
          <p:cNvPr id="79" name="Group 73"/>
          <p:cNvGrpSpPr>
            <a:grpSpLocks/>
          </p:cNvGrpSpPr>
          <p:nvPr/>
        </p:nvGrpSpPr>
        <p:grpSpPr bwMode="auto">
          <a:xfrm>
            <a:off x="5148262" y="2214563"/>
            <a:ext cx="109538" cy="289322"/>
            <a:chOff x="1272" y="1762"/>
            <a:chExt cx="92" cy="243"/>
          </a:xfrm>
        </p:grpSpPr>
        <p:sp>
          <p:nvSpPr>
            <p:cNvPr id="80" name="Line 74"/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Line 75"/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3" name="Group 78"/>
          <p:cNvGrpSpPr>
            <a:grpSpLocks/>
          </p:cNvGrpSpPr>
          <p:nvPr/>
        </p:nvGrpSpPr>
        <p:grpSpPr bwMode="auto">
          <a:xfrm>
            <a:off x="4736307" y="1720454"/>
            <a:ext cx="1980011" cy="1139428"/>
            <a:chOff x="931" y="1414"/>
            <a:chExt cx="1663" cy="957"/>
          </a:xfrm>
        </p:grpSpPr>
        <p:sp>
          <p:nvSpPr>
            <p:cNvPr id="84" name="Text Box 79"/>
            <p:cNvSpPr txBox="1">
              <a:spLocks noChangeArrowheads="1"/>
            </p:cNvSpPr>
            <p:nvPr/>
          </p:nvSpPr>
          <p:spPr bwMode="auto">
            <a:xfrm>
              <a:off x="931" y="1414"/>
              <a:ext cx="1663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MAC </a:t>
              </a:r>
              <a:r>
                <a:rPr lang="en-US" altLang="zh-CN" sz="9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src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lang="en-US" altLang="zh-CN" sz="900" dirty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1A-23-F9-CD-06-9B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MAC </a:t>
              </a:r>
              <a:r>
                <a:rPr lang="en-US" altLang="zh-CN" sz="9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dest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lang="en-US" altLang="zh-CN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49-BD-D2-C7-56-2A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5" name="Group 80"/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90" name="Rectangle 81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Rectangle 82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Line 83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Line 84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Line 85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Line 86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6" name="Line 87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Line 88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Line 89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Line 90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6" name="Group 91"/>
          <p:cNvGrpSpPr>
            <a:grpSpLocks/>
          </p:cNvGrpSpPr>
          <p:nvPr/>
        </p:nvGrpSpPr>
        <p:grpSpPr bwMode="auto">
          <a:xfrm>
            <a:off x="4107656" y="2075260"/>
            <a:ext cx="671513" cy="1528763"/>
            <a:chOff x="2823" y="1545"/>
            <a:chExt cx="564" cy="1284"/>
          </a:xfrm>
        </p:grpSpPr>
        <p:sp>
          <p:nvSpPr>
            <p:cNvPr id="97" name="Freeform 92"/>
            <p:cNvSpPr>
              <a:spLocks/>
            </p:cNvSpPr>
            <p:nvPr/>
          </p:nvSpPr>
          <p:spPr bwMode="auto">
            <a:xfrm>
              <a:off x="2823" y="2265"/>
              <a:ext cx="564" cy="56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4" h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Rectangle 93"/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Text Box 94"/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Eth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Phy</a:t>
              </a:r>
            </a:p>
          </p:txBody>
        </p:sp>
        <p:sp>
          <p:nvSpPr>
            <p:cNvPr id="100" name="Line 95"/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Line 96"/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2" name="Group 113"/>
          <p:cNvGrpSpPr>
            <a:grpSpLocks/>
          </p:cNvGrpSpPr>
          <p:nvPr/>
        </p:nvGrpSpPr>
        <p:grpSpPr bwMode="auto">
          <a:xfrm>
            <a:off x="7188994" y="1858566"/>
            <a:ext cx="696516" cy="1465659"/>
            <a:chOff x="250" y="1380"/>
            <a:chExt cx="585" cy="1231"/>
          </a:xfrm>
        </p:grpSpPr>
        <p:sp>
          <p:nvSpPr>
            <p:cNvPr id="103" name="Freeform 106"/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Rectangle 107"/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Text Box 108"/>
            <p:cNvSpPr txBox="1">
              <a:spLocks noChangeArrowheads="1"/>
            </p:cNvSpPr>
            <p:nvPr/>
          </p:nvSpPr>
          <p:spPr bwMode="auto">
            <a:xfrm>
              <a:off x="390" y="1380"/>
              <a:ext cx="383" cy="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Eth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Phy</a:t>
              </a:r>
            </a:p>
          </p:txBody>
        </p:sp>
        <p:sp>
          <p:nvSpPr>
            <p:cNvPr id="106" name="Line 109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Line 110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Line 111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Line 112"/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0" name="Rectangle 143"/>
          <p:cNvSpPr>
            <a:spLocks noChangeArrowheads="1"/>
          </p:cNvSpPr>
          <p:nvPr/>
        </p:nvSpPr>
        <p:spPr bwMode="auto">
          <a:xfrm>
            <a:off x="1080000" y="2124000"/>
            <a:ext cx="2979094" cy="27311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43000" indent="-1620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w"/>
            </a:pP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数据报向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的子网转发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Rectangle 143"/>
          <p:cNvSpPr>
            <a:spLocks noChangeArrowheads="1"/>
          </p:cNvSpPr>
          <p:nvPr/>
        </p:nvSpPr>
        <p:spPr bwMode="auto">
          <a:xfrm>
            <a:off x="1080000" y="1800000"/>
            <a:ext cx="3220028" cy="27311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43000" indent="-1620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w"/>
            </a:pP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封装数据帧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</a:t>
            </a:r>
            <a:r>
              <a:rPr lang="en-US" altLang="zh-CN" sz="135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en-US" altLang="zh-CN" sz="1350" baseline="-25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en-US" altLang="zh-CN" sz="135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72" name="AutoShape 2"/>
          <p:cNvSpPr>
            <a:spLocks noChangeArrowheads="1"/>
          </p:cNvSpPr>
          <p:nvPr/>
        </p:nvSpPr>
        <p:spPr bwMode="auto">
          <a:xfrm>
            <a:off x="5425679" y="2358628"/>
            <a:ext cx="235744" cy="696515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chemeClr val="bg1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灯片编号占位符 2">
            <a:extLst>
              <a:ext uri="{FF2B5EF4-FFF2-40B4-BE49-F238E27FC236}">
                <a16:creationId xmlns:a16="http://schemas.microsoft.com/office/drawing/2014/main" id="{40EF1076-E0E7-4435-8A7C-94D54EC10AEC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sp>
        <p:nvSpPr>
          <p:cNvPr id="113" name="AutoShape 5">
            <a:extLst>
              <a:ext uri="{FF2B5EF4-FFF2-40B4-BE49-F238E27FC236}">
                <a16:creationId xmlns:a16="http://schemas.microsoft.com/office/drawing/2014/main" id="{9C4D16FA-8095-426B-BC57-557FE59E9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928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1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113" grpId="0" animBg="1"/>
      <p:bldP spid="113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链路层寻址和地址解析协议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(3)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跨子网的地址解析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112" name="Group 101"/>
          <p:cNvGrpSpPr>
            <a:grpSpLocks/>
          </p:cNvGrpSpPr>
          <p:nvPr/>
        </p:nvGrpSpPr>
        <p:grpSpPr bwMode="auto">
          <a:xfrm>
            <a:off x="1675210" y="2971801"/>
            <a:ext cx="6309126" cy="1786979"/>
            <a:chOff x="709613" y="3962400"/>
            <a:chExt cx="8412168" cy="2382639"/>
          </a:xfrm>
        </p:grpSpPr>
        <p:grpSp>
          <p:nvGrpSpPr>
            <p:cNvPr id="113" name="Group 102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72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74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5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73" name="Rectangle 43"/>
              <p:cNvSpPr>
                <a:spLocks noChangeArrowheads="1"/>
              </p:cNvSpPr>
              <p:nvPr/>
            </p:nvSpPr>
            <p:spPr bwMode="auto"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4" name="Group 103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168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69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70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15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447131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712435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dirty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1A-23-F9-CD-06-9B</a:t>
              </a:r>
            </a:p>
          </p:txBody>
        </p:sp>
        <p:sp>
          <p:nvSpPr>
            <p:cNvPr id="117" name="Text Box 22"/>
            <p:cNvSpPr txBox="1">
              <a:spLocks noChangeArrowheads="1"/>
            </p:cNvSpPr>
            <p:nvPr/>
          </p:nvSpPr>
          <p:spPr bwMode="auto">
            <a:xfrm>
              <a:off x="4016374" y="5205414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222.222.222.220</a:t>
              </a:r>
            </a:p>
          </p:txBody>
        </p:sp>
        <p:grpSp>
          <p:nvGrpSpPr>
            <p:cNvPr id="118" name="Group 23"/>
            <p:cNvGrpSpPr>
              <a:grpSpLocks/>
            </p:cNvGrpSpPr>
            <p:nvPr/>
          </p:nvGrpSpPr>
          <p:grpSpPr bwMode="auto">
            <a:xfrm>
              <a:off x="3044827" y="5794378"/>
              <a:ext cx="1671639" cy="482601"/>
              <a:chOff x="1934" y="2405"/>
              <a:chExt cx="1053" cy="304"/>
            </a:xfrm>
          </p:grpSpPr>
          <p:sp>
            <p:nvSpPr>
              <p:cNvPr id="166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90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111.111.111.110</a:t>
                </a:r>
              </a:p>
            </p:txBody>
          </p:sp>
          <p:sp>
            <p:nvSpPr>
              <p:cNvPr id="167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104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E6-E9-00-17-BB-4B</a:t>
                </a:r>
              </a:p>
            </p:txBody>
          </p:sp>
        </p:grpSp>
        <p:sp>
          <p:nvSpPr>
            <p:cNvPr id="119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78510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CC-49-DE-D0-AB-7D</a:t>
              </a:r>
            </a:p>
          </p:txBody>
        </p:sp>
        <p:sp>
          <p:nvSpPr>
            <p:cNvPr id="120" name="Text Box 27"/>
            <p:cNvSpPr txBox="1">
              <a:spLocks noChangeArrowheads="1"/>
            </p:cNvSpPr>
            <p:nvPr/>
          </p:nvSpPr>
          <p:spPr bwMode="auto">
            <a:xfrm>
              <a:off x="942974" y="5854700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111.111.111.112</a:t>
              </a:r>
            </a:p>
          </p:txBody>
        </p:sp>
        <p:sp>
          <p:nvSpPr>
            <p:cNvPr id="121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111.111.111.111</a:t>
              </a:r>
            </a:p>
          </p:txBody>
        </p:sp>
        <p:sp>
          <p:nvSpPr>
            <p:cNvPr id="122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646177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74-29-9C-E8-FF-55</a:t>
              </a:r>
            </a:p>
          </p:txBody>
        </p:sp>
        <p:sp>
          <p:nvSpPr>
            <p:cNvPr id="123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6 w 1005"/>
                <a:gd name="T1" fmla="*/ 2147483646 h 996"/>
                <a:gd name="T2" fmla="*/ 2147483646 w 1005"/>
                <a:gd name="T3" fmla="*/ 2147483646 h 996"/>
                <a:gd name="T4" fmla="*/ 2147483646 w 1005"/>
                <a:gd name="T5" fmla="*/ 2147483646 h 996"/>
                <a:gd name="T6" fmla="*/ 2147483646 w 1005"/>
                <a:gd name="T7" fmla="*/ 2147483646 h 996"/>
                <a:gd name="T8" fmla="*/ 2147483646 w 1005"/>
                <a:gd name="T9" fmla="*/ 2147483646 h 996"/>
                <a:gd name="T10" fmla="*/ 2147483646 w 1005"/>
                <a:gd name="T11" fmla="*/ 2147483646 h 996"/>
                <a:gd name="T12" fmla="*/ 2147483646 w 1005"/>
                <a:gd name="T13" fmla="*/ 2147483646 h 996"/>
                <a:gd name="T14" fmla="*/ 2147483646 w 1005"/>
                <a:gd name="T15" fmla="*/ 2147483646 h 996"/>
                <a:gd name="T16" fmla="*/ 2147483646 w 1005"/>
                <a:gd name="T17" fmla="*/ 2147483646 h 996"/>
                <a:gd name="T18" fmla="*/ 2147483646 w 1005"/>
                <a:gd name="T19" fmla="*/ 2147483646 h 996"/>
                <a:gd name="T20" fmla="*/ 2147483646 w 1005"/>
                <a:gd name="T21" fmla="*/ 2147483646 h 996"/>
                <a:gd name="T22" fmla="*/ 2147483646 w 1005"/>
                <a:gd name="T23" fmla="*/ 2147483646 h 996"/>
                <a:gd name="T24" fmla="*/ 2147483646 w 1005"/>
                <a:gd name="T25" fmla="*/ 2147483646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462093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132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3" name="Group 63"/>
            <p:cNvGrpSpPr>
              <a:grpSpLocks/>
            </p:cNvGrpSpPr>
            <p:nvPr/>
          </p:nvGrpSpPr>
          <p:grpSpPr bwMode="auto">
            <a:xfrm>
              <a:off x="7372355" y="4845059"/>
              <a:ext cx="1749426" cy="495301"/>
              <a:chOff x="4351" y="2786"/>
              <a:chExt cx="1102" cy="312"/>
            </a:xfrm>
          </p:grpSpPr>
          <p:sp>
            <p:nvSpPr>
              <p:cNvPr id="164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90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222.222.222.222</a:t>
                </a:r>
              </a:p>
            </p:txBody>
          </p:sp>
          <p:sp>
            <p:nvSpPr>
              <p:cNvPr id="165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10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49-BD-D2-C7-56-2A</a:t>
                </a:r>
              </a:p>
            </p:txBody>
          </p:sp>
        </p:grpSp>
        <p:sp>
          <p:nvSpPr>
            <p:cNvPr id="134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432444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222.222.222.221</a:t>
              </a:r>
            </a:p>
          </p:txBody>
        </p:sp>
        <p:sp>
          <p:nvSpPr>
            <p:cNvPr id="137" name="Text Box 72"/>
            <p:cNvSpPr txBox="1">
              <a:spLocks noChangeArrowheads="1"/>
            </p:cNvSpPr>
            <p:nvPr/>
          </p:nvSpPr>
          <p:spPr bwMode="auto">
            <a:xfrm>
              <a:off x="7077076" y="5986463"/>
              <a:ext cx="1663276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88-B2-2F-54-1A-0F</a:t>
              </a:r>
            </a:p>
          </p:txBody>
        </p:sp>
        <p:sp>
          <p:nvSpPr>
            <p:cNvPr id="138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6 w 1005"/>
                <a:gd name="T1" fmla="*/ 2147483646 h 996"/>
                <a:gd name="T2" fmla="*/ 2147483646 w 1005"/>
                <a:gd name="T3" fmla="*/ 2147483646 h 996"/>
                <a:gd name="T4" fmla="*/ 2147483646 w 1005"/>
                <a:gd name="T5" fmla="*/ 2147483646 h 996"/>
                <a:gd name="T6" fmla="*/ 2147483646 w 1005"/>
                <a:gd name="T7" fmla="*/ 2147483646 h 996"/>
                <a:gd name="T8" fmla="*/ 2147483646 w 1005"/>
                <a:gd name="T9" fmla="*/ 2147483646 h 996"/>
                <a:gd name="T10" fmla="*/ 2147483646 w 1005"/>
                <a:gd name="T11" fmla="*/ 2147483646 h 996"/>
                <a:gd name="T12" fmla="*/ 2147483646 w 1005"/>
                <a:gd name="T13" fmla="*/ 2147483646 h 996"/>
                <a:gd name="T14" fmla="*/ 2147483646 w 1005"/>
                <a:gd name="T15" fmla="*/ 2147483646 h 996"/>
                <a:gd name="T16" fmla="*/ 2147483646 w 1005"/>
                <a:gd name="T17" fmla="*/ 2147483646 h 996"/>
                <a:gd name="T18" fmla="*/ 2147483646 w 1005"/>
                <a:gd name="T19" fmla="*/ 2147483646 h 996"/>
                <a:gd name="T20" fmla="*/ 2147483646 w 1005"/>
                <a:gd name="T21" fmla="*/ 2147483646 h 996"/>
                <a:gd name="T22" fmla="*/ 2147483646 w 1005"/>
                <a:gd name="T23" fmla="*/ 2147483646 h 996"/>
                <a:gd name="T24" fmla="*/ 2147483646 w 1005"/>
                <a:gd name="T25" fmla="*/ 2147483646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438581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grpSp>
          <p:nvGrpSpPr>
            <p:cNvPr id="142" name="Group 131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60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62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3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61" name="Rectangle 43"/>
              <p:cNvSpPr>
                <a:spLocks noChangeArrowheads="1"/>
              </p:cNvSpPr>
              <p:nvPr/>
            </p:nvSpPr>
            <p:spPr bwMode="auto"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3" name="Group 132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149" name="Rectangle 43"/>
              <p:cNvSpPr>
                <a:spLocks noChangeArrowheads="1"/>
              </p:cNvSpPr>
              <p:nvPr/>
            </p:nvSpPr>
            <p:spPr bwMode="auto"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50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52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4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55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58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59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56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7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51" name="Rectangle 43"/>
              <p:cNvSpPr>
                <a:spLocks noChangeArrowheads="1"/>
              </p:cNvSpPr>
              <p:nvPr/>
            </p:nvSpPr>
            <p:spPr bwMode="auto"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4" name="Group 133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45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46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47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8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176" name="Group 99"/>
          <p:cNvGrpSpPr>
            <a:grpSpLocks/>
          </p:cNvGrpSpPr>
          <p:nvPr/>
        </p:nvGrpSpPr>
        <p:grpSpPr bwMode="auto">
          <a:xfrm>
            <a:off x="4736307" y="1720453"/>
            <a:ext cx="1980010" cy="1232297"/>
            <a:chOff x="3018" y="1445"/>
            <a:chExt cx="1663" cy="1035"/>
          </a:xfrm>
        </p:grpSpPr>
        <p:sp>
          <p:nvSpPr>
            <p:cNvPr id="177" name="AutoShape 2"/>
            <p:cNvSpPr>
              <a:spLocks noChangeArrowheads="1"/>
            </p:cNvSpPr>
            <p:nvPr/>
          </p:nvSpPr>
          <p:spPr bwMode="auto">
            <a:xfrm>
              <a:off x="3597" y="1981"/>
              <a:ext cx="198" cy="499"/>
            </a:xfrm>
            <a:prstGeom prst="downArrow">
              <a:avLst>
                <a:gd name="adj1" fmla="val 50000"/>
                <a:gd name="adj2" fmla="val 63005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78" name="Group 61"/>
            <p:cNvGrpSpPr>
              <a:grpSpLocks/>
            </p:cNvGrpSpPr>
            <p:nvPr/>
          </p:nvGrpSpPr>
          <p:grpSpPr bwMode="auto">
            <a:xfrm>
              <a:off x="3286" y="1702"/>
              <a:ext cx="1352" cy="479"/>
              <a:chOff x="1197" y="1665"/>
              <a:chExt cx="1352" cy="479"/>
            </a:xfrm>
          </p:grpSpPr>
          <p:grpSp>
            <p:nvGrpSpPr>
              <p:cNvPr id="195" name="Group 62"/>
              <p:cNvGrpSpPr>
                <a:grpSpLocks/>
              </p:cNvGrpSpPr>
              <p:nvPr/>
            </p:nvGrpSpPr>
            <p:grpSpPr bwMode="auto">
              <a:xfrm>
                <a:off x="1231" y="1990"/>
                <a:ext cx="691" cy="154"/>
                <a:chOff x="1231" y="1990"/>
                <a:chExt cx="691" cy="154"/>
              </a:xfrm>
            </p:grpSpPr>
            <p:sp>
              <p:nvSpPr>
                <p:cNvPr id="197" name="Rectangle 63"/>
                <p:cNvSpPr>
                  <a:spLocks noChangeArrowheads="1"/>
                </p:cNvSpPr>
                <p:nvPr/>
              </p:nvSpPr>
              <p:spPr bwMode="auto">
                <a:xfrm>
                  <a:off x="1231" y="1991"/>
                  <a:ext cx="691" cy="15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8" name="Line 64"/>
                <p:cNvSpPr>
                  <a:spLocks noChangeShapeType="1"/>
                </p:cNvSpPr>
                <p:nvPr/>
              </p:nvSpPr>
              <p:spPr bwMode="auto">
                <a:xfrm>
                  <a:off x="1337" y="1990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9" name="Line 65"/>
                <p:cNvSpPr>
                  <a:spLocks noChangeShapeType="1"/>
                </p:cNvSpPr>
                <p:nvPr/>
              </p:nvSpPr>
              <p:spPr bwMode="auto">
                <a:xfrm>
                  <a:off x="1427" y="1992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96" name="Text Box 66"/>
              <p:cNvSpPr txBox="1">
                <a:spLocks noChangeArrowheads="1"/>
              </p:cNvSpPr>
              <p:nvPr/>
            </p:nvSpPr>
            <p:spPr bwMode="auto">
              <a:xfrm>
                <a:off x="1197" y="1665"/>
                <a:ext cx="1352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 src: 111.111.111.111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IP dest: 222.222.222.222</a:t>
                </a:r>
              </a:p>
            </p:txBody>
          </p:sp>
        </p:grpSp>
        <p:grpSp>
          <p:nvGrpSpPr>
            <p:cNvPr id="179" name="Group 67"/>
            <p:cNvGrpSpPr>
              <a:grpSpLocks/>
            </p:cNvGrpSpPr>
            <p:nvPr/>
          </p:nvGrpSpPr>
          <p:grpSpPr bwMode="auto">
            <a:xfrm>
              <a:off x="3364" y="1860"/>
              <a:ext cx="92" cy="243"/>
              <a:chOff x="1272" y="1762"/>
              <a:chExt cx="92" cy="243"/>
            </a:xfrm>
          </p:grpSpPr>
          <p:sp>
            <p:nvSpPr>
              <p:cNvPr id="193" name="Line 68"/>
              <p:cNvSpPr>
                <a:spLocks noChangeShapeType="1"/>
              </p:cNvSpPr>
              <p:nvPr/>
            </p:nvSpPr>
            <p:spPr bwMode="auto">
              <a:xfrm>
                <a:off x="1272" y="1762"/>
                <a:ext cx="0" cy="2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Line 69"/>
              <p:cNvSpPr>
                <a:spLocks noChangeShapeType="1"/>
              </p:cNvSpPr>
              <p:nvPr/>
            </p:nvSpPr>
            <p:spPr bwMode="auto">
              <a:xfrm>
                <a:off x="1364" y="1878"/>
                <a:ext cx="0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0" name="Group 72"/>
            <p:cNvGrpSpPr>
              <a:grpSpLocks/>
            </p:cNvGrpSpPr>
            <p:nvPr/>
          </p:nvGrpSpPr>
          <p:grpSpPr bwMode="auto">
            <a:xfrm>
              <a:off x="3018" y="1445"/>
              <a:ext cx="1663" cy="957"/>
              <a:chOff x="931" y="1414"/>
              <a:chExt cx="1663" cy="957"/>
            </a:xfrm>
          </p:grpSpPr>
          <p:sp>
            <p:nvSpPr>
              <p:cNvPr id="181" name="Text Box 73"/>
              <p:cNvSpPr txBox="1">
                <a:spLocks noChangeArrowheads="1"/>
              </p:cNvSpPr>
              <p:nvPr/>
            </p:nvSpPr>
            <p:spPr bwMode="auto">
              <a:xfrm>
                <a:off x="931" y="1414"/>
                <a:ext cx="1663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MAC </a:t>
                </a:r>
                <a:r>
                  <a:rPr lang="en-US" altLang="zh-CN" sz="9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src</a:t>
                </a:r>
                <a:r>
                  <a:rPr lang="en-US" altLang="zh-CN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</a:t>
                </a:r>
                <a:r>
                  <a:rPr lang="en-US" altLang="zh-CN" sz="9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1A-23-F9-CD-06-9B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MAC </a:t>
                </a:r>
                <a:r>
                  <a:rPr lang="en-US" altLang="zh-CN" sz="9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dest</a:t>
                </a:r>
                <a:r>
                  <a:rPr lang="en-US" altLang="zh-CN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</a:t>
                </a:r>
                <a:r>
                  <a:rPr lang="en-US" altLang="zh-CN" sz="9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49-BD-D2-C7-56-2A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2" name="Group 74"/>
              <p:cNvGrpSpPr>
                <a:grpSpLocks/>
              </p:cNvGrpSpPr>
              <p:nvPr/>
            </p:nvGrpSpPr>
            <p:grpSpPr bwMode="auto"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187" name="Rectangle 75"/>
                <p:cNvSpPr>
                  <a:spLocks noChangeArrowheads="1"/>
                </p:cNvSpPr>
                <p:nvPr/>
              </p:nvSpPr>
              <p:spPr bwMode="auto"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8" name="Rectangle 76"/>
                <p:cNvSpPr>
                  <a:spLocks noChangeArrowheads="1"/>
                </p:cNvSpPr>
                <p:nvPr/>
              </p:nvSpPr>
              <p:spPr bwMode="auto"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9" name="Line 77"/>
                <p:cNvSpPr>
                  <a:spLocks noChangeShapeType="1"/>
                </p:cNvSpPr>
                <p:nvPr/>
              </p:nvSpPr>
              <p:spPr bwMode="auto">
                <a:xfrm>
                  <a:off x="3180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0" name="Line 78"/>
                <p:cNvSpPr>
                  <a:spLocks noChangeShapeType="1"/>
                </p:cNvSpPr>
                <p:nvPr/>
              </p:nvSpPr>
              <p:spPr bwMode="auto">
                <a:xfrm>
                  <a:off x="3276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1" name="Line 79"/>
                <p:cNvSpPr>
                  <a:spLocks noChangeShapeType="1"/>
                </p:cNvSpPr>
                <p:nvPr/>
              </p:nvSpPr>
              <p:spPr bwMode="auto">
                <a:xfrm>
                  <a:off x="2910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2" name="Line 80"/>
                <p:cNvSpPr>
                  <a:spLocks noChangeShapeType="1"/>
                </p:cNvSpPr>
                <p:nvPr/>
              </p:nvSpPr>
              <p:spPr bwMode="auto">
                <a:xfrm>
                  <a:off x="3006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83" name="Line 81"/>
              <p:cNvSpPr>
                <a:spLocks noChangeShapeType="1"/>
              </p:cNvSpPr>
              <p:nvPr/>
            </p:nvSpPr>
            <p:spPr bwMode="auto">
              <a:xfrm flipV="1">
                <a:off x="1018" y="1576"/>
                <a:ext cx="2" cy="7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Line 82"/>
              <p:cNvSpPr>
                <a:spLocks noChangeShapeType="1"/>
              </p:cNvSpPr>
              <p:nvPr/>
            </p:nvSpPr>
            <p:spPr bwMode="auto">
              <a:xfrm flipV="1">
                <a:off x="1106" y="1680"/>
                <a:ext cx="0" cy="59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Line 83"/>
              <p:cNvSpPr>
                <a:spLocks noChangeShapeType="1"/>
              </p:cNvSpPr>
              <p:nvPr/>
            </p:nvSpPr>
            <p:spPr bwMode="auto">
              <a:xfrm flipH="1" flipV="1">
                <a:off x="1276" y="1812"/>
                <a:ext cx="2" cy="4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Line 84"/>
              <p:cNvSpPr>
                <a:spLocks noChangeShapeType="1"/>
              </p:cNvSpPr>
              <p:nvPr/>
            </p:nvSpPr>
            <p:spPr bwMode="auto">
              <a:xfrm>
                <a:off x="1368" y="1924"/>
                <a:ext cx="2" cy="3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00" name="Group 85"/>
          <p:cNvGrpSpPr>
            <a:grpSpLocks/>
          </p:cNvGrpSpPr>
          <p:nvPr/>
        </p:nvGrpSpPr>
        <p:grpSpPr bwMode="auto">
          <a:xfrm>
            <a:off x="4107656" y="2075260"/>
            <a:ext cx="671513" cy="1528763"/>
            <a:chOff x="2823" y="1545"/>
            <a:chExt cx="564" cy="1284"/>
          </a:xfrm>
        </p:grpSpPr>
        <p:sp>
          <p:nvSpPr>
            <p:cNvPr id="201" name="Freeform 86"/>
            <p:cNvSpPr>
              <a:spLocks/>
            </p:cNvSpPr>
            <p:nvPr/>
          </p:nvSpPr>
          <p:spPr bwMode="auto">
            <a:xfrm>
              <a:off x="2823" y="2265"/>
              <a:ext cx="564" cy="56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4" h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Rectangle 87"/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Text Box 88"/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Eth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Phy</a:t>
              </a:r>
            </a:p>
          </p:txBody>
        </p:sp>
        <p:sp>
          <p:nvSpPr>
            <p:cNvPr id="204" name="Line 89"/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0"/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6" name="Group 91"/>
          <p:cNvGrpSpPr>
            <a:grpSpLocks/>
          </p:cNvGrpSpPr>
          <p:nvPr/>
        </p:nvGrpSpPr>
        <p:grpSpPr bwMode="auto">
          <a:xfrm>
            <a:off x="7188994" y="1858566"/>
            <a:ext cx="696516" cy="1465659"/>
            <a:chOff x="250" y="1380"/>
            <a:chExt cx="585" cy="1231"/>
          </a:xfrm>
        </p:grpSpPr>
        <p:sp>
          <p:nvSpPr>
            <p:cNvPr id="207" name="Freeform 92"/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Rectangle 93"/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Text Box 94"/>
            <p:cNvSpPr txBox="1">
              <a:spLocks noChangeArrowheads="1"/>
            </p:cNvSpPr>
            <p:nvPr/>
          </p:nvSpPr>
          <p:spPr bwMode="auto">
            <a:xfrm>
              <a:off x="390" y="1380"/>
              <a:ext cx="383" cy="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Eth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Phy</a:t>
              </a:r>
            </a:p>
          </p:txBody>
        </p:sp>
        <p:sp>
          <p:nvSpPr>
            <p:cNvPr id="210" name="Line 95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Line 96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Line 97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Line 98"/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6" name="Rectangle 143"/>
          <p:cNvSpPr>
            <a:spLocks noChangeArrowheads="1"/>
          </p:cNvSpPr>
          <p:nvPr/>
        </p:nvSpPr>
        <p:spPr bwMode="auto">
          <a:xfrm>
            <a:off x="1080000" y="2124000"/>
            <a:ext cx="2979094" cy="27311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243000" indent="-1620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w"/>
            </a:pP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数据报向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的子网转发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7" name="Rectangle 143"/>
          <p:cNvSpPr>
            <a:spLocks noChangeArrowheads="1"/>
          </p:cNvSpPr>
          <p:nvPr/>
        </p:nvSpPr>
        <p:spPr bwMode="auto">
          <a:xfrm>
            <a:off x="1080000" y="1800000"/>
            <a:ext cx="3220028" cy="27311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243000" indent="-1620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w"/>
            </a:pP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封装数据帧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</a:t>
            </a:r>
            <a:r>
              <a:rPr lang="en-US" altLang="zh-CN" sz="135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en-US" altLang="zh-CN" sz="1350" baseline="-25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en-US" altLang="zh-CN" sz="135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08" name="灯片编号占位符 2">
            <a:extLst>
              <a:ext uri="{FF2B5EF4-FFF2-40B4-BE49-F238E27FC236}">
                <a16:creationId xmlns:a16="http://schemas.microsoft.com/office/drawing/2014/main" id="{C556349A-AEFA-4B73-8633-7CFC2ACE118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sp>
        <p:nvSpPr>
          <p:cNvPr id="109" name="AutoShape 5">
            <a:extLst>
              <a:ext uri="{FF2B5EF4-FFF2-40B4-BE49-F238E27FC236}">
                <a16:creationId xmlns:a16="http://schemas.microsoft.com/office/drawing/2014/main" id="{6D03AFF4-A914-4AF1-B852-FDE0A57BF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642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9.87654E-7 L 4.72222E-6 0.19846 L 0.11006 0.11975 L 0.11006 -0.0358 " pathEditMode="relative" rAng="0" ptsTypes="AAAA">
                                      <p:cBhvr>
                                        <p:cTn id="11" dur="2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03" y="81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109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链路层寻址和地址解析协议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(3)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跨子网的地址解析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110" name="Rectangle 143"/>
          <p:cNvSpPr>
            <a:spLocks noChangeArrowheads="1"/>
          </p:cNvSpPr>
          <p:nvPr/>
        </p:nvSpPr>
        <p:spPr bwMode="auto">
          <a:xfrm>
            <a:off x="1080000" y="1800000"/>
            <a:ext cx="2979094" cy="27311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43000" indent="-1620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w"/>
            </a:pP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收到数据帧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Rectangle 143"/>
          <p:cNvSpPr>
            <a:spLocks noChangeArrowheads="1"/>
          </p:cNvSpPr>
          <p:nvPr/>
        </p:nvSpPr>
        <p:spPr bwMode="auto">
          <a:xfrm>
            <a:off x="1080000" y="2124000"/>
            <a:ext cx="3220028" cy="27311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43000" indent="-1620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w"/>
            </a:pP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解析数据帧并向上层提交数据报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2" name="Group 95"/>
          <p:cNvGrpSpPr>
            <a:grpSpLocks/>
          </p:cNvGrpSpPr>
          <p:nvPr/>
        </p:nvGrpSpPr>
        <p:grpSpPr bwMode="auto">
          <a:xfrm>
            <a:off x="6378179" y="4015979"/>
            <a:ext cx="533400" cy="450056"/>
            <a:chOff x="7179310" y="4033520"/>
            <a:chExt cx="1009650" cy="855028"/>
          </a:xfrm>
        </p:grpSpPr>
        <p:grpSp>
          <p:nvGrpSpPr>
            <p:cNvPr id="113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1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4" name="Rectangle 43"/>
            <p:cNvSpPr>
              <a:spLocks noChangeArrowheads="1"/>
            </p:cNvSpPr>
            <p:nvPr/>
          </p:nvSpPr>
          <p:spPr bwMode="auto">
            <a:xfrm rot="-5400000">
              <a:off x="7439378" y="4308711"/>
              <a:ext cx="126671" cy="196070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7" name="Group 96"/>
          <p:cNvGrpSpPr>
            <a:grpSpLocks/>
          </p:cNvGrpSpPr>
          <p:nvPr/>
        </p:nvGrpSpPr>
        <p:grpSpPr bwMode="auto">
          <a:xfrm>
            <a:off x="1927622" y="2971800"/>
            <a:ext cx="770334" cy="571500"/>
            <a:chOff x="1046480" y="3962400"/>
            <a:chExt cx="1026163" cy="761428"/>
          </a:xfrm>
        </p:grpSpPr>
        <p:sp>
          <p:nvSpPr>
            <p:cNvPr id="118" name="Rectangle 48"/>
            <p:cNvSpPr>
              <a:spLocks noChangeArrowheads="1"/>
            </p:cNvSpPr>
            <p:nvPr/>
          </p:nvSpPr>
          <p:spPr bwMode="auto">
            <a:xfrm rot="-5400000">
              <a:off x="1893411" y="4300306"/>
              <a:ext cx="111042" cy="24742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9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20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1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22" name="Text Box 4"/>
          <p:cNvSpPr txBox="1">
            <a:spLocks noChangeArrowheads="1"/>
          </p:cNvSpPr>
          <p:nvPr/>
        </p:nvSpPr>
        <p:spPr bwMode="auto">
          <a:xfrm>
            <a:off x="4311254" y="3286125"/>
            <a:ext cx="3353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CN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Text Box 21"/>
          <p:cNvSpPr txBox="1">
            <a:spLocks noChangeArrowheads="1"/>
          </p:cNvSpPr>
          <p:nvPr/>
        </p:nvSpPr>
        <p:spPr bwMode="auto">
          <a:xfrm>
            <a:off x="4044554" y="4033838"/>
            <a:ext cx="128432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1A-23-F9-CD-06-9B</a:t>
            </a:r>
          </a:p>
        </p:txBody>
      </p:sp>
      <p:sp>
        <p:nvSpPr>
          <p:cNvPr id="124" name="Text Box 22"/>
          <p:cNvSpPr txBox="1">
            <a:spLocks noChangeArrowheads="1"/>
          </p:cNvSpPr>
          <p:nvPr/>
        </p:nvSpPr>
        <p:spPr bwMode="auto">
          <a:xfrm>
            <a:off x="4155281" y="3904060"/>
            <a:ext cx="107433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222.222.222.220</a:t>
            </a:r>
          </a:p>
        </p:txBody>
      </p:sp>
      <p:grpSp>
        <p:nvGrpSpPr>
          <p:cNvPr id="125" name="Group 23"/>
          <p:cNvGrpSpPr>
            <a:grpSpLocks/>
          </p:cNvGrpSpPr>
          <p:nvPr/>
        </p:nvGrpSpPr>
        <p:grpSpPr bwMode="auto">
          <a:xfrm>
            <a:off x="3426619" y="4345784"/>
            <a:ext cx="1253729" cy="361951"/>
            <a:chOff x="1934" y="2405"/>
            <a:chExt cx="1053" cy="304"/>
          </a:xfrm>
        </p:grpSpPr>
        <p:sp>
          <p:nvSpPr>
            <p:cNvPr id="126" name="Text Box 24"/>
            <p:cNvSpPr txBox="1">
              <a:spLocks noChangeArrowheads="1"/>
            </p:cNvSpPr>
            <p:nvPr/>
          </p:nvSpPr>
          <p:spPr bwMode="auto">
            <a:xfrm>
              <a:off x="1934" y="2405"/>
              <a:ext cx="90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111.111.111.110</a:t>
              </a:r>
            </a:p>
          </p:txBody>
        </p:sp>
        <p:sp>
          <p:nvSpPr>
            <p:cNvPr id="127" name="Text Box 25"/>
            <p:cNvSpPr txBox="1">
              <a:spLocks noChangeArrowheads="1"/>
            </p:cNvSpPr>
            <p:nvPr/>
          </p:nvSpPr>
          <p:spPr bwMode="auto">
            <a:xfrm>
              <a:off x="1938" y="2515"/>
              <a:ext cx="104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E6-E9-00-17-BB-4B</a:t>
              </a:r>
            </a:p>
          </p:txBody>
        </p:sp>
      </p:grpSp>
      <p:sp>
        <p:nvSpPr>
          <p:cNvPr id="128" name="Text Box 26"/>
          <p:cNvSpPr txBox="1">
            <a:spLocks noChangeArrowheads="1"/>
          </p:cNvSpPr>
          <p:nvPr/>
        </p:nvSpPr>
        <p:spPr bwMode="auto">
          <a:xfrm>
            <a:off x="1857375" y="4527947"/>
            <a:ext cx="133882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CC-49-DE-D0-AB-7D</a:t>
            </a:r>
          </a:p>
        </p:txBody>
      </p:sp>
      <p:sp>
        <p:nvSpPr>
          <p:cNvPr id="129" name="Text Box 27"/>
          <p:cNvSpPr txBox="1">
            <a:spLocks noChangeArrowheads="1"/>
          </p:cNvSpPr>
          <p:nvPr/>
        </p:nvSpPr>
        <p:spPr bwMode="auto">
          <a:xfrm>
            <a:off x="1850231" y="4391025"/>
            <a:ext cx="107433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111.111.111.112</a:t>
            </a:r>
          </a:p>
        </p:txBody>
      </p:sp>
      <p:sp>
        <p:nvSpPr>
          <p:cNvPr id="130" name="Text Box 30"/>
          <p:cNvSpPr txBox="1">
            <a:spLocks noChangeArrowheads="1"/>
          </p:cNvSpPr>
          <p:nvPr/>
        </p:nvSpPr>
        <p:spPr bwMode="auto">
          <a:xfrm>
            <a:off x="1675210" y="3556397"/>
            <a:ext cx="107433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111.111.111.111</a:t>
            </a:r>
          </a:p>
        </p:txBody>
      </p:sp>
      <p:sp>
        <p:nvSpPr>
          <p:cNvPr id="131" name="Text Box 33"/>
          <p:cNvSpPr txBox="1">
            <a:spLocks noChangeArrowheads="1"/>
          </p:cNvSpPr>
          <p:nvPr/>
        </p:nvSpPr>
        <p:spPr bwMode="auto">
          <a:xfrm>
            <a:off x="1690688" y="3695700"/>
            <a:ext cx="123463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74-29-9C-E8-FF-55</a:t>
            </a:r>
          </a:p>
        </p:txBody>
      </p:sp>
      <p:sp>
        <p:nvSpPr>
          <p:cNvPr id="132" name="Freeform 39"/>
          <p:cNvSpPr>
            <a:spLocks/>
          </p:cNvSpPr>
          <p:nvPr/>
        </p:nvSpPr>
        <p:spPr bwMode="auto">
          <a:xfrm>
            <a:off x="2917031" y="3327798"/>
            <a:ext cx="629841" cy="802481"/>
          </a:xfrm>
          <a:custGeom>
            <a:avLst/>
            <a:gdLst>
              <a:gd name="T0" fmla="*/ 2147483646 w 1005"/>
              <a:gd name="T1" fmla="*/ 2147483646 h 996"/>
              <a:gd name="T2" fmla="*/ 2147483646 w 1005"/>
              <a:gd name="T3" fmla="*/ 2147483646 h 996"/>
              <a:gd name="T4" fmla="*/ 2147483646 w 1005"/>
              <a:gd name="T5" fmla="*/ 2147483646 h 996"/>
              <a:gd name="T6" fmla="*/ 2147483646 w 1005"/>
              <a:gd name="T7" fmla="*/ 2147483646 h 996"/>
              <a:gd name="T8" fmla="*/ 2147483646 w 1005"/>
              <a:gd name="T9" fmla="*/ 2147483646 h 996"/>
              <a:gd name="T10" fmla="*/ 2147483646 w 1005"/>
              <a:gd name="T11" fmla="*/ 2147483646 h 996"/>
              <a:gd name="T12" fmla="*/ 2147483646 w 1005"/>
              <a:gd name="T13" fmla="*/ 2147483646 h 996"/>
              <a:gd name="T14" fmla="*/ 2147483646 w 1005"/>
              <a:gd name="T15" fmla="*/ 2147483646 h 996"/>
              <a:gd name="T16" fmla="*/ 2147483646 w 1005"/>
              <a:gd name="T17" fmla="*/ 2147483646 h 996"/>
              <a:gd name="T18" fmla="*/ 2147483646 w 1005"/>
              <a:gd name="T19" fmla="*/ 2147483646 h 996"/>
              <a:gd name="T20" fmla="*/ 2147483646 w 1005"/>
              <a:gd name="T21" fmla="*/ 2147483646 h 996"/>
              <a:gd name="T22" fmla="*/ 2147483646 w 1005"/>
              <a:gd name="T23" fmla="*/ 2147483646 h 996"/>
              <a:gd name="T24" fmla="*/ 2147483646 w 1005"/>
              <a:gd name="T25" fmla="*/ 2147483646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Line 40"/>
          <p:cNvSpPr>
            <a:spLocks noChangeShapeType="1"/>
          </p:cNvSpPr>
          <p:nvPr/>
        </p:nvSpPr>
        <p:spPr bwMode="auto">
          <a:xfrm>
            <a:off x="2689622" y="3312319"/>
            <a:ext cx="328613" cy="1726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Line 41"/>
          <p:cNvSpPr>
            <a:spLocks noChangeShapeType="1"/>
          </p:cNvSpPr>
          <p:nvPr/>
        </p:nvSpPr>
        <p:spPr bwMode="auto">
          <a:xfrm flipV="1">
            <a:off x="2782492" y="4020742"/>
            <a:ext cx="173831" cy="1916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Line 42"/>
          <p:cNvSpPr>
            <a:spLocks noChangeShapeType="1"/>
          </p:cNvSpPr>
          <p:nvPr/>
        </p:nvSpPr>
        <p:spPr bwMode="auto">
          <a:xfrm>
            <a:off x="3531394" y="3715941"/>
            <a:ext cx="438150" cy="71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Line 44"/>
          <p:cNvSpPr>
            <a:spLocks noChangeShapeType="1"/>
          </p:cNvSpPr>
          <p:nvPr/>
        </p:nvSpPr>
        <p:spPr bwMode="auto">
          <a:xfrm flipV="1">
            <a:off x="2719388" y="4283869"/>
            <a:ext cx="0" cy="122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Line 45"/>
          <p:cNvSpPr>
            <a:spLocks noChangeShapeType="1"/>
          </p:cNvSpPr>
          <p:nvPr/>
        </p:nvSpPr>
        <p:spPr bwMode="auto">
          <a:xfrm flipH="1" flipV="1">
            <a:off x="2625329" y="3367088"/>
            <a:ext cx="0" cy="2988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Line 46"/>
          <p:cNvSpPr>
            <a:spLocks noChangeShapeType="1"/>
          </p:cNvSpPr>
          <p:nvPr/>
        </p:nvSpPr>
        <p:spPr bwMode="auto">
          <a:xfrm>
            <a:off x="4033838" y="3765948"/>
            <a:ext cx="0" cy="5631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Line 47"/>
          <p:cNvSpPr>
            <a:spLocks noChangeShapeType="1"/>
          </p:cNvSpPr>
          <p:nvPr/>
        </p:nvSpPr>
        <p:spPr bwMode="auto">
          <a:xfrm flipH="1" flipV="1">
            <a:off x="4844653" y="3758803"/>
            <a:ext cx="3572" cy="1654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Text Box 58"/>
          <p:cNvSpPr txBox="1">
            <a:spLocks noChangeArrowheads="1"/>
          </p:cNvSpPr>
          <p:nvPr/>
        </p:nvSpPr>
        <p:spPr bwMode="auto">
          <a:xfrm>
            <a:off x="1682354" y="3117056"/>
            <a:ext cx="34657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41" name="Line 60"/>
          <p:cNvSpPr>
            <a:spLocks noChangeShapeType="1"/>
          </p:cNvSpPr>
          <p:nvPr/>
        </p:nvSpPr>
        <p:spPr bwMode="auto">
          <a:xfrm>
            <a:off x="4926807" y="3690938"/>
            <a:ext cx="89892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2" name="Group 63"/>
          <p:cNvGrpSpPr>
            <a:grpSpLocks/>
          </p:cNvGrpSpPr>
          <p:nvPr/>
        </p:nvGrpSpPr>
        <p:grpSpPr bwMode="auto">
          <a:xfrm>
            <a:off x="6672266" y="3633794"/>
            <a:ext cx="1312070" cy="371476"/>
            <a:chOff x="4351" y="2786"/>
            <a:chExt cx="1102" cy="312"/>
          </a:xfrm>
        </p:grpSpPr>
        <p:sp>
          <p:nvSpPr>
            <p:cNvPr id="143" name="Text Box 64"/>
            <p:cNvSpPr txBox="1">
              <a:spLocks noChangeArrowheads="1"/>
            </p:cNvSpPr>
            <p:nvPr/>
          </p:nvSpPr>
          <p:spPr bwMode="auto">
            <a:xfrm>
              <a:off x="4352" y="2786"/>
              <a:ext cx="90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222.222.222.222</a:t>
              </a:r>
            </a:p>
          </p:txBody>
        </p:sp>
        <p:sp>
          <p:nvSpPr>
            <p:cNvPr id="144" name="Text Box 65"/>
            <p:cNvSpPr txBox="1">
              <a:spLocks noChangeArrowheads="1"/>
            </p:cNvSpPr>
            <p:nvPr/>
          </p:nvSpPr>
          <p:spPr bwMode="auto">
            <a:xfrm>
              <a:off x="4351" y="2904"/>
              <a:ext cx="110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49-BD-D2-C7-56-2A</a:t>
              </a:r>
            </a:p>
          </p:txBody>
        </p:sp>
      </p:grpSp>
      <p:sp>
        <p:nvSpPr>
          <p:cNvPr id="145" name="Line 67"/>
          <p:cNvSpPr>
            <a:spLocks noChangeShapeType="1"/>
          </p:cNvSpPr>
          <p:nvPr/>
        </p:nvSpPr>
        <p:spPr bwMode="auto">
          <a:xfrm flipV="1">
            <a:off x="6350794" y="3312319"/>
            <a:ext cx="338138" cy="238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Line 68"/>
          <p:cNvSpPr>
            <a:spLocks noChangeShapeType="1"/>
          </p:cNvSpPr>
          <p:nvPr/>
        </p:nvSpPr>
        <p:spPr bwMode="auto">
          <a:xfrm flipH="1" flipV="1">
            <a:off x="6744891" y="3369469"/>
            <a:ext cx="8334" cy="2917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Text Box 71"/>
          <p:cNvSpPr txBox="1">
            <a:spLocks noChangeArrowheads="1"/>
          </p:cNvSpPr>
          <p:nvPr/>
        </p:nvSpPr>
        <p:spPr bwMode="auto">
          <a:xfrm>
            <a:off x="6448425" y="4358879"/>
            <a:ext cx="107433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222.222.222.221</a:t>
            </a:r>
          </a:p>
        </p:txBody>
      </p:sp>
      <p:sp>
        <p:nvSpPr>
          <p:cNvPr id="148" name="Text Box 72"/>
          <p:cNvSpPr txBox="1">
            <a:spLocks noChangeArrowheads="1"/>
          </p:cNvSpPr>
          <p:nvPr/>
        </p:nvSpPr>
        <p:spPr bwMode="auto">
          <a:xfrm>
            <a:off x="6450806" y="4489847"/>
            <a:ext cx="124745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88-B2-2F-54-1A-0F</a:t>
            </a:r>
          </a:p>
        </p:txBody>
      </p:sp>
      <p:sp>
        <p:nvSpPr>
          <p:cNvPr id="149" name="Line 73"/>
          <p:cNvSpPr>
            <a:spLocks noChangeShapeType="1"/>
          </p:cNvSpPr>
          <p:nvPr/>
        </p:nvSpPr>
        <p:spPr bwMode="auto">
          <a:xfrm flipH="1" flipV="1">
            <a:off x="6298406" y="3985023"/>
            <a:ext cx="190500" cy="1881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" name="Line 74"/>
          <p:cNvSpPr>
            <a:spLocks noChangeShapeType="1"/>
          </p:cNvSpPr>
          <p:nvPr/>
        </p:nvSpPr>
        <p:spPr bwMode="auto">
          <a:xfrm flipH="1">
            <a:off x="6549628" y="4241007"/>
            <a:ext cx="3572" cy="1512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Freeform 75"/>
          <p:cNvSpPr>
            <a:spLocks/>
          </p:cNvSpPr>
          <p:nvPr/>
        </p:nvSpPr>
        <p:spPr bwMode="auto">
          <a:xfrm>
            <a:off x="5795963" y="3330179"/>
            <a:ext cx="573881" cy="810815"/>
          </a:xfrm>
          <a:custGeom>
            <a:avLst/>
            <a:gdLst>
              <a:gd name="T0" fmla="*/ 2147483646 w 1005"/>
              <a:gd name="T1" fmla="*/ 2147483646 h 996"/>
              <a:gd name="T2" fmla="*/ 2147483646 w 1005"/>
              <a:gd name="T3" fmla="*/ 2147483646 h 996"/>
              <a:gd name="T4" fmla="*/ 2147483646 w 1005"/>
              <a:gd name="T5" fmla="*/ 2147483646 h 996"/>
              <a:gd name="T6" fmla="*/ 2147483646 w 1005"/>
              <a:gd name="T7" fmla="*/ 2147483646 h 996"/>
              <a:gd name="T8" fmla="*/ 2147483646 w 1005"/>
              <a:gd name="T9" fmla="*/ 2147483646 h 996"/>
              <a:gd name="T10" fmla="*/ 2147483646 w 1005"/>
              <a:gd name="T11" fmla="*/ 2147483646 h 996"/>
              <a:gd name="T12" fmla="*/ 2147483646 w 1005"/>
              <a:gd name="T13" fmla="*/ 2147483646 h 996"/>
              <a:gd name="T14" fmla="*/ 2147483646 w 1005"/>
              <a:gd name="T15" fmla="*/ 2147483646 h 996"/>
              <a:gd name="T16" fmla="*/ 2147483646 w 1005"/>
              <a:gd name="T17" fmla="*/ 2147483646 h 996"/>
              <a:gd name="T18" fmla="*/ 2147483646 w 1005"/>
              <a:gd name="T19" fmla="*/ 2147483646 h 996"/>
              <a:gd name="T20" fmla="*/ 2147483646 w 1005"/>
              <a:gd name="T21" fmla="*/ 2147483646 h 996"/>
              <a:gd name="T22" fmla="*/ 2147483646 w 1005"/>
              <a:gd name="T23" fmla="*/ 2147483646 h 996"/>
              <a:gd name="T24" fmla="*/ 2147483646 w 1005"/>
              <a:gd name="T25" fmla="*/ 2147483646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2" name="Text Box 76"/>
          <p:cNvSpPr txBox="1">
            <a:spLocks noChangeArrowheads="1"/>
          </p:cNvSpPr>
          <p:nvPr/>
        </p:nvSpPr>
        <p:spPr bwMode="auto">
          <a:xfrm>
            <a:off x="7373541" y="3055144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grpSp>
        <p:nvGrpSpPr>
          <p:cNvPr id="153" name="Group 124"/>
          <p:cNvGrpSpPr>
            <a:grpSpLocks/>
          </p:cNvGrpSpPr>
          <p:nvPr/>
        </p:nvGrpSpPr>
        <p:grpSpPr bwMode="auto">
          <a:xfrm>
            <a:off x="6527006" y="3025379"/>
            <a:ext cx="757238" cy="640556"/>
            <a:chOff x="7179310" y="4033520"/>
            <a:chExt cx="1009650" cy="855028"/>
          </a:xfrm>
        </p:grpSpPr>
        <p:grpSp>
          <p:nvGrpSpPr>
            <p:cNvPr id="154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5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55" name="Rectangle 43"/>
            <p:cNvSpPr>
              <a:spLocks noChangeArrowheads="1"/>
            </p:cNvSpPr>
            <p:nvPr/>
          </p:nvSpPr>
          <p:spPr bwMode="auto">
            <a:xfrm rot="-5400000">
              <a:off x="7438796" y="4309366"/>
              <a:ext cx="127142" cy="1952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8" name="Group 125"/>
          <p:cNvGrpSpPr>
            <a:grpSpLocks/>
          </p:cNvGrpSpPr>
          <p:nvPr/>
        </p:nvGrpSpPr>
        <p:grpSpPr bwMode="auto">
          <a:xfrm>
            <a:off x="3961210" y="3536156"/>
            <a:ext cx="969169" cy="319088"/>
            <a:chOff x="4011931" y="3379152"/>
            <a:chExt cx="1262062" cy="390207"/>
          </a:xfrm>
        </p:grpSpPr>
        <p:sp>
          <p:nvSpPr>
            <p:cNvPr id="159" name="Rectangle 43"/>
            <p:cNvSpPr>
              <a:spLocks noChangeArrowheads="1"/>
            </p:cNvSpPr>
            <p:nvPr/>
          </p:nvSpPr>
          <p:spPr bwMode="auto">
            <a:xfrm rot="-5400000">
              <a:off x="5112252" y="3476577"/>
              <a:ext cx="128128" cy="195356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0" name="Group 1185"/>
            <p:cNvGrpSpPr>
              <a:grpSpLocks/>
            </p:cNvGrpSpPr>
            <p:nvPr/>
          </p:nvGrpSpPr>
          <p:grpSpPr bwMode="auto">
            <a:xfrm>
              <a:off x="4197985" y="3379152"/>
              <a:ext cx="892175" cy="390207"/>
              <a:chOff x="4650" y="1129"/>
              <a:chExt cx="246" cy="95"/>
            </a:xfrm>
          </p:grpSpPr>
          <p:sp>
            <p:nvSpPr>
              <p:cNvPr id="162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3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4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165" name="Group 118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68" name="Freeform 119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9" name="Freeform 119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66" name="Line 119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Line 119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1" name="Rectangle 43"/>
            <p:cNvSpPr>
              <a:spLocks noChangeArrowheads="1"/>
            </p:cNvSpPr>
            <p:nvPr/>
          </p:nvSpPr>
          <p:spPr bwMode="auto">
            <a:xfrm rot="-5400000">
              <a:off x="4046274" y="3486041"/>
              <a:ext cx="126671" cy="195356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0" name="Group 126"/>
          <p:cNvGrpSpPr>
            <a:grpSpLocks/>
          </p:cNvGrpSpPr>
          <p:nvPr/>
        </p:nvGrpSpPr>
        <p:grpSpPr bwMode="auto">
          <a:xfrm>
            <a:off x="2255044" y="3985023"/>
            <a:ext cx="526256" cy="388144"/>
            <a:chOff x="1046480" y="3962400"/>
            <a:chExt cx="1026163" cy="761428"/>
          </a:xfrm>
        </p:grpSpPr>
        <p:sp>
          <p:nvSpPr>
            <p:cNvPr id="171" name="Rectangle 48"/>
            <p:cNvSpPr>
              <a:spLocks noChangeArrowheads="1"/>
            </p:cNvSpPr>
            <p:nvPr/>
          </p:nvSpPr>
          <p:spPr bwMode="auto">
            <a:xfrm rot="-5400000">
              <a:off x="1893548" y="4299487"/>
              <a:ext cx="109776" cy="248414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72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73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4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75" name="AutoShape 63"/>
          <p:cNvSpPr>
            <a:spLocks noChangeArrowheads="1"/>
          </p:cNvSpPr>
          <p:nvPr/>
        </p:nvSpPr>
        <p:spPr bwMode="auto">
          <a:xfrm>
            <a:off x="6182916" y="2172891"/>
            <a:ext cx="235744" cy="594122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chemeClr val="bg1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6" name="Group 64"/>
          <p:cNvGrpSpPr>
            <a:grpSpLocks/>
          </p:cNvGrpSpPr>
          <p:nvPr/>
        </p:nvGrpSpPr>
        <p:grpSpPr bwMode="auto">
          <a:xfrm>
            <a:off x="5812631" y="1840707"/>
            <a:ext cx="1609726" cy="570310"/>
            <a:chOff x="1197" y="1665"/>
            <a:chExt cx="1352" cy="479"/>
          </a:xfrm>
        </p:grpSpPr>
        <p:grpSp>
          <p:nvGrpSpPr>
            <p:cNvPr id="177" name="Group 65"/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179" name="Rectangle 66"/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Line 67"/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Line 68"/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78" name="Text Box 69"/>
            <p:cNvSpPr txBox="1">
              <a:spLocks noChangeArrowheads="1"/>
            </p:cNvSpPr>
            <p:nvPr/>
          </p:nvSpPr>
          <p:spPr bwMode="auto">
            <a:xfrm>
              <a:off x="1197" y="1665"/>
              <a:ext cx="13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src: 111.111.111.111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IP dest: 222.222.222.222</a:t>
              </a:r>
            </a:p>
          </p:txBody>
        </p:sp>
      </p:grpSp>
      <p:grpSp>
        <p:nvGrpSpPr>
          <p:cNvPr id="182" name="Group 70"/>
          <p:cNvGrpSpPr>
            <a:grpSpLocks/>
          </p:cNvGrpSpPr>
          <p:nvPr/>
        </p:nvGrpSpPr>
        <p:grpSpPr bwMode="auto">
          <a:xfrm>
            <a:off x="5905500" y="2028826"/>
            <a:ext cx="109538" cy="289322"/>
            <a:chOff x="1272" y="1762"/>
            <a:chExt cx="92" cy="243"/>
          </a:xfrm>
        </p:grpSpPr>
        <p:sp>
          <p:nvSpPr>
            <p:cNvPr id="183" name="Line 71"/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Line 72"/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5" name="Group 73"/>
          <p:cNvGrpSpPr>
            <a:grpSpLocks/>
          </p:cNvGrpSpPr>
          <p:nvPr/>
        </p:nvGrpSpPr>
        <p:grpSpPr bwMode="auto">
          <a:xfrm>
            <a:off x="5493544" y="1534716"/>
            <a:ext cx="1980011" cy="1139428"/>
            <a:chOff x="931" y="1414"/>
            <a:chExt cx="1663" cy="957"/>
          </a:xfrm>
        </p:grpSpPr>
        <p:sp>
          <p:nvSpPr>
            <p:cNvPr id="186" name="Text Box 74"/>
            <p:cNvSpPr txBox="1">
              <a:spLocks noChangeArrowheads="1"/>
            </p:cNvSpPr>
            <p:nvPr/>
          </p:nvSpPr>
          <p:spPr bwMode="auto">
            <a:xfrm>
              <a:off x="931" y="1414"/>
              <a:ext cx="1663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MAC src: </a:t>
              </a:r>
              <a:r>
                <a:rPr lang="en-US" altLang="zh-CN" sz="9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1A-23-F9-CD-06-9B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  MAC dest: </a:t>
              </a:r>
              <a:r>
                <a:rPr lang="en-US" altLang="zh-CN" sz="9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49-BD-D2-C7-56-2A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9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87" name="Group 75"/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192" name="Rectangle 76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Rectangle 77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Line 78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5" name="Line 79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6" name="Line 80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7" name="Line 81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8" name="Line 82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Line 83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Line 84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Line 85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8" name="Group 92"/>
          <p:cNvGrpSpPr>
            <a:grpSpLocks/>
          </p:cNvGrpSpPr>
          <p:nvPr/>
        </p:nvGrpSpPr>
        <p:grpSpPr bwMode="auto">
          <a:xfrm>
            <a:off x="7188994" y="1858566"/>
            <a:ext cx="696516" cy="1465659"/>
            <a:chOff x="250" y="1380"/>
            <a:chExt cx="585" cy="1231"/>
          </a:xfrm>
        </p:grpSpPr>
        <p:sp>
          <p:nvSpPr>
            <p:cNvPr id="199" name="Freeform 93"/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Rectangle 94"/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Text Box 95"/>
            <p:cNvSpPr txBox="1">
              <a:spLocks noChangeArrowheads="1"/>
            </p:cNvSpPr>
            <p:nvPr/>
          </p:nvSpPr>
          <p:spPr bwMode="auto">
            <a:xfrm>
              <a:off x="390" y="1380"/>
              <a:ext cx="383" cy="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Eth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Phy</a:t>
              </a:r>
            </a:p>
          </p:txBody>
        </p:sp>
        <p:sp>
          <p:nvSpPr>
            <p:cNvPr id="202" name="Line 96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7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8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9"/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1" name="灯片编号占位符 2">
            <a:extLst>
              <a:ext uri="{FF2B5EF4-FFF2-40B4-BE49-F238E27FC236}">
                <a16:creationId xmlns:a16="http://schemas.microsoft.com/office/drawing/2014/main" id="{B7FA76C9-491F-4204-8FC2-7110C4958D1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sp>
        <p:nvSpPr>
          <p:cNvPr id="102" name="AutoShape 5">
            <a:extLst>
              <a:ext uri="{FF2B5EF4-FFF2-40B4-BE49-F238E27FC236}">
                <a16:creationId xmlns:a16="http://schemas.microsoft.com/office/drawing/2014/main" id="{345EB94B-69B1-41CF-A9AD-EB8C786E6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003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 animBg="1"/>
      <p:bldP spid="102" grpId="0" animBg="1"/>
      <p:bldP spid="102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699792" y="1703711"/>
            <a:ext cx="4320479" cy="158417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5.4.1 </a:t>
            </a:r>
            <a:r>
              <a:rPr lang="zh-CN" altLang="en-US" dirty="0">
                <a:effectLst/>
              </a:rPr>
              <a:t>链路层寻址和地址解析协议</a:t>
            </a:r>
            <a:endParaRPr lang="en-US" altLang="zh-CN" dirty="0">
              <a:effectLst/>
            </a:endParaRPr>
          </a:p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FF0000"/>
                </a:solidFill>
                <a:effectLst/>
              </a:rPr>
              <a:t>5.4.2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以太网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5.4.3 </a:t>
            </a:r>
            <a:r>
              <a:rPr lang="zh-CN" altLang="en-US" dirty="0">
                <a:effectLst/>
              </a:rPr>
              <a:t>链路层交换机</a:t>
            </a:r>
            <a:endParaRPr lang="en-US" altLang="zh-CN" dirty="0">
              <a:effectLst/>
            </a:endParaRPr>
          </a:p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5.4.4 </a:t>
            </a:r>
            <a:r>
              <a:rPr lang="zh-CN" altLang="en-US" dirty="0">
                <a:effectLst/>
              </a:rPr>
              <a:t>虚拟局域网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DF7558-5E1A-49CB-B7BD-3CE20640B3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635646"/>
            <a:ext cx="1668571" cy="1491630"/>
          </a:xfrm>
          <a:prstGeom prst="rect">
            <a:avLst/>
          </a:prstGeom>
        </p:spPr>
      </p:pic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69AC4E15-57C6-4A0D-870A-0ED73F0228EA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18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973C5420-14A4-4C2D-A5E7-76FF39D20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805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3966270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以太网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FF0000"/>
                </a:solidFill>
                <a:effectLst/>
              </a:rPr>
              <a:t>什么是以太？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以太网是最典型的局域网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有线局域网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以太网：   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802.3  CSMA/CD</a:t>
            </a:r>
          </a:p>
          <a:p>
            <a:pPr marL="685800" lvl="2" indent="0">
              <a:spcBef>
                <a:spcPts val="450"/>
              </a:spcBef>
              <a:buNone/>
            </a:pPr>
            <a:r>
              <a:rPr lang="en-US" altLang="zh-CN" dirty="0">
                <a:solidFill>
                  <a:srgbClr val="0066CC"/>
                </a:solidFill>
              </a:rPr>
              <a:t>                           </a:t>
            </a:r>
            <a:r>
              <a:rPr lang="zh-CN" altLang="en-US" dirty="0">
                <a:solidFill>
                  <a:srgbClr val="0066CC"/>
                </a:solidFill>
              </a:rPr>
              <a:t>载波监听</a:t>
            </a:r>
            <a:r>
              <a:rPr lang="en-US" altLang="zh-CN" dirty="0">
                <a:solidFill>
                  <a:srgbClr val="0066CC"/>
                </a:solidFill>
              </a:rPr>
              <a:t>/</a:t>
            </a:r>
            <a:r>
              <a:rPr lang="zh-CN" altLang="en-US" dirty="0">
                <a:solidFill>
                  <a:srgbClr val="0066CC"/>
                </a:solidFill>
              </a:rPr>
              <a:t>碰撞</a:t>
            </a:r>
            <a:r>
              <a:rPr lang="zh-CN" altLang="en-US" dirty="0">
                <a:solidFill>
                  <a:srgbClr val="FF0000"/>
                </a:solidFill>
              </a:rPr>
              <a:t>检测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令牌环网：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802.5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无线局域网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wifi:           802.11 CSMA/CA</a:t>
            </a:r>
          </a:p>
          <a:p>
            <a:pPr marL="685800" lvl="2" indent="0">
              <a:spcBef>
                <a:spcPts val="450"/>
              </a:spcBef>
              <a:buNone/>
            </a:pPr>
            <a:r>
              <a:rPr lang="en-US" altLang="zh-CN" dirty="0">
                <a:solidFill>
                  <a:srgbClr val="0066CC"/>
                </a:solidFill>
              </a:rPr>
              <a:t>                            </a:t>
            </a:r>
            <a:r>
              <a:rPr lang="zh-CN" altLang="en-US" dirty="0">
                <a:solidFill>
                  <a:srgbClr val="0066CC"/>
                </a:solidFill>
              </a:rPr>
              <a:t>载波监听</a:t>
            </a:r>
            <a:r>
              <a:rPr lang="en-US" altLang="zh-CN" dirty="0">
                <a:solidFill>
                  <a:srgbClr val="0066CC"/>
                </a:solidFill>
              </a:rPr>
              <a:t>/</a:t>
            </a:r>
            <a:r>
              <a:rPr lang="zh-CN" altLang="en-US" dirty="0">
                <a:solidFill>
                  <a:srgbClr val="0066CC"/>
                </a:solidFill>
              </a:rPr>
              <a:t>碰撞</a:t>
            </a:r>
            <a:r>
              <a:rPr lang="zh-CN" altLang="en-US" dirty="0">
                <a:solidFill>
                  <a:srgbClr val="FF0000"/>
                </a:solidFill>
              </a:rPr>
              <a:t>避免</a:t>
            </a:r>
            <a:endParaRPr lang="en-US" altLang="zh-CN" dirty="0">
              <a:solidFill>
                <a:srgbClr val="FF0000"/>
              </a:solidFill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…              802.15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FF0000"/>
                </a:solidFill>
                <a:effectLst/>
              </a:rPr>
              <a:t>什么是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802.X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？</a:t>
            </a: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pic>
        <p:nvPicPr>
          <p:cNvPr id="4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923678"/>
            <a:ext cx="3186113" cy="2505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628BEF54-07CE-450D-B49B-7F6D1A7E183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CBC75544-5B97-4D0D-800B-BD9E890DF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164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以太网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局域网技术的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主流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网络接口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网卡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)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造价低廉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FF0000"/>
                </a:solidFill>
                <a:effectLst/>
              </a:rPr>
              <a:t>简单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相比于令牌网和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ATM)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FF0000"/>
                </a:solidFill>
                <a:effectLst/>
              </a:rPr>
              <a:t>速度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不断升级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: 10 Mbps – 10 Gbps </a:t>
            </a: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pic>
        <p:nvPicPr>
          <p:cNvPr id="9" name="Picture 7" descr="551 metcalfe-en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697" y="2960816"/>
            <a:ext cx="307657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215754" y="4647932"/>
            <a:ext cx="2159794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1350" dirty="0"/>
              <a:t>Metcalfe’s Ethernet sketch</a:t>
            </a:r>
          </a:p>
        </p:txBody>
      </p:sp>
      <p:pic>
        <p:nvPicPr>
          <p:cNvPr id="11" name="Picture 9" descr="bobsca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156" y="2960816"/>
            <a:ext cx="1328738" cy="1557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6071875" y="4546644"/>
            <a:ext cx="1162498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1350" dirty="0">
                <a:ea typeface="+mj-ea"/>
              </a:rPr>
              <a:t>Bob Metcalfe</a:t>
            </a:r>
            <a:endParaRPr lang="en-US" altLang="zh-CN" sz="1350" dirty="0">
              <a:ea typeface="+mj-ea"/>
            </a:endParaRPr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43CD0094-4690-41F6-9126-67E76B40EDE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286EC632-49AB-46F7-9471-6071A70D6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382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zh-CN" altLang="en-US" dirty="0"/>
              <a:t>回顾</a:t>
            </a:r>
            <a:r>
              <a:rPr lang="en-US" altLang="zh-CN" dirty="0"/>
              <a:t>~5.3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402435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solidFill>
                  <a:srgbClr val="0066CC"/>
                </a:solidFill>
                <a:effectLst/>
              </a:rPr>
              <a:t>CSMA/CD (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碰撞检测</a:t>
            </a:r>
            <a:r>
              <a:rPr lang="en-US" altLang="en-US" dirty="0">
                <a:solidFill>
                  <a:srgbClr val="0066CC"/>
                </a:solidFill>
                <a:effectLst/>
              </a:rPr>
              <a:t>)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402441" name="Rectangle 9"/>
          <p:cNvSpPr>
            <a:spLocks noChangeArrowheads="1"/>
          </p:cNvSpPr>
          <p:nvPr/>
        </p:nvSpPr>
        <p:spPr bwMode="auto">
          <a:xfrm>
            <a:off x="891183" y="1484557"/>
            <a:ext cx="3577828" cy="348615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CSMA/CD: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载波监听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碰撞检测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在较短的时间检测到碰撞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终止碰撞的传输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避免信道的浪费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碰撞检测功能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在有线网络中容易实现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比较发送和接收信号</a:t>
            </a:r>
            <a:endParaRPr lang="en-US" altLang="zh-TW" sz="12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在无线网络中难以检测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接收信号衰减严重</a:t>
            </a:r>
            <a:r>
              <a:rPr lang="en-US" altLang="zh-TW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比方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一个礼貌的健谈者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4572001" y="843558"/>
            <a:ext cx="3325415" cy="2967038"/>
            <a:chOff x="1855788" y="1446213"/>
            <a:chExt cx="4433887" cy="3956050"/>
          </a:xfrm>
        </p:grpSpPr>
        <p:pic>
          <p:nvPicPr>
            <p:cNvPr id="33" name="Picture 3" descr="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5788" y="1531938"/>
              <a:ext cx="4433887" cy="387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Rectangle 29"/>
            <p:cNvSpPr>
              <a:spLocks noChangeArrowheads="1"/>
            </p:cNvSpPr>
            <p:nvPr/>
          </p:nvSpPr>
          <p:spPr bwMode="auto">
            <a:xfrm>
              <a:off x="2041525" y="1446213"/>
              <a:ext cx="4135438" cy="1211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2187575" y="1595438"/>
              <a:ext cx="3711575" cy="1036637"/>
              <a:chOff x="2187575" y="1595438"/>
              <a:chExt cx="3711575" cy="1036637"/>
            </a:xfrm>
          </p:grpSpPr>
          <p:sp>
            <p:nvSpPr>
              <p:cNvPr id="36" name="Rectangle 9"/>
              <p:cNvSpPr>
                <a:spLocks noChangeArrowheads="1"/>
              </p:cNvSpPr>
              <p:nvPr/>
            </p:nvSpPr>
            <p:spPr bwMode="auto">
              <a:xfrm>
                <a:off x="2778124" y="1595438"/>
                <a:ext cx="256857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Arial" panose="020B0604020202020204" pitchFamily="34" charset="0"/>
                  </a:rPr>
                  <a:t>spatial layout of nodes </a:t>
                </a:r>
                <a:endParaRPr lang="en-US" altLang="zh-CN" sz="1500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7" name="Group 30"/>
              <p:cNvGrpSpPr>
                <a:grpSpLocks/>
              </p:cNvGrpSpPr>
              <p:nvPr/>
            </p:nvGrpSpPr>
            <p:grpSpPr bwMode="auto">
              <a:xfrm>
                <a:off x="2541588" y="1985963"/>
                <a:ext cx="3263900" cy="195262"/>
                <a:chOff x="4220" y="1231"/>
                <a:chExt cx="1989" cy="90"/>
              </a:xfrm>
            </p:grpSpPr>
            <p:sp>
              <p:nvSpPr>
                <p:cNvPr id="50" name="Line 23"/>
                <p:cNvSpPr>
                  <a:spLocks noChangeShapeType="1"/>
                </p:cNvSpPr>
                <p:nvPr/>
              </p:nvSpPr>
              <p:spPr bwMode="auto">
                <a:xfrm>
                  <a:off x="4220" y="1232"/>
                  <a:ext cx="1989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51" name="Line 24"/>
                <p:cNvSpPr>
                  <a:spLocks noChangeShapeType="1"/>
                </p:cNvSpPr>
                <p:nvPr/>
              </p:nvSpPr>
              <p:spPr bwMode="auto">
                <a:xfrm>
                  <a:off x="4220" y="1231"/>
                  <a:ext cx="0" cy="8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52" name="Line 25"/>
                <p:cNvSpPr>
                  <a:spLocks noChangeShapeType="1"/>
                </p:cNvSpPr>
                <p:nvPr/>
              </p:nvSpPr>
              <p:spPr bwMode="auto">
                <a:xfrm>
                  <a:off x="4886" y="1234"/>
                  <a:ext cx="0" cy="8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53" name="Line 26"/>
                <p:cNvSpPr>
                  <a:spLocks noChangeShapeType="1"/>
                </p:cNvSpPr>
                <p:nvPr/>
              </p:nvSpPr>
              <p:spPr bwMode="auto">
                <a:xfrm>
                  <a:off x="5489" y="1234"/>
                  <a:ext cx="0" cy="8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54" name="Line 27"/>
                <p:cNvSpPr>
                  <a:spLocks noChangeShapeType="1"/>
                </p:cNvSpPr>
                <p:nvPr/>
              </p:nvSpPr>
              <p:spPr bwMode="auto">
                <a:xfrm>
                  <a:off x="6200" y="1231"/>
                  <a:ext cx="0" cy="8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38" name="Group 11"/>
              <p:cNvGrpSpPr>
                <a:grpSpLocks/>
              </p:cNvGrpSpPr>
              <p:nvPr/>
            </p:nvGrpSpPr>
            <p:grpSpPr bwMode="auto">
              <a:xfrm flipH="1">
                <a:off x="2187575" y="2119313"/>
                <a:ext cx="501650" cy="512762"/>
                <a:chOff x="2839" y="3501"/>
                <a:chExt cx="755" cy="803"/>
              </a:xfrm>
            </p:grpSpPr>
            <p:pic>
              <p:nvPicPr>
                <p:cNvPr id="48" name="Picture 12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9" name="Freeform 13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39" name="Group 14"/>
              <p:cNvGrpSpPr>
                <a:grpSpLocks/>
              </p:cNvGrpSpPr>
              <p:nvPr/>
            </p:nvGrpSpPr>
            <p:grpSpPr bwMode="auto">
              <a:xfrm flipH="1">
                <a:off x="3279775" y="2101850"/>
                <a:ext cx="501650" cy="512763"/>
                <a:chOff x="2839" y="3501"/>
                <a:chExt cx="755" cy="803"/>
              </a:xfrm>
            </p:grpSpPr>
            <p:pic>
              <p:nvPicPr>
                <p:cNvPr id="46" name="Picture 1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7" name="Freeform 16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40" name="Group 17"/>
              <p:cNvGrpSpPr>
                <a:grpSpLocks/>
              </p:cNvGrpSpPr>
              <p:nvPr/>
            </p:nvGrpSpPr>
            <p:grpSpPr bwMode="auto">
              <a:xfrm flipH="1">
                <a:off x="4278313" y="2092325"/>
                <a:ext cx="501650" cy="512763"/>
                <a:chOff x="2839" y="3501"/>
                <a:chExt cx="755" cy="803"/>
              </a:xfrm>
            </p:grpSpPr>
            <p:pic>
              <p:nvPicPr>
                <p:cNvPr id="44" name="Picture 18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5" name="Freeform 19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41" name="Group 20"/>
              <p:cNvGrpSpPr>
                <a:grpSpLocks/>
              </p:cNvGrpSpPr>
              <p:nvPr/>
            </p:nvGrpSpPr>
            <p:grpSpPr bwMode="auto">
              <a:xfrm flipH="1">
                <a:off x="5397500" y="2106613"/>
                <a:ext cx="501650" cy="512762"/>
                <a:chOff x="2839" y="3501"/>
                <a:chExt cx="755" cy="803"/>
              </a:xfrm>
            </p:grpSpPr>
            <p:pic>
              <p:nvPicPr>
                <p:cNvPr id="42" name="Picture 21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3" name="Freeform 22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2308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zh-CN" altLang="en-US" dirty="0"/>
              <a:t>回顾</a:t>
            </a:r>
            <a:r>
              <a:rPr lang="en-US" altLang="zh-CN" dirty="0"/>
              <a:t>~5.3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40243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67545" y="987574"/>
            <a:ext cx="7525518" cy="3779688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solidFill>
                  <a:srgbClr val="0066CC"/>
                </a:solidFill>
                <a:effectLst/>
              </a:rPr>
              <a:t>CSMA/CD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算法描述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55" name="Rectangle 3"/>
          <p:cNvSpPr txBox="1">
            <a:spLocks noChangeArrowheads="1"/>
          </p:cNvSpPr>
          <p:nvPr/>
        </p:nvSpPr>
        <p:spPr bwMode="auto">
          <a:xfrm>
            <a:off x="1006227" y="1434112"/>
            <a:ext cx="3421757" cy="348615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indent="-179388">
              <a:spcBef>
                <a:spcPts val="600"/>
              </a:spcBef>
              <a:buFont typeface="Wingdings" charset="0"/>
              <a:buNone/>
              <a:defRPr/>
            </a:pPr>
            <a:r>
              <a:rPr 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网卡接收到网络层的数据报，封装成帧</a:t>
            </a:r>
            <a:endParaRPr lang="en-US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9388" indent="-179388">
              <a:spcBef>
                <a:spcPts val="600"/>
              </a:spcBef>
              <a:buFont typeface="Wingdings" charset="0"/>
              <a:buNone/>
              <a:defRPr/>
            </a:pPr>
            <a:r>
              <a:rPr 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如果网卡检测到信道是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空闲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则开始传输帧；</a:t>
            </a:r>
            <a:b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如果信道是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繁忙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则等到信道空闲后再传输</a:t>
            </a:r>
            <a:r>
              <a:rPr 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marL="179388" indent="-179388">
              <a:spcBef>
                <a:spcPts val="600"/>
              </a:spcBef>
              <a:buFont typeface="Wingdings" charset="0"/>
              <a:buNone/>
              <a:defRPr/>
            </a:pPr>
            <a:r>
              <a:rPr 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如果网卡在传输帧的整个过程中没有检测到其他帧的传输</a:t>
            </a:r>
            <a:r>
              <a:rPr 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则网卡成功传输该帧；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9388" indent="-179388">
              <a:spcBef>
                <a:spcPts val="600"/>
              </a:spcBef>
              <a:buNone/>
              <a:defRPr/>
            </a:pP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如果网卡检测到其他帧的传输，则取消发送该帧，并发送一个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拥堵信号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(jam signal)</a:t>
            </a:r>
            <a:endParaRPr lang="en-US" sz="15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Rectangle 4"/>
          <p:cNvSpPr txBox="1">
            <a:spLocks noChangeArrowheads="1"/>
          </p:cNvSpPr>
          <p:nvPr/>
        </p:nvSpPr>
        <p:spPr>
          <a:xfrm>
            <a:off x="4716016" y="1434112"/>
            <a:ext cx="3421757" cy="3606849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indent="-179388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取消之后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网卡等待一个随机时间量，然后返回步骤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 (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二进制指数回退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500" i="1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发生</a:t>
            </a:r>
            <a:r>
              <a:rPr lang="en-US" altLang="zh-CN" sz="1350" i="1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次碰撞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网卡从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{0,1,2, …, 2</a:t>
            </a:r>
            <a:r>
              <a:rPr lang="en-US" altLang="zh-CN" sz="1350" b="1" baseline="300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-1}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中随机选择一个数</a:t>
            </a:r>
            <a:r>
              <a:rPr lang="en-US" altLang="zh-CN" sz="1350" i="1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K,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等待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K</a:t>
            </a:r>
            <a:r>
              <a:rPr lang="el-GR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·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512 </a:t>
            </a: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比特时间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后返回步骤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比特时间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1Gbps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，每比特时间是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1350" baseline="300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-9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K=1023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则等待时间 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 = 1023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512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1350" baseline="300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-9</a:t>
            </a:r>
            <a:b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= 50 </a:t>
            </a:r>
            <a:r>
              <a:rPr lang="el-GR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μ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10013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5.4.2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以太网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(1) </a:t>
            </a:r>
            <a:r>
              <a:rPr lang="zh-CN" altLang="en-US" u="sng" dirty="0">
                <a:solidFill>
                  <a:srgbClr val="0066CC"/>
                </a:solidFill>
                <a:effectLst/>
              </a:rPr>
              <a:t>以太网帧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结构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endParaRPr lang="en-US" altLang="zh-CN" dirty="0">
              <a:solidFill>
                <a:srgbClr val="0066CC"/>
              </a:solidFill>
              <a:effectLst/>
            </a:endParaRPr>
          </a:p>
          <a:p>
            <a:endParaRPr lang="en-US" altLang="zh-CN" dirty="0">
              <a:solidFill>
                <a:srgbClr val="0066CC"/>
              </a:solidFill>
              <a:effectLst/>
            </a:endParaRPr>
          </a:p>
          <a:p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effectLst/>
              </a:rPr>
              <a:t>前同步码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共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8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个字节，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  <a:effectLst/>
              </a:rPr>
              <a:t>前七个字节都为：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10101010</a:t>
            </a:r>
          </a:p>
          <a:p>
            <a:pPr lvl="2"/>
            <a:r>
              <a:rPr lang="zh-CN" altLang="en-US" dirty="0">
                <a:solidFill>
                  <a:srgbClr val="0066CC"/>
                </a:solidFill>
                <a:effectLst/>
              </a:rPr>
              <a:t>最后一个字节为：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10101011</a:t>
            </a: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用于发送方和接收方的时钟同步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212776" y="1392159"/>
            <a:ext cx="4718447" cy="1060826"/>
            <a:chOff x="1426369" y="1640188"/>
            <a:chExt cx="6291262" cy="1414435"/>
          </a:xfrm>
        </p:grpSpPr>
        <p:sp>
          <p:nvSpPr>
            <p:cNvPr id="10" name="Rectangle 1"/>
            <p:cNvSpPr>
              <a:spLocks noChangeArrowheads="1"/>
            </p:cNvSpPr>
            <p:nvPr/>
          </p:nvSpPr>
          <p:spPr bwMode="auto">
            <a:xfrm>
              <a:off x="1462619" y="2431072"/>
              <a:ext cx="6255012" cy="548332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" name="Straight Connector 3"/>
            <p:cNvCxnSpPr>
              <a:cxnSpLocks noChangeShapeType="1"/>
            </p:cNvCxnSpPr>
            <p:nvPr/>
          </p:nvCxnSpPr>
          <p:spPr bwMode="auto">
            <a:xfrm>
              <a:off x="2456656" y="2421210"/>
              <a:ext cx="0" cy="55086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Straight Connector 32"/>
            <p:cNvCxnSpPr>
              <a:cxnSpLocks noChangeShapeType="1"/>
            </p:cNvCxnSpPr>
            <p:nvPr/>
          </p:nvCxnSpPr>
          <p:spPr bwMode="auto">
            <a:xfrm>
              <a:off x="3186906" y="2424385"/>
              <a:ext cx="0" cy="5842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Straight Connector 33"/>
            <p:cNvCxnSpPr>
              <a:cxnSpLocks noChangeShapeType="1"/>
            </p:cNvCxnSpPr>
            <p:nvPr/>
          </p:nvCxnSpPr>
          <p:spPr bwMode="auto">
            <a:xfrm>
              <a:off x="3915569" y="2429148"/>
              <a:ext cx="0" cy="5492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Straight Connector 34"/>
            <p:cNvCxnSpPr>
              <a:cxnSpLocks noChangeShapeType="1"/>
            </p:cNvCxnSpPr>
            <p:nvPr/>
          </p:nvCxnSpPr>
          <p:spPr bwMode="auto">
            <a:xfrm>
              <a:off x="4169569" y="2424385"/>
              <a:ext cx="0" cy="58102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Straight Connector 35"/>
            <p:cNvCxnSpPr>
              <a:cxnSpLocks noChangeShapeType="1"/>
            </p:cNvCxnSpPr>
            <p:nvPr/>
          </p:nvCxnSpPr>
          <p:spPr bwMode="auto">
            <a:xfrm>
              <a:off x="6136481" y="2430735"/>
              <a:ext cx="0" cy="623888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TextBox 5"/>
            <p:cNvSpPr txBox="1">
              <a:spLocks noChangeArrowheads="1"/>
            </p:cNvSpPr>
            <p:nvPr/>
          </p:nvSpPr>
          <p:spPr bwMode="auto">
            <a:xfrm>
              <a:off x="2396050" y="2490856"/>
              <a:ext cx="844845" cy="499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11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目的</a:t>
              </a: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MAC</a:t>
              </a: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址</a:t>
              </a:r>
              <a:endPara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7" name="TextBox 37"/>
            <p:cNvSpPr txBox="1">
              <a:spLocks noChangeArrowheads="1"/>
            </p:cNvSpPr>
            <p:nvPr/>
          </p:nvSpPr>
          <p:spPr bwMode="auto">
            <a:xfrm>
              <a:off x="3159375" y="2499445"/>
              <a:ext cx="844845" cy="499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11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源</a:t>
              </a: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MAC</a:t>
              </a: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地址</a:t>
              </a:r>
              <a:endPara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8" name="TextBox 38"/>
            <p:cNvSpPr txBox="1">
              <a:spLocks noChangeArrowheads="1"/>
            </p:cNvSpPr>
            <p:nvPr/>
          </p:nvSpPr>
          <p:spPr bwMode="auto">
            <a:xfrm>
              <a:off x="4539321" y="2512105"/>
              <a:ext cx="1377464" cy="439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9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data (payload)</a:t>
              </a:r>
            </a:p>
          </p:txBody>
        </p:sp>
        <p:sp>
          <p:nvSpPr>
            <p:cNvPr id="19" name="TextBox 39"/>
            <p:cNvSpPr txBox="1">
              <a:spLocks noChangeArrowheads="1"/>
            </p:cNvSpPr>
            <p:nvPr/>
          </p:nvSpPr>
          <p:spPr bwMode="auto">
            <a:xfrm>
              <a:off x="6426930" y="2590015"/>
              <a:ext cx="855607" cy="285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9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CRC</a:t>
              </a:r>
            </a:p>
          </p:txBody>
        </p:sp>
        <p:sp>
          <p:nvSpPr>
            <p:cNvPr id="20" name="TextBox 40"/>
            <p:cNvSpPr txBox="1">
              <a:spLocks noChangeArrowheads="1"/>
            </p:cNvSpPr>
            <p:nvPr/>
          </p:nvSpPr>
          <p:spPr bwMode="auto">
            <a:xfrm>
              <a:off x="1426369" y="2603075"/>
              <a:ext cx="1070172" cy="284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9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前同步码</a:t>
              </a:r>
              <a:endPara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1" name="Text Box 9"/>
            <p:cNvSpPr txBox="1">
              <a:spLocks noChangeArrowheads="1"/>
            </p:cNvSpPr>
            <p:nvPr/>
          </p:nvSpPr>
          <p:spPr bwMode="auto">
            <a:xfrm>
              <a:off x="3806146" y="1640188"/>
              <a:ext cx="7702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类型</a:t>
              </a:r>
              <a:endPara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 flipH="1">
              <a:off x="4056699" y="2019384"/>
              <a:ext cx="24217" cy="5434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灯片编号占位符 2">
            <a:extLst>
              <a:ext uri="{FF2B5EF4-FFF2-40B4-BE49-F238E27FC236}">
                <a16:creationId xmlns:a16="http://schemas.microsoft.com/office/drawing/2014/main" id="{B53942EB-4B67-4661-8954-D5887EDE8C5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23" name="AutoShape 5">
            <a:extLst>
              <a:ext uri="{FF2B5EF4-FFF2-40B4-BE49-F238E27FC236}">
                <a16:creationId xmlns:a16="http://schemas.microsoft.com/office/drawing/2014/main" id="{D96447F3-7F8C-49E6-A96F-45751B00B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2985491" y="1957024"/>
            <a:ext cx="2759869" cy="475061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H="1" flipV="1">
            <a:off x="2212776" y="1676556"/>
            <a:ext cx="991072" cy="2804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866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5.4.2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以太网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(1)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以太网帧结构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endParaRPr lang="en-US" altLang="zh-CN" dirty="0">
              <a:solidFill>
                <a:srgbClr val="0066CC"/>
              </a:solidFill>
              <a:effectLst/>
            </a:endParaRPr>
          </a:p>
          <a:p>
            <a:endParaRPr lang="en-US" altLang="zh-CN" dirty="0">
              <a:solidFill>
                <a:srgbClr val="0066CC"/>
              </a:solidFill>
              <a:effectLst/>
            </a:endParaRPr>
          </a:p>
          <a:p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effectLst/>
              </a:rPr>
              <a:t>MAC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地址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共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12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个字节，目的地址和源地址各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6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个字节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  <a:effectLst/>
              </a:rPr>
              <a:t>接收方的网卡收到帧，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  <a:effectLst/>
              </a:rPr>
              <a:t>如果目的地址是自己的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MAC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地址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或者目的地址是广播地址</a:t>
            </a:r>
            <a:endParaRPr lang="en-US" altLang="zh-CN" dirty="0">
              <a:solidFill>
                <a:srgbClr val="0066CC"/>
              </a:solidFill>
            </a:endParaRPr>
          </a:p>
          <a:p>
            <a:pPr lvl="4"/>
            <a:r>
              <a:rPr lang="zh-CN" altLang="en-US" sz="1200" dirty="0">
                <a:solidFill>
                  <a:srgbClr val="0066CC"/>
                </a:solidFill>
              </a:rPr>
              <a:t>则解析该帧并向网络层提交</a:t>
            </a:r>
            <a:endParaRPr lang="en-US" altLang="zh-CN" sz="1200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  <a:effectLst/>
              </a:rPr>
              <a:t>否则丢弃该帧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3AB89BC2-109E-4811-A6FC-D57C97EB6AFE}"/>
              </a:ext>
            </a:extLst>
          </p:cNvPr>
          <p:cNvGrpSpPr/>
          <p:nvPr/>
        </p:nvGrpSpPr>
        <p:grpSpPr>
          <a:xfrm>
            <a:off x="2212776" y="1707654"/>
            <a:ext cx="4718447" cy="745331"/>
            <a:chOff x="1426369" y="2060848"/>
            <a:chExt cx="6291262" cy="993775"/>
          </a:xfrm>
        </p:grpSpPr>
        <p:sp>
          <p:nvSpPr>
            <p:cNvPr id="23" name="Line 10">
              <a:extLst>
                <a:ext uri="{FF2B5EF4-FFF2-40B4-BE49-F238E27FC236}">
                  <a16:creationId xmlns:a16="http://schemas.microsoft.com/office/drawing/2014/main" id="{BAC6E587-B226-4798-B255-D12DA4B5E0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701" y="2357981"/>
              <a:ext cx="0" cy="2048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Rectangle 1">
              <a:extLst>
                <a:ext uri="{FF2B5EF4-FFF2-40B4-BE49-F238E27FC236}">
                  <a16:creationId xmlns:a16="http://schemas.microsoft.com/office/drawing/2014/main" id="{43AF9A8B-9AFA-4BA4-B03D-4181050EA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619" y="2431072"/>
              <a:ext cx="6255012" cy="548332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5" name="Straight Connector 3">
              <a:extLst>
                <a:ext uri="{FF2B5EF4-FFF2-40B4-BE49-F238E27FC236}">
                  <a16:creationId xmlns:a16="http://schemas.microsoft.com/office/drawing/2014/main" id="{2F003B01-9169-4FA3-BE52-47FEAF1627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56656" y="2421210"/>
              <a:ext cx="0" cy="55086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Straight Connector 32">
              <a:extLst>
                <a:ext uri="{FF2B5EF4-FFF2-40B4-BE49-F238E27FC236}">
                  <a16:creationId xmlns:a16="http://schemas.microsoft.com/office/drawing/2014/main" id="{C99A96DF-6DC7-49A3-B8C1-9C776CFA51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86906" y="2424385"/>
              <a:ext cx="0" cy="5842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Straight Connector 33">
              <a:extLst>
                <a:ext uri="{FF2B5EF4-FFF2-40B4-BE49-F238E27FC236}">
                  <a16:creationId xmlns:a16="http://schemas.microsoft.com/office/drawing/2014/main" id="{6D13F652-9EBD-4767-A66F-C6F8B1F2B9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15569" y="2429148"/>
              <a:ext cx="0" cy="5492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Straight Connector 34">
              <a:extLst>
                <a:ext uri="{FF2B5EF4-FFF2-40B4-BE49-F238E27FC236}">
                  <a16:creationId xmlns:a16="http://schemas.microsoft.com/office/drawing/2014/main" id="{B792A38D-B944-4926-90DA-BA5CCF0E72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69569" y="2424385"/>
              <a:ext cx="0" cy="58102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Straight Connector 35">
              <a:extLst>
                <a:ext uri="{FF2B5EF4-FFF2-40B4-BE49-F238E27FC236}">
                  <a16:creationId xmlns:a16="http://schemas.microsoft.com/office/drawing/2014/main" id="{E3DA52D2-E1EF-4A6C-B38E-C0FEE837F6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36481" y="2430735"/>
              <a:ext cx="0" cy="623888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TextBox 5">
              <a:extLst>
                <a:ext uri="{FF2B5EF4-FFF2-40B4-BE49-F238E27FC236}">
                  <a16:creationId xmlns:a16="http://schemas.microsoft.com/office/drawing/2014/main" id="{B1C6E789-A130-4906-A5E0-9C15159E07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050" y="2490856"/>
              <a:ext cx="844845" cy="499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11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0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目的</a:t>
              </a:r>
              <a:r>
                <a:rPr lang="en-US" altLang="zh-CN" sz="10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MAC</a:t>
              </a:r>
              <a:r>
                <a:rPr lang="zh-CN" altLang="en-US" sz="10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址</a:t>
              </a:r>
              <a:endParaRPr lang="en-US" altLang="zh-CN" sz="10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1" name="TextBox 37">
              <a:extLst>
                <a:ext uri="{FF2B5EF4-FFF2-40B4-BE49-F238E27FC236}">
                  <a16:creationId xmlns:a16="http://schemas.microsoft.com/office/drawing/2014/main" id="{FEF1333A-EE15-44A9-A828-CF09AE546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9375" y="2499445"/>
              <a:ext cx="844845" cy="499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11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0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源</a:t>
              </a:r>
              <a:r>
                <a:rPr lang="en-US" altLang="zh-CN" sz="10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MAC</a:t>
              </a:r>
              <a:r>
                <a:rPr lang="zh-CN" altLang="en-US" sz="10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地址</a:t>
              </a:r>
              <a:endParaRPr lang="en-US" altLang="zh-CN" sz="10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2" name="TextBox 38">
              <a:extLst>
                <a:ext uri="{FF2B5EF4-FFF2-40B4-BE49-F238E27FC236}">
                  <a16:creationId xmlns:a16="http://schemas.microsoft.com/office/drawing/2014/main" id="{08E44DAB-9311-40AC-BE7B-C0922400D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9321" y="2512105"/>
              <a:ext cx="1377464" cy="439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9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data (payload)</a:t>
              </a:r>
            </a:p>
          </p:txBody>
        </p:sp>
        <p:sp>
          <p:nvSpPr>
            <p:cNvPr id="33" name="TextBox 39">
              <a:extLst>
                <a:ext uri="{FF2B5EF4-FFF2-40B4-BE49-F238E27FC236}">
                  <a16:creationId xmlns:a16="http://schemas.microsoft.com/office/drawing/2014/main" id="{210E6DBE-1395-4ED9-8623-2A9E62D3E0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6930" y="2590015"/>
              <a:ext cx="855607" cy="285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9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CRC</a:t>
              </a:r>
            </a:p>
          </p:txBody>
        </p:sp>
        <p:sp>
          <p:nvSpPr>
            <p:cNvPr id="34" name="TextBox 40">
              <a:extLst>
                <a:ext uri="{FF2B5EF4-FFF2-40B4-BE49-F238E27FC236}">
                  <a16:creationId xmlns:a16="http://schemas.microsoft.com/office/drawing/2014/main" id="{9F5A7684-7EB4-4B12-8A82-FBA07419E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6369" y="2603075"/>
              <a:ext cx="1070172" cy="284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9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前同步码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5" name="Text Box 9">
              <a:extLst>
                <a:ext uri="{FF2B5EF4-FFF2-40B4-BE49-F238E27FC236}">
                  <a16:creationId xmlns:a16="http://schemas.microsoft.com/office/drawing/2014/main" id="{5AEBBBC8-E08C-49E3-AA04-35A522978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7261" y="2060848"/>
              <a:ext cx="7702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类型</a:t>
              </a:r>
              <a:endPara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BD6B6DA4-EF83-4554-AF55-F2B3FA725BB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CA76BD14-E27A-435D-BC5B-2E27C49C2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510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415592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5.4.2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以太网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(1)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以太网帧结构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endParaRPr lang="en-US" altLang="zh-CN" dirty="0">
              <a:solidFill>
                <a:srgbClr val="0066CC"/>
              </a:solidFill>
              <a:effectLst/>
            </a:endParaRPr>
          </a:p>
          <a:p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effectLst/>
              </a:rPr>
              <a:t>类型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: 2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个字节，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标识封装上层协议的类别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，可能是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3"/>
            <a:r>
              <a:rPr lang="en-US" altLang="zh-CN" dirty="0">
                <a:solidFill>
                  <a:srgbClr val="0066CC"/>
                </a:solidFill>
                <a:effectLst/>
              </a:rPr>
              <a:t>IP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数据报</a:t>
            </a:r>
            <a:r>
              <a:rPr lang="zh-CN" altLang="en-US" dirty="0">
                <a:solidFill>
                  <a:srgbClr val="0066CC"/>
                </a:solidFill>
              </a:rPr>
              <a:t>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(0800)hex</a:t>
            </a:r>
          </a:p>
          <a:p>
            <a:pPr lvl="3"/>
            <a:r>
              <a:rPr lang="en-US" altLang="zh-CN" dirty="0">
                <a:solidFill>
                  <a:srgbClr val="0066CC"/>
                </a:solidFill>
              </a:rPr>
              <a:t>APR</a:t>
            </a:r>
            <a:r>
              <a:rPr lang="zh-CN" altLang="en-US" dirty="0">
                <a:solidFill>
                  <a:srgbClr val="0066CC"/>
                </a:solidFill>
              </a:rPr>
              <a:t>数据分组：</a:t>
            </a:r>
            <a:r>
              <a:rPr lang="en-US" altLang="zh-CN" dirty="0">
                <a:solidFill>
                  <a:srgbClr val="0066CC"/>
                </a:solidFill>
              </a:rPr>
              <a:t>(0806)hex</a:t>
            </a:r>
          </a:p>
          <a:p>
            <a:pPr lvl="3"/>
            <a:r>
              <a:rPr lang="zh-CN" altLang="en-US" dirty="0">
                <a:solidFill>
                  <a:srgbClr val="0066CC"/>
                </a:solidFill>
                <a:effectLst/>
              </a:rPr>
              <a:t>其他链路层数据分组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740000"/>
                </a:solidFill>
                <a:effectLst/>
              </a:rPr>
              <a:t>CRC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: 4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字节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(32bit): 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循环冗余检测码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C9283BA-D38D-42BA-A4B0-702013FDB1A6}"/>
              </a:ext>
            </a:extLst>
          </p:cNvPr>
          <p:cNvGrpSpPr/>
          <p:nvPr/>
        </p:nvGrpSpPr>
        <p:grpSpPr>
          <a:xfrm>
            <a:off x="2212776" y="1707654"/>
            <a:ext cx="4718447" cy="745331"/>
            <a:chOff x="1426369" y="2060848"/>
            <a:chExt cx="6291262" cy="993775"/>
          </a:xfrm>
        </p:grpSpPr>
        <p:sp>
          <p:nvSpPr>
            <p:cNvPr id="23" name="Line 10">
              <a:extLst>
                <a:ext uri="{FF2B5EF4-FFF2-40B4-BE49-F238E27FC236}">
                  <a16:creationId xmlns:a16="http://schemas.microsoft.com/office/drawing/2014/main" id="{5A9DB83E-88E4-45CF-B4BF-808EE55C7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701" y="2357981"/>
              <a:ext cx="0" cy="2048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Rectangle 1">
              <a:extLst>
                <a:ext uri="{FF2B5EF4-FFF2-40B4-BE49-F238E27FC236}">
                  <a16:creationId xmlns:a16="http://schemas.microsoft.com/office/drawing/2014/main" id="{E0873CC2-3195-4727-80A7-AC9F62792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619" y="2431072"/>
              <a:ext cx="6255012" cy="548332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5" name="Straight Connector 3">
              <a:extLst>
                <a:ext uri="{FF2B5EF4-FFF2-40B4-BE49-F238E27FC236}">
                  <a16:creationId xmlns:a16="http://schemas.microsoft.com/office/drawing/2014/main" id="{55FAD4A4-9B23-4B86-9200-48B00E12BAD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56656" y="2421210"/>
              <a:ext cx="0" cy="55086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Straight Connector 32">
              <a:extLst>
                <a:ext uri="{FF2B5EF4-FFF2-40B4-BE49-F238E27FC236}">
                  <a16:creationId xmlns:a16="http://schemas.microsoft.com/office/drawing/2014/main" id="{30ABBAF0-45F2-4D25-9AE1-100BAE536E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86906" y="2424385"/>
              <a:ext cx="0" cy="5842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Straight Connector 33">
              <a:extLst>
                <a:ext uri="{FF2B5EF4-FFF2-40B4-BE49-F238E27FC236}">
                  <a16:creationId xmlns:a16="http://schemas.microsoft.com/office/drawing/2014/main" id="{5D9EADD3-46C7-4D43-B308-53E4DD47B1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15569" y="2429148"/>
              <a:ext cx="0" cy="5492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Straight Connector 34">
              <a:extLst>
                <a:ext uri="{FF2B5EF4-FFF2-40B4-BE49-F238E27FC236}">
                  <a16:creationId xmlns:a16="http://schemas.microsoft.com/office/drawing/2014/main" id="{37AFAD38-79DB-40C4-BC78-C9633CFDB5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69569" y="2424385"/>
              <a:ext cx="0" cy="58102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Straight Connector 35">
              <a:extLst>
                <a:ext uri="{FF2B5EF4-FFF2-40B4-BE49-F238E27FC236}">
                  <a16:creationId xmlns:a16="http://schemas.microsoft.com/office/drawing/2014/main" id="{5A8C0AFD-7DAA-426B-A47C-D649B59B68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36481" y="2430735"/>
              <a:ext cx="0" cy="623888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TextBox 5">
              <a:extLst>
                <a:ext uri="{FF2B5EF4-FFF2-40B4-BE49-F238E27FC236}">
                  <a16:creationId xmlns:a16="http://schemas.microsoft.com/office/drawing/2014/main" id="{073ADA69-8CDD-431E-AA38-A01119A0C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050" y="2490856"/>
              <a:ext cx="844845" cy="499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11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目的</a:t>
              </a: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MAC</a:t>
              </a: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址</a:t>
              </a:r>
              <a:endPara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1" name="TextBox 37">
              <a:extLst>
                <a:ext uri="{FF2B5EF4-FFF2-40B4-BE49-F238E27FC236}">
                  <a16:creationId xmlns:a16="http://schemas.microsoft.com/office/drawing/2014/main" id="{FFE72C5D-5EEF-4A29-A3A1-80F80FCF7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9375" y="2499445"/>
              <a:ext cx="844845" cy="499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11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源</a:t>
              </a: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MAC</a:t>
              </a: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地址</a:t>
              </a:r>
              <a:endPara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2" name="TextBox 38">
              <a:extLst>
                <a:ext uri="{FF2B5EF4-FFF2-40B4-BE49-F238E27FC236}">
                  <a16:creationId xmlns:a16="http://schemas.microsoft.com/office/drawing/2014/main" id="{7C7CAE9C-43FE-4448-81E8-BA4F9F4284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9321" y="2512105"/>
              <a:ext cx="1377464" cy="439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9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data (payload)</a:t>
              </a:r>
            </a:p>
          </p:txBody>
        </p:sp>
        <p:sp>
          <p:nvSpPr>
            <p:cNvPr id="33" name="TextBox 39">
              <a:extLst>
                <a:ext uri="{FF2B5EF4-FFF2-40B4-BE49-F238E27FC236}">
                  <a16:creationId xmlns:a16="http://schemas.microsoft.com/office/drawing/2014/main" id="{CA26F347-5026-40BE-9CAA-E06675A40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6930" y="2590015"/>
              <a:ext cx="855607" cy="285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9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CRC</a:t>
              </a:r>
            </a:p>
          </p:txBody>
        </p:sp>
        <p:sp>
          <p:nvSpPr>
            <p:cNvPr id="34" name="TextBox 40">
              <a:extLst>
                <a:ext uri="{FF2B5EF4-FFF2-40B4-BE49-F238E27FC236}">
                  <a16:creationId xmlns:a16="http://schemas.microsoft.com/office/drawing/2014/main" id="{E8492B67-A054-4492-8A28-E0812715C4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6369" y="2603075"/>
              <a:ext cx="1070172" cy="284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9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前同步码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5" name="Text Box 9">
              <a:extLst>
                <a:ext uri="{FF2B5EF4-FFF2-40B4-BE49-F238E27FC236}">
                  <a16:creationId xmlns:a16="http://schemas.microsoft.com/office/drawing/2014/main" id="{5C1BA291-5AF3-4AE8-9E83-C05C0E090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7261" y="2060848"/>
              <a:ext cx="7702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类型</a:t>
              </a:r>
              <a:endPara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2DD62026-66DA-4562-A880-0F541269739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57767A7C-F00D-4CB7-8801-74564C65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394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415592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5.4.2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以太网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(1)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以太网帧结构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e.g.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，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FF0000"/>
              </a:solidFill>
              <a:effectLst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2DD62026-66DA-4562-A880-0F541269739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26</a:t>
            </a:fld>
            <a:endParaRPr lang="en-US" altLang="zh-CN" dirty="0"/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57767A7C-F00D-4CB7-8801-74564C65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36D973A-F7C8-4F90-9444-D922DBE38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425" y="1766133"/>
            <a:ext cx="5580112" cy="311428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1731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BB0822-8547-48D3-90DB-341E0C09E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69" y="1766133"/>
            <a:ext cx="5580112" cy="311428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415592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5.4.2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以太网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(1)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以太网帧结构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e.g.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，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FF0000"/>
              </a:solidFill>
              <a:effectLst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2DD62026-66DA-4562-A880-0F541269739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27</a:t>
            </a:fld>
            <a:endParaRPr lang="en-US" altLang="zh-CN" dirty="0"/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57767A7C-F00D-4CB7-8801-74564C65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247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5.4.2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以太网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r>
              <a:rPr lang="en-US" altLang="zh-CN" dirty="0">
                <a:solidFill>
                  <a:srgbClr val="0066CC"/>
                </a:solidFill>
                <a:effectLst/>
              </a:rPr>
              <a:t>(1)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以太网帧结构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从帧的结构来思考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以太网提供的服务：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effectLst/>
              </a:rPr>
              <a:t>无连接服务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  <a:effectLst/>
              </a:rPr>
              <a:t>发送方和接收方不需要事先握手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effectLst/>
              </a:rPr>
              <a:t>不可靠的通信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  <a:effectLst/>
              </a:rPr>
              <a:t>链路层的接收方不会给发送方确认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问题：帧出错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丢失了怎么办？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尽最大努力交付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碰撞后：二进制指数回退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C3B6D9BD-9A17-4ADE-8683-C02DFFB79C2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28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89173D30-37FF-4FC9-BF71-CFB8ADAF8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700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5.4.2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以太网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r>
              <a:rPr lang="en-US" altLang="zh-CN" dirty="0">
                <a:solidFill>
                  <a:srgbClr val="0066CC"/>
                </a:solidFill>
                <a:effectLst/>
              </a:rPr>
              <a:t>(2)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以太网标准系列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802.3——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相同的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MAC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协议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(CSMA/CD)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和帧结构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不同的物理层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  <a:effectLst/>
              </a:rPr>
              <a:t>不同的传输速度：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2Mbps/10Mbps/100Mbps/1Gbps/10Gbps</a:t>
            </a:r>
          </a:p>
          <a:p>
            <a:pPr lvl="2"/>
            <a:r>
              <a:rPr lang="zh-CN" altLang="en-US" dirty="0">
                <a:solidFill>
                  <a:srgbClr val="0066CC"/>
                </a:solidFill>
                <a:effectLst/>
              </a:rPr>
              <a:t>不同的物理媒体：光纤、同轴电缆、双绞线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835696" y="3267124"/>
            <a:ext cx="5162550" cy="1613298"/>
            <a:chOff x="1668338" y="3943374"/>
            <a:chExt cx="6883400" cy="2151064"/>
          </a:xfrm>
        </p:grpSpPr>
        <p:sp>
          <p:nvSpPr>
            <p:cNvPr id="8" name="Freeform 39"/>
            <p:cNvSpPr>
              <a:spLocks/>
            </p:cNvSpPr>
            <p:nvPr/>
          </p:nvSpPr>
          <p:spPr bwMode="auto">
            <a:xfrm>
              <a:off x="2998663" y="3979887"/>
              <a:ext cx="1393825" cy="1527175"/>
            </a:xfrm>
            <a:custGeom>
              <a:avLst/>
              <a:gdLst>
                <a:gd name="T0" fmla="*/ 2147483646 w 878"/>
                <a:gd name="T1" fmla="*/ 0 h 962"/>
                <a:gd name="T2" fmla="*/ 0 w 878"/>
                <a:gd name="T3" fmla="*/ 2147483646 h 962"/>
                <a:gd name="T4" fmla="*/ 2147483646 w 878"/>
                <a:gd name="T5" fmla="*/ 2147483646 h 962"/>
                <a:gd name="T6" fmla="*/ 2147483646 w 878"/>
                <a:gd name="T7" fmla="*/ 2147483646 h 962"/>
                <a:gd name="T8" fmla="*/ 2147483646 w 878"/>
                <a:gd name="T9" fmla="*/ 0 h 9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8" h="962">
                  <a:moveTo>
                    <a:pt x="851" y="0"/>
                  </a:moveTo>
                  <a:lnTo>
                    <a:pt x="0" y="622"/>
                  </a:lnTo>
                  <a:lnTo>
                    <a:pt x="7" y="962"/>
                  </a:lnTo>
                  <a:lnTo>
                    <a:pt x="878" y="960"/>
                  </a:lnTo>
                  <a:lnTo>
                    <a:pt x="851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9" name="Group 40"/>
            <p:cNvGrpSpPr>
              <a:grpSpLocks/>
            </p:cNvGrpSpPr>
            <p:nvPr/>
          </p:nvGrpSpPr>
          <p:grpSpPr bwMode="auto">
            <a:xfrm>
              <a:off x="1668338" y="4094187"/>
              <a:ext cx="1349376" cy="1508124"/>
              <a:chOff x="899" y="785"/>
              <a:chExt cx="850" cy="950"/>
            </a:xfrm>
          </p:grpSpPr>
          <p:sp>
            <p:nvSpPr>
              <p:cNvPr id="10" name="Rectangle 41"/>
              <p:cNvSpPr>
                <a:spLocks noChangeArrowheads="1"/>
              </p:cNvSpPr>
              <p:nvPr/>
            </p:nvSpPr>
            <p:spPr bwMode="auto">
              <a:xfrm>
                <a:off x="924" y="810"/>
                <a:ext cx="816" cy="86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" name="Text Box 42"/>
              <p:cNvSpPr txBox="1">
                <a:spLocks noChangeArrowheads="1"/>
              </p:cNvSpPr>
              <p:nvPr/>
            </p:nvSpPr>
            <p:spPr bwMode="auto">
              <a:xfrm>
                <a:off x="899" y="785"/>
                <a:ext cx="850" cy="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latin typeface="Arial" panose="020B0604020202020204" pitchFamily="34" charset="0"/>
                  </a:rPr>
                  <a:t>application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latin typeface="Arial" panose="020B0604020202020204" pitchFamily="34" charset="0"/>
                  </a:rPr>
                  <a:t>transport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latin typeface="Arial" panose="020B0604020202020204" pitchFamily="34" charset="0"/>
                  </a:rPr>
                  <a:t>network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latin typeface="Arial" panose="020B0604020202020204" pitchFamily="34" charset="0"/>
                  </a:rPr>
                  <a:t>link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latin typeface="Arial" panose="020B0604020202020204" pitchFamily="34" charset="0"/>
                  </a:rPr>
                  <a:t>physical</a:t>
                </a:r>
              </a:p>
            </p:txBody>
          </p:sp>
          <p:sp>
            <p:nvSpPr>
              <p:cNvPr id="12" name="Line 43"/>
              <p:cNvSpPr>
                <a:spLocks noChangeShapeType="1"/>
              </p:cNvSpPr>
              <p:nvPr/>
            </p:nvSpPr>
            <p:spPr bwMode="auto">
              <a:xfrm>
                <a:off x="924" y="993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" name="Line 44"/>
              <p:cNvSpPr>
                <a:spLocks noChangeShapeType="1"/>
              </p:cNvSpPr>
              <p:nvPr/>
            </p:nvSpPr>
            <p:spPr bwMode="auto">
              <a:xfrm>
                <a:off x="924" y="1167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" name="Line 45"/>
              <p:cNvSpPr>
                <a:spLocks noChangeShapeType="1"/>
              </p:cNvSpPr>
              <p:nvPr/>
            </p:nvSpPr>
            <p:spPr bwMode="auto">
              <a:xfrm>
                <a:off x="921" y="1344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5" name="Line 46"/>
              <p:cNvSpPr>
                <a:spLocks noChangeShapeType="1"/>
              </p:cNvSpPr>
              <p:nvPr/>
            </p:nvSpPr>
            <p:spPr bwMode="auto">
              <a:xfrm>
                <a:off x="926" y="1501"/>
                <a:ext cx="808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6" name="Line 47"/>
              <p:cNvSpPr>
                <a:spLocks noChangeShapeType="1"/>
              </p:cNvSpPr>
              <p:nvPr/>
            </p:nvSpPr>
            <p:spPr bwMode="auto">
              <a:xfrm>
                <a:off x="926" y="1552"/>
                <a:ext cx="0" cy="1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" name="Line 48"/>
              <p:cNvSpPr>
                <a:spLocks noChangeShapeType="1"/>
              </p:cNvSpPr>
              <p:nvPr/>
            </p:nvSpPr>
            <p:spPr bwMode="auto">
              <a:xfrm>
                <a:off x="1739" y="1541"/>
                <a:ext cx="0" cy="1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8" name="Rectangle 49"/>
            <p:cNvSpPr>
              <a:spLocks noChangeArrowheads="1"/>
            </p:cNvSpPr>
            <p:nvPr/>
          </p:nvSpPr>
          <p:spPr bwMode="auto">
            <a:xfrm>
              <a:off x="4355976" y="3943374"/>
              <a:ext cx="4195762" cy="15684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19" name="Line 50"/>
            <p:cNvSpPr>
              <a:spLocks noChangeShapeType="1"/>
            </p:cNvSpPr>
            <p:nvPr/>
          </p:nvSpPr>
          <p:spPr bwMode="auto">
            <a:xfrm flipV="1">
              <a:off x="4370263" y="4608537"/>
              <a:ext cx="4178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" name="Text Box 51"/>
            <p:cNvSpPr txBox="1">
              <a:spLocks noChangeArrowheads="1"/>
            </p:cNvSpPr>
            <p:nvPr/>
          </p:nvSpPr>
          <p:spPr bwMode="auto">
            <a:xfrm>
              <a:off x="5502994" y="3984649"/>
              <a:ext cx="1806479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MAC protocol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and frame format</a:t>
              </a:r>
            </a:p>
          </p:txBody>
        </p:sp>
        <p:sp>
          <p:nvSpPr>
            <p:cNvPr id="21" name="Text Box 52"/>
            <p:cNvSpPr txBox="1">
              <a:spLocks noChangeArrowheads="1"/>
            </p:cNvSpPr>
            <p:nvPr/>
          </p:nvSpPr>
          <p:spPr bwMode="auto">
            <a:xfrm>
              <a:off x="4524251" y="4699025"/>
              <a:ext cx="1314889" cy="3385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latin typeface="Arial" panose="020B0604020202020204" pitchFamily="34" charset="0"/>
                </a:rPr>
                <a:t>100BASE-TX</a:t>
              </a:r>
            </a:p>
          </p:txBody>
        </p:sp>
        <p:sp>
          <p:nvSpPr>
            <p:cNvPr id="22" name="Text Box 53"/>
            <p:cNvSpPr txBox="1">
              <a:spLocks noChangeArrowheads="1"/>
            </p:cNvSpPr>
            <p:nvPr/>
          </p:nvSpPr>
          <p:spPr bwMode="auto">
            <a:xfrm>
              <a:off x="4535363" y="5059387"/>
              <a:ext cx="1295655" cy="3385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latin typeface="Arial" panose="020B0604020202020204" pitchFamily="34" charset="0"/>
                </a:rPr>
                <a:t>100BASE-T4</a:t>
              </a:r>
            </a:p>
          </p:txBody>
        </p:sp>
        <p:sp>
          <p:nvSpPr>
            <p:cNvPr id="23" name="Text Box 54"/>
            <p:cNvSpPr txBox="1">
              <a:spLocks noChangeArrowheads="1"/>
            </p:cNvSpPr>
            <p:nvPr/>
          </p:nvSpPr>
          <p:spPr bwMode="auto">
            <a:xfrm>
              <a:off x="7207126" y="4694262"/>
              <a:ext cx="1314889" cy="3385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latin typeface="Arial" panose="020B0604020202020204" pitchFamily="34" charset="0"/>
                </a:rPr>
                <a:t>100BASE-FX</a:t>
              </a:r>
            </a:p>
          </p:txBody>
        </p:sp>
        <p:sp>
          <p:nvSpPr>
            <p:cNvPr id="24" name="Freeform 55"/>
            <p:cNvSpPr>
              <a:spLocks/>
            </p:cNvSpPr>
            <p:nvPr/>
          </p:nvSpPr>
          <p:spPr bwMode="auto">
            <a:xfrm>
              <a:off x="3012951" y="4589487"/>
              <a:ext cx="1393825" cy="611187"/>
            </a:xfrm>
            <a:custGeom>
              <a:avLst/>
              <a:gdLst>
                <a:gd name="T0" fmla="*/ 0 w 878"/>
                <a:gd name="T1" fmla="*/ 2147483646 h 385"/>
                <a:gd name="T2" fmla="*/ 2147483646 w 878"/>
                <a:gd name="T3" fmla="*/ 0 h 38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78" h="385">
                  <a:moveTo>
                    <a:pt x="0" y="385"/>
                  </a:moveTo>
                  <a:lnTo>
                    <a:pt x="878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" name="Text Box 56"/>
            <p:cNvSpPr txBox="1">
              <a:spLocks noChangeArrowheads="1"/>
            </p:cNvSpPr>
            <p:nvPr/>
          </p:nvSpPr>
          <p:spPr bwMode="auto">
            <a:xfrm>
              <a:off x="5867277" y="4692674"/>
              <a:ext cx="1295655" cy="3385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latin typeface="Arial" panose="020B0604020202020204" pitchFamily="34" charset="0"/>
                </a:rPr>
                <a:t>100BASE-T2</a:t>
              </a:r>
            </a:p>
          </p:txBody>
        </p:sp>
        <p:sp>
          <p:nvSpPr>
            <p:cNvPr id="26" name="Text Box 57"/>
            <p:cNvSpPr txBox="1">
              <a:spLocks noChangeArrowheads="1"/>
            </p:cNvSpPr>
            <p:nvPr/>
          </p:nvSpPr>
          <p:spPr bwMode="auto">
            <a:xfrm>
              <a:off x="5849813" y="5053037"/>
              <a:ext cx="1325577" cy="3385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latin typeface="Arial" panose="020B0604020202020204" pitchFamily="34" charset="0"/>
                </a:rPr>
                <a:t>100BASE-SX</a:t>
              </a:r>
            </a:p>
          </p:txBody>
        </p:sp>
        <p:sp>
          <p:nvSpPr>
            <p:cNvPr id="27" name="Text Box 58"/>
            <p:cNvSpPr txBox="1">
              <a:spLocks noChangeArrowheads="1"/>
            </p:cNvSpPr>
            <p:nvPr/>
          </p:nvSpPr>
          <p:spPr bwMode="auto">
            <a:xfrm>
              <a:off x="7213477" y="5048274"/>
              <a:ext cx="1325577" cy="3385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latin typeface="Arial" panose="020B0604020202020204" pitchFamily="34" charset="0"/>
                </a:rPr>
                <a:t>100BASE-BX</a:t>
              </a:r>
            </a:p>
          </p:txBody>
        </p:sp>
        <p:grpSp>
          <p:nvGrpSpPr>
            <p:cNvPr id="28" name="Group 67"/>
            <p:cNvGrpSpPr>
              <a:grpSpLocks/>
            </p:cNvGrpSpPr>
            <p:nvPr/>
          </p:nvGrpSpPr>
          <p:grpSpPr bwMode="auto">
            <a:xfrm>
              <a:off x="5806952" y="4648225"/>
              <a:ext cx="2713038" cy="1446213"/>
              <a:chOff x="3579" y="2988"/>
              <a:chExt cx="1709" cy="911"/>
            </a:xfrm>
          </p:grpSpPr>
          <p:sp>
            <p:nvSpPr>
              <p:cNvPr id="29" name="Freeform 59"/>
              <p:cNvSpPr>
                <a:spLocks/>
              </p:cNvSpPr>
              <p:nvPr/>
            </p:nvSpPr>
            <p:spPr bwMode="auto">
              <a:xfrm>
                <a:off x="3579" y="2988"/>
                <a:ext cx="1709" cy="489"/>
              </a:xfrm>
              <a:custGeom>
                <a:avLst/>
                <a:gdLst>
                  <a:gd name="T0" fmla="*/ 842 w 1709"/>
                  <a:gd name="T1" fmla="*/ 0 h 489"/>
                  <a:gd name="T2" fmla="*/ 843 w 1709"/>
                  <a:gd name="T3" fmla="*/ 239 h 489"/>
                  <a:gd name="T4" fmla="*/ 5 w 1709"/>
                  <a:gd name="T5" fmla="*/ 239 h 489"/>
                  <a:gd name="T6" fmla="*/ 0 w 1709"/>
                  <a:gd name="T7" fmla="*/ 489 h 489"/>
                  <a:gd name="T8" fmla="*/ 1709 w 1709"/>
                  <a:gd name="T9" fmla="*/ 489 h 489"/>
                  <a:gd name="T10" fmla="*/ 1704 w 1709"/>
                  <a:gd name="T11" fmla="*/ 0 h 489"/>
                  <a:gd name="T12" fmla="*/ 842 w 1709"/>
                  <a:gd name="T13" fmla="*/ 0 h 48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09" h="489">
                    <a:moveTo>
                      <a:pt x="842" y="0"/>
                    </a:moveTo>
                    <a:lnTo>
                      <a:pt x="843" y="239"/>
                    </a:lnTo>
                    <a:lnTo>
                      <a:pt x="5" y="239"/>
                    </a:lnTo>
                    <a:lnTo>
                      <a:pt x="0" y="489"/>
                    </a:lnTo>
                    <a:lnTo>
                      <a:pt x="1709" y="489"/>
                    </a:lnTo>
                    <a:cubicBezTo>
                      <a:pt x="1707" y="330"/>
                      <a:pt x="1706" y="159"/>
                      <a:pt x="1704" y="0"/>
                    </a:cubicBezTo>
                    <a:lnTo>
                      <a:pt x="842" y="0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0" name="Line 60"/>
              <p:cNvSpPr>
                <a:spLocks noChangeShapeType="1"/>
              </p:cNvSpPr>
              <p:nvPr/>
            </p:nvSpPr>
            <p:spPr bwMode="auto">
              <a:xfrm>
                <a:off x="4410" y="3494"/>
                <a:ext cx="227" cy="29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1" name="Text Box 61"/>
              <p:cNvSpPr txBox="1">
                <a:spLocks noChangeArrowheads="1"/>
              </p:cNvSpPr>
              <p:nvPr/>
            </p:nvSpPr>
            <p:spPr bwMode="auto">
              <a:xfrm>
                <a:off x="4606" y="3647"/>
                <a:ext cx="44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350" dirty="0">
                    <a:solidFill>
                      <a:srgbClr val="CC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光纤</a:t>
                </a:r>
                <a:endParaRPr lang="en-US" altLang="zh-CN" sz="135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2" name="Group 66"/>
            <p:cNvGrpSpPr>
              <a:grpSpLocks/>
            </p:cNvGrpSpPr>
            <p:nvPr/>
          </p:nvGrpSpPr>
          <p:grpSpPr bwMode="auto">
            <a:xfrm>
              <a:off x="3266951" y="4638699"/>
              <a:ext cx="3851276" cy="1455738"/>
              <a:chOff x="1979" y="2982"/>
              <a:chExt cx="2426" cy="917"/>
            </a:xfrm>
          </p:grpSpPr>
          <p:sp>
            <p:nvSpPr>
              <p:cNvPr id="33" name="Freeform 62"/>
              <p:cNvSpPr>
                <a:spLocks/>
              </p:cNvSpPr>
              <p:nvPr/>
            </p:nvSpPr>
            <p:spPr bwMode="auto">
              <a:xfrm>
                <a:off x="2741" y="2982"/>
                <a:ext cx="1664" cy="495"/>
              </a:xfrm>
              <a:custGeom>
                <a:avLst/>
                <a:gdLst>
                  <a:gd name="T0" fmla="*/ 1664 w 1664"/>
                  <a:gd name="T1" fmla="*/ 0 h 495"/>
                  <a:gd name="T2" fmla="*/ 1652 w 1664"/>
                  <a:gd name="T3" fmla="*/ 233 h 495"/>
                  <a:gd name="T4" fmla="*/ 820 w 1664"/>
                  <a:gd name="T5" fmla="*/ 233 h 495"/>
                  <a:gd name="T6" fmla="*/ 814 w 1664"/>
                  <a:gd name="T7" fmla="*/ 495 h 495"/>
                  <a:gd name="T8" fmla="*/ 0 w 1664"/>
                  <a:gd name="T9" fmla="*/ 495 h 495"/>
                  <a:gd name="T10" fmla="*/ 0 w 1664"/>
                  <a:gd name="T11" fmla="*/ 0 h 495"/>
                  <a:gd name="T12" fmla="*/ 1664 w 1664"/>
                  <a:gd name="T13" fmla="*/ 0 h 49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64" h="495">
                    <a:moveTo>
                      <a:pt x="1664" y="0"/>
                    </a:moveTo>
                    <a:lnTo>
                      <a:pt x="1652" y="233"/>
                    </a:lnTo>
                    <a:lnTo>
                      <a:pt x="820" y="233"/>
                    </a:lnTo>
                    <a:lnTo>
                      <a:pt x="814" y="495"/>
                    </a:lnTo>
                    <a:lnTo>
                      <a:pt x="0" y="495"/>
                    </a:lnTo>
                    <a:lnTo>
                      <a:pt x="0" y="0"/>
                    </a:lnTo>
                    <a:lnTo>
                      <a:pt x="1664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4" name="Line 63"/>
              <p:cNvSpPr>
                <a:spLocks noChangeShapeType="1"/>
              </p:cNvSpPr>
              <p:nvPr/>
            </p:nvSpPr>
            <p:spPr bwMode="auto">
              <a:xfrm flipH="1">
                <a:off x="2929" y="3503"/>
                <a:ext cx="227" cy="291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5" name="Text Box 65"/>
              <p:cNvSpPr txBox="1">
                <a:spLocks noChangeArrowheads="1"/>
              </p:cNvSpPr>
              <p:nvPr/>
            </p:nvSpPr>
            <p:spPr bwMode="auto">
              <a:xfrm>
                <a:off x="1979" y="3647"/>
                <a:ext cx="97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350" dirty="0">
                    <a:solidFill>
                      <a:srgbClr val="00009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铜媒</a:t>
                </a:r>
                <a:r>
                  <a:rPr lang="en-US" altLang="zh-CN" sz="1350" dirty="0">
                    <a:solidFill>
                      <a:srgbClr val="00009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zh-CN" altLang="en-US" sz="1350" dirty="0">
                    <a:solidFill>
                      <a:srgbClr val="00009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双绞线</a:t>
                </a:r>
                <a:r>
                  <a:rPr lang="en-US" altLang="zh-CN" sz="1350" dirty="0">
                    <a:solidFill>
                      <a:srgbClr val="00009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p:grpSp>
      </p:grp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3D8B2336-3C04-4F18-8C5B-94278E90343A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29</a:t>
            </a:fld>
            <a:endParaRPr lang="en-US" altLang="zh-CN" dirty="0"/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82BDFD58-E327-445C-A660-8B8FFEA3C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687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699792" y="1703711"/>
            <a:ext cx="4320479" cy="158417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5.4.1 </a:t>
            </a:r>
            <a:r>
              <a:rPr lang="zh-CN" altLang="en-US" dirty="0">
                <a:effectLst/>
              </a:rPr>
              <a:t>链路层寻址和地址解析协议</a:t>
            </a:r>
            <a:endParaRPr lang="en-US" altLang="zh-CN" dirty="0">
              <a:effectLst/>
            </a:endParaRPr>
          </a:p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5.4.2 </a:t>
            </a:r>
            <a:r>
              <a:rPr lang="zh-CN" altLang="en-US" dirty="0">
                <a:effectLst/>
              </a:rPr>
              <a:t>以太网</a:t>
            </a:r>
            <a:endParaRPr lang="en-US" altLang="zh-CN" dirty="0">
              <a:effectLst/>
            </a:endParaRPr>
          </a:p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FF0000"/>
                </a:solidFill>
                <a:effectLst/>
              </a:rPr>
              <a:t>5.4.3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链路层交换机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5.4.4 </a:t>
            </a:r>
            <a:r>
              <a:rPr lang="zh-CN" altLang="en-US" dirty="0">
                <a:effectLst/>
              </a:rPr>
              <a:t>虚拟局域网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DF7558-5E1A-49CB-B7BD-3CE20640B3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635646"/>
            <a:ext cx="1668571" cy="1491630"/>
          </a:xfrm>
          <a:prstGeom prst="rect">
            <a:avLst/>
          </a:prstGeom>
        </p:spPr>
      </p:pic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C12D9F14-847F-47A5-8786-8F77963803E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30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3EEB8F2-9873-416E-8732-71916374B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143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5.4.3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链路层交换机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以太网的拓扑结构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总线结构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: 1990s</a:t>
            </a: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所有的结点都在一个碰撞域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和其他结点都可能碰撞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)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星型结构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当今主流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通过交换机进行</a:t>
            </a:r>
            <a:r>
              <a:rPr lang="zh-CN" altLang="en-US" dirty="0">
                <a:solidFill>
                  <a:srgbClr val="0066CC"/>
                </a:solidFill>
              </a:rPr>
              <a:t>局域网连接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碰撞域隔离：结点不相互碰撞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67283" y="3088193"/>
            <a:ext cx="1635323" cy="1790098"/>
            <a:chOff x="1264445" y="3962400"/>
            <a:chExt cx="2180430" cy="2386796"/>
          </a:xfrm>
        </p:grpSpPr>
        <p:sp>
          <p:nvSpPr>
            <p:cNvPr id="25" name="Text Box 41"/>
            <p:cNvSpPr txBox="1">
              <a:spLocks noChangeArrowheads="1"/>
            </p:cNvSpPr>
            <p:nvPr/>
          </p:nvSpPr>
          <p:spPr bwMode="auto">
            <a:xfrm>
              <a:off x="1264445" y="5949087"/>
              <a:ext cx="1669687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bus: </a:t>
              </a:r>
              <a:r>
                <a:rPr lang="zh-CN" altLang="en-US" sz="135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同轴电缆</a:t>
              </a:r>
              <a:endParaRPr lang="en-US" altLang="zh-CN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1279525" y="3962400"/>
              <a:ext cx="2165350" cy="1708150"/>
              <a:chOff x="1279525" y="3962400"/>
              <a:chExt cx="2165350" cy="1708150"/>
            </a:xfrm>
          </p:grpSpPr>
          <p:sp>
            <p:nvSpPr>
              <p:cNvPr id="18" name="Line 32"/>
              <p:cNvSpPr>
                <a:spLocks noChangeShapeType="1"/>
              </p:cNvSpPr>
              <p:nvPr/>
            </p:nvSpPr>
            <p:spPr bwMode="auto">
              <a:xfrm flipH="1">
                <a:off x="2160588" y="4102100"/>
                <a:ext cx="752475" cy="14684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9" name="Line 33"/>
              <p:cNvSpPr>
                <a:spLocks noChangeShapeType="1"/>
              </p:cNvSpPr>
              <p:nvPr/>
            </p:nvSpPr>
            <p:spPr bwMode="auto">
              <a:xfrm>
                <a:off x="2132013" y="4879975"/>
                <a:ext cx="392112" cy="15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" name="Line 34"/>
              <p:cNvSpPr>
                <a:spLocks noChangeShapeType="1"/>
              </p:cNvSpPr>
              <p:nvPr/>
            </p:nvSpPr>
            <p:spPr bwMode="auto">
              <a:xfrm>
                <a:off x="1914525" y="5434013"/>
                <a:ext cx="3079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" name="Line 35"/>
              <p:cNvSpPr>
                <a:spLocks noChangeShapeType="1"/>
              </p:cNvSpPr>
              <p:nvPr/>
            </p:nvSpPr>
            <p:spPr bwMode="auto">
              <a:xfrm flipV="1">
                <a:off x="2632075" y="4648200"/>
                <a:ext cx="287338" cy="14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" name="Line 37"/>
              <p:cNvSpPr>
                <a:spLocks noChangeShapeType="1"/>
              </p:cNvSpPr>
              <p:nvPr/>
            </p:nvSpPr>
            <p:spPr bwMode="auto">
              <a:xfrm>
                <a:off x="2424113" y="4275138"/>
                <a:ext cx="392112" cy="15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3" name="Line 38"/>
              <p:cNvSpPr>
                <a:spLocks noChangeShapeType="1"/>
              </p:cNvSpPr>
              <p:nvPr/>
            </p:nvSpPr>
            <p:spPr bwMode="auto">
              <a:xfrm>
                <a:off x="2424113" y="4275138"/>
                <a:ext cx="392112" cy="15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" name="Line 39"/>
              <p:cNvSpPr>
                <a:spLocks noChangeShapeType="1"/>
              </p:cNvSpPr>
              <p:nvPr/>
            </p:nvSpPr>
            <p:spPr bwMode="auto">
              <a:xfrm>
                <a:off x="2314575" y="5324475"/>
                <a:ext cx="3079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27" name="Group 37"/>
              <p:cNvGrpSpPr>
                <a:grpSpLocks/>
              </p:cNvGrpSpPr>
              <p:nvPr/>
            </p:nvGrpSpPr>
            <p:grpSpPr bwMode="auto">
              <a:xfrm>
                <a:off x="2733675" y="4398963"/>
                <a:ext cx="711200" cy="601662"/>
                <a:chOff x="7179310" y="4033520"/>
                <a:chExt cx="1009650" cy="855028"/>
              </a:xfrm>
            </p:grpSpPr>
            <p:grpSp>
              <p:nvGrpSpPr>
                <p:cNvPr id="28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30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1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29" name="Rectangle 43"/>
                <p:cNvSpPr>
                  <a:spLocks noChangeArrowheads="1"/>
                </p:cNvSpPr>
                <p:nvPr/>
              </p:nvSpPr>
              <p:spPr bwMode="auto">
                <a:xfrm rot="-5400000">
                  <a:off x="7438418" y="4308853"/>
                  <a:ext cx="128593" cy="196071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defRPr/>
                  </a:pPr>
                  <a:endParaRPr lang="zh-CN" altLang="zh-CN" sz="1350"/>
                </a:p>
              </p:txBody>
            </p:sp>
          </p:grpSp>
          <p:grpSp>
            <p:nvGrpSpPr>
              <p:cNvPr id="32" name="Group 42"/>
              <p:cNvGrpSpPr>
                <a:grpSpLocks/>
              </p:cNvGrpSpPr>
              <p:nvPr/>
            </p:nvGrpSpPr>
            <p:grpSpPr bwMode="auto">
              <a:xfrm>
                <a:off x="1757363" y="3962400"/>
                <a:ext cx="701675" cy="517525"/>
                <a:chOff x="1046480" y="3962400"/>
                <a:chExt cx="1026163" cy="761428"/>
              </a:xfrm>
            </p:grpSpPr>
            <p:sp>
              <p:nvSpPr>
                <p:cNvPr id="33" name="Rectangle 48"/>
                <p:cNvSpPr>
                  <a:spLocks noChangeArrowheads="1"/>
                </p:cNvSpPr>
                <p:nvPr/>
              </p:nvSpPr>
              <p:spPr bwMode="auto">
                <a:xfrm rot="-5400000">
                  <a:off x="1893547" y="4299487"/>
                  <a:ext cx="109777" cy="24841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defRPr/>
                  </a:pPr>
                  <a:endParaRPr lang="zh-CN" altLang="zh-CN" sz="1350"/>
                </a:p>
              </p:txBody>
            </p:sp>
            <p:grpSp>
              <p:nvGrpSpPr>
                <p:cNvPr id="34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35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6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350"/>
                  </a:p>
                </p:txBody>
              </p:sp>
            </p:grpSp>
          </p:grpSp>
          <p:grpSp>
            <p:nvGrpSpPr>
              <p:cNvPr id="37" name="Group 47"/>
              <p:cNvGrpSpPr>
                <a:grpSpLocks/>
              </p:cNvGrpSpPr>
              <p:nvPr/>
            </p:nvGrpSpPr>
            <p:grpSpPr bwMode="auto">
              <a:xfrm>
                <a:off x="1473200" y="4551363"/>
                <a:ext cx="701675" cy="517525"/>
                <a:chOff x="1046480" y="3962400"/>
                <a:chExt cx="1026163" cy="761428"/>
              </a:xfrm>
            </p:grpSpPr>
            <p:sp>
              <p:nvSpPr>
                <p:cNvPr id="38" name="Rectangle 48"/>
                <p:cNvSpPr>
                  <a:spLocks noChangeArrowheads="1"/>
                </p:cNvSpPr>
                <p:nvPr/>
              </p:nvSpPr>
              <p:spPr bwMode="auto">
                <a:xfrm rot="-5400000">
                  <a:off x="1893548" y="4299487"/>
                  <a:ext cx="109776" cy="248414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defRPr/>
                  </a:pPr>
                  <a:endParaRPr lang="zh-CN" altLang="zh-CN" sz="1350"/>
                </a:p>
              </p:txBody>
            </p:sp>
            <p:grpSp>
              <p:nvGrpSpPr>
                <p:cNvPr id="39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40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1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350"/>
                  </a:p>
                </p:txBody>
              </p:sp>
            </p:grpSp>
          </p:grpSp>
          <p:grpSp>
            <p:nvGrpSpPr>
              <p:cNvPr id="42" name="Group 52"/>
              <p:cNvGrpSpPr>
                <a:grpSpLocks/>
              </p:cNvGrpSpPr>
              <p:nvPr/>
            </p:nvGrpSpPr>
            <p:grpSpPr bwMode="auto">
              <a:xfrm>
                <a:off x="1279525" y="5110163"/>
                <a:ext cx="701675" cy="517525"/>
                <a:chOff x="1046480" y="3962400"/>
                <a:chExt cx="1026163" cy="761428"/>
              </a:xfrm>
            </p:grpSpPr>
            <p:sp>
              <p:nvSpPr>
                <p:cNvPr id="43" name="Rectangle 53"/>
                <p:cNvSpPr>
                  <a:spLocks noChangeArrowheads="1"/>
                </p:cNvSpPr>
                <p:nvPr/>
              </p:nvSpPr>
              <p:spPr bwMode="auto">
                <a:xfrm rot="-5400000">
                  <a:off x="1893548" y="4299487"/>
                  <a:ext cx="109776" cy="248414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defRPr/>
                  </a:pPr>
                  <a:endParaRPr lang="zh-CN" altLang="zh-CN" sz="1350"/>
                </a:p>
              </p:txBody>
            </p:sp>
            <p:grpSp>
              <p:nvGrpSpPr>
                <p:cNvPr id="44" name="Group 54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45" name="Picture 5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6" name="Freeform 5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350"/>
                  </a:p>
                </p:txBody>
              </p:sp>
            </p:grpSp>
          </p:grpSp>
          <p:grpSp>
            <p:nvGrpSpPr>
              <p:cNvPr id="47" name="Group 57"/>
              <p:cNvGrpSpPr>
                <a:grpSpLocks/>
              </p:cNvGrpSpPr>
              <p:nvPr/>
            </p:nvGrpSpPr>
            <p:grpSpPr bwMode="auto">
              <a:xfrm>
                <a:off x="2447925" y="5070475"/>
                <a:ext cx="711200" cy="600075"/>
                <a:chOff x="7179310" y="4033520"/>
                <a:chExt cx="1009650" cy="855028"/>
              </a:xfrm>
            </p:grpSpPr>
            <p:grpSp>
              <p:nvGrpSpPr>
                <p:cNvPr id="48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50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1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49" name="Rectangle 43"/>
                <p:cNvSpPr>
                  <a:spLocks noChangeArrowheads="1"/>
                </p:cNvSpPr>
                <p:nvPr/>
              </p:nvSpPr>
              <p:spPr bwMode="auto">
                <a:xfrm rot="-5400000">
                  <a:off x="7439379" y="4308711"/>
                  <a:ext cx="126671" cy="196071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defRPr/>
                  </a:pPr>
                  <a:endParaRPr lang="zh-CN" altLang="zh-CN" sz="1350"/>
                </a:p>
              </p:txBody>
            </p:sp>
          </p:grpSp>
        </p:grpSp>
      </p:grpSp>
      <p:grpSp>
        <p:nvGrpSpPr>
          <p:cNvPr id="8" name="组合 7"/>
          <p:cNvGrpSpPr/>
          <p:nvPr/>
        </p:nvGrpSpPr>
        <p:grpSpPr>
          <a:xfrm>
            <a:off x="5760664" y="2843813"/>
            <a:ext cx="2987279" cy="1979749"/>
            <a:chOff x="4419600" y="3784600"/>
            <a:chExt cx="3983038" cy="2639665"/>
          </a:xfrm>
        </p:grpSpPr>
        <p:sp>
          <p:nvSpPr>
            <p:cNvPr id="12" name="Line 17"/>
            <p:cNvSpPr>
              <a:spLocks noChangeShapeType="1"/>
            </p:cNvSpPr>
            <p:nvPr/>
          </p:nvSpPr>
          <p:spPr bwMode="auto">
            <a:xfrm>
              <a:off x="5316538" y="5110163"/>
              <a:ext cx="974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3" name="Line 18"/>
            <p:cNvSpPr>
              <a:spLocks noChangeShapeType="1"/>
            </p:cNvSpPr>
            <p:nvPr/>
          </p:nvSpPr>
          <p:spPr bwMode="auto">
            <a:xfrm>
              <a:off x="6556375" y="4518025"/>
              <a:ext cx="0" cy="504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4" name="Line 19"/>
            <p:cNvSpPr>
              <a:spLocks noChangeShapeType="1"/>
            </p:cNvSpPr>
            <p:nvPr/>
          </p:nvSpPr>
          <p:spPr bwMode="auto">
            <a:xfrm flipH="1">
              <a:off x="6746875" y="5126038"/>
              <a:ext cx="1003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5" name="Line 20"/>
            <p:cNvSpPr>
              <a:spLocks noChangeShapeType="1"/>
            </p:cNvSpPr>
            <p:nvPr/>
          </p:nvSpPr>
          <p:spPr bwMode="auto">
            <a:xfrm flipV="1">
              <a:off x="6556375" y="5251450"/>
              <a:ext cx="12700" cy="709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6" name="Text Box 23"/>
            <p:cNvSpPr txBox="1">
              <a:spLocks noChangeArrowheads="1"/>
            </p:cNvSpPr>
            <p:nvPr/>
          </p:nvSpPr>
          <p:spPr bwMode="auto">
            <a:xfrm>
              <a:off x="5464174" y="5486400"/>
              <a:ext cx="8617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交换机</a:t>
              </a:r>
              <a:endParaRPr lang="en-US" altLang="zh-CN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7" name="Line 24"/>
            <p:cNvSpPr>
              <a:spLocks noChangeShapeType="1"/>
            </p:cNvSpPr>
            <p:nvPr/>
          </p:nvSpPr>
          <p:spPr bwMode="auto">
            <a:xfrm flipV="1">
              <a:off x="5834063" y="5275263"/>
              <a:ext cx="417512" cy="239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26" name="Text Box 42"/>
            <p:cNvSpPr txBox="1">
              <a:spLocks noChangeArrowheads="1"/>
            </p:cNvSpPr>
            <p:nvPr/>
          </p:nvSpPr>
          <p:spPr bwMode="auto">
            <a:xfrm>
              <a:off x="4636581" y="5922724"/>
              <a:ext cx="1438856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star</a:t>
              </a:r>
              <a:r>
                <a:rPr lang="zh-CN" altLang="en-US" sz="135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：双绞线</a:t>
              </a:r>
              <a:endParaRPr lang="en-US" altLang="zh-CN" sz="135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2" name="Group 62"/>
            <p:cNvGrpSpPr>
              <a:grpSpLocks/>
            </p:cNvGrpSpPr>
            <p:nvPr/>
          </p:nvGrpSpPr>
          <p:grpSpPr bwMode="auto">
            <a:xfrm>
              <a:off x="4419600" y="4687888"/>
              <a:ext cx="914400" cy="690562"/>
              <a:chOff x="1046480" y="3962400"/>
              <a:chExt cx="1026163" cy="761428"/>
            </a:xfrm>
          </p:grpSpPr>
          <p:sp>
            <p:nvSpPr>
              <p:cNvPr id="53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689" y="4299817"/>
                <a:ext cx="110275" cy="24763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/>
              </a:p>
            </p:txBody>
          </p:sp>
          <p:grpSp>
            <p:nvGrpSpPr>
              <p:cNvPr id="54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55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</p:grpSp>
        <p:grpSp>
          <p:nvGrpSpPr>
            <p:cNvPr id="57" name="Group 67"/>
            <p:cNvGrpSpPr>
              <a:grpSpLocks/>
            </p:cNvGrpSpPr>
            <p:nvPr/>
          </p:nvGrpSpPr>
          <p:grpSpPr bwMode="auto">
            <a:xfrm>
              <a:off x="7548563" y="4779963"/>
              <a:ext cx="854075" cy="741362"/>
              <a:chOff x="7179310" y="4033520"/>
              <a:chExt cx="1009650" cy="855028"/>
            </a:xfrm>
          </p:grpSpPr>
          <p:grpSp>
            <p:nvGrpSpPr>
              <p:cNvPr id="58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60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1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59" name="Rectangle 43"/>
              <p:cNvSpPr>
                <a:spLocks noChangeArrowheads="1"/>
              </p:cNvSpPr>
              <p:nvPr/>
            </p:nvSpPr>
            <p:spPr bwMode="auto">
              <a:xfrm rot="-5400000">
                <a:off x="7438954" y="4308497"/>
                <a:ext cx="128163" cy="1970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/>
              </a:p>
            </p:txBody>
          </p:sp>
        </p:grpSp>
        <p:sp>
          <p:nvSpPr>
            <p:cNvPr id="62" name="Rectangle 43"/>
            <p:cNvSpPr>
              <a:spLocks noChangeArrowheads="1"/>
            </p:cNvSpPr>
            <p:nvPr/>
          </p:nvSpPr>
          <p:spPr bwMode="auto">
            <a:xfrm>
              <a:off x="6497638" y="4351338"/>
              <a:ext cx="109537" cy="165100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/>
            </a:p>
          </p:txBody>
        </p:sp>
        <p:grpSp>
          <p:nvGrpSpPr>
            <p:cNvPr id="63" name="Group 44"/>
            <p:cNvGrpSpPr>
              <a:grpSpLocks/>
            </p:cNvGrpSpPr>
            <p:nvPr/>
          </p:nvGrpSpPr>
          <p:grpSpPr bwMode="auto">
            <a:xfrm>
              <a:off x="6116638" y="3784600"/>
              <a:ext cx="852487" cy="741363"/>
              <a:chOff x="-44" y="1473"/>
              <a:chExt cx="981" cy="1105"/>
            </a:xfrm>
          </p:grpSpPr>
          <p:pic>
            <p:nvPicPr>
              <p:cNvPr id="6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66" name="Group 1"/>
            <p:cNvGrpSpPr>
              <a:grpSpLocks/>
            </p:cNvGrpSpPr>
            <p:nvPr/>
          </p:nvGrpSpPr>
          <p:grpSpPr bwMode="auto">
            <a:xfrm>
              <a:off x="5943600" y="5589240"/>
              <a:ext cx="854075" cy="835025"/>
              <a:chOff x="8077200" y="3320111"/>
              <a:chExt cx="853440" cy="835329"/>
            </a:xfrm>
          </p:grpSpPr>
          <p:sp>
            <p:nvSpPr>
              <p:cNvPr id="67" name="Rectangle 43"/>
              <p:cNvSpPr>
                <a:spLocks noChangeArrowheads="1"/>
              </p:cNvSpPr>
              <p:nvPr/>
            </p:nvSpPr>
            <p:spPr bwMode="auto">
              <a:xfrm>
                <a:off x="8630826" y="3320111"/>
                <a:ext cx="111042" cy="16516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/>
              </a:p>
            </p:txBody>
          </p:sp>
          <p:grpSp>
            <p:nvGrpSpPr>
              <p:cNvPr id="68" name="Group 44"/>
              <p:cNvGrpSpPr>
                <a:grpSpLocks/>
              </p:cNvGrpSpPr>
              <p:nvPr/>
            </p:nvGrpSpPr>
            <p:grpSpPr bwMode="auto"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id="69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0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</p:grpSp>
        <p:pic>
          <p:nvPicPr>
            <p:cNvPr id="71" name="Picture 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6338" y="4962525"/>
              <a:ext cx="603250" cy="341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2" name="灯片编号占位符 2">
            <a:extLst>
              <a:ext uri="{FF2B5EF4-FFF2-40B4-BE49-F238E27FC236}">
                <a16:creationId xmlns:a16="http://schemas.microsoft.com/office/drawing/2014/main" id="{38DA8D24-BC52-4383-8036-34AB1CE7BB8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31</a:t>
            </a:fld>
            <a:endParaRPr lang="en-US" altLang="zh-CN" dirty="0"/>
          </a:p>
        </p:txBody>
      </p:sp>
      <p:sp>
        <p:nvSpPr>
          <p:cNvPr id="73" name="AutoShape 5">
            <a:extLst>
              <a:ext uri="{FF2B5EF4-FFF2-40B4-BE49-F238E27FC236}">
                <a16:creationId xmlns:a16="http://schemas.microsoft.com/office/drawing/2014/main" id="{B207A175-FB39-49A3-ACCB-C1D488D7E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9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3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5.4.3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链路层交换机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工作在链路层的网络设备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作用：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存储、转发以太网帧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检测帧的目标</a:t>
            </a:r>
            <a:r>
              <a:rPr lang="en-US" altLang="zh-CN" dirty="0">
                <a:solidFill>
                  <a:srgbClr val="0066CC"/>
                </a:solidFill>
              </a:rPr>
              <a:t>MAC</a:t>
            </a:r>
            <a:r>
              <a:rPr lang="zh-CN" altLang="en-US" dirty="0">
                <a:solidFill>
                  <a:srgbClr val="0066CC"/>
                </a:solidFill>
              </a:rPr>
              <a:t>地址，选择性地发送到</a:t>
            </a:r>
            <a:r>
              <a:rPr lang="en-US" altLang="zh-CN" dirty="0">
                <a:solidFill>
                  <a:srgbClr val="0066CC"/>
                </a:solidFill>
              </a:rPr>
              <a:t>1</a:t>
            </a:r>
            <a:r>
              <a:rPr lang="zh-CN" altLang="en-US" dirty="0">
                <a:solidFill>
                  <a:srgbClr val="0066CC"/>
                </a:solidFill>
              </a:rPr>
              <a:t>个或多个输出链路</a:t>
            </a: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透明的：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主机观测不到交换机的存在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交换机的接口没有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MAC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地址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)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即插即用、自学习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交换机不需要配置</a:t>
            </a: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C076A41-361F-482F-AAD2-8239412EB2F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32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41B3CB44-23B7-4554-8329-EFF69EEF2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498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5.4.3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链路层交换机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交换</a:t>
            </a:r>
            <a:r>
              <a:rPr lang="zh-CN" altLang="en-US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(Switch)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的含义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A-A’ </a:t>
            </a:r>
            <a:r>
              <a:rPr lang="zh-CN" altLang="en-US" dirty="0">
                <a:solidFill>
                  <a:srgbClr val="0066CC"/>
                </a:solidFill>
              </a:rPr>
              <a:t>和 </a:t>
            </a:r>
            <a:r>
              <a:rPr lang="en-US" altLang="zh-CN" dirty="0">
                <a:solidFill>
                  <a:srgbClr val="0066CC"/>
                </a:solidFill>
              </a:rPr>
              <a:t>B-B’</a:t>
            </a:r>
            <a:r>
              <a:rPr lang="zh-CN" altLang="en-US" dirty="0">
                <a:solidFill>
                  <a:srgbClr val="0066CC"/>
                </a:solidFill>
              </a:rPr>
              <a:t>可以并行传输，不会碰撞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如何进行转发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?</a:t>
            </a: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转发表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&lt;</a:t>
            </a:r>
            <a:r>
              <a:rPr lang="en-US" altLang="zh-CN" dirty="0" err="1">
                <a:solidFill>
                  <a:srgbClr val="0066CC"/>
                </a:solidFill>
                <a:effectLst/>
              </a:rPr>
              <a:t>interface</a:t>
            </a:r>
            <a:r>
              <a:rPr lang="en-US" altLang="zh-CN" baseline="-25000" dirty="0" err="1">
                <a:solidFill>
                  <a:srgbClr val="0066CC"/>
                </a:solidFill>
                <a:effectLst/>
              </a:rPr>
              <a:t>m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, </a:t>
            </a:r>
            <a:r>
              <a:rPr lang="en-US" altLang="zh-CN" dirty="0" err="1">
                <a:solidFill>
                  <a:srgbClr val="0066CC"/>
                </a:solidFill>
                <a:effectLst/>
              </a:rPr>
              <a:t>MAC</a:t>
            </a:r>
            <a:r>
              <a:rPr lang="en-US" altLang="zh-CN" baseline="-25000" dirty="0" err="1">
                <a:solidFill>
                  <a:srgbClr val="0066CC"/>
                </a:solidFill>
                <a:effectLst/>
              </a:rPr>
              <a:t>x</a:t>
            </a:r>
            <a:r>
              <a:rPr lang="en-US" altLang="zh-CN" dirty="0">
                <a:solidFill>
                  <a:srgbClr val="0066CC"/>
                </a:solidFill>
              </a:rPr>
              <a:t> , TTL&gt;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如何生成转发表？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FF0000"/>
                </a:solidFill>
                <a:effectLst/>
              </a:rPr>
              <a:t>自学习</a:t>
            </a:r>
          </a:p>
        </p:txBody>
      </p:sp>
      <p:grpSp>
        <p:nvGrpSpPr>
          <p:cNvPr id="8" name="Group 1"/>
          <p:cNvGrpSpPr>
            <a:grpSpLocks/>
          </p:cNvGrpSpPr>
          <p:nvPr/>
        </p:nvGrpSpPr>
        <p:grpSpPr bwMode="auto">
          <a:xfrm>
            <a:off x="5354811" y="1069181"/>
            <a:ext cx="2745581" cy="3235554"/>
            <a:chOff x="5106576" y="1425893"/>
            <a:chExt cx="3661504" cy="4313971"/>
          </a:xfrm>
        </p:grpSpPr>
        <p:sp>
          <p:nvSpPr>
            <p:cNvPr id="9" name="Text Box 34"/>
            <p:cNvSpPr txBox="1">
              <a:spLocks noChangeArrowheads="1"/>
            </p:cNvSpPr>
            <p:nvPr/>
          </p:nvSpPr>
          <p:spPr bwMode="auto">
            <a:xfrm>
              <a:off x="5796092" y="5062772"/>
              <a:ext cx="2773107" cy="677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Arial" panose="020B0604020202020204" pitchFamily="34" charset="0"/>
                  <a:cs typeface="Arial" panose="020B0604020202020204" pitchFamily="34" charset="0"/>
                </a:rPr>
                <a:t>switch with six interfaces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1,2,3,4,5,6</a:t>
              </a:r>
              <a:r>
                <a:rPr lang="en-US" altLang="zh-CN" sz="1350">
                  <a:latin typeface="Arial" panose="020B0604020202020204" pitchFamily="34" charset="0"/>
                  <a:cs typeface="Arial" panose="020B0604020202020204" pitchFamily="34" charset="0"/>
                </a:rPr>
                <a:t>)  </a:t>
              </a:r>
            </a:p>
          </p:txBody>
        </p:sp>
        <p:grpSp>
          <p:nvGrpSpPr>
            <p:cNvPr id="10" name="Group 34"/>
            <p:cNvGrpSpPr>
              <a:grpSpLocks/>
            </p:cNvGrpSpPr>
            <p:nvPr/>
          </p:nvGrpSpPr>
          <p:grpSpPr bwMode="auto">
            <a:xfrm>
              <a:off x="5106576" y="1425893"/>
              <a:ext cx="3661504" cy="3630588"/>
              <a:chOff x="731524" y="1819788"/>
              <a:chExt cx="3661504" cy="3630588"/>
            </a:xfrm>
          </p:grpSpPr>
          <p:sp>
            <p:nvSpPr>
              <p:cNvPr id="11" name="Text Box 23"/>
              <p:cNvSpPr txBox="1">
                <a:spLocks noChangeArrowheads="1"/>
              </p:cNvSpPr>
              <p:nvPr/>
            </p:nvSpPr>
            <p:spPr bwMode="auto">
              <a:xfrm>
                <a:off x="2655957" y="1819788"/>
                <a:ext cx="400189" cy="400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2" name="Text Box 24"/>
              <p:cNvSpPr txBox="1">
                <a:spLocks noChangeArrowheads="1"/>
              </p:cNvSpPr>
              <p:nvPr/>
            </p:nvSpPr>
            <p:spPr bwMode="auto">
              <a:xfrm>
                <a:off x="2371737" y="5050276"/>
                <a:ext cx="515628" cy="400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ja-JP" altLang="en-US" sz="1350">
                    <a:latin typeface="Arial" panose="020B0604020202020204" pitchFamily="34" charset="0"/>
                    <a:cs typeface="Arial" panose="020B0604020202020204" pitchFamily="34" charset="0"/>
                  </a:rPr>
                  <a:t>’</a:t>
                </a:r>
                <a:endParaRPr lang="en-US" altLang="zh-CN" sz="135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Text Box 25"/>
              <p:cNvSpPr txBox="1">
                <a:spLocks noChangeArrowheads="1"/>
              </p:cNvSpPr>
              <p:nvPr/>
            </p:nvSpPr>
            <p:spPr bwMode="auto">
              <a:xfrm>
                <a:off x="3988134" y="2419849"/>
                <a:ext cx="400189" cy="400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14" name="Text Box 26"/>
              <p:cNvSpPr txBox="1">
                <a:spLocks noChangeArrowheads="1"/>
              </p:cNvSpPr>
              <p:nvPr/>
            </p:nvSpPr>
            <p:spPr bwMode="auto">
              <a:xfrm>
                <a:off x="995101" y="4188283"/>
                <a:ext cx="515628" cy="400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ja-JP" altLang="en-US" sz="1350">
                    <a:latin typeface="Arial" panose="020B0604020202020204" pitchFamily="34" charset="0"/>
                    <a:cs typeface="Arial" panose="020B0604020202020204" pitchFamily="34" charset="0"/>
                  </a:rPr>
                  <a:t>’</a:t>
                </a:r>
                <a:endParaRPr lang="en-US" altLang="zh-CN" sz="135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Text Box 27"/>
              <p:cNvSpPr txBox="1">
                <a:spLocks noChangeArrowheads="1"/>
              </p:cNvSpPr>
              <p:nvPr/>
            </p:nvSpPr>
            <p:spPr bwMode="auto">
              <a:xfrm>
                <a:off x="3740435" y="4188283"/>
                <a:ext cx="413016" cy="400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6" name="Text Box 28"/>
              <p:cNvSpPr txBox="1">
                <a:spLocks noChangeArrowheads="1"/>
              </p:cNvSpPr>
              <p:nvPr/>
            </p:nvSpPr>
            <p:spPr bwMode="auto">
              <a:xfrm>
                <a:off x="1123714" y="2465886"/>
                <a:ext cx="528455" cy="400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ja-JP" altLang="en-US" sz="1350">
                    <a:latin typeface="Arial" panose="020B0604020202020204" pitchFamily="34" charset="0"/>
                    <a:cs typeface="Arial" panose="020B0604020202020204" pitchFamily="34" charset="0"/>
                  </a:rPr>
                  <a:t>’</a:t>
                </a:r>
                <a:endParaRPr lang="en-US" altLang="zh-CN" sz="135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Line 17"/>
              <p:cNvSpPr>
                <a:spLocks noChangeShapeType="1"/>
              </p:cNvSpPr>
              <p:nvPr/>
            </p:nvSpPr>
            <p:spPr bwMode="auto">
              <a:xfrm>
                <a:off x="1687389" y="3165957"/>
                <a:ext cx="720869" cy="298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8" name="Line 18"/>
              <p:cNvSpPr>
                <a:spLocks noChangeShapeType="1"/>
              </p:cNvSpPr>
              <p:nvPr/>
            </p:nvSpPr>
            <p:spPr bwMode="auto">
              <a:xfrm>
                <a:off x="2673423" y="2872277"/>
                <a:ext cx="0" cy="504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9" name="Line 19"/>
              <p:cNvSpPr>
                <a:spLocks noChangeShapeType="1"/>
              </p:cNvSpPr>
              <p:nvPr/>
            </p:nvSpPr>
            <p:spPr bwMode="auto">
              <a:xfrm flipH="1">
                <a:off x="2863961" y="2996099"/>
                <a:ext cx="892353" cy="484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0" name="Line 20"/>
              <p:cNvSpPr>
                <a:spLocks noChangeShapeType="1"/>
              </p:cNvSpPr>
              <p:nvPr/>
            </p:nvSpPr>
            <p:spPr bwMode="auto">
              <a:xfrm flipV="1">
                <a:off x="2673423" y="3605685"/>
                <a:ext cx="12703" cy="7095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grpSp>
            <p:nvGrpSpPr>
              <p:cNvPr id="21" name="Group 45"/>
              <p:cNvGrpSpPr>
                <a:grpSpLocks/>
              </p:cNvGrpSpPr>
              <p:nvPr/>
            </p:nvGrpSpPr>
            <p:grpSpPr bwMode="auto">
              <a:xfrm>
                <a:off x="747936" y="2733042"/>
                <a:ext cx="914403" cy="690308"/>
                <a:chOff x="1046480" y="3962400"/>
                <a:chExt cx="1026163" cy="761428"/>
              </a:xfrm>
            </p:grpSpPr>
            <p:sp>
              <p:nvSpPr>
                <p:cNvPr id="55" name="Rectangle 48"/>
                <p:cNvSpPr>
                  <a:spLocks noChangeArrowheads="1"/>
                </p:cNvSpPr>
                <p:nvPr/>
              </p:nvSpPr>
              <p:spPr bwMode="auto">
                <a:xfrm rot="-5400000">
                  <a:off x="1893247" y="4299441"/>
                  <a:ext cx="110313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defRPr/>
                  </a:pPr>
                  <a:endParaRPr lang="zh-CN" altLang="zh-CN" sz="135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6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57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8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350"/>
                  </a:p>
                </p:txBody>
              </p:sp>
            </p:grpSp>
          </p:grpSp>
          <p:grpSp>
            <p:nvGrpSpPr>
              <p:cNvPr id="22" name="Group 46"/>
              <p:cNvGrpSpPr>
                <a:grpSpLocks/>
              </p:cNvGrpSpPr>
              <p:nvPr/>
            </p:nvGrpSpPr>
            <p:grpSpPr bwMode="auto">
              <a:xfrm>
                <a:off x="3539588" y="2669737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51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53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4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52" name="Rectangle 43"/>
                <p:cNvSpPr>
                  <a:spLocks noChangeArrowheads="1"/>
                </p:cNvSpPr>
                <p:nvPr/>
              </p:nvSpPr>
              <p:spPr bwMode="auto">
                <a:xfrm rot="-5400000">
                  <a:off x="7440190" y="4309334"/>
                  <a:ext cx="126274" cy="19535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defRPr/>
                  </a:pPr>
                  <a:endParaRPr lang="zh-CN" altLang="zh-CN" sz="135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3" name="Rectangle 43"/>
              <p:cNvSpPr>
                <a:spLocks noChangeArrowheads="1"/>
              </p:cNvSpPr>
              <p:nvPr/>
            </p:nvSpPr>
            <p:spPr bwMode="auto">
              <a:xfrm>
                <a:off x="2614674" y="2705593"/>
                <a:ext cx="109559" cy="16509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4" name="Group 44"/>
              <p:cNvGrpSpPr>
                <a:grpSpLocks/>
              </p:cNvGrpSpPr>
              <p:nvPr/>
            </p:nvGrpSpPr>
            <p:grpSpPr bwMode="auto">
              <a:xfrm>
                <a:off x="2233637" y="2138292"/>
                <a:ext cx="853440" cy="741680"/>
                <a:chOff x="-44" y="1473"/>
                <a:chExt cx="981" cy="1105"/>
              </a:xfrm>
            </p:grpSpPr>
            <p:pic>
              <p:nvPicPr>
                <p:cNvPr id="49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0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25" name="Group 49"/>
              <p:cNvGrpSpPr>
                <a:grpSpLocks/>
              </p:cNvGrpSpPr>
              <p:nvPr/>
            </p:nvGrpSpPr>
            <p:grpSpPr bwMode="auto">
              <a:xfrm>
                <a:off x="2060917" y="4279843"/>
                <a:ext cx="853440" cy="835329"/>
                <a:chOff x="8077200" y="3320111"/>
                <a:chExt cx="853440" cy="835329"/>
              </a:xfrm>
            </p:grpSpPr>
            <p:sp>
              <p:nvSpPr>
                <p:cNvPr id="45" name="Rectangle 43"/>
                <p:cNvSpPr>
                  <a:spLocks noChangeArrowheads="1"/>
                </p:cNvSpPr>
                <p:nvPr/>
              </p:nvSpPr>
              <p:spPr bwMode="auto">
                <a:xfrm>
                  <a:off x="8630957" y="3320624"/>
                  <a:ext cx="111147" cy="16509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defRPr/>
                  </a:pPr>
                  <a:endParaRPr lang="zh-CN" altLang="zh-CN" sz="135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46" name="Group 44"/>
                <p:cNvGrpSpPr>
                  <a:grpSpLocks/>
                </p:cNvGrpSpPr>
                <p:nvPr/>
              </p:nvGrpSpPr>
              <p:grpSpPr bwMode="auto">
                <a:xfrm>
                  <a:off x="8077200" y="3413760"/>
                  <a:ext cx="853440" cy="741680"/>
                  <a:chOff x="-44" y="1473"/>
                  <a:chExt cx="981" cy="1105"/>
                </a:xfrm>
              </p:grpSpPr>
              <p:pic>
                <p:nvPicPr>
                  <p:cNvPr id="47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8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350"/>
                  </a:p>
                </p:txBody>
              </p:sp>
            </p:grpSp>
          </p:grpSp>
          <p:pic>
            <p:nvPicPr>
              <p:cNvPr id="26" name="Picture 3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4913" y="3316766"/>
                <a:ext cx="603370" cy="341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7" name="Group 51"/>
              <p:cNvGrpSpPr>
                <a:grpSpLocks/>
              </p:cNvGrpSpPr>
              <p:nvPr/>
            </p:nvGrpSpPr>
            <p:grpSpPr bwMode="auto">
              <a:xfrm>
                <a:off x="731524" y="3616962"/>
                <a:ext cx="914403" cy="690308"/>
                <a:chOff x="1046480" y="3962400"/>
                <a:chExt cx="1026163" cy="761428"/>
              </a:xfrm>
            </p:grpSpPr>
            <p:sp>
              <p:nvSpPr>
                <p:cNvPr id="41" name="Rectangle 48"/>
                <p:cNvSpPr>
                  <a:spLocks noChangeArrowheads="1"/>
                </p:cNvSpPr>
                <p:nvPr/>
              </p:nvSpPr>
              <p:spPr bwMode="auto">
                <a:xfrm rot="-5400000">
                  <a:off x="1893846" y="4299769"/>
                  <a:ext cx="110314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defRPr/>
                  </a:pPr>
                  <a:endParaRPr lang="zh-CN" altLang="zh-CN" sz="135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42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43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4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350"/>
                  </a:p>
                </p:txBody>
              </p:sp>
            </p:grpSp>
          </p:grpSp>
          <p:grpSp>
            <p:nvGrpSpPr>
              <p:cNvPr id="28" name="Group 52"/>
              <p:cNvGrpSpPr>
                <a:grpSpLocks/>
              </p:cNvGrpSpPr>
              <p:nvPr/>
            </p:nvGrpSpPr>
            <p:grpSpPr bwMode="auto">
              <a:xfrm>
                <a:off x="3410634" y="3567725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37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39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0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38" name="Rectangle 43"/>
                <p:cNvSpPr>
                  <a:spLocks noChangeArrowheads="1"/>
                </p:cNvSpPr>
                <p:nvPr/>
              </p:nvSpPr>
              <p:spPr bwMode="auto">
                <a:xfrm rot="-5400000">
                  <a:off x="7438739" y="4308075"/>
                  <a:ext cx="128105" cy="19723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defRPr/>
                  </a:pPr>
                  <a:endParaRPr lang="zh-CN" altLang="zh-CN" sz="135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9" name="Line 17"/>
              <p:cNvSpPr>
                <a:spLocks noChangeShapeType="1"/>
              </p:cNvSpPr>
              <p:nvPr/>
            </p:nvSpPr>
            <p:spPr bwMode="auto">
              <a:xfrm flipV="1">
                <a:off x="1660396" y="3600922"/>
                <a:ext cx="744686" cy="4508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0" name="Line 19"/>
              <p:cNvSpPr>
                <a:spLocks noChangeShapeType="1"/>
              </p:cNvSpPr>
              <p:nvPr/>
            </p:nvSpPr>
            <p:spPr bwMode="auto">
              <a:xfrm flipH="1" flipV="1">
                <a:off x="2968756" y="3545361"/>
                <a:ext cx="646242" cy="338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1" name="Text Box 35"/>
              <p:cNvSpPr txBox="1">
                <a:spLocks noChangeArrowheads="1"/>
              </p:cNvSpPr>
              <p:nvPr/>
            </p:nvSpPr>
            <p:spPr bwMode="auto">
              <a:xfrm>
                <a:off x="2401907" y="3026260"/>
                <a:ext cx="374536" cy="400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32" name="Text Box 36"/>
              <p:cNvSpPr txBox="1">
                <a:spLocks noChangeArrowheads="1"/>
              </p:cNvSpPr>
              <p:nvPr/>
            </p:nvSpPr>
            <p:spPr bwMode="auto">
              <a:xfrm>
                <a:off x="2903657" y="3051660"/>
                <a:ext cx="374536" cy="400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33" name="Text Box 37"/>
              <p:cNvSpPr txBox="1">
                <a:spLocks noChangeArrowheads="1"/>
              </p:cNvSpPr>
              <p:nvPr/>
            </p:nvSpPr>
            <p:spPr bwMode="auto">
              <a:xfrm>
                <a:off x="3125952" y="3710457"/>
                <a:ext cx="374536" cy="400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34" name="Text Box 38"/>
              <p:cNvSpPr txBox="1">
                <a:spLocks noChangeArrowheads="1"/>
              </p:cNvSpPr>
              <p:nvPr/>
            </p:nvSpPr>
            <p:spPr bwMode="auto">
              <a:xfrm>
                <a:off x="2640079" y="3654896"/>
                <a:ext cx="374536" cy="400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35" name="Text Box 39"/>
              <p:cNvSpPr txBox="1">
                <a:spLocks noChangeArrowheads="1"/>
              </p:cNvSpPr>
              <p:nvPr/>
            </p:nvSpPr>
            <p:spPr bwMode="auto">
              <a:xfrm>
                <a:off x="2070052" y="3704108"/>
                <a:ext cx="374536" cy="400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36" name="Text Box 40"/>
              <p:cNvSpPr txBox="1">
                <a:spLocks noChangeArrowheads="1"/>
              </p:cNvSpPr>
              <p:nvPr/>
            </p:nvSpPr>
            <p:spPr bwMode="auto">
              <a:xfrm>
                <a:off x="2039885" y="3080234"/>
                <a:ext cx="319152" cy="400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</p:grpSp>
      <p:sp>
        <p:nvSpPr>
          <p:cNvPr id="59" name="灯片编号占位符 2">
            <a:extLst>
              <a:ext uri="{FF2B5EF4-FFF2-40B4-BE49-F238E27FC236}">
                <a16:creationId xmlns:a16="http://schemas.microsoft.com/office/drawing/2014/main" id="{7692E64F-F7B2-424A-9D1C-2CFAE93A249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33</a:t>
            </a:fld>
            <a:endParaRPr lang="en-US" altLang="zh-CN" dirty="0"/>
          </a:p>
        </p:txBody>
      </p:sp>
      <p:sp>
        <p:nvSpPr>
          <p:cNvPr id="60" name="AutoShape 5">
            <a:extLst>
              <a:ext uri="{FF2B5EF4-FFF2-40B4-BE49-F238E27FC236}">
                <a16:creationId xmlns:a16="http://schemas.microsoft.com/office/drawing/2014/main" id="{F80E583C-DF4B-458F-B97E-19695F3AD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81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0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5.4.3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链路层交换机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交换机的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自学习机制</a:t>
            </a:r>
          </a:p>
        </p:txBody>
      </p:sp>
      <p:grpSp>
        <p:nvGrpSpPr>
          <p:cNvPr id="8" name="Group 36"/>
          <p:cNvGrpSpPr>
            <a:grpSpLocks/>
          </p:cNvGrpSpPr>
          <p:nvPr/>
        </p:nvGrpSpPr>
        <p:grpSpPr bwMode="auto">
          <a:xfrm>
            <a:off x="4352879" y="1577616"/>
            <a:ext cx="2745581" cy="2723004"/>
            <a:chOff x="731524" y="1819788"/>
            <a:chExt cx="3661504" cy="3630555"/>
          </a:xfrm>
        </p:grpSpPr>
        <p:sp>
          <p:nvSpPr>
            <p:cNvPr id="9" name="Text Box 23"/>
            <p:cNvSpPr txBox="1">
              <a:spLocks noChangeArrowheads="1"/>
            </p:cNvSpPr>
            <p:nvPr/>
          </p:nvSpPr>
          <p:spPr bwMode="auto">
            <a:xfrm>
              <a:off x="2655957" y="1819788"/>
              <a:ext cx="408740" cy="400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0" name="Text Box 24"/>
            <p:cNvSpPr txBox="1">
              <a:spLocks noChangeArrowheads="1"/>
            </p:cNvSpPr>
            <p:nvPr/>
          </p:nvSpPr>
          <p:spPr bwMode="auto">
            <a:xfrm>
              <a:off x="2371737" y="5050247"/>
              <a:ext cx="639618" cy="400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</a:t>
              </a:r>
              <a:r>
                <a:rPr lang="ja-JP" altLang="en-US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’</a:t>
              </a:r>
              <a:endParaRPr lang="en-US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" name="Text Box 25"/>
            <p:cNvSpPr txBox="1">
              <a:spLocks noChangeArrowheads="1"/>
            </p:cNvSpPr>
            <p:nvPr/>
          </p:nvSpPr>
          <p:spPr bwMode="auto">
            <a:xfrm>
              <a:off x="3988134" y="2419845"/>
              <a:ext cx="400189" cy="400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2" name="Text Box 26"/>
            <p:cNvSpPr txBox="1">
              <a:spLocks noChangeArrowheads="1"/>
            </p:cNvSpPr>
            <p:nvPr/>
          </p:nvSpPr>
          <p:spPr bwMode="auto">
            <a:xfrm>
              <a:off x="995101" y="4188262"/>
              <a:ext cx="622516" cy="400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B</a:t>
              </a:r>
              <a:r>
                <a:rPr lang="ja-JP" altLang="en-US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’</a:t>
              </a:r>
              <a:endParaRPr lang="en-US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3" name="Text Box 27"/>
            <p:cNvSpPr txBox="1">
              <a:spLocks noChangeArrowheads="1"/>
            </p:cNvSpPr>
            <p:nvPr/>
          </p:nvSpPr>
          <p:spPr bwMode="auto">
            <a:xfrm>
              <a:off x="3740435" y="4188262"/>
              <a:ext cx="413016" cy="400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4" name="Text Box 28"/>
            <p:cNvSpPr txBox="1">
              <a:spLocks noChangeArrowheads="1"/>
            </p:cNvSpPr>
            <p:nvPr/>
          </p:nvSpPr>
          <p:spPr bwMode="auto">
            <a:xfrm>
              <a:off x="1123714" y="2465881"/>
              <a:ext cx="631067" cy="400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C</a:t>
              </a:r>
              <a:r>
                <a:rPr lang="ja-JP" altLang="en-US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’</a:t>
              </a:r>
              <a:endParaRPr lang="en-US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5" name="Line 17"/>
            <p:cNvSpPr>
              <a:spLocks noChangeShapeType="1"/>
            </p:cNvSpPr>
            <p:nvPr/>
          </p:nvSpPr>
          <p:spPr bwMode="auto">
            <a:xfrm>
              <a:off x="1687389" y="3165945"/>
              <a:ext cx="720869" cy="298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8"/>
            <p:cNvSpPr>
              <a:spLocks noChangeShapeType="1"/>
            </p:cNvSpPr>
            <p:nvPr/>
          </p:nvSpPr>
          <p:spPr bwMode="auto">
            <a:xfrm>
              <a:off x="2673423" y="2872267"/>
              <a:ext cx="0" cy="5048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9"/>
            <p:cNvSpPr>
              <a:spLocks noChangeShapeType="1"/>
            </p:cNvSpPr>
            <p:nvPr/>
          </p:nvSpPr>
          <p:spPr bwMode="auto">
            <a:xfrm flipH="1">
              <a:off x="2863961" y="2996088"/>
              <a:ext cx="892353" cy="484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20"/>
            <p:cNvSpPr>
              <a:spLocks noChangeShapeType="1"/>
            </p:cNvSpPr>
            <p:nvPr/>
          </p:nvSpPr>
          <p:spPr bwMode="auto">
            <a:xfrm flipV="1">
              <a:off x="2673423" y="3605668"/>
              <a:ext cx="12703" cy="709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Group 47"/>
            <p:cNvGrpSpPr>
              <a:grpSpLocks/>
            </p:cNvGrpSpPr>
            <p:nvPr/>
          </p:nvGrpSpPr>
          <p:grpSpPr bwMode="auto">
            <a:xfrm>
              <a:off x="747936" y="2733042"/>
              <a:ext cx="914403" cy="690308"/>
              <a:chOff x="1046480" y="3962400"/>
              <a:chExt cx="1026163" cy="761428"/>
            </a:xfrm>
          </p:grpSpPr>
          <p:sp>
            <p:nvSpPr>
              <p:cNvPr id="53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248" y="4299428"/>
                <a:ext cx="110312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54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55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0" name="Group 48"/>
            <p:cNvGrpSpPr>
              <a:grpSpLocks/>
            </p:cNvGrpSpPr>
            <p:nvPr/>
          </p:nvGrpSpPr>
          <p:grpSpPr bwMode="auto"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49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51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2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0" name="Rectangle 43"/>
              <p:cNvSpPr>
                <a:spLocks noChangeArrowheads="1"/>
              </p:cNvSpPr>
              <p:nvPr/>
            </p:nvSpPr>
            <p:spPr bwMode="auto">
              <a:xfrm rot="-5400000">
                <a:off x="7440190" y="4309323"/>
                <a:ext cx="126273" cy="19535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" name="Rectangle 43"/>
            <p:cNvSpPr>
              <a:spLocks noChangeArrowheads="1"/>
            </p:cNvSpPr>
            <p:nvPr/>
          </p:nvSpPr>
          <p:spPr bwMode="auto">
            <a:xfrm>
              <a:off x="2614674" y="2705584"/>
              <a:ext cx="109559" cy="16509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22" name="Group 44"/>
            <p:cNvGrpSpPr>
              <a:grpSpLocks/>
            </p:cNvGrpSpPr>
            <p:nvPr/>
          </p:nvGrpSpPr>
          <p:grpSpPr bwMode="auto"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id="4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" name="Group 51"/>
            <p:cNvGrpSpPr>
              <a:grpSpLocks/>
            </p:cNvGrpSpPr>
            <p:nvPr/>
          </p:nvGrpSpPr>
          <p:grpSpPr bwMode="auto">
            <a:xfrm>
              <a:off x="2060917" y="4279843"/>
              <a:ext cx="853440" cy="835329"/>
              <a:chOff x="8077200" y="3320111"/>
              <a:chExt cx="853440" cy="835329"/>
            </a:xfrm>
          </p:grpSpPr>
          <p:sp>
            <p:nvSpPr>
              <p:cNvPr id="43" name="Rectangle 43"/>
              <p:cNvSpPr>
                <a:spLocks noChangeArrowheads="1"/>
              </p:cNvSpPr>
              <p:nvPr/>
            </p:nvSpPr>
            <p:spPr bwMode="auto">
              <a:xfrm>
                <a:off x="8630957" y="3320602"/>
                <a:ext cx="111147" cy="165095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44" name="Group 44"/>
              <p:cNvGrpSpPr>
                <a:grpSpLocks/>
              </p:cNvGrpSpPr>
              <p:nvPr/>
            </p:nvGrpSpPr>
            <p:grpSpPr bwMode="auto"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id="4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6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pic>
          <p:nvPicPr>
            <p:cNvPr id="24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5" name="Group 53"/>
            <p:cNvGrpSpPr>
              <a:grpSpLocks/>
            </p:cNvGrpSpPr>
            <p:nvPr/>
          </p:nvGrpSpPr>
          <p:grpSpPr bwMode="auto">
            <a:xfrm>
              <a:off x="731524" y="3616962"/>
              <a:ext cx="914403" cy="690308"/>
              <a:chOff x="1046480" y="3962400"/>
              <a:chExt cx="1026163" cy="761428"/>
            </a:xfrm>
          </p:grpSpPr>
          <p:sp>
            <p:nvSpPr>
              <p:cNvPr id="39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846" y="4299747"/>
                <a:ext cx="110313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40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41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2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6" name="Group 54"/>
            <p:cNvGrpSpPr>
              <a:grpSpLocks/>
            </p:cNvGrpSpPr>
            <p:nvPr/>
          </p:nvGrpSpPr>
          <p:grpSpPr bwMode="auto"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35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37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8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6" name="Rectangle 43"/>
              <p:cNvSpPr>
                <a:spLocks noChangeArrowheads="1"/>
              </p:cNvSpPr>
              <p:nvPr/>
            </p:nvSpPr>
            <p:spPr bwMode="auto">
              <a:xfrm rot="-5400000">
                <a:off x="7438739" y="4308053"/>
                <a:ext cx="128104" cy="197237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" name="Line 17"/>
            <p:cNvSpPr>
              <a:spLocks noChangeShapeType="1"/>
            </p:cNvSpPr>
            <p:nvPr/>
          </p:nvSpPr>
          <p:spPr bwMode="auto">
            <a:xfrm flipV="1">
              <a:off x="1660396" y="3600906"/>
              <a:ext cx="744686" cy="4508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19"/>
            <p:cNvSpPr>
              <a:spLocks noChangeShapeType="1"/>
            </p:cNvSpPr>
            <p:nvPr/>
          </p:nvSpPr>
          <p:spPr bwMode="auto">
            <a:xfrm flipH="1" flipV="1">
              <a:off x="2968756" y="3545345"/>
              <a:ext cx="646242" cy="33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Box 35"/>
            <p:cNvSpPr txBox="1">
              <a:spLocks noChangeArrowheads="1"/>
            </p:cNvSpPr>
            <p:nvPr/>
          </p:nvSpPr>
          <p:spPr bwMode="auto">
            <a:xfrm>
              <a:off x="2401907" y="3026249"/>
              <a:ext cx="380951" cy="400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0" name="Text Box 36"/>
            <p:cNvSpPr txBox="1">
              <a:spLocks noChangeArrowheads="1"/>
            </p:cNvSpPr>
            <p:nvPr/>
          </p:nvSpPr>
          <p:spPr bwMode="auto">
            <a:xfrm>
              <a:off x="2903657" y="3051648"/>
              <a:ext cx="380951" cy="400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1" name="Text Box 37"/>
            <p:cNvSpPr txBox="1">
              <a:spLocks noChangeArrowheads="1"/>
            </p:cNvSpPr>
            <p:nvPr/>
          </p:nvSpPr>
          <p:spPr bwMode="auto">
            <a:xfrm>
              <a:off x="3125952" y="3710440"/>
              <a:ext cx="380951" cy="400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2" name="Text Box 38"/>
            <p:cNvSpPr txBox="1">
              <a:spLocks noChangeArrowheads="1"/>
            </p:cNvSpPr>
            <p:nvPr/>
          </p:nvSpPr>
          <p:spPr bwMode="auto">
            <a:xfrm>
              <a:off x="2640079" y="3654880"/>
              <a:ext cx="380951" cy="400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3" name="Text Box 39"/>
            <p:cNvSpPr txBox="1">
              <a:spLocks noChangeArrowheads="1"/>
            </p:cNvSpPr>
            <p:nvPr/>
          </p:nvSpPr>
          <p:spPr bwMode="auto">
            <a:xfrm>
              <a:off x="2070052" y="3704090"/>
              <a:ext cx="380951" cy="400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4" name="Text Box 40"/>
            <p:cNvSpPr txBox="1">
              <a:spLocks noChangeArrowheads="1"/>
            </p:cNvSpPr>
            <p:nvPr/>
          </p:nvSpPr>
          <p:spPr bwMode="auto">
            <a:xfrm>
              <a:off x="2039885" y="3080222"/>
              <a:ext cx="319152" cy="400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6</a:t>
              </a:r>
            </a:p>
          </p:txBody>
        </p:sp>
      </p:grpSp>
      <p:grpSp>
        <p:nvGrpSpPr>
          <p:cNvPr id="57" name="Group 32"/>
          <p:cNvGrpSpPr>
            <a:grpSpLocks/>
          </p:cNvGrpSpPr>
          <p:nvPr/>
        </p:nvGrpSpPr>
        <p:grpSpPr bwMode="auto">
          <a:xfrm>
            <a:off x="6094763" y="1583573"/>
            <a:ext cx="1071563" cy="300037"/>
            <a:chOff x="1750" y="3514"/>
            <a:chExt cx="900" cy="252"/>
          </a:xfrm>
        </p:grpSpPr>
        <p:sp>
          <p:nvSpPr>
            <p:cNvPr id="58" name="Rectangle 33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9" name="Text Box 34"/>
            <p:cNvSpPr txBox="1">
              <a:spLocks noChangeArrowheads="1"/>
            </p:cNvSpPr>
            <p:nvPr/>
          </p:nvSpPr>
          <p:spPr bwMode="auto">
            <a:xfrm>
              <a:off x="1750" y="3514"/>
              <a:ext cx="5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 A</a:t>
              </a:r>
              <a:r>
                <a:rPr lang="ja-JP" altLang="en-US" sz="135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’</a:t>
              </a:r>
              <a:endPara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0" name="Line 35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36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Group 37"/>
          <p:cNvGrpSpPr>
            <a:grpSpLocks/>
          </p:cNvGrpSpPr>
          <p:nvPr/>
        </p:nvGrpSpPr>
        <p:grpSpPr bwMode="auto">
          <a:xfrm>
            <a:off x="6256691" y="1059694"/>
            <a:ext cx="1163242" cy="535781"/>
            <a:chOff x="4406" y="331"/>
            <a:chExt cx="977" cy="450"/>
          </a:xfrm>
        </p:grpSpPr>
        <p:sp>
          <p:nvSpPr>
            <p:cNvPr id="63" name="Line 38"/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39"/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Text Box 40"/>
            <p:cNvSpPr txBox="1">
              <a:spLocks noChangeArrowheads="1"/>
            </p:cNvSpPr>
            <p:nvPr/>
          </p:nvSpPr>
          <p:spPr bwMode="auto">
            <a:xfrm>
              <a:off x="4643" y="331"/>
              <a:ext cx="73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Source: A</a:t>
              </a:r>
            </a:p>
          </p:txBody>
        </p:sp>
        <p:sp>
          <p:nvSpPr>
            <p:cNvPr id="66" name="Text Box 41"/>
            <p:cNvSpPr txBox="1">
              <a:spLocks noChangeArrowheads="1"/>
            </p:cNvSpPr>
            <p:nvPr/>
          </p:nvSpPr>
          <p:spPr bwMode="auto">
            <a:xfrm>
              <a:off x="4660" y="492"/>
              <a:ext cx="72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Dest: A</a:t>
              </a:r>
              <a:r>
                <a:rPr lang="ja-JP" altLang="en-US" sz="12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’</a:t>
              </a:r>
              <a:endPara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67" name="Group 42"/>
          <p:cNvGrpSpPr>
            <a:grpSpLocks/>
          </p:cNvGrpSpPr>
          <p:nvPr/>
        </p:nvGrpSpPr>
        <p:grpSpPr bwMode="auto">
          <a:xfrm>
            <a:off x="1144950" y="3378764"/>
            <a:ext cx="2396730" cy="1083469"/>
            <a:chOff x="3441" y="3154"/>
            <a:chExt cx="2013" cy="910"/>
          </a:xfrm>
        </p:grpSpPr>
        <p:sp>
          <p:nvSpPr>
            <p:cNvPr id="68" name="Rectangle 43"/>
            <p:cNvSpPr>
              <a:spLocks noChangeArrowheads="1"/>
            </p:cNvSpPr>
            <p:nvPr/>
          </p:nvSpPr>
          <p:spPr bwMode="auto">
            <a:xfrm>
              <a:off x="3449" y="3154"/>
              <a:ext cx="1950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9" name="Text Box 44"/>
            <p:cNvSpPr txBox="1">
              <a:spLocks noChangeArrowheads="1"/>
            </p:cNvSpPr>
            <p:nvPr/>
          </p:nvSpPr>
          <p:spPr bwMode="auto">
            <a:xfrm>
              <a:off x="3441" y="3175"/>
              <a:ext cx="201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MAC </a:t>
              </a:r>
              <a:r>
                <a:rPr lang="en-US" altLang="zh-CN" sz="135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addr</a:t>
              </a:r>
              <a:r>
                <a:rPr lang="en-US" altLang="zh-CN" sz="135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   interface    TTL</a:t>
              </a:r>
            </a:p>
          </p:txBody>
        </p:sp>
        <p:sp>
          <p:nvSpPr>
            <p:cNvPr id="70" name="Line 45"/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46"/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47"/>
            <p:cNvSpPr>
              <a:spLocks noChangeShapeType="1"/>
            </p:cNvSpPr>
            <p:nvPr/>
          </p:nvSpPr>
          <p:spPr bwMode="auto">
            <a:xfrm>
              <a:off x="3452" y="3397"/>
              <a:ext cx="19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3" name="Text Box 48"/>
          <p:cNvSpPr txBox="1">
            <a:spLocks noChangeArrowheads="1"/>
          </p:cNvSpPr>
          <p:nvPr/>
        </p:nvSpPr>
        <p:spPr bwMode="auto">
          <a:xfrm>
            <a:off x="5466185" y="4447469"/>
            <a:ext cx="99258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交换表</a:t>
            </a:r>
            <a:endParaRPr lang="en-US" altLang="zh-CN" sz="135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en-US" sz="13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初始为空</a:t>
            </a:r>
            <a:r>
              <a:rPr lang="en-US" altLang="zh-CN" sz="13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74" name="Group 49"/>
          <p:cNvGrpSpPr>
            <a:grpSpLocks/>
          </p:cNvGrpSpPr>
          <p:nvPr/>
        </p:nvGrpSpPr>
        <p:grpSpPr bwMode="auto">
          <a:xfrm>
            <a:off x="1471178" y="3703807"/>
            <a:ext cx="1909763" cy="305990"/>
            <a:chOff x="2376" y="3383"/>
            <a:chExt cx="1604" cy="257"/>
          </a:xfrm>
        </p:grpSpPr>
        <p:sp>
          <p:nvSpPr>
            <p:cNvPr id="75" name="Text Box 50"/>
            <p:cNvSpPr txBox="1">
              <a:spLocks noChangeArrowheads="1"/>
            </p:cNvSpPr>
            <p:nvPr/>
          </p:nvSpPr>
          <p:spPr bwMode="auto">
            <a:xfrm>
              <a:off x="2376" y="3388"/>
              <a:ext cx="25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76" name="Text Box 51"/>
            <p:cNvSpPr txBox="1">
              <a:spLocks noChangeArrowheads="1"/>
            </p:cNvSpPr>
            <p:nvPr/>
          </p:nvSpPr>
          <p:spPr bwMode="auto">
            <a:xfrm>
              <a:off x="3133" y="3387"/>
              <a:ext cx="2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7" name="Text Box 52"/>
            <p:cNvSpPr txBox="1">
              <a:spLocks noChangeArrowheads="1"/>
            </p:cNvSpPr>
            <p:nvPr/>
          </p:nvSpPr>
          <p:spPr bwMode="auto">
            <a:xfrm>
              <a:off x="3655" y="3383"/>
              <a:ext cx="32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60</a:t>
              </a:r>
            </a:p>
          </p:txBody>
        </p:sp>
      </p:grpSp>
      <p:grpSp>
        <p:nvGrpSpPr>
          <p:cNvPr id="78" name="Group 59"/>
          <p:cNvGrpSpPr>
            <a:grpSpLocks/>
          </p:cNvGrpSpPr>
          <p:nvPr/>
        </p:nvGrpSpPr>
        <p:grpSpPr bwMode="auto">
          <a:xfrm>
            <a:off x="5360147" y="2826586"/>
            <a:ext cx="1071563" cy="300037"/>
            <a:chOff x="1750" y="3514"/>
            <a:chExt cx="900" cy="252"/>
          </a:xfrm>
        </p:grpSpPr>
        <p:sp>
          <p:nvSpPr>
            <p:cNvPr id="79" name="Rectangle 6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0" name="Text Box 61"/>
            <p:cNvSpPr txBox="1">
              <a:spLocks noChangeArrowheads="1"/>
            </p:cNvSpPr>
            <p:nvPr/>
          </p:nvSpPr>
          <p:spPr bwMode="auto">
            <a:xfrm>
              <a:off x="1750" y="3514"/>
              <a:ext cx="5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 A</a:t>
              </a:r>
              <a:r>
                <a:rPr lang="ja-JP" altLang="en-US" sz="135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’</a:t>
              </a:r>
              <a:endPara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2" name="Line 6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Line 6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4" name="Group 64"/>
          <p:cNvGrpSpPr>
            <a:grpSpLocks/>
          </p:cNvGrpSpPr>
          <p:nvPr/>
        </p:nvGrpSpPr>
        <p:grpSpPr bwMode="auto">
          <a:xfrm>
            <a:off x="5360147" y="2825383"/>
            <a:ext cx="1071563" cy="300037"/>
            <a:chOff x="1750" y="3514"/>
            <a:chExt cx="900" cy="252"/>
          </a:xfrm>
        </p:grpSpPr>
        <p:sp>
          <p:nvSpPr>
            <p:cNvPr id="85" name="Rectangle 65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6" name="Text Box 66"/>
            <p:cNvSpPr txBox="1">
              <a:spLocks noChangeArrowheads="1"/>
            </p:cNvSpPr>
            <p:nvPr/>
          </p:nvSpPr>
          <p:spPr bwMode="auto">
            <a:xfrm>
              <a:off x="1750" y="3514"/>
              <a:ext cx="5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 A</a:t>
              </a:r>
              <a:r>
                <a:rPr lang="ja-JP" altLang="en-US" sz="135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’</a:t>
              </a:r>
              <a:endPara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7" name="Line 67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Line 68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9" name="Group 69"/>
          <p:cNvGrpSpPr>
            <a:grpSpLocks/>
          </p:cNvGrpSpPr>
          <p:nvPr/>
        </p:nvGrpSpPr>
        <p:grpSpPr bwMode="auto">
          <a:xfrm>
            <a:off x="5360147" y="2827764"/>
            <a:ext cx="1071563" cy="300037"/>
            <a:chOff x="1750" y="3514"/>
            <a:chExt cx="900" cy="252"/>
          </a:xfrm>
        </p:grpSpPr>
        <p:sp>
          <p:nvSpPr>
            <p:cNvPr id="90" name="Rectangle 7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91" name="Text Box 71"/>
            <p:cNvSpPr txBox="1">
              <a:spLocks noChangeArrowheads="1"/>
            </p:cNvSpPr>
            <p:nvPr/>
          </p:nvSpPr>
          <p:spPr bwMode="auto">
            <a:xfrm>
              <a:off x="1750" y="3514"/>
              <a:ext cx="5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 A</a:t>
              </a:r>
              <a:r>
                <a:rPr lang="ja-JP" altLang="en-US" sz="135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’</a:t>
              </a:r>
              <a:endPara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92" name="Line 7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Line 7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4" name="Group 74"/>
          <p:cNvGrpSpPr>
            <a:grpSpLocks/>
          </p:cNvGrpSpPr>
          <p:nvPr/>
        </p:nvGrpSpPr>
        <p:grpSpPr bwMode="auto">
          <a:xfrm>
            <a:off x="5360147" y="2827764"/>
            <a:ext cx="1071563" cy="300037"/>
            <a:chOff x="1750" y="3514"/>
            <a:chExt cx="900" cy="252"/>
          </a:xfrm>
        </p:grpSpPr>
        <p:sp>
          <p:nvSpPr>
            <p:cNvPr id="95" name="Rectangle 75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96" name="Text Box 76"/>
            <p:cNvSpPr txBox="1">
              <a:spLocks noChangeArrowheads="1"/>
            </p:cNvSpPr>
            <p:nvPr/>
          </p:nvSpPr>
          <p:spPr bwMode="auto">
            <a:xfrm>
              <a:off x="1750" y="3514"/>
              <a:ext cx="5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 A</a:t>
              </a:r>
              <a:r>
                <a:rPr lang="ja-JP" altLang="en-US" sz="135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’</a:t>
              </a:r>
              <a:endPara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97" name="Line 77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Line 78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9" name="Group 79"/>
          <p:cNvGrpSpPr>
            <a:grpSpLocks/>
          </p:cNvGrpSpPr>
          <p:nvPr/>
        </p:nvGrpSpPr>
        <p:grpSpPr bwMode="auto">
          <a:xfrm>
            <a:off x="5357766" y="2825383"/>
            <a:ext cx="1071563" cy="300037"/>
            <a:chOff x="1750" y="3514"/>
            <a:chExt cx="900" cy="252"/>
          </a:xfrm>
        </p:grpSpPr>
        <p:sp>
          <p:nvSpPr>
            <p:cNvPr id="100" name="Rectangle 8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1" name="Text Box 81"/>
            <p:cNvSpPr txBox="1">
              <a:spLocks noChangeArrowheads="1"/>
            </p:cNvSpPr>
            <p:nvPr/>
          </p:nvSpPr>
          <p:spPr bwMode="auto">
            <a:xfrm>
              <a:off x="1750" y="3514"/>
              <a:ext cx="5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 A</a:t>
              </a:r>
              <a:r>
                <a:rPr lang="ja-JP" altLang="en-US" sz="135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’</a:t>
              </a:r>
              <a:endPara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2" name="Line 8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Line 8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4" name="Text Box 86"/>
          <p:cNvSpPr txBox="1">
            <a:spLocks noChangeArrowheads="1"/>
          </p:cNvSpPr>
          <p:nvPr/>
        </p:nvSpPr>
        <p:spPr bwMode="auto">
          <a:xfrm>
            <a:off x="3534729" y="2656321"/>
            <a:ext cx="86433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flood</a:t>
            </a:r>
          </a:p>
        </p:txBody>
      </p:sp>
      <p:grpSp>
        <p:nvGrpSpPr>
          <p:cNvPr id="105" name="Group 92"/>
          <p:cNvGrpSpPr>
            <a:grpSpLocks/>
          </p:cNvGrpSpPr>
          <p:nvPr/>
        </p:nvGrpSpPr>
        <p:grpSpPr bwMode="auto">
          <a:xfrm>
            <a:off x="5608988" y="3651679"/>
            <a:ext cx="1071563" cy="300037"/>
            <a:chOff x="730" y="2472"/>
            <a:chExt cx="900" cy="252"/>
          </a:xfrm>
        </p:grpSpPr>
        <p:sp>
          <p:nvSpPr>
            <p:cNvPr id="106" name="Rectangle 88"/>
            <p:cNvSpPr>
              <a:spLocks noChangeArrowheads="1"/>
            </p:cNvSpPr>
            <p:nvPr/>
          </p:nvSpPr>
          <p:spPr bwMode="auto">
            <a:xfrm>
              <a:off x="751" y="2500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7" name="Text Box 89"/>
            <p:cNvSpPr txBox="1">
              <a:spLocks noChangeArrowheads="1"/>
            </p:cNvSpPr>
            <p:nvPr/>
          </p:nvSpPr>
          <p:spPr bwMode="auto">
            <a:xfrm>
              <a:off x="730" y="2472"/>
              <a:ext cx="5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</a:t>
              </a:r>
              <a:r>
                <a:rPr lang="ja-JP" altLang="en-US" sz="135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’</a:t>
              </a:r>
              <a:r>
                <a:rPr lang="en-US" altLang="ja-JP" sz="135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 A</a:t>
              </a:r>
              <a:endPara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8" name="Line 90"/>
            <p:cNvSpPr>
              <a:spLocks noChangeShapeType="1"/>
            </p:cNvSpPr>
            <p:nvPr/>
          </p:nvSpPr>
          <p:spPr bwMode="auto">
            <a:xfrm>
              <a:off x="937" y="2493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Line 91"/>
            <p:cNvSpPr>
              <a:spLocks noChangeShapeType="1"/>
            </p:cNvSpPr>
            <p:nvPr/>
          </p:nvSpPr>
          <p:spPr bwMode="auto">
            <a:xfrm>
              <a:off x="1096" y="2498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0" name="Group 94"/>
          <p:cNvGrpSpPr>
            <a:grpSpLocks/>
          </p:cNvGrpSpPr>
          <p:nvPr/>
        </p:nvGrpSpPr>
        <p:grpSpPr bwMode="auto">
          <a:xfrm>
            <a:off x="1468797" y="3918114"/>
            <a:ext cx="1909763" cy="305990"/>
            <a:chOff x="2376" y="3383"/>
            <a:chExt cx="1604" cy="257"/>
          </a:xfrm>
        </p:grpSpPr>
        <p:sp>
          <p:nvSpPr>
            <p:cNvPr id="111" name="Text Box 95"/>
            <p:cNvSpPr txBox="1">
              <a:spLocks noChangeArrowheads="1"/>
            </p:cNvSpPr>
            <p:nvPr/>
          </p:nvSpPr>
          <p:spPr bwMode="auto">
            <a:xfrm>
              <a:off x="2376" y="3388"/>
              <a:ext cx="40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</a:t>
              </a:r>
              <a:r>
                <a:rPr lang="ja-JP" altLang="en-US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’</a:t>
              </a:r>
              <a:endParaRPr lang="en-US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2" name="Text Box 96"/>
            <p:cNvSpPr txBox="1">
              <a:spLocks noChangeArrowheads="1"/>
            </p:cNvSpPr>
            <p:nvPr/>
          </p:nvSpPr>
          <p:spPr bwMode="auto">
            <a:xfrm>
              <a:off x="3133" y="3387"/>
              <a:ext cx="2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Text Box 97"/>
            <p:cNvSpPr txBox="1">
              <a:spLocks noChangeArrowheads="1"/>
            </p:cNvSpPr>
            <p:nvPr/>
          </p:nvSpPr>
          <p:spPr bwMode="auto">
            <a:xfrm>
              <a:off x="3655" y="3383"/>
              <a:ext cx="32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60</a:t>
              </a:r>
            </a:p>
          </p:txBody>
        </p:sp>
      </p:grpSp>
      <p:sp>
        <p:nvSpPr>
          <p:cNvPr id="114" name="灯片编号占位符 2">
            <a:extLst>
              <a:ext uri="{FF2B5EF4-FFF2-40B4-BE49-F238E27FC236}">
                <a16:creationId xmlns:a16="http://schemas.microsoft.com/office/drawing/2014/main" id="{0051836E-F639-4140-80AD-F86EA69B624C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34</a:t>
            </a:fld>
            <a:endParaRPr lang="en-US" altLang="zh-CN" dirty="0"/>
          </a:p>
        </p:txBody>
      </p:sp>
      <p:sp>
        <p:nvSpPr>
          <p:cNvPr id="115" name="AutoShape 5">
            <a:extLst>
              <a:ext uri="{FF2B5EF4-FFF2-40B4-BE49-F238E27FC236}">
                <a16:creationId xmlns:a16="http://schemas.microsoft.com/office/drawing/2014/main" id="{A7744F83-EA9A-4747-B8DA-95EC5D0F4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439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2.96296E-6 L -0.10694 0.11481 L -0.10694 0.24321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3.7037E-6 L -0.12118 -0.09814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59" y="-4907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4.93827E-6 L -0.09531 0.14351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4" y="716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3.7037E-6 L 0.03489 0.15494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6" y="7747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3.7037E-6 L 0.16163 0.06667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3333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93827E-6 L 0.11546 -0.10217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4" y="-51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8 -0.00494 L -0.03767 -0.17006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-82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611 -0.15895 L -0.03472 -0.3287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84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0"/>
                            </p:stCondLst>
                            <p:childTnLst>
                              <p:par>
                                <p:cTn id="8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500"/>
                            </p:stCondLst>
                            <p:childTnLst>
                              <p:par>
                                <p:cTn id="8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 tmFilter="0, 0; .2, .5; .8, .5; 1, 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250" autoRev="1" fill="hold"/>
                                        <p:tgtEl>
                                          <p:spTgt spid="1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104" grpId="0"/>
      <p:bldP spid="115" grpId="0" animBg="1"/>
      <p:bldP spid="115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5.4.3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链路层交换机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交换机的</a:t>
            </a:r>
            <a:r>
              <a:rPr lang="zh-CN" altLang="en-US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互联</a:t>
            </a:r>
            <a:r>
              <a:rPr lang="zh-CN" altLang="en-US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</a:p>
        </p:txBody>
      </p:sp>
      <p:grpSp>
        <p:nvGrpSpPr>
          <p:cNvPr id="8" name="Group 1"/>
          <p:cNvGrpSpPr>
            <a:grpSpLocks/>
          </p:cNvGrpSpPr>
          <p:nvPr/>
        </p:nvGrpSpPr>
        <p:grpSpPr bwMode="auto">
          <a:xfrm>
            <a:off x="2123428" y="2281056"/>
            <a:ext cx="1582479" cy="1019175"/>
            <a:chOff x="958850" y="2444750"/>
            <a:chExt cx="2110528" cy="1358710"/>
          </a:xfrm>
        </p:grpSpPr>
        <p:sp>
          <p:nvSpPr>
            <p:cNvPr id="9" name="Line 20"/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21"/>
            <p:cNvSpPr>
              <a:spLocks noChangeShapeType="1"/>
            </p:cNvSpPr>
            <p:nvPr/>
          </p:nvSpPr>
          <p:spPr bwMode="auto">
            <a:xfrm flipH="1">
              <a:off x="1970355" y="3078074"/>
              <a:ext cx="271534" cy="314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22"/>
            <p:cNvSpPr>
              <a:spLocks noChangeShapeType="1"/>
            </p:cNvSpPr>
            <p:nvPr/>
          </p:nvSpPr>
          <p:spPr bwMode="auto">
            <a:xfrm>
              <a:off x="2389566" y="3106645"/>
              <a:ext cx="73044" cy="295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64"/>
            <p:cNvSpPr txBox="1">
              <a:spLocks noChangeArrowheads="1"/>
            </p:cNvSpPr>
            <p:nvPr/>
          </p:nvSpPr>
          <p:spPr bwMode="auto">
            <a:xfrm>
              <a:off x="958850" y="2844743"/>
              <a:ext cx="408766" cy="400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3" name="Text Box 65"/>
            <p:cNvSpPr txBox="1">
              <a:spLocks noChangeArrowheads="1"/>
            </p:cNvSpPr>
            <p:nvPr/>
          </p:nvSpPr>
          <p:spPr bwMode="auto">
            <a:xfrm>
              <a:off x="1408233" y="3306641"/>
              <a:ext cx="400215" cy="400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4" name="Text Box 73"/>
            <p:cNvSpPr txBox="1">
              <a:spLocks noChangeArrowheads="1"/>
            </p:cNvSpPr>
            <p:nvPr/>
          </p:nvSpPr>
          <p:spPr bwMode="auto">
            <a:xfrm>
              <a:off x="2181548" y="2444750"/>
              <a:ext cx="485731" cy="400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S</a:t>
              </a:r>
              <a:r>
                <a:rPr lang="en-US" altLang="zh-CN" sz="1350" baseline="-250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5" name="Text Box 66"/>
            <p:cNvSpPr txBox="1">
              <a:spLocks noChangeArrowheads="1"/>
            </p:cNvSpPr>
            <p:nvPr/>
          </p:nvSpPr>
          <p:spPr bwMode="auto">
            <a:xfrm>
              <a:off x="2656336" y="3298707"/>
              <a:ext cx="413042" cy="400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C</a:t>
              </a:r>
            </a:p>
          </p:txBody>
        </p:sp>
        <p:grpSp>
          <p:nvGrpSpPr>
            <p:cNvPr id="16" name="Group 44"/>
            <p:cNvGrpSpPr>
              <a:grpSpLocks/>
            </p:cNvGrpSpPr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2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" name="Group 44"/>
            <p:cNvGrpSpPr>
              <a:grpSpLocks/>
            </p:cNvGrpSpPr>
            <p:nvPr/>
          </p:nvGrpSpPr>
          <p:grpSpPr bwMode="auto"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id="2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Group 44"/>
            <p:cNvGrpSpPr>
              <a:grpSpLocks/>
            </p:cNvGrpSpPr>
            <p:nvPr/>
          </p:nvGrpSpPr>
          <p:grpSpPr bwMode="auto"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id="2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6" name="Group 2"/>
          <p:cNvGrpSpPr>
            <a:grpSpLocks/>
          </p:cNvGrpSpPr>
          <p:nvPr/>
        </p:nvGrpSpPr>
        <p:grpSpPr bwMode="auto">
          <a:xfrm>
            <a:off x="3189038" y="1935775"/>
            <a:ext cx="3691156" cy="1556192"/>
            <a:chOff x="2379663" y="1984375"/>
            <a:chExt cx="4921084" cy="2074359"/>
          </a:xfrm>
        </p:grpSpPr>
        <p:sp>
          <p:nvSpPr>
            <p:cNvPr id="27" name="Line 23"/>
            <p:cNvSpPr>
              <a:spLocks noChangeShapeType="1"/>
            </p:cNvSpPr>
            <p:nvPr/>
          </p:nvSpPr>
          <p:spPr bwMode="auto">
            <a:xfrm flipH="1">
              <a:off x="3635258" y="3068344"/>
              <a:ext cx="346043" cy="215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 flipH="1">
              <a:off x="3949554" y="3087389"/>
              <a:ext cx="125401" cy="587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4254326" y="3030254"/>
              <a:ext cx="230167" cy="361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 flipH="1">
              <a:off x="5532145" y="3106433"/>
              <a:ext cx="428585" cy="244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 flipH="1">
              <a:off x="6035335" y="3077866"/>
              <a:ext cx="9524" cy="469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35"/>
            <p:cNvSpPr>
              <a:spLocks noChangeShapeType="1"/>
            </p:cNvSpPr>
            <p:nvPr/>
          </p:nvSpPr>
          <p:spPr bwMode="auto">
            <a:xfrm flipH="1">
              <a:off x="2379663" y="2355749"/>
              <a:ext cx="1517509" cy="536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>
              <a:off x="4200356" y="2322421"/>
              <a:ext cx="0" cy="599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7"/>
            <p:cNvSpPr>
              <a:spLocks noChangeShapeType="1"/>
            </p:cNvSpPr>
            <p:nvPr/>
          </p:nvSpPr>
          <p:spPr bwMode="auto">
            <a:xfrm flipH="1" flipV="1">
              <a:off x="4449571" y="2306551"/>
              <a:ext cx="1406394" cy="684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63"/>
            <p:cNvSpPr>
              <a:spLocks noChangeShapeType="1"/>
            </p:cNvSpPr>
            <p:nvPr/>
          </p:nvSpPr>
          <p:spPr bwMode="auto">
            <a:xfrm>
              <a:off x="6411539" y="3131826"/>
              <a:ext cx="285723" cy="158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Text Box 67"/>
            <p:cNvSpPr txBox="1">
              <a:spLocks noChangeArrowheads="1"/>
            </p:cNvSpPr>
            <p:nvPr/>
          </p:nvSpPr>
          <p:spPr bwMode="auto">
            <a:xfrm>
              <a:off x="3620973" y="3222289"/>
              <a:ext cx="421444" cy="400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37" name="Text Box 68"/>
            <p:cNvSpPr txBox="1">
              <a:spLocks noChangeArrowheads="1"/>
            </p:cNvSpPr>
            <p:nvPr/>
          </p:nvSpPr>
          <p:spPr bwMode="auto">
            <a:xfrm>
              <a:off x="4094004" y="3658733"/>
              <a:ext cx="372291" cy="400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38" name="Text Box 69"/>
            <p:cNvSpPr txBox="1">
              <a:spLocks noChangeArrowheads="1"/>
            </p:cNvSpPr>
            <p:nvPr/>
          </p:nvSpPr>
          <p:spPr bwMode="auto">
            <a:xfrm>
              <a:off x="4567035" y="3057234"/>
              <a:ext cx="368016" cy="400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39" name="Text Box 74"/>
            <p:cNvSpPr txBox="1">
              <a:spLocks noChangeArrowheads="1"/>
            </p:cNvSpPr>
            <p:nvPr/>
          </p:nvSpPr>
          <p:spPr bwMode="auto">
            <a:xfrm>
              <a:off x="3408268" y="2768387"/>
              <a:ext cx="485558" cy="400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S</a:t>
              </a:r>
              <a:r>
                <a:rPr lang="en-US" altLang="zh-CN" sz="1350" baseline="-250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0" name="Text Box 75"/>
            <p:cNvSpPr txBox="1">
              <a:spLocks noChangeArrowheads="1"/>
            </p:cNvSpPr>
            <p:nvPr/>
          </p:nvSpPr>
          <p:spPr bwMode="auto">
            <a:xfrm>
              <a:off x="4635290" y="1984375"/>
              <a:ext cx="485558" cy="400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S</a:t>
              </a:r>
              <a:r>
                <a:rPr lang="en-US" altLang="zh-CN" sz="1350" baseline="-250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1" name="Text Box 76"/>
            <p:cNvSpPr txBox="1">
              <a:spLocks noChangeArrowheads="1"/>
            </p:cNvSpPr>
            <p:nvPr/>
          </p:nvSpPr>
          <p:spPr bwMode="auto">
            <a:xfrm>
              <a:off x="6009938" y="2570004"/>
              <a:ext cx="485558" cy="400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S</a:t>
              </a:r>
              <a:r>
                <a:rPr lang="en-US" altLang="zh-CN" sz="1350" baseline="-250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2" name="Text Box 78"/>
            <p:cNvSpPr txBox="1">
              <a:spLocks noChangeArrowheads="1"/>
            </p:cNvSpPr>
            <p:nvPr/>
          </p:nvSpPr>
          <p:spPr bwMode="auto">
            <a:xfrm>
              <a:off x="6240103" y="3541291"/>
              <a:ext cx="425718" cy="400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43" name="Text Box 79"/>
            <p:cNvSpPr txBox="1">
              <a:spLocks noChangeArrowheads="1"/>
            </p:cNvSpPr>
            <p:nvPr/>
          </p:nvSpPr>
          <p:spPr bwMode="auto">
            <a:xfrm>
              <a:off x="6986160" y="3179440"/>
              <a:ext cx="314587" cy="400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44" name="Text Box 80"/>
            <p:cNvSpPr txBox="1">
              <a:spLocks noChangeArrowheads="1"/>
            </p:cNvSpPr>
            <p:nvPr/>
          </p:nvSpPr>
          <p:spPr bwMode="auto">
            <a:xfrm>
              <a:off x="5103559" y="3595251"/>
              <a:ext cx="425718" cy="400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G</a:t>
              </a:r>
            </a:p>
          </p:txBody>
        </p:sp>
        <p:pic>
          <p:nvPicPr>
            <p:cNvPr id="4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6" name="Group 44"/>
            <p:cNvGrpSpPr>
              <a:grpSpLocks/>
            </p:cNvGrpSpPr>
            <p:nvPr/>
          </p:nvGrpSpPr>
          <p:grpSpPr bwMode="auto"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id="6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7" name="Group 44"/>
            <p:cNvGrpSpPr>
              <a:grpSpLocks/>
            </p:cNvGrpSpPr>
            <p:nvPr/>
          </p:nvGrpSpPr>
          <p:grpSpPr bwMode="auto"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id="6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44"/>
            <p:cNvGrpSpPr>
              <a:grpSpLocks/>
            </p:cNvGrpSpPr>
            <p:nvPr/>
          </p:nvGrpSpPr>
          <p:grpSpPr bwMode="auto"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id="6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9" name="Group 44"/>
            <p:cNvGrpSpPr>
              <a:grpSpLocks/>
            </p:cNvGrpSpPr>
            <p:nvPr/>
          </p:nvGrpSpPr>
          <p:grpSpPr bwMode="auto"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id="5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0" name="Group 44"/>
            <p:cNvGrpSpPr>
              <a:grpSpLocks/>
            </p:cNvGrpSpPr>
            <p:nvPr/>
          </p:nvGrpSpPr>
          <p:grpSpPr bwMode="auto"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id="5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44"/>
            <p:cNvGrpSpPr>
              <a:grpSpLocks/>
            </p:cNvGrpSpPr>
            <p:nvPr/>
          </p:nvGrpSpPr>
          <p:grpSpPr bwMode="auto"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id="5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52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6" name="Rectangle 70"/>
          <p:cNvSpPr>
            <a:spLocks noChangeArrowheads="1"/>
          </p:cNvSpPr>
          <p:nvPr/>
        </p:nvSpPr>
        <p:spPr bwMode="auto">
          <a:xfrm>
            <a:off x="2001072" y="3969133"/>
            <a:ext cx="5595264" cy="25880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A 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</a:t>
            </a:r>
            <a:r>
              <a:rPr 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 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发数据</a:t>
            </a:r>
            <a:r>
              <a:rPr 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怎样让</a:t>
            </a:r>
            <a:r>
              <a:rPr 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</a:t>
            </a:r>
            <a:r>
              <a:rPr lang="en-US" sz="15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知道把帧通过</a:t>
            </a:r>
            <a:r>
              <a:rPr 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sz="15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</a:t>
            </a:r>
            <a:r>
              <a:rPr lang="en-US" sz="15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转发给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</p:txBody>
      </p:sp>
      <p:sp>
        <p:nvSpPr>
          <p:cNvPr id="67" name="灯片编号占位符 2">
            <a:extLst>
              <a:ext uri="{FF2B5EF4-FFF2-40B4-BE49-F238E27FC236}">
                <a16:creationId xmlns:a16="http://schemas.microsoft.com/office/drawing/2014/main" id="{94D365DA-A293-4DD4-A3D4-D602682AB29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35</a:t>
            </a:fld>
            <a:endParaRPr lang="en-US" altLang="zh-CN" dirty="0"/>
          </a:p>
        </p:txBody>
      </p:sp>
      <p:sp>
        <p:nvSpPr>
          <p:cNvPr id="68" name="AutoShape 5">
            <a:extLst>
              <a:ext uri="{FF2B5EF4-FFF2-40B4-BE49-F238E27FC236}">
                <a16:creationId xmlns:a16="http://schemas.microsoft.com/office/drawing/2014/main" id="{1E651B27-5870-452D-B775-541858F73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411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8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5.4.3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链路层交换机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企业网络：交换机和路由器的作用</a:t>
            </a:r>
          </a:p>
        </p:txBody>
      </p:sp>
      <p:sp>
        <p:nvSpPr>
          <p:cNvPr id="8" name="Freeform 81"/>
          <p:cNvSpPr>
            <a:spLocks/>
          </p:cNvSpPr>
          <p:nvPr/>
        </p:nvSpPr>
        <p:spPr bwMode="auto">
          <a:xfrm rot="5400000">
            <a:off x="3450035" y="525363"/>
            <a:ext cx="3240881" cy="5605463"/>
          </a:xfrm>
          <a:custGeom>
            <a:avLst/>
            <a:gdLst>
              <a:gd name="T0" fmla="*/ 2147483646 w 10000"/>
              <a:gd name="T1" fmla="*/ 2147483646 h 9831"/>
              <a:gd name="T2" fmla="*/ 2147483646 w 10000"/>
              <a:gd name="T3" fmla="*/ 2147483646 h 9831"/>
              <a:gd name="T4" fmla="*/ 2147483646 w 10000"/>
              <a:gd name="T5" fmla="*/ 2147483646 h 9831"/>
              <a:gd name="T6" fmla="*/ 2147483646 w 10000"/>
              <a:gd name="T7" fmla="*/ 2147483646 h 9831"/>
              <a:gd name="T8" fmla="*/ 2147483646 w 10000"/>
              <a:gd name="T9" fmla="*/ 2147483646 h 9831"/>
              <a:gd name="T10" fmla="*/ 2147483646 w 10000"/>
              <a:gd name="T11" fmla="*/ 2147483646 h 9831"/>
              <a:gd name="T12" fmla="*/ 2147483646 w 10000"/>
              <a:gd name="T13" fmla="*/ 2147483646 h 9831"/>
              <a:gd name="T14" fmla="*/ 2147483646 w 10000"/>
              <a:gd name="T15" fmla="*/ 2147483646 h 9831"/>
              <a:gd name="T16" fmla="*/ 2147483646 w 10000"/>
              <a:gd name="T17" fmla="*/ 2147483646 h 9831"/>
              <a:gd name="T18" fmla="*/ 2147483646 w 10000"/>
              <a:gd name="T19" fmla="*/ 2147483646 h 9831"/>
              <a:gd name="T20" fmla="*/ 2147483646 w 10000"/>
              <a:gd name="T21" fmla="*/ 2147483646 h 9831"/>
              <a:gd name="T22" fmla="*/ 2147483646 w 10000"/>
              <a:gd name="T23" fmla="*/ 2147483646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0000" h="9831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Line 33"/>
          <p:cNvSpPr>
            <a:spLocks noChangeShapeType="1"/>
          </p:cNvSpPr>
          <p:nvPr/>
        </p:nvSpPr>
        <p:spPr bwMode="auto">
          <a:xfrm flipH="1">
            <a:off x="3428605" y="2882799"/>
            <a:ext cx="1535906" cy="1062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34"/>
          <p:cNvSpPr>
            <a:spLocks noChangeShapeType="1"/>
          </p:cNvSpPr>
          <p:nvPr/>
        </p:nvSpPr>
        <p:spPr bwMode="auto">
          <a:xfrm>
            <a:off x="5108576" y="2873274"/>
            <a:ext cx="0" cy="1100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Line 35"/>
          <p:cNvSpPr>
            <a:spLocks noChangeShapeType="1"/>
          </p:cNvSpPr>
          <p:nvPr/>
        </p:nvSpPr>
        <p:spPr bwMode="auto">
          <a:xfrm flipH="1" flipV="1">
            <a:off x="5253832" y="2824460"/>
            <a:ext cx="1381125" cy="12168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59"/>
          <p:cNvSpPr>
            <a:spLocks noChangeShapeType="1"/>
          </p:cNvSpPr>
          <p:nvPr/>
        </p:nvSpPr>
        <p:spPr bwMode="auto">
          <a:xfrm flipV="1">
            <a:off x="5331223" y="2361306"/>
            <a:ext cx="917972" cy="3178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60"/>
          <p:cNvSpPr>
            <a:spLocks noChangeShapeType="1"/>
          </p:cNvSpPr>
          <p:nvPr/>
        </p:nvSpPr>
        <p:spPr bwMode="auto">
          <a:xfrm flipV="1">
            <a:off x="5176442" y="2119610"/>
            <a:ext cx="502444" cy="5691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Line 77"/>
          <p:cNvSpPr>
            <a:spLocks noChangeShapeType="1"/>
          </p:cNvSpPr>
          <p:nvPr/>
        </p:nvSpPr>
        <p:spPr bwMode="auto">
          <a:xfrm>
            <a:off x="4356101" y="2235100"/>
            <a:ext cx="646510" cy="4833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Line 78"/>
          <p:cNvSpPr>
            <a:spLocks noChangeShapeType="1"/>
          </p:cNvSpPr>
          <p:nvPr/>
        </p:nvSpPr>
        <p:spPr bwMode="auto">
          <a:xfrm flipH="1">
            <a:off x="3311923" y="2157709"/>
            <a:ext cx="638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79"/>
          <p:cNvSpPr txBox="1">
            <a:spLocks noChangeArrowheads="1"/>
          </p:cNvSpPr>
          <p:nvPr/>
        </p:nvSpPr>
        <p:spPr bwMode="auto">
          <a:xfrm>
            <a:off x="2373711" y="1873149"/>
            <a:ext cx="105028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连接到外网</a:t>
            </a:r>
            <a:endParaRPr lang="en-US" altLang="zh-CN" sz="135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Text Box 80"/>
          <p:cNvSpPr txBox="1">
            <a:spLocks noChangeArrowheads="1"/>
          </p:cNvSpPr>
          <p:nvPr/>
        </p:nvSpPr>
        <p:spPr bwMode="auto">
          <a:xfrm>
            <a:off x="3852467" y="2298203"/>
            <a:ext cx="70403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路由器</a:t>
            </a:r>
            <a:endParaRPr lang="en-US" altLang="zh-CN" sz="135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" name="Text Box 82"/>
          <p:cNvSpPr txBox="1">
            <a:spLocks noChangeArrowheads="1"/>
          </p:cNvSpPr>
          <p:nvPr/>
        </p:nvSpPr>
        <p:spPr bwMode="auto">
          <a:xfrm>
            <a:off x="6642101" y="2979241"/>
            <a:ext cx="9236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IP </a:t>
            </a:r>
            <a:r>
              <a:rPr lang="zh-CN" altLang="en-US" sz="1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子网</a:t>
            </a:r>
            <a:endParaRPr lang="en-US" altLang="zh-CN" sz="180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Text Box 83"/>
          <p:cNvSpPr txBox="1">
            <a:spLocks noChangeArrowheads="1"/>
          </p:cNvSpPr>
          <p:nvPr/>
        </p:nvSpPr>
        <p:spPr bwMode="auto">
          <a:xfrm>
            <a:off x="5889626" y="1718368"/>
            <a:ext cx="105028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邮件服务器</a:t>
            </a:r>
            <a:endParaRPr lang="en-US" altLang="zh-CN" sz="135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Text Box 84"/>
          <p:cNvSpPr txBox="1">
            <a:spLocks noChangeArrowheads="1"/>
          </p:cNvSpPr>
          <p:nvPr/>
        </p:nvSpPr>
        <p:spPr bwMode="auto">
          <a:xfrm>
            <a:off x="6488510" y="2220812"/>
            <a:ext cx="109901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web </a:t>
            </a:r>
            <a:r>
              <a:rPr lang="zh-CN" altLang="en-US" sz="13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服务器</a:t>
            </a:r>
            <a:endParaRPr lang="en-US" altLang="zh-CN" sz="135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 flipH="1">
            <a:off x="2914255" y="3907928"/>
            <a:ext cx="41671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 flipH="1">
            <a:off x="3204767" y="3943647"/>
            <a:ext cx="203597" cy="2357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>
            <a:off x="3519092" y="3965079"/>
            <a:ext cx="54769" cy="2214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Group 44"/>
          <p:cNvGrpSpPr>
            <a:grpSpLocks/>
          </p:cNvGrpSpPr>
          <p:nvPr/>
        </p:nvGrpSpPr>
        <p:grpSpPr bwMode="auto">
          <a:xfrm>
            <a:off x="2572545" y="3760291"/>
            <a:ext cx="426244" cy="360759"/>
            <a:chOff x="-44" y="1473"/>
            <a:chExt cx="981" cy="1105"/>
          </a:xfrm>
        </p:grpSpPr>
        <p:pic>
          <p:nvPicPr>
            <p:cNvPr id="2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Group 44"/>
          <p:cNvGrpSpPr>
            <a:grpSpLocks/>
          </p:cNvGrpSpPr>
          <p:nvPr/>
        </p:nvGrpSpPr>
        <p:grpSpPr bwMode="auto">
          <a:xfrm>
            <a:off x="2877345" y="4103191"/>
            <a:ext cx="426244" cy="360759"/>
            <a:chOff x="-44" y="1473"/>
            <a:chExt cx="981" cy="1105"/>
          </a:xfrm>
        </p:grpSpPr>
        <p:pic>
          <p:nvPicPr>
            <p:cNvPr id="28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Group 44"/>
          <p:cNvGrpSpPr>
            <a:grpSpLocks/>
          </p:cNvGrpSpPr>
          <p:nvPr/>
        </p:nvGrpSpPr>
        <p:grpSpPr bwMode="auto">
          <a:xfrm>
            <a:off x="3273823" y="4127003"/>
            <a:ext cx="426244" cy="360759"/>
            <a:chOff x="-44" y="1473"/>
            <a:chExt cx="981" cy="1105"/>
          </a:xfrm>
        </p:grpSpPr>
        <p:pic>
          <p:nvPicPr>
            <p:cNvPr id="3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Line 21"/>
          <p:cNvSpPr>
            <a:spLocks noChangeShapeType="1"/>
          </p:cNvSpPr>
          <p:nvPr/>
        </p:nvSpPr>
        <p:spPr bwMode="auto">
          <a:xfrm>
            <a:off x="3683398" y="3912691"/>
            <a:ext cx="283369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22"/>
          <p:cNvSpPr>
            <a:spLocks noChangeShapeType="1"/>
          </p:cNvSpPr>
          <p:nvPr/>
        </p:nvSpPr>
        <p:spPr bwMode="auto">
          <a:xfrm flipH="1">
            <a:off x="3857229" y="4284166"/>
            <a:ext cx="90488" cy="2202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22"/>
          <p:cNvSpPr>
            <a:spLocks noChangeShapeType="1"/>
          </p:cNvSpPr>
          <p:nvPr/>
        </p:nvSpPr>
        <p:spPr bwMode="auto">
          <a:xfrm>
            <a:off x="4160839" y="4292500"/>
            <a:ext cx="54769" cy="2214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Line 20"/>
          <p:cNvSpPr>
            <a:spLocks noChangeShapeType="1"/>
          </p:cNvSpPr>
          <p:nvPr/>
        </p:nvSpPr>
        <p:spPr bwMode="auto">
          <a:xfrm flipH="1">
            <a:off x="4084639" y="4203203"/>
            <a:ext cx="41671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" name="Group 44"/>
          <p:cNvGrpSpPr>
            <a:grpSpLocks/>
          </p:cNvGrpSpPr>
          <p:nvPr/>
        </p:nvGrpSpPr>
        <p:grpSpPr bwMode="auto">
          <a:xfrm>
            <a:off x="3577432" y="4406800"/>
            <a:ext cx="426244" cy="360760"/>
            <a:chOff x="-44" y="1473"/>
            <a:chExt cx="981" cy="1105"/>
          </a:xfrm>
        </p:grpSpPr>
        <p:pic>
          <p:nvPicPr>
            <p:cNvPr id="38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Group 44"/>
          <p:cNvGrpSpPr>
            <a:grpSpLocks/>
          </p:cNvGrpSpPr>
          <p:nvPr/>
        </p:nvGrpSpPr>
        <p:grpSpPr bwMode="auto">
          <a:xfrm>
            <a:off x="3920332" y="4457997"/>
            <a:ext cx="426244" cy="360759"/>
            <a:chOff x="-44" y="1473"/>
            <a:chExt cx="981" cy="1105"/>
          </a:xfrm>
        </p:grpSpPr>
        <p:pic>
          <p:nvPicPr>
            <p:cNvPr id="4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104" y="3793628"/>
            <a:ext cx="508397" cy="22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270" y="4105572"/>
            <a:ext cx="508397" cy="22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5" name="Group 44"/>
          <p:cNvGrpSpPr>
            <a:grpSpLocks/>
          </p:cNvGrpSpPr>
          <p:nvPr/>
        </p:nvGrpSpPr>
        <p:grpSpPr bwMode="auto">
          <a:xfrm>
            <a:off x="4239420" y="4051994"/>
            <a:ext cx="426244" cy="360760"/>
            <a:chOff x="-44" y="1473"/>
            <a:chExt cx="981" cy="1105"/>
          </a:xfrm>
        </p:grpSpPr>
        <p:pic>
          <p:nvPicPr>
            <p:cNvPr id="46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8" name="Line 20"/>
          <p:cNvSpPr>
            <a:spLocks noChangeShapeType="1"/>
          </p:cNvSpPr>
          <p:nvPr/>
        </p:nvSpPr>
        <p:spPr bwMode="auto">
          <a:xfrm flipH="1">
            <a:off x="6078936" y="4109143"/>
            <a:ext cx="41671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21"/>
          <p:cNvSpPr>
            <a:spLocks noChangeShapeType="1"/>
          </p:cNvSpPr>
          <p:nvPr/>
        </p:nvSpPr>
        <p:spPr bwMode="auto">
          <a:xfrm flipH="1">
            <a:off x="6369448" y="4144862"/>
            <a:ext cx="203597" cy="2357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Line 22"/>
          <p:cNvSpPr>
            <a:spLocks noChangeShapeType="1"/>
          </p:cNvSpPr>
          <p:nvPr/>
        </p:nvSpPr>
        <p:spPr bwMode="auto">
          <a:xfrm>
            <a:off x="6683773" y="4166294"/>
            <a:ext cx="54769" cy="2214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" name="Group 44"/>
          <p:cNvGrpSpPr>
            <a:grpSpLocks/>
          </p:cNvGrpSpPr>
          <p:nvPr/>
        </p:nvGrpSpPr>
        <p:grpSpPr bwMode="auto">
          <a:xfrm>
            <a:off x="5847955" y="3969841"/>
            <a:ext cx="426244" cy="360759"/>
            <a:chOff x="-44" y="1473"/>
            <a:chExt cx="981" cy="1105"/>
          </a:xfrm>
        </p:grpSpPr>
        <p:pic>
          <p:nvPicPr>
            <p:cNvPr id="52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Group 44"/>
          <p:cNvGrpSpPr>
            <a:grpSpLocks/>
          </p:cNvGrpSpPr>
          <p:nvPr/>
        </p:nvGrpSpPr>
        <p:grpSpPr bwMode="auto">
          <a:xfrm>
            <a:off x="6042026" y="4304406"/>
            <a:ext cx="427435" cy="360760"/>
            <a:chOff x="-44" y="1473"/>
            <a:chExt cx="981" cy="1105"/>
          </a:xfrm>
        </p:grpSpPr>
        <p:pic>
          <p:nvPicPr>
            <p:cNvPr id="5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" name="Group 44"/>
          <p:cNvGrpSpPr>
            <a:grpSpLocks/>
          </p:cNvGrpSpPr>
          <p:nvPr/>
        </p:nvGrpSpPr>
        <p:grpSpPr bwMode="auto">
          <a:xfrm>
            <a:off x="6438505" y="4327028"/>
            <a:ext cx="426244" cy="361950"/>
            <a:chOff x="-44" y="1473"/>
            <a:chExt cx="981" cy="1105"/>
          </a:xfrm>
        </p:grpSpPr>
        <p:pic>
          <p:nvPicPr>
            <p:cNvPr id="58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0" name="Line 20"/>
          <p:cNvSpPr>
            <a:spLocks noChangeShapeType="1"/>
          </p:cNvSpPr>
          <p:nvPr/>
        </p:nvSpPr>
        <p:spPr bwMode="auto">
          <a:xfrm flipH="1" flipV="1">
            <a:off x="5309792" y="4143672"/>
            <a:ext cx="454819" cy="23455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Line 21"/>
          <p:cNvSpPr>
            <a:spLocks noChangeShapeType="1"/>
          </p:cNvSpPr>
          <p:nvPr/>
        </p:nvSpPr>
        <p:spPr bwMode="auto">
          <a:xfrm flipH="1">
            <a:off x="4962129" y="4109144"/>
            <a:ext cx="203597" cy="2357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Line 22"/>
          <p:cNvSpPr>
            <a:spLocks noChangeShapeType="1"/>
          </p:cNvSpPr>
          <p:nvPr/>
        </p:nvSpPr>
        <p:spPr bwMode="auto">
          <a:xfrm>
            <a:off x="5276455" y="4130575"/>
            <a:ext cx="54769" cy="2214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3" name="Group 44"/>
          <p:cNvGrpSpPr>
            <a:grpSpLocks/>
          </p:cNvGrpSpPr>
          <p:nvPr/>
        </p:nvGrpSpPr>
        <p:grpSpPr bwMode="auto">
          <a:xfrm>
            <a:off x="5418139" y="4265116"/>
            <a:ext cx="427435" cy="360759"/>
            <a:chOff x="-44" y="1473"/>
            <a:chExt cx="981" cy="1105"/>
          </a:xfrm>
        </p:grpSpPr>
        <p:pic>
          <p:nvPicPr>
            <p:cNvPr id="64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6" name="Group 44"/>
          <p:cNvGrpSpPr>
            <a:grpSpLocks/>
          </p:cNvGrpSpPr>
          <p:nvPr/>
        </p:nvGrpSpPr>
        <p:grpSpPr bwMode="auto">
          <a:xfrm>
            <a:off x="4634707" y="4268687"/>
            <a:ext cx="427435" cy="361950"/>
            <a:chOff x="-44" y="1473"/>
            <a:chExt cx="981" cy="1105"/>
          </a:xfrm>
        </p:grpSpPr>
        <p:pic>
          <p:nvPicPr>
            <p:cNvPr id="6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9" name="Group 44"/>
          <p:cNvGrpSpPr>
            <a:grpSpLocks/>
          </p:cNvGrpSpPr>
          <p:nvPr/>
        </p:nvGrpSpPr>
        <p:grpSpPr bwMode="auto">
          <a:xfrm>
            <a:off x="5031186" y="4292500"/>
            <a:ext cx="427434" cy="360760"/>
            <a:chOff x="-44" y="1473"/>
            <a:chExt cx="981" cy="1105"/>
          </a:xfrm>
        </p:grpSpPr>
        <p:pic>
          <p:nvPicPr>
            <p:cNvPr id="70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467" y="3959125"/>
            <a:ext cx="508397" cy="22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Line 20"/>
          <p:cNvSpPr>
            <a:spLocks noChangeShapeType="1"/>
          </p:cNvSpPr>
          <p:nvPr/>
        </p:nvSpPr>
        <p:spPr bwMode="auto">
          <a:xfrm flipH="1">
            <a:off x="6705205" y="4167484"/>
            <a:ext cx="41671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785" y="3994844"/>
            <a:ext cx="508397" cy="22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5" name="Group 44"/>
          <p:cNvGrpSpPr>
            <a:grpSpLocks/>
          </p:cNvGrpSpPr>
          <p:nvPr/>
        </p:nvGrpSpPr>
        <p:grpSpPr bwMode="auto">
          <a:xfrm>
            <a:off x="6829029" y="4005559"/>
            <a:ext cx="427434" cy="360759"/>
            <a:chOff x="-44" y="1473"/>
            <a:chExt cx="981" cy="1105"/>
          </a:xfrm>
        </p:grpSpPr>
        <p:pic>
          <p:nvPicPr>
            <p:cNvPr id="76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107" y="2638722"/>
            <a:ext cx="701279" cy="311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9" name="Group 906"/>
          <p:cNvGrpSpPr>
            <a:grpSpLocks/>
          </p:cNvGrpSpPr>
          <p:nvPr/>
        </p:nvGrpSpPr>
        <p:grpSpPr bwMode="auto">
          <a:xfrm>
            <a:off x="5670551" y="1925537"/>
            <a:ext cx="275035" cy="434579"/>
            <a:chOff x="4140" y="429"/>
            <a:chExt cx="1425" cy="2396"/>
          </a:xfrm>
        </p:grpSpPr>
        <p:sp>
          <p:nvSpPr>
            <p:cNvPr id="80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908"/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3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Rectangle 911"/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86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1" name="AutoShape 913"/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2" name="AutoShape 914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7" name="Rectangle 915"/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88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9" name="AutoShape 91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0" name="AutoShape 918"/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9" name="Rectangle 919"/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90" name="Rectangle 920"/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91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07" name="AutoShape 922"/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08" name="AutoShape 923"/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2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3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5" name="AutoShape 926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06" name="AutoShape 927"/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4" name="Rectangle 928"/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95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Oval 931"/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98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AutoShape 933"/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0" name="AutoShape 934"/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1" name="Oval 935"/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2" name="Oval 936"/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3" name="Oval 937"/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4" name="Rectangle 938"/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13" name="Group 1108"/>
          <p:cNvGrpSpPr>
            <a:grpSpLocks/>
          </p:cNvGrpSpPr>
          <p:nvPr/>
        </p:nvGrpSpPr>
        <p:grpSpPr bwMode="auto">
          <a:xfrm>
            <a:off x="3917951" y="2050553"/>
            <a:ext cx="609600" cy="270272"/>
            <a:chOff x="2356" y="1300"/>
            <a:chExt cx="555" cy="194"/>
          </a:xfrm>
        </p:grpSpPr>
        <p:sp>
          <p:nvSpPr>
            <p:cNvPr id="114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5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6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117" name="Group 1112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20" name="Freeform 111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Freeform 111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8" name="Line 1115"/>
            <p:cNvSpPr>
              <a:spLocks noChangeShapeType="1"/>
            </p:cNvSpPr>
            <p:nvPr/>
          </p:nvSpPr>
          <p:spPr bwMode="auto">
            <a:xfrm>
              <a:off x="2357" y="1361"/>
              <a:ext cx="0" cy="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116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2" name="Group 906"/>
          <p:cNvGrpSpPr>
            <a:grpSpLocks/>
          </p:cNvGrpSpPr>
          <p:nvPr/>
        </p:nvGrpSpPr>
        <p:grpSpPr bwMode="auto">
          <a:xfrm>
            <a:off x="6124179" y="2307728"/>
            <a:ext cx="275034" cy="434578"/>
            <a:chOff x="4140" y="429"/>
            <a:chExt cx="1425" cy="2396"/>
          </a:xfrm>
        </p:grpSpPr>
        <p:sp>
          <p:nvSpPr>
            <p:cNvPr id="123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908"/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25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911"/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128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3" name="AutoShape 913"/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54" name="AutoShape 914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9" name="Rectangle 915"/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130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1" name="AutoShape 91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52" name="AutoShape 918"/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1" name="Rectangle 919"/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32" name="Rectangle 920"/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133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9" name="AutoShape 922"/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50" name="AutoShape 923"/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4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5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7" name="AutoShape 926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48" name="AutoShape 927"/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6" name="Rectangle 928"/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37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Oval 931"/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0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AutoShape 933"/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2" name="AutoShape 934"/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3" name="Oval 935"/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4" name="Oval 936"/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5" name="Oval 937"/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6" name="Rectangle 938"/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55" name="Text Box 80"/>
          <p:cNvSpPr txBox="1">
            <a:spLocks noChangeArrowheads="1"/>
          </p:cNvSpPr>
          <p:nvPr/>
        </p:nvSpPr>
        <p:spPr bwMode="auto">
          <a:xfrm>
            <a:off x="5058294" y="3034471"/>
            <a:ext cx="70403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交换机</a:t>
            </a:r>
            <a:endParaRPr lang="en-US" altLang="zh-CN" sz="135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6" name="灯片编号占位符 2">
            <a:extLst>
              <a:ext uri="{FF2B5EF4-FFF2-40B4-BE49-F238E27FC236}">
                <a16:creationId xmlns:a16="http://schemas.microsoft.com/office/drawing/2014/main" id="{2CE2489A-2C22-4D67-A7BD-BF88AB7E0AD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36</a:t>
            </a:fld>
            <a:endParaRPr lang="en-US" altLang="zh-CN" dirty="0"/>
          </a:p>
        </p:txBody>
      </p:sp>
      <p:sp>
        <p:nvSpPr>
          <p:cNvPr id="157" name="AutoShape 5">
            <a:extLst>
              <a:ext uri="{FF2B5EF4-FFF2-40B4-BE49-F238E27FC236}">
                <a16:creationId xmlns:a16="http://schemas.microsoft.com/office/drawing/2014/main" id="{14F1CF40-7907-4C00-AC69-140D14DA7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47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  <p:bldP spid="157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5.4.3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链路层交换机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交换机和路由器的比较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存储转发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路由器：网络层设备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交换机：链路层设备</a:t>
            </a: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转发表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路由器：路由选择算法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交换机：自学习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579665" y="915566"/>
            <a:ext cx="3394713" cy="4165333"/>
            <a:chOff x="4294188" y="723900"/>
            <a:chExt cx="4867275" cy="5972175"/>
          </a:xfrm>
        </p:grpSpPr>
        <p:sp>
          <p:nvSpPr>
            <p:cNvPr id="8" name="Freeform 3"/>
            <p:cNvSpPr>
              <a:spLocks/>
            </p:cNvSpPr>
            <p:nvPr/>
          </p:nvSpPr>
          <p:spPr bwMode="auto">
            <a:xfrm flipH="1">
              <a:off x="6543675" y="2103438"/>
              <a:ext cx="638175" cy="852487"/>
            </a:xfrm>
            <a:custGeom>
              <a:avLst/>
              <a:gdLst>
                <a:gd name="T0" fmla="*/ 2147483646 w 402"/>
                <a:gd name="T1" fmla="*/ 2147483646 h 537"/>
                <a:gd name="T2" fmla="*/ 2147483646 w 402"/>
                <a:gd name="T3" fmla="*/ 0 h 537"/>
                <a:gd name="T4" fmla="*/ 0 w 402"/>
                <a:gd name="T5" fmla="*/ 2147483646 h 537"/>
                <a:gd name="T6" fmla="*/ 2147483646 w 402"/>
                <a:gd name="T7" fmla="*/ 2147483646 h 537"/>
                <a:gd name="T8" fmla="*/ 2147483646 w 402"/>
                <a:gd name="T9" fmla="*/ 2147483646 h 5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2"/>
                <a:gd name="T16" fmla="*/ 0 h 537"/>
                <a:gd name="T17" fmla="*/ 402 w 402"/>
                <a:gd name="T18" fmla="*/ 537 h 5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2" h="537">
                  <a:moveTo>
                    <a:pt x="402" y="363"/>
                  </a:moveTo>
                  <a:lnTo>
                    <a:pt x="28" y="0"/>
                  </a:lnTo>
                  <a:lnTo>
                    <a:pt x="0" y="470"/>
                  </a:lnTo>
                  <a:lnTo>
                    <a:pt x="242" y="537"/>
                  </a:lnTo>
                  <a:lnTo>
                    <a:pt x="402" y="363"/>
                  </a:ln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9" name="Freeform 10"/>
            <p:cNvSpPr>
              <a:spLocks/>
            </p:cNvSpPr>
            <p:nvPr/>
          </p:nvSpPr>
          <p:spPr bwMode="auto">
            <a:xfrm>
              <a:off x="6530975" y="844550"/>
              <a:ext cx="360363" cy="1577975"/>
            </a:xfrm>
            <a:custGeom>
              <a:avLst/>
              <a:gdLst>
                <a:gd name="T0" fmla="*/ 2147483646 w 267"/>
                <a:gd name="T1" fmla="*/ 2147483646 h 1186"/>
                <a:gd name="T2" fmla="*/ 0 w 267"/>
                <a:gd name="T3" fmla="*/ 0 h 1186"/>
                <a:gd name="T4" fmla="*/ 0 w 267"/>
                <a:gd name="T5" fmla="*/ 2147483646 h 1186"/>
                <a:gd name="T6" fmla="*/ 2147483646 w 267"/>
                <a:gd name="T7" fmla="*/ 2147483646 h 1186"/>
                <a:gd name="T8" fmla="*/ 2147483646 w 267"/>
                <a:gd name="T9" fmla="*/ 2147483646 h 1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7"/>
                <a:gd name="T16" fmla="*/ 0 h 1186"/>
                <a:gd name="T17" fmla="*/ 267 w 267"/>
                <a:gd name="T18" fmla="*/ 1186 h 11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7" h="1186">
                  <a:moveTo>
                    <a:pt x="254" y="466"/>
                  </a:moveTo>
                  <a:lnTo>
                    <a:pt x="0" y="0"/>
                  </a:lnTo>
                  <a:lnTo>
                    <a:pt x="0" y="1186"/>
                  </a:lnTo>
                  <a:lnTo>
                    <a:pt x="267" y="652"/>
                  </a:lnTo>
                  <a:lnTo>
                    <a:pt x="254" y="466"/>
                  </a:ln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0" name="Rectangle 23"/>
            <p:cNvSpPr>
              <a:spLocks noChangeArrowheads="1"/>
            </p:cNvSpPr>
            <p:nvPr/>
          </p:nvSpPr>
          <p:spPr bwMode="auto">
            <a:xfrm>
              <a:off x="5307013" y="850900"/>
              <a:ext cx="1296987" cy="15462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 24"/>
            <p:cNvSpPr>
              <a:spLocks noChangeArrowheads="1"/>
            </p:cNvSpPr>
            <p:nvPr/>
          </p:nvSpPr>
          <p:spPr bwMode="auto">
            <a:xfrm>
              <a:off x="5259388" y="922338"/>
              <a:ext cx="1273175" cy="15367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Line 25"/>
            <p:cNvSpPr>
              <a:spLocks noChangeShapeType="1"/>
            </p:cNvSpPr>
            <p:nvPr/>
          </p:nvSpPr>
          <p:spPr bwMode="auto">
            <a:xfrm>
              <a:off x="5259388" y="1239838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13" name="Text Box 26"/>
            <p:cNvSpPr txBox="1">
              <a:spLocks noChangeArrowheads="1"/>
            </p:cNvSpPr>
            <p:nvPr/>
          </p:nvSpPr>
          <p:spPr bwMode="auto">
            <a:xfrm>
              <a:off x="5216525" y="889000"/>
              <a:ext cx="1317625" cy="1566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application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transport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network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physical</a:t>
              </a:r>
            </a:p>
          </p:txBody>
        </p:sp>
        <p:sp>
          <p:nvSpPr>
            <p:cNvPr id="14" name="Line 27"/>
            <p:cNvSpPr>
              <a:spLocks noChangeShapeType="1"/>
            </p:cNvSpPr>
            <p:nvPr/>
          </p:nvSpPr>
          <p:spPr bwMode="auto">
            <a:xfrm>
              <a:off x="5267325" y="1560513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15" name="Line 28"/>
            <p:cNvSpPr>
              <a:spLocks noChangeShapeType="1"/>
            </p:cNvSpPr>
            <p:nvPr/>
          </p:nvSpPr>
          <p:spPr bwMode="auto">
            <a:xfrm>
              <a:off x="5272088" y="1841500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16" name="Line 29"/>
            <p:cNvSpPr>
              <a:spLocks noChangeShapeType="1"/>
            </p:cNvSpPr>
            <p:nvPr/>
          </p:nvSpPr>
          <p:spPr bwMode="auto">
            <a:xfrm>
              <a:off x="5272088" y="2117725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grpSp>
          <p:nvGrpSpPr>
            <p:cNvPr id="17" name="Group 88"/>
            <p:cNvGrpSpPr>
              <a:grpSpLocks/>
            </p:cNvGrpSpPr>
            <p:nvPr/>
          </p:nvGrpSpPr>
          <p:grpSpPr bwMode="auto">
            <a:xfrm>
              <a:off x="6716713" y="3525838"/>
              <a:ext cx="1387475" cy="1022351"/>
              <a:chOff x="3601" y="168"/>
              <a:chExt cx="874" cy="644"/>
            </a:xfrm>
          </p:grpSpPr>
          <p:sp>
            <p:nvSpPr>
              <p:cNvPr id="18" name="Rectangle 89"/>
              <p:cNvSpPr>
                <a:spLocks noChangeArrowheads="1"/>
              </p:cNvSpPr>
              <p:nvPr/>
            </p:nvSpPr>
            <p:spPr bwMode="auto">
              <a:xfrm>
                <a:off x="3658" y="168"/>
                <a:ext cx="817" cy="59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5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90"/>
              <p:cNvSpPr>
                <a:spLocks noChangeArrowheads="1"/>
              </p:cNvSpPr>
              <p:nvPr/>
            </p:nvSpPr>
            <p:spPr bwMode="auto">
              <a:xfrm>
                <a:off x="3628" y="213"/>
                <a:ext cx="802" cy="5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5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Line 91"/>
              <p:cNvSpPr>
                <a:spLocks noChangeShapeType="1"/>
              </p:cNvSpPr>
              <p:nvPr/>
            </p:nvSpPr>
            <p:spPr bwMode="auto">
              <a:xfrm>
                <a:off x="3628" y="413"/>
                <a:ext cx="796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21" name="Text Box 92"/>
              <p:cNvSpPr txBox="1">
                <a:spLocks noChangeArrowheads="1"/>
              </p:cNvSpPr>
              <p:nvPr/>
            </p:nvSpPr>
            <p:spPr bwMode="auto">
              <a:xfrm>
                <a:off x="3601" y="192"/>
                <a:ext cx="830" cy="6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network</a:t>
                </a:r>
              </a:p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link</a:t>
                </a:r>
              </a:p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physical</a:t>
                </a:r>
              </a:p>
            </p:txBody>
          </p:sp>
          <p:sp>
            <p:nvSpPr>
              <p:cNvPr id="22" name="Line 93"/>
              <p:cNvSpPr>
                <a:spLocks noChangeShapeType="1"/>
              </p:cNvSpPr>
              <p:nvPr/>
            </p:nvSpPr>
            <p:spPr bwMode="auto">
              <a:xfrm>
                <a:off x="3633" y="615"/>
                <a:ext cx="796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</p:grpSp>
        <p:grpSp>
          <p:nvGrpSpPr>
            <p:cNvPr id="23" name="Group 94"/>
            <p:cNvGrpSpPr>
              <a:grpSpLocks/>
            </p:cNvGrpSpPr>
            <p:nvPr/>
          </p:nvGrpSpPr>
          <p:grpSpPr bwMode="auto">
            <a:xfrm>
              <a:off x="7054850" y="2100263"/>
              <a:ext cx="1387475" cy="730250"/>
              <a:chOff x="4696" y="597"/>
              <a:chExt cx="874" cy="460"/>
            </a:xfrm>
          </p:grpSpPr>
          <p:sp>
            <p:nvSpPr>
              <p:cNvPr id="24" name="Rectangle 95"/>
              <p:cNvSpPr>
                <a:spLocks noChangeArrowheads="1"/>
              </p:cNvSpPr>
              <p:nvPr/>
            </p:nvSpPr>
            <p:spPr bwMode="auto">
              <a:xfrm>
                <a:off x="4753" y="597"/>
                <a:ext cx="817" cy="41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5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Rectangle 96"/>
              <p:cNvSpPr>
                <a:spLocks noChangeArrowheads="1"/>
              </p:cNvSpPr>
              <p:nvPr/>
            </p:nvSpPr>
            <p:spPr bwMode="auto">
              <a:xfrm>
                <a:off x="4723" y="642"/>
                <a:ext cx="802" cy="41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5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Line 97"/>
              <p:cNvSpPr>
                <a:spLocks noChangeShapeType="1"/>
              </p:cNvSpPr>
              <p:nvPr/>
            </p:nvSpPr>
            <p:spPr bwMode="auto">
              <a:xfrm>
                <a:off x="4723" y="842"/>
                <a:ext cx="796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27" name="Text Box 98"/>
              <p:cNvSpPr txBox="1">
                <a:spLocks noChangeArrowheads="1"/>
              </p:cNvSpPr>
              <p:nvPr/>
            </p:nvSpPr>
            <p:spPr bwMode="auto">
              <a:xfrm>
                <a:off x="4696" y="621"/>
                <a:ext cx="830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link</a:t>
                </a:r>
              </a:p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physical</a:t>
                </a:r>
              </a:p>
            </p:txBody>
          </p:sp>
        </p:grpSp>
        <p:sp>
          <p:nvSpPr>
            <p:cNvPr id="28" name="Text Box 167"/>
            <p:cNvSpPr txBox="1">
              <a:spLocks noChangeArrowheads="1"/>
            </p:cNvSpPr>
            <p:nvPr/>
          </p:nvSpPr>
          <p:spPr bwMode="auto">
            <a:xfrm>
              <a:off x="5854699" y="3003551"/>
              <a:ext cx="951979" cy="397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switch</a:t>
              </a:r>
            </a:p>
          </p:txBody>
        </p:sp>
        <p:grpSp>
          <p:nvGrpSpPr>
            <p:cNvPr id="29" name="Group 39"/>
            <p:cNvGrpSpPr>
              <a:grpSpLocks/>
            </p:cNvGrpSpPr>
            <p:nvPr/>
          </p:nvGrpSpPr>
          <p:grpSpPr bwMode="auto">
            <a:xfrm>
              <a:off x="4408489" y="1562100"/>
              <a:ext cx="963613" cy="330200"/>
              <a:chOff x="1070" y="918"/>
              <a:chExt cx="607" cy="208"/>
            </a:xfrm>
          </p:grpSpPr>
          <p:sp>
            <p:nvSpPr>
              <p:cNvPr id="30" name="Rectangle 40"/>
              <p:cNvSpPr>
                <a:spLocks noChangeArrowheads="1"/>
              </p:cNvSpPr>
              <p:nvPr/>
            </p:nvSpPr>
            <p:spPr bwMode="auto">
              <a:xfrm>
                <a:off x="1082" y="939"/>
                <a:ext cx="576" cy="13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20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Text Box 4"/>
              <p:cNvSpPr txBox="1">
                <a:spLocks noChangeArrowheads="1"/>
              </p:cNvSpPr>
              <p:nvPr/>
            </p:nvSpPr>
            <p:spPr bwMode="auto">
              <a:xfrm>
                <a:off x="1070" y="918"/>
                <a:ext cx="607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solidFill>
                      <a:srgbClr val="CC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datagram</a:t>
                </a:r>
              </a:p>
            </p:txBody>
          </p:sp>
        </p:grpSp>
        <p:sp>
          <p:nvSpPr>
            <p:cNvPr id="32" name="Rectangle 57"/>
            <p:cNvSpPr>
              <a:spLocks noChangeArrowheads="1"/>
            </p:cNvSpPr>
            <p:nvPr/>
          </p:nvSpPr>
          <p:spPr bwMode="auto">
            <a:xfrm>
              <a:off x="5208588" y="4594225"/>
              <a:ext cx="1296987" cy="15462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58"/>
            <p:cNvSpPr>
              <a:spLocks noChangeArrowheads="1"/>
            </p:cNvSpPr>
            <p:nvPr/>
          </p:nvSpPr>
          <p:spPr bwMode="auto">
            <a:xfrm>
              <a:off x="5160963" y="4665663"/>
              <a:ext cx="1273175" cy="15367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Line 59"/>
            <p:cNvSpPr>
              <a:spLocks noChangeShapeType="1"/>
            </p:cNvSpPr>
            <p:nvPr/>
          </p:nvSpPr>
          <p:spPr bwMode="auto">
            <a:xfrm>
              <a:off x="5160963" y="4983163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35" name="Text Box 60"/>
            <p:cNvSpPr txBox="1">
              <a:spLocks noChangeArrowheads="1"/>
            </p:cNvSpPr>
            <p:nvPr/>
          </p:nvSpPr>
          <p:spPr bwMode="auto">
            <a:xfrm>
              <a:off x="5118099" y="4632325"/>
              <a:ext cx="1317625" cy="1566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application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transport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network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physical</a:t>
              </a:r>
            </a:p>
          </p:txBody>
        </p:sp>
        <p:sp>
          <p:nvSpPr>
            <p:cNvPr id="36" name="Line 61"/>
            <p:cNvSpPr>
              <a:spLocks noChangeShapeType="1"/>
            </p:cNvSpPr>
            <p:nvPr/>
          </p:nvSpPr>
          <p:spPr bwMode="auto">
            <a:xfrm>
              <a:off x="5168900" y="5303838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37" name="Line 62"/>
            <p:cNvSpPr>
              <a:spLocks noChangeShapeType="1"/>
            </p:cNvSpPr>
            <p:nvPr/>
          </p:nvSpPr>
          <p:spPr bwMode="auto">
            <a:xfrm>
              <a:off x="5173663" y="5584825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38" name="Line 63"/>
            <p:cNvSpPr>
              <a:spLocks noChangeShapeType="1"/>
            </p:cNvSpPr>
            <p:nvPr/>
          </p:nvSpPr>
          <p:spPr bwMode="auto">
            <a:xfrm>
              <a:off x="5173663" y="5861050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auto">
            <a:xfrm>
              <a:off x="6472238" y="4600575"/>
              <a:ext cx="381000" cy="1857375"/>
            </a:xfrm>
            <a:custGeom>
              <a:avLst/>
              <a:gdLst>
                <a:gd name="T0" fmla="*/ 0 w 240"/>
                <a:gd name="T1" fmla="*/ 2147483646 h 1170"/>
                <a:gd name="T2" fmla="*/ 2147483646 w 240"/>
                <a:gd name="T3" fmla="*/ 0 h 1170"/>
                <a:gd name="T4" fmla="*/ 2147483646 w 240"/>
                <a:gd name="T5" fmla="*/ 2147483646 h 1170"/>
                <a:gd name="T6" fmla="*/ 2147483646 w 240"/>
                <a:gd name="T7" fmla="*/ 2147483646 h 1170"/>
                <a:gd name="T8" fmla="*/ 0 w 240"/>
                <a:gd name="T9" fmla="*/ 2147483646 h 1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0" h="1170">
                  <a:moveTo>
                    <a:pt x="0" y="960"/>
                  </a:moveTo>
                  <a:lnTo>
                    <a:pt x="6" y="0"/>
                  </a:lnTo>
                  <a:lnTo>
                    <a:pt x="240" y="1092"/>
                  </a:lnTo>
                  <a:lnTo>
                    <a:pt x="168" y="1170"/>
                  </a:lnTo>
                  <a:lnTo>
                    <a:pt x="0" y="96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  <p:grpSp>
          <p:nvGrpSpPr>
            <p:cNvPr id="40" name="Group 50"/>
            <p:cNvGrpSpPr>
              <a:grpSpLocks/>
            </p:cNvGrpSpPr>
            <p:nvPr/>
          </p:nvGrpSpPr>
          <p:grpSpPr bwMode="auto">
            <a:xfrm>
              <a:off x="4294188" y="1814518"/>
              <a:ext cx="1095375" cy="363538"/>
              <a:chOff x="998" y="1077"/>
              <a:chExt cx="690" cy="229"/>
            </a:xfrm>
          </p:grpSpPr>
          <p:sp>
            <p:nvSpPr>
              <p:cNvPr id="41" name="Rectangle 51"/>
              <p:cNvSpPr>
                <a:spLocks noChangeArrowheads="1"/>
              </p:cNvSpPr>
              <p:nvPr/>
            </p:nvSpPr>
            <p:spPr bwMode="auto">
              <a:xfrm>
                <a:off x="998" y="1113"/>
                <a:ext cx="690" cy="13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20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Text Box 7"/>
              <p:cNvSpPr txBox="1">
                <a:spLocks noChangeArrowheads="1"/>
              </p:cNvSpPr>
              <p:nvPr/>
            </p:nvSpPr>
            <p:spPr bwMode="auto">
              <a:xfrm>
                <a:off x="1107" y="1077"/>
                <a:ext cx="47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50">
                    <a:solidFill>
                      <a:srgbClr val="CC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frame</a:t>
                </a:r>
              </a:p>
            </p:txBody>
          </p:sp>
        </p:grpSp>
        <p:sp>
          <p:nvSpPr>
            <p:cNvPr id="43" name="Freeform 53"/>
            <p:cNvSpPr>
              <a:spLocks/>
            </p:cNvSpPr>
            <p:nvPr/>
          </p:nvSpPr>
          <p:spPr bwMode="auto">
            <a:xfrm>
              <a:off x="5281613" y="723900"/>
              <a:ext cx="2924175" cy="5314950"/>
            </a:xfrm>
            <a:custGeom>
              <a:avLst/>
              <a:gdLst>
                <a:gd name="T0" fmla="*/ 2147483646 w 1842"/>
                <a:gd name="T1" fmla="*/ 0 h 3348"/>
                <a:gd name="T2" fmla="*/ 2147483646 w 1842"/>
                <a:gd name="T3" fmla="*/ 2147483646 h 3348"/>
                <a:gd name="T4" fmla="*/ 2147483646 w 1842"/>
                <a:gd name="T5" fmla="*/ 2147483646 h 3348"/>
                <a:gd name="T6" fmla="*/ 2147483646 w 1842"/>
                <a:gd name="T7" fmla="*/ 2147483646 h 3348"/>
                <a:gd name="T8" fmla="*/ 2147483646 w 1842"/>
                <a:gd name="T9" fmla="*/ 2147483646 h 3348"/>
                <a:gd name="T10" fmla="*/ 2147483646 w 1842"/>
                <a:gd name="T11" fmla="*/ 2147483646 h 3348"/>
                <a:gd name="T12" fmla="*/ 2147483646 w 1842"/>
                <a:gd name="T13" fmla="*/ 2147483646 h 3348"/>
                <a:gd name="T14" fmla="*/ 2147483646 w 1842"/>
                <a:gd name="T15" fmla="*/ 2147483646 h 3348"/>
                <a:gd name="T16" fmla="*/ 2147483646 w 1842"/>
                <a:gd name="T17" fmla="*/ 2147483646 h 3348"/>
                <a:gd name="T18" fmla="*/ 2147483646 w 1842"/>
                <a:gd name="T19" fmla="*/ 2147483646 h 3348"/>
                <a:gd name="T20" fmla="*/ 2147483646 w 1842"/>
                <a:gd name="T21" fmla="*/ 2147483646 h 3348"/>
                <a:gd name="T22" fmla="*/ 2147483646 w 1842"/>
                <a:gd name="T23" fmla="*/ 2147483646 h 3348"/>
                <a:gd name="T24" fmla="*/ 0 w 1842"/>
                <a:gd name="T25" fmla="*/ 2147483646 h 33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842" h="3348">
                  <a:moveTo>
                    <a:pt x="132" y="0"/>
                  </a:moveTo>
                  <a:lnTo>
                    <a:pt x="138" y="1200"/>
                  </a:lnTo>
                  <a:lnTo>
                    <a:pt x="1326" y="1200"/>
                  </a:lnTo>
                  <a:lnTo>
                    <a:pt x="1326" y="948"/>
                  </a:lnTo>
                  <a:lnTo>
                    <a:pt x="1830" y="948"/>
                  </a:lnTo>
                  <a:lnTo>
                    <a:pt x="1842" y="2496"/>
                  </a:lnTo>
                  <a:lnTo>
                    <a:pt x="1656" y="2340"/>
                  </a:lnTo>
                  <a:lnTo>
                    <a:pt x="1644" y="1896"/>
                  </a:lnTo>
                  <a:lnTo>
                    <a:pt x="1248" y="1902"/>
                  </a:lnTo>
                  <a:lnTo>
                    <a:pt x="1230" y="2430"/>
                  </a:lnTo>
                  <a:lnTo>
                    <a:pt x="774" y="3348"/>
                  </a:lnTo>
                  <a:lnTo>
                    <a:pt x="6" y="3348"/>
                  </a:lnTo>
                  <a:lnTo>
                    <a:pt x="0" y="2226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  <p:grpSp>
          <p:nvGrpSpPr>
            <p:cNvPr id="44" name="Group 54"/>
            <p:cNvGrpSpPr>
              <a:grpSpLocks/>
            </p:cNvGrpSpPr>
            <p:nvPr/>
          </p:nvGrpSpPr>
          <p:grpSpPr bwMode="auto">
            <a:xfrm>
              <a:off x="8066088" y="2166943"/>
              <a:ext cx="1095375" cy="363538"/>
              <a:chOff x="998" y="1077"/>
              <a:chExt cx="690" cy="229"/>
            </a:xfrm>
          </p:grpSpPr>
          <p:sp>
            <p:nvSpPr>
              <p:cNvPr id="45" name="Rectangle 55"/>
              <p:cNvSpPr>
                <a:spLocks noChangeArrowheads="1"/>
              </p:cNvSpPr>
              <p:nvPr/>
            </p:nvSpPr>
            <p:spPr bwMode="auto">
              <a:xfrm>
                <a:off x="998" y="1113"/>
                <a:ext cx="690" cy="13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20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Text Box 7"/>
              <p:cNvSpPr txBox="1">
                <a:spLocks noChangeArrowheads="1"/>
              </p:cNvSpPr>
              <p:nvPr/>
            </p:nvSpPr>
            <p:spPr bwMode="auto">
              <a:xfrm>
                <a:off x="1107" y="1077"/>
                <a:ext cx="47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50">
                    <a:solidFill>
                      <a:srgbClr val="CC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frame</a:t>
                </a:r>
              </a:p>
            </p:txBody>
          </p:sp>
        </p:grpSp>
        <p:grpSp>
          <p:nvGrpSpPr>
            <p:cNvPr id="47" name="Group 57"/>
            <p:cNvGrpSpPr>
              <a:grpSpLocks/>
            </p:cNvGrpSpPr>
            <p:nvPr/>
          </p:nvGrpSpPr>
          <p:grpSpPr bwMode="auto">
            <a:xfrm>
              <a:off x="7742238" y="3919543"/>
              <a:ext cx="1095375" cy="363538"/>
              <a:chOff x="998" y="1077"/>
              <a:chExt cx="690" cy="229"/>
            </a:xfrm>
          </p:grpSpPr>
          <p:sp>
            <p:nvSpPr>
              <p:cNvPr id="48" name="Rectangle 58"/>
              <p:cNvSpPr>
                <a:spLocks noChangeArrowheads="1"/>
              </p:cNvSpPr>
              <p:nvPr/>
            </p:nvSpPr>
            <p:spPr bwMode="auto">
              <a:xfrm>
                <a:off x="998" y="1113"/>
                <a:ext cx="690" cy="13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20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Text Box 7"/>
              <p:cNvSpPr txBox="1">
                <a:spLocks noChangeArrowheads="1"/>
              </p:cNvSpPr>
              <p:nvPr/>
            </p:nvSpPr>
            <p:spPr bwMode="auto">
              <a:xfrm>
                <a:off x="1107" y="1077"/>
                <a:ext cx="47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50">
                    <a:solidFill>
                      <a:srgbClr val="CC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frame</a:t>
                </a:r>
              </a:p>
            </p:txBody>
          </p:sp>
        </p:grpSp>
        <p:grpSp>
          <p:nvGrpSpPr>
            <p:cNvPr id="50" name="Group 60"/>
            <p:cNvGrpSpPr>
              <a:grpSpLocks/>
            </p:cNvGrpSpPr>
            <p:nvPr/>
          </p:nvGrpSpPr>
          <p:grpSpPr bwMode="auto">
            <a:xfrm>
              <a:off x="7808914" y="3638550"/>
              <a:ext cx="963613" cy="330200"/>
              <a:chOff x="1070" y="918"/>
              <a:chExt cx="607" cy="208"/>
            </a:xfrm>
          </p:grpSpPr>
          <p:sp>
            <p:nvSpPr>
              <p:cNvPr id="51" name="Rectangle 61"/>
              <p:cNvSpPr>
                <a:spLocks noChangeArrowheads="1"/>
              </p:cNvSpPr>
              <p:nvPr/>
            </p:nvSpPr>
            <p:spPr bwMode="auto">
              <a:xfrm>
                <a:off x="1082" y="939"/>
                <a:ext cx="576" cy="13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20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" name="Text Box 4"/>
              <p:cNvSpPr txBox="1">
                <a:spLocks noChangeArrowheads="1"/>
              </p:cNvSpPr>
              <p:nvPr/>
            </p:nvSpPr>
            <p:spPr bwMode="auto">
              <a:xfrm>
                <a:off x="1070" y="918"/>
                <a:ext cx="607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>
                    <a:solidFill>
                      <a:srgbClr val="CC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datagram</a:t>
                </a:r>
              </a:p>
            </p:txBody>
          </p:sp>
        </p:grpSp>
        <p:sp>
          <p:nvSpPr>
            <p:cNvPr id="53" name="Freeform 63"/>
            <p:cNvSpPr>
              <a:spLocks/>
            </p:cNvSpPr>
            <p:nvPr/>
          </p:nvSpPr>
          <p:spPr bwMode="auto">
            <a:xfrm>
              <a:off x="6424613" y="3533775"/>
              <a:ext cx="361950" cy="923925"/>
            </a:xfrm>
            <a:custGeom>
              <a:avLst/>
              <a:gdLst>
                <a:gd name="T0" fmla="*/ 2147483646 w 228"/>
                <a:gd name="T1" fmla="*/ 0 h 582"/>
                <a:gd name="T2" fmla="*/ 2147483646 w 228"/>
                <a:gd name="T3" fmla="*/ 2147483646 h 582"/>
                <a:gd name="T4" fmla="*/ 2147483646 w 228"/>
                <a:gd name="T5" fmla="*/ 2147483646 h 582"/>
                <a:gd name="T6" fmla="*/ 0 w 228"/>
                <a:gd name="T7" fmla="*/ 2147483646 h 582"/>
                <a:gd name="T8" fmla="*/ 2147483646 w 228"/>
                <a:gd name="T9" fmla="*/ 0 h 5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8" h="582">
                  <a:moveTo>
                    <a:pt x="228" y="0"/>
                  </a:moveTo>
                  <a:lnTo>
                    <a:pt x="228" y="582"/>
                  </a:lnTo>
                  <a:lnTo>
                    <a:pt x="12" y="360"/>
                  </a:lnTo>
                  <a:lnTo>
                    <a:pt x="0" y="222"/>
                  </a:lnTo>
                  <a:lnTo>
                    <a:pt x="22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000099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  <p:grpSp>
          <p:nvGrpSpPr>
            <p:cNvPr id="54" name="Group 44"/>
            <p:cNvGrpSpPr>
              <a:grpSpLocks/>
            </p:cNvGrpSpPr>
            <p:nvPr/>
          </p:nvGrpSpPr>
          <p:grpSpPr bwMode="auto">
            <a:xfrm>
              <a:off x="6481763" y="1347788"/>
              <a:ext cx="762000" cy="693737"/>
              <a:chOff x="-44" y="1473"/>
              <a:chExt cx="981" cy="1105"/>
            </a:xfrm>
          </p:grpSpPr>
          <p:pic>
            <p:nvPicPr>
              <p:cNvPr id="5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/>
              </a:p>
            </p:txBody>
          </p:sp>
        </p:grpSp>
        <p:grpSp>
          <p:nvGrpSpPr>
            <p:cNvPr id="57" name="Group 44"/>
            <p:cNvGrpSpPr>
              <a:grpSpLocks/>
            </p:cNvGrpSpPr>
            <p:nvPr/>
          </p:nvGrpSpPr>
          <p:grpSpPr bwMode="auto">
            <a:xfrm>
              <a:off x="6461125" y="6002338"/>
              <a:ext cx="762000" cy="693737"/>
              <a:chOff x="-44" y="1473"/>
              <a:chExt cx="981" cy="1105"/>
            </a:xfrm>
          </p:grpSpPr>
          <p:pic>
            <p:nvPicPr>
              <p:cNvPr id="5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200"/>
              </a:p>
            </p:txBody>
          </p:sp>
        </p:grpSp>
        <p:pic>
          <p:nvPicPr>
            <p:cNvPr id="60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3463" y="2671763"/>
              <a:ext cx="877887" cy="390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1" name="Group 1108"/>
            <p:cNvGrpSpPr>
              <a:grpSpLocks/>
            </p:cNvGrpSpPr>
            <p:nvPr/>
          </p:nvGrpSpPr>
          <p:grpSpPr bwMode="auto">
            <a:xfrm>
              <a:off x="5881688" y="3852863"/>
              <a:ext cx="812800" cy="360362"/>
              <a:chOff x="2356" y="1300"/>
              <a:chExt cx="555" cy="194"/>
            </a:xfrm>
          </p:grpSpPr>
          <p:sp>
            <p:nvSpPr>
              <p:cNvPr id="6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5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5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5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5" name="Group 1112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68" name="Freeform 111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200"/>
                </a:p>
              </p:txBody>
            </p:sp>
            <p:sp>
              <p:nvSpPr>
                <p:cNvPr id="69" name="Freeform 111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200"/>
                </a:p>
              </p:txBody>
            </p:sp>
          </p:grpSp>
          <p:sp>
            <p:nvSpPr>
              <p:cNvPr id="66" name="Line 1115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67" name="Line 1116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</p:grpSp>
      </p:grpSp>
      <p:sp>
        <p:nvSpPr>
          <p:cNvPr id="70" name="灯片编号占位符 2">
            <a:extLst>
              <a:ext uri="{FF2B5EF4-FFF2-40B4-BE49-F238E27FC236}">
                <a16:creationId xmlns:a16="http://schemas.microsoft.com/office/drawing/2014/main" id="{BD40F735-878A-44B7-9690-69F12DE09A2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37</a:t>
            </a:fld>
            <a:endParaRPr lang="en-US" altLang="zh-CN" dirty="0"/>
          </a:p>
        </p:txBody>
      </p:sp>
      <p:sp>
        <p:nvSpPr>
          <p:cNvPr id="71" name="AutoShape 5">
            <a:extLst>
              <a:ext uri="{FF2B5EF4-FFF2-40B4-BE49-F238E27FC236}">
                <a16:creationId xmlns:a16="http://schemas.microsoft.com/office/drawing/2014/main" id="{B81F93C6-BABA-4AAE-9A1E-FEA3DABB4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690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1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699792" y="1703711"/>
            <a:ext cx="4320479" cy="158417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5.4.1 </a:t>
            </a:r>
            <a:r>
              <a:rPr lang="zh-CN" altLang="en-US" dirty="0">
                <a:effectLst/>
              </a:rPr>
              <a:t>链路层寻址和地址解析协议</a:t>
            </a:r>
            <a:endParaRPr lang="en-US" altLang="zh-CN" dirty="0">
              <a:effectLst/>
            </a:endParaRPr>
          </a:p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5.4.2 </a:t>
            </a:r>
            <a:r>
              <a:rPr lang="zh-CN" altLang="en-US" dirty="0">
                <a:effectLst/>
              </a:rPr>
              <a:t>以太网</a:t>
            </a:r>
            <a:endParaRPr lang="en-US" altLang="zh-CN" dirty="0">
              <a:effectLst/>
            </a:endParaRPr>
          </a:p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5.4.3 </a:t>
            </a:r>
            <a:r>
              <a:rPr lang="zh-CN" altLang="en-US" dirty="0">
                <a:effectLst/>
              </a:rPr>
              <a:t>链路层交换机</a:t>
            </a:r>
            <a:endParaRPr lang="en-US" altLang="zh-CN" dirty="0">
              <a:effectLst/>
            </a:endParaRPr>
          </a:p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FF0000"/>
                </a:solidFill>
                <a:effectLst/>
              </a:rPr>
              <a:t>5.4.4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虚拟局域网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DF7558-5E1A-49CB-B7BD-3CE20640B3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635646"/>
            <a:ext cx="1668571" cy="1491630"/>
          </a:xfrm>
          <a:prstGeom prst="rect">
            <a:avLst/>
          </a:prstGeom>
        </p:spPr>
      </p:pic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223229BC-140B-4C21-A4A1-4AAD35973856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38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4192E783-58F2-4E15-A15B-102D4AD63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292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5.4.4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虚拟局域网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(VLANs)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动机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出于网络管理的需要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将局域网分成更多的组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更方便地管理用户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流量隔离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ARP/DHCP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广播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自学习产生</a:t>
            </a:r>
            <a:r>
              <a:rPr lang="en-US" altLang="zh-CN" dirty="0">
                <a:solidFill>
                  <a:srgbClr val="0066CC"/>
                </a:solidFill>
              </a:rPr>
              <a:t>flood</a:t>
            </a: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网络安全</a:t>
            </a:r>
            <a:r>
              <a:rPr lang="en-US" altLang="zh-CN" dirty="0">
                <a:solidFill>
                  <a:srgbClr val="0066CC"/>
                </a:solidFill>
              </a:rPr>
              <a:t>/</a:t>
            </a:r>
            <a:r>
              <a:rPr lang="zh-CN" altLang="en-US" dirty="0">
                <a:solidFill>
                  <a:srgbClr val="0066CC"/>
                </a:solidFill>
              </a:rPr>
              <a:t>隐私的考虑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……</a:t>
            </a:r>
          </a:p>
          <a:p>
            <a:pPr lvl="2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512469" y="1434109"/>
            <a:ext cx="3234929" cy="2408604"/>
            <a:chOff x="4492625" y="1912145"/>
            <a:chExt cx="4313238" cy="3211471"/>
          </a:xfrm>
        </p:grpSpPr>
        <p:grpSp>
          <p:nvGrpSpPr>
            <p:cNvPr id="72" name="Group 86"/>
            <p:cNvGrpSpPr>
              <a:grpSpLocks/>
            </p:cNvGrpSpPr>
            <p:nvPr/>
          </p:nvGrpSpPr>
          <p:grpSpPr bwMode="auto">
            <a:xfrm>
              <a:off x="4492625" y="1912145"/>
              <a:ext cx="4313238" cy="2789237"/>
              <a:chOff x="603606" y="1821224"/>
              <a:chExt cx="7473718" cy="4320390"/>
            </a:xfrm>
          </p:grpSpPr>
          <p:sp>
            <p:nvSpPr>
              <p:cNvPr id="73" name="Freeform 81"/>
              <p:cNvSpPr>
                <a:spLocks/>
              </p:cNvSpPr>
              <p:nvPr/>
            </p:nvSpPr>
            <p:spPr bwMode="auto">
              <a:xfrm rot="5400000">
                <a:off x="2180270" y="244560"/>
                <a:ext cx="4320390" cy="7473718"/>
              </a:xfrm>
              <a:custGeom>
                <a:avLst/>
                <a:gdLst>
                  <a:gd name="T0" fmla="*/ 2147483646 w 10000"/>
                  <a:gd name="T1" fmla="*/ 2147483646 h 9831"/>
                  <a:gd name="T2" fmla="*/ 2147483646 w 10000"/>
                  <a:gd name="T3" fmla="*/ 2147483646 h 9831"/>
                  <a:gd name="T4" fmla="*/ 2147483646 w 10000"/>
                  <a:gd name="T5" fmla="*/ 2147483646 h 9831"/>
                  <a:gd name="T6" fmla="*/ 2147483646 w 10000"/>
                  <a:gd name="T7" fmla="*/ 2147483646 h 9831"/>
                  <a:gd name="T8" fmla="*/ 2147483646 w 10000"/>
                  <a:gd name="T9" fmla="*/ 2147483646 h 9831"/>
                  <a:gd name="T10" fmla="*/ 2147483646 w 10000"/>
                  <a:gd name="T11" fmla="*/ 2147483646 h 9831"/>
                  <a:gd name="T12" fmla="*/ 2147483646 w 10000"/>
                  <a:gd name="T13" fmla="*/ 2147483646 h 9831"/>
                  <a:gd name="T14" fmla="*/ 2147483646 w 10000"/>
                  <a:gd name="T15" fmla="*/ 2147483646 h 9831"/>
                  <a:gd name="T16" fmla="*/ 2147483646 w 10000"/>
                  <a:gd name="T17" fmla="*/ 2147483646 h 9831"/>
                  <a:gd name="T18" fmla="*/ 2147483646 w 10000"/>
                  <a:gd name="T19" fmla="*/ 2147483646 h 9831"/>
                  <a:gd name="T20" fmla="*/ 2147483646 w 10000"/>
                  <a:gd name="T21" fmla="*/ 2147483646 h 9831"/>
                  <a:gd name="T22" fmla="*/ 2147483646 w 10000"/>
                  <a:gd name="T23" fmla="*/ 2147483646 h 983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0000" h="9831">
                    <a:moveTo>
                      <a:pt x="3018" y="119"/>
                    </a:moveTo>
                    <a:cubicBezTo>
                      <a:pt x="2111" y="198"/>
                      <a:pt x="1047" y="-39"/>
                      <a:pt x="545" y="518"/>
                    </a:cubicBezTo>
                    <a:cubicBezTo>
                      <a:pt x="43" y="1076"/>
                      <a:pt x="40" y="2518"/>
                      <a:pt x="8" y="3464"/>
                    </a:cubicBezTo>
                    <a:cubicBezTo>
                      <a:pt x="-24" y="4411"/>
                      <a:pt x="32" y="5681"/>
                      <a:pt x="354" y="6198"/>
                    </a:cubicBezTo>
                    <a:cubicBezTo>
                      <a:pt x="677" y="6715"/>
                      <a:pt x="1127" y="6126"/>
                      <a:pt x="1947" y="6568"/>
                    </a:cubicBezTo>
                    <a:cubicBezTo>
                      <a:pt x="2769" y="7010"/>
                      <a:pt x="4247" y="8310"/>
                      <a:pt x="5285" y="8849"/>
                    </a:cubicBezTo>
                    <a:cubicBezTo>
                      <a:pt x="6321" y="9388"/>
                      <a:pt x="7408" y="9963"/>
                      <a:pt x="8172" y="9805"/>
                    </a:cubicBezTo>
                    <a:cubicBezTo>
                      <a:pt x="8934" y="9645"/>
                      <a:pt x="9588" y="8930"/>
                      <a:pt x="9864" y="7895"/>
                    </a:cubicBezTo>
                    <a:cubicBezTo>
                      <a:pt x="10140" y="6857"/>
                      <a:pt x="9927" y="4774"/>
                      <a:pt x="9830" y="3590"/>
                    </a:cubicBezTo>
                    <a:cubicBezTo>
                      <a:pt x="9733" y="2406"/>
                      <a:pt x="10004" y="1276"/>
                      <a:pt x="9282" y="788"/>
                    </a:cubicBezTo>
                    <a:cubicBezTo>
                      <a:pt x="8561" y="302"/>
                      <a:pt x="7028" y="160"/>
                      <a:pt x="5984" y="49"/>
                    </a:cubicBezTo>
                    <a:cubicBezTo>
                      <a:pt x="4940" y="-62"/>
                      <a:pt x="3924" y="41"/>
                      <a:pt x="3018" y="119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4" name="Line 33"/>
              <p:cNvSpPr>
                <a:spLocks noChangeShapeType="1"/>
              </p:cNvSpPr>
              <p:nvPr/>
            </p:nvSpPr>
            <p:spPr bwMode="auto">
              <a:xfrm flipH="1">
                <a:off x="2152264" y="3387580"/>
                <a:ext cx="2046539" cy="14163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5" name="Line 34"/>
              <p:cNvSpPr>
                <a:spLocks noChangeShapeType="1"/>
              </p:cNvSpPr>
              <p:nvPr/>
            </p:nvSpPr>
            <p:spPr bwMode="auto">
              <a:xfrm>
                <a:off x="4391354" y="3375286"/>
                <a:ext cx="0" cy="14655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6" name="Line 35"/>
              <p:cNvSpPr>
                <a:spLocks noChangeShapeType="1"/>
              </p:cNvSpPr>
              <p:nvPr/>
            </p:nvSpPr>
            <p:spPr bwMode="auto">
              <a:xfrm flipH="1" flipV="1">
                <a:off x="4583905" y="3308893"/>
                <a:ext cx="1842985" cy="16229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7" name="Line 59"/>
              <p:cNvSpPr>
                <a:spLocks noChangeShapeType="1"/>
              </p:cNvSpPr>
              <p:nvPr/>
            </p:nvSpPr>
            <p:spPr bwMode="auto">
              <a:xfrm flipV="1">
                <a:off x="4688432" y="2691695"/>
                <a:ext cx="1224071" cy="4253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8" name="Line 60"/>
              <p:cNvSpPr>
                <a:spLocks noChangeShapeType="1"/>
              </p:cNvSpPr>
              <p:nvPr/>
            </p:nvSpPr>
            <p:spPr bwMode="auto">
              <a:xfrm flipV="1">
                <a:off x="4482127" y="2369571"/>
                <a:ext cx="668427" cy="7598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9" name="Line 77"/>
              <p:cNvSpPr>
                <a:spLocks noChangeShapeType="1"/>
              </p:cNvSpPr>
              <p:nvPr/>
            </p:nvSpPr>
            <p:spPr bwMode="auto">
              <a:xfrm>
                <a:off x="3387339" y="2524486"/>
                <a:ext cx="863727" cy="6442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80" name="Line 78"/>
              <p:cNvSpPr>
                <a:spLocks noChangeShapeType="1"/>
              </p:cNvSpPr>
              <p:nvPr/>
            </p:nvSpPr>
            <p:spPr bwMode="auto">
              <a:xfrm flipH="1">
                <a:off x="1995472" y="2421210"/>
                <a:ext cx="8499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82" name="Line 20"/>
              <p:cNvSpPr>
                <a:spLocks noChangeShapeType="1"/>
              </p:cNvSpPr>
              <p:nvPr/>
            </p:nvSpPr>
            <p:spPr bwMode="auto">
              <a:xfrm flipH="1">
                <a:off x="1464583" y="4754761"/>
                <a:ext cx="55564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83" name="Line 21"/>
              <p:cNvSpPr>
                <a:spLocks noChangeShapeType="1"/>
              </p:cNvSpPr>
              <p:nvPr/>
            </p:nvSpPr>
            <p:spPr bwMode="auto">
              <a:xfrm flipH="1">
                <a:off x="1852435" y="4801482"/>
                <a:ext cx="272323" cy="3147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84" name="Line 22"/>
              <p:cNvSpPr>
                <a:spLocks noChangeShapeType="1"/>
              </p:cNvSpPr>
              <p:nvPr/>
            </p:nvSpPr>
            <p:spPr bwMode="auto">
              <a:xfrm>
                <a:off x="2270545" y="4830990"/>
                <a:ext cx="74270" cy="2950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grpSp>
            <p:nvGrpSpPr>
              <p:cNvPr id="85" name="Group 44"/>
              <p:cNvGrpSpPr>
                <a:grpSpLocks/>
              </p:cNvGrpSpPr>
              <p:nvPr/>
            </p:nvGrpSpPr>
            <p:grpSpPr bwMode="auto">
              <a:xfrm>
                <a:off x="1009737" y="4558335"/>
                <a:ext cx="568960" cy="481140"/>
                <a:chOff x="-44" y="1473"/>
                <a:chExt cx="981" cy="1105"/>
              </a:xfrm>
            </p:grpSpPr>
            <p:pic>
              <p:nvPicPr>
                <p:cNvPr id="21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14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86" name="Group 44"/>
              <p:cNvGrpSpPr>
                <a:grpSpLocks/>
              </p:cNvGrpSpPr>
              <p:nvPr/>
            </p:nvGrpSpPr>
            <p:grpSpPr bwMode="auto">
              <a:xfrm>
                <a:off x="1416137" y="5015535"/>
                <a:ext cx="568960" cy="481140"/>
                <a:chOff x="-44" y="1473"/>
                <a:chExt cx="981" cy="1105"/>
              </a:xfrm>
            </p:grpSpPr>
            <p:pic>
              <p:nvPicPr>
                <p:cNvPr id="211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12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87" name="Group 44"/>
              <p:cNvGrpSpPr>
                <a:grpSpLocks/>
              </p:cNvGrpSpPr>
              <p:nvPr/>
            </p:nvGrpSpPr>
            <p:grpSpPr bwMode="auto">
              <a:xfrm>
                <a:off x="1944457" y="5046015"/>
                <a:ext cx="568960" cy="481140"/>
                <a:chOff x="-44" y="1473"/>
                <a:chExt cx="981" cy="1105"/>
              </a:xfrm>
            </p:grpSpPr>
            <p:pic>
              <p:nvPicPr>
                <p:cNvPr id="209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10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88" name="Line 21"/>
              <p:cNvSpPr>
                <a:spLocks noChangeShapeType="1"/>
              </p:cNvSpPr>
              <p:nvPr/>
            </p:nvSpPr>
            <p:spPr bwMode="auto">
              <a:xfrm>
                <a:off x="2490603" y="4762139"/>
                <a:ext cx="379600" cy="3049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89" name="Line 22"/>
              <p:cNvSpPr>
                <a:spLocks noChangeShapeType="1"/>
              </p:cNvSpPr>
              <p:nvPr/>
            </p:nvSpPr>
            <p:spPr bwMode="auto">
              <a:xfrm flipH="1">
                <a:off x="2721663" y="5256389"/>
                <a:ext cx="121032" cy="2926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90" name="Line 22"/>
              <p:cNvSpPr>
                <a:spLocks noChangeShapeType="1"/>
              </p:cNvSpPr>
              <p:nvPr/>
            </p:nvSpPr>
            <p:spPr bwMode="auto">
              <a:xfrm>
                <a:off x="3128771" y="5266225"/>
                <a:ext cx="71519" cy="2950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91" name="Line 20"/>
              <p:cNvSpPr>
                <a:spLocks noChangeShapeType="1"/>
              </p:cNvSpPr>
              <p:nvPr/>
            </p:nvSpPr>
            <p:spPr bwMode="auto">
              <a:xfrm flipH="1">
                <a:off x="3024243" y="5148195"/>
                <a:ext cx="55564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grpSp>
            <p:nvGrpSpPr>
              <p:cNvPr id="92" name="Group 44"/>
              <p:cNvGrpSpPr>
                <a:grpSpLocks/>
              </p:cNvGrpSpPr>
              <p:nvPr/>
            </p:nvGrpSpPr>
            <p:grpSpPr bwMode="auto">
              <a:xfrm>
                <a:off x="2349105" y="5419133"/>
                <a:ext cx="568960" cy="481140"/>
                <a:chOff x="-44" y="1473"/>
                <a:chExt cx="981" cy="1105"/>
              </a:xfrm>
            </p:grpSpPr>
            <p:pic>
              <p:nvPicPr>
                <p:cNvPr id="207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8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93" name="Group 44"/>
              <p:cNvGrpSpPr>
                <a:grpSpLocks/>
              </p:cNvGrpSpPr>
              <p:nvPr/>
            </p:nvGrpSpPr>
            <p:grpSpPr bwMode="auto">
              <a:xfrm>
                <a:off x="2806305" y="5487451"/>
                <a:ext cx="568960" cy="481140"/>
                <a:chOff x="-44" y="1473"/>
                <a:chExt cx="981" cy="1105"/>
              </a:xfrm>
            </p:grpSpPr>
            <p:pic>
              <p:nvPicPr>
                <p:cNvPr id="20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6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pic>
            <p:nvPicPr>
              <p:cNvPr id="94" name="Picture 3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96446" y="4602306"/>
                <a:ext cx="676678" cy="3024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5" name="Picture 3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47395" y="5017871"/>
                <a:ext cx="679428" cy="2999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96" name="Group 44"/>
              <p:cNvGrpSpPr>
                <a:grpSpLocks/>
              </p:cNvGrpSpPr>
              <p:nvPr/>
            </p:nvGrpSpPr>
            <p:grpSpPr bwMode="auto">
              <a:xfrm>
                <a:off x="3231974" y="4946169"/>
                <a:ext cx="568960" cy="481140"/>
                <a:chOff x="-44" y="1473"/>
                <a:chExt cx="981" cy="1105"/>
              </a:xfrm>
            </p:grpSpPr>
            <p:pic>
              <p:nvPicPr>
                <p:cNvPr id="20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4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97" name="Line 20"/>
              <p:cNvSpPr>
                <a:spLocks noChangeShapeType="1"/>
              </p:cNvSpPr>
              <p:nvPr/>
            </p:nvSpPr>
            <p:spPr bwMode="auto">
              <a:xfrm flipH="1">
                <a:off x="5684194" y="5022788"/>
                <a:ext cx="55564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98" name="Line 21"/>
              <p:cNvSpPr>
                <a:spLocks noChangeShapeType="1"/>
              </p:cNvSpPr>
              <p:nvPr/>
            </p:nvSpPr>
            <p:spPr bwMode="auto">
              <a:xfrm flipH="1">
                <a:off x="6072045" y="5069508"/>
                <a:ext cx="272323" cy="3147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99" name="Line 22"/>
              <p:cNvSpPr>
                <a:spLocks noChangeShapeType="1"/>
              </p:cNvSpPr>
              <p:nvPr/>
            </p:nvSpPr>
            <p:spPr bwMode="auto">
              <a:xfrm>
                <a:off x="6490155" y="5099015"/>
                <a:ext cx="74270" cy="2950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grpSp>
            <p:nvGrpSpPr>
              <p:cNvPr id="100" name="Group 44"/>
              <p:cNvGrpSpPr>
                <a:grpSpLocks/>
              </p:cNvGrpSpPr>
              <p:nvPr/>
            </p:nvGrpSpPr>
            <p:grpSpPr bwMode="auto">
              <a:xfrm>
                <a:off x="5376787" y="4836859"/>
                <a:ext cx="568960" cy="481140"/>
                <a:chOff x="-44" y="1473"/>
                <a:chExt cx="981" cy="1105"/>
              </a:xfrm>
            </p:grpSpPr>
            <p:pic>
              <p:nvPicPr>
                <p:cNvPr id="201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2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101" name="Group 44"/>
              <p:cNvGrpSpPr>
                <a:grpSpLocks/>
              </p:cNvGrpSpPr>
              <p:nvPr/>
            </p:nvGrpSpPr>
            <p:grpSpPr bwMode="auto">
              <a:xfrm>
                <a:off x="5636042" y="5283549"/>
                <a:ext cx="568960" cy="481140"/>
                <a:chOff x="-44" y="1473"/>
                <a:chExt cx="981" cy="1105"/>
              </a:xfrm>
            </p:grpSpPr>
            <p:pic>
              <p:nvPicPr>
                <p:cNvPr id="199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0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102" name="Group 44"/>
              <p:cNvGrpSpPr>
                <a:grpSpLocks/>
              </p:cNvGrpSpPr>
              <p:nvPr/>
            </p:nvGrpSpPr>
            <p:grpSpPr bwMode="auto">
              <a:xfrm>
                <a:off x="6164362" y="5314029"/>
                <a:ext cx="568960" cy="481140"/>
                <a:chOff x="-44" y="1473"/>
                <a:chExt cx="981" cy="1105"/>
              </a:xfrm>
            </p:grpSpPr>
            <p:pic>
              <p:nvPicPr>
                <p:cNvPr id="197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8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03" name="Line 20"/>
              <p:cNvSpPr>
                <a:spLocks noChangeShapeType="1"/>
              </p:cNvSpPr>
              <p:nvPr/>
            </p:nvSpPr>
            <p:spPr bwMode="auto">
              <a:xfrm flipH="1" flipV="1">
                <a:off x="4660925" y="5069508"/>
                <a:ext cx="605159" cy="3122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04" name="Line 21"/>
              <p:cNvSpPr>
                <a:spLocks noChangeShapeType="1"/>
              </p:cNvSpPr>
              <p:nvPr/>
            </p:nvSpPr>
            <p:spPr bwMode="auto">
              <a:xfrm flipH="1">
                <a:off x="4196052" y="5022788"/>
                <a:ext cx="272323" cy="3147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05" name="Line 22"/>
              <p:cNvSpPr>
                <a:spLocks noChangeShapeType="1"/>
              </p:cNvSpPr>
              <p:nvPr/>
            </p:nvSpPr>
            <p:spPr bwMode="auto">
              <a:xfrm>
                <a:off x="4614162" y="5052296"/>
                <a:ext cx="74270" cy="2950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grpSp>
            <p:nvGrpSpPr>
              <p:cNvPr id="106" name="Group 44"/>
              <p:cNvGrpSpPr>
                <a:grpSpLocks/>
              </p:cNvGrpSpPr>
              <p:nvPr/>
            </p:nvGrpSpPr>
            <p:grpSpPr bwMode="auto">
              <a:xfrm>
                <a:off x="4803973" y="5230996"/>
                <a:ext cx="568960" cy="481140"/>
                <a:chOff x="-44" y="1473"/>
                <a:chExt cx="981" cy="1105"/>
              </a:xfrm>
            </p:grpSpPr>
            <p:pic>
              <p:nvPicPr>
                <p:cNvPr id="19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6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107" name="Group 44"/>
              <p:cNvGrpSpPr>
                <a:grpSpLocks/>
              </p:cNvGrpSpPr>
              <p:nvPr/>
            </p:nvGrpSpPr>
            <p:grpSpPr bwMode="auto">
              <a:xfrm>
                <a:off x="3759945" y="5236252"/>
                <a:ext cx="568960" cy="481140"/>
                <a:chOff x="-44" y="1473"/>
                <a:chExt cx="981" cy="1105"/>
              </a:xfrm>
            </p:grpSpPr>
            <p:pic>
              <p:nvPicPr>
                <p:cNvPr id="19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4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108" name="Group 44"/>
              <p:cNvGrpSpPr>
                <a:grpSpLocks/>
              </p:cNvGrpSpPr>
              <p:nvPr/>
            </p:nvGrpSpPr>
            <p:grpSpPr bwMode="auto">
              <a:xfrm>
                <a:off x="4288265" y="5266732"/>
                <a:ext cx="568960" cy="481140"/>
                <a:chOff x="-44" y="1473"/>
                <a:chExt cx="981" cy="1105"/>
              </a:xfrm>
            </p:grpSpPr>
            <p:pic>
              <p:nvPicPr>
                <p:cNvPr id="191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2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pic>
            <p:nvPicPr>
              <p:cNvPr id="109" name="Picture 3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0063" y="4823612"/>
                <a:ext cx="679430" cy="2999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" name="Line 20"/>
              <p:cNvSpPr>
                <a:spLocks noChangeShapeType="1"/>
              </p:cNvSpPr>
              <p:nvPr/>
            </p:nvSpPr>
            <p:spPr bwMode="auto">
              <a:xfrm flipH="1">
                <a:off x="6520414" y="5101475"/>
                <a:ext cx="55564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pic>
            <p:nvPicPr>
              <p:cNvPr id="111" name="Picture 3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6057" y="4870333"/>
                <a:ext cx="679430" cy="3024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12" name="Group 44"/>
              <p:cNvGrpSpPr>
                <a:grpSpLocks/>
              </p:cNvGrpSpPr>
              <p:nvPr/>
            </p:nvGrpSpPr>
            <p:grpSpPr bwMode="auto">
              <a:xfrm>
                <a:off x="6685325" y="4884156"/>
                <a:ext cx="568960" cy="481140"/>
                <a:chOff x="-44" y="1473"/>
                <a:chExt cx="981" cy="1105"/>
              </a:xfrm>
            </p:grpSpPr>
            <p:pic>
              <p:nvPicPr>
                <p:cNvPr id="189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0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pic>
            <p:nvPicPr>
              <p:cNvPr id="113" name="Picture 3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62241" y="3062997"/>
                <a:ext cx="935246" cy="4155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14" name="Group 906"/>
              <p:cNvGrpSpPr>
                <a:grpSpLocks/>
              </p:cNvGrpSpPr>
              <p:nvPr/>
            </p:nvGrpSpPr>
            <p:grpSpPr bwMode="auto">
              <a:xfrm>
                <a:off x="5140161" y="2111868"/>
                <a:ext cx="367260" cy="578780"/>
                <a:chOff x="4140" y="429"/>
                <a:chExt cx="1425" cy="2396"/>
              </a:xfrm>
            </p:grpSpPr>
            <p:sp>
              <p:nvSpPr>
                <p:cNvPr id="157" name="Freeform 907"/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17 w 354"/>
                    <a:gd name="T1" fmla="*/ 0 h 2742"/>
                    <a:gd name="T2" fmla="*/ 93 w 354"/>
                    <a:gd name="T3" fmla="*/ 114 h 2742"/>
                    <a:gd name="T4" fmla="*/ 91 w 354"/>
                    <a:gd name="T5" fmla="*/ 881 h 2742"/>
                    <a:gd name="T6" fmla="*/ 0 w 354"/>
                    <a:gd name="T7" fmla="*/ 921 h 2742"/>
                    <a:gd name="T8" fmla="*/ 17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58" name="Rectangle 908"/>
                <p:cNvSpPr>
                  <a:spLocks noChangeArrowheads="1"/>
                </p:cNvSpPr>
                <p:nvPr/>
              </p:nvSpPr>
              <p:spPr bwMode="auto">
                <a:xfrm>
                  <a:off x="4202" y="427"/>
                  <a:ext cx="1057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Freeform 909"/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56 w 211"/>
                    <a:gd name="T3" fmla="*/ 73 h 2537"/>
                    <a:gd name="T4" fmla="*/ 2 w 211"/>
                    <a:gd name="T5" fmla="*/ 839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60" name="Freeform 910"/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87 w 328"/>
                    <a:gd name="T3" fmla="*/ 43 h 226"/>
                    <a:gd name="T4" fmla="*/ 87 w 328"/>
                    <a:gd name="T5" fmla="*/ 77 h 226"/>
                    <a:gd name="T6" fmla="*/ 0 w 328"/>
                    <a:gd name="T7" fmla="*/ 34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61" name="Rectangle 911"/>
                <p:cNvSpPr>
                  <a:spLocks noChangeArrowheads="1"/>
                </p:cNvSpPr>
                <p:nvPr/>
              </p:nvSpPr>
              <p:spPr bwMode="auto">
                <a:xfrm>
                  <a:off x="4212" y="692"/>
                  <a:ext cx="598" cy="51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62" name="Group 912"/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87" name="AutoShape 913"/>
                  <p:cNvSpPr>
                    <a:spLocks noChangeArrowheads="1"/>
                  </p:cNvSpPr>
                  <p:nvPr/>
                </p:nvSpPr>
                <p:spPr bwMode="auto">
                  <a:xfrm>
                    <a:off x="610" y="2571"/>
                    <a:ext cx="733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8" name="AutoShape 914"/>
                  <p:cNvSpPr>
                    <a:spLocks noChangeArrowheads="1"/>
                  </p:cNvSpPr>
                  <p:nvPr/>
                </p:nvSpPr>
                <p:spPr bwMode="auto">
                  <a:xfrm>
                    <a:off x="624" y="2591"/>
                    <a:ext cx="706" cy="9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63" name="Rectangle 915"/>
                <p:cNvSpPr>
                  <a:spLocks noChangeArrowheads="1"/>
                </p:cNvSpPr>
                <p:nvPr/>
              </p:nvSpPr>
              <p:spPr bwMode="auto">
                <a:xfrm>
                  <a:off x="4223" y="1017"/>
                  <a:ext cx="598" cy="51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64" name="Group 916"/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85" name="AutoShape 917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59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6" name="AutoShape 918"/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2"/>
                    <a:ext cx="706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65" name="Rectangle 919"/>
                <p:cNvSpPr>
                  <a:spLocks noChangeArrowheads="1"/>
                </p:cNvSpPr>
                <p:nvPr/>
              </p:nvSpPr>
              <p:spPr bwMode="auto">
                <a:xfrm>
                  <a:off x="4212" y="1363"/>
                  <a:ext cx="598" cy="41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6" name="Rectangle 920"/>
                <p:cNvSpPr>
                  <a:spLocks noChangeArrowheads="1"/>
                </p:cNvSpPr>
                <p:nvPr/>
              </p:nvSpPr>
              <p:spPr bwMode="auto">
                <a:xfrm>
                  <a:off x="4223" y="1659"/>
                  <a:ext cx="598" cy="41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67" name="Group 921"/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83" name="AutoShape 922"/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9"/>
                    <a:ext cx="731" cy="14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4" name="AutoShape 923"/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8"/>
                    <a:ext cx="731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68" name="Freeform 924"/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87 w 328"/>
                    <a:gd name="T3" fmla="*/ 42 h 226"/>
                    <a:gd name="T4" fmla="*/ 87 w 328"/>
                    <a:gd name="T5" fmla="*/ 75 h 226"/>
                    <a:gd name="T6" fmla="*/ 0 w 328"/>
                    <a:gd name="T7" fmla="*/ 32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grpSp>
              <p:nvGrpSpPr>
                <p:cNvPr id="169" name="Group 925"/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81" name="AutoShape 926"/>
                  <p:cNvSpPr>
                    <a:spLocks noChangeArrowheads="1"/>
                  </p:cNvSpPr>
                  <p:nvPr/>
                </p:nvSpPr>
                <p:spPr bwMode="auto">
                  <a:xfrm>
                    <a:off x="609" y="2564"/>
                    <a:ext cx="731" cy="1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2" name="AutoShape 927"/>
                  <p:cNvSpPr>
                    <a:spLocks noChangeArrowheads="1"/>
                  </p:cNvSpPr>
                  <p:nvPr/>
                </p:nvSpPr>
                <p:spPr bwMode="auto">
                  <a:xfrm>
                    <a:off x="623" y="2584"/>
                    <a:ext cx="705" cy="102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70" name="Rectangle 928"/>
                <p:cNvSpPr>
                  <a:spLocks noChangeArrowheads="1"/>
                </p:cNvSpPr>
                <p:nvPr/>
              </p:nvSpPr>
              <p:spPr bwMode="auto">
                <a:xfrm>
                  <a:off x="5248" y="427"/>
                  <a:ext cx="75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" name="Freeform 929"/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77 w 296"/>
                    <a:gd name="T3" fmla="*/ 47 h 256"/>
                    <a:gd name="T4" fmla="*/ 78 w 296"/>
                    <a:gd name="T5" fmla="*/ 85 h 256"/>
                    <a:gd name="T6" fmla="*/ 0 w 296"/>
                    <a:gd name="T7" fmla="*/ 32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2" name="Freeform 930"/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81 w 304"/>
                    <a:gd name="T3" fmla="*/ 55 h 288"/>
                    <a:gd name="T4" fmla="*/ 76 w 304"/>
                    <a:gd name="T5" fmla="*/ 97 h 288"/>
                    <a:gd name="T6" fmla="*/ 2 w 304"/>
                    <a:gd name="T7" fmla="*/ 42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3" name="Oval 931"/>
                <p:cNvSpPr>
                  <a:spLocks noChangeArrowheads="1"/>
                </p:cNvSpPr>
                <p:nvPr/>
              </p:nvSpPr>
              <p:spPr bwMode="auto">
                <a:xfrm>
                  <a:off x="5514" y="2616"/>
                  <a:ext cx="53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4" name="Freeform 932"/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36 h 240"/>
                    <a:gd name="T2" fmla="*/ 2 w 306"/>
                    <a:gd name="T3" fmla="*/ 81 h 240"/>
                    <a:gd name="T4" fmla="*/ 81 w 306"/>
                    <a:gd name="T5" fmla="*/ 37 h 240"/>
                    <a:gd name="T6" fmla="*/ 78 w 306"/>
                    <a:gd name="T7" fmla="*/ 0 h 240"/>
                    <a:gd name="T8" fmla="*/ 0 w 306"/>
                    <a:gd name="T9" fmla="*/ 36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5" name="AutoShape 933"/>
                <p:cNvSpPr>
                  <a:spLocks noChangeArrowheads="1"/>
                </p:cNvSpPr>
                <p:nvPr/>
              </p:nvSpPr>
              <p:spPr bwMode="auto">
                <a:xfrm>
                  <a:off x="4138" y="2687"/>
                  <a:ext cx="1206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6" name="AutoShape 934"/>
                <p:cNvSpPr>
                  <a:spLocks noChangeArrowheads="1"/>
                </p:cNvSpPr>
                <p:nvPr/>
              </p:nvSpPr>
              <p:spPr bwMode="auto">
                <a:xfrm>
                  <a:off x="4202" y="2717"/>
                  <a:ext cx="1078" cy="8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7" name="Oval 935"/>
                <p:cNvSpPr>
                  <a:spLocks noChangeArrowheads="1"/>
                </p:cNvSpPr>
                <p:nvPr/>
              </p:nvSpPr>
              <p:spPr bwMode="auto">
                <a:xfrm>
                  <a:off x="4308" y="2381"/>
                  <a:ext cx="160" cy="15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8" name="Oval 936"/>
                <p:cNvSpPr>
                  <a:spLocks noChangeArrowheads="1"/>
                </p:cNvSpPr>
                <p:nvPr/>
              </p:nvSpPr>
              <p:spPr bwMode="auto">
                <a:xfrm>
                  <a:off x="4490" y="2392"/>
                  <a:ext cx="160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9" name="Oval 937"/>
                <p:cNvSpPr>
                  <a:spLocks noChangeArrowheads="1"/>
                </p:cNvSpPr>
                <p:nvPr/>
              </p:nvSpPr>
              <p:spPr bwMode="auto">
                <a:xfrm>
                  <a:off x="4661" y="2381"/>
                  <a:ext cx="160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" name="Rectangle 938"/>
                <p:cNvSpPr>
                  <a:spLocks noChangeArrowheads="1"/>
                </p:cNvSpPr>
                <p:nvPr/>
              </p:nvSpPr>
              <p:spPr bwMode="auto">
                <a:xfrm>
                  <a:off x="5066" y="1832"/>
                  <a:ext cx="85" cy="763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5" name="Group 1108"/>
              <p:cNvGrpSpPr>
                <a:grpSpLocks/>
              </p:cNvGrpSpPr>
              <p:nvPr/>
            </p:nvGrpSpPr>
            <p:grpSpPr bwMode="auto">
              <a:xfrm>
                <a:off x="2802867" y="2278719"/>
                <a:ext cx="812691" cy="359377"/>
                <a:chOff x="2356" y="1300"/>
                <a:chExt cx="555" cy="194"/>
              </a:xfrm>
            </p:grpSpPr>
            <p:sp>
              <p:nvSpPr>
                <p:cNvPr id="149" name="Oval 407"/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0" name="Rectangle 410"/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1" name="Oval 411"/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52" name="Group 1112"/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55" name="Freeform 1113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156" name="Freeform 1114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153" name="Line 1115"/>
                <p:cNvSpPr>
                  <a:spLocks noChangeShapeType="1"/>
                </p:cNvSpPr>
                <p:nvPr/>
              </p:nvSpPr>
              <p:spPr bwMode="auto">
                <a:xfrm>
                  <a:off x="2363" y="1361"/>
                  <a:ext cx="0" cy="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54" name="Line 1116"/>
                <p:cNvSpPr>
                  <a:spLocks noChangeShapeType="1"/>
                </p:cNvSpPr>
                <p:nvPr/>
              </p:nvSpPr>
              <p:spPr bwMode="auto">
                <a:xfrm>
                  <a:off x="2907" y="1362"/>
                  <a:ext cx="0" cy="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116" name="Group 906"/>
              <p:cNvGrpSpPr>
                <a:grpSpLocks/>
              </p:cNvGrpSpPr>
              <p:nvPr/>
            </p:nvGrpSpPr>
            <p:grpSpPr bwMode="auto">
              <a:xfrm>
                <a:off x="5744506" y="2621620"/>
                <a:ext cx="367260" cy="578780"/>
                <a:chOff x="4140" y="429"/>
                <a:chExt cx="1425" cy="2396"/>
              </a:xfrm>
            </p:grpSpPr>
            <p:sp>
              <p:nvSpPr>
                <p:cNvPr id="117" name="Freeform 907"/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17 w 354"/>
                    <a:gd name="T1" fmla="*/ 0 h 2742"/>
                    <a:gd name="T2" fmla="*/ 93 w 354"/>
                    <a:gd name="T3" fmla="*/ 114 h 2742"/>
                    <a:gd name="T4" fmla="*/ 91 w 354"/>
                    <a:gd name="T5" fmla="*/ 881 h 2742"/>
                    <a:gd name="T6" fmla="*/ 0 w 354"/>
                    <a:gd name="T7" fmla="*/ 921 h 2742"/>
                    <a:gd name="T8" fmla="*/ 17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18" name="Rectangle 908"/>
                <p:cNvSpPr>
                  <a:spLocks noChangeArrowheads="1"/>
                </p:cNvSpPr>
                <p:nvPr/>
              </p:nvSpPr>
              <p:spPr bwMode="auto">
                <a:xfrm>
                  <a:off x="4205" y="434"/>
                  <a:ext cx="1046" cy="2280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9" name="Freeform 909"/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56 w 211"/>
                    <a:gd name="T3" fmla="*/ 73 h 2537"/>
                    <a:gd name="T4" fmla="*/ 2 w 211"/>
                    <a:gd name="T5" fmla="*/ 839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20" name="Freeform 910"/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87 w 328"/>
                    <a:gd name="T3" fmla="*/ 43 h 226"/>
                    <a:gd name="T4" fmla="*/ 87 w 328"/>
                    <a:gd name="T5" fmla="*/ 77 h 226"/>
                    <a:gd name="T6" fmla="*/ 0 w 328"/>
                    <a:gd name="T7" fmla="*/ 34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21" name="Rectangle 911"/>
                <p:cNvSpPr>
                  <a:spLocks noChangeArrowheads="1"/>
                </p:cNvSpPr>
                <p:nvPr/>
              </p:nvSpPr>
              <p:spPr bwMode="auto">
                <a:xfrm>
                  <a:off x="4216" y="699"/>
                  <a:ext cx="587" cy="51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22" name="Group 912"/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47" name="AutoShape 913"/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8"/>
                    <a:ext cx="719" cy="16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48" name="AutoShape 914"/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8"/>
                    <a:ext cx="693" cy="12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23" name="Rectangle 915"/>
                <p:cNvSpPr>
                  <a:spLocks noChangeArrowheads="1"/>
                </p:cNvSpPr>
                <p:nvPr/>
              </p:nvSpPr>
              <p:spPr bwMode="auto">
                <a:xfrm>
                  <a:off x="4226" y="1024"/>
                  <a:ext cx="587" cy="41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24" name="Group 916"/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45" name="AutoShape 917"/>
                  <p:cNvSpPr>
                    <a:spLocks noChangeArrowheads="1"/>
                  </p:cNvSpPr>
                  <p:nvPr/>
                </p:nvSpPr>
                <p:spPr bwMode="auto">
                  <a:xfrm>
                    <a:off x="617" y="2568"/>
                    <a:ext cx="719" cy="16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46" name="AutoShape 918"/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9"/>
                    <a:ext cx="693" cy="12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25" name="Rectangle 919"/>
                <p:cNvSpPr>
                  <a:spLocks noChangeArrowheads="1"/>
                </p:cNvSpPr>
                <p:nvPr/>
              </p:nvSpPr>
              <p:spPr bwMode="auto">
                <a:xfrm>
                  <a:off x="4216" y="1360"/>
                  <a:ext cx="598" cy="51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" name="Rectangle 920"/>
                <p:cNvSpPr>
                  <a:spLocks noChangeArrowheads="1"/>
                </p:cNvSpPr>
                <p:nvPr/>
              </p:nvSpPr>
              <p:spPr bwMode="auto">
                <a:xfrm>
                  <a:off x="4226" y="1656"/>
                  <a:ext cx="598" cy="51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27" name="Group 921"/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43" name="AutoShape 922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94"/>
                    <a:ext cx="718" cy="11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44" name="AutoShape 923"/>
                  <p:cNvSpPr>
                    <a:spLocks noChangeArrowheads="1"/>
                  </p:cNvSpPr>
                  <p:nvPr/>
                </p:nvSpPr>
                <p:spPr bwMode="auto">
                  <a:xfrm>
                    <a:off x="632" y="2613"/>
                    <a:ext cx="691" cy="75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28" name="Freeform 924"/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87 w 328"/>
                    <a:gd name="T3" fmla="*/ 42 h 226"/>
                    <a:gd name="T4" fmla="*/ 87 w 328"/>
                    <a:gd name="T5" fmla="*/ 75 h 226"/>
                    <a:gd name="T6" fmla="*/ 0 w 328"/>
                    <a:gd name="T7" fmla="*/ 32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grpSp>
              <p:nvGrpSpPr>
                <p:cNvPr id="129" name="Group 925"/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41" name="AutoShape 926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691" cy="16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42" name="AutoShape 927"/>
                  <p:cNvSpPr>
                    <a:spLocks noChangeArrowheads="1"/>
                  </p:cNvSpPr>
                  <p:nvPr/>
                </p:nvSpPr>
                <p:spPr bwMode="auto">
                  <a:xfrm>
                    <a:off x="627" y="2591"/>
                    <a:ext cx="665" cy="122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30" name="Rectangle 928"/>
                <p:cNvSpPr>
                  <a:spLocks noChangeArrowheads="1"/>
                </p:cNvSpPr>
                <p:nvPr/>
              </p:nvSpPr>
              <p:spPr bwMode="auto">
                <a:xfrm>
                  <a:off x="5251" y="434"/>
                  <a:ext cx="64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1" name="Freeform 929"/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77 w 296"/>
                    <a:gd name="T3" fmla="*/ 47 h 256"/>
                    <a:gd name="T4" fmla="*/ 78 w 296"/>
                    <a:gd name="T5" fmla="*/ 85 h 256"/>
                    <a:gd name="T6" fmla="*/ 0 w 296"/>
                    <a:gd name="T7" fmla="*/ 32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2" name="Freeform 930"/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81 w 304"/>
                    <a:gd name="T3" fmla="*/ 55 h 288"/>
                    <a:gd name="T4" fmla="*/ 76 w 304"/>
                    <a:gd name="T5" fmla="*/ 97 h 288"/>
                    <a:gd name="T6" fmla="*/ 2 w 304"/>
                    <a:gd name="T7" fmla="*/ 42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3" name="Oval 931"/>
                <p:cNvSpPr>
                  <a:spLocks noChangeArrowheads="1"/>
                </p:cNvSpPr>
                <p:nvPr/>
              </p:nvSpPr>
              <p:spPr bwMode="auto">
                <a:xfrm>
                  <a:off x="5518" y="2612"/>
                  <a:ext cx="43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" name="Freeform 932"/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36 h 240"/>
                    <a:gd name="T2" fmla="*/ 2 w 306"/>
                    <a:gd name="T3" fmla="*/ 81 h 240"/>
                    <a:gd name="T4" fmla="*/ 81 w 306"/>
                    <a:gd name="T5" fmla="*/ 37 h 240"/>
                    <a:gd name="T6" fmla="*/ 78 w 306"/>
                    <a:gd name="T7" fmla="*/ 0 h 240"/>
                    <a:gd name="T8" fmla="*/ 0 w 306"/>
                    <a:gd name="T9" fmla="*/ 36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5" name="AutoShape 933"/>
                <p:cNvSpPr>
                  <a:spLocks noChangeArrowheads="1"/>
                </p:cNvSpPr>
                <p:nvPr/>
              </p:nvSpPr>
              <p:spPr bwMode="auto">
                <a:xfrm>
                  <a:off x="4141" y="2684"/>
                  <a:ext cx="1195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6" name="AutoShape 934"/>
                <p:cNvSpPr>
                  <a:spLocks noChangeArrowheads="1"/>
                </p:cNvSpPr>
                <p:nvPr/>
              </p:nvSpPr>
              <p:spPr bwMode="auto">
                <a:xfrm>
                  <a:off x="4205" y="2714"/>
                  <a:ext cx="1067" cy="8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" name="Oval 935"/>
                <p:cNvSpPr>
                  <a:spLocks noChangeArrowheads="1"/>
                </p:cNvSpPr>
                <p:nvPr/>
              </p:nvSpPr>
              <p:spPr bwMode="auto">
                <a:xfrm>
                  <a:off x="4312" y="2389"/>
                  <a:ext cx="149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" name="Oval 936"/>
                <p:cNvSpPr>
                  <a:spLocks noChangeArrowheads="1"/>
                </p:cNvSpPr>
                <p:nvPr/>
              </p:nvSpPr>
              <p:spPr bwMode="auto">
                <a:xfrm>
                  <a:off x="4482" y="2389"/>
                  <a:ext cx="160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" name="Oval 937"/>
                <p:cNvSpPr>
                  <a:spLocks noChangeArrowheads="1"/>
                </p:cNvSpPr>
                <p:nvPr/>
              </p:nvSpPr>
              <p:spPr bwMode="auto">
                <a:xfrm>
                  <a:off x="4664" y="2378"/>
                  <a:ext cx="149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0" name="Rectangle 938"/>
                <p:cNvSpPr>
                  <a:spLocks noChangeArrowheads="1"/>
                </p:cNvSpPr>
                <p:nvPr/>
              </p:nvSpPr>
              <p:spPr bwMode="auto">
                <a:xfrm>
                  <a:off x="5059" y="1839"/>
                  <a:ext cx="85" cy="763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16" name="Text Box 87"/>
            <p:cNvSpPr txBox="1">
              <a:spLocks noChangeArrowheads="1"/>
            </p:cNvSpPr>
            <p:nvPr/>
          </p:nvSpPr>
          <p:spPr bwMode="auto">
            <a:xfrm>
              <a:off x="6070599" y="4569619"/>
              <a:ext cx="1210161" cy="553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Electrical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Engineering</a:t>
              </a:r>
              <a:endParaRPr lang="en-US" altLang="zh-CN" sz="13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7" name="Text Box 88"/>
          <p:cNvSpPr txBox="1">
            <a:spLocks noChangeArrowheads="1"/>
          </p:cNvSpPr>
          <p:nvPr/>
        </p:nvSpPr>
        <p:spPr bwMode="auto">
          <a:xfrm>
            <a:off x="6813948" y="3308152"/>
            <a:ext cx="90762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  <a:endParaRPr lang="en-US" altLang="zh-CN" sz="135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" name="Text Box 86"/>
          <p:cNvSpPr txBox="1">
            <a:spLocks noChangeArrowheads="1"/>
          </p:cNvSpPr>
          <p:nvPr/>
        </p:nvSpPr>
        <p:spPr bwMode="auto">
          <a:xfrm>
            <a:off x="4448176" y="3239096"/>
            <a:ext cx="81464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Science</a:t>
            </a:r>
            <a:endParaRPr lang="en-US" altLang="zh-CN" sz="135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8" name="灯片编号占位符 2">
            <a:extLst>
              <a:ext uri="{FF2B5EF4-FFF2-40B4-BE49-F238E27FC236}">
                <a16:creationId xmlns:a16="http://schemas.microsoft.com/office/drawing/2014/main" id="{835E4E27-9586-4F05-BF56-ECBBCAB3FC2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39</a:t>
            </a:fld>
            <a:endParaRPr lang="en-US" altLang="zh-CN" dirty="0"/>
          </a:p>
        </p:txBody>
      </p:sp>
      <p:sp>
        <p:nvSpPr>
          <p:cNvPr id="219" name="AutoShape 5">
            <a:extLst>
              <a:ext uri="{FF2B5EF4-FFF2-40B4-BE49-F238E27FC236}">
                <a16:creationId xmlns:a16="http://schemas.microsoft.com/office/drawing/2014/main" id="{CDA5F154-9EC3-4858-A9CE-3AA8842B4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428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 animBg="1"/>
      <p:bldP spid="219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5.4.4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虚拟局域网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(VLANs)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手段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使用支持</a:t>
            </a:r>
            <a:r>
              <a:rPr lang="en-US" altLang="zh-CN" dirty="0">
                <a:solidFill>
                  <a:srgbClr val="0066CC"/>
                </a:solidFill>
              </a:rPr>
              <a:t>VLAN</a:t>
            </a:r>
            <a:r>
              <a:rPr lang="zh-CN" altLang="en-US" dirty="0">
                <a:solidFill>
                  <a:srgbClr val="0066CC"/>
                </a:solidFill>
              </a:rPr>
              <a:t>的交换机</a:t>
            </a:r>
            <a:endParaRPr lang="en-US" altLang="zh-CN" dirty="0">
              <a:solidFill>
                <a:srgbClr val="0066CC"/>
              </a:solidFill>
            </a:endParaRPr>
          </a:p>
        </p:txBody>
      </p:sp>
      <p:sp>
        <p:nvSpPr>
          <p:cNvPr id="220" name="Rectangle 3"/>
          <p:cNvSpPr txBox="1">
            <a:spLocks noChangeArrowheads="1"/>
          </p:cNvSpPr>
          <p:nvPr/>
        </p:nvSpPr>
        <p:spPr bwMode="auto">
          <a:xfrm>
            <a:off x="1534580" y="2027544"/>
            <a:ext cx="4967345" cy="83423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135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基于端口的</a:t>
            </a:r>
            <a:r>
              <a:rPr lang="en-US" altLang="zh-CN" sz="135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VLAN: </a:t>
            </a:r>
          </a:p>
          <a:p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交换机的端口可以分组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通过交换机的管理软件实现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使得单个交换机能够像多个交换机互联一样，划分为多个组</a:t>
            </a:r>
            <a:endParaRPr lang="en-US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4" name="组合 353"/>
          <p:cNvGrpSpPr/>
          <p:nvPr/>
        </p:nvGrpSpPr>
        <p:grpSpPr>
          <a:xfrm>
            <a:off x="1547812" y="3538421"/>
            <a:ext cx="2628437" cy="1264884"/>
            <a:chOff x="4165600" y="1617663"/>
            <a:chExt cx="4445000" cy="2139055"/>
          </a:xfrm>
        </p:grpSpPr>
        <p:sp>
          <p:nvSpPr>
            <p:cNvPr id="355" name="Rectangle 213"/>
            <p:cNvSpPr>
              <a:spLocks noChangeArrowheads="1"/>
            </p:cNvSpPr>
            <p:nvPr/>
          </p:nvSpPr>
          <p:spPr bwMode="auto">
            <a:xfrm>
              <a:off x="7543800" y="2105025"/>
              <a:ext cx="279400" cy="2286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6" name="Rectangle 212"/>
            <p:cNvSpPr>
              <a:spLocks noChangeArrowheads="1"/>
            </p:cNvSpPr>
            <p:nvPr/>
          </p:nvSpPr>
          <p:spPr bwMode="auto">
            <a:xfrm>
              <a:off x="5470525" y="1889125"/>
              <a:ext cx="273050" cy="19685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7" name="Rectangle 80"/>
            <p:cNvSpPr>
              <a:spLocks noChangeArrowheads="1"/>
            </p:cNvSpPr>
            <p:nvPr/>
          </p:nvSpPr>
          <p:spPr bwMode="auto">
            <a:xfrm>
              <a:off x="5462588" y="2098675"/>
              <a:ext cx="290512" cy="24288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" name="Rectangle 77"/>
            <p:cNvSpPr>
              <a:spLocks noChangeArrowheads="1"/>
            </p:cNvSpPr>
            <p:nvPr/>
          </p:nvSpPr>
          <p:spPr bwMode="auto">
            <a:xfrm>
              <a:off x="7534275" y="1879600"/>
              <a:ext cx="290513" cy="20955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9" name="Rectangle 76"/>
            <p:cNvSpPr>
              <a:spLocks noChangeArrowheads="1"/>
            </p:cNvSpPr>
            <p:nvPr/>
          </p:nvSpPr>
          <p:spPr bwMode="auto">
            <a:xfrm>
              <a:off x="6643688" y="1884363"/>
              <a:ext cx="890587" cy="4572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0" name="Rectangle 75"/>
            <p:cNvSpPr>
              <a:spLocks noChangeArrowheads="1"/>
            </p:cNvSpPr>
            <p:nvPr/>
          </p:nvSpPr>
          <p:spPr bwMode="auto">
            <a:xfrm>
              <a:off x="5748338" y="1884363"/>
              <a:ext cx="900112" cy="45243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1" name="Rectangle 2"/>
            <p:cNvSpPr>
              <a:spLocks noChangeArrowheads="1"/>
            </p:cNvSpPr>
            <p:nvPr/>
          </p:nvSpPr>
          <p:spPr bwMode="auto">
            <a:xfrm>
              <a:off x="5462588" y="1876425"/>
              <a:ext cx="2370137" cy="4683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2" name="Line 3"/>
            <p:cNvSpPr>
              <a:spLocks noChangeShapeType="1"/>
            </p:cNvSpPr>
            <p:nvPr/>
          </p:nvSpPr>
          <p:spPr bwMode="auto">
            <a:xfrm>
              <a:off x="5464175" y="2092325"/>
              <a:ext cx="2351088" cy="4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3" name="Text Box 6"/>
            <p:cNvSpPr txBox="1">
              <a:spLocks noChangeArrowheads="1"/>
            </p:cNvSpPr>
            <p:nvPr/>
          </p:nvSpPr>
          <p:spPr bwMode="auto">
            <a:xfrm>
              <a:off x="5380038" y="1835150"/>
              <a:ext cx="385487" cy="312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64" name="Line 7"/>
            <p:cNvSpPr>
              <a:spLocks noChangeShapeType="1"/>
            </p:cNvSpPr>
            <p:nvPr/>
          </p:nvSpPr>
          <p:spPr bwMode="auto">
            <a:xfrm>
              <a:off x="6643688" y="188118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5" name="AutoShape 8"/>
            <p:cNvSpPr>
              <a:spLocks noChangeArrowheads="1"/>
            </p:cNvSpPr>
            <p:nvPr/>
          </p:nvSpPr>
          <p:spPr bwMode="auto">
            <a:xfrm>
              <a:off x="5434013" y="1617663"/>
              <a:ext cx="3176587" cy="261937"/>
            </a:xfrm>
            <a:prstGeom prst="parallelogram">
              <a:avLst>
                <a:gd name="adj" fmla="val 303182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6" name="Freeform 9"/>
            <p:cNvSpPr>
              <a:spLocks/>
            </p:cNvSpPr>
            <p:nvPr/>
          </p:nvSpPr>
          <p:spPr bwMode="auto">
            <a:xfrm>
              <a:off x="7837488" y="1620838"/>
              <a:ext cx="763587" cy="720725"/>
            </a:xfrm>
            <a:custGeom>
              <a:avLst/>
              <a:gdLst>
                <a:gd name="T0" fmla="*/ 0 w 232"/>
                <a:gd name="T1" fmla="*/ 2147483646 h 454"/>
                <a:gd name="T2" fmla="*/ 2147483646 w 232"/>
                <a:gd name="T3" fmla="*/ 2147483646 h 454"/>
                <a:gd name="T4" fmla="*/ 2147483646 w 232"/>
                <a:gd name="T5" fmla="*/ 0 h 454"/>
                <a:gd name="T6" fmla="*/ 0 60000 65536"/>
                <a:gd name="T7" fmla="*/ 0 60000 65536"/>
                <a:gd name="T8" fmla="*/ 0 60000 65536"/>
                <a:gd name="T9" fmla="*/ 0 w 232"/>
                <a:gd name="T10" fmla="*/ 0 h 454"/>
                <a:gd name="T11" fmla="*/ 232 w 232"/>
                <a:gd name="T12" fmla="*/ 454 h 4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2" h="454">
                  <a:moveTo>
                    <a:pt x="0" y="454"/>
                  </a:moveTo>
                  <a:lnTo>
                    <a:pt x="232" y="274"/>
                  </a:lnTo>
                  <a:lnTo>
                    <a:pt x="22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7" name="Freeform 10"/>
            <p:cNvSpPr>
              <a:spLocks/>
            </p:cNvSpPr>
            <p:nvPr/>
          </p:nvSpPr>
          <p:spPr bwMode="auto">
            <a:xfrm>
              <a:off x="5835650" y="1665288"/>
              <a:ext cx="2228850" cy="150812"/>
            </a:xfrm>
            <a:custGeom>
              <a:avLst/>
              <a:gdLst>
                <a:gd name="T0" fmla="*/ 0 w 678"/>
                <a:gd name="T1" fmla="*/ 2147483646 h 110"/>
                <a:gd name="T2" fmla="*/ 2147483646 w 678"/>
                <a:gd name="T3" fmla="*/ 2147483646 h 110"/>
                <a:gd name="T4" fmla="*/ 2147483646 w 678"/>
                <a:gd name="T5" fmla="*/ 0 h 110"/>
                <a:gd name="T6" fmla="*/ 2147483646 w 678"/>
                <a:gd name="T7" fmla="*/ 0 h 1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8"/>
                <a:gd name="T13" fmla="*/ 0 h 110"/>
                <a:gd name="T14" fmla="*/ 678 w 678"/>
                <a:gd name="T15" fmla="*/ 110 h 1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8" h="110">
                  <a:moveTo>
                    <a:pt x="0" y="110"/>
                  </a:moveTo>
                  <a:lnTo>
                    <a:pt x="148" y="108"/>
                  </a:lnTo>
                  <a:lnTo>
                    <a:pt x="567" y="0"/>
                  </a:lnTo>
                  <a:lnTo>
                    <a:pt x="678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8" name="Freeform 11"/>
            <p:cNvSpPr>
              <a:spLocks/>
            </p:cNvSpPr>
            <p:nvPr/>
          </p:nvSpPr>
          <p:spPr bwMode="auto">
            <a:xfrm>
              <a:off x="6308725" y="1665288"/>
              <a:ext cx="1420813" cy="166687"/>
            </a:xfrm>
            <a:custGeom>
              <a:avLst/>
              <a:gdLst>
                <a:gd name="T0" fmla="*/ 0 w 432"/>
                <a:gd name="T1" fmla="*/ 0 h 105"/>
                <a:gd name="T2" fmla="*/ 2147483646 w 432"/>
                <a:gd name="T3" fmla="*/ 0 h 105"/>
                <a:gd name="T4" fmla="*/ 2147483646 w 432"/>
                <a:gd name="T5" fmla="*/ 2147483646 h 105"/>
                <a:gd name="T6" fmla="*/ 2147483646 w 432"/>
                <a:gd name="T7" fmla="*/ 2147483646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05"/>
                <a:gd name="T14" fmla="*/ 432 w 432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05">
                  <a:moveTo>
                    <a:pt x="0" y="0"/>
                  </a:moveTo>
                  <a:lnTo>
                    <a:pt x="85" y="0"/>
                  </a:lnTo>
                  <a:lnTo>
                    <a:pt x="307" y="105"/>
                  </a:lnTo>
                  <a:lnTo>
                    <a:pt x="432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" name="Line 17"/>
            <p:cNvSpPr>
              <a:spLocks noChangeShapeType="1"/>
            </p:cNvSpPr>
            <p:nvPr/>
          </p:nvSpPr>
          <p:spPr bwMode="auto">
            <a:xfrm>
              <a:off x="7243763" y="1885950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0" name="Line 18"/>
            <p:cNvSpPr>
              <a:spLocks noChangeShapeType="1"/>
            </p:cNvSpPr>
            <p:nvPr/>
          </p:nvSpPr>
          <p:spPr bwMode="auto">
            <a:xfrm>
              <a:off x="6043613" y="188118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1" name="Line 21"/>
            <p:cNvSpPr>
              <a:spLocks noChangeShapeType="1"/>
            </p:cNvSpPr>
            <p:nvPr/>
          </p:nvSpPr>
          <p:spPr bwMode="auto">
            <a:xfrm>
              <a:off x="5753100" y="187801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2" name="Line 22"/>
            <p:cNvSpPr>
              <a:spLocks noChangeShapeType="1"/>
            </p:cNvSpPr>
            <p:nvPr/>
          </p:nvSpPr>
          <p:spPr bwMode="auto">
            <a:xfrm>
              <a:off x="5462588" y="189071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3" name="Line 23"/>
            <p:cNvSpPr>
              <a:spLocks noChangeShapeType="1"/>
            </p:cNvSpPr>
            <p:nvPr/>
          </p:nvSpPr>
          <p:spPr bwMode="auto">
            <a:xfrm>
              <a:off x="6324600" y="1885950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4" name="Line 24"/>
            <p:cNvSpPr>
              <a:spLocks noChangeShapeType="1"/>
            </p:cNvSpPr>
            <p:nvPr/>
          </p:nvSpPr>
          <p:spPr bwMode="auto">
            <a:xfrm>
              <a:off x="6948488" y="188118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5" name="Line 25"/>
            <p:cNvSpPr>
              <a:spLocks noChangeShapeType="1"/>
            </p:cNvSpPr>
            <p:nvPr/>
          </p:nvSpPr>
          <p:spPr bwMode="auto">
            <a:xfrm>
              <a:off x="7539038" y="1876425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6" name="Text Box 26"/>
            <p:cNvSpPr txBox="1">
              <a:spLocks noChangeArrowheads="1"/>
            </p:cNvSpPr>
            <p:nvPr/>
          </p:nvSpPr>
          <p:spPr bwMode="auto">
            <a:xfrm>
              <a:off x="6261099" y="2044700"/>
              <a:ext cx="385487" cy="312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</a:p>
          </p:txBody>
        </p:sp>
        <p:sp>
          <p:nvSpPr>
            <p:cNvPr id="377" name="Text Box 27"/>
            <p:cNvSpPr txBox="1">
              <a:spLocks noChangeArrowheads="1"/>
            </p:cNvSpPr>
            <p:nvPr/>
          </p:nvSpPr>
          <p:spPr bwMode="auto">
            <a:xfrm>
              <a:off x="6580187" y="1830387"/>
              <a:ext cx="385487" cy="312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</a:p>
          </p:txBody>
        </p:sp>
        <p:sp>
          <p:nvSpPr>
            <p:cNvPr id="378" name="Text Box 28"/>
            <p:cNvSpPr txBox="1">
              <a:spLocks noChangeArrowheads="1"/>
            </p:cNvSpPr>
            <p:nvPr/>
          </p:nvSpPr>
          <p:spPr bwMode="auto">
            <a:xfrm>
              <a:off x="7456487" y="2049462"/>
              <a:ext cx="464101" cy="312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</a:p>
          </p:txBody>
        </p:sp>
        <p:sp>
          <p:nvSpPr>
            <p:cNvPr id="379" name="Text Box 29"/>
            <p:cNvSpPr txBox="1">
              <a:spLocks noChangeArrowheads="1"/>
            </p:cNvSpPr>
            <p:nvPr/>
          </p:nvSpPr>
          <p:spPr bwMode="auto">
            <a:xfrm>
              <a:off x="6561138" y="2049462"/>
              <a:ext cx="464101" cy="312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380" name="Text Box 30"/>
            <p:cNvSpPr txBox="1">
              <a:spLocks noChangeArrowheads="1"/>
            </p:cNvSpPr>
            <p:nvPr/>
          </p:nvSpPr>
          <p:spPr bwMode="auto">
            <a:xfrm>
              <a:off x="5389563" y="2035176"/>
              <a:ext cx="385487" cy="312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381" name="Text Box 57"/>
            <p:cNvSpPr txBox="1">
              <a:spLocks noChangeArrowheads="1"/>
            </p:cNvSpPr>
            <p:nvPr/>
          </p:nvSpPr>
          <p:spPr bwMode="auto">
            <a:xfrm>
              <a:off x="6256339" y="1830387"/>
              <a:ext cx="385487" cy="312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382" name="Line 61"/>
            <p:cNvSpPr>
              <a:spLocks noChangeShapeType="1"/>
            </p:cNvSpPr>
            <p:nvPr/>
          </p:nvSpPr>
          <p:spPr bwMode="auto">
            <a:xfrm flipH="1">
              <a:off x="4702175" y="2211388"/>
              <a:ext cx="901700" cy="27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3" name="Line 62"/>
            <p:cNvSpPr>
              <a:spLocks noChangeShapeType="1"/>
            </p:cNvSpPr>
            <p:nvPr/>
          </p:nvSpPr>
          <p:spPr bwMode="auto">
            <a:xfrm flipH="1">
              <a:off x="5087938" y="2211388"/>
              <a:ext cx="806450" cy="419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4" name="Line 63"/>
            <p:cNvSpPr>
              <a:spLocks noChangeShapeType="1"/>
            </p:cNvSpPr>
            <p:nvPr/>
          </p:nvSpPr>
          <p:spPr bwMode="auto">
            <a:xfrm flipH="1">
              <a:off x="5807075" y="2227263"/>
              <a:ext cx="709613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5" name="Text Box 64"/>
            <p:cNvSpPr txBox="1">
              <a:spLocks noChangeArrowheads="1"/>
            </p:cNvSpPr>
            <p:nvPr/>
          </p:nvSpPr>
          <p:spPr bwMode="auto">
            <a:xfrm>
              <a:off x="7527925" y="2589213"/>
              <a:ext cx="550848" cy="507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</a:p>
          </p:txBody>
        </p:sp>
        <p:sp>
          <p:nvSpPr>
            <p:cNvPr id="386" name="Line 69"/>
            <p:cNvSpPr>
              <a:spLocks noChangeShapeType="1"/>
            </p:cNvSpPr>
            <p:nvPr/>
          </p:nvSpPr>
          <p:spPr bwMode="auto">
            <a:xfrm>
              <a:off x="6815138" y="2214563"/>
              <a:ext cx="101600" cy="377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7" name="Line 70"/>
            <p:cNvSpPr>
              <a:spLocks noChangeShapeType="1"/>
            </p:cNvSpPr>
            <p:nvPr/>
          </p:nvSpPr>
          <p:spPr bwMode="auto">
            <a:xfrm>
              <a:off x="6805613" y="2012950"/>
              <a:ext cx="479425" cy="603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8" name="Line 71"/>
            <p:cNvSpPr>
              <a:spLocks noChangeShapeType="1"/>
            </p:cNvSpPr>
            <p:nvPr/>
          </p:nvSpPr>
          <p:spPr bwMode="auto">
            <a:xfrm>
              <a:off x="7661275" y="1957388"/>
              <a:ext cx="514350" cy="484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9" name="Text Box 72"/>
            <p:cNvSpPr txBox="1">
              <a:spLocks noChangeArrowheads="1"/>
            </p:cNvSpPr>
            <p:nvPr/>
          </p:nvSpPr>
          <p:spPr bwMode="auto">
            <a:xfrm>
              <a:off x="4364405" y="3132138"/>
              <a:ext cx="2307491" cy="624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Electrical Engineering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(VLAN ports 1-8)</a:t>
              </a:r>
            </a:p>
          </p:txBody>
        </p:sp>
        <p:sp>
          <p:nvSpPr>
            <p:cNvPr id="390" name="Text Box 73"/>
            <p:cNvSpPr txBox="1">
              <a:spLocks noChangeArrowheads="1"/>
            </p:cNvSpPr>
            <p:nvPr/>
          </p:nvSpPr>
          <p:spPr bwMode="auto">
            <a:xfrm>
              <a:off x="6566935" y="3119438"/>
              <a:ext cx="2009296" cy="624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Computer Science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(VLAN ports 9-15)</a:t>
              </a:r>
            </a:p>
          </p:txBody>
        </p:sp>
        <p:sp>
          <p:nvSpPr>
            <p:cNvPr id="391" name="Text Box 74"/>
            <p:cNvSpPr txBox="1">
              <a:spLocks noChangeArrowheads="1"/>
            </p:cNvSpPr>
            <p:nvPr/>
          </p:nvSpPr>
          <p:spPr bwMode="auto">
            <a:xfrm>
              <a:off x="7451723" y="1825625"/>
              <a:ext cx="464101" cy="312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</a:p>
          </p:txBody>
        </p:sp>
        <p:sp>
          <p:nvSpPr>
            <p:cNvPr id="392" name="Oval 81"/>
            <p:cNvSpPr>
              <a:spLocks noChangeArrowheads="1"/>
            </p:cNvSpPr>
            <p:nvPr/>
          </p:nvSpPr>
          <p:spPr bwMode="auto">
            <a:xfrm>
              <a:off x="5578475" y="2190750"/>
              <a:ext cx="42863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3" name="Oval 82"/>
            <p:cNvSpPr>
              <a:spLocks noChangeArrowheads="1"/>
            </p:cNvSpPr>
            <p:nvPr/>
          </p:nvSpPr>
          <p:spPr bwMode="auto">
            <a:xfrm>
              <a:off x="5870575" y="2187575"/>
              <a:ext cx="42863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4" name="Oval 83"/>
            <p:cNvSpPr>
              <a:spLocks noChangeArrowheads="1"/>
            </p:cNvSpPr>
            <p:nvPr/>
          </p:nvSpPr>
          <p:spPr bwMode="auto">
            <a:xfrm>
              <a:off x="6457950" y="2192338"/>
              <a:ext cx="42863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5" name="Oval 84"/>
            <p:cNvSpPr>
              <a:spLocks noChangeArrowheads="1"/>
            </p:cNvSpPr>
            <p:nvPr/>
          </p:nvSpPr>
          <p:spPr bwMode="auto">
            <a:xfrm>
              <a:off x="6789738" y="2189163"/>
              <a:ext cx="42862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6" name="Oval 85"/>
            <p:cNvSpPr>
              <a:spLocks noChangeArrowheads="1"/>
            </p:cNvSpPr>
            <p:nvPr/>
          </p:nvSpPr>
          <p:spPr bwMode="auto">
            <a:xfrm>
              <a:off x="6777038" y="1974850"/>
              <a:ext cx="42862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7" name="Oval 86"/>
            <p:cNvSpPr>
              <a:spLocks noChangeArrowheads="1"/>
            </p:cNvSpPr>
            <p:nvPr/>
          </p:nvSpPr>
          <p:spPr bwMode="auto">
            <a:xfrm>
              <a:off x="7651750" y="1971675"/>
              <a:ext cx="42863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8" name="Text Box 45"/>
            <p:cNvSpPr txBox="1">
              <a:spLocks noChangeArrowheads="1"/>
            </p:cNvSpPr>
            <p:nvPr/>
          </p:nvSpPr>
          <p:spPr bwMode="auto">
            <a:xfrm>
              <a:off x="5241925" y="2555874"/>
              <a:ext cx="550848" cy="507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</a:p>
          </p:txBody>
        </p:sp>
        <p:grpSp>
          <p:nvGrpSpPr>
            <p:cNvPr id="399" name="Group 44"/>
            <p:cNvGrpSpPr>
              <a:grpSpLocks/>
            </p:cNvGrpSpPr>
            <p:nvPr/>
          </p:nvGrpSpPr>
          <p:grpSpPr bwMode="auto">
            <a:xfrm>
              <a:off x="4165600" y="2397125"/>
              <a:ext cx="609600" cy="558800"/>
              <a:chOff x="-44" y="1473"/>
              <a:chExt cx="981" cy="1105"/>
            </a:xfrm>
          </p:grpSpPr>
          <p:pic>
            <p:nvPicPr>
              <p:cNvPr id="41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0" name="Group 44"/>
            <p:cNvGrpSpPr>
              <a:grpSpLocks/>
            </p:cNvGrpSpPr>
            <p:nvPr/>
          </p:nvGrpSpPr>
          <p:grpSpPr bwMode="auto">
            <a:xfrm>
              <a:off x="4694238" y="2489200"/>
              <a:ext cx="609600" cy="558800"/>
              <a:chOff x="-44" y="1473"/>
              <a:chExt cx="981" cy="1105"/>
            </a:xfrm>
          </p:grpSpPr>
          <p:pic>
            <p:nvPicPr>
              <p:cNvPr id="413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4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1" name="Group 44"/>
            <p:cNvGrpSpPr>
              <a:grpSpLocks/>
            </p:cNvGrpSpPr>
            <p:nvPr/>
          </p:nvGrpSpPr>
          <p:grpSpPr bwMode="auto">
            <a:xfrm>
              <a:off x="5414963" y="2509838"/>
              <a:ext cx="609600" cy="558800"/>
              <a:chOff x="-44" y="1473"/>
              <a:chExt cx="981" cy="1105"/>
            </a:xfrm>
          </p:grpSpPr>
          <p:pic>
            <p:nvPicPr>
              <p:cNvPr id="41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2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2" name="Group 44"/>
            <p:cNvGrpSpPr>
              <a:grpSpLocks/>
            </p:cNvGrpSpPr>
            <p:nvPr/>
          </p:nvGrpSpPr>
          <p:grpSpPr bwMode="auto">
            <a:xfrm>
              <a:off x="6430963" y="2530475"/>
              <a:ext cx="609600" cy="558800"/>
              <a:chOff x="-44" y="1473"/>
              <a:chExt cx="981" cy="1105"/>
            </a:xfrm>
          </p:grpSpPr>
          <p:pic>
            <p:nvPicPr>
              <p:cNvPr id="409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0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3" name="Group 44"/>
            <p:cNvGrpSpPr>
              <a:grpSpLocks/>
            </p:cNvGrpSpPr>
            <p:nvPr/>
          </p:nvGrpSpPr>
          <p:grpSpPr bwMode="auto">
            <a:xfrm>
              <a:off x="6938963" y="2540000"/>
              <a:ext cx="609600" cy="558800"/>
              <a:chOff x="-44" y="1473"/>
              <a:chExt cx="981" cy="1105"/>
            </a:xfrm>
          </p:grpSpPr>
          <p:pic>
            <p:nvPicPr>
              <p:cNvPr id="40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8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4" name="Group 44"/>
            <p:cNvGrpSpPr>
              <a:grpSpLocks/>
            </p:cNvGrpSpPr>
            <p:nvPr/>
          </p:nvGrpSpPr>
          <p:grpSpPr bwMode="auto">
            <a:xfrm>
              <a:off x="7802563" y="2357438"/>
              <a:ext cx="609600" cy="558800"/>
              <a:chOff x="-44" y="1473"/>
              <a:chExt cx="981" cy="1105"/>
            </a:xfrm>
          </p:grpSpPr>
          <p:pic>
            <p:nvPicPr>
              <p:cNvPr id="40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17" name="Group 1"/>
          <p:cNvGrpSpPr>
            <a:grpSpLocks/>
          </p:cNvGrpSpPr>
          <p:nvPr/>
        </p:nvGrpSpPr>
        <p:grpSpPr bwMode="auto">
          <a:xfrm>
            <a:off x="4716181" y="3415508"/>
            <a:ext cx="2959076" cy="1399768"/>
            <a:chOff x="3902075" y="4090988"/>
            <a:chExt cx="5228855" cy="2365676"/>
          </a:xfrm>
        </p:grpSpPr>
        <p:sp>
          <p:nvSpPr>
            <p:cNvPr id="418" name="Cloud"/>
            <p:cNvSpPr>
              <a:spLocks noChangeAspect="1" noEditPoints="1" noChangeArrowheads="1"/>
            </p:cNvSpPr>
            <p:nvPr/>
          </p:nvSpPr>
          <p:spPr bwMode="auto">
            <a:xfrm>
              <a:off x="4560888" y="4090988"/>
              <a:ext cx="4516437" cy="1214437"/>
            </a:xfrm>
            <a:custGeom>
              <a:avLst/>
              <a:gdLst>
                <a:gd name="T0" fmla="*/ 2147483646 w 21600"/>
                <a:gd name="T1" fmla="*/ 2147483646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7 w 21600"/>
                <a:gd name="T13" fmla="*/ 3262 h 21600"/>
                <a:gd name="T14" fmla="*/ 17087 w 21600"/>
                <a:gd name="T15" fmla="*/ 1733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9" name="Rectangle 263"/>
            <p:cNvSpPr>
              <a:spLocks noChangeArrowheads="1"/>
            </p:cNvSpPr>
            <p:nvPr/>
          </p:nvSpPr>
          <p:spPr bwMode="auto">
            <a:xfrm>
              <a:off x="5135630" y="4583113"/>
              <a:ext cx="269890" cy="20478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0" name="Rectangle 262"/>
            <p:cNvSpPr>
              <a:spLocks noChangeArrowheads="1"/>
            </p:cNvSpPr>
            <p:nvPr/>
          </p:nvSpPr>
          <p:spPr bwMode="auto">
            <a:xfrm>
              <a:off x="8064726" y="4811713"/>
              <a:ext cx="279415" cy="23812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4" name="Text Box 72"/>
            <p:cNvSpPr txBox="1">
              <a:spLocks noChangeArrowheads="1"/>
            </p:cNvSpPr>
            <p:nvPr/>
          </p:nvSpPr>
          <p:spPr bwMode="auto">
            <a:xfrm>
              <a:off x="3974459" y="5832475"/>
              <a:ext cx="2411106" cy="624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Electrical Engineering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(VLAN ports 1-8)</a:t>
              </a:r>
            </a:p>
          </p:txBody>
        </p:sp>
        <p:sp>
          <p:nvSpPr>
            <p:cNvPr id="425" name="Text Box 45"/>
            <p:cNvSpPr txBox="1">
              <a:spLocks noChangeArrowheads="1"/>
            </p:cNvSpPr>
            <p:nvPr/>
          </p:nvSpPr>
          <p:spPr bwMode="auto">
            <a:xfrm>
              <a:off x="4903788" y="5256212"/>
              <a:ext cx="575583" cy="507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</a:p>
          </p:txBody>
        </p:sp>
        <p:grpSp>
          <p:nvGrpSpPr>
            <p:cNvPr id="426" name="Group 186"/>
            <p:cNvGrpSpPr>
              <a:grpSpLocks/>
            </p:cNvGrpSpPr>
            <p:nvPr/>
          </p:nvGrpSpPr>
          <p:grpSpPr bwMode="auto">
            <a:xfrm>
              <a:off x="5041900" y="4316413"/>
              <a:ext cx="1684338" cy="741362"/>
              <a:chOff x="3479" y="2610"/>
              <a:chExt cx="1061" cy="467"/>
            </a:xfrm>
          </p:grpSpPr>
          <p:sp>
            <p:nvSpPr>
              <p:cNvPr id="470" name="Rectangle 80"/>
              <p:cNvSpPr>
                <a:spLocks noChangeArrowheads="1"/>
              </p:cNvSpPr>
              <p:nvPr/>
            </p:nvSpPr>
            <p:spPr bwMode="auto">
              <a:xfrm>
                <a:off x="3531" y="2914"/>
                <a:ext cx="183" cy="153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1" name="Rectangle 75"/>
              <p:cNvSpPr>
                <a:spLocks noChangeArrowheads="1"/>
              </p:cNvSpPr>
              <p:nvPr/>
            </p:nvSpPr>
            <p:spPr bwMode="auto">
              <a:xfrm>
                <a:off x="3711" y="2779"/>
                <a:ext cx="567" cy="28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2" name="Rectangle 2"/>
              <p:cNvSpPr>
                <a:spLocks noChangeArrowheads="1"/>
              </p:cNvSpPr>
              <p:nvPr/>
            </p:nvSpPr>
            <p:spPr bwMode="auto">
              <a:xfrm>
                <a:off x="3531" y="2774"/>
                <a:ext cx="745" cy="29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3" name="Line 3"/>
              <p:cNvSpPr>
                <a:spLocks noChangeShapeType="1"/>
              </p:cNvSpPr>
              <p:nvPr/>
            </p:nvSpPr>
            <p:spPr bwMode="auto">
              <a:xfrm>
                <a:off x="3532" y="2910"/>
                <a:ext cx="741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4" name="Text Box 6"/>
              <p:cNvSpPr txBox="1">
                <a:spLocks noChangeArrowheads="1"/>
              </p:cNvSpPr>
              <p:nvPr/>
            </p:nvSpPr>
            <p:spPr bwMode="auto">
              <a:xfrm>
                <a:off x="3479" y="2748"/>
                <a:ext cx="254" cy="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475" name="AutoShape 8"/>
              <p:cNvSpPr>
                <a:spLocks noChangeArrowheads="1"/>
              </p:cNvSpPr>
              <p:nvPr/>
            </p:nvSpPr>
            <p:spPr bwMode="auto">
              <a:xfrm>
                <a:off x="3513" y="2611"/>
                <a:ext cx="1027" cy="165"/>
              </a:xfrm>
              <a:prstGeom prst="parallelogram">
                <a:avLst>
                  <a:gd name="adj" fmla="val 15560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6" name="Freeform 10"/>
              <p:cNvSpPr>
                <a:spLocks/>
              </p:cNvSpPr>
              <p:nvPr/>
            </p:nvSpPr>
            <p:spPr bwMode="auto">
              <a:xfrm>
                <a:off x="3628" y="2639"/>
                <a:ext cx="746" cy="105"/>
              </a:xfrm>
              <a:custGeom>
                <a:avLst/>
                <a:gdLst>
                  <a:gd name="T0" fmla="*/ 0 w 678"/>
                  <a:gd name="T1" fmla="*/ 83 h 110"/>
                  <a:gd name="T2" fmla="*/ 263 w 678"/>
                  <a:gd name="T3" fmla="*/ 82 h 110"/>
                  <a:gd name="T4" fmla="*/ 1007 w 678"/>
                  <a:gd name="T5" fmla="*/ 0 h 110"/>
                  <a:gd name="T6" fmla="*/ 1204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7" name="Line 18"/>
              <p:cNvSpPr>
                <a:spLocks noChangeShapeType="1"/>
              </p:cNvSpPr>
              <p:nvPr/>
            </p:nvSpPr>
            <p:spPr bwMode="auto">
              <a:xfrm>
                <a:off x="3897" y="2777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8" name="Line 21"/>
              <p:cNvSpPr>
                <a:spLocks noChangeShapeType="1"/>
              </p:cNvSpPr>
              <p:nvPr/>
            </p:nvSpPr>
            <p:spPr bwMode="auto">
              <a:xfrm>
                <a:off x="3714" y="2775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9" name="Line 22"/>
              <p:cNvSpPr>
                <a:spLocks noChangeShapeType="1"/>
              </p:cNvSpPr>
              <p:nvPr/>
            </p:nvSpPr>
            <p:spPr bwMode="auto">
              <a:xfrm>
                <a:off x="3531" y="2783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0" name="Line 23"/>
              <p:cNvSpPr>
                <a:spLocks noChangeShapeType="1"/>
              </p:cNvSpPr>
              <p:nvPr/>
            </p:nvSpPr>
            <p:spPr bwMode="auto">
              <a:xfrm>
                <a:off x="4074" y="2780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1" name="Text Box 26"/>
              <p:cNvSpPr txBox="1">
                <a:spLocks noChangeArrowheads="1"/>
              </p:cNvSpPr>
              <p:nvPr/>
            </p:nvSpPr>
            <p:spPr bwMode="auto">
              <a:xfrm>
                <a:off x="4034" y="2880"/>
                <a:ext cx="254" cy="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</a:p>
            </p:txBody>
          </p:sp>
          <p:sp>
            <p:nvSpPr>
              <p:cNvPr id="482" name="Text Box 30"/>
              <p:cNvSpPr txBox="1">
                <a:spLocks noChangeArrowheads="1"/>
              </p:cNvSpPr>
              <p:nvPr/>
            </p:nvSpPr>
            <p:spPr bwMode="auto">
              <a:xfrm>
                <a:off x="3485" y="2874"/>
                <a:ext cx="254" cy="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483" name="Text Box 57"/>
              <p:cNvSpPr txBox="1">
                <a:spLocks noChangeArrowheads="1"/>
              </p:cNvSpPr>
              <p:nvPr/>
            </p:nvSpPr>
            <p:spPr bwMode="auto">
              <a:xfrm>
                <a:off x="4031" y="2745"/>
                <a:ext cx="254" cy="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</a:t>
                </a:r>
              </a:p>
            </p:txBody>
          </p:sp>
          <p:sp>
            <p:nvSpPr>
              <p:cNvPr id="484" name="Oval 81"/>
              <p:cNvSpPr>
                <a:spLocks noChangeArrowheads="1"/>
              </p:cNvSpPr>
              <p:nvPr/>
            </p:nvSpPr>
            <p:spPr bwMode="auto">
              <a:xfrm>
                <a:off x="3604" y="2972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5" name="Oval 82"/>
              <p:cNvSpPr>
                <a:spLocks noChangeArrowheads="1"/>
              </p:cNvSpPr>
              <p:nvPr/>
            </p:nvSpPr>
            <p:spPr bwMode="auto">
              <a:xfrm>
                <a:off x="3788" y="2970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6" name="Oval 83"/>
              <p:cNvSpPr>
                <a:spLocks noChangeArrowheads="1"/>
              </p:cNvSpPr>
              <p:nvPr/>
            </p:nvSpPr>
            <p:spPr bwMode="auto">
              <a:xfrm>
                <a:off x="4158" y="2973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7" name="Freeform 10"/>
              <p:cNvSpPr>
                <a:spLocks/>
              </p:cNvSpPr>
              <p:nvPr/>
            </p:nvSpPr>
            <p:spPr bwMode="auto">
              <a:xfrm flipV="1">
                <a:off x="3754" y="2639"/>
                <a:ext cx="550" cy="105"/>
              </a:xfrm>
              <a:custGeom>
                <a:avLst/>
                <a:gdLst>
                  <a:gd name="T0" fmla="*/ 0 w 678"/>
                  <a:gd name="T1" fmla="*/ 83 h 110"/>
                  <a:gd name="T2" fmla="*/ 42 w 678"/>
                  <a:gd name="T3" fmla="*/ 82 h 110"/>
                  <a:gd name="T4" fmla="*/ 162 w 678"/>
                  <a:gd name="T5" fmla="*/ 0 h 110"/>
                  <a:gd name="T6" fmla="*/ 193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8" name="Freeform 185"/>
              <p:cNvSpPr>
                <a:spLocks/>
              </p:cNvSpPr>
              <p:nvPr/>
            </p:nvSpPr>
            <p:spPr bwMode="auto">
              <a:xfrm>
                <a:off x="4274" y="2610"/>
                <a:ext cx="264" cy="456"/>
              </a:xfrm>
              <a:custGeom>
                <a:avLst/>
                <a:gdLst>
                  <a:gd name="T0" fmla="*/ 264 w 264"/>
                  <a:gd name="T1" fmla="*/ 0 h 456"/>
                  <a:gd name="T2" fmla="*/ 262 w 264"/>
                  <a:gd name="T3" fmla="*/ 248 h 456"/>
                  <a:gd name="T4" fmla="*/ 0 w 264"/>
                  <a:gd name="T5" fmla="*/ 456 h 4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" h="456">
                    <a:moveTo>
                      <a:pt x="264" y="0"/>
                    </a:moveTo>
                    <a:lnTo>
                      <a:pt x="262" y="248"/>
                    </a:lnTo>
                    <a:lnTo>
                      <a:pt x="0" y="456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7" name="Group 210"/>
            <p:cNvGrpSpPr>
              <a:grpSpLocks/>
            </p:cNvGrpSpPr>
            <p:nvPr/>
          </p:nvGrpSpPr>
          <p:grpSpPr bwMode="auto">
            <a:xfrm>
              <a:off x="7080250" y="4318000"/>
              <a:ext cx="1698625" cy="755650"/>
              <a:chOff x="1003" y="3585"/>
              <a:chExt cx="1070" cy="476"/>
            </a:xfrm>
          </p:grpSpPr>
          <p:grpSp>
            <p:nvGrpSpPr>
              <p:cNvPr id="451" name="Group 207"/>
              <p:cNvGrpSpPr>
                <a:grpSpLocks/>
              </p:cNvGrpSpPr>
              <p:nvPr/>
            </p:nvGrpSpPr>
            <p:grpSpPr bwMode="auto">
              <a:xfrm>
                <a:off x="1003" y="3723"/>
                <a:ext cx="869" cy="338"/>
                <a:chOff x="2444" y="3759"/>
                <a:chExt cx="869" cy="338"/>
              </a:xfrm>
            </p:grpSpPr>
            <p:sp>
              <p:nvSpPr>
                <p:cNvPr id="458" name="Rectangle 77"/>
                <p:cNvSpPr>
                  <a:spLocks noChangeArrowheads="1"/>
                </p:cNvSpPr>
                <p:nvPr/>
              </p:nvSpPr>
              <p:spPr bwMode="auto">
                <a:xfrm>
                  <a:off x="3057" y="3793"/>
                  <a:ext cx="183" cy="13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9" name="Rectangle 76"/>
                <p:cNvSpPr>
                  <a:spLocks noChangeArrowheads="1"/>
                </p:cNvSpPr>
                <p:nvPr/>
              </p:nvSpPr>
              <p:spPr bwMode="auto">
                <a:xfrm>
                  <a:off x="2496" y="3796"/>
                  <a:ext cx="561" cy="28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0" name="Line 17"/>
                <p:cNvSpPr>
                  <a:spLocks noChangeShapeType="1"/>
                </p:cNvSpPr>
                <p:nvPr/>
              </p:nvSpPr>
              <p:spPr bwMode="auto">
                <a:xfrm>
                  <a:off x="2874" y="3797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1" name="Line 24"/>
                <p:cNvSpPr>
                  <a:spLocks noChangeShapeType="1"/>
                </p:cNvSpPr>
                <p:nvPr/>
              </p:nvSpPr>
              <p:spPr bwMode="auto">
                <a:xfrm>
                  <a:off x="2688" y="3794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2" name="Line 25"/>
                <p:cNvSpPr>
                  <a:spLocks noChangeShapeType="1"/>
                </p:cNvSpPr>
                <p:nvPr/>
              </p:nvSpPr>
              <p:spPr bwMode="auto">
                <a:xfrm>
                  <a:off x="3060" y="3791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3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456" y="3762"/>
                  <a:ext cx="254" cy="1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60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9</a:t>
                  </a:r>
                </a:p>
              </p:txBody>
            </p:sp>
            <p:sp>
              <p:nvSpPr>
                <p:cNvPr id="464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3008" y="3900"/>
                  <a:ext cx="305" cy="1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60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16</a:t>
                  </a:r>
                </a:p>
              </p:txBody>
            </p:sp>
            <p:sp>
              <p:nvSpPr>
                <p:cNvPr id="465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444" y="3900"/>
                  <a:ext cx="305" cy="1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60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10</a:t>
                  </a:r>
                </a:p>
              </p:txBody>
            </p:sp>
            <p:sp>
              <p:nvSpPr>
                <p:cNvPr id="466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3005" y="3759"/>
                  <a:ext cx="305" cy="1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60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15</a:t>
                  </a:r>
                </a:p>
              </p:txBody>
            </p:sp>
            <p:sp>
              <p:nvSpPr>
                <p:cNvPr id="467" name="Oval 84"/>
                <p:cNvSpPr>
                  <a:spLocks noChangeArrowheads="1"/>
                </p:cNvSpPr>
                <p:nvPr/>
              </p:nvSpPr>
              <p:spPr bwMode="auto">
                <a:xfrm>
                  <a:off x="2588" y="3988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8" name="Oval 85"/>
                <p:cNvSpPr>
                  <a:spLocks noChangeArrowheads="1"/>
                </p:cNvSpPr>
                <p:nvPr/>
              </p:nvSpPr>
              <p:spPr bwMode="auto">
                <a:xfrm>
                  <a:off x="2580" y="3853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9" name="Oval 86"/>
                <p:cNvSpPr>
                  <a:spLocks noChangeArrowheads="1"/>
                </p:cNvSpPr>
                <p:nvPr/>
              </p:nvSpPr>
              <p:spPr bwMode="auto">
                <a:xfrm>
                  <a:off x="3131" y="3851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52" name="AutoShape 8"/>
              <p:cNvSpPr>
                <a:spLocks noChangeArrowheads="1"/>
              </p:cNvSpPr>
              <p:nvPr/>
            </p:nvSpPr>
            <p:spPr bwMode="auto">
              <a:xfrm>
                <a:off x="1046" y="3586"/>
                <a:ext cx="1027" cy="165"/>
              </a:xfrm>
              <a:prstGeom prst="parallelogram">
                <a:avLst>
                  <a:gd name="adj" fmla="val 15560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3" name="Freeform 10"/>
              <p:cNvSpPr>
                <a:spLocks/>
              </p:cNvSpPr>
              <p:nvPr/>
            </p:nvSpPr>
            <p:spPr bwMode="auto">
              <a:xfrm>
                <a:off x="1161" y="3614"/>
                <a:ext cx="746" cy="105"/>
              </a:xfrm>
              <a:custGeom>
                <a:avLst/>
                <a:gdLst>
                  <a:gd name="T0" fmla="*/ 0 w 678"/>
                  <a:gd name="T1" fmla="*/ 83 h 110"/>
                  <a:gd name="T2" fmla="*/ 263 w 678"/>
                  <a:gd name="T3" fmla="*/ 82 h 110"/>
                  <a:gd name="T4" fmla="*/ 1007 w 678"/>
                  <a:gd name="T5" fmla="*/ 0 h 110"/>
                  <a:gd name="T6" fmla="*/ 1204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4" name="Freeform 10"/>
              <p:cNvSpPr>
                <a:spLocks/>
              </p:cNvSpPr>
              <p:nvPr/>
            </p:nvSpPr>
            <p:spPr bwMode="auto">
              <a:xfrm flipV="1">
                <a:off x="1287" y="3614"/>
                <a:ext cx="550" cy="105"/>
              </a:xfrm>
              <a:custGeom>
                <a:avLst/>
                <a:gdLst>
                  <a:gd name="T0" fmla="*/ 0 w 678"/>
                  <a:gd name="T1" fmla="*/ 83 h 110"/>
                  <a:gd name="T2" fmla="*/ 42 w 678"/>
                  <a:gd name="T3" fmla="*/ 82 h 110"/>
                  <a:gd name="T4" fmla="*/ 162 w 678"/>
                  <a:gd name="T5" fmla="*/ 0 h 110"/>
                  <a:gd name="T6" fmla="*/ 193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5" name="Freeform 206"/>
              <p:cNvSpPr>
                <a:spLocks/>
              </p:cNvSpPr>
              <p:nvPr/>
            </p:nvSpPr>
            <p:spPr bwMode="auto">
              <a:xfrm>
                <a:off x="1807" y="3585"/>
                <a:ext cx="264" cy="456"/>
              </a:xfrm>
              <a:custGeom>
                <a:avLst/>
                <a:gdLst>
                  <a:gd name="T0" fmla="*/ 264 w 264"/>
                  <a:gd name="T1" fmla="*/ 0 h 456"/>
                  <a:gd name="T2" fmla="*/ 262 w 264"/>
                  <a:gd name="T3" fmla="*/ 248 h 456"/>
                  <a:gd name="T4" fmla="*/ 0 w 264"/>
                  <a:gd name="T5" fmla="*/ 456 h 4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" h="456">
                    <a:moveTo>
                      <a:pt x="264" y="0"/>
                    </a:moveTo>
                    <a:lnTo>
                      <a:pt x="262" y="248"/>
                    </a:lnTo>
                    <a:lnTo>
                      <a:pt x="0" y="456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6" name="Freeform 208"/>
              <p:cNvSpPr>
                <a:spLocks/>
              </p:cNvSpPr>
              <p:nvPr/>
            </p:nvSpPr>
            <p:spPr bwMode="auto">
              <a:xfrm>
                <a:off x="1044" y="3747"/>
                <a:ext cx="762" cy="303"/>
              </a:xfrm>
              <a:custGeom>
                <a:avLst/>
                <a:gdLst>
                  <a:gd name="T0" fmla="*/ 0 w 762"/>
                  <a:gd name="T1" fmla="*/ 3 h 303"/>
                  <a:gd name="T2" fmla="*/ 0 w 762"/>
                  <a:gd name="T3" fmla="*/ 303 h 303"/>
                  <a:gd name="T4" fmla="*/ 762 w 762"/>
                  <a:gd name="T5" fmla="*/ 303 h 303"/>
                  <a:gd name="T6" fmla="*/ 762 w 762"/>
                  <a:gd name="T7" fmla="*/ 0 h 3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62" h="303">
                    <a:moveTo>
                      <a:pt x="0" y="3"/>
                    </a:moveTo>
                    <a:lnTo>
                      <a:pt x="0" y="303"/>
                    </a:lnTo>
                    <a:lnTo>
                      <a:pt x="762" y="303"/>
                    </a:lnTo>
                    <a:lnTo>
                      <a:pt x="762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7" name="Line 209"/>
              <p:cNvSpPr>
                <a:spLocks noChangeShapeType="1"/>
              </p:cNvSpPr>
              <p:nvPr/>
            </p:nvSpPr>
            <p:spPr bwMode="auto">
              <a:xfrm flipV="1">
                <a:off x="1044" y="3888"/>
                <a:ext cx="768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28" name="Text Box 64"/>
            <p:cNvSpPr txBox="1">
              <a:spLocks noChangeArrowheads="1"/>
            </p:cNvSpPr>
            <p:nvPr/>
          </p:nvSpPr>
          <p:spPr bwMode="auto">
            <a:xfrm>
              <a:off x="8037512" y="5297487"/>
              <a:ext cx="575583" cy="507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</a:p>
          </p:txBody>
        </p:sp>
        <p:sp>
          <p:nvSpPr>
            <p:cNvPr id="429" name="Line 69"/>
            <p:cNvSpPr>
              <a:spLocks noChangeShapeType="1"/>
            </p:cNvSpPr>
            <p:nvPr/>
          </p:nvSpPr>
          <p:spPr bwMode="auto">
            <a:xfrm>
              <a:off x="7324725" y="4922838"/>
              <a:ext cx="101600" cy="377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0" name="Line 70"/>
            <p:cNvSpPr>
              <a:spLocks noChangeShapeType="1"/>
            </p:cNvSpPr>
            <p:nvPr/>
          </p:nvSpPr>
          <p:spPr bwMode="auto">
            <a:xfrm>
              <a:off x="7315200" y="4721225"/>
              <a:ext cx="479425" cy="603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1" name="Line 71"/>
            <p:cNvSpPr>
              <a:spLocks noChangeShapeType="1"/>
            </p:cNvSpPr>
            <p:nvPr/>
          </p:nvSpPr>
          <p:spPr bwMode="auto">
            <a:xfrm>
              <a:off x="8170863" y="4665663"/>
              <a:ext cx="514350" cy="484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2" name="Text Box 73"/>
            <p:cNvSpPr txBox="1">
              <a:spLocks noChangeArrowheads="1"/>
            </p:cNvSpPr>
            <p:nvPr/>
          </p:nvSpPr>
          <p:spPr bwMode="auto">
            <a:xfrm>
              <a:off x="7031409" y="5827712"/>
              <a:ext cx="2099521" cy="624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Computer Science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(VLAN ports 9-16)</a:t>
              </a:r>
            </a:p>
          </p:txBody>
        </p:sp>
        <p:grpSp>
          <p:nvGrpSpPr>
            <p:cNvPr id="433" name="Group 44"/>
            <p:cNvGrpSpPr>
              <a:grpSpLocks/>
            </p:cNvGrpSpPr>
            <p:nvPr/>
          </p:nvGrpSpPr>
          <p:grpSpPr bwMode="auto">
            <a:xfrm>
              <a:off x="3902075" y="5110163"/>
              <a:ext cx="609600" cy="558800"/>
              <a:chOff x="-44" y="1473"/>
              <a:chExt cx="981" cy="1105"/>
            </a:xfrm>
          </p:grpSpPr>
          <p:pic>
            <p:nvPicPr>
              <p:cNvPr id="449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0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4" name="Group 44"/>
            <p:cNvGrpSpPr>
              <a:grpSpLocks/>
            </p:cNvGrpSpPr>
            <p:nvPr/>
          </p:nvGrpSpPr>
          <p:grpSpPr bwMode="auto">
            <a:xfrm>
              <a:off x="4429125" y="5202238"/>
              <a:ext cx="609600" cy="558800"/>
              <a:chOff x="-44" y="1473"/>
              <a:chExt cx="981" cy="1105"/>
            </a:xfrm>
          </p:grpSpPr>
          <p:pic>
            <p:nvPicPr>
              <p:cNvPr id="44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8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5" name="Group 44"/>
            <p:cNvGrpSpPr>
              <a:grpSpLocks/>
            </p:cNvGrpSpPr>
            <p:nvPr/>
          </p:nvGrpSpPr>
          <p:grpSpPr bwMode="auto">
            <a:xfrm>
              <a:off x="5151438" y="5222875"/>
              <a:ext cx="609600" cy="558800"/>
              <a:chOff x="-44" y="1473"/>
              <a:chExt cx="981" cy="1105"/>
            </a:xfrm>
          </p:grpSpPr>
          <p:pic>
            <p:nvPicPr>
              <p:cNvPr id="44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6" name="Group 44"/>
            <p:cNvGrpSpPr>
              <a:grpSpLocks/>
            </p:cNvGrpSpPr>
            <p:nvPr/>
          </p:nvGrpSpPr>
          <p:grpSpPr bwMode="auto">
            <a:xfrm>
              <a:off x="6969125" y="5253038"/>
              <a:ext cx="609600" cy="558800"/>
              <a:chOff x="-44" y="1473"/>
              <a:chExt cx="981" cy="1105"/>
            </a:xfrm>
          </p:grpSpPr>
          <p:pic>
            <p:nvPicPr>
              <p:cNvPr id="443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4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7" name="Group 44"/>
            <p:cNvGrpSpPr>
              <a:grpSpLocks/>
            </p:cNvGrpSpPr>
            <p:nvPr/>
          </p:nvGrpSpPr>
          <p:grpSpPr bwMode="auto">
            <a:xfrm>
              <a:off x="7477125" y="5262563"/>
              <a:ext cx="609600" cy="558800"/>
              <a:chOff x="-44" y="1473"/>
              <a:chExt cx="981" cy="1105"/>
            </a:xfrm>
          </p:grpSpPr>
          <p:pic>
            <p:nvPicPr>
              <p:cNvPr id="44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2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8" name="Group 44"/>
            <p:cNvGrpSpPr>
              <a:grpSpLocks/>
            </p:cNvGrpSpPr>
            <p:nvPr/>
          </p:nvGrpSpPr>
          <p:grpSpPr bwMode="auto">
            <a:xfrm>
              <a:off x="8340725" y="5080000"/>
              <a:ext cx="609600" cy="558800"/>
              <a:chOff x="-44" y="1473"/>
              <a:chExt cx="981" cy="1105"/>
            </a:xfrm>
          </p:grpSpPr>
          <p:pic>
            <p:nvPicPr>
              <p:cNvPr id="439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0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22" name="Line 62"/>
            <p:cNvSpPr>
              <a:spLocks noChangeShapeType="1"/>
            </p:cNvSpPr>
            <p:nvPr/>
          </p:nvSpPr>
          <p:spPr bwMode="auto">
            <a:xfrm flipH="1">
              <a:off x="4749800" y="4911725"/>
              <a:ext cx="806450" cy="419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3" name="Line 63"/>
            <p:cNvSpPr>
              <a:spLocks noChangeShapeType="1"/>
            </p:cNvSpPr>
            <p:nvPr/>
          </p:nvSpPr>
          <p:spPr bwMode="auto">
            <a:xfrm flipH="1">
              <a:off x="5468938" y="4921250"/>
              <a:ext cx="684212" cy="366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1" name="Line 61"/>
            <p:cNvSpPr>
              <a:spLocks noChangeShapeType="1"/>
            </p:cNvSpPr>
            <p:nvPr/>
          </p:nvSpPr>
          <p:spPr bwMode="auto">
            <a:xfrm flipH="1">
              <a:off x="4364038" y="4911725"/>
              <a:ext cx="901700" cy="27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右箭头 6"/>
          <p:cNvSpPr/>
          <p:nvPr/>
        </p:nvSpPr>
        <p:spPr>
          <a:xfrm>
            <a:off x="4412289" y="3697067"/>
            <a:ext cx="314055" cy="227460"/>
          </a:xfrm>
          <a:prstGeom prst="rightArrow">
            <a:avLst/>
          </a:prstGeom>
          <a:solidFill>
            <a:srgbClr val="0066CC"/>
          </a:solidFill>
          <a:ln>
            <a:solidFill>
              <a:srgbClr val="0066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Rectangle 3"/>
          <p:cNvSpPr txBox="1">
            <a:spLocks noChangeArrowheads="1"/>
          </p:cNvSpPr>
          <p:nvPr/>
        </p:nvSpPr>
        <p:spPr bwMode="auto">
          <a:xfrm>
            <a:off x="5436924" y="4823327"/>
            <a:ext cx="2049881" cy="268703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逻辑隔离出两个“局域网”</a:t>
            </a:r>
            <a:endParaRPr lang="en-US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Rectangle 3"/>
          <p:cNvSpPr txBox="1">
            <a:spLocks noChangeArrowheads="1"/>
          </p:cNvSpPr>
          <p:nvPr/>
        </p:nvSpPr>
        <p:spPr bwMode="auto">
          <a:xfrm>
            <a:off x="1534580" y="2857743"/>
            <a:ext cx="4888463" cy="522708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135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135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135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35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VLAN:</a:t>
            </a:r>
          </a:p>
          <a:p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管理员对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进行分组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通过交换机的管理软件实现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endParaRPr lang="en-US" altLang="zh-CN" sz="12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灯片编号占位符 2">
            <a:extLst>
              <a:ext uri="{FF2B5EF4-FFF2-40B4-BE49-F238E27FC236}">
                <a16:creationId xmlns:a16="http://schemas.microsoft.com/office/drawing/2014/main" id="{031963D9-F73F-4EEF-B39F-D8788774FE6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40</a:t>
            </a:fld>
            <a:endParaRPr lang="en-US" altLang="zh-CN" dirty="0"/>
          </a:p>
        </p:txBody>
      </p:sp>
      <p:sp>
        <p:nvSpPr>
          <p:cNvPr id="147" name="AutoShape 5">
            <a:extLst>
              <a:ext uri="{FF2B5EF4-FFF2-40B4-BE49-F238E27FC236}">
                <a16:creationId xmlns:a16="http://schemas.microsoft.com/office/drawing/2014/main" id="{9D5E3B7B-4589-4DC4-A151-BCEEA8BE6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951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animBg="1"/>
      <p:bldP spid="147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5.4.4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虚拟局域网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(VLANs)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手段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使用支持</a:t>
            </a:r>
            <a:r>
              <a:rPr lang="en-US" altLang="zh-CN" dirty="0">
                <a:solidFill>
                  <a:srgbClr val="0066CC"/>
                </a:solidFill>
              </a:rPr>
              <a:t>VLAN</a:t>
            </a:r>
            <a:r>
              <a:rPr lang="zh-CN" altLang="en-US" dirty="0">
                <a:solidFill>
                  <a:srgbClr val="0066CC"/>
                </a:solidFill>
              </a:rPr>
              <a:t>的交换机</a:t>
            </a:r>
            <a:endParaRPr lang="en-US" altLang="zh-CN" dirty="0">
              <a:solidFill>
                <a:srgbClr val="0066CC"/>
              </a:solidFill>
            </a:endParaRPr>
          </a:p>
        </p:txBody>
      </p:sp>
      <p:sp>
        <p:nvSpPr>
          <p:cNvPr id="220" name="Rectangle 3"/>
          <p:cNvSpPr txBox="1">
            <a:spLocks noChangeArrowheads="1"/>
          </p:cNvSpPr>
          <p:nvPr/>
        </p:nvSpPr>
        <p:spPr bwMode="auto">
          <a:xfrm>
            <a:off x="1484519" y="2037561"/>
            <a:ext cx="4967345" cy="83423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1350" dirty="0">
                <a:solidFill>
                  <a:srgbClr val="CC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35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三层</a:t>
            </a:r>
            <a:r>
              <a:rPr lang="zh-CN" altLang="en-US" sz="1350" dirty="0">
                <a:solidFill>
                  <a:srgbClr val="CC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35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交换机</a:t>
            </a:r>
            <a:r>
              <a:rPr lang="en-US" altLang="zh-CN" sz="135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带路由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工作在网络层、第三层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功能的交换机；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使得单个交换机能够物理隔离出多个“子网”</a:t>
            </a:r>
            <a:endParaRPr lang="en-US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3" name="Group 44"/>
          <p:cNvGrpSpPr>
            <a:grpSpLocks/>
          </p:cNvGrpSpPr>
          <p:nvPr/>
        </p:nvGrpSpPr>
        <p:grpSpPr bwMode="auto">
          <a:xfrm>
            <a:off x="4716180" y="3663157"/>
            <a:ext cx="344981" cy="330641"/>
            <a:chOff x="-44" y="1473"/>
            <a:chExt cx="981" cy="1105"/>
          </a:xfrm>
        </p:grpSpPr>
        <p:pic>
          <p:nvPicPr>
            <p:cNvPr id="44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右箭头 6"/>
          <p:cNvSpPr/>
          <p:nvPr/>
        </p:nvSpPr>
        <p:spPr>
          <a:xfrm>
            <a:off x="4412289" y="3341671"/>
            <a:ext cx="314055" cy="227460"/>
          </a:xfrm>
          <a:prstGeom prst="rightArrow">
            <a:avLst/>
          </a:prstGeom>
          <a:solidFill>
            <a:srgbClr val="0066CC"/>
          </a:solidFill>
          <a:ln>
            <a:solidFill>
              <a:srgbClr val="0066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Rectangle 3"/>
          <p:cNvSpPr txBox="1">
            <a:spLocks noChangeArrowheads="1"/>
          </p:cNvSpPr>
          <p:nvPr/>
        </p:nvSpPr>
        <p:spPr bwMode="auto">
          <a:xfrm>
            <a:off x="5436924" y="4467931"/>
            <a:ext cx="2049881" cy="268703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物理隔离出两个“子网”</a:t>
            </a:r>
            <a:endParaRPr lang="en-US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547812" y="2844270"/>
            <a:ext cx="2628437" cy="1603639"/>
            <a:chOff x="539750" y="3792359"/>
            <a:chExt cx="3504582" cy="2138186"/>
          </a:xfrm>
        </p:grpSpPr>
        <p:grpSp>
          <p:nvGrpSpPr>
            <p:cNvPr id="354" name="组合 353"/>
            <p:cNvGrpSpPr/>
            <p:nvPr/>
          </p:nvGrpSpPr>
          <p:grpSpPr>
            <a:xfrm>
              <a:off x="539750" y="4244033"/>
              <a:ext cx="3504582" cy="1686512"/>
              <a:chOff x="4165600" y="1617663"/>
              <a:chExt cx="4445000" cy="2139055"/>
            </a:xfrm>
          </p:grpSpPr>
          <p:sp>
            <p:nvSpPr>
              <p:cNvPr id="355" name="Rectangle 213"/>
              <p:cNvSpPr>
                <a:spLocks noChangeArrowheads="1"/>
              </p:cNvSpPr>
              <p:nvPr/>
            </p:nvSpPr>
            <p:spPr bwMode="auto">
              <a:xfrm>
                <a:off x="7543800" y="2105025"/>
                <a:ext cx="279400" cy="2286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6" name="Rectangle 212"/>
              <p:cNvSpPr>
                <a:spLocks noChangeArrowheads="1"/>
              </p:cNvSpPr>
              <p:nvPr/>
            </p:nvSpPr>
            <p:spPr bwMode="auto">
              <a:xfrm>
                <a:off x="5470525" y="1889125"/>
                <a:ext cx="273050" cy="19685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7" name="Rectangle 80"/>
              <p:cNvSpPr>
                <a:spLocks noChangeArrowheads="1"/>
              </p:cNvSpPr>
              <p:nvPr/>
            </p:nvSpPr>
            <p:spPr bwMode="auto">
              <a:xfrm>
                <a:off x="5462588" y="2098675"/>
                <a:ext cx="290512" cy="24288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8" name="Rectangle 77"/>
              <p:cNvSpPr>
                <a:spLocks noChangeArrowheads="1"/>
              </p:cNvSpPr>
              <p:nvPr/>
            </p:nvSpPr>
            <p:spPr bwMode="auto">
              <a:xfrm>
                <a:off x="7534275" y="1879600"/>
                <a:ext cx="290513" cy="20955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9" name="Rectangle 76"/>
              <p:cNvSpPr>
                <a:spLocks noChangeArrowheads="1"/>
              </p:cNvSpPr>
              <p:nvPr/>
            </p:nvSpPr>
            <p:spPr bwMode="auto">
              <a:xfrm>
                <a:off x="6643688" y="1884363"/>
                <a:ext cx="890587" cy="4572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0" name="Rectangle 75"/>
              <p:cNvSpPr>
                <a:spLocks noChangeArrowheads="1"/>
              </p:cNvSpPr>
              <p:nvPr/>
            </p:nvSpPr>
            <p:spPr bwMode="auto">
              <a:xfrm>
                <a:off x="5748338" y="1884363"/>
                <a:ext cx="900112" cy="452437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1" name="Rectangle 2"/>
              <p:cNvSpPr>
                <a:spLocks noChangeArrowheads="1"/>
              </p:cNvSpPr>
              <p:nvPr/>
            </p:nvSpPr>
            <p:spPr bwMode="auto">
              <a:xfrm>
                <a:off x="5462588" y="1876425"/>
                <a:ext cx="2370137" cy="4683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2" name="Line 3"/>
              <p:cNvSpPr>
                <a:spLocks noChangeShapeType="1"/>
              </p:cNvSpPr>
              <p:nvPr/>
            </p:nvSpPr>
            <p:spPr bwMode="auto">
              <a:xfrm>
                <a:off x="5464175" y="2092325"/>
                <a:ext cx="2351088" cy="47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3" name="Text Box 6"/>
              <p:cNvSpPr txBox="1">
                <a:spLocks noChangeArrowheads="1"/>
              </p:cNvSpPr>
              <p:nvPr/>
            </p:nvSpPr>
            <p:spPr bwMode="auto">
              <a:xfrm>
                <a:off x="5380038" y="1835150"/>
                <a:ext cx="385487" cy="312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00" i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364" name="Line 7"/>
              <p:cNvSpPr>
                <a:spLocks noChangeShapeType="1"/>
              </p:cNvSpPr>
              <p:nvPr/>
            </p:nvSpPr>
            <p:spPr bwMode="auto">
              <a:xfrm>
                <a:off x="6643688" y="1881188"/>
                <a:ext cx="0" cy="463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5" name="AutoShape 8"/>
              <p:cNvSpPr>
                <a:spLocks noChangeArrowheads="1"/>
              </p:cNvSpPr>
              <p:nvPr/>
            </p:nvSpPr>
            <p:spPr bwMode="auto">
              <a:xfrm>
                <a:off x="5434013" y="1617663"/>
                <a:ext cx="3176587" cy="261937"/>
              </a:xfrm>
              <a:prstGeom prst="parallelogram">
                <a:avLst>
                  <a:gd name="adj" fmla="val 303182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6" name="Freeform 9"/>
              <p:cNvSpPr>
                <a:spLocks/>
              </p:cNvSpPr>
              <p:nvPr/>
            </p:nvSpPr>
            <p:spPr bwMode="auto">
              <a:xfrm>
                <a:off x="7837488" y="1620838"/>
                <a:ext cx="763587" cy="720725"/>
              </a:xfrm>
              <a:custGeom>
                <a:avLst/>
                <a:gdLst>
                  <a:gd name="T0" fmla="*/ 0 w 232"/>
                  <a:gd name="T1" fmla="*/ 2147483646 h 454"/>
                  <a:gd name="T2" fmla="*/ 2147483646 w 232"/>
                  <a:gd name="T3" fmla="*/ 2147483646 h 454"/>
                  <a:gd name="T4" fmla="*/ 2147483646 w 232"/>
                  <a:gd name="T5" fmla="*/ 0 h 454"/>
                  <a:gd name="T6" fmla="*/ 0 60000 65536"/>
                  <a:gd name="T7" fmla="*/ 0 60000 65536"/>
                  <a:gd name="T8" fmla="*/ 0 60000 65536"/>
                  <a:gd name="T9" fmla="*/ 0 w 232"/>
                  <a:gd name="T10" fmla="*/ 0 h 454"/>
                  <a:gd name="T11" fmla="*/ 232 w 232"/>
                  <a:gd name="T12" fmla="*/ 454 h 4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2" h="454">
                    <a:moveTo>
                      <a:pt x="0" y="454"/>
                    </a:moveTo>
                    <a:lnTo>
                      <a:pt x="232" y="274"/>
                    </a:lnTo>
                    <a:lnTo>
                      <a:pt x="229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7" name="Freeform 10"/>
              <p:cNvSpPr>
                <a:spLocks/>
              </p:cNvSpPr>
              <p:nvPr/>
            </p:nvSpPr>
            <p:spPr bwMode="auto">
              <a:xfrm>
                <a:off x="5835650" y="1665288"/>
                <a:ext cx="2228850" cy="150812"/>
              </a:xfrm>
              <a:custGeom>
                <a:avLst/>
                <a:gdLst>
                  <a:gd name="T0" fmla="*/ 0 w 678"/>
                  <a:gd name="T1" fmla="*/ 2147483646 h 110"/>
                  <a:gd name="T2" fmla="*/ 2147483646 w 678"/>
                  <a:gd name="T3" fmla="*/ 2147483646 h 110"/>
                  <a:gd name="T4" fmla="*/ 2147483646 w 678"/>
                  <a:gd name="T5" fmla="*/ 0 h 110"/>
                  <a:gd name="T6" fmla="*/ 2147483646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8" name="Freeform 11"/>
              <p:cNvSpPr>
                <a:spLocks/>
              </p:cNvSpPr>
              <p:nvPr/>
            </p:nvSpPr>
            <p:spPr bwMode="auto">
              <a:xfrm>
                <a:off x="6308725" y="1665288"/>
                <a:ext cx="1420813" cy="166687"/>
              </a:xfrm>
              <a:custGeom>
                <a:avLst/>
                <a:gdLst>
                  <a:gd name="T0" fmla="*/ 0 w 432"/>
                  <a:gd name="T1" fmla="*/ 0 h 105"/>
                  <a:gd name="T2" fmla="*/ 2147483646 w 432"/>
                  <a:gd name="T3" fmla="*/ 0 h 105"/>
                  <a:gd name="T4" fmla="*/ 2147483646 w 432"/>
                  <a:gd name="T5" fmla="*/ 2147483646 h 105"/>
                  <a:gd name="T6" fmla="*/ 2147483646 w 432"/>
                  <a:gd name="T7" fmla="*/ 2147483646 h 10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2"/>
                  <a:gd name="T13" fmla="*/ 0 h 105"/>
                  <a:gd name="T14" fmla="*/ 432 w 432"/>
                  <a:gd name="T15" fmla="*/ 105 h 10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2" h="105">
                    <a:moveTo>
                      <a:pt x="0" y="0"/>
                    </a:moveTo>
                    <a:lnTo>
                      <a:pt x="85" y="0"/>
                    </a:lnTo>
                    <a:lnTo>
                      <a:pt x="307" y="105"/>
                    </a:lnTo>
                    <a:lnTo>
                      <a:pt x="432" y="105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9" name="Line 17"/>
              <p:cNvSpPr>
                <a:spLocks noChangeShapeType="1"/>
              </p:cNvSpPr>
              <p:nvPr/>
            </p:nvSpPr>
            <p:spPr bwMode="auto">
              <a:xfrm>
                <a:off x="7243763" y="1885950"/>
                <a:ext cx="0" cy="463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0" name="Line 18"/>
              <p:cNvSpPr>
                <a:spLocks noChangeShapeType="1"/>
              </p:cNvSpPr>
              <p:nvPr/>
            </p:nvSpPr>
            <p:spPr bwMode="auto">
              <a:xfrm>
                <a:off x="6043613" y="1881188"/>
                <a:ext cx="0" cy="463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1" name="Line 21"/>
              <p:cNvSpPr>
                <a:spLocks noChangeShapeType="1"/>
              </p:cNvSpPr>
              <p:nvPr/>
            </p:nvSpPr>
            <p:spPr bwMode="auto">
              <a:xfrm>
                <a:off x="5753100" y="1878013"/>
                <a:ext cx="0" cy="463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2" name="Line 22"/>
              <p:cNvSpPr>
                <a:spLocks noChangeShapeType="1"/>
              </p:cNvSpPr>
              <p:nvPr/>
            </p:nvSpPr>
            <p:spPr bwMode="auto">
              <a:xfrm>
                <a:off x="5462588" y="1890713"/>
                <a:ext cx="0" cy="463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3" name="Line 23"/>
              <p:cNvSpPr>
                <a:spLocks noChangeShapeType="1"/>
              </p:cNvSpPr>
              <p:nvPr/>
            </p:nvSpPr>
            <p:spPr bwMode="auto">
              <a:xfrm>
                <a:off x="6324600" y="1885950"/>
                <a:ext cx="0" cy="463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4" name="Line 24"/>
              <p:cNvSpPr>
                <a:spLocks noChangeShapeType="1"/>
              </p:cNvSpPr>
              <p:nvPr/>
            </p:nvSpPr>
            <p:spPr bwMode="auto">
              <a:xfrm>
                <a:off x="6948488" y="1881188"/>
                <a:ext cx="0" cy="463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5" name="Line 25"/>
              <p:cNvSpPr>
                <a:spLocks noChangeShapeType="1"/>
              </p:cNvSpPr>
              <p:nvPr/>
            </p:nvSpPr>
            <p:spPr bwMode="auto">
              <a:xfrm>
                <a:off x="7539038" y="1876425"/>
                <a:ext cx="0" cy="463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6" name="Text Box 26"/>
              <p:cNvSpPr txBox="1">
                <a:spLocks noChangeArrowheads="1"/>
              </p:cNvSpPr>
              <p:nvPr/>
            </p:nvSpPr>
            <p:spPr bwMode="auto">
              <a:xfrm>
                <a:off x="6261099" y="2044700"/>
                <a:ext cx="385487" cy="312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00" i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</a:p>
            </p:txBody>
          </p:sp>
          <p:sp>
            <p:nvSpPr>
              <p:cNvPr id="377" name="Text Box 27"/>
              <p:cNvSpPr txBox="1">
                <a:spLocks noChangeArrowheads="1"/>
              </p:cNvSpPr>
              <p:nvPr/>
            </p:nvSpPr>
            <p:spPr bwMode="auto">
              <a:xfrm>
                <a:off x="6580187" y="1830387"/>
                <a:ext cx="385487" cy="312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00" i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</a:t>
                </a:r>
              </a:p>
            </p:txBody>
          </p:sp>
          <p:sp>
            <p:nvSpPr>
              <p:cNvPr id="378" name="Text Box 28"/>
              <p:cNvSpPr txBox="1">
                <a:spLocks noChangeArrowheads="1"/>
              </p:cNvSpPr>
              <p:nvPr/>
            </p:nvSpPr>
            <p:spPr bwMode="auto">
              <a:xfrm>
                <a:off x="7456487" y="2049462"/>
                <a:ext cx="464101" cy="312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00" i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</a:t>
                </a:r>
              </a:p>
            </p:txBody>
          </p:sp>
          <p:sp>
            <p:nvSpPr>
              <p:cNvPr id="379" name="Text Box 29"/>
              <p:cNvSpPr txBox="1">
                <a:spLocks noChangeArrowheads="1"/>
              </p:cNvSpPr>
              <p:nvPr/>
            </p:nvSpPr>
            <p:spPr bwMode="auto">
              <a:xfrm>
                <a:off x="6561138" y="2049462"/>
                <a:ext cx="464101" cy="312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00" i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</a:p>
            </p:txBody>
          </p:sp>
          <p:sp>
            <p:nvSpPr>
              <p:cNvPr id="380" name="Text Box 30"/>
              <p:cNvSpPr txBox="1">
                <a:spLocks noChangeArrowheads="1"/>
              </p:cNvSpPr>
              <p:nvPr/>
            </p:nvSpPr>
            <p:spPr bwMode="auto">
              <a:xfrm>
                <a:off x="5389563" y="2035176"/>
                <a:ext cx="385487" cy="312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00" i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381" name="Text Box 57"/>
              <p:cNvSpPr txBox="1">
                <a:spLocks noChangeArrowheads="1"/>
              </p:cNvSpPr>
              <p:nvPr/>
            </p:nvSpPr>
            <p:spPr bwMode="auto">
              <a:xfrm>
                <a:off x="6256339" y="1830387"/>
                <a:ext cx="385487" cy="312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00" i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</a:t>
                </a:r>
              </a:p>
            </p:txBody>
          </p:sp>
          <p:sp>
            <p:nvSpPr>
              <p:cNvPr id="382" name="Line 61"/>
              <p:cNvSpPr>
                <a:spLocks noChangeShapeType="1"/>
              </p:cNvSpPr>
              <p:nvPr/>
            </p:nvSpPr>
            <p:spPr bwMode="auto">
              <a:xfrm flipH="1">
                <a:off x="4702175" y="2211388"/>
                <a:ext cx="901700" cy="279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3" name="Line 62"/>
              <p:cNvSpPr>
                <a:spLocks noChangeShapeType="1"/>
              </p:cNvSpPr>
              <p:nvPr/>
            </p:nvSpPr>
            <p:spPr bwMode="auto">
              <a:xfrm flipH="1">
                <a:off x="5087938" y="2211388"/>
                <a:ext cx="806450" cy="419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4" name="Line 63"/>
              <p:cNvSpPr>
                <a:spLocks noChangeShapeType="1"/>
              </p:cNvSpPr>
              <p:nvPr/>
            </p:nvSpPr>
            <p:spPr bwMode="auto">
              <a:xfrm flipH="1">
                <a:off x="5807075" y="2227263"/>
                <a:ext cx="709613" cy="3603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5" name="Text Box 64"/>
              <p:cNvSpPr txBox="1">
                <a:spLocks noChangeArrowheads="1"/>
              </p:cNvSpPr>
              <p:nvPr/>
            </p:nvSpPr>
            <p:spPr bwMode="auto">
              <a:xfrm>
                <a:off x="7527925" y="2589213"/>
                <a:ext cx="550848" cy="5074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 i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</a:t>
                </a:r>
              </a:p>
            </p:txBody>
          </p:sp>
          <p:sp>
            <p:nvSpPr>
              <p:cNvPr id="386" name="Line 69"/>
              <p:cNvSpPr>
                <a:spLocks noChangeShapeType="1"/>
              </p:cNvSpPr>
              <p:nvPr/>
            </p:nvSpPr>
            <p:spPr bwMode="auto">
              <a:xfrm>
                <a:off x="6815138" y="2214563"/>
                <a:ext cx="101600" cy="3778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7" name="Line 70"/>
              <p:cNvSpPr>
                <a:spLocks noChangeShapeType="1"/>
              </p:cNvSpPr>
              <p:nvPr/>
            </p:nvSpPr>
            <p:spPr bwMode="auto">
              <a:xfrm>
                <a:off x="6805613" y="2012950"/>
                <a:ext cx="479425" cy="603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8" name="Line 71"/>
              <p:cNvSpPr>
                <a:spLocks noChangeShapeType="1"/>
              </p:cNvSpPr>
              <p:nvPr/>
            </p:nvSpPr>
            <p:spPr bwMode="auto">
              <a:xfrm>
                <a:off x="7661275" y="1957388"/>
                <a:ext cx="514350" cy="4841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9" name="Text Box 72"/>
              <p:cNvSpPr txBox="1">
                <a:spLocks noChangeArrowheads="1"/>
              </p:cNvSpPr>
              <p:nvPr/>
            </p:nvSpPr>
            <p:spPr bwMode="auto">
              <a:xfrm>
                <a:off x="4364405" y="3132138"/>
                <a:ext cx="2307491" cy="6245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 i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Electrical Engineering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 i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(VLAN ports 1-8)</a:t>
                </a:r>
              </a:p>
            </p:txBody>
          </p:sp>
          <p:sp>
            <p:nvSpPr>
              <p:cNvPr id="390" name="Text Box 73"/>
              <p:cNvSpPr txBox="1">
                <a:spLocks noChangeArrowheads="1"/>
              </p:cNvSpPr>
              <p:nvPr/>
            </p:nvSpPr>
            <p:spPr bwMode="auto">
              <a:xfrm>
                <a:off x="6566935" y="3119438"/>
                <a:ext cx="2009296" cy="6245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 i="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Computer Science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900" i="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(VLAN ports 9-15)</a:t>
                </a:r>
              </a:p>
            </p:txBody>
          </p:sp>
          <p:sp>
            <p:nvSpPr>
              <p:cNvPr id="391" name="Text Box 74"/>
              <p:cNvSpPr txBox="1">
                <a:spLocks noChangeArrowheads="1"/>
              </p:cNvSpPr>
              <p:nvPr/>
            </p:nvSpPr>
            <p:spPr bwMode="auto">
              <a:xfrm>
                <a:off x="7451723" y="1825625"/>
                <a:ext cx="464101" cy="312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00" i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15</a:t>
                </a:r>
              </a:p>
            </p:txBody>
          </p:sp>
          <p:sp>
            <p:nvSpPr>
              <p:cNvPr id="392" name="Oval 81"/>
              <p:cNvSpPr>
                <a:spLocks noChangeArrowheads="1"/>
              </p:cNvSpPr>
              <p:nvPr/>
            </p:nvSpPr>
            <p:spPr bwMode="auto">
              <a:xfrm>
                <a:off x="5578475" y="2190750"/>
                <a:ext cx="42863" cy="476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3" name="Oval 82"/>
              <p:cNvSpPr>
                <a:spLocks noChangeArrowheads="1"/>
              </p:cNvSpPr>
              <p:nvPr/>
            </p:nvSpPr>
            <p:spPr bwMode="auto">
              <a:xfrm>
                <a:off x="5870575" y="2187575"/>
                <a:ext cx="42863" cy="476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4" name="Oval 83"/>
              <p:cNvSpPr>
                <a:spLocks noChangeArrowheads="1"/>
              </p:cNvSpPr>
              <p:nvPr/>
            </p:nvSpPr>
            <p:spPr bwMode="auto">
              <a:xfrm>
                <a:off x="6457950" y="2192338"/>
                <a:ext cx="42863" cy="476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5" name="Oval 84"/>
              <p:cNvSpPr>
                <a:spLocks noChangeArrowheads="1"/>
              </p:cNvSpPr>
              <p:nvPr/>
            </p:nvSpPr>
            <p:spPr bwMode="auto">
              <a:xfrm>
                <a:off x="6789738" y="2189163"/>
                <a:ext cx="42862" cy="476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6" name="Oval 85"/>
              <p:cNvSpPr>
                <a:spLocks noChangeArrowheads="1"/>
              </p:cNvSpPr>
              <p:nvPr/>
            </p:nvSpPr>
            <p:spPr bwMode="auto">
              <a:xfrm>
                <a:off x="6777038" y="1974850"/>
                <a:ext cx="42862" cy="476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7" name="Oval 86"/>
              <p:cNvSpPr>
                <a:spLocks noChangeArrowheads="1"/>
              </p:cNvSpPr>
              <p:nvPr/>
            </p:nvSpPr>
            <p:spPr bwMode="auto">
              <a:xfrm>
                <a:off x="7651750" y="1971675"/>
                <a:ext cx="42863" cy="476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 i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8" name="Text Box 45"/>
              <p:cNvSpPr txBox="1">
                <a:spLocks noChangeArrowheads="1"/>
              </p:cNvSpPr>
              <p:nvPr/>
            </p:nvSpPr>
            <p:spPr bwMode="auto">
              <a:xfrm>
                <a:off x="5241925" y="2555874"/>
                <a:ext cx="550848" cy="5074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i="1" kern="12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 i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</a:t>
                </a:r>
              </a:p>
            </p:txBody>
          </p:sp>
          <p:grpSp>
            <p:nvGrpSpPr>
              <p:cNvPr id="399" name="Group 44"/>
              <p:cNvGrpSpPr>
                <a:grpSpLocks/>
              </p:cNvGrpSpPr>
              <p:nvPr/>
            </p:nvGrpSpPr>
            <p:grpSpPr bwMode="auto">
              <a:xfrm>
                <a:off x="4165600" y="2397125"/>
                <a:ext cx="609600" cy="558800"/>
                <a:chOff x="-44" y="1473"/>
                <a:chExt cx="981" cy="1105"/>
              </a:xfrm>
            </p:grpSpPr>
            <p:pic>
              <p:nvPicPr>
                <p:cNvPr id="41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16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5pPr>
                  <a:lvl6pPr marL="22860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6pPr>
                  <a:lvl7pPr marL="27432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7pPr>
                  <a:lvl8pPr marL="32004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8pPr>
                  <a:lvl9pPr marL="36576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9pPr>
                </a:lstStyle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00" name="Group 44"/>
              <p:cNvGrpSpPr>
                <a:grpSpLocks/>
              </p:cNvGrpSpPr>
              <p:nvPr/>
            </p:nvGrpSpPr>
            <p:grpSpPr bwMode="auto">
              <a:xfrm>
                <a:off x="4694238" y="2489200"/>
                <a:ext cx="609600" cy="558800"/>
                <a:chOff x="-44" y="1473"/>
                <a:chExt cx="981" cy="1105"/>
              </a:xfrm>
            </p:grpSpPr>
            <p:pic>
              <p:nvPicPr>
                <p:cNvPr id="41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14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5pPr>
                  <a:lvl6pPr marL="22860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6pPr>
                  <a:lvl7pPr marL="27432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7pPr>
                  <a:lvl8pPr marL="32004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8pPr>
                  <a:lvl9pPr marL="36576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9pPr>
                </a:lstStyle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01" name="Group 44"/>
              <p:cNvGrpSpPr>
                <a:grpSpLocks/>
              </p:cNvGrpSpPr>
              <p:nvPr/>
            </p:nvGrpSpPr>
            <p:grpSpPr bwMode="auto">
              <a:xfrm>
                <a:off x="5414963" y="2509838"/>
                <a:ext cx="609600" cy="558800"/>
                <a:chOff x="-44" y="1473"/>
                <a:chExt cx="981" cy="1105"/>
              </a:xfrm>
            </p:grpSpPr>
            <p:pic>
              <p:nvPicPr>
                <p:cNvPr id="411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12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5pPr>
                  <a:lvl6pPr marL="22860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6pPr>
                  <a:lvl7pPr marL="27432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7pPr>
                  <a:lvl8pPr marL="32004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8pPr>
                  <a:lvl9pPr marL="36576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9pPr>
                </a:lstStyle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02" name="Group 44"/>
              <p:cNvGrpSpPr>
                <a:grpSpLocks/>
              </p:cNvGrpSpPr>
              <p:nvPr/>
            </p:nvGrpSpPr>
            <p:grpSpPr bwMode="auto">
              <a:xfrm>
                <a:off x="6430963" y="2530475"/>
                <a:ext cx="609600" cy="558800"/>
                <a:chOff x="-44" y="1473"/>
                <a:chExt cx="981" cy="1105"/>
              </a:xfrm>
            </p:grpSpPr>
            <p:pic>
              <p:nvPicPr>
                <p:cNvPr id="409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10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5pPr>
                  <a:lvl6pPr marL="22860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6pPr>
                  <a:lvl7pPr marL="27432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7pPr>
                  <a:lvl8pPr marL="32004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8pPr>
                  <a:lvl9pPr marL="36576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9pPr>
                </a:lstStyle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03" name="Group 44"/>
              <p:cNvGrpSpPr>
                <a:grpSpLocks/>
              </p:cNvGrpSpPr>
              <p:nvPr/>
            </p:nvGrpSpPr>
            <p:grpSpPr bwMode="auto">
              <a:xfrm>
                <a:off x="6938963" y="2540000"/>
                <a:ext cx="609600" cy="558800"/>
                <a:chOff x="-44" y="1473"/>
                <a:chExt cx="981" cy="1105"/>
              </a:xfrm>
            </p:grpSpPr>
            <p:pic>
              <p:nvPicPr>
                <p:cNvPr id="407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08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5pPr>
                  <a:lvl6pPr marL="22860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6pPr>
                  <a:lvl7pPr marL="27432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7pPr>
                  <a:lvl8pPr marL="32004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8pPr>
                  <a:lvl9pPr marL="36576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9pPr>
                </a:lstStyle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04" name="Group 44"/>
              <p:cNvGrpSpPr>
                <a:grpSpLocks/>
              </p:cNvGrpSpPr>
              <p:nvPr/>
            </p:nvGrpSpPr>
            <p:grpSpPr bwMode="auto">
              <a:xfrm>
                <a:off x="7802563" y="2357438"/>
                <a:ext cx="609600" cy="558800"/>
                <a:chOff x="-44" y="1473"/>
                <a:chExt cx="981" cy="1105"/>
              </a:xfrm>
            </p:grpSpPr>
            <p:pic>
              <p:nvPicPr>
                <p:cNvPr id="40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06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5pPr>
                  <a:lvl6pPr marL="22860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6pPr>
                  <a:lvl7pPr marL="27432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7pPr>
                  <a:lvl8pPr marL="32004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8pPr>
                  <a:lvl9pPr marL="3657600" algn="l" defTabSz="914400" rtl="0" eaLnBrk="1" latinLnBrk="0" hangingPunct="1">
                    <a:defRPr i="1" kern="12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  <a:cs typeface="+mn-cs"/>
                    </a:defRPr>
                  </a:lvl9pPr>
                </a:lstStyle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pic>
          <p:nvPicPr>
            <p:cNvPr id="194" name="Picture 8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5736" y="3792359"/>
              <a:ext cx="696687" cy="316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直接连接符 8"/>
            <p:cNvCxnSpPr/>
            <p:nvPr/>
          </p:nvCxnSpPr>
          <p:spPr>
            <a:xfrm flipH="1">
              <a:off x="2113683" y="4096502"/>
              <a:ext cx="306966" cy="467951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2704505" y="4075061"/>
              <a:ext cx="120097" cy="505664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/>
          <p:cNvGrpSpPr/>
          <p:nvPr/>
        </p:nvGrpSpPr>
        <p:grpSpPr>
          <a:xfrm>
            <a:off x="4757144" y="2844270"/>
            <a:ext cx="3035669" cy="1615611"/>
            <a:chOff x="4818858" y="3792359"/>
            <a:chExt cx="4047559" cy="2154148"/>
          </a:xfrm>
        </p:grpSpPr>
        <p:sp>
          <p:nvSpPr>
            <p:cNvPr id="207" name="Cloud"/>
            <p:cNvSpPr>
              <a:spLocks noChangeAspect="1" noEditPoints="1" noChangeArrowheads="1"/>
            </p:cNvSpPr>
            <p:nvPr/>
          </p:nvSpPr>
          <p:spPr bwMode="auto">
            <a:xfrm>
              <a:off x="7099591" y="4080149"/>
              <a:ext cx="1766826" cy="958108"/>
            </a:xfrm>
            <a:custGeom>
              <a:avLst/>
              <a:gdLst>
                <a:gd name="T0" fmla="*/ 2147483646 w 21600"/>
                <a:gd name="T1" fmla="*/ 2147483646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7 w 21600"/>
                <a:gd name="T13" fmla="*/ 3262 h 21600"/>
                <a:gd name="T14" fmla="*/ 17087 w 21600"/>
                <a:gd name="T15" fmla="*/ 1733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8" name="Cloud"/>
            <p:cNvSpPr>
              <a:spLocks noChangeAspect="1" noEditPoints="1" noChangeArrowheads="1"/>
            </p:cNvSpPr>
            <p:nvPr/>
          </p:nvSpPr>
          <p:spPr bwMode="auto">
            <a:xfrm>
              <a:off x="5261349" y="4080149"/>
              <a:ext cx="1766826" cy="958108"/>
            </a:xfrm>
            <a:custGeom>
              <a:avLst/>
              <a:gdLst>
                <a:gd name="T0" fmla="*/ 2147483646 w 21600"/>
                <a:gd name="T1" fmla="*/ 2147483646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7 w 21600"/>
                <a:gd name="T13" fmla="*/ 3262 h 21600"/>
                <a:gd name="T14" fmla="*/ 17087 w 21600"/>
                <a:gd name="T15" fmla="*/ 1733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9" name="Rectangle 263"/>
            <p:cNvSpPr>
              <a:spLocks noChangeArrowheads="1"/>
            </p:cNvSpPr>
            <p:nvPr/>
          </p:nvSpPr>
          <p:spPr bwMode="auto">
            <a:xfrm>
              <a:off x="5695019" y="4468402"/>
              <a:ext cx="203646" cy="161563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0" name="Rectangle 262"/>
            <p:cNvSpPr>
              <a:spLocks noChangeArrowheads="1"/>
            </p:cNvSpPr>
            <p:nvPr/>
          </p:nvSpPr>
          <p:spPr bwMode="auto">
            <a:xfrm>
              <a:off x="7905170" y="4648752"/>
              <a:ext cx="210833" cy="18786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4" name="Text Box 72"/>
            <p:cNvSpPr txBox="1">
              <a:spLocks noChangeArrowheads="1"/>
            </p:cNvSpPr>
            <p:nvPr/>
          </p:nvSpPr>
          <p:spPr bwMode="auto">
            <a:xfrm>
              <a:off x="4818858" y="5454064"/>
              <a:ext cx="1819301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Electrical Engineering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(VLAN ports 1-8)</a:t>
              </a:r>
            </a:p>
          </p:txBody>
        </p:sp>
        <p:sp>
          <p:nvSpPr>
            <p:cNvPr id="425" name="Text Box 45"/>
            <p:cNvSpPr txBox="1">
              <a:spLocks noChangeArrowheads="1"/>
            </p:cNvSpPr>
            <p:nvPr/>
          </p:nvSpPr>
          <p:spPr bwMode="auto">
            <a:xfrm>
              <a:off x="5520083" y="4999434"/>
              <a:ext cx="434307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</a:p>
          </p:txBody>
        </p:sp>
        <p:grpSp>
          <p:nvGrpSpPr>
            <p:cNvPr id="426" name="Group 186"/>
            <p:cNvGrpSpPr>
              <a:grpSpLocks/>
            </p:cNvGrpSpPr>
            <p:nvPr/>
          </p:nvGrpSpPr>
          <p:grpSpPr bwMode="auto">
            <a:xfrm>
              <a:off x="5624295" y="4257995"/>
              <a:ext cx="1270918" cy="584885"/>
              <a:chOff x="3479" y="2610"/>
              <a:chExt cx="1061" cy="467"/>
            </a:xfrm>
          </p:grpSpPr>
          <p:sp>
            <p:nvSpPr>
              <p:cNvPr id="470" name="Rectangle 80"/>
              <p:cNvSpPr>
                <a:spLocks noChangeArrowheads="1"/>
              </p:cNvSpPr>
              <p:nvPr/>
            </p:nvSpPr>
            <p:spPr bwMode="auto">
              <a:xfrm>
                <a:off x="3531" y="2914"/>
                <a:ext cx="183" cy="153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1" name="Rectangle 75"/>
              <p:cNvSpPr>
                <a:spLocks noChangeArrowheads="1"/>
              </p:cNvSpPr>
              <p:nvPr/>
            </p:nvSpPr>
            <p:spPr bwMode="auto">
              <a:xfrm>
                <a:off x="3711" y="2779"/>
                <a:ext cx="567" cy="28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2" name="Rectangle 2"/>
              <p:cNvSpPr>
                <a:spLocks noChangeArrowheads="1"/>
              </p:cNvSpPr>
              <p:nvPr/>
            </p:nvSpPr>
            <p:spPr bwMode="auto">
              <a:xfrm>
                <a:off x="3531" y="2774"/>
                <a:ext cx="745" cy="29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3" name="Line 3"/>
              <p:cNvSpPr>
                <a:spLocks noChangeShapeType="1"/>
              </p:cNvSpPr>
              <p:nvPr/>
            </p:nvSpPr>
            <p:spPr bwMode="auto">
              <a:xfrm>
                <a:off x="3532" y="2910"/>
                <a:ext cx="741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4" name="Text Box 6"/>
              <p:cNvSpPr txBox="1">
                <a:spLocks noChangeArrowheads="1"/>
              </p:cNvSpPr>
              <p:nvPr/>
            </p:nvSpPr>
            <p:spPr bwMode="auto">
              <a:xfrm>
                <a:off x="3479" y="2748"/>
                <a:ext cx="254" cy="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475" name="AutoShape 8"/>
              <p:cNvSpPr>
                <a:spLocks noChangeArrowheads="1"/>
              </p:cNvSpPr>
              <p:nvPr/>
            </p:nvSpPr>
            <p:spPr bwMode="auto">
              <a:xfrm>
                <a:off x="3513" y="2611"/>
                <a:ext cx="1027" cy="165"/>
              </a:xfrm>
              <a:prstGeom prst="parallelogram">
                <a:avLst>
                  <a:gd name="adj" fmla="val 15560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6" name="Freeform 10"/>
              <p:cNvSpPr>
                <a:spLocks/>
              </p:cNvSpPr>
              <p:nvPr/>
            </p:nvSpPr>
            <p:spPr bwMode="auto">
              <a:xfrm>
                <a:off x="3628" y="2639"/>
                <a:ext cx="746" cy="105"/>
              </a:xfrm>
              <a:custGeom>
                <a:avLst/>
                <a:gdLst>
                  <a:gd name="T0" fmla="*/ 0 w 678"/>
                  <a:gd name="T1" fmla="*/ 83 h 110"/>
                  <a:gd name="T2" fmla="*/ 263 w 678"/>
                  <a:gd name="T3" fmla="*/ 82 h 110"/>
                  <a:gd name="T4" fmla="*/ 1007 w 678"/>
                  <a:gd name="T5" fmla="*/ 0 h 110"/>
                  <a:gd name="T6" fmla="*/ 1204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7" name="Line 18"/>
              <p:cNvSpPr>
                <a:spLocks noChangeShapeType="1"/>
              </p:cNvSpPr>
              <p:nvPr/>
            </p:nvSpPr>
            <p:spPr bwMode="auto">
              <a:xfrm>
                <a:off x="3897" y="2777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8" name="Line 21"/>
              <p:cNvSpPr>
                <a:spLocks noChangeShapeType="1"/>
              </p:cNvSpPr>
              <p:nvPr/>
            </p:nvSpPr>
            <p:spPr bwMode="auto">
              <a:xfrm>
                <a:off x="3714" y="2775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9" name="Line 22"/>
              <p:cNvSpPr>
                <a:spLocks noChangeShapeType="1"/>
              </p:cNvSpPr>
              <p:nvPr/>
            </p:nvSpPr>
            <p:spPr bwMode="auto">
              <a:xfrm>
                <a:off x="3531" y="2783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0" name="Line 23"/>
              <p:cNvSpPr>
                <a:spLocks noChangeShapeType="1"/>
              </p:cNvSpPr>
              <p:nvPr/>
            </p:nvSpPr>
            <p:spPr bwMode="auto">
              <a:xfrm>
                <a:off x="4074" y="2780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1" name="Text Box 26"/>
              <p:cNvSpPr txBox="1">
                <a:spLocks noChangeArrowheads="1"/>
              </p:cNvSpPr>
              <p:nvPr/>
            </p:nvSpPr>
            <p:spPr bwMode="auto">
              <a:xfrm>
                <a:off x="4034" y="2880"/>
                <a:ext cx="254" cy="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</a:p>
            </p:txBody>
          </p:sp>
          <p:sp>
            <p:nvSpPr>
              <p:cNvPr id="482" name="Text Box 30"/>
              <p:cNvSpPr txBox="1">
                <a:spLocks noChangeArrowheads="1"/>
              </p:cNvSpPr>
              <p:nvPr/>
            </p:nvSpPr>
            <p:spPr bwMode="auto">
              <a:xfrm>
                <a:off x="3485" y="2874"/>
                <a:ext cx="254" cy="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483" name="Text Box 57"/>
              <p:cNvSpPr txBox="1">
                <a:spLocks noChangeArrowheads="1"/>
              </p:cNvSpPr>
              <p:nvPr/>
            </p:nvSpPr>
            <p:spPr bwMode="auto">
              <a:xfrm>
                <a:off x="4031" y="2745"/>
                <a:ext cx="254" cy="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</a:t>
                </a:r>
              </a:p>
            </p:txBody>
          </p:sp>
          <p:sp>
            <p:nvSpPr>
              <p:cNvPr id="484" name="Oval 81"/>
              <p:cNvSpPr>
                <a:spLocks noChangeArrowheads="1"/>
              </p:cNvSpPr>
              <p:nvPr/>
            </p:nvSpPr>
            <p:spPr bwMode="auto">
              <a:xfrm>
                <a:off x="3604" y="2972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5" name="Oval 82"/>
              <p:cNvSpPr>
                <a:spLocks noChangeArrowheads="1"/>
              </p:cNvSpPr>
              <p:nvPr/>
            </p:nvSpPr>
            <p:spPr bwMode="auto">
              <a:xfrm>
                <a:off x="3788" y="2970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6" name="Oval 83"/>
              <p:cNvSpPr>
                <a:spLocks noChangeArrowheads="1"/>
              </p:cNvSpPr>
              <p:nvPr/>
            </p:nvSpPr>
            <p:spPr bwMode="auto">
              <a:xfrm>
                <a:off x="4158" y="2973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7" name="Freeform 10"/>
              <p:cNvSpPr>
                <a:spLocks/>
              </p:cNvSpPr>
              <p:nvPr/>
            </p:nvSpPr>
            <p:spPr bwMode="auto">
              <a:xfrm flipV="1">
                <a:off x="3754" y="2639"/>
                <a:ext cx="550" cy="105"/>
              </a:xfrm>
              <a:custGeom>
                <a:avLst/>
                <a:gdLst>
                  <a:gd name="T0" fmla="*/ 0 w 678"/>
                  <a:gd name="T1" fmla="*/ 83 h 110"/>
                  <a:gd name="T2" fmla="*/ 42 w 678"/>
                  <a:gd name="T3" fmla="*/ 82 h 110"/>
                  <a:gd name="T4" fmla="*/ 162 w 678"/>
                  <a:gd name="T5" fmla="*/ 0 h 110"/>
                  <a:gd name="T6" fmla="*/ 193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8" name="Freeform 185"/>
              <p:cNvSpPr>
                <a:spLocks/>
              </p:cNvSpPr>
              <p:nvPr/>
            </p:nvSpPr>
            <p:spPr bwMode="auto">
              <a:xfrm>
                <a:off x="4274" y="2610"/>
                <a:ext cx="264" cy="456"/>
              </a:xfrm>
              <a:custGeom>
                <a:avLst/>
                <a:gdLst>
                  <a:gd name="T0" fmla="*/ 264 w 264"/>
                  <a:gd name="T1" fmla="*/ 0 h 456"/>
                  <a:gd name="T2" fmla="*/ 262 w 264"/>
                  <a:gd name="T3" fmla="*/ 248 h 456"/>
                  <a:gd name="T4" fmla="*/ 0 w 264"/>
                  <a:gd name="T5" fmla="*/ 456 h 4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" h="456">
                    <a:moveTo>
                      <a:pt x="264" y="0"/>
                    </a:moveTo>
                    <a:lnTo>
                      <a:pt x="262" y="248"/>
                    </a:lnTo>
                    <a:lnTo>
                      <a:pt x="0" y="456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7" name="Group 210"/>
            <p:cNvGrpSpPr>
              <a:grpSpLocks/>
            </p:cNvGrpSpPr>
            <p:nvPr/>
          </p:nvGrpSpPr>
          <p:grpSpPr bwMode="auto">
            <a:xfrm>
              <a:off x="7162333" y="4259243"/>
              <a:ext cx="1281698" cy="596156"/>
              <a:chOff x="1003" y="3585"/>
              <a:chExt cx="1070" cy="476"/>
            </a:xfrm>
          </p:grpSpPr>
          <p:grpSp>
            <p:nvGrpSpPr>
              <p:cNvPr id="451" name="Group 207"/>
              <p:cNvGrpSpPr>
                <a:grpSpLocks/>
              </p:cNvGrpSpPr>
              <p:nvPr/>
            </p:nvGrpSpPr>
            <p:grpSpPr bwMode="auto">
              <a:xfrm>
                <a:off x="1003" y="3723"/>
                <a:ext cx="869" cy="338"/>
                <a:chOff x="2444" y="3759"/>
                <a:chExt cx="869" cy="338"/>
              </a:xfrm>
            </p:grpSpPr>
            <p:sp>
              <p:nvSpPr>
                <p:cNvPr id="458" name="Rectangle 77"/>
                <p:cNvSpPr>
                  <a:spLocks noChangeArrowheads="1"/>
                </p:cNvSpPr>
                <p:nvPr/>
              </p:nvSpPr>
              <p:spPr bwMode="auto">
                <a:xfrm>
                  <a:off x="3057" y="3793"/>
                  <a:ext cx="183" cy="13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9" name="Rectangle 76"/>
                <p:cNvSpPr>
                  <a:spLocks noChangeArrowheads="1"/>
                </p:cNvSpPr>
                <p:nvPr/>
              </p:nvSpPr>
              <p:spPr bwMode="auto">
                <a:xfrm>
                  <a:off x="2496" y="3796"/>
                  <a:ext cx="561" cy="28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0" name="Line 17"/>
                <p:cNvSpPr>
                  <a:spLocks noChangeShapeType="1"/>
                </p:cNvSpPr>
                <p:nvPr/>
              </p:nvSpPr>
              <p:spPr bwMode="auto">
                <a:xfrm>
                  <a:off x="2874" y="3797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1" name="Line 24"/>
                <p:cNvSpPr>
                  <a:spLocks noChangeShapeType="1"/>
                </p:cNvSpPr>
                <p:nvPr/>
              </p:nvSpPr>
              <p:spPr bwMode="auto">
                <a:xfrm>
                  <a:off x="2688" y="3794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2" name="Line 25"/>
                <p:cNvSpPr>
                  <a:spLocks noChangeShapeType="1"/>
                </p:cNvSpPr>
                <p:nvPr/>
              </p:nvSpPr>
              <p:spPr bwMode="auto">
                <a:xfrm>
                  <a:off x="3060" y="3791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3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456" y="3762"/>
                  <a:ext cx="254" cy="1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60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9</a:t>
                  </a:r>
                </a:p>
              </p:txBody>
            </p:sp>
            <p:sp>
              <p:nvSpPr>
                <p:cNvPr id="464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3008" y="3900"/>
                  <a:ext cx="305" cy="1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60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16</a:t>
                  </a:r>
                </a:p>
              </p:txBody>
            </p:sp>
            <p:sp>
              <p:nvSpPr>
                <p:cNvPr id="465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444" y="3900"/>
                  <a:ext cx="305" cy="1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60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10</a:t>
                  </a:r>
                </a:p>
              </p:txBody>
            </p:sp>
            <p:sp>
              <p:nvSpPr>
                <p:cNvPr id="466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3005" y="3759"/>
                  <a:ext cx="305" cy="1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60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15</a:t>
                  </a:r>
                </a:p>
              </p:txBody>
            </p:sp>
            <p:sp>
              <p:nvSpPr>
                <p:cNvPr id="467" name="Oval 84"/>
                <p:cNvSpPr>
                  <a:spLocks noChangeArrowheads="1"/>
                </p:cNvSpPr>
                <p:nvPr/>
              </p:nvSpPr>
              <p:spPr bwMode="auto">
                <a:xfrm>
                  <a:off x="2588" y="3988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8" name="Oval 85"/>
                <p:cNvSpPr>
                  <a:spLocks noChangeArrowheads="1"/>
                </p:cNvSpPr>
                <p:nvPr/>
              </p:nvSpPr>
              <p:spPr bwMode="auto">
                <a:xfrm>
                  <a:off x="2580" y="3853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9" name="Oval 86"/>
                <p:cNvSpPr>
                  <a:spLocks noChangeArrowheads="1"/>
                </p:cNvSpPr>
                <p:nvPr/>
              </p:nvSpPr>
              <p:spPr bwMode="auto">
                <a:xfrm>
                  <a:off x="3131" y="3851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52" name="AutoShape 8"/>
              <p:cNvSpPr>
                <a:spLocks noChangeArrowheads="1"/>
              </p:cNvSpPr>
              <p:nvPr/>
            </p:nvSpPr>
            <p:spPr bwMode="auto">
              <a:xfrm>
                <a:off x="1046" y="3586"/>
                <a:ext cx="1027" cy="165"/>
              </a:xfrm>
              <a:prstGeom prst="parallelogram">
                <a:avLst>
                  <a:gd name="adj" fmla="val 15560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3" name="Freeform 10"/>
              <p:cNvSpPr>
                <a:spLocks/>
              </p:cNvSpPr>
              <p:nvPr/>
            </p:nvSpPr>
            <p:spPr bwMode="auto">
              <a:xfrm>
                <a:off x="1161" y="3614"/>
                <a:ext cx="746" cy="105"/>
              </a:xfrm>
              <a:custGeom>
                <a:avLst/>
                <a:gdLst>
                  <a:gd name="T0" fmla="*/ 0 w 678"/>
                  <a:gd name="T1" fmla="*/ 83 h 110"/>
                  <a:gd name="T2" fmla="*/ 263 w 678"/>
                  <a:gd name="T3" fmla="*/ 82 h 110"/>
                  <a:gd name="T4" fmla="*/ 1007 w 678"/>
                  <a:gd name="T5" fmla="*/ 0 h 110"/>
                  <a:gd name="T6" fmla="*/ 1204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4" name="Freeform 10"/>
              <p:cNvSpPr>
                <a:spLocks/>
              </p:cNvSpPr>
              <p:nvPr/>
            </p:nvSpPr>
            <p:spPr bwMode="auto">
              <a:xfrm flipV="1">
                <a:off x="1287" y="3614"/>
                <a:ext cx="550" cy="105"/>
              </a:xfrm>
              <a:custGeom>
                <a:avLst/>
                <a:gdLst>
                  <a:gd name="T0" fmla="*/ 0 w 678"/>
                  <a:gd name="T1" fmla="*/ 83 h 110"/>
                  <a:gd name="T2" fmla="*/ 42 w 678"/>
                  <a:gd name="T3" fmla="*/ 82 h 110"/>
                  <a:gd name="T4" fmla="*/ 162 w 678"/>
                  <a:gd name="T5" fmla="*/ 0 h 110"/>
                  <a:gd name="T6" fmla="*/ 193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5" name="Freeform 206"/>
              <p:cNvSpPr>
                <a:spLocks/>
              </p:cNvSpPr>
              <p:nvPr/>
            </p:nvSpPr>
            <p:spPr bwMode="auto">
              <a:xfrm>
                <a:off x="1807" y="3585"/>
                <a:ext cx="264" cy="456"/>
              </a:xfrm>
              <a:custGeom>
                <a:avLst/>
                <a:gdLst>
                  <a:gd name="T0" fmla="*/ 264 w 264"/>
                  <a:gd name="T1" fmla="*/ 0 h 456"/>
                  <a:gd name="T2" fmla="*/ 262 w 264"/>
                  <a:gd name="T3" fmla="*/ 248 h 456"/>
                  <a:gd name="T4" fmla="*/ 0 w 264"/>
                  <a:gd name="T5" fmla="*/ 456 h 4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" h="456">
                    <a:moveTo>
                      <a:pt x="264" y="0"/>
                    </a:moveTo>
                    <a:lnTo>
                      <a:pt x="262" y="248"/>
                    </a:lnTo>
                    <a:lnTo>
                      <a:pt x="0" y="456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6" name="Freeform 208"/>
              <p:cNvSpPr>
                <a:spLocks/>
              </p:cNvSpPr>
              <p:nvPr/>
            </p:nvSpPr>
            <p:spPr bwMode="auto">
              <a:xfrm>
                <a:off x="1044" y="3747"/>
                <a:ext cx="762" cy="303"/>
              </a:xfrm>
              <a:custGeom>
                <a:avLst/>
                <a:gdLst>
                  <a:gd name="T0" fmla="*/ 0 w 762"/>
                  <a:gd name="T1" fmla="*/ 3 h 303"/>
                  <a:gd name="T2" fmla="*/ 0 w 762"/>
                  <a:gd name="T3" fmla="*/ 303 h 303"/>
                  <a:gd name="T4" fmla="*/ 762 w 762"/>
                  <a:gd name="T5" fmla="*/ 303 h 303"/>
                  <a:gd name="T6" fmla="*/ 762 w 762"/>
                  <a:gd name="T7" fmla="*/ 0 h 3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62" h="303">
                    <a:moveTo>
                      <a:pt x="0" y="3"/>
                    </a:moveTo>
                    <a:lnTo>
                      <a:pt x="0" y="303"/>
                    </a:lnTo>
                    <a:lnTo>
                      <a:pt x="762" y="303"/>
                    </a:lnTo>
                    <a:lnTo>
                      <a:pt x="762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7" name="Line 209"/>
              <p:cNvSpPr>
                <a:spLocks noChangeShapeType="1"/>
              </p:cNvSpPr>
              <p:nvPr/>
            </p:nvSpPr>
            <p:spPr bwMode="auto">
              <a:xfrm flipV="1">
                <a:off x="1044" y="3888"/>
                <a:ext cx="768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28" name="Text Box 64"/>
            <p:cNvSpPr txBox="1">
              <a:spLocks noChangeArrowheads="1"/>
            </p:cNvSpPr>
            <p:nvPr/>
          </p:nvSpPr>
          <p:spPr bwMode="auto">
            <a:xfrm>
              <a:off x="7884636" y="5031996"/>
              <a:ext cx="434307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</a:p>
          </p:txBody>
        </p:sp>
        <p:sp>
          <p:nvSpPr>
            <p:cNvPr id="429" name="Line 69"/>
            <p:cNvSpPr>
              <a:spLocks noChangeShapeType="1"/>
            </p:cNvSpPr>
            <p:nvPr/>
          </p:nvSpPr>
          <p:spPr bwMode="auto">
            <a:xfrm>
              <a:off x="7346802" y="4736422"/>
              <a:ext cx="76662" cy="2980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0" name="Line 70"/>
            <p:cNvSpPr>
              <a:spLocks noChangeShapeType="1"/>
            </p:cNvSpPr>
            <p:nvPr/>
          </p:nvSpPr>
          <p:spPr bwMode="auto">
            <a:xfrm>
              <a:off x="7339615" y="4577363"/>
              <a:ext cx="361750" cy="4759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1" name="Line 71"/>
            <p:cNvSpPr>
              <a:spLocks noChangeShapeType="1"/>
            </p:cNvSpPr>
            <p:nvPr/>
          </p:nvSpPr>
          <p:spPr bwMode="auto">
            <a:xfrm>
              <a:off x="7985256" y="4533529"/>
              <a:ext cx="388103" cy="3819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2" name="Text Box 73"/>
            <p:cNvSpPr txBox="1">
              <a:spLocks noChangeArrowheads="1"/>
            </p:cNvSpPr>
            <p:nvPr/>
          </p:nvSpPr>
          <p:spPr bwMode="auto">
            <a:xfrm>
              <a:off x="7125481" y="5450307"/>
              <a:ext cx="1584195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Computer Science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(VLAN ports 9-16)</a:t>
              </a:r>
            </a:p>
          </p:txBody>
        </p:sp>
        <p:grpSp>
          <p:nvGrpSpPr>
            <p:cNvPr id="434" name="Group 44"/>
            <p:cNvGrpSpPr>
              <a:grpSpLocks/>
            </p:cNvGrpSpPr>
            <p:nvPr/>
          </p:nvGrpSpPr>
          <p:grpSpPr bwMode="auto">
            <a:xfrm>
              <a:off x="5161926" y="4956850"/>
              <a:ext cx="459974" cy="440855"/>
              <a:chOff x="-44" y="1473"/>
              <a:chExt cx="981" cy="1105"/>
            </a:xfrm>
          </p:grpSpPr>
          <p:pic>
            <p:nvPicPr>
              <p:cNvPr id="44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8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5" name="Group 44"/>
            <p:cNvGrpSpPr>
              <a:grpSpLocks/>
            </p:cNvGrpSpPr>
            <p:nvPr/>
          </p:nvGrpSpPr>
          <p:grpSpPr bwMode="auto">
            <a:xfrm>
              <a:off x="5706947" y="4973131"/>
              <a:ext cx="459974" cy="440855"/>
              <a:chOff x="-44" y="1473"/>
              <a:chExt cx="981" cy="1105"/>
            </a:xfrm>
          </p:grpSpPr>
          <p:pic>
            <p:nvPicPr>
              <p:cNvPr id="44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6" name="Group 44"/>
            <p:cNvGrpSpPr>
              <a:grpSpLocks/>
            </p:cNvGrpSpPr>
            <p:nvPr/>
          </p:nvGrpSpPr>
          <p:grpSpPr bwMode="auto">
            <a:xfrm>
              <a:off x="7078484" y="4996928"/>
              <a:ext cx="459974" cy="440855"/>
              <a:chOff x="-44" y="1473"/>
              <a:chExt cx="981" cy="1105"/>
            </a:xfrm>
          </p:grpSpPr>
          <p:pic>
            <p:nvPicPr>
              <p:cNvPr id="443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4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7" name="Group 44"/>
            <p:cNvGrpSpPr>
              <a:grpSpLocks/>
            </p:cNvGrpSpPr>
            <p:nvPr/>
          </p:nvGrpSpPr>
          <p:grpSpPr bwMode="auto">
            <a:xfrm>
              <a:off x="7461795" y="5004442"/>
              <a:ext cx="459974" cy="440855"/>
              <a:chOff x="-44" y="1473"/>
              <a:chExt cx="981" cy="1105"/>
            </a:xfrm>
          </p:grpSpPr>
          <p:pic>
            <p:nvPicPr>
              <p:cNvPr id="44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2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8" name="Group 44"/>
            <p:cNvGrpSpPr>
              <a:grpSpLocks/>
            </p:cNvGrpSpPr>
            <p:nvPr/>
          </p:nvGrpSpPr>
          <p:grpSpPr bwMode="auto">
            <a:xfrm>
              <a:off x="8113425" y="4860412"/>
              <a:ext cx="459974" cy="440855"/>
              <a:chOff x="-44" y="1473"/>
              <a:chExt cx="981" cy="1105"/>
            </a:xfrm>
          </p:grpSpPr>
          <p:pic>
            <p:nvPicPr>
              <p:cNvPr id="439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0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22" name="Line 62"/>
            <p:cNvSpPr>
              <a:spLocks noChangeShapeType="1"/>
            </p:cNvSpPr>
            <p:nvPr/>
          </p:nvSpPr>
          <p:spPr bwMode="auto">
            <a:xfrm flipH="1">
              <a:off x="5403891" y="4727655"/>
              <a:ext cx="608507" cy="3306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3" name="Line 63"/>
            <p:cNvSpPr>
              <a:spLocks noChangeShapeType="1"/>
            </p:cNvSpPr>
            <p:nvPr/>
          </p:nvSpPr>
          <p:spPr bwMode="auto">
            <a:xfrm flipH="1">
              <a:off x="5946517" y="4735169"/>
              <a:ext cx="516272" cy="289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1" name="Line 61"/>
            <p:cNvSpPr>
              <a:spLocks noChangeShapeType="1"/>
            </p:cNvSpPr>
            <p:nvPr/>
          </p:nvSpPr>
          <p:spPr bwMode="auto">
            <a:xfrm flipH="1">
              <a:off x="5112814" y="4727655"/>
              <a:ext cx="680378" cy="220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10" name="Picture 8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8055" y="3792359"/>
              <a:ext cx="696687" cy="316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11" name="直接连接符 210"/>
            <p:cNvCxnSpPr/>
            <p:nvPr/>
          </p:nvCxnSpPr>
          <p:spPr>
            <a:xfrm flipH="1">
              <a:off x="6251301" y="4096502"/>
              <a:ext cx="751668" cy="486830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>
            <a:xfrm>
              <a:off x="7286824" y="4075061"/>
              <a:ext cx="306503" cy="494310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灯片编号占位符 2">
            <a:extLst>
              <a:ext uri="{FF2B5EF4-FFF2-40B4-BE49-F238E27FC236}">
                <a16:creationId xmlns:a16="http://schemas.microsoft.com/office/drawing/2014/main" id="{40A2F1BA-2FC9-4F2C-93C7-11603117AC9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41</a:t>
            </a:fld>
            <a:endParaRPr lang="en-US" altLang="zh-CN" dirty="0"/>
          </a:p>
        </p:txBody>
      </p:sp>
      <p:sp>
        <p:nvSpPr>
          <p:cNvPr id="152" name="AutoShape 5">
            <a:extLst>
              <a:ext uri="{FF2B5EF4-FFF2-40B4-BE49-F238E27FC236}">
                <a16:creationId xmlns:a16="http://schemas.microsoft.com/office/drawing/2014/main" id="{0A717EAE-BFBA-4985-A1FD-B042CD111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697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 animBg="1"/>
      <p:bldP spid="152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局域交换网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5.4.4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虚拟局域网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(VLANs)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手段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使用支持</a:t>
            </a:r>
            <a:r>
              <a:rPr lang="en-US" altLang="zh-CN" dirty="0">
                <a:solidFill>
                  <a:srgbClr val="0066CC"/>
                </a:solidFill>
              </a:rPr>
              <a:t>VLAN</a:t>
            </a:r>
            <a:r>
              <a:rPr lang="zh-CN" altLang="en-US" dirty="0">
                <a:solidFill>
                  <a:srgbClr val="0066CC"/>
                </a:solidFill>
              </a:rPr>
              <a:t>的交换机</a:t>
            </a:r>
            <a:endParaRPr lang="en-US" altLang="zh-CN" dirty="0">
              <a:solidFill>
                <a:srgbClr val="0066CC"/>
              </a:solidFill>
            </a:endParaRPr>
          </a:p>
        </p:txBody>
      </p:sp>
      <p:sp>
        <p:nvSpPr>
          <p:cNvPr id="220" name="Rectangle 3"/>
          <p:cNvSpPr txBox="1">
            <a:spLocks noChangeArrowheads="1"/>
          </p:cNvSpPr>
          <p:nvPr/>
        </p:nvSpPr>
        <p:spPr bwMode="auto">
          <a:xfrm>
            <a:off x="1432860" y="1992020"/>
            <a:ext cx="4967345" cy="83423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135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多个交换机进行</a:t>
            </a:r>
            <a:r>
              <a:rPr lang="en-US" altLang="zh-CN" sz="135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VLANs: </a:t>
            </a:r>
          </a:p>
          <a:p>
            <a:pPr lvl="1"/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对以太网帧封装格式进行扩展：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802.1Q</a:t>
            </a:r>
          </a:p>
          <a:p>
            <a:pPr lvl="1"/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增加了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VLAN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标签字段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2" name="组合 151"/>
          <p:cNvGrpSpPr/>
          <p:nvPr/>
        </p:nvGrpSpPr>
        <p:grpSpPr>
          <a:xfrm>
            <a:off x="1705570" y="3151222"/>
            <a:ext cx="5924421" cy="1508760"/>
            <a:chOff x="254000" y="1611313"/>
            <a:chExt cx="7899228" cy="2011680"/>
          </a:xfrm>
        </p:grpSpPr>
        <p:sp>
          <p:nvSpPr>
            <p:cNvPr id="153" name="Rectangle 111"/>
            <p:cNvSpPr>
              <a:spLocks noChangeArrowheads="1"/>
            </p:cNvSpPr>
            <p:nvPr/>
          </p:nvSpPr>
          <p:spPr bwMode="auto">
            <a:xfrm>
              <a:off x="3414713" y="2103438"/>
              <a:ext cx="2794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Rectangle 77"/>
            <p:cNvSpPr>
              <a:spLocks noChangeArrowheads="1"/>
            </p:cNvSpPr>
            <p:nvPr/>
          </p:nvSpPr>
          <p:spPr bwMode="auto">
            <a:xfrm>
              <a:off x="6591300" y="2108200"/>
              <a:ext cx="276225" cy="23336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Rectangle 77"/>
            <p:cNvSpPr>
              <a:spLocks noChangeArrowheads="1"/>
            </p:cNvSpPr>
            <p:nvPr/>
          </p:nvSpPr>
          <p:spPr bwMode="auto">
            <a:xfrm>
              <a:off x="6881813" y="2108200"/>
              <a:ext cx="276225" cy="23336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Rectangle 77"/>
            <p:cNvSpPr>
              <a:spLocks noChangeArrowheads="1"/>
            </p:cNvSpPr>
            <p:nvPr/>
          </p:nvSpPr>
          <p:spPr bwMode="auto">
            <a:xfrm>
              <a:off x="6300788" y="2112963"/>
              <a:ext cx="276225" cy="23336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Rectangle 157"/>
            <p:cNvSpPr>
              <a:spLocks noChangeArrowheads="1"/>
            </p:cNvSpPr>
            <p:nvPr/>
          </p:nvSpPr>
          <p:spPr bwMode="auto">
            <a:xfrm>
              <a:off x="6300788" y="1881188"/>
              <a:ext cx="280987" cy="214312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Rectangle 156"/>
            <p:cNvSpPr>
              <a:spLocks noChangeArrowheads="1"/>
            </p:cNvSpPr>
            <p:nvPr/>
          </p:nvSpPr>
          <p:spPr bwMode="auto">
            <a:xfrm>
              <a:off x="5972175" y="2105025"/>
              <a:ext cx="309563" cy="233363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Rectangle 62"/>
            <p:cNvSpPr>
              <a:spLocks noChangeArrowheads="1"/>
            </p:cNvSpPr>
            <p:nvPr/>
          </p:nvSpPr>
          <p:spPr bwMode="auto">
            <a:xfrm>
              <a:off x="1341438" y="1887538"/>
              <a:ext cx="273050" cy="19685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Rectangle 80"/>
            <p:cNvSpPr>
              <a:spLocks noChangeArrowheads="1"/>
            </p:cNvSpPr>
            <p:nvPr/>
          </p:nvSpPr>
          <p:spPr bwMode="auto">
            <a:xfrm>
              <a:off x="1333500" y="2097088"/>
              <a:ext cx="290513" cy="24288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Rectangle 77"/>
            <p:cNvSpPr>
              <a:spLocks noChangeArrowheads="1"/>
            </p:cNvSpPr>
            <p:nvPr/>
          </p:nvSpPr>
          <p:spPr bwMode="auto">
            <a:xfrm>
              <a:off x="3405188" y="1878013"/>
              <a:ext cx="290512" cy="20955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Rectangle 76"/>
            <p:cNvSpPr>
              <a:spLocks noChangeArrowheads="1"/>
            </p:cNvSpPr>
            <p:nvPr/>
          </p:nvSpPr>
          <p:spPr bwMode="auto">
            <a:xfrm>
              <a:off x="2514600" y="1882775"/>
              <a:ext cx="890588" cy="4572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Rectangle 75"/>
            <p:cNvSpPr>
              <a:spLocks noChangeArrowheads="1"/>
            </p:cNvSpPr>
            <p:nvPr/>
          </p:nvSpPr>
          <p:spPr bwMode="auto">
            <a:xfrm>
              <a:off x="1619250" y="1882775"/>
              <a:ext cx="900113" cy="45243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Rectangle 2"/>
            <p:cNvSpPr>
              <a:spLocks noChangeArrowheads="1"/>
            </p:cNvSpPr>
            <p:nvPr/>
          </p:nvSpPr>
          <p:spPr bwMode="auto">
            <a:xfrm>
              <a:off x="1333500" y="1874838"/>
              <a:ext cx="2370138" cy="4683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3"/>
            <p:cNvSpPr>
              <a:spLocks noChangeShapeType="1"/>
            </p:cNvSpPr>
            <p:nvPr/>
          </p:nvSpPr>
          <p:spPr bwMode="auto">
            <a:xfrm>
              <a:off x="1335088" y="2090738"/>
              <a:ext cx="2351087" cy="4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Text Box 6"/>
            <p:cNvSpPr txBox="1">
              <a:spLocks noChangeArrowheads="1"/>
            </p:cNvSpPr>
            <p:nvPr/>
          </p:nvSpPr>
          <p:spPr bwMode="auto">
            <a:xfrm>
              <a:off x="1250951" y="1833564"/>
              <a:ext cx="30393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67" name="Line 7"/>
            <p:cNvSpPr>
              <a:spLocks noChangeShapeType="1"/>
            </p:cNvSpPr>
            <p:nvPr/>
          </p:nvSpPr>
          <p:spPr bwMode="auto">
            <a:xfrm>
              <a:off x="2514600" y="1879600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AutoShape 8"/>
            <p:cNvSpPr>
              <a:spLocks noChangeArrowheads="1"/>
            </p:cNvSpPr>
            <p:nvPr/>
          </p:nvSpPr>
          <p:spPr bwMode="auto">
            <a:xfrm>
              <a:off x="1304925" y="1616075"/>
              <a:ext cx="3176588" cy="261938"/>
            </a:xfrm>
            <a:prstGeom prst="parallelogram">
              <a:avLst>
                <a:gd name="adj" fmla="val 303181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9"/>
            <p:cNvSpPr>
              <a:spLocks/>
            </p:cNvSpPr>
            <p:nvPr/>
          </p:nvSpPr>
          <p:spPr bwMode="auto">
            <a:xfrm>
              <a:off x="3708400" y="1619250"/>
              <a:ext cx="763588" cy="720725"/>
            </a:xfrm>
            <a:custGeom>
              <a:avLst/>
              <a:gdLst>
                <a:gd name="T0" fmla="*/ 0 w 232"/>
                <a:gd name="T1" fmla="*/ 2147483646 h 454"/>
                <a:gd name="T2" fmla="*/ 2147483646 w 232"/>
                <a:gd name="T3" fmla="*/ 2147483646 h 454"/>
                <a:gd name="T4" fmla="*/ 2147483646 w 232"/>
                <a:gd name="T5" fmla="*/ 0 h 454"/>
                <a:gd name="T6" fmla="*/ 0 60000 65536"/>
                <a:gd name="T7" fmla="*/ 0 60000 65536"/>
                <a:gd name="T8" fmla="*/ 0 60000 65536"/>
                <a:gd name="T9" fmla="*/ 0 w 232"/>
                <a:gd name="T10" fmla="*/ 0 h 454"/>
                <a:gd name="T11" fmla="*/ 232 w 232"/>
                <a:gd name="T12" fmla="*/ 454 h 4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2" h="454">
                  <a:moveTo>
                    <a:pt x="0" y="454"/>
                  </a:moveTo>
                  <a:lnTo>
                    <a:pt x="232" y="274"/>
                  </a:lnTo>
                  <a:lnTo>
                    <a:pt x="22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10"/>
            <p:cNvSpPr>
              <a:spLocks/>
            </p:cNvSpPr>
            <p:nvPr/>
          </p:nvSpPr>
          <p:spPr bwMode="auto">
            <a:xfrm>
              <a:off x="1706563" y="1663700"/>
              <a:ext cx="2228850" cy="150813"/>
            </a:xfrm>
            <a:custGeom>
              <a:avLst/>
              <a:gdLst>
                <a:gd name="T0" fmla="*/ 0 w 678"/>
                <a:gd name="T1" fmla="*/ 2147483646 h 110"/>
                <a:gd name="T2" fmla="*/ 2147483646 w 678"/>
                <a:gd name="T3" fmla="*/ 2147483646 h 110"/>
                <a:gd name="T4" fmla="*/ 2147483646 w 678"/>
                <a:gd name="T5" fmla="*/ 0 h 110"/>
                <a:gd name="T6" fmla="*/ 2147483646 w 678"/>
                <a:gd name="T7" fmla="*/ 0 h 1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8"/>
                <a:gd name="T13" fmla="*/ 0 h 110"/>
                <a:gd name="T14" fmla="*/ 678 w 678"/>
                <a:gd name="T15" fmla="*/ 110 h 1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8" h="110">
                  <a:moveTo>
                    <a:pt x="0" y="110"/>
                  </a:moveTo>
                  <a:lnTo>
                    <a:pt x="148" y="108"/>
                  </a:lnTo>
                  <a:lnTo>
                    <a:pt x="567" y="0"/>
                  </a:lnTo>
                  <a:lnTo>
                    <a:pt x="678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Freeform 11"/>
            <p:cNvSpPr>
              <a:spLocks/>
            </p:cNvSpPr>
            <p:nvPr/>
          </p:nvSpPr>
          <p:spPr bwMode="auto">
            <a:xfrm>
              <a:off x="2179638" y="1663700"/>
              <a:ext cx="1420812" cy="166688"/>
            </a:xfrm>
            <a:custGeom>
              <a:avLst/>
              <a:gdLst>
                <a:gd name="T0" fmla="*/ 0 w 432"/>
                <a:gd name="T1" fmla="*/ 0 h 105"/>
                <a:gd name="T2" fmla="*/ 2147483646 w 432"/>
                <a:gd name="T3" fmla="*/ 0 h 105"/>
                <a:gd name="T4" fmla="*/ 2147483646 w 432"/>
                <a:gd name="T5" fmla="*/ 2147483646 h 105"/>
                <a:gd name="T6" fmla="*/ 2147483646 w 432"/>
                <a:gd name="T7" fmla="*/ 2147483646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05"/>
                <a:gd name="T14" fmla="*/ 432 w 432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05">
                  <a:moveTo>
                    <a:pt x="0" y="0"/>
                  </a:moveTo>
                  <a:lnTo>
                    <a:pt x="85" y="0"/>
                  </a:lnTo>
                  <a:lnTo>
                    <a:pt x="307" y="105"/>
                  </a:lnTo>
                  <a:lnTo>
                    <a:pt x="432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17"/>
            <p:cNvSpPr>
              <a:spLocks noChangeShapeType="1"/>
            </p:cNvSpPr>
            <p:nvPr/>
          </p:nvSpPr>
          <p:spPr bwMode="auto">
            <a:xfrm>
              <a:off x="3114675" y="188436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18"/>
            <p:cNvSpPr>
              <a:spLocks noChangeShapeType="1"/>
            </p:cNvSpPr>
            <p:nvPr/>
          </p:nvSpPr>
          <p:spPr bwMode="auto">
            <a:xfrm>
              <a:off x="1914525" y="1879600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21"/>
            <p:cNvSpPr>
              <a:spLocks noChangeShapeType="1"/>
            </p:cNvSpPr>
            <p:nvPr/>
          </p:nvSpPr>
          <p:spPr bwMode="auto">
            <a:xfrm>
              <a:off x="1624013" y="1876425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22"/>
            <p:cNvSpPr>
              <a:spLocks noChangeShapeType="1"/>
            </p:cNvSpPr>
            <p:nvPr/>
          </p:nvSpPr>
          <p:spPr bwMode="auto">
            <a:xfrm>
              <a:off x="1333500" y="1889125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23"/>
            <p:cNvSpPr>
              <a:spLocks noChangeShapeType="1"/>
            </p:cNvSpPr>
            <p:nvPr/>
          </p:nvSpPr>
          <p:spPr bwMode="auto">
            <a:xfrm>
              <a:off x="2195513" y="188436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24"/>
            <p:cNvSpPr>
              <a:spLocks noChangeShapeType="1"/>
            </p:cNvSpPr>
            <p:nvPr/>
          </p:nvSpPr>
          <p:spPr bwMode="auto">
            <a:xfrm>
              <a:off x="2819400" y="1879600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Line 25"/>
            <p:cNvSpPr>
              <a:spLocks noChangeShapeType="1"/>
            </p:cNvSpPr>
            <p:nvPr/>
          </p:nvSpPr>
          <p:spPr bwMode="auto">
            <a:xfrm>
              <a:off x="3409950" y="187483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Text Box 26"/>
            <p:cNvSpPr txBox="1">
              <a:spLocks noChangeArrowheads="1"/>
            </p:cNvSpPr>
            <p:nvPr/>
          </p:nvSpPr>
          <p:spPr bwMode="auto">
            <a:xfrm>
              <a:off x="2132013" y="2043113"/>
              <a:ext cx="30393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</a:p>
          </p:txBody>
        </p:sp>
        <p:sp>
          <p:nvSpPr>
            <p:cNvPr id="180" name="Text Box 27"/>
            <p:cNvSpPr txBox="1">
              <a:spLocks noChangeArrowheads="1"/>
            </p:cNvSpPr>
            <p:nvPr/>
          </p:nvSpPr>
          <p:spPr bwMode="auto">
            <a:xfrm>
              <a:off x="2451100" y="1828800"/>
              <a:ext cx="30393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</a:p>
          </p:txBody>
        </p:sp>
        <p:sp>
          <p:nvSpPr>
            <p:cNvPr id="181" name="Text Box 29"/>
            <p:cNvSpPr txBox="1">
              <a:spLocks noChangeArrowheads="1"/>
            </p:cNvSpPr>
            <p:nvPr/>
          </p:nvSpPr>
          <p:spPr bwMode="auto">
            <a:xfrm>
              <a:off x="2432051" y="2047876"/>
              <a:ext cx="36591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182" name="Text Box 30"/>
            <p:cNvSpPr txBox="1">
              <a:spLocks noChangeArrowheads="1"/>
            </p:cNvSpPr>
            <p:nvPr/>
          </p:nvSpPr>
          <p:spPr bwMode="auto">
            <a:xfrm>
              <a:off x="1260475" y="2033588"/>
              <a:ext cx="30393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83" name="Text Box 57"/>
            <p:cNvSpPr txBox="1">
              <a:spLocks noChangeArrowheads="1"/>
            </p:cNvSpPr>
            <p:nvPr/>
          </p:nvSpPr>
          <p:spPr bwMode="auto">
            <a:xfrm>
              <a:off x="2127251" y="1828800"/>
              <a:ext cx="30393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184" name="Line 61"/>
            <p:cNvSpPr>
              <a:spLocks noChangeShapeType="1"/>
            </p:cNvSpPr>
            <p:nvPr/>
          </p:nvSpPr>
          <p:spPr bwMode="auto">
            <a:xfrm flipH="1">
              <a:off x="573088" y="2209800"/>
              <a:ext cx="901700" cy="27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Line 62"/>
            <p:cNvSpPr>
              <a:spLocks noChangeShapeType="1"/>
            </p:cNvSpPr>
            <p:nvPr/>
          </p:nvSpPr>
          <p:spPr bwMode="auto">
            <a:xfrm flipH="1">
              <a:off x="958850" y="2209800"/>
              <a:ext cx="806450" cy="419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Line 63"/>
            <p:cNvSpPr>
              <a:spLocks noChangeShapeType="1"/>
            </p:cNvSpPr>
            <p:nvPr/>
          </p:nvSpPr>
          <p:spPr bwMode="auto">
            <a:xfrm flipH="1">
              <a:off x="1677988" y="2225675"/>
              <a:ext cx="709612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Text Box 64"/>
            <p:cNvSpPr txBox="1">
              <a:spLocks noChangeArrowheads="1"/>
            </p:cNvSpPr>
            <p:nvPr/>
          </p:nvSpPr>
          <p:spPr bwMode="auto">
            <a:xfrm>
              <a:off x="3398839" y="2587625"/>
              <a:ext cx="434307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</a:p>
          </p:txBody>
        </p:sp>
        <p:sp>
          <p:nvSpPr>
            <p:cNvPr id="188" name="Line 69"/>
            <p:cNvSpPr>
              <a:spLocks noChangeShapeType="1"/>
            </p:cNvSpPr>
            <p:nvPr/>
          </p:nvSpPr>
          <p:spPr bwMode="auto">
            <a:xfrm>
              <a:off x="2686050" y="2212975"/>
              <a:ext cx="101600" cy="377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Line 70"/>
            <p:cNvSpPr>
              <a:spLocks noChangeShapeType="1"/>
            </p:cNvSpPr>
            <p:nvPr/>
          </p:nvSpPr>
          <p:spPr bwMode="auto">
            <a:xfrm>
              <a:off x="2676525" y="2011363"/>
              <a:ext cx="479425" cy="603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Line 71"/>
            <p:cNvSpPr>
              <a:spLocks noChangeShapeType="1"/>
            </p:cNvSpPr>
            <p:nvPr/>
          </p:nvSpPr>
          <p:spPr bwMode="auto">
            <a:xfrm>
              <a:off x="3532188" y="1955800"/>
              <a:ext cx="514350" cy="484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Text Box 72"/>
            <p:cNvSpPr txBox="1">
              <a:spLocks noChangeArrowheads="1"/>
            </p:cNvSpPr>
            <p:nvPr/>
          </p:nvSpPr>
          <p:spPr bwMode="auto">
            <a:xfrm>
              <a:off x="479413" y="3130550"/>
              <a:ext cx="1819301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Electrical Engineering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(VLAN ports 1-8)</a:t>
              </a:r>
            </a:p>
          </p:txBody>
        </p:sp>
        <p:sp>
          <p:nvSpPr>
            <p:cNvPr id="192" name="Text Box 73"/>
            <p:cNvSpPr txBox="1">
              <a:spLocks noChangeArrowheads="1"/>
            </p:cNvSpPr>
            <p:nvPr/>
          </p:nvSpPr>
          <p:spPr bwMode="auto">
            <a:xfrm>
              <a:off x="2650397" y="3117850"/>
              <a:ext cx="1584195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Computer Science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(VLAN ports 9-15)</a:t>
              </a:r>
            </a:p>
          </p:txBody>
        </p:sp>
        <p:sp>
          <p:nvSpPr>
            <p:cNvPr id="193" name="Text Box 74"/>
            <p:cNvSpPr txBox="1">
              <a:spLocks noChangeArrowheads="1"/>
            </p:cNvSpPr>
            <p:nvPr/>
          </p:nvSpPr>
          <p:spPr bwMode="auto">
            <a:xfrm>
              <a:off x="3322639" y="1824038"/>
              <a:ext cx="36591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</a:p>
          </p:txBody>
        </p:sp>
        <p:sp>
          <p:nvSpPr>
            <p:cNvPr id="195" name="Oval 81"/>
            <p:cNvSpPr>
              <a:spLocks noChangeArrowheads="1"/>
            </p:cNvSpPr>
            <p:nvPr/>
          </p:nvSpPr>
          <p:spPr bwMode="auto">
            <a:xfrm>
              <a:off x="1449388" y="2189163"/>
              <a:ext cx="42862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Oval 82"/>
            <p:cNvSpPr>
              <a:spLocks noChangeArrowheads="1"/>
            </p:cNvSpPr>
            <p:nvPr/>
          </p:nvSpPr>
          <p:spPr bwMode="auto">
            <a:xfrm>
              <a:off x="1741488" y="2185988"/>
              <a:ext cx="42862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Oval 83"/>
            <p:cNvSpPr>
              <a:spLocks noChangeArrowheads="1"/>
            </p:cNvSpPr>
            <p:nvPr/>
          </p:nvSpPr>
          <p:spPr bwMode="auto">
            <a:xfrm>
              <a:off x="2328863" y="2190750"/>
              <a:ext cx="42862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Oval 84"/>
            <p:cNvSpPr>
              <a:spLocks noChangeArrowheads="1"/>
            </p:cNvSpPr>
            <p:nvPr/>
          </p:nvSpPr>
          <p:spPr bwMode="auto">
            <a:xfrm>
              <a:off x="2660650" y="2187575"/>
              <a:ext cx="42863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Oval 85"/>
            <p:cNvSpPr>
              <a:spLocks noChangeArrowheads="1"/>
            </p:cNvSpPr>
            <p:nvPr/>
          </p:nvSpPr>
          <p:spPr bwMode="auto">
            <a:xfrm>
              <a:off x="2647950" y="1973263"/>
              <a:ext cx="42863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Oval 86"/>
            <p:cNvSpPr>
              <a:spLocks noChangeArrowheads="1"/>
            </p:cNvSpPr>
            <p:nvPr/>
          </p:nvSpPr>
          <p:spPr bwMode="auto">
            <a:xfrm>
              <a:off x="3522663" y="1970088"/>
              <a:ext cx="42862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Text Box 45"/>
            <p:cNvSpPr txBox="1">
              <a:spLocks noChangeArrowheads="1"/>
            </p:cNvSpPr>
            <p:nvPr/>
          </p:nvSpPr>
          <p:spPr bwMode="auto">
            <a:xfrm>
              <a:off x="1112839" y="2554288"/>
              <a:ext cx="434307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</a:p>
          </p:txBody>
        </p:sp>
        <p:sp>
          <p:nvSpPr>
            <p:cNvPr id="202" name="Rectangle 113"/>
            <p:cNvSpPr>
              <a:spLocks noChangeArrowheads="1"/>
            </p:cNvSpPr>
            <p:nvPr/>
          </p:nvSpPr>
          <p:spPr bwMode="auto">
            <a:xfrm>
              <a:off x="6888163" y="2105025"/>
              <a:ext cx="279400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Rectangle 77"/>
            <p:cNvSpPr>
              <a:spLocks noChangeArrowheads="1"/>
            </p:cNvSpPr>
            <p:nvPr/>
          </p:nvSpPr>
          <p:spPr bwMode="auto">
            <a:xfrm>
              <a:off x="6877050" y="1884363"/>
              <a:ext cx="290513" cy="20955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Rectangle 76"/>
            <p:cNvSpPr>
              <a:spLocks noChangeArrowheads="1"/>
            </p:cNvSpPr>
            <p:nvPr/>
          </p:nvSpPr>
          <p:spPr bwMode="auto">
            <a:xfrm>
              <a:off x="5986463" y="1889125"/>
              <a:ext cx="8905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17"/>
            <p:cNvSpPr>
              <a:spLocks noChangeShapeType="1"/>
            </p:cNvSpPr>
            <p:nvPr/>
          </p:nvSpPr>
          <p:spPr bwMode="auto">
            <a:xfrm>
              <a:off x="6586538" y="189071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24"/>
            <p:cNvSpPr>
              <a:spLocks noChangeShapeType="1"/>
            </p:cNvSpPr>
            <p:nvPr/>
          </p:nvSpPr>
          <p:spPr bwMode="auto">
            <a:xfrm>
              <a:off x="6291263" y="1885950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Line 25"/>
            <p:cNvSpPr>
              <a:spLocks noChangeShapeType="1"/>
            </p:cNvSpPr>
            <p:nvPr/>
          </p:nvSpPr>
          <p:spPr bwMode="auto">
            <a:xfrm>
              <a:off x="6881813" y="188118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Text Box 29"/>
            <p:cNvSpPr txBox="1">
              <a:spLocks noChangeArrowheads="1"/>
            </p:cNvSpPr>
            <p:nvPr/>
          </p:nvSpPr>
          <p:spPr bwMode="auto">
            <a:xfrm>
              <a:off x="5903913" y="2054225"/>
              <a:ext cx="30393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213" name="Text Box 74"/>
            <p:cNvSpPr txBox="1">
              <a:spLocks noChangeArrowheads="1"/>
            </p:cNvSpPr>
            <p:nvPr/>
          </p:nvSpPr>
          <p:spPr bwMode="auto">
            <a:xfrm>
              <a:off x="6794500" y="1830388"/>
              <a:ext cx="30393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214" name="Oval 84"/>
            <p:cNvSpPr>
              <a:spLocks noChangeArrowheads="1"/>
            </p:cNvSpPr>
            <p:nvPr/>
          </p:nvSpPr>
          <p:spPr bwMode="auto">
            <a:xfrm>
              <a:off x="6132513" y="2193925"/>
              <a:ext cx="42862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Oval 86"/>
            <p:cNvSpPr>
              <a:spLocks noChangeArrowheads="1"/>
            </p:cNvSpPr>
            <p:nvPr/>
          </p:nvSpPr>
          <p:spPr bwMode="auto">
            <a:xfrm>
              <a:off x="6994525" y="1976438"/>
              <a:ext cx="42863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AutoShape 8"/>
            <p:cNvSpPr>
              <a:spLocks noChangeArrowheads="1"/>
            </p:cNvSpPr>
            <p:nvPr/>
          </p:nvSpPr>
          <p:spPr bwMode="auto">
            <a:xfrm>
              <a:off x="5972175" y="1612900"/>
              <a:ext cx="1630363" cy="261938"/>
            </a:xfrm>
            <a:prstGeom prst="parallelogram">
              <a:avLst>
                <a:gd name="adj" fmla="val 155606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10"/>
            <p:cNvSpPr>
              <a:spLocks/>
            </p:cNvSpPr>
            <p:nvPr/>
          </p:nvSpPr>
          <p:spPr bwMode="auto">
            <a:xfrm>
              <a:off x="6154738" y="1657350"/>
              <a:ext cx="1184275" cy="166688"/>
            </a:xfrm>
            <a:custGeom>
              <a:avLst/>
              <a:gdLst>
                <a:gd name="T0" fmla="*/ 0 w 678"/>
                <a:gd name="T1" fmla="*/ 2147483646 h 110"/>
                <a:gd name="T2" fmla="*/ 2147483646 w 678"/>
                <a:gd name="T3" fmla="*/ 2147483646 h 110"/>
                <a:gd name="T4" fmla="*/ 2147483646 w 678"/>
                <a:gd name="T5" fmla="*/ 0 h 110"/>
                <a:gd name="T6" fmla="*/ 2147483646 w 678"/>
                <a:gd name="T7" fmla="*/ 0 h 1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8"/>
                <a:gd name="T13" fmla="*/ 0 h 110"/>
                <a:gd name="T14" fmla="*/ 678 w 678"/>
                <a:gd name="T15" fmla="*/ 110 h 1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8" h="110">
                  <a:moveTo>
                    <a:pt x="0" y="110"/>
                  </a:moveTo>
                  <a:lnTo>
                    <a:pt x="148" y="108"/>
                  </a:lnTo>
                  <a:lnTo>
                    <a:pt x="567" y="0"/>
                  </a:lnTo>
                  <a:lnTo>
                    <a:pt x="678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10"/>
            <p:cNvSpPr>
              <a:spLocks/>
            </p:cNvSpPr>
            <p:nvPr/>
          </p:nvSpPr>
          <p:spPr bwMode="auto">
            <a:xfrm flipV="1">
              <a:off x="6354763" y="1657350"/>
              <a:ext cx="873125" cy="166688"/>
            </a:xfrm>
            <a:custGeom>
              <a:avLst/>
              <a:gdLst>
                <a:gd name="T0" fmla="*/ 0 w 678"/>
                <a:gd name="T1" fmla="*/ 2147483646 h 110"/>
                <a:gd name="T2" fmla="*/ 2147483646 w 678"/>
                <a:gd name="T3" fmla="*/ 2147483646 h 110"/>
                <a:gd name="T4" fmla="*/ 2147483646 w 678"/>
                <a:gd name="T5" fmla="*/ 0 h 110"/>
                <a:gd name="T6" fmla="*/ 2147483646 w 678"/>
                <a:gd name="T7" fmla="*/ 0 h 1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8"/>
                <a:gd name="T13" fmla="*/ 0 h 110"/>
                <a:gd name="T14" fmla="*/ 678 w 678"/>
                <a:gd name="T15" fmla="*/ 110 h 1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8" h="110">
                  <a:moveTo>
                    <a:pt x="0" y="110"/>
                  </a:moveTo>
                  <a:lnTo>
                    <a:pt x="148" y="108"/>
                  </a:lnTo>
                  <a:lnTo>
                    <a:pt x="567" y="0"/>
                  </a:lnTo>
                  <a:lnTo>
                    <a:pt x="678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131"/>
            <p:cNvSpPr>
              <a:spLocks/>
            </p:cNvSpPr>
            <p:nvPr/>
          </p:nvSpPr>
          <p:spPr bwMode="auto">
            <a:xfrm>
              <a:off x="7180263" y="1611313"/>
              <a:ext cx="419100" cy="723900"/>
            </a:xfrm>
            <a:custGeom>
              <a:avLst/>
              <a:gdLst>
                <a:gd name="T0" fmla="*/ 2147483646 w 264"/>
                <a:gd name="T1" fmla="*/ 0 h 456"/>
                <a:gd name="T2" fmla="*/ 2147483646 w 264"/>
                <a:gd name="T3" fmla="*/ 2147483646 h 456"/>
                <a:gd name="T4" fmla="*/ 0 w 264"/>
                <a:gd name="T5" fmla="*/ 2147483646 h 4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4" h="456">
                  <a:moveTo>
                    <a:pt x="264" y="0"/>
                  </a:moveTo>
                  <a:lnTo>
                    <a:pt x="262" y="248"/>
                  </a:lnTo>
                  <a:lnTo>
                    <a:pt x="0" y="456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132"/>
            <p:cNvSpPr>
              <a:spLocks/>
            </p:cNvSpPr>
            <p:nvPr/>
          </p:nvSpPr>
          <p:spPr bwMode="auto">
            <a:xfrm>
              <a:off x="5969000" y="1868488"/>
              <a:ext cx="1209675" cy="481012"/>
            </a:xfrm>
            <a:custGeom>
              <a:avLst/>
              <a:gdLst>
                <a:gd name="T0" fmla="*/ 0 w 762"/>
                <a:gd name="T1" fmla="*/ 2147483646 h 303"/>
                <a:gd name="T2" fmla="*/ 0 w 762"/>
                <a:gd name="T3" fmla="*/ 2147483646 h 303"/>
                <a:gd name="T4" fmla="*/ 2147483646 w 762"/>
                <a:gd name="T5" fmla="*/ 2147483646 h 303"/>
                <a:gd name="T6" fmla="*/ 2147483646 w 762"/>
                <a:gd name="T7" fmla="*/ 0 h 3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62" h="303">
                  <a:moveTo>
                    <a:pt x="0" y="3"/>
                  </a:moveTo>
                  <a:lnTo>
                    <a:pt x="0" y="303"/>
                  </a:lnTo>
                  <a:lnTo>
                    <a:pt x="762" y="303"/>
                  </a:lnTo>
                  <a:lnTo>
                    <a:pt x="762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Line 133"/>
            <p:cNvSpPr>
              <a:spLocks noChangeShapeType="1"/>
            </p:cNvSpPr>
            <p:nvPr/>
          </p:nvSpPr>
          <p:spPr bwMode="auto">
            <a:xfrm flipV="1">
              <a:off x="5969000" y="2092325"/>
              <a:ext cx="1219200" cy="4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Line 69"/>
            <p:cNvSpPr>
              <a:spLocks noChangeShapeType="1"/>
            </p:cNvSpPr>
            <p:nvPr/>
          </p:nvSpPr>
          <p:spPr bwMode="auto">
            <a:xfrm flipH="1">
              <a:off x="5983288" y="2216150"/>
              <a:ext cx="165100" cy="301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Line 70"/>
            <p:cNvSpPr>
              <a:spLocks noChangeShapeType="1"/>
            </p:cNvSpPr>
            <p:nvPr/>
          </p:nvSpPr>
          <p:spPr bwMode="auto">
            <a:xfrm>
              <a:off x="6438900" y="1990725"/>
              <a:ext cx="179388" cy="627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Line 71"/>
            <p:cNvSpPr>
              <a:spLocks noChangeShapeType="1"/>
            </p:cNvSpPr>
            <p:nvPr/>
          </p:nvSpPr>
          <p:spPr bwMode="auto">
            <a:xfrm>
              <a:off x="6999288" y="1987550"/>
              <a:ext cx="509587" cy="455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Oval 85"/>
            <p:cNvSpPr>
              <a:spLocks noChangeArrowheads="1"/>
            </p:cNvSpPr>
            <p:nvPr/>
          </p:nvSpPr>
          <p:spPr bwMode="auto">
            <a:xfrm>
              <a:off x="6424613" y="1970088"/>
              <a:ext cx="42862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Text Box 27"/>
            <p:cNvSpPr txBox="1">
              <a:spLocks noChangeArrowheads="1"/>
            </p:cNvSpPr>
            <p:nvPr/>
          </p:nvSpPr>
          <p:spPr bwMode="auto">
            <a:xfrm>
              <a:off x="6232525" y="1835150"/>
              <a:ext cx="30393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228" name="Rectangle 158"/>
            <p:cNvSpPr>
              <a:spLocks noChangeArrowheads="1"/>
            </p:cNvSpPr>
            <p:nvPr/>
          </p:nvSpPr>
          <p:spPr bwMode="auto">
            <a:xfrm>
              <a:off x="6591300" y="1885950"/>
              <a:ext cx="280988" cy="20478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Text Box 73"/>
            <p:cNvSpPr txBox="1">
              <a:spLocks noChangeArrowheads="1"/>
            </p:cNvSpPr>
            <p:nvPr/>
          </p:nvSpPr>
          <p:spPr bwMode="auto">
            <a:xfrm>
              <a:off x="5551660" y="3124200"/>
              <a:ext cx="260156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Ports 2,3,5 belong to EE VLAN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Ports 4,6,7,8 belong to CS VLAN</a:t>
              </a:r>
            </a:p>
          </p:txBody>
        </p:sp>
        <p:sp>
          <p:nvSpPr>
            <p:cNvPr id="230" name="Text Box 27"/>
            <p:cNvSpPr txBox="1">
              <a:spLocks noChangeArrowheads="1"/>
            </p:cNvSpPr>
            <p:nvPr/>
          </p:nvSpPr>
          <p:spPr bwMode="auto">
            <a:xfrm>
              <a:off x="6513513" y="1835150"/>
              <a:ext cx="30393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231" name="Text Box 27"/>
            <p:cNvSpPr txBox="1">
              <a:spLocks noChangeArrowheads="1"/>
            </p:cNvSpPr>
            <p:nvPr/>
          </p:nvSpPr>
          <p:spPr bwMode="auto">
            <a:xfrm>
              <a:off x="6237288" y="2049464"/>
              <a:ext cx="30393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232" name="Text Box 27"/>
            <p:cNvSpPr txBox="1">
              <a:spLocks noChangeArrowheads="1"/>
            </p:cNvSpPr>
            <p:nvPr/>
          </p:nvSpPr>
          <p:spPr bwMode="auto">
            <a:xfrm>
              <a:off x="6513513" y="2049464"/>
              <a:ext cx="30393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233" name="Text Box 27"/>
            <p:cNvSpPr txBox="1">
              <a:spLocks noChangeArrowheads="1"/>
            </p:cNvSpPr>
            <p:nvPr/>
          </p:nvSpPr>
          <p:spPr bwMode="auto">
            <a:xfrm>
              <a:off x="6813550" y="2054225"/>
              <a:ext cx="30393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</a:p>
          </p:txBody>
        </p:sp>
        <p:grpSp>
          <p:nvGrpSpPr>
            <p:cNvPr id="234" name="Group 170"/>
            <p:cNvGrpSpPr>
              <a:grpSpLocks/>
            </p:cNvGrpSpPr>
            <p:nvPr/>
          </p:nvGrpSpPr>
          <p:grpSpPr bwMode="auto">
            <a:xfrm>
              <a:off x="3327399" y="1835150"/>
              <a:ext cx="2898775" cy="458788"/>
              <a:chOff x="2096" y="1156"/>
              <a:chExt cx="1826" cy="289"/>
            </a:xfrm>
          </p:grpSpPr>
          <p:sp>
            <p:nvSpPr>
              <p:cNvPr id="262" name="Oval 85"/>
              <p:cNvSpPr>
                <a:spLocks noChangeArrowheads="1"/>
              </p:cNvSpPr>
              <p:nvPr/>
            </p:nvSpPr>
            <p:spPr bwMode="auto">
              <a:xfrm>
                <a:off x="2215" y="1381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63" name="Group 169"/>
              <p:cNvGrpSpPr>
                <a:grpSpLocks/>
              </p:cNvGrpSpPr>
              <p:nvPr/>
            </p:nvGrpSpPr>
            <p:grpSpPr bwMode="auto">
              <a:xfrm>
                <a:off x="2096" y="1156"/>
                <a:ext cx="1826" cy="289"/>
                <a:chOff x="2096" y="1156"/>
                <a:chExt cx="1826" cy="289"/>
              </a:xfrm>
            </p:grpSpPr>
            <p:sp>
              <p:nvSpPr>
                <p:cNvPr id="264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096" y="1290"/>
                  <a:ext cx="230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60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16</a:t>
                  </a:r>
                </a:p>
              </p:txBody>
            </p:sp>
            <p:sp>
              <p:nvSpPr>
                <p:cNvPr id="265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3731" y="1156"/>
                  <a:ext cx="191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60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</a:p>
              </p:txBody>
            </p:sp>
            <p:sp>
              <p:nvSpPr>
                <p:cNvPr id="266" name="Oval 85"/>
                <p:cNvSpPr>
                  <a:spLocks noChangeArrowheads="1"/>
                </p:cNvSpPr>
                <p:nvPr/>
              </p:nvSpPr>
              <p:spPr bwMode="auto">
                <a:xfrm>
                  <a:off x="3855" y="1247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7" name="Freeform 168"/>
                <p:cNvSpPr>
                  <a:spLocks/>
                </p:cNvSpPr>
                <p:nvPr/>
              </p:nvSpPr>
              <p:spPr bwMode="auto">
                <a:xfrm>
                  <a:off x="2226" y="1260"/>
                  <a:ext cx="1644" cy="135"/>
                </a:xfrm>
                <a:custGeom>
                  <a:avLst/>
                  <a:gdLst>
                    <a:gd name="T0" fmla="*/ 0 w 1644"/>
                    <a:gd name="T1" fmla="*/ 135 h 135"/>
                    <a:gd name="T2" fmla="*/ 852 w 1644"/>
                    <a:gd name="T3" fmla="*/ 132 h 135"/>
                    <a:gd name="T4" fmla="*/ 1050 w 1644"/>
                    <a:gd name="T5" fmla="*/ 0 h 135"/>
                    <a:gd name="T6" fmla="*/ 1644 w 1644"/>
                    <a:gd name="T7" fmla="*/ 0 h 13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644" h="135">
                      <a:moveTo>
                        <a:pt x="0" y="135"/>
                      </a:moveTo>
                      <a:lnTo>
                        <a:pt x="852" y="132"/>
                      </a:lnTo>
                      <a:lnTo>
                        <a:pt x="1050" y="0"/>
                      </a:lnTo>
                      <a:lnTo>
                        <a:pt x="1644" y="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35" name="Group 44"/>
            <p:cNvGrpSpPr>
              <a:grpSpLocks/>
            </p:cNvGrpSpPr>
            <p:nvPr/>
          </p:nvGrpSpPr>
          <p:grpSpPr bwMode="auto">
            <a:xfrm>
              <a:off x="254000" y="2316163"/>
              <a:ext cx="538163" cy="558800"/>
              <a:chOff x="-44" y="1473"/>
              <a:chExt cx="981" cy="1105"/>
            </a:xfrm>
          </p:grpSpPr>
          <p:pic>
            <p:nvPicPr>
              <p:cNvPr id="26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6" name="Group 44"/>
            <p:cNvGrpSpPr>
              <a:grpSpLocks/>
            </p:cNvGrpSpPr>
            <p:nvPr/>
          </p:nvGrpSpPr>
          <p:grpSpPr bwMode="auto">
            <a:xfrm>
              <a:off x="619125" y="2519363"/>
              <a:ext cx="539750" cy="558800"/>
              <a:chOff x="-44" y="1473"/>
              <a:chExt cx="981" cy="1105"/>
            </a:xfrm>
          </p:grpSpPr>
          <p:pic>
            <p:nvPicPr>
              <p:cNvPr id="25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7" name="Group 44"/>
            <p:cNvGrpSpPr>
              <a:grpSpLocks/>
            </p:cNvGrpSpPr>
            <p:nvPr/>
          </p:nvGrpSpPr>
          <p:grpSpPr bwMode="auto">
            <a:xfrm>
              <a:off x="1290638" y="2479675"/>
              <a:ext cx="538162" cy="558800"/>
              <a:chOff x="-44" y="1473"/>
              <a:chExt cx="981" cy="1105"/>
            </a:xfrm>
          </p:grpSpPr>
          <p:pic>
            <p:nvPicPr>
              <p:cNvPr id="25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8" name="Group 44"/>
            <p:cNvGrpSpPr>
              <a:grpSpLocks/>
            </p:cNvGrpSpPr>
            <p:nvPr/>
          </p:nvGrpSpPr>
          <p:grpSpPr bwMode="auto">
            <a:xfrm>
              <a:off x="2417763" y="2498725"/>
              <a:ext cx="538162" cy="558800"/>
              <a:chOff x="-44" y="1473"/>
              <a:chExt cx="981" cy="1105"/>
            </a:xfrm>
          </p:grpSpPr>
          <p:pic>
            <p:nvPicPr>
              <p:cNvPr id="25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9" name="Group 44"/>
            <p:cNvGrpSpPr>
              <a:grpSpLocks/>
            </p:cNvGrpSpPr>
            <p:nvPr/>
          </p:nvGrpSpPr>
          <p:grpSpPr bwMode="auto">
            <a:xfrm>
              <a:off x="2854325" y="2479675"/>
              <a:ext cx="539750" cy="558800"/>
              <a:chOff x="-44" y="1473"/>
              <a:chExt cx="981" cy="1105"/>
            </a:xfrm>
          </p:grpSpPr>
          <p:pic>
            <p:nvPicPr>
              <p:cNvPr id="25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0" name="Group 44"/>
            <p:cNvGrpSpPr>
              <a:grpSpLocks/>
            </p:cNvGrpSpPr>
            <p:nvPr/>
          </p:nvGrpSpPr>
          <p:grpSpPr bwMode="auto">
            <a:xfrm>
              <a:off x="3708400" y="2327275"/>
              <a:ext cx="538163" cy="558800"/>
              <a:chOff x="-44" y="1473"/>
              <a:chExt cx="981" cy="1105"/>
            </a:xfrm>
          </p:grpSpPr>
          <p:pic>
            <p:nvPicPr>
              <p:cNvPr id="25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1" name="Group 44"/>
            <p:cNvGrpSpPr>
              <a:grpSpLocks/>
            </p:cNvGrpSpPr>
            <p:nvPr/>
          </p:nvGrpSpPr>
          <p:grpSpPr bwMode="auto">
            <a:xfrm>
              <a:off x="5557838" y="2428875"/>
              <a:ext cx="538162" cy="558800"/>
              <a:chOff x="-44" y="1473"/>
              <a:chExt cx="981" cy="1105"/>
            </a:xfrm>
          </p:grpSpPr>
          <p:pic>
            <p:nvPicPr>
              <p:cNvPr id="24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2" name="Group 44"/>
            <p:cNvGrpSpPr>
              <a:grpSpLocks/>
            </p:cNvGrpSpPr>
            <p:nvPr/>
          </p:nvGrpSpPr>
          <p:grpSpPr bwMode="auto">
            <a:xfrm>
              <a:off x="7183438" y="2357438"/>
              <a:ext cx="538162" cy="558800"/>
              <a:chOff x="-44" y="1473"/>
              <a:chExt cx="981" cy="1105"/>
            </a:xfrm>
          </p:grpSpPr>
          <p:pic>
            <p:nvPicPr>
              <p:cNvPr id="24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3" name="Group 44"/>
            <p:cNvGrpSpPr>
              <a:grpSpLocks/>
            </p:cNvGrpSpPr>
            <p:nvPr/>
          </p:nvGrpSpPr>
          <p:grpSpPr bwMode="auto">
            <a:xfrm>
              <a:off x="6257925" y="2438400"/>
              <a:ext cx="539750" cy="558800"/>
              <a:chOff x="-44" y="1473"/>
              <a:chExt cx="981" cy="1105"/>
            </a:xfrm>
          </p:grpSpPr>
          <p:pic>
            <p:nvPicPr>
              <p:cNvPr id="24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68" name="Rectangle 3"/>
          <p:cNvSpPr txBox="1">
            <a:spLocks noChangeArrowheads="1"/>
          </p:cNvSpPr>
          <p:nvPr/>
        </p:nvSpPr>
        <p:spPr bwMode="auto">
          <a:xfrm>
            <a:off x="5021833" y="3205196"/>
            <a:ext cx="522685" cy="277813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干线</a:t>
            </a:r>
            <a:endParaRPr lang="en-US" altLang="zh-CN" sz="135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9" name="Rectangle 3"/>
          <p:cNvSpPr txBox="1">
            <a:spLocks noChangeArrowheads="1"/>
          </p:cNvSpPr>
          <p:nvPr/>
        </p:nvSpPr>
        <p:spPr bwMode="auto">
          <a:xfrm>
            <a:off x="5092899" y="2625895"/>
            <a:ext cx="841772" cy="277813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干线端口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/>
          <p:cNvCxnSpPr>
            <a:stCxn id="264" idx="2"/>
          </p:cNvCxnSpPr>
          <p:nvPr/>
        </p:nvCxnSpPr>
        <p:spPr>
          <a:xfrm flipV="1">
            <a:off x="4147541" y="2888233"/>
            <a:ext cx="996554" cy="774958"/>
          </a:xfrm>
          <a:prstGeom prst="straightConnector1">
            <a:avLst/>
          </a:prstGeom>
          <a:ln>
            <a:solidFill>
              <a:srgbClr val="0066C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箭头连接符 269"/>
          <p:cNvCxnSpPr>
            <a:stCxn id="265" idx="3"/>
          </p:cNvCxnSpPr>
          <p:nvPr/>
        </p:nvCxnSpPr>
        <p:spPr>
          <a:xfrm flipH="1" flipV="1">
            <a:off x="5642374" y="2870899"/>
            <a:ext cx="542326" cy="540475"/>
          </a:xfrm>
          <a:prstGeom prst="straightConnector1">
            <a:avLst/>
          </a:prstGeom>
          <a:ln>
            <a:solidFill>
              <a:srgbClr val="0066C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灯片编号占位符 2">
            <a:extLst>
              <a:ext uri="{FF2B5EF4-FFF2-40B4-BE49-F238E27FC236}">
                <a16:creationId xmlns:a16="http://schemas.microsoft.com/office/drawing/2014/main" id="{6157B543-38BB-4FBA-BCED-E26A0209BC0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42</a:t>
            </a:fld>
            <a:endParaRPr lang="en-US" altLang="zh-CN" dirty="0"/>
          </a:p>
        </p:txBody>
      </p:sp>
      <p:sp>
        <p:nvSpPr>
          <p:cNvPr id="121" name="AutoShape 5">
            <a:extLst>
              <a:ext uri="{FF2B5EF4-FFF2-40B4-BE49-F238E27FC236}">
                <a16:creationId xmlns:a16="http://schemas.microsoft.com/office/drawing/2014/main" id="{EBA0A1FD-E888-4DD2-ACFE-444D40040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562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1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309273E-29FF-4C52-9570-10E3E7065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4760913"/>
            <a:ext cx="863600" cy="2730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4DBAD-753B-4F65-9204-124AE4700B0F}" type="datetime1"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2025/4/16</a:t>
            </a:fld>
            <a:endParaRPr lang="en-US" altLang="zh-CN" sz="9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4767263"/>
            <a:ext cx="863600" cy="274637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t>计算机网络与通信</a:t>
            </a:r>
            <a:endParaRPr lang="zh-CN" altLang="en-US" sz="9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 template" id="{E25467C6-F7F9-47B8-AE23-3C87BB8AD566}" vid="{BC9338DA-AB37-4861-BD4C-BC6C68590DDB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2948</TotalTime>
  <Words>2643</Words>
  <Application>Microsoft Office PowerPoint</Application>
  <PresentationFormat>全屏显示(16:9)</PresentationFormat>
  <Paragraphs>754</Paragraphs>
  <Slides>43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等线</vt:lpstr>
      <vt:lpstr>等线 Light</vt:lpstr>
      <vt:lpstr>宋体</vt:lpstr>
      <vt:lpstr>微软雅黑</vt:lpstr>
      <vt:lpstr>Arial</vt:lpstr>
      <vt:lpstr>Calibri</vt:lpstr>
      <vt:lpstr>Comic Sans MS</vt:lpstr>
      <vt:lpstr>Times New Roman</vt:lpstr>
      <vt:lpstr>Wingdings</vt:lpstr>
      <vt:lpstr>Office 主题​​</vt:lpstr>
      <vt:lpstr>计算机网络</vt:lpstr>
      <vt:lpstr>PowerPoint 演示文稿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回顾~5.3 多址访问协议 </vt:lpstr>
      <vt:lpstr>回顾~5.3 多址访问协议 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5.4 局域交换网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Haibo</dc:creator>
  <cp:lastModifiedBy>cistecoram</cp:lastModifiedBy>
  <cp:revision>37</cp:revision>
  <dcterms:created xsi:type="dcterms:W3CDTF">2020-04-19T12:30:34Z</dcterms:created>
  <dcterms:modified xsi:type="dcterms:W3CDTF">2025-04-16T02:21:29Z</dcterms:modified>
</cp:coreProperties>
</file>