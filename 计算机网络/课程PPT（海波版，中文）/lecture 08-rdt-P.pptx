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440" r:id="rId2"/>
    <p:sldId id="439" r:id="rId3"/>
    <p:sldId id="260" r:id="rId4"/>
    <p:sldId id="321" r:id="rId5"/>
    <p:sldId id="445" r:id="rId6"/>
    <p:sldId id="446" r:id="rId7"/>
    <p:sldId id="448" r:id="rId8"/>
    <p:sldId id="449" r:id="rId9"/>
    <p:sldId id="264" r:id="rId10"/>
    <p:sldId id="265" r:id="rId11"/>
    <p:sldId id="452" r:id="rId12"/>
    <p:sldId id="453" r:id="rId13"/>
    <p:sldId id="266" r:id="rId14"/>
    <p:sldId id="267" r:id="rId15"/>
    <p:sldId id="268" r:id="rId16"/>
    <p:sldId id="269" r:id="rId17"/>
    <p:sldId id="270" r:id="rId18"/>
    <p:sldId id="271" r:id="rId19"/>
    <p:sldId id="450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6" r:id="rId42"/>
  </p:sldIdLst>
  <p:sldSz cx="9144000" cy="5143500" type="screen16x9"/>
  <p:notesSz cx="7099300" cy="10234613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8000"/>
    <a:srgbClr val="0000FF"/>
    <a:srgbClr val="E18601"/>
    <a:srgbClr val="800000"/>
    <a:srgbClr val="FF6600"/>
    <a:srgbClr val="D43005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15" autoAdjust="0"/>
  </p:normalViewPr>
  <p:slideViewPr>
    <p:cSldViewPr showGuides="1">
      <p:cViewPr varScale="1">
        <p:scale>
          <a:sx n="152" d="100"/>
          <a:sy n="152" d="100"/>
        </p:scale>
        <p:origin x="106" y="24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3216" y="67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2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2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/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/>
          <p:cNvSpPr/>
          <p:nvPr userDrawn="1"/>
        </p:nvSpPr>
        <p:spPr>
          <a:xfrm>
            <a:off x="2919722" y="3448764"/>
            <a:ext cx="319184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8:</a:t>
            </a:r>
            <a:r>
              <a:rPr lang="zh-CN" altLang="en-US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可靠传输原理</a:t>
            </a:r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/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/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514" y="1880152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67545" y="987574"/>
            <a:ext cx="5616624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67544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2000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7A974-AECD-4A3D-8A7C-0C7CDF253C93}" type="datetime1">
              <a:rPr lang="zh-CN" altLang="en-US"/>
              <a:t>2025/3/17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9751" y="822723"/>
            <a:ext cx="3997325" cy="37504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9476" y="822723"/>
            <a:ext cx="3997325" cy="37504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1B736-9C06-41F7-A192-F6CE019F0607}" type="datetime1">
              <a:rPr lang="zh-CN" altLang="en-US" smtClean="0"/>
              <a:t>2025/3/17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1" name="arrow.wav"/>
          </p:stSnd>
        </p:sndAc>
      </p:transition>
    </mc:Choice>
    <mc:Fallback xmlns="">
      <p:transition spd="slow">
        <p:fade/>
        <p:sndAc>
          <p:stSnd>
            <p:snd r:embed="rId12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3.G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png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8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17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知识回顾 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4084022"/>
          </a:xfrm>
          <a:effectLst/>
        </p:spPr>
        <p:txBody>
          <a:bodyPr>
            <a:noAutofit/>
          </a:bodyPr>
          <a:lstStyle/>
          <a:p>
            <a:r>
              <a:rPr lang="zh-CN" altLang="en-US" sz="1800" dirty="0">
                <a:solidFill>
                  <a:srgbClr val="0066CC"/>
                </a:solidFill>
              </a:rPr>
              <a:t>运输层概述和运输层的服务</a:t>
            </a:r>
            <a:endParaRPr lang="en-US" altLang="zh-CN" sz="1800" dirty="0">
              <a:solidFill>
                <a:srgbClr val="0066CC"/>
              </a:solidFill>
            </a:endParaRPr>
          </a:p>
          <a:p>
            <a:pPr lvl="1"/>
            <a:r>
              <a:rPr lang="zh-CN" altLang="en-US" sz="1600" dirty="0">
                <a:solidFill>
                  <a:srgbClr val="FF0000"/>
                </a:solidFill>
              </a:rPr>
              <a:t>端到端逻辑通信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lvl="1"/>
            <a:r>
              <a:rPr lang="zh-CN" altLang="en-US" sz="1600" dirty="0">
                <a:solidFill>
                  <a:srgbClr val="0066CC"/>
                </a:solidFill>
              </a:rPr>
              <a:t>可靠的传输服务：</a:t>
            </a:r>
            <a:r>
              <a:rPr lang="en-US" altLang="zh-CN" sz="1600" dirty="0">
                <a:solidFill>
                  <a:srgbClr val="0066CC"/>
                </a:solidFill>
              </a:rPr>
              <a:t>TCP</a:t>
            </a:r>
          </a:p>
          <a:p>
            <a:pPr lvl="1"/>
            <a:r>
              <a:rPr lang="zh-CN" altLang="en-US" sz="1600" dirty="0">
                <a:solidFill>
                  <a:srgbClr val="0066CC"/>
                </a:solidFill>
              </a:rPr>
              <a:t>不可靠的传输服务：</a:t>
            </a:r>
            <a:r>
              <a:rPr lang="en-US" altLang="zh-CN" sz="1600" dirty="0">
                <a:solidFill>
                  <a:srgbClr val="0066CC"/>
                </a:solidFill>
              </a:rPr>
              <a:t>UDP</a:t>
            </a:r>
          </a:p>
          <a:p>
            <a:r>
              <a:rPr lang="zh-CN" altLang="en-US" sz="1800" dirty="0">
                <a:solidFill>
                  <a:srgbClr val="0066CC"/>
                </a:solidFill>
              </a:rPr>
              <a:t>多路复用和多路分解</a:t>
            </a:r>
            <a:endParaRPr lang="en-US" altLang="zh-CN" sz="1800" dirty="0">
              <a:solidFill>
                <a:srgbClr val="0066CC"/>
              </a:solidFill>
            </a:endParaRPr>
          </a:p>
          <a:p>
            <a:pPr lvl="1"/>
            <a:r>
              <a:rPr lang="zh-CN" altLang="en-US" sz="1600" dirty="0">
                <a:solidFill>
                  <a:srgbClr val="0066CC"/>
                </a:solidFill>
              </a:rPr>
              <a:t>端口号：标识应用进程</a:t>
            </a:r>
            <a:r>
              <a:rPr lang="en-US" altLang="zh-CN" sz="1600" dirty="0">
                <a:solidFill>
                  <a:srgbClr val="0066CC"/>
                </a:solidFill>
              </a:rPr>
              <a:t> </a:t>
            </a:r>
          </a:p>
          <a:p>
            <a:pPr lvl="1"/>
            <a:r>
              <a:rPr lang="en-US" altLang="zh-CN" sz="1600" dirty="0">
                <a:solidFill>
                  <a:srgbClr val="0066CC"/>
                </a:solidFill>
              </a:rPr>
              <a:t>UDP</a:t>
            </a:r>
            <a:r>
              <a:rPr lang="zh-CN" altLang="en-US" sz="1600" dirty="0">
                <a:solidFill>
                  <a:srgbClr val="0066CC"/>
                </a:solidFill>
              </a:rPr>
              <a:t>套接字：二元组</a:t>
            </a:r>
            <a:endParaRPr lang="en-US" altLang="zh-CN" sz="1600" dirty="0">
              <a:solidFill>
                <a:srgbClr val="0066CC"/>
              </a:solidFill>
            </a:endParaRPr>
          </a:p>
          <a:p>
            <a:pPr lvl="1"/>
            <a:r>
              <a:rPr lang="en-US" altLang="zh-CN" sz="1600" dirty="0">
                <a:solidFill>
                  <a:srgbClr val="0066CC"/>
                </a:solidFill>
              </a:rPr>
              <a:t>TCP </a:t>
            </a:r>
            <a:r>
              <a:rPr lang="zh-CN" altLang="en-US" sz="1600" dirty="0">
                <a:solidFill>
                  <a:srgbClr val="0066CC"/>
                </a:solidFill>
              </a:rPr>
              <a:t>套接字：</a:t>
            </a:r>
            <a:r>
              <a:rPr lang="zh-CN" altLang="en-US" sz="1600" dirty="0">
                <a:solidFill>
                  <a:srgbClr val="FF0000"/>
                </a:solidFill>
              </a:rPr>
              <a:t>四元组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800" dirty="0">
                <a:solidFill>
                  <a:srgbClr val="0066CC"/>
                </a:solidFill>
              </a:rPr>
              <a:t>UDP</a:t>
            </a:r>
            <a:r>
              <a:rPr lang="zh-CN" altLang="en-US" sz="1800" dirty="0">
                <a:solidFill>
                  <a:srgbClr val="0066CC"/>
                </a:solidFill>
              </a:rPr>
              <a:t>协议</a:t>
            </a:r>
            <a:endParaRPr lang="en-US" altLang="zh-CN" sz="1800" dirty="0">
              <a:solidFill>
                <a:srgbClr val="0066CC"/>
              </a:solidFill>
            </a:endParaRPr>
          </a:p>
          <a:p>
            <a:pPr lvl="1"/>
            <a:r>
              <a:rPr lang="zh-CN" altLang="en-US" sz="1600" dirty="0">
                <a:solidFill>
                  <a:srgbClr val="0066CC"/>
                </a:solidFill>
              </a:rPr>
              <a:t>简单高效：尽最大努力交付</a:t>
            </a:r>
            <a:endParaRPr lang="en-US" altLang="zh-CN" sz="1600" dirty="0">
              <a:solidFill>
                <a:srgbClr val="0066CC"/>
              </a:solidFill>
            </a:endParaRPr>
          </a:p>
          <a:p>
            <a:pPr lvl="1"/>
            <a:r>
              <a:rPr lang="zh-CN" altLang="en-US" sz="1600" dirty="0">
                <a:solidFill>
                  <a:srgbClr val="0066CC"/>
                </a:solidFill>
              </a:rPr>
              <a:t>报文格式：首部</a:t>
            </a:r>
            <a:r>
              <a:rPr lang="en-US" altLang="zh-CN" sz="1600" dirty="0">
                <a:solidFill>
                  <a:srgbClr val="0066CC"/>
                </a:solidFill>
              </a:rPr>
              <a:t>8</a:t>
            </a:r>
            <a:r>
              <a:rPr lang="zh-CN" altLang="en-US" sz="1600" dirty="0">
                <a:solidFill>
                  <a:srgbClr val="0066CC"/>
                </a:solidFill>
              </a:rPr>
              <a:t>字节</a:t>
            </a:r>
            <a:r>
              <a:rPr lang="en-US" altLang="zh-CN" sz="1600" dirty="0">
                <a:solidFill>
                  <a:srgbClr val="0066CC"/>
                </a:solidFill>
              </a:rPr>
              <a:t>/4</a:t>
            </a:r>
            <a:r>
              <a:rPr lang="zh-CN" altLang="en-US" sz="1600" dirty="0">
                <a:solidFill>
                  <a:srgbClr val="0066CC"/>
                </a:solidFill>
              </a:rPr>
              <a:t>个字段</a:t>
            </a:r>
            <a:endParaRPr lang="en-US" altLang="zh-CN" sz="1600" dirty="0">
              <a:solidFill>
                <a:srgbClr val="0066CC"/>
              </a:solidFill>
            </a:endParaRPr>
          </a:p>
          <a:p>
            <a:pPr lvl="1"/>
            <a:r>
              <a:rPr lang="zh-CN" altLang="en-US" sz="1600" dirty="0">
                <a:solidFill>
                  <a:srgbClr val="FF0000"/>
                </a:solidFill>
              </a:rPr>
              <a:t>检验和</a:t>
            </a:r>
            <a:r>
              <a:rPr lang="zh-CN" altLang="en-US" sz="1600" dirty="0">
                <a:solidFill>
                  <a:srgbClr val="0066CC"/>
                </a:solidFill>
              </a:rPr>
              <a:t>：差错检验流程</a:t>
            </a:r>
            <a:r>
              <a:rPr lang="en-US" altLang="zh-CN" sz="1600" dirty="0">
                <a:solidFill>
                  <a:srgbClr val="0066CC"/>
                </a:solidFill>
              </a:rPr>
              <a:t>/Checksum</a:t>
            </a:r>
            <a:r>
              <a:rPr lang="zh-CN" altLang="en-US" sz="1600" dirty="0">
                <a:solidFill>
                  <a:srgbClr val="0066CC"/>
                </a:solidFill>
              </a:rPr>
              <a:t>方法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4555486" y="809943"/>
            <a:ext cx="3937702" cy="2121005"/>
            <a:chOff x="1575048" y="1419622"/>
            <a:chExt cx="6548544" cy="3527310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5004048" y="1429342"/>
              <a:ext cx="2914650" cy="3086100"/>
            </a:xfrm>
            <a:prstGeom prst="roundRect">
              <a:avLst>
                <a:gd name="adj" fmla="val 7255"/>
              </a:avLst>
            </a:prstGeom>
            <a:solidFill>
              <a:srgbClr val="E9F5DB"/>
            </a:solidFill>
            <a:ln w="9525">
              <a:solidFill>
                <a:schemeClr val="tx1"/>
              </a:solidFill>
              <a:prstDash val="dash"/>
              <a:round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1575048" y="1429342"/>
              <a:ext cx="2914650" cy="3086100"/>
            </a:xfrm>
            <a:prstGeom prst="roundRect">
              <a:avLst>
                <a:gd name="adj" fmla="val 6400"/>
              </a:avLst>
            </a:prstGeom>
            <a:solidFill>
              <a:srgbClr val="E9F5DB"/>
            </a:solidFill>
            <a:ln w="9525">
              <a:solidFill>
                <a:schemeClr val="tx1"/>
              </a:solidFill>
              <a:prstDash val="dash"/>
              <a:round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5061198" y="3886792"/>
              <a:ext cx="2800350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5346948" y="3886792"/>
              <a:ext cx="222885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917948" y="251519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H="1">
              <a:off x="2317998" y="251519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4619533" y="2010367"/>
              <a:ext cx="429539" cy="650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</a:t>
              </a:r>
            </a:p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</a:p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4619533" y="2800943"/>
              <a:ext cx="429539" cy="650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</a:t>
              </a:r>
            </a:p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</a:t>
              </a:r>
            </a:p>
            <a:p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4619533" y="3886793"/>
              <a:ext cx="429539" cy="650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</a:t>
              </a:r>
            </a:p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络</a:t>
              </a:r>
            </a:p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1884311" y="3387886"/>
              <a:ext cx="1011625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</a:t>
              </a: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195744" y="3397692"/>
              <a:ext cx="1539237" cy="3147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用户数据报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2651374" y="1772244"/>
              <a:ext cx="851051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应用进程</a:t>
              </a:r>
            </a:p>
          </p:txBody>
        </p:sp>
        <p:sp>
          <p:nvSpPr>
            <p:cNvPr id="18" name="AutoShape 18"/>
            <p:cNvSpPr>
              <a:spLocks noChangeArrowheads="1"/>
            </p:cNvSpPr>
            <p:nvPr/>
          </p:nvSpPr>
          <p:spPr bwMode="auto">
            <a:xfrm>
              <a:off x="1689348" y="2858092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1651249" y="193416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1860798" y="280094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2260848" y="280094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2660898" y="280094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2718048" y="251519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2057253" y="193416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2453731" y="193416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AutoShape 26"/>
            <p:cNvSpPr>
              <a:spLocks noChangeArrowheads="1"/>
            </p:cNvSpPr>
            <p:nvPr/>
          </p:nvSpPr>
          <p:spPr bwMode="auto">
            <a:xfrm>
              <a:off x="1917948" y="3886792"/>
              <a:ext cx="222885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33466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 flipH="1">
              <a:off x="374674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AutoShape 29"/>
            <p:cNvSpPr>
              <a:spLocks noChangeArrowheads="1"/>
            </p:cNvSpPr>
            <p:nvPr/>
          </p:nvSpPr>
          <p:spPr bwMode="auto">
            <a:xfrm>
              <a:off x="3118098" y="2867617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0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</a:t>
              </a: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3079999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32895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368959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>
              <a:off x="40896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 flipH="1">
              <a:off x="41467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>
              <a:off x="3486002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3882480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Rectangle 37"/>
            <p:cNvSpPr>
              <a:spLocks noChangeArrowheads="1"/>
            </p:cNvSpPr>
            <p:nvPr/>
          </p:nvSpPr>
          <p:spPr bwMode="auto">
            <a:xfrm>
              <a:off x="5061198" y="1886542"/>
              <a:ext cx="2800350" cy="971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 flipH="1" flipV="1">
              <a:off x="53278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39"/>
            <p:cNvSpPr>
              <a:spLocks noChangeShapeType="1"/>
            </p:cNvSpPr>
            <p:nvPr/>
          </p:nvSpPr>
          <p:spPr bwMode="auto">
            <a:xfrm flipH="1" flipV="1">
              <a:off x="572794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 Box 40"/>
            <p:cNvSpPr txBox="1">
              <a:spLocks noChangeArrowheads="1"/>
            </p:cNvSpPr>
            <p:nvPr/>
          </p:nvSpPr>
          <p:spPr bwMode="auto">
            <a:xfrm>
              <a:off x="5302905" y="3566435"/>
              <a:ext cx="1011625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</a:t>
              </a:r>
            </a:p>
          </p:txBody>
        </p:sp>
        <p:sp>
          <p:nvSpPr>
            <p:cNvPr id="41" name="AutoShape 42"/>
            <p:cNvSpPr>
              <a:spLocks noChangeArrowheads="1"/>
            </p:cNvSpPr>
            <p:nvPr/>
          </p:nvSpPr>
          <p:spPr bwMode="auto">
            <a:xfrm>
              <a:off x="5099298" y="2867617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Text Box 43"/>
            <p:cNvSpPr txBox="1">
              <a:spLocks noChangeArrowheads="1"/>
            </p:cNvSpPr>
            <p:nvPr/>
          </p:nvSpPr>
          <p:spPr bwMode="auto">
            <a:xfrm>
              <a:off x="5061200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52707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567079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6070848" y="2810467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 flipH="1" flipV="1">
              <a:off x="6127998" y="252471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Box 48"/>
            <p:cNvSpPr txBox="1">
              <a:spLocks noChangeArrowheads="1"/>
            </p:cNvSpPr>
            <p:nvPr/>
          </p:nvSpPr>
          <p:spPr bwMode="auto">
            <a:xfrm>
              <a:off x="5467202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Text Box 49"/>
            <p:cNvSpPr txBox="1">
              <a:spLocks noChangeArrowheads="1"/>
            </p:cNvSpPr>
            <p:nvPr/>
          </p:nvSpPr>
          <p:spPr bwMode="auto">
            <a:xfrm>
              <a:off x="5863680" y="1943692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9" name="Group 50"/>
            <p:cNvGrpSpPr/>
            <p:nvPr/>
          </p:nvGrpSpPr>
          <p:grpSpPr bwMode="auto">
            <a:xfrm>
              <a:off x="2317998" y="3372442"/>
              <a:ext cx="4838700" cy="521494"/>
              <a:chOff x="912" y="1920"/>
              <a:chExt cx="4064" cy="398"/>
            </a:xfrm>
          </p:grpSpPr>
          <p:sp>
            <p:nvSpPr>
              <p:cNvPr id="77" name="Line 51"/>
              <p:cNvSpPr>
                <a:spLocks noChangeShapeType="1"/>
              </p:cNvSpPr>
              <p:nvPr/>
            </p:nvSpPr>
            <p:spPr bwMode="auto">
              <a:xfrm>
                <a:off x="912" y="1920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Line 52"/>
              <p:cNvSpPr>
                <a:spLocks noChangeShapeType="1"/>
              </p:cNvSpPr>
              <p:nvPr/>
            </p:nvSpPr>
            <p:spPr bwMode="auto">
              <a:xfrm>
                <a:off x="2112" y="1928"/>
                <a:ext cx="0" cy="38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Line 53"/>
              <p:cNvSpPr>
                <a:spLocks noChangeShapeType="1"/>
              </p:cNvSpPr>
              <p:nvPr/>
            </p:nvSpPr>
            <p:spPr bwMode="auto">
              <a:xfrm flipV="1">
                <a:off x="3776" y="1928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Line 54"/>
              <p:cNvSpPr>
                <a:spLocks noChangeShapeType="1"/>
              </p:cNvSpPr>
              <p:nvPr/>
            </p:nvSpPr>
            <p:spPr bwMode="auto">
              <a:xfrm flipV="1">
                <a:off x="4976" y="1936"/>
                <a:ext cx="0" cy="38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0" name="Line 55"/>
            <p:cNvSpPr>
              <a:spLocks noChangeShapeType="1"/>
            </p:cNvSpPr>
            <p:nvPr/>
          </p:nvSpPr>
          <p:spPr bwMode="auto">
            <a:xfrm flipH="1" flipV="1">
              <a:off x="6756648" y="253424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56"/>
            <p:cNvSpPr>
              <a:spLocks noChangeShapeType="1"/>
            </p:cNvSpPr>
            <p:nvPr/>
          </p:nvSpPr>
          <p:spPr bwMode="auto">
            <a:xfrm flipH="1" flipV="1">
              <a:off x="7156698" y="253424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AutoShape 57"/>
            <p:cNvSpPr>
              <a:spLocks noChangeArrowheads="1"/>
            </p:cNvSpPr>
            <p:nvPr/>
          </p:nvSpPr>
          <p:spPr bwMode="auto">
            <a:xfrm>
              <a:off x="6528048" y="2877142"/>
              <a:ext cx="1257300" cy="514350"/>
            </a:xfrm>
            <a:custGeom>
              <a:avLst/>
              <a:gdLst>
                <a:gd name="G0" fmla="+- 2074 0 0"/>
                <a:gd name="G1" fmla="+- 21600 0 2074"/>
                <a:gd name="G2" fmla="*/ 2074 1 2"/>
                <a:gd name="G3" fmla="+- 21600 0 G2"/>
                <a:gd name="G4" fmla="+/ 2074 21600 2"/>
                <a:gd name="G5" fmla="+/ G1 0 2"/>
                <a:gd name="G6" fmla="*/ 21600 21600 2074"/>
                <a:gd name="G7" fmla="*/ G6 1 2"/>
                <a:gd name="G8" fmla="+- 21600 0 G7"/>
                <a:gd name="G9" fmla="*/ 21600 1 2"/>
                <a:gd name="G10" fmla="+- 2074 0 G9"/>
                <a:gd name="G11" fmla="?: G10 G8 0"/>
                <a:gd name="G12" fmla="?: G10 G7 21600"/>
                <a:gd name="T0" fmla="*/ 20563 w 21600"/>
                <a:gd name="T1" fmla="*/ 10800 h 21600"/>
                <a:gd name="T2" fmla="*/ 10800 w 21600"/>
                <a:gd name="T3" fmla="*/ 21600 h 21600"/>
                <a:gd name="T4" fmla="*/ 1037 w 21600"/>
                <a:gd name="T5" fmla="*/ 10800 h 21600"/>
                <a:gd name="T6" fmla="*/ 10800 w 21600"/>
                <a:gd name="T7" fmla="*/ 0 h 21600"/>
                <a:gd name="T8" fmla="*/ 2837 w 21600"/>
                <a:gd name="T9" fmla="*/ 2837 h 21600"/>
                <a:gd name="T10" fmla="*/ 18763 w 21600"/>
                <a:gd name="T11" fmla="*/ 1876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074" y="21600"/>
                  </a:lnTo>
                  <a:lnTo>
                    <a:pt x="1952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0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kumimoji="1" lang="zh-CN" altLang="zh-CN" sz="7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 Box 58"/>
            <p:cNvSpPr txBox="1">
              <a:spLocks noChangeArrowheads="1"/>
            </p:cNvSpPr>
            <p:nvPr/>
          </p:nvSpPr>
          <p:spPr bwMode="auto">
            <a:xfrm>
              <a:off x="6489949" y="195321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Rectangle 59"/>
            <p:cNvSpPr>
              <a:spLocks noChangeArrowheads="1"/>
            </p:cNvSpPr>
            <p:nvPr/>
          </p:nvSpPr>
          <p:spPr bwMode="auto">
            <a:xfrm>
              <a:off x="6699498" y="281999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Rectangle 60"/>
            <p:cNvSpPr>
              <a:spLocks noChangeArrowheads="1"/>
            </p:cNvSpPr>
            <p:nvPr/>
          </p:nvSpPr>
          <p:spPr bwMode="auto">
            <a:xfrm>
              <a:off x="7099548" y="281999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Rectangle 61"/>
            <p:cNvSpPr>
              <a:spLocks noChangeArrowheads="1"/>
            </p:cNvSpPr>
            <p:nvPr/>
          </p:nvSpPr>
          <p:spPr bwMode="auto">
            <a:xfrm>
              <a:off x="7499598" y="2819992"/>
              <a:ext cx="114300" cy="114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62"/>
            <p:cNvSpPr>
              <a:spLocks noChangeShapeType="1"/>
            </p:cNvSpPr>
            <p:nvPr/>
          </p:nvSpPr>
          <p:spPr bwMode="auto">
            <a:xfrm flipH="1" flipV="1">
              <a:off x="7556748" y="253424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Text Box 63"/>
            <p:cNvSpPr txBox="1">
              <a:spLocks noChangeArrowheads="1"/>
            </p:cNvSpPr>
            <p:nvPr/>
          </p:nvSpPr>
          <p:spPr bwMode="auto">
            <a:xfrm>
              <a:off x="6895952" y="195321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Box 64"/>
            <p:cNvSpPr txBox="1">
              <a:spLocks noChangeArrowheads="1"/>
            </p:cNvSpPr>
            <p:nvPr/>
          </p:nvSpPr>
          <p:spPr bwMode="auto">
            <a:xfrm>
              <a:off x="7292430" y="1953216"/>
              <a:ext cx="625240" cy="722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</a:t>
              </a:r>
              <a:endParaRPr kumimoji="1" lang="en-US" altLang="zh-CN" sz="2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Text Box 65"/>
            <p:cNvSpPr txBox="1">
              <a:spLocks noChangeArrowheads="1"/>
            </p:cNvSpPr>
            <p:nvPr/>
          </p:nvSpPr>
          <p:spPr bwMode="auto">
            <a:xfrm>
              <a:off x="6087515" y="1772244"/>
              <a:ext cx="851051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应用进程</a:t>
              </a:r>
            </a:p>
          </p:txBody>
        </p:sp>
        <p:sp>
          <p:nvSpPr>
            <p:cNvPr id="61" name="Text Box 66"/>
            <p:cNvSpPr txBox="1">
              <a:spLocks noChangeArrowheads="1"/>
            </p:cNvSpPr>
            <p:nvPr/>
          </p:nvSpPr>
          <p:spPr bwMode="auto">
            <a:xfrm>
              <a:off x="6180545" y="2593590"/>
              <a:ext cx="570043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端口</a:t>
              </a:r>
            </a:p>
          </p:txBody>
        </p:sp>
        <p:sp>
          <p:nvSpPr>
            <p:cNvPr id="62" name="Text Box 67"/>
            <p:cNvSpPr txBox="1">
              <a:spLocks noChangeArrowheads="1"/>
            </p:cNvSpPr>
            <p:nvPr/>
          </p:nvSpPr>
          <p:spPr bwMode="auto">
            <a:xfrm>
              <a:off x="2757151" y="2576188"/>
              <a:ext cx="570043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7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端口</a:t>
              </a:r>
            </a:p>
          </p:txBody>
        </p:sp>
        <p:sp>
          <p:nvSpPr>
            <p:cNvPr id="63" name="Text Box 68"/>
            <p:cNvSpPr txBox="1">
              <a:spLocks noChangeArrowheads="1"/>
            </p:cNvSpPr>
            <p:nvPr/>
          </p:nvSpPr>
          <p:spPr bwMode="auto">
            <a:xfrm>
              <a:off x="5375526" y="2999777"/>
              <a:ext cx="871123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</a:p>
          </p:txBody>
        </p:sp>
        <p:sp>
          <p:nvSpPr>
            <p:cNvPr id="64" name="Text Box 69"/>
            <p:cNvSpPr txBox="1">
              <a:spLocks noChangeArrowheads="1"/>
            </p:cNvSpPr>
            <p:nvPr/>
          </p:nvSpPr>
          <p:spPr bwMode="auto">
            <a:xfrm>
              <a:off x="6813799" y="2990252"/>
              <a:ext cx="911267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</a:p>
          </p:txBody>
        </p:sp>
        <p:sp>
          <p:nvSpPr>
            <p:cNvPr id="65" name="Text Box 70"/>
            <p:cNvSpPr txBox="1">
              <a:spLocks noChangeArrowheads="1"/>
            </p:cNvSpPr>
            <p:nvPr/>
          </p:nvSpPr>
          <p:spPr bwMode="auto">
            <a:xfrm>
              <a:off x="6158953" y="4014189"/>
              <a:ext cx="738146" cy="313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70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</a:t>
              </a:r>
            </a:p>
          </p:txBody>
        </p:sp>
        <p:sp>
          <p:nvSpPr>
            <p:cNvPr id="66" name="AutoShape 71"/>
            <p:cNvSpPr>
              <a:spLocks noChangeArrowheads="1"/>
            </p:cNvSpPr>
            <p:nvPr/>
          </p:nvSpPr>
          <p:spPr bwMode="auto">
            <a:xfrm>
              <a:off x="2946648" y="4401142"/>
              <a:ext cx="228600" cy="352280"/>
            </a:xfrm>
            <a:prstGeom prst="downArrow">
              <a:avLst>
                <a:gd name="adj1" fmla="val 50000"/>
                <a:gd name="adj2" fmla="val 56250"/>
              </a:avLst>
            </a:prstGeom>
            <a:solidFill>
              <a:srgbClr val="92D050"/>
            </a:solidFill>
            <a:ln w="9525">
              <a:noFill/>
              <a:miter lim="800000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eaVert"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AutoShape 72"/>
            <p:cNvSpPr>
              <a:spLocks noChangeArrowheads="1"/>
            </p:cNvSpPr>
            <p:nvPr/>
          </p:nvSpPr>
          <p:spPr bwMode="auto">
            <a:xfrm flipV="1">
              <a:off x="6318498" y="4401142"/>
              <a:ext cx="228600" cy="352280"/>
            </a:xfrm>
            <a:prstGeom prst="downArrow">
              <a:avLst>
                <a:gd name="adj1" fmla="val 50000"/>
                <a:gd name="adj2" fmla="val 56250"/>
              </a:avLst>
            </a:prstGeom>
            <a:solidFill>
              <a:srgbClr val="92D050"/>
            </a:solidFill>
            <a:ln w="9525">
              <a:noFill/>
              <a:miter lim="800000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vert="eaVert"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8" name="Group 73"/>
            <p:cNvGrpSpPr/>
            <p:nvPr/>
          </p:nvGrpSpPr>
          <p:grpSpPr bwMode="auto">
            <a:xfrm>
              <a:off x="5118348" y="4661182"/>
              <a:ext cx="1028700" cy="285750"/>
              <a:chOff x="2736" y="3216"/>
              <a:chExt cx="864" cy="240"/>
            </a:xfrm>
            <a:solidFill>
              <a:srgbClr val="D5EDFF"/>
            </a:solidFill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grpSpPr>
          <p:sp>
            <p:nvSpPr>
              <p:cNvPr id="75" name="AutoShape 74"/>
              <p:cNvSpPr>
                <a:spLocks noChangeArrowheads="1"/>
              </p:cNvSpPr>
              <p:nvPr/>
            </p:nvSpPr>
            <p:spPr bwMode="auto">
              <a:xfrm>
                <a:off x="3168" y="3216"/>
                <a:ext cx="432" cy="240"/>
              </a:xfrm>
              <a:custGeom>
                <a:avLst/>
                <a:gdLst>
                  <a:gd name="G0" fmla="+- 16200 0 0"/>
                  <a:gd name="G1" fmla="+- 5400 0 0"/>
                  <a:gd name="G2" fmla="+- 21600 0 5400"/>
                  <a:gd name="G3" fmla="+- 10800 0 5400"/>
                  <a:gd name="G4" fmla="+- 21600 0 16200"/>
                  <a:gd name="G5" fmla="*/ G4 G3 10800"/>
                  <a:gd name="G6" fmla="+- 21600 0 G5"/>
                  <a:gd name="T0" fmla="*/ 16200 w 21600"/>
                  <a:gd name="T1" fmla="*/ 0 h 21600"/>
                  <a:gd name="T2" fmla="*/ 0 w 21600"/>
                  <a:gd name="T3" fmla="*/ 10800 h 21600"/>
                  <a:gd name="T4" fmla="*/ 16200 w 21600"/>
                  <a:gd name="T5" fmla="*/ 21600 h 21600"/>
                  <a:gd name="T6" fmla="*/ 21600 w 21600"/>
                  <a:gd name="T7" fmla="*/ 1080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G1 h 21600"/>
                  <a:gd name="T14" fmla="*/ G6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grpFill/>
              <a:ln w="9525">
                <a:miter lim="800000"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CCECFF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Rectangle 75"/>
              <p:cNvSpPr>
                <a:spLocks noChangeArrowheads="1"/>
              </p:cNvSpPr>
              <p:nvPr/>
            </p:nvSpPr>
            <p:spPr bwMode="auto">
              <a:xfrm>
                <a:off x="2736" y="3216"/>
                <a:ext cx="624" cy="240"/>
              </a:xfrm>
              <a:prstGeom prst="rect">
                <a:avLst/>
              </a:prstGeom>
              <a:grpFill/>
              <a:ln w="9525">
                <a:miter lim="800000"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chemeClr val="bg1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pPr algn="ctr"/>
                <a:r>
                  <a:rPr kumimoji="1" lang="en-US" altLang="zh-CN" sz="70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 </a:t>
                </a:r>
                <a:r>
                  <a:rPr kumimoji="1" lang="zh-CN" altLang="en-US" sz="70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</a:t>
                </a:r>
              </a:p>
            </p:txBody>
          </p:sp>
        </p:grpSp>
        <p:grpSp>
          <p:nvGrpSpPr>
            <p:cNvPr id="69" name="Group 76"/>
            <p:cNvGrpSpPr/>
            <p:nvPr/>
          </p:nvGrpSpPr>
          <p:grpSpPr bwMode="auto">
            <a:xfrm>
              <a:off x="3518148" y="4661182"/>
              <a:ext cx="1028700" cy="285750"/>
              <a:chOff x="2736" y="3216"/>
              <a:chExt cx="864" cy="240"/>
            </a:xfrm>
            <a:solidFill>
              <a:srgbClr val="D5EDFF"/>
            </a:solidFill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grpSpPr>
          <p:sp>
            <p:nvSpPr>
              <p:cNvPr id="73" name="AutoShape 77"/>
              <p:cNvSpPr>
                <a:spLocks noChangeArrowheads="1"/>
              </p:cNvSpPr>
              <p:nvPr/>
            </p:nvSpPr>
            <p:spPr bwMode="auto">
              <a:xfrm>
                <a:off x="3168" y="3216"/>
                <a:ext cx="432" cy="240"/>
              </a:xfrm>
              <a:custGeom>
                <a:avLst/>
                <a:gdLst>
                  <a:gd name="G0" fmla="+- 16200 0 0"/>
                  <a:gd name="G1" fmla="+- 5400 0 0"/>
                  <a:gd name="G2" fmla="+- 21600 0 5400"/>
                  <a:gd name="G3" fmla="+- 10800 0 5400"/>
                  <a:gd name="G4" fmla="+- 21600 0 16200"/>
                  <a:gd name="G5" fmla="*/ G4 G3 10800"/>
                  <a:gd name="G6" fmla="+- 21600 0 G5"/>
                  <a:gd name="T0" fmla="*/ 16200 w 21600"/>
                  <a:gd name="T1" fmla="*/ 0 h 21600"/>
                  <a:gd name="T2" fmla="*/ 0 w 21600"/>
                  <a:gd name="T3" fmla="*/ 10800 h 21600"/>
                  <a:gd name="T4" fmla="*/ 16200 w 21600"/>
                  <a:gd name="T5" fmla="*/ 21600 h 21600"/>
                  <a:gd name="T6" fmla="*/ 21600 w 21600"/>
                  <a:gd name="T7" fmla="*/ 1080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G1 h 21600"/>
                  <a:gd name="T14" fmla="*/ G6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grpFill/>
              <a:ln w="9525">
                <a:miter lim="800000"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rgbClr val="CCECFF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Rectangle 78"/>
              <p:cNvSpPr>
                <a:spLocks noChangeArrowheads="1"/>
              </p:cNvSpPr>
              <p:nvPr/>
            </p:nvSpPr>
            <p:spPr bwMode="auto">
              <a:xfrm>
                <a:off x="2736" y="3216"/>
                <a:ext cx="624" cy="240"/>
              </a:xfrm>
              <a:prstGeom prst="rect">
                <a:avLst/>
              </a:prstGeom>
              <a:grpFill/>
              <a:ln w="9525">
                <a:miter lim="800000"/>
              </a:ln>
              <a:effectLst/>
              <a:scene3d>
                <a:camera prst="legacyObliqueTopLeft"/>
                <a:lightRig rig="legacyFlat3" dir="t"/>
              </a:scene3d>
              <a:sp3d extrusionH="125400" prstMaterial="legacyMatte">
                <a:bevelT w="13500" h="13500" prst="angle"/>
                <a:bevelB w="13500" h="13500" prst="angle"/>
                <a:extrusionClr>
                  <a:schemeClr val="bg1"/>
                </a:extrusionClr>
                <a:contourClr>
                  <a:srgbClr val="CCECFF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pPr algn="ctr"/>
                <a:r>
                  <a:rPr kumimoji="1" lang="en-US" altLang="zh-CN" sz="700" dirty="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 </a:t>
                </a:r>
                <a:r>
                  <a:rPr kumimoji="1" lang="zh-CN" altLang="en-US" sz="700" dirty="0">
                    <a:solidFill>
                      <a:srgbClr val="33339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</a:t>
                </a:r>
              </a:p>
            </p:txBody>
          </p:sp>
        </p:grpSp>
        <p:sp>
          <p:nvSpPr>
            <p:cNvPr id="70" name="Text Box 79"/>
            <p:cNvSpPr txBox="1">
              <a:spLocks noChangeArrowheads="1"/>
            </p:cNvSpPr>
            <p:nvPr/>
          </p:nvSpPr>
          <p:spPr bwMode="auto">
            <a:xfrm>
              <a:off x="2680375" y="1438672"/>
              <a:ext cx="830979" cy="361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9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发送方</a:t>
              </a:r>
            </a:p>
          </p:txBody>
        </p:sp>
        <p:sp>
          <p:nvSpPr>
            <p:cNvPr id="71" name="Text Box 80"/>
            <p:cNvSpPr txBox="1">
              <a:spLocks noChangeArrowheads="1"/>
            </p:cNvSpPr>
            <p:nvPr/>
          </p:nvSpPr>
          <p:spPr bwMode="auto">
            <a:xfrm>
              <a:off x="6076038" y="1419622"/>
              <a:ext cx="830979" cy="361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90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接收方</a:t>
              </a:r>
            </a:p>
          </p:txBody>
        </p:sp>
        <p:sp>
          <p:nvSpPr>
            <p:cNvPr id="72" name="Text Box 82"/>
            <p:cNvSpPr txBox="1">
              <a:spLocks noChangeArrowheads="1"/>
            </p:cNvSpPr>
            <p:nvPr/>
          </p:nvSpPr>
          <p:spPr bwMode="auto">
            <a:xfrm>
              <a:off x="6611873" y="3605726"/>
              <a:ext cx="1511719" cy="3147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kumimoji="1" lang="zh-CN" altLang="en-US" sz="700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用户数据报</a:t>
              </a: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5593779" y="3071640"/>
            <a:ext cx="2470151" cy="1935055"/>
            <a:chOff x="3837351" y="1280617"/>
            <a:chExt cx="4509104" cy="3532319"/>
          </a:xfrm>
        </p:grpSpPr>
        <p:sp>
          <p:nvSpPr>
            <p:cNvPr id="82" name="Rectangle 4"/>
            <p:cNvSpPr>
              <a:spLocks noChangeArrowheads="1"/>
            </p:cNvSpPr>
            <p:nvPr/>
          </p:nvSpPr>
          <p:spPr bwMode="auto">
            <a:xfrm>
              <a:off x="5853286" y="1564209"/>
              <a:ext cx="2493169" cy="2400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Rectangle 5"/>
            <p:cNvSpPr>
              <a:spLocks noChangeArrowheads="1"/>
            </p:cNvSpPr>
            <p:nvPr/>
          </p:nvSpPr>
          <p:spPr bwMode="auto">
            <a:xfrm>
              <a:off x="5796136" y="1635646"/>
              <a:ext cx="2493169" cy="2400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zh-CN" altLang="zh-CN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Text Box 6"/>
            <p:cNvSpPr txBox="1">
              <a:spLocks noChangeArrowheads="1"/>
            </p:cNvSpPr>
            <p:nvPr/>
          </p:nvSpPr>
          <p:spPr bwMode="auto">
            <a:xfrm>
              <a:off x="5869779" y="1652314"/>
              <a:ext cx="1086200" cy="370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源端口号</a:t>
              </a:r>
              <a:endPara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Text Box 7"/>
            <p:cNvSpPr txBox="1">
              <a:spLocks noChangeArrowheads="1"/>
            </p:cNvSpPr>
            <p:nvPr/>
          </p:nvSpPr>
          <p:spPr bwMode="auto">
            <a:xfrm>
              <a:off x="7026893" y="1652314"/>
              <a:ext cx="1273476" cy="370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目的端口号</a:t>
              </a:r>
              <a:endPara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Line 8"/>
            <p:cNvSpPr>
              <a:spLocks noChangeShapeType="1"/>
            </p:cNvSpPr>
            <p:nvPr/>
          </p:nvSpPr>
          <p:spPr bwMode="auto">
            <a:xfrm flipV="1">
              <a:off x="5788992" y="1935684"/>
              <a:ext cx="24967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Line 9"/>
            <p:cNvSpPr>
              <a:spLocks noChangeShapeType="1"/>
            </p:cNvSpPr>
            <p:nvPr/>
          </p:nvSpPr>
          <p:spPr bwMode="auto">
            <a:xfrm flipV="1">
              <a:off x="5781849" y="2235721"/>
              <a:ext cx="24931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Line 10"/>
            <p:cNvSpPr>
              <a:spLocks noChangeShapeType="1"/>
            </p:cNvSpPr>
            <p:nvPr/>
          </p:nvSpPr>
          <p:spPr bwMode="auto">
            <a:xfrm flipV="1">
              <a:off x="7024861" y="1635646"/>
              <a:ext cx="0" cy="2964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Text Box 11"/>
            <p:cNvSpPr txBox="1">
              <a:spLocks noChangeArrowheads="1"/>
            </p:cNvSpPr>
            <p:nvPr/>
          </p:nvSpPr>
          <p:spPr bwMode="auto">
            <a:xfrm>
              <a:off x="6633006" y="1280617"/>
              <a:ext cx="747992" cy="312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Line 12"/>
            <p:cNvSpPr>
              <a:spLocks noChangeShapeType="1"/>
            </p:cNvSpPr>
            <p:nvPr/>
          </p:nvSpPr>
          <p:spPr bwMode="auto">
            <a:xfrm>
              <a:off x="7367761" y="1460624"/>
              <a:ext cx="900113" cy="3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Line 13"/>
            <p:cNvSpPr>
              <a:spLocks noChangeShapeType="1"/>
            </p:cNvSpPr>
            <p:nvPr/>
          </p:nvSpPr>
          <p:spPr bwMode="auto">
            <a:xfrm rot="10800000">
              <a:off x="5785421" y="1467768"/>
              <a:ext cx="8465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Text Box 14"/>
            <p:cNvSpPr txBox="1">
              <a:spLocks noChangeArrowheads="1"/>
            </p:cNvSpPr>
            <p:nvPr/>
          </p:nvSpPr>
          <p:spPr bwMode="auto">
            <a:xfrm>
              <a:off x="6029499" y="3027487"/>
              <a:ext cx="1945482" cy="5348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载荷：应用数据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  <a:p>
              <a:pPr algn="ctr" eaLnBrk="0" hangingPunct="0"/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报文，分段报文</a:t>
              </a:r>
              <a:r>
                <a:rPr lang="en-US" altLang="zh-CN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Text Box 15"/>
            <p:cNvSpPr txBox="1">
              <a:spLocks noChangeArrowheads="1"/>
            </p:cNvSpPr>
            <p:nvPr/>
          </p:nvSpPr>
          <p:spPr bwMode="auto">
            <a:xfrm>
              <a:off x="5946676" y="4094289"/>
              <a:ext cx="2089219" cy="421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altLang="zh-CN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报文段结构</a:t>
              </a:r>
              <a:endParaRPr lang="en-US" altLang="zh-CN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Line 16"/>
            <p:cNvSpPr>
              <a:spLocks noChangeShapeType="1"/>
            </p:cNvSpPr>
            <p:nvPr/>
          </p:nvSpPr>
          <p:spPr bwMode="auto">
            <a:xfrm flipV="1">
              <a:off x="7024861" y="1942827"/>
              <a:ext cx="0" cy="2964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Text Box 17"/>
            <p:cNvSpPr txBox="1">
              <a:spLocks noChangeArrowheads="1"/>
            </p:cNvSpPr>
            <p:nvPr/>
          </p:nvSpPr>
          <p:spPr bwMode="auto">
            <a:xfrm>
              <a:off x="6033244" y="1959497"/>
              <a:ext cx="711646" cy="370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长度</a:t>
              </a:r>
              <a:endPara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Text Box 18"/>
            <p:cNvSpPr txBox="1">
              <a:spLocks noChangeArrowheads="1"/>
            </p:cNvSpPr>
            <p:nvPr/>
          </p:nvSpPr>
          <p:spPr bwMode="auto">
            <a:xfrm>
              <a:off x="7234412" y="1952352"/>
              <a:ext cx="898925" cy="370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检验和</a:t>
              </a:r>
              <a:endParaRPr lang="en-US" altLang="zh-CN" sz="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Text Box 19"/>
            <p:cNvSpPr txBox="1">
              <a:spLocks noChangeArrowheads="1"/>
            </p:cNvSpPr>
            <p:nvPr/>
          </p:nvSpPr>
          <p:spPr bwMode="auto">
            <a:xfrm>
              <a:off x="3837351" y="2175000"/>
              <a:ext cx="1812080" cy="365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r" eaLnBrk="0" hangingPunct="0"/>
              <a:r>
                <a:rPr lang="zh-CN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有效载荷长度</a:t>
              </a:r>
              <a:endPara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Line 20"/>
            <p:cNvSpPr>
              <a:spLocks noChangeShapeType="1"/>
            </p:cNvSpPr>
            <p:nvPr/>
          </p:nvSpPr>
          <p:spPr bwMode="auto">
            <a:xfrm flipV="1">
              <a:off x="5649432" y="2078558"/>
              <a:ext cx="468173" cy="1774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Text Box 15"/>
            <p:cNvSpPr txBox="1">
              <a:spLocks noChangeArrowheads="1"/>
            </p:cNvSpPr>
            <p:nvPr/>
          </p:nvSpPr>
          <p:spPr bwMode="auto">
            <a:xfrm>
              <a:off x="5663377" y="4391567"/>
              <a:ext cx="2578269" cy="421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UDP </a:t>
              </a:r>
              <a:r>
                <a:rPr lang="zh-CN" altLang="en-US" sz="9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用户数据报）</a:t>
              </a:r>
              <a:endParaRPr lang="en-US" altLang="zh-CN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0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2</a:t>
            </a:fld>
            <a:endParaRPr lang="en-US" altLang="zh-CN" dirty="0"/>
          </a:p>
        </p:txBody>
      </p:sp>
      <p:sp>
        <p:nvSpPr>
          <p:cNvPr id="10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zh-CN" altLang="en-US" dirty="0"/>
              <a:t>本讲任务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如前面所述，网络通信中要解决几个核心问题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数据错误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数据丢失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数据失序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另外：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流量匹配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拥塞控制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6" name="Rectangle 5"/>
          <p:cNvSpPr>
            <a:spLocks noChangeArrowheads="1"/>
          </p:cNvSpPr>
          <p:nvPr/>
        </p:nvSpPr>
        <p:spPr bwMode="auto">
          <a:xfrm>
            <a:off x="2358182" y="3979034"/>
            <a:ext cx="3563540" cy="70246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本讲将回答前三个问题！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1635646"/>
            <a:ext cx="3082316" cy="2050601"/>
          </a:xfrm>
          <a:prstGeom prst="roundRect">
            <a:avLst>
              <a:gd name="adj" fmla="val 8323"/>
            </a:avLst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3</a:t>
            </a:fld>
            <a:endParaRPr lang="en-US" altLang="zh-CN" dirty="0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9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9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9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" grpId="0"/>
      <p:bldP spid="7" grpId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3.4 </a:t>
            </a:r>
            <a:r>
              <a:rPr lang="zh-CN" altLang="en-US" dirty="0"/>
              <a:t>可靠数据传输原理</a:t>
            </a:r>
          </a:p>
        </p:txBody>
      </p:sp>
      <p:sp>
        <p:nvSpPr>
          <p:cNvPr id="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4</a:t>
            </a:fld>
            <a:endParaRPr lang="en-US" altLang="zh-CN" dirty="0"/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975644" y="1118393"/>
            <a:ext cx="5192712" cy="37512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3.4.0 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可靠数据传输概述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构造可靠的传输协议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流水线可靠传输协议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重传协议：回退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重传协议：选择重传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46" descr="j04338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18393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可靠数据传输原理</a:t>
            </a:r>
          </a:p>
        </p:txBody>
      </p:sp>
      <p:sp>
        <p:nvSpPr>
          <p:cNvPr id="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5</a:t>
            </a:fld>
            <a:endParaRPr lang="en-US" altLang="zh-CN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1213864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3.4.0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可靠数据传输概述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网络通信的重要环节！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排名前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的重要问题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</p:txBody>
      </p:sp>
      <p:sp>
        <p:nvSpPr>
          <p:cNvPr id="7" name="矩形 6"/>
          <p:cNvSpPr/>
          <p:nvPr/>
        </p:nvSpPr>
        <p:spPr>
          <a:xfrm>
            <a:off x="5076590" y="1635646"/>
            <a:ext cx="1134126" cy="4320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发送进程</a:t>
            </a:r>
            <a:endParaRPr lang="en-US" altLang="zh-CN" sz="1200" dirty="0">
              <a:solidFill>
                <a:srgbClr val="74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59992" y="1635646"/>
            <a:ext cx="1134126" cy="4320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接收进程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3485294" y="2510863"/>
            <a:ext cx="5658706" cy="0"/>
          </a:xfrm>
          <a:prstGeom prst="line">
            <a:avLst/>
          </a:prstGeom>
          <a:ln w="12700">
            <a:solidFill>
              <a:srgbClr val="008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868144" y="4268417"/>
            <a:ext cx="1559806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5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服务模型示意图</a:t>
            </a:r>
          </a:p>
        </p:txBody>
      </p:sp>
      <p:sp>
        <p:nvSpPr>
          <p:cNvPr id="16" name="矩形 15"/>
          <p:cNvSpPr/>
          <p:nvPr/>
        </p:nvSpPr>
        <p:spPr>
          <a:xfrm>
            <a:off x="5358917" y="2341164"/>
            <a:ext cx="707781" cy="215718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238608" y="2067695"/>
            <a:ext cx="0" cy="391256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圆柱形 32"/>
          <p:cNvSpPr/>
          <p:nvPr/>
        </p:nvSpPr>
        <p:spPr>
          <a:xfrm rot="16200000">
            <a:off x="6534132" y="2696132"/>
            <a:ext cx="273515" cy="2331474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66CC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300" endPos="55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不可靠传输信道 </a:t>
            </a:r>
            <a:r>
              <a:rPr lang="en-US" altLang="zh-CN" sz="12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udt</a:t>
            </a:r>
            <a:endParaRPr lang="zh-CN" altLang="en-US" sz="12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3485294" y="3401938"/>
            <a:ext cx="5658706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5238608" y="3375912"/>
            <a:ext cx="0" cy="503106"/>
          </a:xfrm>
          <a:prstGeom prst="straightConnector1">
            <a:avLst/>
          </a:prstGeom>
          <a:ln w="25400">
            <a:solidFill>
              <a:srgbClr val="0066CC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5239937" y="3871584"/>
            <a:ext cx="270030" cy="0"/>
          </a:xfrm>
          <a:prstGeom prst="straightConnector1">
            <a:avLst/>
          </a:prstGeom>
          <a:ln w="25400">
            <a:solidFill>
              <a:srgbClr val="0066C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7839030" y="3871584"/>
            <a:ext cx="270030" cy="0"/>
          </a:xfrm>
          <a:prstGeom prst="straightConnector1">
            <a:avLst/>
          </a:prstGeom>
          <a:ln w="25400">
            <a:solidFill>
              <a:srgbClr val="0066CC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"/>
          <p:cNvSpPr txBox="1">
            <a:spLocks noChangeArrowheads="1"/>
          </p:cNvSpPr>
          <p:nvPr/>
        </p:nvSpPr>
        <p:spPr>
          <a:xfrm>
            <a:off x="702431" y="4310321"/>
            <a:ext cx="4825603" cy="589597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不可靠信道的特点决定了可靠服务传输的复杂性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可靠数据传输：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eliable 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ata 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ransfer, 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27" y="1648140"/>
            <a:ext cx="298909" cy="270168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5352585" y="3357474"/>
            <a:ext cx="947603" cy="2339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packet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144996" y="3357474"/>
            <a:ext cx="947602" cy="222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packet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149290" y="2355647"/>
            <a:ext cx="707781" cy="206608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箭头连接符 46"/>
          <p:cNvCxnSpPr/>
          <p:nvPr/>
        </p:nvCxnSpPr>
        <p:spPr>
          <a:xfrm>
            <a:off x="8075504" y="2067695"/>
            <a:ext cx="0" cy="391256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8092958" y="3368478"/>
            <a:ext cx="0" cy="503106"/>
          </a:xfrm>
          <a:prstGeom prst="straightConnector1">
            <a:avLst/>
          </a:prstGeom>
          <a:ln w="25400">
            <a:solidFill>
              <a:srgbClr val="0066CC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5238608" y="2590491"/>
            <a:ext cx="2854350" cy="537527"/>
            <a:chOff x="5238608" y="2590491"/>
            <a:chExt cx="2854350" cy="537527"/>
          </a:xfrm>
        </p:grpSpPr>
        <p:sp>
          <p:nvSpPr>
            <p:cNvPr id="14" name="圆柱形 13"/>
            <p:cNvSpPr/>
            <p:nvPr/>
          </p:nvSpPr>
          <p:spPr>
            <a:xfrm rot="16200000">
              <a:off x="6534132" y="1825524"/>
              <a:ext cx="273515" cy="2331474"/>
            </a:xfrm>
            <a:prstGeom prst="can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  <a:reflection blurRad="6350" stA="50000" endA="300" endPos="55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zh-CN" altLang="en-US" sz="1200" dirty="0">
                  <a:solidFill>
                    <a:schemeClr val="accent6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可靠传输信道 </a:t>
              </a:r>
              <a:r>
                <a:rPr lang="en-US" altLang="zh-CN" sz="1200" dirty="0">
                  <a:solidFill>
                    <a:schemeClr val="accent6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rdt</a:t>
              </a:r>
              <a:endParaRPr lang="zh-CN" altLang="en-US" sz="12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" name="直接箭头连接符 24"/>
            <p:cNvCxnSpPr/>
            <p:nvPr/>
          </p:nvCxnSpPr>
          <p:spPr>
            <a:xfrm>
              <a:off x="5239937" y="2989519"/>
              <a:ext cx="270030" cy="0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>
              <a:off x="5238608" y="2598264"/>
              <a:ext cx="0" cy="391256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>
              <a:off x="7835067" y="2989519"/>
              <a:ext cx="257891" cy="0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>
              <a:off x="8075504" y="2590491"/>
              <a:ext cx="0" cy="399028"/>
            </a:xfrm>
            <a:prstGeom prst="straightConnector1">
              <a:avLst/>
            </a:prstGeom>
            <a:ln w="25400">
              <a:solidFill>
                <a:srgbClr val="00B050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矩形 49"/>
          <p:cNvSpPr/>
          <p:nvPr/>
        </p:nvSpPr>
        <p:spPr>
          <a:xfrm>
            <a:off x="3485294" y="1493342"/>
            <a:ext cx="5640627" cy="27141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3707904" y="1963241"/>
            <a:ext cx="756084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707904" y="2818536"/>
            <a:ext cx="756084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3707904" y="3711828"/>
            <a:ext cx="756084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3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6</a:t>
            </a:fld>
            <a:endParaRPr lang="en-US" altLang="zh-CN" dirty="0"/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10" grpId="0" animBg="1"/>
      <p:bldP spid="12" grpId="0"/>
      <p:bldP spid="16" grpId="0" animBg="1"/>
      <p:bldP spid="33" grpId="0" animBg="1"/>
      <p:bldP spid="42" grpId="0"/>
      <p:bldP spid="43" grpId="0" animBg="1"/>
      <p:bldP spid="45" grpId="0" animBg="1"/>
      <p:bldP spid="46" grpId="0" animBg="1"/>
      <p:bldP spid="50" grpId="0" animBg="1"/>
      <p:bldP spid="55" grpId="0"/>
      <p:bldP spid="56" grpId="0"/>
      <p:bldP spid="57" grpId="0"/>
      <p:bldP spid="37" grpId="0" animBg="1"/>
      <p:bldP spid="3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76590" y="1635646"/>
            <a:ext cx="1134126" cy="4320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发送进程</a:t>
            </a:r>
            <a:endParaRPr lang="en-US" altLang="zh-CN" sz="1200" dirty="0">
              <a:solidFill>
                <a:srgbClr val="74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59992" y="1635646"/>
            <a:ext cx="1134126" cy="4320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接收进程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3485281" y="2510863"/>
            <a:ext cx="5640628" cy="0"/>
          </a:xfrm>
          <a:prstGeom prst="line">
            <a:avLst/>
          </a:prstGeom>
          <a:ln w="12700">
            <a:solidFill>
              <a:srgbClr val="008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707904" y="1963241"/>
            <a:ext cx="756084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707904" y="2818536"/>
            <a:ext cx="756084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238608" y="2067695"/>
            <a:ext cx="0" cy="391256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8075504" y="2067695"/>
            <a:ext cx="0" cy="391256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5238608" y="2598264"/>
            <a:ext cx="0" cy="251444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8075504" y="2590491"/>
            <a:ext cx="0" cy="249670"/>
          </a:xfrm>
          <a:prstGeom prst="straightConnector1">
            <a:avLst/>
          </a:prstGeom>
          <a:ln w="25400">
            <a:solidFill>
              <a:srgbClr val="00B05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圆柱形 32"/>
          <p:cNvSpPr/>
          <p:nvPr/>
        </p:nvSpPr>
        <p:spPr>
          <a:xfrm rot="16200000">
            <a:off x="6534132" y="2696132"/>
            <a:ext cx="273515" cy="2331474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66CC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300" endPos="55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不可靠传输信道 </a:t>
            </a:r>
            <a:r>
              <a:rPr lang="en-US" altLang="zh-CN" sz="12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udt</a:t>
            </a:r>
            <a:endParaRPr lang="zh-CN" altLang="en-US" sz="12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3485281" y="3401938"/>
            <a:ext cx="5640628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5238608" y="3375912"/>
            <a:ext cx="0" cy="503106"/>
          </a:xfrm>
          <a:prstGeom prst="straightConnector1">
            <a:avLst/>
          </a:prstGeom>
          <a:ln w="25400">
            <a:solidFill>
              <a:srgbClr val="0066CC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5239937" y="3871584"/>
            <a:ext cx="270030" cy="0"/>
          </a:xfrm>
          <a:prstGeom prst="straightConnector1">
            <a:avLst/>
          </a:prstGeom>
          <a:ln w="25400">
            <a:solidFill>
              <a:srgbClr val="0066C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7832668" y="3871584"/>
            <a:ext cx="270030" cy="0"/>
          </a:xfrm>
          <a:prstGeom prst="straightConnector1">
            <a:avLst/>
          </a:prstGeom>
          <a:ln w="25400">
            <a:solidFill>
              <a:srgbClr val="0066CC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3707904" y="3711828"/>
            <a:ext cx="756084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43" name="内容占位符 2"/>
          <p:cNvSpPr txBox="1"/>
          <p:nvPr/>
        </p:nvSpPr>
        <p:spPr>
          <a:xfrm>
            <a:off x="468000" y="936000"/>
            <a:ext cx="4212013" cy="1904161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3.4.0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可靠数据传输概述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软件工程狮的视角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可创建一个类？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生成两个对象？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四个函数 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352585" y="3357474"/>
            <a:ext cx="947603" cy="2339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packet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8144996" y="3357474"/>
            <a:ext cx="947602" cy="222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packet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358917" y="2341164"/>
            <a:ext cx="707781" cy="215718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149290" y="2355647"/>
            <a:ext cx="707781" cy="206608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4956091" y="2846648"/>
            <a:ext cx="1098122" cy="279623"/>
          </a:xfrm>
          <a:prstGeom prst="roundRect">
            <a:avLst>
              <a:gd name="adj" fmla="val 4059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92D05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发送端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52" name="矩形: 圆角 51"/>
          <p:cNvSpPr/>
          <p:nvPr/>
        </p:nvSpPr>
        <p:spPr>
          <a:xfrm>
            <a:off x="7845814" y="2842089"/>
            <a:ext cx="1098122" cy="279624"/>
          </a:xfrm>
          <a:prstGeom prst="roundRect">
            <a:avLst>
              <a:gd name="adj" fmla="val 432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92D05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接收端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6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03837" y="3641552"/>
            <a:ext cx="5922072" cy="556829"/>
          </a:xfrm>
          <a:prstGeom prst="rect">
            <a:avLst/>
          </a:prstGeom>
          <a:solidFill>
            <a:schemeClr val="bg1">
              <a:lumMod val="9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4260859" y="3148088"/>
            <a:ext cx="1143964" cy="2036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udt_send()</a:t>
            </a:r>
            <a:endParaRPr lang="zh-CN" altLang="en-US" sz="1200" b="1" dirty="0">
              <a:solidFill>
                <a:srgbClr val="0070C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180256" y="2510162"/>
            <a:ext cx="1168151" cy="2228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008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rdt_send()</a:t>
            </a:r>
            <a:endParaRPr lang="zh-CN" altLang="en-US" sz="1200" b="1" dirty="0">
              <a:solidFill>
                <a:srgbClr val="00800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485281" y="1493342"/>
            <a:ext cx="5640627" cy="768195"/>
          </a:xfrm>
          <a:prstGeom prst="rect">
            <a:avLst/>
          </a:prstGeom>
          <a:solidFill>
            <a:schemeClr val="bg1">
              <a:lumMod val="9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7220528" y="3161055"/>
            <a:ext cx="947601" cy="18896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008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rdt_rcv()</a:t>
            </a:r>
            <a:endParaRPr lang="zh-CN" altLang="en-US" sz="1200" b="1" dirty="0">
              <a:solidFill>
                <a:srgbClr val="00800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732250" y="2581470"/>
            <a:ext cx="1385316" cy="9909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deliver_data()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85294" y="1493342"/>
            <a:ext cx="5640627" cy="27141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247" y="1295928"/>
            <a:ext cx="504056" cy="50405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cxnSp>
        <p:nvCxnSpPr>
          <p:cNvPr id="39" name="直接箭头连接符 38"/>
          <p:cNvCxnSpPr/>
          <p:nvPr/>
        </p:nvCxnSpPr>
        <p:spPr>
          <a:xfrm>
            <a:off x="8092958" y="3368478"/>
            <a:ext cx="0" cy="503106"/>
          </a:xfrm>
          <a:prstGeom prst="straightConnector1">
            <a:avLst/>
          </a:prstGeom>
          <a:ln w="25400">
            <a:solidFill>
              <a:srgbClr val="0066CC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5868144" y="4268417"/>
            <a:ext cx="1559806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5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服务实现示意图</a:t>
            </a:r>
          </a:p>
        </p:txBody>
      </p:sp>
      <p:sp>
        <p:nvSpPr>
          <p:cNvPr id="3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7</a:t>
            </a:fld>
            <a:endParaRPr lang="en-US" altLang="zh-CN" dirty="0"/>
          </a:p>
        </p:txBody>
      </p:sp>
      <p:sp>
        <p:nvSpPr>
          <p:cNvPr id="40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485281" y="2510863"/>
            <a:ext cx="5640628" cy="0"/>
          </a:xfrm>
          <a:prstGeom prst="line">
            <a:avLst/>
          </a:prstGeom>
          <a:ln w="3175">
            <a:solidFill>
              <a:srgbClr val="008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485281" y="3401938"/>
            <a:ext cx="5640628" cy="0"/>
          </a:xfrm>
          <a:prstGeom prst="line">
            <a:avLst/>
          </a:prstGeom>
          <a:ln w="3175">
            <a:solidFill>
              <a:srgbClr val="0070C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内容占位符 2"/>
          <p:cNvSpPr txBox="1"/>
          <p:nvPr/>
        </p:nvSpPr>
        <p:spPr>
          <a:xfrm>
            <a:off x="468000" y="936000"/>
            <a:ext cx="4212013" cy="1904161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可靠数据传输概述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软件工程狮的视角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可创建一个类？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生成两个对象？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定义四个函数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47" name="矩形 46"/>
          <p:cNvSpPr/>
          <p:nvPr/>
        </p:nvSpPr>
        <p:spPr>
          <a:xfrm>
            <a:off x="5352585" y="3357474"/>
            <a:ext cx="947603" cy="2339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packet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8144996" y="3357474"/>
            <a:ext cx="947602" cy="222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packet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358917" y="2341164"/>
            <a:ext cx="707781" cy="215718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149290" y="2355647"/>
            <a:ext cx="707781" cy="206608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485294" y="1493342"/>
            <a:ext cx="5640627" cy="2714158"/>
          </a:xfrm>
          <a:prstGeom prst="rect">
            <a:avLst/>
          </a:prstGeom>
          <a:solidFill>
            <a:schemeClr val="bg1">
              <a:alpha val="86000"/>
            </a:schemeClr>
          </a:solidFill>
          <a:ln w="3175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247" y="1295928"/>
            <a:ext cx="504056" cy="50405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cxnSp>
        <p:nvCxnSpPr>
          <p:cNvPr id="28" name="直接箭头连接符 27"/>
          <p:cNvCxnSpPr/>
          <p:nvPr/>
        </p:nvCxnSpPr>
        <p:spPr>
          <a:xfrm>
            <a:off x="5238608" y="2598264"/>
            <a:ext cx="0" cy="251444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5238608" y="3375912"/>
            <a:ext cx="0" cy="275958"/>
          </a:xfrm>
          <a:prstGeom prst="straightConnector1">
            <a:avLst/>
          </a:prstGeom>
          <a:ln w="25400">
            <a:solidFill>
              <a:srgbClr val="0066C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4260859" y="3148088"/>
            <a:ext cx="1143964" cy="2036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udt_send()</a:t>
            </a:r>
            <a:endParaRPr lang="zh-CN" altLang="en-US" sz="1200" b="1" dirty="0">
              <a:solidFill>
                <a:srgbClr val="0070C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180256" y="2510162"/>
            <a:ext cx="1168151" cy="2228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008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rdt_send()</a:t>
            </a:r>
            <a:endParaRPr lang="zh-CN" altLang="en-US" sz="1200" b="1" dirty="0">
              <a:solidFill>
                <a:srgbClr val="00800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4016373" y="1683692"/>
            <a:ext cx="1495916" cy="4616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被上层调用，将数据传输给接收方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0" name="Text Box 17"/>
          <p:cNvSpPr txBox="1">
            <a:spLocks noChangeArrowheads="1"/>
          </p:cNvSpPr>
          <p:nvPr/>
        </p:nvSpPr>
        <p:spPr bwMode="auto">
          <a:xfrm>
            <a:off x="3972554" y="3766269"/>
            <a:ext cx="1432269" cy="4616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</a:t>
            </a:r>
            <a:r>
              <a:rPr lang="en-US" altLang="zh-CN" sz="1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调用，向下层协议发送分组</a:t>
            </a:r>
            <a:endParaRPr lang="en-US" altLang="zh-CN" sz="15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等腰三角形 60"/>
          <p:cNvSpPr/>
          <p:nvPr/>
        </p:nvSpPr>
        <p:spPr>
          <a:xfrm>
            <a:off x="4139952" y="3447559"/>
            <a:ext cx="1068613" cy="382946"/>
          </a:xfrm>
          <a:prstGeom prst="triangle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等腰三角形 63"/>
          <p:cNvSpPr/>
          <p:nvPr/>
        </p:nvSpPr>
        <p:spPr>
          <a:xfrm rot="10800000">
            <a:off x="4164279" y="2122241"/>
            <a:ext cx="1068613" cy="348633"/>
          </a:xfrm>
          <a:prstGeom prst="triangle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8075504" y="2590491"/>
            <a:ext cx="0" cy="249670"/>
          </a:xfrm>
          <a:prstGeom prst="straightConnector1">
            <a:avLst/>
          </a:prstGeom>
          <a:ln w="25400">
            <a:solidFill>
              <a:srgbClr val="00B05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7220528" y="3161055"/>
            <a:ext cx="947601" cy="18896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008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rdt_rcv()</a:t>
            </a:r>
            <a:endParaRPr lang="zh-CN" altLang="en-US" sz="1200" b="1" dirty="0">
              <a:solidFill>
                <a:srgbClr val="00800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732250" y="2581470"/>
            <a:ext cx="1385316" cy="9909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deliver_data()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8092958" y="3368478"/>
            <a:ext cx="0" cy="283392"/>
          </a:xfrm>
          <a:prstGeom prst="straightConnector1">
            <a:avLst/>
          </a:prstGeom>
          <a:ln w="25400">
            <a:solidFill>
              <a:srgbClr val="0066CC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Box 17"/>
          <p:cNvSpPr txBox="1">
            <a:spLocks noChangeArrowheads="1"/>
          </p:cNvSpPr>
          <p:nvPr/>
        </p:nvSpPr>
        <p:spPr bwMode="auto">
          <a:xfrm>
            <a:off x="6890144" y="3766269"/>
            <a:ext cx="1235642" cy="4616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接收端有分组</a:t>
            </a:r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到达即被调用</a:t>
            </a:r>
            <a:endParaRPr lang="en-US" altLang="zh-CN" sz="15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 Box 22"/>
          <p:cNvSpPr txBox="1">
            <a:spLocks noChangeArrowheads="1"/>
          </p:cNvSpPr>
          <p:nvPr/>
        </p:nvSpPr>
        <p:spPr bwMode="auto">
          <a:xfrm>
            <a:off x="6804248" y="1720309"/>
            <a:ext cx="1495916" cy="4616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rdt 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调用，向上层协议提交数据</a:t>
            </a:r>
            <a:endParaRPr lang="en-US" altLang="zh-CN" sz="15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等腰三角形 10"/>
          <p:cNvSpPr/>
          <p:nvPr/>
        </p:nvSpPr>
        <p:spPr>
          <a:xfrm>
            <a:off x="7071977" y="3447559"/>
            <a:ext cx="871976" cy="382946"/>
          </a:xfrm>
          <a:prstGeom prst="triangle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等腰三角形 62"/>
          <p:cNvSpPr/>
          <p:nvPr/>
        </p:nvSpPr>
        <p:spPr>
          <a:xfrm rot="10800000">
            <a:off x="7036070" y="2146532"/>
            <a:ext cx="871976" cy="348633"/>
          </a:xfrm>
          <a:prstGeom prst="triangle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5868144" y="4268417"/>
            <a:ext cx="1559806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四个函数的作用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707904" y="2818536"/>
            <a:ext cx="756084" cy="30008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51" name="矩形: 圆角 50"/>
          <p:cNvSpPr/>
          <p:nvPr/>
        </p:nvSpPr>
        <p:spPr>
          <a:xfrm>
            <a:off x="4956091" y="2846648"/>
            <a:ext cx="1098122" cy="279623"/>
          </a:xfrm>
          <a:prstGeom prst="roundRect">
            <a:avLst>
              <a:gd name="adj" fmla="val 4059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92D05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发送端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52" name="矩形: 圆角 51"/>
          <p:cNvSpPr/>
          <p:nvPr/>
        </p:nvSpPr>
        <p:spPr>
          <a:xfrm>
            <a:off x="7845814" y="2842089"/>
            <a:ext cx="1098122" cy="279624"/>
          </a:xfrm>
          <a:prstGeom prst="roundRect">
            <a:avLst>
              <a:gd name="adj" fmla="val 432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92D05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接收端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6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8</a:t>
            </a:fld>
            <a:endParaRPr lang="en-US" altLang="zh-CN" dirty="0"/>
          </a:p>
        </p:txBody>
      </p:sp>
      <p:sp>
        <p:nvSpPr>
          <p:cNvPr id="3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0" grpId="0"/>
      <p:bldP spid="61" grpId="0" animBg="1"/>
      <p:bldP spid="64" grpId="0" animBg="1"/>
      <p:bldP spid="45" grpId="0"/>
      <p:bldP spid="58" grpId="0"/>
      <p:bldP spid="11" grpId="0" animBg="1"/>
      <p:bldP spid="63" grpId="0" animBg="1"/>
      <p:bldP spid="33" grpId="0" animBg="1"/>
      <p:bldP spid="3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5184120" cy="381399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过程：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逐渐引入问题：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分组差错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分组丢失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协议逐渐丰富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，版本演进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工具：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有限状态机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(Finite State Machine, </a:t>
            </a:r>
            <a:r>
              <a:rPr lang="en-US" altLang="zh-CN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FSM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分别定义：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发送方和接收方的状态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118163" y="1131590"/>
            <a:ext cx="3527936" cy="1890210"/>
            <a:chOff x="5118163" y="1131590"/>
            <a:chExt cx="3527936" cy="1890210"/>
          </a:xfrm>
        </p:grpSpPr>
        <p:sp>
          <p:nvSpPr>
            <p:cNvPr id="8" name="圆角矩形 7"/>
            <p:cNvSpPr/>
            <p:nvPr/>
          </p:nvSpPr>
          <p:spPr>
            <a:xfrm>
              <a:off x="5118163" y="1131590"/>
              <a:ext cx="3527936" cy="1890210"/>
            </a:xfrm>
            <a:prstGeom prst="roundRect">
              <a:avLst>
                <a:gd name="adj" fmla="val 5453"/>
              </a:avLst>
            </a:prstGeom>
            <a:noFill/>
            <a:ln w="635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5371595" y="1779662"/>
              <a:ext cx="1018897" cy="54006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State 1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7380312" y="1779662"/>
              <a:ext cx="1008951" cy="54006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State 2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6127277" y="1641454"/>
              <a:ext cx="1421477" cy="206177"/>
            </a:xfrm>
            <a:custGeom>
              <a:avLst/>
              <a:gdLst>
                <a:gd name="connsiteX0" fmla="*/ 0 w 1895302"/>
                <a:gd name="connsiteY0" fmla="*/ 216714 h 274903"/>
                <a:gd name="connsiteX1" fmla="*/ 931025 w 1895302"/>
                <a:gd name="connsiteY1" fmla="*/ 583 h 274903"/>
                <a:gd name="connsiteX2" fmla="*/ 1895302 w 1895302"/>
                <a:gd name="connsiteY2" fmla="*/ 274903 h 27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95302" h="274903">
                  <a:moveTo>
                    <a:pt x="0" y="216714"/>
                  </a:moveTo>
                  <a:cubicBezTo>
                    <a:pt x="307570" y="103799"/>
                    <a:pt x="615141" y="-9115"/>
                    <a:pt x="931025" y="583"/>
                  </a:cubicBezTo>
                  <a:cubicBezTo>
                    <a:pt x="1246909" y="10281"/>
                    <a:pt x="1571105" y="142592"/>
                    <a:pt x="1895302" y="274903"/>
                  </a:cubicBezTo>
                </a:path>
              </a:pathLst>
            </a:custGeom>
            <a:noFill/>
            <a:ln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6470345" y="1204301"/>
              <a:ext cx="800219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触发事件</a:t>
              </a:r>
              <a:endPara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6602451" y="1417732"/>
              <a:ext cx="492443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动作</a:t>
              </a:r>
              <a:endPara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6566322" y="1445692"/>
              <a:ext cx="51853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" name="直接箭头连接符 17"/>
            <p:cNvCxnSpPr>
              <a:stCxn id="7" idx="5"/>
            </p:cNvCxnSpPr>
            <p:nvPr/>
          </p:nvCxnSpPr>
          <p:spPr>
            <a:xfrm>
              <a:off x="6241278" y="2240632"/>
              <a:ext cx="853616" cy="479835"/>
            </a:xfrm>
            <a:prstGeom prst="straightConnector1">
              <a:avLst/>
            </a:prstGeom>
            <a:noFill/>
            <a:ln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" name="任意多边形 18"/>
            <p:cNvSpPr/>
            <p:nvPr/>
          </p:nvSpPr>
          <p:spPr>
            <a:xfrm>
              <a:off x="5728266" y="2346394"/>
              <a:ext cx="187037" cy="448887"/>
            </a:xfrm>
            <a:custGeom>
              <a:avLst/>
              <a:gdLst>
                <a:gd name="connsiteX0" fmla="*/ 249382 w 249382"/>
                <a:gd name="connsiteY0" fmla="*/ 598516 h 598516"/>
                <a:gd name="connsiteX1" fmla="*/ 41564 w 249382"/>
                <a:gd name="connsiteY1" fmla="*/ 307571 h 598516"/>
                <a:gd name="connsiteX2" fmla="*/ 0 w 249382"/>
                <a:gd name="connsiteY2" fmla="*/ 0 h 59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9382" h="598516">
                  <a:moveTo>
                    <a:pt x="249382" y="598516"/>
                  </a:moveTo>
                  <a:cubicBezTo>
                    <a:pt x="166255" y="502920"/>
                    <a:pt x="83128" y="407324"/>
                    <a:pt x="41564" y="307571"/>
                  </a:cubicBezTo>
                  <a:cubicBezTo>
                    <a:pt x="0" y="207818"/>
                    <a:pt x="0" y="103909"/>
                    <a:pt x="0" y="0"/>
                  </a:cubicBezTo>
                </a:path>
              </a:pathLst>
            </a:custGeom>
            <a:noFill/>
            <a:ln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13"/>
            <p:cNvSpPr txBox="1">
              <a:spLocks noChangeArrowheads="1"/>
            </p:cNvSpPr>
            <p:nvPr/>
          </p:nvSpPr>
          <p:spPr bwMode="auto">
            <a:xfrm>
              <a:off x="6480481" y="2008797"/>
              <a:ext cx="800219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Trigger</a:t>
              </a:r>
            </a:p>
          </p:txBody>
        </p:sp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>
              <a:off x="6507634" y="2244531"/>
              <a:ext cx="791558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Action</a:t>
              </a:r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>
              <a:off x="6576458" y="2272491"/>
              <a:ext cx="51853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8244407" y="2240632"/>
              <a:ext cx="97361" cy="479835"/>
            </a:xfrm>
            <a:custGeom>
              <a:avLst/>
              <a:gdLst>
                <a:gd name="connsiteX0" fmla="*/ 0 w 151266"/>
                <a:gd name="connsiteY0" fmla="*/ 0 h 590204"/>
                <a:gd name="connsiteX1" fmla="*/ 149629 w 151266"/>
                <a:gd name="connsiteY1" fmla="*/ 290945 h 590204"/>
                <a:gd name="connsiteX2" fmla="*/ 66502 w 151266"/>
                <a:gd name="connsiteY2" fmla="*/ 590204 h 590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1266" h="590204">
                  <a:moveTo>
                    <a:pt x="0" y="0"/>
                  </a:moveTo>
                  <a:cubicBezTo>
                    <a:pt x="69272" y="96289"/>
                    <a:pt x="138545" y="192578"/>
                    <a:pt x="149629" y="290945"/>
                  </a:cubicBezTo>
                  <a:cubicBezTo>
                    <a:pt x="160713" y="389312"/>
                    <a:pt x="113607" y="489758"/>
                    <a:pt x="66502" y="590204"/>
                  </a:cubicBezTo>
                </a:path>
              </a:pathLst>
            </a:custGeom>
            <a:noFill/>
            <a:ln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>
              <a:off x="5281606" y="1481300"/>
              <a:ext cx="336901" cy="320341"/>
            </a:xfrm>
            <a:prstGeom prst="line">
              <a:avLst/>
            </a:prstGeom>
            <a:noFill/>
            <a:ln>
              <a:prstDash val="dash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118163" y="3120664"/>
            <a:ext cx="3527936" cy="1890210"/>
            <a:chOff x="5118163" y="3120664"/>
            <a:chExt cx="3527936" cy="1890210"/>
          </a:xfrm>
        </p:grpSpPr>
        <p:sp>
          <p:nvSpPr>
            <p:cNvPr id="25" name="圆角矩形 7"/>
            <p:cNvSpPr/>
            <p:nvPr/>
          </p:nvSpPr>
          <p:spPr>
            <a:xfrm>
              <a:off x="5118163" y="3120664"/>
              <a:ext cx="3527936" cy="1890210"/>
            </a:xfrm>
            <a:prstGeom prst="roundRect">
              <a:avLst>
                <a:gd name="adj" fmla="val 5453"/>
              </a:avLst>
            </a:prstGeom>
            <a:noFill/>
            <a:ln w="6350">
              <a:solidFill>
                <a:srgbClr val="0066C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290898" y="3768736"/>
              <a:ext cx="1180292" cy="54006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light-off</a:t>
              </a:r>
              <a:endPara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7299193" y="3768736"/>
              <a:ext cx="1171190" cy="54006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light-on</a:t>
              </a:r>
              <a:endPara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任意多边形 12"/>
            <p:cNvSpPr/>
            <p:nvPr/>
          </p:nvSpPr>
          <p:spPr>
            <a:xfrm>
              <a:off x="6127277" y="3630528"/>
              <a:ext cx="1421477" cy="206177"/>
            </a:xfrm>
            <a:custGeom>
              <a:avLst/>
              <a:gdLst>
                <a:gd name="connsiteX0" fmla="*/ 0 w 1895302"/>
                <a:gd name="connsiteY0" fmla="*/ 216714 h 274903"/>
                <a:gd name="connsiteX1" fmla="*/ 931025 w 1895302"/>
                <a:gd name="connsiteY1" fmla="*/ 583 h 274903"/>
                <a:gd name="connsiteX2" fmla="*/ 1895302 w 1895302"/>
                <a:gd name="connsiteY2" fmla="*/ 274903 h 27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95302" h="274903">
                  <a:moveTo>
                    <a:pt x="0" y="216714"/>
                  </a:moveTo>
                  <a:cubicBezTo>
                    <a:pt x="307570" y="103799"/>
                    <a:pt x="615141" y="-9115"/>
                    <a:pt x="931025" y="583"/>
                  </a:cubicBezTo>
                  <a:cubicBezTo>
                    <a:pt x="1246909" y="10281"/>
                    <a:pt x="1571105" y="142592"/>
                    <a:pt x="1895302" y="274903"/>
                  </a:cubicBezTo>
                </a:path>
              </a:pathLst>
            </a:custGeom>
            <a:noFill/>
            <a:ln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6340805" y="3178135"/>
              <a:ext cx="1143583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push(button)</a:t>
              </a:r>
            </a:p>
          </p:txBody>
        </p:sp>
        <p:sp>
          <p:nvSpPr>
            <p:cNvPr id="30" name="Text Box 14"/>
            <p:cNvSpPr txBox="1">
              <a:spLocks noChangeArrowheads="1"/>
            </p:cNvSpPr>
            <p:nvPr/>
          </p:nvSpPr>
          <p:spPr bwMode="auto">
            <a:xfrm>
              <a:off x="6366493" y="3406806"/>
              <a:ext cx="1061509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swtich.open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15"/>
            <p:cNvSpPr>
              <a:spLocks noChangeShapeType="1"/>
            </p:cNvSpPr>
            <p:nvPr/>
          </p:nvSpPr>
          <p:spPr bwMode="auto">
            <a:xfrm>
              <a:off x="6436782" y="3434766"/>
              <a:ext cx="958006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Box 13"/>
            <p:cNvSpPr txBox="1">
              <a:spLocks noChangeArrowheads="1"/>
            </p:cNvSpPr>
            <p:nvPr/>
          </p:nvSpPr>
          <p:spPr bwMode="auto">
            <a:xfrm>
              <a:off x="6300192" y="4442326"/>
              <a:ext cx="1259871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push(button)</a:t>
              </a:r>
            </a:p>
          </p:txBody>
        </p:sp>
        <p:sp>
          <p:nvSpPr>
            <p:cNvPr id="35" name="Text Box 14"/>
            <p:cNvSpPr txBox="1">
              <a:spLocks noChangeArrowheads="1"/>
            </p:cNvSpPr>
            <p:nvPr/>
          </p:nvSpPr>
          <p:spPr bwMode="auto">
            <a:xfrm>
              <a:off x="6327344" y="4678060"/>
              <a:ext cx="1157043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swtich.close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15"/>
            <p:cNvSpPr>
              <a:spLocks noChangeShapeType="1"/>
            </p:cNvSpPr>
            <p:nvPr/>
          </p:nvSpPr>
          <p:spPr bwMode="auto">
            <a:xfrm>
              <a:off x="6396169" y="4706020"/>
              <a:ext cx="972296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10"/>
            <p:cNvSpPr>
              <a:spLocks noChangeShapeType="1"/>
            </p:cNvSpPr>
            <p:nvPr/>
          </p:nvSpPr>
          <p:spPr bwMode="auto">
            <a:xfrm>
              <a:off x="5281606" y="3470374"/>
              <a:ext cx="336901" cy="320341"/>
            </a:xfrm>
            <a:prstGeom prst="line">
              <a:avLst/>
            </a:prstGeom>
            <a:noFill/>
            <a:ln>
              <a:prstDash val="dash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任意多边形 12"/>
            <p:cNvSpPr/>
            <p:nvPr/>
          </p:nvSpPr>
          <p:spPr>
            <a:xfrm rot="10634935">
              <a:off x="6127277" y="4264222"/>
              <a:ext cx="1421477" cy="206177"/>
            </a:xfrm>
            <a:custGeom>
              <a:avLst/>
              <a:gdLst>
                <a:gd name="connsiteX0" fmla="*/ 0 w 1895302"/>
                <a:gd name="connsiteY0" fmla="*/ 216714 h 274903"/>
                <a:gd name="connsiteX1" fmla="*/ 931025 w 1895302"/>
                <a:gd name="connsiteY1" fmla="*/ 583 h 274903"/>
                <a:gd name="connsiteX2" fmla="*/ 1895302 w 1895302"/>
                <a:gd name="connsiteY2" fmla="*/ 274903 h 27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95302" h="274903">
                  <a:moveTo>
                    <a:pt x="0" y="216714"/>
                  </a:moveTo>
                  <a:cubicBezTo>
                    <a:pt x="307570" y="103799"/>
                    <a:pt x="615141" y="-9115"/>
                    <a:pt x="931025" y="583"/>
                  </a:cubicBezTo>
                  <a:cubicBezTo>
                    <a:pt x="1246909" y="10281"/>
                    <a:pt x="1571105" y="142592"/>
                    <a:pt x="1895302" y="274903"/>
                  </a:cubicBezTo>
                </a:path>
              </a:pathLst>
            </a:custGeom>
            <a:noFill/>
            <a:ln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4831" y="4398261"/>
              <a:ext cx="423905" cy="50025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3572" y="4435520"/>
              <a:ext cx="402429" cy="474909"/>
            </a:xfrm>
            <a:prstGeom prst="rect">
              <a:avLst/>
            </a:prstGeom>
          </p:spPr>
        </p:pic>
      </p:grpSp>
      <p:sp>
        <p:nvSpPr>
          <p:cNvPr id="3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9</a:t>
            </a:fld>
            <a:endParaRPr lang="en-US" altLang="zh-CN" dirty="0"/>
          </a:p>
        </p:txBody>
      </p:sp>
      <p:sp>
        <p:nvSpPr>
          <p:cNvPr id="40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4272049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rdt1.0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前提：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下层信道是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可靠的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没有分组差错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没有分组丢失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485281" y="1493342"/>
            <a:ext cx="5640640" cy="2714158"/>
            <a:chOff x="3485281" y="1493342"/>
            <a:chExt cx="5640640" cy="2714158"/>
          </a:xfrm>
        </p:grpSpPr>
        <p:sp>
          <p:nvSpPr>
            <p:cNvPr id="25" name="矩形 24"/>
            <p:cNvSpPr/>
            <p:nvPr/>
          </p:nvSpPr>
          <p:spPr>
            <a:xfrm>
              <a:off x="5076590" y="1635646"/>
              <a:ext cx="1134126" cy="43204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74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发送进程</a:t>
              </a:r>
              <a:endParaRPr lang="en-US" altLang="zh-CN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7159992" y="1635646"/>
              <a:ext cx="1134126" cy="43204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74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接收进程</a:t>
              </a: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3485281" y="2510863"/>
              <a:ext cx="5640628" cy="0"/>
            </a:xfrm>
            <a:prstGeom prst="line">
              <a:avLst/>
            </a:prstGeom>
            <a:ln w="12700">
              <a:solidFill>
                <a:srgbClr val="008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3707904" y="1963241"/>
              <a:ext cx="756084" cy="30008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35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707904" y="2818536"/>
              <a:ext cx="756084" cy="30008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35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cxnSp>
          <p:nvCxnSpPr>
            <p:cNvPr id="30" name="直接箭头连接符 29"/>
            <p:cNvCxnSpPr/>
            <p:nvPr/>
          </p:nvCxnSpPr>
          <p:spPr>
            <a:xfrm>
              <a:off x="5238608" y="2067695"/>
              <a:ext cx="0" cy="391256"/>
            </a:xfrm>
            <a:prstGeom prst="straightConnector1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>
              <a:off x="8075504" y="2067695"/>
              <a:ext cx="0" cy="391256"/>
            </a:xfrm>
            <a:prstGeom prst="straightConnector1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>
              <a:off x="5238608" y="2598264"/>
              <a:ext cx="0" cy="251444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>
              <a:off x="8075504" y="2590491"/>
              <a:ext cx="0" cy="249670"/>
            </a:xfrm>
            <a:prstGeom prst="straightConnector1">
              <a:avLst/>
            </a:prstGeom>
            <a:ln w="25400">
              <a:solidFill>
                <a:srgbClr val="00B050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圆柱形 33"/>
            <p:cNvSpPr/>
            <p:nvPr/>
          </p:nvSpPr>
          <p:spPr>
            <a:xfrm rot="16200000">
              <a:off x="6534132" y="2696132"/>
              <a:ext cx="273515" cy="2331474"/>
            </a:xfrm>
            <a:prstGeom prst="can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0066CC"/>
              </a:solidFill>
            </a:ln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  <a:reflection blurRad="6350" stA="50000" endA="300" endPos="55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可靠传输信道</a:t>
              </a:r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3485281" y="3401938"/>
              <a:ext cx="5640628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5238608" y="3375912"/>
              <a:ext cx="0" cy="503106"/>
            </a:xfrm>
            <a:prstGeom prst="straightConnector1">
              <a:avLst/>
            </a:prstGeom>
            <a:ln w="25400">
              <a:solidFill>
                <a:srgbClr val="0066CC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>
              <a:off x="5239937" y="3871584"/>
              <a:ext cx="270030" cy="0"/>
            </a:xfrm>
            <a:prstGeom prst="straightConnector1">
              <a:avLst/>
            </a:prstGeom>
            <a:ln w="25400">
              <a:solidFill>
                <a:srgbClr val="0066CC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>
              <a:off x="7832668" y="3871584"/>
              <a:ext cx="270030" cy="0"/>
            </a:xfrm>
            <a:prstGeom prst="straightConnector1">
              <a:avLst/>
            </a:prstGeom>
            <a:ln w="25400">
              <a:solidFill>
                <a:srgbClr val="0066CC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/>
            <p:cNvSpPr txBox="1"/>
            <p:nvPr/>
          </p:nvSpPr>
          <p:spPr>
            <a:xfrm>
              <a:off x="3707904" y="3711828"/>
              <a:ext cx="756084" cy="30008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135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5352585" y="3357474"/>
              <a:ext cx="947603" cy="23391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packet</a:t>
              </a:r>
              <a:endPara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8144996" y="3357474"/>
              <a:ext cx="947602" cy="22217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packet</a:t>
              </a:r>
              <a:endPara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5358917" y="2341164"/>
              <a:ext cx="707781" cy="21571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data</a:t>
              </a:r>
              <a:endParaRPr lang="zh-CN" altLang="en-US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8149290" y="2355647"/>
              <a:ext cx="707781" cy="20660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data</a:t>
              </a:r>
              <a:endParaRPr lang="zh-CN" altLang="en-US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矩形: 圆角 43"/>
            <p:cNvSpPr/>
            <p:nvPr/>
          </p:nvSpPr>
          <p:spPr>
            <a:xfrm>
              <a:off x="4956091" y="2846648"/>
              <a:ext cx="1098122" cy="279623"/>
            </a:xfrm>
            <a:prstGeom prst="roundRect">
              <a:avLst>
                <a:gd name="adj" fmla="val 40595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92D05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rdt</a:t>
              </a:r>
              <a:r>
                <a:rPr lang="en-US" altLang="zh-CN" sz="12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zh-CN" altLang="en-US" sz="12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发送端</a:t>
              </a:r>
              <a:r>
                <a:rPr lang="en-US" altLang="zh-CN" sz="12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45" name="矩形: 圆角 44"/>
            <p:cNvSpPr/>
            <p:nvPr/>
          </p:nvSpPr>
          <p:spPr>
            <a:xfrm>
              <a:off x="7845814" y="2842089"/>
              <a:ext cx="1098122" cy="279624"/>
            </a:xfrm>
            <a:prstGeom prst="roundRect">
              <a:avLst>
                <a:gd name="adj" fmla="val 432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92D05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rdt</a:t>
              </a:r>
              <a:r>
                <a:rPr lang="en-US" altLang="zh-CN" sz="12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zh-CN" altLang="en-US" sz="12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接收端</a:t>
              </a:r>
              <a:r>
                <a:rPr lang="en-US" altLang="zh-CN" sz="1200" dirty="0">
                  <a:solidFill>
                    <a:srgbClr val="008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6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4260859" y="3148088"/>
              <a:ext cx="1143964" cy="20368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0070C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udt_send()</a:t>
              </a:r>
              <a:endParaRPr lang="zh-CN" altLang="en-US" sz="1200" b="1" dirty="0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4180256" y="2510162"/>
              <a:ext cx="1168151" cy="22280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008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rdt_send()</a:t>
              </a:r>
              <a:endParaRPr lang="zh-CN" altLang="en-US" sz="1200" b="1" dirty="0">
                <a:solidFill>
                  <a:srgbClr val="008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3485281" y="1493342"/>
              <a:ext cx="5640627" cy="768195"/>
            </a:xfrm>
            <a:prstGeom prst="rect">
              <a:avLst/>
            </a:prstGeom>
            <a:solidFill>
              <a:schemeClr val="bg1">
                <a:lumMod val="9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7220528" y="3161055"/>
              <a:ext cx="947601" cy="18896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008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rdt_rcv()</a:t>
              </a:r>
              <a:endParaRPr lang="zh-CN" altLang="en-US" sz="1200" b="1" dirty="0">
                <a:solidFill>
                  <a:srgbClr val="008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6732250" y="2581470"/>
              <a:ext cx="1385316" cy="9909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deliver_data()</a:t>
              </a:r>
              <a:endParaRPr lang="zh-CN" altLang="en-US" sz="1200" b="1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485294" y="1493342"/>
              <a:ext cx="5640627" cy="2714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" name="直接箭头连接符 53"/>
            <p:cNvCxnSpPr/>
            <p:nvPr/>
          </p:nvCxnSpPr>
          <p:spPr>
            <a:xfrm>
              <a:off x="8092958" y="3368478"/>
              <a:ext cx="0" cy="503106"/>
            </a:xfrm>
            <a:prstGeom prst="straightConnector1">
              <a:avLst/>
            </a:prstGeom>
            <a:ln w="25400">
              <a:solidFill>
                <a:srgbClr val="0066CC"/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文本框 54"/>
          <p:cNvSpPr txBox="1"/>
          <p:nvPr/>
        </p:nvSpPr>
        <p:spPr>
          <a:xfrm>
            <a:off x="5520285" y="4268105"/>
            <a:ext cx="1559806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rdt1.0 </a:t>
            </a:r>
            <a:r>
              <a:rPr lang="zh-CN" altLang="en-US" sz="135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示意图</a:t>
            </a:r>
          </a:p>
        </p:txBody>
      </p:sp>
      <p:sp>
        <p:nvSpPr>
          <p:cNvPr id="4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10</a:t>
            </a:fld>
            <a:endParaRPr lang="en-US" altLang="zh-CN" dirty="0"/>
          </a:p>
        </p:txBody>
      </p:sp>
      <p:sp>
        <p:nvSpPr>
          <p:cNvPr id="5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4272049" cy="2401029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rdt1.0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前提：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下层信道是可靠的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有限状态机：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发送端向底层信道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发送数据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接收端从底层信道读取数据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val 4"/>
          <p:cNvSpPr>
            <a:spLocks noChangeArrowheads="1"/>
          </p:cNvSpPr>
          <p:nvPr/>
        </p:nvSpPr>
        <p:spPr bwMode="auto">
          <a:xfrm>
            <a:off x="1053573" y="3532898"/>
            <a:ext cx="829464" cy="7584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82925" y="3597191"/>
            <a:ext cx="959644" cy="684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Wait for call from above</a:t>
            </a:r>
          </a:p>
        </p:txBody>
      </p:sp>
      <p:sp>
        <p:nvSpPr>
          <p:cNvPr id="10" name="Freeform 6"/>
          <p:cNvSpPr/>
          <p:nvPr/>
        </p:nvSpPr>
        <p:spPr bwMode="auto">
          <a:xfrm>
            <a:off x="1829458" y="3513847"/>
            <a:ext cx="377429" cy="770334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2122287" y="3847501"/>
            <a:ext cx="2380288" cy="4488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packet = </a:t>
            </a:r>
            <a:r>
              <a:rPr lang="en-US" altLang="zh-CN" sz="1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make_pkt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(data)</a:t>
            </a:r>
          </a:p>
          <a:p>
            <a:pPr eaLnBrk="0" hangingPunct="0"/>
            <a:r>
              <a:rPr lang="en-US" altLang="zh-CN" sz="1200" b="1" dirty="0" err="1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udt_send</a:t>
            </a:r>
            <a:r>
              <a:rPr lang="en-US" altLang="zh-CN" sz="1200" b="1" dirty="0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(packet)</a:t>
            </a: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2086433" y="3535235"/>
            <a:ext cx="2001415" cy="32146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b="1" dirty="0" err="1">
                <a:solidFill>
                  <a:srgbClr val="008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rdt_send</a:t>
            </a:r>
            <a:r>
              <a:rPr lang="en-US" altLang="zh-CN" sz="1200" b="1" dirty="0">
                <a:solidFill>
                  <a:srgbClr val="008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(data)</a:t>
            </a:r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2156880" y="3821029"/>
            <a:ext cx="1623031" cy="0"/>
          </a:xfrm>
          <a:prstGeom prst="line">
            <a:avLst/>
          </a:prstGeom>
          <a:noFill/>
          <a:ln w="3175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900000" y="3456000"/>
            <a:ext cx="289322" cy="18216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1520486" y="4381576"/>
            <a:ext cx="933269" cy="36933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sender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4817866" y="2510863"/>
            <a:ext cx="4146610" cy="0"/>
          </a:xfrm>
          <a:prstGeom prst="line">
            <a:avLst/>
          </a:prstGeom>
          <a:ln w="3175">
            <a:solidFill>
              <a:srgbClr val="008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4817866" y="3401938"/>
            <a:ext cx="4146610" cy="0"/>
          </a:xfrm>
          <a:prstGeom prst="line">
            <a:avLst/>
          </a:prstGeom>
          <a:ln w="3175">
            <a:solidFill>
              <a:srgbClr val="0070C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7351396" y="3357474"/>
            <a:ext cx="947603" cy="2339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packet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357728" y="2341164"/>
            <a:ext cx="707781" cy="215718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817866" y="1707654"/>
            <a:ext cx="4146622" cy="2499846"/>
          </a:xfrm>
          <a:prstGeom prst="rect">
            <a:avLst/>
          </a:prstGeom>
          <a:solidFill>
            <a:schemeClr val="bg1">
              <a:alpha val="86000"/>
            </a:schemeClr>
          </a:solidFill>
          <a:ln w="3175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838" y="1489534"/>
            <a:ext cx="504056" cy="50405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cxnSp>
        <p:nvCxnSpPr>
          <p:cNvPr id="33" name="直接箭头连接符 32"/>
          <p:cNvCxnSpPr/>
          <p:nvPr/>
        </p:nvCxnSpPr>
        <p:spPr>
          <a:xfrm>
            <a:off x="7237419" y="2598264"/>
            <a:ext cx="0" cy="251444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7237419" y="3375912"/>
            <a:ext cx="0" cy="275958"/>
          </a:xfrm>
          <a:prstGeom prst="straightConnector1">
            <a:avLst/>
          </a:prstGeom>
          <a:ln w="25400">
            <a:solidFill>
              <a:srgbClr val="0066C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5817551" y="3148089"/>
            <a:ext cx="1723908" cy="1889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udt_send(packet)</a:t>
            </a:r>
            <a:endParaRPr lang="zh-CN" altLang="en-US" sz="1200" b="1" dirty="0">
              <a:solidFill>
                <a:srgbClr val="0070C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851793" y="2494600"/>
            <a:ext cx="1385313" cy="21280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008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rdt_send(data)</a:t>
            </a:r>
            <a:endParaRPr lang="zh-CN" altLang="en-US" sz="1200" b="1" dirty="0">
              <a:solidFill>
                <a:srgbClr val="00800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5935600" y="2124000"/>
            <a:ext cx="1495916" cy="27699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b="1" dirty="0"/>
              <a:t>被上层调用</a:t>
            </a:r>
            <a:endParaRPr lang="en-US" altLang="zh-CN" b="1" dirty="0"/>
          </a:p>
        </p:txBody>
      </p:sp>
      <p:sp>
        <p:nvSpPr>
          <p:cNvPr id="38" name="Text Box 17"/>
          <p:cNvSpPr txBox="1">
            <a:spLocks noChangeArrowheads="1"/>
          </p:cNvSpPr>
          <p:nvPr/>
        </p:nvSpPr>
        <p:spPr bwMode="auto">
          <a:xfrm>
            <a:off x="5985947" y="3456000"/>
            <a:ext cx="1432269" cy="27699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向下发送分组</a:t>
            </a:r>
            <a:endParaRPr lang="en-US" altLang="zh-CN" sz="15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895189" y="2772227"/>
            <a:ext cx="756084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57" name="矩形 56"/>
          <p:cNvSpPr/>
          <p:nvPr/>
        </p:nvSpPr>
        <p:spPr>
          <a:xfrm>
            <a:off x="6242098" y="2836764"/>
            <a:ext cx="2323072" cy="276999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packet = make_pkt(data)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6180546" y="4268105"/>
            <a:ext cx="1559806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rdt1.0 </a:t>
            </a:r>
            <a:r>
              <a:rPr lang="zh-CN" altLang="en-US" sz="135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</a:p>
        </p:txBody>
      </p:sp>
      <p:sp>
        <p:nvSpPr>
          <p:cNvPr id="2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11</a:t>
            </a:fld>
            <a:endParaRPr lang="en-US" altLang="zh-CN" dirty="0"/>
          </a:p>
        </p:txBody>
      </p:sp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/>
      <p:bldP spid="13" grpId="0" animBg="1"/>
      <p:bldP spid="14" grpId="0" animBg="1"/>
      <p:bldP spid="23" grpId="0"/>
      <p:bldP spid="35" grpId="0"/>
      <p:bldP spid="36" grpId="0"/>
      <p:bldP spid="37" grpId="0"/>
      <p:bldP spid="38" grpId="0"/>
      <p:bldP spid="57" grpId="0" animBg="1"/>
      <p:bldP spid="30" grpId="0" animBg="1"/>
      <p:bldP spid="3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4272049" cy="2421470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rdt1.0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前提：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下层信道是可靠的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有限状态机：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发送端向底层信道发送数据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接收端从底层信道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读取数据</a:t>
            </a:r>
            <a:endParaRPr lang="zh-CN" altLang="en-US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00000" y="3456000"/>
            <a:ext cx="3489828" cy="1294507"/>
            <a:chOff x="5081742" y="3366688"/>
            <a:chExt cx="3489828" cy="1294507"/>
          </a:xfrm>
        </p:grpSpPr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6326895" y="3758582"/>
              <a:ext cx="2244675" cy="5155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zh-C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extract(packet, data)</a:t>
              </a:r>
            </a:p>
            <a:p>
              <a:pPr eaLnBrk="0" hangingPunct="0"/>
              <a:r>
                <a:rPr lang="en-US" altLang="zh-CN" sz="1200" b="1" dirty="0" err="1">
                  <a:solidFill>
                    <a:srgbClr val="0070C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deliver_data</a:t>
              </a:r>
              <a:r>
                <a:rPr lang="en-US" altLang="zh-CN" sz="1200" b="1" dirty="0">
                  <a:solidFill>
                    <a:srgbClr val="0070C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(data)</a:t>
              </a:r>
            </a:p>
          </p:txBody>
        </p:sp>
        <p:sp>
          <p:nvSpPr>
            <p:cNvPr id="16" name="Oval 12"/>
            <p:cNvSpPr>
              <a:spLocks noChangeArrowheads="1"/>
            </p:cNvSpPr>
            <p:nvPr/>
          </p:nvSpPr>
          <p:spPr bwMode="auto">
            <a:xfrm>
              <a:off x="5226998" y="3450626"/>
              <a:ext cx="888995" cy="75842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5156349" y="3514920"/>
              <a:ext cx="1019175" cy="684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call from below</a:t>
              </a:r>
            </a:p>
          </p:txBody>
        </p:sp>
        <p:sp>
          <p:nvSpPr>
            <p:cNvPr id="18" name="Freeform 14"/>
            <p:cNvSpPr/>
            <p:nvPr/>
          </p:nvSpPr>
          <p:spPr bwMode="auto">
            <a:xfrm>
              <a:off x="6070750" y="3442292"/>
              <a:ext cx="378619" cy="770334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6314827" y="3481583"/>
              <a:ext cx="1691879" cy="32146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zh-CN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6389836" y="3769238"/>
              <a:ext cx="149980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>
              <a:off x="5081742" y="3366688"/>
              <a:ext cx="289322" cy="182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6138489" y="3481583"/>
              <a:ext cx="1868213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altLang="zh-CN" sz="1200" b="1" dirty="0" err="1">
                  <a:solidFill>
                    <a:srgbClr val="008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rdt_rcv</a:t>
              </a:r>
              <a:r>
                <a:rPr lang="en-US" altLang="zh-CN" sz="1200" b="1" dirty="0">
                  <a:solidFill>
                    <a:srgbClr val="008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(packet)</a:t>
              </a: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5636172" y="4291863"/>
              <a:ext cx="1048749" cy="36933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receiver</a:t>
              </a:r>
            </a:p>
          </p:txBody>
        </p:sp>
      </p:grpSp>
      <p:cxnSp>
        <p:nvCxnSpPr>
          <p:cNvPr id="40" name="直接连接符 39"/>
          <p:cNvCxnSpPr/>
          <p:nvPr/>
        </p:nvCxnSpPr>
        <p:spPr>
          <a:xfrm>
            <a:off x="4817866" y="2510863"/>
            <a:ext cx="4146610" cy="0"/>
          </a:xfrm>
          <a:prstGeom prst="line">
            <a:avLst/>
          </a:prstGeom>
          <a:ln w="3175">
            <a:solidFill>
              <a:srgbClr val="008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7357728" y="2341164"/>
            <a:ext cx="707781" cy="215718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4817866" y="3401938"/>
            <a:ext cx="4146610" cy="0"/>
          </a:xfrm>
          <a:prstGeom prst="line">
            <a:avLst/>
          </a:prstGeom>
          <a:ln w="3175">
            <a:solidFill>
              <a:srgbClr val="0070C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7352898" y="3357474"/>
            <a:ext cx="947602" cy="222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packet</a:t>
            </a: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817866" y="1707654"/>
            <a:ext cx="4146622" cy="2499846"/>
          </a:xfrm>
          <a:prstGeom prst="rect">
            <a:avLst/>
          </a:prstGeom>
          <a:solidFill>
            <a:schemeClr val="bg1">
              <a:alpha val="86000"/>
            </a:schemeClr>
          </a:solidFill>
          <a:ln w="3175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895189" y="2772227"/>
            <a:ext cx="756084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7283406" y="2590491"/>
            <a:ext cx="0" cy="249670"/>
          </a:xfrm>
          <a:prstGeom prst="straightConnector1">
            <a:avLst/>
          </a:prstGeom>
          <a:ln w="25400">
            <a:solidFill>
              <a:srgbClr val="0070C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5651274" y="3161055"/>
            <a:ext cx="1724758" cy="2949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008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rdt_rcv(packet)</a:t>
            </a:r>
            <a:endParaRPr lang="zh-CN" altLang="en-US" sz="1200" b="1" dirty="0">
              <a:solidFill>
                <a:srgbClr val="00800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508104" y="2484052"/>
            <a:ext cx="1817364" cy="196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deliver_data</a:t>
            </a:r>
            <a:r>
              <a:rPr lang="en-US" altLang="zh-CN" sz="1200" b="1" dirty="0">
                <a:solidFill>
                  <a:srgbClr val="0070C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(data)</a:t>
            </a:r>
            <a:endParaRPr lang="zh-CN" altLang="en-US" sz="1200" b="1" dirty="0">
              <a:solidFill>
                <a:srgbClr val="0070C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7300860" y="3368478"/>
            <a:ext cx="0" cy="283392"/>
          </a:xfrm>
          <a:prstGeom prst="straightConnector1">
            <a:avLst/>
          </a:prstGeom>
          <a:ln w="25400">
            <a:solidFill>
              <a:srgbClr val="008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Box 17"/>
          <p:cNvSpPr txBox="1">
            <a:spLocks noChangeArrowheads="1"/>
          </p:cNvSpPr>
          <p:nvPr/>
        </p:nvSpPr>
        <p:spPr bwMode="auto">
          <a:xfrm>
            <a:off x="6065218" y="3456000"/>
            <a:ext cx="1235642" cy="27699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zh-CN" altLang="en-US" sz="1200" b="1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底层数据到达</a:t>
            </a:r>
            <a:endParaRPr lang="en-US" altLang="zh-CN" sz="1500" b="1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Box 22"/>
          <p:cNvSpPr txBox="1">
            <a:spLocks noChangeArrowheads="1"/>
          </p:cNvSpPr>
          <p:nvPr/>
        </p:nvSpPr>
        <p:spPr bwMode="auto">
          <a:xfrm>
            <a:off x="5935081" y="2124000"/>
            <a:ext cx="1495916" cy="27699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向上提交数据</a:t>
            </a:r>
            <a:endParaRPr lang="en-US" altLang="zh-CN" sz="15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838" y="1489534"/>
            <a:ext cx="504056" cy="50405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42" name="矩形 41"/>
          <p:cNvSpPr/>
          <p:nvPr/>
        </p:nvSpPr>
        <p:spPr>
          <a:xfrm>
            <a:off x="6242098" y="2836764"/>
            <a:ext cx="2137124" cy="276999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extract(packet, data)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6180546" y="4268105"/>
            <a:ext cx="1559806" cy="300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5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rdt1.0 </a:t>
            </a:r>
            <a:r>
              <a:rPr lang="zh-CN" altLang="en-US" sz="135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</a:t>
            </a:r>
          </a:p>
        </p:txBody>
      </p:sp>
      <p:sp>
        <p:nvSpPr>
          <p:cNvPr id="30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12</a:t>
            </a:fld>
            <a:endParaRPr lang="en-US" altLang="zh-CN" dirty="0"/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7544" y="935999"/>
            <a:ext cx="7886700" cy="2800631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rdt1.0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前提：底层信道是可靠的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现实：底层信道存在干扰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会带来</a:t>
            </a:r>
            <a:r>
              <a:rPr lang="en-US" altLang="zh-CN" sz="14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4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</a:t>
            </a:r>
            <a:endParaRPr lang="en-US" altLang="zh-CN" sz="14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问题：怎么处理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差错？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差错检验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差错恢复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Group 13"/>
          <p:cNvGrpSpPr/>
          <p:nvPr/>
        </p:nvGrpSpPr>
        <p:grpSpPr bwMode="auto">
          <a:xfrm>
            <a:off x="1403648" y="3724250"/>
            <a:ext cx="6912767" cy="647700"/>
            <a:chOff x="431" y="1797"/>
            <a:chExt cx="4944" cy="544"/>
          </a:xfrm>
        </p:grpSpPr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748" y="1888"/>
              <a:ext cx="4309" cy="3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" name="Oval 5"/>
            <p:cNvSpPr>
              <a:spLocks noChangeArrowheads="1"/>
            </p:cNvSpPr>
            <p:nvPr/>
          </p:nvSpPr>
          <p:spPr bwMode="auto">
            <a:xfrm>
              <a:off x="431" y="1797"/>
              <a:ext cx="545" cy="54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b="1" dirty="0">
                  <a:solidFill>
                    <a:srgbClr val="FF0000"/>
                  </a:solidFill>
                </a:rPr>
                <a:t>Sender</a:t>
              </a:r>
            </a:p>
          </p:txBody>
        </p:sp>
        <p:sp>
          <p:nvSpPr>
            <p:cNvPr id="28" name="Oval 6"/>
            <p:cNvSpPr>
              <a:spLocks noChangeArrowheads="1"/>
            </p:cNvSpPr>
            <p:nvPr/>
          </p:nvSpPr>
          <p:spPr bwMode="auto">
            <a:xfrm>
              <a:off x="4830" y="1797"/>
              <a:ext cx="545" cy="54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b="1" dirty="0">
                  <a:solidFill>
                    <a:srgbClr val="FF0000"/>
                  </a:solidFill>
                </a:rPr>
                <a:t>Receiver</a:t>
              </a:r>
            </a:p>
          </p:txBody>
        </p:sp>
      </p:grp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2382442" y="3886175"/>
            <a:ext cx="97274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350" dirty="0">
                <a:solidFill>
                  <a:srgbClr val="FF0000"/>
                </a:solidFill>
              </a:rPr>
              <a:t>11001100</a:t>
            </a:r>
          </a:p>
        </p:txBody>
      </p:sp>
      <p:pic>
        <p:nvPicPr>
          <p:cNvPr id="30" name="Picture 12" descr="j034575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660032" y="2501478"/>
            <a:ext cx="488156" cy="309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 Box 14"/>
          <p:cNvSpPr txBox="1">
            <a:spLocks noChangeArrowheads="1"/>
          </p:cNvSpPr>
          <p:nvPr/>
        </p:nvSpPr>
        <p:spPr bwMode="auto">
          <a:xfrm>
            <a:off x="6672349" y="3886175"/>
            <a:ext cx="97274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350" dirty="0">
                <a:solidFill>
                  <a:srgbClr val="FF0000"/>
                </a:solidFill>
              </a:rPr>
              <a:t>11001</a:t>
            </a:r>
            <a:r>
              <a:rPr lang="en-US" altLang="zh-CN" sz="1350" dirty="0">
                <a:solidFill>
                  <a:srgbClr val="0000FF"/>
                </a:solidFill>
              </a:rPr>
              <a:t>0</a:t>
            </a:r>
            <a:r>
              <a:rPr lang="en-US" altLang="zh-CN" sz="1350" dirty="0">
                <a:solidFill>
                  <a:srgbClr val="FF0000"/>
                </a:solidFill>
              </a:rPr>
              <a:t>00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643" y="2942119"/>
            <a:ext cx="571429" cy="584127"/>
          </a:xfrm>
          <a:prstGeom prst="rect">
            <a:avLst/>
          </a:prstGeom>
        </p:spPr>
      </p:pic>
      <p:sp>
        <p:nvSpPr>
          <p:cNvPr id="1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13</a:t>
            </a:fld>
            <a:endParaRPr lang="en-US" altLang="zh-CN" dirty="0"/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2.09877E-6 L 0.46909 2.09877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5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29" grpId="2"/>
      <p:bldP spid="31" grpId="0"/>
      <p:bldP spid="13" grpId="0" animBg="1"/>
      <p:bldP spid="13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933656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rdt1.0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：底层的信道是可靠的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rdt2.0</a:t>
            </a:r>
            <a:r>
              <a:rPr lang="zh-CN" altLang="en-US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：着手处理</a:t>
            </a:r>
            <a:r>
              <a:rPr lang="en-US" altLang="zh-CN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</a:t>
            </a:r>
            <a:endParaRPr lang="en-US" altLang="zh-CN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差错？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肯定确认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：接收方告诉发送方数据分组正确到达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否定确认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：接收方告诉发送方数据分组出错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重传：发送方收到否定确认后重传该分组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rdt2.0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的机制：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停止等待协议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(Automatic Repeat reQuest, ARQ)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检测：接收方检测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反馈：接收方发送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确认消息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(ACK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NAK)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给发送方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31056" y="2003658"/>
            <a:ext cx="1297150" cy="33855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checksum()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019652"/>
            <a:ext cx="571429" cy="584127"/>
          </a:xfrm>
          <a:prstGeom prst="rect">
            <a:avLst/>
          </a:prstGeom>
        </p:spPr>
      </p:pic>
      <p:sp>
        <p:nvSpPr>
          <p:cNvPr id="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14</a:t>
            </a:fld>
            <a:endParaRPr lang="en-US" altLang="zh-CN" dirty="0"/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1212670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rdt1.0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：底层的信道是可靠的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rdt2.0</a:t>
            </a:r>
            <a:r>
              <a:rPr lang="zh-CN" altLang="en-US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停止等待协议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ARQ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329817" y="2147400"/>
            <a:ext cx="4155257" cy="2512582"/>
            <a:chOff x="1329817" y="2030323"/>
            <a:chExt cx="4155257" cy="2512582"/>
          </a:xfrm>
        </p:grpSpPr>
        <p:sp>
          <p:nvSpPr>
            <p:cNvPr id="8" name="Oval 3"/>
            <p:cNvSpPr>
              <a:spLocks noChangeArrowheads="1"/>
            </p:cNvSpPr>
            <p:nvPr/>
          </p:nvSpPr>
          <p:spPr bwMode="auto">
            <a:xfrm>
              <a:off x="1590562" y="2842805"/>
              <a:ext cx="739379" cy="72151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1514362" y="2905908"/>
              <a:ext cx="9001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call from above</a:t>
              </a:r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1821544" y="2257732"/>
              <a:ext cx="3261098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zh-CN" sz="1200" b="1" dirty="0">
                  <a:solidFill>
                    <a:srgbClr val="74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sndpkt = make_pkt(data, checksum)</a:t>
              </a:r>
            </a:p>
            <a:p>
              <a:pPr eaLnBrk="0" hangingPunct="0"/>
              <a:r>
                <a:rPr lang="en-US" altLang="zh-CN" sz="1200" b="1" dirty="0">
                  <a:solidFill>
                    <a:srgbClr val="74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udt_send(sndpkt)</a:t>
              </a:r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1900125" y="2291069"/>
              <a:ext cx="74295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 flipV="1">
              <a:off x="1860835" y="2670164"/>
              <a:ext cx="1350169" cy="185738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896554" y="3540511"/>
              <a:ext cx="1350169" cy="185738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1860835" y="3773866"/>
              <a:ext cx="1732359" cy="433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zh-CN" sz="1200" b="1" dirty="0" err="1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rdt_rcv</a:t>
              </a:r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</a:t>
              </a:r>
              <a:r>
                <a:rPr lang="en-US" altLang="zh-CN" sz="1200" b="1" dirty="0" err="1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rcvpkt</a:t>
              </a:r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) &amp;&amp; </a:t>
              </a:r>
              <a:r>
                <a:rPr lang="en-US" altLang="zh-CN" sz="1200" b="1" dirty="0" err="1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isACK</a:t>
              </a:r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</a:t>
              </a:r>
              <a:r>
                <a:rPr lang="en-US" altLang="zh-CN" sz="1200" b="1" dirty="0" err="1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rcvpkt</a:t>
              </a:r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)</a:t>
              </a: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900125" y="4221445"/>
              <a:ext cx="74295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3507469" y="2899955"/>
              <a:ext cx="350044" cy="670322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3739640" y="3135698"/>
              <a:ext cx="1745433" cy="30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zh-CN" sz="1200" b="1" dirty="0">
                  <a:solidFill>
                    <a:srgbClr val="74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udt_send(sndpkt)</a:t>
              </a: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3720592" y="2629683"/>
              <a:ext cx="1764482" cy="473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rdt_rcv(</a:t>
              </a:r>
              <a:r>
                <a:rPr lang="en-US" altLang="zh-CN" sz="1200" b="1" dirty="0" err="1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rcvpkt</a:t>
              </a:r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) &amp;&amp; </a:t>
              </a:r>
              <a:r>
                <a:rPr lang="en-US" altLang="zh-CN" sz="1200" b="1" dirty="0" err="1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isNAK</a:t>
              </a:r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</a:t>
              </a:r>
              <a:r>
                <a:rPr lang="en-US" altLang="zh-CN" sz="1200" b="1" dirty="0" err="1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rcvpkt</a:t>
              </a:r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)</a:t>
              </a: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809887" y="3111810"/>
              <a:ext cx="113596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0" name="Group 22"/>
            <p:cNvGrpSpPr/>
            <p:nvPr/>
          </p:nvGrpSpPr>
          <p:grpSpPr bwMode="auto">
            <a:xfrm>
              <a:off x="2787141" y="2852330"/>
              <a:ext cx="806053" cy="721519"/>
              <a:chOff x="1540" y="2116"/>
              <a:chExt cx="677" cy="606"/>
            </a:xfrm>
          </p:grpSpPr>
          <p:sp>
            <p:nvSpPr>
              <p:cNvPr id="21" name="Oval 23"/>
              <p:cNvSpPr>
                <a:spLocks noChangeArrowheads="1"/>
              </p:cNvSpPr>
              <p:nvPr/>
            </p:nvSpPr>
            <p:spPr bwMode="auto">
              <a:xfrm>
                <a:off x="1565" y="2116"/>
                <a:ext cx="621" cy="60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Text Box 24"/>
              <p:cNvSpPr txBox="1">
                <a:spLocks noChangeArrowheads="1"/>
              </p:cNvSpPr>
              <p:nvPr/>
            </p:nvSpPr>
            <p:spPr bwMode="auto">
              <a:xfrm>
                <a:off x="1540" y="2163"/>
                <a:ext cx="677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eaLnBrk="0" hangingPunct="0"/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Wait for ACK or NAK</a:t>
                </a:r>
              </a:p>
            </p:txBody>
          </p:sp>
        </p:grpSp>
        <p:sp>
          <p:nvSpPr>
            <p:cNvPr id="24" name="Line 33"/>
            <p:cNvSpPr>
              <a:spLocks noChangeShapeType="1"/>
            </p:cNvSpPr>
            <p:nvPr/>
          </p:nvSpPr>
          <p:spPr bwMode="auto">
            <a:xfrm>
              <a:off x="1329817" y="2810659"/>
              <a:ext cx="325040" cy="1833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34"/>
            <p:cNvSpPr txBox="1">
              <a:spLocks noChangeArrowheads="1"/>
            </p:cNvSpPr>
            <p:nvPr/>
          </p:nvSpPr>
          <p:spPr bwMode="auto">
            <a:xfrm>
              <a:off x="1817973" y="2030323"/>
              <a:ext cx="1691878" cy="254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zh-CN" sz="1200" b="1" dirty="0" err="1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rdt_send</a:t>
              </a:r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(data)</a:t>
              </a:r>
            </a:p>
          </p:txBody>
        </p:sp>
        <p:sp>
          <p:nvSpPr>
            <p:cNvPr id="26" name="Text Box 35"/>
            <p:cNvSpPr txBox="1">
              <a:spLocks noChangeArrowheads="1"/>
            </p:cNvSpPr>
            <p:nvPr/>
          </p:nvSpPr>
          <p:spPr bwMode="auto">
            <a:xfrm>
              <a:off x="2213514" y="4265906"/>
              <a:ext cx="200961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altLang="zh-CN" sz="1200" dirty="0">
                  <a:solidFill>
                    <a:srgbClr val="74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^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866209" y="1887513"/>
            <a:ext cx="2214698" cy="2916485"/>
            <a:chOff x="5866209" y="1887513"/>
            <a:chExt cx="2214698" cy="2916485"/>
          </a:xfrm>
        </p:grpSpPr>
        <p:sp>
          <p:nvSpPr>
            <p:cNvPr id="27" name="Text Box 7"/>
            <p:cNvSpPr txBox="1">
              <a:spLocks noChangeArrowheads="1"/>
            </p:cNvSpPr>
            <p:nvPr/>
          </p:nvSpPr>
          <p:spPr bwMode="auto">
            <a:xfrm>
              <a:off x="5882878" y="4193039"/>
              <a:ext cx="2198028" cy="610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zh-CN" sz="1200" b="1" dirty="0">
                  <a:solidFill>
                    <a:srgbClr val="74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extract(</a:t>
              </a:r>
              <a:r>
                <a:rPr lang="en-US" altLang="zh-CN" sz="1200" b="1" dirty="0" err="1">
                  <a:solidFill>
                    <a:srgbClr val="74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rcvpkt</a:t>
              </a:r>
              <a:r>
                <a:rPr lang="en-US" altLang="zh-CN" sz="1200" b="1" dirty="0">
                  <a:solidFill>
                    <a:srgbClr val="74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, data)</a:t>
              </a:r>
            </a:p>
            <a:p>
              <a:pPr eaLnBrk="0" hangingPunct="0"/>
              <a:r>
                <a:rPr lang="en-US" altLang="zh-CN" sz="1200" b="1" dirty="0">
                  <a:solidFill>
                    <a:srgbClr val="74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deliver_data(data)</a:t>
              </a:r>
            </a:p>
            <a:p>
              <a:pPr eaLnBrk="0" hangingPunct="0"/>
              <a:r>
                <a:rPr lang="en-US" altLang="zh-CN" sz="1200" b="1" dirty="0">
                  <a:solidFill>
                    <a:srgbClr val="74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udt_send(ACK)</a:t>
              </a:r>
            </a:p>
          </p:txBody>
        </p:sp>
        <p:sp>
          <p:nvSpPr>
            <p:cNvPr id="28" name="Text Box 8"/>
            <p:cNvSpPr txBox="1">
              <a:spLocks noChangeArrowheads="1"/>
            </p:cNvSpPr>
            <p:nvPr/>
          </p:nvSpPr>
          <p:spPr bwMode="auto">
            <a:xfrm>
              <a:off x="5866209" y="3739650"/>
              <a:ext cx="2214697" cy="526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zh-CN" sz="1200" b="1" dirty="0" err="1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rdt_rcv</a:t>
              </a:r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</a:t>
              </a:r>
              <a:r>
                <a:rPr lang="en-US" altLang="zh-CN" sz="1200" b="1" dirty="0" err="1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rcvpkt</a:t>
              </a:r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) &amp;&amp; </a:t>
              </a:r>
            </a:p>
            <a:p>
              <a:pPr eaLnBrk="0" hangingPunct="0"/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   </a:t>
              </a:r>
              <a:r>
                <a:rPr lang="en-US" altLang="zh-CN" sz="1200" b="1" dirty="0" err="1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notcorrupt</a:t>
              </a:r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</a:t>
              </a:r>
              <a:r>
                <a:rPr lang="en-US" altLang="zh-CN" sz="1200" b="1" dirty="0" err="1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rcvpkt</a:t>
              </a:r>
              <a:r>
                <a:rPr lang="en-US" altLang="zh-CN" sz="1200" b="1" dirty="0">
                  <a:solidFill>
                    <a:srgbClr val="0066FF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)</a:t>
              </a:r>
            </a:p>
          </p:txBody>
        </p:sp>
        <p:sp>
          <p:nvSpPr>
            <p:cNvPr id="29" name="Line 9"/>
            <p:cNvSpPr>
              <a:spLocks noChangeShapeType="1"/>
            </p:cNvSpPr>
            <p:nvPr/>
          </p:nvSpPr>
          <p:spPr bwMode="auto">
            <a:xfrm>
              <a:off x="5957888" y="4181372"/>
              <a:ext cx="111680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0" name="Group 18"/>
            <p:cNvGrpSpPr/>
            <p:nvPr/>
          </p:nvGrpSpPr>
          <p:grpSpPr bwMode="auto">
            <a:xfrm>
              <a:off x="6073377" y="1887513"/>
              <a:ext cx="2007530" cy="644129"/>
              <a:chOff x="2222" y="2660"/>
              <a:chExt cx="1152" cy="541"/>
            </a:xfrm>
          </p:grpSpPr>
          <p:sp>
            <p:nvSpPr>
              <p:cNvPr id="31" name="Text Box 19"/>
              <p:cNvSpPr txBox="1">
                <a:spLocks noChangeArrowheads="1"/>
              </p:cNvSpPr>
              <p:nvPr/>
            </p:nvSpPr>
            <p:spPr bwMode="auto">
              <a:xfrm>
                <a:off x="2222" y="3039"/>
                <a:ext cx="1152" cy="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r>
                  <a:rPr lang="en-US" altLang="zh-CN" sz="1200" b="1" dirty="0">
                    <a:solidFill>
                      <a:srgbClr val="740000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udt_send(NAK)</a:t>
                </a:r>
              </a:p>
            </p:txBody>
          </p:sp>
          <p:sp>
            <p:nvSpPr>
              <p:cNvPr id="32" name="Text Box 20"/>
              <p:cNvSpPr txBox="1">
                <a:spLocks noChangeArrowheads="1"/>
              </p:cNvSpPr>
              <p:nvPr/>
            </p:nvSpPr>
            <p:spPr bwMode="auto">
              <a:xfrm>
                <a:off x="2225" y="2660"/>
                <a:ext cx="1078" cy="3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r>
                  <a:rPr lang="en-US" altLang="zh-CN" sz="1200" b="1" dirty="0">
                    <a:solidFill>
                      <a:srgbClr val="0066FF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rdt_rcv(</a:t>
                </a:r>
                <a:r>
                  <a:rPr lang="en-US" altLang="zh-CN" sz="1200" b="1" dirty="0" err="1">
                    <a:solidFill>
                      <a:srgbClr val="0066FF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rcvpkt</a:t>
                </a:r>
                <a:r>
                  <a:rPr lang="en-US" altLang="zh-CN" sz="1200" b="1" dirty="0">
                    <a:solidFill>
                      <a:srgbClr val="0066FF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)  &amp;&amp; corrupt(</a:t>
                </a:r>
                <a:r>
                  <a:rPr lang="en-US" altLang="zh-CN" sz="1200" b="1" dirty="0" err="1">
                    <a:solidFill>
                      <a:srgbClr val="0066FF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rcvpkt</a:t>
                </a:r>
                <a:r>
                  <a:rPr lang="en-US" altLang="zh-CN" sz="1200" b="1" dirty="0">
                    <a:solidFill>
                      <a:srgbClr val="0066FF"/>
                    </a:solidFill>
                    <a:latin typeface="Courier New" panose="020703090202050204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)</a:t>
                </a:r>
              </a:p>
            </p:txBody>
          </p:sp>
          <p:sp>
            <p:nvSpPr>
              <p:cNvPr id="33" name="Line 21"/>
              <p:cNvSpPr>
                <a:spLocks noChangeShapeType="1"/>
              </p:cNvSpPr>
              <p:nvPr/>
            </p:nvSpPr>
            <p:spPr bwMode="auto">
              <a:xfrm>
                <a:off x="2285" y="3040"/>
                <a:ext cx="62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 b="1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34" name="Line 25"/>
            <p:cNvSpPr>
              <a:spLocks noChangeShapeType="1"/>
            </p:cNvSpPr>
            <p:nvPr/>
          </p:nvSpPr>
          <p:spPr bwMode="auto">
            <a:xfrm>
              <a:off x="5893594" y="2776435"/>
              <a:ext cx="325041" cy="1833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26"/>
            <p:cNvSpPr/>
            <p:nvPr/>
          </p:nvSpPr>
          <p:spPr bwMode="auto">
            <a:xfrm>
              <a:off x="6147197" y="2514497"/>
              <a:ext cx="942975" cy="352425"/>
            </a:xfrm>
            <a:custGeom>
              <a:avLst/>
              <a:gdLst>
                <a:gd name="T0" fmla="*/ 361 w 1500"/>
                <a:gd name="T1" fmla="*/ 671 h 740"/>
                <a:gd name="T2" fmla="*/ 1017 w 1500"/>
                <a:gd name="T3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6" name="Group 27"/>
            <p:cNvGrpSpPr/>
            <p:nvPr/>
          </p:nvGrpSpPr>
          <p:grpSpPr bwMode="auto">
            <a:xfrm>
              <a:off x="6150769" y="2830012"/>
              <a:ext cx="900113" cy="721519"/>
              <a:chOff x="1335" y="3347"/>
              <a:chExt cx="756" cy="606"/>
            </a:xfrm>
          </p:grpSpPr>
          <p:sp>
            <p:nvSpPr>
              <p:cNvPr id="37" name="Oval 28"/>
              <p:cNvSpPr>
                <a:spLocks noChangeArrowheads="1"/>
              </p:cNvSpPr>
              <p:nvPr/>
            </p:nvSpPr>
            <p:spPr bwMode="auto">
              <a:xfrm>
                <a:off x="1390" y="3347"/>
                <a:ext cx="621" cy="60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Text Box 29"/>
              <p:cNvSpPr txBox="1">
                <a:spLocks noChangeArrowheads="1"/>
              </p:cNvSpPr>
              <p:nvPr/>
            </p:nvSpPr>
            <p:spPr bwMode="auto">
              <a:xfrm>
                <a:off x="1335" y="3400"/>
                <a:ext cx="756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eaLnBrk="0" hangingPunct="0"/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Wait for call from below</a:t>
                </a:r>
              </a:p>
            </p:txBody>
          </p:sp>
        </p:grpSp>
        <p:sp>
          <p:nvSpPr>
            <p:cNvPr id="39" name="Freeform 30"/>
            <p:cNvSpPr/>
            <p:nvPr/>
          </p:nvSpPr>
          <p:spPr bwMode="auto">
            <a:xfrm flipV="1">
              <a:off x="6156722" y="3501525"/>
              <a:ext cx="942975" cy="352425"/>
            </a:xfrm>
            <a:custGeom>
              <a:avLst/>
              <a:gdLst>
                <a:gd name="T0" fmla="*/ 361 w 1500"/>
                <a:gd name="T1" fmla="*/ 671 h 740"/>
                <a:gd name="T2" fmla="*/ 1017 w 1500"/>
                <a:gd name="T3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00" h="74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" name="Text Box 31"/>
          <p:cNvSpPr txBox="1">
            <a:spLocks noChangeArrowheads="1"/>
          </p:cNvSpPr>
          <p:nvPr/>
        </p:nvSpPr>
        <p:spPr bwMode="auto">
          <a:xfrm>
            <a:off x="475869" y="2993776"/>
            <a:ext cx="877163" cy="36933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 Box 32"/>
          <p:cNvSpPr txBox="1">
            <a:spLocks noChangeArrowheads="1"/>
          </p:cNvSpPr>
          <p:nvPr/>
        </p:nvSpPr>
        <p:spPr bwMode="auto">
          <a:xfrm>
            <a:off x="7405198" y="3020104"/>
            <a:ext cx="877163" cy="36933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15</a:t>
            </a:fld>
            <a:endParaRPr lang="en-US" altLang="zh-CN" dirty="0"/>
          </a:p>
        </p:txBody>
      </p:sp>
      <p:sp>
        <p:nvSpPr>
          <p:cNvPr id="4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1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1590562" y="2842805"/>
            <a:ext cx="739379" cy="7215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514362" y="2905908"/>
            <a:ext cx="900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Wait for call from above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821544" y="2303452"/>
            <a:ext cx="2932188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sndpkt = make_pkt(data, checksum)</a:t>
            </a:r>
          </a:p>
          <a:p>
            <a:pPr eaLnBrk="0" hangingPunct="0"/>
            <a:r>
              <a:rPr lang="en-US" altLang="zh-CN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udt_send(sndpkt)</a:t>
            </a: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1900125" y="2336789"/>
            <a:ext cx="7429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10"/>
          <p:cNvSpPr/>
          <p:nvPr/>
        </p:nvSpPr>
        <p:spPr bwMode="auto">
          <a:xfrm flipV="1">
            <a:off x="1860835" y="2670164"/>
            <a:ext cx="1350169" cy="185738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11"/>
          <p:cNvSpPr/>
          <p:nvPr/>
        </p:nvSpPr>
        <p:spPr bwMode="auto">
          <a:xfrm>
            <a:off x="1896554" y="3540511"/>
            <a:ext cx="1350169" cy="185738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871551" y="3804829"/>
            <a:ext cx="2661047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rdt_rcv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rcvpkt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&amp;&amp; </a:t>
            </a:r>
            <a:r>
              <a:rPr lang="en-US" altLang="zh-CN" sz="12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isACK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rcvpkt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1947750" y="4047717"/>
            <a:ext cx="7429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14"/>
          <p:cNvSpPr/>
          <p:nvPr/>
        </p:nvSpPr>
        <p:spPr bwMode="auto">
          <a:xfrm>
            <a:off x="3507469" y="2899955"/>
            <a:ext cx="350044" cy="670322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739640" y="3135698"/>
            <a:ext cx="169645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udt_send(sndpkt)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3720592" y="2629683"/>
            <a:ext cx="1564481" cy="473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rdt_rcv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rcvpkt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&amp;&amp;</a:t>
            </a:r>
          </a:p>
          <a:p>
            <a:pPr eaLnBrk="0" hangingPunct="0"/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2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isNAK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rcvpkt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3809888" y="3135698"/>
            <a:ext cx="7429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Group 22"/>
          <p:cNvGrpSpPr/>
          <p:nvPr/>
        </p:nvGrpSpPr>
        <p:grpSpPr bwMode="auto">
          <a:xfrm>
            <a:off x="2787141" y="2852330"/>
            <a:ext cx="806053" cy="721519"/>
            <a:chOff x="1540" y="2116"/>
            <a:chExt cx="677" cy="606"/>
          </a:xfrm>
        </p:grpSpPr>
        <p:sp>
          <p:nvSpPr>
            <p:cNvPr id="21" name="Oval 23"/>
            <p:cNvSpPr>
              <a:spLocks noChangeArrowheads="1"/>
            </p:cNvSpPr>
            <p:nvPr/>
          </p:nvSpPr>
          <p:spPr bwMode="auto"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ACK or NAK</a:t>
              </a:r>
            </a:p>
          </p:txBody>
        </p:sp>
      </p:grpSp>
      <p:sp>
        <p:nvSpPr>
          <p:cNvPr id="24" name="Line 33"/>
          <p:cNvSpPr>
            <a:spLocks noChangeShapeType="1"/>
          </p:cNvSpPr>
          <p:nvPr/>
        </p:nvSpPr>
        <p:spPr bwMode="auto">
          <a:xfrm>
            <a:off x="1329817" y="2810659"/>
            <a:ext cx="325040" cy="183356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34"/>
          <p:cNvSpPr txBox="1">
            <a:spLocks noChangeArrowheads="1"/>
          </p:cNvSpPr>
          <p:nvPr/>
        </p:nvSpPr>
        <p:spPr bwMode="auto">
          <a:xfrm>
            <a:off x="1817973" y="2076042"/>
            <a:ext cx="1691878" cy="321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rdt_send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(data)</a:t>
            </a:r>
          </a:p>
        </p:txBody>
      </p:sp>
      <p:sp>
        <p:nvSpPr>
          <p:cNvPr id="26" name="Text Box 35"/>
          <p:cNvSpPr txBox="1">
            <a:spLocks noChangeArrowheads="1"/>
          </p:cNvSpPr>
          <p:nvPr/>
        </p:nvSpPr>
        <p:spPr bwMode="auto">
          <a:xfrm>
            <a:off x="2154281" y="4025096"/>
            <a:ext cx="26321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5882878" y="3986212"/>
            <a:ext cx="1747199" cy="650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extract(</a:t>
            </a:r>
            <a:r>
              <a:rPr lang="en-US" altLang="zh-CN" sz="1200" dirty="0" err="1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rcvpkt,data</a:t>
            </a:r>
            <a:r>
              <a:rPr lang="en-US" altLang="zh-CN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eaLnBrk="0" hangingPunct="0"/>
            <a:r>
              <a:rPr lang="en-US" altLang="zh-CN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deliver_data(data)</a:t>
            </a:r>
          </a:p>
          <a:p>
            <a:pPr eaLnBrk="0" hangingPunct="0"/>
            <a:r>
              <a:rPr lang="en-US" altLang="zh-CN" sz="1200" dirty="0">
                <a:solidFill>
                  <a:srgbClr val="74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udt_send(ACK)</a:t>
            </a: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5866210" y="3586163"/>
            <a:ext cx="2018158" cy="526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rdt_rcv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rcvpkt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&amp;&amp; </a:t>
            </a:r>
          </a:p>
          <a:p>
            <a:pPr eaLnBrk="0" hangingPunct="0"/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2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notcorrupt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rcvpkt</a:t>
            </a:r>
            <a:r>
              <a:rPr lang="en-US" altLang="zh-CN" sz="12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9" name="Line 9"/>
          <p:cNvSpPr>
            <a:spLocks noChangeShapeType="1"/>
          </p:cNvSpPr>
          <p:nvPr/>
        </p:nvSpPr>
        <p:spPr bwMode="auto">
          <a:xfrm>
            <a:off x="5957888" y="4027885"/>
            <a:ext cx="1116806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Group 18"/>
          <p:cNvGrpSpPr/>
          <p:nvPr/>
        </p:nvGrpSpPr>
        <p:grpSpPr bwMode="auto">
          <a:xfrm>
            <a:off x="6073378" y="1764506"/>
            <a:ext cx="1955006" cy="644129"/>
            <a:chOff x="2222" y="2660"/>
            <a:chExt cx="1212" cy="541"/>
          </a:xfrm>
        </p:grpSpPr>
        <p:sp>
          <p:nvSpPr>
            <p:cNvPr id="31" name="Text Box 19"/>
            <p:cNvSpPr txBox="1">
              <a:spLocks noChangeArrowheads="1"/>
            </p:cNvSpPr>
            <p:nvPr/>
          </p:nvSpPr>
          <p:spPr bwMode="auto">
            <a:xfrm>
              <a:off x="2222" y="3039"/>
              <a:ext cx="1152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zh-CN" sz="1200" dirty="0">
                  <a:solidFill>
                    <a:srgbClr val="74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udt_send(NAK)</a:t>
              </a:r>
            </a:p>
          </p:txBody>
        </p:sp>
        <p:sp>
          <p:nvSpPr>
            <p:cNvPr id="32" name="Text Box 20"/>
            <p:cNvSpPr txBox="1">
              <a:spLocks noChangeArrowheads="1"/>
            </p:cNvSpPr>
            <p:nvPr/>
          </p:nvSpPr>
          <p:spPr bwMode="auto">
            <a:xfrm>
              <a:off x="2225" y="2660"/>
              <a:ext cx="1209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zh-CN" sz="1200" dirty="0" err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rdt_rcv</a:t>
              </a:r>
              <a:r>
                <a:rPr lang="en-US" altLang="zh-CN" sz="12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200" dirty="0" err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rcvpkt</a:t>
              </a:r>
              <a:r>
                <a:rPr lang="en-US" altLang="zh-CN" sz="12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 &amp;&amp; </a:t>
              </a:r>
            </a:p>
            <a:p>
              <a:pPr eaLnBrk="0" hangingPunct="0"/>
              <a:r>
                <a:rPr lang="en-US" altLang="zh-CN" sz="12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corrupt(</a:t>
              </a:r>
              <a:r>
                <a:rPr lang="en-US" altLang="zh-CN" sz="1200" dirty="0" err="1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rcvpkt</a:t>
              </a:r>
              <a:r>
                <a:rPr lang="en-US" altLang="zh-CN" sz="12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33" name="Line 21"/>
            <p:cNvSpPr>
              <a:spLocks noChangeShapeType="1"/>
            </p:cNvSpPr>
            <p:nvPr/>
          </p:nvSpPr>
          <p:spPr bwMode="auto">
            <a:xfrm>
              <a:off x="2285" y="3040"/>
              <a:ext cx="62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Line 25"/>
          <p:cNvSpPr>
            <a:spLocks noChangeShapeType="1"/>
          </p:cNvSpPr>
          <p:nvPr/>
        </p:nvSpPr>
        <p:spPr bwMode="auto">
          <a:xfrm>
            <a:off x="5893594" y="2622948"/>
            <a:ext cx="325041" cy="183356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Freeform 26"/>
          <p:cNvSpPr/>
          <p:nvPr/>
        </p:nvSpPr>
        <p:spPr bwMode="auto">
          <a:xfrm>
            <a:off x="6147197" y="2361010"/>
            <a:ext cx="942975" cy="352425"/>
          </a:xfrm>
          <a:custGeom>
            <a:avLst/>
            <a:gdLst>
              <a:gd name="T0" fmla="*/ 361 w 1500"/>
              <a:gd name="T1" fmla="*/ 671 h 740"/>
              <a:gd name="T2" fmla="*/ 1017 w 1500"/>
              <a:gd name="T3" fmla="*/ 740 h 74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Group 27"/>
          <p:cNvGrpSpPr/>
          <p:nvPr/>
        </p:nvGrpSpPr>
        <p:grpSpPr bwMode="auto">
          <a:xfrm>
            <a:off x="6150769" y="2676525"/>
            <a:ext cx="900113" cy="721519"/>
            <a:chOff x="1335" y="3347"/>
            <a:chExt cx="756" cy="606"/>
          </a:xfrm>
        </p:grpSpPr>
        <p:sp>
          <p:nvSpPr>
            <p:cNvPr id="37" name="Oval 28"/>
            <p:cNvSpPr>
              <a:spLocks noChangeArrowheads="1"/>
            </p:cNvSpPr>
            <p:nvPr/>
          </p:nvSpPr>
          <p:spPr bwMode="auto">
            <a:xfrm>
              <a:off x="1390" y="3347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29"/>
            <p:cNvSpPr txBox="1">
              <a:spLocks noChangeArrowheads="1"/>
            </p:cNvSpPr>
            <p:nvPr/>
          </p:nvSpPr>
          <p:spPr bwMode="auto">
            <a:xfrm>
              <a:off x="1335" y="3400"/>
              <a:ext cx="756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call from below</a:t>
              </a:r>
            </a:p>
          </p:txBody>
        </p:sp>
      </p:grpSp>
      <p:sp>
        <p:nvSpPr>
          <p:cNvPr id="39" name="Freeform 30"/>
          <p:cNvSpPr/>
          <p:nvPr/>
        </p:nvSpPr>
        <p:spPr bwMode="auto">
          <a:xfrm flipV="1">
            <a:off x="6156722" y="3348038"/>
            <a:ext cx="942975" cy="352425"/>
          </a:xfrm>
          <a:custGeom>
            <a:avLst/>
            <a:gdLst>
              <a:gd name="T0" fmla="*/ 361 w 1500"/>
              <a:gd name="T1" fmla="*/ 671 h 740"/>
              <a:gd name="T2" fmla="*/ 1017 w 1500"/>
              <a:gd name="T3" fmla="*/ 740 h 74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val 3"/>
          <p:cNvSpPr>
            <a:spLocks noChangeArrowheads="1"/>
          </p:cNvSpPr>
          <p:nvPr/>
        </p:nvSpPr>
        <p:spPr bwMode="auto">
          <a:xfrm>
            <a:off x="1589665" y="2847203"/>
            <a:ext cx="739379" cy="721519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val 3"/>
          <p:cNvSpPr>
            <a:spLocks noChangeArrowheads="1"/>
          </p:cNvSpPr>
          <p:nvPr/>
        </p:nvSpPr>
        <p:spPr bwMode="auto">
          <a:xfrm>
            <a:off x="2816870" y="2842805"/>
            <a:ext cx="739379" cy="721519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Oval 3"/>
          <p:cNvSpPr>
            <a:spLocks noChangeArrowheads="1"/>
          </p:cNvSpPr>
          <p:nvPr/>
        </p:nvSpPr>
        <p:spPr bwMode="auto">
          <a:xfrm>
            <a:off x="6214248" y="2675501"/>
            <a:ext cx="739379" cy="721519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1817972" y="2139702"/>
            <a:ext cx="0" cy="623331"/>
          </a:xfrm>
          <a:prstGeom prst="line">
            <a:avLst/>
          </a:prstGeom>
          <a:ln w="1270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817973" y="2739629"/>
            <a:ext cx="1187854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3005826" y="2739629"/>
            <a:ext cx="2932192" cy="130587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5910697" y="4035523"/>
            <a:ext cx="1415609" cy="6080"/>
          </a:xfrm>
          <a:prstGeom prst="line">
            <a:avLst/>
          </a:prstGeom>
          <a:ln w="635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7331606" y="3754698"/>
            <a:ext cx="0" cy="818494"/>
          </a:xfrm>
          <a:prstGeom prst="line">
            <a:avLst/>
          </a:prstGeom>
          <a:ln w="1270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 flipV="1">
            <a:off x="4181363" y="4112419"/>
            <a:ext cx="1684847" cy="447203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>
            <a:off x="1947750" y="4115302"/>
            <a:ext cx="2233613" cy="22622"/>
          </a:xfrm>
          <a:prstGeom prst="line">
            <a:avLst/>
          </a:prstGeom>
          <a:ln w="635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5842116" y="4559622"/>
            <a:ext cx="1538196" cy="1"/>
          </a:xfrm>
          <a:prstGeom prst="line">
            <a:avLst/>
          </a:prstGeom>
          <a:ln w="63500">
            <a:solidFill>
              <a:srgbClr val="FF000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内容占位符 2"/>
          <p:cNvSpPr txBox="1"/>
          <p:nvPr/>
        </p:nvSpPr>
        <p:spPr>
          <a:xfrm>
            <a:off x="468000" y="936000"/>
            <a:ext cx="7886700" cy="121267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rdt1.0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：底层的信道是可靠的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rdt2.0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：停止等待协议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(ARQ)</a:t>
            </a:r>
          </a:p>
        </p:txBody>
      </p:sp>
      <p:sp>
        <p:nvSpPr>
          <p:cNvPr id="55" name="Text Box 31"/>
          <p:cNvSpPr txBox="1">
            <a:spLocks noChangeArrowheads="1"/>
          </p:cNvSpPr>
          <p:nvPr/>
        </p:nvSpPr>
        <p:spPr bwMode="auto">
          <a:xfrm>
            <a:off x="475869" y="2993776"/>
            <a:ext cx="877163" cy="36933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 Box 32"/>
          <p:cNvSpPr txBox="1">
            <a:spLocks noChangeArrowheads="1"/>
          </p:cNvSpPr>
          <p:nvPr/>
        </p:nvSpPr>
        <p:spPr bwMode="auto">
          <a:xfrm>
            <a:off x="7405198" y="3020104"/>
            <a:ext cx="877163" cy="36933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16</a:t>
            </a:fld>
            <a:endParaRPr lang="en-US" altLang="zh-CN" dirty="0"/>
          </a:p>
        </p:txBody>
      </p:sp>
      <p:sp>
        <p:nvSpPr>
          <p:cNvPr id="5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5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0"/>
                            </p:stCondLst>
                            <p:childTnLst>
                              <p:par>
                                <p:cTn id="8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41" grpId="0" animBg="1"/>
      <p:bldP spid="41" grpId="1" animBg="1"/>
      <p:bldP spid="41" grpId="2" animBg="1"/>
      <p:bldP spid="42" grpId="0" animBg="1"/>
      <p:bldP spid="42" grpId="1" animBg="1"/>
      <p:bldP spid="53" grpId="0" animBg="1"/>
      <p:bldP spid="5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1590562" y="2842805"/>
            <a:ext cx="739379" cy="7215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514362" y="2905908"/>
            <a:ext cx="900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Wait for call from above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821544" y="2303452"/>
            <a:ext cx="291230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sndpkt = make_pkt(data, checksum)</a:t>
            </a:r>
          </a:p>
          <a:p>
            <a:pPr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udt_send(sndpkt)</a:t>
            </a: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1900125" y="2336789"/>
            <a:ext cx="7429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10"/>
          <p:cNvSpPr/>
          <p:nvPr/>
        </p:nvSpPr>
        <p:spPr bwMode="auto">
          <a:xfrm flipV="1">
            <a:off x="1860835" y="2670164"/>
            <a:ext cx="1350169" cy="185738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11"/>
          <p:cNvSpPr/>
          <p:nvPr/>
        </p:nvSpPr>
        <p:spPr bwMode="auto">
          <a:xfrm>
            <a:off x="1896554" y="3540511"/>
            <a:ext cx="1350169" cy="185738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871551" y="3804829"/>
            <a:ext cx="2661047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rdt_rcv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rcvpkt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&amp;&amp;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isACK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rcvpkt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1947750" y="4047717"/>
            <a:ext cx="7429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14"/>
          <p:cNvSpPr/>
          <p:nvPr/>
        </p:nvSpPr>
        <p:spPr bwMode="auto">
          <a:xfrm>
            <a:off x="3507469" y="2899955"/>
            <a:ext cx="350044" cy="670322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739640" y="3135698"/>
            <a:ext cx="1477679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udt_send(sndpkt)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3720592" y="2629683"/>
            <a:ext cx="1564481" cy="473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rdt_rcv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rcvpkt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&amp;&amp;</a:t>
            </a:r>
          </a:p>
          <a:p>
            <a:pPr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isNAK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rcvpkt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3809888" y="3135698"/>
            <a:ext cx="7429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Group 22"/>
          <p:cNvGrpSpPr/>
          <p:nvPr/>
        </p:nvGrpSpPr>
        <p:grpSpPr bwMode="auto">
          <a:xfrm>
            <a:off x="2787141" y="2852330"/>
            <a:ext cx="806053" cy="721519"/>
            <a:chOff x="1540" y="2116"/>
            <a:chExt cx="677" cy="606"/>
          </a:xfrm>
        </p:grpSpPr>
        <p:sp>
          <p:nvSpPr>
            <p:cNvPr id="21" name="Oval 23"/>
            <p:cNvSpPr>
              <a:spLocks noChangeArrowheads="1"/>
            </p:cNvSpPr>
            <p:nvPr/>
          </p:nvSpPr>
          <p:spPr bwMode="auto"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ACK or NAK</a:t>
              </a:r>
            </a:p>
          </p:txBody>
        </p:sp>
      </p:grpSp>
      <p:sp>
        <p:nvSpPr>
          <p:cNvPr id="24" name="Line 33"/>
          <p:cNvSpPr>
            <a:spLocks noChangeShapeType="1"/>
          </p:cNvSpPr>
          <p:nvPr/>
        </p:nvSpPr>
        <p:spPr bwMode="auto">
          <a:xfrm>
            <a:off x="1329817" y="2810659"/>
            <a:ext cx="325040" cy="183356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34"/>
          <p:cNvSpPr txBox="1">
            <a:spLocks noChangeArrowheads="1"/>
          </p:cNvSpPr>
          <p:nvPr/>
        </p:nvSpPr>
        <p:spPr bwMode="auto">
          <a:xfrm>
            <a:off x="1817973" y="2076042"/>
            <a:ext cx="1691878" cy="321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rdt_send(data)</a:t>
            </a:r>
          </a:p>
        </p:txBody>
      </p:sp>
      <p:sp>
        <p:nvSpPr>
          <p:cNvPr id="26" name="Text Box 35"/>
          <p:cNvSpPr txBox="1">
            <a:spLocks noChangeArrowheads="1"/>
          </p:cNvSpPr>
          <p:nvPr/>
        </p:nvSpPr>
        <p:spPr bwMode="auto">
          <a:xfrm>
            <a:off x="2154281" y="4025096"/>
            <a:ext cx="26321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5882878" y="3986212"/>
            <a:ext cx="1874141" cy="67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extract(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rcvpkt,data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deliver_data(data)</a:t>
            </a:r>
          </a:p>
          <a:p>
            <a:pPr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udt_send(ACK)</a:t>
            </a: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5866210" y="3586163"/>
            <a:ext cx="1874142" cy="526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rdt_rcv(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rcvpkt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&amp;&amp; </a:t>
            </a:r>
          </a:p>
          <a:p>
            <a:pPr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notcorrupt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rcvpkt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9" name="Line 9"/>
          <p:cNvSpPr>
            <a:spLocks noChangeShapeType="1"/>
          </p:cNvSpPr>
          <p:nvPr/>
        </p:nvSpPr>
        <p:spPr bwMode="auto">
          <a:xfrm>
            <a:off x="5957888" y="4027885"/>
            <a:ext cx="1116806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Group 18"/>
          <p:cNvGrpSpPr/>
          <p:nvPr/>
        </p:nvGrpSpPr>
        <p:grpSpPr bwMode="auto">
          <a:xfrm>
            <a:off x="5975746" y="1764506"/>
            <a:ext cx="1549006" cy="644129"/>
            <a:chOff x="2140" y="2660"/>
            <a:chExt cx="1301" cy="541"/>
          </a:xfrm>
        </p:grpSpPr>
        <p:sp>
          <p:nvSpPr>
            <p:cNvPr id="31" name="Text Box 19"/>
            <p:cNvSpPr txBox="1">
              <a:spLocks noChangeArrowheads="1"/>
            </p:cNvSpPr>
            <p:nvPr/>
          </p:nvSpPr>
          <p:spPr bwMode="auto">
            <a:xfrm>
              <a:off x="2222" y="3039"/>
              <a:ext cx="1152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udt_send(NAK)</a:t>
              </a:r>
            </a:p>
          </p:txBody>
        </p:sp>
        <p:sp>
          <p:nvSpPr>
            <p:cNvPr id="32" name="Text Box 20"/>
            <p:cNvSpPr txBox="1">
              <a:spLocks noChangeArrowheads="1"/>
            </p:cNvSpPr>
            <p:nvPr/>
          </p:nvSpPr>
          <p:spPr bwMode="auto">
            <a:xfrm>
              <a:off x="2140" y="2660"/>
              <a:ext cx="1301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rdt_rcv(</a:t>
              </a:r>
              <a:r>
                <a:rPr lang="en-US" altLang="zh-CN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rcvpkt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 &amp;&amp; </a:t>
              </a:r>
            </a:p>
            <a:p>
              <a:pPr eaLnBrk="0" hangingPunct="0"/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corrupt(</a:t>
              </a:r>
              <a:r>
                <a:rPr lang="en-US" altLang="zh-CN" sz="12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rcvpkt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33" name="Line 21"/>
            <p:cNvSpPr>
              <a:spLocks noChangeShapeType="1"/>
            </p:cNvSpPr>
            <p:nvPr/>
          </p:nvSpPr>
          <p:spPr bwMode="auto">
            <a:xfrm>
              <a:off x="2285" y="3040"/>
              <a:ext cx="62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Line 25"/>
          <p:cNvSpPr>
            <a:spLocks noChangeShapeType="1"/>
          </p:cNvSpPr>
          <p:nvPr/>
        </p:nvSpPr>
        <p:spPr bwMode="auto">
          <a:xfrm>
            <a:off x="5893594" y="2622948"/>
            <a:ext cx="325041" cy="183356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Freeform 26"/>
          <p:cNvSpPr/>
          <p:nvPr/>
        </p:nvSpPr>
        <p:spPr bwMode="auto">
          <a:xfrm>
            <a:off x="6147197" y="2361010"/>
            <a:ext cx="942975" cy="352425"/>
          </a:xfrm>
          <a:custGeom>
            <a:avLst/>
            <a:gdLst>
              <a:gd name="T0" fmla="*/ 361 w 1500"/>
              <a:gd name="T1" fmla="*/ 671 h 740"/>
              <a:gd name="T2" fmla="*/ 1017 w 1500"/>
              <a:gd name="T3" fmla="*/ 740 h 74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Group 27"/>
          <p:cNvGrpSpPr/>
          <p:nvPr/>
        </p:nvGrpSpPr>
        <p:grpSpPr bwMode="auto">
          <a:xfrm>
            <a:off x="6150769" y="2676525"/>
            <a:ext cx="900113" cy="721519"/>
            <a:chOff x="1335" y="3347"/>
            <a:chExt cx="756" cy="606"/>
          </a:xfrm>
        </p:grpSpPr>
        <p:sp>
          <p:nvSpPr>
            <p:cNvPr id="37" name="Oval 28"/>
            <p:cNvSpPr>
              <a:spLocks noChangeArrowheads="1"/>
            </p:cNvSpPr>
            <p:nvPr/>
          </p:nvSpPr>
          <p:spPr bwMode="auto">
            <a:xfrm>
              <a:off x="1390" y="3347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29"/>
            <p:cNvSpPr txBox="1">
              <a:spLocks noChangeArrowheads="1"/>
            </p:cNvSpPr>
            <p:nvPr/>
          </p:nvSpPr>
          <p:spPr bwMode="auto">
            <a:xfrm>
              <a:off x="1335" y="3400"/>
              <a:ext cx="756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call from below</a:t>
              </a:r>
            </a:p>
          </p:txBody>
        </p:sp>
      </p:grpSp>
      <p:sp>
        <p:nvSpPr>
          <p:cNvPr id="39" name="Freeform 30"/>
          <p:cNvSpPr/>
          <p:nvPr/>
        </p:nvSpPr>
        <p:spPr bwMode="auto">
          <a:xfrm flipV="1">
            <a:off x="6156722" y="3348038"/>
            <a:ext cx="942975" cy="352425"/>
          </a:xfrm>
          <a:custGeom>
            <a:avLst/>
            <a:gdLst>
              <a:gd name="T0" fmla="*/ 361 w 1500"/>
              <a:gd name="T1" fmla="*/ 671 h 740"/>
              <a:gd name="T2" fmla="*/ 1017 w 1500"/>
              <a:gd name="T3" fmla="*/ 740 h 74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val 3"/>
          <p:cNvSpPr>
            <a:spLocks noChangeArrowheads="1"/>
          </p:cNvSpPr>
          <p:nvPr/>
        </p:nvSpPr>
        <p:spPr bwMode="auto">
          <a:xfrm>
            <a:off x="1589665" y="2847203"/>
            <a:ext cx="739379" cy="721519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val 3"/>
          <p:cNvSpPr>
            <a:spLocks noChangeArrowheads="1"/>
          </p:cNvSpPr>
          <p:nvPr/>
        </p:nvSpPr>
        <p:spPr bwMode="auto">
          <a:xfrm>
            <a:off x="2816870" y="2842805"/>
            <a:ext cx="739379" cy="721519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Oval 3"/>
          <p:cNvSpPr>
            <a:spLocks noChangeArrowheads="1"/>
          </p:cNvSpPr>
          <p:nvPr/>
        </p:nvSpPr>
        <p:spPr bwMode="auto">
          <a:xfrm>
            <a:off x="6214248" y="2675501"/>
            <a:ext cx="739379" cy="721519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1817972" y="2139702"/>
            <a:ext cx="0" cy="623331"/>
          </a:xfrm>
          <a:prstGeom prst="line">
            <a:avLst/>
          </a:prstGeom>
          <a:ln w="1270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1817973" y="2739629"/>
            <a:ext cx="1187854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endCxn id="33" idx="0"/>
          </p:cNvCxnSpPr>
          <p:nvPr/>
        </p:nvCxnSpPr>
        <p:spPr>
          <a:xfrm flipV="1">
            <a:off x="3005827" y="2216944"/>
            <a:ext cx="3142562" cy="52268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5910697" y="4035523"/>
            <a:ext cx="1415609" cy="6080"/>
          </a:xfrm>
          <a:prstGeom prst="line">
            <a:avLst/>
          </a:prstGeom>
          <a:ln w="635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7331606" y="3754698"/>
            <a:ext cx="0" cy="818494"/>
          </a:xfrm>
          <a:prstGeom prst="line">
            <a:avLst/>
          </a:prstGeom>
          <a:ln w="1270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 flipV="1">
            <a:off x="4181363" y="4112419"/>
            <a:ext cx="1684847" cy="447203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>
            <a:off x="1947750" y="4115302"/>
            <a:ext cx="2233613" cy="22622"/>
          </a:xfrm>
          <a:prstGeom prst="line">
            <a:avLst/>
          </a:prstGeom>
          <a:ln w="635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5842116" y="4559622"/>
            <a:ext cx="1538196" cy="1"/>
          </a:xfrm>
          <a:prstGeom prst="line">
            <a:avLst/>
          </a:prstGeom>
          <a:ln w="63500">
            <a:solidFill>
              <a:srgbClr val="FF000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7331606" y="1811190"/>
            <a:ext cx="0" cy="818494"/>
          </a:xfrm>
          <a:prstGeom prst="line">
            <a:avLst/>
          </a:prstGeom>
          <a:ln w="1270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33" idx="0"/>
          </p:cNvCxnSpPr>
          <p:nvPr/>
        </p:nvCxnSpPr>
        <p:spPr>
          <a:xfrm>
            <a:off x="6148387" y="2216944"/>
            <a:ext cx="1177919" cy="4231"/>
          </a:xfrm>
          <a:prstGeom prst="line">
            <a:avLst/>
          </a:prstGeom>
          <a:ln w="635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4976107" y="2448616"/>
            <a:ext cx="1180616" cy="690344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6148387" y="2454411"/>
            <a:ext cx="1177919" cy="4231"/>
          </a:xfrm>
          <a:prstGeom prst="line">
            <a:avLst/>
          </a:prstGeom>
          <a:ln w="63500">
            <a:solidFill>
              <a:srgbClr val="FF000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3798187" y="3140481"/>
            <a:ext cx="1177919" cy="4231"/>
          </a:xfrm>
          <a:prstGeom prst="line">
            <a:avLst/>
          </a:prstGeom>
          <a:ln w="63500">
            <a:solidFill>
              <a:srgbClr val="FF0000"/>
            </a:solidFill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3752111" y="2770803"/>
            <a:ext cx="0" cy="657391"/>
          </a:xfrm>
          <a:prstGeom prst="line">
            <a:avLst/>
          </a:prstGeom>
          <a:ln w="1270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3798187" y="3408492"/>
            <a:ext cx="1177919" cy="4231"/>
          </a:xfrm>
          <a:prstGeom prst="line">
            <a:avLst/>
          </a:prstGeom>
          <a:ln w="63500">
            <a:solidFill>
              <a:srgbClr val="FF000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 flipV="1">
            <a:off x="4978803" y="3402741"/>
            <a:ext cx="940784" cy="638862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内容占位符 2"/>
          <p:cNvSpPr txBox="1"/>
          <p:nvPr/>
        </p:nvSpPr>
        <p:spPr>
          <a:xfrm>
            <a:off x="468000" y="936000"/>
            <a:ext cx="4320020" cy="121267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rdt1.0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：底层的信道是可靠的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rdt2.0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：停止等待协议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(ARQ)</a:t>
            </a:r>
          </a:p>
        </p:txBody>
      </p:sp>
      <p:sp>
        <p:nvSpPr>
          <p:cNvPr id="69" name="Text Box 31"/>
          <p:cNvSpPr txBox="1">
            <a:spLocks noChangeArrowheads="1"/>
          </p:cNvSpPr>
          <p:nvPr/>
        </p:nvSpPr>
        <p:spPr bwMode="auto">
          <a:xfrm>
            <a:off x="475869" y="2993776"/>
            <a:ext cx="877163" cy="36933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 Box 32"/>
          <p:cNvSpPr txBox="1">
            <a:spLocks noChangeArrowheads="1"/>
          </p:cNvSpPr>
          <p:nvPr/>
        </p:nvSpPr>
        <p:spPr bwMode="auto">
          <a:xfrm>
            <a:off x="7405198" y="3020104"/>
            <a:ext cx="877163" cy="36933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17</a:t>
            </a:fld>
            <a:endParaRPr lang="en-US" altLang="zh-CN" dirty="0"/>
          </a:p>
        </p:txBody>
      </p:sp>
      <p:sp>
        <p:nvSpPr>
          <p:cNvPr id="6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500"/>
                            </p:stCondLst>
                            <p:childTnLst>
                              <p:par>
                                <p:cTn id="120" presetID="5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000"/>
                            </p:stCondLst>
                            <p:childTnLst>
                              <p:par>
                                <p:cTn id="12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500"/>
                            </p:stCondLst>
                            <p:childTnLst>
                              <p:par>
                                <p:cTn id="13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41" grpId="0" animBg="1"/>
      <p:bldP spid="41" grpId="1" animBg="1"/>
      <p:bldP spid="41" grpId="2" animBg="1"/>
      <p:bldP spid="42" grpId="0" animBg="1"/>
      <p:bldP spid="42" grpId="1" animBg="1"/>
      <p:bldP spid="68" grpId="0" animBg="1"/>
      <p:bldP spid="68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67" name="Line 57"/>
          <p:cNvSpPr>
            <a:spLocks noChangeShapeType="1"/>
          </p:cNvSpPr>
          <p:nvPr/>
        </p:nvSpPr>
        <p:spPr bwMode="auto">
          <a:xfrm>
            <a:off x="1332979" y="2427733"/>
            <a:ext cx="0" cy="235249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Line 58"/>
          <p:cNvSpPr>
            <a:spLocks noChangeShapeType="1"/>
          </p:cNvSpPr>
          <p:nvPr/>
        </p:nvSpPr>
        <p:spPr bwMode="auto">
          <a:xfrm>
            <a:off x="3384426" y="2427733"/>
            <a:ext cx="0" cy="2352496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Line 61"/>
          <p:cNvSpPr>
            <a:spLocks noChangeShapeType="1"/>
          </p:cNvSpPr>
          <p:nvPr/>
        </p:nvSpPr>
        <p:spPr bwMode="auto">
          <a:xfrm>
            <a:off x="1332979" y="2679501"/>
            <a:ext cx="2051447" cy="485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Line 62"/>
          <p:cNvSpPr>
            <a:spLocks noChangeShapeType="1"/>
          </p:cNvSpPr>
          <p:nvPr/>
        </p:nvSpPr>
        <p:spPr bwMode="auto">
          <a:xfrm flipH="1">
            <a:off x="1332979" y="3173611"/>
            <a:ext cx="2051447" cy="5941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Rectangle 63"/>
          <p:cNvSpPr>
            <a:spLocks noChangeArrowheads="1"/>
          </p:cNvSpPr>
          <p:nvPr/>
        </p:nvSpPr>
        <p:spPr bwMode="auto">
          <a:xfrm>
            <a:off x="899592" y="2302074"/>
            <a:ext cx="648890" cy="21669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72" name="Rectangle 64"/>
          <p:cNvSpPr>
            <a:spLocks noChangeArrowheads="1"/>
          </p:cNvSpPr>
          <p:nvPr/>
        </p:nvSpPr>
        <p:spPr bwMode="auto">
          <a:xfrm>
            <a:off x="3168923" y="2302074"/>
            <a:ext cx="648890" cy="21669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73" name="Rectangle 66"/>
          <p:cNvSpPr>
            <a:spLocks noChangeArrowheads="1"/>
          </p:cNvSpPr>
          <p:nvPr/>
        </p:nvSpPr>
        <p:spPr bwMode="auto">
          <a:xfrm>
            <a:off x="1063898" y="2572345"/>
            <a:ext cx="648890" cy="2166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pkt</a:t>
            </a:r>
            <a:endParaRPr lang="en-US" altLang="zh-CN" sz="1350" baseline="-25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Rectangle 68"/>
          <p:cNvSpPr>
            <a:spLocks noChangeArrowheads="1"/>
          </p:cNvSpPr>
          <p:nvPr/>
        </p:nvSpPr>
        <p:spPr bwMode="auto">
          <a:xfrm>
            <a:off x="1981869" y="3381970"/>
            <a:ext cx="648891" cy="216694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</a:t>
            </a:r>
          </a:p>
        </p:txBody>
      </p:sp>
      <p:sp>
        <p:nvSpPr>
          <p:cNvPr id="86" name="Rectangle 79"/>
          <p:cNvSpPr>
            <a:spLocks noChangeArrowheads="1"/>
          </p:cNvSpPr>
          <p:nvPr/>
        </p:nvSpPr>
        <p:spPr bwMode="auto">
          <a:xfrm>
            <a:off x="1927101" y="4461960"/>
            <a:ext cx="1027845" cy="30008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scenario 1</a:t>
            </a:r>
          </a:p>
        </p:txBody>
      </p:sp>
      <p:sp>
        <p:nvSpPr>
          <p:cNvPr id="89" name="Rectangle 66"/>
          <p:cNvSpPr>
            <a:spLocks noChangeArrowheads="1"/>
          </p:cNvSpPr>
          <p:nvPr/>
        </p:nvSpPr>
        <p:spPr bwMode="auto">
          <a:xfrm>
            <a:off x="3394433" y="3052101"/>
            <a:ext cx="648890" cy="2166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pkt</a:t>
            </a:r>
            <a:endParaRPr lang="en-US" altLang="zh-CN" sz="135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内容占位符 2"/>
          <p:cNvSpPr txBox="1"/>
          <p:nvPr/>
        </p:nvSpPr>
        <p:spPr>
          <a:xfrm>
            <a:off x="468000" y="936000"/>
            <a:ext cx="7886700" cy="121267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rdt1.0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：底层的信道是可靠的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rdt2.0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：停止等待协议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(ARQ)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5076056" y="2302074"/>
            <a:ext cx="3240360" cy="2478155"/>
            <a:chOff x="5076056" y="2302074"/>
            <a:chExt cx="3240360" cy="2478155"/>
          </a:xfrm>
        </p:grpSpPr>
        <p:sp>
          <p:nvSpPr>
            <p:cNvPr id="75" name="Line 69"/>
            <p:cNvSpPr>
              <a:spLocks noChangeShapeType="1"/>
            </p:cNvSpPr>
            <p:nvPr/>
          </p:nvSpPr>
          <p:spPr bwMode="auto">
            <a:xfrm>
              <a:off x="5509444" y="2355725"/>
              <a:ext cx="0" cy="24245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Line 70"/>
            <p:cNvSpPr>
              <a:spLocks noChangeShapeType="1"/>
            </p:cNvSpPr>
            <p:nvPr/>
          </p:nvSpPr>
          <p:spPr bwMode="auto">
            <a:xfrm>
              <a:off x="7560891" y="2355725"/>
              <a:ext cx="0" cy="2424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Line 71"/>
            <p:cNvSpPr>
              <a:spLocks noChangeShapeType="1"/>
            </p:cNvSpPr>
            <p:nvPr/>
          </p:nvSpPr>
          <p:spPr bwMode="auto">
            <a:xfrm>
              <a:off x="5509444" y="2679501"/>
              <a:ext cx="2051447" cy="485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72"/>
            <p:cNvSpPr>
              <a:spLocks noChangeShapeType="1"/>
            </p:cNvSpPr>
            <p:nvPr/>
          </p:nvSpPr>
          <p:spPr bwMode="auto">
            <a:xfrm flipH="1">
              <a:off x="5509444" y="3173611"/>
              <a:ext cx="2051447" cy="594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73"/>
            <p:cNvSpPr>
              <a:spLocks noChangeArrowheads="1"/>
            </p:cNvSpPr>
            <p:nvPr/>
          </p:nvSpPr>
          <p:spPr bwMode="auto">
            <a:xfrm>
              <a:off x="5076056" y="2302074"/>
              <a:ext cx="648891" cy="216694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80" name="Rectangle 74"/>
            <p:cNvSpPr>
              <a:spLocks noChangeArrowheads="1"/>
            </p:cNvSpPr>
            <p:nvPr/>
          </p:nvSpPr>
          <p:spPr bwMode="auto">
            <a:xfrm>
              <a:off x="7345388" y="2302074"/>
              <a:ext cx="648891" cy="216694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82" name="Rectangle 75"/>
            <p:cNvSpPr>
              <a:spLocks noChangeArrowheads="1"/>
            </p:cNvSpPr>
            <p:nvPr/>
          </p:nvSpPr>
          <p:spPr bwMode="auto">
            <a:xfrm>
              <a:off x="5239173" y="2572345"/>
              <a:ext cx="648890" cy="21669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endParaRPr lang="en-US" altLang="zh-CN" sz="1350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Rectangle 76"/>
            <p:cNvSpPr>
              <a:spLocks noChangeArrowheads="1"/>
            </p:cNvSpPr>
            <p:nvPr/>
          </p:nvSpPr>
          <p:spPr bwMode="auto">
            <a:xfrm>
              <a:off x="6157144" y="3381970"/>
              <a:ext cx="648891" cy="21669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nak</a:t>
              </a:r>
            </a:p>
          </p:txBody>
        </p:sp>
        <p:sp>
          <p:nvSpPr>
            <p:cNvPr id="84" name="Line 77"/>
            <p:cNvSpPr>
              <a:spLocks noChangeShapeType="1"/>
            </p:cNvSpPr>
            <p:nvPr/>
          </p:nvSpPr>
          <p:spPr bwMode="auto">
            <a:xfrm>
              <a:off x="5509444" y="3995142"/>
              <a:ext cx="2051447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Rectangle 78"/>
            <p:cNvSpPr>
              <a:spLocks noChangeArrowheads="1"/>
            </p:cNvSpPr>
            <p:nvPr/>
          </p:nvSpPr>
          <p:spPr bwMode="auto">
            <a:xfrm>
              <a:off x="5239173" y="3778449"/>
              <a:ext cx="648890" cy="21669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endParaRPr lang="en-US" altLang="zh-CN" sz="1350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Rectangle 80"/>
            <p:cNvSpPr>
              <a:spLocks noChangeArrowheads="1"/>
            </p:cNvSpPr>
            <p:nvPr/>
          </p:nvSpPr>
          <p:spPr bwMode="auto">
            <a:xfrm>
              <a:off x="5995219" y="4461960"/>
              <a:ext cx="1027845" cy="30008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scenario 2</a:t>
              </a:r>
            </a:p>
          </p:txBody>
        </p:sp>
        <p:sp>
          <p:nvSpPr>
            <p:cNvPr id="88" name="Rectangle 32"/>
            <p:cNvSpPr>
              <a:spLocks noChangeArrowheads="1"/>
            </p:cNvSpPr>
            <p:nvPr/>
          </p:nvSpPr>
          <p:spPr bwMode="auto">
            <a:xfrm>
              <a:off x="7560890" y="3088946"/>
              <a:ext cx="648889" cy="21669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9245" y="3143077"/>
              <a:ext cx="217171" cy="22076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738" y="3065402"/>
            <a:ext cx="267354" cy="2610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18</a:t>
            </a:fld>
            <a:endParaRPr lang="en-US" altLang="zh-CN" dirty="0"/>
          </a:p>
        </p:txBody>
      </p:sp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69" grpId="0" animBg="1"/>
      <p:bldP spid="70" grpId="0" animBg="1"/>
      <p:bldP spid="71" grpId="0"/>
      <p:bldP spid="72" grpId="0"/>
      <p:bldP spid="73" grpId="0" animBg="1"/>
      <p:bldP spid="74" grpId="0" animBg="1"/>
      <p:bldP spid="86" grpId="0"/>
      <p:bldP spid="89" grpId="0" animBg="1"/>
      <p:bldP spid="30" grpId="0" animBg="1"/>
      <p:bldP spid="30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27" name="内容占位符 2"/>
          <p:cNvSpPr txBox="1"/>
          <p:nvPr/>
        </p:nvSpPr>
        <p:spPr>
          <a:xfrm>
            <a:off x="468000" y="936000"/>
            <a:ext cx="5420062" cy="408402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rdt1.0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：底层的信道是可靠的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rdt2.0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：停止等待协议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(ARQ)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当接收方的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ACK/NAK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信息出错了怎么办？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发送方不知道接收方发生了什么情况</a:t>
            </a: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重传吗？</a:t>
            </a: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可能会导致接收方：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数据重复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问题的关键是什么？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识别重复的数据分组！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接收方怎么识别重复分组呢？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32"/>
          <p:cNvSpPr>
            <a:spLocks noChangeArrowheads="1"/>
          </p:cNvSpPr>
          <p:nvPr/>
        </p:nvSpPr>
        <p:spPr bwMode="auto">
          <a:xfrm>
            <a:off x="7823642" y="3405254"/>
            <a:ext cx="130886" cy="750672"/>
          </a:xfrm>
          <a:prstGeom prst="upDownArrow">
            <a:avLst>
              <a:gd name="adj1" fmla="val 50000"/>
              <a:gd name="adj2" fmla="val 12945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wrap="none" anchor="ctr"/>
          <a:lstStyle/>
          <a:p>
            <a:endParaRPr lang="zh-CN" altLang="en-US" sz="135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10" y="2338261"/>
            <a:ext cx="571429" cy="584127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3411015"/>
            <a:ext cx="571429" cy="584127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076056" y="2302074"/>
            <a:ext cx="3210558" cy="2478155"/>
            <a:chOff x="5076056" y="2302074"/>
            <a:chExt cx="3210558" cy="2478155"/>
          </a:xfrm>
        </p:grpSpPr>
        <p:sp>
          <p:nvSpPr>
            <p:cNvPr id="75" name="Line 69"/>
            <p:cNvSpPr>
              <a:spLocks noChangeShapeType="1"/>
            </p:cNvSpPr>
            <p:nvPr/>
          </p:nvSpPr>
          <p:spPr bwMode="auto">
            <a:xfrm>
              <a:off x="5509444" y="2355725"/>
              <a:ext cx="0" cy="24245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Line 70"/>
            <p:cNvSpPr>
              <a:spLocks noChangeShapeType="1"/>
            </p:cNvSpPr>
            <p:nvPr/>
          </p:nvSpPr>
          <p:spPr bwMode="auto">
            <a:xfrm>
              <a:off x="7560891" y="2355725"/>
              <a:ext cx="0" cy="2424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Line 71"/>
            <p:cNvSpPr>
              <a:spLocks noChangeShapeType="1"/>
            </p:cNvSpPr>
            <p:nvPr/>
          </p:nvSpPr>
          <p:spPr bwMode="auto">
            <a:xfrm>
              <a:off x="5509444" y="2679501"/>
              <a:ext cx="2051447" cy="485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72"/>
            <p:cNvSpPr>
              <a:spLocks noChangeShapeType="1"/>
            </p:cNvSpPr>
            <p:nvPr/>
          </p:nvSpPr>
          <p:spPr bwMode="auto">
            <a:xfrm flipH="1">
              <a:off x="5509444" y="3173611"/>
              <a:ext cx="2051447" cy="594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73"/>
            <p:cNvSpPr>
              <a:spLocks noChangeArrowheads="1"/>
            </p:cNvSpPr>
            <p:nvPr/>
          </p:nvSpPr>
          <p:spPr bwMode="auto">
            <a:xfrm>
              <a:off x="5076056" y="2302074"/>
              <a:ext cx="648891" cy="216694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80" name="Rectangle 74"/>
            <p:cNvSpPr>
              <a:spLocks noChangeArrowheads="1"/>
            </p:cNvSpPr>
            <p:nvPr/>
          </p:nvSpPr>
          <p:spPr bwMode="auto">
            <a:xfrm>
              <a:off x="7345388" y="2302074"/>
              <a:ext cx="648891" cy="216694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82" name="Rectangle 75"/>
            <p:cNvSpPr>
              <a:spLocks noChangeArrowheads="1"/>
            </p:cNvSpPr>
            <p:nvPr/>
          </p:nvSpPr>
          <p:spPr bwMode="auto">
            <a:xfrm>
              <a:off x="5239173" y="2572345"/>
              <a:ext cx="648890" cy="21669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endParaRPr lang="en-US" altLang="zh-CN" sz="1350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Rectangle 76"/>
            <p:cNvSpPr>
              <a:spLocks noChangeArrowheads="1"/>
            </p:cNvSpPr>
            <p:nvPr/>
          </p:nvSpPr>
          <p:spPr bwMode="auto">
            <a:xfrm>
              <a:off x="6157144" y="3381970"/>
              <a:ext cx="648891" cy="21669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35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ank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77"/>
            <p:cNvSpPr>
              <a:spLocks noChangeShapeType="1"/>
            </p:cNvSpPr>
            <p:nvPr/>
          </p:nvSpPr>
          <p:spPr bwMode="auto">
            <a:xfrm>
              <a:off x="5509444" y="3995142"/>
              <a:ext cx="2051447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Rectangle 78"/>
            <p:cNvSpPr>
              <a:spLocks noChangeArrowheads="1"/>
            </p:cNvSpPr>
            <p:nvPr/>
          </p:nvSpPr>
          <p:spPr bwMode="auto">
            <a:xfrm>
              <a:off x="5239173" y="3778449"/>
              <a:ext cx="648890" cy="21669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sz="135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endParaRPr lang="en-US" altLang="zh-CN" sz="1350" baseline="-25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Rectangle 80"/>
            <p:cNvSpPr>
              <a:spLocks noChangeArrowheads="1"/>
            </p:cNvSpPr>
            <p:nvPr/>
          </p:nvSpPr>
          <p:spPr bwMode="auto">
            <a:xfrm>
              <a:off x="5995219" y="4461960"/>
              <a:ext cx="1027845" cy="30008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scenario 3</a:t>
              </a:r>
            </a:p>
          </p:txBody>
        </p:sp>
        <p:sp>
          <p:nvSpPr>
            <p:cNvPr id="88" name="Rectangle 32"/>
            <p:cNvSpPr>
              <a:spLocks noChangeArrowheads="1"/>
            </p:cNvSpPr>
            <p:nvPr/>
          </p:nvSpPr>
          <p:spPr bwMode="auto">
            <a:xfrm>
              <a:off x="7560890" y="3088945"/>
              <a:ext cx="611505" cy="2370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</a:p>
          </p:txBody>
        </p:sp>
        <p:sp>
          <p:nvSpPr>
            <p:cNvPr id="28" name="Rectangle 32"/>
            <p:cNvSpPr>
              <a:spLocks noChangeArrowheads="1"/>
            </p:cNvSpPr>
            <p:nvPr/>
          </p:nvSpPr>
          <p:spPr bwMode="auto">
            <a:xfrm>
              <a:off x="7560890" y="4257578"/>
              <a:ext cx="611505" cy="2370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</a:p>
          </p:txBody>
        </p: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19260" y="3104544"/>
              <a:ext cx="267354" cy="26108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19260" y="4245565"/>
              <a:ext cx="267354" cy="26108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0195" y="3462291"/>
              <a:ext cx="217171" cy="22076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19</a:t>
            </a:fld>
            <a:endParaRPr lang="en-US" altLang="zh-CN" dirty="0"/>
          </a:p>
        </p:txBody>
      </p:sp>
      <p:sp>
        <p:nvSpPr>
          <p:cNvPr id="2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5" grpId="0" animBg="1"/>
      <p:bldP spid="2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rdt1.0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：底层的信道是可靠的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rdt2.0</a:t>
            </a:r>
            <a:r>
              <a:rPr lang="zh-CN" altLang="en-US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：停止等待协议</a:t>
            </a:r>
            <a:r>
              <a:rPr lang="en-US" altLang="zh-CN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(ARQ)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问题：接收方如何识别重复分组？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为数据分组进行编号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接收方丢弃重复分组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重传肯定确认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(ACK)</a:t>
            </a:r>
          </a:p>
        </p:txBody>
      </p:sp>
      <p:sp>
        <p:nvSpPr>
          <p:cNvPr id="28" name="Line 14"/>
          <p:cNvSpPr>
            <a:spLocks noChangeShapeType="1"/>
          </p:cNvSpPr>
          <p:nvPr/>
        </p:nvSpPr>
        <p:spPr bwMode="auto">
          <a:xfrm>
            <a:off x="5382816" y="2355354"/>
            <a:ext cx="0" cy="2355746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Line 15"/>
          <p:cNvSpPr>
            <a:spLocks noChangeShapeType="1"/>
          </p:cNvSpPr>
          <p:nvPr/>
        </p:nvSpPr>
        <p:spPr bwMode="auto">
          <a:xfrm>
            <a:off x="7434262" y="2355354"/>
            <a:ext cx="0" cy="2370431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Line 16"/>
          <p:cNvSpPr>
            <a:spLocks noChangeShapeType="1"/>
          </p:cNvSpPr>
          <p:nvPr/>
        </p:nvSpPr>
        <p:spPr bwMode="auto">
          <a:xfrm>
            <a:off x="5381626" y="2625626"/>
            <a:ext cx="2051447" cy="27100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Line 17"/>
          <p:cNvSpPr>
            <a:spLocks noChangeShapeType="1"/>
          </p:cNvSpPr>
          <p:nvPr/>
        </p:nvSpPr>
        <p:spPr bwMode="auto">
          <a:xfrm flipH="1">
            <a:off x="5412581" y="3119735"/>
            <a:ext cx="2021682" cy="3167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ectangle 18"/>
          <p:cNvSpPr>
            <a:spLocks noChangeArrowheads="1"/>
          </p:cNvSpPr>
          <p:nvPr/>
        </p:nvSpPr>
        <p:spPr bwMode="auto">
          <a:xfrm>
            <a:off x="4949429" y="2248197"/>
            <a:ext cx="648890" cy="21669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3" name="Rectangle 19"/>
          <p:cNvSpPr>
            <a:spLocks noChangeArrowheads="1"/>
          </p:cNvSpPr>
          <p:nvPr/>
        </p:nvSpPr>
        <p:spPr bwMode="auto">
          <a:xfrm>
            <a:off x="7218760" y="2248197"/>
            <a:ext cx="648890" cy="21669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5112544" y="2517279"/>
            <a:ext cx="648891" cy="2166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pkt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3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35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21"/>
          <p:cNvSpPr>
            <a:spLocks noChangeArrowheads="1"/>
          </p:cNvSpPr>
          <p:nvPr/>
        </p:nvSpPr>
        <p:spPr bwMode="auto">
          <a:xfrm>
            <a:off x="6030517" y="3180355"/>
            <a:ext cx="648890" cy="216694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ank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29"/>
          <p:cNvSpPr>
            <a:spLocks noChangeShapeType="1"/>
          </p:cNvSpPr>
          <p:nvPr/>
        </p:nvSpPr>
        <p:spPr bwMode="auto">
          <a:xfrm>
            <a:off x="5412581" y="3687664"/>
            <a:ext cx="2020492" cy="26806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30"/>
          <p:cNvSpPr>
            <a:spLocks noChangeArrowheads="1"/>
          </p:cNvSpPr>
          <p:nvPr/>
        </p:nvSpPr>
        <p:spPr bwMode="auto">
          <a:xfrm>
            <a:off x="7272243" y="3980211"/>
            <a:ext cx="648891" cy="2166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pkt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3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35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ectangle 31"/>
          <p:cNvSpPr>
            <a:spLocks noChangeArrowheads="1"/>
          </p:cNvSpPr>
          <p:nvPr/>
        </p:nvSpPr>
        <p:spPr bwMode="auto">
          <a:xfrm>
            <a:off x="7271742" y="2916364"/>
            <a:ext cx="648891" cy="2166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pkt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3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35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Rectangle 27"/>
          <p:cNvSpPr>
            <a:spLocks noChangeArrowheads="1"/>
          </p:cNvSpPr>
          <p:nvPr/>
        </p:nvSpPr>
        <p:spPr bwMode="auto">
          <a:xfrm>
            <a:off x="5112544" y="3455313"/>
            <a:ext cx="648891" cy="2166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pkt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3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35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AutoShape 32"/>
          <p:cNvSpPr>
            <a:spLocks noChangeArrowheads="1"/>
          </p:cNvSpPr>
          <p:nvPr/>
        </p:nvSpPr>
        <p:spPr bwMode="auto">
          <a:xfrm>
            <a:off x="7596188" y="3206435"/>
            <a:ext cx="108347" cy="701278"/>
          </a:xfrm>
          <a:prstGeom prst="upDownArrow">
            <a:avLst>
              <a:gd name="adj1" fmla="val 50000"/>
              <a:gd name="adj2" fmla="val 12945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50000"/>
              </a:schemeClr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eaVert"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ectangle 22"/>
          <p:cNvSpPr>
            <a:spLocks noChangeArrowheads="1"/>
          </p:cNvSpPr>
          <p:nvPr/>
        </p:nvSpPr>
        <p:spPr bwMode="auto">
          <a:xfrm>
            <a:off x="5952986" y="4823556"/>
            <a:ext cx="1027845" cy="30008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scenario 3</a:t>
            </a:r>
          </a:p>
        </p:txBody>
      </p:sp>
      <p:sp>
        <p:nvSpPr>
          <p:cNvPr id="23" name="Line 17"/>
          <p:cNvSpPr>
            <a:spLocks noChangeShapeType="1"/>
          </p:cNvSpPr>
          <p:nvPr/>
        </p:nvSpPr>
        <p:spPr bwMode="auto">
          <a:xfrm flipH="1">
            <a:off x="5412581" y="4197895"/>
            <a:ext cx="2021682" cy="3167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6030517" y="4258515"/>
            <a:ext cx="648890" cy="216694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</a:t>
            </a:r>
          </a:p>
        </p:txBody>
      </p:sp>
      <p:sp>
        <p:nvSpPr>
          <p:cNvPr id="26" name="Rectangle 27"/>
          <p:cNvSpPr>
            <a:spLocks noChangeArrowheads="1"/>
          </p:cNvSpPr>
          <p:nvPr/>
        </p:nvSpPr>
        <p:spPr bwMode="auto">
          <a:xfrm>
            <a:off x="5112544" y="4533799"/>
            <a:ext cx="648891" cy="216694"/>
          </a:xfrm>
          <a:prstGeom prst="rect">
            <a:avLst/>
          </a:prstGeom>
          <a:solidFill>
            <a:srgbClr val="97D2FF"/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pkt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(i+1)</a:t>
            </a:r>
            <a:endParaRPr lang="en-US" altLang="zh-CN" sz="135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5761435" y="4711100"/>
            <a:ext cx="1671638" cy="85196"/>
          </a:xfrm>
          <a:prstGeom prst="line">
            <a:avLst/>
          </a:prstGeom>
          <a:noFill/>
          <a:ln w="9525">
            <a:solidFill>
              <a:srgbClr val="0070C0"/>
            </a:solidFill>
            <a:prstDash val="lgDash"/>
            <a:rou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51" y="2041499"/>
            <a:ext cx="571429" cy="584127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198" y="3267872"/>
            <a:ext cx="217171" cy="2207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198" y="4271139"/>
            <a:ext cx="267354" cy="2610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20</a:t>
            </a:fld>
            <a:endParaRPr lang="en-US" altLang="zh-CN" dirty="0"/>
          </a:p>
        </p:txBody>
      </p:sp>
      <p:sp>
        <p:nvSpPr>
          <p:cNvPr id="4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4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8" grpId="0" animBg="1"/>
      <p:bldP spid="39" grpId="0" animBg="1"/>
      <p:bldP spid="39" grpId="1" animBg="1"/>
      <p:bldP spid="40" grpId="0" animBg="1"/>
      <p:bldP spid="41" grpId="0" animBg="1"/>
      <p:bldP spid="42" grpId="0" animBg="1"/>
      <p:bldP spid="43" grpId="0"/>
      <p:bldP spid="23" grpId="0" animBg="1"/>
      <p:bldP spid="24" grpId="0" animBg="1"/>
      <p:bldP spid="26" grpId="0" animBg="1"/>
      <p:bldP spid="27" grpId="0" animBg="1"/>
      <p:bldP spid="45" grpId="0" animBg="1"/>
      <p:bldP spid="45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rdt2.0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：停止等待协议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(ARQ)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rdt2.1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：处理“混淆的确认”</a:t>
            </a: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分组编号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43608" y="2193615"/>
            <a:ext cx="2322989" cy="2603387"/>
            <a:chOff x="178538" y="2924820"/>
            <a:chExt cx="3097318" cy="34711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7" name="Rectangle 10"/>
            <p:cNvSpPr>
              <a:spLocks noChangeArrowheads="1"/>
            </p:cNvSpPr>
            <p:nvPr/>
          </p:nvSpPr>
          <p:spPr bwMode="auto">
            <a:xfrm>
              <a:off x="2410669" y="2924820"/>
              <a:ext cx="865187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36" name="Line 5"/>
            <p:cNvSpPr>
              <a:spLocks noChangeShapeType="1"/>
            </p:cNvSpPr>
            <p:nvPr/>
          </p:nvSpPr>
          <p:spPr bwMode="auto">
            <a:xfrm>
              <a:off x="755701" y="3213745"/>
              <a:ext cx="0" cy="3095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6"/>
            <p:cNvSpPr>
              <a:spLocks noChangeShapeType="1"/>
            </p:cNvSpPr>
            <p:nvPr/>
          </p:nvSpPr>
          <p:spPr bwMode="auto">
            <a:xfrm>
              <a:off x="2845537" y="3213745"/>
              <a:ext cx="0" cy="3095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7"/>
            <p:cNvSpPr>
              <a:spLocks noChangeShapeType="1"/>
            </p:cNvSpPr>
            <p:nvPr/>
          </p:nvSpPr>
          <p:spPr bwMode="auto">
            <a:xfrm>
              <a:off x="764325" y="3428057"/>
              <a:ext cx="2081212" cy="433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8"/>
            <p:cNvSpPr>
              <a:spLocks noChangeShapeType="1"/>
            </p:cNvSpPr>
            <p:nvPr/>
          </p:nvSpPr>
          <p:spPr bwMode="auto">
            <a:xfrm flipH="1">
              <a:off x="764324" y="3895725"/>
              <a:ext cx="2081213" cy="4299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Rectangle 9"/>
            <p:cNvSpPr>
              <a:spLocks noChangeArrowheads="1"/>
            </p:cNvSpPr>
            <p:nvPr/>
          </p:nvSpPr>
          <p:spPr bwMode="auto">
            <a:xfrm>
              <a:off x="331730" y="2924820"/>
              <a:ext cx="865187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48" name="Rectangle 12"/>
            <p:cNvSpPr>
              <a:spLocks noChangeArrowheads="1"/>
            </p:cNvSpPr>
            <p:nvPr/>
          </p:nvSpPr>
          <p:spPr bwMode="auto">
            <a:xfrm>
              <a:off x="1377229" y="3988122"/>
              <a:ext cx="684877" cy="28892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25"/>
            <p:cNvSpPr>
              <a:spLocks noChangeShapeType="1"/>
            </p:cNvSpPr>
            <p:nvPr/>
          </p:nvSpPr>
          <p:spPr bwMode="auto">
            <a:xfrm>
              <a:off x="763706" y="4418037"/>
              <a:ext cx="2081831" cy="3650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Rectangle 26"/>
            <p:cNvSpPr>
              <a:spLocks noChangeArrowheads="1"/>
            </p:cNvSpPr>
            <p:nvPr/>
          </p:nvSpPr>
          <p:spPr bwMode="auto">
            <a:xfrm>
              <a:off x="178538" y="4351282"/>
              <a:ext cx="586408" cy="288925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62" name="Line 27"/>
            <p:cNvSpPr>
              <a:spLocks noChangeShapeType="1"/>
            </p:cNvSpPr>
            <p:nvPr/>
          </p:nvSpPr>
          <p:spPr bwMode="auto">
            <a:xfrm flipH="1">
              <a:off x="757974" y="4801771"/>
              <a:ext cx="2085289" cy="568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Rectangle 28"/>
            <p:cNvSpPr>
              <a:spLocks noChangeArrowheads="1"/>
            </p:cNvSpPr>
            <p:nvPr/>
          </p:nvSpPr>
          <p:spPr bwMode="auto">
            <a:xfrm>
              <a:off x="1377228" y="4940151"/>
              <a:ext cx="684877" cy="28892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30"/>
            <p:cNvSpPr>
              <a:spLocks noChangeShapeType="1"/>
            </p:cNvSpPr>
            <p:nvPr/>
          </p:nvSpPr>
          <p:spPr bwMode="auto">
            <a:xfrm>
              <a:off x="764325" y="5430687"/>
              <a:ext cx="2078938" cy="394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Rectangle 29"/>
            <p:cNvSpPr>
              <a:spLocks noChangeArrowheads="1"/>
            </p:cNvSpPr>
            <p:nvPr/>
          </p:nvSpPr>
          <p:spPr bwMode="auto">
            <a:xfrm>
              <a:off x="178538" y="5257301"/>
              <a:ext cx="586408" cy="288925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67" name="Rectangle 32"/>
            <p:cNvSpPr>
              <a:spLocks noChangeArrowheads="1"/>
            </p:cNvSpPr>
            <p:nvPr/>
          </p:nvSpPr>
          <p:spPr bwMode="auto">
            <a:xfrm>
              <a:off x="178538" y="3428057"/>
              <a:ext cx="586408" cy="2889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100" name="Rectangle 22"/>
            <p:cNvSpPr>
              <a:spLocks noChangeArrowheads="1"/>
            </p:cNvSpPr>
            <p:nvPr/>
          </p:nvSpPr>
          <p:spPr bwMode="auto">
            <a:xfrm>
              <a:off x="1176088" y="5995893"/>
              <a:ext cx="1370460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scenario 1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540642" y="2193615"/>
            <a:ext cx="2322989" cy="2603387"/>
            <a:chOff x="3196856" y="2924820"/>
            <a:chExt cx="3097318" cy="34711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Line 5"/>
            <p:cNvSpPr>
              <a:spLocks noChangeShapeType="1"/>
            </p:cNvSpPr>
            <p:nvPr/>
          </p:nvSpPr>
          <p:spPr bwMode="auto">
            <a:xfrm>
              <a:off x="3774019" y="3213745"/>
              <a:ext cx="0" cy="3095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6"/>
            <p:cNvSpPr>
              <a:spLocks noChangeShapeType="1"/>
            </p:cNvSpPr>
            <p:nvPr/>
          </p:nvSpPr>
          <p:spPr bwMode="auto">
            <a:xfrm>
              <a:off x="5863855" y="3213745"/>
              <a:ext cx="0" cy="3095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7"/>
            <p:cNvSpPr>
              <a:spLocks noChangeShapeType="1"/>
            </p:cNvSpPr>
            <p:nvPr/>
          </p:nvSpPr>
          <p:spPr bwMode="auto">
            <a:xfrm>
              <a:off x="3782643" y="3428057"/>
              <a:ext cx="2081212" cy="433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8"/>
            <p:cNvSpPr>
              <a:spLocks noChangeShapeType="1"/>
            </p:cNvSpPr>
            <p:nvPr/>
          </p:nvSpPr>
          <p:spPr bwMode="auto">
            <a:xfrm flipH="1">
              <a:off x="3782642" y="3895725"/>
              <a:ext cx="2081213" cy="4299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Rectangle 9"/>
            <p:cNvSpPr>
              <a:spLocks noChangeArrowheads="1"/>
            </p:cNvSpPr>
            <p:nvPr/>
          </p:nvSpPr>
          <p:spPr bwMode="auto">
            <a:xfrm>
              <a:off x="3350048" y="2924820"/>
              <a:ext cx="865187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74" name="Rectangle 10"/>
            <p:cNvSpPr>
              <a:spLocks noChangeArrowheads="1"/>
            </p:cNvSpPr>
            <p:nvPr/>
          </p:nvSpPr>
          <p:spPr bwMode="auto">
            <a:xfrm>
              <a:off x="5428987" y="2924820"/>
              <a:ext cx="865187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75" name="Rectangle 12"/>
            <p:cNvSpPr>
              <a:spLocks noChangeArrowheads="1"/>
            </p:cNvSpPr>
            <p:nvPr/>
          </p:nvSpPr>
          <p:spPr bwMode="auto">
            <a:xfrm>
              <a:off x="4395547" y="3988122"/>
              <a:ext cx="684877" cy="28892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nak</a:t>
              </a:r>
            </a:p>
          </p:txBody>
        </p:sp>
        <p:sp>
          <p:nvSpPr>
            <p:cNvPr id="76" name="Line 25"/>
            <p:cNvSpPr>
              <a:spLocks noChangeShapeType="1"/>
            </p:cNvSpPr>
            <p:nvPr/>
          </p:nvSpPr>
          <p:spPr bwMode="auto">
            <a:xfrm>
              <a:off x="3782024" y="4418037"/>
              <a:ext cx="2081831" cy="3650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27"/>
            <p:cNvSpPr>
              <a:spLocks noChangeShapeType="1"/>
            </p:cNvSpPr>
            <p:nvPr/>
          </p:nvSpPr>
          <p:spPr bwMode="auto">
            <a:xfrm flipH="1">
              <a:off x="3776292" y="4801771"/>
              <a:ext cx="2085289" cy="568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Rectangle 28"/>
            <p:cNvSpPr>
              <a:spLocks noChangeArrowheads="1"/>
            </p:cNvSpPr>
            <p:nvPr/>
          </p:nvSpPr>
          <p:spPr bwMode="auto">
            <a:xfrm>
              <a:off x="4395546" y="4940151"/>
              <a:ext cx="684877" cy="28892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Line 30"/>
            <p:cNvSpPr>
              <a:spLocks noChangeShapeType="1"/>
            </p:cNvSpPr>
            <p:nvPr/>
          </p:nvSpPr>
          <p:spPr bwMode="auto">
            <a:xfrm>
              <a:off x="3782643" y="5430687"/>
              <a:ext cx="2078938" cy="394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29"/>
            <p:cNvSpPr>
              <a:spLocks noChangeArrowheads="1"/>
            </p:cNvSpPr>
            <p:nvPr/>
          </p:nvSpPr>
          <p:spPr bwMode="auto">
            <a:xfrm>
              <a:off x="3196856" y="5257301"/>
              <a:ext cx="586408" cy="288925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83" name="Rectangle 32"/>
            <p:cNvSpPr>
              <a:spLocks noChangeArrowheads="1"/>
            </p:cNvSpPr>
            <p:nvPr/>
          </p:nvSpPr>
          <p:spPr bwMode="auto">
            <a:xfrm>
              <a:off x="3196856" y="3428057"/>
              <a:ext cx="586408" cy="2889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99" name="Rectangle 22"/>
            <p:cNvSpPr>
              <a:spLocks noChangeArrowheads="1"/>
            </p:cNvSpPr>
            <p:nvPr/>
          </p:nvSpPr>
          <p:spPr bwMode="auto">
            <a:xfrm>
              <a:off x="4262032" y="5995893"/>
              <a:ext cx="1370460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scenario 2</a:t>
              </a:r>
            </a:p>
          </p:txBody>
        </p:sp>
        <p:sp>
          <p:nvSpPr>
            <p:cNvPr id="102" name="Rectangle 29"/>
            <p:cNvSpPr>
              <a:spLocks noChangeArrowheads="1"/>
            </p:cNvSpPr>
            <p:nvPr/>
          </p:nvSpPr>
          <p:spPr bwMode="auto">
            <a:xfrm>
              <a:off x="3196856" y="4294884"/>
              <a:ext cx="586408" cy="2889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041728" y="2193615"/>
            <a:ext cx="2130672" cy="2603387"/>
            <a:chOff x="6041728" y="2193615"/>
            <a:chExt cx="2130672" cy="2603387"/>
          </a:xfrm>
        </p:grpSpPr>
        <p:grpSp>
          <p:nvGrpSpPr>
            <p:cNvPr id="9" name="组合 8"/>
            <p:cNvGrpSpPr/>
            <p:nvPr/>
          </p:nvGrpSpPr>
          <p:grpSpPr>
            <a:xfrm>
              <a:off x="6041728" y="2193615"/>
              <a:ext cx="2130672" cy="2603387"/>
              <a:chOff x="6195600" y="2924820"/>
              <a:chExt cx="2840896" cy="347118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4" name="Line 5"/>
              <p:cNvSpPr>
                <a:spLocks noChangeShapeType="1"/>
              </p:cNvSpPr>
              <p:nvPr/>
            </p:nvSpPr>
            <p:spPr bwMode="auto">
              <a:xfrm>
                <a:off x="6777225" y="3213745"/>
                <a:ext cx="0" cy="3095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Line 6"/>
              <p:cNvSpPr>
                <a:spLocks noChangeShapeType="1"/>
              </p:cNvSpPr>
              <p:nvPr/>
            </p:nvSpPr>
            <p:spPr bwMode="auto">
              <a:xfrm>
                <a:off x="8867062" y="3213745"/>
                <a:ext cx="0" cy="3095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Line 7"/>
              <p:cNvSpPr>
                <a:spLocks noChangeShapeType="1"/>
              </p:cNvSpPr>
              <p:nvPr/>
            </p:nvSpPr>
            <p:spPr bwMode="auto">
              <a:xfrm>
                <a:off x="6785850" y="3428057"/>
                <a:ext cx="2081212" cy="4333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Line 8"/>
              <p:cNvSpPr>
                <a:spLocks noChangeShapeType="1"/>
              </p:cNvSpPr>
              <p:nvPr/>
            </p:nvSpPr>
            <p:spPr bwMode="auto">
              <a:xfrm flipH="1">
                <a:off x="6785849" y="3895725"/>
                <a:ext cx="2081213" cy="4299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Rectangle 9"/>
              <p:cNvSpPr>
                <a:spLocks noChangeArrowheads="1"/>
              </p:cNvSpPr>
              <p:nvPr/>
            </p:nvSpPr>
            <p:spPr bwMode="auto">
              <a:xfrm>
                <a:off x="6353255" y="2924820"/>
                <a:ext cx="865187" cy="288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</a:p>
            </p:txBody>
          </p:sp>
          <p:sp>
            <p:nvSpPr>
              <p:cNvPr id="89" name="Rectangle 10"/>
              <p:cNvSpPr>
                <a:spLocks noChangeArrowheads="1"/>
              </p:cNvSpPr>
              <p:nvPr/>
            </p:nvSpPr>
            <p:spPr bwMode="auto">
              <a:xfrm>
                <a:off x="8693080" y="2924820"/>
                <a:ext cx="343416" cy="288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</p:txBody>
          </p:sp>
          <p:sp>
            <p:nvSpPr>
              <p:cNvPr id="90" name="Rectangle 12"/>
              <p:cNvSpPr>
                <a:spLocks noChangeArrowheads="1"/>
              </p:cNvSpPr>
              <p:nvPr/>
            </p:nvSpPr>
            <p:spPr bwMode="auto">
              <a:xfrm>
                <a:off x="7398754" y="3988122"/>
                <a:ext cx="684877" cy="28892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ank</a:t>
                </a:r>
              </a:p>
            </p:txBody>
          </p:sp>
          <p:sp>
            <p:nvSpPr>
              <p:cNvPr id="91" name="Line 25"/>
              <p:cNvSpPr>
                <a:spLocks noChangeShapeType="1"/>
              </p:cNvSpPr>
              <p:nvPr/>
            </p:nvSpPr>
            <p:spPr bwMode="auto">
              <a:xfrm>
                <a:off x="6785231" y="4418037"/>
                <a:ext cx="2081831" cy="3650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Line 27"/>
              <p:cNvSpPr>
                <a:spLocks noChangeShapeType="1"/>
              </p:cNvSpPr>
              <p:nvPr/>
            </p:nvSpPr>
            <p:spPr bwMode="auto">
              <a:xfrm flipH="1">
                <a:off x="6779499" y="4801771"/>
                <a:ext cx="2085289" cy="568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Rectangle 28"/>
              <p:cNvSpPr>
                <a:spLocks noChangeArrowheads="1"/>
              </p:cNvSpPr>
              <p:nvPr/>
            </p:nvSpPr>
            <p:spPr bwMode="auto">
              <a:xfrm>
                <a:off x="7398753" y="4940151"/>
                <a:ext cx="684877" cy="2889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ack</a:t>
                </a:r>
                <a:endPara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30"/>
              <p:cNvSpPr>
                <a:spLocks noChangeShapeType="1"/>
              </p:cNvSpPr>
              <p:nvPr/>
            </p:nvSpPr>
            <p:spPr bwMode="auto">
              <a:xfrm>
                <a:off x="6785850" y="5430687"/>
                <a:ext cx="2078938" cy="394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Rectangle 32"/>
              <p:cNvSpPr>
                <a:spLocks noChangeArrowheads="1"/>
              </p:cNvSpPr>
              <p:nvPr/>
            </p:nvSpPr>
            <p:spPr bwMode="auto">
              <a:xfrm>
                <a:off x="6200063" y="3428057"/>
                <a:ext cx="586408" cy="2889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pkt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98" name="Rectangle 22"/>
              <p:cNvSpPr>
                <a:spLocks noChangeArrowheads="1"/>
              </p:cNvSpPr>
              <p:nvPr/>
            </p:nvSpPr>
            <p:spPr bwMode="auto">
              <a:xfrm>
                <a:off x="7147063" y="5995893"/>
                <a:ext cx="1370460" cy="4001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35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scenario 3</a:t>
                </a:r>
              </a:p>
            </p:txBody>
          </p:sp>
          <p:sp>
            <p:nvSpPr>
              <p:cNvPr id="103" name="Rectangle 29"/>
              <p:cNvSpPr>
                <a:spLocks noChangeArrowheads="1"/>
              </p:cNvSpPr>
              <p:nvPr/>
            </p:nvSpPr>
            <p:spPr bwMode="auto">
              <a:xfrm>
                <a:off x="6195600" y="4294884"/>
                <a:ext cx="586408" cy="2889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pkt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104" name="Rectangle 29"/>
              <p:cNvSpPr>
                <a:spLocks noChangeArrowheads="1"/>
              </p:cNvSpPr>
              <p:nvPr/>
            </p:nvSpPr>
            <p:spPr bwMode="auto">
              <a:xfrm>
                <a:off x="6197110" y="5257301"/>
                <a:ext cx="586408" cy="288925"/>
              </a:xfrm>
              <a:prstGeom prst="rect">
                <a:avLst/>
              </a:prstGeom>
              <a:solidFill>
                <a:srgbClr val="97D2FF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pkt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</p:grp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1865" y="3083012"/>
              <a:ext cx="217171" cy="22076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21</a:t>
            </a:fld>
            <a:endParaRPr lang="en-US" altLang="zh-CN" dirty="0"/>
          </a:p>
        </p:txBody>
      </p:sp>
      <p:sp>
        <p:nvSpPr>
          <p:cNvPr id="5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rdt2.0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：停止等待协议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(ARQ)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rdt2.1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：处理“混淆的确认”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为分组编号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序号空间最小为多少？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理论上</a:t>
            </a:r>
            <a:r>
              <a:rPr lang="en-US" altLang="zh-CN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就够了！！</a:t>
            </a:r>
            <a:endParaRPr lang="en-US" altLang="zh-CN" sz="16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</a:t>
            </a: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6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5"/>
          <p:cNvSpPr>
            <a:spLocks noChangeShapeType="1"/>
          </p:cNvSpPr>
          <p:nvPr/>
        </p:nvSpPr>
        <p:spPr bwMode="auto">
          <a:xfrm>
            <a:off x="5812935" y="2410309"/>
            <a:ext cx="6469" cy="23216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6" name="Line 6"/>
          <p:cNvSpPr>
            <a:spLocks noChangeShapeType="1"/>
          </p:cNvSpPr>
          <p:nvPr/>
        </p:nvSpPr>
        <p:spPr bwMode="auto">
          <a:xfrm>
            <a:off x="7380312" y="2410309"/>
            <a:ext cx="0" cy="23216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7" name="Line 7"/>
          <p:cNvSpPr>
            <a:spLocks noChangeShapeType="1"/>
          </p:cNvSpPr>
          <p:nvPr/>
        </p:nvSpPr>
        <p:spPr bwMode="auto">
          <a:xfrm>
            <a:off x="5819403" y="2571043"/>
            <a:ext cx="1560909" cy="3250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8" name="Line 8"/>
          <p:cNvSpPr>
            <a:spLocks noChangeShapeType="1"/>
          </p:cNvSpPr>
          <p:nvPr/>
        </p:nvSpPr>
        <p:spPr bwMode="auto">
          <a:xfrm flipH="1">
            <a:off x="5819403" y="2921794"/>
            <a:ext cx="1560910" cy="3224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9" name="Rectangle 9"/>
          <p:cNvSpPr>
            <a:spLocks noChangeArrowheads="1"/>
          </p:cNvSpPr>
          <p:nvPr/>
        </p:nvSpPr>
        <p:spPr bwMode="auto">
          <a:xfrm>
            <a:off x="5494957" y="2193615"/>
            <a:ext cx="648890" cy="21669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sz="1350" dirty="0"/>
              <a:t>A</a:t>
            </a:r>
          </a:p>
        </p:txBody>
      </p:sp>
      <p:sp>
        <p:nvSpPr>
          <p:cNvPr id="68" name="Rectangle 12"/>
          <p:cNvSpPr>
            <a:spLocks noChangeArrowheads="1"/>
          </p:cNvSpPr>
          <p:nvPr/>
        </p:nvSpPr>
        <p:spPr bwMode="auto">
          <a:xfrm>
            <a:off x="6279081" y="2991092"/>
            <a:ext cx="513658" cy="216694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 dirty="0"/>
              <a:t>ack</a:t>
            </a:r>
            <a:endParaRPr lang="en-US" altLang="zh-CN" sz="1350" baseline="-25000" dirty="0"/>
          </a:p>
        </p:txBody>
      </p:sp>
      <p:sp>
        <p:nvSpPr>
          <p:cNvPr id="77" name="Line 25"/>
          <p:cNvSpPr>
            <a:spLocks noChangeShapeType="1"/>
          </p:cNvSpPr>
          <p:nvPr/>
        </p:nvSpPr>
        <p:spPr bwMode="auto">
          <a:xfrm>
            <a:off x="5818939" y="3313528"/>
            <a:ext cx="1561373" cy="2737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2" name="Rectangle 26"/>
          <p:cNvSpPr>
            <a:spLocks noChangeArrowheads="1"/>
          </p:cNvSpPr>
          <p:nvPr/>
        </p:nvSpPr>
        <p:spPr bwMode="auto">
          <a:xfrm>
            <a:off x="5380063" y="3263462"/>
            <a:ext cx="439806" cy="216694"/>
          </a:xfrm>
          <a:prstGeom prst="rect">
            <a:avLst/>
          </a:prstGeom>
          <a:solidFill>
            <a:srgbClr val="97D2FF"/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 dirty="0"/>
              <a:t>pkt</a:t>
            </a:r>
            <a:r>
              <a:rPr lang="en-US" altLang="zh-CN" sz="1350" baseline="-25000" dirty="0"/>
              <a:t>1</a:t>
            </a:r>
          </a:p>
        </p:txBody>
      </p:sp>
      <p:sp>
        <p:nvSpPr>
          <p:cNvPr id="96" name="Line 27"/>
          <p:cNvSpPr>
            <a:spLocks noChangeShapeType="1"/>
          </p:cNvSpPr>
          <p:nvPr/>
        </p:nvSpPr>
        <p:spPr bwMode="auto">
          <a:xfrm flipH="1">
            <a:off x="5814640" y="3601328"/>
            <a:ext cx="1563967" cy="4261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1" name="Rectangle 28"/>
          <p:cNvSpPr>
            <a:spLocks noChangeArrowheads="1"/>
          </p:cNvSpPr>
          <p:nvPr/>
        </p:nvSpPr>
        <p:spPr bwMode="auto">
          <a:xfrm>
            <a:off x="6279081" y="3705114"/>
            <a:ext cx="513658" cy="216694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 dirty="0"/>
              <a:t>ack</a:t>
            </a:r>
            <a:endParaRPr lang="en-US" altLang="zh-CN" sz="1350" baseline="-25000" dirty="0"/>
          </a:p>
        </p:txBody>
      </p:sp>
      <p:sp>
        <p:nvSpPr>
          <p:cNvPr id="105" name="Line 30"/>
          <p:cNvSpPr>
            <a:spLocks noChangeShapeType="1"/>
          </p:cNvSpPr>
          <p:nvPr/>
        </p:nvSpPr>
        <p:spPr bwMode="auto">
          <a:xfrm>
            <a:off x="5819403" y="4073016"/>
            <a:ext cx="1559204" cy="296092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6" name="Rectangle 29"/>
          <p:cNvSpPr>
            <a:spLocks noChangeArrowheads="1"/>
          </p:cNvSpPr>
          <p:nvPr/>
        </p:nvSpPr>
        <p:spPr bwMode="auto">
          <a:xfrm>
            <a:off x="5380063" y="3942976"/>
            <a:ext cx="439806" cy="216694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 dirty="0"/>
              <a:t>pkt</a:t>
            </a:r>
            <a:r>
              <a:rPr lang="en-US" altLang="zh-CN" sz="1350" baseline="-25000" dirty="0"/>
              <a:t>0</a:t>
            </a:r>
          </a:p>
        </p:txBody>
      </p:sp>
      <p:sp>
        <p:nvSpPr>
          <p:cNvPr id="107" name="Rectangle 32"/>
          <p:cNvSpPr>
            <a:spLocks noChangeArrowheads="1"/>
          </p:cNvSpPr>
          <p:nvPr/>
        </p:nvSpPr>
        <p:spPr bwMode="auto">
          <a:xfrm>
            <a:off x="5380063" y="2571043"/>
            <a:ext cx="439806" cy="21669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1350" dirty="0"/>
              <a:t>pkt</a:t>
            </a:r>
            <a:r>
              <a:rPr lang="en-US" altLang="zh-CN" sz="1350" baseline="-25000" dirty="0"/>
              <a:t>0</a:t>
            </a:r>
          </a:p>
        </p:txBody>
      </p:sp>
      <p:sp>
        <p:nvSpPr>
          <p:cNvPr id="108" name="Rectangle 22"/>
          <p:cNvSpPr>
            <a:spLocks noChangeArrowheads="1"/>
          </p:cNvSpPr>
          <p:nvPr/>
        </p:nvSpPr>
        <p:spPr bwMode="auto">
          <a:xfrm>
            <a:off x="6128226" y="4496920"/>
            <a:ext cx="939681" cy="30008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scenario 1</a:t>
            </a:r>
          </a:p>
        </p:txBody>
      </p:sp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7054162" y="2193615"/>
            <a:ext cx="648890" cy="21669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sz="1350" dirty="0"/>
              <a:t>B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83" y="2387326"/>
            <a:ext cx="571429" cy="584127"/>
          </a:xfrm>
          <a:prstGeom prst="rect">
            <a:avLst/>
          </a:prstGeom>
        </p:spPr>
      </p:pic>
      <p:sp>
        <p:nvSpPr>
          <p:cNvPr id="20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22</a:t>
            </a:fld>
            <a:endParaRPr lang="en-US" altLang="zh-CN" dirty="0"/>
          </a:p>
        </p:txBody>
      </p:sp>
      <p:sp>
        <p:nvSpPr>
          <p:cNvPr id="2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59" grpId="0"/>
      <p:bldP spid="68" grpId="0" animBg="1"/>
      <p:bldP spid="77" grpId="0" animBg="1"/>
      <p:bldP spid="92" grpId="0" animBg="1"/>
      <p:bldP spid="96" grpId="0" animBg="1"/>
      <p:bldP spid="101" grpId="0" animBg="1"/>
      <p:bldP spid="105" grpId="0" animBg="1"/>
      <p:bldP spid="106" grpId="0" animBg="1"/>
      <p:bldP spid="107" grpId="0" animBg="1"/>
      <p:bldP spid="108" grpId="0"/>
      <p:bldP spid="24" grpId="0"/>
      <p:bldP spid="21" grpId="0" animBg="1"/>
      <p:bldP spid="21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rdt2.0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：停止等待协议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(ARQ)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rdt2.1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：处理“混淆的确认”</a:t>
            </a: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为分组编号（</a:t>
            </a: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发送方：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461123" y="2138809"/>
            <a:ext cx="676275" cy="62745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4362539" y="2175004"/>
            <a:ext cx="871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1050" b="1" dirty="0"/>
              <a:t>Wait for call 0 from above</a:t>
            </a:r>
            <a:endParaRPr lang="en-US" altLang="zh-CN" sz="1050" b="1" dirty="0">
              <a:latin typeface="Times New Roman" panose="02020603050405020304" pitchFamily="18" charset="0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595663" y="1678036"/>
            <a:ext cx="277058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sndpkt = make_pkt(0, data, checksum)</a:t>
            </a:r>
          </a:p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udt_send(sndpkt)</a:t>
            </a:r>
            <a:endParaRPr lang="en-US" altLang="zh-CN" sz="1050" dirty="0">
              <a:solidFill>
                <a:srgbClr val="74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4606379" y="1472059"/>
            <a:ext cx="1583531" cy="225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66FF"/>
                </a:solidFill>
              </a:rPr>
              <a:t>rdt_send(data)</a:t>
            </a:r>
            <a:endParaRPr lang="en-US" altLang="zh-CN" sz="1050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4694485" y="1717328"/>
            <a:ext cx="205144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4255144" y="2105471"/>
            <a:ext cx="283369" cy="142875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4" name="Freeform 9"/>
          <p:cNvSpPr/>
          <p:nvPr/>
        </p:nvSpPr>
        <p:spPr bwMode="auto">
          <a:xfrm rot="13379896">
            <a:off x="3965823" y="3975943"/>
            <a:ext cx="714375" cy="352425"/>
          </a:xfrm>
          <a:custGeom>
            <a:avLst/>
            <a:gdLst>
              <a:gd name="T0" fmla="*/ 361 w 1500"/>
              <a:gd name="T1" fmla="*/ 671 h 740"/>
              <a:gd name="T2" fmla="*/ 1017 w 1500"/>
              <a:gd name="T3" fmla="*/ 740 h 74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5" name="Group 10"/>
          <p:cNvGrpSpPr/>
          <p:nvPr/>
        </p:nvGrpSpPr>
        <p:grpSpPr bwMode="auto">
          <a:xfrm>
            <a:off x="5843719" y="2099518"/>
            <a:ext cx="816769" cy="648891"/>
            <a:chOff x="2854" y="1499"/>
            <a:chExt cx="660" cy="510"/>
          </a:xfrm>
        </p:grpSpPr>
        <p:sp>
          <p:nvSpPr>
            <p:cNvPr id="16" name="Oval 11"/>
            <p:cNvSpPr>
              <a:spLocks noChangeArrowheads="1"/>
            </p:cNvSpPr>
            <p:nvPr/>
          </p:nvSpPr>
          <p:spPr bwMode="auto">
            <a:xfrm>
              <a:off x="2893" y="1499"/>
              <a:ext cx="568" cy="51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2854" y="1547"/>
              <a:ext cx="66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 b="1" dirty="0"/>
                <a:t>Wait for ACK or NAK 0</a:t>
              </a:r>
              <a:endParaRPr lang="en-US" altLang="zh-CN" sz="105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" name="Freeform 13"/>
          <p:cNvSpPr/>
          <p:nvPr/>
        </p:nvSpPr>
        <p:spPr bwMode="auto">
          <a:xfrm flipV="1">
            <a:off x="4883795" y="2007840"/>
            <a:ext cx="1107281" cy="132159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9" name="Freeform 14"/>
          <p:cNvSpPr/>
          <p:nvPr/>
        </p:nvSpPr>
        <p:spPr bwMode="auto">
          <a:xfrm rot="20242820">
            <a:off x="6501854" y="1995934"/>
            <a:ext cx="350044" cy="514350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6751885" y="2431702"/>
            <a:ext cx="1708547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udt_send(sndpkt)</a:t>
            </a:r>
            <a:endParaRPr lang="en-US" altLang="zh-CN" sz="1050" dirty="0">
              <a:solidFill>
                <a:srgbClr val="74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6766173" y="1899493"/>
            <a:ext cx="1302273" cy="560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66FF"/>
                </a:solidFill>
              </a:rPr>
              <a:t>rdt_rcv(</a:t>
            </a:r>
            <a:r>
              <a:rPr lang="en-US" altLang="zh-CN" sz="1050" dirty="0" err="1">
                <a:solidFill>
                  <a:srgbClr val="0066FF"/>
                </a:solidFill>
              </a:rPr>
              <a:t>rcvpkt</a:t>
            </a:r>
            <a:r>
              <a:rPr lang="en-US" altLang="zh-CN" sz="1050" dirty="0">
                <a:solidFill>
                  <a:srgbClr val="0066FF"/>
                </a:solidFill>
              </a:rPr>
              <a:t>) &amp;&amp;  </a:t>
            </a:r>
          </a:p>
          <a:p>
            <a:pPr eaLnBrk="0" hangingPunct="0"/>
            <a:r>
              <a:rPr lang="en-US" altLang="zh-CN" sz="1050" dirty="0">
                <a:solidFill>
                  <a:srgbClr val="0066FF"/>
                </a:solidFill>
              </a:rPr>
              <a:t>( corrupt(</a:t>
            </a:r>
            <a:r>
              <a:rPr lang="en-US" altLang="zh-CN" sz="1050" dirty="0" err="1">
                <a:solidFill>
                  <a:srgbClr val="0066FF"/>
                </a:solidFill>
              </a:rPr>
              <a:t>rcvpkt</a:t>
            </a:r>
            <a:r>
              <a:rPr lang="en-US" altLang="zh-CN" sz="1050" dirty="0">
                <a:solidFill>
                  <a:srgbClr val="0066FF"/>
                </a:solidFill>
              </a:rPr>
              <a:t>) ||</a:t>
            </a:r>
          </a:p>
          <a:p>
            <a:pPr eaLnBrk="0" hangingPunct="0"/>
            <a:r>
              <a:rPr lang="en-US" altLang="zh-CN" sz="1050" dirty="0" err="1">
                <a:solidFill>
                  <a:srgbClr val="0066FF"/>
                </a:solidFill>
              </a:rPr>
              <a:t>isNAK</a:t>
            </a:r>
            <a:r>
              <a:rPr lang="en-US" altLang="zh-CN" sz="1050" dirty="0">
                <a:solidFill>
                  <a:srgbClr val="0066FF"/>
                </a:solidFill>
              </a:rPr>
              <a:t>(</a:t>
            </a:r>
            <a:r>
              <a:rPr lang="en-US" altLang="zh-CN" sz="1050" dirty="0" err="1">
                <a:solidFill>
                  <a:srgbClr val="0066FF"/>
                </a:solidFill>
              </a:rPr>
              <a:t>rcvpkt</a:t>
            </a:r>
            <a:r>
              <a:rPr lang="en-US" altLang="zh-CN" sz="1050" dirty="0">
                <a:solidFill>
                  <a:srgbClr val="0066FF"/>
                </a:solidFill>
              </a:rPr>
              <a:t>) )</a:t>
            </a:r>
            <a:endParaRPr lang="en-US" altLang="zh-CN" sz="1050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6843563" y="2447180"/>
            <a:ext cx="107513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" name="Freeform 18"/>
          <p:cNvSpPr/>
          <p:nvPr/>
        </p:nvSpPr>
        <p:spPr bwMode="auto">
          <a:xfrm rot="16200000" flipV="1">
            <a:off x="3961060" y="3028206"/>
            <a:ext cx="950119" cy="92869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" name="Freeform 19"/>
          <p:cNvSpPr/>
          <p:nvPr/>
        </p:nvSpPr>
        <p:spPr bwMode="auto">
          <a:xfrm>
            <a:off x="5010000" y="3993802"/>
            <a:ext cx="1204913" cy="185738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" name="Freeform 20"/>
          <p:cNvSpPr/>
          <p:nvPr/>
        </p:nvSpPr>
        <p:spPr bwMode="auto">
          <a:xfrm rot="5400000" flipH="1" flipV="1">
            <a:off x="6115496" y="3066901"/>
            <a:ext cx="897731" cy="122635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4833788" y="4431952"/>
            <a:ext cx="2822972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sndpkt = make_pkt(1, data, checksum)</a:t>
            </a:r>
          </a:p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udt_send(sndpkt)</a:t>
            </a:r>
            <a:endParaRPr lang="en-US" altLang="zh-CN" sz="1050" dirty="0">
              <a:solidFill>
                <a:srgbClr val="74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4886175" y="4178349"/>
            <a:ext cx="1791891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66FF"/>
                </a:solidFill>
              </a:rPr>
              <a:t>rdt_send(data)</a:t>
            </a:r>
            <a:endParaRPr lang="en-US" altLang="zh-CN" sz="1050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Line 23"/>
          <p:cNvSpPr>
            <a:spLocks noChangeShapeType="1"/>
          </p:cNvSpPr>
          <p:nvPr/>
        </p:nvSpPr>
        <p:spPr bwMode="auto">
          <a:xfrm>
            <a:off x="4921894" y="4442668"/>
            <a:ext cx="21776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9" name="Text Box 24"/>
          <p:cNvSpPr txBox="1">
            <a:spLocks noChangeArrowheads="1"/>
          </p:cNvSpPr>
          <p:nvPr/>
        </p:nvSpPr>
        <p:spPr bwMode="auto">
          <a:xfrm>
            <a:off x="6593532" y="2846040"/>
            <a:ext cx="1489202" cy="526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66FF"/>
                </a:solidFill>
              </a:rPr>
              <a:t>rdt_rcv(</a:t>
            </a:r>
            <a:r>
              <a:rPr lang="en-US" altLang="zh-CN" sz="1050" dirty="0" err="1">
                <a:solidFill>
                  <a:srgbClr val="0066FF"/>
                </a:solidFill>
              </a:rPr>
              <a:t>rcvpkt</a:t>
            </a:r>
            <a:r>
              <a:rPr lang="en-US" altLang="zh-CN" sz="1050" dirty="0">
                <a:solidFill>
                  <a:srgbClr val="0066FF"/>
                </a:solidFill>
              </a:rPr>
              <a:t>)   </a:t>
            </a:r>
          </a:p>
          <a:p>
            <a:pPr eaLnBrk="0" hangingPunct="0"/>
            <a:r>
              <a:rPr lang="en-US" altLang="zh-CN" sz="1050" dirty="0">
                <a:solidFill>
                  <a:srgbClr val="0066FF"/>
                </a:solidFill>
              </a:rPr>
              <a:t>&amp;&amp; </a:t>
            </a:r>
            <a:r>
              <a:rPr lang="en-US" altLang="zh-CN" sz="1050" dirty="0" err="1">
                <a:solidFill>
                  <a:srgbClr val="0066FF"/>
                </a:solidFill>
              </a:rPr>
              <a:t>notcorrupt</a:t>
            </a:r>
            <a:r>
              <a:rPr lang="en-US" altLang="zh-CN" sz="1050" dirty="0">
                <a:solidFill>
                  <a:srgbClr val="0066FF"/>
                </a:solidFill>
              </a:rPr>
              <a:t>(</a:t>
            </a:r>
            <a:r>
              <a:rPr lang="en-US" altLang="zh-CN" sz="1050" dirty="0" err="1">
                <a:solidFill>
                  <a:srgbClr val="0066FF"/>
                </a:solidFill>
              </a:rPr>
              <a:t>rcvpkt</a:t>
            </a:r>
            <a:r>
              <a:rPr lang="en-US" altLang="zh-CN" sz="1050" dirty="0">
                <a:solidFill>
                  <a:srgbClr val="0066FF"/>
                </a:solidFill>
              </a:rPr>
              <a:t>) </a:t>
            </a:r>
          </a:p>
          <a:p>
            <a:pPr eaLnBrk="0" hangingPunct="0"/>
            <a:r>
              <a:rPr lang="en-US" altLang="zh-CN" sz="1050" dirty="0">
                <a:solidFill>
                  <a:srgbClr val="0066FF"/>
                </a:solidFill>
              </a:rPr>
              <a:t>&amp;&amp; </a:t>
            </a:r>
            <a:r>
              <a:rPr lang="en-US" altLang="zh-CN" sz="1050" dirty="0" err="1">
                <a:solidFill>
                  <a:srgbClr val="0066FF"/>
                </a:solidFill>
              </a:rPr>
              <a:t>isACK</a:t>
            </a:r>
            <a:r>
              <a:rPr lang="en-US" altLang="zh-CN" sz="1050" dirty="0">
                <a:solidFill>
                  <a:srgbClr val="0066FF"/>
                </a:solidFill>
              </a:rPr>
              <a:t>(</a:t>
            </a:r>
            <a:r>
              <a:rPr lang="en-US" altLang="zh-CN" sz="1050" dirty="0" err="1">
                <a:solidFill>
                  <a:srgbClr val="0066FF"/>
                </a:solidFill>
              </a:rPr>
              <a:t>rcvpkt</a:t>
            </a:r>
            <a:r>
              <a:rPr lang="en-US" altLang="zh-CN" sz="1050" dirty="0">
                <a:solidFill>
                  <a:srgbClr val="0066FF"/>
                </a:solidFill>
              </a:rPr>
              <a:t>) </a:t>
            </a:r>
          </a:p>
        </p:txBody>
      </p:sp>
      <p:sp>
        <p:nvSpPr>
          <p:cNvPr id="30" name="Line 25"/>
          <p:cNvSpPr>
            <a:spLocks noChangeShapeType="1"/>
          </p:cNvSpPr>
          <p:nvPr/>
        </p:nvSpPr>
        <p:spPr bwMode="auto">
          <a:xfrm>
            <a:off x="6675685" y="3397299"/>
            <a:ext cx="7429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2850207" y="4485531"/>
            <a:ext cx="1364456" cy="207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udt_send(sndpkt)</a:t>
            </a:r>
            <a:endParaRPr lang="en-US" altLang="zh-CN" sz="1050" dirty="0">
              <a:solidFill>
                <a:srgbClr val="74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2831157" y="3872359"/>
            <a:ext cx="1508522" cy="570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66FF"/>
                </a:solidFill>
              </a:rPr>
              <a:t>rdt_rcv(</a:t>
            </a:r>
            <a:r>
              <a:rPr lang="en-US" altLang="zh-CN" sz="1050" dirty="0" err="1">
                <a:solidFill>
                  <a:srgbClr val="0066FF"/>
                </a:solidFill>
              </a:rPr>
              <a:t>rcvpkt</a:t>
            </a:r>
            <a:r>
              <a:rPr lang="en-US" altLang="zh-CN" sz="1050" dirty="0">
                <a:solidFill>
                  <a:srgbClr val="0066FF"/>
                </a:solidFill>
              </a:rPr>
              <a:t>) &amp;&amp;  </a:t>
            </a:r>
          </a:p>
          <a:p>
            <a:pPr eaLnBrk="0" hangingPunct="0"/>
            <a:r>
              <a:rPr lang="en-US" altLang="zh-CN" sz="1050" dirty="0">
                <a:solidFill>
                  <a:srgbClr val="0066FF"/>
                </a:solidFill>
              </a:rPr>
              <a:t>( corrupt(</a:t>
            </a:r>
            <a:r>
              <a:rPr lang="en-US" altLang="zh-CN" sz="1050" dirty="0" err="1">
                <a:solidFill>
                  <a:srgbClr val="0066FF"/>
                </a:solidFill>
              </a:rPr>
              <a:t>rcvpkt</a:t>
            </a:r>
            <a:r>
              <a:rPr lang="en-US" altLang="zh-CN" sz="1050" dirty="0">
                <a:solidFill>
                  <a:srgbClr val="0066FF"/>
                </a:solidFill>
              </a:rPr>
              <a:t>) ||</a:t>
            </a:r>
          </a:p>
          <a:p>
            <a:pPr eaLnBrk="0" hangingPunct="0"/>
            <a:r>
              <a:rPr lang="en-US" altLang="zh-CN" sz="1050" dirty="0" err="1">
                <a:solidFill>
                  <a:srgbClr val="0066FF"/>
                </a:solidFill>
              </a:rPr>
              <a:t>isNAK</a:t>
            </a:r>
            <a:r>
              <a:rPr lang="en-US" altLang="zh-CN" sz="1050" dirty="0">
                <a:solidFill>
                  <a:srgbClr val="0066FF"/>
                </a:solidFill>
              </a:rPr>
              <a:t>(</a:t>
            </a:r>
            <a:r>
              <a:rPr lang="en-US" altLang="zh-CN" sz="1050" dirty="0" err="1">
                <a:solidFill>
                  <a:srgbClr val="0066FF"/>
                </a:solidFill>
              </a:rPr>
              <a:t>rcvpkt</a:t>
            </a:r>
            <a:r>
              <a:rPr lang="en-US" altLang="zh-CN" sz="1050" dirty="0">
                <a:solidFill>
                  <a:srgbClr val="0066FF"/>
                </a:solidFill>
              </a:rPr>
              <a:t>) )</a:t>
            </a:r>
            <a:endParaRPr lang="en-US" altLang="zh-CN" sz="1050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Line 28"/>
          <p:cNvSpPr>
            <a:spLocks noChangeShapeType="1"/>
          </p:cNvSpPr>
          <p:nvPr/>
        </p:nvSpPr>
        <p:spPr bwMode="auto">
          <a:xfrm>
            <a:off x="2918073" y="4491484"/>
            <a:ext cx="116800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2788294" y="2749599"/>
            <a:ext cx="1582341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66FF"/>
                </a:solidFill>
              </a:rPr>
              <a:t>rdt_rcv(</a:t>
            </a:r>
            <a:r>
              <a:rPr lang="en-US" altLang="zh-CN" sz="1050" dirty="0" err="1">
                <a:solidFill>
                  <a:srgbClr val="0066FF"/>
                </a:solidFill>
              </a:rPr>
              <a:t>rcvpkt</a:t>
            </a:r>
            <a:r>
              <a:rPr lang="en-US" altLang="zh-CN" sz="1050" dirty="0">
                <a:solidFill>
                  <a:srgbClr val="0066FF"/>
                </a:solidFill>
              </a:rPr>
              <a:t>)   </a:t>
            </a:r>
          </a:p>
          <a:p>
            <a:pPr eaLnBrk="0" hangingPunct="0"/>
            <a:r>
              <a:rPr lang="en-US" altLang="zh-CN" sz="1050" dirty="0">
                <a:solidFill>
                  <a:srgbClr val="0066FF"/>
                </a:solidFill>
              </a:rPr>
              <a:t>&amp;&amp; </a:t>
            </a:r>
            <a:r>
              <a:rPr lang="en-US" altLang="zh-CN" sz="1050" dirty="0" err="1">
                <a:solidFill>
                  <a:srgbClr val="0066FF"/>
                </a:solidFill>
              </a:rPr>
              <a:t>notcorrupt</a:t>
            </a:r>
            <a:r>
              <a:rPr lang="en-US" altLang="zh-CN" sz="1050" dirty="0">
                <a:solidFill>
                  <a:srgbClr val="0066FF"/>
                </a:solidFill>
              </a:rPr>
              <a:t>(</a:t>
            </a:r>
            <a:r>
              <a:rPr lang="en-US" altLang="zh-CN" sz="1050" dirty="0" err="1">
                <a:solidFill>
                  <a:srgbClr val="0066FF"/>
                </a:solidFill>
              </a:rPr>
              <a:t>rcvpkt</a:t>
            </a:r>
            <a:r>
              <a:rPr lang="en-US" altLang="zh-CN" sz="1050" dirty="0">
                <a:solidFill>
                  <a:srgbClr val="0066FF"/>
                </a:solidFill>
              </a:rPr>
              <a:t>) </a:t>
            </a:r>
          </a:p>
          <a:p>
            <a:pPr eaLnBrk="0" hangingPunct="0"/>
            <a:r>
              <a:rPr lang="en-US" altLang="zh-CN" sz="1050" dirty="0">
                <a:solidFill>
                  <a:srgbClr val="0066FF"/>
                </a:solidFill>
              </a:rPr>
              <a:t>&amp;&amp; </a:t>
            </a:r>
            <a:r>
              <a:rPr lang="en-US" altLang="zh-CN" sz="1050" dirty="0" err="1">
                <a:solidFill>
                  <a:srgbClr val="0066FF"/>
                </a:solidFill>
              </a:rPr>
              <a:t>isACK</a:t>
            </a:r>
            <a:r>
              <a:rPr lang="en-US" altLang="zh-CN" sz="1050" dirty="0">
                <a:solidFill>
                  <a:srgbClr val="0066FF"/>
                </a:solidFill>
              </a:rPr>
              <a:t>(</a:t>
            </a:r>
            <a:r>
              <a:rPr lang="en-US" altLang="zh-CN" sz="1050" dirty="0" err="1">
                <a:solidFill>
                  <a:srgbClr val="0066FF"/>
                </a:solidFill>
              </a:rPr>
              <a:t>rcvpkt</a:t>
            </a:r>
            <a:r>
              <a:rPr lang="en-US" altLang="zh-CN" sz="1050" dirty="0">
                <a:solidFill>
                  <a:srgbClr val="0066FF"/>
                </a:solidFill>
              </a:rPr>
              <a:t>)</a:t>
            </a:r>
            <a:r>
              <a:rPr lang="en-US" altLang="zh-CN" sz="675" dirty="0">
                <a:solidFill>
                  <a:srgbClr val="0066FF"/>
                </a:solidFill>
              </a:rPr>
              <a:t> </a:t>
            </a:r>
            <a:endParaRPr lang="en-US" altLang="zh-CN" sz="1500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Line 30"/>
          <p:cNvSpPr>
            <a:spLocks noChangeShapeType="1"/>
          </p:cNvSpPr>
          <p:nvPr/>
        </p:nvSpPr>
        <p:spPr bwMode="auto">
          <a:xfrm>
            <a:off x="2896641" y="3299668"/>
            <a:ext cx="130373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36" name="Group 31"/>
          <p:cNvGrpSpPr/>
          <p:nvPr/>
        </p:nvGrpSpPr>
        <p:grpSpPr bwMode="auto">
          <a:xfrm>
            <a:off x="5920829" y="3559224"/>
            <a:ext cx="916781" cy="617935"/>
            <a:chOff x="4132" y="2812"/>
            <a:chExt cx="770" cy="519"/>
          </a:xfrm>
        </p:grpSpPr>
        <p:sp>
          <p:nvSpPr>
            <p:cNvPr id="37" name="Oval 32"/>
            <p:cNvSpPr>
              <a:spLocks noChangeArrowheads="1"/>
            </p:cNvSpPr>
            <p:nvPr/>
          </p:nvSpPr>
          <p:spPr bwMode="auto">
            <a:xfrm>
              <a:off x="4242" y="2812"/>
              <a:ext cx="567" cy="51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8" name="Text Box 33"/>
            <p:cNvSpPr txBox="1">
              <a:spLocks noChangeArrowheads="1"/>
            </p:cNvSpPr>
            <p:nvPr/>
          </p:nvSpPr>
          <p:spPr bwMode="auto">
            <a:xfrm>
              <a:off x="4132" y="2852"/>
              <a:ext cx="77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 b="1" dirty="0"/>
                <a:t>Wait for</a:t>
              </a:r>
            </a:p>
            <a:p>
              <a:pPr algn="ctr" eaLnBrk="0" hangingPunct="0"/>
              <a:r>
                <a:rPr lang="en-US" altLang="zh-CN" sz="1050" b="1" dirty="0"/>
                <a:t> call 1 from above</a:t>
              </a:r>
              <a:endParaRPr lang="en-US" altLang="zh-CN" sz="105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9" name="Group 34"/>
          <p:cNvGrpSpPr/>
          <p:nvPr/>
        </p:nvGrpSpPr>
        <p:grpSpPr bwMode="auto">
          <a:xfrm>
            <a:off x="4307532" y="3518743"/>
            <a:ext cx="784622" cy="617935"/>
            <a:chOff x="4916" y="3266"/>
            <a:chExt cx="659" cy="519"/>
          </a:xfrm>
        </p:grpSpPr>
        <p:sp>
          <p:nvSpPr>
            <p:cNvPr id="40" name="Oval 35"/>
            <p:cNvSpPr>
              <a:spLocks noChangeArrowheads="1"/>
            </p:cNvSpPr>
            <p:nvPr/>
          </p:nvSpPr>
          <p:spPr bwMode="auto">
            <a:xfrm>
              <a:off x="4957" y="3266"/>
              <a:ext cx="567" cy="51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Text Box 36"/>
            <p:cNvSpPr txBox="1">
              <a:spLocks noChangeArrowheads="1"/>
            </p:cNvSpPr>
            <p:nvPr/>
          </p:nvSpPr>
          <p:spPr bwMode="auto">
            <a:xfrm>
              <a:off x="4916" y="3307"/>
              <a:ext cx="65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 b="1" dirty="0"/>
                <a:t>Wait for ACK or NAK 1</a:t>
              </a:r>
              <a:endParaRPr lang="en-US" altLang="zh-CN" sz="105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2" name="Text Box 37"/>
          <p:cNvSpPr txBox="1">
            <a:spLocks noChangeArrowheads="1"/>
          </p:cNvSpPr>
          <p:nvPr/>
        </p:nvSpPr>
        <p:spPr bwMode="auto">
          <a:xfrm>
            <a:off x="6938837" y="3404443"/>
            <a:ext cx="2904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 dirty="0">
                <a:solidFill>
                  <a:srgbClr val="740000"/>
                </a:solidFill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43" name="Text Box 38"/>
          <p:cNvSpPr txBox="1">
            <a:spLocks noChangeArrowheads="1"/>
          </p:cNvSpPr>
          <p:nvPr/>
        </p:nvSpPr>
        <p:spPr bwMode="auto">
          <a:xfrm>
            <a:off x="3301478" y="3310384"/>
            <a:ext cx="2904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>
                <a:solidFill>
                  <a:srgbClr val="740000"/>
                </a:solidFill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4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23</a:t>
            </a:fld>
            <a:endParaRPr lang="en-US" altLang="zh-CN" dirty="0"/>
          </a:p>
        </p:txBody>
      </p:sp>
      <p:sp>
        <p:nvSpPr>
          <p:cNvPr id="4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4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 animBg="1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 animBg="1"/>
      <p:bldP spid="29" grpId="0"/>
      <p:bldP spid="30" grpId="0" animBg="1"/>
      <p:bldP spid="31" grpId="0"/>
      <p:bldP spid="32" grpId="0"/>
      <p:bldP spid="33" grpId="0" animBg="1"/>
      <p:bldP spid="34" grpId="0"/>
      <p:bldP spid="35" grpId="0" animBg="1"/>
      <p:bldP spid="42" grpId="0"/>
      <p:bldP spid="43" grpId="0"/>
      <p:bldP spid="45" grpId="0" animBg="1"/>
      <p:bldP spid="45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grpSp>
        <p:nvGrpSpPr>
          <p:cNvPr id="8" name="Group 3"/>
          <p:cNvGrpSpPr/>
          <p:nvPr/>
        </p:nvGrpSpPr>
        <p:grpSpPr bwMode="auto">
          <a:xfrm>
            <a:off x="4409157" y="2899684"/>
            <a:ext cx="664369" cy="596504"/>
            <a:chOff x="920" y="1131"/>
            <a:chExt cx="558" cy="501"/>
          </a:xfrm>
        </p:grpSpPr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963" y="1131"/>
              <a:ext cx="490" cy="50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920" y="1153"/>
              <a:ext cx="55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 dirty="0"/>
                <a:t>Wait for </a:t>
              </a:r>
            </a:p>
            <a:p>
              <a:pPr algn="ctr" eaLnBrk="0" hangingPunct="0"/>
              <a:r>
                <a:rPr lang="en-US" altLang="zh-CN" sz="1050" dirty="0"/>
                <a:t>0 from below</a:t>
              </a:r>
              <a:endParaRPr lang="en-US" altLang="zh-CN" sz="105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4337719" y="2097203"/>
            <a:ext cx="314325" cy="809625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" name="Freeform 7"/>
          <p:cNvSpPr/>
          <p:nvPr/>
        </p:nvSpPr>
        <p:spPr bwMode="auto">
          <a:xfrm flipV="1">
            <a:off x="4848498" y="2335328"/>
            <a:ext cx="1193006" cy="589360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6768976" y="2604410"/>
            <a:ext cx="2189559" cy="30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sndpkt = make_pkt(NAK, </a:t>
            </a:r>
            <a:r>
              <a:rPr lang="en-US" altLang="zh-CN" sz="1050" dirty="0" err="1">
                <a:solidFill>
                  <a:srgbClr val="740000"/>
                </a:solidFill>
              </a:rPr>
              <a:t>chksum</a:t>
            </a:r>
            <a:r>
              <a:rPr lang="en-US" altLang="zh-CN" sz="1050" dirty="0">
                <a:solidFill>
                  <a:srgbClr val="740000"/>
                </a:solidFill>
              </a:rPr>
              <a:t>)</a:t>
            </a:r>
          </a:p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udt_send(sndpkt)</a:t>
            </a:r>
            <a:endParaRPr lang="en-US" altLang="zh-CN" sz="1050" dirty="0">
              <a:solidFill>
                <a:srgbClr val="74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771357" y="3117569"/>
            <a:ext cx="196810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rdt_rcv(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 </a:t>
            </a:r>
          </a:p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   not corrupt(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</a:t>
            </a:r>
          </a:p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   has_seq0(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</a:t>
            </a:r>
          </a:p>
          <a:p>
            <a:pPr algn="ctr" eaLnBrk="0" hangingPunct="0"/>
            <a:endParaRPr lang="en-US" altLang="zh-CN" sz="12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6834459" y="3662875"/>
            <a:ext cx="14537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6" name="Freeform 11"/>
          <p:cNvSpPr/>
          <p:nvPr/>
        </p:nvSpPr>
        <p:spPr bwMode="auto">
          <a:xfrm>
            <a:off x="4861595" y="3511666"/>
            <a:ext cx="1193006" cy="516731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4403203" y="3890284"/>
            <a:ext cx="26860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rdt_rcv(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 </a:t>
            </a:r>
            <a:r>
              <a:rPr lang="en-US" altLang="zh-CN" sz="1050" dirty="0" err="1">
                <a:solidFill>
                  <a:srgbClr val="0000FF"/>
                </a:solidFill>
              </a:rPr>
              <a:t>notcorrupt</a:t>
            </a:r>
            <a:r>
              <a:rPr lang="en-US" altLang="zh-CN" sz="1050" dirty="0">
                <a:solidFill>
                  <a:srgbClr val="0000FF"/>
                </a:solidFill>
              </a:rPr>
              <a:t>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</a:t>
            </a:r>
          </a:p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  &amp;&amp; has_seq1(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</a:t>
            </a:r>
            <a:r>
              <a:rPr lang="en-US" altLang="zh-CN" sz="1200" dirty="0">
                <a:solidFill>
                  <a:srgbClr val="0000FF"/>
                </a:solidFill>
              </a:rPr>
              <a:t> </a:t>
            </a:r>
            <a:endParaRPr lang="en-US" altLang="zh-CN" sz="12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4453210" y="4308194"/>
            <a:ext cx="2174081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4410348" y="4285646"/>
            <a:ext cx="2889647" cy="66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extract(</a:t>
            </a:r>
            <a:r>
              <a:rPr lang="en-US" altLang="zh-CN" sz="1050" dirty="0" err="1">
                <a:solidFill>
                  <a:srgbClr val="740000"/>
                </a:solidFill>
              </a:rPr>
              <a:t>rcvpkt</a:t>
            </a:r>
            <a:r>
              <a:rPr lang="en-US" altLang="zh-CN" sz="1050" dirty="0">
                <a:solidFill>
                  <a:srgbClr val="740000"/>
                </a:solidFill>
              </a:rPr>
              <a:t>, data)</a:t>
            </a:r>
          </a:p>
          <a:p>
            <a:pPr eaLnBrk="0" hangingPunct="0"/>
            <a:r>
              <a:rPr lang="en-US" altLang="zh-CN" sz="1050" dirty="0">
                <a:solidFill>
                  <a:srgbClr val="FF0000"/>
                </a:solidFill>
              </a:rPr>
              <a:t>deliver_data(data)</a:t>
            </a:r>
          </a:p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sndpkt = make_pkt(ACK, </a:t>
            </a:r>
            <a:r>
              <a:rPr lang="en-US" altLang="zh-CN" sz="1050" dirty="0" err="1">
                <a:solidFill>
                  <a:srgbClr val="740000"/>
                </a:solidFill>
              </a:rPr>
              <a:t>chksum</a:t>
            </a:r>
            <a:r>
              <a:rPr lang="en-US" altLang="zh-CN" sz="1050" dirty="0">
                <a:solidFill>
                  <a:srgbClr val="740000"/>
                </a:solidFill>
              </a:rPr>
              <a:t>)</a:t>
            </a:r>
          </a:p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udt_send(sndpkt)</a:t>
            </a:r>
            <a:endParaRPr lang="en-US" altLang="zh-CN" sz="1050" dirty="0">
              <a:solidFill>
                <a:srgbClr val="74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0" name="Group 15"/>
          <p:cNvGrpSpPr/>
          <p:nvPr/>
        </p:nvGrpSpPr>
        <p:grpSpPr bwMode="auto">
          <a:xfrm>
            <a:off x="5681938" y="2925878"/>
            <a:ext cx="671513" cy="597694"/>
            <a:chOff x="4354" y="3133"/>
            <a:chExt cx="564" cy="502"/>
          </a:xfrm>
        </p:grpSpPr>
        <p:sp>
          <p:nvSpPr>
            <p:cNvPr id="21" name="Oval 16"/>
            <p:cNvSpPr>
              <a:spLocks noChangeArrowheads="1"/>
            </p:cNvSpPr>
            <p:nvPr/>
          </p:nvSpPr>
          <p:spPr bwMode="auto">
            <a:xfrm>
              <a:off x="4398" y="3133"/>
              <a:ext cx="507" cy="50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>
              <a:off x="4354" y="3163"/>
              <a:ext cx="56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 dirty="0"/>
                <a:t>Wait for </a:t>
              </a:r>
            </a:p>
            <a:p>
              <a:pPr algn="ctr" eaLnBrk="0" hangingPunct="0"/>
              <a:r>
                <a:rPr lang="en-US" altLang="zh-CN" sz="1050" dirty="0"/>
                <a:t>1 from below</a:t>
              </a:r>
              <a:endParaRPr lang="en-US" altLang="zh-CN" sz="105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" name="Freeform 18"/>
          <p:cNvSpPr/>
          <p:nvPr/>
        </p:nvSpPr>
        <p:spPr bwMode="auto">
          <a:xfrm rot="20238987">
            <a:off x="6259389" y="2619888"/>
            <a:ext cx="629840" cy="647700"/>
          </a:xfrm>
          <a:custGeom>
            <a:avLst/>
            <a:gdLst>
              <a:gd name="T0" fmla="*/ 39 w 619"/>
              <a:gd name="T1" fmla="*/ 1136 h 1815"/>
              <a:gd name="T2" fmla="*/ 0 w 619"/>
              <a:gd name="T3" fmla="*/ 773 h 18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" name="Text Box 19"/>
          <p:cNvSpPr txBox="1">
            <a:spLocks noChangeArrowheads="1"/>
          </p:cNvSpPr>
          <p:nvPr/>
        </p:nvSpPr>
        <p:spPr bwMode="auto">
          <a:xfrm>
            <a:off x="4557427" y="1622144"/>
            <a:ext cx="3618402" cy="232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rdt_rcv(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 </a:t>
            </a:r>
            <a:r>
              <a:rPr lang="en-US" altLang="zh-CN" sz="1050" dirty="0" err="1">
                <a:solidFill>
                  <a:srgbClr val="0000FF"/>
                </a:solidFill>
              </a:rPr>
              <a:t>notcorrupt</a:t>
            </a:r>
            <a:r>
              <a:rPr lang="en-US" altLang="zh-CN" sz="1050" dirty="0">
                <a:solidFill>
                  <a:srgbClr val="0000FF"/>
                </a:solidFill>
              </a:rPr>
              <a:t>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 &amp;&amp; has_seq0(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</a:t>
            </a:r>
            <a:endParaRPr lang="en-US" altLang="zh-CN" sz="105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>
            <a:off x="4606801" y="1847172"/>
            <a:ext cx="14358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4551194" y="1821759"/>
            <a:ext cx="2606279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extract(</a:t>
            </a:r>
            <a:r>
              <a:rPr lang="en-US" altLang="zh-CN" sz="1050" dirty="0" err="1">
                <a:solidFill>
                  <a:srgbClr val="740000"/>
                </a:solidFill>
              </a:rPr>
              <a:t>rcvpkt</a:t>
            </a:r>
            <a:r>
              <a:rPr lang="en-US" altLang="zh-CN" sz="1050" dirty="0">
                <a:solidFill>
                  <a:srgbClr val="740000"/>
                </a:solidFill>
              </a:rPr>
              <a:t>, data)</a:t>
            </a:r>
          </a:p>
          <a:p>
            <a:pPr eaLnBrk="0" hangingPunct="0"/>
            <a:r>
              <a:rPr lang="en-US" altLang="zh-CN" sz="1050" dirty="0">
                <a:solidFill>
                  <a:srgbClr val="FF0000"/>
                </a:solidFill>
              </a:rPr>
              <a:t>deliver_data(data)</a:t>
            </a:r>
          </a:p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sndpkt = make_pkt(ACK, </a:t>
            </a:r>
            <a:r>
              <a:rPr lang="en-US" altLang="zh-CN" sz="1050" dirty="0" err="1">
                <a:solidFill>
                  <a:srgbClr val="740000"/>
                </a:solidFill>
              </a:rPr>
              <a:t>chksum</a:t>
            </a:r>
            <a:r>
              <a:rPr lang="en-US" altLang="zh-CN" sz="1050" dirty="0">
                <a:solidFill>
                  <a:srgbClr val="740000"/>
                </a:solidFill>
              </a:rPr>
              <a:t>)</a:t>
            </a:r>
          </a:p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udt_send(sndpkt)</a:t>
            </a:r>
            <a:endParaRPr lang="en-US" altLang="zh-CN" sz="1050" dirty="0">
              <a:solidFill>
                <a:srgbClr val="74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Freeform 22"/>
          <p:cNvSpPr/>
          <p:nvPr/>
        </p:nvSpPr>
        <p:spPr bwMode="auto">
          <a:xfrm rot="1020547">
            <a:off x="6277247" y="3162813"/>
            <a:ext cx="629841" cy="647700"/>
          </a:xfrm>
          <a:custGeom>
            <a:avLst/>
            <a:gdLst>
              <a:gd name="T0" fmla="*/ 39 w 619"/>
              <a:gd name="T1" fmla="*/ 1136 h 1815"/>
              <a:gd name="T2" fmla="*/ 0 w 619"/>
              <a:gd name="T3" fmla="*/ 773 h 18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6732066" y="2381763"/>
            <a:ext cx="215384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rdt_rcv(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 (corrupt(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</a:t>
            </a:r>
            <a:endParaRPr lang="en-US" altLang="zh-CN" sz="105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Line 24"/>
          <p:cNvSpPr>
            <a:spLocks noChangeShapeType="1"/>
          </p:cNvSpPr>
          <p:nvPr/>
        </p:nvSpPr>
        <p:spPr bwMode="auto">
          <a:xfrm>
            <a:off x="6835651" y="2615125"/>
            <a:ext cx="145375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6759450" y="3667638"/>
            <a:ext cx="2205038" cy="30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sndpkt = make_pkt(ACK, </a:t>
            </a:r>
            <a:r>
              <a:rPr lang="en-US" altLang="zh-CN" sz="1050" dirty="0" err="1">
                <a:solidFill>
                  <a:srgbClr val="740000"/>
                </a:solidFill>
              </a:rPr>
              <a:t>chksum</a:t>
            </a:r>
            <a:r>
              <a:rPr lang="en-US" altLang="zh-CN" sz="1050" dirty="0">
                <a:solidFill>
                  <a:srgbClr val="740000"/>
                </a:solidFill>
              </a:rPr>
              <a:t>)</a:t>
            </a:r>
          </a:p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udt_send(sndpkt)</a:t>
            </a:r>
            <a:endParaRPr lang="en-US" altLang="zh-CN" sz="1050" dirty="0">
              <a:solidFill>
                <a:srgbClr val="74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2326753" y="3123522"/>
            <a:ext cx="1968104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rdt_rcv(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 </a:t>
            </a:r>
          </a:p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   not corrupt(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</a:t>
            </a:r>
          </a:p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   has_seq1(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</a:t>
            </a:r>
          </a:p>
          <a:p>
            <a:pPr algn="ctr" eaLnBrk="0" hangingPunct="0"/>
            <a:endParaRPr lang="en-US" altLang="zh-CN" sz="12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Line 27"/>
          <p:cNvSpPr>
            <a:spLocks noChangeShapeType="1"/>
          </p:cNvSpPr>
          <p:nvPr/>
        </p:nvSpPr>
        <p:spPr bwMode="auto">
          <a:xfrm>
            <a:off x="2389857" y="3654541"/>
            <a:ext cx="145375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" name="Text Box 28"/>
          <p:cNvSpPr txBox="1">
            <a:spLocks noChangeArrowheads="1"/>
          </p:cNvSpPr>
          <p:nvPr/>
        </p:nvSpPr>
        <p:spPr bwMode="auto">
          <a:xfrm>
            <a:off x="2316039" y="2369857"/>
            <a:ext cx="215384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rdt_rcv(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 (corrupt(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</a:t>
            </a:r>
            <a:endParaRPr lang="en-US" altLang="zh-CN" sz="105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Line 29"/>
          <p:cNvSpPr>
            <a:spLocks noChangeShapeType="1"/>
          </p:cNvSpPr>
          <p:nvPr/>
        </p:nvSpPr>
        <p:spPr bwMode="auto">
          <a:xfrm>
            <a:off x="2391047" y="2615125"/>
            <a:ext cx="14537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5" name="Text Box 30"/>
          <p:cNvSpPr txBox="1">
            <a:spLocks noChangeArrowheads="1"/>
          </p:cNvSpPr>
          <p:nvPr/>
        </p:nvSpPr>
        <p:spPr bwMode="auto">
          <a:xfrm>
            <a:off x="2350566" y="3671210"/>
            <a:ext cx="2205038" cy="30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sndpkt = make_pkt(ACK, </a:t>
            </a:r>
            <a:r>
              <a:rPr lang="en-US" altLang="zh-CN" sz="1050" dirty="0" err="1">
                <a:solidFill>
                  <a:srgbClr val="740000"/>
                </a:solidFill>
              </a:rPr>
              <a:t>chksum</a:t>
            </a:r>
            <a:r>
              <a:rPr lang="en-US" altLang="zh-CN" sz="1050" dirty="0">
                <a:solidFill>
                  <a:srgbClr val="740000"/>
                </a:solidFill>
              </a:rPr>
              <a:t>)</a:t>
            </a:r>
          </a:p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udt_send(sndpkt)</a:t>
            </a:r>
            <a:endParaRPr lang="en-US" altLang="zh-CN" sz="1050" dirty="0">
              <a:solidFill>
                <a:srgbClr val="74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Text Box 31"/>
          <p:cNvSpPr txBox="1">
            <a:spLocks noChangeArrowheads="1"/>
          </p:cNvSpPr>
          <p:nvPr/>
        </p:nvSpPr>
        <p:spPr bwMode="auto">
          <a:xfrm>
            <a:off x="2332707" y="2590122"/>
            <a:ext cx="2156222" cy="373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sndpkt = make_pkt(NAK, </a:t>
            </a:r>
            <a:r>
              <a:rPr lang="en-US" altLang="zh-CN" sz="1050" dirty="0" err="1">
                <a:solidFill>
                  <a:srgbClr val="740000"/>
                </a:solidFill>
              </a:rPr>
              <a:t>chksum</a:t>
            </a:r>
            <a:r>
              <a:rPr lang="en-US" altLang="zh-CN" sz="1050" dirty="0">
                <a:solidFill>
                  <a:srgbClr val="740000"/>
                </a:solidFill>
              </a:rPr>
              <a:t>)</a:t>
            </a:r>
          </a:p>
          <a:p>
            <a:pPr eaLnBrk="0" hangingPunct="0"/>
            <a:r>
              <a:rPr lang="en-US" altLang="zh-CN" sz="1050" dirty="0">
                <a:solidFill>
                  <a:srgbClr val="740000"/>
                </a:solidFill>
              </a:rPr>
              <a:t>udt_send(sndpkt)</a:t>
            </a:r>
            <a:endParaRPr lang="en-US" altLang="zh-CN" sz="1050" dirty="0">
              <a:solidFill>
                <a:srgbClr val="74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Freeform 32"/>
          <p:cNvSpPr/>
          <p:nvPr/>
        </p:nvSpPr>
        <p:spPr bwMode="auto">
          <a:xfrm rot="20579453" flipH="1">
            <a:off x="3857897" y="3115188"/>
            <a:ext cx="629841" cy="647700"/>
          </a:xfrm>
          <a:custGeom>
            <a:avLst/>
            <a:gdLst>
              <a:gd name="T0" fmla="*/ 39 w 619"/>
              <a:gd name="T1" fmla="*/ 1136 h 1815"/>
              <a:gd name="T2" fmla="*/ 0 w 619"/>
              <a:gd name="T3" fmla="*/ 773 h 18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8" name="Freeform 33"/>
          <p:cNvSpPr/>
          <p:nvPr/>
        </p:nvSpPr>
        <p:spPr bwMode="auto">
          <a:xfrm rot="1361013" flipH="1">
            <a:off x="3848372" y="2629413"/>
            <a:ext cx="629841" cy="647700"/>
          </a:xfrm>
          <a:custGeom>
            <a:avLst/>
            <a:gdLst>
              <a:gd name="T0" fmla="*/ 39 w 619"/>
              <a:gd name="T1" fmla="*/ 1136 h 1815"/>
              <a:gd name="T2" fmla="*/ 0 w 619"/>
              <a:gd name="T3" fmla="*/ 773 h 18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9" name="内容占位符 2"/>
          <p:cNvSpPr txBox="1"/>
          <p:nvPr/>
        </p:nvSpPr>
        <p:spPr>
          <a:xfrm>
            <a:off x="468000" y="936000"/>
            <a:ext cx="3935203" cy="19356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rdt2.0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：停止等待协议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(ARQ)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rdt2.1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：处理“混淆的确认”</a:t>
            </a: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为分组编号（</a:t>
            </a: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24</a:t>
            </a:fld>
            <a:endParaRPr lang="en-US" altLang="zh-CN" dirty="0"/>
          </a:p>
        </p:txBody>
      </p:sp>
      <p:sp>
        <p:nvSpPr>
          <p:cNvPr id="4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 animBg="1"/>
      <p:bldP spid="19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/>
      <p:bldP spid="32" grpId="0" animBg="1"/>
      <p:bldP spid="33" grpId="0"/>
      <p:bldP spid="34" grpId="0" animBg="1"/>
      <p:bldP spid="35" grpId="0"/>
      <p:bldP spid="36" grpId="0"/>
      <p:bldP spid="37" grpId="0" animBg="1"/>
      <p:bldP spid="38" grpId="0" animBg="1"/>
      <p:bldP spid="41" grpId="0" animBg="1"/>
      <p:bldP spid="41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rdt2.1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：处理“混淆的确认”</a:t>
            </a: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为分组编号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讨论：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222305" y="2203722"/>
            <a:ext cx="3109269" cy="2250898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发送端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为分组编号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两个编号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{0,1}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足矣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必须检测确认信息是否出错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状态数量翻倍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相对于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rdt2.0)</a:t>
            </a: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在状态值中必须记录当前的数据分组号是</a:t>
            </a:r>
            <a:r>
              <a:rPr lang="en-US" altLang="zh-CN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还是</a:t>
            </a:r>
            <a:r>
              <a:rPr lang="en-US" altLang="zh-CN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1 </a:t>
            </a:r>
            <a:r>
              <a:rPr lang="en-US" altLang="zh-CN" sz="135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spcBef>
                <a:spcPts val="600"/>
              </a:spcBef>
            </a:pP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>
          <a:xfrm>
            <a:off x="4512468" y="2208130"/>
            <a:ext cx="3227883" cy="2247234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接收端</a:t>
            </a:r>
            <a:r>
              <a:rPr lang="en-US" altLang="zh-CN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必须检测数据分组是否出错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必须检测数据分组是否重复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3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状态值暗示了期待的分组号</a:t>
            </a:r>
            <a:endParaRPr lang="en-US" altLang="zh-CN" sz="135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en-US" altLang="zh-CN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5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接收方不知道最后的确认信息是否被发送方正确收到</a:t>
            </a:r>
            <a:endParaRPr lang="en-US" altLang="zh-CN" sz="15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25</a:t>
            </a:fld>
            <a:endParaRPr lang="en-US" altLang="zh-CN" dirty="0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  <p:bldP spid="7" grpId="0" animBg="1"/>
      <p:bldP spid="7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rdt2.1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：处理“混淆的确认”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为分组编号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rdt2.2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：小改进 </a:t>
            </a: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不要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否定确认</a:t>
            </a:r>
            <a:r>
              <a:rPr lang="en-US" altLang="zh-CN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(NAK)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的协议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rdt2.1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的功能相同</a:t>
            </a: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只使用肯定确认</a:t>
            </a: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(ACK)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ACK</a:t>
            </a: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进行编号</a:t>
            </a:r>
            <a:r>
              <a:rPr lang="en-US" altLang="zh-CN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{0,1}</a:t>
            </a: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足矣</a:t>
            </a:r>
            <a:endParaRPr lang="en-US" altLang="zh-CN" sz="15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发送方收到重复编号的</a:t>
            </a: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ACK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等同于收到</a:t>
            </a: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NAK</a:t>
            </a: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此时发送方将重传分组</a:t>
            </a:r>
          </a:p>
        </p:txBody>
      </p:sp>
      <p:sp>
        <p:nvSpPr>
          <p:cNvPr id="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26</a:t>
            </a:fld>
            <a:endParaRPr lang="en-US" altLang="zh-CN" dirty="0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1231904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rdt2.1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：处理“混淆的确认”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为分组编号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rdt2.2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：小改进 </a:t>
            </a: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不要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否定确认</a:t>
            </a:r>
            <a:r>
              <a:rPr lang="en-US" altLang="zh-CN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(NAK)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的协议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43608" y="2193615"/>
            <a:ext cx="2322989" cy="2603387"/>
            <a:chOff x="178538" y="2924820"/>
            <a:chExt cx="3097318" cy="34711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6" name="Line 5"/>
            <p:cNvSpPr>
              <a:spLocks noChangeShapeType="1"/>
            </p:cNvSpPr>
            <p:nvPr/>
          </p:nvSpPr>
          <p:spPr bwMode="auto">
            <a:xfrm>
              <a:off x="755700" y="3213745"/>
              <a:ext cx="8625" cy="3095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" name="Line 6"/>
            <p:cNvSpPr>
              <a:spLocks noChangeShapeType="1"/>
            </p:cNvSpPr>
            <p:nvPr/>
          </p:nvSpPr>
          <p:spPr bwMode="auto">
            <a:xfrm>
              <a:off x="2845537" y="3213745"/>
              <a:ext cx="0" cy="3095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Line 7"/>
            <p:cNvSpPr>
              <a:spLocks noChangeShapeType="1"/>
            </p:cNvSpPr>
            <p:nvPr/>
          </p:nvSpPr>
          <p:spPr bwMode="auto">
            <a:xfrm>
              <a:off x="764325" y="3428057"/>
              <a:ext cx="2081212" cy="433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" name="Line 8"/>
            <p:cNvSpPr>
              <a:spLocks noChangeShapeType="1"/>
            </p:cNvSpPr>
            <p:nvPr/>
          </p:nvSpPr>
          <p:spPr bwMode="auto">
            <a:xfrm flipH="1">
              <a:off x="764324" y="3895725"/>
              <a:ext cx="2081213" cy="4299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6" name="Rectangle 9"/>
            <p:cNvSpPr>
              <a:spLocks noChangeArrowheads="1"/>
            </p:cNvSpPr>
            <p:nvPr/>
          </p:nvSpPr>
          <p:spPr bwMode="auto">
            <a:xfrm>
              <a:off x="331730" y="2924820"/>
              <a:ext cx="865187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/>
                <a:t>A</a:t>
              </a:r>
            </a:p>
          </p:txBody>
        </p:sp>
        <p:sp>
          <p:nvSpPr>
            <p:cNvPr id="47" name="Rectangle 10"/>
            <p:cNvSpPr>
              <a:spLocks noChangeArrowheads="1"/>
            </p:cNvSpPr>
            <p:nvPr/>
          </p:nvSpPr>
          <p:spPr bwMode="auto">
            <a:xfrm>
              <a:off x="2410669" y="2924820"/>
              <a:ext cx="865187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/>
                <a:t>B</a:t>
              </a:r>
            </a:p>
          </p:txBody>
        </p:sp>
        <p:sp>
          <p:nvSpPr>
            <p:cNvPr id="48" name="Rectangle 12"/>
            <p:cNvSpPr>
              <a:spLocks noChangeArrowheads="1"/>
            </p:cNvSpPr>
            <p:nvPr/>
          </p:nvSpPr>
          <p:spPr bwMode="auto">
            <a:xfrm>
              <a:off x="1377229" y="3988122"/>
              <a:ext cx="684877" cy="28892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/>
                <a:t>ack</a:t>
              </a:r>
              <a:r>
                <a:rPr lang="en-US" altLang="zh-CN" sz="1350" baseline="-25000" dirty="0"/>
                <a:t>0</a:t>
              </a:r>
            </a:p>
          </p:txBody>
        </p:sp>
        <p:sp>
          <p:nvSpPr>
            <p:cNvPr id="60" name="Line 25"/>
            <p:cNvSpPr>
              <a:spLocks noChangeShapeType="1"/>
            </p:cNvSpPr>
            <p:nvPr/>
          </p:nvSpPr>
          <p:spPr bwMode="auto">
            <a:xfrm>
              <a:off x="763706" y="4418037"/>
              <a:ext cx="2081831" cy="3650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" name="Rectangle 26"/>
            <p:cNvSpPr>
              <a:spLocks noChangeArrowheads="1"/>
            </p:cNvSpPr>
            <p:nvPr/>
          </p:nvSpPr>
          <p:spPr bwMode="auto">
            <a:xfrm>
              <a:off x="178538" y="4351282"/>
              <a:ext cx="586408" cy="288925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1</a:t>
              </a:r>
            </a:p>
          </p:txBody>
        </p:sp>
        <p:sp>
          <p:nvSpPr>
            <p:cNvPr id="62" name="Line 27"/>
            <p:cNvSpPr>
              <a:spLocks noChangeShapeType="1"/>
            </p:cNvSpPr>
            <p:nvPr/>
          </p:nvSpPr>
          <p:spPr bwMode="auto">
            <a:xfrm flipH="1">
              <a:off x="757974" y="4801771"/>
              <a:ext cx="2085289" cy="568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" name="Rectangle 28"/>
            <p:cNvSpPr>
              <a:spLocks noChangeArrowheads="1"/>
            </p:cNvSpPr>
            <p:nvPr/>
          </p:nvSpPr>
          <p:spPr bwMode="auto">
            <a:xfrm>
              <a:off x="1377228" y="4940151"/>
              <a:ext cx="684877" cy="28892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/>
                <a:t>ack</a:t>
              </a:r>
              <a:r>
                <a:rPr lang="en-US" altLang="zh-CN" sz="1350" baseline="-25000" dirty="0"/>
                <a:t>1</a:t>
              </a:r>
            </a:p>
          </p:txBody>
        </p:sp>
        <p:sp>
          <p:nvSpPr>
            <p:cNvPr id="64" name="Line 30"/>
            <p:cNvSpPr>
              <a:spLocks noChangeShapeType="1"/>
            </p:cNvSpPr>
            <p:nvPr/>
          </p:nvSpPr>
          <p:spPr bwMode="auto">
            <a:xfrm>
              <a:off x="764325" y="5430687"/>
              <a:ext cx="2078938" cy="394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5" name="Rectangle 29"/>
            <p:cNvSpPr>
              <a:spLocks noChangeArrowheads="1"/>
            </p:cNvSpPr>
            <p:nvPr/>
          </p:nvSpPr>
          <p:spPr bwMode="auto">
            <a:xfrm>
              <a:off x="178538" y="5257301"/>
              <a:ext cx="586408" cy="288925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0</a:t>
              </a:r>
            </a:p>
          </p:txBody>
        </p:sp>
        <p:sp>
          <p:nvSpPr>
            <p:cNvPr id="67" name="Rectangle 32"/>
            <p:cNvSpPr>
              <a:spLocks noChangeArrowheads="1"/>
            </p:cNvSpPr>
            <p:nvPr/>
          </p:nvSpPr>
          <p:spPr bwMode="auto">
            <a:xfrm>
              <a:off x="178538" y="3428057"/>
              <a:ext cx="586408" cy="28892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0</a:t>
              </a:r>
            </a:p>
          </p:txBody>
        </p:sp>
        <p:sp>
          <p:nvSpPr>
            <p:cNvPr id="100" name="Rectangle 22"/>
            <p:cNvSpPr>
              <a:spLocks noChangeArrowheads="1"/>
            </p:cNvSpPr>
            <p:nvPr/>
          </p:nvSpPr>
          <p:spPr bwMode="auto">
            <a:xfrm>
              <a:off x="1176088" y="5995893"/>
              <a:ext cx="1252908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scenario 1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540642" y="2193615"/>
            <a:ext cx="2322989" cy="2603387"/>
            <a:chOff x="3540642" y="2193615"/>
            <a:chExt cx="2322989" cy="2603387"/>
          </a:xfrm>
        </p:grpSpPr>
        <p:grpSp>
          <p:nvGrpSpPr>
            <p:cNvPr id="8" name="组合 7"/>
            <p:cNvGrpSpPr/>
            <p:nvPr/>
          </p:nvGrpSpPr>
          <p:grpSpPr>
            <a:xfrm>
              <a:off x="3540642" y="2193615"/>
              <a:ext cx="2322989" cy="2603387"/>
              <a:chOff x="3196856" y="2924820"/>
              <a:chExt cx="3097318" cy="34711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9" name="Line 5"/>
              <p:cNvSpPr>
                <a:spLocks noChangeShapeType="1"/>
              </p:cNvSpPr>
              <p:nvPr/>
            </p:nvSpPr>
            <p:spPr bwMode="auto">
              <a:xfrm>
                <a:off x="3774018" y="3213745"/>
                <a:ext cx="8625" cy="3095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0" name="Line 6"/>
              <p:cNvSpPr>
                <a:spLocks noChangeShapeType="1"/>
              </p:cNvSpPr>
              <p:nvPr/>
            </p:nvSpPr>
            <p:spPr bwMode="auto">
              <a:xfrm>
                <a:off x="5863855" y="3213745"/>
                <a:ext cx="0" cy="3095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1" name="Line 7"/>
              <p:cNvSpPr>
                <a:spLocks noChangeShapeType="1"/>
              </p:cNvSpPr>
              <p:nvPr/>
            </p:nvSpPr>
            <p:spPr bwMode="auto">
              <a:xfrm>
                <a:off x="3782643" y="3428057"/>
                <a:ext cx="1821233" cy="3607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2" name="Line 8"/>
              <p:cNvSpPr>
                <a:spLocks noChangeShapeType="1"/>
              </p:cNvSpPr>
              <p:nvPr/>
            </p:nvSpPr>
            <p:spPr bwMode="auto">
              <a:xfrm flipH="1">
                <a:off x="3782642" y="3895725"/>
                <a:ext cx="2081213" cy="4299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3" name="Rectangle 9"/>
              <p:cNvSpPr>
                <a:spLocks noChangeArrowheads="1"/>
              </p:cNvSpPr>
              <p:nvPr/>
            </p:nvSpPr>
            <p:spPr bwMode="auto">
              <a:xfrm>
                <a:off x="3350048" y="2924820"/>
                <a:ext cx="865187" cy="288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A</a:t>
                </a:r>
              </a:p>
            </p:txBody>
          </p:sp>
          <p:sp>
            <p:nvSpPr>
              <p:cNvPr id="74" name="Rectangle 10"/>
              <p:cNvSpPr>
                <a:spLocks noChangeArrowheads="1"/>
              </p:cNvSpPr>
              <p:nvPr/>
            </p:nvSpPr>
            <p:spPr bwMode="auto">
              <a:xfrm>
                <a:off x="5428987" y="2924820"/>
                <a:ext cx="865187" cy="288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B</a:t>
                </a:r>
              </a:p>
            </p:txBody>
          </p:sp>
          <p:sp>
            <p:nvSpPr>
              <p:cNvPr id="75" name="Rectangle 12"/>
              <p:cNvSpPr>
                <a:spLocks noChangeArrowheads="1"/>
              </p:cNvSpPr>
              <p:nvPr/>
            </p:nvSpPr>
            <p:spPr bwMode="auto">
              <a:xfrm>
                <a:off x="4395547" y="3988122"/>
                <a:ext cx="684877" cy="288925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ack</a:t>
                </a:r>
                <a:r>
                  <a:rPr lang="en-US" altLang="zh-CN" sz="1350" baseline="-25000" dirty="0"/>
                  <a:t>1</a:t>
                </a:r>
              </a:p>
            </p:txBody>
          </p:sp>
          <p:sp>
            <p:nvSpPr>
              <p:cNvPr id="76" name="Line 25"/>
              <p:cNvSpPr>
                <a:spLocks noChangeShapeType="1"/>
              </p:cNvSpPr>
              <p:nvPr/>
            </p:nvSpPr>
            <p:spPr bwMode="auto">
              <a:xfrm>
                <a:off x="3782024" y="4418037"/>
                <a:ext cx="2081831" cy="3650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8" name="Line 27"/>
              <p:cNvSpPr>
                <a:spLocks noChangeShapeType="1"/>
              </p:cNvSpPr>
              <p:nvPr/>
            </p:nvSpPr>
            <p:spPr bwMode="auto">
              <a:xfrm flipH="1">
                <a:off x="3776292" y="4801771"/>
                <a:ext cx="2085289" cy="568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9" name="Rectangle 28"/>
              <p:cNvSpPr>
                <a:spLocks noChangeArrowheads="1"/>
              </p:cNvSpPr>
              <p:nvPr/>
            </p:nvSpPr>
            <p:spPr bwMode="auto">
              <a:xfrm>
                <a:off x="4395546" y="4940151"/>
                <a:ext cx="684877" cy="2889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ack</a:t>
                </a:r>
                <a:r>
                  <a:rPr lang="en-US" altLang="zh-CN" sz="1350" baseline="-25000" dirty="0"/>
                  <a:t>0</a:t>
                </a:r>
              </a:p>
            </p:txBody>
          </p:sp>
          <p:sp>
            <p:nvSpPr>
              <p:cNvPr id="80" name="Line 30"/>
              <p:cNvSpPr>
                <a:spLocks noChangeShapeType="1"/>
              </p:cNvSpPr>
              <p:nvPr/>
            </p:nvSpPr>
            <p:spPr bwMode="auto">
              <a:xfrm>
                <a:off x="3782643" y="5430687"/>
                <a:ext cx="2078938" cy="394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2" name="Rectangle 29"/>
              <p:cNvSpPr>
                <a:spLocks noChangeArrowheads="1"/>
              </p:cNvSpPr>
              <p:nvPr/>
            </p:nvSpPr>
            <p:spPr bwMode="auto">
              <a:xfrm>
                <a:off x="3196856" y="5257301"/>
                <a:ext cx="586408" cy="288925"/>
              </a:xfrm>
              <a:prstGeom prst="rect">
                <a:avLst/>
              </a:prstGeom>
              <a:solidFill>
                <a:srgbClr val="97D2FF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pkt</a:t>
                </a:r>
                <a:r>
                  <a:rPr lang="en-US" altLang="zh-CN" sz="1350" baseline="-25000" dirty="0"/>
                  <a:t>1</a:t>
                </a:r>
              </a:p>
            </p:txBody>
          </p:sp>
          <p:sp>
            <p:nvSpPr>
              <p:cNvPr id="83" name="Rectangle 32"/>
              <p:cNvSpPr>
                <a:spLocks noChangeArrowheads="1"/>
              </p:cNvSpPr>
              <p:nvPr/>
            </p:nvSpPr>
            <p:spPr bwMode="auto">
              <a:xfrm>
                <a:off x="3196856" y="3428057"/>
                <a:ext cx="586408" cy="2889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pkt</a:t>
                </a:r>
                <a:r>
                  <a:rPr lang="en-US" altLang="zh-CN" sz="1350" baseline="-25000" dirty="0"/>
                  <a:t>0</a:t>
                </a:r>
              </a:p>
            </p:txBody>
          </p:sp>
          <p:sp>
            <p:nvSpPr>
              <p:cNvPr id="99" name="Rectangle 22"/>
              <p:cNvSpPr>
                <a:spLocks noChangeArrowheads="1"/>
              </p:cNvSpPr>
              <p:nvPr/>
            </p:nvSpPr>
            <p:spPr bwMode="auto">
              <a:xfrm>
                <a:off x="4262032" y="5995892"/>
                <a:ext cx="1252908" cy="4001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35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scenario 2</a:t>
                </a:r>
              </a:p>
            </p:txBody>
          </p:sp>
          <p:sp>
            <p:nvSpPr>
              <p:cNvPr id="102" name="Rectangle 29"/>
              <p:cNvSpPr>
                <a:spLocks noChangeArrowheads="1"/>
              </p:cNvSpPr>
              <p:nvPr/>
            </p:nvSpPr>
            <p:spPr bwMode="auto">
              <a:xfrm>
                <a:off x="3196856" y="4294884"/>
                <a:ext cx="586408" cy="2889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pkt</a:t>
                </a:r>
                <a:r>
                  <a:rPr lang="en-US" altLang="zh-CN" sz="1350" baseline="-25000" dirty="0"/>
                  <a:t>0</a:t>
                </a:r>
              </a:p>
            </p:txBody>
          </p:sp>
          <p:sp>
            <p:nvSpPr>
              <p:cNvPr id="54" name="Rectangle 32"/>
              <p:cNvSpPr>
                <a:spLocks noChangeArrowheads="1"/>
              </p:cNvSpPr>
              <p:nvPr/>
            </p:nvSpPr>
            <p:spPr bwMode="auto">
              <a:xfrm>
                <a:off x="5603255" y="3732574"/>
                <a:ext cx="586408" cy="2889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solidFill>
                      <a:srgbClr val="FF0000"/>
                    </a:solidFill>
                  </a:rPr>
                  <a:t>error</a:t>
                </a:r>
              </a:p>
            </p:txBody>
          </p:sp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1699" y="2905744"/>
              <a:ext cx="217171" cy="22076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5" name="组合 4"/>
          <p:cNvGrpSpPr/>
          <p:nvPr/>
        </p:nvGrpSpPr>
        <p:grpSpPr>
          <a:xfrm>
            <a:off x="6041728" y="2193615"/>
            <a:ext cx="2130672" cy="2603387"/>
            <a:chOff x="6041728" y="2193615"/>
            <a:chExt cx="2130672" cy="2603387"/>
          </a:xfrm>
        </p:grpSpPr>
        <p:grpSp>
          <p:nvGrpSpPr>
            <p:cNvPr id="9" name="组合 8"/>
            <p:cNvGrpSpPr/>
            <p:nvPr/>
          </p:nvGrpSpPr>
          <p:grpSpPr>
            <a:xfrm>
              <a:off x="6041728" y="2193615"/>
              <a:ext cx="2130672" cy="2603387"/>
              <a:chOff x="6195600" y="2924820"/>
              <a:chExt cx="2840896" cy="347118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4" name="Line 5"/>
              <p:cNvSpPr>
                <a:spLocks noChangeShapeType="1"/>
              </p:cNvSpPr>
              <p:nvPr/>
            </p:nvSpPr>
            <p:spPr bwMode="auto">
              <a:xfrm>
                <a:off x="6777225" y="3213745"/>
                <a:ext cx="8625" cy="3095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5" name="Line 6"/>
              <p:cNvSpPr>
                <a:spLocks noChangeShapeType="1"/>
              </p:cNvSpPr>
              <p:nvPr/>
            </p:nvSpPr>
            <p:spPr bwMode="auto">
              <a:xfrm>
                <a:off x="8867062" y="3213745"/>
                <a:ext cx="0" cy="3095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6" name="Line 7"/>
              <p:cNvSpPr>
                <a:spLocks noChangeShapeType="1"/>
              </p:cNvSpPr>
              <p:nvPr/>
            </p:nvSpPr>
            <p:spPr bwMode="auto">
              <a:xfrm>
                <a:off x="6785850" y="3428057"/>
                <a:ext cx="2081212" cy="4333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7" name="Line 8"/>
              <p:cNvSpPr>
                <a:spLocks noChangeShapeType="1"/>
              </p:cNvSpPr>
              <p:nvPr/>
            </p:nvSpPr>
            <p:spPr bwMode="auto">
              <a:xfrm flipH="1">
                <a:off x="6785849" y="3895725"/>
                <a:ext cx="2081213" cy="4299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8" name="Rectangle 9"/>
              <p:cNvSpPr>
                <a:spLocks noChangeArrowheads="1"/>
              </p:cNvSpPr>
              <p:nvPr/>
            </p:nvSpPr>
            <p:spPr bwMode="auto">
              <a:xfrm>
                <a:off x="6353255" y="2924820"/>
                <a:ext cx="865187" cy="288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A</a:t>
                </a:r>
              </a:p>
            </p:txBody>
          </p:sp>
          <p:sp>
            <p:nvSpPr>
              <p:cNvPr id="89" name="Rectangle 10"/>
              <p:cNvSpPr>
                <a:spLocks noChangeArrowheads="1"/>
              </p:cNvSpPr>
              <p:nvPr/>
            </p:nvSpPr>
            <p:spPr bwMode="auto">
              <a:xfrm>
                <a:off x="8693080" y="2924820"/>
                <a:ext cx="343416" cy="288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B</a:t>
                </a:r>
              </a:p>
            </p:txBody>
          </p:sp>
          <p:sp>
            <p:nvSpPr>
              <p:cNvPr id="90" name="Rectangle 12"/>
              <p:cNvSpPr>
                <a:spLocks noChangeArrowheads="1"/>
              </p:cNvSpPr>
              <p:nvPr/>
            </p:nvSpPr>
            <p:spPr bwMode="auto">
              <a:xfrm>
                <a:off x="7398754" y="3988122"/>
                <a:ext cx="684877" cy="28892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ank</a:t>
                </a:r>
              </a:p>
            </p:txBody>
          </p:sp>
          <p:sp>
            <p:nvSpPr>
              <p:cNvPr id="91" name="Line 25"/>
              <p:cNvSpPr>
                <a:spLocks noChangeShapeType="1"/>
              </p:cNvSpPr>
              <p:nvPr/>
            </p:nvSpPr>
            <p:spPr bwMode="auto">
              <a:xfrm>
                <a:off x="6785231" y="4418037"/>
                <a:ext cx="2081831" cy="3650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3" name="Line 27"/>
              <p:cNvSpPr>
                <a:spLocks noChangeShapeType="1"/>
              </p:cNvSpPr>
              <p:nvPr/>
            </p:nvSpPr>
            <p:spPr bwMode="auto">
              <a:xfrm flipH="1">
                <a:off x="6779499" y="4801771"/>
                <a:ext cx="2085289" cy="568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4" name="Rectangle 28"/>
              <p:cNvSpPr>
                <a:spLocks noChangeArrowheads="1"/>
              </p:cNvSpPr>
              <p:nvPr/>
            </p:nvSpPr>
            <p:spPr bwMode="auto">
              <a:xfrm>
                <a:off x="7398753" y="4940151"/>
                <a:ext cx="684877" cy="2889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ack</a:t>
                </a:r>
                <a:r>
                  <a:rPr lang="en-US" altLang="zh-CN" sz="1350" baseline="-25000" dirty="0"/>
                  <a:t>0</a:t>
                </a:r>
              </a:p>
            </p:txBody>
          </p:sp>
          <p:sp>
            <p:nvSpPr>
              <p:cNvPr id="95" name="Line 30"/>
              <p:cNvSpPr>
                <a:spLocks noChangeShapeType="1"/>
              </p:cNvSpPr>
              <p:nvPr/>
            </p:nvSpPr>
            <p:spPr bwMode="auto">
              <a:xfrm>
                <a:off x="6785850" y="5430687"/>
                <a:ext cx="2078938" cy="394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7" name="Rectangle 32"/>
              <p:cNvSpPr>
                <a:spLocks noChangeArrowheads="1"/>
              </p:cNvSpPr>
              <p:nvPr/>
            </p:nvSpPr>
            <p:spPr bwMode="auto">
              <a:xfrm>
                <a:off x="6200063" y="3428057"/>
                <a:ext cx="586408" cy="2889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pkt</a:t>
                </a:r>
                <a:r>
                  <a:rPr lang="en-US" altLang="zh-CN" sz="1350" baseline="-25000" dirty="0"/>
                  <a:t>0</a:t>
                </a:r>
              </a:p>
            </p:txBody>
          </p:sp>
          <p:sp>
            <p:nvSpPr>
              <p:cNvPr id="98" name="Rectangle 22"/>
              <p:cNvSpPr>
                <a:spLocks noChangeArrowheads="1"/>
              </p:cNvSpPr>
              <p:nvPr/>
            </p:nvSpPr>
            <p:spPr bwMode="auto">
              <a:xfrm>
                <a:off x="7147063" y="5995893"/>
                <a:ext cx="1252908" cy="4001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35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scenario 3</a:t>
                </a:r>
              </a:p>
            </p:txBody>
          </p:sp>
          <p:sp>
            <p:nvSpPr>
              <p:cNvPr id="103" name="Rectangle 29"/>
              <p:cNvSpPr>
                <a:spLocks noChangeArrowheads="1"/>
              </p:cNvSpPr>
              <p:nvPr/>
            </p:nvSpPr>
            <p:spPr bwMode="auto">
              <a:xfrm>
                <a:off x="6195600" y="4294884"/>
                <a:ext cx="586408" cy="2889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pkt</a:t>
                </a:r>
                <a:r>
                  <a:rPr lang="en-US" altLang="zh-CN" sz="1350" baseline="-25000" dirty="0"/>
                  <a:t>0</a:t>
                </a:r>
              </a:p>
            </p:txBody>
          </p:sp>
          <p:sp>
            <p:nvSpPr>
              <p:cNvPr id="104" name="Rectangle 29"/>
              <p:cNvSpPr>
                <a:spLocks noChangeArrowheads="1"/>
              </p:cNvSpPr>
              <p:nvPr/>
            </p:nvSpPr>
            <p:spPr bwMode="auto">
              <a:xfrm>
                <a:off x="6197110" y="5257301"/>
                <a:ext cx="586408" cy="288925"/>
              </a:xfrm>
              <a:prstGeom prst="rect">
                <a:avLst/>
              </a:prstGeom>
              <a:solidFill>
                <a:srgbClr val="97D2FF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350" dirty="0"/>
                  <a:t>pkt</a:t>
                </a:r>
                <a:r>
                  <a:rPr lang="en-US" altLang="zh-CN" sz="1350" baseline="-25000" dirty="0"/>
                  <a:t>1</a:t>
                </a:r>
              </a:p>
            </p:txBody>
          </p:sp>
        </p:grpSp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9165" y="3075206"/>
              <a:ext cx="217171" cy="22076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27</a:t>
            </a:fld>
            <a:endParaRPr lang="en-US" altLang="zh-CN" dirty="0"/>
          </a:p>
        </p:txBody>
      </p:sp>
      <p:sp>
        <p:nvSpPr>
          <p:cNvPr id="5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8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rdt2.2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：不要否定确认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(NAK)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的协议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3"/>
          <p:cNvGrpSpPr/>
          <p:nvPr/>
        </p:nvGrpSpPr>
        <p:grpSpPr bwMode="auto">
          <a:xfrm>
            <a:off x="3238072" y="2334566"/>
            <a:ext cx="796528" cy="628650"/>
            <a:chOff x="1441" y="2062"/>
            <a:chExt cx="669" cy="528"/>
          </a:xfrm>
        </p:grpSpPr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1483" y="2062"/>
              <a:ext cx="578" cy="52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1441" y="2110"/>
              <a:ext cx="66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/>
                <a:t>Wait for call 0 from above</a:t>
              </a:r>
              <a:endParaRPr lang="en-US" altLang="zh-CN" sz="1050">
                <a:latin typeface="Times New Roman" panose="02020603050405020304" pitchFamily="18" charset="0"/>
              </a:endParaRPr>
            </a:p>
          </p:txBody>
        </p:sp>
      </p:grp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490485" y="1888249"/>
            <a:ext cx="279201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sndpkt = make_pkt(0, data, checksum)</a:t>
            </a:r>
          </a:p>
          <a:p>
            <a:pPr eaLnBrk="0" hangingPunct="0"/>
            <a:r>
              <a:rPr lang="en-US" altLang="zh-CN" sz="1050" dirty="0"/>
              <a:t>udt_send(sndpkt)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500010" y="1677508"/>
            <a:ext cx="1293019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/>
              <a:t>rdt_send(data)</a:t>
            </a:r>
            <a:endParaRPr lang="en-US" altLang="zh-CN" sz="1050">
              <a:latin typeface="Times New Roman" panose="02020603050405020304" pitchFamily="18" charset="0"/>
            </a:endParaRPr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3546444" y="1929921"/>
            <a:ext cx="2664619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3092816" y="2232173"/>
            <a:ext cx="314325" cy="17264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5" name="Freeform 10"/>
          <p:cNvSpPr/>
          <p:nvPr/>
        </p:nvSpPr>
        <p:spPr bwMode="auto">
          <a:xfrm flipV="1">
            <a:off x="3767900" y="2183357"/>
            <a:ext cx="1422797" cy="154781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6" name="Freeform 11"/>
          <p:cNvSpPr/>
          <p:nvPr/>
        </p:nvSpPr>
        <p:spPr bwMode="auto">
          <a:xfrm rot="20242820">
            <a:off x="5624085" y="2127398"/>
            <a:ext cx="339328" cy="645319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6008656" y="2657225"/>
            <a:ext cx="126531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b="1" dirty="0">
                <a:solidFill>
                  <a:srgbClr val="FF0000"/>
                </a:solidFill>
              </a:rPr>
              <a:t>udt_send(sndpkt)</a:t>
            </a:r>
            <a:endParaRPr lang="en-US" altLang="zh-CN" sz="105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5936028" y="2066675"/>
            <a:ext cx="137517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rdt_rcv(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&amp;&amp;  </a:t>
            </a:r>
          </a:p>
          <a:p>
            <a:pPr eaLnBrk="0" hangingPunct="0"/>
            <a:r>
              <a:rPr lang="en-US" altLang="zh-CN" sz="1050" dirty="0"/>
              <a:t>( corrupt(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||</a:t>
            </a:r>
          </a:p>
          <a:p>
            <a:pPr eaLnBrk="0" hangingPunct="0"/>
            <a:r>
              <a:rPr lang="en-US" altLang="zh-CN" sz="1050" dirty="0"/>
              <a:t>  </a:t>
            </a:r>
            <a:r>
              <a:rPr lang="en-US" altLang="zh-CN" sz="1050" b="1" dirty="0" err="1">
                <a:solidFill>
                  <a:srgbClr val="FF0000"/>
                </a:solidFill>
              </a:rPr>
              <a:t>isACK</a:t>
            </a:r>
            <a:r>
              <a:rPr lang="en-US" altLang="zh-CN" sz="1050" b="1" dirty="0">
                <a:solidFill>
                  <a:srgbClr val="FF0000"/>
                </a:solidFill>
              </a:rPr>
              <a:t>(rcvpkt,1)</a:t>
            </a:r>
            <a:r>
              <a:rPr lang="en-US" altLang="zh-CN" sz="1050" dirty="0"/>
              <a:t> )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 flipV="1">
            <a:off x="6086047" y="2652463"/>
            <a:ext cx="1065609" cy="119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0" name="Freeform 15"/>
          <p:cNvSpPr/>
          <p:nvPr/>
        </p:nvSpPr>
        <p:spPr bwMode="auto">
          <a:xfrm>
            <a:off x="5733622" y="2792548"/>
            <a:ext cx="117872" cy="740681"/>
          </a:xfrm>
          <a:custGeom>
            <a:avLst/>
            <a:gdLst>
              <a:gd name="T0" fmla="*/ 67 w 128"/>
              <a:gd name="T1" fmla="*/ 774 h 774"/>
              <a:gd name="T2" fmla="*/ 0 w 128"/>
              <a:gd name="T3" fmla="*/ 0 h 7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8" h="774">
                <a:moveTo>
                  <a:pt x="67" y="774"/>
                </a:moveTo>
                <a:cubicBezTo>
                  <a:pt x="128" y="425"/>
                  <a:pt x="81" y="0"/>
                  <a:pt x="0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5841968" y="3160860"/>
            <a:ext cx="1809750" cy="567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rdt_rcv(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  </a:t>
            </a:r>
          </a:p>
          <a:p>
            <a:pPr eaLnBrk="0" hangingPunct="0"/>
            <a:r>
              <a:rPr lang="en-US" altLang="zh-CN" sz="1050" dirty="0"/>
              <a:t>&amp;&amp; </a:t>
            </a:r>
            <a:r>
              <a:rPr lang="en-US" altLang="zh-CN" sz="1050" dirty="0" err="1"/>
              <a:t>notcorrupt</a:t>
            </a:r>
            <a:r>
              <a:rPr lang="en-US" altLang="zh-CN" sz="1050" dirty="0"/>
              <a:t>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</a:t>
            </a:r>
          </a:p>
          <a:p>
            <a:pPr eaLnBrk="0" hangingPunct="0"/>
            <a:r>
              <a:rPr lang="en-US" altLang="zh-CN" sz="1050" dirty="0"/>
              <a:t>&amp;&amp; </a:t>
            </a:r>
            <a:r>
              <a:rPr lang="en-US" altLang="zh-CN" sz="1050" b="1" dirty="0" err="1">
                <a:solidFill>
                  <a:srgbClr val="FF0000"/>
                </a:solidFill>
              </a:rPr>
              <a:t>isACK</a:t>
            </a:r>
            <a:r>
              <a:rPr lang="en-US" altLang="zh-CN" sz="1050" b="1" dirty="0">
                <a:solidFill>
                  <a:srgbClr val="FF0000"/>
                </a:solidFill>
              </a:rPr>
              <a:t>(rcvpkt,0)</a:t>
            </a:r>
            <a:r>
              <a:rPr lang="en-US" altLang="zh-CN" sz="675" dirty="0"/>
              <a:t> </a:t>
            </a:r>
            <a:endParaRPr lang="en-US" altLang="zh-CN" sz="1500" dirty="0">
              <a:latin typeface="Times New Roman" panose="02020603050405020304" pitchFamily="18" charset="0"/>
            </a:endParaRPr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5908644" y="3728788"/>
            <a:ext cx="13977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23" name="Group 18"/>
          <p:cNvGrpSpPr/>
          <p:nvPr/>
        </p:nvGrpSpPr>
        <p:grpSpPr bwMode="auto">
          <a:xfrm>
            <a:off x="5004960" y="2294085"/>
            <a:ext cx="796528" cy="628650"/>
            <a:chOff x="1441" y="2062"/>
            <a:chExt cx="669" cy="528"/>
          </a:xfrm>
        </p:grpSpPr>
        <p:sp>
          <p:nvSpPr>
            <p:cNvPr id="24" name="Oval 19"/>
            <p:cNvSpPr>
              <a:spLocks noChangeArrowheads="1"/>
            </p:cNvSpPr>
            <p:nvPr/>
          </p:nvSpPr>
          <p:spPr bwMode="auto">
            <a:xfrm>
              <a:off x="1483" y="2062"/>
              <a:ext cx="578" cy="52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1441" y="2110"/>
              <a:ext cx="66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/>
                <a:t>Wait for ACK</a:t>
              </a:r>
            </a:p>
            <a:p>
              <a:pPr algn="ctr" eaLnBrk="0" hangingPunct="0"/>
              <a:r>
                <a:rPr lang="en-US" altLang="zh-CN" sz="1050"/>
                <a:t>0</a:t>
              </a:r>
              <a:endParaRPr lang="en-US" altLang="zh-CN" sz="1050">
                <a:latin typeface="Times New Roman" panose="02020603050405020304" pitchFamily="18" charset="0"/>
              </a:endParaRPr>
            </a:p>
          </p:txBody>
        </p:sp>
      </p:grp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4084606" y="2832248"/>
            <a:ext cx="117872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500" dirty="0">
                <a:solidFill>
                  <a:srgbClr val="0000FF"/>
                </a:solidFill>
                <a:latin typeface="+mj-ea"/>
                <a:ea typeface="+mj-ea"/>
              </a:rPr>
              <a:t>发送方片段</a:t>
            </a:r>
            <a:endParaRPr lang="en-US" altLang="zh-CN" sz="1500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grpSp>
        <p:nvGrpSpPr>
          <p:cNvPr id="27" name="Group 22"/>
          <p:cNvGrpSpPr/>
          <p:nvPr/>
        </p:nvGrpSpPr>
        <p:grpSpPr bwMode="auto">
          <a:xfrm>
            <a:off x="3092816" y="3489176"/>
            <a:ext cx="635794" cy="596503"/>
            <a:chOff x="3570" y="3063"/>
            <a:chExt cx="534" cy="501"/>
          </a:xfrm>
        </p:grpSpPr>
        <p:sp>
          <p:nvSpPr>
            <p:cNvPr id="28" name="Oval 23"/>
            <p:cNvSpPr>
              <a:spLocks noChangeArrowheads="1"/>
            </p:cNvSpPr>
            <p:nvPr/>
          </p:nvSpPr>
          <p:spPr bwMode="auto">
            <a:xfrm>
              <a:off x="3570" y="3063"/>
              <a:ext cx="534" cy="50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" name="Text Box 24"/>
            <p:cNvSpPr txBox="1">
              <a:spLocks noChangeArrowheads="1"/>
            </p:cNvSpPr>
            <p:nvPr/>
          </p:nvSpPr>
          <p:spPr bwMode="auto">
            <a:xfrm>
              <a:off x="3597" y="3085"/>
              <a:ext cx="50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/>
                <a:t>Wait for </a:t>
              </a:r>
            </a:p>
            <a:p>
              <a:pPr algn="ctr" eaLnBrk="0" hangingPunct="0"/>
              <a:r>
                <a:rPr lang="en-US" altLang="zh-CN" sz="1050"/>
                <a:t>0 from below</a:t>
              </a:r>
              <a:endParaRPr lang="en-US" altLang="zh-CN" sz="1050">
                <a:latin typeface="Times New Roman" panose="02020603050405020304" pitchFamily="18" charset="0"/>
              </a:endParaRPr>
            </a:p>
          </p:txBody>
        </p:sp>
      </p:grpSp>
      <p:sp>
        <p:nvSpPr>
          <p:cNvPr id="30" name="Freeform 25"/>
          <p:cNvSpPr/>
          <p:nvPr/>
        </p:nvSpPr>
        <p:spPr bwMode="auto">
          <a:xfrm>
            <a:off x="3564303" y="3407022"/>
            <a:ext cx="619125" cy="139304"/>
          </a:xfrm>
          <a:custGeom>
            <a:avLst/>
            <a:gdLst>
              <a:gd name="T0" fmla="*/ 0 w 520"/>
              <a:gd name="T1" fmla="*/ 117 h 117"/>
              <a:gd name="T2" fmla="*/ 520 w 520"/>
              <a:gd name="T3" fmla="*/ 17 h 11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20" h="117">
                <a:moveTo>
                  <a:pt x="0" y="117"/>
                </a:moveTo>
                <a:cubicBezTo>
                  <a:pt x="136" y="17"/>
                  <a:pt x="276" y="0"/>
                  <a:pt x="520" y="17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1" name="Freeform 26"/>
          <p:cNvSpPr/>
          <p:nvPr/>
        </p:nvSpPr>
        <p:spPr bwMode="auto">
          <a:xfrm>
            <a:off x="3648838" y="4010670"/>
            <a:ext cx="1802606" cy="154781"/>
          </a:xfrm>
          <a:custGeom>
            <a:avLst/>
            <a:gdLst>
              <a:gd name="T0" fmla="*/ 0 w 1514"/>
              <a:gd name="T1" fmla="*/ 0 h 130"/>
              <a:gd name="T2" fmla="*/ 1514 w 1514"/>
              <a:gd name="T3" fmla="*/ 17 h 13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14" h="130">
                <a:moveTo>
                  <a:pt x="0" y="0"/>
                </a:moveTo>
                <a:cubicBezTo>
                  <a:pt x="266" y="130"/>
                  <a:pt x="1322" y="113"/>
                  <a:pt x="1514" y="17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3473816" y="4138977"/>
            <a:ext cx="367784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rdt_rcv(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&amp;&amp; </a:t>
            </a:r>
            <a:r>
              <a:rPr lang="en-US" altLang="zh-CN" sz="1050" dirty="0" err="1"/>
              <a:t>notcorrupt</a:t>
            </a:r>
            <a:r>
              <a:rPr lang="en-US" altLang="zh-CN" sz="1050" dirty="0"/>
              <a:t>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 &amp;&amp; has_seq1(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33" name="Line 28"/>
          <p:cNvSpPr>
            <a:spLocks noChangeShapeType="1"/>
          </p:cNvSpPr>
          <p:nvPr/>
        </p:nvSpPr>
        <p:spPr bwMode="auto">
          <a:xfrm>
            <a:off x="3557160" y="4373958"/>
            <a:ext cx="14358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3450003" y="4352378"/>
            <a:ext cx="3131344" cy="667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extract(</a:t>
            </a:r>
            <a:r>
              <a:rPr lang="en-US" altLang="zh-CN" sz="1050" dirty="0" err="1"/>
              <a:t>rcvpkt,data</a:t>
            </a:r>
            <a:r>
              <a:rPr lang="en-US" altLang="zh-CN" sz="1050" dirty="0"/>
              <a:t>)</a:t>
            </a:r>
          </a:p>
          <a:p>
            <a:pPr eaLnBrk="0" hangingPunct="0"/>
            <a:r>
              <a:rPr lang="en-US" altLang="zh-CN" sz="1050" dirty="0"/>
              <a:t>deliver_data(data)</a:t>
            </a:r>
          </a:p>
          <a:p>
            <a:pPr eaLnBrk="0" hangingPunct="0"/>
            <a:r>
              <a:rPr lang="en-US" altLang="zh-CN" sz="1050" b="1" dirty="0">
                <a:solidFill>
                  <a:srgbClr val="FF0000"/>
                </a:solidFill>
              </a:rPr>
              <a:t>sndpkt = make_pkt(ACK1, </a:t>
            </a:r>
            <a:r>
              <a:rPr lang="en-US" altLang="zh-CN" sz="1050" b="1" dirty="0" err="1">
                <a:solidFill>
                  <a:srgbClr val="FF0000"/>
                </a:solidFill>
              </a:rPr>
              <a:t>chksum</a:t>
            </a:r>
            <a:r>
              <a:rPr lang="en-US" altLang="zh-CN" sz="1050" b="1" dirty="0">
                <a:solidFill>
                  <a:srgbClr val="FF0000"/>
                </a:solidFill>
              </a:rPr>
              <a:t>)</a:t>
            </a:r>
          </a:p>
          <a:p>
            <a:pPr eaLnBrk="0" hangingPunct="0"/>
            <a:r>
              <a:rPr lang="en-US" altLang="zh-CN" sz="1050" dirty="0"/>
              <a:t>udt_send(sndpkt)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35" name="Freeform 30"/>
          <p:cNvSpPr/>
          <p:nvPr/>
        </p:nvSpPr>
        <p:spPr bwMode="auto">
          <a:xfrm flipH="1">
            <a:off x="2745153" y="3228428"/>
            <a:ext cx="367903" cy="1019175"/>
          </a:xfrm>
          <a:custGeom>
            <a:avLst/>
            <a:gdLst>
              <a:gd name="T0" fmla="*/ 39 w 619"/>
              <a:gd name="T1" fmla="*/ 1136 h 1815"/>
              <a:gd name="T2" fmla="*/ 0 w 619"/>
              <a:gd name="T3" fmla="*/ 773 h 18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6" name="Line 31"/>
          <p:cNvSpPr>
            <a:spLocks noChangeShapeType="1"/>
          </p:cNvSpPr>
          <p:nvPr/>
        </p:nvSpPr>
        <p:spPr bwMode="auto">
          <a:xfrm>
            <a:off x="1340215" y="3785641"/>
            <a:ext cx="14430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7" name="Text Box 32"/>
          <p:cNvSpPr txBox="1">
            <a:spLocks noChangeArrowheads="1"/>
          </p:cNvSpPr>
          <p:nvPr/>
        </p:nvSpPr>
        <p:spPr bwMode="auto">
          <a:xfrm>
            <a:off x="1279494" y="3222476"/>
            <a:ext cx="1770460" cy="47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rdt_rcv(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&amp;&amp; </a:t>
            </a:r>
          </a:p>
          <a:p>
            <a:pPr eaLnBrk="0" hangingPunct="0"/>
            <a:r>
              <a:rPr lang="en-US" altLang="zh-CN" sz="1050" dirty="0"/>
              <a:t>   (corrupt(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||</a:t>
            </a:r>
          </a:p>
          <a:p>
            <a:pPr eaLnBrk="0" hangingPunct="0"/>
            <a:r>
              <a:rPr lang="en-US" altLang="zh-CN" sz="1050" dirty="0"/>
              <a:t>     </a:t>
            </a:r>
            <a:r>
              <a:rPr lang="en-US" altLang="zh-CN" sz="1050" b="1" dirty="0">
                <a:solidFill>
                  <a:srgbClr val="FF0000"/>
                </a:solidFill>
              </a:rPr>
              <a:t>has_seq1(</a:t>
            </a:r>
            <a:r>
              <a:rPr lang="en-US" altLang="zh-CN" sz="1050" b="1" dirty="0" err="1">
                <a:solidFill>
                  <a:srgbClr val="FF0000"/>
                </a:solidFill>
              </a:rPr>
              <a:t>rcvpkt</a:t>
            </a:r>
            <a:r>
              <a:rPr lang="en-US" altLang="zh-CN" sz="1050" b="1" dirty="0">
                <a:solidFill>
                  <a:srgbClr val="FF0000"/>
                </a:solidFill>
              </a:rPr>
              <a:t>))</a:t>
            </a:r>
            <a:endParaRPr lang="en-US" altLang="zh-CN" sz="105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Text Box 33"/>
          <p:cNvSpPr txBox="1">
            <a:spLocks noChangeArrowheads="1"/>
          </p:cNvSpPr>
          <p:nvPr/>
        </p:nvSpPr>
        <p:spPr bwMode="auto">
          <a:xfrm>
            <a:off x="1400937" y="3807073"/>
            <a:ext cx="1528763" cy="30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b="1" dirty="0">
                <a:solidFill>
                  <a:srgbClr val="FF0000"/>
                </a:solidFill>
              </a:rPr>
              <a:t>udt_send(sndpkt)</a:t>
            </a:r>
            <a:endParaRPr lang="en-US" altLang="zh-CN" sz="105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Text Box 34"/>
          <p:cNvSpPr txBox="1">
            <a:spLocks noChangeArrowheads="1"/>
          </p:cNvSpPr>
          <p:nvPr/>
        </p:nvSpPr>
        <p:spPr bwMode="auto">
          <a:xfrm>
            <a:off x="3885228" y="3523704"/>
            <a:ext cx="114646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1500" dirty="0">
                <a:solidFill>
                  <a:srgbClr val="0000FF"/>
                </a:solidFill>
                <a:latin typeface="+mj-ea"/>
                <a:ea typeface="+mj-ea"/>
              </a:rPr>
              <a:t>接收方片段</a:t>
            </a:r>
            <a:endParaRPr lang="en-US" altLang="zh-CN" sz="1500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40" name="Line 35"/>
          <p:cNvSpPr>
            <a:spLocks noChangeShapeType="1"/>
          </p:cNvSpPr>
          <p:nvPr/>
        </p:nvSpPr>
        <p:spPr bwMode="auto">
          <a:xfrm>
            <a:off x="1785510" y="2425947"/>
            <a:ext cx="5912644" cy="2068116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1" name="Text Box 36"/>
          <p:cNvSpPr txBox="1">
            <a:spLocks noChangeArrowheads="1"/>
          </p:cNvSpPr>
          <p:nvPr/>
        </p:nvSpPr>
        <p:spPr bwMode="auto">
          <a:xfrm>
            <a:off x="6413469" y="3746648"/>
            <a:ext cx="28456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1200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4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28</a:t>
            </a:fld>
            <a:endParaRPr lang="en-US" altLang="zh-CN" dirty="0"/>
          </a:p>
        </p:txBody>
      </p:sp>
      <p:sp>
        <p:nvSpPr>
          <p:cNvPr id="4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 animBg="1"/>
      <p:bldP spid="26" grpId="0"/>
      <p:bldP spid="30" grpId="0" animBg="1"/>
      <p:bldP spid="31" grpId="0" animBg="1"/>
      <p:bldP spid="32" grpId="0"/>
      <p:bldP spid="33" grpId="0" animBg="1"/>
      <p:bldP spid="34" grpId="0"/>
      <p:bldP spid="35" grpId="0" animBg="1"/>
      <p:bldP spid="36" grpId="0" animBg="1"/>
      <p:bldP spid="37" grpId="0"/>
      <p:bldP spid="38" grpId="0"/>
      <p:bldP spid="39" grpId="0"/>
      <p:bldP spid="40" grpId="0" animBg="1"/>
      <p:bldP spid="41" grpId="0"/>
      <p:bldP spid="43" grpId="0" animBg="1"/>
      <p:bldP spid="43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795990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底层可靠信道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rdt1.0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底层不可靠信道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如何处理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bit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差错？</a:t>
            </a:r>
            <a:r>
              <a:rPr lang="en-US" altLang="zh-CN" sz="16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bit errors —  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 2.x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detect errors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recover errors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2: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如何处理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分组或确认的丢失？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packet lost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 lost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zh-CN" altLang="en-US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Group 4"/>
          <p:cNvGrpSpPr/>
          <p:nvPr/>
        </p:nvGrpSpPr>
        <p:grpSpPr bwMode="auto">
          <a:xfrm>
            <a:off x="2419821" y="3905424"/>
            <a:ext cx="6256734" cy="647700"/>
            <a:chOff x="362" y="1797"/>
            <a:chExt cx="5255" cy="544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748" y="1888"/>
              <a:ext cx="4309" cy="3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Oval 6"/>
            <p:cNvSpPr>
              <a:spLocks noChangeArrowheads="1"/>
            </p:cNvSpPr>
            <p:nvPr/>
          </p:nvSpPr>
          <p:spPr bwMode="auto">
            <a:xfrm>
              <a:off x="362" y="1797"/>
              <a:ext cx="771" cy="54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Sender</a:t>
              </a:r>
            </a:p>
          </p:txBody>
        </p:sp>
        <p:sp>
          <p:nvSpPr>
            <p:cNvPr id="12" name="Oval 7"/>
            <p:cNvSpPr>
              <a:spLocks noChangeArrowheads="1"/>
            </p:cNvSpPr>
            <p:nvPr/>
          </p:nvSpPr>
          <p:spPr bwMode="auto">
            <a:xfrm>
              <a:off x="4830" y="1797"/>
              <a:ext cx="787" cy="54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Receiver</a:t>
              </a:r>
            </a:p>
          </p:txBody>
        </p:sp>
      </p:grpSp>
      <p:pic>
        <p:nvPicPr>
          <p:cNvPr id="13" name="Picture 9" descr="j034575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442496" y="2711227"/>
            <a:ext cx="488156" cy="309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6588224" y="3823866"/>
            <a:ext cx="702469" cy="8108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sz="13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Node</a:t>
            </a: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3256949" y="4104041"/>
            <a:ext cx="990278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11001100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4962237" y="2224985"/>
            <a:ext cx="2106216" cy="3762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altLang="zh-CN" sz="135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 rdt 2.x working well?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1150734" y="2635123"/>
            <a:ext cx="2106215" cy="376238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新问题来了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 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07" y="2499742"/>
            <a:ext cx="571429" cy="584127"/>
          </a:xfrm>
          <a:prstGeom prst="rect">
            <a:avLst/>
          </a:prstGeom>
        </p:spPr>
      </p:pic>
      <p:sp>
        <p:nvSpPr>
          <p:cNvPr id="1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29</a:t>
            </a:fld>
            <a:endParaRPr lang="en-US" altLang="zh-CN" dirty="0"/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85185E-6 L 0.31806 -1.85185E-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0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5" grpId="1"/>
      <p:bldP spid="15" grpId="2"/>
      <p:bldP spid="17" grpId="0" animBg="1"/>
      <p:bldP spid="18" grpId="0" animBg="1"/>
      <p:bldP spid="20" grpId="0" animBg="1"/>
      <p:bldP spid="20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4968096" cy="3933656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rdt2.x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：处理信道中的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rdt3.0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：处理信道中的</a:t>
            </a: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差错和分组丢失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差错控制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：检测、确认、重传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分组丢失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重传</a:t>
            </a: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！！</a:t>
            </a:r>
            <a:endParaRPr lang="en-US" altLang="zh-CN" sz="16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问题关键：</a:t>
            </a:r>
            <a:endParaRPr lang="en-US" altLang="zh-CN" sz="16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如何让发送方认识到分组丢失了？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427734"/>
            <a:ext cx="571429" cy="58412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860032" y="1982660"/>
            <a:ext cx="4092064" cy="22248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解决思路：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如果数据包“失联”了</a:t>
            </a:r>
            <a:r>
              <a:rPr lang="en-US" altLang="zh-CN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marL="742950" lvl="1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发送端设置“定时器”</a:t>
            </a:r>
            <a:r>
              <a:rPr lang="en-US" altLang="zh-CN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—timer</a:t>
            </a:r>
          </a:p>
          <a:p>
            <a:pPr marL="1200150" lvl="2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超时重发！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接收方仍然会收到重复分组</a:t>
            </a:r>
            <a:endParaRPr lang="en-US" altLang="zh-CN" sz="16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没关系！</a:t>
            </a:r>
            <a:r>
              <a:rPr lang="en-US" altLang="zh-CN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分组编了号的！</a:t>
            </a:r>
          </a:p>
        </p:txBody>
      </p:sp>
      <p:sp>
        <p:nvSpPr>
          <p:cNvPr id="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30</a:t>
            </a:fld>
            <a:endParaRPr lang="en-US" altLang="zh-CN" dirty="0"/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052" name="Picture 4" descr="https://timgsa.baidu.com/timg?image&amp;quality=80&amp;size=b9999_10000&amp;sec=1584339822767&amp;di=0b0adf6f2e26295c7b51ea68caf1039a&amp;imgtype=0&amp;src=http%3A%2F%2Fimg.mp.sohu.com%2Fupload%2F20170812%2Fb94b52f80f7b4698bc99d2bbf1c2f742_th.png"/>
          <p:cNvPicPr>
            <a:picLocks noChangeAspect="1" noChangeArrowheads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030" y="1090310"/>
            <a:ext cx="2054002" cy="89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8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rdt2.x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：处理信道中的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rdt3.0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：处理信道中的</a:t>
            </a:r>
            <a:r>
              <a:rPr lang="en-US" altLang="zh-CN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和分组丢失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71600" y="2158831"/>
            <a:ext cx="2322989" cy="2702949"/>
            <a:chOff x="179512" y="2878440"/>
            <a:chExt cx="3097318" cy="36039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756674" y="3167365"/>
              <a:ext cx="8625" cy="3095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2846511" y="3167365"/>
              <a:ext cx="0" cy="3095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765299" y="3381677"/>
              <a:ext cx="2081212" cy="433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H="1">
              <a:off x="765298" y="3849345"/>
              <a:ext cx="2081213" cy="4299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332704" y="2878440"/>
              <a:ext cx="865187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2411643" y="2878440"/>
              <a:ext cx="865187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1378203" y="3941742"/>
              <a:ext cx="684877" cy="28892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15" name="Line 25"/>
            <p:cNvSpPr>
              <a:spLocks noChangeShapeType="1"/>
            </p:cNvSpPr>
            <p:nvPr/>
          </p:nvSpPr>
          <p:spPr bwMode="auto">
            <a:xfrm>
              <a:off x="764680" y="4371657"/>
              <a:ext cx="2081831" cy="3650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Rectangle 26"/>
            <p:cNvSpPr>
              <a:spLocks noChangeArrowheads="1"/>
            </p:cNvSpPr>
            <p:nvPr/>
          </p:nvSpPr>
          <p:spPr bwMode="auto">
            <a:xfrm>
              <a:off x="179512" y="4304902"/>
              <a:ext cx="586408" cy="288925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7" name="Line 27"/>
            <p:cNvSpPr>
              <a:spLocks noChangeShapeType="1"/>
            </p:cNvSpPr>
            <p:nvPr/>
          </p:nvSpPr>
          <p:spPr bwMode="auto">
            <a:xfrm flipH="1">
              <a:off x="758948" y="4755391"/>
              <a:ext cx="2085289" cy="568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Rectangle 28"/>
            <p:cNvSpPr>
              <a:spLocks noChangeArrowheads="1"/>
            </p:cNvSpPr>
            <p:nvPr/>
          </p:nvSpPr>
          <p:spPr bwMode="auto">
            <a:xfrm>
              <a:off x="1378202" y="4893771"/>
              <a:ext cx="684877" cy="28892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>
              <a:off x="765299" y="5384307"/>
              <a:ext cx="2078938" cy="394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29"/>
            <p:cNvSpPr>
              <a:spLocks noChangeArrowheads="1"/>
            </p:cNvSpPr>
            <p:nvPr/>
          </p:nvSpPr>
          <p:spPr bwMode="auto">
            <a:xfrm>
              <a:off x="179512" y="5210921"/>
              <a:ext cx="586408" cy="288925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21" name="Rectangle 32"/>
            <p:cNvSpPr>
              <a:spLocks noChangeArrowheads="1"/>
            </p:cNvSpPr>
            <p:nvPr/>
          </p:nvSpPr>
          <p:spPr bwMode="auto">
            <a:xfrm>
              <a:off x="179512" y="3381677"/>
              <a:ext cx="586408" cy="28892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49" name="Rectangle 22"/>
            <p:cNvSpPr>
              <a:spLocks noChangeArrowheads="1"/>
            </p:cNvSpPr>
            <p:nvPr/>
          </p:nvSpPr>
          <p:spPr bwMode="auto">
            <a:xfrm>
              <a:off x="1116361" y="5805264"/>
              <a:ext cx="1370461" cy="6771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scenario 1</a:t>
              </a:r>
            </a:p>
            <a:p>
              <a:pPr algn="ctr"/>
              <a:r>
                <a:rPr lang="zh-CN" altLang="en-US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正常情况</a:t>
              </a:r>
              <a:endParaRPr lang="en-US" altLang="zh-CN" sz="135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541372" y="2158831"/>
            <a:ext cx="2322989" cy="2702949"/>
            <a:chOff x="3541372" y="2158831"/>
            <a:chExt cx="2322989" cy="2702949"/>
          </a:xfrm>
        </p:grpSpPr>
        <p:grpSp>
          <p:nvGrpSpPr>
            <p:cNvPr id="54" name="组合 53"/>
            <p:cNvGrpSpPr/>
            <p:nvPr/>
          </p:nvGrpSpPr>
          <p:grpSpPr>
            <a:xfrm>
              <a:off x="3541372" y="2158831"/>
              <a:ext cx="2322989" cy="2702949"/>
              <a:chOff x="3197830" y="2878440"/>
              <a:chExt cx="3097318" cy="360393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" name="Line 5"/>
              <p:cNvSpPr>
                <a:spLocks noChangeShapeType="1"/>
              </p:cNvSpPr>
              <p:nvPr/>
            </p:nvSpPr>
            <p:spPr bwMode="auto">
              <a:xfrm>
                <a:off x="3774992" y="3167365"/>
                <a:ext cx="8625" cy="3095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Line 6"/>
              <p:cNvSpPr>
                <a:spLocks noChangeShapeType="1"/>
              </p:cNvSpPr>
              <p:nvPr/>
            </p:nvSpPr>
            <p:spPr bwMode="auto">
              <a:xfrm>
                <a:off x="5864829" y="3167365"/>
                <a:ext cx="0" cy="3095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Line 7"/>
              <p:cNvSpPr>
                <a:spLocks noChangeShapeType="1"/>
              </p:cNvSpPr>
              <p:nvPr/>
            </p:nvSpPr>
            <p:spPr bwMode="auto">
              <a:xfrm>
                <a:off x="3783617" y="3381677"/>
                <a:ext cx="1588866" cy="2889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Line 8"/>
              <p:cNvSpPr>
                <a:spLocks noChangeShapeType="1"/>
              </p:cNvSpPr>
              <p:nvPr/>
            </p:nvSpPr>
            <p:spPr bwMode="auto">
              <a:xfrm flipH="1">
                <a:off x="3783616" y="3849345"/>
                <a:ext cx="2081213" cy="4299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Rectangle 9"/>
              <p:cNvSpPr>
                <a:spLocks noChangeArrowheads="1"/>
              </p:cNvSpPr>
              <p:nvPr/>
            </p:nvSpPr>
            <p:spPr bwMode="auto">
              <a:xfrm>
                <a:off x="3351022" y="2878440"/>
                <a:ext cx="865187" cy="288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</a:p>
            </p:txBody>
          </p:sp>
          <p:sp>
            <p:nvSpPr>
              <p:cNvPr id="27" name="Rectangle 10"/>
              <p:cNvSpPr>
                <a:spLocks noChangeArrowheads="1"/>
              </p:cNvSpPr>
              <p:nvPr/>
            </p:nvSpPr>
            <p:spPr bwMode="auto">
              <a:xfrm>
                <a:off x="5429961" y="2878440"/>
                <a:ext cx="865187" cy="288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4396521" y="3941742"/>
                <a:ext cx="684877" cy="288925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ack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29" name="Line 25"/>
              <p:cNvSpPr>
                <a:spLocks noChangeShapeType="1"/>
              </p:cNvSpPr>
              <p:nvPr/>
            </p:nvSpPr>
            <p:spPr bwMode="auto">
              <a:xfrm>
                <a:off x="3782998" y="4371657"/>
                <a:ext cx="2081831" cy="3650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27"/>
              <p:cNvSpPr>
                <a:spLocks noChangeShapeType="1"/>
              </p:cNvSpPr>
              <p:nvPr/>
            </p:nvSpPr>
            <p:spPr bwMode="auto">
              <a:xfrm flipH="1">
                <a:off x="3777266" y="4755391"/>
                <a:ext cx="2085289" cy="568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Rectangle 28"/>
              <p:cNvSpPr>
                <a:spLocks noChangeArrowheads="1"/>
              </p:cNvSpPr>
              <p:nvPr/>
            </p:nvSpPr>
            <p:spPr bwMode="auto">
              <a:xfrm>
                <a:off x="4396520" y="4893771"/>
                <a:ext cx="684877" cy="2889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ack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32" name="Line 30"/>
              <p:cNvSpPr>
                <a:spLocks noChangeShapeType="1"/>
              </p:cNvSpPr>
              <p:nvPr/>
            </p:nvSpPr>
            <p:spPr bwMode="auto">
              <a:xfrm>
                <a:off x="3783617" y="5384307"/>
                <a:ext cx="2078938" cy="394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3197830" y="5210921"/>
                <a:ext cx="586408" cy="288925"/>
              </a:xfrm>
              <a:prstGeom prst="rect">
                <a:avLst/>
              </a:prstGeom>
              <a:solidFill>
                <a:srgbClr val="97D2FF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pkt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34" name="Rectangle 32"/>
              <p:cNvSpPr>
                <a:spLocks noChangeArrowheads="1"/>
              </p:cNvSpPr>
              <p:nvPr/>
            </p:nvSpPr>
            <p:spPr bwMode="auto">
              <a:xfrm>
                <a:off x="3197830" y="3381677"/>
                <a:ext cx="586408" cy="2889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pkt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48" name="Rectangle 22"/>
              <p:cNvSpPr>
                <a:spLocks noChangeArrowheads="1"/>
              </p:cNvSpPr>
              <p:nvPr/>
            </p:nvSpPr>
            <p:spPr bwMode="auto">
              <a:xfrm>
                <a:off x="4202306" y="5805264"/>
                <a:ext cx="1370461" cy="6771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scenario 2</a:t>
                </a:r>
              </a:p>
              <a:p>
                <a:pPr algn="ctr"/>
                <a:r>
                  <a:rPr lang="zh-CN" altLang="en-US" sz="135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分组错误</a:t>
                </a:r>
                <a:endParaRPr lang="en-US" altLang="zh-CN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Rectangle 29"/>
              <p:cNvSpPr>
                <a:spLocks noChangeArrowheads="1"/>
              </p:cNvSpPr>
              <p:nvPr/>
            </p:nvSpPr>
            <p:spPr bwMode="auto">
              <a:xfrm>
                <a:off x="3197830" y="4248504"/>
                <a:ext cx="586408" cy="2889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pkt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53" name="Rectangle 32"/>
              <p:cNvSpPr>
                <a:spLocks noChangeArrowheads="1"/>
              </p:cNvSpPr>
              <p:nvPr/>
            </p:nvSpPr>
            <p:spPr bwMode="auto">
              <a:xfrm>
                <a:off x="5373104" y="3649292"/>
                <a:ext cx="586408" cy="2889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error</a:t>
                </a:r>
              </a:p>
            </p:txBody>
          </p:sp>
        </p:grpSp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6419" y="2846889"/>
              <a:ext cx="217171" cy="22076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5" name="组合 4"/>
          <p:cNvGrpSpPr/>
          <p:nvPr/>
        </p:nvGrpSpPr>
        <p:grpSpPr>
          <a:xfrm>
            <a:off x="6113736" y="2158831"/>
            <a:ext cx="2130672" cy="2702949"/>
            <a:chOff x="6113736" y="2158831"/>
            <a:chExt cx="2130672" cy="2702949"/>
          </a:xfrm>
        </p:grpSpPr>
        <p:grpSp>
          <p:nvGrpSpPr>
            <p:cNvPr id="55" name="组合 54"/>
            <p:cNvGrpSpPr/>
            <p:nvPr/>
          </p:nvGrpSpPr>
          <p:grpSpPr>
            <a:xfrm>
              <a:off x="6113736" y="2158831"/>
              <a:ext cx="2130672" cy="2702949"/>
              <a:chOff x="6196574" y="2878440"/>
              <a:chExt cx="2840896" cy="360393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Line 5"/>
              <p:cNvSpPr>
                <a:spLocks noChangeShapeType="1"/>
              </p:cNvSpPr>
              <p:nvPr/>
            </p:nvSpPr>
            <p:spPr bwMode="auto">
              <a:xfrm>
                <a:off x="6778199" y="3167365"/>
                <a:ext cx="8625" cy="3095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Line 6"/>
              <p:cNvSpPr>
                <a:spLocks noChangeShapeType="1"/>
              </p:cNvSpPr>
              <p:nvPr/>
            </p:nvSpPr>
            <p:spPr bwMode="auto">
              <a:xfrm>
                <a:off x="8868036" y="3167365"/>
                <a:ext cx="0" cy="3095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Line 7"/>
              <p:cNvSpPr>
                <a:spLocks noChangeShapeType="1"/>
              </p:cNvSpPr>
              <p:nvPr/>
            </p:nvSpPr>
            <p:spPr bwMode="auto">
              <a:xfrm>
                <a:off x="6786824" y="3381677"/>
                <a:ext cx="2081212" cy="4333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Line 8"/>
              <p:cNvSpPr>
                <a:spLocks noChangeShapeType="1"/>
              </p:cNvSpPr>
              <p:nvPr/>
            </p:nvSpPr>
            <p:spPr bwMode="auto">
              <a:xfrm flipH="1">
                <a:off x="6786823" y="3849345"/>
                <a:ext cx="2081213" cy="4299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6354229" y="2878440"/>
                <a:ext cx="865187" cy="288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8694054" y="2878440"/>
                <a:ext cx="343416" cy="288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</p:txBody>
          </p:sp>
          <p:sp>
            <p:nvSpPr>
              <p:cNvPr id="41" name="Rectangle 12"/>
              <p:cNvSpPr>
                <a:spLocks noChangeArrowheads="1"/>
              </p:cNvSpPr>
              <p:nvPr/>
            </p:nvSpPr>
            <p:spPr bwMode="auto">
              <a:xfrm>
                <a:off x="7399728" y="3941742"/>
                <a:ext cx="684877" cy="28892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ank</a:t>
                </a:r>
              </a:p>
            </p:txBody>
          </p:sp>
          <p:sp>
            <p:nvSpPr>
              <p:cNvPr id="42" name="Line 25"/>
              <p:cNvSpPr>
                <a:spLocks noChangeShapeType="1"/>
              </p:cNvSpPr>
              <p:nvPr/>
            </p:nvSpPr>
            <p:spPr bwMode="auto">
              <a:xfrm>
                <a:off x="6786205" y="4371657"/>
                <a:ext cx="2081831" cy="3650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Line 27"/>
              <p:cNvSpPr>
                <a:spLocks noChangeShapeType="1"/>
              </p:cNvSpPr>
              <p:nvPr/>
            </p:nvSpPr>
            <p:spPr bwMode="auto">
              <a:xfrm flipH="1">
                <a:off x="6780473" y="4755391"/>
                <a:ext cx="2085289" cy="568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Rectangle 28"/>
              <p:cNvSpPr>
                <a:spLocks noChangeArrowheads="1"/>
              </p:cNvSpPr>
              <p:nvPr/>
            </p:nvSpPr>
            <p:spPr bwMode="auto">
              <a:xfrm>
                <a:off x="7399727" y="4893771"/>
                <a:ext cx="684877" cy="2889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ack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45" name="Line 30"/>
              <p:cNvSpPr>
                <a:spLocks noChangeShapeType="1"/>
              </p:cNvSpPr>
              <p:nvPr/>
            </p:nvSpPr>
            <p:spPr bwMode="auto">
              <a:xfrm>
                <a:off x="6786824" y="5384307"/>
                <a:ext cx="2078938" cy="394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Rectangle 32"/>
              <p:cNvSpPr>
                <a:spLocks noChangeArrowheads="1"/>
              </p:cNvSpPr>
              <p:nvPr/>
            </p:nvSpPr>
            <p:spPr bwMode="auto">
              <a:xfrm>
                <a:off x="6201037" y="3381677"/>
                <a:ext cx="586408" cy="2889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pkt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47" name="Rectangle 22"/>
              <p:cNvSpPr>
                <a:spLocks noChangeArrowheads="1"/>
              </p:cNvSpPr>
              <p:nvPr/>
            </p:nvSpPr>
            <p:spPr bwMode="auto">
              <a:xfrm>
                <a:off x="7087335" y="5805264"/>
                <a:ext cx="1370461" cy="6771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scenario 3</a:t>
                </a:r>
              </a:p>
              <a:p>
                <a:pPr algn="ctr"/>
                <a:r>
                  <a:rPr lang="zh-CN" altLang="en-US" sz="135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确认错误</a:t>
                </a:r>
                <a:endParaRPr lang="en-US" altLang="zh-CN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Rectangle 29"/>
              <p:cNvSpPr>
                <a:spLocks noChangeArrowheads="1"/>
              </p:cNvSpPr>
              <p:nvPr/>
            </p:nvSpPr>
            <p:spPr bwMode="auto">
              <a:xfrm>
                <a:off x="6196574" y="4248504"/>
                <a:ext cx="586408" cy="2889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pkt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52" name="Rectangle 29"/>
              <p:cNvSpPr>
                <a:spLocks noChangeArrowheads="1"/>
              </p:cNvSpPr>
              <p:nvPr/>
            </p:nvSpPr>
            <p:spPr bwMode="auto">
              <a:xfrm>
                <a:off x="6198084" y="5210921"/>
                <a:ext cx="586408" cy="288925"/>
              </a:xfrm>
              <a:prstGeom prst="rect">
                <a:avLst/>
              </a:prstGeom>
              <a:solidFill>
                <a:srgbClr val="97D2FF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pkt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</p:grpSp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1030" y="3032352"/>
              <a:ext cx="217171" cy="22076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31</a:t>
            </a:fld>
            <a:endParaRPr lang="en-US" altLang="zh-CN" dirty="0"/>
          </a:p>
        </p:txBody>
      </p:sp>
      <p:sp>
        <p:nvSpPr>
          <p:cNvPr id="5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9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27584" y="2158831"/>
            <a:ext cx="2484446" cy="2702949"/>
            <a:chOff x="35270" y="2878440"/>
            <a:chExt cx="3312594" cy="36039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Line 5"/>
            <p:cNvSpPr>
              <a:spLocks noChangeShapeType="1"/>
            </p:cNvSpPr>
            <p:nvPr/>
          </p:nvSpPr>
          <p:spPr bwMode="auto">
            <a:xfrm>
              <a:off x="827708" y="3167365"/>
              <a:ext cx="8625" cy="3095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6"/>
            <p:cNvSpPr>
              <a:spLocks noChangeShapeType="1"/>
            </p:cNvSpPr>
            <p:nvPr/>
          </p:nvSpPr>
          <p:spPr bwMode="auto">
            <a:xfrm>
              <a:off x="2917545" y="3167365"/>
              <a:ext cx="0" cy="3095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836333" y="3381677"/>
              <a:ext cx="881532" cy="1947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403738" y="2878440"/>
              <a:ext cx="865187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27" name="Rectangle 10"/>
            <p:cNvSpPr>
              <a:spLocks noChangeArrowheads="1"/>
            </p:cNvSpPr>
            <p:nvPr/>
          </p:nvSpPr>
          <p:spPr bwMode="auto">
            <a:xfrm>
              <a:off x="2482677" y="2878440"/>
              <a:ext cx="865187" cy="288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835714" y="4883204"/>
              <a:ext cx="2081831" cy="3650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250546" y="3381677"/>
              <a:ext cx="586408" cy="28892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48" name="Rectangle 22"/>
            <p:cNvSpPr>
              <a:spLocks noChangeArrowheads="1"/>
            </p:cNvSpPr>
            <p:nvPr/>
          </p:nvSpPr>
          <p:spPr bwMode="auto">
            <a:xfrm>
              <a:off x="1315722" y="5805264"/>
              <a:ext cx="1370460" cy="6771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altLang="zh-CN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scenario 4</a:t>
              </a:r>
            </a:p>
            <a:p>
              <a:pPr algn="ctr"/>
              <a:r>
                <a:rPr lang="zh-CN" altLang="en-US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分组丢失</a:t>
              </a:r>
              <a:endParaRPr lang="en-US" altLang="zh-CN" sz="135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Rectangle 29"/>
            <p:cNvSpPr>
              <a:spLocks noChangeArrowheads="1"/>
            </p:cNvSpPr>
            <p:nvPr/>
          </p:nvSpPr>
          <p:spPr bwMode="auto">
            <a:xfrm>
              <a:off x="250546" y="4760051"/>
              <a:ext cx="586408" cy="28892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4" name="AutoShape 35"/>
            <p:cNvSpPr/>
            <p:nvPr/>
          </p:nvSpPr>
          <p:spPr bwMode="auto">
            <a:xfrm>
              <a:off x="35270" y="3686075"/>
              <a:ext cx="144463" cy="1079500"/>
            </a:xfrm>
            <a:prstGeom prst="leftBrace">
              <a:avLst>
                <a:gd name="adj1" fmla="val 62271"/>
                <a:gd name="adj2" fmla="val 50000"/>
              </a:avLst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Rectangle 36"/>
            <p:cNvSpPr>
              <a:spLocks noChangeArrowheads="1"/>
            </p:cNvSpPr>
            <p:nvPr/>
          </p:nvSpPr>
          <p:spPr bwMode="auto">
            <a:xfrm>
              <a:off x="81309" y="4046437"/>
              <a:ext cx="1184513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time out</a:t>
              </a:r>
            </a:p>
          </p:txBody>
        </p:sp>
        <p:sp>
          <p:nvSpPr>
            <p:cNvPr id="56" name="Line 27"/>
            <p:cNvSpPr>
              <a:spLocks noChangeShapeType="1"/>
            </p:cNvSpPr>
            <p:nvPr/>
          </p:nvSpPr>
          <p:spPr bwMode="auto">
            <a:xfrm flipH="1">
              <a:off x="829982" y="5290046"/>
              <a:ext cx="2085289" cy="568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Rectangle 28"/>
            <p:cNvSpPr>
              <a:spLocks noChangeArrowheads="1"/>
            </p:cNvSpPr>
            <p:nvPr/>
          </p:nvSpPr>
          <p:spPr bwMode="auto">
            <a:xfrm>
              <a:off x="1449236" y="5428426"/>
              <a:ext cx="684877" cy="28892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8" name="Rectangle 32"/>
            <p:cNvSpPr>
              <a:spLocks noChangeArrowheads="1"/>
            </p:cNvSpPr>
            <p:nvPr/>
          </p:nvSpPr>
          <p:spPr bwMode="auto">
            <a:xfrm>
              <a:off x="1732070" y="3514597"/>
              <a:ext cx="586408" cy="2889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lost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437704" y="2158831"/>
            <a:ext cx="2484446" cy="2702949"/>
            <a:chOff x="3437704" y="2158831"/>
            <a:chExt cx="2484446" cy="2702949"/>
          </a:xfrm>
        </p:grpSpPr>
        <p:sp>
          <p:nvSpPr>
            <p:cNvPr id="59" name="Line 5"/>
            <p:cNvSpPr>
              <a:spLocks noChangeShapeType="1"/>
            </p:cNvSpPr>
            <p:nvPr/>
          </p:nvSpPr>
          <p:spPr bwMode="auto">
            <a:xfrm>
              <a:off x="4032033" y="2375525"/>
              <a:ext cx="6469" cy="2321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6"/>
            <p:cNvSpPr>
              <a:spLocks noChangeShapeType="1"/>
            </p:cNvSpPr>
            <p:nvPr/>
          </p:nvSpPr>
          <p:spPr bwMode="auto">
            <a:xfrm>
              <a:off x="5599411" y="2375525"/>
              <a:ext cx="0" cy="2321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7"/>
            <p:cNvSpPr>
              <a:spLocks noChangeShapeType="1"/>
            </p:cNvSpPr>
            <p:nvPr/>
          </p:nvSpPr>
          <p:spPr bwMode="auto">
            <a:xfrm>
              <a:off x="4038501" y="2536258"/>
              <a:ext cx="1559204" cy="1918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Rectangle 9"/>
            <p:cNvSpPr>
              <a:spLocks noChangeArrowheads="1"/>
            </p:cNvSpPr>
            <p:nvPr/>
          </p:nvSpPr>
          <p:spPr bwMode="auto">
            <a:xfrm>
              <a:off x="3714055" y="2158831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63" name="Rectangle 10"/>
            <p:cNvSpPr>
              <a:spLocks noChangeArrowheads="1"/>
            </p:cNvSpPr>
            <p:nvPr/>
          </p:nvSpPr>
          <p:spPr bwMode="auto">
            <a:xfrm>
              <a:off x="5273260" y="2158831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64" name="Line 25"/>
            <p:cNvSpPr>
              <a:spLocks noChangeShapeType="1"/>
            </p:cNvSpPr>
            <p:nvPr/>
          </p:nvSpPr>
          <p:spPr bwMode="auto">
            <a:xfrm>
              <a:off x="4038037" y="3662404"/>
              <a:ext cx="1561374" cy="2737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Rectangle 32"/>
            <p:cNvSpPr>
              <a:spLocks noChangeArrowheads="1"/>
            </p:cNvSpPr>
            <p:nvPr/>
          </p:nvSpPr>
          <p:spPr bwMode="auto">
            <a:xfrm>
              <a:off x="3599161" y="2536259"/>
              <a:ext cx="439806" cy="21669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66" name="Rectangle 22"/>
            <p:cNvSpPr>
              <a:spLocks noChangeArrowheads="1"/>
            </p:cNvSpPr>
            <p:nvPr/>
          </p:nvSpPr>
          <p:spPr bwMode="auto">
            <a:xfrm>
              <a:off x="4398043" y="4353949"/>
              <a:ext cx="1027845" cy="5078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altLang="zh-CN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scenario 5</a:t>
              </a:r>
            </a:p>
            <a:p>
              <a:pPr algn="ctr"/>
              <a:r>
                <a:rPr lang="zh-CN" altLang="en-US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确认丢失</a:t>
              </a:r>
              <a:endParaRPr lang="en-US" altLang="zh-CN" sz="135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Rectangle 29"/>
            <p:cNvSpPr>
              <a:spLocks noChangeArrowheads="1"/>
            </p:cNvSpPr>
            <p:nvPr/>
          </p:nvSpPr>
          <p:spPr bwMode="auto">
            <a:xfrm>
              <a:off x="3599161" y="3570039"/>
              <a:ext cx="439806" cy="21669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68" name="AutoShape 35"/>
            <p:cNvSpPr/>
            <p:nvPr/>
          </p:nvSpPr>
          <p:spPr bwMode="auto">
            <a:xfrm>
              <a:off x="3437704" y="2764557"/>
              <a:ext cx="108347" cy="809625"/>
            </a:xfrm>
            <a:prstGeom prst="leftBrace">
              <a:avLst>
                <a:gd name="adj1" fmla="val 62271"/>
                <a:gd name="adj2" fmla="val 50000"/>
              </a:avLst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Rectangle 36"/>
            <p:cNvSpPr>
              <a:spLocks noChangeArrowheads="1"/>
            </p:cNvSpPr>
            <p:nvPr/>
          </p:nvSpPr>
          <p:spPr bwMode="auto">
            <a:xfrm>
              <a:off x="3472233" y="3034829"/>
              <a:ext cx="888385" cy="3000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time out</a:t>
              </a:r>
            </a:p>
          </p:txBody>
        </p:sp>
        <p:sp>
          <p:nvSpPr>
            <p:cNvPr id="70" name="Line 27"/>
            <p:cNvSpPr>
              <a:spLocks noChangeShapeType="1"/>
            </p:cNvSpPr>
            <p:nvPr/>
          </p:nvSpPr>
          <p:spPr bwMode="auto">
            <a:xfrm flipH="1">
              <a:off x="4033738" y="3967536"/>
              <a:ext cx="1563967" cy="426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Rectangle 28"/>
            <p:cNvSpPr>
              <a:spLocks noChangeArrowheads="1"/>
            </p:cNvSpPr>
            <p:nvPr/>
          </p:nvSpPr>
          <p:spPr bwMode="auto">
            <a:xfrm>
              <a:off x="4498179" y="4071321"/>
              <a:ext cx="513658" cy="21669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72" name="Rectangle 32"/>
            <p:cNvSpPr>
              <a:spLocks noChangeArrowheads="1"/>
            </p:cNvSpPr>
            <p:nvPr/>
          </p:nvSpPr>
          <p:spPr bwMode="auto">
            <a:xfrm>
              <a:off x="4460725" y="2936765"/>
              <a:ext cx="439806" cy="21669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lost</a:t>
              </a:r>
            </a:p>
          </p:txBody>
        </p:sp>
        <p:sp>
          <p:nvSpPr>
            <p:cNvPr id="73" name="Line 27"/>
            <p:cNvSpPr>
              <a:spLocks noChangeShapeType="1"/>
            </p:cNvSpPr>
            <p:nvPr/>
          </p:nvSpPr>
          <p:spPr bwMode="auto">
            <a:xfrm flipH="1">
              <a:off x="4918824" y="2784859"/>
              <a:ext cx="678880" cy="2499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037081" y="2158831"/>
            <a:ext cx="2495359" cy="2702949"/>
            <a:chOff x="6037081" y="2158831"/>
            <a:chExt cx="2495359" cy="2702949"/>
          </a:xfrm>
        </p:grpSpPr>
        <p:sp>
          <p:nvSpPr>
            <p:cNvPr id="84" name="AutoShape 35"/>
            <p:cNvSpPr/>
            <p:nvPr/>
          </p:nvSpPr>
          <p:spPr bwMode="auto">
            <a:xfrm>
              <a:off x="6037081" y="2760414"/>
              <a:ext cx="108347" cy="809625"/>
            </a:xfrm>
            <a:prstGeom prst="leftBrace">
              <a:avLst>
                <a:gd name="adj1" fmla="val 62271"/>
                <a:gd name="adj2" fmla="val 50000"/>
              </a:avLst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6082523" y="2158831"/>
              <a:ext cx="2449917" cy="2702949"/>
              <a:chOff x="6155653" y="2878440"/>
              <a:chExt cx="3266556" cy="360393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4" name="Line 5"/>
              <p:cNvSpPr>
                <a:spLocks noChangeShapeType="1"/>
              </p:cNvSpPr>
              <p:nvPr/>
            </p:nvSpPr>
            <p:spPr bwMode="auto">
              <a:xfrm>
                <a:off x="6902053" y="3167365"/>
                <a:ext cx="8625" cy="3095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6"/>
              <p:cNvSpPr>
                <a:spLocks noChangeShapeType="1"/>
              </p:cNvSpPr>
              <p:nvPr/>
            </p:nvSpPr>
            <p:spPr bwMode="auto">
              <a:xfrm>
                <a:off x="8991890" y="3167365"/>
                <a:ext cx="0" cy="3095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7"/>
              <p:cNvSpPr>
                <a:spLocks noChangeShapeType="1"/>
              </p:cNvSpPr>
              <p:nvPr/>
            </p:nvSpPr>
            <p:spPr bwMode="auto">
              <a:xfrm>
                <a:off x="6910678" y="3381676"/>
                <a:ext cx="2078936" cy="622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Rectangle 9"/>
              <p:cNvSpPr>
                <a:spLocks noChangeArrowheads="1"/>
              </p:cNvSpPr>
              <p:nvPr/>
            </p:nvSpPr>
            <p:spPr bwMode="auto">
              <a:xfrm>
                <a:off x="6478083" y="2878440"/>
                <a:ext cx="865187" cy="288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</a:p>
            </p:txBody>
          </p:sp>
          <p:sp>
            <p:nvSpPr>
              <p:cNvPr id="78" name="Rectangle 10"/>
              <p:cNvSpPr>
                <a:spLocks noChangeArrowheads="1"/>
              </p:cNvSpPr>
              <p:nvPr/>
            </p:nvSpPr>
            <p:spPr bwMode="auto">
              <a:xfrm>
                <a:off x="8557022" y="2878440"/>
                <a:ext cx="865187" cy="288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</p:txBody>
          </p:sp>
          <p:sp>
            <p:nvSpPr>
              <p:cNvPr id="79" name="Line 25"/>
              <p:cNvSpPr>
                <a:spLocks noChangeShapeType="1"/>
              </p:cNvSpPr>
              <p:nvPr/>
            </p:nvSpPr>
            <p:spPr bwMode="auto">
              <a:xfrm>
                <a:off x="6910059" y="4883204"/>
                <a:ext cx="2081831" cy="3650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Rectangle 32"/>
              <p:cNvSpPr>
                <a:spLocks noChangeArrowheads="1"/>
              </p:cNvSpPr>
              <p:nvPr/>
            </p:nvSpPr>
            <p:spPr bwMode="auto">
              <a:xfrm>
                <a:off x="6324891" y="3381677"/>
                <a:ext cx="586408" cy="2889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pkt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82" name="Rectangle 22"/>
              <p:cNvSpPr>
                <a:spLocks noChangeArrowheads="1"/>
              </p:cNvSpPr>
              <p:nvPr/>
            </p:nvSpPr>
            <p:spPr bwMode="auto">
              <a:xfrm>
                <a:off x="7390068" y="5805264"/>
                <a:ext cx="1370460" cy="6771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r>
                  <a:rPr lang="en-US" altLang="zh-CN" sz="135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scenario 5</a:t>
                </a:r>
              </a:p>
              <a:p>
                <a:pPr algn="ctr"/>
                <a:r>
                  <a:rPr lang="zh-CN" altLang="en-US" sz="135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过早超时</a:t>
                </a:r>
                <a:endParaRPr lang="en-US" altLang="zh-CN" sz="135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Rectangle 29"/>
              <p:cNvSpPr>
                <a:spLocks noChangeArrowheads="1"/>
              </p:cNvSpPr>
              <p:nvPr/>
            </p:nvSpPr>
            <p:spPr bwMode="auto">
              <a:xfrm>
                <a:off x="6324891" y="4760051"/>
                <a:ext cx="586408" cy="2889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pkt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85" name="Rectangle 36"/>
              <p:cNvSpPr>
                <a:spLocks noChangeArrowheads="1"/>
              </p:cNvSpPr>
              <p:nvPr/>
            </p:nvSpPr>
            <p:spPr bwMode="auto">
              <a:xfrm>
                <a:off x="6155653" y="4046437"/>
                <a:ext cx="1184513" cy="4001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350" dirty="0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time out</a:t>
                </a:r>
              </a:p>
            </p:txBody>
          </p:sp>
          <p:sp>
            <p:nvSpPr>
              <p:cNvPr id="86" name="Line 27"/>
              <p:cNvSpPr>
                <a:spLocks noChangeShapeType="1"/>
              </p:cNvSpPr>
              <p:nvPr/>
            </p:nvSpPr>
            <p:spPr bwMode="auto">
              <a:xfrm flipH="1">
                <a:off x="6904327" y="5290046"/>
                <a:ext cx="2085289" cy="568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Rectangle 28"/>
              <p:cNvSpPr>
                <a:spLocks noChangeArrowheads="1"/>
              </p:cNvSpPr>
              <p:nvPr/>
            </p:nvSpPr>
            <p:spPr bwMode="auto">
              <a:xfrm>
                <a:off x="7523581" y="5428426"/>
                <a:ext cx="684877" cy="2889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ack</a:t>
                </a:r>
                <a:r>
                  <a:rPr lang="en-US" altLang="zh-CN" sz="1350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89" name="Line 27"/>
              <p:cNvSpPr>
                <a:spLocks noChangeShapeType="1"/>
              </p:cNvSpPr>
              <p:nvPr/>
            </p:nvSpPr>
            <p:spPr bwMode="auto">
              <a:xfrm flipH="1">
                <a:off x="6918684" y="4003894"/>
                <a:ext cx="2056074" cy="1286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Rectangle 32"/>
              <p:cNvSpPr>
                <a:spLocks noChangeArrowheads="1"/>
              </p:cNvSpPr>
              <p:nvPr/>
            </p:nvSpPr>
            <p:spPr bwMode="auto">
              <a:xfrm>
                <a:off x="7622068" y="4421638"/>
                <a:ext cx="649805" cy="28892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35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delay</a:t>
                </a:r>
              </a:p>
            </p:txBody>
          </p:sp>
        </p:grpSp>
      </p:grpSp>
      <p:sp>
        <p:nvSpPr>
          <p:cNvPr id="52" name="内容占位符 2"/>
          <p:cNvSpPr txBox="1"/>
          <p:nvPr/>
        </p:nvSpPr>
        <p:spPr>
          <a:xfrm>
            <a:off x="468000" y="936000"/>
            <a:ext cx="7886700" cy="125872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rdt2.x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：处理信道中的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rdt3.0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：处理信道中的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和分组丢失</a:t>
            </a: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32</a:t>
            </a:fld>
            <a:endParaRPr lang="en-US" altLang="zh-CN" dirty="0"/>
          </a:p>
        </p:txBody>
      </p:sp>
      <p:sp>
        <p:nvSpPr>
          <p:cNvPr id="5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57"/>
          <p:cNvSpPr>
            <a:spLocks noChangeArrowheads="1"/>
          </p:cNvSpPr>
          <p:nvPr/>
        </p:nvSpPr>
        <p:spPr bwMode="auto">
          <a:xfrm>
            <a:off x="6912323" y="2162603"/>
            <a:ext cx="1210866" cy="685800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9" name="Rectangle 58"/>
          <p:cNvSpPr>
            <a:spLocks noChangeArrowheads="1"/>
          </p:cNvSpPr>
          <p:nvPr/>
        </p:nvSpPr>
        <p:spPr bwMode="auto">
          <a:xfrm>
            <a:off x="2454623" y="3615166"/>
            <a:ext cx="1085850" cy="607907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70049" y="898961"/>
            <a:ext cx="7886700" cy="877750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rdt3.0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：发送方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4204841" y="1543479"/>
            <a:ext cx="2895600" cy="42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sndpkt = make_pkt(0, data, checksum)</a:t>
            </a:r>
          </a:p>
          <a:p>
            <a:pPr eaLnBrk="0" hangingPunct="0"/>
            <a:r>
              <a:rPr lang="en-US" altLang="zh-CN" sz="1050" dirty="0"/>
              <a:t>udt_send(sndpkt)</a:t>
            </a:r>
          </a:p>
          <a:p>
            <a:pPr eaLnBrk="0" hangingPunct="0"/>
            <a:r>
              <a:rPr lang="en-US" altLang="zh-CN" sz="1050" dirty="0" err="1"/>
              <a:t>start_timer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4235798" y="1323213"/>
            <a:ext cx="1293019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/>
              <a:t>rdt_send(data)</a:t>
            </a:r>
            <a:endParaRPr lang="en-US" altLang="zh-CN" sz="1050">
              <a:latin typeface="Times New Roman" panose="02020603050405020304" pitchFamily="18" charset="0"/>
            </a:endParaRPr>
          </a:p>
        </p:txBody>
      </p:sp>
      <p:sp>
        <p:nvSpPr>
          <p:cNvPr id="28" name="Line 5"/>
          <p:cNvSpPr>
            <a:spLocks noChangeShapeType="1"/>
          </p:cNvSpPr>
          <p:nvPr/>
        </p:nvSpPr>
        <p:spPr bwMode="auto">
          <a:xfrm>
            <a:off x="4311998" y="1576816"/>
            <a:ext cx="7429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0" name="Line 6"/>
          <p:cNvSpPr>
            <a:spLocks noChangeShapeType="1"/>
          </p:cNvSpPr>
          <p:nvPr/>
        </p:nvSpPr>
        <p:spPr bwMode="auto">
          <a:xfrm>
            <a:off x="4002436" y="1663732"/>
            <a:ext cx="117872" cy="432197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31" name="Group 7"/>
          <p:cNvGrpSpPr/>
          <p:nvPr/>
        </p:nvGrpSpPr>
        <p:grpSpPr bwMode="auto">
          <a:xfrm>
            <a:off x="5961014" y="2073307"/>
            <a:ext cx="666750" cy="648890"/>
            <a:chOff x="445" y="1273"/>
            <a:chExt cx="560" cy="545"/>
          </a:xfrm>
        </p:grpSpPr>
        <p:sp>
          <p:nvSpPr>
            <p:cNvPr id="32" name="Oval 8"/>
            <p:cNvSpPr>
              <a:spLocks noChangeArrowheads="1"/>
            </p:cNvSpPr>
            <p:nvPr/>
          </p:nvSpPr>
          <p:spPr bwMode="auto"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" name="Text Box 9"/>
            <p:cNvSpPr txBox="1">
              <a:spLocks noChangeArrowheads="1"/>
            </p:cNvSpPr>
            <p:nvPr/>
          </p:nvSpPr>
          <p:spPr bwMode="auto"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/>
                <a:t>Wait for ACK0</a:t>
              </a:r>
              <a:endParaRPr lang="en-US" altLang="zh-CN" sz="1050">
                <a:latin typeface="Times New Roman" panose="02020603050405020304" pitchFamily="18" charset="0"/>
              </a:endParaRPr>
            </a:p>
          </p:txBody>
        </p:sp>
      </p:grpSp>
      <p:sp>
        <p:nvSpPr>
          <p:cNvPr id="35" name="Freeform 10"/>
          <p:cNvSpPr/>
          <p:nvPr/>
        </p:nvSpPr>
        <p:spPr bwMode="auto">
          <a:xfrm flipV="1">
            <a:off x="4478685" y="2059019"/>
            <a:ext cx="1568054" cy="122634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6" name="Freeform 11"/>
          <p:cNvSpPr/>
          <p:nvPr/>
        </p:nvSpPr>
        <p:spPr bwMode="auto">
          <a:xfrm>
            <a:off x="6492033" y="1761363"/>
            <a:ext cx="653653" cy="500063"/>
          </a:xfrm>
          <a:custGeom>
            <a:avLst/>
            <a:gdLst>
              <a:gd name="T0" fmla="*/ 0 w 549"/>
              <a:gd name="T1" fmla="*/ 306 h 420"/>
              <a:gd name="T2" fmla="*/ 87 w 549"/>
              <a:gd name="T3" fmla="*/ 420 h 42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49" h="420">
                <a:moveTo>
                  <a:pt x="0" y="306"/>
                </a:moveTo>
                <a:cubicBezTo>
                  <a:pt x="78" y="0"/>
                  <a:pt x="549" y="315"/>
                  <a:pt x="87" y="42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7" name="Text Box 12"/>
          <p:cNvSpPr txBox="1">
            <a:spLocks noChangeArrowheads="1"/>
          </p:cNvSpPr>
          <p:nvPr/>
        </p:nvSpPr>
        <p:spPr bwMode="auto">
          <a:xfrm>
            <a:off x="6868270" y="1329761"/>
            <a:ext cx="1394222" cy="587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rdt_rcv(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</a:t>
            </a:r>
            <a:br>
              <a:rPr lang="en-US" altLang="zh-CN" sz="1050" dirty="0"/>
            </a:br>
            <a:r>
              <a:rPr lang="en-US" altLang="zh-CN" sz="1050" dirty="0"/>
              <a:t>&amp;&amp; ( corrupt(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</a:t>
            </a:r>
            <a:br>
              <a:rPr lang="en-US" altLang="zh-CN" sz="1050" dirty="0"/>
            </a:br>
            <a:r>
              <a:rPr lang="en-US" altLang="zh-CN" sz="1050" dirty="0"/>
              <a:t> || </a:t>
            </a:r>
            <a:r>
              <a:rPr lang="en-US" altLang="zh-CN" sz="1050" dirty="0" err="1"/>
              <a:t>isACK</a:t>
            </a:r>
            <a:r>
              <a:rPr lang="en-US" altLang="zh-CN" sz="1050" dirty="0"/>
              <a:t>(rcvpkt,1) )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38" name="Line 13"/>
          <p:cNvSpPr>
            <a:spLocks noChangeShapeType="1"/>
          </p:cNvSpPr>
          <p:nvPr/>
        </p:nvSpPr>
        <p:spPr bwMode="auto">
          <a:xfrm>
            <a:off x="6958757" y="1929241"/>
            <a:ext cx="101322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39" name="Group 14"/>
          <p:cNvGrpSpPr/>
          <p:nvPr/>
        </p:nvGrpSpPr>
        <p:grpSpPr bwMode="auto">
          <a:xfrm>
            <a:off x="6030070" y="3509201"/>
            <a:ext cx="891778" cy="638175"/>
            <a:chOff x="4090" y="3230"/>
            <a:chExt cx="749" cy="536"/>
          </a:xfrm>
        </p:grpSpPr>
        <p:sp>
          <p:nvSpPr>
            <p:cNvPr id="40" name="Oval 15"/>
            <p:cNvSpPr>
              <a:spLocks noChangeArrowheads="1"/>
            </p:cNvSpPr>
            <p:nvPr/>
          </p:nvSpPr>
          <p:spPr bwMode="auto"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Text Box 16"/>
            <p:cNvSpPr txBox="1">
              <a:spLocks noChangeArrowheads="1"/>
            </p:cNvSpPr>
            <p:nvPr/>
          </p:nvSpPr>
          <p:spPr bwMode="auto"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/>
                <a:t>Wait for </a:t>
              </a:r>
            </a:p>
            <a:p>
              <a:pPr algn="ctr" eaLnBrk="0" hangingPunct="0"/>
              <a:r>
                <a:rPr lang="en-US" altLang="zh-CN" sz="1050"/>
                <a:t>call 1 from above</a:t>
              </a:r>
              <a:endParaRPr lang="en-US" altLang="zh-CN" sz="1050">
                <a:latin typeface="Times New Roman" panose="02020603050405020304" pitchFamily="18" charset="0"/>
              </a:endParaRPr>
            </a:p>
          </p:txBody>
        </p:sp>
      </p:grpSp>
      <p:sp>
        <p:nvSpPr>
          <p:cNvPr id="42" name="Freeform 17"/>
          <p:cNvSpPr/>
          <p:nvPr/>
        </p:nvSpPr>
        <p:spPr bwMode="auto">
          <a:xfrm rot="16200000" flipV="1">
            <a:off x="3545831" y="3057358"/>
            <a:ext cx="940594" cy="113110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3" name="Freeform 18"/>
          <p:cNvSpPr/>
          <p:nvPr/>
        </p:nvSpPr>
        <p:spPr bwMode="auto">
          <a:xfrm>
            <a:off x="4467970" y="4059270"/>
            <a:ext cx="1734740" cy="205978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4" name="Freeform 19"/>
          <p:cNvSpPr/>
          <p:nvPr/>
        </p:nvSpPr>
        <p:spPr bwMode="auto">
          <a:xfrm rot="5400000" flipH="1" flipV="1">
            <a:off x="6148537" y="3001399"/>
            <a:ext cx="888206" cy="125015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5" name="Text Box 20"/>
          <p:cNvSpPr txBox="1">
            <a:spLocks noChangeArrowheads="1"/>
          </p:cNvSpPr>
          <p:nvPr/>
        </p:nvSpPr>
        <p:spPr bwMode="auto">
          <a:xfrm>
            <a:off x="4427489" y="4423599"/>
            <a:ext cx="2583656" cy="608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sndpkt = make_pkt(1, data, checksum)</a:t>
            </a:r>
          </a:p>
          <a:p>
            <a:pPr eaLnBrk="0" hangingPunct="0"/>
            <a:r>
              <a:rPr lang="en-US" altLang="zh-CN" sz="1050" dirty="0"/>
              <a:t>udt_send(sndpkt)</a:t>
            </a:r>
          </a:p>
          <a:p>
            <a:pPr eaLnBrk="0" hangingPunct="0"/>
            <a:r>
              <a:rPr lang="en-US" altLang="zh-CN" sz="1050" dirty="0" err="1"/>
              <a:t>start_timer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46" name="Text Box 21"/>
          <p:cNvSpPr txBox="1">
            <a:spLocks noChangeArrowheads="1"/>
          </p:cNvSpPr>
          <p:nvPr/>
        </p:nvSpPr>
        <p:spPr bwMode="auto">
          <a:xfrm>
            <a:off x="4427489" y="4211669"/>
            <a:ext cx="1293019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/>
              <a:t>rdt_send(data)</a:t>
            </a:r>
            <a:endParaRPr lang="en-US" altLang="zh-CN" sz="1050">
              <a:latin typeface="Times New Roman" panose="02020603050405020304" pitchFamily="18" charset="0"/>
            </a:endParaRPr>
          </a:p>
        </p:txBody>
      </p:sp>
      <p:sp>
        <p:nvSpPr>
          <p:cNvPr id="47" name="Line 22"/>
          <p:cNvSpPr>
            <a:spLocks noChangeShapeType="1"/>
          </p:cNvSpPr>
          <p:nvPr/>
        </p:nvSpPr>
        <p:spPr bwMode="auto">
          <a:xfrm>
            <a:off x="4516785" y="4445032"/>
            <a:ext cx="19490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9" name="Text Box 23"/>
          <p:cNvSpPr txBox="1">
            <a:spLocks noChangeArrowheads="1"/>
          </p:cNvSpPr>
          <p:nvPr/>
        </p:nvSpPr>
        <p:spPr bwMode="auto">
          <a:xfrm>
            <a:off x="6650386" y="2813005"/>
            <a:ext cx="1612106" cy="551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rdt_rcv(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  </a:t>
            </a:r>
          </a:p>
          <a:p>
            <a:pPr eaLnBrk="0" hangingPunct="0"/>
            <a:r>
              <a:rPr lang="en-US" altLang="zh-CN" sz="1050" dirty="0"/>
              <a:t>&amp;&amp; </a:t>
            </a:r>
            <a:r>
              <a:rPr lang="en-US" altLang="zh-CN" sz="1050" dirty="0" err="1"/>
              <a:t>notcorrupt</a:t>
            </a:r>
            <a:r>
              <a:rPr lang="en-US" altLang="zh-CN" sz="1050" dirty="0"/>
              <a:t>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</a:t>
            </a:r>
          </a:p>
          <a:p>
            <a:pPr eaLnBrk="0" hangingPunct="0"/>
            <a:r>
              <a:rPr lang="en-US" altLang="zh-CN" sz="1050" dirty="0"/>
              <a:t>&amp;&amp; </a:t>
            </a:r>
            <a:r>
              <a:rPr lang="en-US" altLang="zh-CN" sz="1050" dirty="0" err="1"/>
              <a:t>isACK</a:t>
            </a:r>
            <a:r>
              <a:rPr lang="en-US" altLang="zh-CN" sz="1050" dirty="0"/>
              <a:t>(rcvpkt,0)</a:t>
            </a:r>
            <a:r>
              <a:rPr lang="en-US" altLang="zh-CN" sz="750" dirty="0"/>
              <a:t>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1" name="Line 24"/>
          <p:cNvSpPr>
            <a:spLocks noChangeShapeType="1"/>
          </p:cNvSpPr>
          <p:nvPr/>
        </p:nvSpPr>
        <p:spPr bwMode="auto">
          <a:xfrm>
            <a:off x="6737301" y="3368707"/>
            <a:ext cx="1064419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2766741" y="4186711"/>
            <a:ext cx="1293019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rdt_rcv(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&amp;&amp;  </a:t>
            </a:r>
          </a:p>
          <a:p>
            <a:pPr eaLnBrk="0" hangingPunct="0"/>
            <a:r>
              <a:rPr lang="en-US" altLang="zh-CN" sz="1050" dirty="0"/>
              <a:t>( corrupt(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||</a:t>
            </a:r>
          </a:p>
          <a:p>
            <a:pPr eaLnBrk="0" hangingPunct="0"/>
            <a:r>
              <a:rPr lang="en-US" altLang="zh-CN" sz="1050" dirty="0" err="1"/>
              <a:t>isACK</a:t>
            </a:r>
            <a:r>
              <a:rPr lang="en-US" altLang="zh-CN" sz="1050" dirty="0"/>
              <a:t>(rcvpkt,0) )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53" name="Line 26"/>
          <p:cNvSpPr>
            <a:spLocks noChangeShapeType="1"/>
          </p:cNvSpPr>
          <p:nvPr/>
        </p:nvSpPr>
        <p:spPr bwMode="auto">
          <a:xfrm>
            <a:off x="2985642" y="4738260"/>
            <a:ext cx="9405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58" name="Text Box 27"/>
          <p:cNvSpPr txBox="1">
            <a:spLocks noChangeArrowheads="1"/>
          </p:cNvSpPr>
          <p:nvPr/>
        </p:nvSpPr>
        <p:spPr bwMode="auto">
          <a:xfrm>
            <a:off x="2421285" y="2654332"/>
            <a:ext cx="1634729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rdt_rcv(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  </a:t>
            </a:r>
          </a:p>
          <a:p>
            <a:pPr eaLnBrk="0" hangingPunct="0"/>
            <a:r>
              <a:rPr lang="en-US" altLang="zh-CN" sz="1050" dirty="0"/>
              <a:t>&amp;&amp; </a:t>
            </a:r>
            <a:r>
              <a:rPr lang="en-US" altLang="zh-CN" sz="1050" dirty="0" err="1"/>
              <a:t>notcorrupt</a:t>
            </a:r>
            <a:r>
              <a:rPr lang="en-US" altLang="zh-CN" sz="1050" dirty="0"/>
              <a:t>(</a:t>
            </a:r>
            <a:r>
              <a:rPr lang="en-US" altLang="zh-CN" sz="1050" dirty="0" err="1"/>
              <a:t>rcvpkt</a:t>
            </a:r>
            <a:r>
              <a:rPr lang="en-US" altLang="zh-CN" sz="1050" dirty="0"/>
              <a:t>) </a:t>
            </a:r>
          </a:p>
          <a:p>
            <a:pPr eaLnBrk="0" hangingPunct="0"/>
            <a:r>
              <a:rPr lang="en-US" altLang="zh-CN" sz="1050" dirty="0"/>
              <a:t>&amp;&amp; </a:t>
            </a:r>
            <a:r>
              <a:rPr lang="en-US" altLang="zh-CN" sz="1050" dirty="0" err="1"/>
              <a:t>isACK</a:t>
            </a:r>
            <a:r>
              <a:rPr lang="en-US" altLang="zh-CN" sz="1050" dirty="0"/>
              <a:t>(rcvpkt,1)</a:t>
            </a:r>
            <a:r>
              <a:rPr lang="en-US" altLang="zh-CN" sz="750" dirty="0"/>
              <a:t>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9" name="Line 28"/>
          <p:cNvSpPr>
            <a:spLocks noChangeShapeType="1"/>
          </p:cNvSpPr>
          <p:nvPr/>
        </p:nvSpPr>
        <p:spPr bwMode="auto">
          <a:xfrm>
            <a:off x="2716560" y="3209163"/>
            <a:ext cx="11382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0" name="Text Box 29"/>
          <p:cNvSpPr txBox="1">
            <a:spLocks noChangeArrowheads="1"/>
          </p:cNvSpPr>
          <p:nvPr/>
        </p:nvSpPr>
        <p:spPr bwMode="auto">
          <a:xfrm>
            <a:off x="6665864" y="3354420"/>
            <a:ext cx="1135856" cy="260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 err="1"/>
              <a:t>stop_timer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61" name="Text Box 30"/>
          <p:cNvSpPr txBox="1">
            <a:spLocks noChangeArrowheads="1"/>
          </p:cNvSpPr>
          <p:nvPr/>
        </p:nvSpPr>
        <p:spPr bwMode="auto">
          <a:xfrm>
            <a:off x="2615358" y="3188922"/>
            <a:ext cx="1135856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 err="1"/>
              <a:t>stop_timer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62" name="Freeform 31"/>
          <p:cNvSpPr/>
          <p:nvPr/>
        </p:nvSpPr>
        <p:spPr bwMode="auto">
          <a:xfrm>
            <a:off x="6619429" y="2259045"/>
            <a:ext cx="346472" cy="511969"/>
          </a:xfrm>
          <a:custGeom>
            <a:avLst/>
            <a:gdLst>
              <a:gd name="T0" fmla="*/ 0 w 291"/>
              <a:gd name="T1" fmla="*/ 120 h 430"/>
              <a:gd name="T2" fmla="*/ 15 w 291"/>
              <a:gd name="T3" fmla="*/ 255 h 43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91" h="430">
                <a:moveTo>
                  <a:pt x="0" y="120"/>
                </a:moveTo>
                <a:cubicBezTo>
                  <a:pt x="291" y="0"/>
                  <a:pt x="259" y="430"/>
                  <a:pt x="15" y="2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3" name="Text Box 32"/>
          <p:cNvSpPr txBox="1">
            <a:spLocks noChangeArrowheads="1"/>
          </p:cNvSpPr>
          <p:nvPr/>
        </p:nvSpPr>
        <p:spPr bwMode="auto">
          <a:xfrm>
            <a:off x="6868270" y="2392395"/>
            <a:ext cx="1587103" cy="413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FF0000"/>
                </a:solidFill>
              </a:rPr>
              <a:t>udt_send(sndpkt)</a:t>
            </a:r>
          </a:p>
          <a:p>
            <a:pPr eaLnBrk="0" hangingPunct="0"/>
            <a:r>
              <a:rPr lang="en-US" altLang="zh-CN" sz="1050" dirty="0" err="1">
                <a:solidFill>
                  <a:srgbClr val="FF0000"/>
                </a:solidFill>
              </a:rPr>
              <a:t>start_timer</a:t>
            </a:r>
            <a:endParaRPr lang="en-US" altLang="zh-CN" sz="105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" name="Text Box 33"/>
          <p:cNvSpPr txBox="1">
            <a:spLocks noChangeArrowheads="1"/>
          </p:cNvSpPr>
          <p:nvPr/>
        </p:nvSpPr>
        <p:spPr bwMode="auto">
          <a:xfrm>
            <a:off x="6884939" y="2214991"/>
            <a:ext cx="835819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>
                <a:solidFill>
                  <a:srgbClr val="FF0000"/>
                </a:solidFill>
              </a:rPr>
              <a:t>timeout</a:t>
            </a:r>
            <a:endParaRPr lang="en-US" altLang="zh-CN" sz="105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" name="Line 34"/>
          <p:cNvSpPr>
            <a:spLocks noChangeShapeType="1"/>
          </p:cNvSpPr>
          <p:nvPr/>
        </p:nvSpPr>
        <p:spPr bwMode="auto">
          <a:xfrm>
            <a:off x="6951614" y="2435227"/>
            <a:ext cx="7429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6" name="Freeform 35"/>
          <p:cNvSpPr/>
          <p:nvPr/>
        </p:nvSpPr>
        <p:spPr bwMode="auto">
          <a:xfrm>
            <a:off x="3613101" y="4031885"/>
            <a:ext cx="519113" cy="473869"/>
          </a:xfrm>
          <a:custGeom>
            <a:avLst/>
            <a:gdLst>
              <a:gd name="T0" fmla="*/ 436 w 436"/>
              <a:gd name="T1" fmla="*/ 101 h 398"/>
              <a:gd name="T2" fmla="*/ 300 w 436"/>
              <a:gd name="T3" fmla="*/ 0 h 39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36" h="398">
                <a:moveTo>
                  <a:pt x="436" y="101"/>
                </a:moveTo>
                <a:cubicBezTo>
                  <a:pt x="367" y="398"/>
                  <a:pt x="0" y="31"/>
                  <a:pt x="300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7" name="Freeform 36"/>
          <p:cNvSpPr/>
          <p:nvPr/>
        </p:nvSpPr>
        <p:spPr bwMode="auto">
          <a:xfrm>
            <a:off x="3463082" y="3815191"/>
            <a:ext cx="428625" cy="315516"/>
          </a:xfrm>
          <a:custGeom>
            <a:avLst/>
            <a:gdLst>
              <a:gd name="T0" fmla="*/ 900 w 900"/>
              <a:gd name="T1" fmla="*/ 360 h 662"/>
              <a:gd name="T2" fmla="*/ 825 w 900"/>
              <a:gd name="T3" fmla="*/ 15 h 66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00" h="662">
                <a:moveTo>
                  <a:pt x="900" y="360"/>
                </a:moveTo>
                <a:cubicBezTo>
                  <a:pt x="171" y="662"/>
                  <a:pt x="0" y="0"/>
                  <a:pt x="825" y="1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8" name="Text Box 37"/>
          <p:cNvSpPr txBox="1">
            <a:spLocks noChangeArrowheads="1"/>
          </p:cNvSpPr>
          <p:nvPr/>
        </p:nvSpPr>
        <p:spPr bwMode="auto">
          <a:xfrm>
            <a:off x="2411760" y="3850910"/>
            <a:ext cx="1368029" cy="321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FF0000"/>
                </a:solidFill>
              </a:rPr>
              <a:t>udt_send(sndpkt)</a:t>
            </a:r>
          </a:p>
          <a:p>
            <a:pPr eaLnBrk="0" hangingPunct="0"/>
            <a:r>
              <a:rPr lang="en-US" altLang="zh-CN" sz="1050" dirty="0" err="1">
                <a:solidFill>
                  <a:srgbClr val="FF0000"/>
                </a:solidFill>
              </a:rPr>
              <a:t>start_timer</a:t>
            </a:r>
            <a:endParaRPr lang="en-US" altLang="zh-CN" sz="105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" name="Text Box 38"/>
          <p:cNvSpPr txBox="1">
            <a:spLocks noChangeArrowheads="1"/>
          </p:cNvSpPr>
          <p:nvPr/>
        </p:nvSpPr>
        <p:spPr bwMode="auto">
          <a:xfrm>
            <a:off x="2422476" y="3660409"/>
            <a:ext cx="835819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>
                <a:solidFill>
                  <a:srgbClr val="FF0000"/>
                </a:solidFill>
              </a:rPr>
              <a:t>timeout</a:t>
            </a:r>
            <a:endParaRPr lang="en-US" altLang="zh-CN" sz="105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Line 39"/>
          <p:cNvSpPr>
            <a:spLocks noChangeShapeType="1"/>
          </p:cNvSpPr>
          <p:nvPr/>
        </p:nvSpPr>
        <p:spPr bwMode="auto">
          <a:xfrm>
            <a:off x="2499866" y="3894643"/>
            <a:ext cx="7429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1" name="Freeform 40"/>
          <p:cNvSpPr/>
          <p:nvPr/>
        </p:nvSpPr>
        <p:spPr bwMode="auto">
          <a:xfrm>
            <a:off x="6759922" y="3785426"/>
            <a:ext cx="434579" cy="667940"/>
          </a:xfrm>
          <a:custGeom>
            <a:avLst/>
            <a:gdLst>
              <a:gd name="T0" fmla="*/ 31 w 322"/>
              <a:gd name="T1" fmla="*/ 120 h 483"/>
              <a:gd name="T2" fmla="*/ 0 w 322"/>
              <a:gd name="T3" fmla="*/ 183 h 48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22" h="483">
                <a:moveTo>
                  <a:pt x="31" y="120"/>
                </a:moveTo>
                <a:cubicBezTo>
                  <a:pt x="322" y="0"/>
                  <a:pt x="64" y="483"/>
                  <a:pt x="0" y="18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2" name="Text Box 41"/>
          <p:cNvSpPr txBox="1">
            <a:spLocks noChangeArrowheads="1"/>
          </p:cNvSpPr>
          <p:nvPr/>
        </p:nvSpPr>
        <p:spPr bwMode="auto">
          <a:xfrm>
            <a:off x="2717751" y="1911382"/>
            <a:ext cx="1071563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/>
              <a:t>rdt_rcv(rcvpkt)</a:t>
            </a:r>
            <a:endParaRPr lang="en-US" altLang="zh-CN" sz="1050">
              <a:latin typeface="Times New Roman" panose="02020603050405020304" pitchFamily="18" charset="0"/>
            </a:endParaRPr>
          </a:p>
        </p:txBody>
      </p:sp>
      <p:grpSp>
        <p:nvGrpSpPr>
          <p:cNvPr id="73" name="Group 42"/>
          <p:cNvGrpSpPr/>
          <p:nvPr/>
        </p:nvGrpSpPr>
        <p:grpSpPr bwMode="auto">
          <a:xfrm>
            <a:off x="3754785" y="2106644"/>
            <a:ext cx="891779" cy="638175"/>
            <a:chOff x="4090" y="3230"/>
            <a:chExt cx="749" cy="536"/>
          </a:xfrm>
        </p:grpSpPr>
        <p:sp>
          <p:nvSpPr>
            <p:cNvPr id="74" name="Oval 43"/>
            <p:cNvSpPr>
              <a:spLocks noChangeArrowheads="1"/>
            </p:cNvSpPr>
            <p:nvPr/>
          </p:nvSpPr>
          <p:spPr bwMode="auto"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5" name="Text Box 44"/>
            <p:cNvSpPr txBox="1">
              <a:spLocks noChangeArrowheads="1"/>
            </p:cNvSpPr>
            <p:nvPr/>
          </p:nvSpPr>
          <p:spPr bwMode="auto"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/>
                <a:t>Wait for </a:t>
              </a:r>
            </a:p>
            <a:p>
              <a:pPr algn="ctr" eaLnBrk="0" hangingPunct="0"/>
              <a:r>
                <a:rPr lang="en-US" altLang="zh-CN" sz="1050"/>
                <a:t>call 0from above</a:t>
              </a:r>
              <a:endParaRPr lang="en-US" altLang="zh-CN" sz="1050">
                <a:latin typeface="Times New Roman" panose="02020603050405020304" pitchFamily="18" charset="0"/>
              </a:endParaRPr>
            </a:p>
          </p:txBody>
        </p:sp>
      </p:grpSp>
      <p:sp>
        <p:nvSpPr>
          <p:cNvPr id="76" name="Line 45"/>
          <p:cNvSpPr>
            <a:spLocks noChangeShapeType="1"/>
          </p:cNvSpPr>
          <p:nvPr/>
        </p:nvSpPr>
        <p:spPr bwMode="auto">
          <a:xfrm>
            <a:off x="2783235" y="2125694"/>
            <a:ext cx="8262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77" name="Group 46"/>
          <p:cNvGrpSpPr/>
          <p:nvPr/>
        </p:nvGrpSpPr>
        <p:grpSpPr bwMode="auto">
          <a:xfrm>
            <a:off x="3913139" y="3497295"/>
            <a:ext cx="666750" cy="648890"/>
            <a:chOff x="445" y="1273"/>
            <a:chExt cx="560" cy="545"/>
          </a:xfrm>
        </p:grpSpPr>
        <p:sp>
          <p:nvSpPr>
            <p:cNvPr id="78" name="Oval 47"/>
            <p:cNvSpPr>
              <a:spLocks noChangeArrowheads="1"/>
            </p:cNvSpPr>
            <p:nvPr/>
          </p:nvSpPr>
          <p:spPr bwMode="auto"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Text Box 48"/>
            <p:cNvSpPr txBox="1">
              <a:spLocks noChangeArrowheads="1"/>
            </p:cNvSpPr>
            <p:nvPr/>
          </p:nvSpPr>
          <p:spPr bwMode="auto"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/>
                <a:t>Wait for ACK1</a:t>
              </a:r>
              <a:endParaRPr lang="en-US" altLang="zh-CN" sz="1050">
                <a:latin typeface="Times New Roman" panose="02020603050405020304" pitchFamily="18" charset="0"/>
              </a:endParaRPr>
            </a:p>
          </p:txBody>
        </p:sp>
      </p:grpSp>
      <p:sp>
        <p:nvSpPr>
          <p:cNvPr id="80" name="Freeform 49"/>
          <p:cNvSpPr/>
          <p:nvPr/>
        </p:nvSpPr>
        <p:spPr bwMode="auto">
          <a:xfrm flipH="1" flipV="1">
            <a:off x="3445222" y="1842326"/>
            <a:ext cx="434579" cy="667940"/>
          </a:xfrm>
          <a:custGeom>
            <a:avLst/>
            <a:gdLst>
              <a:gd name="T0" fmla="*/ 31 w 322"/>
              <a:gd name="T1" fmla="*/ 120 h 483"/>
              <a:gd name="T2" fmla="*/ 0 w 322"/>
              <a:gd name="T3" fmla="*/ 183 h 48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22" h="483">
                <a:moveTo>
                  <a:pt x="31" y="120"/>
                </a:moveTo>
                <a:cubicBezTo>
                  <a:pt x="322" y="0"/>
                  <a:pt x="64" y="483"/>
                  <a:pt x="0" y="18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2" name="Text Box 50"/>
          <p:cNvSpPr txBox="1">
            <a:spLocks noChangeArrowheads="1"/>
          </p:cNvSpPr>
          <p:nvPr/>
        </p:nvSpPr>
        <p:spPr bwMode="auto">
          <a:xfrm>
            <a:off x="7335019" y="4144995"/>
            <a:ext cx="2904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83" name="Text Box 51"/>
          <p:cNvSpPr txBox="1">
            <a:spLocks noChangeArrowheads="1"/>
          </p:cNvSpPr>
          <p:nvPr/>
        </p:nvSpPr>
        <p:spPr bwMode="auto">
          <a:xfrm>
            <a:off x="7008763" y="3958066"/>
            <a:ext cx="1071563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/>
              <a:t>rdt_rcv(rcvpkt)</a:t>
            </a:r>
            <a:endParaRPr lang="en-US" altLang="zh-CN" sz="1050">
              <a:latin typeface="Times New Roman" panose="02020603050405020304" pitchFamily="18" charset="0"/>
            </a:endParaRPr>
          </a:p>
        </p:txBody>
      </p:sp>
      <p:sp>
        <p:nvSpPr>
          <p:cNvPr id="84" name="Line 52"/>
          <p:cNvSpPr>
            <a:spLocks noChangeShapeType="1"/>
          </p:cNvSpPr>
          <p:nvPr/>
        </p:nvSpPr>
        <p:spPr bwMode="auto">
          <a:xfrm>
            <a:off x="7089116" y="4194680"/>
            <a:ext cx="8262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5" name="Text Box 53"/>
          <p:cNvSpPr txBox="1">
            <a:spLocks noChangeArrowheads="1"/>
          </p:cNvSpPr>
          <p:nvPr/>
        </p:nvSpPr>
        <p:spPr bwMode="auto">
          <a:xfrm>
            <a:off x="7262391" y="1891141"/>
            <a:ext cx="2904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86" name="Text Box 54"/>
          <p:cNvSpPr txBox="1">
            <a:spLocks noChangeArrowheads="1"/>
          </p:cNvSpPr>
          <p:nvPr/>
        </p:nvSpPr>
        <p:spPr bwMode="auto">
          <a:xfrm>
            <a:off x="3023766" y="2098310"/>
            <a:ext cx="2904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87" name="Text Box 55"/>
          <p:cNvSpPr txBox="1">
            <a:spLocks noChangeArrowheads="1"/>
          </p:cNvSpPr>
          <p:nvPr/>
        </p:nvSpPr>
        <p:spPr bwMode="auto">
          <a:xfrm>
            <a:off x="3326184" y="4743023"/>
            <a:ext cx="2904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200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8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33</a:t>
            </a:fld>
            <a:endParaRPr lang="en-US" altLang="zh-CN" dirty="0"/>
          </a:p>
        </p:txBody>
      </p:sp>
      <p:sp>
        <p:nvSpPr>
          <p:cNvPr id="90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 tmFilter="0, 0; .2, .5; .8, .5; 1, 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5" dur="250" autoRev="1" fill="hold"/>
                                        <p:tgtEl>
                                          <p:spTgt spid="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21" grpId="0"/>
      <p:bldP spid="25" grpId="0"/>
      <p:bldP spid="28" grpId="0" animBg="1"/>
      <p:bldP spid="30" grpId="0" animBg="1"/>
      <p:bldP spid="35" grpId="0" animBg="1"/>
      <p:bldP spid="36" grpId="0" animBg="1"/>
      <p:bldP spid="37" grpId="0"/>
      <p:bldP spid="38" grpId="0" animBg="1"/>
      <p:bldP spid="42" grpId="0" animBg="1"/>
      <p:bldP spid="43" grpId="0" animBg="1"/>
      <p:bldP spid="44" grpId="0" animBg="1"/>
      <p:bldP spid="45" grpId="0"/>
      <p:bldP spid="46" grpId="0"/>
      <p:bldP spid="47" grpId="0" animBg="1"/>
      <p:bldP spid="49" grpId="0"/>
      <p:bldP spid="51" grpId="0" animBg="1"/>
      <p:bldP spid="52" grpId="0"/>
      <p:bldP spid="53" grpId="0" animBg="1"/>
      <p:bldP spid="58" grpId="0"/>
      <p:bldP spid="59" grpId="0" animBg="1"/>
      <p:bldP spid="60" grpId="0"/>
      <p:bldP spid="61" grpId="0"/>
      <p:bldP spid="62" grpId="0" animBg="1"/>
      <p:bldP spid="63" grpId="0"/>
      <p:bldP spid="64" grpId="0"/>
      <p:bldP spid="65" grpId="0" animBg="1"/>
      <p:bldP spid="66" grpId="0" animBg="1"/>
      <p:bldP spid="67" grpId="0" animBg="1"/>
      <p:bldP spid="68" grpId="0"/>
      <p:bldP spid="69" grpId="0"/>
      <p:bldP spid="70" grpId="0" animBg="1"/>
      <p:bldP spid="71" grpId="0" animBg="1"/>
      <p:bldP spid="72" grpId="0"/>
      <p:bldP spid="76" grpId="0" animBg="1"/>
      <p:bldP spid="80" grpId="0" animBg="1"/>
      <p:bldP spid="82" grpId="0"/>
      <p:bldP spid="83" grpId="0"/>
      <p:bldP spid="84" grpId="0" animBg="1"/>
      <p:bldP spid="85" grpId="0"/>
      <p:bldP spid="86" grpId="0"/>
      <p:bldP spid="87" grpId="0"/>
      <p:bldP spid="90" grpId="0" animBg="1"/>
      <p:bldP spid="90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grpSp>
        <p:nvGrpSpPr>
          <p:cNvPr id="8" name="Group 3"/>
          <p:cNvGrpSpPr/>
          <p:nvPr/>
        </p:nvGrpSpPr>
        <p:grpSpPr bwMode="auto">
          <a:xfrm>
            <a:off x="3813371" y="2827676"/>
            <a:ext cx="781050" cy="596504"/>
            <a:chOff x="963" y="1131"/>
            <a:chExt cx="656" cy="501"/>
          </a:xfrm>
        </p:grpSpPr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963" y="1131"/>
              <a:ext cx="656" cy="50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1004" y="1153"/>
              <a:ext cx="57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 dirty="0"/>
                <a:t>Wait for </a:t>
              </a:r>
            </a:p>
            <a:p>
              <a:pPr algn="ctr" eaLnBrk="0" hangingPunct="0"/>
              <a:r>
                <a:rPr lang="en-US" altLang="zh-CN" sz="1050" dirty="0"/>
                <a:t>0 from below</a:t>
              </a:r>
              <a:endParaRPr lang="en-US" altLang="zh-CN" sz="105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3806227" y="2324452"/>
            <a:ext cx="198834" cy="510368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" name="Freeform 7"/>
          <p:cNvSpPr/>
          <p:nvPr/>
        </p:nvSpPr>
        <p:spPr bwMode="auto">
          <a:xfrm flipV="1">
            <a:off x="4201515" y="2263320"/>
            <a:ext cx="1193006" cy="589360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6121992" y="2532402"/>
            <a:ext cx="2266432" cy="30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sndpkt = make_pkt(ACK0, </a:t>
            </a:r>
            <a:r>
              <a:rPr lang="en-US" altLang="zh-CN" sz="1050" dirty="0" err="1"/>
              <a:t>chksum</a:t>
            </a:r>
            <a:r>
              <a:rPr lang="en-US" altLang="zh-CN" sz="1050" dirty="0"/>
              <a:t>)</a:t>
            </a:r>
          </a:p>
          <a:p>
            <a:pPr eaLnBrk="0" hangingPunct="0"/>
            <a:r>
              <a:rPr lang="en-US" altLang="zh-CN" sz="1050" dirty="0"/>
              <a:t>udt_send(sndpkt)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124374" y="3045561"/>
            <a:ext cx="196810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rdt_rcv(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 </a:t>
            </a:r>
          </a:p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   not corrupt(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</a:t>
            </a:r>
          </a:p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   has_seq0(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</a:t>
            </a:r>
          </a:p>
          <a:p>
            <a:pPr algn="ctr" eaLnBrk="0" hangingPunct="0"/>
            <a:endParaRPr lang="en-US" altLang="zh-CN" sz="12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6187476" y="3590867"/>
            <a:ext cx="14537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6" name="Freeform 11"/>
          <p:cNvSpPr/>
          <p:nvPr/>
        </p:nvSpPr>
        <p:spPr bwMode="auto">
          <a:xfrm>
            <a:off x="4214612" y="3439658"/>
            <a:ext cx="1193006" cy="516731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3756220" y="3818276"/>
            <a:ext cx="26860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rdt_rcv(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 </a:t>
            </a:r>
            <a:r>
              <a:rPr lang="en-US" altLang="zh-CN" sz="1050" dirty="0" err="1">
                <a:solidFill>
                  <a:srgbClr val="0000FF"/>
                </a:solidFill>
              </a:rPr>
              <a:t>notcorrupt</a:t>
            </a:r>
            <a:r>
              <a:rPr lang="en-US" altLang="zh-CN" sz="1050" dirty="0">
                <a:solidFill>
                  <a:srgbClr val="0000FF"/>
                </a:solidFill>
              </a:rPr>
              <a:t>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</a:t>
            </a:r>
          </a:p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  &amp;&amp; has_seq1(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</a:t>
            </a:r>
            <a:r>
              <a:rPr lang="en-US" altLang="zh-CN" sz="1200" dirty="0">
                <a:solidFill>
                  <a:srgbClr val="0000FF"/>
                </a:solidFill>
              </a:rPr>
              <a:t> </a:t>
            </a:r>
            <a:endParaRPr lang="en-US" altLang="zh-CN" sz="12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3806227" y="4236186"/>
            <a:ext cx="2174081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3763365" y="4213638"/>
            <a:ext cx="2889647" cy="66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extract(</a:t>
            </a:r>
            <a:r>
              <a:rPr lang="en-US" altLang="zh-CN" sz="1050" dirty="0" err="1"/>
              <a:t>rcvpkt,data</a:t>
            </a:r>
            <a:r>
              <a:rPr lang="en-US" altLang="zh-CN" sz="1050" dirty="0"/>
              <a:t>)</a:t>
            </a:r>
          </a:p>
          <a:p>
            <a:pPr eaLnBrk="0" hangingPunct="0"/>
            <a:r>
              <a:rPr lang="en-US" altLang="zh-CN" sz="1050" dirty="0">
                <a:solidFill>
                  <a:srgbClr val="FF0000"/>
                </a:solidFill>
              </a:rPr>
              <a:t>deliver_data(data)</a:t>
            </a:r>
          </a:p>
          <a:p>
            <a:pPr eaLnBrk="0" hangingPunct="0"/>
            <a:r>
              <a:rPr lang="en-US" altLang="zh-CN" sz="1050" dirty="0"/>
              <a:t>sndpkt = make_pkt(ACK1, </a:t>
            </a:r>
            <a:r>
              <a:rPr lang="en-US" altLang="zh-CN" sz="1050" dirty="0" err="1"/>
              <a:t>chksum</a:t>
            </a:r>
            <a:r>
              <a:rPr lang="en-US" altLang="zh-CN" sz="1050" dirty="0"/>
              <a:t>)</a:t>
            </a:r>
          </a:p>
          <a:p>
            <a:pPr eaLnBrk="0" hangingPunct="0"/>
            <a:r>
              <a:rPr lang="en-US" altLang="zh-CN" sz="1050" dirty="0"/>
              <a:t>udt_send(sndpkt)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grpSp>
        <p:nvGrpSpPr>
          <p:cNvPr id="20" name="Group 15"/>
          <p:cNvGrpSpPr/>
          <p:nvPr/>
        </p:nvGrpSpPr>
        <p:grpSpPr bwMode="auto">
          <a:xfrm>
            <a:off x="4857548" y="2853870"/>
            <a:ext cx="884634" cy="597694"/>
            <a:chOff x="4205" y="3133"/>
            <a:chExt cx="743" cy="502"/>
          </a:xfrm>
        </p:grpSpPr>
        <p:sp>
          <p:nvSpPr>
            <p:cNvPr id="21" name="Oval 16"/>
            <p:cNvSpPr>
              <a:spLocks noChangeArrowheads="1"/>
            </p:cNvSpPr>
            <p:nvPr/>
          </p:nvSpPr>
          <p:spPr bwMode="auto">
            <a:xfrm>
              <a:off x="4240" y="3133"/>
              <a:ext cx="665" cy="50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>
              <a:off x="4205" y="3157"/>
              <a:ext cx="74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050" dirty="0"/>
                <a:t>Wait for </a:t>
              </a:r>
            </a:p>
            <a:p>
              <a:pPr algn="ctr" eaLnBrk="0" hangingPunct="0"/>
              <a:r>
                <a:rPr lang="en-US" altLang="zh-CN" sz="1050" dirty="0"/>
                <a:t>1 from below</a:t>
              </a:r>
              <a:endParaRPr lang="en-US" altLang="zh-CN" sz="105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" name="Freeform 18"/>
          <p:cNvSpPr/>
          <p:nvPr/>
        </p:nvSpPr>
        <p:spPr bwMode="auto">
          <a:xfrm rot="20238987">
            <a:off x="5612406" y="2547880"/>
            <a:ext cx="629840" cy="647700"/>
          </a:xfrm>
          <a:custGeom>
            <a:avLst/>
            <a:gdLst>
              <a:gd name="T0" fmla="*/ 39 w 619"/>
              <a:gd name="T1" fmla="*/ 1136 h 1815"/>
              <a:gd name="T2" fmla="*/ 0 w 619"/>
              <a:gd name="T3" fmla="*/ 773 h 18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" name="Text Box 19"/>
          <p:cNvSpPr txBox="1">
            <a:spLocks noChangeArrowheads="1"/>
          </p:cNvSpPr>
          <p:nvPr/>
        </p:nvSpPr>
        <p:spPr bwMode="auto">
          <a:xfrm>
            <a:off x="3910444" y="1550136"/>
            <a:ext cx="3618402" cy="232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rdt_rcv(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 </a:t>
            </a:r>
            <a:r>
              <a:rPr lang="en-US" altLang="zh-CN" sz="1050" dirty="0" err="1">
                <a:solidFill>
                  <a:srgbClr val="0000FF"/>
                </a:solidFill>
              </a:rPr>
              <a:t>notcorrupt</a:t>
            </a:r>
            <a:r>
              <a:rPr lang="en-US" altLang="zh-CN" sz="1050" dirty="0">
                <a:solidFill>
                  <a:srgbClr val="0000FF"/>
                </a:solidFill>
              </a:rPr>
              <a:t>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 &amp;&amp; has_seq0(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</a:t>
            </a:r>
            <a:endParaRPr lang="en-US" altLang="zh-CN" sz="105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>
            <a:off x="3959818" y="1775164"/>
            <a:ext cx="14358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3904211" y="1749751"/>
            <a:ext cx="2606279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extract(</a:t>
            </a:r>
            <a:r>
              <a:rPr lang="en-US" altLang="zh-CN" sz="1050" dirty="0" err="1"/>
              <a:t>rcvpkt,data</a:t>
            </a:r>
            <a:r>
              <a:rPr lang="en-US" altLang="zh-CN" sz="1050" dirty="0"/>
              <a:t>)</a:t>
            </a:r>
          </a:p>
          <a:p>
            <a:pPr eaLnBrk="0" hangingPunct="0"/>
            <a:r>
              <a:rPr lang="en-US" altLang="zh-CN" sz="1050" dirty="0">
                <a:solidFill>
                  <a:srgbClr val="FF0000"/>
                </a:solidFill>
              </a:rPr>
              <a:t>deliver_data(data)</a:t>
            </a:r>
          </a:p>
          <a:p>
            <a:pPr eaLnBrk="0" hangingPunct="0"/>
            <a:r>
              <a:rPr lang="en-US" altLang="zh-CN" sz="1050" dirty="0"/>
              <a:t>sndpkt = make_pkt(ACK0, </a:t>
            </a:r>
            <a:r>
              <a:rPr lang="en-US" altLang="zh-CN" sz="1050" dirty="0" err="1"/>
              <a:t>chksum</a:t>
            </a:r>
            <a:r>
              <a:rPr lang="en-US" altLang="zh-CN" sz="1050" dirty="0"/>
              <a:t>)</a:t>
            </a:r>
          </a:p>
          <a:p>
            <a:pPr eaLnBrk="0" hangingPunct="0"/>
            <a:r>
              <a:rPr lang="en-US" altLang="zh-CN" sz="1050" dirty="0"/>
              <a:t>udt_send(sndpkt)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27" name="Freeform 22"/>
          <p:cNvSpPr/>
          <p:nvPr/>
        </p:nvSpPr>
        <p:spPr bwMode="auto">
          <a:xfrm rot="1020547">
            <a:off x="5630264" y="3090805"/>
            <a:ext cx="629841" cy="647700"/>
          </a:xfrm>
          <a:custGeom>
            <a:avLst/>
            <a:gdLst>
              <a:gd name="T0" fmla="*/ 39 w 619"/>
              <a:gd name="T1" fmla="*/ 1136 h 1815"/>
              <a:gd name="T2" fmla="*/ 0 w 619"/>
              <a:gd name="T3" fmla="*/ 773 h 18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6085083" y="2309755"/>
            <a:ext cx="215384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rdt_rcv(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 (corrupt(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</a:t>
            </a:r>
            <a:endParaRPr lang="en-US" altLang="zh-CN" sz="105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Line 24"/>
          <p:cNvSpPr>
            <a:spLocks noChangeShapeType="1"/>
          </p:cNvSpPr>
          <p:nvPr/>
        </p:nvSpPr>
        <p:spPr bwMode="auto">
          <a:xfrm>
            <a:off x="6188668" y="2543117"/>
            <a:ext cx="145375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6112468" y="3595630"/>
            <a:ext cx="2275956" cy="30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sndpkt = make_pkt(ACK0, </a:t>
            </a:r>
            <a:r>
              <a:rPr lang="en-US" altLang="zh-CN" sz="1050" dirty="0" err="1"/>
              <a:t>chksum</a:t>
            </a:r>
            <a:r>
              <a:rPr lang="en-US" altLang="zh-CN" sz="1050" dirty="0"/>
              <a:t>)</a:t>
            </a:r>
          </a:p>
          <a:p>
            <a:pPr eaLnBrk="0" hangingPunct="0"/>
            <a:r>
              <a:rPr lang="en-US" altLang="zh-CN" sz="1050" dirty="0"/>
              <a:t>udt_send(sndpkt)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1679770" y="3051514"/>
            <a:ext cx="1968104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rdt_rcv(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 </a:t>
            </a:r>
          </a:p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   not corrupt(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</a:t>
            </a:r>
          </a:p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   has_seq1(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</a:t>
            </a:r>
          </a:p>
          <a:p>
            <a:pPr algn="ctr" eaLnBrk="0" hangingPunct="0"/>
            <a:endParaRPr lang="en-US" altLang="zh-CN" sz="12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Line 27"/>
          <p:cNvSpPr>
            <a:spLocks noChangeShapeType="1"/>
          </p:cNvSpPr>
          <p:nvPr/>
        </p:nvSpPr>
        <p:spPr bwMode="auto">
          <a:xfrm>
            <a:off x="1742874" y="3582533"/>
            <a:ext cx="145375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" name="Text Box 28"/>
          <p:cNvSpPr txBox="1">
            <a:spLocks noChangeArrowheads="1"/>
          </p:cNvSpPr>
          <p:nvPr/>
        </p:nvSpPr>
        <p:spPr bwMode="auto">
          <a:xfrm>
            <a:off x="1669056" y="2297849"/>
            <a:ext cx="215384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>
                <a:solidFill>
                  <a:srgbClr val="0000FF"/>
                </a:solidFill>
              </a:rPr>
              <a:t>rdt_rcv(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 &amp;&amp; (corrupt(</a:t>
            </a:r>
            <a:r>
              <a:rPr lang="en-US" altLang="zh-CN" sz="1050" dirty="0" err="1">
                <a:solidFill>
                  <a:srgbClr val="0000FF"/>
                </a:solidFill>
              </a:rPr>
              <a:t>rcvpkt</a:t>
            </a:r>
            <a:r>
              <a:rPr lang="en-US" altLang="zh-CN" sz="1050" dirty="0">
                <a:solidFill>
                  <a:srgbClr val="0000FF"/>
                </a:solidFill>
              </a:rPr>
              <a:t>)</a:t>
            </a:r>
            <a:endParaRPr lang="en-US" altLang="zh-CN" sz="105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Line 29"/>
          <p:cNvSpPr>
            <a:spLocks noChangeShapeType="1"/>
          </p:cNvSpPr>
          <p:nvPr/>
        </p:nvSpPr>
        <p:spPr bwMode="auto">
          <a:xfrm>
            <a:off x="1744064" y="2543117"/>
            <a:ext cx="14537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5" name="Text Box 30"/>
          <p:cNvSpPr txBox="1">
            <a:spLocks noChangeArrowheads="1"/>
          </p:cNvSpPr>
          <p:nvPr/>
        </p:nvSpPr>
        <p:spPr bwMode="auto">
          <a:xfrm>
            <a:off x="1703582" y="3599202"/>
            <a:ext cx="2305054" cy="30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sndpkt = make_pkt(ACK1, </a:t>
            </a:r>
            <a:r>
              <a:rPr lang="en-US" altLang="zh-CN" sz="1050" dirty="0" err="1"/>
              <a:t>chksum</a:t>
            </a:r>
            <a:r>
              <a:rPr lang="en-US" altLang="zh-CN" sz="1050" dirty="0"/>
              <a:t>)</a:t>
            </a:r>
          </a:p>
          <a:p>
            <a:pPr eaLnBrk="0" hangingPunct="0"/>
            <a:r>
              <a:rPr lang="en-US" altLang="zh-CN" sz="1050" dirty="0"/>
              <a:t>udt_send(sndpkt)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36" name="Text Box 31"/>
          <p:cNvSpPr txBox="1">
            <a:spLocks noChangeArrowheads="1"/>
          </p:cNvSpPr>
          <p:nvPr/>
        </p:nvSpPr>
        <p:spPr bwMode="auto">
          <a:xfrm>
            <a:off x="1685724" y="2518114"/>
            <a:ext cx="2302668" cy="373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050" dirty="0"/>
              <a:t>sndpkt = make_pkt(ACK1, </a:t>
            </a:r>
            <a:r>
              <a:rPr lang="en-US" altLang="zh-CN" sz="1050" dirty="0" err="1"/>
              <a:t>chksum</a:t>
            </a:r>
            <a:r>
              <a:rPr lang="en-US" altLang="zh-CN" sz="1050" dirty="0"/>
              <a:t>)</a:t>
            </a:r>
          </a:p>
          <a:p>
            <a:pPr eaLnBrk="0" hangingPunct="0"/>
            <a:r>
              <a:rPr lang="en-US" altLang="zh-CN" sz="1050" dirty="0"/>
              <a:t>udt_send(sndpkt)</a:t>
            </a:r>
            <a:endParaRPr lang="en-US" altLang="zh-CN" sz="1050" dirty="0">
              <a:latin typeface="Times New Roman" panose="02020603050405020304" pitchFamily="18" charset="0"/>
            </a:endParaRPr>
          </a:p>
        </p:txBody>
      </p:sp>
      <p:sp>
        <p:nvSpPr>
          <p:cNvPr id="37" name="Freeform 32"/>
          <p:cNvSpPr/>
          <p:nvPr/>
        </p:nvSpPr>
        <p:spPr bwMode="auto">
          <a:xfrm rot="20579453" flipH="1">
            <a:off x="3210914" y="3043180"/>
            <a:ext cx="629841" cy="647700"/>
          </a:xfrm>
          <a:custGeom>
            <a:avLst/>
            <a:gdLst>
              <a:gd name="T0" fmla="*/ 39 w 619"/>
              <a:gd name="T1" fmla="*/ 1136 h 1815"/>
              <a:gd name="T2" fmla="*/ 0 w 619"/>
              <a:gd name="T3" fmla="*/ 773 h 18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8" name="Freeform 33"/>
          <p:cNvSpPr/>
          <p:nvPr/>
        </p:nvSpPr>
        <p:spPr bwMode="auto">
          <a:xfrm rot="1361013" flipH="1">
            <a:off x="3201389" y="2557405"/>
            <a:ext cx="629841" cy="647700"/>
          </a:xfrm>
          <a:custGeom>
            <a:avLst/>
            <a:gdLst>
              <a:gd name="T0" fmla="*/ 39 w 619"/>
              <a:gd name="T1" fmla="*/ 1136 h 1815"/>
              <a:gd name="T2" fmla="*/ 0 w 619"/>
              <a:gd name="T3" fmla="*/ 773 h 18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9" name="内容占位符 2"/>
          <p:cNvSpPr txBox="1"/>
          <p:nvPr/>
        </p:nvSpPr>
        <p:spPr>
          <a:xfrm>
            <a:off x="470049" y="898961"/>
            <a:ext cx="7886700" cy="115974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rdt3.0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：接收方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rdt2.2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34</a:t>
            </a:fld>
            <a:endParaRPr lang="en-US" altLang="zh-CN" dirty="0"/>
          </a:p>
        </p:txBody>
      </p:sp>
      <p:sp>
        <p:nvSpPr>
          <p:cNvPr id="4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 animBg="1"/>
      <p:bldP spid="19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/>
      <p:bldP spid="32" grpId="0" animBg="1"/>
      <p:bldP spid="33" grpId="0"/>
      <p:bldP spid="34" grpId="0" animBg="1"/>
      <p:bldP spid="35" grpId="0"/>
      <p:bldP spid="36" grpId="0"/>
      <p:bldP spid="37" grpId="0" animBg="1"/>
      <p:bldP spid="38" grpId="0" animBg="1"/>
      <p:bldP spid="41" grpId="0" animBg="1"/>
      <p:bldP spid="41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3.4 </a:t>
            </a:r>
            <a:r>
              <a:rPr lang="zh-CN" altLang="en-US" dirty="0"/>
              <a:t>可靠数据传输原理</a:t>
            </a:r>
            <a:endParaRPr lang="en-US" altLang="zh-CN" dirty="0"/>
          </a:p>
        </p:txBody>
      </p:sp>
      <p:sp>
        <p:nvSpPr>
          <p:cNvPr id="330757" name="Oval 5"/>
          <p:cNvSpPr>
            <a:spLocks noChangeArrowheads="1"/>
          </p:cNvSpPr>
          <p:nvPr/>
        </p:nvSpPr>
        <p:spPr bwMode="auto">
          <a:xfrm>
            <a:off x="1371365" y="1397273"/>
            <a:ext cx="628650" cy="571500"/>
          </a:xfrm>
          <a:prstGeom prst="ellipse">
            <a:avLst/>
          </a:prstGeom>
          <a:solidFill>
            <a:srgbClr val="99CCFF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</a:t>
            </a:r>
          </a:p>
          <a:p>
            <a:pPr algn="ctr" eaLnBrk="0" hangingPunct="0"/>
            <a:r>
              <a: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Call</a:t>
            </a:r>
          </a:p>
        </p:txBody>
      </p:sp>
      <p:sp>
        <p:nvSpPr>
          <p:cNvPr id="330758" name="Freeform 6"/>
          <p:cNvSpPr/>
          <p:nvPr/>
        </p:nvSpPr>
        <p:spPr bwMode="auto">
          <a:xfrm>
            <a:off x="1942865" y="1340123"/>
            <a:ext cx="457200" cy="670322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60" name="Oval 8"/>
          <p:cNvSpPr>
            <a:spLocks noChangeArrowheads="1"/>
          </p:cNvSpPr>
          <p:nvPr/>
        </p:nvSpPr>
        <p:spPr bwMode="auto">
          <a:xfrm>
            <a:off x="6495628" y="1397273"/>
            <a:ext cx="628650" cy="571500"/>
          </a:xfrm>
          <a:prstGeom prst="ellipse">
            <a:avLst/>
          </a:prstGeom>
          <a:solidFill>
            <a:srgbClr val="99CCFF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</a:t>
            </a:r>
          </a:p>
          <a:p>
            <a:pPr algn="ctr" eaLnBrk="0" hangingPunct="0"/>
            <a:r>
              <a: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Call</a:t>
            </a:r>
            <a:endParaRPr lang="en-US" altLang="zh-CN" sz="9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61" name="Freeform 9"/>
          <p:cNvSpPr/>
          <p:nvPr/>
        </p:nvSpPr>
        <p:spPr bwMode="auto">
          <a:xfrm>
            <a:off x="7067128" y="1340123"/>
            <a:ext cx="457200" cy="670322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62" name="Oval 10"/>
          <p:cNvSpPr>
            <a:spLocks noChangeArrowheads="1"/>
          </p:cNvSpPr>
          <p:nvPr/>
        </p:nvSpPr>
        <p:spPr bwMode="auto">
          <a:xfrm>
            <a:off x="1371365" y="2341208"/>
            <a:ext cx="628650" cy="571500"/>
          </a:xfrm>
          <a:prstGeom prst="ellipse">
            <a:avLst/>
          </a:prstGeom>
          <a:solidFill>
            <a:srgbClr val="99CCFF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</a:t>
            </a:r>
          </a:p>
          <a:p>
            <a:pPr algn="ctr" eaLnBrk="0" hangingPunct="0"/>
            <a:r>
              <a: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Call</a:t>
            </a:r>
          </a:p>
        </p:txBody>
      </p:sp>
      <p:sp>
        <p:nvSpPr>
          <p:cNvPr id="330763" name="Oval 11"/>
          <p:cNvSpPr>
            <a:spLocks noChangeArrowheads="1"/>
          </p:cNvSpPr>
          <p:nvPr/>
        </p:nvSpPr>
        <p:spPr bwMode="auto">
          <a:xfrm>
            <a:off x="2742965" y="2341208"/>
            <a:ext cx="628650" cy="571500"/>
          </a:xfrm>
          <a:prstGeom prst="ellipse">
            <a:avLst/>
          </a:prstGeom>
          <a:solidFill>
            <a:srgbClr val="99CCFF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</a:t>
            </a:r>
          </a:p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ACK/NAK</a:t>
            </a:r>
          </a:p>
        </p:txBody>
      </p:sp>
      <p:sp>
        <p:nvSpPr>
          <p:cNvPr id="330764" name="Freeform 12"/>
          <p:cNvSpPr/>
          <p:nvPr/>
        </p:nvSpPr>
        <p:spPr bwMode="auto">
          <a:xfrm>
            <a:off x="3314465" y="2284058"/>
            <a:ext cx="457200" cy="670322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65" name="Freeform 13"/>
          <p:cNvSpPr/>
          <p:nvPr/>
        </p:nvSpPr>
        <p:spPr bwMode="auto">
          <a:xfrm flipV="1">
            <a:off x="1714266" y="2155470"/>
            <a:ext cx="1350169" cy="185738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66" name="Freeform 14"/>
          <p:cNvSpPr/>
          <p:nvPr/>
        </p:nvSpPr>
        <p:spPr bwMode="auto">
          <a:xfrm>
            <a:off x="1749984" y="2925805"/>
            <a:ext cx="1350169" cy="185738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67" name="Oval 15"/>
          <p:cNvSpPr>
            <a:spLocks noChangeArrowheads="1"/>
          </p:cNvSpPr>
          <p:nvPr/>
        </p:nvSpPr>
        <p:spPr bwMode="auto">
          <a:xfrm>
            <a:off x="6495628" y="2341208"/>
            <a:ext cx="628650" cy="571500"/>
          </a:xfrm>
          <a:prstGeom prst="ellipse">
            <a:avLst/>
          </a:prstGeom>
          <a:solidFill>
            <a:srgbClr val="99CCFF"/>
          </a:solidFill>
          <a:ln w="254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</a:t>
            </a:r>
          </a:p>
          <a:p>
            <a:pPr algn="ctr" eaLnBrk="0" hangingPunct="0"/>
            <a:r>
              <a: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Call</a:t>
            </a:r>
            <a:endParaRPr lang="en-US" altLang="zh-CN" sz="9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68" name="Freeform 16"/>
          <p:cNvSpPr/>
          <p:nvPr/>
        </p:nvSpPr>
        <p:spPr bwMode="auto">
          <a:xfrm>
            <a:off x="7067128" y="2284058"/>
            <a:ext cx="457200" cy="670322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69" name="Freeform 17"/>
          <p:cNvSpPr/>
          <p:nvPr/>
        </p:nvSpPr>
        <p:spPr bwMode="auto">
          <a:xfrm rot="10800000">
            <a:off x="6095578" y="2284058"/>
            <a:ext cx="457200" cy="670322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71" name="Oval 19"/>
          <p:cNvSpPr>
            <a:spLocks noChangeArrowheads="1"/>
          </p:cNvSpPr>
          <p:nvPr/>
        </p:nvSpPr>
        <p:spPr bwMode="auto">
          <a:xfrm>
            <a:off x="1321359" y="3362539"/>
            <a:ext cx="676275" cy="627459"/>
          </a:xfrm>
          <a:prstGeom prst="ellipse">
            <a:avLst/>
          </a:prstGeom>
          <a:solidFill>
            <a:srgbClr val="99CCFF"/>
          </a:solidFill>
          <a:ln w="2540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72" name="Text Box 20"/>
          <p:cNvSpPr txBox="1">
            <a:spLocks noChangeArrowheads="1"/>
          </p:cNvSpPr>
          <p:nvPr/>
        </p:nvSpPr>
        <p:spPr bwMode="auto">
          <a:xfrm>
            <a:off x="1282069" y="3490256"/>
            <a:ext cx="738187" cy="459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</a:t>
            </a:r>
          </a:p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 0</a:t>
            </a:r>
          </a:p>
        </p:txBody>
      </p:sp>
      <p:sp>
        <p:nvSpPr>
          <p:cNvPr id="330773" name="Line 21"/>
          <p:cNvSpPr>
            <a:spLocks noChangeShapeType="1"/>
          </p:cNvSpPr>
          <p:nvPr/>
        </p:nvSpPr>
        <p:spPr bwMode="auto">
          <a:xfrm>
            <a:off x="1115382" y="3329201"/>
            <a:ext cx="283369" cy="142875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74" name="Oval 22"/>
          <p:cNvSpPr>
            <a:spLocks noChangeArrowheads="1"/>
          </p:cNvSpPr>
          <p:nvPr/>
        </p:nvSpPr>
        <p:spPr bwMode="auto">
          <a:xfrm>
            <a:off x="2752491" y="3323248"/>
            <a:ext cx="702469" cy="648891"/>
          </a:xfrm>
          <a:prstGeom prst="ellipse">
            <a:avLst/>
          </a:prstGeom>
          <a:solidFill>
            <a:srgbClr val="99CCFF"/>
          </a:solidFill>
          <a:ln w="2540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75" name="Text Box 23"/>
          <p:cNvSpPr txBox="1">
            <a:spLocks noChangeArrowheads="1"/>
          </p:cNvSpPr>
          <p:nvPr/>
        </p:nvSpPr>
        <p:spPr bwMode="auto">
          <a:xfrm>
            <a:off x="2703966" y="3398228"/>
            <a:ext cx="816769" cy="489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ACK or NAK 0</a:t>
            </a:r>
          </a:p>
        </p:txBody>
      </p:sp>
      <p:sp>
        <p:nvSpPr>
          <p:cNvPr id="330776" name="Freeform 24"/>
          <p:cNvSpPr/>
          <p:nvPr/>
        </p:nvSpPr>
        <p:spPr bwMode="auto">
          <a:xfrm flipV="1">
            <a:off x="1739269" y="3231570"/>
            <a:ext cx="1112044" cy="165497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77" name="Freeform 25"/>
          <p:cNvSpPr/>
          <p:nvPr/>
        </p:nvSpPr>
        <p:spPr bwMode="auto">
          <a:xfrm rot="-1357180">
            <a:off x="3419274" y="3193470"/>
            <a:ext cx="340519" cy="515540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78" name="Freeform 26"/>
          <p:cNvSpPr/>
          <p:nvPr/>
        </p:nvSpPr>
        <p:spPr bwMode="auto">
          <a:xfrm rot="16200000" flipV="1">
            <a:off x="949884" y="4016191"/>
            <a:ext cx="585788" cy="200025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79" name="Freeform 27"/>
          <p:cNvSpPr/>
          <p:nvPr/>
        </p:nvSpPr>
        <p:spPr bwMode="auto">
          <a:xfrm>
            <a:off x="1942866" y="4809148"/>
            <a:ext cx="1060847" cy="171450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80" name="Freeform 28"/>
          <p:cNvSpPr/>
          <p:nvPr/>
        </p:nvSpPr>
        <p:spPr bwMode="auto">
          <a:xfrm rot="5400000" flipH="1" flipV="1">
            <a:off x="3200761" y="4066793"/>
            <a:ext cx="514350" cy="55959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81" name="Oval 29"/>
          <p:cNvSpPr>
            <a:spLocks noChangeArrowheads="1"/>
          </p:cNvSpPr>
          <p:nvPr/>
        </p:nvSpPr>
        <p:spPr bwMode="auto">
          <a:xfrm>
            <a:off x="2800116" y="4259079"/>
            <a:ext cx="675085" cy="617935"/>
          </a:xfrm>
          <a:prstGeom prst="ellipse">
            <a:avLst/>
          </a:prstGeom>
          <a:solidFill>
            <a:srgbClr val="99CCFF"/>
          </a:solidFill>
          <a:ln w="2540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82" name="Text Box 30"/>
          <p:cNvSpPr txBox="1">
            <a:spLocks noChangeArrowheads="1"/>
          </p:cNvSpPr>
          <p:nvPr/>
        </p:nvSpPr>
        <p:spPr bwMode="auto">
          <a:xfrm>
            <a:off x="2738203" y="4387607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</a:t>
            </a:r>
          </a:p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call 1</a:t>
            </a:r>
          </a:p>
        </p:txBody>
      </p:sp>
      <p:sp>
        <p:nvSpPr>
          <p:cNvPr id="330783" name="Oval 31"/>
          <p:cNvSpPr>
            <a:spLocks noChangeArrowheads="1"/>
          </p:cNvSpPr>
          <p:nvPr/>
        </p:nvSpPr>
        <p:spPr bwMode="auto">
          <a:xfrm>
            <a:off x="1321359" y="4248364"/>
            <a:ext cx="675085" cy="617934"/>
          </a:xfrm>
          <a:prstGeom prst="ellipse">
            <a:avLst/>
          </a:prstGeom>
          <a:solidFill>
            <a:srgbClr val="99CCFF"/>
          </a:solidFill>
          <a:ln w="2540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84" name="Text Box 32"/>
          <p:cNvSpPr txBox="1">
            <a:spLocks noChangeArrowheads="1"/>
          </p:cNvSpPr>
          <p:nvPr/>
        </p:nvSpPr>
        <p:spPr bwMode="auto">
          <a:xfrm>
            <a:off x="1272544" y="4318900"/>
            <a:ext cx="78462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ACK or NAK 1</a:t>
            </a:r>
          </a:p>
        </p:txBody>
      </p:sp>
      <p:sp>
        <p:nvSpPr>
          <p:cNvPr id="330785" name="Line 33"/>
          <p:cNvSpPr>
            <a:spLocks noChangeShapeType="1"/>
          </p:cNvSpPr>
          <p:nvPr/>
        </p:nvSpPr>
        <p:spPr bwMode="auto">
          <a:xfrm>
            <a:off x="1142766" y="2226908"/>
            <a:ext cx="283369" cy="142875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87" name="Freeform 35"/>
          <p:cNvSpPr/>
          <p:nvPr/>
        </p:nvSpPr>
        <p:spPr bwMode="auto">
          <a:xfrm rot="9712827">
            <a:off x="971316" y="4465058"/>
            <a:ext cx="340519" cy="515540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88" name="Oval 36"/>
          <p:cNvSpPr>
            <a:spLocks noChangeArrowheads="1"/>
          </p:cNvSpPr>
          <p:nvPr/>
        </p:nvSpPr>
        <p:spPr bwMode="auto">
          <a:xfrm>
            <a:off x="5904161" y="3811404"/>
            <a:ext cx="583406" cy="596504"/>
          </a:xfrm>
          <a:prstGeom prst="ellipse">
            <a:avLst/>
          </a:prstGeom>
          <a:solidFill>
            <a:srgbClr val="99CCFF"/>
          </a:solidFill>
          <a:ln w="2540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89" name="Text Box 37"/>
          <p:cNvSpPr txBox="1">
            <a:spLocks noChangeArrowheads="1"/>
          </p:cNvSpPr>
          <p:nvPr/>
        </p:nvSpPr>
        <p:spPr bwMode="auto">
          <a:xfrm>
            <a:off x="5855026" y="3882202"/>
            <a:ext cx="68460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</a:t>
            </a:r>
          </a:p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from below</a:t>
            </a:r>
          </a:p>
        </p:txBody>
      </p:sp>
      <p:sp>
        <p:nvSpPr>
          <p:cNvPr id="330790" name="Line 38"/>
          <p:cNvSpPr>
            <a:spLocks noChangeShapeType="1"/>
          </p:cNvSpPr>
          <p:nvPr/>
        </p:nvSpPr>
        <p:spPr bwMode="auto">
          <a:xfrm>
            <a:off x="5836296" y="3608998"/>
            <a:ext cx="259556" cy="209550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91" name="Freeform 39"/>
          <p:cNvSpPr/>
          <p:nvPr/>
        </p:nvSpPr>
        <p:spPr bwMode="auto">
          <a:xfrm>
            <a:off x="6305402" y="4423385"/>
            <a:ext cx="1193006" cy="214313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92" name="Oval 40"/>
          <p:cNvSpPr>
            <a:spLocks noChangeArrowheads="1"/>
          </p:cNvSpPr>
          <p:nvPr/>
        </p:nvSpPr>
        <p:spPr bwMode="auto">
          <a:xfrm>
            <a:off x="7178130" y="3837598"/>
            <a:ext cx="603647" cy="597694"/>
          </a:xfrm>
          <a:prstGeom prst="ellipse">
            <a:avLst/>
          </a:prstGeom>
          <a:solidFill>
            <a:srgbClr val="99CCFF"/>
          </a:solidFill>
          <a:ln w="2540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93" name="Text Box 41"/>
          <p:cNvSpPr txBox="1">
            <a:spLocks noChangeArrowheads="1"/>
          </p:cNvSpPr>
          <p:nvPr/>
        </p:nvSpPr>
        <p:spPr bwMode="auto">
          <a:xfrm>
            <a:off x="7126437" y="3895618"/>
            <a:ext cx="71542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</a:t>
            </a:r>
          </a:p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from below</a:t>
            </a:r>
          </a:p>
        </p:txBody>
      </p:sp>
      <p:sp>
        <p:nvSpPr>
          <p:cNvPr id="330794" name="Freeform 42"/>
          <p:cNvSpPr/>
          <p:nvPr/>
        </p:nvSpPr>
        <p:spPr bwMode="auto">
          <a:xfrm rot="10800000">
            <a:off x="5544592" y="3792354"/>
            <a:ext cx="340519" cy="515541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95" name="Freeform 43"/>
          <p:cNvSpPr/>
          <p:nvPr/>
        </p:nvSpPr>
        <p:spPr bwMode="auto">
          <a:xfrm rot="-24893837">
            <a:off x="7571627" y="3466379"/>
            <a:ext cx="340519" cy="515540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96" name="Freeform 44"/>
          <p:cNvSpPr/>
          <p:nvPr/>
        </p:nvSpPr>
        <p:spPr bwMode="auto">
          <a:xfrm rot="1364962">
            <a:off x="7722246" y="4066198"/>
            <a:ext cx="340519" cy="515541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97" name="Freeform 45"/>
          <p:cNvSpPr/>
          <p:nvPr/>
        </p:nvSpPr>
        <p:spPr bwMode="auto">
          <a:xfrm flipV="1">
            <a:off x="6236345" y="3494698"/>
            <a:ext cx="1227534" cy="279797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0799" name="Freeform 47"/>
          <p:cNvSpPr/>
          <p:nvPr/>
        </p:nvSpPr>
        <p:spPr bwMode="auto">
          <a:xfrm rot="7789110">
            <a:off x="5794028" y="4298965"/>
            <a:ext cx="340519" cy="515541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00835" y="886716"/>
            <a:ext cx="366427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版本演化：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rdt1.0 to rdt3.0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3"/>
          <p:cNvSpPr txBox="1">
            <a:spLocks noChangeArrowheads="1"/>
          </p:cNvSpPr>
          <p:nvPr/>
        </p:nvSpPr>
        <p:spPr>
          <a:xfrm>
            <a:off x="3317937" y="1360803"/>
            <a:ext cx="1483519" cy="328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Sender</a:t>
            </a:r>
          </a:p>
        </p:txBody>
      </p:sp>
      <p:sp>
        <p:nvSpPr>
          <p:cNvPr id="53" name="Rectangle 4"/>
          <p:cNvSpPr txBox="1">
            <a:spLocks noChangeArrowheads="1"/>
          </p:cNvSpPr>
          <p:nvPr/>
        </p:nvSpPr>
        <p:spPr>
          <a:xfrm>
            <a:off x="4900726" y="1339591"/>
            <a:ext cx="1188244" cy="328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Receiver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206769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0" y="317801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0" y="5024402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759" name="Rectangle 7"/>
          <p:cNvSpPr>
            <a:spLocks noChangeArrowheads="1"/>
          </p:cNvSpPr>
          <p:nvPr/>
        </p:nvSpPr>
        <p:spPr bwMode="auto">
          <a:xfrm>
            <a:off x="4408998" y="1647640"/>
            <a:ext cx="514350" cy="2857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rdt1.0</a:t>
            </a:r>
          </a:p>
        </p:txBody>
      </p:sp>
      <p:sp>
        <p:nvSpPr>
          <p:cNvPr id="330770" name="Rectangle 18"/>
          <p:cNvSpPr>
            <a:spLocks noChangeArrowheads="1"/>
          </p:cNvSpPr>
          <p:nvPr/>
        </p:nvSpPr>
        <p:spPr bwMode="auto">
          <a:xfrm>
            <a:off x="4408998" y="2532899"/>
            <a:ext cx="514350" cy="2857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rdt2.0</a:t>
            </a:r>
          </a:p>
        </p:txBody>
      </p:sp>
      <p:sp>
        <p:nvSpPr>
          <p:cNvPr id="330786" name="Rectangle 34"/>
          <p:cNvSpPr>
            <a:spLocks noChangeArrowheads="1"/>
          </p:cNvSpPr>
          <p:nvPr/>
        </p:nvSpPr>
        <p:spPr bwMode="auto">
          <a:xfrm>
            <a:off x="4417690" y="3954279"/>
            <a:ext cx="514350" cy="2857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rdt2.1</a:t>
            </a:r>
          </a:p>
        </p:txBody>
      </p:sp>
      <p:cxnSp>
        <p:nvCxnSpPr>
          <p:cNvPr id="64" name="直接连接符 63"/>
          <p:cNvCxnSpPr/>
          <p:nvPr/>
        </p:nvCxnSpPr>
        <p:spPr>
          <a:xfrm>
            <a:off x="0" y="123333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35</a:t>
            </a:fld>
            <a:endParaRPr lang="en-US" altLang="zh-CN" dirty="0"/>
          </a:p>
        </p:txBody>
      </p:sp>
      <p:sp>
        <p:nvSpPr>
          <p:cNvPr id="5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0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0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0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0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0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3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3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3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3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3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30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30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3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0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0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30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3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30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3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30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30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30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6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7" grpId="0" animBg="1"/>
      <p:bldP spid="330758" grpId="0" animBg="1"/>
      <p:bldP spid="330760" grpId="0" animBg="1"/>
      <p:bldP spid="330761" grpId="0" animBg="1"/>
      <p:bldP spid="330762" grpId="0" animBg="1"/>
      <p:bldP spid="330763" grpId="0" animBg="1"/>
      <p:bldP spid="330764" grpId="0" animBg="1"/>
      <p:bldP spid="330765" grpId="0" animBg="1"/>
      <p:bldP spid="330766" grpId="0" animBg="1"/>
      <p:bldP spid="330767" grpId="0" animBg="1"/>
      <p:bldP spid="330768" grpId="0" animBg="1"/>
      <p:bldP spid="330769" grpId="0" animBg="1"/>
      <p:bldP spid="330771" grpId="0" animBg="1"/>
      <p:bldP spid="330772" grpId="0"/>
      <p:bldP spid="330773" grpId="0" animBg="1"/>
      <p:bldP spid="330774" grpId="0" animBg="1"/>
      <p:bldP spid="330775" grpId="0"/>
      <p:bldP spid="330776" grpId="0" animBg="1"/>
      <p:bldP spid="330777" grpId="0" animBg="1"/>
      <p:bldP spid="330778" grpId="0" animBg="1"/>
      <p:bldP spid="330779" grpId="0" animBg="1"/>
      <p:bldP spid="330780" grpId="0" animBg="1"/>
      <p:bldP spid="330781" grpId="0" animBg="1"/>
      <p:bldP spid="330782" grpId="0"/>
      <p:bldP spid="330783" grpId="0" animBg="1"/>
      <p:bldP spid="330784" grpId="0"/>
      <p:bldP spid="330785" grpId="0" animBg="1"/>
      <p:bldP spid="330787" grpId="0" animBg="1"/>
      <p:bldP spid="330788" grpId="0" animBg="1"/>
      <p:bldP spid="330789" grpId="0"/>
      <p:bldP spid="330790" grpId="0" animBg="1"/>
      <p:bldP spid="330791" grpId="0" animBg="1"/>
      <p:bldP spid="330792" grpId="0" animBg="1"/>
      <p:bldP spid="330793" grpId="0"/>
      <p:bldP spid="330794" grpId="0" animBg="1"/>
      <p:bldP spid="330795" grpId="0" animBg="1"/>
      <p:bldP spid="330796" grpId="0" animBg="1"/>
      <p:bldP spid="330797" grpId="0" animBg="1"/>
      <p:bldP spid="330799" grpId="0" animBg="1"/>
      <p:bldP spid="330759" grpId="0" animBg="1"/>
      <p:bldP spid="330770" grpId="0" animBg="1"/>
      <p:bldP spid="330786" grpId="0" animBg="1"/>
      <p:bldP spid="55" grpId="0" animBg="1"/>
      <p:bldP spid="55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3.4 </a:t>
            </a:r>
            <a:r>
              <a:rPr lang="zh-CN" altLang="en-US" dirty="0"/>
              <a:t>可靠数据传输原理</a:t>
            </a:r>
            <a:endParaRPr lang="en-US" altLang="zh-CN" dirty="0"/>
          </a:p>
        </p:txBody>
      </p:sp>
      <p:sp>
        <p:nvSpPr>
          <p:cNvPr id="367621" name="Oval 5"/>
          <p:cNvSpPr>
            <a:spLocks noChangeArrowheads="1"/>
          </p:cNvSpPr>
          <p:nvPr/>
        </p:nvSpPr>
        <p:spPr bwMode="auto">
          <a:xfrm>
            <a:off x="1394904" y="3331802"/>
            <a:ext cx="676275" cy="627459"/>
          </a:xfrm>
          <a:prstGeom prst="ellipse">
            <a:avLst/>
          </a:prstGeom>
          <a:solidFill>
            <a:srgbClr val="99CC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22" name="Text Box 6"/>
          <p:cNvSpPr txBox="1">
            <a:spLocks noChangeArrowheads="1"/>
          </p:cNvSpPr>
          <p:nvPr/>
        </p:nvSpPr>
        <p:spPr bwMode="auto">
          <a:xfrm>
            <a:off x="1355614" y="3465383"/>
            <a:ext cx="81795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</a:t>
            </a:r>
          </a:p>
          <a:p>
            <a:pPr algn="ctr" eaLnBrk="0" hangingPunct="0"/>
            <a:r>
              <a: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 0</a:t>
            </a:r>
          </a:p>
        </p:txBody>
      </p:sp>
      <p:sp>
        <p:nvSpPr>
          <p:cNvPr id="367623" name="Line 7"/>
          <p:cNvSpPr>
            <a:spLocks noChangeShapeType="1"/>
          </p:cNvSpPr>
          <p:nvPr/>
        </p:nvSpPr>
        <p:spPr bwMode="auto">
          <a:xfrm>
            <a:off x="1120864" y="3419593"/>
            <a:ext cx="283369" cy="142875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24" name="Oval 8"/>
          <p:cNvSpPr>
            <a:spLocks noChangeArrowheads="1"/>
          </p:cNvSpPr>
          <p:nvPr/>
        </p:nvSpPr>
        <p:spPr bwMode="auto">
          <a:xfrm>
            <a:off x="2826036" y="3292511"/>
            <a:ext cx="702469" cy="648891"/>
          </a:xfrm>
          <a:prstGeom prst="ellipse">
            <a:avLst/>
          </a:prstGeom>
          <a:solidFill>
            <a:srgbClr val="99CC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25" name="Text Box 9"/>
          <p:cNvSpPr txBox="1">
            <a:spLocks noChangeArrowheads="1"/>
          </p:cNvSpPr>
          <p:nvPr/>
        </p:nvSpPr>
        <p:spPr bwMode="auto">
          <a:xfrm>
            <a:off x="2770077" y="3456699"/>
            <a:ext cx="816769" cy="489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ACK 0</a:t>
            </a:r>
          </a:p>
        </p:txBody>
      </p:sp>
      <p:sp>
        <p:nvSpPr>
          <p:cNvPr id="367626" name="Freeform 10"/>
          <p:cNvSpPr/>
          <p:nvPr/>
        </p:nvSpPr>
        <p:spPr bwMode="auto">
          <a:xfrm flipV="1">
            <a:off x="1812814" y="3200833"/>
            <a:ext cx="1112044" cy="165497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27" name="Freeform 11"/>
          <p:cNvSpPr/>
          <p:nvPr/>
        </p:nvSpPr>
        <p:spPr bwMode="auto">
          <a:xfrm rot="-3229536">
            <a:off x="3373738" y="2981134"/>
            <a:ext cx="340519" cy="515540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28" name="Freeform 12"/>
          <p:cNvSpPr/>
          <p:nvPr/>
        </p:nvSpPr>
        <p:spPr bwMode="auto">
          <a:xfrm rot="16200000" flipV="1">
            <a:off x="1023429" y="3985454"/>
            <a:ext cx="585788" cy="200025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29" name="Freeform 13"/>
          <p:cNvSpPr/>
          <p:nvPr/>
        </p:nvSpPr>
        <p:spPr bwMode="auto">
          <a:xfrm>
            <a:off x="2016411" y="4778411"/>
            <a:ext cx="1060847" cy="171450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30" name="Freeform 14"/>
          <p:cNvSpPr/>
          <p:nvPr/>
        </p:nvSpPr>
        <p:spPr bwMode="auto">
          <a:xfrm rot="5400000" flipH="1" flipV="1">
            <a:off x="3274306" y="4036056"/>
            <a:ext cx="514350" cy="55959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31" name="Oval 15"/>
          <p:cNvSpPr>
            <a:spLocks noChangeArrowheads="1"/>
          </p:cNvSpPr>
          <p:nvPr/>
        </p:nvSpPr>
        <p:spPr bwMode="auto">
          <a:xfrm>
            <a:off x="2873661" y="4228342"/>
            <a:ext cx="675085" cy="617935"/>
          </a:xfrm>
          <a:prstGeom prst="ellipse">
            <a:avLst/>
          </a:prstGeom>
          <a:solidFill>
            <a:srgbClr val="99CC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32" name="Text Box 16"/>
          <p:cNvSpPr txBox="1">
            <a:spLocks noChangeArrowheads="1"/>
          </p:cNvSpPr>
          <p:nvPr/>
        </p:nvSpPr>
        <p:spPr bwMode="auto">
          <a:xfrm>
            <a:off x="2811748" y="4371738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</a:t>
            </a:r>
          </a:p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call 1</a:t>
            </a:r>
          </a:p>
        </p:txBody>
      </p:sp>
      <p:sp>
        <p:nvSpPr>
          <p:cNvPr id="367633" name="Oval 17"/>
          <p:cNvSpPr>
            <a:spLocks noChangeArrowheads="1"/>
          </p:cNvSpPr>
          <p:nvPr/>
        </p:nvSpPr>
        <p:spPr bwMode="auto">
          <a:xfrm>
            <a:off x="1394904" y="4217627"/>
            <a:ext cx="675085" cy="617934"/>
          </a:xfrm>
          <a:prstGeom prst="ellipse">
            <a:avLst/>
          </a:prstGeom>
          <a:solidFill>
            <a:srgbClr val="99CC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34" name="Text Box 18"/>
          <p:cNvSpPr txBox="1">
            <a:spLocks noChangeArrowheads="1"/>
          </p:cNvSpPr>
          <p:nvPr/>
        </p:nvSpPr>
        <p:spPr bwMode="auto">
          <a:xfrm>
            <a:off x="1346089" y="4355069"/>
            <a:ext cx="78462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ACK 1</a:t>
            </a:r>
          </a:p>
        </p:txBody>
      </p:sp>
      <p:sp>
        <p:nvSpPr>
          <p:cNvPr id="367636" name="Freeform 20"/>
          <p:cNvSpPr/>
          <p:nvPr/>
        </p:nvSpPr>
        <p:spPr bwMode="auto">
          <a:xfrm rot="10074080">
            <a:off x="1052295" y="4367415"/>
            <a:ext cx="340519" cy="515540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47" name="Oval 31"/>
          <p:cNvSpPr>
            <a:spLocks noChangeArrowheads="1"/>
          </p:cNvSpPr>
          <p:nvPr/>
        </p:nvSpPr>
        <p:spPr bwMode="auto">
          <a:xfrm>
            <a:off x="1381808" y="1439466"/>
            <a:ext cx="676275" cy="627459"/>
          </a:xfrm>
          <a:prstGeom prst="ellipse">
            <a:avLst/>
          </a:prstGeom>
          <a:solidFill>
            <a:srgbClr val="99CC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48" name="Text Box 32"/>
          <p:cNvSpPr txBox="1">
            <a:spLocks noChangeArrowheads="1"/>
          </p:cNvSpPr>
          <p:nvPr/>
        </p:nvSpPr>
        <p:spPr bwMode="auto">
          <a:xfrm>
            <a:off x="1320215" y="1565613"/>
            <a:ext cx="81796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</a:t>
            </a:r>
          </a:p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 0</a:t>
            </a:r>
          </a:p>
        </p:txBody>
      </p:sp>
      <p:sp>
        <p:nvSpPr>
          <p:cNvPr id="367649" name="Line 33"/>
          <p:cNvSpPr>
            <a:spLocks noChangeShapeType="1"/>
          </p:cNvSpPr>
          <p:nvPr/>
        </p:nvSpPr>
        <p:spPr bwMode="auto">
          <a:xfrm>
            <a:off x="1094272" y="1563588"/>
            <a:ext cx="283369" cy="142875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50" name="Oval 34"/>
          <p:cNvSpPr>
            <a:spLocks noChangeArrowheads="1"/>
          </p:cNvSpPr>
          <p:nvPr/>
        </p:nvSpPr>
        <p:spPr bwMode="auto">
          <a:xfrm>
            <a:off x="2812939" y="1400175"/>
            <a:ext cx="702469" cy="648891"/>
          </a:xfrm>
          <a:prstGeom prst="ellipse">
            <a:avLst/>
          </a:prstGeom>
          <a:solidFill>
            <a:srgbClr val="99CC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51" name="Text Box 35"/>
          <p:cNvSpPr txBox="1">
            <a:spLocks noChangeArrowheads="1"/>
          </p:cNvSpPr>
          <p:nvPr/>
        </p:nvSpPr>
        <p:spPr bwMode="auto">
          <a:xfrm>
            <a:off x="2764413" y="1482589"/>
            <a:ext cx="816769" cy="489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ACK or NAK 0</a:t>
            </a:r>
          </a:p>
        </p:txBody>
      </p:sp>
      <p:sp>
        <p:nvSpPr>
          <p:cNvPr id="367652" name="Freeform 36"/>
          <p:cNvSpPr/>
          <p:nvPr/>
        </p:nvSpPr>
        <p:spPr bwMode="auto">
          <a:xfrm flipV="1">
            <a:off x="1799717" y="1308497"/>
            <a:ext cx="1112044" cy="165497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53" name="Freeform 37"/>
          <p:cNvSpPr/>
          <p:nvPr/>
        </p:nvSpPr>
        <p:spPr bwMode="auto">
          <a:xfrm rot="-1357180">
            <a:off x="3486833" y="1270398"/>
            <a:ext cx="340519" cy="515540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54" name="Freeform 38"/>
          <p:cNvSpPr/>
          <p:nvPr/>
        </p:nvSpPr>
        <p:spPr bwMode="auto">
          <a:xfrm rot="16200000" flipV="1">
            <a:off x="1010332" y="2093119"/>
            <a:ext cx="585788" cy="200025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55" name="Freeform 39"/>
          <p:cNvSpPr/>
          <p:nvPr/>
        </p:nvSpPr>
        <p:spPr bwMode="auto">
          <a:xfrm>
            <a:off x="2003314" y="2886075"/>
            <a:ext cx="1060847" cy="171450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56" name="Freeform 40"/>
          <p:cNvSpPr/>
          <p:nvPr/>
        </p:nvSpPr>
        <p:spPr bwMode="auto">
          <a:xfrm rot="5400000" flipH="1" flipV="1">
            <a:off x="3261209" y="2143720"/>
            <a:ext cx="514350" cy="55960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57" name="Oval 41"/>
          <p:cNvSpPr>
            <a:spLocks noChangeArrowheads="1"/>
          </p:cNvSpPr>
          <p:nvPr/>
        </p:nvSpPr>
        <p:spPr bwMode="auto">
          <a:xfrm>
            <a:off x="2860564" y="2336007"/>
            <a:ext cx="675084" cy="617935"/>
          </a:xfrm>
          <a:prstGeom prst="ellipse">
            <a:avLst/>
          </a:prstGeom>
          <a:solidFill>
            <a:srgbClr val="99CC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58" name="Text Box 42"/>
          <p:cNvSpPr txBox="1">
            <a:spLocks noChangeArrowheads="1"/>
          </p:cNvSpPr>
          <p:nvPr/>
        </p:nvSpPr>
        <p:spPr bwMode="auto">
          <a:xfrm>
            <a:off x="2798651" y="2471969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</a:t>
            </a:r>
          </a:p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call 1</a:t>
            </a:r>
          </a:p>
        </p:txBody>
      </p:sp>
      <p:sp>
        <p:nvSpPr>
          <p:cNvPr id="367659" name="Oval 43"/>
          <p:cNvSpPr>
            <a:spLocks noChangeArrowheads="1"/>
          </p:cNvSpPr>
          <p:nvPr/>
        </p:nvSpPr>
        <p:spPr bwMode="auto">
          <a:xfrm>
            <a:off x="1381808" y="2325291"/>
            <a:ext cx="675084" cy="617934"/>
          </a:xfrm>
          <a:prstGeom prst="ellipse">
            <a:avLst/>
          </a:prstGeom>
          <a:solidFill>
            <a:srgbClr val="99CC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60" name="Text Box 44"/>
          <p:cNvSpPr txBox="1">
            <a:spLocks noChangeArrowheads="1"/>
          </p:cNvSpPr>
          <p:nvPr/>
        </p:nvSpPr>
        <p:spPr bwMode="auto">
          <a:xfrm>
            <a:off x="1332992" y="2388394"/>
            <a:ext cx="78462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ACK or NAK 1</a:t>
            </a:r>
          </a:p>
        </p:txBody>
      </p:sp>
      <p:sp>
        <p:nvSpPr>
          <p:cNvPr id="367661" name="Rectangle 45"/>
          <p:cNvSpPr>
            <a:spLocks noChangeArrowheads="1"/>
          </p:cNvSpPr>
          <p:nvPr/>
        </p:nvSpPr>
        <p:spPr bwMode="auto">
          <a:xfrm>
            <a:off x="4407071" y="2028825"/>
            <a:ext cx="514350" cy="2857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rdt2.1</a:t>
            </a:r>
          </a:p>
        </p:txBody>
      </p:sp>
      <p:sp>
        <p:nvSpPr>
          <p:cNvPr id="367662" name="Freeform 46"/>
          <p:cNvSpPr/>
          <p:nvPr/>
        </p:nvSpPr>
        <p:spPr bwMode="auto">
          <a:xfrm rot="9712827">
            <a:off x="1031764" y="2541985"/>
            <a:ext cx="340519" cy="515540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63" name="Oval 47"/>
          <p:cNvSpPr>
            <a:spLocks noChangeArrowheads="1"/>
          </p:cNvSpPr>
          <p:nvPr/>
        </p:nvSpPr>
        <p:spPr bwMode="auto">
          <a:xfrm>
            <a:off x="6083698" y="1964233"/>
            <a:ext cx="583406" cy="596504"/>
          </a:xfrm>
          <a:prstGeom prst="ellipse">
            <a:avLst/>
          </a:prstGeom>
          <a:solidFill>
            <a:srgbClr val="99CC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64" name="Text Box 48"/>
          <p:cNvSpPr txBox="1">
            <a:spLocks noChangeArrowheads="1"/>
          </p:cNvSpPr>
          <p:nvPr/>
        </p:nvSpPr>
        <p:spPr bwMode="auto">
          <a:xfrm>
            <a:off x="6031280" y="2012729"/>
            <a:ext cx="695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</a:t>
            </a:r>
          </a:p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from below</a:t>
            </a:r>
          </a:p>
        </p:txBody>
      </p:sp>
      <p:sp>
        <p:nvSpPr>
          <p:cNvPr id="367665" name="Line 49"/>
          <p:cNvSpPr>
            <a:spLocks noChangeShapeType="1"/>
          </p:cNvSpPr>
          <p:nvPr/>
        </p:nvSpPr>
        <p:spPr bwMode="auto">
          <a:xfrm>
            <a:off x="6015832" y="1761827"/>
            <a:ext cx="259556" cy="209550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66" name="Freeform 50"/>
          <p:cNvSpPr/>
          <p:nvPr/>
        </p:nvSpPr>
        <p:spPr bwMode="auto">
          <a:xfrm>
            <a:off x="6484938" y="2576214"/>
            <a:ext cx="1193006" cy="214313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67" name="Oval 51"/>
          <p:cNvSpPr>
            <a:spLocks noChangeArrowheads="1"/>
          </p:cNvSpPr>
          <p:nvPr/>
        </p:nvSpPr>
        <p:spPr bwMode="auto">
          <a:xfrm>
            <a:off x="7357666" y="1990427"/>
            <a:ext cx="603647" cy="597694"/>
          </a:xfrm>
          <a:prstGeom prst="ellipse">
            <a:avLst/>
          </a:prstGeom>
          <a:solidFill>
            <a:srgbClr val="99CC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68" name="Text Box 52"/>
          <p:cNvSpPr txBox="1">
            <a:spLocks noChangeArrowheads="1"/>
          </p:cNvSpPr>
          <p:nvPr/>
        </p:nvSpPr>
        <p:spPr bwMode="auto">
          <a:xfrm>
            <a:off x="7339338" y="2041014"/>
            <a:ext cx="65975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</a:t>
            </a:r>
          </a:p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from below</a:t>
            </a:r>
          </a:p>
        </p:txBody>
      </p:sp>
      <p:sp>
        <p:nvSpPr>
          <p:cNvPr id="367669" name="Freeform 53"/>
          <p:cNvSpPr/>
          <p:nvPr/>
        </p:nvSpPr>
        <p:spPr bwMode="auto">
          <a:xfrm rot="10800000">
            <a:off x="5724129" y="1945183"/>
            <a:ext cx="340519" cy="515541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70" name="Freeform 54"/>
          <p:cNvSpPr/>
          <p:nvPr/>
        </p:nvSpPr>
        <p:spPr bwMode="auto">
          <a:xfrm rot="-24893837">
            <a:off x="7732117" y="1664791"/>
            <a:ext cx="340519" cy="515541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71" name="Freeform 55"/>
          <p:cNvSpPr/>
          <p:nvPr/>
        </p:nvSpPr>
        <p:spPr bwMode="auto">
          <a:xfrm rot="1364962">
            <a:off x="7901781" y="2219027"/>
            <a:ext cx="340519" cy="515541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72" name="Freeform 56"/>
          <p:cNvSpPr/>
          <p:nvPr/>
        </p:nvSpPr>
        <p:spPr bwMode="auto">
          <a:xfrm flipV="1">
            <a:off x="6415881" y="1647528"/>
            <a:ext cx="1227535" cy="279797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73" name="Freeform 57"/>
          <p:cNvSpPr/>
          <p:nvPr/>
        </p:nvSpPr>
        <p:spPr bwMode="auto">
          <a:xfrm rot="7789110">
            <a:off x="5973564" y="2451795"/>
            <a:ext cx="340519" cy="515540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74" name="Freeform 58"/>
          <p:cNvSpPr/>
          <p:nvPr/>
        </p:nvSpPr>
        <p:spPr bwMode="auto">
          <a:xfrm rot="1081619">
            <a:off x="3551127" y="3437767"/>
            <a:ext cx="340519" cy="515541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75" name="Freeform 59"/>
          <p:cNvSpPr/>
          <p:nvPr/>
        </p:nvSpPr>
        <p:spPr bwMode="auto">
          <a:xfrm rot="6944985">
            <a:off x="1386905" y="4709400"/>
            <a:ext cx="340519" cy="515540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677" name="Rectangle 61"/>
          <p:cNvSpPr>
            <a:spLocks noChangeArrowheads="1"/>
          </p:cNvSpPr>
          <p:nvPr/>
        </p:nvSpPr>
        <p:spPr bwMode="auto">
          <a:xfrm>
            <a:off x="3589836" y="3035306"/>
            <a:ext cx="51435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</a:t>
            </a:r>
          </a:p>
        </p:txBody>
      </p:sp>
      <p:sp>
        <p:nvSpPr>
          <p:cNvPr id="367678" name="Rectangle 62"/>
          <p:cNvSpPr>
            <a:spLocks noChangeArrowheads="1"/>
          </p:cNvSpPr>
          <p:nvPr/>
        </p:nvSpPr>
        <p:spPr bwMode="auto">
          <a:xfrm>
            <a:off x="873411" y="4849347"/>
            <a:ext cx="514350" cy="231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</a:t>
            </a:r>
          </a:p>
        </p:txBody>
      </p:sp>
      <p:sp>
        <p:nvSpPr>
          <p:cNvPr id="67" name="Oval 47"/>
          <p:cNvSpPr>
            <a:spLocks noChangeArrowheads="1"/>
          </p:cNvSpPr>
          <p:nvPr/>
        </p:nvSpPr>
        <p:spPr bwMode="auto">
          <a:xfrm>
            <a:off x="6083698" y="3700662"/>
            <a:ext cx="583406" cy="596504"/>
          </a:xfrm>
          <a:prstGeom prst="ellipse">
            <a:avLst/>
          </a:prstGeom>
          <a:solidFill>
            <a:srgbClr val="99CC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 Box 48"/>
          <p:cNvSpPr txBox="1">
            <a:spLocks noChangeArrowheads="1"/>
          </p:cNvSpPr>
          <p:nvPr/>
        </p:nvSpPr>
        <p:spPr bwMode="auto">
          <a:xfrm>
            <a:off x="6025896" y="3771460"/>
            <a:ext cx="71557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</a:t>
            </a:r>
          </a:p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from below</a:t>
            </a:r>
          </a:p>
        </p:txBody>
      </p:sp>
      <p:sp>
        <p:nvSpPr>
          <p:cNvPr id="69" name="Line 49"/>
          <p:cNvSpPr>
            <a:spLocks noChangeShapeType="1"/>
          </p:cNvSpPr>
          <p:nvPr/>
        </p:nvSpPr>
        <p:spPr bwMode="auto">
          <a:xfrm>
            <a:off x="6015832" y="3498256"/>
            <a:ext cx="259556" cy="209550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Freeform 50"/>
          <p:cNvSpPr/>
          <p:nvPr/>
        </p:nvSpPr>
        <p:spPr bwMode="auto">
          <a:xfrm>
            <a:off x="6484938" y="4312644"/>
            <a:ext cx="1193006" cy="214313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Oval 51"/>
          <p:cNvSpPr>
            <a:spLocks noChangeArrowheads="1"/>
          </p:cNvSpPr>
          <p:nvPr/>
        </p:nvSpPr>
        <p:spPr bwMode="auto">
          <a:xfrm>
            <a:off x="7357666" y="3726857"/>
            <a:ext cx="603647" cy="597694"/>
          </a:xfrm>
          <a:prstGeom prst="ellipse">
            <a:avLst/>
          </a:prstGeom>
          <a:solidFill>
            <a:srgbClr val="99CCFF"/>
          </a:solidFill>
          <a:ln w="19050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 Box 52"/>
          <p:cNvSpPr txBox="1">
            <a:spLocks noChangeArrowheads="1"/>
          </p:cNvSpPr>
          <p:nvPr/>
        </p:nvSpPr>
        <p:spPr bwMode="auto">
          <a:xfrm>
            <a:off x="7294386" y="3784877"/>
            <a:ext cx="749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 for </a:t>
            </a:r>
          </a:p>
          <a:p>
            <a:pPr algn="ctr" eaLnBrk="0" hangingPunct="0"/>
            <a:r>
              <a: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from below</a:t>
            </a:r>
          </a:p>
        </p:txBody>
      </p:sp>
      <p:sp>
        <p:nvSpPr>
          <p:cNvPr id="73" name="Freeform 54"/>
          <p:cNvSpPr/>
          <p:nvPr/>
        </p:nvSpPr>
        <p:spPr bwMode="auto">
          <a:xfrm rot="-24893837">
            <a:off x="7732117" y="3401221"/>
            <a:ext cx="340519" cy="515541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Freeform 55"/>
          <p:cNvSpPr/>
          <p:nvPr/>
        </p:nvSpPr>
        <p:spPr bwMode="auto">
          <a:xfrm rot="1364962">
            <a:off x="7901781" y="3955456"/>
            <a:ext cx="340519" cy="515541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Freeform 56"/>
          <p:cNvSpPr/>
          <p:nvPr/>
        </p:nvSpPr>
        <p:spPr bwMode="auto">
          <a:xfrm flipV="1">
            <a:off x="6415881" y="3383957"/>
            <a:ext cx="1227535" cy="279797"/>
          </a:xfrm>
          <a:custGeom>
            <a:avLst/>
            <a:gdLst>
              <a:gd name="T0" fmla="*/ 0 w 2835"/>
              <a:gd name="T1" fmla="*/ 0 h 525"/>
              <a:gd name="T2" fmla="*/ 2835 w 2835"/>
              <a:gd name="T3" fmla="*/ 0 h 5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Freeform 57"/>
          <p:cNvSpPr/>
          <p:nvPr/>
        </p:nvSpPr>
        <p:spPr bwMode="auto">
          <a:xfrm rot="7789110">
            <a:off x="5973564" y="4188225"/>
            <a:ext cx="340519" cy="515540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Freeform 53"/>
          <p:cNvSpPr/>
          <p:nvPr/>
        </p:nvSpPr>
        <p:spPr bwMode="auto">
          <a:xfrm rot="10800000">
            <a:off x="5724129" y="3645894"/>
            <a:ext cx="340519" cy="515541"/>
          </a:xfrm>
          <a:custGeom>
            <a:avLst/>
            <a:gdLst>
              <a:gd name="T0" fmla="*/ 0 w 735"/>
              <a:gd name="T1" fmla="*/ 195 h 1080"/>
              <a:gd name="T2" fmla="*/ 0 w 735"/>
              <a:gd name="T3" fmla="*/ 855 h 10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2500835" y="886716"/>
            <a:ext cx="366427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版本演化：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rdt1.0 to rdt3.0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Rectangle 3"/>
          <p:cNvSpPr txBox="1">
            <a:spLocks noChangeArrowheads="1"/>
          </p:cNvSpPr>
          <p:nvPr/>
        </p:nvSpPr>
        <p:spPr>
          <a:xfrm>
            <a:off x="3732791" y="1435143"/>
            <a:ext cx="1015033" cy="328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Sender</a:t>
            </a:r>
          </a:p>
        </p:txBody>
      </p:sp>
      <p:sp>
        <p:nvSpPr>
          <p:cNvPr id="81" name="Rectangle 4"/>
          <p:cNvSpPr txBox="1">
            <a:spLocks noChangeArrowheads="1"/>
          </p:cNvSpPr>
          <p:nvPr/>
        </p:nvSpPr>
        <p:spPr>
          <a:xfrm>
            <a:off x="4900726" y="1413931"/>
            <a:ext cx="1188244" cy="328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Receiver</a:t>
            </a:r>
          </a:p>
        </p:txBody>
      </p:sp>
      <p:cxnSp>
        <p:nvCxnSpPr>
          <p:cNvPr id="83" name="直接连接符 82"/>
          <p:cNvCxnSpPr/>
          <p:nvPr/>
        </p:nvCxnSpPr>
        <p:spPr>
          <a:xfrm>
            <a:off x="0" y="3096242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0" y="123333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19"/>
          <p:cNvSpPr>
            <a:spLocks noChangeArrowheads="1"/>
          </p:cNvSpPr>
          <p:nvPr/>
        </p:nvSpPr>
        <p:spPr bwMode="auto">
          <a:xfrm>
            <a:off x="4405589" y="3757613"/>
            <a:ext cx="514350" cy="2857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rdt2.2</a:t>
            </a:r>
          </a:p>
        </p:txBody>
      </p:sp>
      <p:sp>
        <p:nvSpPr>
          <p:cNvPr id="89" name="Rectangle 60"/>
          <p:cNvSpPr>
            <a:spLocks noChangeArrowheads="1"/>
          </p:cNvSpPr>
          <p:nvPr/>
        </p:nvSpPr>
        <p:spPr bwMode="auto">
          <a:xfrm>
            <a:off x="4405589" y="4137422"/>
            <a:ext cx="514350" cy="2857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rdt3.0</a:t>
            </a:r>
          </a:p>
        </p:txBody>
      </p:sp>
      <p:sp>
        <p:nvSpPr>
          <p:cNvPr id="7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36</a:t>
            </a:fld>
            <a:endParaRPr lang="en-US" altLang="zh-CN" dirty="0"/>
          </a:p>
        </p:txBody>
      </p:sp>
      <p:sp>
        <p:nvSpPr>
          <p:cNvPr id="8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7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7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7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67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21" grpId="0" animBg="1"/>
      <p:bldP spid="367622" grpId="0"/>
      <p:bldP spid="367623" grpId="0" animBg="1"/>
      <p:bldP spid="367624" grpId="0" animBg="1"/>
      <p:bldP spid="367625" grpId="0"/>
      <p:bldP spid="367626" grpId="0" animBg="1"/>
      <p:bldP spid="367627" grpId="0" animBg="1"/>
      <p:bldP spid="367628" grpId="0" animBg="1"/>
      <p:bldP spid="367629" grpId="0" animBg="1"/>
      <p:bldP spid="367630" grpId="0" animBg="1"/>
      <p:bldP spid="367631" grpId="0" animBg="1"/>
      <p:bldP spid="367632" grpId="0"/>
      <p:bldP spid="367633" grpId="0" animBg="1"/>
      <p:bldP spid="367634" grpId="0"/>
      <p:bldP spid="367636" grpId="0" animBg="1"/>
      <p:bldP spid="367674" grpId="0" animBg="1"/>
      <p:bldP spid="367675" grpId="0" animBg="1"/>
      <p:bldP spid="367677" grpId="0"/>
      <p:bldP spid="367678" grpId="0"/>
      <p:bldP spid="67" grpId="0" animBg="1"/>
      <p:bldP spid="68" grpId="0"/>
      <p:bldP spid="69" grpId="0" animBg="1"/>
      <p:bldP spid="70" grpId="0" animBg="1"/>
      <p:bldP spid="71" grpId="0" animBg="1"/>
      <p:bldP spid="72" grpId="0"/>
      <p:bldP spid="73" grpId="0" animBg="1"/>
      <p:bldP spid="74" grpId="0" animBg="1"/>
      <p:bldP spid="75" grpId="0" animBg="1"/>
      <p:bldP spid="76" grpId="0" animBg="1"/>
      <p:bldP spid="77" grpId="0" animBg="1"/>
      <p:bldP spid="88" grpId="0" animBg="1"/>
      <p:bldP spid="89" grpId="0" animBg="1"/>
      <p:bldP spid="82" grpId="0" animBg="1"/>
      <p:bldP spid="82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4104000" cy="177059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rdt2.1-rdt3.0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：比特交替协议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rdt3.0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可以正确工作了！！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事实如此！可靠性有保障了！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298984" y="3028070"/>
            <a:ext cx="3934447" cy="145010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效率：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糟糕之极！</a:t>
            </a:r>
            <a:endParaRPr lang="en-US" altLang="zh-CN" sz="14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1Gbps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的链路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传输一个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1KB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的数据分组，链路有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30ms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的往返时延。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链路的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利用率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有多少？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吞吐率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是多少？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150734" y="2551017"/>
            <a:ext cx="3990913" cy="376238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新问题又来了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  rdt3.0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效率如何？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07" y="2415636"/>
            <a:ext cx="571429" cy="584127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606322" y="1275606"/>
            <a:ext cx="3286158" cy="3312367"/>
            <a:chOff x="5606322" y="1275606"/>
            <a:chExt cx="3286158" cy="3312367"/>
          </a:xfrm>
        </p:grpSpPr>
        <p:sp>
          <p:nvSpPr>
            <p:cNvPr id="15" name="Line 3"/>
            <p:cNvSpPr>
              <a:spLocks noChangeShapeType="1"/>
            </p:cNvSpPr>
            <p:nvPr/>
          </p:nvSpPr>
          <p:spPr bwMode="auto">
            <a:xfrm>
              <a:off x="6247079" y="1841962"/>
              <a:ext cx="2154222" cy="9401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5"/>
            <p:cNvSpPr>
              <a:spLocks noChangeShapeType="1"/>
            </p:cNvSpPr>
            <p:nvPr/>
          </p:nvSpPr>
          <p:spPr bwMode="auto">
            <a:xfrm>
              <a:off x="6236330" y="1618656"/>
              <a:ext cx="0" cy="2969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8390553" y="1631602"/>
              <a:ext cx="0" cy="29466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5666683" y="1275606"/>
              <a:ext cx="915123" cy="39318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r" eaLnBrk="0" hangingPunct="0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sender</a:t>
              </a:r>
            </a:p>
          </p:txBody>
        </p:sp>
        <p:sp>
          <p:nvSpPr>
            <p:cNvPr id="20" name="Text Box 8"/>
            <p:cNvSpPr txBox="1">
              <a:spLocks noChangeArrowheads="1"/>
            </p:cNvSpPr>
            <p:nvPr/>
          </p:nvSpPr>
          <p:spPr bwMode="auto">
            <a:xfrm>
              <a:off x="7831652" y="1275607"/>
              <a:ext cx="1060828" cy="33334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r" eaLnBrk="0" hangingPunct="0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receiver</a:t>
              </a:r>
            </a:p>
          </p:txBody>
        </p:sp>
        <p:sp>
          <p:nvSpPr>
            <p:cNvPr id="21" name="Line 9"/>
            <p:cNvSpPr>
              <a:spLocks noChangeShapeType="1"/>
            </p:cNvSpPr>
            <p:nvPr/>
          </p:nvSpPr>
          <p:spPr bwMode="auto">
            <a:xfrm>
              <a:off x="5666682" y="1840344"/>
              <a:ext cx="2711587" cy="0"/>
            </a:xfrm>
            <a:prstGeom prst="line">
              <a:avLst/>
            </a:prstGeom>
            <a:noFill/>
            <a:ln w="0">
              <a:solidFill>
                <a:srgbClr val="7030A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0"/>
            <p:cNvSpPr>
              <a:spLocks noChangeShapeType="1"/>
            </p:cNvSpPr>
            <p:nvPr/>
          </p:nvSpPr>
          <p:spPr bwMode="auto">
            <a:xfrm>
              <a:off x="5666683" y="3989255"/>
              <a:ext cx="2717728" cy="0"/>
            </a:xfrm>
            <a:prstGeom prst="line">
              <a:avLst/>
            </a:prstGeom>
            <a:noFill/>
            <a:ln w="0">
              <a:solidFill>
                <a:srgbClr val="7030A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 flipV="1">
              <a:off x="6263967" y="3028070"/>
              <a:ext cx="2137332" cy="9401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12"/>
            <p:cNvSpPr/>
            <p:nvPr/>
          </p:nvSpPr>
          <p:spPr bwMode="auto">
            <a:xfrm>
              <a:off x="6242472" y="1835489"/>
              <a:ext cx="2141938" cy="1178018"/>
            </a:xfrm>
            <a:custGeom>
              <a:avLst/>
              <a:gdLst>
                <a:gd name="T0" fmla="*/ 0 w 2902"/>
                <a:gd name="T1" fmla="*/ 0 h 1185"/>
                <a:gd name="T2" fmla="*/ 2895 w 2902"/>
                <a:gd name="T3" fmla="*/ 937 h 1185"/>
                <a:gd name="T4" fmla="*/ 2902 w 2902"/>
                <a:gd name="T5" fmla="*/ 1185 h 1185"/>
                <a:gd name="T6" fmla="*/ 0 w 2902"/>
                <a:gd name="T7" fmla="*/ 247 h 1185"/>
                <a:gd name="T8" fmla="*/ 0 w 2902"/>
                <a:gd name="T9" fmla="*/ 0 h 1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2" h="1185">
                  <a:moveTo>
                    <a:pt x="0" y="0"/>
                  </a:moveTo>
                  <a:lnTo>
                    <a:pt x="2895" y="937"/>
                  </a:lnTo>
                  <a:lnTo>
                    <a:pt x="2902" y="1185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14"/>
            <p:cNvSpPr>
              <a:spLocks noChangeShapeType="1"/>
            </p:cNvSpPr>
            <p:nvPr/>
          </p:nvSpPr>
          <p:spPr bwMode="auto">
            <a:xfrm flipH="1">
              <a:off x="5685300" y="2081449"/>
              <a:ext cx="544889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 Box 16"/>
            <p:cNvSpPr txBox="1">
              <a:spLocks noChangeArrowheads="1"/>
            </p:cNvSpPr>
            <p:nvPr/>
          </p:nvSpPr>
          <p:spPr bwMode="auto">
            <a:xfrm>
              <a:off x="5658964" y="2876788"/>
              <a:ext cx="531070" cy="254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RTT</a:t>
              </a:r>
              <a:r>
                <a:rPr lang="en-US" altLang="zh-CN" sz="7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17"/>
            <p:cNvSpPr>
              <a:spLocks noChangeShapeType="1"/>
            </p:cNvSpPr>
            <p:nvPr/>
          </p:nvSpPr>
          <p:spPr bwMode="auto">
            <a:xfrm>
              <a:off x="5956926" y="3141342"/>
              <a:ext cx="0" cy="82687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 flipV="1">
              <a:off x="5961532" y="2104103"/>
              <a:ext cx="0" cy="78318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25"/>
            <p:cNvSpPr/>
            <p:nvPr/>
          </p:nvSpPr>
          <p:spPr bwMode="auto">
            <a:xfrm>
              <a:off x="6241074" y="3984401"/>
              <a:ext cx="1372683" cy="589010"/>
            </a:xfrm>
            <a:custGeom>
              <a:avLst/>
              <a:gdLst>
                <a:gd name="T0" fmla="*/ 0 w 1845"/>
                <a:gd name="T1" fmla="*/ 0 h 592"/>
                <a:gd name="T2" fmla="*/ 1845 w 1845"/>
                <a:gd name="T3" fmla="*/ 592 h 592"/>
                <a:gd name="T4" fmla="*/ 1095 w 1845"/>
                <a:gd name="T5" fmla="*/ 592 h 592"/>
                <a:gd name="T6" fmla="*/ 0 w 1845"/>
                <a:gd name="T7" fmla="*/ 247 h 592"/>
                <a:gd name="T8" fmla="*/ 0 w 1845"/>
                <a:gd name="T9" fmla="*/ 0 h 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7" name="Group 26"/>
            <p:cNvGrpSpPr/>
            <p:nvPr/>
          </p:nvGrpSpPr>
          <p:grpSpPr bwMode="auto">
            <a:xfrm>
              <a:off x="6234932" y="3976310"/>
              <a:ext cx="1239099" cy="545319"/>
              <a:chOff x="12315" y="13225"/>
              <a:chExt cx="2775" cy="913"/>
            </a:xfrm>
          </p:grpSpPr>
          <p:sp>
            <p:nvSpPr>
              <p:cNvPr id="38" name="Line 27"/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28"/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>
              <a:off x="6234932" y="4222270"/>
              <a:ext cx="307088" cy="1262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>
              <a:off x="6548162" y="4348485"/>
              <a:ext cx="523585" cy="239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Text Box 16"/>
            <p:cNvSpPr txBox="1">
              <a:spLocks noChangeArrowheads="1"/>
            </p:cNvSpPr>
            <p:nvPr/>
          </p:nvSpPr>
          <p:spPr bwMode="auto">
            <a:xfrm>
              <a:off x="5606322" y="1828816"/>
              <a:ext cx="350601" cy="254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18"/>
            <p:cNvSpPr>
              <a:spLocks noChangeShapeType="1"/>
            </p:cNvSpPr>
            <p:nvPr/>
          </p:nvSpPr>
          <p:spPr bwMode="auto">
            <a:xfrm flipV="1">
              <a:off x="5961532" y="1828816"/>
              <a:ext cx="0" cy="25263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 type="triangle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37</a:t>
            </a:fld>
            <a:endParaRPr lang="en-US" altLang="zh-CN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2" grpId="0" animBg="1"/>
      <p:bldP spid="32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105401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rdt3.0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：停止等待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大部分的时光都消耗在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zh-CN" altLang="en-US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5" name="Object 31"/>
          <p:cNvGraphicFramePr>
            <a:graphicFrameLocks noChangeAspect="1"/>
          </p:cNvGraphicFramePr>
          <p:nvPr/>
        </p:nvGraphicFramePr>
        <p:xfrm>
          <a:off x="1408178" y="2896880"/>
          <a:ext cx="3862388" cy="601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Picture" r:id="rId4" imgW="3177540" imgH="498475" progId="Word.Picture.8">
                  <p:embed/>
                </p:oleObj>
              </mc:Choice>
              <mc:Fallback>
                <p:oleObj name="Picture" r:id="rId4" imgW="3177540" imgH="498475" progId="Word.Picture.8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178" y="2896880"/>
                        <a:ext cx="3862388" cy="6012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1115616" y="2111757"/>
            <a:ext cx="3947963" cy="252533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传输时延 </a:t>
            </a:r>
            <a:r>
              <a:rPr lang="en-US" altLang="zh-CN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t=L/R=8kbit÷10</a:t>
            </a:r>
            <a:r>
              <a:rPr lang="en-US" altLang="zh-CN" sz="1400" baseline="300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en-US" altLang="zh-CN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bit/s=8 </a:t>
            </a:r>
            <a:r>
              <a:rPr lang="en-US" altLang="zh-CN" sz="1400" dirty="0" err="1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μs</a:t>
            </a:r>
            <a:endParaRPr lang="en-US" altLang="zh-CN" sz="14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1115615" y="2491555"/>
            <a:ext cx="4134073" cy="25253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zh-CN" altLang="en-US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利用率</a:t>
            </a:r>
            <a:r>
              <a:rPr lang="en-US" altLang="zh-CN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t/(</a:t>
            </a:r>
            <a:r>
              <a:rPr lang="en-US" altLang="zh-CN" sz="1400" dirty="0" err="1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t+RTT</a:t>
            </a:r>
            <a:r>
              <a:rPr lang="en-US" altLang="zh-CN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 =2.7%%</a:t>
            </a:r>
          </a:p>
        </p:txBody>
      </p:sp>
      <p:sp>
        <p:nvSpPr>
          <p:cNvPr id="38" name="Rectangle 3"/>
          <p:cNvSpPr txBox="1">
            <a:spLocks noChangeArrowheads="1"/>
          </p:cNvSpPr>
          <p:nvPr/>
        </p:nvSpPr>
        <p:spPr bwMode="auto">
          <a:xfrm>
            <a:off x="1119459" y="3756340"/>
            <a:ext cx="4009037" cy="67560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吞吐率：每</a:t>
            </a:r>
            <a:r>
              <a:rPr lang="en-US" altLang="zh-CN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30.008ms</a:t>
            </a:r>
            <a:r>
              <a:rPr lang="zh-CN" altLang="en-US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只能传输</a:t>
            </a:r>
            <a:r>
              <a:rPr lang="en-US" altLang="zh-CN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1KB</a:t>
            </a:r>
            <a:r>
              <a:rPr lang="zh-CN" altLang="en-US" sz="1400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的数据，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1Gps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的链路上只有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33.3 kB/s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的吞吐量！</a:t>
            </a:r>
            <a:endParaRPr lang="en-US" altLang="zh-CN" sz="14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3"/>
          <p:cNvSpPr>
            <a:spLocks noChangeShapeType="1"/>
          </p:cNvSpPr>
          <p:nvPr/>
        </p:nvSpPr>
        <p:spPr bwMode="auto">
          <a:xfrm>
            <a:off x="6247079" y="1841962"/>
            <a:ext cx="2154222" cy="94014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Line 5"/>
          <p:cNvSpPr>
            <a:spLocks noChangeShapeType="1"/>
          </p:cNvSpPr>
          <p:nvPr/>
        </p:nvSpPr>
        <p:spPr bwMode="auto">
          <a:xfrm>
            <a:off x="6236330" y="1618656"/>
            <a:ext cx="0" cy="2969317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6"/>
          <p:cNvSpPr>
            <a:spLocks noChangeShapeType="1"/>
          </p:cNvSpPr>
          <p:nvPr/>
        </p:nvSpPr>
        <p:spPr bwMode="auto">
          <a:xfrm>
            <a:off x="8390553" y="1631602"/>
            <a:ext cx="0" cy="2946663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5666683" y="1275606"/>
            <a:ext cx="915123" cy="3931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r" eaLnBrk="0" hangingPunct="0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sender</a:t>
            </a:r>
          </a:p>
        </p:txBody>
      </p:sp>
      <p:sp>
        <p:nvSpPr>
          <p:cNvPr id="43" name="Text Box 8"/>
          <p:cNvSpPr txBox="1">
            <a:spLocks noChangeArrowheads="1"/>
          </p:cNvSpPr>
          <p:nvPr/>
        </p:nvSpPr>
        <p:spPr bwMode="auto">
          <a:xfrm>
            <a:off x="7831652" y="1275607"/>
            <a:ext cx="1060828" cy="33334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r" eaLnBrk="0" hangingPunct="0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receiver</a:t>
            </a:r>
          </a:p>
        </p:txBody>
      </p:sp>
      <p:sp>
        <p:nvSpPr>
          <p:cNvPr id="44" name="Line 9"/>
          <p:cNvSpPr>
            <a:spLocks noChangeShapeType="1"/>
          </p:cNvSpPr>
          <p:nvPr/>
        </p:nvSpPr>
        <p:spPr bwMode="auto">
          <a:xfrm>
            <a:off x="5666682" y="1840344"/>
            <a:ext cx="2711587" cy="0"/>
          </a:xfrm>
          <a:prstGeom prst="line">
            <a:avLst/>
          </a:prstGeom>
          <a:noFill/>
          <a:ln w="0">
            <a:solidFill>
              <a:srgbClr val="7030A0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10"/>
          <p:cNvSpPr>
            <a:spLocks noChangeShapeType="1"/>
          </p:cNvSpPr>
          <p:nvPr/>
        </p:nvSpPr>
        <p:spPr bwMode="auto">
          <a:xfrm>
            <a:off x="5666683" y="3989255"/>
            <a:ext cx="2717728" cy="0"/>
          </a:xfrm>
          <a:prstGeom prst="line">
            <a:avLst/>
          </a:prstGeom>
          <a:noFill/>
          <a:ln w="0">
            <a:solidFill>
              <a:srgbClr val="7030A0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11"/>
          <p:cNvSpPr>
            <a:spLocks noChangeShapeType="1"/>
          </p:cNvSpPr>
          <p:nvPr/>
        </p:nvSpPr>
        <p:spPr bwMode="auto">
          <a:xfrm flipV="1">
            <a:off x="6263967" y="3028070"/>
            <a:ext cx="2137332" cy="940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Freeform 12"/>
          <p:cNvSpPr/>
          <p:nvPr/>
        </p:nvSpPr>
        <p:spPr bwMode="auto">
          <a:xfrm>
            <a:off x="6242472" y="1835489"/>
            <a:ext cx="2141938" cy="1178018"/>
          </a:xfrm>
          <a:custGeom>
            <a:avLst/>
            <a:gdLst>
              <a:gd name="T0" fmla="*/ 0 w 2902"/>
              <a:gd name="T1" fmla="*/ 0 h 1185"/>
              <a:gd name="T2" fmla="*/ 2895 w 2902"/>
              <a:gd name="T3" fmla="*/ 937 h 1185"/>
              <a:gd name="T4" fmla="*/ 2902 w 2902"/>
              <a:gd name="T5" fmla="*/ 1185 h 1185"/>
              <a:gd name="T6" fmla="*/ 0 w 2902"/>
              <a:gd name="T7" fmla="*/ 247 h 1185"/>
              <a:gd name="T8" fmla="*/ 0 w 2902"/>
              <a:gd name="T9" fmla="*/ 0 h 1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14"/>
          <p:cNvSpPr>
            <a:spLocks noChangeShapeType="1"/>
          </p:cNvSpPr>
          <p:nvPr/>
        </p:nvSpPr>
        <p:spPr bwMode="auto">
          <a:xfrm flipH="1">
            <a:off x="5685300" y="2081449"/>
            <a:ext cx="544889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 Box 16"/>
          <p:cNvSpPr txBox="1">
            <a:spLocks noChangeArrowheads="1"/>
          </p:cNvSpPr>
          <p:nvPr/>
        </p:nvSpPr>
        <p:spPr bwMode="auto">
          <a:xfrm>
            <a:off x="5658964" y="2876788"/>
            <a:ext cx="531070" cy="25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eaLnBrk="0" hangingPunct="0"/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</a:t>
            </a:r>
            <a:r>
              <a:rPr lang="en-US" altLang="zh-CN" sz="7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17"/>
          <p:cNvSpPr>
            <a:spLocks noChangeShapeType="1"/>
          </p:cNvSpPr>
          <p:nvPr/>
        </p:nvSpPr>
        <p:spPr bwMode="auto">
          <a:xfrm>
            <a:off x="5956926" y="3141342"/>
            <a:ext cx="0" cy="826879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18"/>
          <p:cNvSpPr>
            <a:spLocks noChangeShapeType="1"/>
          </p:cNvSpPr>
          <p:nvPr/>
        </p:nvSpPr>
        <p:spPr bwMode="auto">
          <a:xfrm flipV="1">
            <a:off x="5961532" y="2104103"/>
            <a:ext cx="0" cy="783188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Freeform 25"/>
          <p:cNvSpPr/>
          <p:nvPr/>
        </p:nvSpPr>
        <p:spPr bwMode="auto">
          <a:xfrm>
            <a:off x="6241074" y="3984401"/>
            <a:ext cx="1372683" cy="589010"/>
          </a:xfrm>
          <a:custGeom>
            <a:avLst/>
            <a:gdLst>
              <a:gd name="T0" fmla="*/ 0 w 1845"/>
              <a:gd name="T1" fmla="*/ 0 h 592"/>
              <a:gd name="T2" fmla="*/ 1845 w 1845"/>
              <a:gd name="T3" fmla="*/ 592 h 592"/>
              <a:gd name="T4" fmla="*/ 1095 w 1845"/>
              <a:gd name="T5" fmla="*/ 592 h 592"/>
              <a:gd name="T6" fmla="*/ 0 w 1845"/>
              <a:gd name="T7" fmla="*/ 247 h 592"/>
              <a:gd name="T8" fmla="*/ 0 w 1845"/>
              <a:gd name="T9" fmla="*/ 0 h 5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45" h="592">
                <a:moveTo>
                  <a:pt x="0" y="0"/>
                </a:moveTo>
                <a:lnTo>
                  <a:pt x="1845" y="592"/>
                </a:lnTo>
                <a:lnTo>
                  <a:pt x="1095" y="592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3" name="Group 26"/>
          <p:cNvGrpSpPr/>
          <p:nvPr/>
        </p:nvGrpSpPr>
        <p:grpSpPr bwMode="auto">
          <a:xfrm>
            <a:off x="6234932" y="3976310"/>
            <a:ext cx="1239099" cy="545319"/>
            <a:chOff x="12315" y="13225"/>
            <a:chExt cx="2775" cy="913"/>
          </a:xfrm>
        </p:grpSpPr>
        <p:sp>
          <p:nvSpPr>
            <p:cNvPr id="54" name="Line 27"/>
            <p:cNvSpPr>
              <a:spLocks noChangeShapeType="1"/>
            </p:cNvSpPr>
            <p:nvPr/>
          </p:nvSpPr>
          <p:spPr bwMode="auto">
            <a:xfrm>
              <a:off x="12315" y="13225"/>
              <a:ext cx="1587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28"/>
            <p:cNvSpPr>
              <a:spLocks noChangeShapeType="1"/>
            </p:cNvSpPr>
            <p:nvPr/>
          </p:nvSpPr>
          <p:spPr bwMode="auto">
            <a:xfrm>
              <a:off x="13915" y="13737"/>
              <a:ext cx="1175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6" name="Line 29"/>
          <p:cNvSpPr>
            <a:spLocks noChangeShapeType="1"/>
          </p:cNvSpPr>
          <p:nvPr/>
        </p:nvSpPr>
        <p:spPr bwMode="auto">
          <a:xfrm>
            <a:off x="6234932" y="4222270"/>
            <a:ext cx="307088" cy="12621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Line 30"/>
          <p:cNvSpPr>
            <a:spLocks noChangeShapeType="1"/>
          </p:cNvSpPr>
          <p:nvPr/>
        </p:nvSpPr>
        <p:spPr bwMode="auto">
          <a:xfrm>
            <a:off x="6548162" y="4348485"/>
            <a:ext cx="523585" cy="239488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 Box 16"/>
          <p:cNvSpPr txBox="1">
            <a:spLocks noChangeArrowheads="1"/>
          </p:cNvSpPr>
          <p:nvPr/>
        </p:nvSpPr>
        <p:spPr bwMode="auto">
          <a:xfrm>
            <a:off x="5606322" y="1828816"/>
            <a:ext cx="350601" cy="25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eaLnBrk="0" hangingPunct="0"/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Line 18"/>
          <p:cNvSpPr>
            <a:spLocks noChangeShapeType="1"/>
          </p:cNvSpPr>
          <p:nvPr/>
        </p:nvSpPr>
        <p:spPr bwMode="auto">
          <a:xfrm flipV="1">
            <a:off x="5961532" y="1828816"/>
            <a:ext cx="0" cy="25263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 type="triangle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899" y="4174336"/>
            <a:ext cx="587786" cy="58778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0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38</a:t>
            </a:fld>
            <a:endParaRPr lang="en-US" altLang="zh-CN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7544" y="936000"/>
            <a:ext cx="4320480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如何提高吞吐量？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提高网络利用率？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欲知后事如何，请待下堂课分解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707654"/>
            <a:ext cx="571429" cy="58412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907" y="1563638"/>
            <a:ext cx="3607549" cy="1857888"/>
          </a:xfrm>
          <a:prstGeom prst="roundRect">
            <a:avLst>
              <a:gd name="adj" fmla="val 8054"/>
            </a:avLst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9" name="矩形 8"/>
          <p:cNvSpPr/>
          <p:nvPr/>
        </p:nvSpPr>
        <p:spPr>
          <a:xfrm>
            <a:off x="5364088" y="3579862"/>
            <a:ext cx="321915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剧透：流水线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pipeline…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39</a:t>
            </a:fld>
            <a:endParaRPr lang="en-US" altLang="zh-CN" dirty="0"/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  <p:bldP spid="8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/>
              </a:rPr>
              <a:t>本讲总结</a:t>
            </a:r>
            <a:endParaRPr lang="en-US" altLang="zh-CN" dirty="0">
              <a:solidFill>
                <a:srgbClr val="C00000"/>
              </a:solidFill>
              <a:effectLst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933656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可靠数据传输原理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处理分组差错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检验和</a:t>
            </a: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Checksum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停止等待：来自接收方的确认</a:t>
            </a: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重传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处理分组丢失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超时重传</a:t>
            </a: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停止等待，比特交替</a:t>
            </a: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使用的方法</a:t>
            </a: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循序渐进</a:t>
            </a: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由简入难</a:t>
            </a: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有限状态机，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简单时序图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zh-CN" altLang="en-US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40</a:t>
            </a:fld>
            <a:endParaRPr lang="en-US" altLang="zh-CN" dirty="0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2025/3/17</a:t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下课铃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956376" y="4231337"/>
            <a:ext cx="487363" cy="487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5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9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NjMjhlYjQ4YTEwOTliNjQ5ODc4NGFhMmM4OWVlZj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19</TotalTime>
  <Words>3797</Words>
  <Application>Microsoft Office PowerPoint</Application>
  <PresentationFormat>全屏显示(16:9)</PresentationFormat>
  <Paragraphs>902</Paragraphs>
  <Slides>41</Slides>
  <Notes>1</Notes>
  <HiddenSlides>0</HiddenSlides>
  <MMClips>1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等线</vt:lpstr>
      <vt:lpstr>等线 Light</vt:lpstr>
      <vt:lpstr>微软雅黑</vt:lpstr>
      <vt:lpstr>Arial</vt:lpstr>
      <vt:lpstr>Calibri</vt:lpstr>
      <vt:lpstr>Courier New</vt:lpstr>
      <vt:lpstr>Symbol</vt:lpstr>
      <vt:lpstr>Times New Roman</vt:lpstr>
      <vt:lpstr>Wingdings</vt:lpstr>
      <vt:lpstr>Office 主题​​</vt:lpstr>
      <vt:lpstr>Picture</vt:lpstr>
      <vt:lpstr>计算机网络</vt:lpstr>
      <vt:lpstr>知识回顾 </vt:lpstr>
      <vt:lpstr>本讲任务</vt:lpstr>
      <vt:lpstr>PowerPoint 演示文稿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本讲总结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Whhou</dc:creator>
  <cp:lastModifiedBy>cistecoram</cp:lastModifiedBy>
  <cp:revision>101</cp:revision>
  <dcterms:created xsi:type="dcterms:W3CDTF">2020-03-13T06:37:00Z</dcterms:created>
  <dcterms:modified xsi:type="dcterms:W3CDTF">2025-03-17T01:57:05Z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80A578CED37C4D94B89D64F40D98ED7F_12</vt:lpwstr>
  </property>
  <property fmtid="{D5CDD505-2E9C-101B-9397-08002B2CF9AE}" pid="3" name="KSOProductBuildVer">
    <vt:lpwstr>2052-12.1.0.16704</vt:lpwstr>
  </property>
</Properties>
</file>