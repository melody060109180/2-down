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32"/>
  </p:handout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9" r:id="rId14"/>
    <p:sldId id="266" r:id="rId15"/>
    <p:sldId id="267" r:id="rId16"/>
    <p:sldId id="268" r:id="rId17"/>
    <p:sldId id="269" r:id="rId18"/>
    <p:sldId id="270" r:id="rId19"/>
    <p:sldId id="278" r:id="rId20"/>
    <p:sldId id="276" r:id="rId21"/>
    <p:sldId id="271" r:id="rId22"/>
    <p:sldId id="272" r:id="rId23"/>
    <p:sldId id="274" r:id="rId24"/>
    <p:sldId id="277" r:id="rId25"/>
    <p:sldId id="280" r:id="rId26"/>
    <p:sldId id="281" r:id="rId27"/>
    <p:sldId id="282" r:id="rId28"/>
    <p:sldId id="283" r:id="rId29"/>
    <p:sldId id="284" r:id="rId30"/>
    <p:sldId id="275" r:id="rId31"/>
  </p:sldIdLst>
  <p:sldSz cx="9144000" cy="6858000" type="screen4x3"/>
  <p:notesSz cx="7099300" cy="10234295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8000"/>
    <a:srgbClr val="0000FF"/>
    <a:srgbClr val="D43005"/>
    <a:srgbClr val="FF3300"/>
    <a:srgbClr val="800000"/>
    <a:srgbClr val="EAEAEA"/>
    <a:srgbClr val="FAFAFA"/>
    <a:srgbClr val="E18601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52" autoAdjust="0"/>
    <p:restoredTop sz="94515" autoAdjust="0"/>
  </p:normalViewPr>
  <p:slideViewPr>
    <p:cSldViewPr showGuides="1">
      <p:cViewPr varScale="1">
        <p:scale>
          <a:sx n="121" d="100"/>
          <a:sy n="121" d="100"/>
        </p:scale>
        <p:origin x="1046" y="86"/>
      </p:cViewPr>
      <p:guideLst>
        <p:guide orient="horz" pos="2138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3006" y="-84"/>
      </p:cViewPr>
      <p:guideLst>
        <p:guide orient="horz" pos="3190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1870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1870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 dirty="0">
                <a:solidFill>
                  <a:srgbClr val="0000FF"/>
                </a:solidFill>
              </a:rPr>
              <a:t>计算机网络</a:t>
            </a:r>
            <a:endParaRPr lang="zh-CN" altLang="en-US" sz="1400" b="1" dirty="0">
              <a:solidFill>
                <a:srgbClr val="0000FF"/>
              </a:solidFill>
            </a:endParaRPr>
          </a:p>
          <a:p>
            <a:pPr algn="ctr" eaLnBrk="1" hangingPunct="1">
              <a:defRPr/>
            </a:pPr>
            <a:r>
              <a:rPr lang="zh-CN" altLang="en-US" sz="1400" b="1" dirty="0">
                <a:solidFill>
                  <a:srgbClr val="0000FF"/>
                </a:solidFill>
              </a:rPr>
              <a:t>第</a:t>
            </a:r>
            <a:r>
              <a:rPr lang="en-US" altLang="zh-CN" sz="1400" b="1" dirty="0">
                <a:solidFill>
                  <a:srgbClr val="0000FF"/>
                </a:solidFill>
              </a:rPr>
              <a:t>1</a:t>
            </a:r>
            <a:r>
              <a:rPr lang="zh-CN" altLang="en-US" sz="1400" b="1" dirty="0">
                <a:solidFill>
                  <a:srgbClr val="0000FF"/>
                </a:solidFill>
              </a:rPr>
              <a:t>讲 </a:t>
            </a:r>
            <a:endParaRPr lang="zh-CN" altLang="en-US" sz="1400" b="1" dirty="0">
              <a:solidFill>
                <a:srgbClr val="0000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defTabSz="991870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algn="r" defTabSz="991870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1870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1870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31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671775-D44C-4A35-B4D5-4E16A5DD10A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2" descr="Network Globe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37332"/>
            <a:ext cx="1802119" cy="13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7388" y="2205038"/>
            <a:ext cx="7772400" cy="1470025"/>
          </a:xfrm>
        </p:spPr>
        <p:txBody>
          <a:bodyPr/>
          <a:lstStyle>
            <a:lvl1pPr algn="ctr">
              <a:defRPr sz="4000" b="1">
                <a:ea typeface="华文新魏" panose="0201080004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4508500"/>
            <a:ext cx="6400800" cy="649288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marL="0" indent="0" algn="ctr">
              <a:buFontTx/>
              <a:buNone/>
              <a:defRPr sz="1800" b="1">
                <a:solidFill>
                  <a:srgbClr val="0066CC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BB41F-2BD1-4C4C-A147-2941FEC5C0FD}" type="datetime1">
              <a:rPr lang="zh-CN" altLang="en-US" smtClean="0"/>
            </a:fld>
            <a:endParaRPr lang="en-US" altLang="zh-CN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en-US" altLang="zh-CN" dirty="0"/>
          </a:p>
        </p:txBody>
      </p:sp>
      <p:sp>
        <p:nvSpPr>
          <p:cNvPr id="10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86525"/>
            <a:ext cx="2133600" cy="3397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A49614C8-2CC9-41C4-A270-71F905EAC75A}" type="slidenum">
              <a:rPr lang="en-US" altLang="zh-CN"/>
            </a:fld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88" y="437332"/>
            <a:ext cx="1110953" cy="1110953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980FC-18B4-4D77-A676-A775003870A6}" type="datetime1">
              <a:rPr lang="zh-CN" altLang="en-US" smtClean="0"/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46D1D-CD10-4A8F-9421-4EBA11AE5029}" type="datetime1">
              <a:rPr lang="zh-CN" altLang="en-US" smtClean="0"/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EED42728-7A73-480E-B915-06FF9F85AD7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9750" y="1096963"/>
            <a:ext cx="3997325" cy="50006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9475" y="1096963"/>
            <a:ext cx="3997325" cy="50006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375E6-9DD7-4394-9DA8-0EEBF26FA6EB}" type="datetime1">
              <a:rPr lang="zh-CN" altLang="en-US" smtClean="0"/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91033-9DE8-4361-A644-D2BCE1FA85DC}" type="datetime1">
              <a:rPr lang="zh-CN" altLang="en-US" smtClean="0"/>
            </a:fld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8527C9AF-42E3-4142-A71F-DD90BCD9E3F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E869A4-FC59-40C3-8283-A23744EE599C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344FEA5F-79F5-4E89-AF66-7BCB02F734D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BB488A-3D1A-4B27-9D68-DCA22ACD6FF9}" type="datetime1">
              <a:rPr lang="zh-CN" altLang="en-US" smtClean="0"/>
            </a:fld>
            <a:endParaRPr lang="en-US" altLang="zh-C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782FA-EB4D-4783-91F5-0907BB1F3D16}" type="datetime1">
              <a:rPr lang="zh-CN" altLang="en-US" smtClean="0"/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B1209EFD-7580-439E-8657-A0ADB87A5A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9C16ED-5CC9-4605-9F55-30B4FEEFB506}" type="datetime1">
              <a:rPr lang="zh-CN" altLang="en-US" smtClean="0"/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26A792E9-A848-4772-A4C4-C1E3D97ED3F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3A55E-CE20-433D-A307-AED843694AEF}" type="datetime1">
              <a:rPr lang="zh-CN" altLang="en-US" smtClean="0"/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93BB485-BE0B-43D4-8A1E-58EBE8D72E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8600" y="185738"/>
            <a:ext cx="2108200" cy="59118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2413" y="185738"/>
            <a:ext cx="6173787" cy="59118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58E69-EA86-46A3-908B-3AE71CEF33EC}" type="datetime1">
              <a:rPr lang="zh-CN" altLang="en-US" smtClean="0"/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FAE96507-98BF-4D48-AD40-B64AD5C3CA8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audio" Target="../media/audio1.wav"/><Relationship Id="rId13" Type="http://schemas.openxmlformats.org/officeDocument/2006/relationships/image" Target="../media/image5.jpeg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11913"/>
            <a:ext cx="9144000" cy="446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86525"/>
            <a:ext cx="2133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33F673DA-8B5A-45D7-A960-96F7AF864029}" type="datetime1">
              <a:rPr lang="zh-CN" altLang="en-US" smtClean="0"/>
            </a:fld>
            <a:endParaRPr lang="en-US" altLang="zh-CN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86525"/>
            <a:ext cx="2895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96188" y="6486525"/>
            <a:ext cx="1090612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/>
            </a:fld>
            <a:endParaRPr lang="en-US" altLang="zh-CN"/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096963"/>
            <a:ext cx="8147050" cy="500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31" name="Rectangle 19"/>
          <p:cNvSpPr>
            <a:spLocks noChangeArrowheads="1"/>
          </p:cNvSpPr>
          <p:nvPr/>
        </p:nvSpPr>
        <p:spPr bwMode="auto">
          <a:xfrm flipV="1">
            <a:off x="252413" y="836613"/>
            <a:ext cx="5937250" cy="17462"/>
          </a:xfrm>
          <a:prstGeom prst="rect">
            <a:avLst/>
          </a:prstGeom>
          <a:gradFill rotWithShape="1">
            <a:gsLst>
              <a:gs pos="0">
                <a:srgbClr val="0099FF">
                  <a:alpha val="70000"/>
                </a:srgbClr>
              </a:gs>
              <a:gs pos="100000">
                <a:srgbClr val="002F5E">
                  <a:alpha val="67998"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2" name="Rectangle 20"/>
          <p:cNvSpPr>
            <a:spLocks noChangeArrowheads="1"/>
          </p:cNvSpPr>
          <p:nvPr userDrawn="1"/>
        </p:nvSpPr>
        <p:spPr bwMode="auto">
          <a:xfrm rot="5400000" flipV="1">
            <a:off x="-1108075" y="2195513"/>
            <a:ext cx="2879725" cy="19050"/>
          </a:xfrm>
          <a:prstGeom prst="rect">
            <a:avLst/>
          </a:prstGeom>
          <a:gradFill rotWithShape="1">
            <a:gsLst>
              <a:gs pos="0">
                <a:srgbClr val="0099FF">
                  <a:alpha val="70000"/>
                </a:srgbClr>
              </a:gs>
              <a:gs pos="100000">
                <a:srgbClr val="002F5E">
                  <a:alpha val="67998"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45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252413" y="185738"/>
            <a:ext cx="593725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886" y="81721"/>
            <a:ext cx="977936" cy="97793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cut thruBlk="1"/>
    <p:sndAc>
      <p:stSnd>
        <p:snd r:embed="rId14" name="camera.wav"/>
      </p:stSnd>
    </p:sndAc>
  </p:transition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rgbClr val="99000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kern="1200">
          <a:solidFill>
            <a:srgbClr val="99000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 kern="1200">
          <a:solidFill>
            <a:srgbClr val="008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audio" Target="../media/audio1.wav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8613" y="1844675"/>
            <a:ext cx="8491537" cy="218916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zh-CN" altLang="en-US" sz="4800" dirty="0">
                <a:effectLst/>
              </a:rPr>
              <a:t>计算机网络</a:t>
            </a:r>
            <a:br>
              <a:rPr lang="zh-CN" altLang="en-US" sz="4800" dirty="0">
                <a:effectLst/>
              </a:rPr>
            </a:br>
            <a:r>
              <a:rPr lang="zh-CN" altLang="en-US" sz="4800" dirty="0">
                <a:effectLst/>
              </a:rPr>
              <a:t> </a:t>
            </a:r>
            <a:r>
              <a:rPr lang="en-US" altLang="zh-CN" sz="2800" dirty="0">
                <a:effectLst/>
                <a:ea typeface="宋体" panose="02010600030101010101" pitchFamily="2" charset="-122"/>
              </a:rPr>
              <a:t>Computer Networks</a:t>
            </a:r>
            <a:endParaRPr lang="en-US" altLang="zh-CN" sz="2800" dirty="0">
              <a:effectLst/>
              <a:ea typeface="宋体" panose="02010600030101010101" pitchFamily="2" charset="-122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866602" y="5949280"/>
            <a:ext cx="3096344" cy="73314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effectLst/>
              </a:rPr>
              <a:t>重庆大学大数据与软件学院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eaLnBrk="1" hangingPunct="1">
              <a:defRPr/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effectLst/>
              </a:rPr>
              <a:t>开课时间：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effectLst/>
              </a:rPr>
              <a:t>2025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effectLst/>
              </a:rPr>
              <a:t>年春季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effectLst/>
            </a:endParaRP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2272506" y="4033838"/>
            <a:ext cx="4603750" cy="1152127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eaLnBrk="1" hangingPunct="1">
              <a:spcBef>
                <a:spcPct val="20000"/>
              </a:spcBef>
              <a:buFontTx/>
              <a:buNone/>
              <a:defRPr sz="1600" b="1"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+mn-lt"/>
                <a:ea typeface="+mn-ea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+mn-lt"/>
                <a:ea typeface="+mn-ea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+mn-lt"/>
                <a:ea typeface="+mn-ea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>
                <a:latin typeface="+mn-lt"/>
                <a:ea typeface="+mn-ea"/>
              </a:defRPr>
            </a:lvl9pPr>
          </a:lstStyle>
          <a:p>
            <a:r>
              <a:rPr lang="en-US" altLang="zh-CN" sz="2800" dirty="0">
                <a:solidFill>
                  <a:srgbClr val="0000FF"/>
                </a:solidFill>
                <a:effectLst/>
              </a:rPr>
              <a:t>Lecture 19: </a:t>
            </a:r>
            <a:r>
              <a:rPr lang="zh-CN" altLang="en-US" sz="2800" dirty="0">
                <a:solidFill>
                  <a:srgbClr val="0000FF"/>
                </a:solidFill>
                <a:effectLst/>
              </a:rPr>
              <a:t>课程总复习</a:t>
            </a:r>
            <a:endParaRPr lang="en-US" altLang="zh-CN" sz="2800" dirty="0">
              <a:solidFill>
                <a:srgbClr val="0000FF"/>
              </a:solidFill>
              <a:effectLst/>
            </a:endParaRPr>
          </a:p>
          <a:p>
            <a:r>
              <a:rPr lang="en-US" altLang="zh-CN" sz="2800" dirty="0">
                <a:solidFill>
                  <a:srgbClr val="0000FF"/>
                </a:solidFill>
                <a:effectLst/>
              </a:rPr>
              <a:t>Final Review</a:t>
            </a:r>
            <a:endParaRPr lang="en-US" altLang="zh-CN" sz="2800" dirty="0">
              <a:solidFill>
                <a:srgbClr val="0000FF"/>
              </a:solidFill>
              <a:effectLst/>
            </a:endParaRPr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 dirty="0" err="1"/>
              <a:t>Review:bottom-up</a:t>
            </a:r>
            <a:endParaRPr lang="en-US" altLang="zh-CN" b="1" dirty="0"/>
          </a:p>
        </p:txBody>
      </p:sp>
      <p:grpSp>
        <p:nvGrpSpPr>
          <p:cNvPr id="6147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6150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6151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6152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6153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6154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6155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148" name="AutoShape 17"/>
          <p:cNvSpPr/>
          <p:nvPr/>
        </p:nvSpPr>
        <p:spPr bwMode="auto">
          <a:xfrm>
            <a:off x="2843213" y="4464392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307" name="Rectangle 19"/>
          <p:cNvSpPr>
            <a:spLocks noChangeArrowheads="1"/>
          </p:cNvSpPr>
          <p:nvPr/>
        </p:nvSpPr>
        <p:spPr bwMode="auto">
          <a:xfrm>
            <a:off x="3203575" y="4453255"/>
            <a:ext cx="4594225" cy="132207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  <a:defRPr/>
            </a:pPr>
            <a:r>
              <a:rPr lang="zh-CN" altLang="en-US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编码（电气部分）</a:t>
            </a:r>
            <a:endParaRPr lang="zh-CN" altLang="en-US" sz="1600" b="1" dirty="0">
              <a:solidFill>
                <a:srgbClr val="080808"/>
              </a:solidFill>
              <a:effectLst>
                <a:outerShdw blurRad="38100" dist="38100" dir="2700000" algn="tl">
                  <a:srgbClr val="FFFFFF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buFontTx/>
              <a:buChar char="•"/>
              <a:defRPr/>
            </a:pPr>
            <a:r>
              <a:rPr lang="zh-CN" altLang="en-US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调制，解调（信号调整，电气部分）</a:t>
            </a:r>
            <a:endParaRPr lang="zh-CN" altLang="en-US" sz="1600" b="1" dirty="0">
              <a:solidFill>
                <a:srgbClr val="080808"/>
              </a:solidFill>
              <a:effectLst>
                <a:outerShdw blurRad="38100" dist="38100" dir="2700000" algn="tl">
                  <a:srgbClr val="FFFFFF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buFontTx/>
              <a:buChar char="•"/>
              <a:defRPr/>
            </a:pPr>
            <a:r>
              <a:rPr lang="zh-CN" altLang="en-US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传输媒体（</a:t>
            </a:r>
            <a:r>
              <a:rPr lang="en-US" altLang="zh-CN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Guided</a:t>
            </a:r>
            <a:r>
              <a:rPr lang="zh-CN" altLang="en-US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有线的（</a:t>
            </a:r>
            <a:r>
              <a:rPr lang="en-US" altLang="zh-CN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UTP/STP</a:t>
            </a:r>
            <a:r>
              <a:rPr lang="zh-CN" altLang="en-US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）、</a:t>
            </a:r>
            <a:r>
              <a:rPr lang="en-US" altLang="zh-CN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Unguided</a:t>
            </a:r>
            <a:r>
              <a:rPr lang="zh-CN" altLang="en-US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无线的）</a:t>
            </a:r>
            <a:endParaRPr lang="zh-CN" altLang="en-US" sz="1600" b="1" dirty="0">
              <a:solidFill>
                <a:srgbClr val="080808"/>
              </a:solidFill>
              <a:effectLst>
                <a:outerShdw blurRad="38100" dist="38100" dir="2700000" algn="tl">
                  <a:srgbClr val="FFFFFF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buFontTx/>
              <a:buChar char="•"/>
              <a:defRPr/>
            </a:pPr>
            <a:r>
              <a:rPr lang="zh-CN" altLang="en-US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通信能力（四个延迟</a:t>
            </a:r>
            <a:r>
              <a:rPr lang="en-US" altLang="zh-CN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P25-P26</a:t>
            </a:r>
            <a:r>
              <a:rPr lang="zh-CN" altLang="en-US" sz="1600" b="1" dirty="0">
                <a:solidFill>
                  <a:srgbClr val="080808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）</a:t>
            </a:r>
            <a:endParaRPr lang="zh-CN" altLang="en-US" sz="1600" b="1" dirty="0">
              <a:solidFill>
                <a:srgbClr val="080808"/>
              </a:solidFill>
              <a:effectLst>
                <a:outerShdw blurRad="38100" dist="38100" dir="2700000" algn="tl">
                  <a:srgbClr val="FFFFFF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5A4F2AFE-40E9-47D7-93C1-1557BE766B14}" type="slidenum">
              <a:rPr lang="en-US" altLang="zh-CN" smtClean="0"/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CA9F84-1DDC-49B4-B117-87C6862E3C8B}" type="datetime1">
              <a:rPr lang="zh-CN" altLang="en-US" smtClean="0"/>
            </a:fld>
            <a:endParaRPr lang="en-US" altLang="zh-CN"/>
          </a:p>
        </p:txBody>
      </p:sp>
      <p:sp>
        <p:nvSpPr>
          <p:cNvPr id="5" name="右大括号 4"/>
          <p:cNvSpPr/>
          <p:nvPr/>
        </p:nvSpPr>
        <p:spPr>
          <a:xfrm>
            <a:off x="2915816" y="2133600"/>
            <a:ext cx="504056" cy="2232730"/>
          </a:xfrm>
          <a:prstGeom prst="rightBrace">
            <a:avLst/>
          </a:prstGeom>
          <a:ln>
            <a:solidFill>
              <a:srgbClr val="D430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auto">
          <a:xfrm>
            <a:off x="3564356" y="3188500"/>
            <a:ext cx="1655763" cy="338554"/>
          </a:xfrm>
          <a:prstGeom prst="rect">
            <a:avLst/>
          </a:prstGeom>
          <a:solidFill>
            <a:srgbClr val="99CCFF"/>
          </a:solidFill>
          <a:ln w="9525">
            <a:solidFill>
              <a:srgbClr val="D43005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  <a:defRPr/>
            </a:pP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逻辑通信</a:t>
            </a:r>
            <a:endParaRPr lang="zh-CN" altLang="en-US" sz="1600" b="1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3851921" y="3570630"/>
            <a:ext cx="1368198" cy="338554"/>
          </a:xfrm>
          <a:prstGeom prst="rect">
            <a:avLst/>
          </a:prstGeom>
          <a:solidFill>
            <a:srgbClr val="99CCFF"/>
          </a:solidFill>
          <a:ln w="9525">
            <a:solidFill>
              <a:srgbClr val="D43005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  <a:defRPr/>
            </a:pPr>
            <a:r>
              <a:rPr lang="zh-CN" alt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微软雅黑" panose="020B0503020204020204" pitchFamily="34" charset="-122"/>
              </a:rPr>
              <a:t>对等实体</a:t>
            </a:r>
            <a:endParaRPr lang="zh-CN" altLang="en-US" sz="1600" b="1" dirty="0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3910" y="1052830"/>
            <a:ext cx="57892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layer architecture</a:t>
            </a:r>
            <a:r>
              <a:rPr lang="zh-CN" altLang="en-US" b="1"/>
              <a:t>（层架构）优点：概念化、结构化</a:t>
            </a:r>
            <a:endParaRPr lang="zh-CN" altLang="en-US" b="1"/>
          </a:p>
          <a:p>
            <a:r>
              <a:rPr lang="zh-CN" altLang="en-US" b="1"/>
              <a:t>封装、对等通信</a:t>
            </a:r>
            <a:endParaRPr lang="zh-CN" altLang="en-US" b="1"/>
          </a:p>
          <a:p>
            <a:r>
              <a:rPr lang="zh-CN" altLang="en-US" b="1"/>
              <a:t>协议</a:t>
            </a:r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323850" y="528129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电气＋机械＋协议</a:t>
            </a:r>
            <a:endParaRPr lang="zh-CN" altLang="en-US" b="1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7171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7176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7177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7178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7179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7180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7181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971" name="Rectangle 11"/>
          <p:cNvSpPr>
            <a:spLocks noChangeArrowheads="1"/>
          </p:cNvSpPr>
          <p:nvPr/>
        </p:nvSpPr>
        <p:spPr bwMode="auto">
          <a:xfrm>
            <a:off x="3203575" y="3948113"/>
            <a:ext cx="1800225" cy="12747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en-US" altLang="zh-CN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差错检验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多址访问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复用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)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链路层编址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7173" name="AutoShape 12"/>
          <p:cNvSpPr/>
          <p:nvPr/>
        </p:nvSpPr>
        <p:spPr bwMode="auto">
          <a:xfrm>
            <a:off x="2843213" y="4005263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4" name="AutoShape 12"/>
          <p:cNvSpPr/>
          <p:nvPr/>
        </p:nvSpPr>
        <p:spPr bwMode="auto">
          <a:xfrm>
            <a:off x="5076824" y="3479103"/>
            <a:ext cx="305763" cy="1274762"/>
          </a:xfrm>
          <a:prstGeom prst="leftBrace">
            <a:avLst>
              <a:gd name="adj1" fmla="val 41556"/>
              <a:gd name="adj2" fmla="val 50000"/>
            </a:avLst>
          </a:prstGeom>
          <a:noFill/>
          <a:ln w="19050">
            <a:solidFill>
              <a:srgbClr val="FF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75" name="Rectangle 11"/>
          <p:cNvSpPr>
            <a:spLocks noChangeArrowheads="1"/>
          </p:cNvSpPr>
          <p:nvPr/>
        </p:nvSpPr>
        <p:spPr bwMode="auto">
          <a:xfrm>
            <a:off x="5386226" y="3356992"/>
            <a:ext cx="3184525" cy="1565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ea typeface="微软雅黑" panose="020B0503020204020204" pitchFamily="34" charset="-122"/>
              </a:rPr>
              <a:t>前同步码</a:t>
            </a:r>
            <a:r>
              <a:rPr lang="en-US" altLang="zh-CN" sz="1600" b="1" dirty="0">
                <a:ea typeface="微软雅黑" panose="020B0503020204020204" pitchFamily="34" charset="-122"/>
              </a:rPr>
              <a:t>             </a:t>
            </a:r>
            <a:r>
              <a:rPr lang="zh-CN" altLang="en-US" sz="1600" b="1" dirty="0">
                <a:ea typeface="微软雅黑" panose="020B0503020204020204" pitchFamily="34" charset="-122"/>
              </a:rPr>
              <a:t>同步</a:t>
            </a:r>
            <a:endParaRPr lang="en-US" altLang="zh-CN" sz="1600" b="1" dirty="0"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ea typeface="微软雅黑" panose="020B0503020204020204" pitchFamily="34" charset="-122"/>
              </a:rPr>
              <a:t>MAC</a:t>
            </a:r>
            <a:r>
              <a:rPr lang="zh-CN" altLang="en-US" sz="1600" b="1" dirty="0">
                <a:ea typeface="微软雅黑" panose="020B0503020204020204" pitchFamily="34" charset="-122"/>
              </a:rPr>
              <a:t>地址</a:t>
            </a:r>
            <a:r>
              <a:rPr lang="en-US" altLang="zh-CN" sz="1600" b="1" dirty="0">
                <a:ea typeface="微软雅黑" panose="020B0503020204020204" pitchFamily="34" charset="-122"/>
              </a:rPr>
              <a:t>	6 Bytes×2</a:t>
            </a:r>
            <a:endParaRPr lang="en-US" altLang="zh-CN" sz="1600" b="1" dirty="0"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B050"/>
                </a:solidFill>
                <a:ea typeface="微软雅黑" panose="020B0503020204020204" pitchFamily="34" charset="-122"/>
              </a:rPr>
              <a:t>类别</a:t>
            </a:r>
            <a:r>
              <a:rPr lang="en-US" altLang="zh-CN" sz="1600" b="1" dirty="0">
                <a:ea typeface="微软雅黑" panose="020B0503020204020204" pitchFamily="34" charset="-122"/>
              </a:rPr>
              <a:t>		</a:t>
            </a:r>
            <a:r>
              <a:rPr lang="en-US" altLang="zh-CN" sz="1600" b="1" dirty="0">
                <a:solidFill>
                  <a:srgbClr val="00B050"/>
                </a:solidFill>
                <a:ea typeface="微软雅黑" panose="020B0503020204020204" pitchFamily="34" charset="-122"/>
              </a:rPr>
              <a:t>2 Bytes</a:t>
            </a:r>
            <a:endParaRPr lang="en-US" altLang="zh-CN" sz="16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ea typeface="微软雅黑" panose="020B0503020204020204" pitchFamily="34" charset="-122"/>
              </a:rPr>
              <a:t>Payload</a:t>
            </a:r>
            <a:endParaRPr lang="zh-CN" altLang="en-US" sz="1600" b="1" dirty="0"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B050"/>
                </a:solidFill>
                <a:ea typeface="微软雅黑" panose="020B0503020204020204" pitchFamily="34" charset="-122"/>
              </a:rPr>
              <a:t>检验码</a:t>
            </a:r>
            <a:r>
              <a:rPr lang="en-US" altLang="zh-CN" sz="1600" b="1" dirty="0">
                <a:solidFill>
                  <a:srgbClr val="00B050"/>
                </a:solidFill>
                <a:ea typeface="微软雅黑" panose="020B0503020204020204" pitchFamily="34" charset="-122"/>
              </a:rPr>
              <a:t>		4 Bytes</a:t>
            </a:r>
            <a:endParaRPr lang="zh-CN" altLang="en-US" sz="16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C318A9-F7F2-4912-9DC8-DCA5DD11DFF0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256980" y="2904889"/>
            <a:ext cx="201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以以太网帧为例：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87675" y="1052830"/>
            <a:ext cx="55492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无冲突：</a:t>
            </a:r>
            <a:r>
              <a:rPr lang="en-US" altLang="zh-CN" b="1"/>
              <a:t>partition</a:t>
            </a:r>
            <a:r>
              <a:rPr lang="zh-CN" altLang="en-US" b="1"/>
              <a:t>（</a:t>
            </a:r>
            <a:r>
              <a:rPr lang="en-US" altLang="zh-CN" b="1"/>
              <a:t>FDM   TDM</a:t>
            </a:r>
            <a:r>
              <a:rPr lang="zh-CN" altLang="en-US" b="1"/>
              <a:t>）</a:t>
            </a:r>
            <a:endParaRPr lang="zh-CN" altLang="en-US" b="1"/>
          </a:p>
          <a:p>
            <a:r>
              <a:rPr lang="zh-CN" altLang="en-US" b="1"/>
              <a:t> </a:t>
            </a:r>
            <a:r>
              <a:rPr lang="en-US" altLang="zh-CN" b="1"/>
              <a:t>             </a:t>
            </a:r>
            <a:r>
              <a:rPr lang="zh-CN" altLang="en-US" b="1"/>
              <a:t>排序（</a:t>
            </a:r>
            <a:r>
              <a:rPr lang="en-US" altLang="zh-CN" b="1"/>
              <a:t>Token Ring   FDDI   </a:t>
            </a:r>
            <a:r>
              <a:rPr lang="zh-CN" altLang="en-US" b="1"/>
              <a:t>轮巡</a:t>
            </a:r>
            <a:r>
              <a:rPr lang="en-US" altLang="zh-CN" b="1"/>
              <a:t>polling</a:t>
            </a:r>
            <a:r>
              <a:rPr lang="zh-CN" altLang="en-US" b="1"/>
              <a:t>）</a:t>
            </a:r>
            <a:endParaRPr lang="en-US" altLang="zh-CN" b="1"/>
          </a:p>
        </p:txBody>
      </p:sp>
      <p:sp>
        <p:nvSpPr>
          <p:cNvPr id="7" name="文本框 6"/>
          <p:cNvSpPr txBox="1"/>
          <p:nvPr/>
        </p:nvSpPr>
        <p:spPr>
          <a:xfrm>
            <a:off x="2771775" y="1758315"/>
            <a:ext cx="5057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允许冲突：</a:t>
            </a:r>
            <a:r>
              <a:rPr lang="en-US" altLang="zh-CN"/>
              <a:t>CSMA</a:t>
            </a:r>
            <a:r>
              <a:rPr lang="zh-CN" altLang="en-US"/>
              <a:t>：载波监听，多路访问</a:t>
            </a:r>
            <a:endParaRPr lang="zh-CN" altLang="en-US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8195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8201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8202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8203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8204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8205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8206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971" name="Rectangle 11"/>
          <p:cNvSpPr>
            <a:spLocks noChangeArrowheads="1"/>
          </p:cNvSpPr>
          <p:nvPr/>
        </p:nvSpPr>
        <p:spPr bwMode="auto">
          <a:xfrm>
            <a:off x="3203575" y="3948113"/>
            <a:ext cx="1873250" cy="12747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差错检验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多址访问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复用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)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链路层编址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8197" name="AutoShape 12"/>
          <p:cNvSpPr/>
          <p:nvPr/>
        </p:nvSpPr>
        <p:spPr bwMode="auto">
          <a:xfrm>
            <a:off x="2843213" y="4005263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7" name="Picture 7" descr="525 CRC Example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19800" y="2592299"/>
            <a:ext cx="2928937" cy="35480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0" name="Rectangle 11"/>
          <p:cNvSpPr>
            <a:spLocks noChangeArrowheads="1"/>
          </p:cNvSpPr>
          <p:nvPr/>
        </p:nvSpPr>
        <p:spPr bwMode="auto">
          <a:xfrm>
            <a:off x="5085945" y="4236963"/>
            <a:ext cx="165576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CRC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2A0C1B-086D-498D-9A06-32B5EA3B9715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4044524" y="1759867"/>
            <a:ext cx="3950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给定数据，知道如何计算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给定数据和</a:t>
            </a: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CRC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，知道如何检验</a:t>
            </a:r>
            <a:endParaRPr lang="zh-CN" altLang="en-US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95235" y="1662430"/>
            <a:ext cx="13531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  <a:highlight>
                  <a:srgbClr val="FFFF00"/>
                </a:highlight>
              </a:rPr>
              <a:t>必考</a:t>
            </a:r>
            <a:endParaRPr lang="zh-CN" altLang="en-US" sz="32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7405" y="908685"/>
            <a:ext cx="54489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给定数据</a:t>
            </a:r>
            <a:r>
              <a:rPr lang="en-US" altLang="zh-CN" b="1"/>
              <a:t>D</a:t>
            </a:r>
            <a:r>
              <a:rPr lang="zh-CN" altLang="en-US" b="1"/>
              <a:t>，生成多项式</a:t>
            </a:r>
            <a:r>
              <a:rPr lang="en-US" altLang="zh-CN" b="1"/>
              <a:t>G</a:t>
            </a:r>
            <a:r>
              <a:rPr lang="zh-CN" altLang="en-US" b="1"/>
              <a:t>，计算</a:t>
            </a:r>
            <a:r>
              <a:rPr lang="en-US" altLang="zh-CN" b="1"/>
              <a:t>R</a:t>
            </a:r>
            <a:endParaRPr lang="en-US" altLang="zh-CN" b="1"/>
          </a:p>
          <a:p>
            <a:r>
              <a:rPr lang="zh-CN" altLang="en-US" b="1"/>
              <a:t>注意</a:t>
            </a:r>
            <a:r>
              <a:rPr lang="en-US" altLang="zh-CN" b="1"/>
              <a:t>D</a:t>
            </a:r>
            <a:r>
              <a:rPr lang="zh-CN" altLang="en-US" b="1"/>
              <a:t>后面要补</a:t>
            </a:r>
            <a:r>
              <a:rPr lang="en-US" altLang="zh-CN" b="1"/>
              <a:t>n</a:t>
            </a:r>
            <a:r>
              <a:rPr lang="zh-CN" altLang="en-US" b="1"/>
              <a:t>个</a:t>
            </a:r>
            <a:r>
              <a:rPr lang="en-US" altLang="zh-CN" b="1"/>
              <a:t>0</a:t>
            </a:r>
            <a:r>
              <a:rPr lang="zh-CN" altLang="en-US" b="1"/>
              <a:t>，</a:t>
            </a:r>
            <a:r>
              <a:rPr lang="en-US" altLang="zh-CN" b="1"/>
              <a:t>n</a:t>
            </a:r>
            <a:r>
              <a:rPr lang="zh-CN" altLang="en-US" b="1"/>
              <a:t>个</a:t>
            </a:r>
            <a:r>
              <a:rPr lang="en-US" altLang="zh-CN" b="1"/>
              <a:t>G</a:t>
            </a:r>
            <a:r>
              <a:rPr lang="zh-CN" altLang="en-US" b="1"/>
              <a:t>的最高次数（模</a:t>
            </a:r>
            <a:r>
              <a:rPr lang="en-US" altLang="zh-CN" b="1"/>
              <a:t>2</a:t>
            </a:r>
            <a:r>
              <a:rPr lang="zh-CN" altLang="en-US" b="1"/>
              <a:t>除法）</a:t>
            </a:r>
            <a:endParaRPr lang="zh-CN" altLang="en-US" b="1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9219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9226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9227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9228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9229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9230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9231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971" name="Rectangle 11"/>
          <p:cNvSpPr>
            <a:spLocks noChangeArrowheads="1"/>
          </p:cNvSpPr>
          <p:nvPr/>
        </p:nvSpPr>
        <p:spPr bwMode="auto">
          <a:xfrm>
            <a:off x="3203575" y="3948113"/>
            <a:ext cx="1836738" cy="12747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差错检验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多址访问</a:t>
            </a:r>
            <a:r>
              <a:rPr lang="en-US" altLang="zh-CN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复用</a:t>
            </a:r>
            <a:r>
              <a:rPr lang="en-US" altLang="zh-CN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)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链路层编址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9221" name="AutoShape 12"/>
          <p:cNvSpPr/>
          <p:nvPr/>
        </p:nvSpPr>
        <p:spPr bwMode="auto">
          <a:xfrm>
            <a:off x="2843213" y="4005263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222" name="AutoShape 12"/>
          <p:cNvSpPr/>
          <p:nvPr/>
        </p:nvSpPr>
        <p:spPr bwMode="auto">
          <a:xfrm>
            <a:off x="5076825" y="4292600"/>
            <a:ext cx="215900" cy="900113"/>
          </a:xfrm>
          <a:prstGeom prst="leftBrace">
            <a:avLst>
              <a:gd name="adj1" fmla="val 41556"/>
              <a:gd name="adj2" fmla="val 50000"/>
            </a:avLst>
          </a:prstGeom>
          <a:noFill/>
          <a:ln w="19050">
            <a:solidFill>
              <a:srgbClr val="FF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223" name="Rectangle 11"/>
          <p:cNvSpPr>
            <a:spLocks noChangeArrowheads="1"/>
          </p:cNvSpPr>
          <p:nvPr/>
        </p:nvSpPr>
        <p:spPr bwMode="auto">
          <a:xfrm>
            <a:off x="5275263" y="4221163"/>
            <a:ext cx="1655762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信道划分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B050"/>
                </a:solidFill>
                <a:ea typeface="微软雅黑" panose="020B0503020204020204" pitchFamily="34" charset="-122"/>
              </a:rPr>
              <a:t>随机访问</a:t>
            </a:r>
            <a:endParaRPr lang="zh-CN" altLang="en-US" sz="16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轮流协议</a:t>
            </a:r>
            <a:endParaRPr lang="zh-CN" altLang="en-US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9224" name="Rectangle 11"/>
          <p:cNvSpPr>
            <a:spLocks noChangeArrowheads="1"/>
          </p:cNvSpPr>
          <p:nvPr/>
        </p:nvSpPr>
        <p:spPr bwMode="auto">
          <a:xfrm>
            <a:off x="6702717" y="4155269"/>
            <a:ext cx="2414587" cy="100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00B050"/>
                </a:solidFill>
                <a:ea typeface="微软雅黑" panose="020B0503020204020204" pitchFamily="34" charset="-122"/>
              </a:rPr>
              <a:t>以太网：</a:t>
            </a:r>
            <a:r>
              <a:rPr lang="en-US" altLang="zh-CN" sz="1600" b="1" dirty="0">
                <a:solidFill>
                  <a:srgbClr val="00B050"/>
                </a:solidFill>
                <a:ea typeface="微软雅黑" panose="020B0503020204020204" pitchFamily="34" charset="-122"/>
              </a:rPr>
              <a:t>CSMA/CD</a:t>
            </a:r>
            <a:endParaRPr lang="en-US" altLang="zh-CN" sz="16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  <a:p>
            <a:pPr eaLnBrk="1" hangingPunct="1">
              <a:lnSpc>
                <a:spcPct val="200000"/>
              </a:lnSpc>
              <a:spcBef>
                <a:spcPct val="0"/>
              </a:spcBef>
            </a:pPr>
            <a:r>
              <a:rPr lang="en-US" altLang="zh-CN" sz="1600" b="1" dirty="0" err="1">
                <a:solidFill>
                  <a:srgbClr val="00B050"/>
                </a:solidFill>
                <a:ea typeface="微软雅黑" panose="020B0503020204020204" pitchFamily="34" charset="-122"/>
              </a:rPr>
              <a:t>Wifi</a:t>
            </a:r>
            <a:r>
              <a:rPr lang="en-US" altLang="zh-CN" sz="1600" b="1" dirty="0">
                <a:solidFill>
                  <a:srgbClr val="00B050"/>
                </a:solidFill>
                <a:ea typeface="微软雅黑" panose="020B0503020204020204" pitchFamily="34" charset="-122"/>
              </a:rPr>
              <a:t>	</a:t>
            </a:r>
            <a:r>
              <a:rPr lang="zh-CN" altLang="en-US" sz="1600" b="1" dirty="0">
                <a:solidFill>
                  <a:srgbClr val="00B050"/>
                </a:solidFill>
                <a:ea typeface="微软雅黑" panose="020B0503020204020204" pitchFamily="34" charset="-122"/>
              </a:rPr>
              <a:t>：</a:t>
            </a:r>
            <a:r>
              <a:rPr lang="en-US" altLang="zh-CN" sz="1600" b="1" dirty="0">
                <a:solidFill>
                  <a:srgbClr val="00B050"/>
                </a:solidFill>
                <a:ea typeface="微软雅黑" panose="020B0503020204020204" pitchFamily="34" charset="-122"/>
              </a:rPr>
              <a:t>CSMA/CA</a:t>
            </a:r>
            <a:endParaRPr lang="en-US" altLang="zh-CN" sz="1600" b="1" dirty="0">
              <a:solidFill>
                <a:srgbClr val="00B050"/>
              </a:solidFill>
              <a:ea typeface="微软雅黑" panose="020B0503020204020204" pitchFamily="34" charset="-122"/>
            </a:endParaRPr>
          </a:p>
        </p:txBody>
      </p:sp>
      <p:sp>
        <p:nvSpPr>
          <p:cNvPr id="9225" name="AutoShape 12"/>
          <p:cNvSpPr/>
          <p:nvPr/>
        </p:nvSpPr>
        <p:spPr bwMode="auto">
          <a:xfrm>
            <a:off x="6516688" y="4402138"/>
            <a:ext cx="215900" cy="631825"/>
          </a:xfrm>
          <a:prstGeom prst="leftBrace">
            <a:avLst>
              <a:gd name="adj1" fmla="val 41553"/>
              <a:gd name="adj2" fmla="val 50000"/>
            </a:avLst>
          </a:prstGeom>
          <a:noFill/>
          <a:ln w="19050">
            <a:solidFill>
              <a:srgbClr val="008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B050"/>
              </a:solidFill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DE9115-E052-4A9A-A268-2B9002736458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8095" y="1278927"/>
            <a:ext cx="4871437" cy="23429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>
    <p:cut thruBlk="1"/>
    <p:sndAc>
      <p:stSnd>
        <p:snd r:embed="rId2" name="camera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10243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10248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0249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0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1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2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3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971" name="Rectangle 11"/>
          <p:cNvSpPr>
            <a:spLocks noChangeArrowheads="1"/>
          </p:cNvSpPr>
          <p:nvPr/>
        </p:nvSpPr>
        <p:spPr bwMode="auto">
          <a:xfrm>
            <a:off x="3203575" y="3948113"/>
            <a:ext cx="1792288" cy="1274762"/>
          </a:xfrm>
          <a:prstGeom prst="rect">
            <a:avLst/>
          </a:prstGeom>
          <a:solidFill>
            <a:srgbClr val="0000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差错检验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多址访问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(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复用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)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链路层编址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0245" name="AutoShape 12"/>
          <p:cNvSpPr/>
          <p:nvPr/>
        </p:nvSpPr>
        <p:spPr bwMode="auto">
          <a:xfrm>
            <a:off x="2843213" y="4005263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246" name="Rectangle 11"/>
          <p:cNvSpPr>
            <a:spLocks noChangeArrowheads="1"/>
          </p:cNvSpPr>
          <p:nvPr/>
        </p:nvSpPr>
        <p:spPr bwMode="auto">
          <a:xfrm>
            <a:off x="5244924" y="4601037"/>
            <a:ext cx="2808288" cy="785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MAC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ARP: IP to MAC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10247" name="AutoShape 12"/>
          <p:cNvSpPr/>
          <p:nvPr/>
        </p:nvSpPr>
        <p:spPr bwMode="auto">
          <a:xfrm>
            <a:off x="5067300" y="4794250"/>
            <a:ext cx="215900" cy="504825"/>
          </a:xfrm>
          <a:prstGeom prst="leftBrace">
            <a:avLst>
              <a:gd name="adj1" fmla="val 41558"/>
              <a:gd name="adj2" fmla="val 50000"/>
            </a:avLst>
          </a:prstGeom>
          <a:noFill/>
          <a:ln w="19050">
            <a:solidFill>
              <a:srgbClr val="FF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F6B6AF-9C28-42A7-A3B3-5C16954AF473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11267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11271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1272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73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74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75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76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3203575" y="3481388"/>
            <a:ext cx="1655763" cy="1274762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网际编址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路由选择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子网划分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1269" name="AutoShape 11"/>
          <p:cNvSpPr/>
          <p:nvPr/>
        </p:nvSpPr>
        <p:spPr bwMode="auto">
          <a:xfrm>
            <a:off x="2843213" y="3538538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0032" y="1116120"/>
            <a:ext cx="4074601" cy="22879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26CF2C-0388-43B2-9698-CB30CF9CF051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853216" y="3472767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IPV4</a:t>
            </a:r>
            <a:r>
              <a:rPr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zh-CN" altLang="en-US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282" y="4152402"/>
            <a:ext cx="2467296" cy="1768671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853216" y="5921073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5945" y="1196975"/>
            <a:ext cx="4283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  <a:highlight>
                  <a:srgbClr val="FFFF00"/>
                </a:highlight>
              </a:rPr>
              <a:t>网络层核心功能：路由＋转发</a:t>
            </a:r>
            <a:endParaRPr lang="zh-CN" altLang="en-US" sz="24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cut thruBlk="1"/>
    <p:sndAc>
      <p:stSnd>
        <p:snd r:embed="rId3" name="camera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12291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12299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2300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1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2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3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04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3203575" y="3481388"/>
            <a:ext cx="1655763" cy="1274762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网际编址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路由选择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子网划分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2293" name="AutoShape 11"/>
          <p:cNvSpPr/>
          <p:nvPr/>
        </p:nvSpPr>
        <p:spPr bwMode="auto">
          <a:xfrm>
            <a:off x="2843213" y="3538538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294" name="Rectangle 11"/>
          <p:cNvSpPr>
            <a:spLocks noChangeArrowheads="1"/>
          </p:cNvSpPr>
          <p:nvPr/>
        </p:nvSpPr>
        <p:spPr bwMode="auto">
          <a:xfrm>
            <a:off x="5148263" y="3654425"/>
            <a:ext cx="165576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C00000"/>
                </a:solidFill>
                <a:ea typeface="微软雅黑" panose="020B0503020204020204" pitchFamily="34" charset="-122"/>
              </a:rPr>
              <a:t>IPv4</a:t>
            </a:r>
            <a:r>
              <a:rPr lang="zh-CN" altLang="en-US" sz="1600" b="1" dirty="0">
                <a:solidFill>
                  <a:srgbClr val="C00000"/>
                </a:solidFill>
                <a:ea typeface="微软雅黑" panose="020B0503020204020204" pitchFamily="34" charset="-122"/>
              </a:rPr>
              <a:t>：</a:t>
            </a:r>
            <a:r>
              <a:rPr lang="en-US" altLang="zh-CN" sz="1600" b="1" dirty="0">
                <a:solidFill>
                  <a:srgbClr val="C00000"/>
                </a:solidFill>
                <a:ea typeface="微软雅黑" panose="020B0503020204020204" pitchFamily="34" charset="-122"/>
              </a:rPr>
              <a:t>CIDR</a:t>
            </a:r>
            <a:endParaRPr lang="en-US" altLang="zh-CN" sz="1600" b="1" dirty="0">
              <a:solidFill>
                <a:srgbClr val="C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2295" name="矩形 1"/>
          <p:cNvSpPr>
            <a:spLocks noChangeArrowheads="1"/>
          </p:cNvSpPr>
          <p:nvPr/>
        </p:nvSpPr>
        <p:spPr bwMode="auto">
          <a:xfrm>
            <a:off x="6780213" y="3654425"/>
            <a:ext cx="1057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solidFill>
                  <a:srgbClr val="0066CC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a.b.c.d</a:t>
            </a:r>
            <a:r>
              <a:rPr lang="en-US" altLang="zh-CN" sz="1800" dirty="0">
                <a:solidFill>
                  <a:srgbClr val="0066CC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/x</a:t>
            </a:r>
            <a:endParaRPr lang="zh-CN" altLang="en-US" sz="1800" dirty="0">
              <a:solidFill>
                <a:schemeClr val="tx1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</p:txBody>
      </p:sp>
      <p:sp>
        <p:nvSpPr>
          <p:cNvPr id="12296" name="Rectangle 11"/>
          <p:cNvSpPr>
            <a:spLocks noChangeArrowheads="1"/>
          </p:cNvSpPr>
          <p:nvPr/>
        </p:nvSpPr>
        <p:spPr bwMode="auto">
          <a:xfrm>
            <a:off x="5183188" y="3981436"/>
            <a:ext cx="2413000" cy="36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C00000"/>
                </a:solidFill>
                <a:ea typeface="微软雅黑" panose="020B0503020204020204" pitchFamily="34" charset="-122"/>
              </a:rPr>
              <a:t>NAT</a:t>
            </a:r>
            <a:r>
              <a:rPr lang="zh-CN" altLang="en-US" sz="1600" b="1" dirty="0">
                <a:solidFill>
                  <a:srgbClr val="C00000"/>
                </a:solidFill>
                <a:ea typeface="微软雅黑" panose="020B0503020204020204" pitchFamily="34" charset="-122"/>
              </a:rPr>
              <a:t>：网络地址转换</a:t>
            </a:r>
            <a:endParaRPr lang="en-US" altLang="zh-CN" sz="1600" b="1" dirty="0">
              <a:solidFill>
                <a:srgbClr val="C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2297" name="AutoShape 11"/>
          <p:cNvSpPr/>
          <p:nvPr/>
        </p:nvSpPr>
        <p:spPr bwMode="auto">
          <a:xfrm>
            <a:off x="5003800" y="3481388"/>
            <a:ext cx="215900" cy="704850"/>
          </a:xfrm>
          <a:prstGeom prst="leftBrace">
            <a:avLst>
              <a:gd name="adj1" fmla="val 41655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4088" y="4388074"/>
            <a:ext cx="3604941" cy="18966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055BED-A2DD-48CF-BF6D-2020A041B8B9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5148262" y="3325012"/>
            <a:ext cx="3024137" cy="36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C00000"/>
                </a:solidFill>
                <a:ea typeface="微软雅黑" panose="020B0503020204020204" pitchFamily="34" charset="-122"/>
              </a:rPr>
              <a:t>DHCP: </a:t>
            </a:r>
            <a:r>
              <a:rPr lang="zh-CN" altLang="en-US" sz="1600" b="1" dirty="0">
                <a:solidFill>
                  <a:srgbClr val="C00000"/>
                </a:solidFill>
                <a:ea typeface="微软雅黑" panose="020B0503020204020204" pitchFamily="34" charset="-122"/>
              </a:rPr>
              <a:t>为主机配置地址参数</a:t>
            </a:r>
            <a:endParaRPr lang="en-US" altLang="zh-CN" sz="1600" b="1" dirty="0">
              <a:solidFill>
                <a:srgbClr val="C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19800" y="1814109"/>
            <a:ext cx="2602137" cy="1430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FF0000"/>
                </a:solidFill>
              </a:rPr>
              <a:t>主机的网络层配置参数</a:t>
            </a:r>
            <a:endParaRPr lang="en-US" altLang="zh-CN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IP</a:t>
            </a:r>
            <a:r>
              <a:rPr lang="zh-CN" altLang="en-US" dirty="0">
                <a:solidFill>
                  <a:srgbClr val="FF0000"/>
                </a:solidFill>
              </a:rPr>
              <a:t>地址</a:t>
            </a:r>
            <a:endParaRPr lang="en-US" altLang="zh-CN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默认网关</a:t>
            </a:r>
            <a:r>
              <a:rPr lang="en-US" altLang="zh-CN" dirty="0">
                <a:solidFill>
                  <a:srgbClr val="FF0000"/>
                </a:solidFill>
              </a:rPr>
              <a:t>IP</a:t>
            </a:r>
            <a:endParaRPr lang="en-US" altLang="zh-CN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</a:rPr>
              <a:t>子网掩码</a:t>
            </a:r>
            <a:endParaRPr lang="en-US" altLang="zh-CN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</a:rPr>
              <a:t>DNS Sever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矩形 1"/>
          <p:cNvSpPr>
            <a:spLocks noChangeArrowheads="1"/>
          </p:cNvSpPr>
          <p:nvPr/>
        </p:nvSpPr>
        <p:spPr bwMode="auto">
          <a:xfrm>
            <a:off x="7907337" y="3654425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0066CC"/>
                </a:solidFill>
                <a:highlight>
                  <a:srgbClr val="FFFF00"/>
                </a:highlight>
                <a:latin typeface="黑体" panose="02010609060101010101" pitchFamily="49" charset="-122"/>
              </a:rPr>
              <a:t>子网掩码</a:t>
            </a:r>
            <a:endParaRPr lang="zh-CN" altLang="en-US" sz="1800" dirty="0">
              <a:solidFill>
                <a:schemeClr val="tx1"/>
              </a:solidFill>
              <a:highlight>
                <a:srgbClr val="FFFF00"/>
              </a:highlight>
              <a:latin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87755" y="1052830"/>
            <a:ext cx="7003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分配</a:t>
            </a:r>
            <a:r>
              <a:rPr lang="en-US" altLang="zh-CN" b="1"/>
              <a:t>IP</a:t>
            </a:r>
            <a:r>
              <a:rPr lang="zh-CN" altLang="en-US" b="1"/>
              <a:t>地址：</a:t>
            </a:r>
            <a:r>
              <a:rPr lang="en-US" altLang="zh-CN" b="1"/>
              <a:t>CIDR   DHCP  Subnetting </a:t>
            </a:r>
            <a:endParaRPr lang="en-US" altLang="zh-CN" b="1"/>
          </a:p>
          <a:p>
            <a:r>
              <a:rPr lang="en-US" altLang="zh-CN" b="1"/>
              <a:t>                     NAT</a:t>
            </a:r>
            <a:r>
              <a:rPr lang="zh-CN" altLang="en-US" b="1"/>
              <a:t>（私有地址，</a:t>
            </a:r>
            <a:r>
              <a:rPr lang="en-US" altLang="zh-CN" b="1"/>
              <a:t>IP</a:t>
            </a:r>
            <a:r>
              <a:rPr lang="zh-CN" altLang="en-US" b="1"/>
              <a:t>映射和转化）</a:t>
            </a:r>
            <a:r>
              <a:rPr lang="en-US" altLang="zh-CN" b="1"/>
              <a:t>   IPv6</a:t>
            </a:r>
            <a:endParaRPr lang="en-US" altLang="zh-CN" b="1"/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14339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14345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4346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47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48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49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50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3203575" y="3481388"/>
            <a:ext cx="1655763" cy="1274762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网际编址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路由选择</a:t>
            </a:r>
            <a:endParaRPr lang="en-US" altLang="zh-CN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子网划分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4341" name="AutoShape 11"/>
          <p:cNvSpPr/>
          <p:nvPr/>
        </p:nvSpPr>
        <p:spPr bwMode="auto">
          <a:xfrm>
            <a:off x="4932363" y="3927475"/>
            <a:ext cx="215900" cy="687388"/>
          </a:xfrm>
          <a:prstGeom prst="leftBrace">
            <a:avLst>
              <a:gd name="adj1" fmla="val 41596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5148263" y="3854805"/>
            <a:ext cx="1655762" cy="7870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008000"/>
                </a:solidFill>
                <a:ea typeface="微软雅黑" panose="020B0503020204020204" pitchFamily="34" charset="-122"/>
              </a:rPr>
              <a:t>链路状态</a:t>
            </a:r>
            <a:r>
              <a:rPr lang="en-US" altLang="zh-CN" sz="1600" b="1" dirty="0">
                <a:solidFill>
                  <a:srgbClr val="008000"/>
                </a:solidFill>
                <a:ea typeface="微软雅黑" panose="020B0503020204020204" pitchFamily="34" charset="-122"/>
              </a:rPr>
              <a:t>: </a:t>
            </a:r>
            <a:endParaRPr lang="en-US" altLang="zh-CN" sz="1600" b="1" dirty="0">
              <a:solidFill>
                <a:srgbClr val="008000"/>
              </a:solidFill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008000"/>
                </a:solidFill>
                <a:ea typeface="微软雅黑" panose="020B0503020204020204" pitchFamily="34" charset="-122"/>
              </a:rPr>
              <a:t>距离向量</a:t>
            </a:r>
            <a:r>
              <a:rPr lang="en-US" altLang="zh-CN" sz="1600" b="1" dirty="0">
                <a:solidFill>
                  <a:srgbClr val="008000"/>
                </a:solidFill>
                <a:ea typeface="微软雅黑" panose="020B0503020204020204" pitchFamily="34" charset="-122"/>
              </a:rPr>
              <a:t>: </a:t>
            </a:r>
            <a:endParaRPr lang="en-US" altLang="zh-CN" sz="1600" b="1" dirty="0">
              <a:solidFill>
                <a:srgbClr val="008000"/>
              </a:solidFill>
              <a:ea typeface="微软雅黑" panose="020B0503020204020204" pitchFamily="34" charset="-122"/>
            </a:endParaRPr>
          </a:p>
        </p:txBody>
      </p:sp>
      <p:sp>
        <p:nvSpPr>
          <p:cNvPr id="14343" name="AutoShape 11"/>
          <p:cNvSpPr/>
          <p:nvPr/>
        </p:nvSpPr>
        <p:spPr bwMode="auto">
          <a:xfrm>
            <a:off x="2862263" y="3516313"/>
            <a:ext cx="215900" cy="1203325"/>
          </a:xfrm>
          <a:prstGeom prst="leftBrace">
            <a:avLst>
              <a:gd name="adj1" fmla="val 41543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7720" y="260985"/>
            <a:ext cx="5550535" cy="28987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FFA045-6EA2-4897-9A85-D5167B79F647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004435" y="5085080"/>
            <a:ext cx="3290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路由算法（最佳路径）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9750" y="981075"/>
            <a:ext cx="13531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  <a:highlight>
                  <a:srgbClr val="FFFF00"/>
                </a:highlight>
              </a:rPr>
              <a:t>必考</a:t>
            </a:r>
            <a:endParaRPr lang="zh-CN" altLang="en-US" sz="32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15363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15367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5368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69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70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71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72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3203575" y="3481388"/>
            <a:ext cx="1655763" cy="1274762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网际编址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路由选择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子网划分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5365" name="AutoShape 11"/>
          <p:cNvSpPr/>
          <p:nvPr/>
        </p:nvSpPr>
        <p:spPr bwMode="auto">
          <a:xfrm>
            <a:off x="2862263" y="3516313"/>
            <a:ext cx="215900" cy="1203325"/>
          </a:xfrm>
          <a:prstGeom prst="leftBrace">
            <a:avLst>
              <a:gd name="adj1" fmla="val 41543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1336" y="4876585"/>
            <a:ext cx="5151496" cy="14327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BE8C8C-759B-41C3-8256-A79E18F6005F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416" y="1086110"/>
            <a:ext cx="3456384" cy="3195525"/>
          </a:xfrm>
          <a:prstGeom prst="rect">
            <a:avLst/>
          </a:prstGeom>
        </p:spPr>
      </p:pic>
      <p:sp>
        <p:nvSpPr>
          <p:cNvPr id="270" name="矩形 1"/>
          <p:cNvSpPr>
            <a:spLocks noChangeArrowheads="1"/>
          </p:cNvSpPr>
          <p:nvPr/>
        </p:nvSpPr>
        <p:spPr bwMode="auto">
          <a:xfrm>
            <a:off x="6300192" y="4329492"/>
            <a:ext cx="1057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 err="1">
                <a:solidFill>
                  <a:srgbClr val="0066CC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a.b.c.d</a:t>
            </a:r>
            <a:r>
              <a:rPr lang="en-US" altLang="zh-CN" sz="1800" dirty="0">
                <a:solidFill>
                  <a:srgbClr val="0066CC"/>
                </a:solidFill>
                <a:highlight>
                  <a:srgbClr val="FFFF00"/>
                </a:highlight>
                <a:ea typeface="宋体" panose="02010600030101010101" pitchFamily="2" charset="-122"/>
              </a:rPr>
              <a:t>/x</a:t>
            </a:r>
            <a:endParaRPr lang="zh-CN" altLang="en-US" sz="1800" dirty="0">
              <a:solidFill>
                <a:schemeClr val="tx1"/>
              </a:solidFill>
              <a:highlight>
                <a:srgbClr val="FFFF00"/>
              </a:highlight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ut thruBlk="1"/>
    <p:sndAc>
      <p:stSnd>
        <p:snd r:embed="rId3" name="camera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14339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14345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4346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47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48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49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50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3203575" y="3481388"/>
            <a:ext cx="1655763" cy="1542474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网际编址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路由选择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子网划分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ICMP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4343" name="AutoShape 11"/>
          <p:cNvSpPr/>
          <p:nvPr/>
        </p:nvSpPr>
        <p:spPr bwMode="auto">
          <a:xfrm>
            <a:off x="2862263" y="3516313"/>
            <a:ext cx="215900" cy="1203325"/>
          </a:xfrm>
          <a:prstGeom prst="leftBrace">
            <a:avLst>
              <a:gd name="adj1" fmla="val 41543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DFFA045-6EA2-4897-9A85-D5167B79F647}" type="datetime1">
              <a:rPr lang="zh-CN" altLang="en-US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3968" y="1175019"/>
            <a:ext cx="4715310" cy="22290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9" name="连接符: 肘形 8"/>
          <p:cNvCxnSpPr>
            <a:stCxn id="41994" idx="2"/>
            <a:endCxn id="7" idx="2"/>
          </p:cNvCxnSpPr>
          <p:nvPr/>
        </p:nvCxnSpPr>
        <p:spPr>
          <a:xfrm rot="5400000" flipH="1" flipV="1">
            <a:off x="4526620" y="2908859"/>
            <a:ext cx="1619840" cy="2610166"/>
          </a:xfrm>
          <a:prstGeom prst="bentConnector3">
            <a:avLst>
              <a:gd name="adj1" fmla="val -14113"/>
            </a:avLst>
          </a:prstGeom>
          <a:ln w="28575">
            <a:solidFill>
              <a:srgbClr val="FF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 thruBlk="1"/>
    <p:sndAc>
      <p:stSnd>
        <p:snd r:embed="rId2" name="camera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16387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16391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6392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93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94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95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96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018" name="Rectangle 10"/>
          <p:cNvSpPr>
            <a:spLocks noChangeArrowheads="1"/>
          </p:cNvSpPr>
          <p:nvPr/>
        </p:nvSpPr>
        <p:spPr bwMode="auto">
          <a:xfrm>
            <a:off x="3203575" y="3036888"/>
            <a:ext cx="1655763" cy="1276350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复用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(ports)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可靠传输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拥塞控制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6389" name="AutoShape 11"/>
          <p:cNvSpPr/>
          <p:nvPr/>
        </p:nvSpPr>
        <p:spPr bwMode="auto">
          <a:xfrm>
            <a:off x="2843213" y="3094038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6390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5550" y="1108075"/>
            <a:ext cx="4000500" cy="2452688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F0ED49B-4A72-49C9-9C6F-434954B97FDA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5853216" y="3628171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报文段封装</a:t>
            </a:r>
            <a:endParaRPr lang="zh-CN" altLang="en-US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17411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17418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7419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20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21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22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23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018" name="Rectangle 10"/>
          <p:cNvSpPr>
            <a:spLocks noChangeArrowheads="1"/>
          </p:cNvSpPr>
          <p:nvPr/>
        </p:nvSpPr>
        <p:spPr bwMode="auto">
          <a:xfrm>
            <a:off x="3203575" y="3036888"/>
            <a:ext cx="1655763" cy="1276350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复用</a:t>
            </a:r>
            <a:r>
              <a:rPr lang="en-US" altLang="zh-CN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(ports)</a:t>
            </a:r>
            <a:endParaRPr lang="en-US" altLang="zh-CN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可靠传输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拥塞控制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7413" name="AutoShape 11"/>
          <p:cNvSpPr/>
          <p:nvPr/>
        </p:nvSpPr>
        <p:spPr bwMode="auto">
          <a:xfrm>
            <a:off x="2843213" y="3094038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414" name="AutoShape 11"/>
          <p:cNvSpPr/>
          <p:nvPr/>
        </p:nvSpPr>
        <p:spPr bwMode="auto">
          <a:xfrm>
            <a:off x="4895850" y="3108325"/>
            <a:ext cx="215900" cy="752475"/>
          </a:xfrm>
          <a:prstGeom prst="leftBrace">
            <a:avLst>
              <a:gd name="adj1" fmla="val 41565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415" name="Rectangle 11"/>
          <p:cNvSpPr>
            <a:spLocks noChangeArrowheads="1"/>
          </p:cNvSpPr>
          <p:nvPr/>
        </p:nvSpPr>
        <p:spPr bwMode="auto">
          <a:xfrm>
            <a:off x="5111750" y="2992438"/>
            <a:ext cx="37084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常用端口： </a:t>
            </a:r>
            <a:r>
              <a:rPr lang="en-US" altLang="zh-CN" sz="1600" b="1">
                <a:solidFill>
                  <a:srgbClr val="FF6600"/>
                </a:solidFill>
                <a:ea typeface="微软雅黑" panose="020B0503020204020204" pitchFamily="34" charset="-122"/>
              </a:rPr>
              <a:t>80</a:t>
            </a: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FF6600"/>
                </a:solidFill>
                <a:ea typeface="微软雅黑" panose="020B0503020204020204" pitchFamily="34" charset="-122"/>
              </a:rPr>
              <a:t>20/21</a:t>
            </a: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FF6600"/>
                </a:solidFill>
                <a:ea typeface="微软雅黑" panose="020B0503020204020204" pitchFamily="34" charset="-122"/>
              </a:rPr>
              <a:t>25/110</a:t>
            </a: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FF6600"/>
                </a:solidFill>
                <a:ea typeface="微软雅黑" panose="020B0503020204020204" pitchFamily="34" charset="-122"/>
              </a:rPr>
              <a:t>53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17416" name="Rectangle 11"/>
          <p:cNvSpPr>
            <a:spLocks noChangeArrowheads="1"/>
          </p:cNvSpPr>
          <p:nvPr/>
        </p:nvSpPr>
        <p:spPr bwMode="auto">
          <a:xfrm>
            <a:off x="5111750" y="3303588"/>
            <a:ext cx="16557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>
                <a:solidFill>
                  <a:srgbClr val="FF6600"/>
                </a:solidFill>
                <a:ea typeface="微软雅黑" panose="020B0503020204020204" pitchFamily="34" charset="-122"/>
              </a:rPr>
              <a:t>Socket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17417" name="Rectangle 11"/>
          <p:cNvSpPr>
            <a:spLocks noChangeArrowheads="1"/>
          </p:cNvSpPr>
          <p:nvPr/>
        </p:nvSpPr>
        <p:spPr bwMode="auto">
          <a:xfrm>
            <a:off x="5111750" y="3614738"/>
            <a:ext cx="16557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进程编址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BB3646-8360-4718-8884-DB228E930AF5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18435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18448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8449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50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51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52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53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018" name="Rectangle 10"/>
          <p:cNvSpPr>
            <a:spLocks noChangeArrowheads="1"/>
          </p:cNvSpPr>
          <p:nvPr/>
        </p:nvSpPr>
        <p:spPr bwMode="auto">
          <a:xfrm>
            <a:off x="3203575" y="3036888"/>
            <a:ext cx="1655763" cy="1276350"/>
          </a:xfrm>
          <a:prstGeom prst="rect">
            <a:avLst/>
          </a:prstGeom>
          <a:solidFill>
            <a:srgbClr val="0000FF"/>
          </a:solidFill>
          <a:ln w="9525" algn="ctr">
            <a:solidFill>
              <a:srgbClr val="FF66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复用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(ports)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可靠传输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拥塞控制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8437" name="AutoShape 11"/>
          <p:cNvSpPr/>
          <p:nvPr/>
        </p:nvSpPr>
        <p:spPr bwMode="auto">
          <a:xfrm>
            <a:off x="2843213" y="3094038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438" name="AutoShape 11"/>
          <p:cNvSpPr/>
          <p:nvPr/>
        </p:nvSpPr>
        <p:spPr bwMode="auto">
          <a:xfrm>
            <a:off x="4895850" y="2968625"/>
            <a:ext cx="215900" cy="1755775"/>
          </a:xfrm>
          <a:prstGeom prst="leftBrace">
            <a:avLst>
              <a:gd name="adj1" fmla="val 41528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439" name="Rectangle 11"/>
          <p:cNvSpPr>
            <a:spLocks noChangeArrowheads="1"/>
          </p:cNvSpPr>
          <p:nvPr/>
        </p:nvSpPr>
        <p:spPr bwMode="auto">
          <a:xfrm>
            <a:off x="5111750" y="2852738"/>
            <a:ext cx="1331913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差错检验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18440" name="Rectangle 11"/>
          <p:cNvSpPr>
            <a:spLocks noChangeArrowheads="1"/>
          </p:cNvSpPr>
          <p:nvPr/>
        </p:nvSpPr>
        <p:spPr bwMode="auto">
          <a:xfrm>
            <a:off x="5111750" y="3163888"/>
            <a:ext cx="1655763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重传机制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18441" name="Rectangle 11"/>
          <p:cNvSpPr>
            <a:spLocks noChangeArrowheads="1"/>
          </p:cNvSpPr>
          <p:nvPr/>
        </p:nvSpPr>
        <p:spPr bwMode="auto">
          <a:xfrm>
            <a:off x="5111750" y="3475038"/>
            <a:ext cx="1655763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面向连接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18442" name="Rectangle 11"/>
          <p:cNvSpPr>
            <a:spLocks noChangeArrowheads="1"/>
          </p:cNvSpPr>
          <p:nvPr/>
        </p:nvSpPr>
        <p:spPr bwMode="auto">
          <a:xfrm>
            <a:off x="6624638" y="3046413"/>
            <a:ext cx="165576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GBN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18443" name="AutoShape 11"/>
          <p:cNvSpPr/>
          <p:nvPr/>
        </p:nvSpPr>
        <p:spPr bwMode="auto">
          <a:xfrm>
            <a:off x="6516688" y="3165475"/>
            <a:ext cx="107950" cy="479425"/>
          </a:xfrm>
          <a:prstGeom prst="leftBrace">
            <a:avLst>
              <a:gd name="adj1" fmla="val 4157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444" name="Rectangle 11"/>
          <p:cNvSpPr>
            <a:spLocks noChangeArrowheads="1"/>
          </p:cNvSpPr>
          <p:nvPr/>
        </p:nvSpPr>
        <p:spPr bwMode="auto">
          <a:xfrm>
            <a:off x="6624638" y="3395663"/>
            <a:ext cx="165576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SR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18445" name="Rectangle 11"/>
          <p:cNvSpPr>
            <a:spLocks noChangeArrowheads="1"/>
          </p:cNvSpPr>
          <p:nvPr/>
        </p:nvSpPr>
        <p:spPr bwMode="auto">
          <a:xfrm>
            <a:off x="5111750" y="3800475"/>
            <a:ext cx="1655763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流控制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18446" name="Rectangle 11"/>
          <p:cNvSpPr>
            <a:spLocks noChangeArrowheads="1"/>
          </p:cNvSpPr>
          <p:nvPr/>
        </p:nvSpPr>
        <p:spPr bwMode="auto">
          <a:xfrm>
            <a:off x="5111750" y="4141788"/>
            <a:ext cx="19081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序号和确认号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18447" name="Rectangle 11"/>
          <p:cNvSpPr>
            <a:spLocks noChangeArrowheads="1"/>
          </p:cNvSpPr>
          <p:nvPr/>
        </p:nvSpPr>
        <p:spPr bwMode="auto">
          <a:xfrm>
            <a:off x="5111750" y="4502150"/>
            <a:ext cx="1908175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滑动窗口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D4EEF1-4669-4D97-B782-2BABB6681CBA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39750" y="981075"/>
            <a:ext cx="3644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  <a:highlight>
                  <a:srgbClr val="FFFF00"/>
                </a:highlight>
              </a:rPr>
              <a:t>必考</a:t>
            </a:r>
            <a:r>
              <a:rPr lang="zh-CN" altLang="en-US" sz="1800" b="1">
                <a:solidFill>
                  <a:srgbClr val="FF0000"/>
                </a:solidFill>
                <a:highlight>
                  <a:srgbClr val="FFFF00"/>
                </a:highlight>
              </a:rPr>
              <a:t>（窗口计算）</a:t>
            </a:r>
            <a:endParaRPr lang="zh-CN" altLang="en-US" sz="1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19459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19468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9469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0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1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2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73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3018" name="Rectangle 10"/>
          <p:cNvSpPr>
            <a:spLocks noChangeArrowheads="1"/>
          </p:cNvSpPr>
          <p:nvPr/>
        </p:nvSpPr>
        <p:spPr bwMode="auto">
          <a:xfrm>
            <a:off x="3203575" y="3036888"/>
            <a:ext cx="1655763" cy="1276350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数据封装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复用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(ports)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可靠传输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拥塞控制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19461" name="AutoShape 11"/>
          <p:cNvSpPr/>
          <p:nvPr/>
        </p:nvSpPr>
        <p:spPr bwMode="auto">
          <a:xfrm>
            <a:off x="2843213" y="3094038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469310"/>
            <a:ext cx="3108652" cy="17727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463" name="AutoShape 11"/>
          <p:cNvSpPr/>
          <p:nvPr/>
        </p:nvSpPr>
        <p:spPr bwMode="auto">
          <a:xfrm>
            <a:off x="4932363" y="3489325"/>
            <a:ext cx="215900" cy="1235075"/>
          </a:xfrm>
          <a:prstGeom prst="leftBrace">
            <a:avLst>
              <a:gd name="adj1" fmla="val 41501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464" name="Rectangle 11"/>
          <p:cNvSpPr>
            <a:spLocks noChangeArrowheads="1"/>
          </p:cNvSpPr>
          <p:nvPr/>
        </p:nvSpPr>
        <p:spPr bwMode="auto">
          <a:xfrm>
            <a:off x="5111750" y="3394075"/>
            <a:ext cx="1980530" cy="36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拥塞窗口</a:t>
            </a:r>
            <a:r>
              <a:rPr lang="en-US" altLang="zh-CN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/</a:t>
            </a:r>
            <a:r>
              <a:rPr lang="zh-CN" altLang="en-US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阈值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19465" name="Rectangle 11"/>
          <p:cNvSpPr>
            <a:spLocks noChangeArrowheads="1"/>
          </p:cNvSpPr>
          <p:nvPr/>
        </p:nvSpPr>
        <p:spPr bwMode="auto">
          <a:xfrm>
            <a:off x="5473302" y="3721100"/>
            <a:ext cx="1331913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FF0000"/>
                </a:solidFill>
                <a:ea typeface="微软雅黑" panose="020B0503020204020204" pitchFamily="34" charset="-122"/>
              </a:rPr>
              <a:t>慢启动</a:t>
            </a:r>
            <a:endParaRPr lang="en-US" altLang="zh-CN" sz="1600" b="1" dirty="0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9466" name="Rectangle 11"/>
          <p:cNvSpPr>
            <a:spLocks noChangeArrowheads="1"/>
          </p:cNvSpPr>
          <p:nvPr/>
        </p:nvSpPr>
        <p:spPr bwMode="auto">
          <a:xfrm>
            <a:off x="5473302" y="4081463"/>
            <a:ext cx="13319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 dirty="0">
                <a:solidFill>
                  <a:srgbClr val="FF0000"/>
                </a:solidFill>
                <a:ea typeface="微软雅黑" panose="020B0503020204020204" pitchFamily="34" charset="-122"/>
              </a:rPr>
              <a:t>拥塞避免</a:t>
            </a:r>
            <a:endParaRPr lang="en-US" altLang="zh-CN" sz="1600" b="1" dirty="0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5473302" y="4421188"/>
            <a:ext cx="133191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>
                <a:solidFill>
                  <a:srgbClr val="FF0000"/>
                </a:solidFill>
                <a:ea typeface="微软雅黑" panose="020B0503020204020204" pitchFamily="34" charset="-122"/>
              </a:rPr>
              <a:t>快回复</a:t>
            </a:r>
            <a:endParaRPr lang="en-US" altLang="zh-CN" sz="1600" b="1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8424AA-71AB-4D8A-9A41-7F5BA52F09C0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39750" y="981075"/>
            <a:ext cx="3644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  <a:highlight>
                  <a:srgbClr val="FFFF00"/>
                </a:highlight>
              </a:rPr>
              <a:t>必考</a:t>
            </a:r>
            <a:endParaRPr lang="zh-CN" altLang="en-US" sz="1800"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>
    <p:cut thruBlk="1"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20483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20496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0497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98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99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00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01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044" name="Rectangle 12"/>
          <p:cNvSpPr>
            <a:spLocks noChangeArrowheads="1"/>
          </p:cNvSpPr>
          <p:nvPr/>
        </p:nvSpPr>
        <p:spPr bwMode="auto">
          <a:xfrm>
            <a:off x="3203575" y="2205038"/>
            <a:ext cx="1655763" cy="1570037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消息封装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C/S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，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P2P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应用协议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常用端口号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Socket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0487" name="AutoShape 13"/>
          <p:cNvSpPr/>
          <p:nvPr/>
        </p:nvSpPr>
        <p:spPr bwMode="auto">
          <a:xfrm>
            <a:off x="2930525" y="2305050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B299F8-5D20-4809-8B6C-997976B14A0D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20483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20496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0497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98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99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00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01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044" name="Rectangle 12"/>
          <p:cNvSpPr>
            <a:spLocks noChangeArrowheads="1"/>
          </p:cNvSpPr>
          <p:nvPr/>
        </p:nvSpPr>
        <p:spPr bwMode="auto">
          <a:xfrm>
            <a:off x="3203575" y="2205038"/>
            <a:ext cx="1655763" cy="1570037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消息封装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C/S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，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P2P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应用协议</a:t>
            </a:r>
            <a:endParaRPr lang="zh-CN" altLang="en-US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常用端口号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Socket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0485" name="AutoShape 13"/>
          <p:cNvSpPr/>
          <p:nvPr/>
        </p:nvSpPr>
        <p:spPr bwMode="auto">
          <a:xfrm>
            <a:off x="4997450" y="2125663"/>
            <a:ext cx="215900" cy="1652587"/>
          </a:xfrm>
          <a:prstGeom prst="leftBrace">
            <a:avLst>
              <a:gd name="adj1" fmla="val 41532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486" name="Rectangle 11"/>
          <p:cNvSpPr>
            <a:spLocks noChangeArrowheads="1"/>
          </p:cNvSpPr>
          <p:nvPr/>
        </p:nvSpPr>
        <p:spPr bwMode="auto">
          <a:xfrm>
            <a:off x="5183188" y="1989138"/>
            <a:ext cx="13335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>
                <a:solidFill>
                  <a:srgbClr val="FF6600"/>
                </a:solidFill>
                <a:ea typeface="微软雅黑" panose="020B0503020204020204" pitchFamily="34" charset="-122"/>
              </a:rPr>
              <a:t>HTTP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0487" name="AutoShape 13"/>
          <p:cNvSpPr/>
          <p:nvPr/>
        </p:nvSpPr>
        <p:spPr bwMode="auto">
          <a:xfrm>
            <a:off x="2930525" y="2305050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488" name="AutoShape 13"/>
          <p:cNvSpPr/>
          <p:nvPr/>
        </p:nvSpPr>
        <p:spPr bwMode="auto">
          <a:xfrm>
            <a:off x="6156325" y="1474788"/>
            <a:ext cx="215900" cy="1123950"/>
          </a:xfrm>
          <a:prstGeom prst="leftBrace">
            <a:avLst>
              <a:gd name="adj1" fmla="val 41527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489" name="Rectangle 11"/>
          <p:cNvSpPr>
            <a:spLocks noChangeArrowheads="1"/>
          </p:cNvSpPr>
          <p:nvPr/>
        </p:nvSpPr>
        <p:spPr bwMode="auto">
          <a:xfrm>
            <a:off x="5183188" y="2900363"/>
            <a:ext cx="13335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FTP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0490" name="Rectangle 11"/>
          <p:cNvSpPr>
            <a:spLocks noChangeArrowheads="1"/>
          </p:cNvSpPr>
          <p:nvPr/>
        </p:nvSpPr>
        <p:spPr bwMode="auto">
          <a:xfrm>
            <a:off x="6392863" y="1690688"/>
            <a:ext cx="13335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请求</a:t>
            </a:r>
            <a:r>
              <a:rPr lang="en-US" altLang="zh-CN" sz="1600" b="1">
                <a:solidFill>
                  <a:srgbClr val="FF6600"/>
                </a:solidFill>
                <a:ea typeface="微软雅黑" panose="020B0503020204020204" pitchFamily="34" charset="-122"/>
              </a:rPr>
              <a:t>/</a:t>
            </a: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响应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0491" name="Rectangle 11"/>
          <p:cNvSpPr>
            <a:spLocks noChangeArrowheads="1"/>
          </p:cNvSpPr>
          <p:nvPr/>
        </p:nvSpPr>
        <p:spPr bwMode="auto">
          <a:xfrm>
            <a:off x="6392863" y="2051050"/>
            <a:ext cx="192405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>
                <a:solidFill>
                  <a:srgbClr val="FF6600"/>
                </a:solidFill>
                <a:ea typeface="微软雅黑" panose="020B0503020204020204" pitchFamily="34" charset="-122"/>
              </a:rPr>
              <a:t>Header Lines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0492" name="Rectangle 11"/>
          <p:cNvSpPr>
            <a:spLocks noChangeArrowheads="1"/>
          </p:cNvSpPr>
          <p:nvPr/>
        </p:nvSpPr>
        <p:spPr bwMode="auto">
          <a:xfrm>
            <a:off x="6392863" y="2409825"/>
            <a:ext cx="192405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条件</a:t>
            </a:r>
            <a:r>
              <a:rPr lang="en-US" altLang="zh-CN" sz="1600" b="1">
                <a:solidFill>
                  <a:srgbClr val="FF6600"/>
                </a:solidFill>
                <a:ea typeface="微软雅黑" panose="020B0503020204020204" pitchFamily="34" charset="-122"/>
              </a:rPr>
              <a:t>Get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0493" name="Rectangle 11"/>
          <p:cNvSpPr>
            <a:spLocks noChangeArrowheads="1"/>
          </p:cNvSpPr>
          <p:nvPr/>
        </p:nvSpPr>
        <p:spPr bwMode="auto">
          <a:xfrm>
            <a:off x="5183188" y="3238500"/>
            <a:ext cx="1836737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SMTP/POP3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0494" name="Rectangle 11"/>
          <p:cNvSpPr>
            <a:spLocks noChangeArrowheads="1"/>
          </p:cNvSpPr>
          <p:nvPr/>
        </p:nvSpPr>
        <p:spPr bwMode="auto">
          <a:xfrm>
            <a:off x="5183188" y="3563938"/>
            <a:ext cx="1836737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>
                <a:solidFill>
                  <a:srgbClr val="FF6600"/>
                </a:solidFill>
                <a:ea typeface="微软雅黑" panose="020B0503020204020204" pitchFamily="34" charset="-122"/>
              </a:rPr>
              <a:t>DNS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0495" name="Rectangle 11"/>
          <p:cNvSpPr>
            <a:spLocks noChangeArrowheads="1"/>
          </p:cNvSpPr>
          <p:nvPr/>
        </p:nvSpPr>
        <p:spPr bwMode="auto">
          <a:xfrm>
            <a:off x="6392863" y="1341438"/>
            <a:ext cx="13335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1600" b="1">
                <a:solidFill>
                  <a:srgbClr val="FF6600"/>
                </a:solidFill>
                <a:ea typeface="微软雅黑" panose="020B0503020204020204" pitchFamily="34" charset="-122"/>
              </a:rPr>
              <a:t>无状态</a:t>
            </a:r>
            <a:endParaRPr lang="en-US" altLang="zh-CN" sz="1600" b="1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B299F8-5D20-4809-8B6C-997976B14A0D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20483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20496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0497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98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99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00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01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044" name="Rectangle 12"/>
          <p:cNvSpPr>
            <a:spLocks noChangeArrowheads="1"/>
          </p:cNvSpPr>
          <p:nvPr/>
        </p:nvSpPr>
        <p:spPr bwMode="auto">
          <a:xfrm>
            <a:off x="3203575" y="2205038"/>
            <a:ext cx="1655763" cy="1570037"/>
          </a:xfrm>
          <a:prstGeom prst="rect">
            <a:avLst/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消息封装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C/S</a:t>
            </a: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，</a:t>
            </a:r>
            <a:r>
              <a:rPr lang="en-US" altLang="zh-CN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P2P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应用协议</a:t>
            </a:r>
            <a:endParaRPr lang="zh-CN" altLang="en-US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常用端口号</a:t>
            </a:r>
            <a:endParaRPr lang="en-US" altLang="zh-CN" sz="1600" b="1" dirty="0">
              <a:solidFill>
                <a:srgbClr val="FFFFCC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FF66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</a:rPr>
              <a:t>Socket</a:t>
            </a:r>
            <a:endParaRPr lang="en-US" altLang="zh-CN" sz="1600" b="1" dirty="0">
              <a:solidFill>
                <a:srgbClr val="FF66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0487" name="AutoShape 13"/>
          <p:cNvSpPr/>
          <p:nvPr/>
        </p:nvSpPr>
        <p:spPr bwMode="auto">
          <a:xfrm>
            <a:off x="2930525" y="2305050"/>
            <a:ext cx="215900" cy="1076325"/>
          </a:xfrm>
          <a:prstGeom prst="leftBrace">
            <a:avLst>
              <a:gd name="adj1" fmla="val 41544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B299F8-5D20-4809-8B6C-997976B14A0D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  <p:sp>
        <p:nvSpPr>
          <p:cNvPr id="25" name="AutoShape 13"/>
          <p:cNvSpPr/>
          <p:nvPr/>
        </p:nvSpPr>
        <p:spPr bwMode="auto">
          <a:xfrm>
            <a:off x="4934768" y="3142251"/>
            <a:ext cx="288677" cy="958235"/>
          </a:xfrm>
          <a:prstGeom prst="leftBrace">
            <a:avLst>
              <a:gd name="adj1" fmla="val 41532"/>
              <a:gd name="adj2" fmla="val 50000"/>
            </a:avLst>
          </a:prstGeom>
          <a:noFill/>
          <a:ln w="19050">
            <a:solidFill>
              <a:srgbClr val="00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5223444" y="3084870"/>
            <a:ext cx="2660924" cy="36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TCP Socket: </a:t>
            </a:r>
            <a:r>
              <a:rPr lang="zh-CN" altLang="en-US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四元组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  <p:sp>
        <p:nvSpPr>
          <p:cNvPr id="27" name="Rectangle 11"/>
          <p:cNvSpPr>
            <a:spLocks noChangeArrowheads="1"/>
          </p:cNvSpPr>
          <p:nvPr/>
        </p:nvSpPr>
        <p:spPr bwMode="auto">
          <a:xfrm>
            <a:off x="5223445" y="3748445"/>
            <a:ext cx="2660923" cy="36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8605"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625475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UDP Socket</a:t>
            </a:r>
            <a:r>
              <a:rPr lang="zh-CN" altLang="en-US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：二元组</a:t>
            </a:r>
            <a:r>
              <a:rPr lang="en-US" altLang="zh-CN" sz="1600" b="1" dirty="0">
                <a:solidFill>
                  <a:srgbClr val="FF6600"/>
                </a:solidFill>
                <a:ea typeface="微软雅黑" panose="020B0503020204020204" pitchFamily="34" charset="-122"/>
              </a:rPr>
              <a:t> </a:t>
            </a:r>
            <a:endParaRPr lang="en-US" altLang="zh-CN" sz="1600" b="1" dirty="0">
              <a:solidFill>
                <a:srgbClr val="FF6600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21507" name="Group 5"/>
          <p:cNvGrpSpPr/>
          <p:nvPr/>
        </p:nvGrpSpPr>
        <p:grpSpPr bwMode="auto">
          <a:xfrm>
            <a:off x="1042988" y="2133600"/>
            <a:ext cx="1727200" cy="3024188"/>
            <a:chOff x="431" y="1172"/>
            <a:chExt cx="1356" cy="2071"/>
          </a:xfrm>
        </p:grpSpPr>
        <p:sp>
          <p:nvSpPr>
            <p:cNvPr id="21535" name="Rectangle 6"/>
            <p:cNvSpPr>
              <a:spLocks noChangeArrowheads="1"/>
            </p:cNvSpPr>
            <p:nvPr/>
          </p:nvSpPr>
          <p:spPr bwMode="auto">
            <a:xfrm>
              <a:off x="466" y="1172"/>
              <a:ext cx="1321" cy="204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400" b="1">
                <a:solidFill>
                  <a:schemeClr val="tx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1536" name="Rectangle 7"/>
            <p:cNvSpPr>
              <a:spLocks noChangeArrowheads="1"/>
            </p:cNvSpPr>
            <p:nvPr/>
          </p:nvSpPr>
          <p:spPr bwMode="auto">
            <a:xfrm>
              <a:off x="431" y="1207"/>
              <a:ext cx="1319" cy="83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应用层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37" name="Rectangle 8"/>
            <p:cNvSpPr>
              <a:spLocks noChangeArrowheads="1"/>
            </p:cNvSpPr>
            <p:nvPr/>
          </p:nvSpPr>
          <p:spPr bwMode="auto">
            <a:xfrm>
              <a:off x="431" y="2100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传输层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38" name="Rectangle 9"/>
            <p:cNvSpPr>
              <a:spLocks noChangeArrowheads="1"/>
            </p:cNvSpPr>
            <p:nvPr/>
          </p:nvSpPr>
          <p:spPr bwMode="auto">
            <a:xfrm>
              <a:off x="431" y="24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网络层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39" name="Rectangle 10"/>
            <p:cNvSpPr>
              <a:spLocks noChangeArrowheads="1"/>
            </p:cNvSpPr>
            <p:nvPr/>
          </p:nvSpPr>
          <p:spPr bwMode="auto">
            <a:xfrm>
              <a:off x="431" y="27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数据链路层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40" name="Rectangle 11"/>
            <p:cNvSpPr>
              <a:spLocks noChangeArrowheads="1"/>
            </p:cNvSpPr>
            <p:nvPr/>
          </p:nvSpPr>
          <p:spPr bwMode="auto">
            <a:xfrm>
              <a:off x="431" y="3001"/>
              <a:ext cx="1319" cy="2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rgbClr val="0000FF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600">
                  <a:solidFill>
                    <a:srgbClr val="990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rgbClr val="008000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0000"/>
                  </a:solidFill>
                  <a:latin typeface="黑体" panose="02010609060101010101" pitchFamily="49" charset="-122"/>
                  <a:ea typeface="微软雅黑" panose="020B0503020204020204" pitchFamily="34" charset="-122"/>
                </a:rPr>
                <a:t>物理层</a:t>
              </a:r>
              <a:endParaRPr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508" name="Line 12"/>
          <p:cNvSpPr>
            <a:spLocks noChangeShapeType="1"/>
          </p:cNvSpPr>
          <p:nvPr/>
        </p:nvSpPr>
        <p:spPr bwMode="auto">
          <a:xfrm>
            <a:off x="4140200" y="1341438"/>
            <a:ext cx="0" cy="4392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9" name="Line 13"/>
          <p:cNvSpPr>
            <a:spLocks noChangeShapeType="1"/>
          </p:cNvSpPr>
          <p:nvPr/>
        </p:nvSpPr>
        <p:spPr bwMode="auto">
          <a:xfrm>
            <a:off x="5508625" y="1341438"/>
            <a:ext cx="0" cy="4392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0" name="Line 14"/>
          <p:cNvSpPr>
            <a:spLocks noChangeShapeType="1"/>
          </p:cNvSpPr>
          <p:nvPr/>
        </p:nvSpPr>
        <p:spPr bwMode="auto">
          <a:xfrm>
            <a:off x="6877050" y="1341438"/>
            <a:ext cx="0" cy="4392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1" name="Line 15"/>
          <p:cNvSpPr>
            <a:spLocks noChangeShapeType="1"/>
          </p:cNvSpPr>
          <p:nvPr/>
        </p:nvSpPr>
        <p:spPr bwMode="auto">
          <a:xfrm>
            <a:off x="8172450" y="1341438"/>
            <a:ext cx="0" cy="4392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2" name="Line 16"/>
          <p:cNvSpPr>
            <a:spLocks noChangeShapeType="1"/>
          </p:cNvSpPr>
          <p:nvPr/>
        </p:nvSpPr>
        <p:spPr bwMode="auto">
          <a:xfrm>
            <a:off x="3276600" y="1989138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3" name="Line 17"/>
          <p:cNvSpPr>
            <a:spLocks noChangeShapeType="1"/>
          </p:cNvSpPr>
          <p:nvPr/>
        </p:nvSpPr>
        <p:spPr bwMode="auto">
          <a:xfrm>
            <a:off x="3276600" y="3429000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4" name="Line 18"/>
          <p:cNvSpPr>
            <a:spLocks noChangeShapeType="1"/>
          </p:cNvSpPr>
          <p:nvPr/>
        </p:nvSpPr>
        <p:spPr bwMode="auto">
          <a:xfrm>
            <a:off x="3276600" y="3933825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Line 19"/>
          <p:cNvSpPr>
            <a:spLocks noChangeShapeType="1"/>
          </p:cNvSpPr>
          <p:nvPr/>
        </p:nvSpPr>
        <p:spPr bwMode="auto">
          <a:xfrm>
            <a:off x="3276600" y="4365625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Line 20"/>
          <p:cNvSpPr>
            <a:spLocks noChangeShapeType="1"/>
          </p:cNvSpPr>
          <p:nvPr/>
        </p:nvSpPr>
        <p:spPr bwMode="auto">
          <a:xfrm>
            <a:off x="3276600" y="4752975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8" name="Rectangle 22"/>
          <p:cNvSpPr>
            <a:spLocks noChangeArrowheads="1"/>
          </p:cNvSpPr>
          <p:nvPr/>
        </p:nvSpPr>
        <p:spPr bwMode="auto">
          <a:xfrm>
            <a:off x="3275013" y="1484313"/>
            <a:ext cx="792162" cy="38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PDU</a:t>
            </a:r>
            <a:endParaRPr lang="en-US" altLang="zh-CN" sz="1600" b="1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79" name="Rectangle 23"/>
          <p:cNvSpPr>
            <a:spLocks noChangeArrowheads="1"/>
          </p:cNvSpPr>
          <p:nvPr/>
        </p:nvSpPr>
        <p:spPr bwMode="auto">
          <a:xfrm>
            <a:off x="4284663" y="1484313"/>
            <a:ext cx="792162" cy="38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编址</a:t>
            </a:r>
            <a:endParaRPr lang="zh-CN" altLang="en-US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80" name="Rectangle 24"/>
          <p:cNvSpPr>
            <a:spLocks noChangeArrowheads="1"/>
          </p:cNvSpPr>
          <p:nvPr/>
        </p:nvSpPr>
        <p:spPr bwMode="auto">
          <a:xfrm>
            <a:off x="5508625" y="1484313"/>
            <a:ext cx="1223963" cy="38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差错检验</a:t>
            </a:r>
            <a:endParaRPr lang="zh-CN" altLang="en-US" sz="1600" b="1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81" name="Rectangle 25"/>
          <p:cNvSpPr>
            <a:spLocks noChangeArrowheads="1"/>
          </p:cNvSpPr>
          <p:nvPr/>
        </p:nvSpPr>
        <p:spPr bwMode="auto">
          <a:xfrm>
            <a:off x="2870200" y="2565400"/>
            <a:ext cx="1225550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Message</a:t>
            </a:r>
            <a:endParaRPr lang="en-US" altLang="zh-CN" sz="1600" b="1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82" name="Rectangle 26"/>
          <p:cNvSpPr>
            <a:spLocks noChangeArrowheads="1"/>
          </p:cNvSpPr>
          <p:nvPr/>
        </p:nvSpPr>
        <p:spPr bwMode="auto">
          <a:xfrm>
            <a:off x="2870200" y="3500438"/>
            <a:ext cx="1225550" cy="38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Segment</a:t>
            </a:r>
            <a:endParaRPr lang="en-US" altLang="zh-CN" sz="1600" b="1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83" name="Rectangle 27"/>
          <p:cNvSpPr>
            <a:spLocks noChangeArrowheads="1"/>
          </p:cNvSpPr>
          <p:nvPr/>
        </p:nvSpPr>
        <p:spPr bwMode="auto">
          <a:xfrm>
            <a:off x="2827338" y="3933825"/>
            <a:ext cx="1468437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Datagram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85" name="Rectangle 29"/>
          <p:cNvSpPr>
            <a:spLocks noChangeArrowheads="1"/>
          </p:cNvSpPr>
          <p:nvPr/>
        </p:nvSpPr>
        <p:spPr bwMode="auto">
          <a:xfrm>
            <a:off x="3059113" y="4365625"/>
            <a:ext cx="1008062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Frame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86" name="Rectangle 30"/>
          <p:cNvSpPr>
            <a:spLocks noChangeArrowheads="1"/>
          </p:cNvSpPr>
          <p:nvPr/>
        </p:nvSpPr>
        <p:spPr bwMode="auto">
          <a:xfrm>
            <a:off x="4141788" y="3243263"/>
            <a:ext cx="12255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Port #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87" name="Rectangle 31"/>
          <p:cNvSpPr>
            <a:spLocks noChangeArrowheads="1"/>
          </p:cNvSpPr>
          <p:nvPr/>
        </p:nvSpPr>
        <p:spPr bwMode="auto">
          <a:xfrm>
            <a:off x="4140200" y="3933825"/>
            <a:ext cx="12255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IP Add.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88" name="Rectangle 32"/>
          <p:cNvSpPr>
            <a:spLocks noChangeArrowheads="1"/>
          </p:cNvSpPr>
          <p:nvPr/>
        </p:nvSpPr>
        <p:spPr bwMode="auto">
          <a:xfrm>
            <a:off x="4140200" y="4365625"/>
            <a:ext cx="1368425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MAC Add.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89" name="Rectangle 33"/>
          <p:cNvSpPr>
            <a:spLocks noChangeArrowheads="1"/>
          </p:cNvSpPr>
          <p:nvPr/>
        </p:nvSpPr>
        <p:spPr bwMode="auto">
          <a:xfrm>
            <a:off x="5508625" y="3500438"/>
            <a:ext cx="1511300" cy="38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Checksum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90" name="Rectangle 34"/>
          <p:cNvSpPr>
            <a:spLocks noChangeArrowheads="1"/>
          </p:cNvSpPr>
          <p:nvPr/>
        </p:nvSpPr>
        <p:spPr bwMode="auto">
          <a:xfrm>
            <a:off x="5508625" y="4005263"/>
            <a:ext cx="1511300" cy="38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Checksum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91" name="Rectangle 35"/>
          <p:cNvSpPr>
            <a:spLocks noChangeArrowheads="1"/>
          </p:cNvSpPr>
          <p:nvPr/>
        </p:nvSpPr>
        <p:spPr bwMode="auto">
          <a:xfrm>
            <a:off x="5508625" y="4365625"/>
            <a:ext cx="1511300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CRC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92" name="Rectangle 36"/>
          <p:cNvSpPr>
            <a:spLocks noChangeArrowheads="1"/>
          </p:cNvSpPr>
          <p:nvPr/>
        </p:nvSpPr>
        <p:spPr bwMode="auto">
          <a:xfrm>
            <a:off x="6877050" y="1484313"/>
            <a:ext cx="1223963" cy="38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zh-CN" altLang="en-US" sz="1600" b="1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地址转换</a:t>
            </a:r>
            <a:endParaRPr lang="zh-CN" altLang="en-US" sz="1600" b="1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93" name="Rectangle 37"/>
          <p:cNvSpPr>
            <a:spLocks noChangeArrowheads="1"/>
          </p:cNvSpPr>
          <p:nvPr/>
        </p:nvSpPr>
        <p:spPr bwMode="auto">
          <a:xfrm>
            <a:off x="6877050" y="2636838"/>
            <a:ext cx="1223963" cy="38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DNS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96" name="Rectangle 40"/>
          <p:cNvSpPr>
            <a:spLocks noChangeArrowheads="1"/>
          </p:cNvSpPr>
          <p:nvPr/>
        </p:nvSpPr>
        <p:spPr bwMode="auto">
          <a:xfrm>
            <a:off x="6877050" y="4365625"/>
            <a:ext cx="1223963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ARP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98" name="Rectangle 42"/>
          <p:cNvSpPr>
            <a:spLocks noChangeArrowheads="1"/>
          </p:cNvSpPr>
          <p:nvPr/>
        </p:nvSpPr>
        <p:spPr bwMode="auto">
          <a:xfrm>
            <a:off x="6877050" y="3716338"/>
            <a:ext cx="1223963" cy="38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NAT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45099" name="Rectangle 43"/>
          <p:cNvSpPr>
            <a:spLocks noChangeArrowheads="1"/>
          </p:cNvSpPr>
          <p:nvPr/>
        </p:nvSpPr>
        <p:spPr bwMode="auto">
          <a:xfrm>
            <a:off x="2700338" y="4813300"/>
            <a:ext cx="1800225" cy="38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68605" defTabSz="7143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25475" defTabSz="7143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7143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7143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7143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7143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7143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7143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7143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  <a:defRPr/>
            </a:pPr>
            <a:r>
              <a:rPr lang="en-US" altLang="zh-CN" sz="1600" b="1" dirty="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微软雅黑" panose="020B0503020204020204" pitchFamily="34" charset="-122"/>
              </a:rPr>
              <a:t>Bit Stream</a:t>
            </a:r>
            <a:endParaRPr lang="en-US" altLang="zh-CN" sz="1600" b="1" dirty="0">
              <a:solidFill>
                <a:srgbClr val="0066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微软雅黑" panose="020B0503020204020204" pitchFamily="34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6C7739-470C-423B-B2E4-50679118AE90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b="1"/>
              <a:t>Review</a:t>
            </a:r>
            <a:endParaRPr lang="en-US" altLang="zh-CN" b="1"/>
          </a:p>
        </p:txBody>
      </p:sp>
      <p:grpSp>
        <p:nvGrpSpPr>
          <p:cNvPr id="22531" name="Group 52"/>
          <p:cNvGrpSpPr/>
          <p:nvPr/>
        </p:nvGrpSpPr>
        <p:grpSpPr bwMode="auto">
          <a:xfrm>
            <a:off x="839788" y="2909888"/>
            <a:ext cx="7750175" cy="3219450"/>
            <a:chOff x="1327" y="1697"/>
            <a:chExt cx="3014" cy="2028"/>
          </a:xfrm>
        </p:grpSpPr>
        <p:sp>
          <p:nvSpPr>
            <p:cNvPr id="22560" name="Line 53"/>
            <p:cNvSpPr>
              <a:spLocks noChangeShapeType="1"/>
            </p:cNvSpPr>
            <p:nvPr/>
          </p:nvSpPr>
          <p:spPr bwMode="auto">
            <a:xfrm>
              <a:off x="1327" y="1697"/>
              <a:ext cx="30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1" name="Line 54"/>
            <p:cNvSpPr>
              <a:spLocks noChangeShapeType="1"/>
            </p:cNvSpPr>
            <p:nvPr/>
          </p:nvSpPr>
          <p:spPr bwMode="auto">
            <a:xfrm>
              <a:off x="1327" y="2373"/>
              <a:ext cx="30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2" name="Line 55"/>
            <p:cNvSpPr>
              <a:spLocks noChangeShapeType="1"/>
            </p:cNvSpPr>
            <p:nvPr/>
          </p:nvSpPr>
          <p:spPr bwMode="auto">
            <a:xfrm>
              <a:off x="1327" y="3074"/>
              <a:ext cx="30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3" name="Line 56"/>
            <p:cNvSpPr>
              <a:spLocks noChangeShapeType="1"/>
            </p:cNvSpPr>
            <p:nvPr/>
          </p:nvSpPr>
          <p:spPr bwMode="auto">
            <a:xfrm>
              <a:off x="1327" y="3725"/>
              <a:ext cx="30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32" name="Rectangle 61"/>
          <p:cNvSpPr>
            <a:spLocks noChangeArrowheads="1"/>
          </p:cNvSpPr>
          <p:nvPr/>
        </p:nvSpPr>
        <p:spPr bwMode="auto">
          <a:xfrm>
            <a:off x="3067050" y="2481263"/>
            <a:ext cx="808038" cy="292100"/>
          </a:xfrm>
          <a:prstGeom prst="rect">
            <a:avLst/>
          </a:prstGeom>
          <a:solidFill>
            <a:srgbClr val="FFFF00"/>
          </a:solidFill>
          <a:ln w="19050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HTTP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3" name="Rectangle 62"/>
          <p:cNvSpPr>
            <a:spLocks noChangeArrowheads="1"/>
          </p:cNvSpPr>
          <p:nvPr/>
        </p:nvSpPr>
        <p:spPr bwMode="auto">
          <a:xfrm>
            <a:off x="4149725" y="2481263"/>
            <a:ext cx="569913" cy="292100"/>
          </a:xfrm>
          <a:prstGeom prst="rect">
            <a:avLst/>
          </a:prstGeom>
          <a:solidFill>
            <a:srgbClr val="FFFF00"/>
          </a:solidFill>
          <a:ln w="19050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FTP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4" name="Rectangle 63"/>
          <p:cNvSpPr>
            <a:spLocks noChangeArrowheads="1"/>
          </p:cNvSpPr>
          <p:nvPr/>
        </p:nvSpPr>
        <p:spPr bwMode="auto">
          <a:xfrm>
            <a:off x="5381625" y="2481263"/>
            <a:ext cx="808038" cy="292100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SMTP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5" name="Rectangle 64"/>
          <p:cNvSpPr>
            <a:spLocks noChangeArrowheads="1"/>
          </p:cNvSpPr>
          <p:nvPr/>
        </p:nvSpPr>
        <p:spPr bwMode="auto">
          <a:xfrm>
            <a:off x="6583363" y="2481263"/>
            <a:ext cx="808037" cy="292100"/>
          </a:xfrm>
          <a:prstGeom prst="rect">
            <a:avLst/>
          </a:prstGeom>
          <a:solidFill>
            <a:srgbClr val="FFFF00"/>
          </a:solidFill>
          <a:ln w="19050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DNS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6" name="Rectangle 65"/>
          <p:cNvSpPr>
            <a:spLocks noChangeArrowheads="1"/>
          </p:cNvSpPr>
          <p:nvPr/>
        </p:nvSpPr>
        <p:spPr bwMode="auto">
          <a:xfrm>
            <a:off x="7773988" y="2481263"/>
            <a:ext cx="808037" cy="292100"/>
          </a:xfrm>
          <a:prstGeom prst="rect">
            <a:avLst/>
          </a:prstGeom>
          <a:solidFill>
            <a:srgbClr val="FFFF00"/>
          </a:solidFill>
          <a:ln w="19050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RTP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7" name="Rectangle 66"/>
          <p:cNvSpPr>
            <a:spLocks noChangeArrowheads="1"/>
          </p:cNvSpPr>
          <p:nvPr/>
        </p:nvSpPr>
        <p:spPr bwMode="auto">
          <a:xfrm>
            <a:off x="4232275" y="3330575"/>
            <a:ext cx="808038" cy="292100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TCP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8" name="Rectangle 67"/>
          <p:cNvSpPr>
            <a:spLocks noChangeArrowheads="1"/>
          </p:cNvSpPr>
          <p:nvPr/>
        </p:nvSpPr>
        <p:spPr bwMode="auto">
          <a:xfrm>
            <a:off x="7108825" y="3330575"/>
            <a:ext cx="808038" cy="292100"/>
          </a:xfrm>
          <a:prstGeom prst="rect">
            <a:avLst/>
          </a:prstGeom>
          <a:solidFill>
            <a:srgbClr val="00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UDP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9" name="Rectangle 68"/>
          <p:cNvSpPr>
            <a:spLocks noChangeArrowheads="1"/>
          </p:cNvSpPr>
          <p:nvPr/>
        </p:nvSpPr>
        <p:spPr bwMode="auto">
          <a:xfrm>
            <a:off x="4824413" y="2481263"/>
            <a:ext cx="46355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40" name="Rectangle 69"/>
          <p:cNvSpPr>
            <a:spLocks noChangeArrowheads="1"/>
          </p:cNvSpPr>
          <p:nvPr/>
        </p:nvSpPr>
        <p:spPr bwMode="auto">
          <a:xfrm>
            <a:off x="7354888" y="2481263"/>
            <a:ext cx="46355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41" name="Line 70"/>
          <p:cNvSpPr>
            <a:spLocks noChangeShapeType="1"/>
          </p:cNvSpPr>
          <p:nvPr/>
        </p:nvSpPr>
        <p:spPr bwMode="auto">
          <a:xfrm>
            <a:off x="3635375" y="2800350"/>
            <a:ext cx="635000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2" name="Line 71"/>
          <p:cNvSpPr>
            <a:spLocks noChangeShapeType="1"/>
          </p:cNvSpPr>
          <p:nvPr/>
        </p:nvSpPr>
        <p:spPr bwMode="auto">
          <a:xfrm>
            <a:off x="6907213" y="2814638"/>
            <a:ext cx="436562" cy="447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Line 72"/>
          <p:cNvSpPr>
            <a:spLocks noChangeShapeType="1"/>
          </p:cNvSpPr>
          <p:nvPr/>
        </p:nvSpPr>
        <p:spPr bwMode="auto">
          <a:xfrm flipH="1">
            <a:off x="7623175" y="2814638"/>
            <a:ext cx="423863" cy="420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Line 73"/>
          <p:cNvSpPr>
            <a:spLocks noChangeShapeType="1"/>
          </p:cNvSpPr>
          <p:nvPr/>
        </p:nvSpPr>
        <p:spPr bwMode="auto">
          <a:xfrm>
            <a:off x="4430713" y="2800350"/>
            <a:ext cx="92075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5" name="Line 74"/>
          <p:cNvSpPr>
            <a:spLocks noChangeShapeType="1"/>
          </p:cNvSpPr>
          <p:nvPr/>
        </p:nvSpPr>
        <p:spPr bwMode="auto">
          <a:xfrm flipH="1">
            <a:off x="4800600" y="2800350"/>
            <a:ext cx="863600" cy="461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Rectangle 75"/>
          <p:cNvSpPr>
            <a:spLocks noChangeArrowheads="1"/>
          </p:cNvSpPr>
          <p:nvPr/>
        </p:nvSpPr>
        <p:spPr bwMode="auto">
          <a:xfrm>
            <a:off x="5580063" y="4365625"/>
            <a:ext cx="808037" cy="2921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47" name="Line 76"/>
          <p:cNvSpPr>
            <a:spLocks noChangeShapeType="1"/>
          </p:cNvSpPr>
          <p:nvPr/>
        </p:nvSpPr>
        <p:spPr bwMode="auto">
          <a:xfrm>
            <a:off x="4708525" y="3675063"/>
            <a:ext cx="1138238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8" name="Line 77"/>
          <p:cNvSpPr>
            <a:spLocks noChangeShapeType="1"/>
          </p:cNvSpPr>
          <p:nvPr/>
        </p:nvSpPr>
        <p:spPr bwMode="auto">
          <a:xfrm flipH="1">
            <a:off x="6110288" y="3675063"/>
            <a:ext cx="1406525" cy="582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9" name="Rectangle 78"/>
          <p:cNvSpPr>
            <a:spLocks noChangeArrowheads="1"/>
          </p:cNvSpPr>
          <p:nvPr/>
        </p:nvSpPr>
        <p:spPr bwMode="auto">
          <a:xfrm>
            <a:off x="2700338" y="5489575"/>
            <a:ext cx="1644650" cy="292100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ALOHA /CSMA</a:t>
            </a:r>
            <a:endParaRPr lang="zh-CN" altLang="en-US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50" name="Rectangle 79"/>
          <p:cNvSpPr>
            <a:spLocks noChangeArrowheads="1"/>
          </p:cNvSpPr>
          <p:nvPr/>
        </p:nvSpPr>
        <p:spPr bwMode="auto">
          <a:xfrm>
            <a:off x="4643438" y="5489575"/>
            <a:ext cx="1873250" cy="292100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FDMA/TDMA/CDMA</a:t>
            </a:r>
            <a:endParaRPr lang="zh-CN" altLang="en-US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51" name="Rectangle 80"/>
          <p:cNvSpPr>
            <a:spLocks noChangeArrowheads="1"/>
          </p:cNvSpPr>
          <p:nvPr/>
        </p:nvSpPr>
        <p:spPr bwMode="auto">
          <a:xfrm>
            <a:off x="6856413" y="5489575"/>
            <a:ext cx="1655762" cy="292100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ATM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52" name="Rectangle 81"/>
          <p:cNvSpPr>
            <a:spLocks noChangeArrowheads="1"/>
          </p:cNvSpPr>
          <p:nvPr/>
        </p:nvSpPr>
        <p:spPr bwMode="auto">
          <a:xfrm>
            <a:off x="6432550" y="5489575"/>
            <a:ext cx="46355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lang="en-US" altLang="zh-CN" sz="1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53" name="Line 82"/>
          <p:cNvSpPr>
            <a:spLocks noChangeShapeType="1"/>
          </p:cNvSpPr>
          <p:nvPr/>
        </p:nvSpPr>
        <p:spPr bwMode="auto">
          <a:xfrm flipH="1">
            <a:off x="4032250" y="4775200"/>
            <a:ext cx="1697038" cy="63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4" name="Line 83"/>
          <p:cNvSpPr>
            <a:spLocks noChangeShapeType="1"/>
          </p:cNvSpPr>
          <p:nvPr/>
        </p:nvSpPr>
        <p:spPr bwMode="auto">
          <a:xfrm>
            <a:off x="5967413" y="4802188"/>
            <a:ext cx="12700" cy="568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5" name="Line 84"/>
          <p:cNvSpPr>
            <a:spLocks noChangeShapeType="1"/>
          </p:cNvSpPr>
          <p:nvPr/>
        </p:nvSpPr>
        <p:spPr bwMode="auto">
          <a:xfrm>
            <a:off x="6245225" y="4816475"/>
            <a:ext cx="1655763" cy="541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6" name="Rectangle 85"/>
          <p:cNvSpPr>
            <a:spLocks noChangeArrowheads="1"/>
          </p:cNvSpPr>
          <p:nvPr/>
        </p:nvSpPr>
        <p:spPr bwMode="auto">
          <a:xfrm>
            <a:off x="604838" y="2271713"/>
            <a:ext cx="1776412" cy="4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0000CC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Application Layer</a:t>
            </a:r>
            <a:endParaRPr lang="en-US" altLang="zh-CN" sz="1800">
              <a:solidFill>
                <a:srgbClr val="0000CC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57" name="Rectangle 86"/>
          <p:cNvSpPr>
            <a:spLocks noChangeArrowheads="1"/>
          </p:cNvSpPr>
          <p:nvPr/>
        </p:nvSpPr>
        <p:spPr bwMode="auto">
          <a:xfrm>
            <a:off x="604838" y="3186113"/>
            <a:ext cx="1776412" cy="4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CC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Transport Layer</a:t>
            </a:r>
            <a:endParaRPr lang="en-US" altLang="zh-CN" sz="1800" dirty="0">
              <a:solidFill>
                <a:srgbClr val="0000CC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58" name="Rectangle 87"/>
          <p:cNvSpPr>
            <a:spLocks noChangeArrowheads="1"/>
          </p:cNvSpPr>
          <p:nvPr/>
        </p:nvSpPr>
        <p:spPr bwMode="auto">
          <a:xfrm>
            <a:off x="604838" y="4206875"/>
            <a:ext cx="1776412" cy="42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CC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Internet Layer</a:t>
            </a:r>
            <a:endParaRPr lang="en-US" altLang="zh-CN" sz="1800" dirty="0">
              <a:solidFill>
                <a:srgbClr val="0000CC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2559" name="Rectangle 88"/>
          <p:cNvSpPr>
            <a:spLocks noChangeArrowheads="1"/>
          </p:cNvSpPr>
          <p:nvPr/>
        </p:nvSpPr>
        <p:spPr bwMode="auto">
          <a:xfrm>
            <a:off x="604838" y="5307013"/>
            <a:ext cx="1776412" cy="4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rgbClr val="0000CC"/>
                </a:solidFill>
                <a:latin typeface="Comic Sans MS" panose="030F0702030302020204" pitchFamily="66" charset="0"/>
                <a:ea typeface="宋体" panose="02010600030101010101" pitchFamily="2" charset="-122"/>
              </a:rPr>
              <a:t>Link Layer</a:t>
            </a:r>
            <a:endParaRPr lang="en-US" altLang="zh-CN" sz="1800" dirty="0">
              <a:solidFill>
                <a:srgbClr val="0000CC"/>
              </a:solidFill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21974DD-742E-487A-BAF3-E6B69FA936CD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BD0EC9C1-0D1A-43EA-8E0D-3819FA0F2F3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ffectLst/>
              </a:rPr>
              <a:t>关于考试</a:t>
            </a:r>
            <a:endParaRPr lang="zh-CN" altLang="en-US">
              <a:effectLst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effectLst/>
              </a:rPr>
              <a:t>题型：</a:t>
            </a:r>
            <a:endParaRPr lang="zh-CN" altLang="en-US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填空</a:t>
            </a:r>
            <a:endParaRPr lang="zh-CN" altLang="en-US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选择</a:t>
            </a:r>
            <a:endParaRPr lang="zh-CN" altLang="en-US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问答</a:t>
            </a:r>
            <a:endParaRPr lang="zh-CN" altLang="en-US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综合</a:t>
            </a:r>
            <a:endParaRPr lang="zh-CN" altLang="en-US" dirty="0">
              <a:effectLst/>
            </a:endParaRPr>
          </a:p>
          <a:p>
            <a:r>
              <a:rPr lang="zh-CN" altLang="en-US" dirty="0">
                <a:solidFill>
                  <a:srgbClr val="FF00FF"/>
                </a:solidFill>
                <a:effectLst/>
              </a:rPr>
              <a:t>开卷考试</a:t>
            </a:r>
            <a:endParaRPr lang="en-US" altLang="zh-CN" dirty="0">
              <a:solidFill>
                <a:srgbClr val="FF00FF"/>
              </a:solidFill>
              <a:effectLst/>
            </a:endParaRPr>
          </a:p>
          <a:p>
            <a:r>
              <a:rPr lang="zh-CN" altLang="en-US" dirty="0">
                <a:effectLst/>
              </a:rPr>
              <a:t>平时成绩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作业</a:t>
            </a:r>
            <a:r>
              <a:rPr lang="en-US" altLang="zh-CN" dirty="0">
                <a:effectLst/>
              </a:rPr>
              <a:t>20%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报告</a:t>
            </a:r>
            <a:r>
              <a:rPr lang="en-US" altLang="zh-CN" dirty="0">
                <a:effectLst/>
              </a:rPr>
              <a:t>20%</a:t>
            </a:r>
            <a:endParaRPr lang="zh-CN" altLang="en-US" dirty="0">
              <a:effectLst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AA289C-89FD-4174-AB2B-DC9EAFEE4723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其他方面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路由器和交换机的工作原理，区别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IPv4</a:t>
            </a:r>
            <a:r>
              <a:rPr lang="zh-CN" altLang="en-US" dirty="0"/>
              <a:t>地址空间不足问题，有哪些解决方案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DNS</a:t>
            </a:r>
            <a:r>
              <a:rPr lang="zh-CN" altLang="en-US" dirty="0"/>
              <a:t>：</a:t>
            </a:r>
            <a:r>
              <a:rPr lang="en-US" altLang="zh-CN" dirty="0"/>
              <a:t>4</a:t>
            </a:r>
            <a:r>
              <a:rPr lang="zh-CN" altLang="en-US" dirty="0"/>
              <a:t>种查询类别，层次化分布式数据库查询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MAC</a:t>
            </a:r>
            <a:r>
              <a:rPr lang="zh-CN" altLang="en-US" dirty="0"/>
              <a:t>和</a:t>
            </a:r>
            <a:r>
              <a:rPr lang="en-US" altLang="zh-CN" dirty="0"/>
              <a:t>IP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9980FC-18B4-4D77-A676-A775003870A6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096963"/>
            <a:ext cx="8147050" cy="5000625"/>
          </a:xfrm>
        </p:spPr>
        <p:txBody>
          <a:bodyPr/>
          <a:lstStyle/>
          <a:p>
            <a:r>
              <a:rPr lang="zh-CN" altLang="en-US" dirty="0"/>
              <a:t>选择题</a:t>
            </a:r>
            <a:endParaRPr lang="en-US" altLang="zh-CN" dirty="0"/>
          </a:p>
          <a:p>
            <a:pPr algn="just">
              <a:tabLst>
                <a:tab pos="270510" algn="l"/>
                <a:tab pos="4500880" algn="l"/>
              </a:tabLst>
            </a:pP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用清空缓存的浏览器访问</a:t>
            </a:r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web</a:t>
            </a: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对象，响应报文状态码</a:t>
            </a:r>
            <a:r>
              <a:rPr lang="zh-CN" altLang="zh-CN" sz="1600" b="1" kern="100" dirty="0">
                <a:solidFill>
                  <a:srgbClr val="FF66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不可能</a:t>
            </a: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是哪一个？</a:t>
            </a:r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>
              <a:tabLst>
                <a:tab pos="270510" algn="l"/>
                <a:tab pos="1260475" algn="l"/>
                <a:tab pos="2430780" algn="l"/>
              </a:tabLst>
            </a:pPr>
            <a:r>
              <a:rPr lang="en-US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a. 200 	b. 304	</a:t>
            </a:r>
            <a:endParaRPr lang="en-US" altLang="zh-CN" sz="1400" b="1" kern="100" dirty="0"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tabLst>
                <a:tab pos="270510" algn="l"/>
                <a:tab pos="1260475" algn="l"/>
                <a:tab pos="2430780" algn="l"/>
              </a:tabLst>
            </a:pPr>
            <a:r>
              <a:rPr lang="en-US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c. 404		d. 400</a:t>
            </a:r>
            <a:endParaRPr lang="en-US" altLang="zh-CN" sz="1400" b="1" kern="100" dirty="0"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>
              <a:tabLst>
                <a:tab pos="270510" algn="l"/>
                <a:tab pos="4500880" algn="l"/>
              </a:tabLst>
            </a:pP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采用选择重传</a:t>
            </a:r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(SR)</a:t>
            </a: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传输数据</a:t>
            </a:r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. </a:t>
            </a: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发送方已发送</a:t>
            </a:r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～</a:t>
            </a:r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号数据分组，在超时前只收到</a:t>
            </a:r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号分组的确认，此时需要重传的数据分组数量是</a:t>
            </a:r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?	</a:t>
            </a:r>
            <a:r>
              <a:rPr lang="fr-FR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fr-FR" altLang="zh-CN" sz="1600" b="1" u="sng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fr-FR" sz="1600" b="1" u="sng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fr-FR" altLang="zh-CN" sz="1600" b="1" u="sng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fr-FR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a. 4 	b. 3 	</a:t>
            </a:r>
            <a:endParaRPr lang="en-US" altLang="zh-CN" sz="1600" b="1" kern="100" dirty="0"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/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c. 2 	d. 1</a:t>
            </a:r>
            <a:endParaRPr lang="en-US" altLang="zh-CN" sz="16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tabLst>
                <a:tab pos="270510" algn="l"/>
                <a:tab pos="4500880" algn="l"/>
              </a:tabLst>
            </a:pPr>
            <a:r>
              <a:rPr lang="zh-CN" altLang="en-US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距离向量</a:t>
            </a:r>
            <a:r>
              <a:rPr lang="zh-CN" altLang="zh-CN" sz="16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(DV)</a:t>
            </a: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路由选择算法中，路由结点使用哪种机制更新距离向量？</a:t>
            </a:r>
            <a:r>
              <a:rPr lang="zh-CN" altLang="zh-CN" sz="16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</a:t>
            </a:r>
            <a:r>
              <a:rPr lang="en-US" altLang="zh-CN" sz="16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d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zh-CN" altLang="zh-CN" sz="1400" b="1" kern="100" dirty="0">
                <a:effectLst/>
                <a:ea typeface="Arial" panose="020B0604020202020204" pitchFamily="34" charset="0"/>
              </a:rPr>
              <a:t>a. </a:t>
            </a:r>
            <a:r>
              <a:rPr lang="zh-CN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递归查询</a:t>
            </a:r>
            <a:r>
              <a:rPr lang="en-US" altLang="zh-CN" sz="1400" b="1" kern="100" dirty="0">
                <a:effectLst/>
                <a:ea typeface="Arial" panose="020B0604020202020204" pitchFamily="34" charset="0"/>
              </a:rPr>
              <a:t>		</a:t>
            </a:r>
            <a:r>
              <a:rPr lang="zh-CN" altLang="zh-CN" sz="1400" b="1" kern="100" dirty="0">
                <a:effectLst/>
                <a:ea typeface="Arial" panose="020B0604020202020204" pitchFamily="34" charset="0"/>
              </a:rPr>
              <a:t>b.</a:t>
            </a:r>
            <a:r>
              <a:rPr lang="zh-CN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指数加权平均</a:t>
            </a:r>
            <a:r>
              <a:rPr lang="zh-CN" altLang="zh-CN" sz="1400" b="1" kern="100" dirty="0">
                <a:effectLst/>
                <a:ea typeface="Arial" panose="020B0604020202020204" pitchFamily="34" charset="0"/>
              </a:rPr>
              <a:t>	</a:t>
            </a:r>
            <a:endParaRPr lang="en-US" altLang="zh-CN" sz="1400" b="1" kern="100" dirty="0">
              <a:effectLst/>
              <a:ea typeface="Arial" panose="020B0604020202020204" pitchFamily="34" charset="0"/>
            </a:endParaRPr>
          </a:p>
          <a:p>
            <a:pPr lvl="1"/>
            <a:r>
              <a:rPr lang="zh-CN" altLang="zh-CN" sz="1400" b="1" kern="100" dirty="0">
                <a:effectLst/>
                <a:ea typeface="Arial" panose="020B0604020202020204" pitchFamily="34" charset="0"/>
              </a:rPr>
              <a:t>c.Dijkstra</a:t>
            </a:r>
            <a:r>
              <a:rPr lang="zh-CN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算法</a:t>
            </a:r>
            <a:r>
              <a:rPr lang="zh-CN" altLang="zh-CN" sz="1400" b="1" kern="100" dirty="0">
                <a:effectLst/>
                <a:ea typeface="Arial" panose="020B0604020202020204" pitchFamily="34" charset="0"/>
              </a:rPr>
              <a:t>	d. Bellman-Ford</a:t>
            </a:r>
            <a:r>
              <a:rPr lang="zh-CN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方程</a:t>
            </a:r>
            <a:endParaRPr lang="en-US" altLang="zh-CN" sz="1400" b="1" kern="100" dirty="0"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tabLst>
                <a:tab pos="3968115" algn="l"/>
              </a:tabLst>
            </a:pP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梓涵同学使用自己的笔记本电脑和浏览器访问香港科技大学</a:t>
            </a:r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Web</a:t>
            </a:r>
            <a:r>
              <a:rPr lang="zh-CN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网站主页过程中，可能使用到的协议是</a:t>
            </a:r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?				(</a:t>
            </a:r>
            <a:r>
              <a:rPr lang="en-US" altLang="zh-CN" sz="1600" b="1" u="sng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abcd    </a:t>
            </a:r>
            <a:r>
              <a:rPr lang="en-US" altLang="zh-CN" sz="16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indent="267970" algn="just">
              <a:tabLst>
                <a:tab pos="3968115" algn="l"/>
              </a:tabLst>
            </a:pPr>
            <a:r>
              <a:rPr lang="en-US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a. DHCP       b. ARP           c. UDP           d. HTTP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800" b="1" kern="100" dirty="0"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9980FC-18B4-4D77-A676-A775003870A6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096963"/>
            <a:ext cx="8147050" cy="5000625"/>
          </a:xfrm>
        </p:spPr>
        <p:txBody>
          <a:bodyPr/>
          <a:lstStyle/>
          <a:p>
            <a:r>
              <a:rPr lang="zh-CN" altLang="en-US" dirty="0"/>
              <a:t>填空题</a:t>
            </a:r>
            <a:endParaRPr lang="en-US" altLang="zh-CN" dirty="0"/>
          </a:p>
          <a:p>
            <a:pPr algn="just">
              <a:tabLst>
                <a:tab pos="270510" algn="l"/>
                <a:tab pos="4500880" algn="l"/>
              </a:tabLst>
            </a:pPr>
            <a:r>
              <a:rPr lang="zh-CN" altLang="en-US" sz="1800" kern="100" dirty="0">
                <a:effectLst/>
                <a:ea typeface="Arial" panose="020B0604020202020204" pitchFamily="34" charset="0"/>
              </a:rPr>
              <a:t>因特网中的</a:t>
            </a:r>
            <a:r>
              <a:rPr lang="en-US" altLang="zh-CN" sz="1800" kern="100" dirty="0">
                <a:effectLst/>
                <a:ea typeface="Arial" panose="020B0604020202020204" pitchFamily="34" charset="0"/>
              </a:rPr>
              <a:t>ISP</a:t>
            </a:r>
            <a:r>
              <a:rPr lang="zh-CN" altLang="en-US" sz="1800" kern="100" dirty="0">
                <a:effectLst/>
                <a:ea typeface="Arial" panose="020B0604020202020204" pitchFamily="34" charset="0"/>
              </a:rPr>
              <a:t>是指</a:t>
            </a:r>
            <a:r>
              <a:rPr lang="en-US" altLang="zh-CN" sz="1800" kern="100" dirty="0">
                <a:effectLst/>
                <a:ea typeface="Arial" panose="020B0604020202020204" pitchFamily="34" charset="0"/>
              </a:rPr>
              <a:t>(</a:t>
            </a:r>
            <a:r>
              <a:rPr lang="en-US" altLang="zh-CN" sz="1800" u="sng" kern="100" dirty="0">
                <a:effectLst/>
                <a:ea typeface="Arial" panose="020B0604020202020204" pitchFamily="34" charset="0"/>
              </a:rPr>
              <a:t>          </a:t>
            </a:r>
            <a:r>
              <a:rPr lang="en-US" altLang="zh-CN" sz="1800" kern="100" dirty="0">
                <a:effectLst/>
                <a:ea typeface="Arial" panose="020B0604020202020204" pitchFamily="34" charset="0"/>
              </a:rPr>
              <a:t>). 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ea typeface="Arial" panose="020B0604020202020204" pitchFamily="34" charset="0"/>
              </a:rPr>
              <a:t> 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从条件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Get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一节找</a:t>
            </a:r>
            <a:endParaRPr lang="en-US" altLang="zh-CN" sz="1800" kern="100" dirty="0">
              <a:effectLst/>
              <a:ea typeface="Arial" panose="020B0604020202020204" pitchFamily="34" charset="0"/>
            </a:endParaRPr>
          </a:p>
          <a:p>
            <a:pPr algn="just">
              <a:tabLst>
                <a:tab pos="270510" algn="l"/>
                <a:tab pos="4500880" algn="l"/>
              </a:tabLst>
            </a:pPr>
            <a:r>
              <a:rPr lang="zh-CN" altLang="zh-CN" sz="1800" kern="100" dirty="0">
                <a:effectLst/>
                <a:ea typeface="Arial" panose="020B0604020202020204" pitchFamily="34" charset="0"/>
              </a:rPr>
              <a:t>HTTP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首部行中可使用</a:t>
            </a:r>
            <a:r>
              <a:rPr lang="zh-CN" altLang="zh-CN" sz="1800" kern="100" dirty="0">
                <a:effectLst/>
                <a:ea typeface="Arial" panose="020B0604020202020204" pitchFamily="34" charset="0"/>
              </a:rPr>
              <a:t>(</a:t>
            </a:r>
            <a:r>
              <a:rPr lang="zh-CN" altLang="zh-CN" sz="1800" u="sng" kern="100" dirty="0">
                <a:effectLst/>
                <a:ea typeface="Arial" panose="020B0604020202020204" pitchFamily="34" charset="0"/>
              </a:rPr>
              <a:t>     </a:t>
            </a:r>
            <a:r>
              <a:rPr lang="zh-CN" altLang="zh-CN" sz="1800" kern="100" dirty="0">
                <a:effectLst/>
                <a:ea typeface="Arial" panose="020B0604020202020204" pitchFamily="34" charset="0"/>
              </a:rPr>
              <a:t>)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标签用于判定</a:t>
            </a:r>
            <a:r>
              <a:rPr lang="zh-CN" altLang="zh-CN" sz="1800" kern="100" dirty="0">
                <a:effectLst/>
                <a:ea typeface="Arial" panose="020B0604020202020204" pitchFamily="34" charset="0"/>
              </a:rPr>
              <a:t>Web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缓存中的对象是否需要更新。</a:t>
            </a:r>
            <a:endParaRPr lang="en-US" altLang="zh-CN" sz="1800" kern="100" dirty="0">
              <a:effectLst/>
              <a:ea typeface="Arial" panose="020B0604020202020204" pitchFamily="34" charset="0"/>
            </a:endParaRPr>
          </a:p>
          <a:p>
            <a:pPr algn="just">
              <a:tabLst>
                <a:tab pos="270510" algn="l"/>
                <a:tab pos="4500880" algn="l"/>
              </a:tabLst>
            </a:pPr>
            <a:r>
              <a:rPr lang="zh-CN" altLang="zh-CN" sz="1800" kern="100" dirty="0">
                <a:effectLst/>
                <a:ea typeface="Arial" panose="020B0604020202020204" pitchFamily="34" charset="0"/>
              </a:rPr>
              <a:t>UDP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协议实现多路分解</a:t>
            </a:r>
            <a:r>
              <a:rPr lang="zh-CN" altLang="zh-CN" sz="1800" kern="100" dirty="0">
                <a:effectLst/>
                <a:ea typeface="Arial" panose="020B0604020202020204" pitchFamily="34" charset="0"/>
              </a:rPr>
              <a:t>(demultiplexing)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时依据的首部字段是</a:t>
            </a:r>
            <a:r>
              <a:rPr lang="zh-CN" altLang="zh-CN" sz="1800" kern="100" dirty="0">
                <a:effectLst/>
                <a:ea typeface="Arial" panose="020B0604020202020204" pitchFamily="34" charset="0"/>
              </a:rPr>
              <a:t>(</a:t>
            </a:r>
            <a:r>
              <a:rPr lang="zh-CN" altLang="zh-CN" sz="1800" u="sng" kern="100" dirty="0">
                <a:effectLst/>
                <a:ea typeface="Arial" panose="020B0604020202020204" pitchFamily="34" charset="0"/>
              </a:rPr>
              <a:t>      </a:t>
            </a:r>
            <a:r>
              <a:rPr lang="zh-CN" altLang="zh-CN" sz="1800" kern="100" dirty="0">
                <a:effectLst/>
                <a:ea typeface="Arial" panose="020B0604020202020204" pitchFamily="34" charset="0"/>
              </a:rPr>
              <a:t>)</a:t>
            </a:r>
            <a:r>
              <a:rPr lang="zh-CN" altLang="en-US" sz="1800" kern="100" dirty="0">
                <a:effectLst/>
                <a:ea typeface="Arial" panose="020B0604020202020204" pitchFamily="34" charset="0"/>
              </a:rPr>
              <a:t>。</a:t>
            </a:r>
            <a:endParaRPr lang="en-US" altLang="zh-CN" sz="1600" kern="100" dirty="0">
              <a:effectLst/>
              <a:ea typeface="Arial" panose="020B0604020202020204" pitchFamily="34" charset="0"/>
            </a:endParaRPr>
          </a:p>
          <a:p>
            <a:pPr algn="just">
              <a:tabLst>
                <a:tab pos="270510" algn="l"/>
                <a:tab pos="4500880" algn="l"/>
              </a:tabLst>
            </a:pP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选择重传协议分组序号长度为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k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位，发送和接收窗口的最大尺寸为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(</a:t>
            </a:r>
            <a:r>
              <a:rPr lang="zh-CN" altLang="zh-CN" sz="1800" u="sng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   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)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位。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tabLst>
                <a:tab pos="270510" algn="l"/>
                <a:tab pos="4500880" algn="l"/>
              </a:tabLst>
            </a:pPr>
            <a:r>
              <a:rPr lang="zh-CN" altLang="zh-CN" sz="1800" kern="100" dirty="0">
                <a:effectLst/>
                <a:ea typeface="Arial" panose="020B0604020202020204" pitchFamily="34" charset="0"/>
              </a:rPr>
              <a:t>DHCP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为主机配置的网络参数包括</a:t>
            </a:r>
            <a:r>
              <a:rPr lang="zh-CN" altLang="zh-CN" sz="1800" kern="100" dirty="0">
                <a:effectLst/>
                <a:ea typeface="Arial" panose="020B0604020202020204" pitchFamily="34" charset="0"/>
              </a:rPr>
              <a:t>(</a:t>
            </a:r>
            <a:r>
              <a:rPr lang="zh-CN" altLang="zh-CN" sz="1800" u="sng" kern="100" dirty="0">
                <a:effectLst/>
                <a:ea typeface="Arial" panose="020B0604020202020204" pitchFamily="34" charset="0"/>
              </a:rPr>
              <a:t>   </a:t>
            </a:r>
            <a:r>
              <a:rPr lang="en-US" altLang="zh-CN" sz="1800" u="sng" kern="100" dirty="0">
                <a:effectLst/>
                <a:ea typeface="Arial" panose="020B0604020202020204" pitchFamily="34" charset="0"/>
              </a:rPr>
              <a:t>IP</a:t>
            </a:r>
            <a:r>
              <a:rPr lang="zh-CN" altLang="en-US" sz="1800" u="sng" kern="100" dirty="0">
                <a:effectLst/>
                <a:ea typeface="宋体" panose="02010600030101010101" pitchFamily="2" charset="-122"/>
              </a:rPr>
              <a:t>地址</a:t>
            </a:r>
            <a:r>
              <a:rPr lang="zh-CN" altLang="zh-CN" sz="1800" u="sng" kern="100" dirty="0">
                <a:effectLst/>
                <a:ea typeface="Arial" panose="020B0604020202020204" pitchFamily="34" charset="0"/>
              </a:rPr>
              <a:t>   </a:t>
            </a:r>
            <a:r>
              <a:rPr lang="zh-CN" altLang="zh-CN" sz="1800" kern="100" dirty="0">
                <a:effectLst/>
                <a:ea typeface="Arial" panose="020B0604020202020204" pitchFamily="34" charset="0"/>
              </a:rPr>
              <a:t>)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、子网掩码、默认网关和本地</a:t>
            </a:r>
            <a:r>
              <a:rPr lang="zh-CN" altLang="zh-CN" sz="1800" kern="100" dirty="0">
                <a:effectLst/>
                <a:ea typeface="Arial" panose="020B0604020202020204" pitchFamily="34" charset="0"/>
              </a:rPr>
              <a:t>DNS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服务器。</a:t>
            </a:r>
            <a:endParaRPr lang="en-US" altLang="zh-CN" sz="1800" kern="100" dirty="0"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tabLst>
                <a:tab pos="270510" algn="l"/>
                <a:tab pos="4500880" algn="l"/>
              </a:tabLst>
            </a:pPr>
            <a:r>
              <a:rPr lang="en-US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CSMA/CD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使用</a:t>
            </a:r>
            <a:r>
              <a:rPr lang="en-US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en-US" altLang="zh-CN" sz="1800" u="sng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机制重传因碰撞而未能发送出去的数据帧。</a:t>
            </a:r>
            <a:r>
              <a:rPr lang="en-US" altLang="zh-CN" sz="1800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从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5-1-3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找</a:t>
            </a:r>
            <a:endParaRPr lang="zh-CN" altLang="en-US" sz="18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9980FC-18B4-4D77-A676-A775003870A6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096963"/>
            <a:ext cx="8147050" cy="5000625"/>
          </a:xfrm>
        </p:spPr>
        <p:txBody>
          <a:bodyPr/>
          <a:lstStyle/>
          <a:p>
            <a:r>
              <a:rPr lang="zh-CN" altLang="en-US" dirty="0"/>
              <a:t>问答题</a:t>
            </a:r>
            <a:endParaRPr lang="en-US" altLang="zh-CN" dirty="0"/>
          </a:p>
          <a:p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简述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TCP/IP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体系各协议层次主要解决的问题或提供的服务。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设生成多项式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G={11011}bin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，若收到的数据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D={9a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 4e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}hex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，收到的循环冗余检验码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CRC={0111}bin. 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请校验这个数据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D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是否出现差错。</a:t>
            </a:r>
            <a:endParaRPr lang="en-US" altLang="zh-CN" sz="1800" b="1" kern="100" dirty="0"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简述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TCP/IP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体系各协议层次中使用的差错检验方法和检验的对象。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600" b="1" kern="100" dirty="0"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9980FC-18B4-4D77-A676-A775003870A6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096963"/>
            <a:ext cx="8147050" cy="5000625"/>
          </a:xfrm>
        </p:spPr>
        <p:txBody>
          <a:bodyPr/>
          <a:lstStyle/>
          <a:p>
            <a:r>
              <a:rPr lang="zh-CN" altLang="en-US" dirty="0"/>
              <a:t>综合题</a:t>
            </a:r>
            <a:endParaRPr lang="en-US" altLang="zh-CN" dirty="0"/>
          </a:p>
          <a:p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课程助教使用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Wireshark/</a:t>
            </a:r>
            <a:r>
              <a:rPr lang="en-US" altLang="zh-CN" sz="1800" b="1" kern="100" dirty="0" err="1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WinPcap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软件获得以太网卡接收到的数据帧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不含前同步码和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CRC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检验码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，用十六进制表示为：</a:t>
            </a:r>
            <a:endParaRPr lang="en-US" altLang="zh-CN" sz="1800" b="1" kern="100" dirty="0">
              <a:effectLst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 algn="just"/>
            <a:r>
              <a:rPr lang="en-US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10 63	c8 62	3b </a:t>
            </a:r>
            <a:r>
              <a:rPr lang="en-US" altLang="zh-CN" sz="1400" b="1" kern="100" dirty="0" err="1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fd</a:t>
            </a:r>
            <a:r>
              <a:rPr lang="en-US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	80 8f	1d </a:t>
            </a:r>
            <a:r>
              <a:rPr lang="en-US" altLang="zh-CN" sz="1400" b="1" kern="100" dirty="0" err="1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ec</a:t>
            </a:r>
            <a:r>
              <a:rPr lang="en-US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	e5 0b	08 00	45 04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/>
            <a:r>
              <a:rPr lang="en-US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00 34	00 00	40 00	2e 06	15 26	80 77	f5 0c	c0 a8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/>
            <a:r>
              <a:rPr lang="en-US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01 6e	00 50	27 43	</a:t>
            </a:r>
            <a:r>
              <a:rPr lang="en-US" altLang="zh-CN" sz="1400" b="1" kern="100" dirty="0" err="1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ea</a:t>
            </a:r>
            <a:r>
              <a:rPr lang="en-US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e7	1a 28	e6 4f	08 83	80 12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/>
            <a:r>
              <a:rPr lang="en-US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72 10	a9 f4	00 00	02 04	05 a0	01 01	04 02	01 03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r>
              <a:rPr lang="en-US" altLang="zh-CN" sz="14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03 07</a:t>
            </a:r>
            <a:endParaRPr lang="en-US" altLang="zh-CN" sz="1400" b="1" kern="100" dirty="0"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66700" indent="0" algn="just">
              <a:buNone/>
            </a:pP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提问：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507365" indent="-240665" algn="just"/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(1) 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源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MAC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地址是多少？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请使用冒号分割的十六进制表示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1800" b="1" kern="100" dirty="0"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507365" indent="-240665" algn="just"/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(2) 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目的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IP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地址是多少？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请使用点分十进制表示</a:t>
            </a:r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)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507365" indent="-240665" algn="just"/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(3) 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这个以太网帧的有效载荷是什么协议数据单元？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507365" indent="-240665" algn="just"/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(4) 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这个数据分组中的运输层使用了什么协议？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507365" indent="-240665" algn="just"/>
            <a:r>
              <a:rPr lang="en-US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(5) </a:t>
            </a:r>
            <a:r>
              <a:rPr lang="zh-CN" altLang="zh-CN" sz="1800" b="1" kern="100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这个数据分组中的协议栈最顶层是什么协议？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/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9980FC-18B4-4D77-A676-A775003870A6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cut thruBlk="1"/>
    <p:sndAc>
      <p:stSnd>
        <p:snd r:embed="rId1" name="camera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096963"/>
            <a:ext cx="8147050" cy="5000625"/>
          </a:xfrm>
        </p:spPr>
        <p:txBody>
          <a:bodyPr/>
          <a:lstStyle/>
          <a:p>
            <a:r>
              <a:rPr lang="zh-CN" altLang="en-US" dirty="0"/>
              <a:t>综合题</a:t>
            </a:r>
            <a:endParaRPr lang="en-US" altLang="zh-CN" dirty="0"/>
          </a:p>
          <a:p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某组织结构的网络拓扑如图所示，路由器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R1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通过接口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E1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E2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分别连接局域网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LAN1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LAN2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，通过接口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L0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连接路由器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R2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，并通过路由器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R2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连接域名服务器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DNS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与互联网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Internet. 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各个网络接口的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IPv4</a:t>
            </a:r>
            <a:r>
              <a:rPr lang="zh-CN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地址已在图中标注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. </a:t>
            </a:r>
            <a:endParaRPr lang="zh-CN" altLang="zh-CN" sz="16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buNone/>
            </a:pPr>
            <a:r>
              <a:rPr lang="zh-CN" altLang="zh-CN" sz="1600" b="1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请按照要求解答问题并将结果填写到答题纸的表格中</a:t>
            </a:r>
            <a:r>
              <a:rPr lang="en-US" altLang="zh-CN" sz="1600" b="1" dirty="0"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zh-CN" altLang="zh-CN" sz="16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-342900" algn="just">
              <a:buFont typeface="+mj-lt"/>
              <a:buAutoNum type="arabicParenBoth"/>
            </a:pP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请将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IPv4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地址空间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202.118.1.0/24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划分为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个子网给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LAN1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LAN2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，每个局域网的主机数量不少于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120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. 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请给出子网划分结果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. </a:t>
            </a:r>
            <a:endParaRPr lang="zh-CN" alt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-342900" algn="just">
              <a:buFont typeface="+mj-lt"/>
              <a:buAutoNum type="arabicParenBoth"/>
            </a:pP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请结合第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(1)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题的结果，静态配置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LAN1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中主机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Host A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的网络参数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. </a:t>
            </a:r>
            <a:endParaRPr lang="zh-CN" altLang="zh-CN" sz="14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-342900" algn="just">
              <a:buFont typeface="+mj-lt"/>
              <a:buAutoNum type="arabicParenBoth"/>
            </a:pP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请给出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R1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的路由表，使其明确包括到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LAN1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LAN2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DNS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Internet</a:t>
            </a:r>
            <a:r>
              <a:rPr lang="zh-CN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的路由</a:t>
            </a:r>
            <a:r>
              <a:rPr lang="en-US" altLang="zh-CN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. </a:t>
            </a:r>
            <a:endParaRPr lang="en-US" altLang="zh-CN" sz="1400" b="1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-342900" algn="just">
              <a:buFont typeface="+mj-lt"/>
              <a:buAutoNum type="arabicParenBoth"/>
            </a:pPr>
            <a:r>
              <a:rPr lang="zh-CN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请采用路由聚合技术，给出</a:t>
            </a:r>
            <a:r>
              <a:rPr lang="en-US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R2</a:t>
            </a:r>
            <a:r>
              <a:rPr lang="zh-CN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LAN1</a:t>
            </a:r>
            <a:r>
              <a:rPr lang="zh-CN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LAN2</a:t>
            </a:r>
            <a:r>
              <a:rPr lang="zh-CN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的路由</a:t>
            </a:r>
            <a:r>
              <a:rPr lang="en-US" altLang="zh-CN" sz="1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9980FC-18B4-4D77-A676-A775003870A6}" type="datetime1">
              <a:rPr lang="zh-CN" altLang="en-US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 smtClean="0"/>
            </a:fld>
            <a:endParaRPr lang="en-US" altLang="zh-CN"/>
          </a:p>
        </p:txBody>
      </p:sp>
      <p:pic>
        <p:nvPicPr>
          <p:cNvPr id="7" name="图片 6"/>
          <p:cNvPicPr/>
          <p:nvPr/>
        </p:nvPicPr>
        <p:blipFill>
          <a:blip r:embed="rId1"/>
          <a:stretch>
            <a:fillRect/>
          </a:stretch>
        </p:blipFill>
        <p:spPr>
          <a:xfrm>
            <a:off x="2074227" y="2682240"/>
            <a:ext cx="4995545" cy="1493520"/>
          </a:xfrm>
          <a:prstGeom prst="rect">
            <a:avLst/>
          </a:prstGeom>
        </p:spPr>
      </p:pic>
    </p:spTree>
  </p:cSld>
  <p:clrMapOvr>
    <a:masterClrMapping/>
  </p:clrMapOvr>
  <p:transition>
    <p:cut thruBlk="1"/>
    <p:sndAc>
      <p:stSnd>
        <p:snd r:embed="rId2" name="camera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Good Luck</a:t>
            </a:r>
            <a:endParaRPr lang="en-US" altLang="zh-CN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3733</Words>
  <Application>WPS 演示</Application>
  <PresentationFormat>全屏显示(4:3)</PresentationFormat>
  <Paragraphs>771</Paragraphs>
  <Slides>28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</vt:lpstr>
      <vt:lpstr>宋体</vt:lpstr>
      <vt:lpstr>Wingdings</vt:lpstr>
      <vt:lpstr>黑体</vt:lpstr>
      <vt:lpstr>华文新魏</vt:lpstr>
      <vt:lpstr>微软雅黑</vt:lpstr>
      <vt:lpstr>Arial Unicode MS</vt:lpstr>
      <vt:lpstr>Times New Roman</vt:lpstr>
      <vt:lpstr>Comic Sans MS</vt:lpstr>
      <vt:lpstr>默认设计模板</vt:lpstr>
      <vt:lpstr>计算机网络  Computer Networks</vt:lpstr>
      <vt:lpstr>Review:bottom-up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Review</vt:lpstr>
      <vt:lpstr>关于考试</vt:lpstr>
      <vt:lpstr>其他方面</vt:lpstr>
      <vt:lpstr>例题</vt:lpstr>
      <vt:lpstr>例题</vt:lpstr>
      <vt:lpstr>例题</vt:lpstr>
      <vt:lpstr>例题</vt:lpstr>
      <vt:lpstr>例题</vt:lpstr>
      <vt:lpstr>Good Luck</vt:lpstr>
    </vt:vector>
  </TitlesOfParts>
  <Company>CQU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oram</dc:creator>
  <cp:lastModifiedBy>传输</cp:lastModifiedBy>
  <cp:revision>264</cp:revision>
  <dcterms:created xsi:type="dcterms:W3CDTF">2008-03-29T06:45:00Z</dcterms:created>
  <dcterms:modified xsi:type="dcterms:W3CDTF">2025-06-02T14:17:37Z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13</vt:lpwstr>
  </property>
  <property fmtid="{D5CDD505-2E9C-101B-9397-08002B2CF9AE}" pid="3" name="KSOProductBuildVer">
    <vt:lpwstr>2052-12.1.0.21171</vt:lpwstr>
  </property>
  <property fmtid="{D5CDD505-2E9C-101B-9397-08002B2CF9AE}" pid="4" name="ICV">
    <vt:lpwstr>38B56ED7D8CD4F97834468D668796149_12</vt:lpwstr>
  </property>
</Properties>
</file>