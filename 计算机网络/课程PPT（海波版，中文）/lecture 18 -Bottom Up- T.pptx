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3" r:id="rId1"/>
  </p:sldMasterIdLst>
  <p:notesMasterIdLst>
    <p:notesMasterId r:id="rId29"/>
  </p:notesMasterIdLst>
  <p:handoutMasterIdLst>
    <p:handoutMasterId r:id="rId30"/>
  </p:handoutMasterIdLst>
  <p:sldIdLst>
    <p:sldId id="319" r:id="rId2"/>
    <p:sldId id="321" r:id="rId3"/>
    <p:sldId id="266" r:id="rId4"/>
    <p:sldId id="267" r:id="rId5"/>
    <p:sldId id="322" r:id="rId6"/>
    <p:sldId id="269" r:id="rId7"/>
    <p:sldId id="270" r:id="rId8"/>
    <p:sldId id="271" r:id="rId9"/>
    <p:sldId id="272" r:id="rId10"/>
    <p:sldId id="32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6" r:id="rId28"/>
  </p:sldIdLst>
  <p:sldSz cx="9144000" cy="5143500" type="screen16x9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C00000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18601"/>
    <a:srgbClr val="008000"/>
    <a:srgbClr val="800000"/>
    <a:srgbClr val="FF3300"/>
    <a:srgbClr val="FF6600"/>
    <a:srgbClr val="D43005"/>
    <a:srgbClr val="EAEAEA"/>
    <a:srgbClr val="FAFAFA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515" autoAdjust="0"/>
  </p:normalViewPr>
  <p:slideViewPr>
    <p:cSldViewPr>
      <p:cViewPr varScale="1">
        <p:scale>
          <a:sx n="133" d="100"/>
          <a:sy n="133" d="100"/>
        </p:scale>
        <p:origin x="91" y="55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3216" y="38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8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r>
              <a:rPr lang="en-US" altLang="zh-CN"/>
              <a:t>page</a:t>
            </a:r>
            <a:fld id="{104E4446-F78E-4DEC-964D-F019287DCE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1604963" y="292100"/>
            <a:ext cx="4027487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计算机网络与通信</a:t>
            </a:r>
          </a:p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第</a:t>
            </a:r>
            <a:r>
              <a:rPr lang="en-US" altLang="zh-CN" sz="1400" b="1">
                <a:solidFill>
                  <a:srgbClr val="0000FF"/>
                </a:solidFill>
              </a:rPr>
              <a:t>1</a:t>
            </a:r>
            <a:r>
              <a:rPr lang="zh-CN" altLang="en-US" sz="1400" b="1">
                <a:solidFill>
                  <a:srgbClr val="0000FF"/>
                </a:solidFill>
              </a:rPr>
              <a:t>讲 </a:t>
            </a:r>
          </a:p>
        </p:txBody>
      </p:sp>
    </p:spTree>
    <p:extLst>
      <p:ext uri="{BB962C8B-B14F-4D97-AF65-F5344CB8AC3E}">
        <p14:creationId xmlns:p14="http://schemas.microsoft.com/office/powerpoint/2010/main" val="2979530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0-04-22T05:57:27.516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12435 13652 0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4987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67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2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8025" y="4859338"/>
            <a:ext cx="568325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62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fld id="{D3D3C561-59FF-437A-A798-9F59A60F19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61015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1603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8930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2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DBF73F6-FC25-43EE-BD37-B234601ED84A}"/>
              </a:ext>
            </a:extLst>
          </p:cNvPr>
          <p:cNvSpPr/>
          <p:nvPr userDrawn="1"/>
        </p:nvSpPr>
        <p:spPr>
          <a:xfrm>
            <a:off x="0" y="1419622"/>
            <a:ext cx="9144000" cy="242131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2B9ECC-60CE-4B04-9BDA-A9A978A5B8C8}"/>
              </a:ext>
            </a:extLst>
          </p:cNvPr>
          <p:cNvSpPr/>
          <p:nvPr userDrawn="1"/>
        </p:nvSpPr>
        <p:spPr>
          <a:xfrm>
            <a:off x="2875107" y="2956135"/>
            <a:ext cx="3281070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Computer Networks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66C9EA2-02EF-49B6-884B-FE28F4050007}"/>
              </a:ext>
            </a:extLst>
          </p:cNvPr>
          <p:cNvCxnSpPr>
            <a:cxnSpLocks/>
          </p:cNvCxnSpPr>
          <p:nvPr userDrawn="1"/>
        </p:nvCxnSpPr>
        <p:spPr>
          <a:xfrm>
            <a:off x="2919723" y="3318203"/>
            <a:ext cx="323645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324CC51-87DB-4BE4-8BAE-8B55B1365D96}"/>
              </a:ext>
            </a:extLst>
          </p:cNvPr>
          <p:cNvGrpSpPr/>
          <p:nvPr userDrawn="1"/>
        </p:nvGrpSpPr>
        <p:grpSpPr>
          <a:xfrm>
            <a:off x="3491880" y="244697"/>
            <a:ext cx="1841761" cy="1841761"/>
            <a:chOff x="3569703" y="132129"/>
            <a:chExt cx="1841761" cy="1841761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9516295A-1591-4010-96FF-5F1923C2DE28}"/>
                </a:ext>
              </a:extLst>
            </p:cNvPr>
            <p:cNvSpPr/>
            <p:nvPr userDrawn="1"/>
          </p:nvSpPr>
          <p:spPr>
            <a:xfrm>
              <a:off x="3569703" y="132129"/>
              <a:ext cx="1841761" cy="18417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1016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7" name="Picture 22" descr="Network Globe">
              <a:extLst>
                <a:ext uri="{FF2B5EF4-FFF2-40B4-BE49-F238E27FC236}">
                  <a16:creationId xmlns:a16="http://schemas.microsoft.com/office/drawing/2014/main" id="{2D1886B6-7E23-4412-A0B1-4CCECA07B7A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9842" y="318612"/>
              <a:ext cx="1722315" cy="1468794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91E4BF40-3BEE-476D-BE93-5753343553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19723" y="2113604"/>
            <a:ext cx="3191838" cy="74207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5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计算机网络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2CE977E-FA0E-4577-BD81-986F98C75317}"/>
              </a:ext>
            </a:extLst>
          </p:cNvPr>
          <p:cNvSpPr/>
          <p:nvPr userDrawn="1"/>
        </p:nvSpPr>
        <p:spPr>
          <a:xfrm>
            <a:off x="3419871" y="3448764"/>
            <a:ext cx="2191541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Lecture 18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AD4BB677-D21E-436A-910D-78E4C2565801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4644008" y="4227934"/>
            <a:ext cx="2520280" cy="549859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重庆大学大数据与软件学院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开课时间：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年春季</a:t>
            </a:r>
          </a:p>
        </p:txBody>
      </p:sp>
    </p:spTree>
    <p:extLst>
      <p:ext uri="{BB962C8B-B14F-4D97-AF65-F5344CB8AC3E}">
        <p14:creationId xmlns:p14="http://schemas.microsoft.com/office/powerpoint/2010/main" val="3036410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5200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E6EDCF5-1A0A-4487-9F7F-7541297824A8}"/>
              </a:ext>
            </a:extLst>
          </p:cNvPr>
          <p:cNvSpPr/>
          <p:nvPr userDrawn="1"/>
        </p:nvSpPr>
        <p:spPr>
          <a:xfrm>
            <a:off x="1" y="-14015"/>
            <a:ext cx="9144000" cy="9974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31F689-8CAB-4D55-94CB-B849C4F1C9B8}"/>
              </a:ext>
            </a:extLst>
          </p:cNvPr>
          <p:cNvSpPr/>
          <p:nvPr userDrawn="1"/>
        </p:nvSpPr>
        <p:spPr bwMode="auto">
          <a:xfrm>
            <a:off x="1308893" y="277606"/>
            <a:ext cx="1877437" cy="461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CAE735-22F4-4DD9-A6E9-4FE9156B2BEA}"/>
              </a:ext>
            </a:extLst>
          </p:cNvPr>
          <p:cNvSpPr/>
          <p:nvPr userDrawn="1"/>
        </p:nvSpPr>
        <p:spPr bwMode="auto">
          <a:xfrm>
            <a:off x="53980" y="185273"/>
            <a:ext cx="1236237" cy="646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 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42F7023-66D6-46EC-973C-E47B2962AC43}"/>
              </a:ext>
            </a:extLst>
          </p:cNvPr>
          <p:cNvCxnSpPr/>
          <p:nvPr userDrawn="1"/>
        </p:nvCxnSpPr>
        <p:spPr>
          <a:xfrm>
            <a:off x="1302612" y="314499"/>
            <a:ext cx="0" cy="34599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D0361D10-56FC-4A8F-B9ED-A7F17A40456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491880" y="1790926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F0BD16B8-5620-4656-80AA-13BDFE28D31C}"/>
              </a:ext>
            </a:extLst>
          </p:cNvPr>
          <p:cNvSpPr/>
          <p:nvPr userDrawn="1"/>
        </p:nvSpPr>
        <p:spPr>
          <a:xfrm>
            <a:off x="2751195" y="1779662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844763FC-1D7F-499C-85F7-D26FD36F7D6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491880" y="2520786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640331F-83CB-4AC3-ADA4-8A52B5C4D9D2}"/>
              </a:ext>
            </a:extLst>
          </p:cNvPr>
          <p:cNvSpPr/>
          <p:nvPr userDrawn="1"/>
        </p:nvSpPr>
        <p:spPr>
          <a:xfrm>
            <a:off x="2751195" y="2508565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内容占位符 2">
            <a:extLst>
              <a:ext uri="{FF2B5EF4-FFF2-40B4-BE49-F238E27FC236}">
                <a16:creationId xmlns:a16="http://schemas.microsoft.com/office/drawing/2014/main" id="{BCDFB43A-0457-4A16-9040-25F93BACE24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491880" y="3249445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C4B9B15A-8CBF-4B0E-B4A8-2A8AF91E233E}"/>
              </a:ext>
            </a:extLst>
          </p:cNvPr>
          <p:cNvSpPr/>
          <p:nvPr userDrawn="1"/>
        </p:nvSpPr>
        <p:spPr>
          <a:xfrm>
            <a:off x="2751195" y="3236845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46" descr="j0433868">
            <a:extLst>
              <a:ext uri="{FF2B5EF4-FFF2-40B4-BE49-F238E27FC236}">
                <a16:creationId xmlns:a16="http://schemas.microsoft.com/office/drawing/2014/main" id="{5927D490-4D90-4B32-B7A0-4E810E7B38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161866"/>
            <a:ext cx="1383196" cy="138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5047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964825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9A6774-B625-4A77-88AA-BF23D6B62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5616624" cy="37796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1101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135" y="273844"/>
            <a:ext cx="3123921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输入标题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7E7F7271-A452-45BF-930E-E01F92E4E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4" y="1059587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" name="内容占位符 3">
            <a:extLst>
              <a:ext uri="{FF2B5EF4-FFF2-40B4-BE49-F238E27FC236}">
                <a16:creationId xmlns:a16="http://schemas.microsoft.com/office/drawing/2014/main" id="{BD81CF26-63C0-4F1A-B1DA-89873C52A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059587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43322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90213-035A-4D7B-9DD8-F23D67901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2278"/>
            <a:ext cx="6535638" cy="5773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pic>
        <p:nvPicPr>
          <p:cNvPr id="9" name="Picture 22" descr="Network Globe">
            <a:extLst>
              <a:ext uri="{FF2B5EF4-FFF2-40B4-BE49-F238E27FC236}">
                <a16:creationId xmlns:a16="http://schemas.microsoft.com/office/drawing/2014/main" id="{8F91DDCF-4DE7-43B0-913B-3D2AF42940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3887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2" descr="Network Globe">
            <a:extLst>
              <a:ext uri="{FF2B5EF4-FFF2-40B4-BE49-F238E27FC236}">
                <a16:creationId xmlns:a16="http://schemas.microsoft.com/office/drawing/2014/main" id="{77EB77E8-8B3F-4748-B4DF-C40AD5D905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0690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C0C328-EE4D-46B1-B51D-A87EDE2DD711}" type="datetime1">
              <a:rPr lang="zh-CN" altLang="en-US" smtClean="0"/>
              <a:t>2025/4/23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计算机网络与通信</a:t>
            </a:r>
            <a:endParaRPr lang="zh-CN" altLang="en-US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</a:t>
            </a:r>
            <a:fld id="{18C5F776-3165-4A28-A3A9-1F88A1A482A7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3400922"/>
      </p:ext>
    </p:extLst>
  </p:cSld>
  <p:clrMapOvr>
    <a:masterClrMapping/>
  </p:clrMapOvr>
  <p:transition>
    <p:cut thruBlk="1"/>
    <p:sndAc>
      <p:stSnd>
        <p:snd r:embed="rId1" name="camera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audio" Target="../media/audio1.wav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A653AA-5300-4340-BCBA-3AE3C81B9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D5259C-52C1-4225-899D-5C122DDF0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92B90B-5705-4B4F-9FB6-FDC7563CD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0171BA0-784D-4217-A2ED-70CAB0E5FD2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318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47" r:id="rId2"/>
    <p:sldLayoutId id="2147483735" r:id="rId3"/>
    <p:sldLayoutId id="2147483737" r:id="rId4"/>
    <p:sldLayoutId id="2147483746" r:id="rId5"/>
    <p:sldLayoutId id="2147483739" r:id="rId6"/>
    <p:sldLayoutId id="2147483740" r:id="rId7"/>
    <p:sldLayoutId id="2147483749" r:id="rId8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0" name="arrow.wav"/>
          </p:stSnd>
        </p:sndAc>
      </p:transition>
    </mc:Choice>
    <mc:Fallback xmlns="">
      <p:transition spd="slow">
        <p:fade/>
        <p:sndAc>
          <p:stSnd>
            <p:snd r:embed="rId11" name="arrow.wav"/>
          </p:stSnd>
        </p:sndAc>
      </p:transition>
    </mc:Fallback>
  </mc:AlternateConten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1.wav"/><Relationship Id="rId5" Type="http://schemas.openxmlformats.org/officeDocument/2006/relationships/image" Target="../media/image4.emf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audio" Target="../media/audio1.wav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audio" Target="../media/audio1.wav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audio" Target="../media/audio1.wav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audio" Target="../media/audio1.wav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audio" Target="../media/audio1.wav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audio" Target="../media/audio1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audio" Target="../media/audio1.wav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audio" Target="../media/audio1.wav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audio" Target="../media/audio1.wav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audio" Target="../media/audio1.wav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audio" Target="../media/audio1.wav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audio" Target="../media/audio1.wav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audio" Target="../media/audio1.wav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gif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11" Type="http://schemas.openxmlformats.org/officeDocument/2006/relationships/audio" Target="../media/audio1.wav"/><Relationship Id="rId5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5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14.png"/><Relationship Id="rId5" Type="http://schemas.openxmlformats.org/officeDocument/2006/relationships/audio" Target="../media/audio1.wav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4FB47-84C8-4C76-9EB1-A57108491D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计算机网络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944878DA-67B4-44C8-80F6-C03D9B80CFC5}"/>
                  </a:ext>
                </a:extLst>
              </p14:cNvPr>
              <p14:cNvContentPartPr/>
              <p14:nvPr/>
            </p14:nvContentPartPr>
            <p14:xfrm>
              <a:off x="4476600" y="4914720"/>
              <a:ext cx="360" cy="3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944878DA-67B4-44C8-80F6-C03D9B80CFC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67240" y="490536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4207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1B92F35-EC4C-4273-898B-4D5509D7449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5.5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链路虚拟化  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1E674D-6363-40C7-BBFE-696566E8CAD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5.6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数据中心网络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7CA2DA62-6609-4998-A968-027ED0CAB1A7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altLang="zh-CN" dirty="0"/>
              <a:t>5.7 </a:t>
            </a:r>
            <a:r>
              <a:rPr lang="zh-CN" altLang="en-US" dirty="0"/>
              <a:t>自底向上回顾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4440A35-57D9-4443-BC06-8C740618D6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316416" y="4680000"/>
            <a:ext cx="628650" cy="273844"/>
          </a:xfrm>
        </p:spPr>
        <p:txBody>
          <a:bodyPr/>
          <a:lstStyle/>
          <a:p>
            <a:pPr>
              <a:defRPr/>
            </a:pPr>
            <a:r>
              <a:rPr lang="en-US" altLang="zh-CN"/>
              <a:t>page</a:t>
            </a:r>
            <a:fld id="{5A4F2AFE-40E9-47D7-93C1-1557BE766B14}" type="slidenum">
              <a:rPr lang="en-US" altLang="zh-CN" smtClean="0"/>
              <a:pPr>
                <a:defRPr/>
              </a:pPr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19480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5.7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总结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: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自底向上回顾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综合案例：一次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请求所要做的工作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到此为止，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TCP/IP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协议栈的各层已经学习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应用层</a:t>
            </a:r>
            <a:endParaRPr lang="en-US" altLang="zh-CN" dirty="0">
              <a:solidFill>
                <a:srgbClr val="0066CC"/>
              </a:solidFill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传输层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网络层</a:t>
            </a:r>
            <a:endParaRPr lang="en-US" altLang="zh-CN" dirty="0">
              <a:solidFill>
                <a:srgbClr val="0066CC"/>
              </a:solidFill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链路层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通过本案例来将各层的主要工作进行综合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目标：通过请求</a:t>
            </a:r>
            <a:r>
              <a:rPr lang="en-US" altLang="zh-CN" dirty="0">
                <a:solidFill>
                  <a:srgbClr val="0066CC"/>
                </a:solidFill>
              </a:rPr>
              <a:t>web</a:t>
            </a:r>
            <a:r>
              <a:rPr lang="zh-CN" altLang="en-US" dirty="0">
                <a:solidFill>
                  <a:srgbClr val="0066CC"/>
                </a:solidFill>
              </a:rPr>
              <a:t>对象来观察、复习和理解各层协议</a:t>
            </a:r>
            <a:endParaRPr lang="en-US" altLang="zh-CN" dirty="0">
              <a:solidFill>
                <a:srgbClr val="0066CC"/>
              </a:solidFill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手段：使用自己的浏览器向服务器</a:t>
            </a:r>
            <a:r>
              <a:rPr lang="en-US" altLang="zh-CN" dirty="0">
                <a:solidFill>
                  <a:srgbClr val="0066CC"/>
                </a:solidFill>
              </a:rPr>
              <a:t>(</a:t>
            </a:r>
            <a:r>
              <a:rPr lang="zh-CN" altLang="en-US" dirty="0">
                <a:solidFill>
                  <a:srgbClr val="0066CC"/>
                </a:solidFill>
              </a:rPr>
              <a:t>谷歌、百度</a:t>
            </a:r>
            <a:r>
              <a:rPr lang="en-US" altLang="zh-CN" dirty="0">
                <a:solidFill>
                  <a:srgbClr val="0066CC"/>
                </a:solidFill>
              </a:rPr>
              <a:t>)</a:t>
            </a:r>
            <a:r>
              <a:rPr lang="zh-CN" altLang="en-US" dirty="0">
                <a:solidFill>
                  <a:srgbClr val="0066CC"/>
                </a:solidFill>
              </a:rPr>
              <a:t>发起请求</a:t>
            </a: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观察数据的</a:t>
            </a:r>
            <a:r>
              <a:rPr lang="zh-CN" altLang="en-US" dirty="0">
                <a:solidFill>
                  <a:srgbClr val="0066C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艰辛</a:t>
            </a:r>
            <a:r>
              <a:rPr lang="zh-CN" altLang="en-US" dirty="0">
                <a:solidFill>
                  <a:srgbClr val="0066C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旅途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3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计算机为这次网络通信做了什么工作</a:t>
            </a: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FEB0920A-A573-4815-8C8C-0803E67CFAA1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EB9E0404-C6A6-46A4-87E9-C1DEE6E09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883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5.7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总结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: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自底向上回顾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7469644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一次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请求所要做的工作：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Whole picture</a:t>
            </a: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sp>
        <p:nvSpPr>
          <p:cNvPr id="8" name="Freeform 406"/>
          <p:cNvSpPr>
            <a:spLocks/>
          </p:cNvSpPr>
          <p:nvPr/>
        </p:nvSpPr>
        <p:spPr bwMode="auto">
          <a:xfrm>
            <a:off x="4904091" y="1429301"/>
            <a:ext cx="2838450" cy="2189354"/>
          </a:xfrm>
          <a:custGeom>
            <a:avLst/>
            <a:gdLst>
              <a:gd name="T0" fmla="*/ 2147483646 w 2453"/>
              <a:gd name="T1" fmla="*/ 2147483646 h 2011"/>
              <a:gd name="T2" fmla="*/ 2147483646 w 2453"/>
              <a:gd name="T3" fmla="*/ 2147483646 h 2011"/>
              <a:gd name="T4" fmla="*/ 2147483646 w 2453"/>
              <a:gd name="T5" fmla="*/ 2147483646 h 2011"/>
              <a:gd name="T6" fmla="*/ 2147483646 w 2453"/>
              <a:gd name="T7" fmla="*/ 2147483646 h 2011"/>
              <a:gd name="T8" fmla="*/ 2147483646 w 2453"/>
              <a:gd name="T9" fmla="*/ 2147483646 h 2011"/>
              <a:gd name="T10" fmla="*/ 2147483646 w 2453"/>
              <a:gd name="T11" fmla="*/ 2147483646 h 2011"/>
              <a:gd name="T12" fmla="*/ 2147483646 w 2453"/>
              <a:gd name="T13" fmla="*/ 2147483646 h 2011"/>
              <a:gd name="T14" fmla="*/ 2147483646 w 2453"/>
              <a:gd name="T15" fmla="*/ 2147483646 h 2011"/>
              <a:gd name="T16" fmla="*/ 2147483646 w 2453"/>
              <a:gd name="T17" fmla="*/ 2147483646 h 2011"/>
              <a:gd name="T18" fmla="*/ 2147483646 w 2453"/>
              <a:gd name="T19" fmla="*/ 2147483646 h 2011"/>
              <a:gd name="T20" fmla="*/ 2147483646 w 2453"/>
              <a:gd name="T21" fmla="*/ 2147483646 h 2011"/>
              <a:gd name="T22" fmla="*/ 2147483646 w 2453"/>
              <a:gd name="T23" fmla="*/ 2147483646 h 2011"/>
              <a:gd name="T24" fmla="*/ 2147483646 w 2453"/>
              <a:gd name="T25" fmla="*/ 2147483646 h 2011"/>
              <a:gd name="T26" fmla="*/ 2147483646 w 2453"/>
              <a:gd name="T27" fmla="*/ 2147483646 h 2011"/>
              <a:gd name="T28" fmla="*/ 2147483646 w 2453"/>
              <a:gd name="T29" fmla="*/ 2147483646 h 2011"/>
              <a:gd name="T30" fmla="*/ 2147483646 w 2453"/>
              <a:gd name="T31" fmla="*/ 2147483646 h 2011"/>
              <a:gd name="T32" fmla="*/ 2147483646 w 2453"/>
              <a:gd name="T33" fmla="*/ 2147483646 h 2011"/>
              <a:gd name="T34" fmla="*/ 2147483646 w 2453"/>
              <a:gd name="T35" fmla="*/ 2147483646 h 2011"/>
              <a:gd name="T36" fmla="*/ 2147483646 w 2453"/>
              <a:gd name="T37" fmla="*/ 2147483646 h 2011"/>
              <a:gd name="T38" fmla="*/ 2147483646 w 2453"/>
              <a:gd name="T39" fmla="*/ 2147483646 h 2011"/>
              <a:gd name="T40" fmla="*/ 2147483646 w 2453"/>
              <a:gd name="T41" fmla="*/ 2147483646 h 2011"/>
              <a:gd name="T42" fmla="*/ 2147483646 w 2453"/>
              <a:gd name="T43" fmla="*/ 2147483646 h 2011"/>
              <a:gd name="T44" fmla="*/ 2147483646 w 2453"/>
              <a:gd name="T45" fmla="*/ 2147483646 h 2011"/>
              <a:gd name="T46" fmla="*/ 2147483646 w 2453"/>
              <a:gd name="T47" fmla="*/ 2147483646 h 201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2453" h="2011">
                <a:moveTo>
                  <a:pt x="84" y="632"/>
                </a:moveTo>
                <a:cubicBezTo>
                  <a:pt x="51" y="704"/>
                  <a:pt x="28" y="747"/>
                  <a:pt x="16" y="809"/>
                </a:cubicBezTo>
                <a:cubicBezTo>
                  <a:pt x="4" y="871"/>
                  <a:pt x="0" y="949"/>
                  <a:pt x="9" y="1005"/>
                </a:cubicBezTo>
                <a:cubicBezTo>
                  <a:pt x="18" y="1061"/>
                  <a:pt x="44" y="1087"/>
                  <a:pt x="70" y="1147"/>
                </a:cubicBezTo>
                <a:cubicBezTo>
                  <a:pt x="96" y="1207"/>
                  <a:pt x="130" y="1314"/>
                  <a:pt x="165" y="1364"/>
                </a:cubicBezTo>
                <a:cubicBezTo>
                  <a:pt x="200" y="1414"/>
                  <a:pt x="216" y="1402"/>
                  <a:pt x="280" y="1446"/>
                </a:cubicBezTo>
                <a:cubicBezTo>
                  <a:pt x="344" y="1490"/>
                  <a:pt x="404" y="1587"/>
                  <a:pt x="549" y="1627"/>
                </a:cubicBezTo>
                <a:cubicBezTo>
                  <a:pt x="694" y="1667"/>
                  <a:pt x="987" y="1631"/>
                  <a:pt x="1152" y="1687"/>
                </a:cubicBezTo>
                <a:cubicBezTo>
                  <a:pt x="1317" y="1743"/>
                  <a:pt x="1455" y="1919"/>
                  <a:pt x="1542" y="1965"/>
                </a:cubicBezTo>
                <a:cubicBezTo>
                  <a:pt x="1629" y="2011"/>
                  <a:pt x="1610" y="1968"/>
                  <a:pt x="1675" y="1965"/>
                </a:cubicBezTo>
                <a:cubicBezTo>
                  <a:pt x="1740" y="1962"/>
                  <a:pt x="1816" y="1974"/>
                  <a:pt x="1933" y="1945"/>
                </a:cubicBezTo>
                <a:cubicBezTo>
                  <a:pt x="2050" y="1916"/>
                  <a:pt x="2299" y="1866"/>
                  <a:pt x="2376" y="1793"/>
                </a:cubicBezTo>
                <a:cubicBezTo>
                  <a:pt x="2453" y="1720"/>
                  <a:pt x="2410" y="1591"/>
                  <a:pt x="2396" y="1508"/>
                </a:cubicBezTo>
                <a:cubicBezTo>
                  <a:pt x="2382" y="1425"/>
                  <a:pt x="2301" y="1408"/>
                  <a:pt x="2293" y="1297"/>
                </a:cubicBezTo>
                <a:cubicBezTo>
                  <a:pt x="2285" y="1186"/>
                  <a:pt x="2339" y="950"/>
                  <a:pt x="2347" y="843"/>
                </a:cubicBezTo>
                <a:cubicBezTo>
                  <a:pt x="2355" y="736"/>
                  <a:pt x="2368" y="717"/>
                  <a:pt x="2340" y="653"/>
                </a:cubicBezTo>
                <a:cubicBezTo>
                  <a:pt x="2312" y="589"/>
                  <a:pt x="2247" y="537"/>
                  <a:pt x="2177" y="456"/>
                </a:cubicBezTo>
                <a:cubicBezTo>
                  <a:pt x="2107" y="375"/>
                  <a:pt x="2016" y="235"/>
                  <a:pt x="1920" y="165"/>
                </a:cubicBezTo>
                <a:cubicBezTo>
                  <a:pt x="1824" y="95"/>
                  <a:pt x="1716" y="61"/>
                  <a:pt x="1601" y="36"/>
                </a:cubicBezTo>
                <a:cubicBezTo>
                  <a:pt x="1486" y="11"/>
                  <a:pt x="1343" y="0"/>
                  <a:pt x="1229" y="16"/>
                </a:cubicBezTo>
                <a:cubicBezTo>
                  <a:pt x="1115" y="32"/>
                  <a:pt x="1042" y="90"/>
                  <a:pt x="917" y="131"/>
                </a:cubicBezTo>
                <a:cubicBezTo>
                  <a:pt x="792" y="172"/>
                  <a:pt x="595" y="219"/>
                  <a:pt x="477" y="260"/>
                </a:cubicBezTo>
                <a:cubicBezTo>
                  <a:pt x="359" y="301"/>
                  <a:pt x="280" y="311"/>
                  <a:pt x="212" y="375"/>
                </a:cubicBezTo>
                <a:cubicBezTo>
                  <a:pt x="144" y="439"/>
                  <a:pt x="117" y="560"/>
                  <a:pt x="84" y="632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9" name="Freeform 3"/>
          <p:cNvSpPr>
            <a:spLocks/>
          </p:cNvSpPr>
          <p:nvPr/>
        </p:nvSpPr>
        <p:spPr bwMode="auto">
          <a:xfrm>
            <a:off x="1716788" y="1649362"/>
            <a:ext cx="2665809" cy="2065735"/>
          </a:xfrm>
          <a:custGeom>
            <a:avLst/>
            <a:gdLst>
              <a:gd name="T0" fmla="*/ 2147483646 w 2406"/>
              <a:gd name="T1" fmla="*/ 2147483646 h 958"/>
              <a:gd name="T2" fmla="*/ 2147483646 w 2406"/>
              <a:gd name="T3" fmla="*/ 2147483646 h 958"/>
              <a:gd name="T4" fmla="*/ 2147483646 w 2406"/>
              <a:gd name="T5" fmla="*/ 2147483646 h 958"/>
              <a:gd name="T6" fmla="*/ 2147483646 w 2406"/>
              <a:gd name="T7" fmla="*/ 2147483646 h 958"/>
              <a:gd name="T8" fmla="*/ 2147483646 w 2406"/>
              <a:gd name="T9" fmla="*/ 2147483646 h 958"/>
              <a:gd name="T10" fmla="*/ 2147483646 w 2406"/>
              <a:gd name="T11" fmla="*/ 2147483646 h 958"/>
              <a:gd name="T12" fmla="*/ 2147483646 w 2406"/>
              <a:gd name="T13" fmla="*/ 2147483646 h 958"/>
              <a:gd name="T14" fmla="*/ 2147483646 w 2406"/>
              <a:gd name="T15" fmla="*/ 2147483646 h 958"/>
              <a:gd name="T16" fmla="*/ 2147483646 w 2406"/>
              <a:gd name="T17" fmla="*/ 2147483646 h 958"/>
              <a:gd name="T18" fmla="*/ 2147483646 w 2406"/>
              <a:gd name="T19" fmla="*/ 2147483646 h 958"/>
              <a:gd name="T20" fmla="*/ 2147483646 w 2406"/>
              <a:gd name="T21" fmla="*/ 2147483646 h 958"/>
              <a:gd name="T22" fmla="*/ 2147483646 w 2406"/>
              <a:gd name="T23" fmla="*/ 2147483646 h 958"/>
              <a:gd name="T24" fmla="*/ 2147483646 w 2406"/>
              <a:gd name="T25" fmla="*/ 2147483646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pSp>
        <p:nvGrpSpPr>
          <p:cNvPr id="10" name="Group 4"/>
          <p:cNvGrpSpPr>
            <a:grpSpLocks/>
          </p:cNvGrpSpPr>
          <p:nvPr/>
        </p:nvGrpSpPr>
        <p:grpSpPr bwMode="auto">
          <a:xfrm>
            <a:off x="5295807" y="2704256"/>
            <a:ext cx="567928" cy="284560"/>
            <a:chOff x="2466" y="2026"/>
            <a:chExt cx="477" cy="282"/>
          </a:xfrm>
        </p:grpSpPr>
        <p:sp>
          <p:nvSpPr>
            <p:cNvPr id="11" name="Oval 5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" name="Line 6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" name="Oval 8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5" name="Group 9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2" name="Line 1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3" name="Line 1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" name="Line 1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16" name="Group 13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19" name="Line 1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" name="Line 1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1" name="Line 1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25" name="Group 19"/>
          <p:cNvGrpSpPr>
            <a:grpSpLocks/>
          </p:cNvGrpSpPr>
          <p:nvPr/>
        </p:nvGrpSpPr>
        <p:grpSpPr bwMode="auto">
          <a:xfrm>
            <a:off x="6319745" y="2513756"/>
            <a:ext cx="567928" cy="284560"/>
            <a:chOff x="2466" y="2026"/>
            <a:chExt cx="477" cy="282"/>
          </a:xfrm>
        </p:grpSpPr>
        <p:sp>
          <p:nvSpPr>
            <p:cNvPr id="26" name="Oval 2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8" name="Rectangle 2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" name="Oval 2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0" name="Group 2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37" name="Line 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8" name="Line 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9" name="Line 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31" name="Group 2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34" name="Line 2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5" name="Line 3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6" name="Line 3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32" name="Line 3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3" name="Line 3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40" name="Text Box 34"/>
          <p:cNvSpPr txBox="1">
            <a:spLocks noChangeArrowheads="1"/>
          </p:cNvSpPr>
          <p:nvPr/>
        </p:nvSpPr>
        <p:spPr bwMode="auto">
          <a:xfrm>
            <a:off x="5281519" y="2016075"/>
            <a:ext cx="14141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Comcast network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68.80.0.0/13</a:t>
            </a:r>
          </a:p>
        </p:txBody>
      </p:sp>
      <p:sp>
        <p:nvSpPr>
          <p:cNvPr id="41" name="Line 36"/>
          <p:cNvSpPr>
            <a:spLocks noChangeShapeType="1"/>
          </p:cNvSpPr>
          <p:nvPr/>
        </p:nvSpPr>
        <p:spPr bwMode="auto">
          <a:xfrm flipV="1">
            <a:off x="3968260" y="2453035"/>
            <a:ext cx="116681" cy="10715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2" name="Line 43"/>
          <p:cNvSpPr>
            <a:spLocks noChangeShapeType="1"/>
          </p:cNvSpPr>
          <p:nvPr/>
        </p:nvSpPr>
        <p:spPr bwMode="auto">
          <a:xfrm flipV="1">
            <a:off x="3136014" y="2582812"/>
            <a:ext cx="52149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3" name="Line 44"/>
          <p:cNvSpPr>
            <a:spLocks noChangeShapeType="1"/>
          </p:cNvSpPr>
          <p:nvPr/>
        </p:nvSpPr>
        <p:spPr bwMode="auto">
          <a:xfrm flipV="1">
            <a:off x="4080179" y="2345878"/>
            <a:ext cx="103585" cy="107156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4" name="Line 48"/>
          <p:cNvSpPr>
            <a:spLocks noChangeShapeType="1"/>
          </p:cNvSpPr>
          <p:nvPr/>
        </p:nvSpPr>
        <p:spPr bwMode="auto">
          <a:xfrm flipV="1">
            <a:off x="3596785" y="2747119"/>
            <a:ext cx="384572" cy="45958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45" name="Group 49"/>
          <p:cNvGrpSpPr>
            <a:grpSpLocks/>
          </p:cNvGrpSpPr>
          <p:nvPr/>
        </p:nvGrpSpPr>
        <p:grpSpPr bwMode="auto">
          <a:xfrm>
            <a:off x="3207451" y="3218606"/>
            <a:ext cx="740569" cy="359569"/>
            <a:chOff x="1118" y="1621"/>
            <a:chExt cx="622" cy="302"/>
          </a:xfrm>
        </p:grpSpPr>
        <p:sp>
          <p:nvSpPr>
            <p:cNvPr id="46" name="Rectangle 50"/>
            <p:cNvSpPr>
              <a:spLocks noChangeArrowheads="1"/>
            </p:cNvSpPr>
            <p:nvPr/>
          </p:nvSpPr>
          <p:spPr bwMode="auto">
            <a:xfrm>
              <a:off x="1578" y="1789"/>
              <a:ext cx="162" cy="44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" name="Rectangle 51"/>
            <p:cNvSpPr>
              <a:spLocks noChangeArrowheads="1"/>
            </p:cNvSpPr>
            <p:nvPr/>
          </p:nvSpPr>
          <p:spPr bwMode="auto">
            <a:xfrm rot="-2700000">
              <a:off x="1336" y="1621"/>
              <a:ext cx="162" cy="44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48" name="Group 52"/>
            <p:cNvGrpSpPr>
              <a:grpSpLocks/>
            </p:cNvGrpSpPr>
            <p:nvPr/>
          </p:nvGrpSpPr>
          <p:grpSpPr bwMode="auto">
            <a:xfrm>
              <a:off x="1118" y="1684"/>
              <a:ext cx="477" cy="239"/>
              <a:chOff x="2466" y="2026"/>
              <a:chExt cx="477" cy="282"/>
            </a:xfrm>
          </p:grpSpPr>
          <p:sp>
            <p:nvSpPr>
              <p:cNvPr id="49" name="Oval 53"/>
              <p:cNvSpPr>
                <a:spLocks noChangeArrowheads="1"/>
              </p:cNvSpPr>
              <p:nvPr/>
            </p:nvSpPr>
            <p:spPr bwMode="auto">
              <a:xfrm>
                <a:off x="2466" y="2168"/>
                <a:ext cx="476" cy="140"/>
              </a:xfrm>
              <a:prstGeom prst="ellipse">
                <a:avLst/>
              </a:prstGeom>
              <a:solidFill>
                <a:srgbClr val="DDDDDD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0" name="Line 54"/>
              <p:cNvSpPr>
                <a:spLocks noChangeShapeType="1"/>
              </p:cNvSpPr>
              <p:nvPr/>
            </p:nvSpPr>
            <p:spPr bwMode="auto">
              <a:xfrm>
                <a:off x="2470" y="2125"/>
                <a:ext cx="1" cy="8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51" name="Rectangle 55"/>
              <p:cNvSpPr>
                <a:spLocks noChangeArrowheads="1"/>
              </p:cNvSpPr>
              <p:nvPr/>
            </p:nvSpPr>
            <p:spPr bwMode="auto">
              <a:xfrm>
                <a:off x="2470" y="2125"/>
                <a:ext cx="472" cy="111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" name="Oval 56"/>
              <p:cNvSpPr>
                <a:spLocks noChangeArrowheads="1"/>
              </p:cNvSpPr>
              <p:nvPr/>
            </p:nvSpPr>
            <p:spPr bwMode="auto">
              <a:xfrm>
                <a:off x="2466" y="2026"/>
                <a:ext cx="476" cy="160"/>
              </a:xfrm>
              <a:prstGeom prst="ellipse">
                <a:avLst/>
              </a:prstGeom>
              <a:solidFill>
                <a:srgbClr val="DDDDDD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53" name="Group 57"/>
              <p:cNvGrpSpPr>
                <a:grpSpLocks/>
              </p:cNvGrpSpPr>
              <p:nvPr/>
            </p:nvGrpSpPr>
            <p:grpSpPr bwMode="auto">
              <a:xfrm>
                <a:off x="2581" y="2061"/>
                <a:ext cx="236" cy="94"/>
                <a:chOff x="2848" y="848"/>
                <a:chExt cx="140" cy="98"/>
              </a:xfrm>
            </p:grpSpPr>
            <p:sp>
              <p:nvSpPr>
                <p:cNvPr id="60" name="Line 58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61" name="Line 59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62" name="Line 60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54" name="Group 61"/>
              <p:cNvGrpSpPr>
                <a:grpSpLocks/>
              </p:cNvGrpSpPr>
              <p:nvPr/>
            </p:nvGrpSpPr>
            <p:grpSpPr bwMode="auto">
              <a:xfrm flipV="1">
                <a:off x="2581" y="2060"/>
                <a:ext cx="236" cy="94"/>
                <a:chOff x="2848" y="848"/>
                <a:chExt cx="140" cy="98"/>
              </a:xfrm>
            </p:grpSpPr>
            <p:sp>
              <p:nvSpPr>
                <p:cNvPr id="57" name="Line 6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58" name="Line 6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59" name="Line 6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55" name="Line 65"/>
              <p:cNvSpPr>
                <a:spLocks noChangeShapeType="1"/>
              </p:cNvSpPr>
              <p:nvPr/>
            </p:nvSpPr>
            <p:spPr bwMode="auto">
              <a:xfrm flipH="1">
                <a:off x="2942" y="2109"/>
                <a:ext cx="1" cy="1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56" name="Line 66"/>
              <p:cNvSpPr>
                <a:spLocks noChangeShapeType="1"/>
              </p:cNvSpPr>
              <p:nvPr/>
            </p:nvSpPr>
            <p:spPr bwMode="auto">
              <a:xfrm flipH="1">
                <a:off x="2466" y="2117"/>
                <a:ext cx="1" cy="1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</p:grpSp>
      <p:sp>
        <p:nvSpPr>
          <p:cNvPr id="63" name="Line 68"/>
          <p:cNvSpPr>
            <a:spLocks noChangeShapeType="1"/>
          </p:cNvSpPr>
          <p:nvPr/>
        </p:nvSpPr>
        <p:spPr bwMode="auto">
          <a:xfrm flipV="1">
            <a:off x="3950401" y="2892375"/>
            <a:ext cx="1364456" cy="55006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64" name="Group 69"/>
          <p:cNvGrpSpPr>
            <a:grpSpLocks/>
          </p:cNvGrpSpPr>
          <p:nvPr/>
        </p:nvGrpSpPr>
        <p:grpSpPr bwMode="auto">
          <a:xfrm>
            <a:off x="6812664" y="3200747"/>
            <a:ext cx="567928" cy="284559"/>
            <a:chOff x="2466" y="2026"/>
            <a:chExt cx="477" cy="282"/>
          </a:xfrm>
        </p:grpSpPr>
        <p:sp>
          <p:nvSpPr>
            <p:cNvPr id="65" name="Oval 7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6" name="Line 7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7" name="Rectangle 7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" name="Oval 7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69" name="Group 7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76" name="Line 7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7" name="Line 7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8" name="Line 7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70" name="Group 7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73" name="Line 7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4" name="Line 8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5" name="Line 8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71" name="Line 8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2" name="Line 8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79" name="Line 93"/>
          <p:cNvSpPr>
            <a:spLocks noChangeShapeType="1"/>
          </p:cNvSpPr>
          <p:nvPr/>
        </p:nvSpPr>
        <p:spPr bwMode="auto">
          <a:xfrm flipH="1">
            <a:off x="6601922" y="2319684"/>
            <a:ext cx="195263" cy="19407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80" name="Freeform 94"/>
          <p:cNvSpPr>
            <a:spLocks/>
          </p:cNvSpPr>
          <p:nvPr/>
        </p:nvSpPr>
        <p:spPr bwMode="auto">
          <a:xfrm>
            <a:off x="2075166" y="3804393"/>
            <a:ext cx="4814888" cy="1215629"/>
          </a:xfrm>
          <a:custGeom>
            <a:avLst/>
            <a:gdLst>
              <a:gd name="T0" fmla="*/ 2147483646 w 2406"/>
              <a:gd name="T1" fmla="*/ 2147483646 h 958"/>
              <a:gd name="T2" fmla="*/ 2147483646 w 2406"/>
              <a:gd name="T3" fmla="*/ 2147483646 h 958"/>
              <a:gd name="T4" fmla="*/ 2147483646 w 2406"/>
              <a:gd name="T5" fmla="*/ 2147483646 h 958"/>
              <a:gd name="T6" fmla="*/ 2147483646 w 2406"/>
              <a:gd name="T7" fmla="*/ 2147483646 h 958"/>
              <a:gd name="T8" fmla="*/ 2147483646 w 2406"/>
              <a:gd name="T9" fmla="*/ 2147483646 h 958"/>
              <a:gd name="T10" fmla="*/ 2147483646 w 2406"/>
              <a:gd name="T11" fmla="*/ 2147483646 h 958"/>
              <a:gd name="T12" fmla="*/ 2147483646 w 2406"/>
              <a:gd name="T13" fmla="*/ 2147483646 h 958"/>
              <a:gd name="T14" fmla="*/ 2147483646 w 2406"/>
              <a:gd name="T15" fmla="*/ 2147483646 h 958"/>
              <a:gd name="T16" fmla="*/ 2147483646 w 2406"/>
              <a:gd name="T17" fmla="*/ 2147483646 h 958"/>
              <a:gd name="T18" fmla="*/ 2147483646 w 2406"/>
              <a:gd name="T19" fmla="*/ 2147483646 h 958"/>
              <a:gd name="T20" fmla="*/ 2147483646 w 2406"/>
              <a:gd name="T21" fmla="*/ 2147483646 h 958"/>
              <a:gd name="T22" fmla="*/ 2147483646 w 2406"/>
              <a:gd name="T23" fmla="*/ 2147483646 h 958"/>
              <a:gd name="T24" fmla="*/ 2147483646 w 2406"/>
              <a:gd name="T25" fmla="*/ 2147483646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pSp>
        <p:nvGrpSpPr>
          <p:cNvPr id="82" name="Group 110"/>
          <p:cNvGrpSpPr>
            <a:grpSpLocks/>
          </p:cNvGrpSpPr>
          <p:nvPr/>
        </p:nvGrpSpPr>
        <p:grpSpPr bwMode="auto">
          <a:xfrm>
            <a:off x="4277822" y="4237781"/>
            <a:ext cx="567929" cy="284560"/>
            <a:chOff x="2466" y="2026"/>
            <a:chExt cx="477" cy="282"/>
          </a:xfrm>
        </p:grpSpPr>
        <p:sp>
          <p:nvSpPr>
            <p:cNvPr id="83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4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5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6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87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94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5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6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88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91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2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3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89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0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97" name="Line 134"/>
          <p:cNvSpPr>
            <a:spLocks noChangeShapeType="1"/>
          </p:cNvSpPr>
          <p:nvPr/>
        </p:nvSpPr>
        <p:spPr bwMode="auto">
          <a:xfrm flipV="1">
            <a:off x="4618341" y="3000722"/>
            <a:ext cx="881063" cy="1238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98" name="Text Box 135"/>
          <p:cNvSpPr txBox="1">
            <a:spLocks noChangeArrowheads="1"/>
          </p:cNvSpPr>
          <p:nvPr/>
        </p:nvSpPr>
        <p:spPr bwMode="auto">
          <a:xfrm>
            <a:off x="4962453" y="4497236"/>
            <a:ext cx="18309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Organization</a:t>
            </a: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’</a:t>
            </a:r>
            <a:r>
              <a:rPr lang="en-US" altLang="ja-JP" sz="1200" dirty="0">
                <a:solidFill>
                  <a:srgbClr val="000000"/>
                </a:solidFill>
                <a:latin typeface="Arial" panose="020B0604020202020204" pitchFamily="34" charset="0"/>
              </a:rPr>
              <a:t>s network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64.204.2.0/24 </a:t>
            </a:r>
          </a:p>
        </p:txBody>
      </p:sp>
      <p:sp>
        <p:nvSpPr>
          <p:cNvPr id="99" name="Line 136"/>
          <p:cNvSpPr>
            <a:spLocks noChangeShapeType="1"/>
          </p:cNvSpPr>
          <p:nvPr/>
        </p:nvSpPr>
        <p:spPr bwMode="auto">
          <a:xfrm flipV="1">
            <a:off x="3552733" y="4365178"/>
            <a:ext cx="707231" cy="1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0" name="Text Box 137"/>
          <p:cNvSpPr txBox="1">
            <a:spLocks noChangeArrowheads="1"/>
          </p:cNvSpPr>
          <p:nvPr/>
        </p:nvSpPr>
        <p:spPr bwMode="auto">
          <a:xfrm>
            <a:off x="2737154" y="4659262"/>
            <a:ext cx="9092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60.204.2.9</a:t>
            </a:r>
          </a:p>
        </p:txBody>
      </p:sp>
      <p:sp>
        <p:nvSpPr>
          <p:cNvPr id="101" name="Text Box 138"/>
          <p:cNvSpPr txBox="1">
            <a:spLocks noChangeArrowheads="1"/>
          </p:cNvSpPr>
          <p:nvPr/>
        </p:nvSpPr>
        <p:spPr bwMode="auto">
          <a:xfrm>
            <a:off x="2713342" y="4438997"/>
            <a:ext cx="93487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web server</a:t>
            </a:r>
          </a:p>
        </p:txBody>
      </p:sp>
      <p:sp>
        <p:nvSpPr>
          <p:cNvPr id="102" name="Text Box 139"/>
          <p:cNvSpPr txBox="1">
            <a:spLocks noChangeArrowheads="1"/>
          </p:cNvSpPr>
          <p:nvPr/>
        </p:nvSpPr>
        <p:spPr bwMode="auto">
          <a:xfrm>
            <a:off x="6941251" y="1732706"/>
            <a:ext cx="9781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DNS server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03" name="Group 95"/>
          <p:cNvGrpSpPr>
            <a:grpSpLocks/>
          </p:cNvGrpSpPr>
          <p:nvPr/>
        </p:nvGrpSpPr>
        <p:grpSpPr bwMode="auto">
          <a:xfrm>
            <a:off x="5606560" y="3968700"/>
            <a:ext cx="567929" cy="284560"/>
            <a:chOff x="2466" y="2026"/>
            <a:chExt cx="477" cy="282"/>
          </a:xfrm>
        </p:grpSpPr>
        <p:sp>
          <p:nvSpPr>
            <p:cNvPr id="104" name="Oval 96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" name="Line 97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6" name="Rectangle 98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7" name="Oval 99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08" name="Group 100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115" name="Line 10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6" name="Line 10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7" name="Line 10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109" name="Group 104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112" name="Line 10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3" name="Line 10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4" name="Line 10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110" name="Line 108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1" name="Line 109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18" name="Group 166"/>
          <p:cNvGrpSpPr>
            <a:grpSpLocks/>
          </p:cNvGrpSpPr>
          <p:nvPr/>
        </p:nvGrpSpPr>
        <p:grpSpPr bwMode="auto">
          <a:xfrm>
            <a:off x="5144597" y="2980481"/>
            <a:ext cx="300038" cy="114300"/>
            <a:chOff x="3228" y="1776"/>
            <a:chExt cx="252" cy="96"/>
          </a:xfrm>
        </p:grpSpPr>
        <p:sp>
          <p:nvSpPr>
            <p:cNvPr id="119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0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21" name="Group 167"/>
          <p:cNvGrpSpPr>
            <a:grpSpLocks/>
          </p:cNvGrpSpPr>
          <p:nvPr/>
        </p:nvGrpSpPr>
        <p:grpSpPr bwMode="auto">
          <a:xfrm flipH="1">
            <a:off x="5616085" y="2991197"/>
            <a:ext cx="300038" cy="114300"/>
            <a:chOff x="3228" y="1776"/>
            <a:chExt cx="252" cy="96"/>
          </a:xfrm>
        </p:grpSpPr>
        <p:sp>
          <p:nvSpPr>
            <p:cNvPr id="122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3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24" name="Group 170"/>
          <p:cNvGrpSpPr>
            <a:grpSpLocks/>
          </p:cNvGrpSpPr>
          <p:nvPr/>
        </p:nvGrpSpPr>
        <p:grpSpPr bwMode="auto">
          <a:xfrm flipH="1" flipV="1">
            <a:off x="5730385" y="2598290"/>
            <a:ext cx="300038" cy="114300"/>
            <a:chOff x="3228" y="1776"/>
            <a:chExt cx="252" cy="96"/>
          </a:xfrm>
        </p:grpSpPr>
        <p:sp>
          <p:nvSpPr>
            <p:cNvPr id="125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6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27" name="Group 173"/>
          <p:cNvGrpSpPr>
            <a:grpSpLocks/>
          </p:cNvGrpSpPr>
          <p:nvPr/>
        </p:nvGrpSpPr>
        <p:grpSpPr bwMode="auto">
          <a:xfrm flipH="1" flipV="1">
            <a:off x="7305582" y="3116212"/>
            <a:ext cx="300038" cy="114300"/>
            <a:chOff x="3228" y="1776"/>
            <a:chExt cx="252" cy="96"/>
          </a:xfrm>
        </p:grpSpPr>
        <p:sp>
          <p:nvSpPr>
            <p:cNvPr id="128" name="Line 17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9" name="Line 17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0" name="Group 176"/>
          <p:cNvGrpSpPr>
            <a:grpSpLocks/>
          </p:cNvGrpSpPr>
          <p:nvPr/>
        </p:nvGrpSpPr>
        <p:grpSpPr bwMode="auto">
          <a:xfrm flipV="1">
            <a:off x="6687648" y="3130499"/>
            <a:ext cx="221456" cy="85725"/>
            <a:chOff x="3228" y="1776"/>
            <a:chExt cx="252" cy="96"/>
          </a:xfrm>
        </p:grpSpPr>
        <p:sp>
          <p:nvSpPr>
            <p:cNvPr id="131" name="Line 177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" name="Line 178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3" name="Group 179"/>
          <p:cNvGrpSpPr>
            <a:grpSpLocks/>
          </p:cNvGrpSpPr>
          <p:nvPr/>
        </p:nvGrpSpPr>
        <p:grpSpPr bwMode="auto">
          <a:xfrm rot="409689" flipH="1" flipV="1">
            <a:off x="6891245" y="2637580"/>
            <a:ext cx="339328" cy="42863"/>
            <a:chOff x="3228" y="1776"/>
            <a:chExt cx="252" cy="96"/>
          </a:xfrm>
        </p:grpSpPr>
        <p:sp>
          <p:nvSpPr>
            <p:cNvPr id="134" name="Line 180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5" name="Line 181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6" name="Group 182"/>
          <p:cNvGrpSpPr>
            <a:grpSpLocks/>
          </p:cNvGrpSpPr>
          <p:nvPr/>
        </p:nvGrpSpPr>
        <p:grpSpPr bwMode="auto">
          <a:xfrm>
            <a:off x="6248308" y="2791172"/>
            <a:ext cx="221456" cy="85725"/>
            <a:chOff x="3228" y="1776"/>
            <a:chExt cx="252" cy="96"/>
          </a:xfrm>
        </p:grpSpPr>
        <p:sp>
          <p:nvSpPr>
            <p:cNvPr id="137" name="Line 183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8" name="Line 184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9" name="Group 185"/>
          <p:cNvGrpSpPr>
            <a:grpSpLocks/>
          </p:cNvGrpSpPr>
          <p:nvPr/>
        </p:nvGrpSpPr>
        <p:grpSpPr bwMode="auto">
          <a:xfrm flipH="1">
            <a:off x="6726939" y="2791172"/>
            <a:ext cx="221456" cy="85725"/>
            <a:chOff x="3228" y="1776"/>
            <a:chExt cx="252" cy="96"/>
          </a:xfrm>
        </p:grpSpPr>
        <p:sp>
          <p:nvSpPr>
            <p:cNvPr id="140" name="Line 186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1" name="Line 187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42" name="Group 188"/>
          <p:cNvGrpSpPr>
            <a:grpSpLocks/>
          </p:cNvGrpSpPr>
          <p:nvPr/>
        </p:nvGrpSpPr>
        <p:grpSpPr bwMode="auto">
          <a:xfrm>
            <a:off x="5537504" y="4252068"/>
            <a:ext cx="221456" cy="85725"/>
            <a:chOff x="3228" y="1776"/>
            <a:chExt cx="252" cy="96"/>
          </a:xfrm>
        </p:grpSpPr>
        <p:sp>
          <p:nvSpPr>
            <p:cNvPr id="143" name="Line 189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4" name="Line 190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45" name="Group 191"/>
          <p:cNvGrpSpPr>
            <a:grpSpLocks/>
          </p:cNvGrpSpPr>
          <p:nvPr/>
        </p:nvGrpSpPr>
        <p:grpSpPr bwMode="auto">
          <a:xfrm flipH="1">
            <a:off x="6016135" y="4252068"/>
            <a:ext cx="221456" cy="85725"/>
            <a:chOff x="3228" y="1776"/>
            <a:chExt cx="252" cy="96"/>
          </a:xfrm>
        </p:grpSpPr>
        <p:sp>
          <p:nvSpPr>
            <p:cNvPr id="146" name="Line 192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7" name="Line 193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48" name="Group 194"/>
          <p:cNvGrpSpPr>
            <a:grpSpLocks/>
          </p:cNvGrpSpPr>
          <p:nvPr/>
        </p:nvGrpSpPr>
        <p:grpSpPr bwMode="auto">
          <a:xfrm>
            <a:off x="4212339" y="4519959"/>
            <a:ext cx="221456" cy="85725"/>
            <a:chOff x="3228" y="1776"/>
            <a:chExt cx="252" cy="96"/>
          </a:xfrm>
        </p:grpSpPr>
        <p:sp>
          <p:nvSpPr>
            <p:cNvPr id="149" name="Line 195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0" name="Line 196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51" name="Group 197"/>
          <p:cNvGrpSpPr>
            <a:grpSpLocks/>
          </p:cNvGrpSpPr>
          <p:nvPr/>
        </p:nvGrpSpPr>
        <p:grpSpPr bwMode="auto">
          <a:xfrm flipH="1">
            <a:off x="4690970" y="4519959"/>
            <a:ext cx="221456" cy="85725"/>
            <a:chOff x="3228" y="1776"/>
            <a:chExt cx="252" cy="96"/>
          </a:xfrm>
        </p:grpSpPr>
        <p:sp>
          <p:nvSpPr>
            <p:cNvPr id="152" name="Line 19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3" name="Line 19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54" name="Group 200"/>
          <p:cNvGrpSpPr>
            <a:grpSpLocks/>
          </p:cNvGrpSpPr>
          <p:nvPr/>
        </p:nvGrpSpPr>
        <p:grpSpPr bwMode="auto">
          <a:xfrm flipH="1" flipV="1">
            <a:off x="4844560" y="4298503"/>
            <a:ext cx="221456" cy="85725"/>
            <a:chOff x="3228" y="1776"/>
            <a:chExt cx="252" cy="96"/>
          </a:xfrm>
        </p:grpSpPr>
        <p:sp>
          <p:nvSpPr>
            <p:cNvPr id="155" name="Line 20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6" name="Line 20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157" name="Text Box 34"/>
          <p:cNvSpPr txBox="1">
            <a:spLocks noChangeArrowheads="1"/>
          </p:cNvSpPr>
          <p:nvPr/>
        </p:nvSpPr>
        <p:spPr bwMode="auto">
          <a:xfrm>
            <a:off x="1979917" y="3041203"/>
            <a:ext cx="12506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school network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68.80.2.0/24</a:t>
            </a:r>
          </a:p>
        </p:txBody>
      </p:sp>
      <p:sp>
        <p:nvSpPr>
          <p:cNvPr id="159" name="Text Box 404"/>
          <p:cNvSpPr txBox="1">
            <a:spLocks noChangeArrowheads="1"/>
          </p:cNvSpPr>
          <p:nvPr/>
        </p:nvSpPr>
        <p:spPr bwMode="auto">
          <a:xfrm>
            <a:off x="2367341" y="3609579"/>
            <a:ext cx="771365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 dirty="0">
                <a:solidFill>
                  <a:srgbClr val="FF0000"/>
                </a:solidFill>
                <a:latin typeface="Arial" panose="020B0604020202020204" pitchFamily="34" charset="0"/>
              </a:rPr>
              <a:t>web page</a:t>
            </a:r>
          </a:p>
        </p:txBody>
      </p:sp>
      <p:grpSp>
        <p:nvGrpSpPr>
          <p:cNvPr id="160" name="Group 405"/>
          <p:cNvGrpSpPr>
            <a:grpSpLocks/>
          </p:cNvGrpSpPr>
          <p:nvPr/>
        </p:nvGrpSpPr>
        <p:grpSpPr bwMode="auto">
          <a:xfrm>
            <a:off x="1475091" y="1566018"/>
            <a:ext cx="1062038" cy="948929"/>
            <a:chOff x="146" y="690"/>
            <a:chExt cx="892" cy="797"/>
          </a:xfrm>
        </p:grpSpPr>
        <p:grpSp>
          <p:nvGrpSpPr>
            <p:cNvPr id="161" name="Group 400"/>
            <p:cNvGrpSpPr>
              <a:grpSpLocks/>
            </p:cNvGrpSpPr>
            <p:nvPr/>
          </p:nvGrpSpPr>
          <p:grpSpPr bwMode="auto">
            <a:xfrm>
              <a:off x="146" y="690"/>
              <a:ext cx="892" cy="797"/>
              <a:chOff x="146" y="690"/>
              <a:chExt cx="892" cy="797"/>
            </a:xfrm>
          </p:grpSpPr>
          <p:sp>
            <p:nvSpPr>
              <p:cNvPr id="163" name="Freeform 398"/>
              <p:cNvSpPr>
                <a:spLocks/>
              </p:cNvSpPr>
              <p:nvPr/>
            </p:nvSpPr>
            <p:spPr bwMode="auto">
              <a:xfrm>
                <a:off x="177" y="715"/>
                <a:ext cx="861" cy="772"/>
              </a:xfrm>
              <a:custGeom>
                <a:avLst/>
                <a:gdLst>
                  <a:gd name="T0" fmla="*/ 861 w 861"/>
                  <a:gd name="T1" fmla="*/ 772 h 772"/>
                  <a:gd name="T2" fmla="*/ 0 w 861"/>
                  <a:gd name="T3" fmla="*/ 557 h 772"/>
                  <a:gd name="T4" fmla="*/ 532 w 861"/>
                  <a:gd name="T5" fmla="*/ 405 h 772"/>
                  <a:gd name="T6" fmla="*/ 652 w 861"/>
                  <a:gd name="T7" fmla="*/ 0 h 772"/>
                  <a:gd name="T8" fmla="*/ 861 w 861"/>
                  <a:gd name="T9" fmla="*/ 772 h 7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61" h="772">
                    <a:moveTo>
                      <a:pt x="861" y="772"/>
                    </a:moveTo>
                    <a:lnTo>
                      <a:pt x="0" y="557"/>
                    </a:lnTo>
                    <a:lnTo>
                      <a:pt x="532" y="405"/>
                    </a:lnTo>
                    <a:lnTo>
                      <a:pt x="652" y="0"/>
                    </a:lnTo>
                    <a:lnTo>
                      <a:pt x="861" y="772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100000">
                    <a:srgbClr val="FF00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grpSp>
            <p:nvGrpSpPr>
              <p:cNvPr id="164" name="Group 392"/>
              <p:cNvGrpSpPr>
                <a:grpSpLocks/>
              </p:cNvGrpSpPr>
              <p:nvPr/>
            </p:nvGrpSpPr>
            <p:grpSpPr bwMode="auto">
              <a:xfrm>
                <a:off x="148" y="697"/>
                <a:ext cx="694" cy="574"/>
                <a:chOff x="2579" y="1366"/>
                <a:chExt cx="1078" cy="674"/>
              </a:xfrm>
            </p:grpSpPr>
            <p:pic>
              <p:nvPicPr>
                <p:cNvPr id="166" name="Picture 393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79" y="1366"/>
                  <a:ext cx="1078" cy="6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7" name="Rectangle 394"/>
                <p:cNvSpPr>
                  <a:spLocks noChangeArrowheads="1"/>
                </p:cNvSpPr>
                <p:nvPr/>
              </p:nvSpPr>
              <p:spPr bwMode="auto">
                <a:xfrm>
                  <a:off x="2633" y="1428"/>
                  <a:ext cx="957" cy="56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165" name="Rectangle 399"/>
              <p:cNvSpPr>
                <a:spLocks noChangeArrowheads="1"/>
              </p:cNvSpPr>
              <p:nvPr/>
            </p:nvSpPr>
            <p:spPr bwMode="auto">
              <a:xfrm>
                <a:off x="146" y="690"/>
                <a:ext cx="696" cy="58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162" name="Text Box 402"/>
            <p:cNvSpPr txBox="1">
              <a:spLocks noChangeArrowheads="1"/>
            </p:cNvSpPr>
            <p:nvPr/>
          </p:nvSpPr>
          <p:spPr bwMode="auto">
            <a:xfrm>
              <a:off x="227" y="850"/>
              <a:ext cx="55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FF0000"/>
                  </a:solidFill>
                  <a:latin typeface="Arial" panose="020B0604020202020204" pitchFamily="34" charset="0"/>
                </a:rPr>
                <a:t>browser</a:t>
              </a:r>
            </a:p>
          </p:txBody>
        </p:sp>
      </p:grpSp>
      <p:grpSp>
        <p:nvGrpSpPr>
          <p:cNvPr id="168" name="Group 356"/>
          <p:cNvGrpSpPr>
            <a:grpSpLocks/>
          </p:cNvGrpSpPr>
          <p:nvPr/>
        </p:nvGrpSpPr>
        <p:grpSpPr bwMode="auto">
          <a:xfrm>
            <a:off x="2391873" y="2118468"/>
            <a:ext cx="632222" cy="610791"/>
            <a:chOff x="313" y="1497"/>
            <a:chExt cx="1152" cy="1014"/>
          </a:xfrm>
        </p:grpSpPr>
        <p:pic>
          <p:nvPicPr>
            <p:cNvPr id="169" name="Picture 354" descr="laptop_stylized_small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0" name="Picture 355" descr="antenna_stylized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1" name="AutoShape 396"/>
          <p:cNvSpPr>
            <a:spLocks noChangeArrowheads="1"/>
          </p:cNvSpPr>
          <p:nvPr/>
        </p:nvSpPr>
        <p:spPr bwMode="auto">
          <a:xfrm>
            <a:off x="1759651" y="2394694"/>
            <a:ext cx="732234" cy="364331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pic>
        <p:nvPicPr>
          <p:cNvPr id="172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545" y="2528043"/>
            <a:ext cx="685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3" name="Rectangle 43"/>
          <p:cNvSpPr>
            <a:spLocks noChangeArrowheads="1"/>
          </p:cNvSpPr>
          <p:nvPr/>
        </p:nvSpPr>
        <p:spPr bwMode="auto">
          <a:xfrm rot="16200000">
            <a:off x="3820622" y="3357909"/>
            <a:ext cx="110729" cy="141684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350">
              <a:solidFill>
                <a:srgbClr val="000000"/>
              </a:solidFill>
            </a:endParaRPr>
          </a:p>
        </p:txBody>
      </p:sp>
      <p:sp>
        <p:nvSpPr>
          <p:cNvPr id="174" name="Rectangle 43"/>
          <p:cNvSpPr>
            <a:spLocks noChangeArrowheads="1"/>
          </p:cNvSpPr>
          <p:nvPr/>
        </p:nvSpPr>
        <p:spPr bwMode="auto">
          <a:xfrm rot="2460490">
            <a:off x="3564639" y="3100735"/>
            <a:ext cx="102394" cy="229790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350">
              <a:solidFill>
                <a:srgbClr val="000000"/>
              </a:solidFill>
            </a:endParaRPr>
          </a:p>
        </p:txBody>
      </p:sp>
      <p:sp>
        <p:nvSpPr>
          <p:cNvPr id="175" name="Oval 407"/>
          <p:cNvSpPr>
            <a:spLocks noChangeArrowheads="1"/>
          </p:cNvSpPr>
          <p:nvPr/>
        </p:nvSpPr>
        <p:spPr bwMode="auto">
          <a:xfrm>
            <a:off x="3172922" y="3409106"/>
            <a:ext cx="638175" cy="188119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76" name="Rectangle 410"/>
          <p:cNvSpPr>
            <a:spLocks noChangeArrowheads="1"/>
          </p:cNvSpPr>
          <p:nvPr/>
        </p:nvSpPr>
        <p:spPr bwMode="auto">
          <a:xfrm>
            <a:off x="3172923" y="3387675"/>
            <a:ext cx="640556" cy="117872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77" name="Oval 411"/>
          <p:cNvSpPr>
            <a:spLocks noChangeArrowheads="1"/>
          </p:cNvSpPr>
          <p:nvPr/>
        </p:nvSpPr>
        <p:spPr bwMode="auto">
          <a:xfrm>
            <a:off x="3170541" y="3260278"/>
            <a:ext cx="638175" cy="220265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178" name="Group 1189"/>
          <p:cNvGrpSpPr>
            <a:grpSpLocks/>
          </p:cNvGrpSpPr>
          <p:nvPr/>
        </p:nvGrpSpPr>
        <p:grpSpPr bwMode="auto">
          <a:xfrm>
            <a:off x="3299129" y="3317428"/>
            <a:ext cx="360760" cy="102394"/>
            <a:chOff x="2468" y="1332"/>
            <a:chExt cx="310" cy="60"/>
          </a:xfrm>
        </p:grpSpPr>
        <p:sp>
          <p:nvSpPr>
            <p:cNvPr id="179" name="Freeform 1190"/>
            <p:cNvSpPr>
              <a:spLocks/>
            </p:cNvSpPr>
            <p:nvPr/>
          </p:nvSpPr>
          <p:spPr bwMode="auto">
            <a:xfrm>
              <a:off x="2468" y="1332"/>
              <a:ext cx="310" cy="60"/>
            </a:xfrm>
            <a:custGeom>
              <a:avLst/>
              <a:gdLst>
                <a:gd name="T0" fmla="*/ 0 w 310"/>
                <a:gd name="T1" fmla="*/ 60 h 60"/>
                <a:gd name="T2" fmla="*/ 96 w 310"/>
                <a:gd name="T3" fmla="*/ 60 h 60"/>
                <a:gd name="T4" fmla="*/ 192 w 310"/>
                <a:gd name="T5" fmla="*/ 0 h 60"/>
                <a:gd name="T6" fmla="*/ 310 w 310"/>
                <a:gd name="T7" fmla="*/ 0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0" h="60">
                  <a:moveTo>
                    <a:pt x="0" y="60"/>
                  </a:moveTo>
                  <a:lnTo>
                    <a:pt x="96" y="60"/>
                  </a:lnTo>
                  <a:lnTo>
                    <a:pt x="192" y="0"/>
                  </a:lnTo>
                  <a:lnTo>
                    <a:pt x="310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0" name="Freeform 1191"/>
            <p:cNvSpPr>
              <a:spLocks/>
            </p:cNvSpPr>
            <p:nvPr/>
          </p:nvSpPr>
          <p:spPr bwMode="auto">
            <a:xfrm>
              <a:off x="2482" y="1332"/>
              <a:ext cx="282" cy="60"/>
            </a:xfrm>
            <a:custGeom>
              <a:avLst/>
              <a:gdLst>
                <a:gd name="T0" fmla="*/ 0 w 282"/>
                <a:gd name="T1" fmla="*/ 0 h 60"/>
                <a:gd name="T2" fmla="*/ 96 w 282"/>
                <a:gd name="T3" fmla="*/ 0 h 60"/>
                <a:gd name="T4" fmla="*/ 192 w 282"/>
                <a:gd name="T5" fmla="*/ 60 h 60"/>
                <a:gd name="T6" fmla="*/ 282 w 282"/>
                <a:gd name="T7" fmla="*/ 60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2" h="60">
                  <a:moveTo>
                    <a:pt x="0" y="0"/>
                  </a:moveTo>
                  <a:lnTo>
                    <a:pt x="96" y="0"/>
                  </a:lnTo>
                  <a:lnTo>
                    <a:pt x="192" y="60"/>
                  </a:lnTo>
                  <a:lnTo>
                    <a:pt x="282" y="6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181" name="Line 1192"/>
          <p:cNvSpPr>
            <a:spLocks noChangeShapeType="1"/>
          </p:cNvSpPr>
          <p:nvPr/>
        </p:nvSpPr>
        <p:spPr bwMode="auto">
          <a:xfrm>
            <a:off x="3172922" y="3362672"/>
            <a:ext cx="0" cy="1500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82" name="Line 1193"/>
          <p:cNvSpPr>
            <a:spLocks noChangeShapeType="1"/>
          </p:cNvSpPr>
          <p:nvPr/>
        </p:nvSpPr>
        <p:spPr bwMode="auto">
          <a:xfrm>
            <a:off x="3808716" y="3369815"/>
            <a:ext cx="0" cy="1464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83" name="Rectangle 43"/>
          <p:cNvSpPr>
            <a:spLocks noChangeArrowheads="1"/>
          </p:cNvSpPr>
          <p:nvPr/>
        </p:nvSpPr>
        <p:spPr bwMode="auto">
          <a:xfrm rot="16200000">
            <a:off x="3012188" y="2468512"/>
            <a:ext cx="109538" cy="235744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350">
              <a:solidFill>
                <a:srgbClr val="000000"/>
              </a:solidFill>
            </a:endParaRPr>
          </a:p>
        </p:txBody>
      </p:sp>
      <p:grpSp>
        <p:nvGrpSpPr>
          <p:cNvPr id="184" name="Group 1185"/>
          <p:cNvGrpSpPr>
            <a:grpSpLocks/>
          </p:cNvGrpSpPr>
          <p:nvPr/>
        </p:nvGrpSpPr>
        <p:grpSpPr bwMode="auto">
          <a:xfrm>
            <a:off x="5262469" y="2694731"/>
            <a:ext cx="622697" cy="341710"/>
            <a:chOff x="4650" y="1129"/>
            <a:chExt cx="246" cy="95"/>
          </a:xfrm>
        </p:grpSpPr>
        <p:sp>
          <p:nvSpPr>
            <p:cNvPr id="185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6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7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88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91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92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89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0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93" name="Group 1185"/>
          <p:cNvGrpSpPr>
            <a:grpSpLocks/>
          </p:cNvGrpSpPr>
          <p:nvPr/>
        </p:nvGrpSpPr>
        <p:grpSpPr bwMode="auto">
          <a:xfrm>
            <a:off x="6305457" y="2495896"/>
            <a:ext cx="606028" cy="319088"/>
            <a:chOff x="4650" y="1129"/>
            <a:chExt cx="246" cy="95"/>
          </a:xfrm>
        </p:grpSpPr>
        <p:sp>
          <p:nvSpPr>
            <p:cNvPr id="194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5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6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97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00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01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98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9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202" name="Group 1185"/>
          <p:cNvGrpSpPr>
            <a:grpSpLocks/>
          </p:cNvGrpSpPr>
          <p:nvPr/>
        </p:nvGrpSpPr>
        <p:grpSpPr bwMode="auto">
          <a:xfrm>
            <a:off x="6766229" y="3198366"/>
            <a:ext cx="669131" cy="292894"/>
            <a:chOff x="4650" y="1129"/>
            <a:chExt cx="246" cy="95"/>
          </a:xfrm>
        </p:grpSpPr>
        <p:sp>
          <p:nvSpPr>
            <p:cNvPr id="203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4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5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06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09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0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207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8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211" name="Group 1185"/>
          <p:cNvGrpSpPr>
            <a:grpSpLocks/>
          </p:cNvGrpSpPr>
          <p:nvPr/>
        </p:nvGrpSpPr>
        <p:grpSpPr bwMode="auto">
          <a:xfrm>
            <a:off x="5574414" y="3953221"/>
            <a:ext cx="606028" cy="319088"/>
            <a:chOff x="4650" y="1129"/>
            <a:chExt cx="246" cy="95"/>
          </a:xfrm>
        </p:grpSpPr>
        <p:sp>
          <p:nvSpPr>
            <p:cNvPr id="212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13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14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15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8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9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216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7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220" name="Group 1185"/>
          <p:cNvGrpSpPr>
            <a:grpSpLocks/>
          </p:cNvGrpSpPr>
          <p:nvPr/>
        </p:nvGrpSpPr>
        <p:grpSpPr bwMode="auto">
          <a:xfrm>
            <a:off x="4268297" y="4227065"/>
            <a:ext cx="606029" cy="319088"/>
            <a:chOff x="4650" y="1129"/>
            <a:chExt cx="246" cy="95"/>
          </a:xfrm>
        </p:grpSpPr>
        <p:sp>
          <p:nvSpPr>
            <p:cNvPr id="221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22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23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24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27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28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225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6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229" name="Group 248"/>
          <p:cNvGrpSpPr>
            <a:grpSpLocks/>
          </p:cNvGrpSpPr>
          <p:nvPr/>
        </p:nvGrpSpPr>
        <p:grpSpPr bwMode="auto">
          <a:xfrm>
            <a:off x="6698456" y="1845449"/>
            <a:ext cx="269081" cy="467916"/>
            <a:chOff x="4140" y="429"/>
            <a:chExt cx="1425" cy="2396"/>
          </a:xfrm>
        </p:grpSpPr>
        <p:sp>
          <p:nvSpPr>
            <p:cNvPr id="230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1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32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3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4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35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0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61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36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37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8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59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38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39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40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6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57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41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42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4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55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43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44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5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6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47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8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49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0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1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2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3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262" name="Group 248"/>
          <p:cNvGrpSpPr>
            <a:grpSpLocks/>
          </p:cNvGrpSpPr>
          <p:nvPr/>
        </p:nvGrpSpPr>
        <p:grpSpPr bwMode="auto">
          <a:xfrm>
            <a:off x="3415810" y="4035374"/>
            <a:ext cx="269081" cy="467916"/>
            <a:chOff x="4140" y="429"/>
            <a:chExt cx="1425" cy="2396"/>
          </a:xfrm>
        </p:grpSpPr>
        <p:sp>
          <p:nvSpPr>
            <p:cNvPr id="263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4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65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6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7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68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93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94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69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70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91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92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71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72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73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89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90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74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75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87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88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76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77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8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9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0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1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2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3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4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5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6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295" name="Picture 15" descr="User-icon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269" y="2105888"/>
            <a:ext cx="465425" cy="46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6" name="Text Box 139"/>
          <p:cNvSpPr txBox="1">
            <a:spLocks noChangeArrowheads="1"/>
          </p:cNvSpPr>
          <p:nvPr/>
        </p:nvSpPr>
        <p:spPr bwMode="auto">
          <a:xfrm>
            <a:off x="1395977" y="2536568"/>
            <a:ext cx="4571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Bob</a:t>
            </a:r>
          </a:p>
        </p:txBody>
      </p:sp>
      <p:sp>
        <p:nvSpPr>
          <p:cNvPr id="297" name="灯片编号占位符 2">
            <a:extLst>
              <a:ext uri="{FF2B5EF4-FFF2-40B4-BE49-F238E27FC236}">
                <a16:creationId xmlns:a16="http://schemas.microsoft.com/office/drawing/2014/main" id="{03D882AD-387C-4359-938A-CB04F0017411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</a:t>
            </a:fld>
            <a:endParaRPr lang="en-US" altLang="zh-CN" dirty="0"/>
          </a:p>
        </p:txBody>
      </p:sp>
      <p:sp>
        <p:nvSpPr>
          <p:cNvPr id="298" name="AutoShape 5">
            <a:extLst>
              <a:ext uri="{FF2B5EF4-FFF2-40B4-BE49-F238E27FC236}">
                <a16:creationId xmlns:a16="http://schemas.microsoft.com/office/drawing/2014/main" id="{82297E2A-8050-4782-98A9-7BC32DACB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A676DA1-E055-432E-86EE-ACA2A2BC0F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0684" y="3868536"/>
            <a:ext cx="957628" cy="62339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11274F9-D062-4067-A82E-0FA6461928EC}"/>
              </a:ext>
            </a:extLst>
          </p:cNvPr>
          <p:cNvCxnSpPr>
            <a:cxnSpLocks/>
          </p:cNvCxnSpPr>
          <p:nvPr/>
        </p:nvCxnSpPr>
        <p:spPr>
          <a:xfrm flipH="1" flipV="1">
            <a:off x="1716788" y="2889927"/>
            <a:ext cx="358379" cy="973570"/>
          </a:xfrm>
          <a:prstGeom prst="straightConnector1">
            <a:avLst/>
          </a:prstGeom>
          <a:ln w="19050"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文本框 299">
            <a:extLst>
              <a:ext uri="{FF2B5EF4-FFF2-40B4-BE49-F238E27FC236}">
                <a16:creationId xmlns:a16="http://schemas.microsoft.com/office/drawing/2014/main" id="{838F7ACE-3D35-4E86-9F8A-91E83AB304A9}"/>
              </a:ext>
            </a:extLst>
          </p:cNvPr>
          <p:cNvSpPr txBox="1"/>
          <p:nvPr/>
        </p:nvSpPr>
        <p:spPr>
          <a:xfrm>
            <a:off x="2339735" y="1385343"/>
            <a:ext cx="3157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https://www.deepseek.com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549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9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9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8" grpId="0" animBg="1"/>
      <p:bldP spid="298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5.7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总结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: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自底向上回顾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7469644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一次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请求所要做的工作：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Whole picture</a:t>
            </a: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sp>
        <p:nvSpPr>
          <p:cNvPr id="8" name="Freeform 406"/>
          <p:cNvSpPr>
            <a:spLocks/>
          </p:cNvSpPr>
          <p:nvPr/>
        </p:nvSpPr>
        <p:spPr bwMode="auto">
          <a:xfrm>
            <a:off x="4904091" y="1429301"/>
            <a:ext cx="2838450" cy="2189354"/>
          </a:xfrm>
          <a:custGeom>
            <a:avLst/>
            <a:gdLst>
              <a:gd name="T0" fmla="*/ 2147483646 w 2453"/>
              <a:gd name="T1" fmla="*/ 2147483646 h 2011"/>
              <a:gd name="T2" fmla="*/ 2147483646 w 2453"/>
              <a:gd name="T3" fmla="*/ 2147483646 h 2011"/>
              <a:gd name="T4" fmla="*/ 2147483646 w 2453"/>
              <a:gd name="T5" fmla="*/ 2147483646 h 2011"/>
              <a:gd name="T6" fmla="*/ 2147483646 w 2453"/>
              <a:gd name="T7" fmla="*/ 2147483646 h 2011"/>
              <a:gd name="T8" fmla="*/ 2147483646 w 2453"/>
              <a:gd name="T9" fmla="*/ 2147483646 h 2011"/>
              <a:gd name="T10" fmla="*/ 2147483646 w 2453"/>
              <a:gd name="T11" fmla="*/ 2147483646 h 2011"/>
              <a:gd name="T12" fmla="*/ 2147483646 w 2453"/>
              <a:gd name="T13" fmla="*/ 2147483646 h 2011"/>
              <a:gd name="T14" fmla="*/ 2147483646 w 2453"/>
              <a:gd name="T15" fmla="*/ 2147483646 h 2011"/>
              <a:gd name="T16" fmla="*/ 2147483646 w 2453"/>
              <a:gd name="T17" fmla="*/ 2147483646 h 2011"/>
              <a:gd name="T18" fmla="*/ 2147483646 w 2453"/>
              <a:gd name="T19" fmla="*/ 2147483646 h 2011"/>
              <a:gd name="T20" fmla="*/ 2147483646 w 2453"/>
              <a:gd name="T21" fmla="*/ 2147483646 h 2011"/>
              <a:gd name="T22" fmla="*/ 2147483646 w 2453"/>
              <a:gd name="T23" fmla="*/ 2147483646 h 2011"/>
              <a:gd name="T24" fmla="*/ 2147483646 w 2453"/>
              <a:gd name="T25" fmla="*/ 2147483646 h 2011"/>
              <a:gd name="T26" fmla="*/ 2147483646 w 2453"/>
              <a:gd name="T27" fmla="*/ 2147483646 h 2011"/>
              <a:gd name="T28" fmla="*/ 2147483646 w 2453"/>
              <a:gd name="T29" fmla="*/ 2147483646 h 2011"/>
              <a:gd name="T30" fmla="*/ 2147483646 w 2453"/>
              <a:gd name="T31" fmla="*/ 2147483646 h 2011"/>
              <a:gd name="T32" fmla="*/ 2147483646 w 2453"/>
              <a:gd name="T33" fmla="*/ 2147483646 h 2011"/>
              <a:gd name="T34" fmla="*/ 2147483646 w 2453"/>
              <a:gd name="T35" fmla="*/ 2147483646 h 2011"/>
              <a:gd name="T36" fmla="*/ 2147483646 w 2453"/>
              <a:gd name="T37" fmla="*/ 2147483646 h 2011"/>
              <a:gd name="T38" fmla="*/ 2147483646 w 2453"/>
              <a:gd name="T39" fmla="*/ 2147483646 h 2011"/>
              <a:gd name="T40" fmla="*/ 2147483646 w 2453"/>
              <a:gd name="T41" fmla="*/ 2147483646 h 2011"/>
              <a:gd name="T42" fmla="*/ 2147483646 w 2453"/>
              <a:gd name="T43" fmla="*/ 2147483646 h 2011"/>
              <a:gd name="T44" fmla="*/ 2147483646 w 2453"/>
              <a:gd name="T45" fmla="*/ 2147483646 h 2011"/>
              <a:gd name="T46" fmla="*/ 2147483646 w 2453"/>
              <a:gd name="T47" fmla="*/ 2147483646 h 201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2453" h="2011">
                <a:moveTo>
                  <a:pt x="84" y="632"/>
                </a:moveTo>
                <a:cubicBezTo>
                  <a:pt x="51" y="704"/>
                  <a:pt x="28" y="747"/>
                  <a:pt x="16" y="809"/>
                </a:cubicBezTo>
                <a:cubicBezTo>
                  <a:pt x="4" y="871"/>
                  <a:pt x="0" y="949"/>
                  <a:pt x="9" y="1005"/>
                </a:cubicBezTo>
                <a:cubicBezTo>
                  <a:pt x="18" y="1061"/>
                  <a:pt x="44" y="1087"/>
                  <a:pt x="70" y="1147"/>
                </a:cubicBezTo>
                <a:cubicBezTo>
                  <a:pt x="96" y="1207"/>
                  <a:pt x="130" y="1314"/>
                  <a:pt x="165" y="1364"/>
                </a:cubicBezTo>
                <a:cubicBezTo>
                  <a:pt x="200" y="1414"/>
                  <a:pt x="216" y="1402"/>
                  <a:pt x="280" y="1446"/>
                </a:cubicBezTo>
                <a:cubicBezTo>
                  <a:pt x="344" y="1490"/>
                  <a:pt x="404" y="1587"/>
                  <a:pt x="549" y="1627"/>
                </a:cubicBezTo>
                <a:cubicBezTo>
                  <a:pt x="694" y="1667"/>
                  <a:pt x="987" y="1631"/>
                  <a:pt x="1152" y="1687"/>
                </a:cubicBezTo>
                <a:cubicBezTo>
                  <a:pt x="1317" y="1743"/>
                  <a:pt x="1455" y="1919"/>
                  <a:pt x="1542" y="1965"/>
                </a:cubicBezTo>
                <a:cubicBezTo>
                  <a:pt x="1629" y="2011"/>
                  <a:pt x="1610" y="1968"/>
                  <a:pt x="1675" y="1965"/>
                </a:cubicBezTo>
                <a:cubicBezTo>
                  <a:pt x="1740" y="1962"/>
                  <a:pt x="1816" y="1974"/>
                  <a:pt x="1933" y="1945"/>
                </a:cubicBezTo>
                <a:cubicBezTo>
                  <a:pt x="2050" y="1916"/>
                  <a:pt x="2299" y="1866"/>
                  <a:pt x="2376" y="1793"/>
                </a:cubicBezTo>
                <a:cubicBezTo>
                  <a:pt x="2453" y="1720"/>
                  <a:pt x="2410" y="1591"/>
                  <a:pt x="2396" y="1508"/>
                </a:cubicBezTo>
                <a:cubicBezTo>
                  <a:pt x="2382" y="1425"/>
                  <a:pt x="2301" y="1408"/>
                  <a:pt x="2293" y="1297"/>
                </a:cubicBezTo>
                <a:cubicBezTo>
                  <a:pt x="2285" y="1186"/>
                  <a:pt x="2339" y="950"/>
                  <a:pt x="2347" y="843"/>
                </a:cubicBezTo>
                <a:cubicBezTo>
                  <a:pt x="2355" y="736"/>
                  <a:pt x="2368" y="717"/>
                  <a:pt x="2340" y="653"/>
                </a:cubicBezTo>
                <a:cubicBezTo>
                  <a:pt x="2312" y="589"/>
                  <a:pt x="2247" y="537"/>
                  <a:pt x="2177" y="456"/>
                </a:cubicBezTo>
                <a:cubicBezTo>
                  <a:pt x="2107" y="375"/>
                  <a:pt x="2016" y="235"/>
                  <a:pt x="1920" y="165"/>
                </a:cubicBezTo>
                <a:cubicBezTo>
                  <a:pt x="1824" y="95"/>
                  <a:pt x="1716" y="61"/>
                  <a:pt x="1601" y="36"/>
                </a:cubicBezTo>
                <a:cubicBezTo>
                  <a:pt x="1486" y="11"/>
                  <a:pt x="1343" y="0"/>
                  <a:pt x="1229" y="16"/>
                </a:cubicBezTo>
                <a:cubicBezTo>
                  <a:pt x="1115" y="32"/>
                  <a:pt x="1042" y="90"/>
                  <a:pt x="917" y="131"/>
                </a:cubicBezTo>
                <a:cubicBezTo>
                  <a:pt x="792" y="172"/>
                  <a:pt x="595" y="219"/>
                  <a:pt x="477" y="260"/>
                </a:cubicBezTo>
                <a:cubicBezTo>
                  <a:pt x="359" y="301"/>
                  <a:pt x="280" y="311"/>
                  <a:pt x="212" y="375"/>
                </a:cubicBezTo>
                <a:cubicBezTo>
                  <a:pt x="144" y="439"/>
                  <a:pt x="117" y="560"/>
                  <a:pt x="84" y="632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9" name="Freeform 3"/>
          <p:cNvSpPr>
            <a:spLocks/>
          </p:cNvSpPr>
          <p:nvPr/>
        </p:nvSpPr>
        <p:spPr bwMode="auto">
          <a:xfrm>
            <a:off x="1716788" y="1649362"/>
            <a:ext cx="2665809" cy="2065735"/>
          </a:xfrm>
          <a:custGeom>
            <a:avLst/>
            <a:gdLst>
              <a:gd name="T0" fmla="*/ 2147483646 w 2406"/>
              <a:gd name="T1" fmla="*/ 2147483646 h 958"/>
              <a:gd name="T2" fmla="*/ 2147483646 w 2406"/>
              <a:gd name="T3" fmla="*/ 2147483646 h 958"/>
              <a:gd name="T4" fmla="*/ 2147483646 w 2406"/>
              <a:gd name="T5" fmla="*/ 2147483646 h 958"/>
              <a:gd name="T6" fmla="*/ 2147483646 w 2406"/>
              <a:gd name="T7" fmla="*/ 2147483646 h 958"/>
              <a:gd name="T8" fmla="*/ 2147483646 w 2406"/>
              <a:gd name="T9" fmla="*/ 2147483646 h 958"/>
              <a:gd name="T10" fmla="*/ 2147483646 w 2406"/>
              <a:gd name="T11" fmla="*/ 2147483646 h 958"/>
              <a:gd name="T12" fmla="*/ 2147483646 w 2406"/>
              <a:gd name="T13" fmla="*/ 2147483646 h 958"/>
              <a:gd name="T14" fmla="*/ 2147483646 w 2406"/>
              <a:gd name="T15" fmla="*/ 2147483646 h 958"/>
              <a:gd name="T16" fmla="*/ 2147483646 w 2406"/>
              <a:gd name="T17" fmla="*/ 2147483646 h 958"/>
              <a:gd name="T18" fmla="*/ 2147483646 w 2406"/>
              <a:gd name="T19" fmla="*/ 2147483646 h 958"/>
              <a:gd name="T20" fmla="*/ 2147483646 w 2406"/>
              <a:gd name="T21" fmla="*/ 2147483646 h 958"/>
              <a:gd name="T22" fmla="*/ 2147483646 w 2406"/>
              <a:gd name="T23" fmla="*/ 2147483646 h 958"/>
              <a:gd name="T24" fmla="*/ 2147483646 w 2406"/>
              <a:gd name="T25" fmla="*/ 2147483646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pSp>
        <p:nvGrpSpPr>
          <p:cNvPr id="10" name="Group 4"/>
          <p:cNvGrpSpPr>
            <a:grpSpLocks/>
          </p:cNvGrpSpPr>
          <p:nvPr/>
        </p:nvGrpSpPr>
        <p:grpSpPr bwMode="auto">
          <a:xfrm>
            <a:off x="5295807" y="2704256"/>
            <a:ext cx="567928" cy="284560"/>
            <a:chOff x="2466" y="2026"/>
            <a:chExt cx="477" cy="282"/>
          </a:xfrm>
        </p:grpSpPr>
        <p:sp>
          <p:nvSpPr>
            <p:cNvPr id="11" name="Oval 5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" name="Line 6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" name="Oval 8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5" name="Group 9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2" name="Line 1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3" name="Line 1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" name="Line 1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16" name="Group 13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19" name="Line 1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" name="Line 1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1" name="Line 1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25" name="Group 19"/>
          <p:cNvGrpSpPr>
            <a:grpSpLocks/>
          </p:cNvGrpSpPr>
          <p:nvPr/>
        </p:nvGrpSpPr>
        <p:grpSpPr bwMode="auto">
          <a:xfrm>
            <a:off x="6319745" y="2513756"/>
            <a:ext cx="567928" cy="284560"/>
            <a:chOff x="2466" y="2026"/>
            <a:chExt cx="477" cy="282"/>
          </a:xfrm>
        </p:grpSpPr>
        <p:sp>
          <p:nvSpPr>
            <p:cNvPr id="26" name="Oval 2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8" name="Rectangle 2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" name="Oval 2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0" name="Group 2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37" name="Line 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8" name="Line 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9" name="Line 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31" name="Group 2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34" name="Line 2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5" name="Line 3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6" name="Line 3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32" name="Line 3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3" name="Line 3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40" name="Text Box 34"/>
          <p:cNvSpPr txBox="1">
            <a:spLocks noChangeArrowheads="1"/>
          </p:cNvSpPr>
          <p:nvPr/>
        </p:nvSpPr>
        <p:spPr bwMode="auto">
          <a:xfrm>
            <a:off x="5281519" y="2016075"/>
            <a:ext cx="14141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Comcast network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68.80.0.0/13</a:t>
            </a:r>
          </a:p>
        </p:txBody>
      </p:sp>
      <p:sp>
        <p:nvSpPr>
          <p:cNvPr id="41" name="Line 36"/>
          <p:cNvSpPr>
            <a:spLocks noChangeShapeType="1"/>
          </p:cNvSpPr>
          <p:nvPr/>
        </p:nvSpPr>
        <p:spPr bwMode="auto">
          <a:xfrm flipV="1">
            <a:off x="3968260" y="2453035"/>
            <a:ext cx="116681" cy="10715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2" name="Line 43"/>
          <p:cNvSpPr>
            <a:spLocks noChangeShapeType="1"/>
          </p:cNvSpPr>
          <p:nvPr/>
        </p:nvSpPr>
        <p:spPr bwMode="auto">
          <a:xfrm flipV="1">
            <a:off x="3136014" y="2582812"/>
            <a:ext cx="52149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3" name="Line 44"/>
          <p:cNvSpPr>
            <a:spLocks noChangeShapeType="1"/>
          </p:cNvSpPr>
          <p:nvPr/>
        </p:nvSpPr>
        <p:spPr bwMode="auto">
          <a:xfrm flipV="1">
            <a:off x="4080179" y="2345878"/>
            <a:ext cx="103585" cy="107156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4" name="Line 48"/>
          <p:cNvSpPr>
            <a:spLocks noChangeShapeType="1"/>
          </p:cNvSpPr>
          <p:nvPr/>
        </p:nvSpPr>
        <p:spPr bwMode="auto">
          <a:xfrm flipV="1">
            <a:off x="3596785" y="2747119"/>
            <a:ext cx="384572" cy="45958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45" name="Group 49"/>
          <p:cNvGrpSpPr>
            <a:grpSpLocks/>
          </p:cNvGrpSpPr>
          <p:nvPr/>
        </p:nvGrpSpPr>
        <p:grpSpPr bwMode="auto">
          <a:xfrm>
            <a:off x="3207451" y="3218606"/>
            <a:ext cx="740569" cy="359569"/>
            <a:chOff x="1118" y="1621"/>
            <a:chExt cx="622" cy="302"/>
          </a:xfrm>
        </p:grpSpPr>
        <p:sp>
          <p:nvSpPr>
            <p:cNvPr id="46" name="Rectangle 50"/>
            <p:cNvSpPr>
              <a:spLocks noChangeArrowheads="1"/>
            </p:cNvSpPr>
            <p:nvPr/>
          </p:nvSpPr>
          <p:spPr bwMode="auto">
            <a:xfrm>
              <a:off x="1578" y="1789"/>
              <a:ext cx="162" cy="44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" name="Rectangle 51"/>
            <p:cNvSpPr>
              <a:spLocks noChangeArrowheads="1"/>
            </p:cNvSpPr>
            <p:nvPr/>
          </p:nvSpPr>
          <p:spPr bwMode="auto">
            <a:xfrm rot="-2700000">
              <a:off x="1336" y="1621"/>
              <a:ext cx="162" cy="44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48" name="Group 52"/>
            <p:cNvGrpSpPr>
              <a:grpSpLocks/>
            </p:cNvGrpSpPr>
            <p:nvPr/>
          </p:nvGrpSpPr>
          <p:grpSpPr bwMode="auto">
            <a:xfrm>
              <a:off x="1118" y="1684"/>
              <a:ext cx="477" cy="239"/>
              <a:chOff x="2466" y="2026"/>
              <a:chExt cx="477" cy="282"/>
            </a:xfrm>
          </p:grpSpPr>
          <p:sp>
            <p:nvSpPr>
              <p:cNvPr id="49" name="Oval 53"/>
              <p:cNvSpPr>
                <a:spLocks noChangeArrowheads="1"/>
              </p:cNvSpPr>
              <p:nvPr/>
            </p:nvSpPr>
            <p:spPr bwMode="auto">
              <a:xfrm>
                <a:off x="2466" y="2168"/>
                <a:ext cx="476" cy="140"/>
              </a:xfrm>
              <a:prstGeom prst="ellipse">
                <a:avLst/>
              </a:prstGeom>
              <a:solidFill>
                <a:srgbClr val="DDDDDD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0" name="Line 54"/>
              <p:cNvSpPr>
                <a:spLocks noChangeShapeType="1"/>
              </p:cNvSpPr>
              <p:nvPr/>
            </p:nvSpPr>
            <p:spPr bwMode="auto">
              <a:xfrm>
                <a:off x="2470" y="2125"/>
                <a:ext cx="1" cy="8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51" name="Rectangle 55"/>
              <p:cNvSpPr>
                <a:spLocks noChangeArrowheads="1"/>
              </p:cNvSpPr>
              <p:nvPr/>
            </p:nvSpPr>
            <p:spPr bwMode="auto">
              <a:xfrm>
                <a:off x="2470" y="2125"/>
                <a:ext cx="472" cy="111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" name="Oval 56"/>
              <p:cNvSpPr>
                <a:spLocks noChangeArrowheads="1"/>
              </p:cNvSpPr>
              <p:nvPr/>
            </p:nvSpPr>
            <p:spPr bwMode="auto">
              <a:xfrm>
                <a:off x="2466" y="2026"/>
                <a:ext cx="476" cy="160"/>
              </a:xfrm>
              <a:prstGeom prst="ellipse">
                <a:avLst/>
              </a:prstGeom>
              <a:solidFill>
                <a:srgbClr val="DDDDDD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53" name="Group 57"/>
              <p:cNvGrpSpPr>
                <a:grpSpLocks/>
              </p:cNvGrpSpPr>
              <p:nvPr/>
            </p:nvGrpSpPr>
            <p:grpSpPr bwMode="auto">
              <a:xfrm>
                <a:off x="2581" y="2061"/>
                <a:ext cx="236" cy="94"/>
                <a:chOff x="2848" y="848"/>
                <a:chExt cx="140" cy="98"/>
              </a:xfrm>
            </p:grpSpPr>
            <p:sp>
              <p:nvSpPr>
                <p:cNvPr id="60" name="Line 58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61" name="Line 59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62" name="Line 60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54" name="Group 61"/>
              <p:cNvGrpSpPr>
                <a:grpSpLocks/>
              </p:cNvGrpSpPr>
              <p:nvPr/>
            </p:nvGrpSpPr>
            <p:grpSpPr bwMode="auto">
              <a:xfrm flipV="1">
                <a:off x="2581" y="2060"/>
                <a:ext cx="236" cy="94"/>
                <a:chOff x="2848" y="848"/>
                <a:chExt cx="140" cy="98"/>
              </a:xfrm>
            </p:grpSpPr>
            <p:sp>
              <p:nvSpPr>
                <p:cNvPr id="57" name="Line 6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58" name="Line 6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59" name="Line 6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55" name="Line 65"/>
              <p:cNvSpPr>
                <a:spLocks noChangeShapeType="1"/>
              </p:cNvSpPr>
              <p:nvPr/>
            </p:nvSpPr>
            <p:spPr bwMode="auto">
              <a:xfrm flipH="1">
                <a:off x="2942" y="2109"/>
                <a:ext cx="1" cy="1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56" name="Line 66"/>
              <p:cNvSpPr>
                <a:spLocks noChangeShapeType="1"/>
              </p:cNvSpPr>
              <p:nvPr/>
            </p:nvSpPr>
            <p:spPr bwMode="auto">
              <a:xfrm flipH="1">
                <a:off x="2466" y="2117"/>
                <a:ext cx="1" cy="1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</p:grpSp>
      <p:sp>
        <p:nvSpPr>
          <p:cNvPr id="63" name="Line 68"/>
          <p:cNvSpPr>
            <a:spLocks noChangeShapeType="1"/>
          </p:cNvSpPr>
          <p:nvPr/>
        </p:nvSpPr>
        <p:spPr bwMode="auto">
          <a:xfrm flipV="1">
            <a:off x="3950401" y="2892375"/>
            <a:ext cx="1364456" cy="55006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64" name="Group 69"/>
          <p:cNvGrpSpPr>
            <a:grpSpLocks/>
          </p:cNvGrpSpPr>
          <p:nvPr/>
        </p:nvGrpSpPr>
        <p:grpSpPr bwMode="auto">
          <a:xfrm>
            <a:off x="6812664" y="3200747"/>
            <a:ext cx="567928" cy="284559"/>
            <a:chOff x="2466" y="2026"/>
            <a:chExt cx="477" cy="282"/>
          </a:xfrm>
        </p:grpSpPr>
        <p:sp>
          <p:nvSpPr>
            <p:cNvPr id="65" name="Oval 7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6" name="Line 7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7" name="Rectangle 7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" name="Oval 7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69" name="Group 7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76" name="Line 7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7" name="Line 7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8" name="Line 7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70" name="Group 7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73" name="Line 7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4" name="Line 8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5" name="Line 8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71" name="Line 8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2" name="Line 8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80" name="Freeform 94"/>
          <p:cNvSpPr>
            <a:spLocks/>
          </p:cNvSpPr>
          <p:nvPr/>
        </p:nvSpPr>
        <p:spPr bwMode="auto">
          <a:xfrm>
            <a:off x="2075166" y="3804393"/>
            <a:ext cx="4814888" cy="1215629"/>
          </a:xfrm>
          <a:custGeom>
            <a:avLst/>
            <a:gdLst>
              <a:gd name="T0" fmla="*/ 2147483646 w 2406"/>
              <a:gd name="T1" fmla="*/ 2147483646 h 958"/>
              <a:gd name="T2" fmla="*/ 2147483646 w 2406"/>
              <a:gd name="T3" fmla="*/ 2147483646 h 958"/>
              <a:gd name="T4" fmla="*/ 2147483646 w 2406"/>
              <a:gd name="T5" fmla="*/ 2147483646 h 958"/>
              <a:gd name="T6" fmla="*/ 2147483646 w 2406"/>
              <a:gd name="T7" fmla="*/ 2147483646 h 958"/>
              <a:gd name="T8" fmla="*/ 2147483646 w 2406"/>
              <a:gd name="T9" fmla="*/ 2147483646 h 958"/>
              <a:gd name="T10" fmla="*/ 2147483646 w 2406"/>
              <a:gd name="T11" fmla="*/ 2147483646 h 958"/>
              <a:gd name="T12" fmla="*/ 2147483646 w 2406"/>
              <a:gd name="T13" fmla="*/ 2147483646 h 958"/>
              <a:gd name="T14" fmla="*/ 2147483646 w 2406"/>
              <a:gd name="T15" fmla="*/ 2147483646 h 958"/>
              <a:gd name="T16" fmla="*/ 2147483646 w 2406"/>
              <a:gd name="T17" fmla="*/ 2147483646 h 958"/>
              <a:gd name="T18" fmla="*/ 2147483646 w 2406"/>
              <a:gd name="T19" fmla="*/ 2147483646 h 958"/>
              <a:gd name="T20" fmla="*/ 2147483646 w 2406"/>
              <a:gd name="T21" fmla="*/ 2147483646 h 958"/>
              <a:gd name="T22" fmla="*/ 2147483646 w 2406"/>
              <a:gd name="T23" fmla="*/ 2147483646 h 958"/>
              <a:gd name="T24" fmla="*/ 2147483646 w 2406"/>
              <a:gd name="T25" fmla="*/ 2147483646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pSp>
        <p:nvGrpSpPr>
          <p:cNvPr id="82" name="Group 110"/>
          <p:cNvGrpSpPr>
            <a:grpSpLocks/>
          </p:cNvGrpSpPr>
          <p:nvPr/>
        </p:nvGrpSpPr>
        <p:grpSpPr bwMode="auto">
          <a:xfrm>
            <a:off x="4277822" y="4237781"/>
            <a:ext cx="567929" cy="284560"/>
            <a:chOff x="2466" y="2026"/>
            <a:chExt cx="477" cy="282"/>
          </a:xfrm>
        </p:grpSpPr>
        <p:sp>
          <p:nvSpPr>
            <p:cNvPr id="83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4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5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6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87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94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5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6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88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91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2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3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89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0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97" name="Line 134"/>
          <p:cNvSpPr>
            <a:spLocks noChangeShapeType="1"/>
          </p:cNvSpPr>
          <p:nvPr/>
        </p:nvSpPr>
        <p:spPr bwMode="auto">
          <a:xfrm flipV="1">
            <a:off x="4618341" y="3000722"/>
            <a:ext cx="881063" cy="1238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98" name="Text Box 135"/>
          <p:cNvSpPr txBox="1">
            <a:spLocks noChangeArrowheads="1"/>
          </p:cNvSpPr>
          <p:nvPr/>
        </p:nvSpPr>
        <p:spPr bwMode="auto">
          <a:xfrm>
            <a:off x="4962453" y="4497236"/>
            <a:ext cx="18309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Organization</a:t>
            </a: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’</a:t>
            </a:r>
            <a:r>
              <a:rPr lang="en-US" altLang="ja-JP" sz="1200" dirty="0">
                <a:solidFill>
                  <a:srgbClr val="000000"/>
                </a:solidFill>
                <a:latin typeface="Arial" panose="020B0604020202020204" pitchFamily="34" charset="0"/>
              </a:rPr>
              <a:t>s network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64.204.2.0/24 </a:t>
            </a:r>
          </a:p>
        </p:txBody>
      </p:sp>
      <p:sp>
        <p:nvSpPr>
          <p:cNvPr id="99" name="Line 136"/>
          <p:cNvSpPr>
            <a:spLocks noChangeShapeType="1"/>
          </p:cNvSpPr>
          <p:nvPr/>
        </p:nvSpPr>
        <p:spPr bwMode="auto">
          <a:xfrm flipV="1">
            <a:off x="3552733" y="4365178"/>
            <a:ext cx="707231" cy="1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0" name="Text Box 137"/>
          <p:cNvSpPr txBox="1">
            <a:spLocks noChangeArrowheads="1"/>
          </p:cNvSpPr>
          <p:nvPr/>
        </p:nvSpPr>
        <p:spPr bwMode="auto">
          <a:xfrm>
            <a:off x="2737154" y="4659262"/>
            <a:ext cx="9092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60.204.2.9</a:t>
            </a:r>
          </a:p>
        </p:txBody>
      </p:sp>
      <p:sp>
        <p:nvSpPr>
          <p:cNvPr id="101" name="Text Box 138"/>
          <p:cNvSpPr txBox="1">
            <a:spLocks noChangeArrowheads="1"/>
          </p:cNvSpPr>
          <p:nvPr/>
        </p:nvSpPr>
        <p:spPr bwMode="auto">
          <a:xfrm>
            <a:off x="2713342" y="4438997"/>
            <a:ext cx="93487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web server</a:t>
            </a:r>
          </a:p>
        </p:txBody>
      </p:sp>
      <p:grpSp>
        <p:nvGrpSpPr>
          <p:cNvPr id="103" name="Group 95"/>
          <p:cNvGrpSpPr>
            <a:grpSpLocks/>
          </p:cNvGrpSpPr>
          <p:nvPr/>
        </p:nvGrpSpPr>
        <p:grpSpPr bwMode="auto">
          <a:xfrm>
            <a:off x="5606560" y="3968700"/>
            <a:ext cx="567929" cy="284560"/>
            <a:chOff x="2466" y="2026"/>
            <a:chExt cx="477" cy="282"/>
          </a:xfrm>
        </p:grpSpPr>
        <p:sp>
          <p:nvSpPr>
            <p:cNvPr id="104" name="Oval 96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" name="Line 97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6" name="Rectangle 98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7" name="Oval 99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08" name="Group 100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115" name="Line 10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6" name="Line 10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7" name="Line 10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109" name="Group 104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112" name="Line 10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3" name="Line 10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4" name="Line 10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110" name="Line 108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1" name="Line 109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18" name="Group 166"/>
          <p:cNvGrpSpPr>
            <a:grpSpLocks/>
          </p:cNvGrpSpPr>
          <p:nvPr/>
        </p:nvGrpSpPr>
        <p:grpSpPr bwMode="auto">
          <a:xfrm>
            <a:off x="5144597" y="2980481"/>
            <a:ext cx="300038" cy="114300"/>
            <a:chOff x="3228" y="1776"/>
            <a:chExt cx="252" cy="96"/>
          </a:xfrm>
        </p:grpSpPr>
        <p:sp>
          <p:nvSpPr>
            <p:cNvPr id="119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0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21" name="Group 167"/>
          <p:cNvGrpSpPr>
            <a:grpSpLocks/>
          </p:cNvGrpSpPr>
          <p:nvPr/>
        </p:nvGrpSpPr>
        <p:grpSpPr bwMode="auto">
          <a:xfrm flipH="1">
            <a:off x="5616085" y="2991197"/>
            <a:ext cx="300038" cy="114300"/>
            <a:chOff x="3228" y="1776"/>
            <a:chExt cx="252" cy="96"/>
          </a:xfrm>
        </p:grpSpPr>
        <p:sp>
          <p:nvSpPr>
            <p:cNvPr id="122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3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24" name="Group 170"/>
          <p:cNvGrpSpPr>
            <a:grpSpLocks/>
          </p:cNvGrpSpPr>
          <p:nvPr/>
        </p:nvGrpSpPr>
        <p:grpSpPr bwMode="auto">
          <a:xfrm flipH="1" flipV="1">
            <a:off x="5730385" y="2598290"/>
            <a:ext cx="300038" cy="114300"/>
            <a:chOff x="3228" y="1776"/>
            <a:chExt cx="252" cy="96"/>
          </a:xfrm>
        </p:grpSpPr>
        <p:sp>
          <p:nvSpPr>
            <p:cNvPr id="125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6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27" name="Group 173"/>
          <p:cNvGrpSpPr>
            <a:grpSpLocks/>
          </p:cNvGrpSpPr>
          <p:nvPr/>
        </p:nvGrpSpPr>
        <p:grpSpPr bwMode="auto">
          <a:xfrm flipH="1" flipV="1">
            <a:off x="7305582" y="3116212"/>
            <a:ext cx="300038" cy="114300"/>
            <a:chOff x="3228" y="1776"/>
            <a:chExt cx="252" cy="96"/>
          </a:xfrm>
        </p:grpSpPr>
        <p:sp>
          <p:nvSpPr>
            <p:cNvPr id="128" name="Line 17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9" name="Line 17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0" name="Group 176"/>
          <p:cNvGrpSpPr>
            <a:grpSpLocks/>
          </p:cNvGrpSpPr>
          <p:nvPr/>
        </p:nvGrpSpPr>
        <p:grpSpPr bwMode="auto">
          <a:xfrm flipV="1">
            <a:off x="6687648" y="3130499"/>
            <a:ext cx="221456" cy="85725"/>
            <a:chOff x="3228" y="1776"/>
            <a:chExt cx="252" cy="96"/>
          </a:xfrm>
        </p:grpSpPr>
        <p:sp>
          <p:nvSpPr>
            <p:cNvPr id="131" name="Line 177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" name="Line 178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3" name="Group 179"/>
          <p:cNvGrpSpPr>
            <a:grpSpLocks/>
          </p:cNvGrpSpPr>
          <p:nvPr/>
        </p:nvGrpSpPr>
        <p:grpSpPr bwMode="auto">
          <a:xfrm rot="409689" flipH="1" flipV="1">
            <a:off x="6891245" y="2637580"/>
            <a:ext cx="339328" cy="42863"/>
            <a:chOff x="3228" y="1776"/>
            <a:chExt cx="252" cy="96"/>
          </a:xfrm>
        </p:grpSpPr>
        <p:sp>
          <p:nvSpPr>
            <p:cNvPr id="134" name="Line 180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5" name="Line 181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6" name="Group 182"/>
          <p:cNvGrpSpPr>
            <a:grpSpLocks/>
          </p:cNvGrpSpPr>
          <p:nvPr/>
        </p:nvGrpSpPr>
        <p:grpSpPr bwMode="auto">
          <a:xfrm>
            <a:off x="6248308" y="2791172"/>
            <a:ext cx="221456" cy="85725"/>
            <a:chOff x="3228" y="1776"/>
            <a:chExt cx="252" cy="96"/>
          </a:xfrm>
        </p:grpSpPr>
        <p:sp>
          <p:nvSpPr>
            <p:cNvPr id="137" name="Line 183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8" name="Line 184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9" name="Group 185"/>
          <p:cNvGrpSpPr>
            <a:grpSpLocks/>
          </p:cNvGrpSpPr>
          <p:nvPr/>
        </p:nvGrpSpPr>
        <p:grpSpPr bwMode="auto">
          <a:xfrm flipH="1">
            <a:off x="6726939" y="2791172"/>
            <a:ext cx="221456" cy="85725"/>
            <a:chOff x="3228" y="1776"/>
            <a:chExt cx="252" cy="96"/>
          </a:xfrm>
        </p:grpSpPr>
        <p:sp>
          <p:nvSpPr>
            <p:cNvPr id="140" name="Line 186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1" name="Line 187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42" name="Group 188"/>
          <p:cNvGrpSpPr>
            <a:grpSpLocks/>
          </p:cNvGrpSpPr>
          <p:nvPr/>
        </p:nvGrpSpPr>
        <p:grpSpPr bwMode="auto">
          <a:xfrm>
            <a:off x="5537504" y="4252068"/>
            <a:ext cx="221456" cy="85725"/>
            <a:chOff x="3228" y="1776"/>
            <a:chExt cx="252" cy="96"/>
          </a:xfrm>
        </p:grpSpPr>
        <p:sp>
          <p:nvSpPr>
            <p:cNvPr id="143" name="Line 189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4" name="Line 190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45" name="Group 191"/>
          <p:cNvGrpSpPr>
            <a:grpSpLocks/>
          </p:cNvGrpSpPr>
          <p:nvPr/>
        </p:nvGrpSpPr>
        <p:grpSpPr bwMode="auto">
          <a:xfrm flipH="1">
            <a:off x="6016135" y="4252068"/>
            <a:ext cx="221456" cy="85725"/>
            <a:chOff x="3228" y="1776"/>
            <a:chExt cx="252" cy="96"/>
          </a:xfrm>
        </p:grpSpPr>
        <p:sp>
          <p:nvSpPr>
            <p:cNvPr id="146" name="Line 192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7" name="Line 193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48" name="Group 194"/>
          <p:cNvGrpSpPr>
            <a:grpSpLocks/>
          </p:cNvGrpSpPr>
          <p:nvPr/>
        </p:nvGrpSpPr>
        <p:grpSpPr bwMode="auto">
          <a:xfrm>
            <a:off x="4212339" y="4519959"/>
            <a:ext cx="221456" cy="85725"/>
            <a:chOff x="3228" y="1776"/>
            <a:chExt cx="252" cy="96"/>
          </a:xfrm>
        </p:grpSpPr>
        <p:sp>
          <p:nvSpPr>
            <p:cNvPr id="149" name="Line 195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0" name="Line 196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51" name="Group 197"/>
          <p:cNvGrpSpPr>
            <a:grpSpLocks/>
          </p:cNvGrpSpPr>
          <p:nvPr/>
        </p:nvGrpSpPr>
        <p:grpSpPr bwMode="auto">
          <a:xfrm flipH="1">
            <a:off x="4690970" y="4519959"/>
            <a:ext cx="221456" cy="85725"/>
            <a:chOff x="3228" y="1776"/>
            <a:chExt cx="252" cy="96"/>
          </a:xfrm>
        </p:grpSpPr>
        <p:sp>
          <p:nvSpPr>
            <p:cNvPr id="152" name="Line 19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3" name="Line 19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54" name="Group 200"/>
          <p:cNvGrpSpPr>
            <a:grpSpLocks/>
          </p:cNvGrpSpPr>
          <p:nvPr/>
        </p:nvGrpSpPr>
        <p:grpSpPr bwMode="auto">
          <a:xfrm flipH="1" flipV="1">
            <a:off x="4844560" y="4298503"/>
            <a:ext cx="221456" cy="85725"/>
            <a:chOff x="3228" y="1776"/>
            <a:chExt cx="252" cy="96"/>
          </a:xfrm>
        </p:grpSpPr>
        <p:sp>
          <p:nvSpPr>
            <p:cNvPr id="155" name="Line 20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6" name="Line 20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157" name="Text Box 34"/>
          <p:cNvSpPr txBox="1">
            <a:spLocks noChangeArrowheads="1"/>
          </p:cNvSpPr>
          <p:nvPr/>
        </p:nvSpPr>
        <p:spPr bwMode="auto">
          <a:xfrm>
            <a:off x="1979917" y="3041203"/>
            <a:ext cx="12506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school network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68.80.2.0/24</a:t>
            </a:r>
          </a:p>
        </p:txBody>
      </p:sp>
      <p:sp>
        <p:nvSpPr>
          <p:cNvPr id="159" name="Text Box 404"/>
          <p:cNvSpPr txBox="1">
            <a:spLocks noChangeArrowheads="1"/>
          </p:cNvSpPr>
          <p:nvPr/>
        </p:nvSpPr>
        <p:spPr bwMode="auto">
          <a:xfrm>
            <a:off x="2367341" y="3609579"/>
            <a:ext cx="771365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 dirty="0">
                <a:solidFill>
                  <a:srgbClr val="FF0000"/>
                </a:solidFill>
                <a:latin typeface="Arial" panose="020B0604020202020204" pitchFamily="34" charset="0"/>
              </a:rPr>
              <a:t>web page</a:t>
            </a:r>
          </a:p>
        </p:txBody>
      </p:sp>
      <p:grpSp>
        <p:nvGrpSpPr>
          <p:cNvPr id="160" name="Group 405"/>
          <p:cNvGrpSpPr>
            <a:grpSpLocks/>
          </p:cNvGrpSpPr>
          <p:nvPr/>
        </p:nvGrpSpPr>
        <p:grpSpPr bwMode="auto">
          <a:xfrm>
            <a:off x="1475091" y="1566018"/>
            <a:ext cx="1062038" cy="948929"/>
            <a:chOff x="146" y="690"/>
            <a:chExt cx="892" cy="797"/>
          </a:xfrm>
        </p:grpSpPr>
        <p:grpSp>
          <p:nvGrpSpPr>
            <p:cNvPr id="161" name="Group 400"/>
            <p:cNvGrpSpPr>
              <a:grpSpLocks/>
            </p:cNvGrpSpPr>
            <p:nvPr/>
          </p:nvGrpSpPr>
          <p:grpSpPr bwMode="auto">
            <a:xfrm>
              <a:off x="146" y="690"/>
              <a:ext cx="892" cy="797"/>
              <a:chOff x="146" y="690"/>
              <a:chExt cx="892" cy="797"/>
            </a:xfrm>
          </p:grpSpPr>
          <p:sp>
            <p:nvSpPr>
              <p:cNvPr id="163" name="Freeform 398"/>
              <p:cNvSpPr>
                <a:spLocks/>
              </p:cNvSpPr>
              <p:nvPr/>
            </p:nvSpPr>
            <p:spPr bwMode="auto">
              <a:xfrm>
                <a:off x="177" y="715"/>
                <a:ext cx="861" cy="772"/>
              </a:xfrm>
              <a:custGeom>
                <a:avLst/>
                <a:gdLst>
                  <a:gd name="T0" fmla="*/ 861 w 861"/>
                  <a:gd name="T1" fmla="*/ 772 h 772"/>
                  <a:gd name="T2" fmla="*/ 0 w 861"/>
                  <a:gd name="T3" fmla="*/ 557 h 772"/>
                  <a:gd name="T4" fmla="*/ 532 w 861"/>
                  <a:gd name="T5" fmla="*/ 405 h 772"/>
                  <a:gd name="T6" fmla="*/ 652 w 861"/>
                  <a:gd name="T7" fmla="*/ 0 h 772"/>
                  <a:gd name="T8" fmla="*/ 861 w 861"/>
                  <a:gd name="T9" fmla="*/ 772 h 7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61" h="772">
                    <a:moveTo>
                      <a:pt x="861" y="772"/>
                    </a:moveTo>
                    <a:lnTo>
                      <a:pt x="0" y="557"/>
                    </a:lnTo>
                    <a:lnTo>
                      <a:pt x="532" y="405"/>
                    </a:lnTo>
                    <a:lnTo>
                      <a:pt x="652" y="0"/>
                    </a:lnTo>
                    <a:lnTo>
                      <a:pt x="861" y="772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100000">
                    <a:srgbClr val="FF00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grpSp>
            <p:nvGrpSpPr>
              <p:cNvPr id="164" name="Group 392"/>
              <p:cNvGrpSpPr>
                <a:grpSpLocks/>
              </p:cNvGrpSpPr>
              <p:nvPr/>
            </p:nvGrpSpPr>
            <p:grpSpPr bwMode="auto">
              <a:xfrm>
                <a:off x="148" y="697"/>
                <a:ext cx="694" cy="574"/>
                <a:chOff x="2579" y="1366"/>
                <a:chExt cx="1078" cy="674"/>
              </a:xfrm>
            </p:grpSpPr>
            <p:pic>
              <p:nvPicPr>
                <p:cNvPr id="166" name="Picture 393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79" y="1366"/>
                  <a:ext cx="1078" cy="6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7" name="Rectangle 394"/>
                <p:cNvSpPr>
                  <a:spLocks noChangeArrowheads="1"/>
                </p:cNvSpPr>
                <p:nvPr/>
              </p:nvSpPr>
              <p:spPr bwMode="auto">
                <a:xfrm>
                  <a:off x="2633" y="1428"/>
                  <a:ext cx="957" cy="56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165" name="Rectangle 399"/>
              <p:cNvSpPr>
                <a:spLocks noChangeArrowheads="1"/>
              </p:cNvSpPr>
              <p:nvPr/>
            </p:nvSpPr>
            <p:spPr bwMode="auto">
              <a:xfrm>
                <a:off x="146" y="690"/>
                <a:ext cx="696" cy="58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162" name="Text Box 402"/>
            <p:cNvSpPr txBox="1">
              <a:spLocks noChangeArrowheads="1"/>
            </p:cNvSpPr>
            <p:nvPr/>
          </p:nvSpPr>
          <p:spPr bwMode="auto">
            <a:xfrm>
              <a:off x="227" y="850"/>
              <a:ext cx="55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FF0000"/>
                  </a:solidFill>
                  <a:latin typeface="Arial" panose="020B0604020202020204" pitchFamily="34" charset="0"/>
                </a:rPr>
                <a:t>browser</a:t>
              </a:r>
            </a:p>
          </p:txBody>
        </p:sp>
      </p:grpSp>
      <p:pic>
        <p:nvPicPr>
          <p:cNvPr id="17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545" y="2528043"/>
            <a:ext cx="685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3" name="Rectangle 43"/>
          <p:cNvSpPr>
            <a:spLocks noChangeArrowheads="1"/>
          </p:cNvSpPr>
          <p:nvPr/>
        </p:nvSpPr>
        <p:spPr bwMode="auto">
          <a:xfrm rot="16200000">
            <a:off x="3820622" y="3357909"/>
            <a:ext cx="110729" cy="141684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350">
              <a:solidFill>
                <a:srgbClr val="000000"/>
              </a:solidFill>
            </a:endParaRPr>
          </a:p>
        </p:txBody>
      </p:sp>
      <p:grpSp>
        <p:nvGrpSpPr>
          <p:cNvPr id="184" name="Group 1185"/>
          <p:cNvGrpSpPr>
            <a:grpSpLocks/>
          </p:cNvGrpSpPr>
          <p:nvPr/>
        </p:nvGrpSpPr>
        <p:grpSpPr bwMode="auto">
          <a:xfrm>
            <a:off x="5262469" y="2694731"/>
            <a:ext cx="622697" cy="341710"/>
            <a:chOff x="4650" y="1129"/>
            <a:chExt cx="246" cy="95"/>
          </a:xfrm>
        </p:grpSpPr>
        <p:sp>
          <p:nvSpPr>
            <p:cNvPr id="185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6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7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88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91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92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89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0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93" name="Group 1185"/>
          <p:cNvGrpSpPr>
            <a:grpSpLocks/>
          </p:cNvGrpSpPr>
          <p:nvPr/>
        </p:nvGrpSpPr>
        <p:grpSpPr bwMode="auto">
          <a:xfrm>
            <a:off x="6305457" y="2495896"/>
            <a:ext cx="606028" cy="319088"/>
            <a:chOff x="4650" y="1129"/>
            <a:chExt cx="246" cy="95"/>
          </a:xfrm>
        </p:grpSpPr>
        <p:sp>
          <p:nvSpPr>
            <p:cNvPr id="194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5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6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97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00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01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98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9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202" name="Group 1185"/>
          <p:cNvGrpSpPr>
            <a:grpSpLocks/>
          </p:cNvGrpSpPr>
          <p:nvPr/>
        </p:nvGrpSpPr>
        <p:grpSpPr bwMode="auto">
          <a:xfrm>
            <a:off x="6766229" y="3198366"/>
            <a:ext cx="669131" cy="292894"/>
            <a:chOff x="4650" y="1129"/>
            <a:chExt cx="246" cy="95"/>
          </a:xfrm>
        </p:grpSpPr>
        <p:sp>
          <p:nvSpPr>
            <p:cNvPr id="203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4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5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06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09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0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207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8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211" name="Group 1185"/>
          <p:cNvGrpSpPr>
            <a:grpSpLocks/>
          </p:cNvGrpSpPr>
          <p:nvPr/>
        </p:nvGrpSpPr>
        <p:grpSpPr bwMode="auto">
          <a:xfrm>
            <a:off x="5574414" y="3953221"/>
            <a:ext cx="606028" cy="319088"/>
            <a:chOff x="4650" y="1129"/>
            <a:chExt cx="246" cy="95"/>
          </a:xfrm>
        </p:grpSpPr>
        <p:sp>
          <p:nvSpPr>
            <p:cNvPr id="212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13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14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15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8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9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216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7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220" name="Group 1185"/>
          <p:cNvGrpSpPr>
            <a:grpSpLocks/>
          </p:cNvGrpSpPr>
          <p:nvPr/>
        </p:nvGrpSpPr>
        <p:grpSpPr bwMode="auto">
          <a:xfrm>
            <a:off x="4268297" y="4227065"/>
            <a:ext cx="606029" cy="319088"/>
            <a:chOff x="4650" y="1129"/>
            <a:chExt cx="246" cy="95"/>
          </a:xfrm>
        </p:grpSpPr>
        <p:sp>
          <p:nvSpPr>
            <p:cNvPr id="221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22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23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24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27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28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225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6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262" name="Group 248"/>
          <p:cNvGrpSpPr>
            <a:grpSpLocks/>
          </p:cNvGrpSpPr>
          <p:nvPr/>
        </p:nvGrpSpPr>
        <p:grpSpPr bwMode="auto">
          <a:xfrm>
            <a:off x="3415810" y="4035374"/>
            <a:ext cx="269081" cy="467916"/>
            <a:chOff x="4140" y="429"/>
            <a:chExt cx="1425" cy="2396"/>
          </a:xfrm>
        </p:grpSpPr>
        <p:sp>
          <p:nvSpPr>
            <p:cNvPr id="263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4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65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6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7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68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93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94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69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70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91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92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71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72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73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89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90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74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75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87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88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76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77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8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9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0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1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2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3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4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5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6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297" name="灯片编号占位符 2">
            <a:extLst>
              <a:ext uri="{FF2B5EF4-FFF2-40B4-BE49-F238E27FC236}">
                <a16:creationId xmlns:a16="http://schemas.microsoft.com/office/drawing/2014/main" id="{03D882AD-387C-4359-938A-CB04F0017411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p:sp>
        <p:nvSpPr>
          <p:cNvPr id="298" name="AutoShape 5">
            <a:extLst>
              <a:ext uri="{FF2B5EF4-FFF2-40B4-BE49-F238E27FC236}">
                <a16:creationId xmlns:a16="http://schemas.microsoft.com/office/drawing/2014/main" id="{82297E2A-8050-4782-98A9-7BC32DACB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A676DA1-E055-432E-86EE-ACA2A2BC0F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0684" y="3868536"/>
            <a:ext cx="957628" cy="62339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299" name="圆角矩形 296">
            <a:extLst>
              <a:ext uri="{FF2B5EF4-FFF2-40B4-BE49-F238E27FC236}">
                <a16:creationId xmlns:a16="http://schemas.microsoft.com/office/drawing/2014/main" id="{0D6B555E-2570-4A34-B753-7B260150E81E}"/>
              </a:ext>
            </a:extLst>
          </p:cNvPr>
          <p:cNvSpPr/>
          <p:nvPr/>
        </p:nvSpPr>
        <p:spPr>
          <a:xfrm>
            <a:off x="1455775" y="1386327"/>
            <a:ext cx="6470389" cy="3628206"/>
          </a:xfrm>
          <a:prstGeom prst="roundRect">
            <a:avLst>
              <a:gd name="adj" fmla="val 3649"/>
            </a:avLst>
          </a:prstGeom>
          <a:solidFill>
            <a:srgbClr val="EFF8FF">
              <a:alpha val="9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00" name="Text Box 139">
            <a:extLst>
              <a:ext uri="{FF2B5EF4-FFF2-40B4-BE49-F238E27FC236}">
                <a16:creationId xmlns:a16="http://schemas.microsoft.com/office/drawing/2014/main" id="{ADBE254B-02A6-4FC5-8A1B-79FF9BB5B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7856" y="1628467"/>
            <a:ext cx="1640514" cy="1015663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DHCP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4313" indent="-214313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获得主机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4313" indent="-214313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路由网关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4313" indent="-214313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4313" indent="-214313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子网掩码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8" name="Group 356"/>
          <p:cNvGrpSpPr>
            <a:grpSpLocks/>
          </p:cNvGrpSpPr>
          <p:nvPr/>
        </p:nvGrpSpPr>
        <p:grpSpPr bwMode="auto">
          <a:xfrm>
            <a:off x="2391873" y="2118468"/>
            <a:ext cx="632222" cy="610791"/>
            <a:chOff x="313" y="1497"/>
            <a:chExt cx="1152" cy="1014"/>
          </a:xfrm>
        </p:grpSpPr>
        <p:pic>
          <p:nvPicPr>
            <p:cNvPr id="169" name="Picture 354" descr="laptop_stylized_small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0" name="Picture 355" descr="antenna_stylized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1" name="AutoShape 396"/>
          <p:cNvSpPr>
            <a:spLocks noChangeArrowheads="1"/>
          </p:cNvSpPr>
          <p:nvPr/>
        </p:nvSpPr>
        <p:spPr bwMode="auto">
          <a:xfrm>
            <a:off x="1759651" y="2394694"/>
            <a:ext cx="732234" cy="364331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pic>
        <p:nvPicPr>
          <p:cNvPr id="295" name="Picture 15" descr="User-icon"/>
          <p:cNvPicPr>
            <a:picLocks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269" y="2105888"/>
            <a:ext cx="465425" cy="46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6" name="Text Box 139"/>
          <p:cNvSpPr txBox="1">
            <a:spLocks noChangeArrowheads="1"/>
          </p:cNvSpPr>
          <p:nvPr/>
        </p:nvSpPr>
        <p:spPr bwMode="auto">
          <a:xfrm>
            <a:off x="1395977" y="2536568"/>
            <a:ext cx="4571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Bob</a:t>
            </a:r>
          </a:p>
        </p:txBody>
      </p:sp>
      <p:sp>
        <p:nvSpPr>
          <p:cNvPr id="301" name="文本框 300">
            <a:extLst>
              <a:ext uri="{FF2B5EF4-FFF2-40B4-BE49-F238E27FC236}">
                <a16:creationId xmlns:a16="http://schemas.microsoft.com/office/drawing/2014/main" id="{6B8B8BC5-9936-4B7E-8711-54481AC57639}"/>
              </a:ext>
            </a:extLst>
          </p:cNvPr>
          <p:cNvSpPr txBox="1"/>
          <p:nvPr/>
        </p:nvSpPr>
        <p:spPr>
          <a:xfrm>
            <a:off x="1635765" y="2746578"/>
            <a:ext cx="19512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 err="1"/>
              <a:t>MAC:bb-bb-bb-bb-bb-bb</a:t>
            </a:r>
            <a:endParaRPr lang="zh-CN" altLang="en-US" sz="1050" b="1" dirty="0"/>
          </a:p>
        </p:txBody>
      </p:sp>
      <p:sp>
        <p:nvSpPr>
          <p:cNvPr id="79" name="Line 93"/>
          <p:cNvSpPr>
            <a:spLocks noChangeShapeType="1"/>
          </p:cNvSpPr>
          <p:nvPr/>
        </p:nvSpPr>
        <p:spPr bwMode="auto">
          <a:xfrm flipH="1">
            <a:off x="6601922" y="2319684"/>
            <a:ext cx="195263" cy="19407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2" name="Text Box 139"/>
          <p:cNvSpPr txBox="1">
            <a:spLocks noChangeArrowheads="1"/>
          </p:cNvSpPr>
          <p:nvPr/>
        </p:nvSpPr>
        <p:spPr bwMode="auto">
          <a:xfrm>
            <a:off x="6941251" y="1732706"/>
            <a:ext cx="9781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DNS server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229" name="Group 248"/>
          <p:cNvGrpSpPr>
            <a:grpSpLocks/>
          </p:cNvGrpSpPr>
          <p:nvPr/>
        </p:nvGrpSpPr>
        <p:grpSpPr bwMode="auto">
          <a:xfrm>
            <a:off x="6698456" y="1845449"/>
            <a:ext cx="269081" cy="467916"/>
            <a:chOff x="4140" y="429"/>
            <a:chExt cx="1425" cy="2396"/>
          </a:xfrm>
        </p:grpSpPr>
        <p:sp>
          <p:nvSpPr>
            <p:cNvPr id="230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1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32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3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4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35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0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61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36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37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8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59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38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39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40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6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57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41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42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4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55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43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44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5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6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47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8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49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0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1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2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3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183" name="Rectangle 43"/>
          <p:cNvSpPr>
            <a:spLocks noChangeArrowheads="1"/>
          </p:cNvSpPr>
          <p:nvPr/>
        </p:nvSpPr>
        <p:spPr bwMode="auto">
          <a:xfrm rot="16200000">
            <a:off x="3012188" y="2468512"/>
            <a:ext cx="109538" cy="235744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350">
              <a:solidFill>
                <a:srgbClr val="000000"/>
              </a:solidFill>
            </a:endParaRPr>
          </a:p>
        </p:txBody>
      </p:sp>
      <p:sp>
        <p:nvSpPr>
          <p:cNvPr id="174" name="Rectangle 43"/>
          <p:cNvSpPr>
            <a:spLocks noChangeArrowheads="1"/>
          </p:cNvSpPr>
          <p:nvPr/>
        </p:nvSpPr>
        <p:spPr bwMode="auto">
          <a:xfrm rot="2460490">
            <a:off x="3564639" y="3100735"/>
            <a:ext cx="102394" cy="229790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350">
              <a:solidFill>
                <a:srgbClr val="000000"/>
              </a:solidFill>
            </a:endParaRPr>
          </a:p>
        </p:txBody>
      </p:sp>
      <p:sp>
        <p:nvSpPr>
          <p:cNvPr id="175" name="Oval 407"/>
          <p:cNvSpPr>
            <a:spLocks noChangeArrowheads="1"/>
          </p:cNvSpPr>
          <p:nvPr/>
        </p:nvSpPr>
        <p:spPr bwMode="auto">
          <a:xfrm>
            <a:off x="3172922" y="3409106"/>
            <a:ext cx="638175" cy="188119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76" name="Rectangle 410"/>
          <p:cNvSpPr>
            <a:spLocks noChangeArrowheads="1"/>
          </p:cNvSpPr>
          <p:nvPr/>
        </p:nvSpPr>
        <p:spPr bwMode="auto">
          <a:xfrm>
            <a:off x="3172923" y="3387675"/>
            <a:ext cx="640556" cy="117872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77" name="Oval 411"/>
          <p:cNvSpPr>
            <a:spLocks noChangeArrowheads="1"/>
          </p:cNvSpPr>
          <p:nvPr/>
        </p:nvSpPr>
        <p:spPr bwMode="auto">
          <a:xfrm>
            <a:off x="3170541" y="3260278"/>
            <a:ext cx="638175" cy="220265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178" name="Group 1189"/>
          <p:cNvGrpSpPr>
            <a:grpSpLocks/>
          </p:cNvGrpSpPr>
          <p:nvPr/>
        </p:nvGrpSpPr>
        <p:grpSpPr bwMode="auto">
          <a:xfrm>
            <a:off x="3299129" y="3317428"/>
            <a:ext cx="360760" cy="102394"/>
            <a:chOff x="2468" y="1332"/>
            <a:chExt cx="310" cy="60"/>
          </a:xfrm>
        </p:grpSpPr>
        <p:sp>
          <p:nvSpPr>
            <p:cNvPr id="179" name="Freeform 1190"/>
            <p:cNvSpPr>
              <a:spLocks/>
            </p:cNvSpPr>
            <p:nvPr/>
          </p:nvSpPr>
          <p:spPr bwMode="auto">
            <a:xfrm>
              <a:off x="2468" y="1332"/>
              <a:ext cx="310" cy="60"/>
            </a:xfrm>
            <a:custGeom>
              <a:avLst/>
              <a:gdLst>
                <a:gd name="T0" fmla="*/ 0 w 310"/>
                <a:gd name="T1" fmla="*/ 60 h 60"/>
                <a:gd name="T2" fmla="*/ 96 w 310"/>
                <a:gd name="T3" fmla="*/ 60 h 60"/>
                <a:gd name="T4" fmla="*/ 192 w 310"/>
                <a:gd name="T5" fmla="*/ 0 h 60"/>
                <a:gd name="T6" fmla="*/ 310 w 310"/>
                <a:gd name="T7" fmla="*/ 0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0" h="60">
                  <a:moveTo>
                    <a:pt x="0" y="60"/>
                  </a:moveTo>
                  <a:lnTo>
                    <a:pt x="96" y="60"/>
                  </a:lnTo>
                  <a:lnTo>
                    <a:pt x="192" y="0"/>
                  </a:lnTo>
                  <a:lnTo>
                    <a:pt x="310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0" name="Freeform 1191"/>
            <p:cNvSpPr>
              <a:spLocks/>
            </p:cNvSpPr>
            <p:nvPr/>
          </p:nvSpPr>
          <p:spPr bwMode="auto">
            <a:xfrm>
              <a:off x="2482" y="1332"/>
              <a:ext cx="282" cy="60"/>
            </a:xfrm>
            <a:custGeom>
              <a:avLst/>
              <a:gdLst>
                <a:gd name="T0" fmla="*/ 0 w 282"/>
                <a:gd name="T1" fmla="*/ 0 h 60"/>
                <a:gd name="T2" fmla="*/ 96 w 282"/>
                <a:gd name="T3" fmla="*/ 0 h 60"/>
                <a:gd name="T4" fmla="*/ 192 w 282"/>
                <a:gd name="T5" fmla="*/ 60 h 60"/>
                <a:gd name="T6" fmla="*/ 282 w 282"/>
                <a:gd name="T7" fmla="*/ 60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2" h="60">
                  <a:moveTo>
                    <a:pt x="0" y="0"/>
                  </a:moveTo>
                  <a:lnTo>
                    <a:pt x="96" y="0"/>
                  </a:lnTo>
                  <a:lnTo>
                    <a:pt x="192" y="60"/>
                  </a:lnTo>
                  <a:lnTo>
                    <a:pt x="282" y="6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181" name="Line 1192"/>
          <p:cNvSpPr>
            <a:spLocks noChangeShapeType="1"/>
          </p:cNvSpPr>
          <p:nvPr/>
        </p:nvSpPr>
        <p:spPr bwMode="auto">
          <a:xfrm>
            <a:off x="3172922" y="3362672"/>
            <a:ext cx="0" cy="1500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82" name="Line 1193"/>
          <p:cNvSpPr>
            <a:spLocks noChangeShapeType="1"/>
          </p:cNvSpPr>
          <p:nvPr/>
        </p:nvSpPr>
        <p:spPr bwMode="auto">
          <a:xfrm>
            <a:off x="3808716" y="3369815"/>
            <a:ext cx="0" cy="1464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1017409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9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8" grpId="0" animBg="1"/>
      <p:bldP spid="298" grpId="1" animBg="1"/>
      <p:bldP spid="30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5.7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总结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: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自底向上回顾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87573"/>
            <a:ext cx="5616624" cy="4155925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一次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请求所要做的工作：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Bob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主机接入网络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1">
              <a:lnSpc>
                <a:spcPct val="120000"/>
              </a:lnSpc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物理连接：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LAN(802.3) or WIFI(802.11)</a:t>
            </a:r>
          </a:p>
          <a:p>
            <a:pPr lvl="1">
              <a:lnSpc>
                <a:spcPct val="120000"/>
              </a:lnSpc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配置主机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IP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等参数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lnSpc>
                <a:spcPct val="120000"/>
              </a:lnSpc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手工配置</a:t>
            </a:r>
            <a:endParaRPr lang="en-US" altLang="zh-CN" dirty="0">
              <a:solidFill>
                <a:srgbClr val="0066CC"/>
              </a:solidFill>
            </a:endParaRPr>
          </a:p>
          <a:p>
            <a:pPr lvl="2">
              <a:lnSpc>
                <a:spcPct val="120000"/>
              </a:lnSpc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动态主机配置：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DHCP</a:t>
            </a:r>
          </a:p>
          <a:p>
            <a:pPr lvl="3">
              <a:lnSpc>
                <a:spcPct val="120000"/>
              </a:lnSpc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(1) DHCP Request</a:t>
            </a:r>
          </a:p>
          <a:p>
            <a:pPr lvl="4">
              <a:lnSpc>
                <a:spcPct val="120000"/>
              </a:lnSpc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APP layer</a:t>
            </a:r>
            <a:r>
              <a:rPr lang="zh-CN" altLang="en-US" dirty="0">
                <a:solidFill>
                  <a:srgbClr val="0066CC"/>
                </a:solidFill>
              </a:rPr>
              <a:t>：</a:t>
            </a:r>
            <a:r>
              <a:rPr lang="en-US" altLang="zh-CN" dirty="0">
                <a:solidFill>
                  <a:srgbClr val="0066CC"/>
                </a:solidFill>
              </a:rPr>
              <a:t>DHCP Message</a:t>
            </a:r>
          </a:p>
          <a:p>
            <a:pPr lvl="4">
              <a:lnSpc>
                <a:spcPct val="120000"/>
              </a:lnSpc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UDP</a:t>
            </a:r>
            <a:r>
              <a:rPr lang="zh-CN" altLang="en-US" dirty="0">
                <a:solidFill>
                  <a:srgbClr val="0066CC"/>
                </a:solidFill>
              </a:rPr>
              <a:t>封装： </a:t>
            </a:r>
            <a:r>
              <a:rPr lang="en-US" altLang="zh-CN" dirty="0">
                <a:solidFill>
                  <a:srgbClr val="0066CC"/>
                </a:solidFill>
              </a:rPr>
              <a:t>Sport 68</a:t>
            </a:r>
            <a:br>
              <a:rPr lang="en-US" altLang="zh-CN" dirty="0">
                <a:solidFill>
                  <a:srgbClr val="0066CC"/>
                </a:solidFill>
              </a:rPr>
            </a:br>
            <a:r>
              <a:rPr lang="en-US" altLang="zh-CN" dirty="0">
                <a:solidFill>
                  <a:srgbClr val="0066CC"/>
                </a:solidFill>
              </a:rPr>
              <a:t>                  Dport 67</a:t>
            </a:r>
          </a:p>
          <a:p>
            <a:pPr lvl="5">
              <a:lnSpc>
                <a:spcPct val="120000"/>
              </a:lnSpc>
              <a:spcBef>
                <a:spcPts val="450"/>
              </a:spcBef>
            </a:pPr>
            <a:r>
              <a:rPr lang="en-US" altLang="zh-CN" sz="1200" dirty="0">
                <a:solidFill>
                  <a:srgbClr val="0066CC"/>
                </a:solidFill>
              </a:rPr>
              <a:t>Checksum</a:t>
            </a:r>
          </a:p>
          <a:p>
            <a:pPr lvl="4">
              <a:lnSpc>
                <a:spcPct val="120000"/>
              </a:lnSpc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IP</a:t>
            </a:r>
            <a:r>
              <a:rPr lang="zh-CN" altLang="en-US" dirty="0">
                <a:solidFill>
                  <a:srgbClr val="0066CC"/>
                </a:solidFill>
              </a:rPr>
              <a:t>封装：</a:t>
            </a:r>
            <a:r>
              <a:rPr lang="en-US" altLang="zh-CN" sz="1050" dirty="0">
                <a:solidFill>
                  <a:srgbClr val="0066CC"/>
                </a:solidFill>
              </a:rPr>
              <a:t>SIP</a:t>
            </a:r>
            <a:r>
              <a:rPr lang="zh-CN" altLang="en-US" sz="1050" dirty="0">
                <a:solidFill>
                  <a:srgbClr val="0066CC"/>
                </a:solidFill>
              </a:rPr>
              <a:t>：</a:t>
            </a:r>
            <a:r>
              <a:rPr lang="en-US" altLang="zh-CN" sz="1050" dirty="0">
                <a:solidFill>
                  <a:srgbClr val="FF0000"/>
                </a:solidFill>
              </a:rPr>
              <a:t>0.0.0.0</a:t>
            </a:r>
            <a:br>
              <a:rPr lang="en-US" altLang="zh-CN" sz="1050" dirty="0">
                <a:solidFill>
                  <a:srgbClr val="0066CC"/>
                </a:solidFill>
              </a:rPr>
            </a:br>
            <a:r>
              <a:rPr lang="en-US" altLang="zh-CN" sz="1050" dirty="0">
                <a:solidFill>
                  <a:srgbClr val="0066CC"/>
                </a:solidFill>
              </a:rPr>
              <a:t>                DIP</a:t>
            </a:r>
            <a:r>
              <a:rPr lang="zh-CN" altLang="en-US" sz="1050" dirty="0">
                <a:solidFill>
                  <a:srgbClr val="0066CC"/>
                </a:solidFill>
              </a:rPr>
              <a:t>：</a:t>
            </a:r>
            <a:r>
              <a:rPr lang="en-US" altLang="zh-CN" sz="1050" dirty="0">
                <a:solidFill>
                  <a:srgbClr val="0066CC"/>
                </a:solidFill>
              </a:rPr>
              <a:t>255.255.255.255(</a:t>
            </a:r>
            <a:r>
              <a:rPr lang="zh-CN" altLang="en-US" sz="1050" dirty="0">
                <a:solidFill>
                  <a:srgbClr val="0066CC"/>
                </a:solidFill>
              </a:rPr>
              <a:t>广播</a:t>
            </a:r>
            <a:r>
              <a:rPr lang="en-US" altLang="zh-CN" sz="1050" dirty="0">
                <a:solidFill>
                  <a:srgbClr val="0066CC"/>
                </a:solidFill>
              </a:rPr>
              <a:t>)</a:t>
            </a:r>
            <a:endParaRPr lang="en-US" altLang="zh-CN" sz="1200" dirty="0">
              <a:solidFill>
                <a:srgbClr val="0066CC"/>
              </a:solidFill>
            </a:endParaRPr>
          </a:p>
          <a:p>
            <a:pPr lvl="3">
              <a:lnSpc>
                <a:spcPct val="120000"/>
              </a:lnSpc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(2) Framing DHCP-UDP-IP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数据报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4">
              <a:lnSpc>
                <a:spcPct val="120000"/>
              </a:lnSpc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MAC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地址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5">
              <a:lnSpc>
                <a:spcPct val="120000"/>
              </a:lnSpc>
              <a:spcBef>
                <a:spcPts val="450"/>
              </a:spcBef>
            </a:pPr>
            <a:r>
              <a:rPr lang="en-US" altLang="zh-CN" sz="1050" dirty="0">
                <a:solidFill>
                  <a:srgbClr val="0066CC"/>
                </a:solidFill>
              </a:rPr>
              <a:t>DMAC</a:t>
            </a:r>
            <a:r>
              <a:rPr lang="zh-CN" altLang="en-US" sz="1050" dirty="0">
                <a:solidFill>
                  <a:srgbClr val="0066CC"/>
                </a:solidFill>
              </a:rPr>
              <a:t>：</a:t>
            </a:r>
            <a:r>
              <a:rPr lang="en-US" altLang="zh-CN" sz="1050" dirty="0">
                <a:solidFill>
                  <a:srgbClr val="0066CC"/>
                </a:solidFill>
              </a:rPr>
              <a:t>FF-FF-FF-FF-FF-FF</a:t>
            </a:r>
          </a:p>
          <a:p>
            <a:pPr lvl="5">
              <a:lnSpc>
                <a:spcPct val="120000"/>
              </a:lnSpc>
              <a:spcBef>
                <a:spcPts val="450"/>
              </a:spcBef>
            </a:pPr>
            <a:r>
              <a:rPr lang="en-US" altLang="zh-CN" sz="1050" dirty="0">
                <a:solidFill>
                  <a:srgbClr val="0066CC"/>
                </a:solidFill>
              </a:rPr>
              <a:t>SMAC</a:t>
            </a:r>
            <a:r>
              <a:rPr lang="zh-CN" altLang="en-US" sz="1050" dirty="0">
                <a:solidFill>
                  <a:srgbClr val="0066CC"/>
                </a:solidFill>
              </a:rPr>
              <a:t>：</a:t>
            </a:r>
            <a:r>
              <a:rPr lang="en-US" altLang="zh-CN" sz="1050" dirty="0">
                <a:solidFill>
                  <a:srgbClr val="0066CC"/>
                </a:solidFill>
              </a:rPr>
              <a:t>bb-bb-bb-bb-bb-bb</a:t>
            </a:r>
          </a:p>
          <a:p>
            <a:pPr lvl="4">
              <a:lnSpc>
                <a:spcPct val="120000"/>
              </a:lnSpc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CRC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>
              <a:lnSpc>
                <a:spcPct val="120000"/>
              </a:lnSpc>
              <a:spcBef>
                <a:spcPts val="450"/>
              </a:spcBef>
            </a:pP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9" name="Group 156"/>
          <p:cNvGrpSpPr>
            <a:grpSpLocks/>
          </p:cNvGrpSpPr>
          <p:nvPr/>
        </p:nvGrpSpPr>
        <p:grpSpPr bwMode="auto">
          <a:xfrm>
            <a:off x="5263847" y="1629083"/>
            <a:ext cx="2665809" cy="2322880"/>
            <a:chOff x="773113" y="1273175"/>
            <a:chExt cx="3554412" cy="3096511"/>
          </a:xfrm>
        </p:grpSpPr>
        <p:sp>
          <p:nvSpPr>
            <p:cNvPr id="10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6 w 2406"/>
                <a:gd name="T1" fmla="*/ 2147483646 h 958"/>
                <a:gd name="T2" fmla="*/ 2147483646 w 2406"/>
                <a:gd name="T3" fmla="*/ 2147483646 h 958"/>
                <a:gd name="T4" fmla="*/ 2147483646 w 2406"/>
                <a:gd name="T5" fmla="*/ 2147483646 h 958"/>
                <a:gd name="T6" fmla="*/ 2147483646 w 2406"/>
                <a:gd name="T7" fmla="*/ 2147483646 h 958"/>
                <a:gd name="T8" fmla="*/ 2147483646 w 2406"/>
                <a:gd name="T9" fmla="*/ 2147483646 h 958"/>
                <a:gd name="T10" fmla="*/ 2147483646 w 2406"/>
                <a:gd name="T11" fmla="*/ 2147483646 h 958"/>
                <a:gd name="T12" fmla="*/ 2147483646 w 2406"/>
                <a:gd name="T13" fmla="*/ 2147483646 h 958"/>
                <a:gd name="T14" fmla="*/ 2147483646 w 2406"/>
                <a:gd name="T15" fmla="*/ 2147483646 h 958"/>
                <a:gd name="T16" fmla="*/ 2147483646 w 2406"/>
                <a:gd name="T17" fmla="*/ 2147483646 h 958"/>
                <a:gd name="T18" fmla="*/ 2147483646 w 2406"/>
                <a:gd name="T19" fmla="*/ 2147483646 h 958"/>
                <a:gd name="T20" fmla="*/ 2147483646 w 2406"/>
                <a:gd name="T21" fmla="*/ 2147483646 h 958"/>
                <a:gd name="T22" fmla="*/ 2147483646 w 2406"/>
                <a:gd name="T23" fmla="*/ 2147483646 h 958"/>
                <a:gd name="T24" fmla="*/ 2147483646 w 2406"/>
                <a:gd name="T25" fmla="*/ 2147483646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76417" cy="553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router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(runs DHCP)</a:t>
              </a:r>
            </a:p>
          </p:txBody>
        </p:sp>
        <p:grpSp>
          <p:nvGrpSpPr>
            <p:cNvPr id="16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68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9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7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sp>
          <p:nvSpPr>
            <p:cNvPr id="19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sp>
          <p:nvSpPr>
            <p:cNvPr id="20" name="Rectangle 43"/>
            <p:cNvSpPr>
              <a:spLocks noChangeArrowheads="1"/>
            </p:cNvSpPr>
            <p:nvPr/>
          </p:nvSpPr>
          <p:spPr bwMode="auto">
            <a:xfrm rot="-54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grpSp>
          <p:nvGrpSpPr>
            <p:cNvPr id="21" name="Group 248"/>
            <p:cNvGrpSpPr>
              <a:grpSpLocks/>
            </p:cNvGrpSpPr>
            <p:nvPr/>
          </p:nvGrpSpPr>
          <p:grpSpPr bwMode="auto">
            <a:xfrm>
              <a:off x="2597053" y="3209400"/>
              <a:ext cx="333503" cy="585928"/>
              <a:chOff x="4139" y="426"/>
              <a:chExt cx="1429" cy="2416"/>
            </a:xfrm>
          </p:grpSpPr>
          <p:sp>
            <p:nvSpPr>
              <p:cNvPr id="36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7 w 354"/>
                  <a:gd name="T1" fmla="*/ 0 h 2742"/>
                  <a:gd name="T2" fmla="*/ 93 w 354"/>
                  <a:gd name="T3" fmla="*/ 114 h 2742"/>
                  <a:gd name="T4" fmla="*/ 91 w 354"/>
                  <a:gd name="T5" fmla="*/ 881 h 2742"/>
                  <a:gd name="T6" fmla="*/ 0 w 354"/>
                  <a:gd name="T7" fmla="*/ 921 h 2742"/>
                  <a:gd name="T8" fmla="*/ 1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38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6 w 211"/>
                  <a:gd name="T3" fmla="*/ 73 h 2537"/>
                  <a:gd name="T4" fmla="*/ 2 w 211"/>
                  <a:gd name="T5" fmla="*/ 83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3 h 226"/>
                  <a:gd name="T4" fmla="*/ 87 w 328"/>
                  <a:gd name="T5" fmla="*/ 77 h 226"/>
                  <a:gd name="T6" fmla="*/ 0 w 328"/>
                  <a:gd name="T7" fmla="*/ 3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1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6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7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2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3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4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5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4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45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6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2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3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7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2 h 226"/>
                  <a:gd name="T4" fmla="*/ 87 w 328"/>
                  <a:gd name="T5" fmla="*/ 75 h 226"/>
                  <a:gd name="T6" fmla="*/ 0 w 328"/>
                  <a:gd name="T7" fmla="*/ 3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48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60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1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9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0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7 w 296"/>
                  <a:gd name="T3" fmla="*/ 47 h 256"/>
                  <a:gd name="T4" fmla="*/ 78 w 296"/>
                  <a:gd name="T5" fmla="*/ 85 h 256"/>
                  <a:gd name="T6" fmla="*/ 0 w 296"/>
                  <a:gd name="T7" fmla="*/ 3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1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81 w 304"/>
                  <a:gd name="T3" fmla="*/ 55 h 288"/>
                  <a:gd name="T4" fmla="*/ 76 w 304"/>
                  <a:gd name="T5" fmla="*/ 97 h 288"/>
                  <a:gd name="T6" fmla="*/ 2 w 304"/>
                  <a:gd name="T7" fmla="*/ 4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2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3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6 h 240"/>
                  <a:gd name="T2" fmla="*/ 2 w 306"/>
                  <a:gd name="T3" fmla="*/ 81 h 240"/>
                  <a:gd name="T4" fmla="*/ 81 w 306"/>
                  <a:gd name="T5" fmla="*/ 37 h 240"/>
                  <a:gd name="T6" fmla="*/ 78 w 306"/>
                  <a:gd name="T7" fmla="*/ 0 h 240"/>
                  <a:gd name="T8" fmla="*/ 0 w 306"/>
                  <a:gd name="T9" fmla="*/ 3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4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6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5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6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7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8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9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22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23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4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5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6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28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3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4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5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29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30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1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2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3"/>
                  <a:ext cx="52" cy="9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</p:grpSp>
      </p:grpSp>
      <p:sp>
        <p:nvSpPr>
          <p:cNvPr id="70" name="AutoShape 221"/>
          <p:cNvSpPr>
            <a:spLocks noChangeArrowheads="1"/>
          </p:cNvSpPr>
          <p:nvPr/>
        </p:nvSpPr>
        <p:spPr bwMode="auto">
          <a:xfrm>
            <a:off x="5306709" y="2374414"/>
            <a:ext cx="732234" cy="364331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pSp>
        <p:nvGrpSpPr>
          <p:cNvPr id="71" name="Group 250"/>
          <p:cNvGrpSpPr>
            <a:grpSpLocks/>
          </p:cNvGrpSpPr>
          <p:nvPr/>
        </p:nvGrpSpPr>
        <p:grpSpPr bwMode="auto">
          <a:xfrm>
            <a:off x="5580553" y="1485017"/>
            <a:ext cx="732234" cy="1095375"/>
            <a:chOff x="651" y="681"/>
            <a:chExt cx="615" cy="920"/>
          </a:xfrm>
        </p:grpSpPr>
        <p:sp>
          <p:nvSpPr>
            <p:cNvPr id="72" name="Freeform 249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73" name="Group 248"/>
            <p:cNvGrpSpPr>
              <a:grpSpLocks/>
            </p:cNvGrpSpPr>
            <p:nvPr/>
          </p:nvGrpSpPr>
          <p:grpSpPr bwMode="auto">
            <a:xfrm>
              <a:off x="651" y="681"/>
              <a:ext cx="523" cy="853"/>
              <a:chOff x="569" y="2954"/>
              <a:chExt cx="523" cy="853"/>
            </a:xfrm>
          </p:grpSpPr>
          <p:sp>
            <p:nvSpPr>
              <p:cNvPr id="74" name="Rectangle 242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75" name="Text Box 241"/>
              <p:cNvSpPr txBox="1">
                <a:spLocks noChangeArrowheads="1"/>
              </p:cNvSpPr>
              <p:nvPr/>
            </p:nvSpPr>
            <p:spPr bwMode="auto">
              <a:xfrm>
                <a:off x="572" y="2954"/>
                <a:ext cx="520" cy="8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DHCP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UDP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Eth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Phy</a:t>
                </a:r>
              </a:p>
            </p:txBody>
          </p:sp>
          <p:sp>
            <p:nvSpPr>
              <p:cNvPr id="76" name="Line 243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7" name="Line 244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8" name="Line 245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9" name="Line 246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80" name="Group 253"/>
          <p:cNvGrpSpPr>
            <a:grpSpLocks/>
          </p:cNvGrpSpPr>
          <p:nvPr/>
        </p:nvGrpSpPr>
        <p:grpSpPr bwMode="auto">
          <a:xfrm>
            <a:off x="5074537" y="1545751"/>
            <a:ext cx="456009" cy="207169"/>
            <a:chOff x="844" y="3337"/>
            <a:chExt cx="383" cy="174"/>
          </a:xfrm>
        </p:grpSpPr>
        <p:sp>
          <p:nvSpPr>
            <p:cNvPr id="82" name="Rectangle 251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83" name="Text Box 252"/>
            <p:cNvSpPr txBox="1">
              <a:spLocks noChangeArrowheads="1"/>
            </p:cNvSpPr>
            <p:nvPr/>
          </p:nvSpPr>
          <p:spPr bwMode="auto">
            <a:xfrm>
              <a:off x="844" y="3337"/>
              <a:ext cx="38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750">
                  <a:solidFill>
                    <a:srgbClr val="FFFFFF"/>
                  </a:solidFill>
                  <a:latin typeface="Arial" panose="020B0604020202020204" pitchFamily="34" charset="0"/>
                </a:rPr>
                <a:t>DHCP</a:t>
              </a:r>
            </a:p>
          </p:txBody>
        </p:sp>
      </p:grpSp>
      <p:grpSp>
        <p:nvGrpSpPr>
          <p:cNvPr id="84" name="Group 299"/>
          <p:cNvGrpSpPr>
            <a:grpSpLocks/>
          </p:cNvGrpSpPr>
          <p:nvPr/>
        </p:nvGrpSpPr>
        <p:grpSpPr bwMode="auto">
          <a:xfrm>
            <a:off x="4734018" y="1560027"/>
            <a:ext cx="810816" cy="875110"/>
            <a:chOff x="42" y="744"/>
            <a:chExt cx="681" cy="735"/>
          </a:xfrm>
        </p:grpSpPr>
        <p:grpSp>
          <p:nvGrpSpPr>
            <p:cNvPr id="85" name="Group 296"/>
            <p:cNvGrpSpPr>
              <a:grpSpLocks/>
            </p:cNvGrpSpPr>
            <p:nvPr/>
          </p:nvGrpSpPr>
          <p:grpSpPr bwMode="auto">
            <a:xfrm>
              <a:off x="42" y="886"/>
              <a:ext cx="681" cy="488"/>
              <a:chOff x="42" y="886"/>
              <a:chExt cx="681" cy="488"/>
            </a:xfrm>
          </p:grpSpPr>
          <p:grpSp>
            <p:nvGrpSpPr>
              <p:cNvPr id="87" name="Group 295"/>
              <p:cNvGrpSpPr>
                <a:grpSpLocks/>
              </p:cNvGrpSpPr>
              <p:nvPr/>
            </p:nvGrpSpPr>
            <p:grpSpPr bwMode="auto">
              <a:xfrm>
                <a:off x="278" y="886"/>
                <a:ext cx="437" cy="174"/>
                <a:chOff x="740" y="3209"/>
                <a:chExt cx="437" cy="174"/>
              </a:xfrm>
            </p:grpSpPr>
            <p:grpSp>
              <p:nvGrpSpPr>
                <p:cNvPr id="112" name="Group 254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83" cy="174"/>
                  <a:chOff x="844" y="3337"/>
                  <a:chExt cx="383" cy="174"/>
                </a:xfrm>
              </p:grpSpPr>
              <p:sp>
                <p:nvSpPr>
                  <p:cNvPr id="115" name="Rectangle 255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116" name="Text Box 25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83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750">
                        <a:solidFill>
                          <a:srgbClr val="FFFFFF"/>
                        </a:solidFill>
                        <a:latin typeface="Arial" panose="020B0604020202020204" pitchFamily="34" charset="0"/>
                      </a:rPr>
                      <a:t>DHCP</a:t>
                    </a:r>
                  </a:p>
                </p:txBody>
              </p:sp>
            </p:grpSp>
            <p:sp>
              <p:nvSpPr>
                <p:cNvPr id="113" name="Rectangle 266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114" name="Rectangle 267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88" name="Group 274"/>
              <p:cNvGrpSpPr>
                <a:grpSpLocks/>
              </p:cNvGrpSpPr>
              <p:nvPr/>
            </p:nvGrpSpPr>
            <p:grpSpPr bwMode="auto">
              <a:xfrm>
                <a:off x="278" y="1034"/>
                <a:ext cx="437" cy="174"/>
                <a:chOff x="836" y="3305"/>
                <a:chExt cx="437" cy="174"/>
              </a:xfrm>
            </p:grpSpPr>
            <p:grpSp>
              <p:nvGrpSpPr>
                <p:cNvPr id="106" name="Group 268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83" cy="174"/>
                  <a:chOff x="844" y="3337"/>
                  <a:chExt cx="383" cy="174"/>
                </a:xfrm>
              </p:grpSpPr>
              <p:sp>
                <p:nvSpPr>
                  <p:cNvPr id="110" name="Rectangle 269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111" name="Text Box 27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83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750">
                        <a:solidFill>
                          <a:srgbClr val="FFFFFF"/>
                        </a:solidFill>
                        <a:latin typeface="Arial" panose="020B0604020202020204" pitchFamily="34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107" name="Group 273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08" name="Rectangle 271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109" name="Rectangle 272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</p:grpSp>
          </p:grpSp>
          <p:grpSp>
            <p:nvGrpSpPr>
              <p:cNvPr id="89" name="Group 293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104" name="Rectangle 276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105" name="Rectangle 277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90" name="Group 294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74"/>
                <a:chOff x="504" y="3523"/>
                <a:chExt cx="681" cy="174"/>
              </a:xfrm>
            </p:grpSpPr>
            <p:grpSp>
              <p:nvGrpSpPr>
                <p:cNvPr id="91" name="Group 287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50" cy="174"/>
                  <a:chOff x="723" y="3453"/>
                  <a:chExt cx="550" cy="174"/>
                </a:xfrm>
              </p:grpSpPr>
              <p:grpSp>
                <p:nvGrpSpPr>
                  <p:cNvPr id="95" name="Group 278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437" cy="174"/>
                    <a:chOff x="836" y="3305"/>
                    <a:chExt cx="437" cy="174"/>
                  </a:xfrm>
                </p:grpSpPr>
                <p:grpSp>
                  <p:nvGrpSpPr>
                    <p:cNvPr id="98" name="Group 27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83" cy="174"/>
                      <a:chOff x="844" y="3337"/>
                      <a:chExt cx="383" cy="174"/>
                    </a:xfrm>
                  </p:grpSpPr>
                  <p:sp>
                    <p:nvSpPr>
                      <p:cNvPr id="102" name="Rectangle 28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SzPct val="65000"/>
                          <a:buFont typeface="Wingdings" panose="05000000000000000000" pitchFamily="2" charset="2"/>
                          <a:buChar char="v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350">
                          <a:solidFill>
                            <a:srgbClr val="000000"/>
                          </a:solidFill>
                          <a:latin typeface="Comic Sans MS" panose="030F0702030302020204" pitchFamily="66" charset="0"/>
                        </a:endParaRPr>
                      </a:p>
                    </p:txBody>
                  </p:sp>
                  <p:sp>
                    <p:nvSpPr>
                      <p:cNvPr id="103" name="Text Box 281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83" cy="1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SzPct val="65000"/>
                          <a:buFont typeface="Wingdings" panose="05000000000000000000" pitchFamily="2" charset="2"/>
                          <a:buChar char="v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sz="750">
                            <a:solidFill>
                              <a:srgbClr val="FFFFFF"/>
                            </a:solidFill>
                            <a:latin typeface="Arial" panose="020B0604020202020204" pitchFamily="34" charset="0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99" name="Group 28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00" name="Rectangle 28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SzPct val="65000"/>
                          <a:buFont typeface="Wingdings" panose="05000000000000000000" pitchFamily="2" charset="2"/>
                          <a:buChar char="v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350">
                          <a:solidFill>
                            <a:srgbClr val="000000"/>
                          </a:solidFill>
                          <a:latin typeface="Comic Sans MS" panose="030F0702030302020204" pitchFamily="66" charset="0"/>
                        </a:endParaRPr>
                      </a:p>
                    </p:txBody>
                  </p:sp>
                  <p:sp>
                    <p:nvSpPr>
                      <p:cNvPr id="101" name="Rectangle 28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SzPct val="65000"/>
                          <a:buFont typeface="Wingdings" panose="05000000000000000000" pitchFamily="2" charset="2"/>
                          <a:buChar char="v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350">
                          <a:solidFill>
                            <a:srgbClr val="000000"/>
                          </a:solidFill>
                          <a:latin typeface="Comic Sans MS" panose="030F0702030302020204" pitchFamily="66" charset="0"/>
                        </a:endParaRPr>
                      </a:p>
                    </p:txBody>
                  </p:sp>
                </p:grpSp>
              </p:grpSp>
              <p:sp>
                <p:nvSpPr>
                  <p:cNvPr id="96" name="Rectangle 285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97" name="Rectangle 286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</p:grpSp>
            <p:sp>
              <p:nvSpPr>
                <p:cNvPr id="92" name="Rectangle 288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93" name="Rectangle 290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94" name="Rectangle 291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</p:grpSp>
        <p:sp>
          <p:nvSpPr>
            <p:cNvPr id="86" name="AutoShape 297"/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117" name="Group 318"/>
          <p:cNvGrpSpPr>
            <a:grpSpLocks/>
          </p:cNvGrpSpPr>
          <p:nvPr/>
        </p:nvGrpSpPr>
        <p:grpSpPr bwMode="auto">
          <a:xfrm>
            <a:off x="5172168" y="2466097"/>
            <a:ext cx="810816" cy="207169"/>
            <a:chOff x="504" y="3523"/>
            <a:chExt cx="681" cy="174"/>
          </a:xfrm>
        </p:grpSpPr>
        <p:grpSp>
          <p:nvGrpSpPr>
            <p:cNvPr id="118" name="Group 319"/>
            <p:cNvGrpSpPr>
              <a:grpSpLocks/>
            </p:cNvGrpSpPr>
            <p:nvPr/>
          </p:nvGrpSpPr>
          <p:grpSpPr bwMode="auto">
            <a:xfrm>
              <a:off x="623" y="3523"/>
              <a:ext cx="550" cy="174"/>
              <a:chOff x="723" y="3453"/>
              <a:chExt cx="550" cy="174"/>
            </a:xfrm>
          </p:grpSpPr>
          <p:grpSp>
            <p:nvGrpSpPr>
              <p:cNvPr id="122" name="Group 320"/>
              <p:cNvGrpSpPr>
                <a:grpSpLocks/>
              </p:cNvGrpSpPr>
              <p:nvPr/>
            </p:nvGrpSpPr>
            <p:grpSpPr bwMode="auto">
              <a:xfrm>
                <a:off x="836" y="3453"/>
                <a:ext cx="437" cy="174"/>
                <a:chOff x="836" y="3305"/>
                <a:chExt cx="437" cy="174"/>
              </a:xfrm>
            </p:grpSpPr>
            <p:grpSp>
              <p:nvGrpSpPr>
                <p:cNvPr id="125" name="Group 321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83" cy="174"/>
                  <a:chOff x="844" y="3337"/>
                  <a:chExt cx="383" cy="174"/>
                </a:xfrm>
              </p:grpSpPr>
              <p:sp>
                <p:nvSpPr>
                  <p:cNvPr id="129" name="Rectangle 322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130" name="Text Box 3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83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750">
                        <a:solidFill>
                          <a:srgbClr val="FFFFFF"/>
                        </a:solidFill>
                        <a:latin typeface="Arial" panose="020B0604020202020204" pitchFamily="34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126" name="Group 324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27" name="Rectangle 325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128" name="Rectangle 326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</p:grpSp>
          </p:grpSp>
          <p:sp>
            <p:nvSpPr>
              <p:cNvPr id="123" name="Rectangle 327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24" name="Rectangle 328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119" name="Rectangle 329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20" name="Rectangle 330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21" name="Rectangle 331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131" name="灯片编号占位符 2">
            <a:extLst>
              <a:ext uri="{FF2B5EF4-FFF2-40B4-BE49-F238E27FC236}">
                <a16:creationId xmlns:a16="http://schemas.microsoft.com/office/drawing/2014/main" id="{96BDEF8F-5F21-4AC0-B30F-3A176F50D1D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6</a:t>
            </a:fld>
            <a:endParaRPr lang="en-US" altLang="zh-CN" dirty="0"/>
          </a:p>
        </p:txBody>
      </p:sp>
      <p:sp>
        <p:nvSpPr>
          <p:cNvPr id="132" name="AutoShape 5">
            <a:extLst>
              <a:ext uri="{FF2B5EF4-FFF2-40B4-BE49-F238E27FC236}">
                <a16:creationId xmlns:a16="http://schemas.microsoft.com/office/drawing/2014/main" id="{94957A8A-8D4E-4725-8E8F-EF78D1BBD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963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  <p:bldP spid="132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5.7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总结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: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自底向上回顾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87574"/>
            <a:ext cx="7992887" cy="3927082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一次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请求所要做的工作：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主机接入网络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物理连接：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WLAN(802.3) or WIFI(802.11)</a:t>
            </a: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配置主机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IP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等参数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手工配置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动态主机配置：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DHCP</a:t>
            </a: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(3) </a:t>
            </a:r>
            <a:r>
              <a:rPr lang="zh-CN" altLang="en-US" dirty="0">
                <a:solidFill>
                  <a:srgbClr val="0066CC"/>
                </a:solidFill>
              </a:rPr>
              <a:t>交换机转发</a:t>
            </a:r>
            <a:r>
              <a:rPr lang="en-US" altLang="zh-CN" dirty="0">
                <a:solidFill>
                  <a:srgbClr val="0066CC"/>
                </a:solidFill>
              </a:rPr>
              <a:t>Frame</a:t>
            </a:r>
          </a:p>
          <a:p>
            <a:pPr lvl="4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链路泛洪</a:t>
            </a:r>
            <a:r>
              <a:rPr lang="en-US" altLang="zh-CN" dirty="0">
                <a:solidFill>
                  <a:srgbClr val="0066CC"/>
                </a:solidFill>
              </a:rPr>
              <a:t>(flooding)</a:t>
            </a:r>
          </a:p>
          <a:p>
            <a:pPr lvl="4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Why</a:t>
            </a:r>
            <a:r>
              <a:rPr lang="zh-CN" altLang="en-US" dirty="0">
                <a:solidFill>
                  <a:srgbClr val="0066CC"/>
                </a:solidFill>
              </a:rPr>
              <a:t>？</a:t>
            </a: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(4) </a:t>
            </a:r>
            <a:r>
              <a:rPr lang="zh-CN" altLang="en-US" dirty="0">
                <a:solidFill>
                  <a:srgbClr val="0066CC"/>
                </a:solidFill>
              </a:rPr>
              <a:t>路由器</a:t>
            </a:r>
            <a:r>
              <a:rPr lang="en-US" altLang="zh-CN" dirty="0">
                <a:solidFill>
                  <a:srgbClr val="0066CC"/>
                </a:solidFill>
              </a:rPr>
              <a:t>(DHCP</a:t>
            </a:r>
            <a:r>
              <a:rPr lang="zh-CN" altLang="en-US" dirty="0">
                <a:solidFill>
                  <a:srgbClr val="0066CC"/>
                </a:solidFill>
              </a:rPr>
              <a:t>服务器</a:t>
            </a:r>
            <a:r>
              <a:rPr lang="en-US" altLang="zh-CN" dirty="0">
                <a:solidFill>
                  <a:srgbClr val="0066CC"/>
                </a:solidFill>
              </a:rPr>
              <a:t>)</a:t>
            </a:r>
          </a:p>
          <a:p>
            <a:pPr lvl="4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解析帧</a:t>
            </a:r>
            <a:r>
              <a:rPr lang="en-US" altLang="zh-CN" dirty="0">
                <a:solidFill>
                  <a:srgbClr val="0066CC"/>
                </a:solidFill>
              </a:rPr>
              <a:t> </a:t>
            </a:r>
          </a:p>
          <a:p>
            <a:pPr lvl="4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向上提交</a:t>
            </a:r>
            <a:endParaRPr lang="en-US" altLang="zh-CN" dirty="0">
              <a:solidFill>
                <a:srgbClr val="0066CC"/>
              </a:solidFill>
            </a:endParaRPr>
          </a:p>
          <a:p>
            <a:pPr lvl="4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接收到</a:t>
            </a:r>
            <a:r>
              <a:rPr lang="en-US" altLang="zh-CN" dirty="0">
                <a:solidFill>
                  <a:srgbClr val="0066CC"/>
                </a:solidFill>
              </a:rPr>
              <a:t>DHCP</a:t>
            </a:r>
            <a:r>
              <a:rPr lang="zh-CN" altLang="en-US" dirty="0">
                <a:solidFill>
                  <a:srgbClr val="0066CC"/>
                </a:solidFill>
              </a:rPr>
              <a:t>请求</a:t>
            </a:r>
            <a:endParaRPr lang="en-US" altLang="zh-CN" dirty="0">
              <a:solidFill>
                <a:srgbClr val="0066CC"/>
              </a:solidFill>
            </a:endParaRPr>
          </a:p>
          <a:p>
            <a:pPr lvl="4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  <a:effectLst/>
            </a:endParaRPr>
          </a:p>
          <a:p>
            <a:pPr>
              <a:spcBef>
                <a:spcPts val="450"/>
              </a:spcBef>
            </a:pP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9" name="Group 156"/>
          <p:cNvGrpSpPr>
            <a:grpSpLocks/>
          </p:cNvGrpSpPr>
          <p:nvPr/>
        </p:nvGrpSpPr>
        <p:grpSpPr bwMode="auto">
          <a:xfrm>
            <a:off x="5263847" y="1629083"/>
            <a:ext cx="2665809" cy="2322880"/>
            <a:chOff x="773113" y="1273175"/>
            <a:chExt cx="3554412" cy="3096511"/>
          </a:xfrm>
        </p:grpSpPr>
        <p:sp>
          <p:nvSpPr>
            <p:cNvPr id="10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6 w 2406"/>
                <a:gd name="T1" fmla="*/ 2147483646 h 958"/>
                <a:gd name="T2" fmla="*/ 2147483646 w 2406"/>
                <a:gd name="T3" fmla="*/ 2147483646 h 958"/>
                <a:gd name="T4" fmla="*/ 2147483646 w 2406"/>
                <a:gd name="T5" fmla="*/ 2147483646 h 958"/>
                <a:gd name="T6" fmla="*/ 2147483646 w 2406"/>
                <a:gd name="T7" fmla="*/ 2147483646 h 958"/>
                <a:gd name="T8" fmla="*/ 2147483646 w 2406"/>
                <a:gd name="T9" fmla="*/ 2147483646 h 958"/>
                <a:gd name="T10" fmla="*/ 2147483646 w 2406"/>
                <a:gd name="T11" fmla="*/ 2147483646 h 958"/>
                <a:gd name="T12" fmla="*/ 2147483646 w 2406"/>
                <a:gd name="T13" fmla="*/ 2147483646 h 958"/>
                <a:gd name="T14" fmla="*/ 2147483646 w 2406"/>
                <a:gd name="T15" fmla="*/ 2147483646 h 958"/>
                <a:gd name="T16" fmla="*/ 2147483646 w 2406"/>
                <a:gd name="T17" fmla="*/ 2147483646 h 958"/>
                <a:gd name="T18" fmla="*/ 2147483646 w 2406"/>
                <a:gd name="T19" fmla="*/ 2147483646 h 958"/>
                <a:gd name="T20" fmla="*/ 2147483646 w 2406"/>
                <a:gd name="T21" fmla="*/ 2147483646 h 958"/>
                <a:gd name="T22" fmla="*/ 2147483646 w 2406"/>
                <a:gd name="T23" fmla="*/ 2147483646 h 958"/>
                <a:gd name="T24" fmla="*/ 2147483646 w 2406"/>
                <a:gd name="T25" fmla="*/ 2147483646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76417" cy="553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router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(runs DHCP)</a:t>
              </a:r>
            </a:p>
          </p:txBody>
        </p:sp>
        <p:grpSp>
          <p:nvGrpSpPr>
            <p:cNvPr id="16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68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9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7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sp>
          <p:nvSpPr>
            <p:cNvPr id="19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sp>
          <p:nvSpPr>
            <p:cNvPr id="20" name="Rectangle 43"/>
            <p:cNvSpPr>
              <a:spLocks noChangeArrowheads="1"/>
            </p:cNvSpPr>
            <p:nvPr/>
          </p:nvSpPr>
          <p:spPr bwMode="auto">
            <a:xfrm rot="-54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grpSp>
          <p:nvGrpSpPr>
            <p:cNvPr id="21" name="Group 248"/>
            <p:cNvGrpSpPr>
              <a:grpSpLocks/>
            </p:cNvGrpSpPr>
            <p:nvPr/>
          </p:nvGrpSpPr>
          <p:grpSpPr bwMode="auto">
            <a:xfrm>
              <a:off x="2597053" y="3209400"/>
              <a:ext cx="333503" cy="585928"/>
              <a:chOff x="4139" y="426"/>
              <a:chExt cx="1429" cy="2416"/>
            </a:xfrm>
          </p:grpSpPr>
          <p:sp>
            <p:nvSpPr>
              <p:cNvPr id="36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7 w 354"/>
                  <a:gd name="T1" fmla="*/ 0 h 2742"/>
                  <a:gd name="T2" fmla="*/ 93 w 354"/>
                  <a:gd name="T3" fmla="*/ 114 h 2742"/>
                  <a:gd name="T4" fmla="*/ 91 w 354"/>
                  <a:gd name="T5" fmla="*/ 881 h 2742"/>
                  <a:gd name="T6" fmla="*/ 0 w 354"/>
                  <a:gd name="T7" fmla="*/ 921 h 2742"/>
                  <a:gd name="T8" fmla="*/ 1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38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6 w 211"/>
                  <a:gd name="T3" fmla="*/ 73 h 2537"/>
                  <a:gd name="T4" fmla="*/ 2 w 211"/>
                  <a:gd name="T5" fmla="*/ 83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3 h 226"/>
                  <a:gd name="T4" fmla="*/ 87 w 328"/>
                  <a:gd name="T5" fmla="*/ 77 h 226"/>
                  <a:gd name="T6" fmla="*/ 0 w 328"/>
                  <a:gd name="T7" fmla="*/ 3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1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6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7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2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3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4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5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4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45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6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2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3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7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2 h 226"/>
                  <a:gd name="T4" fmla="*/ 87 w 328"/>
                  <a:gd name="T5" fmla="*/ 75 h 226"/>
                  <a:gd name="T6" fmla="*/ 0 w 328"/>
                  <a:gd name="T7" fmla="*/ 3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48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60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1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9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0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7 w 296"/>
                  <a:gd name="T3" fmla="*/ 47 h 256"/>
                  <a:gd name="T4" fmla="*/ 78 w 296"/>
                  <a:gd name="T5" fmla="*/ 85 h 256"/>
                  <a:gd name="T6" fmla="*/ 0 w 296"/>
                  <a:gd name="T7" fmla="*/ 3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1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81 w 304"/>
                  <a:gd name="T3" fmla="*/ 55 h 288"/>
                  <a:gd name="T4" fmla="*/ 76 w 304"/>
                  <a:gd name="T5" fmla="*/ 97 h 288"/>
                  <a:gd name="T6" fmla="*/ 2 w 304"/>
                  <a:gd name="T7" fmla="*/ 4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2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3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6 h 240"/>
                  <a:gd name="T2" fmla="*/ 2 w 306"/>
                  <a:gd name="T3" fmla="*/ 81 h 240"/>
                  <a:gd name="T4" fmla="*/ 81 w 306"/>
                  <a:gd name="T5" fmla="*/ 37 h 240"/>
                  <a:gd name="T6" fmla="*/ 78 w 306"/>
                  <a:gd name="T7" fmla="*/ 0 h 240"/>
                  <a:gd name="T8" fmla="*/ 0 w 306"/>
                  <a:gd name="T9" fmla="*/ 3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4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6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5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6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7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8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9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22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23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4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5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6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28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3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4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5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29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30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1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2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3"/>
                  <a:ext cx="52" cy="9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</p:grpSp>
      </p:grpSp>
      <p:sp>
        <p:nvSpPr>
          <p:cNvPr id="70" name="AutoShape 221"/>
          <p:cNvSpPr>
            <a:spLocks noChangeArrowheads="1"/>
          </p:cNvSpPr>
          <p:nvPr/>
        </p:nvSpPr>
        <p:spPr bwMode="auto">
          <a:xfrm>
            <a:off x="5306709" y="2374414"/>
            <a:ext cx="732234" cy="364331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pSp>
        <p:nvGrpSpPr>
          <p:cNvPr id="117" name="Group 318"/>
          <p:cNvGrpSpPr>
            <a:grpSpLocks/>
          </p:cNvGrpSpPr>
          <p:nvPr/>
        </p:nvGrpSpPr>
        <p:grpSpPr bwMode="auto">
          <a:xfrm>
            <a:off x="5172168" y="2466097"/>
            <a:ext cx="810816" cy="207169"/>
            <a:chOff x="504" y="3523"/>
            <a:chExt cx="681" cy="174"/>
          </a:xfrm>
        </p:grpSpPr>
        <p:grpSp>
          <p:nvGrpSpPr>
            <p:cNvPr id="118" name="Group 319"/>
            <p:cNvGrpSpPr>
              <a:grpSpLocks/>
            </p:cNvGrpSpPr>
            <p:nvPr/>
          </p:nvGrpSpPr>
          <p:grpSpPr bwMode="auto">
            <a:xfrm>
              <a:off x="623" y="3523"/>
              <a:ext cx="550" cy="174"/>
              <a:chOff x="723" y="3453"/>
              <a:chExt cx="550" cy="174"/>
            </a:xfrm>
          </p:grpSpPr>
          <p:grpSp>
            <p:nvGrpSpPr>
              <p:cNvPr id="122" name="Group 320"/>
              <p:cNvGrpSpPr>
                <a:grpSpLocks/>
              </p:cNvGrpSpPr>
              <p:nvPr/>
            </p:nvGrpSpPr>
            <p:grpSpPr bwMode="auto">
              <a:xfrm>
                <a:off x="836" y="3453"/>
                <a:ext cx="437" cy="174"/>
                <a:chOff x="836" y="3305"/>
                <a:chExt cx="437" cy="174"/>
              </a:xfrm>
            </p:grpSpPr>
            <p:grpSp>
              <p:nvGrpSpPr>
                <p:cNvPr id="125" name="Group 321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83" cy="174"/>
                  <a:chOff x="844" y="3337"/>
                  <a:chExt cx="383" cy="174"/>
                </a:xfrm>
              </p:grpSpPr>
              <p:sp>
                <p:nvSpPr>
                  <p:cNvPr id="129" name="Rectangle 322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130" name="Text Box 3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83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750">
                        <a:solidFill>
                          <a:srgbClr val="FFFFFF"/>
                        </a:solidFill>
                        <a:latin typeface="Arial" panose="020B0604020202020204" pitchFamily="34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126" name="Group 324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27" name="Rectangle 325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128" name="Rectangle 326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</p:grpSp>
          </p:grpSp>
          <p:sp>
            <p:nvSpPr>
              <p:cNvPr id="123" name="Rectangle 327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24" name="Rectangle 328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119" name="Rectangle 329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20" name="Rectangle 330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21" name="Rectangle 331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132" name="Group 342"/>
          <p:cNvGrpSpPr>
            <a:grpSpLocks/>
          </p:cNvGrpSpPr>
          <p:nvPr/>
        </p:nvGrpSpPr>
        <p:grpSpPr bwMode="auto">
          <a:xfrm>
            <a:off x="5792484" y="2985207"/>
            <a:ext cx="987028" cy="1015604"/>
            <a:chOff x="931" y="1941"/>
            <a:chExt cx="829" cy="853"/>
          </a:xfrm>
        </p:grpSpPr>
        <p:sp>
          <p:nvSpPr>
            <p:cNvPr id="133" name="Freeform 334"/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17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134" name="Group 335"/>
            <p:cNvGrpSpPr>
              <a:grpSpLocks/>
            </p:cNvGrpSpPr>
            <p:nvPr/>
          </p:nvGrpSpPr>
          <p:grpSpPr bwMode="auto">
            <a:xfrm>
              <a:off x="931" y="1941"/>
              <a:ext cx="523" cy="853"/>
              <a:chOff x="569" y="2954"/>
              <a:chExt cx="523" cy="853"/>
            </a:xfrm>
          </p:grpSpPr>
          <p:sp>
            <p:nvSpPr>
              <p:cNvPr id="135" name="Rectangle 336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36" name="Text Box 337"/>
              <p:cNvSpPr txBox="1">
                <a:spLocks noChangeArrowheads="1"/>
              </p:cNvSpPr>
              <p:nvPr/>
            </p:nvSpPr>
            <p:spPr bwMode="auto">
              <a:xfrm>
                <a:off x="572" y="2954"/>
                <a:ext cx="520" cy="8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DHCP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UDP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IP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Eth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 err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Phy</a:t>
                </a:r>
                <a:endParaRPr lang="en-US" altLang="zh-CN" sz="12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7" name="Line 338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38" name="Line 339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39" name="Line 340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40" name="Line 341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141" name="Group 442"/>
          <p:cNvGrpSpPr>
            <a:grpSpLocks/>
          </p:cNvGrpSpPr>
          <p:nvPr/>
        </p:nvGrpSpPr>
        <p:grpSpPr bwMode="auto">
          <a:xfrm>
            <a:off x="4938806" y="2910195"/>
            <a:ext cx="810816" cy="913210"/>
            <a:chOff x="1404" y="3105"/>
            <a:chExt cx="681" cy="767"/>
          </a:xfrm>
        </p:grpSpPr>
        <p:grpSp>
          <p:nvGrpSpPr>
            <p:cNvPr id="142" name="Group 344"/>
            <p:cNvGrpSpPr>
              <a:grpSpLocks/>
            </p:cNvGrpSpPr>
            <p:nvPr/>
          </p:nvGrpSpPr>
          <p:grpSpPr bwMode="auto">
            <a:xfrm>
              <a:off x="1404" y="3355"/>
              <a:ext cx="681" cy="488"/>
              <a:chOff x="42" y="886"/>
              <a:chExt cx="681" cy="488"/>
            </a:xfrm>
          </p:grpSpPr>
          <p:grpSp>
            <p:nvGrpSpPr>
              <p:cNvPr id="147" name="Group 345"/>
              <p:cNvGrpSpPr>
                <a:grpSpLocks/>
              </p:cNvGrpSpPr>
              <p:nvPr/>
            </p:nvGrpSpPr>
            <p:grpSpPr bwMode="auto">
              <a:xfrm>
                <a:off x="278" y="886"/>
                <a:ext cx="437" cy="174"/>
                <a:chOff x="740" y="3209"/>
                <a:chExt cx="437" cy="174"/>
              </a:xfrm>
            </p:grpSpPr>
            <p:grpSp>
              <p:nvGrpSpPr>
                <p:cNvPr id="172" name="Group 346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83" cy="174"/>
                  <a:chOff x="844" y="3337"/>
                  <a:chExt cx="383" cy="174"/>
                </a:xfrm>
              </p:grpSpPr>
              <p:sp>
                <p:nvSpPr>
                  <p:cNvPr id="175" name="Rectangle 34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179" name="Text Box 34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83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750">
                        <a:solidFill>
                          <a:srgbClr val="FFFFFF"/>
                        </a:solidFill>
                        <a:latin typeface="Arial" panose="020B0604020202020204" pitchFamily="34" charset="0"/>
                      </a:rPr>
                      <a:t>DHCP</a:t>
                    </a:r>
                  </a:p>
                </p:txBody>
              </p:sp>
            </p:grpSp>
            <p:sp>
              <p:nvSpPr>
                <p:cNvPr id="173" name="Rectangle 349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174" name="Rectangle 350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148" name="Group 351"/>
              <p:cNvGrpSpPr>
                <a:grpSpLocks/>
              </p:cNvGrpSpPr>
              <p:nvPr/>
            </p:nvGrpSpPr>
            <p:grpSpPr bwMode="auto">
              <a:xfrm>
                <a:off x="278" y="1034"/>
                <a:ext cx="437" cy="174"/>
                <a:chOff x="836" y="3305"/>
                <a:chExt cx="437" cy="174"/>
              </a:xfrm>
            </p:grpSpPr>
            <p:grpSp>
              <p:nvGrpSpPr>
                <p:cNvPr id="166" name="Group 352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83" cy="174"/>
                  <a:chOff x="844" y="3337"/>
                  <a:chExt cx="383" cy="174"/>
                </a:xfrm>
              </p:grpSpPr>
              <p:sp>
                <p:nvSpPr>
                  <p:cNvPr id="170" name="Rectangle 353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171" name="Text Box 35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83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750">
                        <a:solidFill>
                          <a:srgbClr val="FFFFFF"/>
                        </a:solidFill>
                        <a:latin typeface="Arial" panose="020B0604020202020204" pitchFamily="34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167" name="Group 355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68" name="Rectangle 356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169" name="Rectangle 35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</p:grpSp>
          </p:grpSp>
          <p:grpSp>
            <p:nvGrpSpPr>
              <p:cNvPr id="149" name="Group 358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164" name="Rectangle 359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165" name="Rectangle 360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150" name="Group 361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74"/>
                <a:chOff x="504" y="3523"/>
                <a:chExt cx="681" cy="174"/>
              </a:xfrm>
            </p:grpSpPr>
            <p:grpSp>
              <p:nvGrpSpPr>
                <p:cNvPr id="151" name="Group 362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50" cy="174"/>
                  <a:chOff x="723" y="3453"/>
                  <a:chExt cx="550" cy="174"/>
                </a:xfrm>
              </p:grpSpPr>
              <p:grpSp>
                <p:nvGrpSpPr>
                  <p:cNvPr id="155" name="Group 363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437" cy="174"/>
                    <a:chOff x="836" y="3305"/>
                    <a:chExt cx="437" cy="174"/>
                  </a:xfrm>
                </p:grpSpPr>
                <p:grpSp>
                  <p:nvGrpSpPr>
                    <p:cNvPr id="158" name="Group 36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83" cy="174"/>
                      <a:chOff x="844" y="3337"/>
                      <a:chExt cx="383" cy="174"/>
                    </a:xfrm>
                  </p:grpSpPr>
                  <p:sp>
                    <p:nvSpPr>
                      <p:cNvPr id="162" name="Rectangle 36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SzPct val="65000"/>
                          <a:buFont typeface="Wingdings" panose="05000000000000000000" pitchFamily="2" charset="2"/>
                          <a:buChar char="v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350">
                          <a:solidFill>
                            <a:srgbClr val="000000"/>
                          </a:solidFill>
                          <a:latin typeface="Comic Sans MS" panose="030F0702030302020204" pitchFamily="66" charset="0"/>
                        </a:endParaRPr>
                      </a:p>
                    </p:txBody>
                  </p:sp>
                  <p:sp>
                    <p:nvSpPr>
                      <p:cNvPr id="163" name="Text Box 36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83" cy="1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SzPct val="65000"/>
                          <a:buFont typeface="Wingdings" panose="05000000000000000000" pitchFamily="2" charset="2"/>
                          <a:buChar char="v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sz="750">
                            <a:solidFill>
                              <a:srgbClr val="FFFFFF"/>
                            </a:solidFill>
                            <a:latin typeface="Arial" panose="020B0604020202020204" pitchFamily="34" charset="0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159" name="Group 36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60" name="Rectangle 36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SzPct val="65000"/>
                          <a:buFont typeface="Wingdings" panose="05000000000000000000" pitchFamily="2" charset="2"/>
                          <a:buChar char="v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350">
                          <a:solidFill>
                            <a:srgbClr val="000000"/>
                          </a:solidFill>
                          <a:latin typeface="Comic Sans MS" panose="030F0702030302020204" pitchFamily="66" charset="0"/>
                        </a:endParaRPr>
                      </a:p>
                    </p:txBody>
                  </p:sp>
                  <p:sp>
                    <p:nvSpPr>
                      <p:cNvPr id="161" name="Rectangle 36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SzPct val="65000"/>
                          <a:buFont typeface="Wingdings" panose="05000000000000000000" pitchFamily="2" charset="2"/>
                          <a:buChar char="v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350">
                          <a:solidFill>
                            <a:srgbClr val="000000"/>
                          </a:solidFill>
                          <a:latin typeface="Comic Sans MS" panose="030F0702030302020204" pitchFamily="66" charset="0"/>
                        </a:endParaRPr>
                      </a:p>
                    </p:txBody>
                  </p:sp>
                </p:grpSp>
              </p:grpSp>
              <p:sp>
                <p:nvSpPr>
                  <p:cNvPr id="156" name="Rectangle 370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157" name="Rectangle 371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</p:grpSp>
            <p:sp>
              <p:nvSpPr>
                <p:cNvPr id="152" name="Rectangle 372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153" name="Rectangle 373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154" name="Rectangle 374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</p:grpSp>
        <p:sp>
          <p:nvSpPr>
            <p:cNvPr id="143" name="AutoShape 375"/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144" name="Group 379"/>
            <p:cNvGrpSpPr>
              <a:grpSpLocks/>
            </p:cNvGrpSpPr>
            <p:nvPr/>
          </p:nvGrpSpPr>
          <p:grpSpPr bwMode="auto">
            <a:xfrm>
              <a:off x="1695" y="3227"/>
              <a:ext cx="383" cy="174"/>
              <a:chOff x="844" y="3337"/>
              <a:chExt cx="383" cy="174"/>
            </a:xfrm>
          </p:grpSpPr>
          <p:sp>
            <p:nvSpPr>
              <p:cNvPr id="145" name="Rectangle 380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46" name="Text Box 381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8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750" dirty="0">
                    <a:solidFill>
                      <a:srgbClr val="FFFFFF"/>
                    </a:solidFill>
                    <a:latin typeface="Arial" panose="020B0604020202020204" pitchFamily="34" charset="0"/>
                  </a:rPr>
                  <a:t>DHCP</a:t>
                </a:r>
              </a:p>
            </p:txBody>
          </p:sp>
        </p:grpSp>
      </p:grpSp>
      <p:sp>
        <p:nvSpPr>
          <p:cNvPr id="131" name="灯片编号占位符 2">
            <a:extLst>
              <a:ext uri="{FF2B5EF4-FFF2-40B4-BE49-F238E27FC236}">
                <a16:creationId xmlns:a16="http://schemas.microsoft.com/office/drawing/2014/main" id="{BDDDF5B6-E2EA-495F-9C90-416FC35D7BCD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7</a:t>
            </a:fld>
            <a:endParaRPr lang="en-US" altLang="zh-CN" dirty="0"/>
          </a:p>
        </p:txBody>
      </p:sp>
      <p:sp>
        <p:nvSpPr>
          <p:cNvPr id="176" name="AutoShape 5">
            <a:extLst>
              <a:ext uri="{FF2B5EF4-FFF2-40B4-BE49-F238E27FC236}">
                <a16:creationId xmlns:a16="http://schemas.microsoft.com/office/drawing/2014/main" id="{8BD1A28E-FAD1-4D38-ACB8-582BC8086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7125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81144E-6 L 0.26823 -0.00139 L 0.10833 0.27287 L -0.01806 0.27125 " pathEditMode="relative" rAng="0" ptsTypes="AAAA">
                                      <p:cBhvr>
                                        <p:cTn id="14" dur="2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135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1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0" grpId="1" animBg="1"/>
      <p:bldP spid="176" grpId="0" animBg="1"/>
      <p:bldP spid="176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5.7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总结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: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自底向上回顾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5616624" cy="4155926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一次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请求所要做的工作：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主机接入网络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物理连接：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WLAN(802.3) or WIFI(802.11)</a:t>
            </a: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配置主机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IP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等参数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手工配置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动态主机配置：</a:t>
            </a:r>
            <a:r>
              <a:rPr lang="en-US" altLang="zh-CN" dirty="0">
                <a:solidFill>
                  <a:srgbClr val="0066CC"/>
                </a:solidFill>
              </a:rPr>
              <a:t>DHCP</a:t>
            </a: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(5) DHCP ACK</a:t>
            </a:r>
          </a:p>
          <a:p>
            <a:pPr lvl="4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APP Layer</a:t>
            </a:r>
            <a:r>
              <a:rPr lang="zh-CN" altLang="en-US" dirty="0">
                <a:solidFill>
                  <a:srgbClr val="0066CC"/>
                </a:solidFill>
              </a:rPr>
              <a:t>：提供</a:t>
            </a:r>
            <a:r>
              <a:rPr lang="en-US" altLang="zh-CN" dirty="0">
                <a:solidFill>
                  <a:srgbClr val="FF0000"/>
                </a:solidFill>
              </a:rPr>
              <a:t>CIDR</a:t>
            </a:r>
            <a:r>
              <a:rPr lang="zh-CN" altLang="en-US" dirty="0">
                <a:solidFill>
                  <a:srgbClr val="FF0000"/>
                </a:solidFill>
              </a:rPr>
              <a:t>编址</a:t>
            </a:r>
            <a:r>
              <a:rPr lang="zh-CN" altLang="en-US" dirty="0">
                <a:solidFill>
                  <a:srgbClr val="0066CC"/>
                </a:solidFill>
              </a:rPr>
              <a:t>信息</a:t>
            </a:r>
            <a:endParaRPr lang="en-US" altLang="zh-CN" dirty="0">
              <a:solidFill>
                <a:srgbClr val="0066CC"/>
              </a:solidFill>
            </a:endParaRPr>
          </a:p>
          <a:p>
            <a:pPr lvl="5">
              <a:spcBef>
                <a:spcPts val="450"/>
              </a:spcBef>
            </a:pPr>
            <a:r>
              <a:rPr lang="zh-CN" altLang="en-US" sz="1050" dirty="0">
                <a:solidFill>
                  <a:srgbClr val="0066CC"/>
                </a:solidFill>
              </a:rPr>
              <a:t>分配给</a:t>
            </a:r>
            <a:r>
              <a:rPr lang="en-US" altLang="zh-CN" sz="1050" dirty="0">
                <a:solidFill>
                  <a:srgbClr val="0066CC"/>
                </a:solidFill>
              </a:rPr>
              <a:t>Bob</a:t>
            </a:r>
            <a:r>
              <a:rPr lang="zh-CN" altLang="en-US" sz="1050" dirty="0">
                <a:solidFill>
                  <a:srgbClr val="0066CC"/>
                </a:solidFill>
              </a:rPr>
              <a:t>的</a:t>
            </a:r>
            <a:r>
              <a:rPr lang="en-US" altLang="zh-CN" sz="1050" dirty="0">
                <a:solidFill>
                  <a:srgbClr val="0066CC"/>
                </a:solidFill>
              </a:rPr>
              <a:t>IP</a:t>
            </a:r>
            <a:r>
              <a:rPr lang="zh-CN" altLang="en-US" sz="1050" dirty="0">
                <a:solidFill>
                  <a:srgbClr val="0066CC"/>
                </a:solidFill>
              </a:rPr>
              <a:t>，</a:t>
            </a:r>
            <a:r>
              <a:rPr lang="en-US" altLang="zh-CN" sz="1050" dirty="0">
                <a:solidFill>
                  <a:srgbClr val="0066CC"/>
                </a:solidFill>
              </a:rPr>
              <a:t>Gateway</a:t>
            </a:r>
          </a:p>
          <a:p>
            <a:pPr lvl="5">
              <a:spcBef>
                <a:spcPts val="450"/>
              </a:spcBef>
            </a:pPr>
            <a:r>
              <a:rPr lang="en-US" altLang="zh-CN" sz="1050" dirty="0" err="1">
                <a:solidFill>
                  <a:srgbClr val="0066CC"/>
                </a:solidFill>
              </a:rPr>
              <a:t>SubMask</a:t>
            </a:r>
            <a:r>
              <a:rPr lang="zh-CN" altLang="en-US" sz="1050" dirty="0">
                <a:solidFill>
                  <a:srgbClr val="0066CC"/>
                </a:solidFill>
              </a:rPr>
              <a:t>，</a:t>
            </a:r>
            <a:r>
              <a:rPr lang="en-US" altLang="zh-CN" sz="1050" dirty="0">
                <a:solidFill>
                  <a:srgbClr val="0066CC"/>
                </a:solidFill>
              </a:rPr>
              <a:t>Local DNS Server</a:t>
            </a:r>
            <a:endParaRPr lang="en-US" altLang="zh-CN" dirty="0">
              <a:solidFill>
                <a:srgbClr val="0066CC"/>
              </a:solidFill>
            </a:endParaRPr>
          </a:p>
          <a:p>
            <a:pPr lvl="4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UDP</a:t>
            </a:r>
            <a:r>
              <a:rPr lang="zh-CN" altLang="en-US" dirty="0">
                <a:solidFill>
                  <a:srgbClr val="0066CC"/>
                </a:solidFill>
              </a:rPr>
              <a:t>封装：</a:t>
            </a:r>
            <a:r>
              <a:rPr lang="en-US" altLang="zh-CN" sz="1050" dirty="0">
                <a:solidFill>
                  <a:srgbClr val="0066CC"/>
                </a:solidFill>
              </a:rPr>
              <a:t>Sport 67</a:t>
            </a:r>
            <a:br>
              <a:rPr lang="en-US" altLang="zh-CN" sz="1050" dirty="0">
                <a:solidFill>
                  <a:srgbClr val="0066CC"/>
                </a:solidFill>
              </a:rPr>
            </a:br>
            <a:r>
              <a:rPr lang="en-US" altLang="zh-CN" sz="1050" dirty="0">
                <a:solidFill>
                  <a:srgbClr val="0066CC"/>
                </a:solidFill>
              </a:rPr>
              <a:t>                      </a:t>
            </a:r>
            <a:r>
              <a:rPr lang="en-US" altLang="zh-CN" sz="1050" dirty="0" err="1">
                <a:solidFill>
                  <a:srgbClr val="0066CC"/>
                </a:solidFill>
              </a:rPr>
              <a:t>Dport</a:t>
            </a:r>
            <a:r>
              <a:rPr lang="en-US" altLang="zh-CN" sz="1050" dirty="0">
                <a:solidFill>
                  <a:srgbClr val="0066CC"/>
                </a:solidFill>
              </a:rPr>
              <a:t> 68</a:t>
            </a:r>
          </a:p>
          <a:p>
            <a:pPr lvl="4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IP</a:t>
            </a:r>
            <a:r>
              <a:rPr lang="zh-CN" altLang="en-US" dirty="0">
                <a:solidFill>
                  <a:srgbClr val="0066CC"/>
                </a:solidFill>
              </a:rPr>
              <a:t>封装： </a:t>
            </a:r>
            <a:r>
              <a:rPr lang="en-US" altLang="zh-CN" sz="1050" dirty="0">
                <a:solidFill>
                  <a:srgbClr val="0066CC"/>
                </a:solidFill>
              </a:rPr>
              <a:t>SIP: DHCP</a:t>
            </a:r>
            <a:r>
              <a:rPr lang="zh-CN" altLang="en-US" sz="1050" dirty="0">
                <a:solidFill>
                  <a:srgbClr val="0066CC"/>
                </a:solidFill>
              </a:rPr>
              <a:t>服务器的</a:t>
            </a:r>
            <a:r>
              <a:rPr lang="en-US" altLang="zh-CN" sz="1050" dirty="0">
                <a:solidFill>
                  <a:srgbClr val="0066CC"/>
                </a:solidFill>
              </a:rPr>
              <a:t>IP</a:t>
            </a:r>
            <a:br>
              <a:rPr lang="en-US" altLang="zh-CN" sz="1050" dirty="0">
                <a:solidFill>
                  <a:srgbClr val="0066CC"/>
                </a:solidFill>
              </a:rPr>
            </a:br>
            <a:r>
              <a:rPr lang="en-US" altLang="zh-CN" sz="1050" dirty="0">
                <a:solidFill>
                  <a:srgbClr val="0066CC"/>
                </a:solidFill>
              </a:rPr>
              <a:t>                  DIP: 255.255.255.255</a:t>
            </a:r>
          </a:p>
          <a:p>
            <a:pPr lvl="4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Framing</a:t>
            </a:r>
            <a:r>
              <a:rPr lang="zh-CN" altLang="en-US" dirty="0">
                <a:solidFill>
                  <a:srgbClr val="0066CC"/>
                </a:solidFill>
              </a:rPr>
              <a:t>：</a:t>
            </a:r>
            <a:r>
              <a:rPr lang="en-US" altLang="zh-CN" sz="1100" dirty="0">
                <a:solidFill>
                  <a:srgbClr val="0066CC"/>
                </a:solidFill>
              </a:rPr>
              <a:t>DMAC</a:t>
            </a:r>
            <a:r>
              <a:rPr lang="zh-CN" altLang="en-US" sz="1100" dirty="0">
                <a:solidFill>
                  <a:srgbClr val="0066CC"/>
                </a:solidFill>
              </a:rPr>
              <a:t>：</a:t>
            </a:r>
            <a:r>
              <a:rPr lang="en-US" altLang="zh-CN" sz="1100" dirty="0">
                <a:solidFill>
                  <a:srgbClr val="0066CC"/>
                </a:solidFill>
              </a:rPr>
              <a:t>bb-bb-bb-bb-bb-bb</a:t>
            </a:r>
            <a:br>
              <a:rPr lang="en-US" altLang="zh-CN" sz="1100" dirty="0">
                <a:solidFill>
                  <a:srgbClr val="0066CC"/>
                </a:solidFill>
              </a:rPr>
            </a:br>
            <a:r>
              <a:rPr lang="en-US" altLang="zh-CN" sz="1100" dirty="0">
                <a:solidFill>
                  <a:srgbClr val="0066CC"/>
                </a:solidFill>
              </a:rPr>
              <a:t>                     SMAC</a:t>
            </a:r>
            <a:r>
              <a:rPr lang="zh-CN" altLang="en-US" sz="1100" dirty="0">
                <a:solidFill>
                  <a:srgbClr val="0066CC"/>
                </a:solidFill>
              </a:rPr>
              <a:t>：</a:t>
            </a:r>
            <a:r>
              <a:rPr lang="en-US" altLang="zh-CN" sz="1100" dirty="0">
                <a:solidFill>
                  <a:srgbClr val="0066CC"/>
                </a:solidFill>
              </a:rPr>
              <a:t>DHCP</a:t>
            </a:r>
            <a:r>
              <a:rPr lang="zh-CN" altLang="en-US" sz="1100" dirty="0">
                <a:solidFill>
                  <a:srgbClr val="0066CC"/>
                </a:solidFill>
              </a:rPr>
              <a:t>服务器的</a:t>
            </a:r>
            <a:r>
              <a:rPr lang="en-US" altLang="zh-CN" sz="1100" dirty="0">
                <a:solidFill>
                  <a:srgbClr val="0066CC"/>
                </a:solidFill>
              </a:rPr>
              <a:t>MAC</a:t>
            </a:r>
            <a:endParaRPr lang="en-US" altLang="zh-CN" sz="900" dirty="0">
              <a:solidFill>
                <a:srgbClr val="0066CC"/>
              </a:solidFill>
            </a:endParaRPr>
          </a:p>
          <a:p>
            <a:pPr lvl="5">
              <a:spcBef>
                <a:spcPts val="450"/>
              </a:spcBef>
            </a:pPr>
            <a:endParaRPr lang="en-US" altLang="zh-CN" sz="1050" dirty="0">
              <a:solidFill>
                <a:srgbClr val="C00000"/>
              </a:solidFill>
            </a:endParaRPr>
          </a:p>
        </p:txBody>
      </p:sp>
      <p:grpSp>
        <p:nvGrpSpPr>
          <p:cNvPr id="8" name="Group 152"/>
          <p:cNvGrpSpPr>
            <a:grpSpLocks/>
          </p:cNvGrpSpPr>
          <p:nvPr/>
        </p:nvGrpSpPr>
        <p:grpSpPr bwMode="auto">
          <a:xfrm>
            <a:off x="5260274" y="1622469"/>
            <a:ext cx="2665809" cy="2322880"/>
            <a:chOff x="773113" y="1273175"/>
            <a:chExt cx="3554412" cy="3096511"/>
          </a:xfrm>
        </p:grpSpPr>
        <p:sp>
          <p:nvSpPr>
            <p:cNvPr id="9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6 w 2406"/>
                <a:gd name="T1" fmla="*/ 2147483646 h 958"/>
                <a:gd name="T2" fmla="*/ 2147483646 w 2406"/>
                <a:gd name="T3" fmla="*/ 2147483646 h 958"/>
                <a:gd name="T4" fmla="*/ 2147483646 w 2406"/>
                <a:gd name="T5" fmla="*/ 2147483646 h 958"/>
                <a:gd name="T6" fmla="*/ 2147483646 w 2406"/>
                <a:gd name="T7" fmla="*/ 2147483646 h 958"/>
                <a:gd name="T8" fmla="*/ 2147483646 w 2406"/>
                <a:gd name="T9" fmla="*/ 2147483646 h 958"/>
                <a:gd name="T10" fmla="*/ 2147483646 w 2406"/>
                <a:gd name="T11" fmla="*/ 2147483646 h 958"/>
                <a:gd name="T12" fmla="*/ 2147483646 w 2406"/>
                <a:gd name="T13" fmla="*/ 2147483646 h 958"/>
                <a:gd name="T14" fmla="*/ 2147483646 w 2406"/>
                <a:gd name="T15" fmla="*/ 2147483646 h 958"/>
                <a:gd name="T16" fmla="*/ 2147483646 w 2406"/>
                <a:gd name="T17" fmla="*/ 2147483646 h 958"/>
                <a:gd name="T18" fmla="*/ 2147483646 w 2406"/>
                <a:gd name="T19" fmla="*/ 2147483646 h 958"/>
                <a:gd name="T20" fmla="*/ 2147483646 w 2406"/>
                <a:gd name="T21" fmla="*/ 2147483646 h 958"/>
                <a:gd name="T22" fmla="*/ 2147483646 w 2406"/>
                <a:gd name="T23" fmla="*/ 2147483646 h 958"/>
                <a:gd name="T24" fmla="*/ 2147483646 w 2406"/>
                <a:gd name="T25" fmla="*/ 2147483646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76417" cy="553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router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(runs DHCP)</a:t>
              </a:r>
            </a:p>
          </p:txBody>
        </p:sp>
        <p:grpSp>
          <p:nvGrpSpPr>
            <p:cNvPr id="15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67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8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6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sp>
          <p:nvSpPr>
            <p:cNvPr id="18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sp>
          <p:nvSpPr>
            <p:cNvPr id="19" name="Rectangle 43"/>
            <p:cNvSpPr>
              <a:spLocks noChangeArrowheads="1"/>
            </p:cNvSpPr>
            <p:nvPr/>
          </p:nvSpPr>
          <p:spPr bwMode="auto">
            <a:xfrm rot="-54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grpSp>
          <p:nvGrpSpPr>
            <p:cNvPr id="20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35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7 w 354"/>
                  <a:gd name="T1" fmla="*/ 0 h 2742"/>
                  <a:gd name="T2" fmla="*/ 93 w 354"/>
                  <a:gd name="T3" fmla="*/ 114 h 2742"/>
                  <a:gd name="T4" fmla="*/ 91 w 354"/>
                  <a:gd name="T5" fmla="*/ 881 h 2742"/>
                  <a:gd name="T6" fmla="*/ 0 w 354"/>
                  <a:gd name="T7" fmla="*/ 921 h 2742"/>
                  <a:gd name="T8" fmla="*/ 1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37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6 w 211"/>
                  <a:gd name="T3" fmla="*/ 73 h 2537"/>
                  <a:gd name="T4" fmla="*/ 2 w 211"/>
                  <a:gd name="T5" fmla="*/ 83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3 h 226"/>
                  <a:gd name="T4" fmla="*/ 87 w 328"/>
                  <a:gd name="T5" fmla="*/ 77 h 226"/>
                  <a:gd name="T6" fmla="*/ 0 w 328"/>
                  <a:gd name="T7" fmla="*/ 3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0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5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6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1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2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3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4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3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44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5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1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2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6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2 h 226"/>
                  <a:gd name="T4" fmla="*/ 87 w 328"/>
                  <a:gd name="T5" fmla="*/ 75 h 226"/>
                  <a:gd name="T6" fmla="*/ 0 w 328"/>
                  <a:gd name="T7" fmla="*/ 3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47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59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0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8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49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7 w 296"/>
                  <a:gd name="T3" fmla="*/ 47 h 256"/>
                  <a:gd name="T4" fmla="*/ 78 w 296"/>
                  <a:gd name="T5" fmla="*/ 85 h 256"/>
                  <a:gd name="T6" fmla="*/ 0 w 296"/>
                  <a:gd name="T7" fmla="*/ 3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81 w 304"/>
                  <a:gd name="T3" fmla="*/ 55 h 288"/>
                  <a:gd name="T4" fmla="*/ 76 w 304"/>
                  <a:gd name="T5" fmla="*/ 97 h 288"/>
                  <a:gd name="T6" fmla="*/ 2 w 304"/>
                  <a:gd name="T7" fmla="*/ 4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1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2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6 h 240"/>
                  <a:gd name="T2" fmla="*/ 2 w 306"/>
                  <a:gd name="T3" fmla="*/ 81 h 240"/>
                  <a:gd name="T4" fmla="*/ 81 w 306"/>
                  <a:gd name="T5" fmla="*/ 37 h 240"/>
                  <a:gd name="T6" fmla="*/ 78 w 306"/>
                  <a:gd name="T7" fmla="*/ 0 h 240"/>
                  <a:gd name="T8" fmla="*/ 0 w 306"/>
                  <a:gd name="T9" fmla="*/ 3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3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6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4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5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6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7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8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21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22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3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5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27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2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3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4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28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9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0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1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3"/>
                  <a:ext cx="52" cy="9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</p:grpSp>
      </p:grpSp>
      <p:grpSp>
        <p:nvGrpSpPr>
          <p:cNvPr id="78" name="Group 57"/>
          <p:cNvGrpSpPr>
            <a:grpSpLocks/>
          </p:cNvGrpSpPr>
          <p:nvPr/>
        </p:nvGrpSpPr>
        <p:grpSpPr bwMode="auto">
          <a:xfrm>
            <a:off x="4944758" y="3032169"/>
            <a:ext cx="810816" cy="875110"/>
            <a:chOff x="42" y="744"/>
            <a:chExt cx="681" cy="735"/>
          </a:xfrm>
        </p:grpSpPr>
        <p:grpSp>
          <p:nvGrpSpPr>
            <p:cNvPr id="79" name="Group 58"/>
            <p:cNvGrpSpPr>
              <a:grpSpLocks/>
            </p:cNvGrpSpPr>
            <p:nvPr/>
          </p:nvGrpSpPr>
          <p:grpSpPr bwMode="auto">
            <a:xfrm>
              <a:off x="42" y="886"/>
              <a:ext cx="681" cy="488"/>
              <a:chOff x="42" y="886"/>
              <a:chExt cx="681" cy="488"/>
            </a:xfrm>
          </p:grpSpPr>
          <p:grpSp>
            <p:nvGrpSpPr>
              <p:cNvPr id="82" name="Group 59"/>
              <p:cNvGrpSpPr>
                <a:grpSpLocks/>
              </p:cNvGrpSpPr>
              <p:nvPr/>
            </p:nvGrpSpPr>
            <p:grpSpPr bwMode="auto">
              <a:xfrm>
                <a:off x="278" y="886"/>
                <a:ext cx="437" cy="174"/>
                <a:chOff x="740" y="3209"/>
                <a:chExt cx="437" cy="174"/>
              </a:xfrm>
            </p:grpSpPr>
            <p:grpSp>
              <p:nvGrpSpPr>
                <p:cNvPr id="107" name="Group 60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83" cy="174"/>
                  <a:chOff x="844" y="3337"/>
                  <a:chExt cx="383" cy="174"/>
                </a:xfrm>
              </p:grpSpPr>
              <p:sp>
                <p:nvSpPr>
                  <p:cNvPr id="110" name="Rectangle 61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111" name="Text Box 6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83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750">
                        <a:solidFill>
                          <a:srgbClr val="FFFFFF"/>
                        </a:solidFill>
                        <a:latin typeface="Arial" panose="020B0604020202020204" pitchFamily="34" charset="0"/>
                      </a:rPr>
                      <a:t>DHCP</a:t>
                    </a:r>
                  </a:p>
                </p:txBody>
              </p:sp>
            </p:grpSp>
            <p:sp>
              <p:nvSpPr>
                <p:cNvPr id="108" name="Rectangle 63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109" name="Rectangle 64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83" name="Group 65"/>
              <p:cNvGrpSpPr>
                <a:grpSpLocks/>
              </p:cNvGrpSpPr>
              <p:nvPr/>
            </p:nvGrpSpPr>
            <p:grpSpPr bwMode="auto">
              <a:xfrm>
                <a:off x="278" y="1034"/>
                <a:ext cx="437" cy="174"/>
                <a:chOff x="836" y="3305"/>
                <a:chExt cx="437" cy="174"/>
              </a:xfrm>
            </p:grpSpPr>
            <p:grpSp>
              <p:nvGrpSpPr>
                <p:cNvPr id="101" name="Group 66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83" cy="174"/>
                  <a:chOff x="844" y="3337"/>
                  <a:chExt cx="383" cy="174"/>
                </a:xfrm>
              </p:grpSpPr>
              <p:sp>
                <p:nvSpPr>
                  <p:cNvPr id="105" name="Rectangle 6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106" name="Text Box 6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83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750" dirty="0">
                        <a:solidFill>
                          <a:srgbClr val="FFFFFF"/>
                        </a:solidFill>
                        <a:latin typeface="Arial" panose="020B0604020202020204" pitchFamily="34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102" name="Group 69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03" name="Rectangle 70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104" name="Rectangle 71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</p:grpSp>
          </p:grpSp>
          <p:grpSp>
            <p:nvGrpSpPr>
              <p:cNvPr id="84" name="Group 72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99" name="Rectangle 73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100" name="Rectangle 74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85" name="Group 75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74"/>
                <a:chOff x="504" y="3523"/>
                <a:chExt cx="681" cy="174"/>
              </a:xfrm>
            </p:grpSpPr>
            <p:grpSp>
              <p:nvGrpSpPr>
                <p:cNvPr id="86" name="Group 76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50" cy="174"/>
                  <a:chOff x="723" y="3453"/>
                  <a:chExt cx="550" cy="174"/>
                </a:xfrm>
              </p:grpSpPr>
              <p:grpSp>
                <p:nvGrpSpPr>
                  <p:cNvPr id="90" name="Group 77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437" cy="174"/>
                    <a:chOff x="836" y="3305"/>
                    <a:chExt cx="437" cy="174"/>
                  </a:xfrm>
                </p:grpSpPr>
                <p:grpSp>
                  <p:nvGrpSpPr>
                    <p:cNvPr id="93" name="Group 7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83" cy="174"/>
                      <a:chOff x="844" y="3337"/>
                      <a:chExt cx="383" cy="174"/>
                    </a:xfrm>
                  </p:grpSpPr>
                  <p:sp>
                    <p:nvSpPr>
                      <p:cNvPr id="97" name="Rectangle 7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SzPct val="65000"/>
                          <a:buFont typeface="Wingdings" panose="05000000000000000000" pitchFamily="2" charset="2"/>
                          <a:buChar char="v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350">
                          <a:solidFill>
                            <a:srgbClr val="000000"/>
                          </a:solidFill>
                          <a:latin typeface="Comic Sans MS" panose="030F0702030302020204" pitchFamily="66" charset="0"/>
                        </a:endParaRPr>
                      </a:p>
                    </p:txBody>
                  </p:sp>
                  <p:sp>
                    <p:nvSpPr>
                      <p:cNvPr id="98" name="Text Box 80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83" cy="1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SzPct val="65000"/>
                          <a:buFont typeface="Wingdings" panose="05000000000000000000" pitchFamily="2" charset="2"/>
                          <a:buChar char="v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sz="750">
                            <a:solidFill>
                              <a:srgbClr val="FFFFFF"/>
                            </a:solidFill>
                            <a:latin typeface="Arial" panose="020B0604020202020204" pitchFamily="34" charset="0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94" name="Group 8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95" name="Rectangle 8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SzPct val="65000"/>
                          <a:buFont typeface="Wingdings" panose="05000000000000000000" pitchFamily="2" charset="2"/>
                          <a:buChar char="v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350">
                          <a:solidFill>
                            <a:srgbClr val="000000"/>
                          </a:solidFill>
                          <a:latin typeface="Comic Sans MS" panose="030F0702030302020204" pitchFamily="66" charset="0"/>
                        </a:endParaRPr>
                      </a:p>
                    </p:txBody>
                  </p:sp>
                  <p:sp>
                    <p:nvSpPr>
                      <p:cNvPr id="96" name="Rectangle 8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SzPct val="65000"/>
                          <a:buFont typeface="Wingdings" panose="05000000000000000000" pitchFamily="2" charset="2"/>
                          <a:buChar char="v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350">
                          <a:solidFill>
                            <a:srgbClr val="000000"/>
                          </a:solidFill>
                          <a:latin typeface="Comic Sans MS" panose="030F0702030302020204" pitchFamily="66" charset="0"/>
                        </a:endParaRPr>
                      </a:p>
                    </p:txBody>
                  </p:sp>
                </p:grpSp>
              </p:grpSp>
              <p:sp>
                <p:nvSpPr>
                  <p:cNvPr id="91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92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</p:grpSp>
            <p:sp>
              <p:nvSpPr>
                <p:cNvPr id="87" name="Rectangle 86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88" name="Rectangle 87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89" name="Rectangle 88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</p:grpSp>
        <p:sp>
          <p:nvSpPr>
            <p:cNvPr id="80" name="AutoShape 89"/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112" name="Group 90"/>
          <p:cNvGrpSpPr>
            <a:grpSpLocks/>
          </p:cNvGrpSpPr>
          <p:nvPr/>
        </p:nvGrpSpPr>
        <p:grpSpPr bwMode="auto">
          <a:xfrm>
            <a:off x="5017387" y="3846561"/>
            <a:ext cx="810815" cy="207169"/>
            <a:chOff x="504" y="3523"/>
            <a:chExt cx="681" cy="174"/>
          </a:xfrm>
        </p:grpSpPr>
        <p:grpSp>
          <p:nvGrpSpPr>
            <p:cNvPr id="113" name="Group 91"/>
            <p:cNvGrpSpPr>
              <a:grpSpLocks/>
            </p:cNvGrpSpPr>
            <p:nvPr/>
          </p:nvGrpSpPr>
          <p:grpSpPr bwMode="auto">
            <a:xfrm>
              <a:off x="623" y="3523"/>
              <a:ext cx="550" cy="174"/>
              <a:chOff x="723" y="3453"/>
              <a:chExt cx="550" cy="174"/>
            </a:xfrm>
          </p:grpSpPr>
          <p:grpSp>
            <p:nvGrpSpPr>
              <p:cNvPr id="117" name="Group 92"/>
              <p:cNvGrpSpPr>
                <a:grpSpLocks/>
              </p:cNvGrpSpPr>
              <p:nvPr/>
            </p:nvGrpSpPr>
            <p:grpSpPr bwMode="auto">
              <a:xfrm>
                <a:off x="836" y="3453"/>
                <a:ext cx="437" cy="174"/>
                <a:chOff x="836" y="3305"/>
                <a:chExt cx="437" cy="174"/>
              </a:xfrm>
            </p:grpSpPr>
            <p:grpSp>
              <p:nvGrpSpPr>
                <p:cNvPr id="120" name="Group 93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83" cy="174"/>
                  <a:chOff x="844" y="3337"/>
                  <a:chExt cx="383" cy="174"/>
                </a:xfrm>
              </p:grpSpPr>
              <p:sp>
                <p:nvSpPr>
                  <p:cNvPr id="124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125" name="Text Box 9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83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750" dirty="0">
                        <a:solidFill>
                          <a:srgbClr val="FFFFFF"/>
                        </a:solidFill>
                        <a:latin typeface="Arial" panose="020B0604020202020204" pitchFamily="34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121" name="Group 96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22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123" name="Rectangle 98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</p:grpSp>
          </p:grpSp>
          <p:sp>
            <p:nvSpPr>
              <p:cNvPr id="118" name="Rectangle 99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19" name="Rectangle 100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114" name="Rectangle 101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15" name="Rectangle 102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16" name="Rectangle 103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126" name="Group 104"/>
          <p:cNvGrpSpPr>
            <a:grpSpLocks/>
          </p:cNvGrpSpPr>
          <p:nvPr/>
        </p:nvGrpSpPr>
        <p:grpSpPr bwMode="auto">
          <a:xfrm>
            <a:off x="5788912" y="2978592"/>
            <a:ext cx="987028" cy="1015604"/>
            <a:chOff x="931" y="1941"/>
            <a:chExt cx="829" cy="853"/>
          </a:xfrm>
        </p:grpSpPr>
        <p:sp>
          <p:nvSpPr>
            <p:cNvPr id="127" name="Freeform 105"/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17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128" name="Group 106"/>
            <p:cNvGrpSpPr>
              <a:grpSpLocks/>
            </p:cNvGrpSpPr>
            <p:nvPr/>
          </p:nvGrpSpPr>
          <p:grpSpPr bwMode="auto">
            <a:xfrm>
              <a:off x="931" y="1941"/>
              <a:ext cx="523" cy="853"/>
              <a:chOff x="569" y="2954"/>
              <a:chExt cx="523" cy="853"/>
            </a:xfrm>
          </p:grpSpPr>
          <p:sp>
            <p:nvSpPr>
              <p:cNvPr id="129" name="Rectangle 107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30" name="Text Box 108"/>
              <p:cNvSpPr txBox="1">
                <a:spLocks noChangeArrowheads="1"/>
              </p:cNvSpPr>
              <p:nvPr/>
            </p:nvSpPr>
            <p:spPr bwMode="auto">
              <a:xfrm>
                <a:off x="572" y="2954"/>
                <a:ext cx="520" cy="8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DHCP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UDP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Eth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Phy</a:t>
                </a:r>
              </a:p>
            </p:txBody>
          </p:sp>
          <p:sp>
            <p:nvSpPr>
              <p:cNvPr id="131" name="Line 109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32" name="Line 110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33" name="Line 111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34" name="Line 112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171" name="Group 149"/>
          <p:cNvGrpSpPr>
            <a:grpSpLocks/>
          </p:cNvGrpSpPr>
          <p:nvPr/>
        </p:nvGrpSpPr>
        <p:grpSpPr bwMode="auto">
          <a:xfrm>
            <a:off x="5282896" y="3051231"/>
            <a:ext cx="456009" cy="207169"/>
            <a:chOff x="844" y="3337"/>
            <a:chExt cx="383" cy="174"/>
          </a:xfrm>
        </p:grpSpPr>
        <p:sp>
          <p:nvSpPr>
            <p:cNvPr id="172" name="Rectangle 150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73" name="Text Box 151"/>
            <p:cNvSpPr txBox="1">
              <a:spLocks noChangeArrowheads="1"/>
            </p:cNvSpPr>
            <p:nvPr/>
          </p:nvSpPr>
          <p:spPr bwMode="auto">
            <a:xfrm>
              <a:off x="844" y="3337"/>
              <a:ext cx="38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750" dirty="0">
                  <a:solidFill>
                    <a:srgbClr val="FFFFFF"/>
                  </a:solidFill>
                  <a:latin typeface="Arial" panose="020B0604020202020204" pitchFamily="34" charset="0"/>
                </a:rPr>
                <a:t>DHCP</a:t>
              </a:r>
            </a:p>
          </p:txBody>
        </p:sp>
      </p:grpSp>
      <p:sp>
        <p:nvSpPr>
          <p:cNvPr id="135" name="灯片编号占位符 2">
            <a:extLst>
              <a:ext uri="{FF2B5EF4-FFF2-40B4-BE49-F238E27FC236}">
                <a16:creationId xmlns:a16="http://schemas.microsoft.com/office/drawing/2014/main" id="{A6B038C7-4DD3-4EDF-802B-8132121B5D3A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8</a:t>
            </a:fld>
            <a:endParaRPr lang="en-US" altLang="zh-CN" dirty="0"/>
          </a:p>
        </p:txBody>
      </p:sp>
      <p:sp>
        <p:nvSpPr>
          <p:cNvPr id="136" name="AutoShape 5">
            <a:extLst>
              <a:ext uri="{FF2B5EF4-FFF2-40B4-BE49-F238E27FC236}">
                <a16:creationId xmlns:a16="http://schemas.microsoft.com/office/drawing/2014/main" id="{44C2978D-3802-4D71-929C-DDC672460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451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 tmFilter="0, 0; .2, .5; .8, .5; 1, 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50" autoRev="1" fill="hold"/>
                                        <p:tgtEl>
                                          <p:spTgt spid="1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 animBg="1"/>
      <p:bldP spid="136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5.7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总结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: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自底向上回顾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一次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请求所要做的工作：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主机接入网络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物理连接：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WLAN(802.3) or WIFI(802.11)</a:t>
            </a: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配置主机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IP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等参数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手工配置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动态主机配置：</a:t>
            </a:r>
            <a:r>
              <a:rPr lang="en-US" altLang="zh-CN" dirty="0">
                <a:solidFill>
                  <a:srgbClr val="0066CC"/>
                </a:solidFill>
              </a:rPr>
              <a:t>DHCP</a:t>
            </a: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(6) </a:t>
            </a:r>
            <a:r>
              <a:rPr lang="zh-CN" altLang="en-US" dirty="0">
                <a:solidFill>
                  <a:srgbClr val="0066CC"/>
                </a:solidFill>
              </a:rPr>
              <a:t>交换机转发帧</a:t>
            </a:r>
            <a:endParaRPr lang="en-US" altLang="zh-CN" dirty="0">
              <a:solidFill>
                <a:srgbClr val="0066CC"/>
              </a:solidFill>
            </a:endParaRPr>
          </a:p>
          <a:p>
            <a:pPr lvl="4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不再泛洪</a:t>
            </a:r>
            <a:r>
              <a:rPr lang="en-US" altLang="zh-CN" dirty="0">
                <a:solidFill>
                  <a:srgbClr val="0066CC"/>
                </a:solidFill>
              </a:rPr>
              <a:t>(Why?)</a:t>
            </a:r>
          </a:p>
          <a:p>
            <a:pPr lvl="4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自学习</a:t>
            </a: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(7) </a:t>
            </a:r>
            <a:r>
              <a:rPr lang="zh-CN" altLang="en-US" dirty="0">
                <a:solidFill>
                  <a:srgbClr val="0066CC"/>
                </a:solidFill>
              </a:rPr>
              <a:t>客户机接收到</a:t>
            </a:r>
            <a:r>
              <a:rPr lang="en-US" altLang="zh-CN" dirty="0">
                <a:solidFill>
                  <a:srgbClr val="0066CC"/>
                </a:solidFill>
              </a:rPr>
              <a:t>DHCP</a:t>
            </a:r>
            <a:r>
              <a:rPr lang="zh-CN" altLang="en-US" dirty="0">
                <a:solidFill>
                  <a:srgbClr val="0066CC"/>
                </a:solidFill>
              </a:rPr>
              <a:t>响应</a:t>
            </a:r>
            <a:endParaRPr lang="en-US" altLang="zh-CN" dirty="0">
              <a:solidFill>
                <a:srgbClr val="0066CC"/>
              </a:solidFill>
            </a:endParaRPr>
          </a:p>
          <a:p>
            <a:pPr lvl="4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逐层解析数据分组</a:t>
            </a:r>
            <a:endParaRPr lang="en-US" altLang="zh-CN" dirty="0">
              <a:solidFill>
                <a:srgbClr val="0066CC"/>
              </a:solidFill>
            </a:endParaRPr>
          </a:p>
          <a:p>
            <a:pPr lvl="4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操作系统为客户机配置网络参数</a:t>
            </a:r>
            <a:endParaRPr lang="en-US" altLang="zh-CN" dirty="0">
              <a:solidFill>
                <a:srgbClr val="0066CC"/>
              </a:solidFill>
            </a:endParaRPr>
          </a:p>
          <a:p>
            <a:pPr lvl="5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主机</a:t>
            </a:r>
            <a:r>
              <a:rPr lang="en-US" altLang="zh-CN" dirty="0">
                <a:solidFill>
                  <a:srgbClr val="0066CC"/>
                </a:solidFill>
              </a:rPr>
              <a:t>IP</a:t>
            </a:r>
            <a:r>
              <a:rPr lang="zh-CN" altLang="en-US" dirty="0">
                <a:solidFill>
                  <a:srgbClr val="0066CC"/>
                </a:solidFill>
              </a:rPr>
              <a:t>，网关</a:t>
            </a:r>
            <a:r>
              <a:rPr lang="en-US" altLang="zh-CN" dirty="0">
                <a:solidFill>
                  <a:srgbClr val="0066CC"/>
                </a:solidFill>
              </a:rPr>
              <a:t>IP</a:t>
            </a:r>
            <a:r>
              <a:rPr lang="zh-CN" altLang="en-US" dirty="0">
                <a:solidFill>
                  <a:srgbClr val="0066CC"/>
                </a:solidFill>
              </a:rPr>
              <a:t>，子网掩码，</a:t>
            </a:r>
            <a:r>
              <a:rPr lang="en-US" altLang="zh-CN" dirty="0">
                <a:solidFill>
                  <a:srgbClr val="0066CC"/>
                </a:solidFill>
              </a:rPr>
              <a:t>Local DNS Server</a:t>
            </a: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>
              <a:spcBef>
                <a:spcPts val="450"/>
              </a:spcBef>
            </a:pP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8" name="Group 152"/>
          <p:cNvGrpSpPr>
            <a:grpSpLocks/>
          </p:cNvGrpSpPr>
          <p:nvPr/>
        </p:nvGrpSpPr>
        <p:grpSpPr bwMode="auto">
          <a:xfrm>
            <a:off x="5260274" y="1622469"/>
            <a:ext cx="2665809" cy="2322880"/>
            <a:chOff x="773113" y="1273175"/>
            <a:chExt cx="3554412" cy="3096511"/>
          </a:xfrm>
        </p:grpSpPr>
        <p:sp>
          <p:nvSpPr>
            <p:cNvPr id="9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6 w 2406"/>
                <a:gd name="T1" fmla="*/ 2147483646 h 958"/>
                <a:gd name="T2" fmla="*/ 2147483646 w 2406"/>
                <a:gd name="T3" fmla="*/ 2147483646 h 958"/>
                <a:gd name="T4" fmla="*/ 2147483646 w 2406"/>
                <a:gd name="T5" fmla="*/ 2147483646 h 958"/>
                <a:gd name="T6" fmla="*/ 2147483646 w 2406"/>
                <a:gd name="T7" fmla="*/ 2147483646 h 958"/>
                <a:gd name="T8" fmla="*/ 2147483646 w 2406"/>
                <a:gd name="T9" fmla="*/ 2147483646 h 958"/>
                <a:gd name="T10" fmla="*/ 2147483646 w 2406"/>
                <a:gd name="T11" fmla="*/ 2147483646 h 958"/>
                <a:gd name="T12" fmla="*/ 2147483646 w 2406"/>
                <a:gd name="T13" fmla="*/ 2147483646 h 958"/>
                <a:gd name="T14" fmla="*/ 2147483646 w 2406"/>
                <a:gd name="T15" fmla="*/ 2147483646 h 958"/>
                <a:gd name="T16" fmla="*/ 2147483646 w 2406"/>
                <a:gd name="T17" fmla="*/ 2147483646 h 958"/>
                <a:gd name="T18" fmla="*/ 2147483646 w 2406"/>
                <a:gd name="T19" fmla="*/ 2147483646 h 958"/>
                <a:gd name="T20" fmla="*/ 2147483646 w 2406"/>
                <a:gd name="T21" fmla="*/ 2147483646 h 958"/>
                <a:gd name="T22" fmla="*/ 2147483646 w 2406"/>
                <a:gd name="T23" fmla="*/ 2147483646 h 958"/>
                <a:gd name="T24" fmla="*/ 2147483646 w 2406"/>
                <a:gd name="T25" fmla="*/ 2147483646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76417" cy="553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router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(runs DHCP)</a:t>
              </a:r>
            </a:p>
          </p:txBody>
        </p:sp>
        <p:grpSp>
          <p:nvGrpSpPr>
            <p:cNvPr id="15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67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8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6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sp>
          <p:nvSpPr>
            <p:cNvPr id="18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sp>
          <p:nvSpPr>
            <p:cNvPr id="19" name="Rectangle 43"/>
            <p:cNvSpPr>
              <a:spLocks noChangeArrowheads="1"/>
            </p:cNvSpPr>
            <p:nvPr/>
          </p:nvSpPr>
          <p:spPr bwMode="auto">
            <a:xfrm rot="-54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grpSp>
          <p:nvGrpSpPr>
            <p:cNvPr id="20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35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7 w 354"/>
                  <a:gd name="T1" fmla="*/ 0 h 2742"/>
                  <a:gd name="T2" fmla="*/ 93 w 354"/>
                  <a:gd name="T3" fmla="*/ 114 h 2742"/>
                  <a:gd name="T4" fmla="*/ 91 w 354"/>
                  <a:gd name="T5" fmla="*/ 881 h 2742"/>
                  <a:gd name="T6" fmla="*/ 0 w 354"/>
                  <a:gd name="T7" fmla="*/ 921 h 2742"/>
                  <a:gd name="T8" fmla="*/ 1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37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6 w 211"/>
                  <a:gd name="T3" fmla="*/ 73 h 2537"/>
                  <a:gd name="T4" fmla="*/ 2 w 211"/>
                  <a:gd name="T5" fmla="*/ 83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3 h 226"/>
                  <a:gd name="T4" fmla="*/ 87 w 328"/>
                  <a:gd name="T5" fmla="*/ 77 h 226"/>
                  <a:gd name="T6" fmla="*/ 0 w 328"/>
                  <a:gd name="T7" fmla="*/ 3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0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5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6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1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2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3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4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3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44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5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1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2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6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2 h 226"/>
                  <a:gd name="T4" fmla="*/ 87 w 328"/>
                  <a:gd name="T5" fmla="*/ 75 h 226"/>
                  <a:gd name="T6" fmla="*/ 0 w 328"/>
                  <a:gd name="T7" fmla="*/ 3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47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59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0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8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49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7 w 296"/>
                  <a:gd name="T3" fmla="*/ 47 h 256"/>
                  <a:gd name="T4" fmla="*/ 78 w 296"/>
                  <a:gd name="T5" fmla="*/ 85 h 256"/>
                  <a:gd name="T6" fmla="*/ 0 w 296"/>
                  <a:gd name="T7" fmla="*/ 3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81 w 304"/>
                  <a:gd name="T3" fmla="*/ 55 h 288"/>
                  <a:gd name="T4" fmla="*/ 76 w 304"/>
                  <a:gd name="T5" fmla="*/ 97 h 288"/>
                  <a:gd name="T6" fmla="*/ 2 w 304"/>
                  <a:gd name="T7" fmla="*/ 4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1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2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6 h 240"/>
                  <a:gd name="T2" fmla="*/ 2 w 306"/>
                  <a:gd name="T3" fmla="*/ 81 h 240"/>
                  <a:gd name="T4" fmla="*/ 81 w 306"/>
                  <a:gd name="T5" fmla="*/ 37 h 240"/>
                  <a:gd name="T6" fmla="*/ 78 w 306"/>
                  <a:gd name="T7" fmla="*/ 0 h 240"/>
                  <a:gd name="T8" fmla="*/ 0 w 306"/>
                  <a:gd name="T9" fmla="*/ 3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3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6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4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5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6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7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8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21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22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3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5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27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2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3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4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28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9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0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1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3"/>
                  <a:ext cx="52" cy="9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</p:grpSp>
      </p:grpSp>
      <p:grpSp>
        <p:nvGrpSpPr>
          <p:cNvPr id="69" name="Group 45"/>
          <p:cNvGrpSpPr>
            <a:grpSpLocks/>
          </p:cNvGrpSpPr>
          <p:nvPr/>
        </p:nvGrpSpPr>
        <p:grpSpPr bwMode="auto">
          <a:xfrm>
            <a:off x="5576981" y="1478403"/>
            <a:ext cx="732234" cy="1095375"/>
            <a:chOff x="651" y="681"/>
            <a:chExt cx="615" cy="920"/>
          </a:xfrm>
        </p:grpSpPr>
        <p:sp>
          <p:nvSpPr>
            <p:cNvPr id="70" name="Freeform 46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71" name="Group 47"/>
            <p:cNvGrpSpPr>
              <a:grpSpLocks/>
            </p:cNvGrpSpPr>
            <p:nvPr/>
          </p:nvGrpSpPr>
          <p:grpSpPr bwMode="auto">
            <a:xfrm>
              <a:off x="651" y="681"/>
              <a:ext cx="523" cy="853"/>
              <a:chOff x="569" y="2954"/>
              <a:chExt cx="523" cy="853"/>
            </a:xfrm>
          </p:grpSpPr>
          <p:sp>
            <p:nvSpPr>
              <p:cNvPr id="72" name="Rectangle 4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73" name="Text Box 49"/>
              <p:cNvSpPr txBox="1">
                <a:spLocks noChangeArrowheads="1"/>
              </p:cNvSpPr>
              <p:nvPr/>
            </p:nvSpPr>
            <p:spPr bwMode="auto">
              <a:xfrm>
                <a:off x="572" y="2954"/>
                <a:ext cx="520" cy="8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DHCP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UDP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Eth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Phy</a:t>
                </a:r>
              </a:p>
            </p:txBody>
          </p:sp>
          <p:sp>
            <p:nvSpPr>
              <p:cNvPr id="74" name="Line 5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5" name="Line 5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6" name="Line 5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7" name="Line 5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135" name="Group 113"/>
          <p:cNvGrpSpPr>
            <a:grpSpLocks/>
          </p:cNvGrpSpPr>
          <p:nvPr/>
        </p:nvGrpSpPr>
        <p:grpSpPr bwMode="auto">
          <a:xfrm>
            <a:off x="4734019" y="1395059"/>
            <a:ext cx="810815" cy="913209"/>
            <a:chOff x="1404" y="3105"/>
            <a:chExt cx="681" cy="767"/>
          </a:xfrm>
        </p:grpSpPr>
        <p:grpSp>
          <p:nvGrpSpPr>
            <p:cNvPr id="136" name="Group 114"/>
            <p:cNvGrpSpPr>
              <a:grpSpLocks/>
            </p:cNvGrpSpPr>
            <p:nvPr/>
          </p:nvGrpSpPr>
          <p:grpSpPr bwMode="auto">
            <a:xfrm>
              <a:off x="1404" y="3355"/>
              <a:ext cx="681" cy="488"/>
              <a:chOff x="42" y="886"/>
              <a:chExt cx="681" cy="488"/>
            </a:xfrm>
          </p:grpSpPr>
          <p:grpSp>
            <p:nvGrpSpPr>
              <p:cNvPr id="141" name="Group 115"/>
              <p:cNvGrpSpPr>
                <a:grpSpLocks/>
              </p:cNvGrpSpPr>
              <p:nvPr/>
            </p:nvGrpSpPr>
            <p:grpSpPr bwMode="auto">
              <a:xfrm>
                <a:off x="278" y="886"/>
                <a:ext cx="437" cy="174"/>
                <a:chOff x="740" y="3209"/>
                <a:chExt cx="437" cy="174"/>
              </a:xfrm>
            </p:grpSpPr>
            <p:grpSp>
              <p:nvGrpSpPr>
                <p:cNvPr id="166" name="Group 116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83" cy="174"/>
                  <a:chOff x="844" y="3337"/>
                  <a:chExt cx="383" cy="174"/>
                </a:xfrm>
              </p:grpSpPr>
              <p:sp>
                <p:nvSpPr>
                  <p:cNvPr id="169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170" name="Text Box 1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83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750">
                        <a:solidFill>
                          <a:srgbClr val="FFFFFF"/>
                        </a:solidFill>
                        <a:latin typeface="Arial" panose="020B0604020202020204" pitchFamily="34" charset="0"/>
                      </a:rPr>
                      <a:t>DHCP</a:t>
                    </a:r>
                  </a:p>
                </p:txBody>
              </p:sp>
            </p:grpSp>
            <p:sp>
              <p:nvSpPr>
                <p:cNvPr id="167" name="Rectangle 119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168" name="Rectangle 120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142" name="Group 121"/>
              <p:cNvGrpSpPr>
                <a:grpSpLocks/>
              </p:cNvGrpSpPr>
              <p:nvPr/>
            </p:nvGrpSpPr>
            <p:grpSpPr bwMode="auto">
              <a:xfrm>
                <a:off x="278" y="1034"/>
                <a:ext cx="437" cy="174"/>
                <a:chOff x="836" y="3305"/>
                <a:chExt cx="437" cy="174"/>
              </a:xfrm>
            </p:grpSpPr>
            <p:grpSp>
              <p:nvGrpSpPr>
                <p:cNvPr id="160" name="Group 122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83" cy="174"/>
                  <a:chOff x="844" y="3337"/>
                  <a:chExt cx="383" cy="174"/>
                </a:xfrm>
              </p:grpSpPr>
              <p:sp>
                <p:nvSpPr>
                  <p:cNvPr id="164" name="Rectangle 123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165" name="Text Box 1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83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750">
                        <a:solidFill>
                          <a:srgbClr val="FFFFFF"/>
                        </a:solidFill>
                        <a:latin typeface="Arial" panose="020B0604020202020204" pitchFamily="34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161" name="Group 125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62" name="Rectangle 126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163" name="Rectangle 12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</p:grpSp>
          </p:grpSp>
          <p:grpSp>
            <p:nvGrpSpPr>
              <p:cNvPr id="143" name="Group 128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158" name="Rectangle 129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159" name="Rectangle 130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144" name="Group 131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74"/>
                <a:chOff x="504" y="3523"/>
                <a:chExt cx="681" cy="174"/>
              </a:xfrm>
            </p:grpSpPr>
            <p:grpSp>
              <p:nvGrpSpPr>
                <p:cNvPr id="145" name="Group 132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50" cy="174"/>
                  <a:chOff x="723" y="3453"/>
                  <a:chExt cx="550" cy="174"/>
                </a:xfrm>
              </p:grpSpPr>
              <p:grpSp>
                <p:nvGrpSpPr>
                  <p:cNvPr id="149" name="Group 133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437" cy="174"/>
                    <a:chOff x="836" y="3305"/>
                    <a:chExt cx="437" cy="174"/>
                  </a:xfrm>
                </p:grpSpPr>
                <p:grpSp>
                  <p:nvGrpSpPr>
                    <p:cNvPr id="152" name="Group 13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83" cy="174"/>
                      <a:chOff x="844" y="3337"/>
                      <a:chExt cx="383" cy="174"/>
                    </a:xfrm>
                  </p:grpSpPr>
                  <p:sp>
                    <p:nvSpPr>
                      <p:cNvPr id="156" name="Rectangle 13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SzPct val="65000"/>
                          <a:buFont typeface="Wingdings" panose="05000000000000000000" pitchFamily="2" charset="2"/>
                          <a:buChar char="v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350">
                          <a:solidFill>
                            <a:srgbClr val="000000"/>
                          </a:solidFill>
                          <a:latin typeface="Comic Sans MS" panose="030F0702030302020204" pitchFamily="66" charset="0"/>
                        </a:endParaRPr>
                      </a:p>
                    </p:txBody>
                  </p:sp>
                  <p:sp>
                    <p:nvSpPr>
                      <p:cNvPr id="157" name="Text Box 13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83" cy="1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SzPct val="65000"/>
                          <a:buFont typeface="Wingdings" panose="05000000000000000000" pitchFamily="2" charset="2"/>
                          <a:buChar char="v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sz="750">
                            <a:solidFill>
                              <a:srgbClr val="FFFFFF"/>
                            </a:solidFill>
                            <a:latin typeface="Arial" panose="020B0604020202020204" pitchFamily="34" charset="0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153" name="Group 13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54" name="Rectangle 13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SzPct val="65000"/>
                          <a:buFont typeface="Wingdings" panose="05000000000000000000" pitchFamily="2" charset="2"/>
                          <a:buChar char="v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350">
                          <a:solidFill>
                            <a:srgbClr val="000000"/>
                          </a:solidFill>
                          <a:latin typeface="Comic Sans MS" panose="030F0702030302020204" pitchFamily="66" charset="0"/>
                        </a:endParaRPr>
                      </a:p>
                    </p:txBody>
                  </p:sp>
                  <p:sp>
                    <p:nvSpPr>
                      <p:cNvPr id="155" name="Rectangle 13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SzPct val="65000"/>
                          <a:buFont typeface="Wingdings" panose="05000000000000000000" pitchFamily="2" charset="2"/>
                          <a:buChar char="v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350">
                          <a:solidFill>
                            <a:srgbClr val="000000"/>
                          </a:solidFill>
                          <a:latin typeface="Comic Sans MS" panose="030F0702030302020204" pitchFamily="66" charset="0"/>
                        </a:endParaRPr>
                      </a:p>
                    </p:txBody>
                  </p:sp>
                </p:grpSp>
              </p:grpSp>
              <p:sp>
                <p:nvSpPr>
                  <p:cNvPr id="150" name="Rectangle 140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151" name="Rectangle 141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</p:grpSp>
            <p:sp>
              <p:nvSpPr>
                <p:cNvPr id="146" name="Rectangle 142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147" name="Rectangle 143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148" name="Rectangle 144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</p:grpSp>
        <p:sp>
          <p:nvSpPr>
            <p:cNvPr id="137" name="AutoShape 145"/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138" name="Group 146"/>
            <p:cNvGrpSpPr>
              <a:grpSpLocks/>
            </p:cNvGrpSpPr>
            <p:nvPr/>
          </p:nvGrpSpPr>
          <p:grpSpPr bwMode="auto">
            <a:xfrm>
              <a:off x="1695" y="3227"/>
              <a:ext cx="383" cy="174"/>
              <a:chOff x="844" y="3337"/>
              <a:chExt cx="383" cy="174"/>
            </a:xfrm>
          </p:grpSpPr>
          <p:sp>
            <p:nvSpPr>
              <p:cNvPr id="139" name="Rectangle 147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40" name="Text Box 148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8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750">
                    <a:solidFill>
                      <a:srgbClr val="FFFFFF"/>
                    </a:solidFill>
                    <a:latin typeface="Arial" panose="020B0604020202020204" pitchFamily="34" charset="0"/>
                  </a:rPr>
                  <a:t>DHCP</a:t>
                </a:r>
              </a:p>
            </p:txBody>
          </p:sp>
        </p:grpSp>
      </p:grpSp>
      <p:grpSp>
        <p:nvGrpSpPr>
          <p:cNvPr id="126" name="Group 90">
            <a:extLst>
              <a:ext uri="{FF2B5EF4-FFF2-40B4-BE49-F238E27FC236}">
                <a16:creationId xmlns:a16="http://schemas.microsoft.com/office/drawing/2014/main" id="{898328B8-AAAD-457D-A4FB-530B4098AE35}"/>
              </a:ext>
            </a:extLst>
          </p:cNvPr>
          <p:cNvGrpSpPr>
            <a:grpSpLocks/>
          </p:cNvGrpSpPr>
          <p:nvPr/>
        </p:nvGrpSpPr>
        <p:grpSpPr bwMode="auto">
          <a:xfrm>
            <a:off x="7159321" y="2278555"/>
            <a:ext cx="810815" cy="207169"/>
            <a:chOff x="504" y="3523"/>
            <a:chExt cx="681" cy="174"/>
          </a:xfrm>
        </p:grpSpPr>
        <p:grpSp>
          <p:nvGrpSpPr>
            <p:cNvPr id="127" name="Group 91">
              <a:extLst>
                <a:ext uri="{FF2B5EF4-FFF2-40B4-BE49-F238E27FC236}">
                  <a16:creationId xmlns:a16="http://schemas.microsoft.com/office/drawing/2014/main" id="{D5D1403B-C42D-483B-97D7-EC99D65D59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" y="3523"/>
              <a:ext cx="550" cy="174"/>
              <a:chOff x="723" y="3453"/>
              <a:chExt cx="550" cy="174"/>
            </a:xfrm>
          </p:grpSpPr>
          <p:grpSp>
            <p:nvGrpSpPr>
              <p:cNvPr id="131" name="Group 92">
                <a:extLst>
                  <a:ext uri="{FF2B5EF4-FFF2-40B4-BE49-F238E27FC236}">
                    <a16:creationId xmlns:a16="http://schemas.microsoft.com/office/drawing/2014/main" id="{2D87C661-F4AA-4064-9E19-E8F4C8F28E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437" cy="174"/>
                <a:chOff x="836" y="3305"/>
                <a:chExt cx="437" cy="174"/>
              </a:xfrm>
            </p:grpSpPr>
            <p:grpSp>
              <p:nvGrpSpPr>
                <p:cNvPr id="134" name="Group 93">
                  <a:extLst>
                    <a:ext uri="{FF2B5EF4-FFF2-40B4-BE49-F238E27FC236}">
                      <a16:creationId xmlns:a16="http://schemas.microsoft.com/office/drawing/2014/main" id="{171D35FB-C990-43E4-A4FF-829D75EB90F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83" cy="174"/>
                  <a:chOff x="844" y="3337"/>
                  <a:chExt cx="383" cy="174"/>
                </a:xfrm>
              </p:grpSpPr>
              <p:sp>
                <p:nvSpPr>
                  <p:cNvPr id="174" name="Rectangle 94">
                    <a:extLst>
                      <a:ext uri="{FF2B5EF4-FFF2-40B4-BE49-F238E27FC236}">
                        <a16:creationId xmlns:a16="http://schemas.microsoft.com/office/drawing/2014/main" id="{FE045A08-EA69-4406-84D1-7AA6101A949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175" name="Text Box 95">
                    <a:extLst>
                      <a:ext uri="{FF2B5EF4-FFF2-40B4-BE49-F238E27FC236}">
                        <a16:creationId xmlns:a16="http://schemas.microsoft.com/office/drawing/2014/main" id="{EAFBF8DA-13CC-45CF-97D9-9DFF159FCE8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83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750" dirty="0">
                        <a:solidFill>
                          <a:srgbClr val="FFFFFF"/>
                        </a:solidFill>
                        <a:latin typeface="Arial" panose="020B0604020202020204" pitchFamily="34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171" name="Group 96">
                  <a:extLst>
                    <a:ext uri="{FF2B5EF4-FFF2-40B4-BE49-F238E27FC236}">
                      <a16:creationId xmlns:a16="http://schemas.microsoft.com/office/drawing/2014/main" id="{0F514563-16DB-4BBA-8EF1-3C9D9014687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72" name="Rectangle 97">
                    <a:extLst>
                      <a:ext uri="{FF2B5EF4-FFF2-40B4-BE49-F238E27FC236}">
                        <a16:creationId xmlns:a16="http://schemas.microsoft.com/office/drawing/2014/main" id="{228E875F-F3A2-4F22-9CD2-6E412F9D45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173" name="Rectangle 98">
                    <a:extLst>
                      <a:ext uri="{FF2B5EF4-FFF2-40B4-BE49-F238E27FC236}">
                        <a16:creationId xmlns:a16="http://schemas.microsoft.com/office/drawing/2014/main" id="{0C400664-9880-4693-8D59-5D0B46809B1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</p:grpSp>
          </p:grpSp>
          <p:sp>
            <p:nvSpPr>
              <p:cNvPr id="132" name="Rectangle 99">
                <a:extLst>
                  <a:ext uri="{FF2B5EF4-FFF2-40B4-BE49-F238E27FC236}">
                    <a16:creationId xmlns:a16="http://schemas.microsoft.com/office/drawing/2014/main" id="{C0EDAF46-04F0-4425-B7F3-21E870E210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33" name="Rectangle 100">
                <a:extLst>
                  <a:ext uri="{FF2B5EF4-FFF2-40B4-BE49-F238E27FC236}">
                    <a16:creationId xmlns:a16="http://schemas.microsoft.com/office/drawing/2014/main" id="{6316A8C4-BD72-4D05-9D5F-7779A9130A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128" name="Rectangle 101">
              <a:extLst>
                <a:ext uri="{FF2B5EF4-FFF2-40B4-BE49-F238E27FC236}">
                  <a16:creationId xmlns:a16="http://schemas.microsoft.com/office/drawing/2014/main" id="{C9F3273B-C552-4FAC-9DCF-DB861D040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29" name="Rectangle 102">
              <a:extLst>
                <a:ext uri="{FF2B5EF4-FFF2-40B4-BE49-F238E27FC236}">
                  <a16:creationId xmlns:a16="http://schemas.microsoft.com/office/drawing/2014/main" id="{DE5C3C78-056C-49C3-9C44-3020C0B686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30" name="Rectangle 103">
              <a:extLst>
                <a:ext uri="{FF2B5EF4-FFF2-40B4-BE49-F238E27FC236}">
                  <a16:creationId xmlns:a16="http://schemas.microsoft.com/office/drawing/2014/main" id="{0606E06C-4AF3-462D-B6A7-89A10E579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124" name="灯片编号占位符 2">
            <a:extLst>
              <a:ext uri="{FF2B5EF4-FFF2-40B4-BE49-F238E27FC236}">
                <a16:creationId xmlns:a16="http://schemas.microsoft.com/office/drawing/2014/main" id="{3241A6E7-8385-45BC-86E3-F28E3F025E9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9</a:t>
            </a:fld>
            <a:endParaRPr lang="en-US" altLang="zh-CN" dirty="0"/>
          </a:p>
        </p:txBody>
      </p:sp>
      <p:sp>
        <p:nvSpPr>
          <p:cNvPr id="125" name="AutoShape 5">
            <a:extLst>
              <a:ext uri="{FF2B5EF4-FFF2-40B4-BE49-F238E27FC236}">
                <a16:creationId xmlns:a16="http://schemas.microsoft.com/office/drawing/2014/main" id="{0CCA9022-52A2-4D50-A423-4EE2D0129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5082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 tmFilter="0, 0; .2, .5; .8, .5; 1, 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250" autoRev="1" fill="hold"/>
                                        <p:tgtEl>
                                          <p:spTgt spid="1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 animBg="1"/>
      <p:bldP spid="125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5.7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总结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: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自底向上回顾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7469644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一次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请求所要做的工作：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Whole picture</a:t>
            </a: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sp>
        <p:nvSpPr>
          <p:cNvPr id="8" name="Freeform 406"/>
          <p:cNvSpPr>
            <a:spLocks/>
          </p:cNvSpPr>
          <p:nvPr/>
        </p:nvSpPr>
        <p:spPr bwMode="auto">
          <a:xfrm>
            <a:off x="4904091" y="1429301"/>
            <a:ext cx="2838450" cy="2189354"/>
          </a:xfrm>
          <a:custGeom>
            <a:avLst/>
            <a:gdLst>
              <a:gd name="T0" fmla="*/ 2147483646 w 2453"/>
              <a:gd name="T1" fmla="*/ 2147483646 h 2011"/>
              <a:gd name="T2" fmla="*/ 2147483646 w 2453"/>
              <a:gd name="T3" fmla="*/ 2147483646 h 2011"/>
              <a:gd name="T4" fmla="*/ 2147483646 w 2453"/>
              <a:gd name="T5" fmla="*/ 2147483646 h 2011"/>
              <a:gd name="T6" fmla="*/ 2147483646 w 2453"/>
              <a:gd name="T7" fmla="*/ 2147483646 h 2011"/>
              <a:gd name="T8" fmla="*/ 2147483646 w 2453"/>
              <a:gd name="T9" fmla="*/ 2147483646 h 2011"/>
              <a:gd name="T10" fmla="*/ 2147483646 w 2453"/>
              <a:gd name="T11" fmla="*/ 2147483646 h 2011"/>
              <a:gd name="T12" fmla="*/ 2147483646 w 2453"/>
              <a:gd name="T13" fmla="*/ 2147483646 h 2011"/>
              <a:gd name="T14" fmla="*/ 2147483646 w 2453"/>
              <a:gd name="T15" fmla="*/ 2147483646 h 2011"/>
              <a:gd name="T16" fmla="*/ 2147483646 w 2453"/>
              <a:gd name="T17" fmla="*/ 2147483646 h 2011"/>
              <a:gd name="T18" fmla="*/ 2147483646 w 2453"/>
              <a:gd name="T19" fmla="*/ 2147483646 h 2011"/>
              <a:gd name="T20" fmla="*/ 2147483646 w 2453"/>
              <a:gd name="T21" fmla="*/ 2147483646 h 2011"/>
              <a:gd name="T22" fmla="*/ 2147483646 w 2453"/>
              <a:gd name="T23" fmla="*/ 2147483646 h 2011"/>
              <a:gd name="T24" fmla="*/ 2147483646 w 2453"/>
              <a:gd name="T25" fmla="*/ 2147483646 h 2011"/>
              <a:gd name="T26" fmla="*/ 2147483646 w 2453"/>
              <a:gd name="T27" fmla="*/ 2147483646 h 2011"/>
              <a:gd name="T28" fmla="*/ 2147483646 w 2453"/>
              <a:gd name="T29" fmla="*/ 2147483646 h 2011"/>
              <a:gd name="T30" fmla="*/ 2147483646 w 2453"/>
              <a:gd name="T31" fmla="*/ 2147483646 h 2011"/>
              <a:gd name="T32" fmla="*/ 2147483646 w 2453"/>
              <a:gd name="T33" fmla="*/ 2147483646 h 2011"/>
              <a:gd name="T34" fmla="*/ 2147483646 w 2453"/>
              <a:gd name="T35" fmla="*/ 2147483646 h 2011"/>
              <a:gd name="T36" fmla="*/ 2147483646 w 2453"/>
              <a:gd name="T37" fmla="*/ 2147483646 h 2011"/>
              <a:gd name="T38" fmla="*/ 2147483646 w 2453"/>
              <a:gd name="T39" fmla="*/ 2147483646 h 2011"/>
              <a:gd name="T40" fmla="*/ 2147483646 w 2453"/>
              <a:gd name="T41" fmla="*/ 2147483646 h 2011"/>
              <a:gd name="T42" fmla="*/ 2147483646 w 2453"/>
              <a:gd name="T43" fmla="*/ 2147483646 h 2011"/>
              <a:gd name="T44" fmla="*/ 2147483646 w 2453"/>
              <a:gd name="T45" fmla="*/ 2147483646 h 2011"/>
              <a:gd name="T46" fmla="*/ 2147483646 w 2453"/>
              <a:gd name="T47" fmla="*/ 2147483646 h 201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2453" h="2011">
                <a:moveTo>
                  <a:pt x="84" y="632"/>
                </a:moveTo>
                <a:cubicBezTo>
                  <a:pt x="51" y="704"/>
                  <a:pt x="28" y="747"/>
                  <a:pt x="16" y="809"/>
                </a:cubicBezTo>
                <a:cubicBezTo>
                  <a:pt x="4" y="871"/>
                  <a:pt x="0" y="949"/>
                  <a:pt x="9" y="1005"/>
                </a:cubicBezTo>
                <a:cubicBezTo>
                  <a:pt x="18" y="1061"/>
                  <a:pt x="44" y="1087"/>
                  <a:pt x="70" y="1147"/>
                </a:cubicBezTo>
                <a:cubicBezTo>
                  <a:pt x="96" y="1207"/>
                  <a:pt x="130" y="1314"/>
                  <a:pt x="165" y="1364"/>
                </a:cubicBezTo>
                <a:cubicBezTo>
                  <a:pt x="200" y="1414"/>
                  <a:pt x="216" y="1402"/>
                  <a:pt x="280" y="1446"/>
                </a:cubicBezTo>
                <a:cubicBezTo>
                  <a:pt x="344" y="1490"/>
                  <a:pt x="404" y="1587"/>
                  <a:pt x="549" y="1627"/>
                </a:cubicBezTo>
                <a:cubicBezTo>
                  <a:pt x="694" y="1667"/>
                  <a:pt x="987" y="1631"/>
                  <a:pt x="1152" y="1687"/>
                </a:cubicBezTo>
                <a:cubicBezTo>
                  <a:pt x="1317" y="1743"/>
                  <a:pt x="1455" y="1919"/>
                  <a:pt x="1542" y="1965"/>
                </a:cubicBezTo>
                <a:cubicBezTo>
                  <a:pt x="1629" y="2011"/>
                  <a:pt x="1610" y="1968"/>
                  <a:pt x="1675" y="1965"/>
                </a:cubicBezTo>
                <a:cubicBezTo>
                  <a:pt x="1740" y="1962"/>
                  <a:pt x="1816" y="1974"/>
                  <a:pt x="1933" y="1945"/>
                </a:cubicBezTo>
                <a:cubicBezTo>
                  <a:pt x="2050" y="1916"/>
                  <a:pt x="2299" y="1866"/>
                  <a:pt x="2376" y="1793"/>
                </a:cubicBezTo>
                <a:cubicBezTo>
                  <a:pt x="2453" y="1720"/>
                  <a:pt x="2410" y="1591"/>
                  <a:pt x="2396" y="1508"/>
                </a:cubicBezTo>
                <a:cubicBezTo>
                  <a:pt x="2382" y="1425"/>
                  <a:pt x="2301" y="1408"/>
                  <a:pt x="2293" y="1297"/>
                </a:cubicBezTo>
                <a:cubicBezTo>
                  <a:pt x="2285" y="1186"/>
                  <a:pt x="2339" y="950"/>
                  <a:pt x="2347" y="843"/>
                </a:cubicBezTo>
                <a:cubicBezTo>
                  <a:pt x="2355" y="736"/>
                  <a:pt x="2368" y="717"/>
                  <a:pt x="2340" y="653"/>
                </a:cubicBezTo>
                <a:cubicBezTo>
                  <a:pt x="2312" y="589"/>
                  <a:pt x="2247" y="537"/>
                  <a:pt x="2177" y="456"/>
                </a:cubicBezTo>
                <a:cubicBezTo>
                  <a:pt x="2107" y="375"/>
                  <a:pt x="2016" y="235"/>
                  <a:pt x="1920" y="165"/>
                </a:cubicBezTo>
                <a:cubicBezTo>
                  <a:pt x="1824" y="95"/>
                  <a:pt x="1716" y="61"/>
                  <a:pt x="1601" y="36"/>
                </a:cubicBezTo>
                <a:cubicBezTo>
                  <a:pt x="1486" y="11"/>
                  <a:pt x="1343" y="0"/>
                  <a:pt x="1229" y="16"/>
                </a:cubicBezTo>
                <a:cubicBezTo>
                  <a:pt x="1115" y="32"/>
                  <a:pt x="1042" y="90"/>
                  <a:pt x="917" y="131"/>
                </a:cubicBezTo>
                <a:cubicBezTo>
                  <a:pt x="792" y="172"/>
                  <a:pt x="595" y="219"/>
                  <a:pt x="477" y="260"/>
                </a:cubicBezTo>
                <a:cubicBezTo>
                  <a:pt x="359" y="301"/>
                  <a:pt x="280" y="311"/>
                  <a:pt x="212" y="375"/>
                </a:cubicBezTo>
                <a:cubicBezTo>
                  <a:pt x="144" y="439"/>
                  <a:pt x="117" y="560"/>
                  <a:pt x="84" y="632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9" name="Freeform 3"/>
          <p:cNvSpPr>
            <a:spLocks/>
          </p:cNvSpPr>
          <p:nvPr/>
        </p:nvSpPr>
        <p:spPr bwMode="auto">
          <a:xfrm>
            <a:off x="1716788" y="1649362"/>
            <a:ext cx="2665809" cy="2065735"/>
          </a:xfrm>
          <a:custGeom>
            <a:avLst/>
            <a:gdLst>
              <a:gd name="T0" fmla="*/ 2147483646 w 2406"/>
              <a:gd name="T1" fmla="*/ 2147483646 h 958"/>
              <a:gd name="T2" fmla="*/ 2147483646 w 2406"/>
              <a:gd name="T3" fmla="*/ 2147483646 h 958"/>
              <a:gd name="T4" fmla="*/ 2147483646 w 2406"/>
              <a:gd name="T5" fmla="*/ 2147483646 h 958"/>
              <a:gd name="T6" fmla="*/ 2147483646 w 2406"/>
              <a:gd name="T7" fmla="*/ 2147483646 h 958"/>
              <a:gd name="T8" fmla="*/ 2147483646 w 2406"/>
              <a:gd name="T9" fmla="*/ 2147483646 h 958"/>
              <a:gd name="T10" fmla="*/ 2147483646 w 2406"/>
              <a:gd name="T11" fmla="*/ 2147483646 h 958"/>
              <a:gd name="T12" fmla="*/ 2147483646 w 2406"/>
              <a:gd name="T13" fmla="*/ 2147483646 h 958"/>
              <a:gd name="T14" fmla="*/ 2147483646 w 2406"/>
              <a:gd name="T15" fmla="*/ 2147483646 h 958"/>
              <a:gd name="T16" fmla="*/ 2147483646 w 2406"/>
              <a:gd name="T17" fmla="*/ 2147483646 h 958"/>
              <a:gd name="T18" fmla="*/ 2147483646 w 2406"/>
              <a:gd name="T19" fmla="*/ 2147483646 h 958"/>
              <a:gd name="T20" fmla="*/ 2147483646 w 2406"/>
              <a:gd name="T21" fmla="*/ 2147483646 h 958"/>
              <a:gd name="T22" fmla="*/ 2147483646 w 2406"/>
              <a:gd name="T23" fmla="*/ 2147483646 h 958"/>
              <a:gd name="T24" fmla="*/ 2147483646 w 2406"/>
              <a:gd name="T25" fmla="*/ 2147483646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pSp>
        <p:nvGrpSpPr>
          <p:cNvPr id="10" name="Group 4"/>
          <p:cNvGrpSpPr>
            <a:grpSpLocks/>
          </p:cNvGrpSpPr>
          <p:nvPr/>
        </p:nvGrpSpPr>
        <p:grpSpPr bwMode="auto">
          <a:xfrm>
            <a:off x="5295807" y="2704256"/>
            <a:ext cx="567928" cy="284560"/>
            <a:chOff x="2466" y="2026"/>
            <a:chExt cx="477" cy="282"/>
          </a:xfrm>
        </p:grpSpPr>
        <p:sp>
          <p:nvSpPr>
            <p:cNvPr id="11" name="Oval 5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" name="Line 6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" name="Oval 8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5" name="Group 9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2" name="Line 1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3" name="Line 1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" name="Line 1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16" name="Group 13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19" name="Line 1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" name="Line 1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1" name="Line 1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25" name="Group 19"/>
          <p:cNvGrpSpPr>
            <a:grpSpLocks/>
          </p:cNvGrpSpPr>
          <p:nvPr/>
        </p:nvGrpSpPr>
        <p:grpSpPr bwMode="auto">
          <a:xfrm>
            <a:off x="6319745" y="2513756"/>
            <a:ext cx="567928" cy="284560"/>
            <a:chOff x="2466" y="2026"/>
            <a:chExt cx="477" cy="282"/>
          </a:xfrm>
        </p:grpSpPr>
        <p:sp>
          <p:nvSpPr>
            <p:cNvPr id="26" name="Oval 2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8" name="Rectangle 2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" name="Oval 2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0" name="Group 2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37" name="Line 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8" name="Line 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9" name="Line 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31" name="Group 2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34" name="Line 2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5" name="Line 3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6" name="Line 3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32" name="Line 3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3" name="Line 3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40" name="Text Box 34"/>
          <p:cNvSpPr txBox="1">
            <a:spLocks noChangeArrowheads="1"/>
          </p:cNvSpPr>
          <p:nvPr/>
        </p:nvSpPr>
        <p:spPr bwMode="auto">
          <a:xfrm>
            <a:off x="5281519" y="2016075"/>
            <a:ext cx="14141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Comcast network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68.80.0.0/13</a:t>
            </a:r>
          </a:p>
        </p:txBody>
      </p:sp>
      <p:sp>
        <p:nvSpPr>
          <p:cNvPr id="41" name="Line 36"/>
          <p:cNvSpPr>
            <a:spLocks noChangeShapeType="1"/>
          </p:cNvSpPr>
          <p:nvPr/>
        </p:nvSpPr>
        <p:spPr bwMode="auto">
          <a:xfrm flipV="1">
            <a:off x="3968260" y="2453035"/>
            <a:ext cx="116681" cy="10715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2" name="Line 43"/>
          <p:cNvSpPr>
            <a:spLocks noChangeShapeType="1"/>
          </p:cNvSpPr>
          <p:nvPr/>
        </p:nvSpPr>
        <p:spPr bwMode="auto">
          <a:xfrm flipV="1">
            <a:off x="3136014" y="2582812"/>
            <a:ext cx="52149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3" name="Line 44"/>
          <p:cNvSpPr>
            <a:spLocks noChangeShapeType="1"/>
          </p:cNvSpPr>
          <p:nvPr/>
        </p:nvSpPr>
        <p:spPr bwMode="auto">
          <a:xfrm flipV="1">
            <a:off x="4080179" y="2345878"/>
            <a:ext cx="103585" cy="107156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4" name="Line 48"/>
          <p:cNvSpPr>
            <a:spLocks noChangeShapeType="1"/>
          </p:cNvSpPr>
          <p:nvPr/>
        </p:nvSpPr>
        <p:spPr bwMode="auto">
          <a:xfrm flipV="1">
            <a:off x="3596785" y="2747119"/>
            <a:ext cx="384572" cy="45958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45" name="Group 49"/>
          <p:cNvGrpSpPr>
            <a:grpSpLocks/>
          </p:cNvGrpSpPr>
          <p:nvPr/>
        </p:nvGrpSpPr>
        <p:grpSpPr bwMode="auto">
          <a:xfrm>
            <a:off x="3207451" y="3218606"/>
            <a:ext cx="740569" cy="359569"/>
            <a:chOff x="1118" y="1621"/>
            <a:chExt cx="622" cy="302"/>
          </a:xfrm>
        </p:grpSpPr>
        <p:sp>
          <p:nvSpPr>
            <p:cNvPr id="46" name="Rectangle 50"/>
            <p:cNvSpPr>
              <a:spLocks noChangeArrowheads="1"/>
            </p:cNvSpPr>
            <p:nvPr/>
          </p:nvSpPr>
          <p:spPr bwMode="auto">
            <a:xfrm>
              <a:off x="1578" y="1789"/>
              <a:ext cx="162" cy="44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" name="Rectangle 51"/>
            <p:cNvSpPr>
              <a:spLocks noChangeArrowheads="1"/>
            </p:cNvSpPr>
            <p:nvPr/>
          </p:nvSpPr>
          <p:spPr bwMode="auto">
            <a:xfrm rot="-2700000">
              <a:off x="1336" y="1621"/>
              <a:ext cx="162" cy="44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48" name="Group 52"/>
            <p:cNvGrpSpPr>
              <a:grpSpLocks/>
            </p:cNvGrpSpPr>
            <p:nvPr/>
          </p:nvGrpSpPr>
          <p:grpSpPr bwMode="auto">
            <a:xfrm>
              <a:off x="1118" y="1684"/>
              <a:ext cx="477" cy="239"/>
              <a:chOff x="2466" y="2026"/>
              <a:chExt cx="477" cy="282"/>
            </a:xfrm>
          </p:grpSpPr>
          <p:sp>
            <p:nvSpPr>
              <p:cNvPr id="49" name="Oval 53"/>
              <p:cNvSpPr>
                <a:spLocks noChangeArrowheads="1"/>
              </p:cNvSpPr>
              <p:nvPr/>
            </p:nvSpPr>
            <p:spPr bwMode="auto">
              <a:xfrm>
                <a:off x="2466" y="2168"/>
                <a:ext cx="476" cy="140"/>
              </a:xfrm>
              <a:prstGeom prst="ellipse">
                <a:avLst/>
              </a:prstGeom>
              <a:solidFill>
                <a:srgbClr val="DDDDDD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0" name="Line 54"/>
              <p:cNvSpPr>
                <a:spLocks noChangeShapeType="1"/>
              </p:cNvSpPr>
              <p:nvPr/>
            </p:nvSpPr>
            <p:spPr bwMode="auto">
              <a:xfrm>
                <a:off x="2470" y="2125"/>
                <a:ext cx="1" cy="8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51" name="Rectangle 55"/>
              <p:cNvSpPr>
                <a:spLocks noChangeArrowheads="1"/>
              </p:cNvSpPr>
              <p:nvPr/>
            </p:nvSpPr>
            <p:spPr bwMode="auto">
              <a:xfrm>
                <a:off x="2470" y="2125"/>
                <a:ext cx="472" cy="111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" name="Oval 56"/>
              <p:cNvSpPr>
                <a:spLocks noChangeArrowheads="1"/>
              </p:cNvSpPr>
              <p:nvPr/>
            </p:nvSpPr>
            <p:spPr bwMode="auto">
              <a:xfrm>
                <a:off x="2466" y="2026"/>
                <a:ext cx="476" cy="160"/>
              </a:xfrm>
              <a:prstGeom prst="ellipse">
                <a:avLst/>
              </a:prstGeom>
              <a:solidFill>
                <a:srgbClr val="DDDDDD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53" name="Group 57"/>
              <p:cNvGrpSpPr>
                <a:grpSpLocks/>
              </p:cNvGrpSpPr>
              <p:nvPr/>
            </p:nvGrpSpPr>
            <p:grpSpPr bwMode="auto">
              <a:xfrm>
                <a:off x="2581" y="2061"/>
                <a:ext cx="236" cy="94"/>
                <a:chOff x="2848" y="848"/>
                <a:chExt cx="140" cy="98"/>
              </a:xfrm>
            </p:grpSpPr>
            <p:sp>
              <p:nvSpPr>
                <p:cNvPr id="60" name="Line 58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61" name="Line 59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62" name="Line 60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54" name="Group 61"/>
              <p:cNvGrpSpPr>
                <a:grpSpLocks/>
              </p:cNvGrpSpPr>
              <p:nvPr/>
            </p:nvGrpSpPr>
            <p:grpSpPr bwMode="auto">
              <a:xfrm flipV="1">
                <a:off x="2581" y="2060"/>
                <a:ext cx="236" cy="94"/>
                <a:chOff x="2848" y="848"/>
                <a:chExt cx="140" cy="98"/>
              </a:xfrm>
            </p:grpSpPr>
            <p:sp>
              <p:nvSpPr>
                <p:cNvPr id="57" name="Line 6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58" name="Line 6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59" name="Line 6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55" name="Line 65"/>
              <p:cNvSpPr>
                <a:spLocks noChangeShapeType="1"/>
              </p:cNvSpPr>
              <p:nvPr/>
            </p:nvSpPr>
            <p:spPr bwMode="auto">
              <a:xfrm flipH="1">
                <a:off x="2942" y="2109"/>
                <a:ext cx="1" cy="1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56" name="Line 66"/>
              <p:cNvSpPr>
                <a:spLocks noChangeShapeType="1"/>
              </p:cNvSpPr>
              <p:nvPr/>
            </p:nvSpPr>
            <p:spPr bwMode="auto">
              <a:xfrm flipH="1">
                <a:off x="2466" y="2117"/>
                <a:ext cx="1" cy="1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</p:grpSp>
      <p:sp>
        <p:nvSpPr>
          <p:cNvPr id="63" name="Line 68"/>
          <p:cNvSpPr>
            <a:spLocks noChangeShapeType="1"/>
          </p:cNvSpPr>
          <p:nvPr/>
        </p:nvSpPr>
        <p:spPr bwMode="auto">
          <a:xfrm flipV="1">
            <a:off x="3950401" y="2892375"/>
            <a:ext cx="1364456" cy="55006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64" name="Group 69"/>
          <p:cNvGrpSpPr>
            <a:grpSpLocks/>
          </p:cNvGrpSpPr>
          <p:nvPr/>
        </p:nvGrpSpPr>
        <p:grpSpPr bwMode="auto">
          <a:xfrm>
            <a:off x="6812664" y="3200747"/>
            <a:ext cx="567928" cy="284559"/>
            <a:chOff x="2466" y="2026"/>
            <a:chExt cx="477" cy="282"/>
          </a:xfrm>
        </p:grpSpPr>
        <p:sp>
          <p:nvSpPr>
            <p:cNvPr id="65" name="Oval 7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6" name="Line 7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7" name="Rectangle 7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" name="Oval 7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69" name="Group 7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76" name="Line 7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7" name="Line 7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8" name="Line 7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70" name="Group 7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73" name="Line 7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4" name="Line 8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5" name="Line 8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71" name="Line 8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2" name="Line 8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80" name="Freeform 94"/>
          <p:cNvSpPr>
            <a:spLocks/>
          </p:cNvSpPr>
          <p:nvPr/>
        </p:nvSpPr>
        <p:spPr bwMode="auto">
          <a:xfrm>
            <a:off x="2075166" y="3804393"/>
            <a:ext cx="4814888" cy="1215629"/>
          </a:xfrm>
          <a:custGeom>
            <a:avLst/>
            <a:gdLst>
              <a:gd name="T0" fmla="*/ 2147483646 w 2406"/>
              <a:gd name="T1" fmla="*/ 2147483646 h 958"/>
              <a:gd name="T2" fmla="*/ 2147483646 w 2406"/>
              <a:gd name="T3" fmla="*/ 2147483646 h 958"/>
              <a:gd name="T4" fmla="*/ 2147483646 w 2406"/>
              <a:gd name="T5" fmla="*/ 2147483646 h 958"/>
              <a:gd name="T6" fmla="*/ 2147483646 w 2406"/>
              <a:gd name="T7" fmla="*/ 2147483646 h 958"/>
              <a:gd name="T8" fmla="*/ 2147483646 w 2406"/>
              <a:gd name="T9" fmla="*/ 2147483646 h 958"/>
              <a:gd name="T10" fmla="*/ 2147483646 w 2406"/>
              <a:gd name="T11" fmla="*/ 2147483646 h 958"/>
              <a:gd name="T12" fmla="*/ 2147483646 w 2406"/>
              <a:gd name="T13" fmla="*/ 2147483646 h 958"/>
              <a:gd name="T14" fmla="*/ 2147483646 w 2406"/>
              <a:gd name="T15" fmla="*/ 2147483646 h 958"/>
              <a:gd name="T16" fmla="*/ 2147483646 w 2406"/>
              <a:gd name="T17" fmla="*/ 2147483646 h 958"/>
              <a:gd name="T18" fmla="*/ 2147483646 w 2406"/>
              <a:gd name="T19" fmla="*/ 2147483646 h 958"/>
              <a:gd name="T20" fmla="*/ 2147483646 w 2406"/>
              <a:gd name="T21" fmla="*/ 2147483646 h 958"/>
              <a:gd name="T22" fmla="*/ 2147483646 w 2406"/>
              <a:gd name="T23" fmla="*/ 2147483646 h 958"/>
              <a:gd name="T24" fmla="*/ 2147483646 w 2406"/>
              <a:gd name="T25" fmla="*/ 2147483646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pSp>
        <p:nvGrpSpPr>
          <p:cNvPr id="82" name="Group 110"/>
          <p:cNvGrpSpPr>
            <a:grpSpLocks/>
          </p:cNvGrpSpPr>
          <p:nvPr/>
        </p:nvGrpSpPr>
        <p:grpSpPr bwMode="auto">
          <a:xfrm>
            <a:off x="4277822" y="4237781"/>
            <a:ext cx="567929" cy="284560"/>
            <a:chOff x="2466" y="2026"/>
            <a:chExt cx="477" cy="282"/>
          </a:xfrm>
        </p:grpSpPr>
        <p:sp>
          <p:nvSpPr>
            <p:cNvPr id="83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4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5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6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87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94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5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6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88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91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2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3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89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0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97" name="Line 134"/>
          <p:cNvSpPr>
            <a:spLocks noChangeShapeType="1"/>
          </p:cNvSpPr>
          <p:nvPr/>
        </p:nvSpPr>
        <p:spPr bwMode="auto">
          <a:xfrm flipV="1">
            <a:off x="4618341" y="3000722"/>
            <a:ext cx="881063" cy="1238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98" name="Text Box 135"/>
          <p:cNvSpPr txBox="1">
            <a:spLocks noChangeArrowheads="1"/>
          </p:cNvSpPr>
          <p:nvPr/>
        </p:nvSpPr>
        <p:spPr bwMode="auto">
          <a:xfrm>
            <a:off x="4962453" y="4497236"/>
            <a:ext cx="18309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Organization</a:t>
            </a: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’</a:t>
            </a:r>
            <a:r>
              <a:rPr lang="en-US" altLang="ja-JP" sz="1200" dirty="0">
                <a:solidFill>
                  <a:srgbClr val="000000"/>
                </a:solidFill>
                <a:latin typeface="Arial" panose="020B0604020202020204" pitchFamily="34" charset="0"/>
              </a:rPr>
              <a:t>s network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64.204.2.0/24 </a:t>
            </a:r>
          </a:p>
        </p:txBody>
      </p:sp>
      <p:sp>
        <p:nvSpPr>
          <p:cNvPr id="174" name="Rectangle 43"/>
          <p:cNvSpPr>
            <a:spLocks noChangeArrowheads="1"/>
          </p:cNvSpPr>
          <p:nvPr/>
        </p:nvSpPr>
        <p:spPr bwMode="auto">
          <a:xfrm rot="2460490">
            <a:off x="3564639" y="3100735"/>
            <a:ext cx="102394" cy="229790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350">
              <a:solidFill>
                <a:srgbClr val="000000"/>
              </a:solidFill>
            </a:endParaRPr>
          </a:p>
        </p:txBody>
      </p:sp>
      <p:sp>
        <p:nvSpPr>
          <p:cNvPr id="99" name="Line 136"/>
          <p:cNvSpPr>
            <a:spLocks noChangeShapeType="1"/>
          </p:cNvSpPr>
          <p:nvPr/>
        </p:nvSpPr>
        <p:spPr bwMode="auto">
          <a:xfrm flipV="1">
            <a:off x="3552733" y="4365178"/>
            <a:ext cx="707231" cy="1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76" name="Rectangle 410"/>
          <p:cNvSpPr>
            <a:spLocks noChangeArrowheads="1"/>
          </p:cNvSpPr>
          <p:nvPr/>
        </p:nvSpPr>
        <p:spPr bwMode="auto">
          <a:xfrm>
            <a:off x="3172923" y="3387675"/>
            <a:ext cx="640556" cy="117872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103" name="Group 95"/>
          <p:cNvGrpSpPr>
            <a:grpSpLocks/>
          </p:cNvGrpSpPr>
          <p:nvPr/>
        </p:nvGrpSpPr>
        <p:grpSpPr bwMode="auto">
          <a:xfrm>
            <a:off x="5606560" y="3968700"/>
            <a:ext cx="567929" cy="284560"/>
            <a:chOff x="2466" y="2026"/>
            <a:chExt cx="477" cy="282"/>
          </a:xfrm>
        </p:grpSpPr>
        <p:sp>
          <p:nvSpPr>
            <p:cNvPr id="104" name="Oval 96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" name="Line 97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6" name="Rectangle 98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7" name="Oval 99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08" name="Group 100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115" name="Line 10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6" name="Line 10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7" name="Line 10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109" name="Group 104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112" name="Line 10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3" name="Line 10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4" name="Line 10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110" name="Line 108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1" name="Line 109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18" name="Group 166"/>
          <p:cNvGrpSpPr>
            <a:grpSpLocks/>
          </p:cNvGrpSpPr>
          <p:nvPr/>
        </p:nvGrpSpPr>
        <p:grpSpPr bwMode="auto">
          <a:xfrm>
            <a:off x="5144597" y="2980481"/>
            <a:ext cx="300038" cy="114300"/>
            <a:chOff x="3228" y="1776"/>
            <a:chExt cx="252" cy="96"/>
          </a:xfrm>
        </p:grpSpPr>
        <p:sp>
          <p:nvSpPr>
            <p:cNvPr id="119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0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21" name="Group 167"/>
          <p:cNvGrpSpPr>
            <a:grpSpLocks/>
          </p:cNvGrpSpPr>
          <p:nvPr/>
        </p:nvGrpSpPr>
        <p:grpSpPr bwMode="auto">
          <a:xfrm flipH="1">
            <a:off x="5616085" y="2991197"/>
            <a:ext cx="300038" cy="114300"/>
            <a:chOff x="3228" y="1776"/>
            <a:chExt cx="252" cy="96"/>
          </a:xfrm>
        </p:grpSpPr>
        <p:sp>
          <p:nvSpPr>
            <p:cNvPr id="122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3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24" name="Group 170"/>
          <p:cNvGrpSpPr>
            <a:grpSpLocks/>
          </p:cNvGrpSpPr>
          <p:nvPr/>
        </p:nvGrpSpPr>
        <p:grpSpPr bwMode="auto">
          <a:xfrm flipH="1" flipV="1">
            <a:off x="5730385" y="2598290"/>
            <a:ext cx="300038" cy="114300"/>
            <a:chOff x="3228" y="1776"/>
            <a:chExt cx="252" cy="96"/>
          </a:xfrm>
        </p:grpSpPr>
        <p:sp>
          <p:nvSpPr>
            <p:cNvPr id="125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6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27" name="Group 173"/>
          <p:cNvGrpSpPr>
            <a:grpSpLocks/>
          </p:cNvGrpSpPr>
          <p:nvPr/>
        </p:nvGrpSpPr>
        <p:grpSpPr bwMode="auto">
          <a:xfrm flipH="1" flipV="1">
            <a:off x="7305582" y="3116212"/>
            <a:ext cx="300038" cy="114300"/>
            <a:chOff x="3228" y="1776"/>
            <a:chExt cx="252" cy="96"/>
          </a:xfrm>
        </p:grpSpPr>
        <p:sp>
          <p:nvSpPr>
            <p:cNvPr id="128" name="Line 17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9" name="Line 17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0" name="Group 176"/>
          <p:cNvGrpSpPr>
            <a:grpSpLocks/>
          </p:cNvGrpSpPr>
          <p:nvPr/>
        </p:nvGrpSpPr>
        <p:grpSpPr bwMode="auto">
          <a:xfrm flipV="1">
            <a:off x="6687648" y="3130499"/>
            <a:ext cx="221456" cy="85725"/>
            <a:chOff x="3228" y="1776"/>
            <a:chExt cx="252" cy="96"/>
          </a:xfrm>
        </p:grpSpPr>
        <p:sp>
          <p:nvSpPr>
            <p:cNvPr id="131" name="Line 177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" name="Line 178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3" name="Group 179"/>
          <p:cNvGrpSpPr>
            <a:grpSpLocks/>
          </p:cNvGrpSpPr>
          <p:nvPr/>
        </p:nvGrpSpPr>
        <p:grpSpPr bwMode="auto">
          <a:xfrm rot="409689" flipH="1" flipV="1">
            <a:off x="6891245" y="2637580"/>
            <a:ext cx="339328" cy="42863"/>
            <a:chOff x="3228" y="1776"/>
            <a:chExt cx="252" cy="96"/>
          </a:xfrm>
        </p:grpSpPr>
        <p:sp>
          <p:nvSpPr>
            <p:cNvPr id="134" name="Line 180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5" name="Line 181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6" name="Group 182"/>
          <p:cNvGrpSpPr>
            <a:grpSpLocks/>
          </p:cNvGrpSpPr>
          <p:nvPr/>
        </p:nvGrpSpPr>
        <p:grpSpPr bwMode="auto">
          <a:xfrm>
            <a:off x="6248308" y="2791172"/>
            <a:ext cx="221456" cy="85725"/>
            <a:chOff x="3228" y="1776"/>
            <a:chExt cx="252" cy="96"/>
          </a:xfrm>
        </p:grpSpPr>
        <p:sp>
          <p:nvSpPr>
            <p:cNvPr id="137" name="Line 183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8" name="Line 184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9" name="Group 185"/>
          <p:cNvGrpSpPr>
            <a:grpSpLocks/>
          </p:cNvGrpSpPr>
          <p:nvPr/>
        </p:nvGrpSpPr>
        <p:grpSpPr bwMode="auto">
          <a:xfrm flipH="1">
            <a:off x="6726939" y="2791172"/>
            <a:ext cx="221456" cy="85725"/>
            <a:chOff x="3228" y="1776"/>
            <a:chExt cx="252" cy="96"/>
          </a:xfrm>
        </p:grpSpPr>
        <p:sp>
          <p:nvSpPr>
            <p:cNvPr id="140" name="Line 186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1" name="Line 187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42" name="Group 188"/>
          <p:cNvGrpSpPr>
            <a:grpSpLocks/>
          </p:cNvGrpSpPr>
          <p:nvPr/>
        </p:nvGrpSpPr>
        <p:grpSpPr bwMode="auto">
          <a:xfrm>
            <a:off x="5537504" y="4252068"/>
            <a:ext cx="221456" cy="85725"/>
            <a:chOff x="3228" y="1776"/>
            <a:chExt cx="252" cy="96"/>
          </a:xfrm>
        </p:grpSpPr>
        <p:sp>
          <p:nvSpPr>
            <p:cNvPr id="143" name="Line 189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4" name="Line 190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45" name="Group 191"/>
          <p:cNvGrpSpPr>
            <a:grpSpLocks/>
          </p:cNvGrpSpPr>
          <p:nvPr/>
        </p:nvGrpSpPr>
        <p:grpSpPr bwMode="auto">
          <a:xfrm flipH="1">
            <a:off x="6016135" y="4252068"/>
            <a:ext cx="221456" cy="85725"/>
            <a:chOff x="3228" y="1776"/>
            <a:chExt cx="252" cy="96"/>
          </a:xfrm>
        </p:grpSpPr>
        <p:sp>
          <p:nvSpPr>
            <p:cNvPr id="146" name="Line 192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7" name="Line 193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48" name="Group 194"/>
          <p:cNvGrpSpPr>
            <a:grpSpLocks/>
          </p:cNvGrpSpPr>
          <p:nvPr/>
        </p:nvGrpSpPr>
        <p:grpSpPr bwMode="auto">
          <a:xfrm>
            <a:off x="4212339" y="4519959"/>
            <a:ext cx="221456" cy="85725"/>
            <a:chOff x="3228" y="1776"/>
            <a:chExt cx="252" cy="96"/>
          </a:xfrm>
        </p:grpSpPr>
        <p:sp>
          <p:nvSpPr>
            <p:cNvPr id="149" name="Line 195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0" name="Line 196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51" name="Group 197"/>
          <p:cNvGrpSpPr>
            <a:grpSpLocks/>
          </p:cNvGrpSpPr>
          <p:nvPr/>
        </p:nvGrpSpPr>
        <p:grpSpPr bwMode="auto">
          <a:xfrm flipH="1">
            <a:off x="4690970" y="4519959"/>
            <a:ext cx="221456" cy="85725"/>
            <a:chOff x="3228" y="1776"/>
            <a:chExt cx="252" cy="96"/>
          </a:xfrm>
        </p:grpSpPr>
        <p:sp>
          <p:nvSpPr>
            <p:cNvPr id="152" name="Line 19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3" name="Line 19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54" name="Group 200"/>
          <p:cNvGrpSpPr>
            <a:grpSpLocks/>
          </p:cNvGrpSpPr>
          <p:nvPr/>
        </p:nvGrpSpPr>
        <p:grpSpPr bwMode="auto">
          <a:xfrm flipH="1" flipV="1">
            <a:off x="4844560" y="4298503"/>
            <a:ext cx="221456" cy="85725"/>
            <a:chOff x="3228" y="1776"/>
            <a:chExt cx="252" cy="96"/>
          </a:xfrm>
        </p:grpSpPr>
        <p:sp>
          <p:nvSpPr>
            <p:cNvPr id="155" name="Line 20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6" name="Line 20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pic>
        <p:nvPicPr>
          <p:cNvPr id="17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545" y="2528043"/>
            <a:ext cx="685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3" name="Rectangle 43"/>
          <p:cNvSpPr>
            <a:spLocks noChangeArrowheads="1"/>
          </p:cNvSpPr>
          <p:nvPr/>
        </p:nvSpPr>
        <p:spPr bwMode="auto">
          <a:xfrm rot="16200000">
            <a:off x="3820622" y="3357909"/>
            <a:ext cx="110729" cy="141684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350">
              <a:solidFill>
                <a:srgbClr val="000000"/>
              </a:solidFill>
            </a:endParaRPr>
          </a:p>
        </p:txBody>
      </p:sp>
      <p:grpSp>
        <p:nvGrpSpPr>
          <p:cNvPr id="184" name="Group 1185"/>
          <p:cNvGrpSpPr>
            <a:grpSpLocks/>
          </p:cNvGrpSpPr>
          <p:nvPr/>
        </p:nvGrpSpPr>
        <p:grpSpPr bwMode="auto">
          <a:xfrm>
            <a:off x="5262469" y="2694731"/>
            <a:ext cx="622697" cy="341710"/>
            <a:chOff x="4650" y="1129"/>
            <a:chExt cx="246" cy="95"/>
          </a:xfrm>
        </p:grpSpPr>
        <p:sp>
          <p:nvSpPr>
            <p:cNvPr id="185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6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7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88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91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92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89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0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93" name="Group 1185"/>
          <p:cNvGrpSpPr>
            <a:grpSpLocks/>
          </p:cNvGrpSpPr>
          <p:nvPr/>
        </p:nvGrpSpPr>
        <p:grpSpPr bwMode="auto">
          <a:xfrm>
            <a:off x="6305457" y="2495896"/>
            <a:ext cx="606028" cy="319088"/>
            <a:chOff x="4650" y="1129"/>
            <a:chExt cx="246" cy="95"/>
          </a:xfrm>
        </p:grpSpPr>
        <p:sp>
          <p:nvSpPr>
            <p:cNvPr id="194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5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6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97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00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01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98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9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202" name="Group 1185"/>
          <p:cNvGrpSpPr>
            <a:grpSpLocks/>
          </p:cNvGrpSpPr>
          <p:nvPr/>
        </p:nvGrpSpPr>
        <p:grpSpPr bwMode="auto">
          <a:xfrm>
            <a:off x="6766229" y="3198366"/>
            <a:ext cx="669131" cy="292894"/>
            <a:chOff x="4650" y="1129"/>
            <a:chExt cx="246" cy="95"/>
          </a:xfrm>
        </p:grpSpPr>
        <p:sp>
          <p:nvSpPr>
            <p:cNvPr id="203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4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5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06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09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0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207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8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211" name="Group 1185"/>
          <p:cNvGrpSpPr>
            <a:grpSpLocks/>
          </p:cNvGrpSpPr>
          <p:nvPr/>
        </p:nvGrpSpPr>
        <p:grpSpPr bwMode="auto">
          <a:xfrm>
            <a:off x="5574414" y="3953221"/>
            <a:ext cx="606028" cy="319088"/>
            <a:chOff x="4650" y="1129"/>
            <a:chExt cx="246" cy="95"/>
          </a:xfrm>
        </p:grpSpPr>
        <p:sp>
          <p:nvSpPr>
            <p:cNvPr id="212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13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14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15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8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9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216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7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220" name="Group 1185"/>
          <p:cNvGrpSpPr>
            <a:grpSpLocks/>
          </p:cNvGrpSpPr>
          <p:nvPr/>
        </p:nvGrpSpPr>
        <p:grpSpPr bwMode="auto">
          <a:xfrm>
            <a:off x="4268297" y="4227065"/>
            <a:ext cx="606029" cy="319088"/>
            <a:chOff x="4650" y="1129"/>
            <a:chExt cx="246" cy="95"/>
          </a:xfrm>
        </p:grpSpPr>
        <p:sp>
          <p:nvSpPr>
            <p:cNvPr id="221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22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23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24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27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28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225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6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297" name="灯片编号占位符 2">
            <a:extLst>
              <a:ext uri="{FF2B5EF4-FFF2-40B4-BE49-F238E27FC236}">
                <a16:creationId xmlns:a16="http://schemas.microsoft.com/office/drawing/2014/main" id="{03D882AD-387C-4359-938A-CB04F0017411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10</a:t>
            </a:fld>
            <a:endParaRPr lang="en-US" altLang="zh-CN" dirty="0"/>
          </a:p>
        </p:txBody>
      </p:sp>
      <p:sp>
        <p:nvSpPr>
          <p:cNvPr id="298" name="AutoShape 5">
            <a:extLst>
              <a:ext uri="{FF2B5EF4-FFF2-40B4-BE49-F238E27FC236}">
                <a16:creationId xmlns:a16="http://schemas.microsoft.com/office/drawing/2014/main" id="{82297E2A-8050-4782-98A9-7BC32DACB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0" name="Text Box 137"/>
          <p:cNvSpPr txBox="1">
            <a:spLocks noChangeArrowheads="1"/>
          </p:cNvSpPr>
          <p:nvPr/>
        </p:nvSpPr>
        <p:spPr bwMode="auto">
          <a:xfrm>
            <a:off x="2737154" y="4659262"/>
            <a:ext cx="9092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60.204.2.9</a:t>
            </a:r>
          </a:p>
        </p:txBody>
      </p:sp>
      <p:sp>
        <p:nvSpPr>
          <p:cNvPr id="175" name="Oval 407"/>
          <p:cNvSpPr>
            <a:spLocks noChangeArrowheads="1"/>
          </p:cNvSpPr>
          <p:nvPr/>
        </p:nvSpPr>
        <p:spPr bwMode="auto">
          <a:xfrm>
            <a:off x="3172922" y="3409106"/>
            <a:ext cx="638175" cy="188119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77" name="Oval 411"/>
          <p:cNvSpPr>
            <a:spLocks noChangeArrowheads="1"/>
          </p:cNvSpPr>
          <p:nvPr/>
        </p:nvSpPr>
        <p:spPr bwMode="auto">
          <a:xfrm>
            <a:off x="3170541" y="3260278"/>
            <a:ext cx="638175" cy="220265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99" name="圆角矩形 296">
            <a:extLst>
              <a:ext uri="{FF2B5EF4-FFF2-40B4-BE49-F238E27FC236}">
                <a16:creationId xmlns:a16="http://schemas.microsoft.com/office/drawing/2014/main" id="{0D6B555E-2570-4A34-B753-7B260150E81E}"/>
              </a:ext>
            </a:extLst>
          </p:cNvPr>
          <p:cNvSpPr/>
          <p:nvPr/>
        </p:nvSpPr>
        <p:spPr>
          <a:xfrm>
            <a:off x="1455775" y="1386327"/>
            <a:ext cx="6470389" cy="3628206"/>
          </a:xfrm>
          <a:prstGeom prst="roundRect">
            <a:avLst>
              <a:gd name="adj" fmla="val 3649"/>
            </a:avLst>
          </a:prstGeom>
          <a:solidFill>
            <a:srgbClr val="EFF8FF">
              <a:alpha val="9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168" name="Group 356"/>
          <p:cNvGrpSpPr>
            <a:grpSpLocks/>
          </p:cNvGrpSpPr>
          <p:nvPr/>
        </p:nvGrpSpPr>
        <p:grpSpPr bwMode="auto">
          <a:xfrm>
            <a:off x="2391873" y="2118468"/>
            <a:ext cx="632222" cy="610791"/>
            <a:chOff x="313" y="1497"/>
            <a:chExt cx="1152" cy="1014"/>
          </a:xfrm>
        </p:grpSpPr>
        <p:pic>
          <p:nvPicPr>
            <p:cNvPr id="169" name="Picture 354" descr="laptop_stylized_small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0" name="Picture 355" descr="antenna_stylized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96" name="Text Box 139"/>
          <p:cNvSpPr txBox="1">
            <a:spLocks noChangeArrowheads="1"/>
          </p:cNvSpPr>
          <p:nvPr/>
        </p:nvSpPr>
        <p:spPr bwMode="auto">
          <a:xfrm>
            <a:off x="1395977" y="2536568"/>
            <a:ext cx="4571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Bob</a:t>
            </a:r>
          </a:p>
        </p:txBody>
      </p:sp>
      <p:sp>
        <p:nvSpPr>
          <p:cNvPr id="79" name="Line 93"/>
          <p:cNvSpPr>
            <a:spLocks noChangeShapeType="1"/>
          </p:cNvSpPr>
          <p:nvPr/>
        </p:nvSpPr>
        <p:spPr bwMode="auto">
          <a:xfrm flipH="1">
            <a:off x="6601922" y="2319684"/>
            <a:ext cx="195263" cy="19407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2" name="Text Box 139"/>
          <p:cNvSpPr txBox="1">
            <a:spLocks noChangeArrowheads="1"/>
          </p:cNvSpPr>
          <p:nvPr/>
        </p:nvSpPr>
        <p:spPr bwMode="auto">
          <a:xfrm>
            <a:off x="6941251" y="1732706"/>
            <a:ext cx="9781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DNS server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229" name="Group 248"/>
          <p:cNvGrpSpPr>
            <a:grpSpLocks/>
          </p:cNvGrpSpPr>
          <p:nvPr/>
        </p:nvGrpSpPr>
        <p:grpSpPr bwMode="auto">
          <a:xfrm>
            <a:off x="6698456" y="1845449"/>
            <a:ext cx="269081" cy="467916"/>
            <a:chOff x="4140" y="429"/>
            <a:chExt cx="1425" cy="2396"/>
          </a:xfrm>
        </p:grpSpPr>
        <p:sp>
          <p:nvSpPr>
            <p:cNvPr id="230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1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32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3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4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35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0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61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36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37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8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59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38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39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40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6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57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41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42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4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55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43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44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5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6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47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8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49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0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1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2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3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183" name="Rectangle 43"/>
          <p:cNvSpPr>
            <a:spLocks noChangeArrowheads="1"/>
          </p:cNvSpPr>
          <p:nvPr/>
        </p:nvSpPr>
        <p:spPr bwMode="auto">
          <a:xfrm rot="16200000">
            <a:off x="3012188" y="2468512"/>
            <a:ext cx="109538" cy="235744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350">
              <a:solidFill>
                <a:srgbClr val="000000"/>
              </a:solidFill>
            </a:endParaRPr>
          </a:p>
        </p:txBody>
      </p:sp>
      <p:grpSp>
        <p:nvGrpSpPr>
          <p:cNvPr id="178" name="Group 1189"/>
          <p:cNvGrpSpPr>
            <a:grpSpLocks/>
          </p:cNvGrpSpPr>
          <p:nvPr/>
        </p:nvGrpSpPr>
        <p:grpSpPr bwMode="auto">
          <a:xfrm>
            <a:off x="3299129" y="3317428"/>
            <a:ext cx="360760" cy="102394"/>
            <a:chOff x="2468" y="1332"/>
            <a:chExt cx="310" cy="60"/>
          </a:xfrm>
        </p:grpSpPr>
        <p:sp>
          <p:nvSpPr>
            <p:cNvPr id="179" name="Freeform 1190"/>
            <p:cNvSpPr>
              <a:spLocks/>
            </p:cNvSpPr>
            <p:nvPr/>
          </p:nvSpPr>
          <p:spPr bwMode="auto">
            <a:xfrm>
              <a:off x="2468" y="1332"/>
              <a:ext cx="310" cy="60"/>
            </a:xfrm>
            <a:custGeom>
              <a:avLst/>
              <a:gdLst>
                <a:gd name="T0" fmla="*/ 0 w 310"/>
                <a:gd name="T1" fmla="*/ 60 h 60"/>
                <a:gd name="T2" fmla="*/ 96 w 310"/>
                <a:gd name="T3" fmla="*/ 60 h 60"/>
                <a:gd name="T4" fmla="*/ 192 w 310"/>
                <a:gd name="T5" fmla="*/ 0 h 60"/>
                <a:gd name="T6" fmla="*/ 310 w 310"/>
                <a:gd name="T7" fmla="*/ 0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0" h="60">
                  <a:moveTo>
                    <a:pt x="0" y="60"/>
                  </a:moveTo>
                  <a:lnTo>
                    <a:pt x="96" y="60"/>
                  </a:lnTo>
                  <a:lnTo>
                    <a:pt x="192" y="0"/>
                  </a:lnTo>
                  <a:lnTo>
                    <a:pt x="310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0" name="Freeform 1191"/>
            <p:cNvSpPr>
              <a:spLocks/>
            </p:cNvSpPr>
            <p:nvPr/>
          </p:nvSpPr>
          <p:spPr bwMode="auto">
            <a:xfrm>
              <a:off x="2482" y="1332"/>
              <a:ext cx="282" cy="60"/>
            </a:xfrm>
            <a:custGeom>
              <a:avLst/>
              <a:gdLst>
                <a:gd name="T0" fmla="*/ 0 w 282"/>
                <a:gd name="T1" fmla="*/ 0 h 60"/>
                <a:gd name="T2" fmla="*/ 96 w 282"/>
                <a:gd name="T3" fmla="*/ 0 h 60"/>
                <a:gd name="T4" fmla="*/ 192 w 282"/>
                <a:gd name="T5" fmla="*/ 60 h 60"/>
                <a:gd name="T6" fmla="*/ 282 w 282"/>
                <a:gd name="T7" fmla="*/ 60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2" h="60">
                  <a:moveTo>
                    <a:pt x="0" y="0"/>
                  </a:moveTo>
                  <a:lnTo>
                    <a:pt x="96" y="0"/>
                  </a:lnTo>
                  <a:lnTo>
                    <a:pt x="192" y="60"/>
                  </a:lnTo>
                  <a:lnTo>
                    <a:pt x="282" y="6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182" name="Line 1193"/>
          <p:cNvSpPr>
            <a:spLocks noChangeShapeType="1"/>
          </p:cNvSpPr>
          <p:nvPr/>
        </p:nvSpPr>
        <p:spPr bwMode="auto">
          <a:xfrm>
            <a:off x="3808716" y="3369815"/>
            <a:ext cx="0" cy="1464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160" name="Group 405"/>
          <p:cNvGrpSpPr>
            <a:grpSpLocks/>
          </p:cNvGrpSpPr>
          <p:nvPr/>
        </p:nvGrpSpPr>
        <p:grpSpPr bwMode="auto">
          <a:xfrm>
            <a:off x="1475091" y="1566018"/>
            <a:ext cx="1062038" cy="948929"/>
            <a:chOff x="146" y="690"/>
            <a:chExt cx="892" cy="797"/>
          </a:xfrm>
        </p:grpSpPr>
        <p:grpSp>
          <p:nvGrpSpPr>
            <p:cNvPr id="161" name="Group 400"/>
            <p:cNvGrpSpPr>
              <a:grpSpLocks/>
            </p:cNvGrpSpPr>
            <p:nvPr/>
          </p:nvGrpSpPr>
          <p:grpSpPr bwMode="auto">
            <a:xfrm>
              <a:off x="146" y="690"/>
              <a:ext cx="892" cy="797"/>
              <a:chOff x="146" y="690"/>
              <a:chExt cx="892" cy="797"/>
            </a:xfrm>
          </p:grpSpPr>
          <p:sp>
            <p:nvSpPr>
              <p:cNvPr id="163" name="Freeform 398"/>
              <p:cNvSpPr>
                <a:spLocks/>
              </p:cNvSpPr>
              <p:nvPr/>
            </p:nvSpPr>
            <p:spPr bwMode="auto">
              <a:xfrm>
                <a:off x="177" y="715"/>
                <a:ext cx="861" cy="772"/>
              </a:xfrm>
              <a:custGeom>
                <a:avLst/>
                <a:gdLst>
                  <a:gd name="T0" fmla="*/ 861 w 861"/>
                  <a:gd name="T1" fmla="*/ 772 h 772"/>
                  <a:gd name="T2" fmla="*/ 0 w 861"/>
                  <a:gd name="T3" fmla="*/ 557 h 772"/>
                  <a:gd name="T4" fmla="*/ 532 w 861"/>
                  <a:gd name="T5" fmla="*/ 405 h 772"/>
                  <a:gd name="T6" fmla="*/ 652 w 861"/>
                  <a:gd name="T7" fmla="*/ 0 h 772"/>
                  <a:gd name="T8" fmla="*/ 861 w 861"/>
                  <a:gd name="T9" fmla="*/ 772 h 7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61" h="772">
                    <a:moveTo>
                      <a:pt x="861" y="772"/>
                    </a:moveTo>
                    <a:lnTo>
                      <a:pt x="0" y="557"/>
                    </a:lnTo>
                    <a:lnTo>
                      <a:pt x="532" y="405"/>
                    </a:lnTo>
                    <a:lnTo>
                      <a:pt x="652" y="0"/>
                    </a:lnTo>
                    <a:lnTo>
                      <a:pt x="861" y="772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100000">
                    <a:srgbClr val="FF00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grpSp>
            <p:nvGrpSpPr>
              <p:cNvPr id="164" name="Group 392"/>
              <p:cNvGrpSpPr>
                <a:grpSpLocks/>
              </p:cNvGrpSpPr>
              <p:nvPr/>
            </p:nvGrpSpPr>
            <p:grpSpPr bwMode="auto">
              <a:xfrm>
                <a:off x="148" y="697"/>
                <a:ext cx="694" cy="574"/>
                <a:chOff x="2579" y="1366"/>
                <a:chExt cx="1078" cy="674"/>
              </a:xfrm>
            </p:grpSpPr>
            <p:pic>
              <p:nvPicPr>
                <p:cNvPr id="166" name="Picture 393"/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79" y="1366"/>
                  <a:ext cx="1078" cy="6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7" name="Rectangle 394"/>
                <p:cNvSpPr>
                  <a:spLocks noChangeArrowheads="1"/>
                </p:cNvSpPr>
                <p:nvPr/>
              </p:nvSpPr>
              <p:spPr bwMode="auto">
                <a:xfrm>
                  <a:off x="2633" y="1428"/>
                  <a:ext cx="957" cy="56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165" name="Rectangle 399"/>
              <p:cNvSpPr>
                <a:spLocks noChangeArrowheads="1"/>
              </p:cNvSpPr>
              <p:nvPr/>
            </p:nvSpPr>
            <p:spPr bwMode="auto">
              <a:xfrm>
                <a:off x="146" y="690"/>
                <a:ext cx="696" cy="58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162" name="Text Box 402"/>
            <p:cNvSpPr txBox="1">
              <a:spLocks noChangeArrowheads="1"/>
            </p:cNvSpPr>
            <p:nvPr/>
          </p:nvSpPr>
          <p:spPr bwMode="auto">
            <a:xfrm>
              <a:off x="227" y="850"/>
              <a:ext cx="55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FF0000"/>
                  </a:solidFill>
                  <a:latin typeface="Arial" panose="020B0604020202020204" pitchFamily="34" charset="0"/>
                </a:rPr>
                <a:t>browser</a:t>
              </a:r>
            </a:p>
          </p:txBody>
        </p:sp>
      </p:grpSp>
      <p:pic>
        <p:nvPicPr>
          <p:cNvPr id="295" name="Picture 15" descr="User-icon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269" y="2105888"/>
            <a:ext cx="465425" cy="46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2" name="Text Box 139">
            <a:extLst>
              <a:ext uri="{FF2B5EF4-FFF2-40B4-BE49-F238E27FC236}">
                <a16:creationId xmlns:a16="http://schemas.microsoft.com/office/drawing/2014/main" id="{B6969BE4-5D00-4ADE-80F8-2D97D071F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7949" y="1667760"/>
            <a:ext cx="2079031" cy="64633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4313" indent="-214313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 Server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提交查询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4313" indent="-214313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获得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7" name="Text Box 34"/>
          <p:cNvSpPr txBox="1">
            <a:spLocks noChangeArrowheads="1"/>
          </p:cNvSpPr>
          <p:nvPr/>
        </p:nvSpPr>
        <p:spPr bwMode="auto">
          <a:xfrm>
            <a:off x="1979917" y="3041203"/>
            <a:ext cx="12506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school network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68.80.2.0/24</a:t>
            </a:r>
          </a:p>
        </p:txBody>
      </p:sp>
      <p:sp>
        <p:nvSpPr>
          <p:cNvPr id="181" name="Line 1192"/>
          <p:cNvSpPr>
            <a:spLocks noChangeShapeType="1"/>
          </p:cNvSpPr>
          <p:nvPr/>
        </p:nvSpPr>
        <p:spPr bwMode="auto">
          <a:xfrm>
            <a:off x="3172922" y="3362672"/>
            <a:ext cx="0" cy="1500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1" name="Text Box 138"/>
          <p:cNvSpPr txBox="1">
            <a:spLocks noChangeArrowheads="1"/>
          </p:cNvSpPr>
          <p:nvPr/>
        </p:nvSpPr>
        <p:spPr bwMode="auto">
          <a:xfrm>
            <a:off x="2713342" y="4438997"/>
            <a:ext cx="93487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web server</a:t>
            </a:r>
          </a:p>
        </p:txBody>
      </p:sp>
      <p:sp>
        <p:nvSpPr>
          <p:cNvPr id="159" name="Text Box 404"/>
          <p:cNvSpPr txBox="1">
            <a:spLocks noChangeArrowheads="1"/>
          </p:cNvSpPr>
          <p:nvPr/>
        </p:nvSpPr>
        <p:spPr bwMode="auto">
          <a:xfrm>
            <a:off x="2367341" y="3609579"/>
            <a:ext cx="771365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 dirty="0">
                <a:solidFill>
                  <a:srgbClr val="FF0000"/>
                </a:solidFill>
                <a:latin typeface="Arial" panose="020B0604020202020204" pitchFamily="34" charset="0"/>
              </a:rPr>
              <a:t>web page</a:t>
            </a:r>
          </a:p>
        </p:txBody>
      </p:sp>
      <p:grpSp>
        <p:nvGrpSpPr>
          <p:cNvPr id="262" name="Group 248"/>
          <p:cNvGrpSpPr>
            <a:grpSpLocks/>
          </p:cNvGrpSpPr>
          <p:nvPr/>
        </p:nvGrpSpPr>
        <p:grpSpPr bwMode="auto">
          <a:xfrm>
            <a:off x="3415810" y="4035374"/>
            <a:ext cx="269081" cy="467916"/>
            <a:chOff x="4140" y="429"/>
            <a:chExt cx="1425" cy="2396"/>
          </a:xfrm>
        </p:grpSpPr>
        <p:sp>
          <p:nvSpPr>
            <p:cNvPr id="263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4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65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6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7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68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93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94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69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70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91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92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71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72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73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89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90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74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75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87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88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76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77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8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9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0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1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2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3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4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5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6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EA676DA1-E055-432E-86EE-ACA2A2BC0F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0684" y="3868536"/>
            <a:ext cx="957628" cy="62339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6612295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9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8" grpId="0" animBg="1"/>
      <p:bldP spid="298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5.7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总结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: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自底向上回顾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一次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请求所要做的工作：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继续准备</a:t>
            </a: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浏览器输入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HTTP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请求，但需要得知目的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IP</a:t>
            </a:r>
          </a:p>
          <a:p>
            <a:pPr lvl="1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DNS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查询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(8)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客户机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DNS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请求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APP Layer</a:t>
            </a:r>
            <a:r>
              <a:rPr lang="zh-CN" altLang="en-US" dirty="0">
                <a:solidFill>
                  <a:srgbClr val="0066CC"/>
                </a:solidFill>
              </a:rPr>
              <a:t>：</a:t>
            </a:r>
            <a:r>
              <a:rPr lang="en-US" altLang="zh-CN" dirty="0">
                <a:solidFill>
                  <a:srgbClr val="0066CC"/>
                </a:solidFill>
              </a:rPr>
              <a:t>DNS</a:t>
            </a:r>
            <a:r>
              <a:rPr lang="zh-CN" altLang="en-US" dirty="0">
                <a:solidFill>
                  <a:srgbClr val="0066CC"/>
                </a:solidFill>
              </a:rPr>
              <a:t>报文</a:t>
            </a:r>
            <a:endParaRPr lang="en-US" altLang="zh-CN" dirty="0">
              <a:solidFill>
                <a:srgbClr val="0066CC"/>
              </a:solidFill>
            </a:endParaRPr>
          </a:p>
          <a:p>
            <a:pPr lvl="4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服务器的主机名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4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查询类别：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-type=a</a:t>
            </a: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UDP</a:t>
            </a:r>
            <a:r>
              <a:rPr lang="zh-CN" altLang="en-US" dirty="0">
                <a:solidFill>
                  <a:srgbClr val="0066CC"/>
                </a:solidFill>
              </a:rPr>
              <a:t>封装：</a:t>
            </a:r>
            <a:r>
              <a:rPr lang="en-US" altLang="zh-CN" dirty="0">
                <a:solidFill>
                  <a:srgbClr val="0066CC"/>
                </a:solidFill>
              </a:rPr>
              <a:t>Sport</a:t>
            </a:r>
            <a:r>
              <a:rPr lang="zh-CN" altLang="en-US" dirty="0">
                <a:solidFill>
                  <a:srgbClr val="0066CC"/>
                </a:solidFill>
              </a:rPr>
              <a:t> </a:t>
            </a:r>
            <a:r>
              <a:rPr lang="en-US" altLang="zh-CN" dirty="0" err="1">
                <a:solidFill>
                  <a:srgbClr val="0066CC"/>
                </a:solidFill>
              </a:rPr>
              <a:t>bob</a:t>
            </a:r>
            <a:r>
              <a:rPr lang="en-US" altLang="zh-CN" baseline="-25000" dirty="0" err="1">
                <a:solidFill>
                  <a:srgbClr val="0066CC"/>
                </a:solidFill>
              </a:rPr>
              <a:t>port</a:t>
            </a:r>
            <a:br>
              <a:rPr lang="en-US" altLang="zh-CN" dirty="0">
                <a:solidFill>
                  <a:srgbClr val="0066CC"/>
                </a:solidFill>
              </a:rPr>
            </a:br>
            <a:r>
              <a:rPr lang="en-US" altLang="zh-CN" dirty="0">
                <a:solidFill>
                  <a:srgbClr val="0066CC"/>
                </a:solidFill>
              </a:rPr>
              <a:t>                 </a:t>
            </a:r>
            <a:r>
              <a:rPr lang="en-US" altLang="zh-CN" dirty="0" err="1">
                <a:solidFill>
                  <a:srgbClr val="0066CC"/>
                </a:solidFill>
              </a:rPr>
              <a:t>Dport</a:t>
            </a:r>
            <a:r>
              <a:rPr lang="en-US" altLang="zh-CN" dirty="0">
                <a:solidFill>
                  <a:srgbClr val="0066CC"/>
                </a:solidFill>
              </a:rPr>
              <a:t> 53</a:t>
            </a: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IP</a:t>
            </a:r>
            <a:r>
              <a:rPr lang="zh-CN" altLang="en-US" dirty="0">
                <a:solidFill>
                  <a:srgbClr val="0066CC"/>
                </a:solidFill>
              </a:rPr>
              <a:t>封装：</a:t>
            </a:r>
            <a:r>
              <a:rPr lang="en-US" altLang="zh-CN" dirty="0">
                <a:solidFill>
                  <a:srgbClr val="0066CC"/>
                </a:solidFill>
              </a:rPr>
              <a:t>SIP: bob</a:t>
            </a:r>
            <a:r>
              <a:rPr lang="zh-CN" altLang="en-US" dirty="0">
                <a:solidFill>
                  <a:srgbClr val="0066CC"/>
                </a:solidFill>
              </a:rPr>
              <a:t>的</a:t>
            </a:r>
            <a:r>
              <a:rPr lang="en-US" altLang="zh-CN" dirty="0">
                <a:solidFill>
                  <a:srgbClr val="0066CC"/>
                </a:solidFill>
              </a:rPr>
              <a:t>IP</a:t>
            </a:r>
            <a:br>
              <a:rPr lang="en-US" altLang="zh-CN" dirty="0">
                <a:solidFill>
                  <a:srgbClr val="0066CC"/>
                </a:solidFill>
              </a:rPr>
            </a:br>
            <a:r>
              <a:rPr lang="en-US" altLang="zh-CN" dirty="0">
                <a:solidFill>
                  <a:srgbClr val="0066CC"/>
                </a:solidFill>
              </a:rPr>
              <a:t>             DIP: DNS Sever</a:t>
            </a: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Framing</a:t>
            </a:r>
          </a:p>
          <a:p>
            <a:pPr lvl="4">
              <a:spcBef>
                <a:spcPts val="450"/>
              </a:spcBef>
            </a:pPr>
            <a:r>
              <a:rPr lang="zh-CN" altLang="en-US" dirty="0">
                <a:solidFill>
                  <a:srgbClr val="FF0000"/>
                </a:solidFill>
              </a:rPr>
              <a:t>问题来了：</a:t>
            </a:r>
            <a:r>
              <a:rPr lang="en-US" altLang="zh-CN" dirty="0">
                <a:solidFill>
                  <a:srgbClr val="FF0000"/>
                </a:solidFill>
              </a:rPr>
              <a:t>DMAC? </a:t>
            </a:r>
          </a:p>
          <a:p>
            <a:pPr lvl="5">
              <a:spcBef>
                <a:spcPts val="450"/>
              </a:spcBef>
            </a:pPr>
            <a:r>
              <a:rPr lang="zh-CN" altLang="en-US" sz="1200" dirty="0">
                <a:solidFill>
                  <a:srgbClr val="FF0000"/>
                </a:solidFill>
              </a:rPr>
              <a:t>网关的</a:t>
            </a:r>
            <a:r>
              <a:rPr lang="en-US" altLang="zh-CN" sz="1200" dirty="0">
                <a:solidFill>
                  <a:srgbClr val="FF0000"/>
                </a:solidFill>
              </a:rPr>
              <a:t>MAC</a:t>
            </a:r>
            <a:r>
              <a:rPr lang="zh-CN" altLang="en-US" sz="1200" dirty="0">
                <a:solidFill>
                  <a:srgbClr val="FF0000"/>
                </a:solidFill>
              </a:rPr>
              <a:t>地址是多少？</a:t>
            </a:r>
          </a:p>
        </p:txBody>
      </p:sp>
      <p:grpSp>
        <p:nvGrpSpPr>
          <p:cNvPr id="8" name="Group 92"/>
          <p:cNvGrpSpPr>
            <a:grpSpLocks/>
          </p:cNvGrpSpPr>
          <p:nvPr/>
        </p:nvGrpSpPr>
        <p:grpSpPr bwMode="auto">
          <a:xfrm>
            <a:off x="5173483" y="1837637"/>
            <a:ext cx="2665809" cy="2322880"/>
            <a:chOff x="773113" y="1273175"/>
            <a:chExt cx="3554412" cy="3096511"/>
          </a:xfrm>
        </p:grpSpPr>
        <p:sp>
          <p:nvSpPr>
            <p:cNvPr id="9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6 w 2406"/>
                <a:gd name="T1" fmla="*/ 2147483646 h 958"/>
                <a:gd name="T2" fmla="*/ 2147483646 w 2406"/>
                <a:gd name="T3" fmla="*/ 2147483646 h 958"/>
                <a:gd name="T4" fmla="*/ 2147483646 w 2406"/>
                <a:gd name="T5" fmla="*/ 2147483646 h 958"/>
                <a:gd name="T6" fmla="*/ 2147483646 w 2406"/>
                <a:gd name="T7" fmla="*/ 2147483646 h 958"/>
                <a:gd name="T8" fmla="*/ 2147483646 w 2406"/>
                <a:gd name="T9" fmla="*/ 2147483646 h 958"/>
                <a:gd name="T10" fmla="*/ 2147483646 w 2406"/>
                <a:gd name="T11" fmla="*/ 2147483646 h 958"/>
                <a:gd name="T12" fmla="*/ 2147483646 w 2406"/>
                <a:gd name="T13" fmla="*/ 2147483646 h 958"/>
                <a:gd name="T14" fmla="*/ 2147483646 w 2406"/>
                <a:gd name="T15" fmla="*/ 2147483646 h 958"/>
                <a:gd name="T16" fmla="*/ 2147483646 w 2406"/>
                <a:gd name="T17" fmla="*/ 2147483646 h 958"/>
                <a:gd name="T18" fmla="*/ 2147483646 w 2406"/>
                <a:gd name="T19" fmla="*/ 2147483646 h 958"/>
                <a:gd name="T20" fmla="*/ 2147483646 w 2406"/>
                <a:gd name="T21" fmla="*/ 2147483646 h 958"/>
                <a:gd name="T22" fmla="*/ 2147483646 w 2406"/>
                <a:gd name="T23" fmla="*/ 2147483646 h 958"/>
                <a:gd name="T24" fmla="*/ 2147483646 w 2406"/>
                <a:gd name="T25" fmla="*/ 2147483646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76417" cy="553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router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(runs DHCP)</a:t>
              </a:r>
            </a:p>
          </p:txBody>
        </p:sp>
        <p:grpSp>
          <p:nvGrpSpPr>
            <p:cNvPr id="15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67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8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6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sp>
          <p:nvSpPr>
            <p:cNvPr id="18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sp>
          <p:nvSpPr>
            <p:cNvPr id="19" name="Rectangle 43"/>
            <p:cNvSpPr>
              <a:spLocks noChangeArrowheads="1"/>
            </p:cNvSpPr>
            <p:nvPr/>
          </p:nvSpPr>
          <p:spPr bwMode="auto">
            <a:xfrm rot="-54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grpSp>
          <p:nvGrpSpPr>
            <p:cNvPr id="20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35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7 w 354"/>
                  <a:gd name="T1" fmla="*/ 0 h 2742"/>
                  <a:gd name="T2" fmla="*/ 93 w 354"/>
                  <a:gd name="T3" fmla="*/ 114 h 2742"/>
                  <a:gd name="T4" fmla="*/ 91 w 354"/>
                  <a:gd name="T5" fmla="*/ 881 h 2742"/>
                  <a:gd name="T6" fmla="*/ 0 w 354"/>
                  <a:gd name="T7" fmla="*/ 921 h 2742"/>
                  <a:gd name="T8" fmla="*/ 1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37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6 w 211"/>
                  <a:gd name="T3" fmla="*/ 73 h 2537"/>
                  <a:gd name="T4" fmla="*/ 2 w 211"/>
                  <a:gd name="T5" fmla="*/ 83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3 h 226"/>
                  <a:gd name="T4" fmla="*/ 87 w 328"/>
                  <a:gd name="T5" fmla="*/ 77 h 226"/>
                  <a:gd name="T6" fmla="*/ 0 w 328"/>
                  <a:gd name="T7" fmla="*/ 3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0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5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6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1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2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3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4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3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44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5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1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2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6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2 h 226"/>
                  <a:gd name="T4" fmla="*/ 87 w 328"/>
                  <a:gd name="T5" fmla="*/ 75 h 226"/>
                  <a:gd name="T6" fmla="*/ 0 w 328"/>
                  <a:gd name="T7" fmla="*/ 3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47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59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0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8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49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7 w 296"/>
                  <a:gd name="T3" fmla="*/ 47 h 256"/>
                  <a:gd name="T4" fmla="*/ 78 w 296"/>
                  <a:gd name="T5" fmla="*/ 85 h 256"/>
                  <a:gd name="T6" fmla="*/ 0 w 296"/>
                  <a:gd name="T7" fmla="*/ 3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81 w 304"/>
                  <a:gd name="T3" fmla="*/ 55 h 288"/>
                  <a:gd name="T4" fmla="*/ 76 w 304"/>
                  <a:gd name="T5" fmla="*/ 97 h 288"/>
                  <a:gd name="T6" fmla="*/ 2 w 304"/>
                  <a:gd name="T7" fmla="*/ 4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1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2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6 h 240"/>
                  <a:gd name="T2" fmla="*/ 2 w 306"/>
                  <a:gd name="T3" fmla="*/ 81 h 240"/>
                  <a:gd name="T4" fmla="*/ 81 w 306"/>
                  <a:gd name="T5" fmla="*/ 37 h 240"/>
                  <a:gd name="T6" fmla="*/ 78 w 306"/>
                  <a:gd name="T7" fmla="*/ 0 h 240"/>
                  <a:gd name="T8" fmla="*/ 0 w 306"/>
                  <a:gd name="T9" fmla="*/ 3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3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6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4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5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6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7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8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21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22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3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5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27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2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3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4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28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9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0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1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3"/>
                  <a:ext cx="52" cy="9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</p:grpSp>
      </p:grpSp>
      <p:sp>
        <p:nvSpPr>
          <p:cNvPr id="69" name="Line 43"/>
          <p:cNvSpPr>
            <a:spLocks noChangeShapeType="1"/>
          </p:cNvSpPr>
          <p:nvPr/>
        </p:nvSpPr>
        <p:spPr bwMode="auto">
          <a:xfrm flipV="1">
            <a:off x="6592708" y="2771087"/>
            <a:ext cx="52149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70" name="Group 45"/>
          <p:cNvGrpSpPr>
            <a:grpSpLocks/>
          </p:cNvGrpSpPr>
          <p:nvPr/>
        </p:nvGrpSpPr>
        <p:grpSpPr bwMode="auto">
          <a:xfrm>
            <a:off x="5490189" y="1693571"/>
            <a:ext cx="732234" cy="1095375"/>
            <a:chOff x="651" y="681"/>
            <a:chExt cx="615" cy="920"/>
          </a:xfrm>
        </p:grpSpPr>
        <p:sp>
          <p:nvSpPr>
            <p:cNvPr id="71" name="Freeform 46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72" name="Group 47"/>
            <p:cNvGrpSpPr>
              <a:grpSpLocks/>
            </p:cNvGrpSpPr>
            <p:nvPr/>
          </p:nvGrpSpPr>
          <p:grpSpPr bwMode="auto">
            <a:xfrm>
              <a:off x="651" y="681"/>
              <a:ext cx="500" cy="853"/>
              <a:chOff x="569" y="2954"/>
              <a:chExt cx="500" cy="853"/>
            </a:xfrm>
          </p:grpSpPr>
          <p:sp>
            <p:nvSpPr>
              <p:cNvPr id="73" name="Rectangle 4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74" name="Text Box 49"/>
              <p:cNvSpPr txBox="1">
                <a:spLocks noChangeArrowheads="1"/>
              </p:cNvSpPr>
              <p:nvPr/>
            </p:nvSpPr>
            <p:spPr bwMode="auto">
              <a:xfrm>
                <a:off x="617" y="2954"/>
                <a:ext cx="427" cy="8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DNS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UDP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Eth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Phy</a:t>
                </a:r>
              </a:p>
            </p:txBody>
          </p:sp>
          <p:sp>
            <p:nvSpPr>
              <p:cNvPr id="75" name="Line 5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6" name="Line 5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7" name="Line 5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8" name="Line 5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79" name="Group 276"/>
          <p:cNvGrpSpPr>
            <a:grpSpLocks/>
          </p:cNvGrpSpPr>
          <p:nvPr/>
        </p:nvGrpSpPr>
        <p:grpSpPr bwMode="auto">
          <a:xfrm>
            <a:off x="4804389" y="1750721"/>
            <a:ext cx="585788" cy="657225"/>
            <a:chOff x="177" y="729"/>
            <a:chExt cx="492" cy="552"/>
          </a:xfrm>
        </p:grpSpPr>
        <p:grpSp>
          <p:nvGrpSpPr>
            <p:cNvPr id="80" name="Group 54"/>
            <p:cNvGrpSpPr>
              <a:grpSpLocks/>
            </p:cNvGrpSpPr>
            <p:nvPr/>
          </p:nvGrpSpPr>
          <p:grpSpPr bwMode="auto">
            <a:xfrm>
              <a:off x="343" y="732"/>
              <a:ext cx="325" cy="174"/>
              <a:chOff x="844" y="3337"/>
              <a:chExt cx="325" cy="174"/>
            </a:xfrm>
          </p:grpSpPr>
          <p:sp>
            <p:nvSpPr>
              <p:cNvPr id="99" name="Rectangle 55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00" name="Text Box 56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750">
                    <a:solidFill>
                      <a:srgbClr val="FFFFFF"/>
                    </a:solidFill>
                    <a:latin typeface="Arial" panose="020B0604020202020204" pitchFamily="34" charset="0"/>
                  </a:rPr>
                  <a:t>DNS</a:t>
                </a:r>
              </a:p>
            </p:txBody>
          </p:sp>
        </p:grpSp>
        <p:grpSp>
          <p:nvGrpSpPr>
            <p:cNvPr id="82" name="Group 59"/>
            <p:cNvGrpSpPr>
              <a:grpSpLocks/>
            </p:cNvGrpSpPr>
            <p:nvPr/>
          </p:nvGrpSpPr>
          <p:grpSpPr bwMode="auto">
            <a:xfrm>
              <a:off x="290" y="874"/>
              <a:ext cx="379" cy="174"/>
              <a:chOff x="740" y="3209"/>
              <a:chExt cx="379" cy="174"/>
            </a:xfrm>
          </p:grpSpPr>
          <p:grpSp>
            <p:nvGrpSpPr>
              <p:cNvPr id="94" name="Group 60"/>
              <p:cNvGrpSpPr>
                <a:grpSpLocks/>
              </p:cNvGrpSpPr>
              <p:nvPr/>
            </p:nvGrpSpPr>
            <p:grpSpPr bwMode="auto">
              <a:xfrm>
                <a:off x="794" y="3209"/>
                <a:ext cx="325" cy="174"/>
                <a:chOff x="844" y="3337"/>
                <a:chExt cx="325" cy="174"/>
              </a:xfrm>
            </p:grpSpPr>
            <p:sp>
              <p:nvSpPr>
                <p:cNvPr id="97" name="Rectangle 61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98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750">
                      <a:solidFill>
                        <a:srgbClr val="FFFFFF"/>
                      </a:solidFill>
                      <a:latin typeface="Arial" panose="020B0604020202020204" pitchFamily="34" charset="0"/>
                    </a:rPr>
                    <a:t>DNS</a:t>
                  </a:r>
                </a:p>
              </p:txBody>
            </p:sp>
          </p:grpSp>
          <p:sp>
            <p:nvSpPr>
              <p:cNvPr id="95" name="Rectangle 63"/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96" name="Rectangle 64"/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83" name="Group 65"/>
            <p:cNvGrpSpPr>
              <a:grpSpLocks/>
            </p:cNvGrpSpPr>
            <p:nvPr/>
          </p:nvGrpSpPr>
          <p:grpSpPr bwMode="auto">
            <a:xfrm>
              <a:off x="290" y="1022"/>
              <a:ext cx="379" cy="174"/>
              <a:chOff x="836" y="3305"/>
              <a:chExt cx="379" cy="174"/>
            </a:xfrm>
          </p:grpSpPr>
          <p:grpSp>
            <p:nvGrpSpPr>
              <p:cNvPr id="88" name="Group 66"/>
              <p:cNvGrpSpPr>
                <a:grpSpLocks/>
              </p:cNvGrpSpPr>
              <p:nvPr/>
            </p:nvGrpSpPr>
            <p:grpSpPr bwMode="auto">
              <a:xfrm>
                <a:off x="890" y="3305"/>
                <a:ext cx="325" cy="174"/>
                <a:chOff x="844" y="3337"/>
                <a:chExt cx="325" cy="174"/>
              </a:xfrm>
            </p:grpSpPr>
            <p:sp>
              <p:nvSpPr>
                <p:cNvPr id="92" name="Rectangle 67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93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750">
                      <a:solidFill>
                        <a:srgbClr val="FFFFFF"/>
                      </a:solidFill>
                      <a:latin typeface="Arial" panose="020B0604020202020204" pitchFamily="34" charset="0"/>
                    </a:rPr>
                    <a:t>DNS</a:t>
                  </a:r>
                </a:p>
              </p:txBody>
            </p:sp>
          </p:grpSp>
          <p:grpSp>
            <p:nvGrpSpPr>
              <p:cNvPr id="89" name="Group 69"/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0" name="Rectangle 70"/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91" name="Rectangle 71"/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</p:grpSp>
        <p:grpSp>
          <p:nvGrpSpPr>
            <p:cNvPr id="84" name="Group 72"/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86" name="Rectangle 73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87" name="Rectangle 74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85" name="AutoShape 89"/>
            <p:cNvSpPr>
              <a:spLocks noChangeArrowheads="1"/>
            </p:cNvSpPr>
            <p:nvPr/>
          </p:nvSpPr>
          <p:spPr bwMode="auto">
            <a:xfrm>
              <a:off x="393" y="729"/>
              <a:ext cx="240" cy="552"/>
            </a:xfrm>
            <a:prstGeom prst="downArrow">
              <a:avLst>
                <a:gd name="adj1" fmla="val 54167"/>
                <a:gd name="adj2" fmla="val 36928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107" name="Group 255"/>
          <p:cNvGrpSpPr>
            <a:grpSpLocks/>
          </p:cNvGrpSpPr>
          <p:nvPr/>
        </p:nvGrpSpPr>
        <p:grpSpPr bwMode="auto">
          <a:xfrm>
            <a:off x="6274811" y="3119941"/>
            <a:ext cx="762000" cy="658415"/>
            <a:chOff x="719" y="2137"/>
            <a:chExt cx="640" cy="553"/>
          </a:xfrm>
        </p:grpSpPr>
        <p:sp>
          <p:nvSpPr>
            <p:cNvPr id="108" name="Freeform 244"/>
            <p:cNvSpPr>
              <a:spLocks/>
            </p:cNvSpPr>
            <p:nvPr/>
          </p:nvSpPr>
          <p:spPr bwMode="auto">
            <a:xfrm>
              <a:off x="755" y="2268"/>
              <a:ext cx="604" cy="422"/>
            </a:xfrm>
            <a:custGeom>
              <a:avLst/>
              <a:gdLst>
                <a:gd name="T0" fmla="*/ 493 w 604"/>
                <a:gd name="T1" fmla="*/ 0 h 422"/>
                <a:gd name="T2" fmla="*/ 604 w 604"/>
                <a:gd name="T3" fmla="*/ 422 h 422"/>
                <a:gd name="T4" fmla="*/ 0 w 604"/>
                <a:gd name="T5" fmla="*/ 307 h 422"/>
                <a:gd name="T6" fmla="*/ 220 w 604"/>
                <a:gd name="T7" fmla="*/ 3 h 422"/>
                <a:gd name="T8" fmla="*/ 493 w 604"/>
                <a:gd name="T9" fmla="*/ 0 h 4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422">
                  <a:moveTo>
                    <a:pt x="493" y="0"/>
                  </a:moveTo>
                  <a:lnTo>
                    <a:pt x="604" y="422"/>
                  </a:lnTo>
                  <a:lnTo>
                    <a:pt x="0" y="307"/>
                  </a:lnTo>
                  <a:lnTo>
                    <a:pt x="220" y="3"/>
                  </a:lnTo>
                  <a:lnTo>
                    <a:pt x="493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109" name="Rectangle 246"/>
            <p:cNvSpPr>
              <a:spLocks noChangeArrowheads="1"/>
            </p:cNvSpPr>
            <p:nvPr/>
          </p:nvSpPr>
          <p:spPr bwMode="auto">
            <a:xfrm>
              <a:off x="751" y="2266"/>
              <a:ext cx="493" cy="3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10" name="Text Box 247"/>
            <p:cNvSpPr txBox="1">
              <a:spLocks noChangeArrowheads="1"/>
            </p:cNvSpPr>
            <p:nvPr/>
          </p:nvSpPr>
          <p:spPr bwMode="auto">
            <a:xfrm>
              <a:off x="815" y="2235"/>
              <a:ext cx="377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</a:rPr>
                <a:t>Eth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</a:rPr>
                <a:t>Phy</a:t>
              </a:r>
            </a:p>
          </p:txBody>
        </p:sp>
        <p:sp>
          <p:nvSpPr>
            <p:cNvPr id="111" name="Line 250"/>
            <p:cNvSpPr>
              <a:spLocks noChangeShapeType="1"/>
            </p:cNvSpPr>
            <p:nvPr/>
          </p:nvSpPr>
          <p:spPr bwMode="auto">
            <a:xfrm>
              <a:off x="747" y="2264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112" name="Line 251"/>
            <p:cNvSpPr>
              <a:spLocks noChangeShapeType="1"/>
            </p:cNvSpPr>
            <p:nvPr/>
          </p:nvSpPr>
          <p:spPr bwMode="auto">
            <a:xfrm>
              <a:off x="744" y="2423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113" name="Group 252"/>
            <p:cNvGrpSpPr>
              <a:grpSpLocks/>
            </p:cNvGrpSpPr>
            <p:nvPr/>
          </p:nvGrpSpPr>
          <p:grpSpPr bwMode="auto">
            <a:xfrm>
              <a:off x="719" y="2137"/>
              <a:ext cx="321" cy="174"/>
              <a:chOff x="161" y="1354"/>
              <a:chExt cx="321" cy="174"/>
            </a:xfrm>
          </p:grpSpPr>
          <p:sp>
            <p:nvSpPr>
              <p:cNvPr id="114" name="Rectangle 253"/>
              <p:cNvSpPr>
                <a:spLocks noChangeArrowheads="1"/>
              </p:cNvSpPr>
              <p:nvPr/>
            </p:nvSpPr>
            <p:spPr bwMode="auto">
              <a:xfrm>
                <a:off x="192" y="1365"/>
                <a:ext cx="228" cy="14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15" name="Text Box 254"/>
              <p:cNvSpPr txBox="1">
                <a:spLocks noChangeArrowheads="1"/>
              </p:cNvSpPr>
              <p:nvPr/>
            </p:nvSpPr>
            <p:spPr bwMode="auto">
              <a:xfrm>
                <a:off x="161" y="1354"/>
                <a:ext cx="32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750">
                    <a:solidFill>
                      <a:srgbClr val="000000"/>
                    </a:solidFill>
                    <a:latin typeface="Arial" panose="020B0604020202020204" pitchFamily="34" charset="0"/>
                  </a:rPr>
                  <a:t>ARP</a:t>
                </a:r>
              </a:p>
            </p:txBody>
          </p:sp>
        </p:grpSp>
      </p:grpSp>
      <p:grpSp>
        <p:nvGrpSpPr>
          <p:cNvPr id="116" name="Group 242"/>
          <p:cNvGrpSpPr>
            <a:grpSpLocks/>
          </p:cNvGrpSpPr>
          <p:nvPr/>
        </p:nvGrpSpPr>
        <p:grpSpPr bwMode="auto">
          <a:xfrm>
            <a:off x="5456852" y="2173395"/>
            <a:ext cx="382191" cy="207169"/>
            <a:chOff x="161" y="1354"/>
            <a:chExt cx="321" cy="174"/>
          </a:xfrm>
        </p:grpSpPr>
        <p:sp>
          <p:nvSpPr>
            <p:cNvPr id="117" name="Rectangle 241"/>
            <p:cNvSpPr>
              <a:spLocks noChangeArrowheads="1"/>
            </p:cNvSpPr>
            <p:nvPr/>
          </p:nvSpPr>
          <p:spPr bwMode="auto">
            <a:xfrm>
              <a:off x="192" y="1365"/>
              <a:ext cx="228" cy="1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18" name="Text Box 240"/>
            <p:cNvSpPr txBox="1">
              <a:spLocks noChangeArrowheads="1"/>
            </p:cNvSpPr>
            <p:nvPr/>
          </p:nvSpPr>
          <p:spPr bwMode="auto">
            <a:xfrm>
              <a:off x="161" y="1354"/>
              <a:ext cx="32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750">
                  <a:solidFill>
                    <a:srgbClr val="000000"/>
                  </a:solidFill>
                  <a:latin typeface="Arial" panose="020B0604020202020204" pitchFamily="34" charset="0"/>
                </a:rPr>
                <a:t>ARP</a:t>
              </a:r>
            </a:p>
          </p:txBody>
        </p:sp>
      </p:grpSp>
      <p:sp>
        <p:nvSpPr>
          <p:cNvPr id="119" name="灯片编号占位符 2">
            <a:extLst>
              <a:ext uri="{FF2B5EF4-FFF2-40B4-BE49-F238E27FC236}">
                <a16:creationId xmlns:a16="http://schemas.microsoft.com/office/drawing/2014/main" id="{72AD23ED-B480-484D-BBBB-E4C729B83052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11</a:t>
            </a:fld>
            <a:endParaRPr lang="en-US" altLang="zh-CN" dirty="0"/>
          </a:p>
        </p:txBody>
      </p:sp>
      <p:sp>
        <p:nvSpPr>
          <p:cNvPr id="120" name="AutoShape 5">
            <a:extLst>
              <a:ext uri="{FF2B5EF4-FFF2-40B4-BE49-F238E27FC236}">
                <a16:creationId xmlns:a16="http://schemas.microsoft.com/office/drawing/2014/main" id="{4017F8DF-68A7-4787-942A-BC93035EB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442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animBg="1"/>
      <p:bldP spid="120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Freeform 94"/>
          <p:cNvSpPr>
            <a:spLocks/>
          </p:cNvSpPr>
          <p:nvPr/>
        </p:nvSpPr>
        <p:spPr bwMode="auto">
          <a:xfrm>
            <a:off x="2075166" y="3804393"/>
            <a:ext cx="4814888" cy="1215629"/>
          </a:xfrm>
          <a:custGeom>
            <a:avLst/>
            <a:gdLst>
              <a:gd name="T0" fmla="*/ 2147483646 w 2406"/>
              <a:gd name="T1" fmla="*/ 2147483646 h 958"/>
              <a:gd name="T2" fmla="*/ 2147483646 w 2406"/>
              <a:gd name="T3" fmla="*/ 2147483646 h 958"/>
              <a:gd name="T4" fmla="*/ 2147483646 w 2406"/>
              <a:gd name="T5" fmla="*/ 2147483646 h 958"/>
              <a:gd name="T6" fmla="*/ 2147483646 w 2406"/>
              <a:gd name="T7" fmla="*/ 2147483646 h 958"/>
              <a:gd name="T8" fmla="*/ 2147483646 w 2406"/>
              <a:gd name="T9" fmla="*/ 2147483646 h 958"/>
              <a:gd name="T10" fmla="*/ 2147483646 w 2406"/>
              <a:gd name="T11" fmla="*/ 2147483646 h 958"/>
              <a:gd name="T12" fmla="*/ 2147483646 w 2406"/>
              <a:gd name="T13" fmla="*/ 2147483646 h 958"/>
              <a:gd name="T14" fmla="*/ 2147483646 w 2406"/>
              <a:gd name="T15" fmla="*/ 2147483646 h 958"/>
              <a:gd name="T16" fmla="*/ 2147483646 w 2406"/>
              <a:gd name="T17" fmla="*/ 2147483646 h 958"/>
              <a:gd name="T18" fmla="*/ 2147483646 w 2406"/>
              <a:gd name="T19" fmla="*/ 2147483646 h 958"/>
              <a:gd name="T20" fmla="*/ 2147483646 w 2406"/>
              <a:gd name="T21" fmla="*/ 2147483646 h 958"/>
              <a:gd name="T22" fmla="*/ 2147483646 w 2406"/>
              <a:gd name="T23" fmla="*/ 2147483646 h 958"/>
              <a:gd name="T24" fmla="*/ 2147483646 w 2406"/>
              <a:gd name="T25" fmla="*/ 2147483646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39" name="Text Box 135">
            <a:extLst>
              <a:ext uri="{FF2B5EF4-FFF2-40B4-BE49-F238E27FC236}">
                <a16:creationId xmlns:a16="http://schemas.microsoft.com/office/drawing/2014/main" id="{0ED93073-B912-4C76-AFFE-888CEE35F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2453" y="4497236"/>
            <a:ext cx="18309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Organization</a:t>
            </a: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’</a:t>
            </a:r>
            <a:r>
              <a:rPr lang="en-US" altLang="ja-JP" sz="1200" dirty="0">
                <a:solidFill>
                  <a:srgbClr val="000000"/>
                </a:solidFill>
                <a:latin typeface="Arial" panose="020B0604020202020204" pitchFamily="34" charset="0"/>
              </a:rPr>
              <a:t>s network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64.204.2.0/24 </a:t>
            </a:r>
          </a:p>
        </p:txBody>
      </p:sp>
      <p:sp>
        <p:nvSpPr>
          <p:cNvPr id="159" name="Text Box 404"/>
          <p:cNvSpPr txBox="1">
            <a:spLocks noChangeArrowheads="1"/>
          </p:cNvSpPr>
          <p:nvPr/>
        </p:nvSpPr>
        <p:spPr bwMode="auto">
          <a:xfrm>
            <a:off x="2431164" y="3649612"/>
            <a:ext cx="771365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>
                <a:solidFill>
                  <a:srgbClr val="FF0000"/>
                </a:solidFill>
                <a:latin typeface="Arial" panose="020B0604020202020204" pitchFamily="34" charset="0"/>
              </a:rPr>
              <a:t>web page</a:t>
            </a:r>
          </a:p>
        </p:txBody>
      </p:sp>
      <p:grpSp>
        <p:nvGrpSpPr>
          <p:cNvPr id="262" name="Group 248"/>
          <p:cNvGrpSpPr>
            <a:grpSpLocks/>
          </p:cNvGrpSpPr>
          <p:nvPr/>
        </p:nvGrpSpPr>
        <p:grpSpPr bwMode="auto">
          <a:xfrm>
            <a:off x="3415810" y="4035374"/>
            <a:ext cx="269081" cy="467916"/>
            <a:chOff x="4140" y="429"/>
            <a:chExt cx="1425" cy="2396"/>
          </a:xfrm>
        </p:grpSpPr>
        <p:sp>
          <p:nvSpPr>
            <p:cNvPr id="263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4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65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6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7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68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93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94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69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70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91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92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71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72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73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89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90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74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75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87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88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76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77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8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9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0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1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2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3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4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5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6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100" name="Text Box 137"/>
          <p:cNvSpPr txBox="1">
            <a:spLocks noChangeArrowheads="1"/>
          </p:cNvSpPr>
          <p:nvPr/>
        </p:nvSpPr>
        <p:spPr bwMode="auto">
          <a:xfrm>
            <a:off x="2737154" y="4659262"/>
            <a:ext cx="124906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64.233.169.105</a:t>
            </a:r>
          </a:p>
        </p:txBody>
      </p:sp>
      <p:sp>
        <p:nvSpPr>
          <p:cNvPr id="101" name="Text Box 138"/>
          <p:cNvSpPr txBox="1">
            <a:spLocks noChangeArrowheads="1"/>
          </p:cNvSpPr>
          <p:nvPr/>
        </p:nvSpPr>
        <p:spPr bwMode="auto">
          <a:xfrm>
            <a:off x="2744233" y="4488688"/>
            <a:ext cx="93487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web server</a:t>
            </a:r>
          </a:p>
        </p:txBody>
      </p:sp>
      <p:grpSp>
        <p:nvGrpSpPr>
          <p:cNvPr id="25" name="Group 19"/>
          <p:cNvGrpSpPr>
            <a:grpSpLocks/>
          </p:cNvGrpSpPr>
          <p:nvPr/>
        </p:nvGrpSpPr>
        <p:grpSpPr bwMode="auto">
          <a:xfrm>
            <a:off x="6319745" y="2513756"/>
            <a:ext cx="567928" cy="284560"/>
            <a:chOff x="2466" y="2026"/>
            <a:chExt cx="477" cy="282"/>
          </a:xfrm>
        </p:grpSpPr>
        <p:sp>
          <p:nvSpPr>
            <p:cNvPr id="26" name="Oval 2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8" name="Rectangle 2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" name="Oval 2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0" name="Group 2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37" name="Line 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8" name="Line 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9" name="Line 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31" name="Group 2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34" name="Line 2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5" name="Line 3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6" name="Line 3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32" name="Line 3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3" name="Line 3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27" name="Group 173"/>
          <p:cNvGrpSpPr>
            <a:grpSpLocks/>
          </p:cNvGrpSpPr>
          <p:nvPr/>
        </p:nvGrpSpPr>
        <p:grpSpPr bwMode="auto">
          <a:xfrm flipH="1" flipV="1">
            <a:off x="7305582" y="3116212"/>
            <a:ext cx="300038" cy="114300"/>
            <a:chOff x="3228" y="1776"/>
            <a:chExt cx="252" cy="96"/>
          </a:xfrm>
        </p:grpSpPr>
        <p:sp>
          <p:nvSpPr>
            <p:cNvPr id="128" name="Line 17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9" name="Line 17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0" name="Group 176"/>
          <p:cNvGrpSpPr>
            <a:grpSpLocks/>
          </p:cNvGrpSpPr>
          <p:nvPr/>
        </p:nvGrpSpPr>
        <p:grpSpPr bwMode="auto">
          <a:xfrm flipV="1">
            <a:off x="6687648" y="3130499"/>
            <a:ext cx="221456" cy="85725"/>
            <a:chOff x="3228" y="1776"/>
            <a:chExt cx="252" cy="96"/>
          </a:xfrm>
        </p:grpSpPr>
        <p:sp>
          <p:nvSpPr>
            <p:cNvPr id="131" name="Line 177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" name="Line 178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3" name="Group 179"/>
          <p:cNvGrpSpPr>
            <a:grpSpLocks/>
          </p:cNvGrpSpPr>
          <p:nvPr/>
        </p:nvGrpSpPr>
        <p:grpSpPr bwMode="auto">
          <a:xfrm rot="409689" flipH="1" flipV="1">
            <a:off x="6891245" y="2637580"/>
            <a:ext cx="339328" cy="42863"/>
            <a:chOff x="3228" y="1776"/>
            <a:chExt cx="252" cy="96"/>
          </a:xfrm>
        </p:grpSpPr>
        <p:sp>
          <p:nvSpPr>
            <p:cNvPr id="134" name="Line 180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5" name="Line 181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6" name="Group 182"/>
          <p:cNvGrpSpPr>
            <a:grpSpLocks/>
          </p:cNvGrpSpPr>
          <p:nvPr/>
        </p:nvGrpSpPr>
        <p:grpSpPr bwMode="auto">
          <a:xfrm>
            <a:off x="6248308" y="2791172"/>
            <a:ext cx="221456" cy="85725"/>
            <a:chOff x="3228" y="1776"/>
            <a:chExt cx="252" cy="96"/>
          </a:xfrm>
        </p:grpSpPr>
        <p:sp>
          <p:nvSpPr>
            <p:cNvPr id="137" name="Line 183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8" name="Line 184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9" name="Group 185"/>
          <p:cNvGrpSpPr>
            <a:grpSpLocks/>
          </p:cNvGrpSpPr>
          <p:nvPr/>
        </p:nvGrpSpPr>
        <p:grpSpPr bwMode="auto">
          <a:xfrm flipH="1">
            <a:off x="6726939" y="2791172"/>
            <a:ext cx="221456" cy="85725"/>
            <a:chOff x="3228" y="1776"/>
            <a:chExt cx="252" cy="96"/>
          </a:xfrm>
        </p:grpSpPr>
        <p:sp>
          <p:nvSpPr>
            <p:cNvPr id="140" name="Line 186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1" name="Line 187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93" name="Group 1185"/>
          <p:cNvGrpSpPr>
            <a:grpSpLocks/>
          </p:cNvGrpSpPr>
          <p:nvPr/>
        </p:nvGrpSpPr>
        <p:grpSpPr bwMode="auto">
          <a:xfrm>
            <a:off x="6305457" y="2495896"/>
            <a:ext cx="606028" cy="319088"/>
            <a:chOff x="4650" y="1129"/>
            <a:chExt cx="246" cy="95"/>
          </a:xfrm>
        </p:grpSpPr>
        <p:sp>
          <p:nvSpPr>
            <p:cNvPr id="194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5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6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97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00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01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98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9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79" name="Line 93"/>
          <p:cNvSpPr>
            <a:spLocks noChangeShapeType="1"/>
          </p:cNvSpPr>
          <p:nvPr/>
        </p:nvSpPr>
        <p:spPr bwMode="auto">
          <a:xfrm flipH="1">
            <a:off x="6601922" y="2319684"/>
            <a:ext cx="195263" cy="19407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2" name="Text Box 139"/>
          <p:cNvSpPr txBox="1">
            <a:spLocks noChangeArrowheads="1"/>
          </p:cNvSpPr>
          <p:nvPr/>
        </p:nvSpPr>
        <p:spPr bwMode="auto">
          <a:xfrm>
            <a:off x="6896007" y="2026166"/>
            <a:ext cx="9781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DNS server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229" name="Group 248"/>
          <p:cNvGrpSpPr>
            <a:grpSpLocks/>
          </p:cNvGrpSpPr>
          <p:nvPr/>
        </p:nvGrpSpPr>
        <p:grpSpPr bwMode="auto">
          <a:xfrm>
            <a:off x="6698456" y="1845449"/>
            <a:ext cx="269081" cy="467916"/>
            <a:chOff x="4140" y="429"/>
            <a:chExt cx="1425" cy="2396"/>
          </a:xfrm>
        </p:grpSpPr>
        <p:sp>
          <p:nvSpPr>
            <p:cNvPr id="230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1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32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3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4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35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0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61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36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37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8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59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38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39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40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6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57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41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42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4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55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43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44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5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6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47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8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49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0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1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2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3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157" name="Text Box 34"/>
          <p:cNvSpPr txBox="1">
            <a:spLocks noChangeArrowheads="1"/>
          </p:cNvSpPr>
          <p:nvPr/>
        </p:nvSpPr>
        <p:spPr bwMode="auto">
          <a:xfrm>
            <a:off x="1979917" y="3041203"/>
            <a:ext cx="12506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school network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68.80.2.0/24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5.7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总结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: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自底向上回顾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6988056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一次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请求所要做的工作：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Whole picture</a:t>
            </a: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sp>
        <p:nvSpPr>
          <p:cNvPr id="8" name="Freeform 406"/>
          <p:cNvSpPr>
            <a:spLocks/>
          </p:cNvSpPr>
          <p:nvPr/>
        </p:nvSpPr>
        <p:spPr bwMode="auto">
          <a:xfrm>
            <a:off x="4904091" y="1429301"/>
            <a:ext cx="2838450" cy="2189354"/>
          </a:xfrm>
          <a:custGeom>
            <a:avLst/>
            <a:gdLst>
              <a:gd name="T0" fmla="*/ 2147483646 w 2453"/>
              <a:gd name="T1" fmla="*/ 2147483646 h 2011"/>
              <a:gd name="T2" fmla="*/ 2147483646 w 2453"/>
              <a:gd name="T3" fmla="*/ 2147483646 h 2011"/>
              <a:gd name="T4" fmla="*/ 2147483646 w 2453"/>
              <a:gd name="T5" fmla="*/ 2147483646 h 2011"/>
              <a:gd name="T6" fmla="*/ 2147483646 w 2453"/>
              <a:gd name="T7" fmla="*/ 2147483646 h 2011"/>
              <a:gd name="T8" fmla="*/ 2147483646 w 2453"/>
              <a:gd name="T9" fmla="*/ 2147483646 h 2011"/>
              <a:gd name="T10" fmla="*/ 2147483646 w 2453"/>
              <a:gd name="T11" fmla="*/ 2147483646 h 2011"/>
              <a:gd name="T12" fmla="*/ 2147483646 w 2453"/>
              <a:gd name="T13" fmla="*/ 2147483646 h 2011"/>
              <a:gd name="T14" fmla="*/ 2147483646 w 2453"/>
              <a:gd name="T15" fmla="*/ 2147483646 h 2011"/>
              <a:gd name="T16" fmla="*/ 2147483646 w 2453"/>
              <a:gd name="T17" fmla="*/ 2147483646 h 2011"/>
              <a:gd name="T18" fmla="*/ 2147483646 w 2453"/>
              <a:gd name="T19" fmla="*/ 2147483646 h 2011"/>
              <a:gd name="T20" fmla="*/ 2147483646 w 2453"/>
              <a:gd name="T21" fmla="*/ 2147483646 h 2011"/>
              <a:gd name="T22" fmla="*/ 2147483646 w 2453"/>
              <a:gd name="T23" fmla="*/ 2147483646 h 2011"/>
              <a:gd name="T24" fmla="*/ 2147483646 w 2453"/>
              <a:gd name="T25" fmla="*/ 2147483646 h 2011"/>
              <a:gd name="T26" fmla="*/ 2147483646 w 2453"/>
              <a:gd name="T27" fmla="*/ 2147483646 h 2011"/>
              <a:gd name="T28" fmla="*/ 2147483646 w 2453"/>
              <a:gd name="T29" fmla="*/ 2147483646 h 2011"/>
              <a:gd name="T30" fmla="*/ 2147483646 w 2453"/>
              <a:gd name="T31" fmla="*/ 2147483646 h 2011"/>
              <a:gd name="T32" fmla="*/ 2147483646 w 2453"/>
              <a:gd name="T33" fmla="*/ 2147483646 h 2011"/>
              <a:gd name="T34" fmla="*/ 2147483646 w 2453"/>
              <a:gd name="T35" fmla="*/ 2147483646 h 2011"/>
              <a:gd name="T36" fmla="*/ 2147483646 w 2453"/>
              <a:gd name="T37" fmla="*/ 2147483646 h 2011"/>
              <a:gd name="T38" fmla="*/ 2147483646 w 2453"/>
              <a:gd name="T39" fmla="*/ 2147483646 h 2011"/>
              <a:gd name="T40" fmla="*/ 2147483646 w 2453"/>
              <a:gd name="T41" fmla="*/ 2147483646 h 2011"/>
              <a:gd name="T42" fmla="*/ 2147483646 w 2453"/>
              <a:gd name="T43" fmla="*/ 2147483646 h 2011"/>
              <a:gd name="T44" fmla="*/ 2147483646 w 2453"/>
              <a:gd name="T45" fmla="*/ 2147483646 h 2011"/>
              <a:gd name="T46" fmla="*/ 2147483646 w 2453"/>
              <a:gd name="T47" fmla="*/ 2147483646 h 201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2453" h="2011">
                <a:moveTo>
                  <a:pt x="84" y="632"/>
                </a:moveTo>
                <a:cubicBezTo>
                  <a:pt x="51" y="704"/>
                  <a:pt x="28" y="747"/>
                  <a:pt x="16" y="809"/>
                </a:cubicBezTo>
                <a:cubicBezTo>
                  <a:pt x="4" y="871"/>
                  <a:pt x="0" y="949"/>
                  <a:pt x="9" y="1005"/>
                </a:cubicBezTo>
                <a:cubicBezTo>
                  <a:pt x="18" y="1061"/>
                  <a:pt x="44" y="1087"/>
                  <a:pt x="70" y="1147"/>
                </a:cubicBezTo>
                <a:cubicBezTo>
                  <a:pt x="96" y="1207"/>
                  <a:pt x="130" y="1314"/>
                  <a:pt x="165" y="1364"/>
                </a:cubicBezTo>
                <a:cubicBezTo>
                  <a:pt x="200" y="1414"/>
                  <a:pt x="216" y="1402"/>
                  <a:pt x="280" y="1446"/>
                </a:cubicBezTo>
                <a:cubicBezTo>
                  <a:pt x="344" y="1490"/>
                  <a:pt x="404" y="1587"/>
                  <a:pt x="549" y="1627"/>
                </a:cubicBezTo>
                <a:cubicBezTo>
                  <a:pt x="694" y="1667"/>
                  <a:pt x="987" y="1631"/>
                  <a:pt x="1152" y="1687"/>
                </a:cubicBezTo>
                <a:cubicBezTo>
                  <a:pt x="1317" y="1743"/>
                  <a:pt x="1455" y="1919"/>
                  <a:pt x="1542" y="1965"/>
                </a:cubicBezTo>
                <a:cubicBezTo>
                  <a:pt x="1629" y="2011"/>
                  <a:pt x="1610" y="1968"/>
                  <a:pt x="1675" y="1965"/>
                </a:cubicBezTo>
                <a:cubicBezTo>
                  <a:pt x="1740" y="1962"/>
                  <a:pt x="1816" y="1974"/>
                  <a:pt x="1933" y="1945"/>
                </a:cubicBezTo>
                <a:cubicBezTo>
                  <a:pt x="2050" y="1916"/>
                  <a:pt x="2299" y="1866"/>
                  <a:pt x="2376" y="1793"/>
                </a:cubicBezTo>
                <a:cubicBezTo>
                  <a:pt x="2453" y="1720"/>
                  <a:pt x="2410" y="1591"/>
                  <a:pt x="2396" y="1508"/>
                </a:cubicBezTo>
                <a:cubicBezTo>
                  <a:pt x="2382" y="1425"/>
                  <a:pt x="2301" y="1408"/>
                  <a:pt x="2293" y="1297"/>
                </a:cubicBezTo>
                <a:cubicBezTo>
                  <a:pt x="2285" y="1186"/>
                  <a:pt x="2339" y="950"/>
                  <a:pt x="2347" y="843"/>
                </a:cubicBezTo>
                <a:cubicBezTo>
                  <a:pt x="2355" y="736"/>
                  <a:pt x="2368" y="717"/>
                  <a:pt x="2340" y="653"/>
                </a:cubicBezTo>
                <a:cubicBezTo>
                  <a:pt x="2312" y="589"/>
                  <a:pt x="2247" y="537"/>
                  <a:pt x="2177" y="456"/>
                </a:cubicBezTo>
                <a:cubicBezTo>
                  <a:pt x="2107" y="375"/>
                  <a:pt x="2016" y="235"/>
                  <a:pt x="1920" y="165"/>
                </a:cubicBezTo>
                <a:cubicBezTo>
                  <a:pt x="1824" y="95"/>
                  <a:pt x="1716" y="61"/>
                  <a:pt x="1601" y="36"/>
                </a:cubicBezTo>
                <a:cubicBezTo>
                  <a:pt x="1486" y="11"/>
                  <a:pt x="1343" y="0"/>
                  <a:pt x="1229" y="16"/>
                </a:cubicBezTo>
                <a:cubicBezTo>
                  <a:pt x="1115" y="32"/>
                  <a:pt x="1042" y="90"/>
                  <a:pt x="917" y="131"/>
                </a:cubicBezTo>
                <a:cubicBezTo>
                  <a:pt x="792" y="172"/>
                  <a:pt x="595" y="219"/>
                  <a:pt x="477" y="260"/>
                </a:cubicBezTo>
                <a:cubicBezTo>
                  <a:pt x="359" y="301"/>
                  <a:pt x="280" y="311"/>
                  <a:pt x="212" y="375"/>
                </a:cubicBezTo>
                <a:cubicBezTo>
                  <a:pt x="144" y="439"/>
                  <a:pt x="117" y="560"/>
                  <a:pt x="84" y="632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9" name="Freeform 3"/>
          <p:cNvSpPr>
            <a:spLocks/>
          </p:cNvSpPr>
          <p:nvPr/>
        </p:nvSpPr>
        <p:spPr bwMode="auto">
          <a:xfrm>
            <a:off x="1716788" y="1649362"/>
            <a:ext cx="2665809" cy="2065735"/>
          </a:xfrm>
          <a:custGeom>
            <a:avLst/>
            <a:gdLst>
              <a:gd name="T0" fmla="*/ 2147483646 w 2406"/>
              <a:gd name="T1" fmla="*/ 2147483646 h 958"/>
              <a:gd name="T2" fmla="*/ 2147483646 w 2406"/>
              <a:gd name="T3" fmla="*/ 2147483646 h 958"/>
              <a:gd name="T4" fmla="*/ 2147483646 w 2406"/>
              <a:gd name="T5" fmla="*/ 2147483646 h 958"/>
              <a:gd name="T6" fmla="*/ 2147483646 w 2406"/>
              <a:gd name="T7" fmla="*/ 2147483646 h 958"/>
              <a:gd name="T8" fmla="*/ 2147483646 w 2406"/>
              <a:gd name="T9" fmla="*/ 2147483646 h 958"/>
              <a:gd name="T10" fmla="*/ 2147483646 w 2406"/>
              <a:gd name="T11" fmla="*/ 2147483646 h 958"/>
              <a:gd name="T12" fmla="*/ 2147483646 w 2406"/>
              <a:gd name="T13" fmla="*/ 2147483646 h 958"/>
              <a:gd name="T14" fmla="*/ 2147483646 w 2406"/>
              <a:gd name="T15" fmla="*/ 2147483646 h 958"/>
              <a:gd name="T16" fmla="*/ 2147483646 w 2406"/>
              <a:gd name="T17" fmla="*/ 2147483646 h 958"/>
              <a:gd name="T18" fmla="*/ 2147483646 w 2406"/>
              <a:gd name="T19" fmla="*/ 2147483646 h 958"/>
              <a:gd name="T20" fmla="*/ 2147483646 w 2406"/>
              <a:gd name="T21" fmla="*/ 2147483646 h 958"/>
              <a:gd name="T22" fmla="*/ 2147483646 w 2406"/>
              <a:gd name="T23" fmla="*/ 2147483646 h 958"/>
              <a:gd name="T24" fmla="*/ 2147483646 w 2406"/>
              <a:gd name="T25" fmla="*/ 2147483646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pSp>
        <p:nvGrpSpPr>
          <p:cNvPr id="10" name="Group 4"/>
          <p:cNvGrpSpPr>
            <a:grpSpLocks/>
          </p:cNvGrpSpPr>
          <p:nvPr/>
        </p:nvGrpSpPr>
        <p:grpSpPr bwMode="auto">
          <a:xfrm>
            <a:off x="5295807" y="2704256"/>
            <a:ext cx="567928" cy="284560"/>
            <a:chOff x="2466" y="2026"/>
            <a:chExt cx="477" cy="282"/>
          </a:xfrm>
        </p:grpSpPr>
        <p:sp>
          <p:nvSpPr>
            <p:cNvPr id="11" name="Oval 5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" name="Line 6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" name="Oval 8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5" name="Group 9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2" name="Line 1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3" name="Line 1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" name="Line 1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16" name="Group 13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19" name="Line 1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" name="Line 1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1" name="Line 1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40" name="Text Box 34"/>
          <p:cNvSpPr txBox="1">
            <a:spLocks noChangeArrowheads="1"/>
          </p:cNvSpPr>
          <p:nvPr/>
        </p:nvSpPr>
        <p:spPr bwMode="auto">
          <a:xfrm>
            <a:off x="5281519" y="2016075"/>
            <a:ext cx="14141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Comcast network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68.80.0.0/13</a:t>
            </a:r>
          </a:p>
        </p:txBody>
      </p:sp>
      <p:sp>
        <p:nvSpPr>
          <p:cNvPr id="41" name="Line 36"/>
          <p:cNvSpPr>
            <a:spLocks noChangeShapeType="1"/>
          </p:cNvSpPr>
          <p:nvPr/>
        </p:nvSpPr>
        <p:spPr bwMode="auto">
          <a:xfrm flipV="1">
            <a:off x="3968260" y="2453035"/>
            <a:ext cx="116681" cy="10715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2" name="Line 43"/>
          <p:cNvSpPr>
            <a:spLocks noChangeShapeType="1"/>
          </p:cNvSpPr>
          <p:nvPr/>
        </p:nvSpPr>
        <p:spPr bwMode="auto">
          <a:xfrm flipV="1">
            <a:off x="3136014" y="2582812"/>
            <a:ext cx="52149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3" name="Line 44"/>
          <p:cNvSpPr>
            <a:spLocks noChangeShapeType="1"/>
          </p:cNvSpPr>
          <p:nvPr/>
        </p:nvSpPr>
        <p:spPr bwMode="auto">
          <a:xfrm flipV="1">
            <a:off x="4080179" y="2345878"/>
            <a:ext cx="103585" cy="107156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4" name="Line 48"/>
          <p:cNvSpPr>
            <a:spLocks noChangeShapeType="1"/>
          </p:cNvSpPr>
          <p:nvPr/>
        </p:nvSpPr>
        <p:spPr bwMode="auto">
          <a:xfrm flipV="1">
            <a:off x="3596785" y="2747119"/>
            <a:ext cx="384572" cy="45958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3" name="Line 68"/>
          <p:cNvSpPr>
            <a:spLocks noChangeShapeType="1"/>
          </p:cNvSpPr>
          <p:nvPr/>
        </p:nvSpPr>
        <p:spPr bwMode="auto">
          <a:xfrm flipV="1">
            <a:off x="3950401" y="2892375"/>
            <a:ext cx="1364456" cy="55006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64" name="Group 69"/>
          <p:cNvGrpSpPr>
            <a:grpSpLocks/>
          </p:cNvGrpSpPr>
          <p:nvPr/>
        </p:nvGrpSpPr>
        <p:grpSpPr bwMode="auto">
          <a:xfrm>
            <a:off x="6812664" y="3200747"/>
            <a:ext cx="567928" cy="284559"/>
            <a:chOff x="2466" y="2026"/>
            <a:chExt cx="477" cy="282"/>
          </a:xfrm>
        </p:grpSpPr>
        <p:sp>
          <p:nvSpPr>
            <p:cNvPr id="65" name="Oval 7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6" name="Line 7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7" name="Rectangle 7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" name="Oval 7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69" name="Group 7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76" name="Line 7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7" name="Line 7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8" name="Line 7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70" name="Group 7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73" name="Line 7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4" name="Line 8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5" name="Line 8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71" name="Line 8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2" name="Line 8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82" name="Group 110"/>
          <p:cNvGrpSpPr>
            <a:grpSpLocks/>
          </p:cNvGrpSpPr>
          <p:nvPr/>
        </p:nvGrpSpPr>
        <p:grpSpPr bwMode="auto">
          <a:xfrm>
            <a:off x="4277822" y="4237781"/>
            <a:ext cx="567929" cy="284560"/>
            <a:chOff x="2466" y="2026"/>
            <a:chExt cx="477" cy="282"/>
          </a:xfrm>
        </p:grpSpPr>
        <p:sp>
          <p:nvSpPr>
            <p:cNvPr id="83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4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5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6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87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94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5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6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88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91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2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3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89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0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97" name="Line 134"/>
          <p:cNvSpPr>
            <a:spLocks noChangeShapeType="1"/>
          </p:cNvSpPr>
          <p:nvPr/>
        </p:nvSpPr>
        <p:spPr bwMode="auto">
          <a:xfrm flipV="1">
            <a:off x="4618341" y="3000722"/>
            <a:ext cx="881063" cy="1238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99" name="Line 136"/>
          <p:cNvSpPr>
            <a:spLocks noChangeShapeType="1"/>
          </p:cNvSpPr>
          <p:nvPr/>
        </p:nvSpPr>
        <p:spPr bwMode="auto">
          <a:xfrm flipV="1">
            <a:off x="3552733" y="4365178"/>
            <a:ext cx="707231" cy="1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103" name="Group 95"/>
          <p:cNvGrpSpPr>
            <a:grpSpLocks/>
          </p:cNvGrpSpPr>
          <p:nvPr/>
        </p:nvGrpSpPr>
        <p:grpSpPr bwMode="auto">
          <a:xfrm>
            <a:off x="5606560" y="3968700"/>
            <a:ext cx="567929" cy="284560"/>
            <a:chOff x="2466" y="2026"/>
            <a:chExt cx="477" cy="282"/>
          </a:xfrm>
        </p:grpSpPr>
        <p:sp>
          <p:nvSpPr>
            <p:cNvPr id="104" name="Oval 96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" name="Line 97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6" name="Rectangle 98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7" name="Oval 99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08" name="Group 100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115" name="Line 10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6" name="Line 10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7" name="Line 10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109" name="Group 104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112" name="Line 10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3" name="Line 10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4" name="Line 10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110" name="Line 108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1" name="Line 109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18" name="Group 166"/>
          <p:cNvGrpSpPr>
            <a:grpSpLocks/>
          </p:cNvGrpSpPr>
          <p:nvPr/>
        </p:nvGrpSpPr>
        <p:grpSpPr bwMode="auto">
          <a:xfrm>
            <a:off x="5144597" y="2980481"/>
            <a:ext cx="300038" cy="114300"/>
            <a:chOff x="3228" y="1776"/>
            <a:chExt cx="252" cy="96"/>
          </a:xfrm>
        </p:grpSpPr>
        <p:sp>
          <p:nvSpPr>
            <p:cNvPr id="119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0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21" name="Group 167"/>
          <p:cNvGrpSpPr>
            <a:grpSpLocks/>
          </p:cNvGrpSpPr>
          <p:nvPr/>
        </p:nvGrpSpPr>
        <p:grpSpPr bwMode="auto">
          <a:xfrm flipH="1">
            <a:off x="5616085" y="2991197"/>
            <a:ext cx="300038" cy="114300"/>
            <a:chOff x="3228" y="1776"/>
            <a:chExt cx="252" cy="96"/>
          </a:xfrm>
        </p:grpSpPr>
        <p:sp>
          <p:nvSpPr>
            <p:cNvPr id="122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3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24" name="Group 170"/>
          <p:cNvGrpSpPr>
            <a:grpSpLocks/>
          </p:cNvGrpSpPr>
          <p:nvPr/>
        </p:nvGrpSpPr>
        <p:grpSpPr bwMode="auto">
          <a:xfrm flipH="1" flipV="1">
            <a:off x="5730385" y="2598290"/>
            <a:ext cx="300038" cy="114300"/>
            <a:chOff x="3228" y="1776"/>
            <a:chExt cx="252" cy="96"/>
          </a:xfrm>
        </p:grpSpPr>
        <p:sp>
          <p:nvSpPr>
            <p:cNvPr id="125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6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42" name="Group 188"/>
          <p:cNvGrpSpPr>
            <a:grpSpLocks/>
          </p:cNvGrpSpPr>
          <p:nvPr/>
        </p:nvGrpSpPr>
        <p:grpSpPr bwMode="auto">
          <a:xfrm>
            <a:off x="5537504" y="4252068"/>
            <a:ext cx="221456" cy="85725"/>
            <a:chOff x="3228" y="1776"/>
            <a:chExt cx="252" cy="96"/>
          </a:xfrm>
        </p:grpSpPr>
        <p:sp>
          <p:nvSpPr>
            <p:cNvPr id="143" name="Line 189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4" name="Line 190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45" name="Group 191"/>
          <p:cNvGrpSpPr>
            <a:grpSpLocks/>
          </p:cNvGrpSpPr>
          <p:nvPr/>
        </p:nvGrpSpPr>
        <p:grpSpPr bwMode="auto">
          <a:xfrm flipH="1">
            <a:off x="6016135" y="4252068"/>
            <a:ext cx="221456" cy="85725"/>
            <a:chOff x="3228" y="1776"/>
            <a:chExt cx="252" cy="96"/>
          </a:xfrm>
        </p:grpSpPr>
        <p:sp>
          <p:nvSpPr>
            <p:cNvPr id="146" name="Line 192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7" name="Line 193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48" name="Group 194"/>
          <p:cNvGrpSpPr>
            <a:grpSpLocks/>
          </p:cNvGrpSpPr>
          <p:nvPr/>
        </p:nvGrpSpPr>
        <p:grpSpPr bwMode="auto">
          <a:xfrm>
            <a:off x="4212339" y="4519959"/>
            <a:ext cx="221456" cy="85725"/>
            <a:chOff x="3228" y="1776"/>
            <a:chExt cx="252" cy="96"/>
          </a:xfrm>
        </p:grpSpPr>
        <p:sp>
          <p:nvSpPr>
            <p:cNvPr id="149" name="Line 195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0" name="Line 196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51" name="Group 197"/>
          <p:cNvGrpSpPr>
            <a:grpSpLocks/>
          </p:cNvGrpSpPr>
          <p:nvPr/>
        </p:nvGrpSpPr>
        <p:grpSpPr bwMode="auto">
          <a:xfrm flipH="1">
            <a:off x="4690970" y="4519959"/>
            <a:ext cx="221456" cy="85725"/>
            <a:chOff x="3228" y="1776"/>
            <a:chExt cx="252" cy="96"/>
          </a:xfrm>
        </p:grpSpPr>
        <p:sp>
          <p:nvSpPr>
            <p:cNvPr id="152" name="Line 19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3" name="Line 19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54" name="Group 200"/>
          <p:cNvGrpSpPr>
            <a:grpSpLocks/>
          </p:cNvGrpSpPr>
          <p:nvPr/>
        </p:nvGrpSpPr>
        <p:grpSpPr bwMode="auto">
          <a:xfrm flipH="1" flipV="1">
            <a:off x="4844560" y="4298503"/>
            <a:ext cx="221456" cy="85725"/>
            <a:chOff x="3228" y="1776"/>
            <a:chExt cx="252" cy="96"/>
          </a:xfrm>
        </p:grpSpPr>
        <p:sp>
          <p:nvSpPr>
            <p:cNvPr id="155" name="Line 20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6" name="Line 20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pic>
        <p:nvPicPr>
          <p:cNvPr id="17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545" y="2528043"/>
            <a:ext cx="685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4" name="Group 1185"/>
          <p:cNvGrpSpPr>
            <a:grpSpLocks/>
          </p:cNvGrpSpPr>
          <p:nvPr/>
        </p:nvGrpSpPr>
        <p:grpSpPr bwMode="auto">
          <a:xfrm>
            <a:off x="5262469" y="2694731"/>
            <a:ext cx="622697" cy="341710"/>
            <a:chOff x="4650" y="1129"/>
            <a:chExt cx="246" cy="95"/>
          </a:xfrm>
        </p:grpSpPr>
        <p:sp>
          <p:nvSpPr>
            <p:cNvPr id="185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6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7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88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91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92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89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0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202" name="Group 1185"/>
          <p:cNvGrpSpPr>
            <a:grpSpLocks/>
          </p:cNvGrpSpPr>
          <p:nvPr/>
        </p:nvGrpSpPr>
        <p:grpSpPr bwMode="auto">
          <a:xfrm>
            <a:off x="6766229" y="3198366"/>
            <a:ext cx="669131" cy="292894"/>
            <a:chOff x="4650" y="1129"/>
            <a:chExt cx="246" cy="95"/>
          </a:xfrm>
        </p:grpSpPr>
        <p:sp>
          <p:nvSpPr>
            <p:cNvPr id="203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4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5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06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09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0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207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8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211" name="Group 1185"/>
          <p:cNvGrpSpPr>
            <a:grpSpLocks/>
          </p:cNvGrpSpPr>
          <p:nvPr/>
        </p:nvGrpSpPr>
        <p:grpSpPr bwMode="auto">
          <a:xfrm>
            <a:off x="5574414" y="3953221"/>
            <a:ext cx="606028" cy="319088"/>
            <a:chOff x="4650" y="1129"/>
            <a:chExt cx="246" cy="95"/>
          </a:xfrm>
        </p:grpSpPr>
        <p:sp>
          <p:nvSpPr>
            <p:cNvPr id="212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13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14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15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8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9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216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7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173" name="Rectangle 43"/>
          <p:cNvSpPr>
            <a:spLocks noChangeArrowheads="1"/>
          </p:cNvSpPr>
          <p:nvPr/>
        </p:nvSpPr>
        <p:spPr bwMode="auto">
          <a:xfrm rot="16200000">
            <a:off x="3820622" y="3357909"/>
            <a:ext cx="110729" cy="141684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350">
              <a:solidFill>
                <a:srgbClr val="000000"/>
              </a:solidFill>
            </a:endParaRPr>
          </a:p>
        </p:txBody>
      </p:sp>
      <p:grpSp>
        <p:nvGrpSpPr>
          <p:cNvPr id="220" name="Group 1185"/>
          <p:cNvGrpSpPr>
            <a:grpSpLocks/>
          </p:cNvGrpSpPr>
          <p:nvPr/>
        </p:nvGrpSpPr>
        <p:grpSpPr bwMode="auto">
          <a:xfrm>
            <a:off x="4268297" y="4227065"/>
            <a:ext cx="606029" cy="319088"/>
            <a:chOff x="4650" y="1129"/>
            <a:chExt cx="246" cy="95"/>
          </a:xfrm>
        </p:grpSpPr>
        <p:sp>
          <p:nvSpPr>
            <p:cNvPr id="221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22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23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24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27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28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225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6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pic>
        <p:nvPicPr>
          <p:cNvPr id="338" name="图片 337">
            <a:extLst>
              <a:ext uri="{FF2B5EF4-FFF2-40B4-BE49-F238E27FC236}">
                <a16:creationId xmlns:a16="http://schemas.microsoft.com/office/drawing/2014/main" id="{199266C9-7CF0-497A-9036-91B34D42AD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684" y="3868536"/>
            <a:ext cx="957628" cy="62339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297" name="圆角矩形 296"/>
          <p:cNvSpPr/>
          <p:nvPr/>
        </p:nvSpPr>
        <p:spPr>
          <a:xfrm>
            <a:off x="1455775" y="1386326"/>
            <a:ext cx="6470389" cy="3633695"/>
          </a:xfrm>
          <a:prstGeom prst="roundRect">
            <a:avLst>
              <a:gd name="adj" fmla="val 3649"/>
            </a:avLst>
          </a:prstGeom>
          <a:solidFill>
            <a:srgbClr val="EFF8FF">
              <a:alpha val="9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160" name="Group 405"/>
          <p:cNvGrpSpPr>
            <a:grpSpLocks/>
          </p:cNvGrpSpPr>
          <p:nvPr/>
        </p:nvGrpSpPr>
        <p:grpSpPr bwMode="auto">
          <a:xfrm>
            <a:off x="1475091" y="1566018"/>
            <a:ext cx="1062038" cy="948929"/>
            <a:chOff x="146" y="690"/>
            <a:chExt cx="892" cy="797"/>
          </a:xfrm>
        </p:grpSpPr>
        <p:grpSp>
          <p:nvGrpSpPr>
            <p:cNvPr id="161" name="Group 400"/>
            <p:cNvGrpSpPr>
              <a:grpSpLocks/>
            </p:cNvGrpSpPr>
            <p:nvPr/>
          </p:nvGrpSpPr>
          <p:grpSpPr bwMode="auto">
            <a:xfrm>
              <a:off x="146" y="690"/>
              <a:ext cx="892" cy="797"/>
              <a:chOff x="146" y="690"/>
              <a:chExt cx="892" cy="797"/>
            </a:xfrm>
          </p:grpSpPr>
          <p:sp>
            <p:nvSpPr>
              <p:cNvPr id="163" name="Freeform 398"/>
              <p:cNvSpPr>
                <a:spLocks/>
              </p:cNvSpPr>
              <p:nvPr/>
            </p:nvSpPr>
            <p:spPr bwMode="auto">
              <a:xfrm>
                <a:off x="177" y="715"/>
                <a:ext cx="861" cy="772"/>
              </a:xfrm>
              <a:custGeom>
                <a:avLst/>
                <a:gdLst>
                  <a:gd name="T0" fmla="*/ 861 w 861"/>
                  <a:gd name="T1" fmla="*/ 772 h 772"/>
                  <a:gd name="T2" fmla="*/ 0 w 861"/>
                  <a:gd name="T3" fmla="*/ 557 h 772"/>
                  <a:gd name="T4" fmla="*/ 532 w 861"/>
                  <a:gd name="T5" fmla="*/ 405 h 772"/>
                  <a:gd name="T6" fmla="*/ 652 w 861"/>
                  <a:gd name="T7" fmla="*/ 0 h 772"/>
                  <a:gd name="T8" fmla="*/ 861 w 861"/>
                  <a:gd name="T9" fmla="*/ 772 h 7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61" h="772">
                    <a:moveTo>
                      <a:pt x="861" y="772"/>
                    </a:moveTo>
                    <a:lnTo>
                      <a:pt x="0" y="557"/>
                    </a:lnTo>
                    <a:lnTo>
                      <a:pt x="532" y="405"/>
                    </a:lnTo>
                    <a:lnTo>
                      <a:pt x="652" y="0"/>
                    </a:lnTo>
                    <a:lnTo>
                      <a:pt x="861" y="772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100000">
                    <a:srgbClr val="FF00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grpSp>
            <p:nvGrpSpPr>
              <p:cNvPr id="164" name="Group 392"/>
              <p:cNvGrpSpPr>
                <a:grpSpLocks/>
              </p:cNvGrpSpPr>
              <p:nvPr/>
            </p:nvGrpSpPr>
            <p:grpSpPr bwMode="auto">
              <a:xfrm>
                <a:off x="148" y="697"/>
                <a:ext cx="694" cy="574"/>
                <a:chOff x="2579" y="1366"/>
                <a:chExt cx="1078" cy="674"/>
              </a:xfrm>
            </p:grpSpPr>
            <p:pic>
              <p:nvPicPr>
                <p:cNvPr id="166" name="Picture 393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79" y="1366"/>
                  <a:ext cx="1078" cy="6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7" name="Rectangle 394"/>
                <p:cNvSpPr>
                  <a:spLocks noChangeArrowheads="1"/>
                </p:cNvSpPr>
                <p:nvPr/>
              </p:nvSpPr>
              <p:spPr bwMode="auto">
                <a:xfrm>
                  <a:off x="2633" y="1428"/>
                  <a:ext cx="957" cy="56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165" name="Rectangle 399"/>
              <p:cNvSpPr>
                <a:spLocks noChangeArrowheads="1"/>
              </p:cNvSpPr>
              <p:nvPr/>
            </p:nvSpPr>
            <p:spPr bwMode="auto">
              <a:xfrm>
                <a:off x="146" y="690"/>
                <a:ext cx="696" cy="58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162" name="Text Box 402"/>
            <p:cNvSpPr txBox="1">
              <a:spLocks noChangeArrowheads="1"/>
            </p:cNvSpPr>
            <p:nvPr/>
          </p:nvSpPr>
          <p:spPr bwMode="auto">
            <a:xfrm>
              <a:off x="227" y="850"/>
              <a:ext cx="55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FF0000"/>
                  </a:solidFill>
                  <a:latin typeface="Arial" panose="020B0604020202020204" pitchFamily="34" charset="0"/>
                </a:rPr>
                <a:t>browser</a:t>
              </a:r>
            </a:p>
          </p:txBody>
        </p:sp>
      </p:grpSp>
      <p:grpSp>
        <p:nvGrpSpPr>
          <p:cNvPr id="168" name="Group 356"/>
          <p:cNvGrpSpPr>
            <a:grpSpLocks/>
          </p:cNvGrpSpPr>
          <p:nvPr/>
        </p:nvGrpSpPr>
        <p:grpSpPr bwMode="auto">
          <a:xfrm>
            <a:off x="2391873" y="2118468"/>
            <a:ext cx="632222" cy="610791"/>
            <a:chOff x="313" y="1497"/>
            <a:chExt cx="1152" cy="1014"/>
          </a:xfrm>
        </p:grpSpPr>
        <p:pic>
          <p:nvPicPr>
            <p:cNvPr id="169" name="Picture 354" descr="laptop_stylized_small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0" name="Picture 355" descr="antenna_stylized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1" name="AutoShape 396"/>
          <p:cNvSpPr>
            <a:spLocks noChangeArrowheads="1"/>
          </p:cNvSpPr>
          <p:nvPr/>
        </p:nvSpPr>
        <p:spPr bwMode="auto">
          <a:xfrm>
            <a:off x="1759651" y="2394694"/>
            <a:ext cx="732234" cy="364331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83" name="Rectangle 43"/>
          <p:cNvSpPr>
            <a:spLocks noChangeArrowheads="1"/>
          </p:cNvSpPr>
          <p:nvPr/>
        </p:nvSpPr>
        <p:spPr bwMode="auto">
          <a:xfrm rot="16200000">
            <a:off x="3012188" y="2468512"/>
            <a:ext cx="109538" cy="235744"/>
          </a:xfrm>
          <a:prstGeom prst="rect">
            <a:avLst/>
          </a:prstGeom>
          <a:gradFill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350">
              <a:solidFill>
                <a:srgbClr val="000000"/>
              </a:solidFill>
            </a:endParaRPr>
          </a:p>
        </p:txBody>
      </p:sp>
      <p:pic>
        <p:nvPicPr>
          <p:cNvPr id="295" name="Picture 15" descr="User-icon"/>
          <p:cNvPicPr>
            <a:picLocks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269" y="2105888"/>
            <a:ext cx="465425" cy="46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6" name="Text Box 139"/>
          <p:cNvSpPr txBox="1">
            <a:spLocks noChangeArrowheads="1"/>
          </p:cNvSpPr>
          <p:nvPr/>
        </p:nvSpPr>
        <p:spPr bwMode="auto">
          <a:xfrm>
            <a:off x="3667949" y="1667760"/>
            <a:ext cx="1838708" cy="46166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ARP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4313" indent="-214313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获得网关的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2" name="文本框 301"/>
          <p:cNvSpPr txBox="1"/>
          <p:nvPr/>
        </p:nvSpPr>
        <p:spPr>
          <a:xfrm>
            <a:off x="1635766" y="2746578"/>
            <a:ext cx="17422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 err="1"/>
              <a:t>MAC:bb-bb-bb-bb-bb-bb</a:t>
            </a:r>
            <a:endParaRPr lang="zh-CN" altLang="en-US" sz="1050" dirty="0"/>
          </a:p>
        </p:txBody>
      </p:sp>
      <p:sp>
        <p:nvSpPr>
          <p:cNvPr id="175" name="Oval 407"/>
          <p:cNvSpPr>
            <a:spLocks noChangeArrowheads="1"/>
          </p:cNvSpPr>
          <p:nvPr/>
        </p:nvSpPr>
        <p:spPr bwMode="auto">
          <a:xfrm>
            <a:off x="3172922" y="3409106"/>
            <a:ext cx="638175" cy="188119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76" name="Rectangle 410"/>
          <p:cNvSpPr>
            <a:spLocks noChangeArrowheads="1"/>
          </p:cNvSpPr>
          <p:nvPr/>
        </p:nvSpPr>
        <p:spPr bwMode="auto">
          <a:xfrm>
            <a:off x="3172923" y="3387675"/>
            <a:ext cx="640556" cy="117872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45" name="Group 49"/>
          <p:cNvGrpSpPr>
            <a:grpSpLocks/>
          </p:cNvGrpSpPr>
          <p:nvPr/>
        </p:nvGrpSpPr>
        <p:grpSpPr bwMode="auto">
          <a:xfrm>
            <a:off x="3207451" y="3218608"/>
            <a:ext cx="566738" cy="241697"/>
            <a:chOff x="1118" y="1621"/>
            <a:chExt cx="476" cy="203"/>
          </a:xfrm>
        </p:grpSpPr>
        <p:sp>
          <p:nvSpPr>
            <p:cNvPr id="47" name="Rectangle 51"/>
            <p:cNvSpPr>
              <a:spLocks noChangeArrowheads="1"/>
            </p:cNvSpPr>
            <p:nvPr/>
          </p:nvSpPr>
          <p:spPr bwMode="auto">
            <a:xfrm rot="-2700000">
              <a:off x="1336" y="1621"/>
              <a:ext cx="162" cy="44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48" name="Group 52"/>
            <p:cNvGrpSpPr>
              <a:grpSpLocks/>
            </p:cNvGrpSpPr>
            <p:nvPr/>
          </p:nvGrpSpPr>
          <p:grpSpPr bwMode="auto">
            <a:xfrm>
              <a:off x="1118" y="1688"/>
              <a:ext cx="476" cy="136"/>
              <a:chOff x="2466" y="2026"/>
              <a:chExt cx="476" cy="160"/>
            </a:xfrm>
          </p:grpSpPr>
          <p:sp>
            <p:nvSpPr>
              <p:cNvPr id="52" name="Oval 56"/>
              <p:cNvSpPr>
                <a:spLocks noChangeArrowheads="1"/>
              </p:cNvSpPr>
              <p:nvPr/>
            </p:nvSpPr>
            <p:spPr bwMode="auto">
              <a:xfrm>
                <a:off x="2466" y="2026"/>
                <a:ext cx="476" cy="160"/>
              </a:xfrm>
              <a:prstGeom prst="ellipse">
                <a:avLst/>
              </a:prstGeom>
              <a:solidFill>
                <a:srgbClr val="DDDDDD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53" name="Group 57"/>
              <p:cNvGrpSpPr>
                <a:grpSpLocks/>
              </p:cNvGrpSpPr>
              <p:nvPr/>
            </p:nvGrpSpPr>
            <p:grpSpPr bwMode="auto">
              <a:xfrm>
                <a:off x="2581" y="2061"/>
                <a:ext cx="236" cy="94"/>
                <a:chOff x="2848" y="848"/>
                <a:chExt cx="140" cy="98"/>
              </a:xfrm>
            </p:grpSpPr>
            <p:sp>
              <p:nvSpPr>
                <p:cNvPr id="60" name="Line 58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61" name="Line 59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62" name="Line 60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54" name="Group 61"/>
              <p:cNvGrpSpPr>
                <a:grpSpLocks/>
              </p:cNvGrpSpPr>
              <p:nvPr/>
            </p:nvGrpSpPr>
            <p:grpSpPr bwMode="auto">
              <a:xfrm flipV="1">
                <a:off x="2581" y="2060"/>
                <a:ext cx="236" cy="94"/>
                <a:chOff x="2848" y="848"/>
                <a:chExt cx="140" cy="98"/>
              </a:xfrm>
            </p:grpSpPr>
            <p:sp>
              <p:nvSpPr>
                <p:cNvPr id="57" name="Line 6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58" name="Line 6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59" name="Line 6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</p:grpSp>
      </p:grpSp>
      <p:sp>
        <p:nvSpPr>
          <p:cNvPr id="174" name="Rectangle 43"/>
          <p:cNvSpPr>
            <a:spLocks noChangeArrowheads="1"/>
          </p:cNvSpPr>
          <p:nvPr/>
        </p:nvSpPr>
        <p:spPr bwMode="auto">
          <a:xfrm rot="2460490">
            <a:off x="3564639" y="3100735"/>
            <a:ext cx="102394" cy="229790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350">
              <a:solidFill>
                <a:srgbClr val="000000"/>
              </a:solidFill>
            </a:endParaRPr>
          </a:p>
        </p:txBody>
      </p:sp>
      <p:sp>
        <p:nvSpPr>
          <p:cNvPr id="177" name="Oval 411"/>
          <p:cNvSpPr>
            <a:spLocks noChangeArrowheads="1"/>
          </p:cNvSpPr>
          <p:nvPr/>
        </p:nvSpPr>
        <p:spPr bwMode="auto">
          <a:xfrm>
            <a:off x="3170541" y="3260278"/>
            <a:ext cx="638175" cy="220265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178" name="Group 1189"/>
          <p:cNvGrpSpPr>
            <a:grpSpLocks/>
          </p:cNvGrpSpPr>
          <p:nvPr/>
        </p:nvGrpSpPr>
        <p:grpSpPr bwMode="auto">
          <a:xfrm>
            <a:off x="3299129" y="3317428"/>
            <a:ext cx="360760" cy="102394"/>
            <a:chOff x="2468" y="1332"/>
            <a:chExt cx="310" cy="60"/>
          </a:xfrm>
        </p:grpSpPr>
        <p:sp>
          <p:nvSpPr>
            <p:cNvPr id="179" name="Freeform 1190"/>
            <p:cNvSpPr>
              <a:spLocks/>
            </p:cNvSpPr>
            <p:nvPr/>
          </p:nvSpPr>
          <p:spPr bwMode="auto">
            <a:xfrm>
              <a:off x="2468" y="1332"/>
              <a:ext cx="310" cy="60"/>
            </a:xfrm>
            <a:custGeom>
              <a:avLst/>
              <a:gdLst>
                <a:gd name="T0" fmla="*/ 0 w 310"/>
                <a:gd name="T1" fmla="*/ 60 h 60"/>
                <a:gd name="T2" fmla="*/ 96 w 310"/>
                <a:gd name="T3" fmla="*/ 60 h 60"/>
                <a:gd name="T4" fmla="*/ 192 w 310"/>
                <a:gd name="T5" fmla="*/ 0 h 60"/>
                <a:gd name="T6" fmla="*/ 310 w 310"/>
                <a:gd name="T7" fmla="*/ 0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0" h="60">
                  <a:moveTo>
                    <a:pt x="0" y="60"/>
                  </a:moveTo>
                  <a:lnTo>
                    <a:pt x="96" y="60"/>
                  </a:lnTo>
                  <a:lnTo>
                    <a:pt x="192" y="0"/>
                  </a:lnTo>
                  <a:lnTo>
                    <a:pt x="310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0" name="Freeform 1191"/>
            <p:cNvSpPr>
              <a:spLocks/>
            </p:cNvSpPr>
            <p:nvPr/>
          </p:nvSpPr>
          <p:spPr bwMode="auto">
            <a:xfrm>
              <a:off x="2482" y="1332"/>
              <a:ext cx="282" cy="60"/>
            </a:xfrm>
            <a:custGeom>
              <a:avLst/>
              <a:gdLst>
                <a:gd name="T0" fmla="*/ 0 w 282"/>
                <a:gd name="T1" fmla="*/ 0 h 60"/>
                <a:gd name="T2" fmla="*/ 96 w 282"/>
                <a:gd name="T3" fmla="*/ 0 h 60"/>
                <a:gd name="T4" fmla="*/ 192 w 282"/>
                <a:gd name="T5" fmla="*/ 60 h 60"/>
                <a:gd name="T6" fmla="*/ 282 w 282"/>
                <a:gd name="T7" fmla="*/ 60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2" h="60">
                  <a:moveTo>
                    <a:pt x="0" y="0"/>
                  </a:moveTo>
                  <a:lnTo>
                    <a:pt x="96" y="0"/>
                  </a:lnTo>
                  <a:lnTo>
                    <a:pt x="192" y="60"/>
                  </a:lnTo>
                  <a:lnTo>
                    <a:pt x="282" y="6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298" name="灯片编号占位符 2">
            <a:extLst>
              <a:ext uri="{FF2B5EF4-FFF2-40B4-BE49-F238E27FC236}">
                <a16:creationId xmlns:a16="http://schemas.microsoft.com/office/drawing/2014/main" id="{EDDF1443-4663-4337-AC95-8E179E417ED6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12</a:t>
            </a:fld>
            <a:endParaRPr lang="en-US" altLang="zh-CN" dirty="0"/>
          </a:p>
        </p:txBody>
      </p:sp>
      <p:sp>
        <p:nvSpPr>
          <p:cNvPr id="299" name="AutoShape 5">
            <a:extLst>
              <a:ext uri="{FF2B5EF4-FFF2-40B4-BE49-F238E27FC236}">
                <a16:creationId xmlns:a16="http://schemas.microsoft.com/office/drawing/2014/main" id="{C654F46E-C96B-4D25-A7A7-D53D128D1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074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9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29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" grpId="0"/>
      <p:bldP spid="299" grpId="0" animBg="1"/>
      <p:bldP spid="299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5.7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总结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: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自底向上回顾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一次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请求所要做的工作：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继续准备</a:t>
            </a: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浏览器输入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HTTP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请求，但需要得知目的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IP</a:t>
            </a:r>
          </a:p>
          <a:p>
            <a:pPr lvl="1">
              <a:spcBef>
                <a:spcPts val="45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DNS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查询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(8)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客户机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DNS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请求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(9) </a:t>
            </a:r>
            <a:r>
              <a:rPr lang="zh-CN" altLang="en-US" dirty="0">
                <a:solidFill>
                  <a:srgbClr val="0066CC"/>
                </a:solidFill>
              </a:rPr>
              <a:t>需要知道网关的</a:t>
            </a:r>
            <a:r>
              <a:rPr lang="en-US" altLang="zh-CN" dirty="0">
                <a:solidFill>
                  <a:srgbClr val="0066CC"/>
                </a:solidFill>
              </a:rPr>
              <a:t>MAC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en-US" altLang="zh-CN" sz="1350" dirty="0">
                <a:solidFill>
                  <a:srgbClr val="0066CC"/>
                </a:solidFill>
              </a:rPr>
              <a:t>(10) ARP</a:t>
            </a:r>
            <a:r>
              <a:rPr lang="zh-CN" altLang="en-US" sz="1350" dirty="0">
                <a:solidFill>
                  <a:srgbClr val="0066CC"/>
                </a:solidFill>
              </a:rPr>
              <a:t>查询</a:t>
            </a:r>
            <a:endParaRPr lang="en-US" altLang="zh-CN" sz="1350" dirty="0">
              <a:solidFill>
                <a:srgbClr val="0066CC"/>
              </a:solidFill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客户机网卡</a:t>
            </a: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封装</a:t>
            </a:r>
            <a:r>
              <a:rPr lang="en-US" altLang="zh-CN" dirty="0">
                <a:solidFill>
                  <a:srgbClr val="0066CC"/>
                </a:solidFill>
              </a:rPr>
              <a:t>ARP</a:t>
            </a:r>
            <a:r>
              <a:rPr lang="zh-CN" altLang="en-US" dirty="0">
                <a:solidFill>
                  <a:srgbClr val="0066CC"/>
                </a:solidFill>
              </a:rPr>
              <a:t>查询报文</a:t>
            </a:r>
            <a:endParaRPr lang="en-US" altLang="zh-CN" dirty="0">
              <a:solidFill>
                <a:srgbClr val="0066CC"/>
              </a:solidFill>
            </a:endParaRPr>
          </a:p>
          <a:p>
            <a:pPr lvl="4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66CC"/>
                </a:solidFill>
              </a:rPr>
              <a:t>Who has </a:t>
            </a:r>
            <a:r>
              <a:rPr lang="en-US" altLang="zh-CN" dirty="0" err="1">
                <a:solidFill>
                  <a:srgbClr val="0066CC"/>
                </a:solidFill>
              </a:rPr>
              <a:t>Gateway_IP</a:t>
            </a:r>
            <a:r>
              <a:rPr lang="zh-CN" altLang="en-US" dirty="0">
                <a:solidFill>
                  <a:srgbClr val="0066CC"/>
                </a:solidFill>
              </a:rPr>
              <a:t>，</a:t>
            </a:r>
            <a:r>
              <a:rPr lang="en-US" altLang="zh-CN" dirty="0">
                <a:solidFill>
                  <a:srgbClr val="0066CC"/>
                </a:solidFill>
              </a:rPr>
              <a:t>Tell </a:t>
            </a:r>
            <a:r>
              <a:rPr lang="en-US" altLang="zh-CN" dirty="0" err="1">
                <a:solidFill>
                  <a:srgbClr val="0066CC"/>
                </a:solidFill>
              </a:rPr>
              <a:t>Bob</a:t>
            </a:r>
            <a:r>
              <a:rPr lang="en-US" altLang="zh-CN" dirty="0" err="1">
                <a:solidFill>
                  <a:srgbClr val="0066CC"/>
                </a:solidFill>
                <a:cs typeface="Times New Roman" panose="02020603050405020304" pitchFamily="18" charset="0"/>
              </a:rPr>
              <a:t>_</a:t>
            </a:r>
            <a:r>
              <a:rPr lang="en-US" altLang="zh-CN" dirty="0" err="1">
                <a:solidFill>
                  <a:srgbClr val="0066CC"/>
                </a:solidFill>
              </a:rPr>
              <a:t>IP</a:t>
            </a:r>
            <a:r>
              <a:rPr lang="en-US" altLang="zh-CN" dirty="0">
                <a:solidFill>
                  <a:srgbClr val="0066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Framing</a:t>
            </a:r>
          </a:p>
          <a:p>
            <a:pPr lvl="4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DMAC</a:t>
            </a:r>
            <a:r>
              <a:rPr lang="zh-CN" altLang="en-US" dirty="0">
                <a:solidFill>
                  <a:srgbClr val="0066CC"/>
                </a:solidFill>
              </a:rPr>
              <a:t>：</a:t>
            </a:r>
            <a:r>
              <a:rPr lang="en-US" altLang="zh-CN" dirty="0">
                <a:solidFill>
                  <a:srgbClr val="0066CC"/>
                </a:solidFill>
              </a:rPr>
              <a:t>FF-FF-FF-FF-FF-FF</a:t>
            </a:r>
          </a:p>
          <a:p>
            <a:pPr lvl="4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SMAC</a:t>
            </a:r>
            <a:r>
              <a:rPr lang="zh-CN" altLang="en-US" dirty="0">
                <a:solidFill>
                  <a:srgbClr val="0066CC"/>
                </a:solidFill>
              </a:rPr>
              <a:t>：</a:t>
            </a:r>
            <a:r>
              <a:rPr lang="en-US" altLang="zh-CN" dirty="0">
                <a:solidFill>
                  <a:srgbClr val="0066CC"/>
                </a:solidFill>
              </a:rPr>
              <a:t>bb-bb-bb-bb-bb-bb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8" name="Group 92"/>
          <p:cNvGrpSpPr>
            <a:grpSpLocks/>
          </p:cNvGrpSpPr>
          <p:nvPr/>
        </p:nvGrpSpPr>
        <p:grpSpPr bwMode="auto">
          <a:xfrm>
            <a:off x="5173483" y="1837637"/>
            <a:ext cx="2665809" cy="2322880"/>
            <a:chOff x="773113" y="1273175"/>
            <a:chExt cx="3554412" cy="3096511"/>
          </a:xfrm>
        </p:grpSpPr>
        <p:sp>
          <p:nvSpPr>
            <p:cNvPr id="9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6 w 2406"/>
                <a:gd name="T1" fmla="*/ 2147483646 h 958"/>
                <a:gd name="T2" fmla="*/ 2147483646 w 2406"/>
                <a:gd name="T3" fmla="*/ 2147483646 h 958"/>
                <a:gd name="T4" fmla="*/ 2147483646 w 2406"/>
                <a:gd name="T5" fmla="*/ 2147483646 h 958"/>
                <a:gd name="T6" fmla="*/ 2147483646 w 2406"/>
                <a:gd name="T7" fmla="*/ 2147483646 h 958"/>
                <a:gd name="T8" fmla="*/ 2147483646 w 2406"/>
                <a:gd name="T9" fmla="*/ 2147483646 h 958"/>
                <a:gd name="T10" fmla="*/ 2147483646 w 2406"/>
                <a:gd name="T11" fmla="*/ 2147483646 h 958"/>
                <a:gd name="T12" fmla="*/ 2147483646 w 2406"/>
                <a:gd name="T13" fmla="*/ 2147483646 h 958"/>
                <a:gd name="T14" fmla="*/ 2147483646 w 2406"/>
                <a:gd name="T15" fmla="*/ 2147483646 h 958"/>
                <a:gd name="T16" fmla="*/ 2147483646 w 2406"/>
                <a:gd name="T17" fmla="*/ 2147483646 h 958"/>
                <a:gd name="T18" fmla="*/ 2147483646 w 2406"/>
                <a:gd name="T19" fmla="*/ 2147483646 h 958"/>
                <a:gd name="T20" fmla="*/ 2147483646 w 2406"/>
                <a:gd name="T21" fmla="*/ 2147483646 h 958"/>
                <a:gd name="T22" fmla="*/ 2147483646 w 2406"/>
                <a:gd name="T23" fmla="*/ 2147483646 h 958"/>
                <a:gd name="T24" fmla="*/ 2147483646 w 2406"/>
                <a:gd name="T25" fmla="*/ 2147483646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76417" cy="553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router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(runs DHCP)</a:t>
              </a:r>
            </a:p>
          </p:txBody>
        </p:sp>
        <p:grpSp>
          <p:nvGrpSpPr>
            <p:cNvPr id="15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67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8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6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sp>
          <p:nvSpPr>
            <p:cNvPr id="18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sp>
          <p:nvSpPr>
            <p:cNvPr id="19" name="Rectangle 43"/>
            <p:cNvSpPr>
              <a:spLocks noChangeArrowheads="1"/>
            </p:cNvSpPr>
            <p:nvPr/>
          </p:nvSpPr>
          <p:spPr bwMode="auto">
            <a:xfrm rot="-54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grpSp>
          <p:nvGrpSpPr>
            <p:cNvPr id="20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35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7 w 354"/>
                  <a:gd name="T1" fmla="*/ 0 h 2742"/>
                  <a:gd name="T2" fmla="*/ 93 w 354"/>
                  <a:gd name="T3" fmla="*/ 114 h 2742"/>
                  <a:gd name="T4" fmla="*/ 91 w 354"/>
                  <a:gd name="T5" fmla="*/ 881 h 2742"/>
                  <a:gd name="T6" fmla="*/ 0 w 354"/>
                  <a:gd name="T7" fmla="*/ 921 h 2742"/>
                  <a:gd name="T8" fmla="*/ 1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37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6 w 211"/>
                  <a:gd name="T3" fmla="*/ 73 h 2537"/>
                  <a:gd name="T4" fmla="*/ 2 w 211"/>
                  <a:gd name="T5" fmla="*/ 83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3 h 226"/>
                  <a:gd name="T4" fmla="*/ 87 w 328"/>
                  <a:gd name="T5" fmla="*/ 77 h 226"/>
                  <a:gd name="T6" fmla="*/ 0 w 328"/>
                  <a:gd name="T7" fmla="*/ 3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0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5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6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1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2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3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4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3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44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5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1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2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6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2 h 226"/>
                  <a:gd name="T4" fmla="*/ 87 w 328"/>
                  <a:gd name="T5" fmla="*/ 75 h 226"/>
                  <a:gd name="T6" fmla="*/ 0 w 328"/>
                  <a:gd name="T7" fmla="*/ 3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47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59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0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8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49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7 w 296"/>
                  <a:gd name="T3" fmla="*/ 47 h 256"/>
                  <a:gd name="T4" fmla="*/ 78 w 296"/>
                  <a:gd name="T5" fmla="*/ 85 h 256"/>
                  <a:gd name="T6" fmla="*/ 0 w 296"/>
                  <a:gd name="T7" fmla="*/ 3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81 w 304"/>
                  <a:gd name="T3" fmla="*/ 55 h 288"/>
                  <a:gd name="T4" fmla="*/ 76 w 304"/>
                  <a:gd name="T5" fmla="*/ 97 h 288"/>
                  <a:gd name="T6" fmla="*/ 2 w 304"/>
                  <a:gd name="T7" fmla="*/ 4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1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2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6 h 240"/>
                  <a:gd name="T2" fmla="*/ 2 w 306"/>
                  <a:gd name="T3" fmla="*/ 81 h 240"/>
                  <a:gd name="T4" fmla="*/ 81 w 306"/>
                  <a:gd name="T5" fmla="*/ 37 h 240"/>
                  <a:gd name="T6" fmla="*/ 78 w 306"/>
                  <a:gd name="T7" fmla="*/ 0 h 240"/>
                  <a:gd name="T8" fmla="*/ 0 w 306"/>
                  <a:gd name="T9" fmla="*/ 3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3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6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4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5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6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7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8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21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22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3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5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27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2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3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4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28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9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0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1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3"/>
                  <a:ext cx="52" cy="9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</p:grpSp>
      </p:grpSp>
      <p:sp>
        <p:nvSpPr>
          <p:cNvPr id="69" name="Line 43"/>
          <p:cNvSpPr>
            <a:spLocks noChangeShapeType="1"/>
          </p:cNvSpPr>
          <p:nvPr/>
        </p:nvSpPr>
        <p:spPr bwMode="auto">
          <a:xfrm flipV="1">
            <a:off x="6592708" y="2771087"/>
            <a:ext cx="52149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101" name="Group 263"/>
          <p:cNvGrpSpPr>
            <a:grpSpLocks/>
          </p:cNvGrpSpPr>
          <p:nvPr/>
        </p:nvGrpSpPr>
        <p:grpSpPr bwMode="auto">
          <a:xfrm>
            <a:off x="4662704" y="2284129"/>
            <a:ext cx="810816" cy="207169"/>
            <a:chOff x="76" y="2296"/>
            <a:chExt cx="681" cy="174"/>
          </a:xfrm>
        </p:grpSpPr>
        <p:sp>
          <p:nvSpPr>
            <p:cNvPr id="102" name="Rectangle 103"/>
            <p:cNvSpPr>
              <a:spLocks noChangeArrowheads="1"/>
            </p:cNvSpPr>
            <p:nvPr/>
          </p:nvSpPr>
          <p:spPr bwMode="auto">
            <a:xfrm>
              <a:off x="76" y="2305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03" name="Rectangle 101"/>
            <p:cNvSpPr>
              <a:spLocks noChangeArrowheads="1"/>
            </p:cNvSpPr>
            <p:nvPr/>
          </p:nvSpPr>
          <p:spPr bwMode="auto">
            <a:xfrm>
              <a:off x="89" y="2321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04" name="Rectangle 102"/>
            <p:cNvSpPr>
              <a:spLocks noChangeArrowheads="1"/>
            </p:cNvSpPr>
            <p:nvPr/>
          </p:nvSpPr>
          <p:spPr bwMode="auto">
            <a:xfrm>
              <a:off x="687" y="2320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05" name="Rectangle 100"/>
            <p:cNvSpPr>
              <a:spLocks noChangeArrowheads="1"/>
            </p:cNvSpPr>
            <p:nvPr/>
          </p:nvSpPr>
          <p:spPr bwMode="auto"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06" name="Text Box 95"/>
            <p:cNvSpPr txBox="1">
              <a:spLocks noChangeArrowheads="1"/>
            </p:cNvSpPr>
            <p:nvPr/>
          </p:nvSpPr>
          <p:spPr bwMode="auto">
            <a:xfrm>
              <a:off x="182" y="2296"/>
              <a:ext cx="54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750" dirty="0">
                  <a:solidFill>
                    <a:srgbClr val="000000"/>
                  </a:solidFill>
                  <a:latin typeface="Arial" panose="020B0604020202020204" pitchFamily="34" charset="0"/>
                </a:rPr>
                <a:t>ARP query</a:t>
              </a:r>
            </a:p>
          </p:txBody>
        </p:sp>
      </p:grpSp>
      <p:grpSp>
        <p:nvGrpSpPr>
          <p:cNvPr id="107" name="Group 255"/>
          <p:cNvGrpSpPr>
            <a:grpSpLocks/>
          </p:cNvGrpSpPr>
          <p:nvPr/>
        </p:nvGrpSpPr>
        <p:grpSpPr bwMode="auto">
          <a:xfrm>
            <a:off x="6274811" y="3119941"/>
            <a:ext cx="762000" cy="658415"/>
            <a:chOff x="719" y="2137"/>
            <a:chExt cx="640" cy="553"/>
          </a:xfrm>
        </p:grpSpPr>
        <p:sp>
          <p:nvSpPr>
            <p:cNvPr id="108" name="Freeform 244"/>
            <p:cNvSpPr>
              <a:spLocks/>
            </p:cNvSpPr>
            <p:nvPr/>
          </p:nvSpPr>
          <p:spPr bwMode="auto">
            <a:xfrm>
              <a:off x="755" y="2268"/>
              <a:ext cx="604" cy="422"/>
            </a:xfrm>
            <a:custGeom>
              <a:avLst/>
              <a:gdLst>
                <a:gd name="T0" fmla="*/ 493 w 604"/>
                <a:gd name="T1" fmla="*/ 0 h 422"/>
                <a:gd name="T2" fmla="*/ 604 w 604"/>
                <a:gd name="T3" fmla="*/ 422 h 422"/>
                <a:gd name="T4" fmla="*/ 0 w 604"/>
                <a:gd name="T5" fmla="*/ 307 h 422"/>
                <a:gd name="T6" fmla="*/ 220 w 604"/>
                <a:gd name="T7" fmla="*/ 3 h 422"/>
                <a:gd name="T8" fmla="*/ 493 w 604"/>
                <a:gd name="T9" fmla="*/ 0 h 4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422">
                  <a:moveTo>
                    <a:pt x="493" y="0"/>
                  </a:moveTo>
                  <a:lnTo>
                    <a:pt x="604" y="422"/>
                  </a:lnTo>
                  <a:lnTo>
                    <a:pt x="0" y="307"/>
                  </a:lnTo>
                  <a:lnTo>
                    <a:pt x="220" y="3"/>
                  </a:lnTo>
                  <a:lnTo>
                    <a:pt x="493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109" name="Rectangle 246"/>
            <p:cNvSpPr>
              <a:spLocks noChangeArrowheads="1"/>
            </p:cNvSpPr>
            <p:nvPr/>
          </p:nvSpPr>
          <p:spPr bwMode="auto">
            <a:xfrm>
              <a:off x="751" y="2266"/>
              <a:ext cx="493" cy="3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10" name="Text Box 247"/>
            <p:cNvSpPr txBox="1">
              <a:spLocks noChangeArrowheads="1"/>
            </p:cNvSpPr>
            <p:nvPr/>
          </p:nvSpPr>
          <p:spPr bwMode="auto">
            <a:xfrm>
              <a:off x="815" y="2235"/>
              <a:ext cx="377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</a:rPr>
                <a:t>Eth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</a:rPr>
                <a:t>Phy</a:t>
              </a:r>
            </a:p>
          </p:txBody>
        </p:sp>
        <p:sp>
          <p:nvSpPr>
            <p:cNvPr id="111" name="Line 250"/>
            <p:cNvSpPr>
              <a:spLocks noChangeShapeType="1"/>
            </p:cNvSpPr>
            <p:nvPr/>
          </p:nvSpPr>
          <p:spPr bwMode="auto">
            <a:xfrm>
              <a:off x="747" y="2264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112" name="Line 251"/>
            <p:cNvSpPr>
              <a:spLocks noChangeShapeType="1"/>
            </p:cNvSpPr>
            <p:nvPr/>
          </p:nvSpPr>
          <p:spPr bwMode="auto">
            <a:xfrm>
              <a:off x="744" y="2423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113" name="Group 252"/>
            <p:cNvGrpSpPr>
              <a:grpSpLocks/>
            </p:cNvGrpSpPr>
            <p:nvPr/>
          </p:nvGrpSpPr>
          <p:grpSpPr bwMode="auto">
            <a:xfrm>
              <a:off x="719" y="2137"/>
              <a:ext cx="321" cy="174"/>
              <a:chOff x="161" y="1354"/>
              <a:chExt cx="321" cy="174"/>
            </a:xfrm>
          </p:grpSpPr>
          <p:sp>
            <p:nvSpPr>
              <p:cNvPr id="114" name="Rectangle 253"/>
              <p:cNvSpPr>
                <a:spLocks noChangeArrowheads="1"/>
              </p:cNvSpPr>
              <p:nvPr/>
            </p:nvSpPr>
            <p:spPr bwMode="auto">
              <a:xfrm>
                <a:off x="192" y="1365"/>
                <a:ext cx="228" cy="14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15" name="Text Box 254"/>
              <p:cNvSpPr txBox="1">
                <a:spLocks noChangeArrowheads="1"/>
              </p:cNvSpPr>
              <p:nvPr/>
            </p:nvSpPr>
            <p:spPr bwMode="auto">
              <a:xfrm>
                <a:off x="161" y="1354"/>
                <a:ext cx="32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750">
                    <a:solidFill>
                      <a:srgbClr val="000000"/>
                    </a:solidFill>
                    <a:latin typeface="Arial" panose="020B0604020202020204" pitchFamily="34" charset="0"/>
                  </a:rPr>
                  <a:t>ARP</a:t>
                </a:r>
              </a:p>
            </p:txBody>
          </p:sp>
        </p:grpSp>
      </p:grpSp>
      <p:grpSp>
        <p:nvGrpSpPr>
          <p:cNvPr id="125" name="Group 255"/>
          <p:cNvGrpSpPr>
            <a:grpSpLocks/>
          </p:cNvGrpSpPr>
          <p:nvPr/>
        </p:nvGrpSpPr>
        <p:grpSpPr bwMode="auto">
          <a:xfrm>
            <a:off x="5452334" y="2104645"/>
            <a:ext cx="762000" cy="658415"/>
            <a:chOff x="719" y="2137"/>
            <a:chExt cx="640" cy="553"/>
          </a:xfrm>
        </p:grpSpPr>
        <p:sp>
          <p:nvSpPr>
            <p:cNvPr id="126" name="Freeform 244"/>
            <p:cNvSpPr>
              <a:spLocks/>
            </p:cNvSpPr>
            <p:nvPr/>
          </p:nvSpPr>
          <p:spPr bwMode="auto">
            <a:xfrm>
              <a:off x="755" y="2268"/>
              <a:ext cx="604" cy="422"/>
            </a:xfrm>
            <a:custGeom>
              <a:avLst/>
              <a:gdLst>
                <a:gd name="T0" fmla="*/ 493 w 604"/>
                <a:gd name="T1" fmla="*/ 0 h 422"/>
                <a:gd name="T2" fmla="*/ 604 w 604"/>
                <a:gd name="T3" fmla="*/ 422 h 422"/>
                <a:gd name="T4" fmla="*/ 0 w 604"/>
                <a:gd name="T5" fmla="*/ 307 h 422"/>
                <a:gd name="T6" fmla="*/ 220 w 604"/>
                <a:gd name="T7" fmla="*/ 3 h 422"/>
                <a:gd name="T8" fmla="*/ 493 w 604"/>
                <a:gd name="T9" fmla="*/ 0 h 4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422">
                  <a:moveTo>
                    <a:pt x="493" y="0"/>
                  </a:moveTo>
                  <a:lnTo>
                    <a:pt x="604" y="422"/>
                  </a:lnTo>
                  <a:lnTo>
                    <a:pt x="0" y="307"/>
                  </a:lnTo>
                  <a:lnTo>
                    <a:pt x="220" y="3"/>
                  </a:lnTo>
                  <a:lnTo>
                    <a:pt x="493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127" name="Rectangle 246"/>
            <p:cNvSpPr>
              <a:spLocks noChangeArrowheads="1"/>
            </p:cNvSpPr>
            <p:nvPr/>
          </p:nvSpPr>
          <p:spPr bwMode="auto">
            <a:xfrm>
              <a:off x="751" y="2266"/>
              <a:ext cx="493" cy="3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28" name="Text Box 247"/>
            <p:cNvSpPr txBox="1">
              <a:spLocks noChangeArrowheads="1"/>
            </p:cNvSpPr>
            <p:nvPr/>
          </p:nvSpPr>
          <p:spPr bwMode="auto">
            <a:xfrm>
              <a:off x="815" y="2235"/>
              <a:ext cx="377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</a:rPr>
                <a:t>Eth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</a:rPr>
                <a:t>Phy</a:t>
              </a:r>
            </a:p>
          </p:txBody>
        </p:sp>
        <p:sp>
          <p:nvSpPr>
            <p:cNvPr id="129" name="Line 250"/>
            <p:cNvSpPr>
              <a:spLocks noChangeShapeType="1"/>
            </p:cNvSpPr>
            <p:nvPr/>
          </p:nvSpPr>
          <p:spPr bwMode="auto">
            <a:xfrm>
              <a:off x="747" y="2264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130" name="Line 251"/>
            <p:cNvSpPr>
              <a:spLocks noChangeShapeType="1"/>
            </p:cNvSpPr>
            <p:nvPr/>
          </p:nvSpPr>
          <p:spPr bwMode="auto">
            <a:xfrm>
              <a:off x="744" y="2423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131" name="Group 252"/>
            <p:cNvGrpSpPr>
              <a:grpSpLocks/>
            </p:cNvGrpSpPr>
            <p:nvPr/>
          </p:nvGrpSpPr>
          <p:grpSpPr bwMode="auto">
            <a:xfrm>
              <a:off x="719" y="2137"/>
              <a:ext cx="321" cy="174"/>
              <a:chOff x="161" y="1354"/>
              <a:chExt cx="321" cy="174"/>
            </a:xfrm>
          </p:grpSpPr>
          <p:sp>
            <p:nvSpPr>
              <p:cNvPr id="132" name="Rectangle 253"/>
              <p:cNvSpPr>
                <a:spLocks noChangeArrowheads="1"/>
              </p:cNvSpPr>
              <p:nvPr/>
            </p:nvSpPr>
            <p:spPr bwMode="auto">
              <a:xfrm>
                <a:off x="192" y="1365"/>
                <a:ext cx="228" cy="14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33" name="Text Box 254"/>
              <p:cNvSpPr txBox="1">
                <a:spLocks noChangeArrowheads="1"/>
              </p:cNvSpPr>
              <p:nvPr/>
            </p:nvSpPr>
            <p:spPr bwMode="auto">
              <a:xfrm>
                <a:off x="161" y="1354"/>
                <a:ext cx="32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75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ARP</a:t>
                </a:r>
              </a:p>
            </p:txBody>
          </p:sp>
        </p:grpSp>
      </p:grpSp>
      <p:sp>
        <p:nvSpPr>
          <p:cNvPr id="90" name="灯片编号占位符 2">
            <a:extLst>
              <a:ext uri="{FF2B5EF4-FFF2-40B4-BE49-F238E27FC236}">
                <a16:creationId xmlns:a16="http://schemas.microsoft.com/office/drawing/2014/main" id="{4BE63AD5-CF4F-49E6-AFCA-24597FDB51E7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13</a:t>
            </a:fld>
            <a:endParaRPr lang="en-US" altLang="zh-CN" dirty="0"/>
          </a:p>
        </p:txBody>
      </p:sp>
      <p:sp>
        <p:nvSpPr>
          <p:cNvPr id="91" name="AutoShape 5">
            <a:extLst>
              <a:ext uri="{FF2B5EF4-FFF2-40B4-BE49-F238E27FC236}">
                <a16:creationId xmlns:a16="http://schemas.microsoft.com/office/drawing/2014/main" id="{0A7EA755-4332-40C1-AC48-1B773E3DF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380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4.44444E-6 L -0.00052 0.08055 L 0.41511 0.075 L 0.26702 0.27569 L 0.11511 0.2743 L 0.11511 0.18888 " pathEditMode="relative" rAng="0" ptsTypes="AAAAAA">
                                      <p:cBhvr>
                                        <p:cTn id="20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29" y="137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 tmFilter="0, 0; .2, .5; .8, .5; 1, 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250" autoRev="1" fill="hold"/>
                                        <p:tgtEl>
                                          <p:spTgt spid="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1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5.7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总结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: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自底向上回顾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一次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请求所要做的工作：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继续准备</a:t>
            </a: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浏览器输入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HTTP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请求，但需要得知目的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IP</a:t>
            </a:r>
          </a:p>
          <a:p>
            <a:pPr lvl="1">
              <a:spcBef>
                <a:spcPts val="45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DNS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查询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(8)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客户机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DNS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请求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(9)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需要知道网关的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MAC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en-US" altLang="zh-CN" sz="1350" dirty="0">
                <a:solidFill>
                  <a:schemeClr val="bg1">
                    <a:lumMod val="65000"/>
                  </a:schemeClr>
                </a:solidFill>
              </a:rPr>
              <a:t>(10) ARP</a:t>
            </a:r>
            <a:r>
              <a:rPr lang="zh-CN" altLang="en-US" sz="1350" dirty="0">
                <a:solidFill>
                  <a:schemeClr val="bg1">
                    <a:lumMod val="65000"/>
                  </a:schemeClr>
                </a:solidFill>
              </a:rPr>
              <a:t>请求</a:t>
            </a:r>
            <a:endParaRPr lang="en-US" altLang="zh-CN" sz="1350" dirty="0">
              <a:solidFill>
                <a:schemeClr val="bg1">
                  <a:lumMod val="65000"/>
                </a:schemeClr>
              </a:solidFill>
            </a:endParaRPr>
          </a:p>
          <a:p>
            <a:pPr lvl="1">
              <a:spcBef>
                <a:spcPts val="450"/>
              </a:spcBef>
            </a:pPr>
            <a:r>
              <a:rPr lang="en-US" altLang="zh-CN" sz="1350" dirty="0">
                <a:solidFill>
                  <a:srgbClr val="0066CC"/>
                </a:solidFill>
              </a:rPr>
              <a:t>(11) ARP</a:t>
            </a:r>
            <a:r>
              <a:rPr lang="zh-CN" altLang="en-US" sz="1350" dirty="0">
                <a:solidFill>
                  <a:srgbClr val="0066CC"/>
                </a:solidFill>
              </a:rPr>
              <a:t>响应</a:t>
            </a:r>
            <a:endParaRPr lang="en-US" altLang="zh-CN" sz="1350" dirty="0">
              <a:solidFill>
                <a:srgbClr val="0066CC"/>
              </a:solidFill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网关接口</a:t>
            </a: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封装</a:t>
            </a:r>
            <a:r>
              <a:rPr lang="en-US" altLang="zh-CN" dirty="0">
                <a:solidFill>
                  <a:srgbClr val="0066CC"/>
                </a:solidFill>
              </a:rPr>
              <a:t>ARP</a:t>
            </a:r>
            <a:r>
              <a:rPr lang="zh-CN" altLang="en-US" dirty="0">
                <a:solidFill>
                  <a:srgbClr val="0066CC"/>
                </a:solidFill>
              </a:rPr>
              <a:t>响应报文</a:t>
            </a: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Framing</a:t>
            </a:r>
          </a:p>
          <a:p>
            <a:pPr lvl="4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DMAC</a:t>
            </a:r>
            <a:r>
              <a:rPr lang="zh-CN" altLang="en-US" dirty="0">
                <a:solidFill>
                  <a:srgbClr val="0066CC"/>
                </a:solidFill>
              </a:rPr>
              <a:t>：</a:t>
            </a:r>
            <a:r>
              <a:rPr lang="en-US" altLang="zh-CN" dirty="0">
                <a:solidFill>
                  <a:srgbClr val="0066CC"/>
                </a:solidFill>
              </a:rPr>
              <a:t>bb-bb-bb-bb-bb-bb</a:t>
            </a:r>
          </a:p>
          <a:p>
            <a:pPr lvl="4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SMAC</a:t>
            </a:r>
            <a:r>
              <a:rPr lang="zh-CN" altLang="en-US" dirty="0">
                <a:solidFill>
                  <a:srgbClr val="0066CC"/>
                </a:solidFill>
              </a:rPr>
              <a:t>：网关的</a:t>
            </a:r>
            <a:r>
              <a:rPr lang="en-US" altLang="zh-CN" dirty="0">
                <a:solidFill>
                  <a:srgbClr val="0066CC"/>
                </a:solidFill>
              </a:rPr>
              <a:t>MAC</a:t>
            </a:r>
            <a:endParaRPr lang="en-US" altLang="zh-CN" sz="900" baseline="-25000" dirty="0">
              <a:solidFill>
                <a:srgbClr val="0066CC"/>
              </a:solidFill>
            </a:endParaRPr>
          </a:p>
          <a:p>
            <a:pPr lvl="1">
              <a:spcBef>
                <a:spcPts val="450"/>
              </a:spcBef>
            </a:pPr>
            <a:r>
              <a:rPr lang="en-US" altLang="zh-CN" sz="1350" dirty="0">
                <a:solidFill>
                  <a:srgbClr val="0066CC"/>
                </a:solidFill>
              </a:rPr>
              <a:t>(12) </a:t>
            </a:r>
            <a:r>
              <a:rPr lang="zh-CN" altLang="en-US" sz="1350" dirty="0">
                <a:solidFill>
                  <a:srgbClr val="0066CC"/>
                </a:solidFill>
              </a:rPr>
              <a:t>客户机获得网关的</a:t>
            </a:r>
            <a:r>
              <a:rPr lang="en-US" altLang="zh-CN" sz="1350" dirty="0">
                <a:solidFill>
                  <a:srgbClr val="0066CC"/>
                </a:solidFill>
              </a:rPr>
              <a:t>MAC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8" name="Group 92"/>
          <p:cNvGrpSpPr>
            <a:grpSpLocks/>
          </p:cNvGrpSpPr>
          <p:nvPr/>
        </p:nvGrpSpPr>
        <p:grpSpPr bwMode="auto">
          <a:xfrm>
            <a:off x="5173483" y="1837637"/>
            <a:ext cx="2665809" cy="2322880"/>
            <a:chOff x="773113" y="1273175"/>
            <a:chExt cx="3554412" cy="3096511"/>
          </a:xfrm>
        </p:grpSpPr>
        <p:sp>
          <p:nvSpPr>
            <p:cNvPr id="9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6 w 2406"/>
                <a:gd name="T1" fmla="*/ 2147483646 h 958"/>
                <a:gd name="T2" fmla="*/ 2147483646 w 2406"/>
                <a:gd name="T3" fmla="*/ 2147483646 h 958"/>
                <a:gd name="T4" fmla="*/ 2147483646 w 2406"/>
                <a:gd name="T5" fmla="*/ 2147483646 h 958"/>
                <a:gd name="T6" fmla="*/ 2147483646 w 2406"/>
                <a:gd name="T7" fmla="*/ 2147483646 h 958"/>
                <a:gd name="T8" fmla="*/ 2147483646 w 2406"/>
                <a:gd name="T9" fmla="*/ 2147483646 h 958"/>
                <a:gd name="T10" fmla="*/ 2147483646 w 2406"/>
                <a:gd name="T11" fmla="*/ 2147483646 h 958"/>
                <a:gd name="T12" fmla="*/ 2147483646 w 2406"/>
                <a:gd name="T13" fmla="*/ 2147483646 h 958"/>
                <a:gd name="T14" fmla="*/ 2147483646 w 2406"/>
                <a:gd name="T15" fmla="*/ 2147483646 h 958"/>
                <a:gd name="T16" fmla="*/ 2147483646 w 2406"/>
                <a:gd name="T17" fmla="*/ 2147483646 h 958"/>
                <a:gd name="T18" fmla="*/ 2147483646 w 2406"/>
                <a:gd name="T19" fmla="*/ 2147483646 h 958"/>
                <a:gd name="T20" fmla="*/ 2147483646 w 2406"/>
                <a:gd name="T21" fmla="*/ 2147483646 h 958"/>
                <a:gd name="T22" fmla="*/ 2147483646 w 2406"/>
                <a:gd name="T23" fmla="*/ 2147483646 h 958"/>
                <a:gd name="T24" fmla="*/ 2147483646 w 2406"/>
                <a:gd name="T25" fmla="*/ 2147483646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76417" cy="553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router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(runs DHCP)</a:t>
              </a:r>
            </a:p>
          </p:txBody>
        </p:sp>
        <p:grpSp>
          <p:nvGrpSpPr>
            <p:cNvPr id="15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67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8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6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sp>
          <p:nvSpPr>
            <p:cNvPr id="18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sp>
          <p:nvSpPr>
            <p:cNvPr id="19" name="Rectangle 43"/>
            <p:cNvSpPr>
              <a:spLocks noChangeArrowheads="1"/>
            </p:cNvSpPr>
            <p:nvPr/>
          </p:nvSpPr>
          <p:spPr bwMode="auto">
            <a:xfrm rot="-54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grpSp>
          <p:nvGrpSpPr>
            <p:cNvPr id="20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35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7 w 354"/>
                  <a:gd name="T1" fmla="*/ 0 h 2742"/>
                  <a:gd name="T2" fmla="*/ 93 w 354"/>
                  <a:gd name="T3" fmla="*/ 114 h 2742"/>
                  <a:gd name="T4" fmla="*/ 91 w 354"/>
                  <a:gd name="T5" fmla="*/ 881 h 2742"/>
                  <a:gd name="T6" fmla="*/ 0 w 354"/>
                  <a:gd name="T7" fmla="*/ 921 h 2742"/>
                  <a:gd name="T8" fmla="*/ 1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37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6 w 211"/>
                  <a:gd name="T3" fmla="*/ 73 h 2537"/>
                  <a:gd name="T4" fmla="*/ 2 w 211"/>
                  <a:gd name="T5" fmla="*/ 83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3 h 226"/>
                  <a:gd name="T4" fmla="*/ 87 w 328"/>
                  <a:gd name="T5" fmla="*/ 77 h 226"/>
                  <a:gd name="T6" fmla="*/ 0 w 328"/>
                  <a:gd name="T7" fmla="*/ 3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0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5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6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1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2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3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4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3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44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5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1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2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6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2 h 226"/>
                  <a:gd name="T4" fmla="*/ 87 w 328"/>
                  <a:gd name="T5" fmla="*/ 75 h 226"/>
                  <a:gd name="T6" fmla="*/ 0 w 328"/>
                  <a:gd name="T7" fmla="*/ 3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47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59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0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8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49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7 w 296"/>
                  <a:gd name="T3" fmla="*/ 47 h 256"/>
                  <a:gd name="T4" fmla="*/ 78 w 296"/>
                  <a:gd name="T5" fmla="*/ 85 h 256"/>
                  <a:gd name="T6" fmla="*/ 0 w 296"/>
                  <a:gd name="T7" fmla="*/ 3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81 w 304"/>
                  <a:gd name="T3" fmla="*/ 55 h 288"/>
                  <a:gd name="T4" fmla="*/ 76 w 304"/>
                  <a:gd name="T5" fmla="*/ 97 h 288"/>
                  <a:gd name="T6" fmla="*/ 2 w 304"/>
                  <a:gd name="T7" fmla="*/ 4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1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2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6 h 240"/>
                  <a:gd name="T2" fmla="*/ 2 w 306"/>
                  <a:gd name="T3" fmla="*/ 81 h 240"/>
                  <a:gd name="T4" fmla="*/ 81 w 306"/>
                  <a:gd name="T5" fmla="*/ 37 h 240"/>
                  <a:gd name="T6" fmla="*/ 78 w 306"/>
                  <a:gd name="T7" fmla="*/ 0 h 240"/>
                  <a:gd name="T8" fmla="*/ 0 w 306"/>
                  <a:gd name="T9" fmla="*/ 3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3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6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4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5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6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7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8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21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22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3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5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27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2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3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4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28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9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0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1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3"/>
                  <a:ext cx="52" cy="9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</p:grpSp>
      </p:grpSp>
      <p:sp>
        <p:nvSpPr>
          <p:cNvPr id="69" name="Line 43"/>
          <p:cNvSpPr>
            <a:spLocks noChangeShapeType="1"/>
          </p:cNvSpPr>
          <p:nvPr/>
        </p:nvSpPr>
        <p:spPr bwMode="auto">
          <a:xfrm flipV="1">
            <a:off x="6592708" y="2771087"/>
            <a:ext cx="52149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107" name="Group 255"/>
          <p:cNvGrpSpPr>
            <a:grpSpLocks/>
          </p:cNvGrpSpPr>
          <p:nvPr/>
        </p:nvGrpSpPr>
        <p:grpSpPr bwMode="auto">
          <a:xfrm>
            <a:off x="6274811" y="3119941"/>
            <a:ext cx="762000" cy="658415"/>
            <a:chOff x="719" y="2137"/>
            <a:chExt cx="640" cy="553"/>
          </a:xfrm>
        </p:grpSpPr>
        <p:sp>
          <p:nvSpPr>
            <p:cNvPr id="108" name="Freeform 244"/>
            <p:cNvSpPr>
              <a:spLocks/>
            </p:cNvSpPr>
            <p:nvPr/>
          </p:nvSpPr>
          <p:spPr bwMode="auto">
            <a:xfrm>
              <a:off x="755" y="2268"/>
              <a:ext cx="604" cy="422"/>
            </a:xfrm>
            <a:custGeom>
              <a:avLst/>
              <a:gdLst>
                <a:gd name="T0" fmla="*/ 493 w 604"/>
                <a:gd name="T1" fmla="*/ 0 h 422"/>
                <a:gd name="T2" fmla="*/ 604 w 604"/>
                <a:gd name="T3" fmla="*/ 422 h 422"/>
                <a:gd name="T4" fmla="*/ 0 w 604"/>
                <a:gd name="T5" fmla="*/ 307 h 422"/>
                <a:gd name="T6" fmla="*/ 220 w 604"/>
                <a:gd name="T7" fmla="*/ 3 h 422"/>
                <a:gd name="T8" fmla="*/ 493 w 604"/>
                <a:gd name="T9" fmla="*/ 0 h 4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422">
                  <a:moveTo>
                    <a:pt x="493" y="0"/>
                  </a:moveTo>
                  <a:lnTo>
                    <a:pt x="604" y="422"/>
                  </a:lnTo>
                  <a:lnTo>
                    <a:pt x="0" y="307"/>
                  </a:lnTo>
                  <a:lnTo>
                    <a:pt x="220" y="3"/>
                  </a:lnTo>
                  <a:lnTo>
                    <a:pt x="493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109" name="Rectangle 246"/>
            <p:cNvSpPr>
              <a:spLocks noChangeArrowheads="1"/>
            </p:cNvSpPr>
            <p:nvPr/>
          </p:nvSpPr>
          <p:spPr bwMode="auto">
            <a:xfrm>
              <a:off x="751" y="2266"/>
              <a:ext cx="493" cy="3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10" name="Text Box 247"/>
            <p:cNvSpPr txBox="1">
              <a:spLocks noChangeArrowheads="1"/>
            </p:cNvSpPr>
            <p:nvPr/>
          </p:nvSpPr>
          <p:spPr bwMode="auto">
            <a:xfrm>
              <a:off x="815" y="2235"/>
              <a:ext cx="377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</a:rPr>
                <a:t>Eth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</a:rPr>
                <a:t>Phy</a:t>
              </a:r>
            </a:p>
          </p:txBody>
        </p:sp>
        <p:sp>
          <p:nvSpPr>
            <p:cNvPr id="111" name="Line 250"/>
            <p:cNvSpPr>
              <a:spLocks noChangeShapeType="1"/>
            </p:cNvSpPr>
            <p:nvPr/>
          </p:nvSpPr>
          <p:spPr bwMode="auto">
            <a:xfrm>
              <a:off x="747" y="2264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112" name="Line 251"/>
            <p:cNvSpPr>
              <a:spLocks noChangeShapeType="1"/>
            </p:cNvSpPr>
            <p:nvPr/>
          </p:nvSpPr>
          <p:spPr bwMode="auto">
            <a:xfrm>
              <a:off x="744" y="2423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113" name="Group 252"/>
            <p:cNvGrpSpPr>
              <a:grpSpLocks/>
            </p:cNvGrpSpPr>
            <p:nvPr/>
          </p:nvGrpSpPr>
          <p:grpSpPr bwMode="auto">
            <a:xfrm>
              <a:off x="719" y="2137"/>
              <a:ext cx="321" cy="174"/>
              <a:chOff x="161" y="1354"/>
              <a:chExt cx="321" cy="174"/>
            </a:xfrm>
          </p:grpSpPr>
          <p:sp>
            <p:nvSpPr>
              <p:cNvPr id="114" name="Rectangle 253"/>
              <p:cNvSpPr>
                <a:spLocks noChangeArrowheads="1"/>
              </p:cNvSpPr>
              <p:nvPr/>
            </p:nvSpPr>
            <p:spPr bwMode="auto">
              <a:xfrm>
                <a:off x="192" y="1365"/>
                <a:ext cx="228" cy="14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15" name="Text Box 254"/>
              <p:cNvSpPr txBox="1">
                <a:spLocks noChangeArrowheads="1"/>
              </p:cNvSpPr>
              <p:nvPr/>
            </p:nvSpPr>
            <p:spPr bwMode="auto">
              <a:xfrm>
                <a:off x="161" y="1354"/>
                <a:ext cx="32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750">
                    <a:solidFill>
                      <a:srgbClr val="000000"/>
                    </a:solidFill>
                    <a:latin typeface="Arial" panose="020B0604020202020204" pitchFamily="34" charset="0"/>
                  </a:rPr>
                  <a:t>ARP</a:t>
                </a:r>
              </a:p>
            </p:txBody>
          </p:sp>
        </p:grpSp>
      </p:grpSp>
      <p:grpSp>
        <p:nvGrpSpPr>
          <p:cNvPr id="119" name="Group 270"/>
          <p:cNvGrpSpPr>
            <a:grpSpLocks/>
          </p:cNvGrpSpPr>
          <p:nvPr/>
        </p:nvGrpSpPr>
        <p:grpSpPr bwMode="auto">
          <a:xfrm>
            <a:off x="5477092" y="3273538"/>
            <a:ext cx="810816" cy="207169"/>
            <a:chOff x="76" y="2296"/>
            <a:chExt cx="681" cy="174"/>
          </a:xfrm>
        </p:grpSpPr>
        <p:sp>
          <p:nvSpPr>
            <p:cNvPr id="120" name="Rectangle 271"/>
            <p:cNvSpPr>
              <a:spLocks noChangeArrowheads="1"/>
            </p:cNvSpPr>
            <p:nvPr/>
          </p:nvSpPr>
          <p:spPr bwMode="auto">
            <a:xfrm>
              <a:off x="76" y="2305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21" name="Rectangle 272"/>
            <p:cNvSpPr>
              <a:spLocks noChangeArrowheads="1"/>
            </p:cNvSpPr>
            <p:nvPr/>
          </p:nvSpPr>
          <p:spPr bwMode="auto">
            <a:xfrm>
              <a:off x="89" y="2321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22" name="Rectangle 273"/>
            <p:cNvSpPr>
              <a:spLocks noChangeArrowheads="1"/>
            </p:cNvSpPr>
            <p:nvPr/>
          </p:nvSpPr>
          <p:spPr bwMode="auto">
            <a:xfrm>
              <a:off x="687" y="2320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23" name="Rectangle 274"/>
            <p:cNvSpPr>
              <a:spLocks noChangeArrowheads="1"/>
            </p:cNvSpPr>
            <p:nvPr/>
          </p:nvSpPr>
          <p:spPr bwMode="auto"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24" name="Text Box 275"/>
            <p:cNvSpPr txBox="1">
              <a:spLocks noChangeArrowheads="1"/>
            </p:cNvSpPr>
            <p:nvPr/>
          </p:nvSpPr>
          <p:spPr bwMode="auto">
            <a:xfrm>
              <a:off x="182" y="2296"/>
              <a:ext cx="51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750">
                  <a:solidFill>
                    <a:srgbClr val="000000"/>
                  </a:solidFill>
                  <a:latin typeface="Arial" panose="020B0604020202020204" pitchFamily="34" charset="0"/>
                </a:rPr>
                <a:t>ARP reply</a:t>
              </a:r>
            </a:p>
          </p:txBody>
        </p:sp>
      </p:grpSp>
      <p:sp>
        <p:nvSpPr>
          <p:cNvPr id="81" name="灯片编号占位符 2">
            <a:extLst>
              <a:ext uri="{FF2B5EF4-FFF2-40B4-BE49-F238E27FC236}">
                <a16:creationId xmlns:a16="http://schemas.microsoft.com/office/drawing/2014/main" id="{E85E5136-10DF-4473-A15F-EB34A08773C7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14</a:t>
            </a:fld>
            <a:endParaRPr lang="en-US" altLang="zh-CN" dirty="0"/>
          </a:p>
        </p:txBody>
      </p:sp>
      <p:sp>
        <p:nvSpPr>
          <p:cNvPr id="82" name="AutoShape 5">
            <a:extLst>
              <a:ext uri="{FF2B5EF4-FFF2-40B4-BE49-F238E27FC236}">
                <a16:creationId xmlns:a16="http://schemas.microsoft.com/office/drawing/2014/main" id="{B502CCC2-EBAE-497A-BA69-D133D4E2D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276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33333E-6 L 0.00052 0.07939 L 0.1467 0.08009 L 0.29445 -0.12223 L -0.11597 -0.12014 L -0.11597 -0.16181 L -0.11753 -0.1882 " pathEditMode="relative" rAng="0" ptsTypes="AAAAAAA">
                                      <p:cBhvr>
                                        <p:cTn id="17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37" y="-5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82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5.7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总结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: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自底向上回顾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一次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请求所要做的工作：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继续准备</a:t>
            </a: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浏览器输入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HTTP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请求，但需要得知目的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IP</a:t>
            </a:r>
          </a:p>
          <a:p>
            <a:pPr lvl="1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DNS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查询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(8)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客户机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DNS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请求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APP Layer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：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DNS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报文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lvl="4">
              <a:spcBef>
                <a:spcPts val="450"/>
              </a:spcBef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服务器的主机名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pPr lvl="4">
              <a:spcBef>
                <a:spcPts val="450"/>
              </a:spcBef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查询类别：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-type=a</a:t>
            </a: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UDP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封装：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Sport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</a:rPr>
              <a:t>bob</a:t>
            </a:r>
            <a:r>
              <a:rPr lang="en-US" altLang="zh-CN" baseline="-25000" dirty="0" err="1">
                <a:solidFill>
                  <a:schemeClr val="bg1">
                    <a:lumMod val="65000"/>
                  </a:schemeClr>
                </a:solidFill>
              </a:rPr>
              <a:t>port</a:t>
            </a:r>
            <a:br>
              <a:rPr lang="en-US" altLang="zh-CN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                  Dport 53</a:t>
            </a: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IP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封装：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SIP: bob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的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IP</a:t>
            </a:r>
            <a:br>
              <a:rPr lang="en-US" altLang="zh-CN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              DIP: DNS Sever</a:t>
            </a: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(13) DNS</a:t>
            </a:r>
            <a:r>
              <a:rPr lang="zh-CN" altLang="en-US" dirty="0">
                <a:solidFill>
                  <a:srgbClr val="0066CC"/>
                </a:solidFill>
              </a:rPr>
              <a:t>查询数据</a:t>
            </a:r>
            <a:r>
              <a:rPr lang="en-US" altLang="zh-CN" dirty="0">
                <a:solidFill>
                  <a:srgbClr val="0066CC"/>
                </a:solidFill>
              </a:rPr>
              <a:t>---Framing</a:t>
            </a:r>
          </a:p>
          <a:p>
            <a:pPr lvl="4">
              <a:spcBef>
                <a:spcPts val="450"/>
              </a:spcBef>
            </a:pPr>
            <a:r>
              <a:rPr lang="zh-CN" altLang="en-US" dirty="0">
                <a:solidFill>
                  <a:srgbClr val="FF0000"/>
                </a:solidFill>
              </a:rPr>
              <a:t>问题来了：</a:t>
            </a:r>
            <a:r>
              <a:rPr lang="en-US" altLang="zh-CN" dirty="0">
                <a:solidFill>
                  <a:srgbClr val="FF0000"/>
                </a:solidFill>
              </a:rPr>
              <a:t>DMAC? </a:t>
            </a:r>
          </a:p>
          <a:p>
            <a:pPr lvl="5">
              <a:spcBef>
                <a:spcPts val="450"/>
              </a:spcBef>
            </a:pPr>
            <a:r>
              <a:rPr lang="zh-CN" altLang="en-US" sz="1050" dirty="0">
                <a:solidFill>
                  <a:srgbClr val="FF0000"/>
                </a:solidFill>
              </a:rPr>
              <a:t>网关的</a:t>
            </a:r>
            <a:r>
              <a:rPr lang="en-US" altLang="zh-CN" sz="1050" dirty="0">
                <a:solidFill>
                  <a:srgbClr val="FF0000"/>
                </a:solidFill>
              </a:rPr>
              <a:t>MAC</a:t>
            </a:r>
            <a:r>
              <a:rPr lang="zh-CN" altLang="en-US" sz="1050" dirty="0">
                <a:solidFill>
                  <a:srgbClr val="FF0000"/>
                </a:solidFill>
              </a:rPr>
              <a:t>地址是多少？</a:t>
            </a:r>
            <a:endParaRPr lang="en-US" altLang="zh-CN" sz="1050" dirty="0">
              <a:solidFill>
                <a:srgbClr val="FF0000"/>
              </a:solidFill>
            </a:endParaRPr>
          </a:p>
          <a:p>
            <a:pPr lvl="5">
              <a:spcBef>
                <a:spcPts val="450"/>
              </a:spcBef>
            </a:pPr>
            <a:r>
              <a:rPr lang="en-US" altLang="zh-CN" sz="1050" dirty="0">
                <a:solidFill>
                  <a:srgbClr val="0066CC"/>
                </a:solidFill>
              </a:rPr>
              <a:t>DMAC: </a:t>
            </a:r>
            <a:r>
              <a:rPr lang="zh-CN" altLang="en-US" sz="1050" dirty="0">
                <a:solidFill>
                  <a:srgbClr val="0066CC"/>
                </a:solidFill>
              </a:rPr>
              <a:t>刚刚从</a:t>
            </a:r>
            <a:r>
              <a:rPr lang="en-US" altLang="zh-CN" sz="1050" dirty="0">
                <a:solidFill>
                  <a:srgbClr val="0066CC"/>
                </a:solidFill>
              </a:rPr>
              <a:t>ARP</a:t>
            </a:r>
            <a:r>
              <a:rPr lang="zh-CN" altLang="en-US" sz="1050" dirty="0">
                <a:solidFill>
                  <a:srgbClr val="0066CC"/>
                </a:solidFill>
              </a:rPr>
              <a:t>查询得知</a:t>
            </a:r>
            <a:endParaRPr lang="en-US" altLang="zh-CN" sz="1050" dirty="0">
              <a:solidFill>
                <a:srgbClr val="0066CC"/>
              </a:solidFill>
            </a:endParaRPr>
          </a:p>
          <a:p>
            <a:pPr lvl="5">
              <a:spcBef>
                <a:spcPts val="450"/>
              </a:spcBef>
            </a:pPr>
            <a:r>
              <a:rPr lang="en-US" altLang="zh-CN" sz="1050" dirty="0">
                <a:solidFill>
                  <a:srgbClr val="0066CC"/>
                </a:solidFill>
              </a:rPr>
              <a:t>SMAC: bb-bb-bb-bb-bb-bb</a:t>
            </a:r>
            <a:endParaRPr lang="zh-CN" altLang="en-US" sz="1050" dirty="0">
              <a:solidFill>
                <a:srgbClr val="0066CC"/>
              </a:solidFill>
            </a:endParaRPr>
          </a:p>
        </p:txBody>
      </p:sp>
      <p:grpSp>
        <p:nvGrpSpPr>
          <p:cNvPr id="8" name="Group 92"/>
          <p:cNvGrpSpPr>
            <a:grpSpLocks/>
          </p:cNvGrpSpPr>
          <p:nvPr/>
        </p:nvGrpSpPr>
        <p:grpSpPr bwMode="auto">
          <a:xfrm>
            <a:off x="5173483" y="1837637"/>
            <a:ext cx="2665809" cy="2322880"/>
            <a:chOff x="773113" y="1273175"/>
            <a:chExt cx="3554412" cy="3096511"/>
          </a:xfrm>
        </p:grpSpPr>
        <p:sp>
          <p:nvSpPr>
            <p:cNvPr id="9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6 w 2406"/>
                <a:gd name="T1" fmla="*/ 2147483646 h 958"/>
                <a:gd name="T2" fmla="*/ 2147483646 w 2406"/>
                <a:gd name="T3" fmla="*/ 2147483646 h 958"/>
                <a:gd name="T4" fmla="*/ 2147483646 w 2406"/>
                <a:gd name="T5" fmla="*/ 2147483646 h 958"/>
                <a:gd name="T6" fmla="*/ 2147483646 w 2406"/>
                <a:gd name="T7" fmla="*/ 2147483646 h 958"/>
                <a:gd name="T8" fmla="*/ 2147483646 w 2406"/>
                <a:gd name="T9" fmla="*/ 2147483646 h 958"/>
                <a:gd name="T10" fmla="*/ 2147483646 w 2406"/>
                <a:gd name="T11" fmla="*/ 2147483646 h 958"/>
                <a:gd name="T12" fmla="*/ 2147483646 w 2406"/>
                <a:gd name="T13" fmla="*/ 2147483646 h 958"/>
                <a:gd name="T14" fmla="*/ 2147483646 w 2406"/>
                <a:gd name="T15" fmla="*/ 2147483646 h 958"/>
                <a:gd name="T16" fmla="*/ 2147483646 w 2406"/>
                <a:gd name="T17" fmla="*/ 2147483646 h 958"/>
                <a:gd name="T18" fmla="*/ 2147483646 w 2406"/>
                <a:gd name="T19" fmla="*/ 2147483646 h 958"/>
                <a:gd name="T20" fmla="*/ 2147483646 w 2406"/>
                <a:gd name="T21" fmla="*/ 2147483646 h 958"/>
                <a:gd name="T22" fmla="*/ 2147483646 w 2406"/>
                <a:gd name="T23" fmla="*/ 2147483646 h 958"/>
                <a:gd name="T24" fmla="*/ 2147483646 w 2406"/>
                <a:gd name="T25" fmla="*/ 2147483646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76417" cy="553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router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(runs DHCP)</a:t>
              </a:r>
            </a:p>
          </p:txBody>
        </p:sp>
        <p:grpSp>
          <p:nvGrpSpPr>
            <p:cNvPr id="15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67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8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6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sp>
          <p:nvSpPr>
            <p:cNvPr id="18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sp>
          <p:nvSpPr>
            <p:cNvPr id="19" name="Rectangle 43"/>
            <p:cNvSpPr>
              <a:spLocks noChangeArrowheads="1"/>
            </p:cNvSpPr>
            <p:nvPr/>
          </p:nvSpPr>
          <p:spPr bwMode="auto">
            <a:xfrm rot="-54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grpSp>
          <p:nvGrpSpPr>
            <p:cNvPr id="20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35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7 w 354"/>
                  <a:gd name="T1" fmla="*/ 0 h 2742"/>
                  <a:gd name="T2" fmla="*/ 93 w 354"/>
                  <a:gd name="T3" fmla="*/ 114 h 2742"/>
                  <a:gd name="T4" fmla="*/ 91 w 354"/>
                  <a:gd name="T5" fmla="*/ 881 h 2742"/>
                  <a:gd name="T6" fmla="*/ 0 w 354"/>
                  <a:gd name="T7" fmla="*/ 921 h 2742"/>
                  <a:gd name="T8" fmla="*/ 1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37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6 w 211"/>
                  <a:gd name="T3" fmla="*/ 73 h 2537"/>
                  <a:gd name="T4" fmla="*/ 2 w 211"/>
                  <a:gd name="T5" fmla="*/ 83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3 h 226"/>
                  <a:gd name="T4" fmla="*/ 87 w 328"/>
                  <a:gd name="T5" fmla="*/ 77 h 226"/>
                  <a:gd name="T6" fmla="*/ 0 w 328"/>
                  <a:gd name="T7" fmla="*/ 3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0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5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6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1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2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3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4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3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44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5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1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2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6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2 h 226"/>
                  <a:gd name="T4" fmla="*/ 87 w 328"/>
                  <a:gd name="T5" fmla="*/ 75 h 226"/>
                  <a:gd name="T6" fmla="*/ 0 w 328"/>
                  <a:gd name="T7" fmla="*/ 3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47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59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0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8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49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7 w 296"/>
                  <a:gd name="T3" fmla="*/ 47 h 256"/>
                  <a:gd name="T4" fmla="*/ 78 w 296"/>
                  <a:gd name="T5" fmla="*/ 85 h 256"/>
                  <a:gd name="T6" fmla="*/ 0 w 296"/>
                  <a:gd name="T7" fmla="*/ 3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81 w 304"/>
                  <a:gd name="T3" fmla="*/ 55 h 288"/>
                  <a:gd name="T4" fmla="*/ 76 w 304"/>
                  <a:gd name="T5" fmla="*/ 97 h 288"/>
                  <a:gd name="T6" fmla="*/ 2 w 304"/>
                  <a:gd name="T7" fmla="*/ 4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1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2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6 h 240"/>
                  <a:gd name="T2" fmla="*/ 2 w 306"/>
                  <a:gd name="T3" fmla="*/ 81 h 240"/>
                  <a:gd name="T4" fmla="*/ 81 w 306"/>
                  <a:gd name="T5" fmla="*/ 37 h 240"/>
                  <a:gd name="T6" fmla="*/ 78 w 306"/>
                  <a:gd name="T7" fmla="*/ 0 h 240"/>
                  <a:gd name="T8" fmla="*/ 0 w 306"/>
                  <a:gd name="T9" fmla="*/ 3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3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6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4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5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6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7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8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21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22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3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5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27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2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3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4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28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9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0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1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3"/>
                  <a:ext cx="52" cy="9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</p:grpSp>
      </p:grpSp>
      <p:sp>
        <p:nvSpPr>
          <p:cNvPr id="69" name="Line 43"/>
          <p:cNvSpPr>
            <a:spLocks noChangeShapeType="1"/>
          </p:cNvSpPr>
          <p:nvPr/>
        </p:nvSpPr>
        <p:spPr bwMode="auto">
          <a:xfrm flipV="1">
            <a:off x="6592708" y="2771087"/>
            <a:ext cx="52149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70" name="Group 45"/>
          <p:cNvGrpSpPr>
            <a:grpSpLocks/>
          </p:cNvGrpSpPr>
          <p:nvPr/>
        </p:nvGrpSpPr>
        <p:grpSpPr bwMode="auto">
          <a:xfrm>
            <a:off x="5490189" y="1693571"/>
            <a:ext cx="732234" cy="1095375"/>
            <a:chOff x="651" y="681"/>
            <a:chExt cx="615" cy="920"/>
          </a:xfrm>
        </p:grpSpPr>
        <p:sp>
          <p:nvSpPr>
            <p:cNvPr id="71" name="Freeform 46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72" name="Group 47"/>
            <p:cNvGrpSpPr>
              <a:grpSpLocks/>
            </p:cNvGrpSpPr>
            <p:nvPr/>
          </p:nvGrpSpPr>
          <p:grpSpPr bwMode="auto">
            <a:xfrm>
              <a:off x="651" y="681"/>
              <a:ext cx="500" cy="853"/>
              <a:chOff x="569" y="2954"/>
              <a:chExt cx="500" cy="853"/>
            </a:xfrm>
          </p:grpSpPr>
          <p:sp>
            <p:nvSpPr>
              <p:cNvPr id="73" name="Rectangle 4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74" name="Text Box 49"/>
              <p:cNvSpPr txBox="1">
                <a:spLocks noChangeArrowheads="1"/>
              </p:cNvSpPr>
              <p:nvPr/>
            </p:nvSpPr>
            <p:spPr bwMode="auto">
              <a:xfrm>
                <a:off x="617" y="2954"/>
                <a:ext cx="427" cy="8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DNS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UDP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Eth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Phy</a:t>
                </a:r>
              </a:p>
            </p:txBody>
          </p:sp>
          <p:sp>
            <p:nvSpPr>
              <p:cNvPr id="75" name="Line 5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6" name="Line 5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7" name="Line 5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8" name="Line 5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79" name="Group 276"/>
          <p:cNvGrpSpPr>
            <a:grpSpLocks/>
          </p:cNvGrpSpPr>
          <p:nvPr/>
        </p:nvGrpSpPr>
        <p:grpSpPr bwMode="auto">
          <a:xfrm>
            <a:off x="4804389" y="1750721"/>
            <a:ext cx="585788" cy="657225"/>
            <a:chOff x="177" y="729"/>
            <a:chExt cx="492" cy="552"/>
          </a:xfrm>
        </p:grpSpPr>
        <p:grpSp>
          <p:nvGrpSpPr>
            <p:cNvPr id="80" name="Group 54"/>
            <p:cNvGrpSpPr>
              <a:grpSpLocks/>
            </p:cNvGrpSpPr>
            <p:nvPr/>
          </p:nvGrpSpPr>
          <p:grpSpPr bwMode="auto">
            <a:xfrm>
              <a:off x="343" y="732"/>
              <a:ext cx="325" cy="174"/>
              <a:chOff x="844" y="3337"/>
              <a:chExt cx="325" cy="174"/>
            </a:xfrm>
          </p:grpSpPr>
          <p:sp>
            <p:nvSpPr>
              <p:cNvPr id="99" name="Rectangle 55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00" name="Text Box 56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750">
                    <a:solidFill>
                      <a:srgbClr val="FFFFFF"/>
                    </a:solidFill>
                    <a:latin typeface="Arial" panose="020B0604020202020204" pitchFamily="34" charset="0"/>
                  </a:rPr>
                  <a:t>DNS</a:t>
                </a:r>
              </a:p>
            </p:txBody>
          </p:sp>
        </p:grpSp>
        <p:grpSp>
          <p:nvGrpSpPr>
            <p:cNvPr id="82" name="Group 59"/>
            <p:cNvGrpSpPr>
              <a:grpSpLocks/>
            </p:cNvGrpSpPr>
            <p:nvPr/>
          </p:nvGrpSpPr>
          <p:grpSpPr bwMode="auto">
            <a:xfrm>
              <a:off x="290" y="874"/>
              <a:ext cx="379" cy="174"/>
              <a:chOff x="740" y="3209"/>
              <a:chExt cx="379" cy="174"/>
            </a:xfrm>
          </p:grpSpPr>
          <p:grpSp>
            <p:nvGrpSpPr>
              <p:cNvPr id="94" name="Group 60"/>
              <p:cNvGrpSpPr>
                <a:grpSpLocks/>
              </p:cNvGrpSpPr>
              <p:nvPr/>
            </p:nvGrpSpPr>
            <p:grpSpPr bwMode="auto">
              <a:xfrm>
                <a:off x="794" y="3209"/>
                <a:ext cx="325" cy="174"/>
                <a:chOff x="844" y="3337"/>
                <a:chExt cx="325" cy="174"/>
              </a:xfrm>
            </p:grpSpPr>
            <p:sp>
              <p:nvSpPr>
                <p:cNvPr id="97" name="Rectangle 61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98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750">
                      <a:solidFill>
                        <a:srgbClr val="FFFFFF"/>
                      </a:solidFill>
                      <a:latin typeface="Arial" panose="020B0604020202020204" pitchFamily="34" charset="0"/>
                    </a:rPr>
                    <a:t>DNS</a:t>
                  </a:r>
                </a:p>
              </p:txBody>
            </p:sp>
          </p:grpSp>
          <p:sp>
            <p:nvSpPr>
              <p:cNvPr id="95" name="Rectangle 63"/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96" name="Rectangle 64"/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83" name="Group 65"/>
            <p:cNvGrpSpPr>
              <a:grpSpLocks/>
            </p:cNvGrpSpPr>
            <p:nvPr/>
          </p:nvGrpSpPr>
          <p:grpSpPr bwMode="auto">
            <a:xfrm>
              <a:off x="290" y="1022"/>
              <a:ext cx="379" cy="174"/>
              <a:chOff x="836" y="3305"/>
              <a:chExt cx="379" cy="174"/>
            </a:xfrm>
          </p:grpSpPr>
          <p:grpSp>
            <p:nvGrpSpPr>
              <p:cNvPr id="88" name="Group 66"/>
              <p:cNvGrpSpPr>
                <a:grpSpLocks/>
              </p:cNvGrpSpPr>
              <p:nvPr/>
            </p:nvGrpSpPr>
            <p:grpSpPr bwMode="auto">
              <a:xfrm>
                <a:off x="890" y="3305"/>
                <a:ext cx="325" cy="174"/>
                <a:chOff x="844" y="3337"/>
                <a:chExt cx="325" cy="174"/>
              </a:xfrm>
            </p:grpSpPr>
            <p:sp>
              <p:nvSpPr>
                <p:cNvPr id="92" name="Rectangle 67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93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750">
                      <a:solidFill>
                        <a:srgbClr val="FFFFFF"/>
                      </a:solidFill>
                      <a:latin typeface="Arial" panose="020B0604020202020204" pitchFamily="34" charset="0"/>
                    </a:rPr>
                    <a:t>DNS</a:t>
                  </a:r>
                </a:p>
              </p:txBody>
            </p:sp>
          </p:grpSp>
          <p:grpSp>
            <p:nvGrpSpPr>
              <p:cNvPr id="89" name="Group 69"/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0" name="Rectangle 70"/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91" name="Rectangle 71"/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</p:grpSp>
        <p:grpSp>
          <p:nvGrpSpPr>
            <p:cNvPr id="84" name="Group 72"/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86" name="Rectangle 73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87" name="Rectangle 74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85" name="AutoShape 89"/>
            <p:cNvSpPr>
              <a:spLocks noChangeArrowheads="1"/>
            </p:cNvSpPr>
            <p:nvPr/>
          </p:nvSpPr>
          <p:spPr bwMode="auto">
            <a:xfrm>
              <a:off x="393" y="729"/>
              <a:ext cx="240" cy="552"/>
            </a:xfrm>
            <a:prstGeom prst="downArrow">
              <a:avLst>
                <a:gd name="adj1" fmla="val 54167"/>
                <a:gd name="adj2" fmla="val 36928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107" name="Group 255"/>
          <p:cNvGrpSpPr>
            <a:grpSpLocks/>
          </p:cNvGrpSpPr>
          <p:nvPr/>
        </p:nvGrpSpPr>
        <p:grpSpPr bwMode="auto">
          <a:xfrm>
            <a:off x="6274811" y="3119941"/>
            <a:ext cx="762000" cy="658415"/>
            <a:chOff x="719" y="2137"/>
            <a:chExt cx="640" cy="553"/>
          </a:xfrm>
        </p:grpSpPr>
        <p:sp>
          <p:nvSpPr>
            <p:cNvPr id="108" name="Freeform 244"/>
            <p:cNvSpPr>
              <a:spLocks/>
            </p:cNvSpPr>
            <p:nvPr/>
          </p:nvSpPr>
          <p:spPr bwMode="auto">
            <a:xfrm>
              <a:off x="755" y="2268"/>
              <a:ext cx="604" cy="422"/>
            </a:xfrm>
            <a:custGeom>
              <a:avLst/>
              <a:gdLst>
                <a:gd name="T0" fmla="*/ 493 w 604"/>
                <a:gd name="T1" fmla="*/ 0 h 422"/>
                <a:gd name="T2" fmla="*/ 604 w 604"/>
                <a:gd name="T3" fmla="*/ 422 h 422"/>
                <a:gd name="T4" fmla="*/ 0 w 604"/>
                <a:gd name="T5" fmla="*/ 307 h 422"/>
                <a:gd name="T6" fmla="*/ 220 w 604"/>
                <a:gd name="T7" fmla="*/ 3 h 422"/>
                <a:gd name="T8" fmla="*/ 493 w 604"/>
                <a:gd name="T9" fmla="*/ 0 h 4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422">
                  <a:moveTo>
                    <a:pt x="493" y="0"/>
                  </a:moveTo>
                  <a:lnTo>
                    <a:pt x="604" y="422"/>
                  </a:lnTo>
                  <a:lnTo>
                    <a:pt x="0" y="307"/>
                  </a:lnTo>
                  <a:lnTo>
                    <a:pt x="220" y="3"/>
                  </a:lnTo>
                  <a:lnTo>
                    <a:pt x="493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109" name="Rectangle 246"/>
            <p:cNvSpPr>
              <a:spLocks noChangeArrowheads="1"/>
            </p:cNvSpPr>
            <p:nvPr/>
          </p:nvSpPr>
          <p:spPr bwMode="auto">
            <a:xfrm>
              <a:off x="751" y="2266"/>
              <a:ext cx="493" cy="3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10" name="Text Box 247"/>
            <p:cNvSpPr txBox="1">
              <a:spLocks noChangeArrowheads="1"/>
            </p:cNvSpPr>
            <p:nvPr/>
          </p:nvSpPr>
          <p:spPr bwMode="auto">
            <a:xfrm>
              <a:off x="815" y="2235"/>
              <a:ext cx="377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0000"/>
                  </a:solidFill>
                  <a:latin typeface="Arial" panose="020B0604020202020204" pitchFamily="34" charset="0"/>
                </a:rPr>
                <a:t>Eth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Phy</a:t>
              </a:r>
              <a:endPara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1" name="Line 250"/>
            <p:cNvSpPr>
              <a:spLocks noChangeShapeType="1"/>
            </p:cNvSpPr>
            <p:nvPr/>
          </p:nvSpPr>
          <p:spPr bwMode="auto">
            <a:xfrm>
              <a:off x="747" y="2264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112" name="Line 251"/>
            <p:cNvSpPr>
              <a:spLocks noChangeShapeType="1"/>
            </p:cNvSpPr>
            <p:nvPr/>
          </p:nvSpPr>
          <p:spPr bwMode="auto">
            <a:xfrm>
              <a:off x="744" y="2423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113" name="Group 252"/>
            <p:cNvGrpSpPr>
              <a:grpSpLocks/>
            </p:cNvGrpSpPr>
            <p:nvPr/>
          </p:nvGrpSpPr>
          <p:grpSpPr bwMode="auto">
            <a:xfrm>
              <a:off x="719" y="2137"/>
              <a:ext cx="321" cy="174"/>
              <a:chOff x="161" y="1354"/>
              <a:chExt cx="321" cy="174"/>
            </a:xfrm>
          </p:grpSpPr>
          <p:sp>
            <p:nvSpPr>
              <p:cNvPr id="114" name="Rectangle 253"/>
              <p:cNvSpPr>
                <a:spLocks noChangeArrowheads="1"/>
              </p:cNvSpPr>
              <p:nvPr/>
            </p:nvSpPr>
            <p:spPr bwMode="auto">
              <a:xfrm>
                <a:off x="192" y="1365"/>
                <a:ext cx="228" cy="14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15" name="Text Box 254"/>
              <p:cNvSpPr txBox="1">
                <a:spLocks noChangeArrowheads="1"/>
              </p:cNvSpPr>
              <p:nvPr/>
            </p:nvSpPr>
            <p:spPr bwMode="auto">
              <a:xfrm>
                <a:off x="161" y="1354"/>
                <a:ext cx="32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75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ARP</a:t>
                </a:r>
              </a:p>
            </p:txBody>
          </p:sp>
        </p:grpSp>
      </p:grpSp>
      <p:grpSp>
        <p:nvGrpSpPr>
          <p:cNvPr id="116" name="Group 242"/>
          <p:cNvGrpSpPr>
            <a:grpSpLocks/>
          </p:cNvGrpSpPr>
          <p:nvPr/>
        </p:nvGrpSpPr>
        <p:grpSpPr bwMode="auto">
          <a:xfrm>
            <a:off x="5456852" y="2173395"/>
            <a:ext cx="382191" cy="207169"/>
            <a:chOff x="161" y="1354"/>
            <a:chExt cx="321" cy="174"/>
          </a:xfrm>
        </p:grpSpPr>
        <p:sp>
          <p:nvSpPr>
            <p:cNvPr id="117" name="Rectangle 241"/>
            <p:cNvSpPr>
              <a:spLocks noChangeArrowheads="1"/>
            </p:cNvSpPr>
            <p:nvPr/>
          </p:nvSpPr>
          <p:spPr bwMode="auto">
            <a:xfrm>
              <a:off x="192" y="1365"/>
              <a:ext cx="228" cy="1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18" name="Text Box 240"/>
            <p:cNvSpPr txBox="1">
              <a:spLocks noChangeArrowheads="1"/>
            </p:cNvSpPr>
            <p:nvPr/>
          </p:nvSpPr>
          <p:spPr bwMode="auto">
            <a:xfrm>
              <a:off x="161" y="1354"/>
              <a:ext cx="32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750">
                  <a:solidFill>
                    <a:srgbClr val="000000"/>
                  </a:solidFill>
                  <a:latin typeface="Arial" panose="020B0604020202020204" pitchFamily="34" charset="0"/>
                </a:rPr>
                <a:t>ARP</a:t>
              </a:r>
            </a:p>
          </p:txBody>
        </p:sp>
      </p:grpSp>
      <p:sp>
        <p:nvSpPr>
          <p:cNvPr id="119" name="灯片编号占位符 2">
            <a:extLst>
              <a:ext uri="{FF2B5EF4-FFF2-40B4-BE49-F238E27FC236}">
                <a16:creationId xmlns:a16="http://schemas.microsoft.com/office/drawing/2014/main" id="{C9D82E8D-9EFA-4E8D-9695-232B85C1437F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15</a:t>
            </a:fld>
            <a:endParaRPr lang="en-US" altLang="zh-CN" dirty="0"/>
          </a:p>
        </p:txBody>
      </p:sp>
      <p:sp>
        <p:nvSpPr>
          <p:cNvPr id="120" name="AutoShape 5">
            <a:extLst>
              <a:ext uri="{FF2B5EF4-FFF2-40B4-BE49-F238E27FC236}">
                <a16:creationId xmlns:a16="http://schemas.microsoft.com/office/drawing/2014/main" id="{4772F639-5339-4DD4-BD5F-671D815CC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359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 tmFilter="0, 0; .2, .5; .8, .5; 1, 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250" autoRev="1" fill="hold"/>
                                        <p:tgtEl>
                                          <p:spTgt spid="1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animBg="1"/>
      <p:bldP spid="120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406"/>
          <p:cNvSpPr>
            <a:spLocks/>
          </p:cNvSpPr>
          <p:nvPr/>
        </p:nvSpPr>
        <p:spPr bwMode="auto">
          <a:xfrm>
            <a:off x="4904091" y="1429301"/>
            <a:ext cx="2838450" cy="2189354"/>
          </a:xfrm>
          <a:custGeom>
            <a:avLst/>
            <a:gdLst>
              <a:gd name="T0" fmla="*/ 2147483646 w 2453"/>
              <a:gd name="T1" fmla="*/ 2147483646 h 2011"/>
              <a:gd name="T2" fmla="*/ 2147483646 w 2453"/>
              <a:gd name="T3" fmla="*/ 2147483646 h 2011"/>
              <a:gd name="T4" fmla="*/ 2147483646 w 2453"/>
              <a:gd name="T5" fmla="*/ 2147483646 h 2011"/>
              <a:gd name="T6" fmla="*/ 2147483646 w 2453"/>
              <a:gd name="T7" fmla="*/ 2147483646 h 2011"/>
              <a:gd name="T8" fmla="*/ 2147483646 w 2453"/>
              <a:gd name="T9" fmla="*/ 2147483646 h 2011"/>
              <a:gd name="T10" fmla="*/ 2147483646 w 2453"/>
              <a:gd name="T11" fmla="*/ 2147483646 h 2011"/>
              <a:gd name="T12" fmla="*/ 2147483646 w 2453"/>
              <a:gd name="T13" fmla="*/ 2147483646 h 2011"/>
              <a:gd name="T14" fmla="*/ 2147483646 w 2453"/>
              <a:gd name="T15" fmla="*/ 2147483646 h 2011"/>
              <a:gd name="T16" fmla="*/ 2147483646 w 2453"/>
              <a:gd name="T17" fmla="*/ 2147483646 h 2011"/>
              <a:gd name="T18" fmla="*/ 2147483646 w 2453"/>
              <a:gd name="T19" fmla="*/ 2147483646 h 2011"/>
              <a:gd name="T20" fmla="*/ 2147483646 w 2453"/>
              <a:gd name="T21" fmla="*/ 2147483646 h 2011"/>
              <a:gd name="T22" fmla="*/ 2147483646 w 2453"/>
              <a:gd name="T23" fmla="*/ 2147483646 h 2011"/>
              <a:gd name="T24" fmla="*/ 2147483646 w 2453"/>
              <a:gd name="T25" fmla="*/ 2147483646 h 2011"/>
              <a:gd name="T26" fmla="*/ 2147483646 w 2453"/>
              <a:gd name="T27" fmla="*/ 2147483646 h 2011"/>
              <a:gd name="T28" fmla="*/ 2147483646 w 2453"/>
              <a:gd name="T29" fmla="*/ 2147483646 h 2011"/>
              <a:gd name="T30" fmla="*/ 2147483646 w 2453"/>
              <a:gd name="T31" fmla="*/ 2147483646 h 2011"/>
              <a:gd name="T32" fmla="*/ 2147483646 w 2453"/>
              <a:gd name="T33" fmla="*/ 2147483646 h 2011"/>
              <a:gd name="T34" fmla="*/ 2147483646 w 2453"/>
              <a:gd name="T35" fmla="*/ 2147483646 h 2011"/>
              <a:gd name="T36" fmla="*/ 2147483646 w 2453"/>
              <a:gd name="T37" fmla="*/ 2147483646 h 2011"/>
              <a:gd name="T38" fmla="*/ 2147483646 w 2453"/>
              <a:gd name="T39" fmla="*/ 2147483646 h 2011"/>
              <a:gd name="T40" fmla="*/ 2147483646 w 2453"/>
              <a:gd name="T41" fmla="*/ 2147483646 h 2011"/>
              <a:gd name="T42" fmla="*/ 2147483646 w 2453"/>
              <a:gd name="T43" fmla="*/ 2147483646 h 2011"/>
              <a:gd name="T44" fmla="*/ 2147483646 w 2453"/>
              <a:gd name="T45" fmla="*/ 2147483646 h 2011"/>
              <a:gd name="T46" fmla="*/ 2147483646 w 2453"/>
              <a:gd name="T47" fmla="*/ 2147483646 h 201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2453" h="2011">
                <a:moveTo>
                  <a:pt x="84" y="632"/>
                </a:moveTo>
                <a:cubicBezTo>
                  <a:pt x="51" y="704"/>
                  <a:pt x="28" y="747"/>
                  <a:pt x="16" y="809"/>
                </a:cubicBezTo>
                <a:cubicBezTo>
                  <a:pt x="4" y="871"/>
                  <a:pt x="0" y="949"/>
                  <a:pt x="9" y="1005"/>
                </a:cubicBezTo>
                <a:cubicBezTo>
                  <a:pt x="18" y="1061"/>
                  <a:pt x="44" y="1087"/>
                  <a:pt x="70" y="1147"/>
                </a:cubicBezTo>
                <a:cubicBezTo>
                  <a:pt x="96" y="1207"/>
                  <a:pt x="130" y="1314"/>
                  <a:pt x="165" y="1364"/>
                </a:cubicBezTo>
                <a:cubicBezTo>
                  <a:pt x="200" y="1414"/>
                  <a:pt x="216" y="1402"/>
                  <a:pt x="280" y="1446"/>
                </a:cubicBezTo>
                <a:cubicBezTo>
                  <a:pt x="344" y="1490"/>
                  <a:pt x="404" y="1587"/>
                  <a:pt x="549" y="1627"/>
                </a:cubicBezTo>
                <a:cubicBezTo>
                  <a:pt x="694" y="1667"/>
                  <a:pt x="987" y="1631"/>
                  <a:pt x="1152" y="1687"/>
                </a:cubicBezTo>
                <a:cubicBezTo>
                  <a:pt x="1317" y="1743"/>
                  <a:pt x="1455" y="1919"/>
                  <a:pt x="1542" y="1965"/>
                </a:cubicBezTo>
                <a:cubicBezTo>
                  <a:pt x="1629" y="2011"/>
                  <a:pt x="1610" y="1968"/>
                  <a:pt x="1675" y="1965"/>
                </a:cubicBezTo>
                <a:cubicBezTo>
                  <a:pt x="1740" y="1962"/>
                  <a:pt x="1816" y="1974"/>
                  <a:pt x="1933" y="1945"/>
                </a:cubicBezTo>
                <a:cubicBezTo>
                  <a:pt x="2050" y="1916"/>
                  <a:pt x="2299" y="1866"/>
                  <a:pt x="2376" y="1793"/>
                </a:cubicBezTo>
                <a:cubicBezTo>
                  <a:pt x="2453" y="1720"/>
                  <a:pt x="2410" y="1591"/>
                  <a:pt x="2396" y="1508"/>
                </a:cubicBezTo>
                <a:cubicBezTo>
                  <a:pt x="2382" y="1425"/>
                  <a:pt x="2301" y="1408"/>
                  <a:pt x="2293" y="1297"/>
                </a:cubicBezTo>
                <a:cubicBezTo>
                  <a:pt x="2285" y="1186"/>
                  <a:pt x="2339" y="950"/>
                  <a:pt x="2347" y="843"/>
                </a:cubicBezTo>
                <a:cubicBezTo>
                  <a:pt x="2355" y="736"/>
                  <a:pt x="2368" y="717"/>
                  <a:pt x="2340" y="653"/>
                </a:cubicBezTo>
                <a:cubicBezTo>
                  <a:pt x="2312" y="589"/>
                  <a:pt x="2247" y="537"/>
                  <a:pt x="2177" y="456"/>
                </a:cubicBezTo>
                <a:cubicBezTo>
                  <a:pt x="2107" y="375"/>
                  <a:pt x="2016" y="235"/>
                  <a:pt x="1920" y="165"/>
                </a:cubicBezTo>
                <a:cubicBezTo>
                  <a:pt x="1824" y="95"/>
                  <a:pt x="1716" y="61"/>
                  <a:pt x="1601" y="36"/>
                </a:cubicBezTo>
                <a:cubicBezTo>
                  <a:pt x="1486" y="11"/>
                  <a:pt x="1343" y="0"/>
                  <a:pt x="1229" y="16"/>
                </a:cubicBezTo>
                <a:cubicBezTo>
                  <a:pt x="1115" y="32"/>
                  <a:pt x="1042" y="90"/>
                  <a:pt x="917" y="131"/>
                </a:cubicBezTo>
                <a:cubicBezTo>
                  <a:pt x="792" y="172"/>
                  <a:pt x="595" y="219"/>
                  <a:pt x="477" y="260"/>
                </a:cubicBezTo>
                <a:cubicBezTo>
                  <a:pt x="359" y="301"/>
                  <a:pt x="280" y="311"/>
                  <a:pt x="212" y="375"/>
                </a:cubicBezTo>
                <a:cubicBezTo>
                  <a:pt x="144" y="439"/>
                  <a:pt x="117" y="560"/>
                  <a:pt x="84" y="632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100" name="Text Box 137"/>
          <p:cNvSpPr txBox="1">
            <a:spLocks noChangeArrowheads="1"/>
          </p:cNvSpPr>
          <p:nvPr/>
        </p:nvSpPr>
        <p:spPr bwMode="auto">
          <a:xfrm>
            <a:off x="2737154" y="4659262"/>
            <a:ext cx="124906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64.233.169.105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5.7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总结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: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自底向上回顾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6807332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一次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请求所要做的工作：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Whole picture</a:t>
            </a: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sp>
        <p:nvSpPr>
          <p:cNvPr id="9" name="Freeform 3"/>
          <p:cNvSpPr>
            <a:spLocks/>
          </p:cNvSpPr>
          <p:nvPr/>
        </p:nvSpPr>
        <p:spPr bwMode="auto">
          <a:xfrm>
            <a:off x="1716788" y="1649362"/>
            <a:ext cx="2665809" cy="2065735"/>
          </a:xfrm>
          <a:custGeom>
            <a:avLst/>
            <a:gdLst>
              <a:gd name="T0" fmla="*/ 2147483646 w 2406"/>
              <a:gd name="T1" fmla="*/ 2147483646 h 958"/>
              <a:gd name="T2" fmla="*/ 2147483646 w 2406"/>
              <a:gd name="T3" fmla="*/ 2147483646 h 958"/>
              <a:gd name="T4" fmla="*/ 2147483646 w 2406"/>
              <a:gd name="T5" fmla="*/ 2147483646 h 958"/>
              <a:gd name="T6" fmla="*/ 2147483646 w 2406"/>
              <a:gd name="T7" fmla="*/ 2147483646 h 958"/>
              <a:gd name="T8" fmla="*/ 2147483646 w 2406"/>
              <a:gd name="T9" fmla="*/ 2147483646 h 958"/>
              <a:gd name="T10" fmla="*/ 2147483646 w 2406"/>
              <a:gd name="T11" fmla="*/ 2147483646 h 958"/>
              <a:gd name="T12" fmla="*/ 2147483646 w 2406"/>
              <a:gd name="T13" fmla="*/ 2147483646 h 958"/>
              <a:gd name="T14" fmla="*/ 2147483646 w 2406"/>
              <a:gd name="T15" fmla="*/ 2147483646 h 958"/>
              <a:gd name="T16" fmla="*/ 2147483646 w 2406"/>
              <a:gd name="T17" fmla="*/ 2147483646 h 958"/>
              <a:gd name="T18" fmla="*/ 2147483646 w 2406"/>
              <a:gd name="T19" fmla="*/ 2147483646 h 958"/>
              <a:gd name="T20" fmla="*/ 2147483646 w 2406"/>
              <a:gd name="T21" fmla="*/ 2147483646 h 958"/>
              <a:gd name="T22" fmla="*/ 2147483646 w 2406"/>
              <a:gd name="T23" fmla="*/ 2147483646 h 958"/>
              <a:gd name="T24" fmla="*/ 2147483646 w 2406"/>
              <a:gd name="T25" fmla="*/ 2147483646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2" name="Line 43"/>
          <p:cNvSpPr>
            <a:spLocks noChangeShapeType="1"/>
          </p:cNvSpPr>
          <p:nvPr/>
        </p:nvSpPr>
        <p:spPr bwMode="auto">
          <a:xfrm flipV="1">
            <a:off x="3136014" y="2582812"/>
            <a:ext cx="52149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3" name="Line 44"/>
          <p:cNvSpPr>
            <a:spLocks noChangeShapeType="1"/>
          </p:cNvSpPr>
          <p:nvPr/>
        </p:nvSpPr>
        <p:spPr bwMode="auto">
          <a:xfrm flipV="1">
            <a:off x="4080179" y="2345878"/>
            <a:ext cx="103585" cy="107156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80" name="Freeform 94"/>
          <p:cNvSpPr>
            <a:spLocks/>
          </p:cNvSpPr>
          <p:nvPr/>
        </p:nvSpPr>
        <p:spPr bwMode="auto">
          <a:xfrm>
            <a:off x="2075166" y="3804393"/>
            <a:ext cx="4814888" cy="1215629"/>
          </a:xfrm>
          <a:custGeom>
            <a:avLst/>
            <a:gdLst>
              <a:gd name="T0" fmla="*/ 2147483646 w 2406"/>
              <a:gd name="T1" fmla="*/ 2147483646 h 958"/>
              <a:gd name="T2" fmla="*/ 2147483646 w 2406"/>
              <a:gd name="T3" fmla="*/ 2147483646 h 958"/>
              <a:gd name="T4" fmla="*/ 2147483646 w 2406"/>
              <a:gd name="T5" fmla="*/ 2147483646 h 958"/>
              <a:gd name="T6" fmla="*/ 2147483646 w 2406"/>
              <a:gd name="T7" fmla="*/ 2147483646 h 958"/>
              <a:gd name="T8" fmla="*/ 2147483646 w 2406"/>
              <a:gd name="T9" fmla="*/ 2147483646 h 958"/>
              <a:gd name="T10" fmla="*/ 2147483646 w 2406"/>
              <a:gd name="T11" fmla="*/ 2147483646 h 958"/>
              <a:gd name="T12" fmla="*/ 2147483646 w 2406"/>
              <a:gd name="T13" fmla="*/ 2147483646 h 958"/>
              <a:gd name="T14" fmla="*/ 2147483646 w 2406"/>
              <a:gd name="T15" fmla="*/ 2147483646 h 958"/>
              <a:gd name="T16" fmla="*/ 2147483646 w 2406"/>
              <a:gd name="T17" fmla="*/ 2147483646 h 958"/>
              <a:gd name="T18" fmla="*/ 2147483646 w 2406"/>
              <a:gd name="T19" fmla="*/ 2147483646 h 958"/>
              <a:gd name="T20" fmla="*/ 2147483646 w 2406"/>
              <a:gd name="T21" fmla="*/ 2147483646 h 958"/>
              <a:gd name="T22" fmla="*/ 2147483646 w 2406"/>
              <a:gd name="T23" fmla="*/ 2147483646 h 958"/>
              <a:gd name="T24" fmla="*/ 2147483646 w 2406"/>
              <a:gd name="T25" fmla="*/ 2147483646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pSp>
        <p:nvGrpSpPr>
          <p:cNvPr id="82" name="Group 110"/>
          <p:cNvGrpSpPr>
            <a:grpSpLocks/>
          </p:cNvGrpSpPr>
          <p:nvPr/>
        </p:nvGrpSpPr>
        <p:grpSpPr bwMode="auto">
          <a:xfrm>
            <a:off x="4277822" y="4237781"/>
            <a:ext cx="567929" cy="284560"/>
            <a:chOff x="2466" y="2026"/>
            <a:chExt cx="477" cy="282"/>
          </a:xfrm>
        </p:grpSpPr>
        <p:sp>
          <p:nvSpPr>
            <p:cNvPr id="83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4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5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6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87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94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5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6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88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91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2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3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89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0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97" name="Line 134"/>
          <p:cNvSpPr>
            <a:spLocks noChangeShapeType="1"/>
          </p:cNvSpPr>
          <p:nvPr/>
        </p:nvSpPr>
        <p:spPr bwMode="auto">
          <a:xfrm flipV="1">
            <a:off x="4618341" y="3000722"/>
            <a:ext cx="881063" cy="1238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99" name="Line 136"/>
          <p:cNvSpPr>
            <a:spLocks noChangeShapeType="1"/>
          </p:cNvSpPr>
          <p:nvPr/>
        </p:nvSpPr>
        <p:spPr bwMode="auto">
          <a:xfrm flipV="1">
            <a:off x="3552733" y="4365178"/>
            <a:ext cx="707231" cy="1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103" name="Group 95"/>
          <p:cNvGrpSpPr>
            <a:grpSpLocks/>
          </p:cNvGrpSpPr>
          <p:nvPr/>
        </p:nvGrpSpPr>
        <p:grpSpPr bwMode="auto">
          <a:xfrm>
            <a:off x="5606560" y="3968700"/>
            <a:ext cx="567929" cy="284560"/>
            <a:chOff x="2466" y="2026"/>
            <a:chExt cx="477" cy="282"/>
          </a:xfrm>
        </p:grpSpPr>
        <p:sp>
          <p:nvSpPr>
            <p:cNvPr id="104" name="Oval 96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" name="Line 97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6" name="Rectangle 98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7" name="Oval 99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08" name="Group 100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115" name="Line 10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6" name="Line 10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7" name="Line 10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109" name="Group 104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112" name="Line 10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3" name="Line 10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4" name="Line 10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110" name="Line 108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1" name="Line 109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42" name="Group 188"/>
          <p:cNvGrpSpPr>
            <a:grpSpLocks/>
          </p:cNvGrpSpPr>
          <p:nvPr/>
        </p:nvGrpSpPr>
        <p:grpSpPr bwMode="auto">
          <a:xfrm>
            <a:off x="5537504" y="4252068"/>
            <a:ext cx="221456" cy="85725"/>
            <a:chOff x="3228" y="1776"/>
            <a:chExt cx="252" cy="96"/>
          </a:xfrm>
        </p:grpSpPr>
        <p:sp>
          <p:nvSpPr>
            <p:cNvPr id="143" name="Line 189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4" name="Line 190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45" name="Group 191"/>
          <p:cNvGrpSpPr>
            <a:grpSpLocks/>
          </p:cNvGrpSpPr>
          <p:nvPr/>
        </p:nvGrpSpPr>
        <p:grpSpPr bwMode="auto">
          <a:xfrm flipH="1">
            <a:off x="6016135" y="4252068"/>
            <a:ext cx="221456" cy="85725"/>
            <a:chOff x="3228" y="1776"/>
            <a:chExt cx="252" cy="96"/>
          </a:xfrm>
        </p:grpSpPr>
        <p:sp>
          <p:nvSpPr>
            <p:cNvPr id="146" name="Line 192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7" name="Line 193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48" name="Group 194"/>
          <p:cNvGrpSpPr>
            <a:grpSpLocks/>
          </p:cNvGrpSpPr>
          <p:nvPr/>
        </p:nvGrpSpPr>
        <p:grpSpPr bwMode="auto">
          <a:xfrm>
            <a:off x="4212339" y="4519959"/>
            <a:ext cx="221456" cy="85725"/>
            <a:chOff x="3228" y="1776"/>
            <a:chExt cx="252" cy="96"/>
          </a:xfrm>
        </p:grpSpPr>
        <p:sp>
          <p:nvSpPr>
            <p:cNvPr id="149" name="Line 195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0" name="Line 196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51" name="Group 197"/>
          <p:cNvGrpSpPr>
            <a:grpSpLocks/>
          </p:cNvGrpSpPr>
          <p:nvPr/>
        </p:nvGrpSpPr>
        <p:grpSpPr bwMode="auto">
          <a:xfrm flipH="1">
            <a:off x="4690970" y="4519959"/>
            <a:ext cx="221456" cy="85725"/>
            <a:chOff x="3228" y="1776"/>
            <a:chExt cx="252" cy="96"/>
          </a:xfrm>
        </p:grpSpPr>
        <p:sp>
          <p:nvSpPr>
            <p:cNvPr id="152" name="Line 19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3" name="Line 19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54" name="Group 200"/>
          <p:cNvGrpSpPr>
            <a:grpSpLocks/>
          </p:cNvGrpSpPr>
          <p:nvPr/>
        </p:nvGrpSpPr>
        <p:grpSpPr bwMode="auto">
          <a:xfrm flipH="1" flipV="1">
            <a:off x="4844560" y="4298503"/>
            <a:ext cx="221456" cy="85725"/>
            <a:chOff x="3228" y="1776"/>
            <a:chExt cx="252" cy="96"/>
          </a:xfrm>
        </p:grpSpPr>
        <p:sp>
          <p:nvSpPr>
            <p:cNvPr id="155" name="Line 20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6" name="Line 20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159" name="Text Box 404"/>
          <p:cNvSpPr txBox="1">
            <a:spLocks noChangeArrowheads="1"/>
          </p:cNvSpPr>
          <p:nvPr/>
        </p:nvSpPr>
        <p:spPr bwMode="auto">
          <a:xfrm>
            <a:off x="2431164" y="3649612"/>
            <a:ext cx="771365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>
                <a:solidFill>
                  <a:srgbClr val="FF0000"/>
                </a:solidFill>
                <a:latin typeface="Arial" panose="020B0604020202020204" pitchFamily="34" charset="0"/>
              </a:rPr>
              <a:t>web page</a:t>
            </a:r>
          </a:p>
        </p:txBody>
      </p:sp>
      <p:grpSp>
        <p:nvGrpSpPr>
          <p:cNvPr id="262" name="Group 248"/>
          <p:cNvGrpSpPr>
            <a:grpSpLocks/>
          </p:cNvGrpSpPr>
          <p:nvPr/>
        </p:nvGrpSpPr>
        <p:grpSpPr bwMode="auto">
          <a:xfrm>
            <a:off x="3415810" y="4035374"/>
            <a:ext cx="269081" cy="467916"/>
            <a:chOff x="4140" y="429"/>
            <a:chExt cx="1425" cy="2396"/>
          </a:xfrm>
        </p:grpSpPr>
        <p:sp>
          <p:nvSpPr>
            <p:cNvPr id="263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4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65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6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7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68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93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94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69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70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91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92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71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72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73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89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90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74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75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87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88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76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77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8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9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0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1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2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3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4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5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6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101" name="Text Box 138"/>
          <p:cNvSpPr txBox="1">
            <a:spLocks noChangeArrowheads="1"/>
          </p:cNvSpPr>
          <p:nvPr/>
        </p:nvSpPr>
        <p:spPr bwMode="auto">
          <a:xfrm>
            <a:off x="2744233" y="4488688"/>
            <a:ext cx="93487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web server</a:t>
            </a:r>
          </a:p>
        </p:txBody>
      </p:sp>
      <p:sp>
        <p:nvSpPr>
          <p:cNvPr id="300" name="Text Box 135">
            <a:extLst>
              <a:ext uri="{FF2B5EF4-FFF2-40B4-BE49-F238E27FC236}">
                <a16:creationId xmlns:a16="http://schemas.microsoft.com/office/drawing/2014/main" id="{332DC03C-A4E8-4733-9B7F-E5A4F50BB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2453" y="4497236"/>
            <a:ext cx="18309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Organization</a:t>
            </a: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’</a:t>
            </a:r>
            <a:r>
              <a:rPr lang="en-US" altLang="ja-JP" sz="1200" dirty="0">
                <a:solidFill>
                  <a:srgbClr val="000000"/>
                </a:solidFill>
                <a:latin typeface="Arial" panose="020B0604020202020204" pitchFamily="34" charset="0"/>
              </a:rPr>
              <a:t>s network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64.204.2.0/24 </a:t>
            </a:r>
          </a:p>
        </p:txBody>
      </p:sp>
      <p:grpSp>
        <p:nvGrpSpPr>
          <p:cNvPr id="211" name="Group 1185"/>
          <p:cNvGrpSpPr>
            <a:grpSpLocks/>
          </p:cNvGrpSpPr>
          <p:nvPr/>
        </p:nvGrpSpPr>
        <p:grpSpPr bwMode="auto">
          <a:xfrm>
            <a:off x="5574414" y="3953221"/>
            <a:ext cx="606028" cy="319088"/>
            <a:chOff x="4650" y="1129"/>
            <a:chExt cx="246" cy="95"/>
          </a:xfrm>
        </p:grpSpPr>
        <p:sp>
          <p:nvSpPr>
            <p:cNvPr id="212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13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14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15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8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9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216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7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pic>
        <p:nvPicPr>
          <p:cNvPr id="301" name="图片 300">
            <a:extLst>
              <a:ext uri="{FF2B5EF4-FFF2-40B4-BE49-F238E27FC236}">
                <a16:creationId xmlns:a16="http://schemas.microsoft.com/office/drawing/2014/main" id="{BBEA9E02-376A-4238-84A0-52C8AF9A2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684" y="3868536"/>
            <a:ext cx="957628" cy="62339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grpSp>
        <p:nvGrpSpPr>
          <p:cNvPr id="220" name="Group 1185"/>
          <p:cNvGrpSpPr>
            <a:grpSpLocks/>
          </p:cNvGrpSpPr>
          <p:nvPr/>
        </p:nvGrpSpPr>
        <p:grpSpPr bwMode="auto">
          <a:xfrm>
            <a:off x="4268297" y="4227065"/>
            <a:ext cx="606029" cy="319088"/>
            <a:chOff x="4650" y="1129"/>
            <a:chExt cx="246" cy="95"/>
          </a:xfrm>
        </p:grpSpPr>
        <p:sp>
          <p:nvSpPr>
            <p:cNvPr id="221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22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23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24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27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28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225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6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297" name="圆角矩形 296"/>
          <p:cNvSpPr/>
          <p:nvPr/>
        </p:nvSpPr>
        <p:spPr>
          <a:xfrm>
            <a:off x="1455775" y="1386327"/>
            <a:ext cx="6470389" cy="3689561"/>
          </a:xfrm>
          <a:prstGeom prst="roundRect">
            <a:avLst>
              <a:gd name="adj" fmla="val 3649"/>
            </a:avLst>
          </a:prstGeom>
          <a:solidFill>
            <a:srgbClr val="EFF8FF">
              <a:alpha val="9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160" name="Group 405"/>
          <p:cNvGrpSpPr>
            <a:grpSpLocks/>
          </p:cNvGrpSpPr>
          <p:nvPr/>
        </p:nvGrpSpPr>
        <p:grpSpPr bwMode="auto">
          <a:xfrm>
            <a:off x="1475091" y="1566018"/>
            <a:ext cx="1062038" cy="948929"/>
            <a:chOff x="146" y="690"/>
            <a:chExt cx="892" cy="797"/>
          </a:xfrm>
        </p:grpSpPr>
        <p:grpSp>
          <p:nvGrpSpPr>
            <p:cNvPr id="161" name="Group 400"/>
            <p:cNvGrpSpPr>
              <a:grpSpLocks/>
            </p:cNvGrpSpPr>
            <p:nvPr/>
          </p:nvGrpSpPr>
          <p:grpSpPr bwMode="auto">
            <a:xfrm>
              <a:off x="146" y="690"/>
              <a:ext cx="892" cy="797"/>
              <a:chOff x="146" y="690"/>
              <a:chExt cx="892" cy="797"/>
            </a:xfrm>
          </p:grpSpPr>
          <p:sp>
            <p:nvSpPr>
              <p:cNvPr id="163" name="Freeform 398"/>
              <p:cNvSpPr>
                <a:spLocks/>
              </p:cNvSpPr>
              <p:nvPr/>
            </p:nvSpPr>
            <p:spPr bwMode="auto">
              <a:xfrm>
                <a:off x="177" y="715"/>
                <a:ext cx="861" cy="772"/>
              </a:xfrm>
              <a:custGeom>
                <a:avLst/>
                <a:gdLst>
                  <a:gd name="T0" fmla="*/ 861 w 861"/>
                  <a:gd name="T1" fmla="*/ 772 h 772"/>
                  <a:gd name="T2" fmla="*/ 0 w 861"/>
                  <a:gd name="T3" fmla="*/ 557 h 772"/>
                  <a:gd name="T4" fmla="*/ 532 w 861"/>
                  <a:gd name="T5" fmla="*/ 405 h 772"/>
                  <a:gd name="T6" fmla="*/ 652 w 861"/>
                  <a:gd name="T7" fmla="*/ 0 h 772"/>
                  <a:gd name="T8" fmla="*/ 861 w 861"/>
                  <a:gd name="T9" fmla="*/ 772 h 7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61" h="772">
                    <a:moveTo>
                      <a:pt x="861" y="772"/>
                    </a:moveTo>
                    <a:lnTo>
                      <a:pt x="0" y="557"/>
                    </a:lnTo>
                    <a:lnTo>
                      <a:pt x="532" y="405"/>
                    </a:lnTo>
                    <a:lnTo>
                      <a:pt x="652" y="0"/>
                    </a:lnTo>
                    <a:lnTo>
                      <a:pt x="861" y="772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100000">
                    <a:srgbClr val="FF00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grpSp>
            <p:nvGrpSpPr>
              <p:cNvPr id="164" name="Group 392"/>
              <p:cNvGrpSpPr>
                <a:grpSpLocks/>
              </p:cNvGrpSpPr>
              <p:nvPr/>
            </p:nvGrpSpPr>
            <p:grpSpPr bwMode="auto">
              <a:xfrm>
                <a:off x="148" y="697"/>
                <a:ext cx="694" cy="574"/>
                <a:chOff x="2579" y="1366"/>
                <a:chExt cx="1078" cy="674"/>
              </a:xfrm>
            </p:grpSpPr>
            <p:pic>
              <p:nvPicPr>
                <p:cNvPr id="166" name="Picture 393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79" y="1366"/>
                  <a:ext cx="1078" cy="6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7" name="Rectangle 394"/>
                <p:cNvSpPr>
                  <a:spLocks noChangeArrowheads="1"/>
                </p:cNvSpPr>
                <p:nvPr/>
              </p:nvSpPr>
              <p:spPr bwMode="auto">
                <a:xfrm>
                  <a:off x="2633" y="1428"/>
                  <a:ext cx="957" cy="56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165" name="Rectangle 399"/>
              <p:cNvSpPr>
                <a:spLocks noChangeArrowheads="1"/>
              </p:cNvSpPr>
              <p:nvPr/>
            </p:nvSpPr>
            <p:spPr bwMode="auto">
              <a:xfrm>
                <a:off x="146" y="690"/>
                <a:ext cx="696" cy="58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162" name="Text Box 402"/>
            <p:cNvSpPr txBox="1">
              <a:spLocks noChangeArrowheads="1"/>
            </p:cNvSpPr>
            <p:nvPr/>
          </p:nvSpPr>
          <p:spPr bwMode="auto">
            <a:xfrm>
              <a:off x="227" y="850"/>
              <a:ext cx="55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FF0000"/>
                  </a:solidFill>
                  <a:latin typeface="Arial" panose="020B0604020202020204" pitchFamily="34" charset="0"/>
                </a:rPr>
                <a:t>browser</a:t>
              </a:r>
            </a:p>
          </p:txBody>
        </p:sp>
      </p:grpSp>
      <p:grpSp>
        <p:nvGrpSpPr>
          <p:cNvPr id="168" name="Group 356"/>
          <p:cNvGrpSpPr>
            <a:grpSpLocks/>
          </p:cNvGrpSpPr>
          <p:nvPr/>
        </p:nvGrpSpPr>
        <p:grpSpPr bwMode="auto">
          <a:xfrm>
            <a:off x="2391873" y="2118468"/>
            <a:ext cx="632222" cy="610791"/>
            <a:chOff x="313" y="1497"/>
            <a:chExt cx="1152" cy="1014"/>
          </a:xfrm>
        </p:grpSpPr>
        <p:pic>
          <p:nvPicPr>
            <p:cNvPr id="169" name="Picture 354" descr="laptop_stylized_small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0" name="Picture 355" descr="antenna_stylized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1" name="AutoShape 396"/>
          <p:cNvSpPr>
            <a:spLocks noChangeArrowheads="1"/>
          </p:cNvSpPr>
          <p:nvPr/>
        </p:nvSpPr>
        <p:spPr bwMode="auto">
          <a:xfrm>
            <a:off x="1759651" y="2394694"/>
            <a:ext cx="732234" cy="364331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83" name="Rectangle 43"/>
          <p:cNvSpPr>
            <a:spLocks noChangeArrowheads="1"/>
          </p:cNvSpPr>
          <p:nvPr/>
        </p:nvSpPr>
        <p:spPr bwMode="auto">
          <a:xfrm rot="16200000">
            <a:off x="3012188" y="2468512"/>
            <a:ext cx="109538" cy="235744"/>
          </a:xfrm>
          <a:prstGeom prst="rect">
            <a:avLst/>
          </a:prstGeom>
          <a:gradFill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350">
              <a:solidFill>
                <a:srgbClr val="000000"/>
              </a:solidFill>
            </a:endParaRPr>
          </a:p>
        </p:txBody>
      </p:sp>
      <p:pic>
        <p:nvPicPr>
          <p:cNvPr id="295" name="Picture 15" descr="User-icon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269" y="2105888"/>
            <a:ext cx="465425" cy="46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6" name="Text Box 139"/>
          <p:cNvSpPr txBox="1">
            <a:spLocks noChangeArrowheads="1"/>
          </p:cNvSpPr>
          <p:nvPr/>
        </p:nvSpPr>
        <p:spPr bwMode="auto">
          <a:xfrm>
            <a:off x="3467117" y="1525199"/>
            <a:ext cx="1808829" cy="64633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路由选择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路由转发到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4313" indent="-214313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查询的交付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7" name="Text Box 34"/>
          <p:cNvSpPr txBox="1">
            <a:spLocks noChangeArrowheads="1"/>
          </p:cNvSpPr>
          <p:nvPr/>
        </p:nvSpPr>
        <p:spPr bwMode="auto">
          <a:xfrm>
            <a:off x="1979917" y="3041203"/>
            <a:ext cx="12506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school network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68.80.2.0/24</a:t>
            </a:r>
          </a:p>
        </p:txBody>
      </p:sp>
      <p:grpSp>
        <p:nvGrpSpPr>
          <p:cNvPr id="25" name="Group 19"/>
          <p:cNvGrpSpPr>
            <a:grpSpLocks/>
          </p:cNvGrpSpPr>
          <p:nvPr/>
        </p:nvGrpSpPr>
        <p:grpSpPr bwMode="auto">
          <a:xfrm>
            <a:off x="6319745" y="2513756"/>
            <a:ext cx="567928" cy="284560"/>
            <a:chOff x="2466" y="2026"/>
            <a:chExt cx="477" cy="282"/>
          </a:xfrm>
        </p:grpSpPr>
        <p:sp>
          <p:nvSpPr>
            <p:cNvPr id="26" name="Oval 2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8" name="Rectangle 2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" name="Oval 2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0" name="Group 2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37" name="Line 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8" name="Line 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9" name="Line 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31" name="Group 2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34" name="Line 2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5" name="Line 3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6" name="Line 3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32" name="Line 3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3" name="Line 3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27" name="Group 173"/>
          <p:cNvGrpSpPr>
            <a:grpSpLocks/>
          </p:cNvGrpSpPr>
          <p:nvPr/>
        </p:nvGrpSpPr>
        <p:grpSpPr bwMode="auto">
          <a:xfrm flipH="1" flipV="1">
            <a:off x="7305582" y="3116212"/>
            <a:ext cx="300038" cy="114300"/>
            <a:chOff x="3228" y="1776"/>
            <a:chExt cx="252" cy="96"/>
          </a:xfrm>
        </p:grpSpPr>
        <p:sp>
          <p:nvSpPr>
            <p:cNvPr id="128" name="Line 17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9" name="Line 17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0" name="Group 176"/>
          <p:cNvGrpSpPr>
            <a:grpSpLocks/>
          </p:cNvGrpSpPr>
          <p:nvPr/>
        </p:nvGrpSpPr>
        <p:grpSpPr bwMode="auto">
          <a:xfrm flipV="1">
            <a:off x="6687648" y="3130499"/>
            <a:ext cx="221456" cy="85725"/>
            <a:chOff x="3228" y="1776"/>
            <a:chExt cx="252" cy="96"/>
          </a:xfrm>
        </p:grpSpPr>
        <p:sp>
          <p:nvSpPr>
            <p:cNvPr id="131" name="Line 177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" name="Line 178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6" name="Group 182"/>
          <p:cNvGrpSpPr>
            <a:grpSpLocks/>
          </p:cNvGrpSpPr>
          <p:nvPr/>
        </p:nvGrpSpPr>
        <p:grpSpPr bwMode="auto">
          <a:xfrm>
            <a:off x="6248308" y="2791172"/>
            <a:ext cx="221456" cy="85725"/>
            <a:chOff x="3228" y="1776"/>
            <a:chExt cx="252" cy="96"/>
          </a:xfrm>
        </p:grpSpPr>
        <p:sp>
          <p:nvSpPr>
            <p:cNvPr id="137" name="Line 183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8" name="Line 184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9" name="Group 185"/>
          <p:cNvGrpSpPr>
            <a:grpSpLocks/>
          </p:cNvGrpSpPr>
          <p:nvPr/>
        </p:nvGrpSpPr>
        <p:grpSpPr bwMode="auto">
          <a:xfrm flipH="1">
            <a:off x="6726939" y="2791172"/>
            <a:ext cx="221456" cy="85725"/>
            <a:chOff x="3228" y="1776"/>
            <a:chExt cx="252" cy="96"/>
          </a:xfrm>
        </p:grpSpPr>
        <p:sp>
          <p:nvSpPr>
            <p:cNvPr id="140" name="Line 186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1" name="Line 187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93" name="Group 1185"/>
          <p:cNvGrpSpPr>
            <a:grpSpLocks/>
          </p:cNvGrpSpPr>
          <p:nvPr/>
        </p:nvGrpSpPr>
        <p:grpSpPr bwMode="auto">
          <a:xfrm>
            <a:off x="6305457" y="2495896"/>
            <a:ext cx="606028" cy="319088"/>
            <a:chOff x="4650" y="1129"/>
            <a:chExt cx="246" cy="95"/>
          </a:xfrm>
        </p:grpSpPr>
        <p:sp>
          <p:nvSpPr>
            <p:cNvPr id="194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5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6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97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00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01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98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9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0" name="Group 4"/>
          <p:cNvGrpSpPr>
            <a:grpSpLocks/>
          </p:cNvGrpSpPr>
          <p:nvPr/>
        </p:nvGrpSpPr>
        <p:grpSpPr bwMode="auto">
          <a:xfrm>
            <a:off x="5295807" y="2704256"/>
            <a:ext cx="567928" cy="284560"/>
            <a:chOff x="2466" y="2026"/>
            <a:chExt cx="477" cy="282"/>
          </a:xfrm>
        </p:grpSpPr>
        <p:sp>
          <p:nvSpPr>
            <p:cNvPr id="11" name="Oval 5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" name="Line 6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" name="Oval 8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5" name="Group 9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2" name="Line 1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3" name="Line 1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" name="Line 1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16" name="Group 13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19" name="Line 1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" name="Line 1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1" name="Line 1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41" name="Line 36"/>
          <p:cNvSpPr>
            <a:spLocks noChangeShapeType="1"/>
          </p:cNvSpPr>
          <p:nvPr/>
        </p:nvSpPr>
        <p:spPr bwMode="auto">
          <a:xfrm flipV="1">
            <a:off x="3968260" y="2453035"/>
            <a:ext cx="116681" cy="10715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4" name="Line 48"/>
          <p:cNvSpPr>
            <a:spLocks noChangeShapeType="1"/>
          </p:cNvSpPr>
          <p:nvPr/>
        </p:nvSpPr>
        <p:spPr bwMode="auto">
          <a:xfrm flipV="1">
            <a:off x="3596785" y="2747119"/>
            <a:ext cx="384572" cy="45958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3" name="Line 68"/>
          <p:cNvSpPr>
            <a:spLocks noChangeShapeType="1"/>
          </p:cNvSpPr>
          <p:nvPr/>
        </p:nvSpPr>
        <p:spPr bwMode="auto">
          <a:xfrm flipV="1">
            <a:off x="3950401" y="2892375"/>
            <a:ext cx="1364456" cy="55006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64" name="Group 69"/>
          <p:cNvGrpSpPr>
            <a:grpSpLocks/>
          </p:cNvGrpSpPr>
          <p:nvPr/>
        </p:nvGrpSpPr>
        <p:grpSpPr bwMode="auto">
          <a:xfrm>
            <a:off x="6812664" y="3200747"/>
            <a:ext cx="567928" cy="284559"/>
            <a:chOff x="2466" y="2026"/>
            <a:chExt cx="477" cy="282"/>
          </a:xfrm>
        </p:grpSpPr>
        <p:sp>
          <p:nvSpPr>
            <p:cNvPr id="65" name="Oval 7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6" name="Line 7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7" name="Rectangle 7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" name="Oval 7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69" name="Group 7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76" name="Line 7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7" name="Line 7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8" name="Line 7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70" name="Group 7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73" name="Line 7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4" name="Line 8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5" name="Line 8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71" name="Line 8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2" name="Line 8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18" name="Group 166"/>
          <p:cNvGrpSpPr>
            <a:grpSpLocks/>
          </p:cNvGrpSpPr>
          <p:nvPr/>
        </p:nvGrpSpPr>
        <p:grpSpPr bwMode="auto">
          <a:xfrm>
            <a:off x="5144597" y="2980481"/>
            <a:ext cx="300038" cy="114300"/>
            <a:chOff x="3228" y="1776"/>
            <a:chExt cx="252" cy="96"/>
          </a:xfrm>
        </p:grpSpPr>
        <p:sp>
          <p:nvSpPr>
            <p:cNvPr id="119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0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21" name="Group 167"/>
          <p:cNvGrpSpPr>
            <a:grpSpLocks/>
          </p:cNvGrpSpPr>
          <p:nvPr/>
        </p:nvGrpSpPr>
        <p:grpSpPr bwMode="auto">
          <a:xfrm flipH="1">
            <a:off x="5616085" y="2991197"/>
            <a:ext cx="300038" cy="114300"/>
            <a:chOff x="3228" y="1776"/>
            <a:chExt cx="252" cy="96"/>
          </a:xfrm>
        </p:grpSpPr>
        <p:sp>
          <p:nvSpPr>
            <p:cNvPr id="122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3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24" name="Group 170"/>
          <p:cNvGrpSpPr>
            <a:grpSpLocks/>
          </p:cNvGrpSpPr>
          <p:nvPr/>
        </p:nvGrpSpPr>
        <p:grpSpPr bwMode="auto">
          <a:xfrm flipH="1" flipV="1">
            <a:off x="5730385" y="2598290"/>
            <a:ext cx="300038" cy="114300"/>
            <a:chOff x="3228" y="1776"/>
            <a:chExt cx="252" cy="96"/>
          </a:xfrm>
        </p:grpSpPr>
        <p:sp>
          <p:nvSpPr>
            <p:cNvPr id="125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6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pic>
        <p:nvPicPr>
          <p:cNvPr id="172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545" y="2528043"/>
            <a:ext cx="685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4" name="Group 1185"/>
          <p:cNvGrpSpPr>
            <a:grpSpLocks/>
          </p:cNvGrpSpPr>
          <p:nvPr/>
        </p:nvGrpSpPr>
        <p:grpSpPr bwMode="auto">
          <a:xfrm>
            <a:off x="5262469" y="2694731"/>
            <a:ext cx="622697" cy="341710"/>
            <a:chOff x="4650" y="1129"/>
            <a:chExt cx="246" cy="95"/>
          </a:xfrm>
        </p:grpSpPr>
        <p:sp>
          <p:nvSpPr>
            <p:cNvPr id="185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6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7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88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91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92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89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0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202" name="Group 1185"/>
          <p:cNvGrpSpPr>
            <a:grpSpLocks/>
          </p:cNvGrpSpPr>
          <p:nvPr/>
        </p:nvGrpSpPr>
        <p:grpSpPr bwMode="auto">
          <a:xfrm>
            <a:off x="6766229" y="3198366"/>
            <a:ext cx="669131" cy="292894"/>
            <a:chOff x="4650" y="1129"/>
            <a:chExt cx="246" cy="95"/>
          </a:xfrm>
        </p:grpSpPr>
        <p:sp>
          <p:nvSpPr>
            <p:cNvPr id="203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4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5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06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09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0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207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8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3" name="Group 179"/>
          <p:cNvGrpSpPr>
            <a:grpSpLocks/>
          </p:cNvGrpSpPr>
          <p:nvPr/>
        </p:nvGrpSpPr>
        <p:grpSpPr bwMode="auto">
          <a:xfrm rot="409689" flipH="1" flipV="1">
            <a:off x="6891245" y="2637580"/>
            <a:ext cx="339328" cy="42863"/>
            <a:chOff x="3228" y="1776"/>
            <a:chExt cx="252" cy="96"/>
          </a:xfrm>
        </p:grpSpPr>
        <p:sp>
          <p:nvSpPr>
            <p:cNvPr id="134" name="Line 180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5" name="Line 181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175" name="Oval 407"/>
          <p:cNvSpPr>
            <a:spLocks noChangeArrowheads="1"/>
          </p:cNvSpPr>
          <p:nvPr/>
        </p:nvSpPr>
        <p:spPr bwMode="auto">
          <a:xfrm>
            <a:off x="3172922" y="3409106"/>
            <a:ext cx="638175" cy="188119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76" name="Rectangle 410"/>
          <p:cNvSpPr>
            <a:spLocks noChangeArrowheads="1"/>
          </p:cNvSpPr>
          <p:nvPr/>
        </p:nvSpPr>
        <p:spPr bwMode="auto">
          <a:xfrm>
            <a:off x="3172923" y="3387675"/>
            <a:ext cx="640556" cy="117872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45" name="Group 49"/>
          <p:cNvGrpSpPr>
            <a:grpSpLocks/>
          </p:cNvGrpSpPr>
          <p:nvPr/>
        </p:nvGrpSpPr>
        <p:grpSpPr bwMode="auto">
          <a:xfrm>
            <a:off x="3207451" y="3218606"/>
            <a:ext cx="740569" cy="297656"/>
            <a:chOff x="1118" y="1621"/>
            <a:chExt cx="622" cy="250"/>
          </a:xfrm>
        </p:grpSpPr>
        <p:sp>
          <p:nvSpPr>
            <p:cNvPr id="46" name="Rectangle 50"/>
            <p:cNvSpPr>
              <a:spLocks noChangeArrowheads="1"/>
            </p:cNvSpPr>
            <p:nvPr/>
          </p:nvSpPr>
          <p:spPr bwMode="auto">
            <a:xfrm>
              <a:off x="1578" y="1789"/>
              <a:ext cx="162" cy="44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" name="Rectangle 51"/>
            <p:cNvSpPr>
              <a:spLocks noChangeArrowheads="1"/>
            </p:cNvSpPr>
            <p:nvPr/>
          </p:nvSpPr>
          <p:spPr bwMode="auto">
            <a:xfrm rot="-2700000">
              <a:off x="1336" y="1621"/>
              <a:ext cx="162" cy="44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48" name="Group 52"/>
            <p:cNvGrpSpPr>
              <a:grpSpLocks/>
            </p:cNvGrpSpPr>
            <p:nvPr/>
          </p:nvGrpSpPr>
          <p:grpSpPr bwMode="auto">
            <a:xfrm>
              <a:off x="1118" y="1686"/>
              <a:ext cx="476" cy="185"/>
              <a:chOff x="2466" y="2026"/>
              <a:chExt cx="476" cy="218"/>
            </a:xfrm>
          </p:grpSpPr>
          <p:sp>
            <p:nvSpPr>
              <p:cNvPr id="50" name="Line 54"/>
              <p:cNvSpPr>
                <a:spLocks noChangeShapeType="1"/>
              </p:cNvSpPr>
              <p:nvPr/>
            </p:nvSpPr>
            <p:spPr bwMode="auto">
              <a:xfrm>
                <a:off x="2470" y="2125"/>
                <a:ext cx="1" cy="8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52" name="Oval 56"/>
              <p:cNvSpPr>
                <a:spLocks noChangeArrowheads="1"/>
              </p:cNvSpPr>
              <p:nvPr/>
            </p:nvSpPr>
            <p:spPr bwMode="auto">
              <a:xfrm>
                <a:off x="2466" y="2026"/>
                <a:ext cx="476" cy="160"/>
              </a:xfrm>
              <a:prstGeom prst="ellipse">
                <a:avLst/>
              </a:prstGeom>
              <a:solidFill>
                <a:srgbClr val="DDDDDD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53" name="Group 57"/>
              <p:cNvGrpSpPr>
                <a:grpSpLocks/>
              </p:cNvGrpSpPr>
              <p:nvPr/>
            </p:nvGrpSpPr>
            <p:grpSpPr bwMode="auto">
              <a:xfrm>
                <a:off x="2581" y="2061"/>
                <a:ext cx="236" cy="94"/>
                <a:chOff x="2848" y="848"/>
                <a:chExt cx="140" cy="98"/>
              </a:xfrm>
            </p:grpSpPr>
            <p:sp>
              <p:nvSpPr>
                <p:cNvPr id="60" name="Line 58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61" name="Line 59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62" name="Line 60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54" name="Group 61"/>
              <p:cNvGrpSpPr>
                <a:grpSpLocks/>
              </p:cNvGrpSpPr>
              <p:nvPr/>
            </p:nvGrpSpPr>
            <p:grpSpPr bwMode="auto">
              <a:xfrm flipV="1">
                <a:off x="2581" y="2060"/>
                <a:ext cx="236" cy="94"/>
                <a:chOff x="2848" y="848"/>
                <a:chExt cx="140" cy="98"/>
              </a:xfrm>
            </p:grpSpPr>
            <p:sp>
              <p:nvSpPr>
                <p:cNvPr id="57" name="Line 6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58" name="Line 6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59" name="Line 6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56" name="Line 66"/>
              <p:cNvSpPr>
                <a:spLocks noChangeShapeType="1"/>
              </p:cNvSpPr>
              <p:nvPr/>
            </p:nvSpPr>
            <p:spPr bwMode="auto">
              <a:xfrm flipH="1">
                <a:off x="2466" y="2117"/>
                <a:ext cx="1" cy="1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</p:grpSp>
      <p:sp>
        <p:nvSpPr>
          <p:cNvPr id="177" name="Oval 411"/>
          <p:cNvSpPr>
            <a:spLocks noChangeArrowheads="1"/>
          </p:cNvSpPr>
          <p:nvPr/>
        </p:nvSpPr>
        <p:spPr bwMode="auto">
          <a:xfrm>
            <a:off x="3170541" y="3260278"/>
            <a:ext cx="638175" cy="220265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81" name="Line 1192"/>
          <p:cNvSpPr>
            <a:spLocks noChangeShapeType="1"/>
          </p:cNvSpPr>
          <p:nvPr/>
        </p:nvSpPr>
        <p:spPr bwMode="auto">
          <a:xfrm>
            <a:off x="3172922" y="3362672"/>
            <a:ext cx="0" cy="1500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73" name="Rectangle 43"/>
          <p:cNvSpPr>
            <a:spLocks noChangeArrowheads="1"/>
          </p:cNvSpPr>
          <p:nvPr/>
        </p:nvSpPr>
        <p:spPr bwMode="auto">
          <a:xfrm rot="16200000">
            <a:off x="3820622" y="3357909"/>
            <a:ext cx="110729" cy="141684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350">
              <a:solidFill>
                <a:srgbClr val="000000"/>
              </a:solidFill>
            </a:endParaRPr>
          </a:p>
        </p:txBody>
      </p:sp>
      <p:sp>
        <p:nvSpPr>
          <p:cNvPr id="174" name="Rectangle 43"/>
          <p:cNvSpPr>
            <a:spLocks noChangeArrowheads="1"/>
          </p:cNvSpPr>
          <p:nvPr/>
        </p:nvSpPr>
        <p:spPr bwMode="auto">
          <a:xfrm rot="2460490">
            <a:off x="3564639" y="3100735"/>
            <a:ext cx="102394" cy="229790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350">
              <a:solidFill>
                <a:srgbClr val="000000"/>
              </a:solidFill>
            </a:endParaRPr>
          </a:p>
        </p:txBody>
      </p:sp>
      <p:grpSp>
        <p:nvGrpSpPr>
          <p:cNvPr id="178" name="Group 1189"/>
          <p:cNvGrpSpPr>
            <a:grpSpLocks/>
          </p:cNvGrpSpPr>
          <p:nvPr/>
        </p:nvGrpSpPr>
        <p:grpSpPr bwMode="auto">
          <a:xfrm>
            <a:off x="3299129" y="3317428"/>
            <a:ext cx="360760" cy="102394"/>
            <a:chOff x="2468" y="1332"/>
            <a:chExt cx="310" cy="60"/>
          </a:xfrm>
        </p:grpSpPr>
        <p:sp>
          <p:nvSpPr>
            <p:cNvPr id="179" name="Freeform 1190"/>
            <p:cNvSpPr>
              <a:spLocks/>
            </p:cNvSpPr>
            <p:nvPr/>
          </p:nvSpPr>
          <p:spPr bwMode="auto">
            <a:xfrm>
              <a:off x="2468" y="1332"/>
              <a:ext cx="310" cy="60"/>
            </a:xfrm>
            <a:custGeom>
              <a:avLst/>
              <a:gdLst>
                <a:gd name="T0" fmla="*/ 0 w 310"/>
                <a:gd name="T1" fmla="*/ 60 h 60"/>
                <a:gd name="T2" fmla="*/ 96 w 310"/>
                <a:gd name="T3" fmla="*/ 60 h 60"/>
                <a:gd name="T4" fmla="*/ 192 w 310"/>
                <a:gd name="T5" fmla="*/ 0 h 60"/>
                <a:gd name="T6" fmla="*/ 310 w 310"/>
                <a:gd name="T7" fmla="*/ 0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0" h="60">
                  <a:moveTo>
                    <a:pt x="0" y="60"/>
                  </a:moveTo>
                  <a:lnTo>
                    <a:pt x="96" y="60"/>
                  </a:lnTo>
                  <a:lnTo>
                    <a:pt x="192" y="0"/>
                  </a:lnTo>
                  <a:lnTo>
                    <a:pt x="310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0" name="Freeform 1191"/>
            <p:cNvSpPr>
              <a:spLocks/>
            </p:cNvSpPr>
            <p:nvPr/>
          </p:nvSpPr>
          <p:spPr bwMode="auto">
            <a:xfrm>
              <a:off x="2482" y="1332"/>
              <a:ext cx="282" cy="60"/>
            </a:xfrm>
            <a:custGeom>
              <a:avLst/>
              <a:gdLst>
                <a:gd name="T0" fmla="*/ 0 w 282"/>
                <a:gd name="T1" fmla="*/ 0 h 60"/>
                <a:gd name="T2" fmla="*/ 96 w 282"/>
                <a:gd name="T3" fmla="*/ 0 h 60"/>
                <a:gd name="T4" fmla="*/ 192 w 282"/>
                <a:gd name="T5" fmla="*/ 60 h 60"/>
                <a:gd name="T6" fmla="*/ 282 w 282"/>
                <a:gd name="T7" fmla="*/ 60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2" h="60">
                  <a:moveTo>
                    <a:pt x="0" y="0"/>
                  </a:moveTo>
                  <a:lnTo>
                    <a:pt x="96" y="0"/>
                  </a:lnTo>
                  <a:lnTo>
                    <a:pt x="192" y="60"/>
                  </a:lnTo>
                  <a:lnTo>
                    <a:pt x="282" y="6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182" name="Line 1193"/>
          <p:cNvSpPr>
            <a:spLocks noChangeShapeType="1"/>
          </p:cNvSpPr>
          <p:nvPr/>
        </p:nvSpPr>
        <p:spPr bwMode="auto">
          <a:xfrm>
            <a:off x="3808716" y="3369815"/>
            <a:ext cx="0" cy="1464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0" name="Text Box 34"/>
          <p:cNvSpPr txBox="1">
            <a:spLocks noChangeArrowheads="1"/>
          </p:cNvSpPr>
          <p:nvPr/>
        </p:nvSpPr>
        <p:spPr bwMode="auto">
          <a:xfrm>
            <a:off x="5281519" y="2016075"/>
            <a:ext cx="14141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Comcast network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68.80.0.0/13</a:t>
            </a:r>
          </a:p>
        </p:txBody>
      </p:sp>
      <p:sp>
        <p:nvSpPr>
          <p:cNvPr id="79" name="Line 93"/>
          <p:cNvSpPr>
            <a:spLocks noChangeShapeType="1"/>
          </p:cNvSpPr>
          <p:nvPr/>
        </p:nvSpPr>
        <p:spPr bwMode="auto">
          <a:xfrm flipH="1">
            <a:off x="6601922" y="2319684"/>
            <a:ext cx="195263" cy="19407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2" name="Text Box 139"/>
          <p:cNvSpPr txBox="1">
            <a:spLocks noChangeArrowheads="1"/>
          </p:cNvSpPr>
          <p:nvPr/>
        </p:nvSpPr>
        <p:spPr bwMode="auto">
          <a:xfrm>
            <a:off x="6896007" y="2026166"/>
            <a:ext cx="9781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DNS server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229" name="Group 248"/>
          <p:cNvGrpSpPr>
            <a:grpSpLocks/>
          </p:cNvGrpSpPr>
          <p:nvPr/>
        </p:nvGrpSpPr>
        <p:grpSpPr bwMode="auto">
          <a:xfrm>
            <a:off x="6698456" y="1845449"/>
            <a:ext cx="269081" cy="467916"/>
            <a:chOff x="4140" y="429"/>
            <a:chExt cx="1425" cy="2396"/>
          </a:xfrm>
        </p:grpSpPr>
        <p:sp>
          <p:nvSpPr>
            <p:cNvPr id="230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1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32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3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4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35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0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61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36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37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8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59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38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39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40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6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57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41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42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4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55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43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44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5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6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47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8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49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0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1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2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3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298" name="灯片编号占位符 2">
            <a:extLst>
              <a:ext uri="{FF2B5EF4-FFF2-40B4-BE49-F238E27FC236}">
                <a16:creationId xmlns:a16="http://schemas.microsoft.com/office/drawing/2014/main" id="{4B2CB3E9-FFEA-442C-808A-9CAFC55DBC84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16</a:t>
            </a:fld>
            <a:endParaRPr lang="en-US" altLang="zh-CN" dirty="0"/>
          </a:p>
        </p:txBody>
      </p:sp>
      <p:sp>
        <p:nvSpPr>
          <p:cNvPr id="299" name="AutoShape 5">
            <a:extLst>
              <a:ext uri="{FF2B5EF4-FFF2-40B4-BE49-F238E27FC236}">
                <a16:creationId xmlns:a16="http://schemas.microsoft.com/office/drawing/2014/main" id="{833FCA84-9BC7-4223-A782-B87DBF1BD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180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9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29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" grpId="0"/>
      <p:bldP spid="299" grpId="0" animBg="1"/>
      <p:bldP spid="299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5.7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总结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: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自底向上回顾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一次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请求所要做的工作：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继续准备</a:t>
            </a: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路由选择到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DNS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服务器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(14) DNS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查询到达网关路由器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3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存储</a:t>
            </a: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转发：通过转发表来确定输出链路</a:t>
            </a: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8" name="Group 230"/>
          <p:cNvGrpSpPr>
            <a:grpSpLocks/>
          </p:cNvGrpSpPr>
          <p:nvPr/>
        </p:nvGrpSpPr>
        <p:grpSpPr bwMode="auto">
          <a:xfrm>
            <a:off x="1887383" y="2481118"/>
            <a:ext cx="2665809" cy="2322880"/>
            <a:chOff x="773113" y="1273175"/>
            <a:chExt cx="3554412" cy="3096511"/>
          </a:xfrm>
        </p:grpSpPr>
        <p:sp>
          <p:nvSpPr>
            <p:cNvPr id="9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6 w 2406"/>
                <a:gd name="T1" fmla="*/ 2147483646 h 958"/>
                <a:gd name="T2" fmla="*/ 2147483646 w 2406"/>
                <a:gd name="T3" fmla="*/ 2147483646 h 958"/>
                <a:gd name="T4" fmla="*/ 2147483646 w 2406"/>
                <a:gd name="T5" fmla="*/ 2147483646 h 958"/>
                <a:gd name="T6" fmla="*/ 2147483646 w 2406"/>
                <a:gd name="T7" fmla="*/ 2147483646 h 958"/>
                <a:gd name="T8" fmla="*/ 2147483646 w 2406"/>
                <a:gd name="T9" fmla="*/ 2147483646 h 958"/>
                <a:gd name="T10" fmla="*/ 2147483646 w 2406"/>
                <a:gd name="T11" fmla="*/ 2147483646 h 958"/>
                <a:gd name="T12" fmla="*/ 2147483646 w 2406"/>
                <a:gd name="T13" fmla="*/ 2147483646 h 958"/>
                <a:gd name="T14" fmla="*/ 2147483646 w 2406"/>
                <a:gd name="T15" fmla="*/ 2147483646 h 958"/>
                <a:gd name="T16" fmla="*/ 2147483646 w 2406"/>
                <a:gd name="T17" fmla="*/ 2147483646 h 958"/>
                <a:gd name="T18" fmla="*/ 2147483646 w 2406"/>
                <a:gd name="T19" fmla="*/ 2147483646 h 958"/>
                <a:gd name="T20" fmla="*/ 2147483646 w 2406"/>
                <a:gd name="T21" fmla="*/ 2147483646 h 958"/>
                <a:gd name="T22" fmla="*/ 2147483646 w 2406"/>
                <a:gd name="T23" fmla="*/ 2147483646 h 958"/>
                <a:gd name="T24" fmla="*/ 2147483646 w 2406"/>
                <a:gd name="T25" fmla="*/ 2147483646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76417" cy="553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router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(runs DHCP)</a:t>
              </a:r>
            </a:p>
          </p:txBody>
        </p:sp>
        <p:grpSp>
          <p:nvGrpSpPr>
            <p:cNvPr id="15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67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8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6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sp>
          <p:nvSpPr>
            <p:cNvPr id="18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sp>
          <p:nvSpPr>
            <p:cNvPr id="19" name="Rectangle 43"/>
            <p:cNvSpPr>
              <a:spLocks noChangeArrowheads="1"/>
            </p:cNvSpPr>
            <p:nvPr/>
          </p:nvSpPr>
          <p:spPr bwMode="auto">
            <a:xfrm rot="-54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grpSp>
          <p:nvGrpSpPr>
            <p:cNvPr id="20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35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7 w 354"/>
                  <a:gd name="T1" fmla="*/ 0 h 2742"/>
                  <a:gd name="T2" fmla="*/ 93 w 354"/>
                  <a:gd name="T3" fmla="*/ 114 h 2742"/>
                  <a:gd name="T4" fmla="*/ 91 w 354"/>
                  <a:gd name="T5" fmla="*/ 881 h 2742"/>
                  <a:gd name="T6" fmla="*/ 0 w 354"/>
                  <a:gd name="T7" fmla="*/ 921 h 2742"/>
                  <a:gd name="T8" fmla="*/ 1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37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6 w 211"/>
                  <a:gd name="T3" fmla="*/ 73 h 2537"/>
                  <a:gd name="T4" fmla="*/ 2 w 211"/>
                  <a:gd name="T5" fmla="*/ 83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3 h 226"/>
                  <a:gd name="T4" fmla="*/ 87 w 328"/>
                  <a:gd name="T5" fmla="*/ 77 h 226"/>
                  <a:gd name="T6" fmla="*/ 0 w 328"/>
                  <a:gd name="T7" fmla="*/ 3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0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5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6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1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2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3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4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3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44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5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1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2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6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2 h 226"/>
                  <a:gd name="T4" fmla="*/ 87 w 328"/>
                  <a:gd name="T5" fmla="*/ 75 h 226"/>
                  <a:gd name="T6" fmla="*/ 0 w 328"/>
                  <a:gd name="T7" fmla="*/ 3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47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59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0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8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49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7 w 296"/>
                  <a:gd name="T3" fmla="*/ 47 h 256"/>
                  <a:gd name="T4" fmla="*/ 78 w 296"/>
                  <a:gd name="T5" fmla="*/ 85 h 256"/>
                  <a:gd name="T6" fmla="*/ 0 w 296"/>
                  <a:gd name="T7" fmla="*/ 3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81 w 304"/>
                  <a:gd name="T3" fmla="*/ 55 h 288"/>
                  <a:gd name="T4" fmla="*/ 76 w 304"/>
                  <a:gd name="T5" fmla="*/ 97 h 288"/>
                  <a:gd name="T6" fmla="*/ 2 w 304"/>
                  <a:gd name="T7" fmla="*/ 4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1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2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6 h 240"/>
                  <a:gd name="T2" fmla="*/ 2 w 306"/>
                  <a:gd name="T3" fmla="*/ 81 h 240"/>
                  <a:gd name="T4" fmla="*/ 81 w 306"/>
                  <a:gd name="T5" fmla="*/ 37 h 240"/>
                  <a:gd name="T6" fmla="*/ 78 w 306"/>
                  <a:gd name="T7" fmla="*/ 0 h 240"/>
                  <a:gd name="T8" fmla="*/ 0 w 306"/>
                  <a:gd name="T9" fmla="*/ 3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3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6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4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5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6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7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8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21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22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3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5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27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2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3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4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28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9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0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1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3"/>
                  <a:ext cx="52" cy="9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</p:grpSp>
      </p:grpSp>
      <p:grpSp>
        <p:nvGrpSpPr>
          <p:cNvPr id="143" name="Group 19"/>
          <p:cNvGrpSpPr>
            <a:grpSpLocks/>
          </p:cNvGrpSpPr>
          <p:nvPr/>
        </p:nvGrpSpPr>
        <p:grpSpPr bwMode="auto">
          <a:xfrm>
            <a:off x="6211733" y="2763459"/>
            <a:ext cx="567928" cy="284560"/>
            <a:chOff x="2466" y="2026"/>
            <a:chExt cx="477" cy="282"/>
          </a:xfrm>
        </p:grpSpPr>
        <p:sp>
          <p:nvSpPr>
            <p:cNvPr id="144" name="Oval 2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sp>
          <p:nvSpPr>
            <p:cNvPr id="145" name="Line 2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46" name="Rectangle 2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47" name="Oval 2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grpSp>
          <p:nvGrpSpPr>
            <p:cNvPr id="148" name="Group 2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155" name="Line 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56" name="Line 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57" name="Line 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149" name="Group 2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152" name="Line 2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53" name="Line 3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54" name="Line 3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150" name="Line 3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51" name="Line 3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158" name="Text Box 34"/>
          <p:cNvSpPr txBox="1">
            <a:spLocks noChangeArrowheads="1"/>
          </p:cNvSpPr>
          <p:nvPr/>
        </p:nvSpPr>
        <p:spPr bwMode="auto">
          <a:xfrm>
            <a:off x="5309239" y="3306384"/>
            <a:ext cx="14141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Comcast network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68.80.0.0/13</a:t>
            </a:r>
          </a:p>
        </p:txBody>
      </p:sp>
      <p:grpSp>
        <p:nvGrpSpPr>
          <p:cNvPr id="159" name="Group 69"/>
          <p:cNvGrpSpPr>
            <a:grpSpLocks/>
          </p:cNvGrpSpPr>
          <p:nvPr/>
        </p:nvGrpSpPr>
        <p:grpSpPr bwMode="auto">
          <a:xfrm>
            <a:off x="6704652" y="3450450"/>
            <a:ext cx="567928" cy="284559"/>
            <a:chOff x="2466" y="2026"/>
            <a:chExt cx="477" cy="282"/>
          </a:xfrm>
        </p:grpSpPr>
        <p:sp>
          <p:nvSpPr>
            <p:cNvPr id="160" name="Oval 7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sp>
          <p:nvSpPr>
            <p:cNvPr id="161" name="Line 7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62" name="Rectangle 7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63" name="Oval 7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grpSp>
          <p:nvGrpSpPr>
            <p:cNvPr id="164" name="Group 7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171" name="Line 7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72" name="Line 7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73" name="Line 7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165" name="Group 7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168" name="Line 7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69" name="Line 8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70" name="Line 8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166" name="Line 8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67" name="Line 8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174" name="Line 93"/>
          <p:cNvSpPr>
            <a:spLocks noChangeShapeType="1"/>
          </p:cNvSpPr>
          <p:nvPr/>
        </p:nvSpPr>
        <p:spPr bwMode="auto">
          <a:xfrm flipH="1">
            <a:off x="6493910" y="2569387"/>
            <a:ext cx="195263" cy="19407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75" name="Text Box 139"/>
          <p:cNvSpPr txBox="1">
            <a:spLocks noChangeArrowheads="1"/>
          </p:cNvSpPr>
          <p:nvPr/>
        </p:nvSpPr>
        <p:spPr bwMode="auto">
          <a:xfrm>
            <a:off x="6833239" y="1982409"/>
            <a:ext cx="9781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DNS server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76" name="Group 166"/>
          <p:cNvGrpSpPr>
            <a:grpSpLocks/>
          </p:cNvGrpSpPr>
          <p:nvPr/>
        </p:nvGrpSpPr>
        <p:grpSpPr bwMode="auto">
          <a:xfrm>
            <a:off x="4154333" y="3230185"/>
            <a:ext cx="1182290" cy="965597"/>
            <a:chOff x="3228" y="1776"/>
            <a:chExt cx="252" cy="96"/>
          </a:xfrm>
        </p:grpSpPr>
        <p:sp>
          <p:nvSpPr>
            <p:cNvPr id="177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8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85" name="Group 173"/>
          <p:cNvGrpSpPr>
            <a:grpSpLocks/>
          </p:cNvGrpSpPr>
          <p:nvPr/>
        </p:nvGrpSpPr>
        <p:grpSpPr bwMode="auto">
          <a:xfrm flipH="1" flipV="1">
            <a:off x="7197570" y="3365915"/>
            <a:ext cx="300038" cy="114300"/>
            <a:chOff x="3228" y="1776"/>
            <a:chExt cx="252" cy="96"/>
          </a:xfrm>
        </p:grpSpPr>
        <p:sp>
          <p:nvSpPr>
            <p:cNvPr id="186" name="Line 17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7" name="Line 17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88" name="Group 176"/>
          <p:cNvGrpSpPr>
            <a:grpSpLocks/>
          </p:cNvGrpSpPr>
          <p:nvPr/>
        </p:nvGrpSpPr>
        <p:grpSpPr bwMode="auto">
          <a:xfrm flipV="1">
            <a:off x="6579636" y="3380203"/>
            <a:ext cx="221456" cy="85725"/>
            <a:chOff x="3228" y="1776"/>
            <a:chExt cx="252" cy="96"/>
          </a:xfrm>
        </p:grpSpPr>
        <p:sp>
          <p:nvSpPr>
            <p:cNvPr id="189" name="Line 177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0" name="Line 178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91" name="Group 179"/>
          <p:cNvGrpSpPr>
            <a:grpSpLocks/>
          </p:cNvGrpSpPr>
          <p:nvPr/>
        </p:nvGrpSpPr>
        <p:grpSpPr bwMode="auto">
          <a:xfrm rot="409689" flipH="1" flipV="1">
            <a:off x="6783233" y="2887284"/>
            <a:ext cx="339328" cy="42863"/>
            <a:chOff x="3228" y="1776"/>
            <a:chExt cx="252" cy="96"/>
          </a:xfrm>
        </p:grpSpPr>
        <p:sp>
          <p:nvSpPr>
            <p:cNvPr id="192" name="Line 180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3" name="Line 181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94" name="Group 182"/>
          <p:cNvGrpSpPr>
            <a:grpSpLocks/>
          </p:cNvGrpSpPr>
          <p:nvPr/>
        </p:nvGrpSpPr>
        <p:grpSpPr bwMode="auto">
          <a:xfrm>
            <a:off x="6140296" y="3040875"/>
            <a:ext cx="221456" cy="85725"/>
            <a:chOff x="3228" y="1776"/>
            <a:chExt cx="252" cy="96"/>
          </a:xfrm>
        </p:grpSpPr>
        <p:sp>
          <p:nvSpPr>
            <p:cNvPr id="195" name="Line 183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6" name="Line 184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97" name="Group 185"/>
          <p:cNvGrpSpPr>
            <a:grpSpLocks/>
          </p:cNvGrpSpPr>
          <p:nvPr/>
        </p:nvGrpSpPr>
        <p:grpSpPr bwMode="auto">
          <a:xfrm flipH="1">
            <a:off x="6618927" y="3040875"/>
            <a:ext cx="221456" cy="85725"/>
            <a:chOff x="3228" y="1776"/>
            <a:chExt cx="252" cy="96"/>
          </a:xfrm>
        </p:grpSpPr>
        <p:sp>
          <p:nvSpPr>
            <p:cNvPr id="198" name="Line 186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9" name="Line 187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245" name="Group 248"/>
          <p:cNvGrpSpPr>
            <a:grpSpLocks/>
          </p:cNvGrpSpPr>
          <p:nvPr/>
        </p:nvGrpSpPr>
        <p:grpSpPr bwMode="auto">
          <a:xfrm>
            <a:off x="6670123" y="2145526"/>
            <a:ext cx="279797" cy="515540"/>
            <a:chOff x="4140" y="429"/>
            <a:chExt cx="1425" cy="2396"/>
          </a:xfrm>
        </p:grpSpPr>
        <p:sp>
          <p:nvSpPr>
            <p:cNvPr id="246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7" name="Rectangle 149"/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48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9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0" name="Rectangle 152"/>
            <p:cNvSpPr>
              <a:spLocks noChangeArrowheads="1"/>
            </p:cNvSpPr>
            <p:nvPr/>
          </p:nvSpPr>
          <p:spPr bwMode="auto">
            <a:xfrm>
              <a:off x="4213" y="695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grpSp>
          <p:nvGrpSpPr>
            <p:cNvPr id="251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76" name="AutoShape 154"/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77" name="AutoShape 155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6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52" name="Rectangle 156"/>
            <p:cNvSpPr>
              <a:spLocks noChangeArrowheads="1"/>
            </p:cNvSpPr>
            <p:nvPr/>
          </p:nvSpPr>
          <p:spPr bwMode="auto">
            <a:xfrm>
              <a:off x="4225" y="1021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grpSp>
          <p:nvGrpSpPr>
            <p:cNvPr id="253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74" name="AutoShape 158"/>
              <p:cNvSpPr>
                <a:spLocks noChangeArrowheads="1"/>
              </p:cNvSpPr>
              <p:nvPr/>
            </p:nvSpPr>
            <p:spPr bwMode="auto">
              <a:xfrm>
                <a:off x="613" y="2567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75" name="AutoShape 159"/>
              <p:cNvSpPr>
                <a:spLocks noChangeArrowheads="1"/>
              </p:cNvSpPr>
              <p:nvPr/>
            </p:nvSpPr>
            <p:spPr bwMode="auto">
              <a:xfrm>
                <a:off x="628" y="2585"/>
                <a:ext cx="696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54" name="Rectangle 160"/>
            <p:cNvSpPr>
              <a:spLocks noChangeArrowheads="1"/>
            </p:cNvSpPr>
            <p:nvPr/>
          </p:nvSpPr>
          <p:spPr bwMode="auto">
            <a:xfrm>
              <a:off x="4219" y="1359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55" name="Rectangle 161"/>
            <p:cNvSpPr>
              <a:spLocks noChangeArrowheads="1"/>
            </p:cNvSpPr>
            <p:nvPr/>
          </p:nvSpPr>
          <p:spPr bwMode="auto">
            <a:xfrm>
              <a:off x="4231" y="1657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grpSp>
          <p:nvGrpSpPr>
            <p:cNvPr id="256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72" name="AutoShape 163"/>
              <p:cNvSpPr>
                <a:spLocks noChangeArrowheads="1"/>
              </p:cNvSpPr>
              <p:nvPr/>
            </p:nvSpPr>
            <p:spPr bwMode="auto">
              <a:xfrm>
                <a:off x="613" y="2581"/>
                <a:ext cx="725" cy="12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73" name="AutoShape 164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57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58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70" name="AutoShape 167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5" cy="13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71" name="AutoShape 168"/>
              <p:cNvSpPr>
                <a:spLocks noChangeArrowheads="1"/>
              </p:cNvSpPr>
              <p:nvPr/>
            </p:nvSpPr>
            <p:spPr bwMode="auto">
              <a:xfrm>
                <a:off x="631" y="2583"/>
                <a:ext cx="695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59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7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60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1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2" name="Oval 172"/>
            <p:cNvSpPr>
              <a:spLocks noChangeArrowheads="1"/>
            </p:cNvSpPr>
            <p:nvPr/>
          </p:nvSpPr>
          <p:spPr bwMode="auto">
            <a:xfrm>
              <a:off x="5516" y="2609"/>
              <a:ext cx="49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63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4" name="AutoShape 174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65" name="AutoShape 175"/>
            <p:cNvSpPr>
              <a:spLocks noChangeArrowheads="1"/>
            </p:cNvSpPr>
            <p:nvPr/>
          </p:nvSpPr>
          <p:spPr bwMode="auto">
            <a:xfrm>
              <a:off x="4207" y="2709"/>
              <a:ext cx="1067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66" name="Oval 176"/>
            <p:cNvSpPr>
              <a:spLocks noChangeArrowheads="1"/>
            </p:cNvSpPr>
            <p:nvPr/>
          </p:nvSpPr>
          <p:spPr bwMode="auto">
            <a:xfrm>
              <a:off x="4310" y="2382"/>
              <a:ext cx="158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67" name="Oval 177"/>
            <p:cNvSpPr>
              <a:spLocks noChangeArrowheads="1"/>
            </p:cNvSpPr>
            <p:nvPr/>
          </p:nvSpPr>
          <p:spPr bwMode="auto">
            <a:xfrm>
              <a:off x="4486" y="2382"/>
              <a:ext cx="158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68" name="Oval 178"/>
            <p:cNvSpPr>
              <a:spLocks noChangeArrowheads="1"/>
            </p:cNvSpPr>
            <p:nvPr/>
          </p:nvSpPr>
          <p:spPr bwMode="auto">
            <a:xfrm>
              <a:off x="4661" y="2382"/>
              <a:ext cx="158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69" name="Rectangle 179"/>
            <p:cNvSpPr>
              <a:spLocks noChangeArrowheads="1"/>
            </p:cNvSpPr>
            <p:nvPr/>
          </p:nvSpPr>
          <p:spPr bwMode="auto">
            <a:xfrm>
              <a:off x="5062" y="1835"/>
              <a:ext cx="85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</p:grpSp>
      <p:sp>
        <p:nvSpPr>
          <p:cNvPr id="278" name="Text Box 34"/>
          <p:cNvSpPr txBox="1">
            <a:spLocks noChangeArrowheads="1"/>
          </p:cNvSpPr>
          <p:nvPr/>
        </p:nvSpPr>
        <p:spPr bwMode="auto">
          <a:xfrm>
            <a:off x="2066015" y="3790968"/>
            <a:ext cx="12506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school network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68.80.2.0/24</a:t>
            </a:r>
          </a:p>
        </p:txBody>
      </p:sp>
      <p:sp>
        <p:nvSpPr>
          <p:cNvPr id="69" name="Freeform 236"/>
          <p:cNvSpPr>
            <a:spLocks/>
          </p:cNvSpPr>
          <p:nvPr/>
        </p:nvSpPr>
        <p:spPr bwMode="auto">
          <a:xfrm>
            <a:off x="4871089" y="1952644"/>
            <a:ext cx="2819400" cy="1854994"/>
          </a:xfrm>
          <a:custGeom>
            <a:avLst/>
            <a:gdLst>
              <a:gd name="T0" fmla="*/ 2147483646 w 2368"/>
              <a:gd name="T1" fmla="*/ 2147483646 h 1558"/>
              <a:gd name="T2" fmla="*/ 2147483646 w 2368"/>
              <a:gd name="T3" fmla="*/ 2147483646 h 1558"/>
              <a:gd name="T4" fmla="*/ 2147483646 w 2368"/>
              <a:gd name="T5" fmla="*/ 2147483646 h 1558"/>
              <a:gd name="T6" fmla="*/ 2147483646 w 2368"/>
              <a:gd name="T7" fmla="*/ 2147483646 h 1558"/>
              <a:gd name="T8" fmla="*/ 2147483646 w 2368"/>
              <a:gd name="T9" fmla="*/ 2147483646 h 1558"/>
              <a:gd name="T10" fmla="*/ 2147483646 w 2368"/>
              <a:gd name="T11" fmla="*/ 2147483646 h 1558"/>
              <a:gd name="T12" fmla="*/ 2147483646 w 2368"/>
              <a:gd name="T13" fmla="*/ 2147483646 h 1558"/>
              <a:gd name="T14" fmla="*/ 2147483646 w 2368"/>
              <a:gd name="T15" fmla="*/ 2147483646 h 1558"/>
              <a:gd name="T16" fmla="*/ 2147483646 w 2368"/>
              <a:gd name="T17" fmla="*/ 2147483646 h 1558"/>
              <a:gd name="T18" fmla="*/ 2147483646 w 2368"/>
              <a:gd name="T19" fmla="*/ 2147483646 h 1558"/>
              <a:gd name="T20" fmla="*/ 2147483646 w 2368"/>
              <a:gd name="T21" fmla="*/ 2147483646 h 1558"/>
              <a:gd name="T22" fmla="*/ 2147483646 w 2368"/>
              <a:gd name="T23" fmla="*/ 2147483646 h 1558"/>
              <a:gd name="T24" fmla="*/ 2147483646 w 2368"/>
              <a:gd name="T25" fmla="*/ 2147483646 h 1558"/>
              <a:gd name="T26" fmla="*/ 2147483646 w 2368"/>
              <a:gd name="T27" fmla="*/ 2147483646 h 1558"/>
              <a:gd name="T28" fmla="*/ 2147483646 w 2368"/>
              <a:gd name="T29" fmla="*/ 2147483646 h 1558"/>
              <a:gd name="T30" fmla="*/ 2147483646 w 2368"/>
              <a:gd name="T31" fmla="*/ 2147483646 h 1558"/>
              <a:gd name="T32" fmla="*/ 2147483646 w 2368"/>
              <a:gd name="T33" fmla="*/ 2147483646 h 1558"/>
              <a:gd name="T34" fmla="*/ 2147483646 w 2368"/>
              <a:gd name="T35" fmla="*/ 2147483646 h 1558"/>
              <a:gd name="T36" fmla="*/ 2147483646 w 2368"/>
              <a:gd name="T37" fmla="*/ 2147483646 h 1558"/>
              <a:gd name="T38" fmla="*/ 2147483646 w 2368"/>
              <a:gd name="T39" fmla="*/ 2147483646 h 1558"/>
              <a:gd name="T40" fmla="*/ 2147483646 w 2368"/>
              <a:gd name="T41" fmla="*/ 2147483646 h 1558"/>
              <a:gd name="T42" fmla="*/ 2147483646 w 2368"/>
              <a:gd name="T43" fmla="*/ 2147483646 h 1558"/>
              <a:gd name="T44" fmla="*/ 2147483646 w 2368"/>
              <a:gd name="T45" fmla="*/ 2147483646 h 1558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368" h="1558">
                <a:moveTo>
                  <a:pt x="84" y="632"/>
                </a:moveTo>
                <a:cubicBezTo>
                  <a:pt x="51" y="704"/>
                  <a:pt x="28" y="747"/>
                  <a:pt x="16" y="809"/>
                </a:cubicBezTo>
                <a:cubicBezTo>
                  <a:pt x="4" y="871"/>
                  <a:pt x="0" y="949"/>
                  <a:pt x="9" y="1005"/>
                </a:cubicBezTo>
                <a:cubicBezTo>
                  <a:pt x="18" y="1061"/>
                  <a:pt x="44" y="1087"/>
                  <a:pt x="70" y="1147"/>
                </a:cubicBezTo>
                <a:cubicBezTo>
                  <a:pt x="96" y="1207"/>
                  <a:pt x="130" y="1314"/>
                  <a:pt x="165" y="1364"/>
                </a:cubicBezTo>
                <a:cubicBezTo>
                  <a:pt x="200" y="1414"/>
                  <a:pt x="223" y="1428"/>
                  <a:pt x="280" y="1446"/>
                </a:cubicBezTo>
                <a:cubicBezTo>
                  <a:pt x="337" y="1464"/>
                  <a:pt x="397" y="1472"/>
                  <a:pt x="510" y="1473"/>
                </a:cubicBezTo>
                <a:cubicBezTo>
                  <a:pt x="623" y="1474"/>
                  <a:pt x="854" y="1457"/>
                  <a:pt x="958" y="1452"/>
                </a:cubicBezTo>
                <a:cubicBezTo>
                  <a:pt x="1062" y="1447"/>
                  <a:pt x="1065" y="1440"/>
                  <a:pt x="1134" y="1446"/>
                </a:cubicBezTo>
                <a:cubicBezTo>
                  <a:pt x="1203" y="1452"/>
                  <a:pt x="1293" y="1468"/>
                  <a:pt x="1371" y="1486"/>
                </a:cubicBezTo>
                <a:cubicBezTo>
                  <a:pt x="1449" y="1504"/>
                  <a:pt x="1495" y="1550"/>
                  <a:pt x="1601" y="1554"/>
                </a:cubicBezTo>
                <a:cubicBezTo>
                  <a:pt x="1707" y="1558"/>
                  <a:pt x="1893" y="1556"/>
                  <a:pt x="2008" y="1513"/>
                </a:cubicBezTo>
                <a:cubicBezTo>
                  <a:pt x="2123" y="1470"/>
                  <a:pt x="2236" y="1409"/>
                  <a:pt x="2293" y="1297"/>
                </a:cubicBezTo>
                <a:cubicBezTo>
                  <a:pt x="2350" y="1185"/>
                  <a:pt x="2339" y="950"/>
                  <a:pt x="2347" y="843"/>
                </a:cubicBezTo>
                <a:cubicBezTo>
                  <a:pt x="2355" y="736"/>
                  <a:pt x="2368" y="717"/>
                  <a:pt x="2340" y="653"/>
                </a:cubicBezTo>
                <a:cubicBezTo>
                  <a:pt x="2312" y="589"/>
                  <a:pt x="2247" y="537"/>
                  <a:pt x="2177" y="456"/>
                </a:cubicBezTo>
                <a:cubicBezTo>
                  <a:pt x="2107" y="375"/>
                  <a:pt x="2016" y="235"/>
                  <a:pt x="1920" y="165"/>
                </a:cubicBezTo>
                <a:cubicBezTo>
                  <a:pt x="1824" y="95"/>
                  <a:pt x="1716" y="61"/>
                  <a:pt x="1601" y="36"/>
                </a:cubicBezTo>
                <a:cubicBezTo>
                  <a:pt x="1486" y="11"/>
                  <a:pt x="1343" y="0"/>
                  <a:pt x="1229" y="16"/>
                </a:cubicBezTo>
                <a:cubicBezTo>
                  <a:pt x="1115" y="32"/>
                  <a:pt x="1042" y="90"/>
                  <a:pt x="917" y="131"/>
                </a:cubicBezTo>
                <a:cubicBezTo>
                  <a:pt x="792" y="172"/>
                  <a:pt x="595" y="219"/>
                  <a:pt x="477" y="260"/>
                </a:cubicBezTo>
                <a:cubicBezTo>
                  <a:pt x="359" y="301"/>
                  <a:pt x="280" y="311"/>
                  <a:pt x="212" y="375"/>
                </a:cubicBezTo>
                <a:cubicBezTo>
                  <a:pt x="144" y="439"/>
                  <a:pt x="117" y="560"/>
                  <a:pt x="84" y="632"/>
                </a:cubicBezTo>
                <a:close/>
              </a:path>
            </a:pathLst>
          </a:custGeom>
          <a:solidFill>
            <a:srgbClr val="00CCFF">
              <a:alpha val="86000"/>
            </a:srgbClr>
          </a:solidFill>
          <a:ln>
            <a:noFill/>
          </a:ln>
          <a:effectLst/>
        </p:spPr>
        <p:txBody>
          <a:bodyPr wrap="none"/>
          <a:lstStyle/>
          <a:p>
            <a:endParaRPr lang="zh-CN" altLang="en-US" sz="1350"/>
          </a:p>
        </p:txBody>
      </p:sp>
      <p:grpSp>
        <p:nvGrpSpPr>
          <p:cNvPr id="7" name="组合 6"/>
          <p:cNvGrpSpPr/>
          <p:nvPr/>
        </p:nvGrpSpPr>
        <p:grpSpPr>
          <a:xfrm>
            <a:off x="3913118" y="3507764"/>
            <a:ext cx="680421" cy="685609"/>
            <a:chOff x="5052333" y="5054856"/>
            <a:chExt cx="907228" cy="914145"/>
          </a:xfrm>
        </p:grpSpPr>
        <p:sp>
          <p:nvSpPr>
            <p:cNvPr id="280" name="Freeform 45"/>
            <p:cNvSpPr>
              <a:spLocks/>
            </p:cNvSpPr>
            <p:nvPr/>
          </p:nvSpPr>
          <p:spPr bwMode="auto">
            <a:xfrm flipH="1">
              <a:off x="5052333" y="5076636"/>
              <a:ext cx="666635" cy="892365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281" name="Group 46"/>
            <p:cNvGrpSpPr>
              <a:grpSpLocks/>
            </p:cNvGrpSpPr>
            <p:nvPr/>
          </p:nvGrpSpPr>
          <p:grpSpPr bwMode="auto">
            <a:xfrm>
              <a:off x="5165811" y="5054856"/>
              <a:ext cx="793750" cy="874713"/>
              <a:chOff x="569" y="3288"/>
              <a:chExt cx="500" cy="551"/>
            </a:xfrm>
          </p:grpSpPr>
          <p:sp>
            <p:nvSpPr>
              <p:cNvPr id="282" name="Rectangle 47"/>
              <p:cNvSpPr>
                <a:spLocks noChangeArrowheads="1"/>
              </p:cNvSpPr>
              <p:nvPr/>
            </p:nvSpPr>
            <p:spPr bwMode="auto">
              <a:xfrm>
                <a:off x="576" y="3288"/>
                <a:ext cx="493" cy="47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83" name="Text Box 48"/>
              <p:cNvSpPr txBox="1">
                <a:spLocks noChangeArrowheads="1"/>
              </p:cNvSpPr>
              <p:nvPr/>
            </p:nvSpPr>
            <p:spPr bwMode="auto">
              <a:xfrm>
                <a:off x="631" y="3296"/>
                <a:ext cx="377" cy="5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latin typeface="Arial" panose="020B0604020202020204" pitchFamily="34" charset="0"/>
                  </a:rPr>
                  <a:t>IP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latin typeface="Arial" panose="020B0604020202020204" pitchFamily="34" charset="0"/>
                  </a:rPr>
                  <a:t>Eth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 err="1">
                    <a:latin typeface="Arial" panose="020B0604020202020204" pitchFamily="34" charset="0"/>
                  </a:rPr>
                  <a:t>Phy</a:t>
                </a:r>
                <a:endParaRPr lang="en-US" altLang="zh-CN" sz="12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5" name="Line 50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286" name="Line 51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287" name="Line 52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128" name="Group 4"/>
          <p:cNvGrpSpPr>
            <a:grpSpLocks/>
          </p:cNvGrpSpPr>
          <p:nvPr/>
        </p:nvGrpSpPr>
        <p:grpSpPr bwMode="auto">
          <a:xfrm>
            <a:off x="5187795" y="2953959"/>
            <a:ext cx="567928" cy="284560"/>
            <a:chOff x="2466" y="2026"/>
            <a:chExt cx="477" cy="282"/>
          </a:xfrm>
        </p:grpSpPr>
        <p:sp>
          <p:nvSpPr>
            <p:cNvPr id="129" name="Oval 5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sp>
          <p:nvSpPr>
            <p:cNvPr id="130" name="Line 6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31" name="Rectangle 7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32" name="Oval 8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grpSp>
          <p:nvGrpSpPr>
            <p:cNvPr id="133" name="Group 9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140" name="Line 1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41" name="Line 1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42" name="Line 1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134" name="Group 13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137" name="Line 1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38" name="Line 1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39" name="Line 1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135" name="Line 17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36" name="Line 18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79" name="Group 167"/>
          <p:cNvGrpSpPr>
            <a:grpSpLocks/>
          </p:cNvGrpSpPr>
          <p:nvPr/>
        </p:nvGrpSpPr>
        <p:grpSpPr bwMode="auto">
          <a:xfrm flipH="1">
            <a:off x="5508073" y="3240900"/>
            <a:ext cx="300038" cy="114300"/>
            <a:chOff x="3228" y="1776"/>
            <a:chExt cx="252" cy="96"/>
          </a:xfrm>
        </p:grpSpPr>
        <p:sp>
          <p:nvSpPr>
            <p:cNvPr id="180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1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82" name="Group 170"/>
          <p:cNvGrpSpPr>
            <a:grpSpLocks/>
          </p:cNvGrpSpPr>
          <p:nvPr/>
        </p:nvGrpSpPr>
        <p:grpSpPr bwMode="auto">
          <a:xfrm flipH="1" flipV="1">
            <a:off x="5622373" y="2847994"/>
            <a:ext cx="300038" cy="114300"/>
            <a:chOff x="3228" y="1776"/>
            <a:chExt cx="252" cy="96"/>
          </a:xfrm>
        </p:grpSpPr>
        <p:sp>
          <p:nvSpPr>
            <p:cNvPr id="183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4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302" name="组合 301"/>
          <p:cNvGrpSpPr/>
          <p:nvPr/>
        </p:nvGrpSpPr>
        <p:grpSpPr>
          <a:xfrm>
            <a:off x="5568836" y="2364566"/>
            <a:ext cx="680421" cy="685609"/>
            <a:chOff x="5052333" y="5054856"/>
            <a:chExt cx="907228" cy="914145"/>
          </a:xfrm>
        </p:grpSpPr>
        <p:sp>
          <p:nvSpPr>
            <p:cNvPr id="303" name="Freeform 45"/>
            <p:cNvSpPr>
              <a:spLocks/>
            </p:cNvSpPr>
            <p:nvPr/>
          </p:nvSpPr>
          <p:spPr bwMode="auto">
            <a:xfrm flipH="1">
              <a:off x="5052333" y="5076636"/>
              <a:ext cx="666635" cy="892365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304" name="Group 46"/>
            <p:cNvGrpSpPr>
              <a:grpSpLocks/>
            </p:cNvGrpSpPr>
            <p:nvPr/>
          </p:nvGrpSpPr>
          <p:grpSpPr bwMode="auto">
            <a:xfrm>
              <a:off x="5165811" y="5054856"/>
              <a:ext cx="793750" cy="874713"/>
              <a:chOff x="569" y="3288"/>
              <a:chExt cx="500" cy="551"/>
            </a:xfrm>
          </p:grpSpPr>
          <p:sp>
            <p:nvSpPr>
              <p:cNvPr id="305" name="Rectangle 47"/>
              <p:cNvSpPr>
                <a:spLocks noChangeArrowheads="1"/>
              </p:cNvSpPr>
              <p:nvPr/>
            </p:nvSpPr>
            <p:spPr bwMode="auto">
              <a:xfrm>
                <a:off x="576" y="3288"/>
                <a:ext cx="493" cy="47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306" name="Text Box 48"/>
              <p:cNvSpPr txBox="1">
                <a:spLocks noChangeArrowheads="1"/>
              </p:cNvSpPr>
              <p:nvPr/>
            </p:nvSpPr>
            <p:spPr bwMode="auto">
              <a:xfrm>
                <a:off x="631" y="3296"/>
                <a:ext cx="377" cy="5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latin typeface="Arial" panose="020B0604020202020204" pitchFamily="34" charset="0"/>
                  </a:rPr>
                  <a:t>IP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latin typeface="Arial" panose="020B0604020202020204" pitchFamily="34" charset="0"/>
                  </a:rPr>
                  <a:t>Eth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 err="1">
                    <a:latin typeface="Arial" panose="020B0604020202020204" pitchFamily="34" charset="0"/>
                  </a:rPr>
                  <a:t>Phy</a:t>
                </a:r>
                <a:endParaRPr lang="en-US" altLang="zh-CN" sz="12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7" name="Line 50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08" name="Line 51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09" name="Line 52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</p:grpSp>
      <p:sp>
        <p:nvSpPr>
          <p:cNvPr id="216" name="灯片编号占位符 2">
            <a:extLst>
              <a:ext uri="{FF2B5EF4-FFF2-40B4-BE49-F238E27FC236}">
                <a16:creationId xmlns:a16="http://schemas.microsoft.com/office/drawing/2014/main" id="{B75B6466-7C15-48C4-AC3E-D429DF95D771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17</a:t>
            </a:fld>
            <a:endParaRPr lang="en-US" altLang="zh-CN" dirty="0"/>
          </a:p>
        </p:txBody>
      </p:sp>
      <p:sp>
        <p:nvSpPr>
          <p:cNvPr id="217" name="AutoShape 5">
            <a:extLst>
              <a:ext uri="{FF2B5EF4-FFF2-40B4-BE49-F238E27FC236}">
                <a16:creationId xmlns:a16="http://schemas.microsoft.com/office/drawing/2014/main" id="{C4548F62-9A91-4078-8A75-BA138748F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88" name="Group 89"/>
          <p:cNvGrpSpPr>
            <a:grpSpLocks/>
          </p:cNvGrpSpPr>
          <p:nvPr/>
        </p:nvGrpSpPr>
        <p:grpSpPr bwMode="auto">
          <a:xfrm>
            <a:off x="3622364" y="4240502"/>
            <a:ext cx="810816" cy="207169"/>
            <a:chOff x="504" y="3523"/>
            <a:chExt cx="681" cy="174"/>
          </a:xfrm>
        </p:grpSpPr>
        <p:grpSp>
          <p:nvGrpSpPr>
            <p:cNvPr id="289" name="Group 90"/>
            <p:cNvGrpSpPr>
              <a:grpSpLocks/>
            </p:cNvGrpSpPr>
            <p:nvPr/>
          </p:nvGrpSpPr>
          <p:grpSpPr bwMode="auto">
            <a:xfrm>
              <a:off x="623" y="3523"/>
              <a:ext cx="492" cy="174"/>
              <a:chOff x="723" y="3453"/>
              <a:chExt cx="492" cy="174"/>
            </a:xfrm>
          </p:grpSpPr>
          <p:grpSp>
            <p:nvGrpSpPr>
              <p:cNvPr id="293" name="Group 91"/>
              <p:cNvGrpSpPr>
                <a:grpSpLocks/>
              </p:cNvGrpSpPr>
              <p:nvPr/>
            </p:nvGrpSpPr>
            <p:grpSpPr bwMode="auto">
              <a:xfrm>
                <a:off x="836" y="3453"/>
                <a:ext cx="379" cy="174"/>
                <a:chOff x="836" y="3305"/>
                <a:chExt cx="379" cy="174"/>
              </a:xfrm>
            </p:grpSpPr>
            <p:grpSp>
              <p:nvGrpSpPr>
                <p:cNvPr id="296" name="Group 92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74"/>
                  <a:chOff x="844" y="3337"/>
                  <a:chExt cx="325" cy="174"/>
                </a:xfrm>
              </p:grpSpPr>
              <p:sp>
                <p:nvSpPr>
                  <p:cNvPr id="300" name="Rectangle 93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301" name="Text Box 9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750">
                        <a:solidFill>
                          <a:schemeClr val="bg1"/>
                        </a:solidFill>
                        <a:latin typeface="Arial" panose="020B0604020202020204" pitchFamily="34" charset="0"/>
                      </a:rPr>
                      <a:t>DNS</a:t>
                    </a:r>
                  </a:p>
                </p:txBody>
              </p:sp>
            </p:grpSp>
            <p:grpSp>
              <p:nvGrpSpPr>
                <p:cNvPr id="297" name="Group 95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298" name="Rectangle 96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299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latin typeface="Comic Sans MS" panose="030F0702030302020204" pitchFamily="66" charset="0"/>
                    </a:endParaRPr>
                  </a:p>
                </p:txBody>
              </p:sp>
            </p:grpSp>
          </p:grpSp>
          <p:sp>
            <p:nvSpPr>
              <p:cNvPr id="294" name="Rectangle 98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95" name="Rectangle 99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90" name="Rectangle 100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91" name="Rectangle 101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92" name="Rectangle 102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114" name="Group 89"/>
          <p:cNvGrpSpPr>
            <a:grpSpLocks/>
          </p:cNvGrpSpPr>
          <p:nvPr/>
        </p:nvGrpSpPr>
        <p:grpSpPr bwMode="auto">
          <a:xfrm>
            <a:off x="1795704" y="3214711"/>
            <a:ext cx="810816" cy="207169"/>
            <a:chOff x="504" y="3523"/>
            <a:chExt cx="681" cy="174"/>
          </a:xfrm>
        </p:grpSpPr>
        <p:grpSp>
          <p:nvGrpSpPr>
            <p:cNvPr id="115" name="Group 90"/>
            <p:cNvGrpSpPr>
              <a:grpSpLocks/>
            </p:cNvGrpSpPr>
            <p:nvPr/>
          </p:nvGrpSpPr>
          <p:grpSpPr bwMode="auto">
            <a:xfrm>
              <a:off x="623" y="3523"/>
              <a:ext cx="492" cy="174"/>
              <a:chOff x="723" y="3453"/>
              <a:chExt cx="492" cy="174"/>
            </a:xfrm>
          </p:grpSpPr>
          <p:grpSp>
            <p:nvGrpSpPr>
              <p:cNvPr id="119" name="Group 91"/>
              <p:cNvGrpSpPr>
                <a:grpSpLocks/>
              </p:cNvGrpSpPr>
              <p:nvPr/>
            </p:nvGrpSpPr>
            <p:grpSpPr bwMode="auto">
              <a:xfrm>
                <a:off x="836" y="3453"/>
                <a:ext cx="379" cy="174"/>
                <a:chOff x="836" y="3305"/>
                <a:chExt cx="379" cy="174"/>
              </a:xfrm>
            </p:grpSpPr>
            <p:grpSp>
              <p:nvGrpSpPr>
                <p:cNvPr id="122" name="Group 92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74"/>
                  <a:chOff x="844" y="3337"/>
                  <a:chExt cx="325" cy="174"/>
                </a:xfrm>
              </p:grpSpPr>
              <p:sp>
                <p:nvSpPr>
                  <p:cNvPr id="126" name="Rectangle 93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127" name="Text Box 9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750">
                        <a:solidFill>
                          <a:schemeClr val="bg1"/>
                        </a:solidFill>
                        <a:latin typeface="Arial" panose="020B0604020202020204" pitchFamily="34" charset="0"/>
                      </a:rPr>
                      <a:t>DNS</a:t>
                    </a:r>
                  </a:p>
                </p:txBody>
              </p:sp>
            </p:grpSp>
            <p:grpSp>
              <p:nvGrpSpPr>
                <p:cNvPr id="123" name="Group 95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24" name="Rectangle 96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125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latin typeface="Comic Sans MS" panose="030F0702030302020204" pitchFamily="66" charset="0"/>
                    </a:endParaRPr>
                  </a:p>
                </p:txBody>
              </p:sp>
            </p:grpSp>
          </p:grpSp>
          <p:sp>
            <p:nvSpPr>
              <p:cNvPr id="120" name="Rectangle 98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1" name="Rectangle 99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116" name="Rectangle 100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117" name="Rectangle 101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118" name="Rectangle 102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6580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00995 L 0.32586 -0.01018 L 0.22725 0.14676 " pathEditMode="relative" rAng="0" ptsTypes="AAA">
                                      <p:cBhvr>
                                        <p:cTn id="9" dur="2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85" y="78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1.11111E-6 L 0.17291 -0.20555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46" y="-10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2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" grpId="0" animBg="1"/>
      <p:bldP spid="217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roup 69"/>
          <p:cNvGrpSpPr>
            <a:grpSpLocks/>
          </p:cNvGrpSpPr>
          <p:nvPr/>
        </p:nvGrpSpPr>
        <p:grpSpPr bwMode="auto">
          <a:xfrm>
            <a:off x="6704652" y="3450450"/>
            <a:ext cx="567928" cy="284559"/>
            <a:chOff x="2466" y="2026"/>
            <a:chExt cx="477" cy="282"/>
          </a:xfrm>
        </p:grpSpPr>
        <p:sp>
          <p:nvSpPr>
            <p:cNvPr id="160" name="Oval 7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sp>
          <p:nvSpPr>
            <p:cNvPr id="161" name="Line 7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62" name="Rectangle 7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63" name="Oval 7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grpSp>
          <p:nvGrpSpPr>
            <p:cNvPr id="164" name="Group 7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171" name="Line 7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72" name="Line 7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73" name="Line 7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165" name="Group 7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168" name="Line 7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69" name="Line 8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70" name="Line 8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166" name="Line 8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67" name="Line 8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85" name="Group 173"/>
          <p:cNvGrpSpPr>
            <a:grpSpLocks/>
          </p:cNvGrpSpPr>
          <p:nvPr/>
        </p:nvGrpSpPr>
        <p:grpSpPr bwMode="auto">
          <a:xfrm flipH="1" flipV="1">
            <a:off x="7197570" y="3365915"/>
            <a:ext cx="300038" cy="114300"/>
            <a:chOff x="3228" y="1776"/>
            <a:chExt cx="252" cy="96"/>
          </a:xfrm>
        </p:grpSpPr>
        <p:sp>
          <p:nvSpPr>
            <p:cNvPr id="186" name="Line 17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7" name="Line 17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88" name="Group 176"/>
          <p:cNvGrpSpPr>
            <a:grpSpLocks/>
          </p:cNvGrpSpPr>
          <p:nvPr/>
        </p:nvGrpSpPr>
        <p:grpSpPr bwMode="auto">
          <a:xfrm flipV="1">
            <a:off x="6579636" y="3380203"/>
            <a:ext cx="221456" cy="85725"/>
            <a:chOff x="3228" y="1776"/>
            <a:chExt cx="252" cy="96"/>
          </a:xfrm>
        </p:grpSpPr>
        <p:sp>
          <p:nvSpPr>
            <p:cNvPr id="189" name="Line 177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0" name="Line 178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69" name="Freeform 236"/>
          <p:cNvSpPr>
            <a:spLocks/>
          </p:cNvSpPr>
          <p:nvPr/>
        </p:nvSpPr>
        <p:spPr bwMode="auto">
          <a:xfrm>
            <a:off x="4871089" y="1952644"/>
            <a:ext cx="2819400" cy="1854994"/>
          </a:xfrm>
          <a:custGeom>
            <a:avLst/>
            <a:gdLst>
              <a:gd name="T0" fmla="*/ 2147483646 w 2368"/>
              <a:gd name="T1" fmla="*/ 2147483646 h 1558"/>
              <a:gd name="T2" fmla="*/ 2147483646 w 2368"/>
              <a:gd name="T3" fmla="*/ 2147483646 h 1558"/>
              <a:gd name="T4" fmla="*/ 2147483646 w 2368"/>
              <a:gd name="T5" fmla="*/ 2147483646 h 1558"/>
              <a:gd name="T6" fmla="*/ 2147483646 w 2368"/>
              <a:gd name="T7" fmla="*/ 2147483646 h 1558"/>
              <a:gd name="T8" fmla="*/ 2147483646 w 2368"/>
              <a:gd name="T9" fmla="*/ 2147483646 h 1558"/>
              <a:gd name="T10" fmla="*/ 2147483646 w 2368"/>
              <a:gd name="T11" fmla="*/ 2147483646 h 1558"/>
              <a:gd name="T12" fmla="*/ 2147483646 w 2368"/>
              <a:gd name="T13" fmla="*/ 2147483646 h 1558"/>
              <a:gd name="T14" fmla="*/ 2147483646 w 2368"/>
              <a:gd name="T15" fmla="*/ 2147483646 h 1558"/>
              <a:gd name="T16" fmla="*/ 2147483646 w 2368"/>
              <a:gd name="T17" fmla="*/ 2147483646 h 1558"/>
              <a:gd name="T18" fmla="*/ 2147483646 w 2368"/>
              <a:gd name="T19" fmla="*/ 2147483646 h 1558"/>
              <a:gd name="T20" fmla="*/ 2147483646 w 2368"/>
              <a:gd name="T21" fmla="*/ 2147483646 h 1558"/>
              <a:gd name="T22" fmla="*/ 2147483646 w 2368"/>
              <a:gd name="T23" fmla="*/ 2147483646 h 1558"/>
              <a:gd name="T24" fmla="*/ 2147483646 w 2368"/>
              <a:gd name="T25" fmla="*/ 2147483646 h 1558"/>
              <a:gd name="T26" fmla="*/ 2147483646 w 2368"/>
              <a:gd name="T27" fmla="*/ 2147483646 h 1558"/>
              <a:gd name="T28" fmla="*/ 2147483646 w 2368"/>
              <a:gd name="T29" fmla="*/ 2147483646 h 1558"/>
              <a:gd name="T30" fmla="*/ 2147483646 w 2368"/>
              <a:gd name="T31" fmla="*/ 2147483646 h 1558"/>
              <a:gd name="T32" fmla="*/ 2147483646 w 2368"/>
              <a:gd name="T33" fmla="*/ 2147483646 h 1558"/>
              <a:gd name="T34" fmla="*/ 2147483646 w 2368"/>
              <a:gd name="T35" fmla="*/ 2147483646 h 1558"/>
              <a:gd name="T36" fmla="*/ 2147483646 w 2368"/>
              <a:gd name="T37" fmla="*/ 2147483646 h 1558"/>
              <a:gd name="T38" fmla="*/ 2147483646 w 2368"/>
              <a:gd name="T39" fmla="*/ 2147483646 h 1558"/>
              <a:gd name="T40" fmla="*/ 2147483646 w 2368"/>
              <a:gd name="T41" fmla="*/ 2147483646 h 1558"/>
              <a:gd name="T42" fmla="*/ 2147483646 w 2368"/>
              <a:gd name="T43" fmla="*/ 2147483646 h 1558"/>
              <a:gd name="T44" fmla="*/ 2147483646 w 2368"/>
              <a:gd name="T45" fmla="*/ 2147483646 h 1558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368" h="1558">
                <a:moveTo>
                  <a:pt x="84" y="632"/>
                </a:moveTo>
                <a:cubicBezTo>
                  <a:pt x="51" y="704"/>
                  <a:pt x="28" y="747"/>
                  <a:pt x="16" y="809"/>
                </a:cubicBezTo>
                <a:cubicBezTo>
                  <a:pt x="4" y="871"/>
                  <a:pt x="0" y="949"/>
                  <a:pt x="9" y="1005"/>
                </a:cubicBezTo>
                <a:cubicBezTo>
                  <a:pt x="18" y="1061"/>
                  <a:pt x="44" y="1087"/>
                  <a:pt x="70" y="1147"/>
                </a:cubicBezTo>
                <a:cubicBezTo>
                  <a:pt x="96" y="1207"/>
                  <a:pt x="130" y="1314"/>
                  <a:pt x="165" y="1364"/>
                </a:cubicBezTo>
                <a:cubicBezTo>
                  <a:pt x="200" y="1414"/>
                  <a:pt x="223" y="1428"/>
                  <a:pt x="280" y="1446"/>
                </a:cubicBezTo>
                <a:cubicBezTo>
                  <a:pt x="337" y="1464"/>
                  <a:pt x="397" y="1472"/>
                  <a:pt x="510" y="1473"/>
                </a:cubicBezTo>
                <a:cubicBezTo>
                  <a:pt x="623" y="1474"/>
                  <a:pt x="854" y="1457"/>
                  <a:pt x="958" y="1452"/>
                </a:cubicBezTo>
                <a:cubicBezTo>
                  <a:pt x="1062" y="1447"/>
                  <a:pt x="1065" y="1440"/>
                  <a:pt x="1134" y="1446"/>
                </a:cubicBezTo>
                <a:cubicBezTo>
                  <a:pt x="1203" y="1452"/>
                  <a:pt x="1293" y="1468"/>
                  <a:pt x="1371" y="1486"/>
                </a:cubicBezTo>
                <a:cubicBezTo>
                  <a:pt x="1449" y="1504"/>
                  <a:pt x="1495" y="1550"/>
                  <a:pt x="1601" y="1554"/>
                </a:cubicBezTo>
                <a:cubicBezTo>
                  <a:pt x="1707" y="1558"/>
                  <a:pt x="1893" y="1556"/>
                  <a:pt x="2008" y="1513"/>
                </a:cubicBezTo>
                <a:cubicBezTo>
                  <a:pt x="2123" y="1470"/>
                  <a:pt x="2236" y="1409"/>
                  <a:pt x="2293" y="1297"/>
                </a:cubicBezTo>
                <a:cubicBezTo>
                  <a:pt x="2350" y="1185"/>
                  <a:pt x="2339" y="950"/>
                  <a:pt x="2347" y="843"/>
                </a:cubicBezTo>
                <a:cubicBezTo>
                  <a:pt x="2355" y="736"/>
                  <a:pt x="2368" y="717"/>
                  <a:pt x="2340" y="653"/>
                </a:cubicBezTo>
                <a:cubicBezTo>
                  <a:pt x="2312" y="589"/>
                  <a:pt x="2247" y="537"/>
                  <a:pt x="2177" y="456"/>
                </a:cubicBezTo>
                <a:cubicBezTo>
                  <a:pt x="2107" y="375"/>
                  <a:pt x="2016" y="235"/>
                  <a:pt x="1920" y="165"/>
                </a:cubicBezTo>
                <a:cubicBezTo>
                  <a:pt x="1824" y="95"/>
                  <a:pt x="1716" y="61"/>
                  <a:pt x="1601" y="36"/>
                </a:cubicBezTo>
                <a:cubicBezTo>
                  <a:pt x="1486" y="11"/>
                  <a:pt x="1343" y="0"/>
                  <a:pt x="1229" y="16"/>
                </a:cubicBezTo>
                <a:cubicBezTo>
                  <a:pt x="1115" y="32"/>
                  <a:pt x="1042" y="90"/>
                  <a:pt x="917" y="131"/>
                </a:cubicBezTo>
                <a:cubicBezTo>
                  <a:pt x="792" y="172"/>
                  <a:pt x="595" y="219"/>
                  <a:pt x="477" y="260"/>
                </a:cubicBezTo>
                <a:cubicBezTo>
                  <a:pt x="359" y="301"/>
                  <a:pt x="280" y="311"/>
                  <a:pt x="212" y="375"/>
                </a:cubicBezTo>
                <a:cubicBezTo>
                  <a:pt x="144" y="439"/>
                  <a:pt x="117" y="560"/>
                  <a:pt x="84" y="632"/>
                </a:cubicBezTo>
                <a:close/>
              </a:path>
            </a:pathLst>
          </a:custGeom>
          <a:solidFill>
            <a:srgbClr val="00CCFF">
              <a:alpha val="86000"/>
            </a:srgbClr>
          </a:solidFill>
          <a:ln>
            <a:noFill/>
          </a:ln>
          <a:effectLst/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5.7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总结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: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自底向上回顾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一次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请求所要做的工作：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继续准备</a:t>
            </a: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路由选择到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DNS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服务器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(15) Comcast</a:t>
            </a:r>
            <a:r>
              <a:rPr lang="zh-CN" altLang="en-US" dirty="0">
                <a:solidFill>
                  <a:srgbClr val="0066CC"/>
                </a:solidFill>
              </a:rPr>
              <a:t>网络边界路由器们</a:t>
            </a: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存储</a:t>
            </a: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转发：通过转发表来确定输出链路</a:t>
            </a: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143" name="Group 19"/>
          <p:cNvGrpSpPr>
            <a:grpSpLocks/>
          </p:cNvGrpSpPr>
          <p:nvPr/>
        </p:nvGrpSpPr>
        <p:grpSpPr bwMode="auto">
          <a:xfrm>
            <a:off x="6211733" y="2763459"/>
            <a:ext cx="567928" cy="284560"/>
            <a:chOff x="2466" y="2026"/>
            <a:chExt cx="477" cy="282"/>
          </a:xfrm>
        </p:grpSpPr>
        <p:sp>
          <p:nvSpPr>
            <p:cNvPr id="144" name="Oval 2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sp>
          <p:nvSpPr>
            <p:cNvPr id="145" name="Line 2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46" name="Rectangle 2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47" name="Oval 2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grpSp>
          <p:nvGrpSpPr>
            <p:cNvPr id="148" name="Group 2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155" name="Line 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56" name="Line 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57" name="Line 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149" name="Group 2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152" name="Line 2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53" name="Line 3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54" name="Line 3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150" name="Line 3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51" name="Line 3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158" name="Text Box 34"/>
          <p:cNvSpPr txBox="1">
            <a:spLocks noChangeArrowheads="1"/>
          </p:cNvSpPr>
          <p:nvPr/>
        </p:nvSpPr>
        <p:spPr bwMode="auto">
          <a:xfrm>
            <a:off x="5309239" y="3306384"/>
            <a:ext cx="14141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Comcast network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68.80.0.0/13</a:t>
            </a:r>
          </a:p>
        </p:txBody>
      </p:sp>
      <p:sp>
        <p:nvSpPr>
          <p:cNvPr id="174" name="Line 93"/>
          <p:cNvSpPr>
            <a:spLocks noChangeShapeType="1"/>
          </p:cNvSpPr>
          <p:nvPr/>
        </p:nvSpPr>
        <p:spPr bwMode="auto">
          <a:xfrm flipH="1">
            <a:off x="6493910" y="2569387"/>
            <a:ext cx="195263" cy="19407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75" name="Text Box 139"/>
          <p:cNvSpPr txBox="1">
            <a:spLocks noChangeArrowheads="1"/>
          </p:cNvSpPr>
          <p:nvPr/>
        </p:nvSpPr>
        <p:spPr bwMode="auto">
          <a:xfrm>
            <a:off x="6833239" y="1982409"/>
            <a:ext cx="9781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DNS server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76" name="Group 166"/>
          <p:cNvGrpSpPr>
            <a:grpSpLocks/>
          </p:cNvGrpSpPr>
          <p:nvPr/>
        </p:nvGrpSpPr>
        <p:grpSpPr bwMode="auto">
          <a:xfrm>
            <a:off x="4154333" y="3230185"/>
            <a:ext cx="1182290" cy="965597"/>
            <a:chOff x="3228" y="1776"/>
            <a:chExt cx="252" cy="96"/>
          </a:xfrm>
        </p:grpSpPr>
        <p:sp>
          <p:nvSpPr>
            <p:cNvPr id="177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8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91" name="Group 179"/>
          <p:cNvGrpSpPr>
            <a:grpSpLocks/>
          </p:cNvGrpSpPr>
          <p:nvPr/>
        </p:nvGrpSpPr>
        <p:grpSpPr bwMode="auto">
          <a:xfrm rot="409689" flipH="1" flipV="1">
            <a:off x="6783233" y="2887284"/>
            <a:ext cx="339328" cy="42863"/>
            <a:chOff x="3228" y="1776"/>
            <a:chExt cx="252" cy="96"/>
          </a:xfrm>
        </p:grpSpPr>
        <p:sp>
          <p:nvSpPr>
            <p:cNvPr id="192" name="Line 180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3" name="Line 181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94" name="Group 182"/>
          <p:cNvGrpSpPr>
            <a:grpSpLocks/>
          </p:cNvGrpSpPr>
          <p:nvPr/>
        </p:nvGrpSpPr>
        <p:grpSpPr bwMode="auto">
          <a:xfrm>
            <a:off x="6140296" y="3040875"/>
            <a:ext cx="221456" cy="85725"/>
            <a:chOff x="3228" y="1776"/>
            <a:chExt cx="252" cy="96"/>
          </a:xfrm>
        </p:grpSpPr>
        <p:sp>
          <p:nvSpPr>
            <p:cNvPr id="195" name="Line 183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6" name="Line 184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97" name="Group 185"/>
          <p:cNvGrpSpPr>
            <a:grpSpLocks/>
          </p:cNvGrpSpPr>
          <p:nvPr/>
        </p:nvGrpSpPr>
        <p:grpSpPr bwMode="auto">
          <a:xfrm flipH="1">
            <a:off x="6618927" y="3040875"/>
            <a:ext cx="221456" cy="85725"/>
            <a:chOff x="3228" y="1776"/>
            <a:chExt cx="252" cy="96"/>
          </a:xfrm>
        </p:grpSpPr>
        <p:sp>
          <p:nvSpPr>
            <p:cNvPr id="198" name="Line 186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9" name="Line 187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245" name="Group 248"/>
          <p:cNvGrpSpPr>
            <a:grpSpLocks/>
          </p:cNvGrpSpPr>
          <p:nvPr/>
        </p:nvGrpSpPr>
        <p:grpSpPr bwMode="auto">
          <a:xfrm>
            <a:off x="6670123" y="2145526"/>
            <a:ext cx="279797" cy="515540"/>
            <a:chOff x="4140" y="429"/>
            <a:chExt cx="1425" cy="2396"/>
          </a:xfrm>
        </p:grpSpPr>
        <p:sp>
          <p:nvSpPr>
            <p:cNvPr id="246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7" name="Rectangle 149"/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48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9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0" name="Rectangle 152"/>
            <p:cNvSpPr>
              <a:spLocks noChangeArrowheads="1"/>
            </p:cNvSpPr>
            <p:nvPr/>
          </p:nvSpPr>
          <p:spPr bwMode="auto">
            <a:xfrm>
              <a:off x="4213" y="695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grpSp>
          <p:nvGrpSpPr>
            <p:cNvPr id="251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76" name="AutoShape 154"/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77" name="AutoShape 155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6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52" name="Rectangle 156"/>
            <p:cNvSpPr>
              <a:spLocks noChangeArrowheads="1"/>
            </p:cNvSpPr>
            <p:nvPr/>
          </p:nvSpPr>
          <p:spPr bwMode="auto">
            <a:xfrm>
              <a:off x="4225" y="1021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grpSp>
          <p:nvGrpSpPr>
            <p:cNvPr id="253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74" name="AutoShape 158"/>
              <p:cNvSpPr>
                <a:spLocks noChangeArrowheads="1"/>
              </p:cNvSpPr>
              <p:nvPr/>
            </p:nvSpPr>
            <p:spPr bwMode="auto">
              <a:xfrm>
                <a:off x="613" y="2567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75" name="AutoShape 159"/>
              <p:cNvSpPr>
                <a:spLocks noChangeArrowheads="1"/>
              </p:cNvSpPr>
              <p:nvPr/>
            </p:nvSpPr>
            <p:spPr bwMode="auto">
              <a:xfrm>
                <a:off x="628" y="2585"/>
                <a:ext cx="696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54" name="Rectangle 160"/>
            <p:cNvSpPr>
              <a:spLocks noChangeArrowheads="1"/>
            </p:cNvSpPr>
            <p:nvPr/>
          </p:nvSpPr>
          <p:spPr bwMode="auto">
            <a:xfrm>
              <a:off x="4219" y="1359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55" name="Rectangle 161"/>
            <p:cNvSpPr>
              <a:spLocks noChangeArrowheads="1"/>
            </p:cNvSpPr>
            <p:nvPr/>
          </p:nvSpPr>
          <p:spPr bwMode="auto">
            <a:xfrm>
              <a:off x="4231" y="1657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grpSp>
          <p:nvGrpSpPr>
            <p:cNvPr id="256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72" name="AutoShape 163"/>
              <p:cNvSpPr>
                <a:spLocks noChangeArrowheads="1"/>
              </p:cNvSpPr>
              <p:nvPr/>
            </p:nvSpPr>
            <p:spPr bwMode="auto">
              <a:xfrm>
                <a:off x="613" y="2581"/>
                <a:ext cx="725" cy="12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73" name="AutoShape 164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57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58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70" name="AutoShape 167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5" cy="13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71" name="AutoShape 168"/>
              <p:cNvSpPr>
                <a:spLocks noChangeArrowheads="1"/>
              </p:cNvSpPr>
              <p:nvPr/>
            </p:nvSpPr>
            <p:spPr bwMode="auto">
              <a:xfrm>
                <a:off x="631" y="2583"/>
                <a:ext cx="695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59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7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60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1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2" name="Oval 172"/>
            <p:cNvSpPr>
              <a:spLocks noChangeArrowheads="1"/>
            </p:cNvSpPr>
            <p:nvPr/>
          </p:nvSpPr>
          <p:spPr bwMode="auto">
            <a:xfrm>
              <a:off x="5516" y="2609"/>
              <a:ext cx="49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63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4" name="AutoShape 174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65" name="AutoShape 175"/>
            <p:cNvSpPr>
              <a:spLocks noChangeArrowheads="1"/>
            </p:cNvSpPr>
            <p:nvPr/>
          </p:nvSpPr>
          <p:spPr bwMode="auto">
            <a:xfrm>
              <a:off x="4207" y="2709"/>
              <a:ext cx="1067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66" name="Oval 176"/>
            <p:cNvSpPr>
              <a:spLocks noChangeArrowheads="1"/>
            </p:cNvSpPr>
            <p:nvPr/>
          </p:nvSpPr>
          <p:spPr bwMode="auto">
            <a:xfrm>
              <a:off x="4310" y="2382"/>
              <a:ext cx="158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67" name="Oval 177"/>
            <p:cNvSpPr>
              <a:spLocks noChangeArrowheads="1"/>
            </p:cNvSpPr>
            <p:nvPr/>
          </p:nvSpPr>
          <p:spPr bwMode="auto">
            <a:xfrm>
              <a:off x="4486" y="2382"/>
              <a:ext cx="158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68" name="Oval 178"/>
            <p:cNvSpPr>
              <a:spLocks noChangeArrowheads="1"/>
            </p:cNvSpPr>
            <p:nvPr/>
          </p:nvSpPr>
          <p:spPr bwMode="auto">
            <a:xfrm>
              <a:off x="4661" y="2382"/>
              <a:ext cx="158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69" name="Rectangle 179"/>
            <p:cNvSpPr>
              <a:spLocks noChangeArrowheads="1"/>
            </p:cNvSpPr>
            <p:nvPr/>
          </p:nvSpPr>
          <p:spPr bwMode="auto">
            <a:xfrm>
              <a:off x="5062" y="1835"/>
              <a:ext cx="85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</p:grpSp>
      <p:sp>
        <p:nvSpPr>
          <p:cNvPr id="278" name="Text Box 34"/>
          <p:cNvSpPr txBox="1">
            <a:spLocks noChangeArrowheads="1"/>
          </p:cNvSpPr>
          <p:nvPr/>
        </p:nvSpPr>
        <p:spPr bwMode="auto">
          <a:xfrm>
            <a:off x="2066015" y="3790968"/>
            <a:ext cx="12506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school network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68.80.2.0/24</a:t>
            </a:r>
          </a:p>
        </p:txBody>
      </p:sp>
      <p:grpSp>
        <p:nvGrpSpPr>
          <p:cNvPr id="288" name="Group 89"/>
          <p:cNvGrpSpPr>
            <a:grpSpLocks/>
          </p:cNvGrpSpPr>
          <p:nvPr/>
        </p:nvGrpSpPr>
        <p:grpSpPr bwMode="auto">
          <a:xfrm>
            <a:off x="4561628" y="2808261"/>
            <a:ext cx="810816" cy="207169"/>
            <a:chOff x="504" y="3523"/>
            <a:chExt cx="681" cy="174"/>
          </a:xfrm>
        </p:grpSpPr>
        <p:grpSp>
          <p:nvGrpSpPr>
            <p:cNvPr id="289" name="Group 90"/>
            <p:cNvGrpSpPr>
              <a:grpSpLocks/>
            </p:cNvGrpSpPr>
            <p:nvPr/>
          </p:nvGrpSpPr>
          <p:grpSpPr bwMode="auto">
            <a:xfrm>
              <a:off x="623" y="3523"/>
              <a:ext cx="492" cy="174"/>
              <a:chOff x="723" y="3453"/>
              <a:chExt cx="492" cy="174"/>
            </a:xfrm>
          </p:grpSpPr>
          <p:grpSp>
            <p:nvGrpSpPr>
              <p:cNvPr id="293" name="Group 91"/>
              <p:cNvGrpSpPr>
                <a:grpSpLocks/>
              </p:cNvGrpSpPr>
              <p:nvPr/>
            </p:nvGrpSpPr>
            <p:grpSpPr bwMode="auto">
              <a:xfrm>
                <a:off x="836" y="3453"/>
                <a:ext cx="379" cy="174"/>
                <a:chOff x="836" y="3305"/>
                <a:chExt cx="379" cy="174"/>
              </a:xfrm>
            </p:grpSpPr>
            <p:grpSp>
              <p:nvGrpSpPr>
                <p:cNvPr id="296" name="Group 92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74"/>
                  <a:chOff x="844" y="3337"/>
                  <a:chExt cx="325" cy="174"/>
                </a:xfrm>
              </p:grpSpPr>
              <p:sp>
                <p:nvSpPr>
                  <p:cNvPr id="300" name="Rectangle 93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301" name="Text Box 9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750">
                        <a:solidFill>
                          <a:schemeClr val="bg1"/>
                        </a:solidFill>
                        <a:latin typeface="Arial" panose="020B0604020202020204" pitchFamily="34" charset="0"/>
                      </a:rPr>
                      <a:t>DNS</a:t>
                    </a:r>
                  </a:p>
                </p:txBody>
              </p:sp>
            </p:grpSp>
            <p:grpSp>
              <p:nvGrpSpPr>
                <p:cNvPr id="297" name="Group 95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298" name="Rectangle 96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299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latin typeface="Comic Sans MS" panose="030F0702030302020204" pitchFamily="66" charset="0"/>
                    </a:endParaRPr>
                  </a:p>
                </p:txBody>
              </p:sp>
            </p:grpSp>
          </p:grpSp>
          <p:sp>
            <p:nvSpPr>
              <p:cNvPr id="294" name="Rectangle 98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95" name="Rectangle 99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90" name="Rectangle 100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91" name="Rectangle 101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92" name="Rectangle 102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128" name="Group 4"/>
          <p:cNvGrpSpPr>
            <a:grpSpLocks/>
          </p:cNvGrpSpPr>
          <p:nvPr/>
        </p:nvGrpSpPr>
        <p:grpSpPr bwMode="auto">
          <a:xfrm>
            <a:off x="5187795" y="2953959"/>
            <a:ext cx="567928" cy="284560"/>
            <a:chOff x="2466" y="2026"/>
            <a:chExt cx="477" cy="282"/>
          </a:xfrm>
        </p:grpSpPr>
        <p:sp>
          <p:nvSpPr>
            <p:cNvPr id="129" name="Oval 5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sp>
          <p:nvSpPr>
            <p:cNvPr id="130" name="Line 6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31" name="Rectangle 7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32" name="Oval 8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grpSp>
          <p:nvGrpSpPr>
            <p:cNvPr id="133" name="Group 9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140" name="Line 1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41" name="Line 1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42" name="Line 1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134" name="Group 13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137" name="Line 1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38" name="Line 1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39" name="Line 1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135" name="Line 17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36" name="Line 18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79" name="Group 167"/>
          <p:cNvGrpSpPr>
            <a:grpSpLocks/>
          </p:cNvGrpSpPr>
          <p:nvPr/>
        </p:nvGrpSpPr>
        <p:grpSpPr bwMode="auto">
          <a:xfrm flipH="1">
            <a:off x="5508073" y="3240900"/>
            <a:ext cx="300038" cy="114300"/>
            <a:chOff x="3228" y="1776"/>
            <a:chExt cx="252" cy="96"/>
          </a:xfrm>
        </p:grpSpPr>
        <p:sp>
          <p:nvSpPr>
            <p:cNvPr id="180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1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82" name="Group 170"/>
          <p:cNvGrpSpPr>
            <a:grpSpLocks/>
          </p:cNvGrpSpPr>
          <p:nvPr/>
        </p:nvGrpSpPr>
        <p:grpSpPr bwMode="auto">
          <a:xfrm flipH="1" flipV="1">
            <a:off x="5622373" y="2847994"/>
            <a:ext cx="300038" cy="114300"/>
            <a:chOff x="3228" y="1776"/>
            <a:chExt cx="252" cy="96"/>
          </a:xfrm>
        </p:grpSpPr>
        <p:sp>
          <p:nvSpPr>
            <p:cNvPr id="183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4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302" name="组合 301"/>
          <p:cNvGrpSpPr/>
          <p:nvPr/>
        </p:nvGrpSpPr>
        <p:grpSpPr>
          <a:xfrm>
            <a:off x="5568836" y="2364566"/>
            <a:ext cx="680421" cy="685609"/>
            <a:chOff x="5052333" y="5054856"/>
            <a:chExt cx="907228" cy="914145"/>
          </a:xfrm>
        </p:grpSpPr>
        <p:sp>
          <p:nvSpPr>
            <p:cNvPr id="303" name="Freeform 45"/>
            <p:cNvSpPr>
              <a:spLocks/>
            </p:cNvSpPr>
            <p:nvPr/>
          </p:nvSpPr>
          <p:spPr bwMode="auto">
            <a:xfrm flipH="1">
              <a:off x="5052333" y="5076636"/>
              <a:ext cx="666635" cy="892365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304" name="Group 46"/>
            <p:cNvGrpSpPr>
              <a:grpSpLocks/>
            </p:cNvGrpSpPr>
            <p:nvPr/>
          </p:nvGrpSpPr>
          <p:grpSpPr bwMode="auto">
            <a:xfrm>
              <a:off x="5165811" y="5054856"/>
              <a:ext cx="793750" cy="874713"/>
              <a:chOff x="569" y="3288"/>
              <a:chExt cx="500" cy="551"/>
            </a:xfrm>
          </p:grpSpPr>
          <p:sp>
            <p:nvSpPr>
              <p:cNvPr id="305" name="Rectangle 47"/>
              <p:cNvSpPr>
                <a:spLocks noChangeArrowheads="1"/>
              </p:cNvSpPr>
              <p:nvPr/>
            </p:nvSpPr>
            <p:spPr bwMode="auto">
              <a:xfrm>
                <a:off x="576" y="3288"/>
                <a:ext cx="493" cy="47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306" name="Text Box 48"/>
              <p:cNvSpPr txBox="1">
                <a:spLocks noChangeArrowheads="1"/>
              </p:cNvSpPr>
              <p:nvPr/>
            </p:nvSpPr>
            <p:spPr bwMode="auto">
              <a:xfrm>
                <a:off x="631" y="3296"/>
                <a:ext cx="377" cy="5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latin typeface="Arial" panose="020B0604020202020204" pitchFamily="34" charset="0"/>
                  </a:rPr>
                  <a:t>IP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latin typeface="Arial" panose="020B0604020202020204" pitchFamily="34" charset="0"/>
                  </a:rPr>
                  <a:t>Eth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 err="1">
                    <a:latin typeface="Arial" panose="020B0604020202020204" pitchFamily="34" charset="0"/>
                  </a:rPr>
                  <a:t>Phy</a:t>
                </a:r>
                <a:endParaRPr lang="en-US" altLang="zh-CN" sz="12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7" name="Line 50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08" name="Line 51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09" name="Line 52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8" name="Group 230"/>
          <p:cNvGrpSpPr>
            <a:grpSpLocks/>
          </p:cNvGrpSpPr>
          <p:nvPr/>
        </p:nvGrpSpPr>
        <p:grpSpPr bwMode="auto">
          <a:xfrm>
            <a:off x="1887383" y="2538384"/>
            <a:ext cx="2665809" cy="2265614"/>
            <a:chOff x="773113" y="1273175"/>
            <a:chExt cx="3554412" cy="3113655"/>
          </a:xfrm>
        </p:grpSpPr>
        <p:sp>
          <p:nvSpPr>
            <p:cNvPr id="10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76417" cy="5710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router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(runs DHCP)</a:t>
              </a:r>
            </a:p>
          </p:txBody>
        </p:sp>
        <p:grpSp>
          <p:nvGrpSpPr>
            <p:cNvPr id="15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67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8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6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sp>
          <p:nvSpPr>
            <p:cNvPr id="18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sp>
          <p:nvSpPr>
            <p:cNvPr id="19" name="Rectangle 43"/>
            <p:cNvSpPr>
              <a:spLocks noChangeArrowheads="1"/>
            </p:cNvSpPr>
            <p:nvPr/>
          </p:nvSpPr>
          <p:spPr bwMode="auto">
            <a:xfrm rot="-54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350">
                <a:solidFill>
                  <a:srgbClr val="000000"/>
                </a:solidFill>
              </a:endParaRPr>
            </a:p>
          </p:txBody>
        </p:sp>
        <p:grpSp>
          <p:nvGrpSpPr>
            <p:cNvPr id="20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35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7 w 354"/>
                  <a:gd name="T1" fmla="*/ 0 h 2742"/>
                  <a:gd name="T2" fmla="*/ 93 w 354"/>
                  <a:gd name="T3" fmla="*/ 114 h 2742"/>
                  <a:gd name="T4" fmla="*/ 91 w 354"/>
                  <a:gd name="T5" fmla="*/ 881 h 2742"/>
                  <a:gd name="T6" fmla="*/ 0 w 354"/>
                  <a:gd name="T7" fmla="*/ 921 h 2742"/>
                  <a:gd name="T8" fmla="*/ 1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37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6 w 211"/>
                  <a:gd name="T3" fmla="*/ 73 h 2537"/>
                  <a:gd name="T4" fmla="*/ 2 w 211"/>
                  <a:gd name="T5" fmla="*/ 83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3 h 226"/>
                  <a:gd name="T4" fmla="*/ 87 w 328"/>
                  <a:gd name="T5" fmla="*/ 77 h 226"/>
                  <a:gd name="T6" fmla="*/ 0 w 328"/>
                  <a:gd name="T7" fmla="*/ 3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0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5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6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1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2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3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4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3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44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5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1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2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6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2 h 226"/>
                  <a:gd name="T4" fmla="*/ 87 w 328"/>
                  <a:gd name="T5" fmla="*/ 75 h 226"/>
                  <a:gd name="T6" fmla="*/ 0 w 328"/>
                  <a:gd name="T7" fmla="*/ 3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47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59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60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48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49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7 w 296"/>
                  <a:gd name="T3" fmla="*/ 47 h 256"/>
                  <a:gd name="T4" fmla="*/ 78 w 296"/>
                  <a:gd name="T5" fmla="*/ 85 h 256"/>
                  <a:gd name="T6" fmla="*/ 0 w 296"/>
                  <a:gd name="T7" fmla="*/ 3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81 w 304"/>
                  <a:gd name="T3" fmla="*/ 55 h 288"/>
                  <a:gd name="T4" fmla="*/ 76 w 304"/>
                  <a:gd name="T5" fmla="*/ 97 h 288"/>
                  <a:gd name="T6" fmla="*/ 2 w 304"/>
                  <a:gd name="T7" fmla="*/ 4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1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2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6 h 240"/>
                  <a:gd name="T2" fmla="*/ 2 w 306"/>
                  <a:gd name="T3" fmla="*/ 81 h 240"/>
                  <a:gd name="T4" fmla="*/ 81 w 306"/>
                  <a:gd name="T5" fmla="*/ 37 h 240"/>
                  <a:gd name="T6" fmla="*/ 78 w 306"/>
                  <a:gd name="T7" fmla="*/ 0 h 240"/>
                  <a:gd name="T8" fmla="*/ 0 w 306"/>
                  <a:gd name="T9" fmla="*/ 3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3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6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4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5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6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7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8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21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22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3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5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27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2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3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4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28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9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0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1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3"/>
                  <a:ext cx="52" cy="9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</p:grpSp>
        <p:sp>
          <p:nvSpPr>
            <p:cNvPr id="9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6 w 2406"/>
                <a:gd name="T1" fmla="*/ 2147483646 h 958"/>
                <a:gd name="T2" fmla="*/ 2147483646 w 2406"/>
                <a:gd name="T3" fmla="*/ 2147483646 h 958"/>
                <a:gd name="T4" fmla="*/ 2147483646 w 2406"/>
                <a:gd name="T5" fmla="*/ 2147483646 h 958"/>
                <a:gd name="T6" fmla="*/ 2147483646 w 2406"/>
                <a:gd name="T7" fmla="*/ 2147483646 h 958"/>
                <a:gd name="T8" fmla="*/ 2147483646 w 2406"/>
                <a:gd name="T9" fmla="*/ 2147483646 h 958"/>
                <a:gd name="T10" fmla="*/ 2147483646 w 2406"/>
                <a:gd name="T11" fmla="*/ 2147483646 h 958"/>
                <a:gd name="T12" fmla="*/ 2147483646 w 2406"/>
                <a:gd name="T13" fmla="*/ 2147483646 h 958"/>
                <a:gd name="T14" fmla="*/ 2147483646 w 2406"/>
                <a:gd name="T15" fmla="*/ 2147483646 h 958"/>
                <a:gd name="T16" fmla="*/ 2147483646 w 2406"/>
                <a:gd name="T17" fmla="*/ 2147483646 h 958"/>
                <a:gd name="T18" fmla="*/ 2147483646 w 2406"/>
                <a:gd name="T19" fmla="*/ 2147483646 h 958"/>
                <a:gd name="T20" fmla="*/ 2147483646 w 2406"/>
                <a:gd name="T21" fmla="*/ 2147483646 h 958"/>
                <a:gd name="T22" fmla="*/ 2147483646 w 2406"/>
                <a:gd name="T23" fmla="*/ 2147483646 h 958"/>
                <a:gd name="T24" fmla="*/ 2147483646 w 2406"/>
                <a:gd name="T25" fmla="*/ 2147483646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>
                <a:alpha val="88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200" name="灯片编号占位符 2">
            <a:extLst>
              <a:ext uri="{FF2B5EF4-FFF2-40B4-BE49-F238E27FC236}">
                <a16:creationId xmlns:a16="http://schemas.microsoft.com/office/drawing/2014/main" id="{123C8ECA-6B74-4CF6-B98A-E788C5406E5F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18</a:t>
            </a:fld>
            <a:endParaRPr lang="en-US" altLang="zh-CN" dirty="0"/>
          </a:p>
        </p:txBody>
      </p:sp>
      <p:sp>
        <p:nvSpPr>
          <p:cNvPr id="201" name="AutoShape 5">
            <a:extLst>
              <a:ext uri="{FF2B5EF4-FFF2-40B4-BE49-F238E27FC236}">
                <a16:creationId xmlns:a16="http://schemas.microsoft.com/office/drawing/2014/main" id="{DBC8CEE6-4131-4E2C-810A-57AE0786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7477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0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  <p:bldP spid="201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云形 6">
            <a:extLst>
              <a:ext uri="{FF2B5EF4-FFF2-40B4-BE49-F238E27FC236}">
                <a16:creationId xmlns:a16="http://schemas.microsoft.com/office/drawing/2014/main" id="{4A4BFBA1-3AA5-47D7-BB4F-E71911EF09A2}"/>
              </a:ext>
            </a:extLst>
          </p:cNvPr>
          <p:cNvSpPr/>
          <p:nvPr/>
        </p:nvSpPr>
        <p:spPr>
          <a:xfrm>
            <a:off x="7497608" y="915566"/>
            <a:ext cx="1447458" cy="904898"/>
          </a:xfrm>
          <a:prstGeom prst="cloud">
            <a:avLst/>
          </a:prstGeom>
          <a:solidFill>
            <a:srgbClr val="00CCFF">
              <a:alpha val="86000"/>
            </a:srgbClr>
          </a:solidFill>
          <a:ln>
            <a:noFill/>
          </a:ln>
          <a:effectLst/>
        </p:spPr>
        <p:txBody>
          <a:bodyPr wrap="none"/>
          <a:lstStyle/>
          <a:p>
            <a:endParaRPr lang="zh-CN" altLang="en-US" sz="1350">
              <a:solidFill>
                <a:schemeClr val="tx1"/>
              </a:solidFill>
            </a:endParaRPr>
          </a:p>
        </p:txBody>
      </p:sp>
      <p:grpSp>
        <p:nvGrpSpPr>
          <p:cNvPr id="159" name="Group 69"/>
          <p:cNvGrpSpPr>
            <a:grpSpLocks/>
          </p:cNvGrpSpPr>
          <p:nvPr/>
        </p:nvGrpSpPr>
        <p:grpSpPr bwMode="auto">
          <a:xfrm>
            <a:off x="6704652" y="3450450"/>
            <a:ext cx="567928" cy="284559"/>
            <a:chOff x="2466" y="2026"/>
            <a:chExt cx="477" cy="282"/>
          </a:xfrm>
        </p:grpSpPr>
        <p:sp>
          <p:nvSpPr>
            <p:cNvPr id="160" name="Oval 7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sp>
          <p:nvSpPr>
            <p:cNvPr id="161" name="Line 7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62" name="Rectangle 7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63" name="Oval 7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grpSp>
          <p:nvGrpSpPr>
            <p:cNvPr id="164" name="Group 7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171" name="Line 7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72" name="Line 7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73" name="Line 7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165" name="Group 7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168" name="Line 7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69" name="Line 8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70" name="Line 8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166" name="Line 8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67" name="Line 8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85" name="Group 173"/>
          <p:cNvGrpSpPr>
            <a:grpSpLocks/>
          </p:cNvGrpSpPr>
          <p:nvPr/>
        </p:nvGrpSpPr>
        <p:grpSpPr bwMode="auto">
          <a:xfrm flipH="1" flipV="1">
            <a:off x="7197570" y="3365915"/>
            <a:ext cx="300038" cy="114300"/>
            <a:chOff x="3228" y="1776"/>
            <a:chExt cx="252" cy="96"/>
          </a:xfrm>
        </p:grpSpPr>
        <p:sp>
          <p:nvSpPr>
            <p:cNvPr id="186" name="Line 17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7" name="Line 17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88" name="Group 176"/>
          <p:cNvGrpSpPr>
            <a:grpSpLocks/>
          </p:cNvGrpSpPr>
          <p:nvPr/>
        </p:nvGrpSpPr>
        <p:grpSpPr bwMode="auto">
          <a:xfrm flipV="1">
            <a:off x="6579636" y="3380203"/>
            <a:ext cx="221456" cy="85725"/>
            <a:chOff x="3228" y="1776"/>
            <a:chExt cx="252" cy="96"/>
          </a:xfrm>
        </p:grpSpPr>
        <p:sp>
          <p:nvSpPr>
            <p:cNvPr id="189" name="Line 177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0" name="Line 178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69" name="Freeform 236"/>
          <p:cNvSpPr>
            <a:spLocks/>
          </p:cNvSpPr>
          <p:nvPr/>
        </p:nvSpPr>
        <p:spPr bwMode="auto">
          <a:xfrm>
            <a:off x="4871089" y="1952644"/>
            <a:ext cx="2819400" cy="1854994"/>
          </a:xfrm>
          <a:custGeom>
            <a:avLst/>
            <a:gdLst>
              <a:gd name="T0" fmla="*/ 2147483646 w 2368"/>
              <a:gd name="T1" fmla="*/ 2147483646 h 1558"/>
              <a:gd name="T2" fmla="*/ 2147483646 w 2368"/>
              <a:gd name="T3" fmla="*/ 2147483646 h 1558"/>
              <a:gd name="T4" fmla="*/ 2147483646 w 2368"/>
              <a:gd name="T5" fmla="*/ 2147483646 h 1558"/>
              <a:gd name="T6" fmla="*/ 2147483646 w 2368"/>
              <a:gd name="T7" fmla="*/ 2147483646 h 1558"/>
              <a:gd name="T8" fmla="*/ 2147483646 w 2368"/>
              <a:gd name="T9" fmla="*/ 2147483646 h 1558"/>
              <a:gd name="T10" fmla="*/ 2147483646 w 2368"/>
              <a:gd name="T11" fmla="*/ 2147483646 h 1558"/>
              <a:gd name="T12" fmla="*/ 2147483646 w 2368"/>
              <a:gd name="T13" fmla="*/ 2147483646 h 1558"/>
              <a:gd name="T14" fmla="*/ 2147483646 w 2368"/>
              <a:gd name="T15" fmla="*/ 2147483646 h 1558"/>
              <a:gd name="T16" fmla="*/ 2147483646 w 2368"/>
              <a:gd name="T17" fmla="*/ 2147483646 h 1558"/>
              <a:gd name="T18" fmla="*/ 2147483646 w 2368"/>
              <a:gd name="T19" fmla="*/ 2147483646 h 1558"/>
              <a:gd name="T20" fmla="*/ 2147483646 w 2368"/>
              <a:gd name="T21" fmla="*/ 2147483646 h 1558"/>
              <a:gd name="T22" fmla="*/ 2147483646 w 2368"/>
              <a:gd name="T23" fmla="*/ 2147483646 h 1558"/>
              <a:gd name="T24" fmla="*/ 2147483646 w 2368"/>
              <a:gd name="T25" fmla="*/ 2147483646 h 1558"/>
              <a:gd name="T26" fmla="*/ 2147483646 w 2368"/>
              <a:gd name="T27" fmla="*/ 2147483646 h 1558"/>
              <a:gd name="T28" fmla="*/ 2147483646 w 2368"/>
              <a:gd name="T29" fmla="*/ 2147483646 h 1558"/>
              <a:gd name="T30" fmla="*/ 2147483646 w 2368"/>
              <a:gd name="T31" fmla="*/ 2147483646 h 1558"/>
              <a:gd name="T32" fmla="*/ 2147483646 w 2368"/>
              <a:gd name="T33" fmla="*/ 2147483646 h 1558"/>
              <a:gd name="T34" fmla="*/ 2147483646 w 2368"/>
              <a:gd name="T35" fmla="*/ 2147483646 h 1558"/>
              <a:gd name="T36" fmla="*/ 2147483646 w 2368"/>
              <a:gd name="T37" fmla="*/ 2147483646 h 1558"/>
              <a:gd name="T38" fmla="*/ 2147483646 w 2368"/>
              <a:gd name="T39" fmla="*/ 2147483646 h 1558"/>
              <a:gd name="T40" fmla="*/ 2147483646 w 2368"/>
              <a:gd name="T41" fmla="*/ 2147483646 h 1558"/>
              <a:gd name="T42" fmla="*/ 2147483646 w 2368"/>
              <a:gd name="T43" fmla="*/ 2147483646 h 1558"/>
              <a:gd name="T44" fmla="*/ 2147483646 w 2368"/>
              <a:gd name="T45" fmla="*/ 2147483646 h 1558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368" h="1558">
                <a:moveTo>
                  <a:pt x="84" y="632"/>
                </a:moveTo>
                <a:cubicBezTo>
                  <a:pt x="51" y="704"/>
                  <a:pt x="28" y="747"/>
                  <a:pt x="16" y="809"/>
                </a:cubicBezTo>
                <a:cubicBezTo>
                  <a:pt x="4" y="871"/>
                  <a:pt x="0" y="949"/>
                  <a:pt x="9" y="1005"/>
                </a:cubicBezTo>
                <a:cubicBezTo>
                  <a:pt x="18" y="1061"/>
                  <a:pt x="44" y="1087"/>
                  <a:pt x="70" y="1147"/>
                </a:cubicBezTo>
                <a:cubicBezTo>
                  <a:pt x="96" y="1207"/>
                  <a:pt x="130" y="1314"/>
                  <a:pt x="165" y="1364"/>
                </a:cubicBezTo>
                <a:cubicBezTo>
                  <a:pt x="200" y="1414"/>
                  <a:pt x="223" y="1428"/>
                  <a:pt x="280" y="1446"/>
                </a:cubicBezTo>
                <a:cubicBezTo>
                  <a:pt x="337" y="1464"/>
                  <a:pt x="397" y="1472"/>
                  <a:pt x="510" y="1473"/>
                </a:cubicBezTo>
                <a:cubicBezTo>
                  <a:pt x="623" y="1474"/>
                  <a:pt x="854" y="1457"/>
                  <a:pt x="958" y="1452"/>
                </a:cubicBezTo>
                <a:cubicBezTo>
                  <a:pt x="1062" y="1447"/>
                  <a:pt x="1065" y="1440"/>
                  <a:pt x="1134" y="1446"/>
                </a:cubicBezTo>
                <a:cubicBezTo>
                  <a:pt x="1203" y="1452"/>
                  <a:pt x="1293" y="1468"/>
                  <a:pt x="1371" y="1486"/>
                </a:cubicBezTo>
                <a:cubicBezTo>
                  <a:pt x="1449" y="1504"/>
                  <a:pt x="1495" y="1550"/>
                  <a:pt x="1601" y="1554"/>
                </a:cubicBezTo>
                <a:cubicBezTo>
                  <a:pt x="1707" y="1558"/>
                  <a:pt x="1893" y="1556"/>
                  <a:pt x="2008" y="1513"/>
                </a:cubicBezTo>
                <a:cubicBezTo>
                  <a:pt x="2123" y="1470"/>
                  <a:pt x="2236" y="1409"/>
                  <a:pt x="2293" y="1297"/>
                </a:cubicBezTo>
                <a:cubicBezTo>
                  <a:pt x="2350" y="1185"/>
                  <a:pt x="2339" y="950"/>
                  <a:pt x="2347" y="843"/>
                </a:cubicBezTo>
                <a:cubicBezTo>
                  <a:pt x="2355" y="736"/>
                  <a:pt x="2368" y="717"/>
                  <a:pt x="2340" y="653"/>
                </a:cubicBezTo>
                <a:cubicBezTo>
                  <a:pt x="2312" y="589"/>
                  <a:pt x="2247" y="537"/>
                  <a:pt x="2177" y="456"/>
                </a:cubicBezTo>
                <a:cubicBezTo>
                  <a:pt x="2107" y="375"/>
                  <a:pt x="2016" y="235"/>
                  <a:pt x="1920" y="165"/>
                </a:cubicBezTo>
                <a:cubicBezTo>
                  <a:pt x="1824" y="95"/>
                  <a:pt x="1716" y="61"/>
                  <a:pt x="1601" y="36"/>
                </a:cubicBezTo>
                <a:cubicBezTo>
                  <a:pt x="1486" y="11"/>
                  <a:pt x="1343" y="0"/>
                  <a:pt x="1229" y="16"/>
                </a:cubicBezTo>
                <a:cubicBezTo>
                  <a:pt x="1115" y="32"/>
                  <a:pt x="1042" y="90"/>
                  <a:pt x="917" y="131"/>
                </a:cubicBezTo>
                <a:cubicBezTo>
                  <a:pt x="792" y="172"/>
                  <a:pt x="595" y="219"/>
                  <a:pt x="477" y="260"/>
                </a:cubicBezTo>
                <a:cubicBezTo>
                  <a:pt x="359" y="301"/>
                  <a:pt x="280" y="311"/>
                  <a:pt x="212" y="375"/>
                </a:cubicBezTo>
                <a:cubicBezTo>
                  <a:pt x="144" y="439"/>
                  <a:pt x="117" y="560"/>
                  <a:pt x="84" y="632"/>
                </a:cubicBezTo>
                <a:close/>
              </a:path>
            </a:pathLst>
          </a:custGeom>
          <a:solidFill>
            <a:srgbClr val="00CCFF">
              <a:alpha val="86000"/>
            </a:srgbClr>
          </a:solidFill>
          <a:ln>
            <a:noFill/>
          </a:ln>
          <a:effectLst/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5.7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总结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: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自底向上回顾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一次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请求所要做的工作：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继续准备</a:t>
            </a: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路由选择到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DNS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服务器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(14) DNS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查询到达网关路由器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(15) Comcast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网络路由器们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(16) DNS Server</a:t>
            </a:r>
            <a:r>
              <a:rPr lang="zh-CN" altLang="en-US" dirty="0">
                <a:solidFill>
                  <a:srgbClr val="0066CC"/>
                </a:solidFill>
              </a:rPr>
              <a:t>收到查询报文</a:t>
            </a: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DNS</a:t>
            </a:r>
            <a:r>
              <a:rPr lang="zh-CN" altLang="en-US" dirty="0">
                <a:solidFill>
                  <a:srgbClr val="0066CC"/>
                </a:solidFill>
              </a:rPr>
              <a:t>缓存中没有记录</a:t>
            </a:r>
            <a:endParaRPr lang="en-US" altLang="zh-CN" dirty="0">
              <a:solidFill>
                <a:srgbClr val="0066CC"/>
              </a:solidFill>
            </a:endParaRPr>
          </a:p>
          <a:p>
            <a:pPr lvl="4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向上级</a:t>
            </a:r>
            <a:r>
              <a:rPr lang="en-US" altLang="zh-CN" dirty="0">
                <a:solidFill>
                  <a:srgbClr val="0066CC"/>
                </a:solidFill>
              </a:rPr>
              <a:t>DNS</a:t>
            </a:r>
            <a:r>
              <a:rPr lang="zh-CN" altLang="en-US" dirty="0">
                <a:solidFill>
                  <a:srgbClr val="0066CC"/>
                </a:solidFill>
              </a:rPr>
              <a:t>迭代</a:t>
            </a:r>
            <a:r>
              <a:rPr lang="en-US" altLang="zh-CN" dirty="0">
                <a:solidFill>
                  <a:srgbClr val="0066CC"/>
                </a:solidFill>
              </a:rPr>
              <a:t>{</a:t>
            </a:r>
            <a:r>
              <a:rPr lang="zh-CN" altLang="en-US" dirty="0">
                <a:solidFill>
                  <a:srgbClr val="0066CC"/>
                </a:solidFill>
              </a:rPr>
              <a:t>递归</a:t>
            </a:r>
            <a:r>
              <a:rPr lang="en-US" altLang="zh-CN" dirty="0">
                <a:solidFill>
                  <a:srgbClr val="0066CC"/>
                </a:solidFill>
              </a:rPr>
              <a:t>}</a:t>
            </a:r>
            <a:r>
              <a:rPr lang="zh-CN" altLang="en-US" dirty="0">
                <a:solidFill>
                  <a:srgbClr val="0066CC"/>
                </a:solidFill>
              </a:rPr>
              <a:t>查询</a:t>
            </a: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DNS</a:t>
            </a:r>
            <a:r>
              <a:rPr lang="zh-CN" altLang="en-US" dirty="0">
                <a:solidFill>
                  <a:srgbClr val="0066CC"/>
                </a:solidFill>
              </a:rPr>
              <a:t>缓存中有记录</a:t>
            </a:r>
            <a:endParaRPr lang="en-US" altLang="zh-CN" dirty="0">
              <a:solidFill>
                <a:srgbClr val="0066CC"/>
              </a:solidFill>
            </a:endParaRPr>
          </a:p>
          <a:p>
            <a:pPr lvl="4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封装</a:t>
            </a:r>
            <a:r>
              <a:rPr lang="en-US" altLang="zh-CN" dirty="0">
                <a:solidFill>
                  <a:srgbClr val="0066CC"/>
                </a:solidFill>
              </a:rPr>
              <a:t>DNS</a:t>
            </a:r>
            <a:r>
              <a:rPr lang="zh-CN" altLang="en-US" dirty="0">
                <a:solidFill>
                  <a:srgbClr val="0066CC"/>
                </a:solidFill>
              </a:rPr>
              <a:t>回答报文</a:t>
            </a:r>
            <a:endParaRPr lang="en-US" altLang="zh-CN" dirty="0">
              <a:solidFill>
                <a:srgbClr val="0066CC"/>
              </a:solidFill>
            </a:endParaRPr>
          </a:p>
          <a:p>
            <a:pPr lvl="4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通过网络交付</a:t>
            </a: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</p:txBody>
      </p:sp>
      <p:grpSp>
        <p:nvGrpSpPr>
          <p:cNvPr id="143" name="Group 19"/>
          <p:cNvGrpSpPr>
            <a:grpSpLocks/>
          </p:cNvGrpSpPr>
          <p:nvPr/>
        </p:nvGrpSpPr>
        <p:grpSpPr bwMode="auto">
          <a:xfrm>
            <a:off x="6211733" y="2763459"/>
            <a:ext cx="567928" cy="284560"/>
            <a:chOff x="2466" y="2026"/>
            <a:chExt cx="477" cy="282"/>
          </a:xfrm>
        </p:grpSpPr>
        <p:sp>
          <p:nvSpPr>
            <p:cNvPr id="144" name="Oval 2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sp>
          <p:nvSpPr>
            <p:cNvPr id="145" name="Line 2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46" name="Rectangle 2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47" name="Oval 2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grpSp>
          <p:nvGrpSpPr>
            <p:cNvPr id="148" name="Group 2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155" name="Line 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56" name="Line 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57" name="Line 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149" name="Group 2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152" name="Line 2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53" name="Line 3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54" name="Line 3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150" name="Line 3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51" name="Line 3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158" name="Text Box 34"/>
          <p:cNvSpPr txBox="1">
            <a:spLocks noChangeArrowheads="1"/>
          </p:cNvSpPr>
          <p:nvPr/>
        </p:nvSpPr>
        <p:spPr bwMode="auto">
          <a:xfrm>
            <a:off x="5309239" y="3306384"/>
            <a:ext cx="14141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Comcast network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68.80.0.0/13</a:t>
            </a:r>
          </a:p>
        </p:txBody>
      </p:sp>
      <p:sp>
        <p:nvSpPr>
          <p:cNvPr id="174" name="Line 93"/>
          <p:cNvSpPr>
            <a:spLocks noChangeShapeType="1"/>
          </p:cNvSpPr>
          <p:nvPr/>
        </p:nvSpPr>
        <p:spPr bwMode="auto">
          <a:xfrm flipH="1">
            <a:off x="6493910" y="2569387"/>
            <a:ext cx="195263" cy="19407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75" name="Text Box 139"/>
          <p:cNvSpPr txBox="1">
            <a:spLocks noChangeArrowheads="1"/>
          </p:cNvSpPr>
          <p:nvPr/>
        </p:nvSpPr>
        <p:spPr bwMode="auto">
          <a:xfrm>
            <a:off x="6833239" y="1982409"/>
            <a:ext cx="9781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DNS server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91" name="Group 179"/>
          <p:cNvGrpSpPr>
            <a:grpSpLocks/>
          </p:cNvGrpSpPr>
          <p:nvPr/>
        </p:nvGrpSpPr>
        <p:grpSpPr bwMode="auto">
          <a:xfrm rot="409689" flipH="1" flipV="1">
            <a:off x="6783233" y="2887284"/>
            <a:ext cx="339328" cy="42863"/>
            <a:chOff x="3228" y="1776"/>
            <a:chExt cx="252" cy="96"/>
          </a:xfrm>
        </p:grpSpPr>
        <p:sp>
          <p:nvSpPr>
            <p:cNvPr id="192" name="Line 180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3" name="Line 181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94" name="Group 182"/>
          <p:cNvGrpSpPr>
            <a:grpSpLocks/>
          </p:cNvGrpSpPr>
          <p:nvPr/>
        </p:nvGrpSpPr>
        <p:grpSpPr bwMode="auto">
          <a:xfrm>
            <a:off x="6140296" y="3040875"/>
            <a:ext cx="221456" cy="85725"/>
            <a:chOff x="3228" y="1776"/>
            <a:chExt cx="252" cy="96"/>
          </a:xfrm>
        </p:grpSpPr>
        <p:sp>
          <p:nvSpPr>
            <p:cNvPr id="195" name="Line 183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6" name="Line 184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97" name="Group 185"/>
          <p:cNvGrpSpPr>
            <a:grpSpLocks/>
          </p:cNvGrpSpPr>
          <p:nvPr/>
        </p:nvGrpSpPr>
        <p:grpSpPr bwMode="auto">
          <a:xfrm flipH="1">
            <a:off x="6618927" y="3040875"/>
            <a:ext cx="221456" cy="85725"/>
            <a:chOff x="3228" y="1776"/>
            <a:chExt cx="252" cy="96"/>
          </a:xfrm>
        </p:grpSpPr>
        <p:sp>
          <p:nvSpPr>
            <p:cNvPr id="198" name="Line 186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9" name="Line 187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245" name="Group 248"/>
          <p:cNvGrpSpPr>
            <a:grpSpLocks/>
          </p:cNvGrpSpPr>
          <p:nvPr/>
        </p:nvGrpSpPr>
        <p:grpSpPr bwMode="auto">
          <a:xfrm>
            <a:off x="6670123" y="2145526"/>
            <a:ext cx="279797" cy="515540"/>
            <a:chOff x="4140" y="429"/>
            <a:chExt cx="1425" cy="2396"/>
          </a:xfrm>
        </p:grpSpPr>
        <p:sp>
          <p:nvSpPr>
            <p:cNvPr id="246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7" name="Rectangle 149"/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48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9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0" name="Rectangle 152"/>
            <p:cNvSpPr>
              <a:spLocks noChangeArrowheads="1"/>
            </p:cNvSpPr>
            <p:nvPr/>
          </p:nvSpPr>
          <p:spPr bwMode="auto">
            <a:xfrm>
              <a:off x="4213" y="695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grpSp>
          <p:nvGrpSpPr>
            <p:cNvPr id="251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76" name="AutoShape 154"/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77" name="AutoShape 155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6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52" name="Rectangle 156"/>
            <p:cNvSpPr>
              <a:spLocks noChangeArrowheads="1"/>
            </p:cNvSpPr>
            <p:nvPr/>
          </p:nvSpPr>
          <p:spPr bwMode="auto">
            <a:xfrm>
              <a:off x="4225" y="1021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grpSp>
          <p:nvGrpSpPr>
            <p:cNvPr id="253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74" name="AutoShape 158"/>
              <p:cNvSpPr>
                <a:spLocks noChangeArrowheads="1"/>
              </p:cNvSpPr>
              <p:nvPr/>
            </p:nvSpPr>
            <p:spPr bwMode="auto">
              <a:xfrm>
                <a:off x="613" y="2567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75" name="AutoShape 159"/>
              <p:cNvSpPr>
                <a:spLocks noChangeArrowheads="1"/>
              </p:cNvSpPr>
              <p:nvPr/>
            </p:nvSpPr>
            <p:spPr bwMode="auto">
              <a:xfrm>
                <a:off x="628" y="2585"/>
                <a:ext cx="696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54" name="Rectangle 160"/>
            <p:cNvSpPr>
              <a:spLocks noChangeArrowheads="1"/>
            </p:cNvSpPr>
            <p:nvPr/>
          </p:nvSpPr>
          <p:spPr bwMode="auto">
            <a:xfrm>
              <a:off x="4219" y="1359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55" name="Rectangle 161"/>
            <p:cNvSpPr>
              <a:spLocks noChangeArrowheads="1"/>
            </p:cNvSpPr>
            <p:nvPr/>
          </p:nvSpPr>
          <p:spPr bwMode="auto">
            <a:xfrm>
              <a:off x="4231" y="1657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grpSp>
          <p:nvGrpSpPr>
            <p:cNvPr id="256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72" name="AutoShape 163"/>
              <p:cNvSpPr>
                <a:spLocks noChangeArrowheads="1"/>
              </p:cNvSpPr>
              <p:nvPr/>
            </p:nvSpPr>
            <p:spPr bwMode="auto">
              <a:xfrm>
                <a:off x="613" y="2581"/>
                <a:ext cx="725" cy="12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73" name="AutoShape 164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57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58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70" name="AutoShape 167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5" cy="13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71" name="AutoShape 168"/>
              <p:cNvSpPr>
                <a:spLocks noChangeArrowheads="1"/>
              </p:cNvSpPr>
              <p:nvPr/>
            </p:nvSpPr>
            <p:spPr bwMode="auto">
              <a:xfrm>
                <a:off x="631" y="2583"/>
                <a:ext cx="695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59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7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60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1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2" name="Oval 172"/>
            <p:cNvSpPr>
              <a:spLocks noChangeArrowheads="1"/>
            </p:cNvSpPr>
            <p:nvPr/>
          </p:nvSpPr>
          <p:spPr bwMode="auto">
            <a:xfrm>
              <a:off x="5516" y="2609"/>
              <a:ext cx="49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63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4" name="AutoShape 174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65" name="AutoShape 175"/>
            <p:cNvSpPr>
              <a:spLocks noChangeArrowheads="1"/>
            </p:cNvSpPr>
            <p:nvPr/>
          </p:nvSpPr>
          <p:spPr bwMode="auto">
            <a:xfrm>
              <a:off x="4207" y="2709"/>
              <a:ext cx="1067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66" name="Oval 176"/>
            <p:cNvSpPr>
              <a:spLocks noChangeArrowheads="1"/>
            </p:cNvSpPr>
            <p:nvPr/>
          </p:nvSpPr>
          <p:spPr bwMode="auto">
            <a:xfrm>
              <a:off x="4310" y="2382"/>
              <a:ext cx="158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67" name="Oval 177"/>
            <p:cNvSpPr>
              <a:spLocks noChangeArrowheads="1"/>
            </p:cNvSpPr>
            <p:nvPr/>
          </p:nvSpPr>
          <p:spPr bwMode="auto">
            <a:xfrm>
              <a:off x="4486" y="2382"/>
              <a:ext cx="158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68" name="Oval 178"/>
            <p:cNvSpPr>
              <a:spLocks noChangeArrowheads="1"/>
            </p:cNvSpPr>
            <p:nvPr/>
          </p:nvSpPr>
          <p:spPr bwMode="auto">
            <a:xfrm>
              <a:off x="4661" y="2382"/>
              <a:ext cx="158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69" name="Rectangle 179"/>
            <p:cNvSpPr>
              <a:spLocks noChangeArrowheads="1"/>
            </p:cNvSpPr>
            <p:nvPr/>
          </p:nvSpPr>
          <p:spPr bwMode="auto">
            <a:xfrm>
              <a:off x="5062" y="1835"/>
              <a:ext cx="85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128" name="Group 4"/>
          <p:cNvGrpSpPr>
            <a:grpSpLocks/>
          </p:cNvGrpSpPr>
          <p:nvPr/>
        </p:nvGrpSpPr>
        <p:grpSpPr bwMode="auto">
          <a:xfrm>
            <a:off x="5187795" y="2953959"/>
            <a:ext cx="567928" cy="284560"/>
            <a:chOff x="2466" y="2026"/>
            <a:chExt cx="477" cy="282"/>
          </a:xfrm>
        </p:grpSpPr>
        <p:sp>
          <p:nvSpPr>
            <p:cNvPr id="129" name="Oval 5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sp>
          <p:nvSpPr>
            <p:cNvPr id="130" name="Line 6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31" name="Rectangle 7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32" name="Oval 8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grpSp>
          <p:nvGrpSpPr>
            <p:cNvPr id="133" name="Group 9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140" name="Line 1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41" name="Line 1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42" name="Line 1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134" name="Group 13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137" name="Line 1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38" name="Line 1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39" name="Line 1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135" name="Line 17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36" name="Line 18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79" name="Group 167"/>
          <p:cNvGrpSpPr>
            <a:grpSpLocks/>
          </p:cNvGrpSpPr>
          <p:nvPr/>
        </p:nvGrpSpPr>
        <p:grpSpPr bwMode="auto">
          <a:xfrm flipH="1">
            <a:off x="5508073" y="3240900"/>
            <a:ext cx="300038" cy="114300"/>
            <a:chOff x="3228" y="1776"/>
            <a:chExt cx="252" cy="96"/>
          </a:xfrm>
        </p:grpSpPr>
        <p:sp>
          <p:nvSpPr>
            <p:cNvPr id="180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1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82" name="Group 170"/>
          <p:cNvGrpSpPr>
            <a:grpSpLocks/>
          </p:cNvGrpSpPr>
          <p:nvPr/>
        </p:nvGrpSpPr>
        <p:grpSpPr bwMode="auto">
          <a:xfrm flipH="1" flipV="1">
            <a:off x="5622373" y="2847994"/>
            <a:ext cx="300038" cy="114300"/>
            <a:chOff x="3228" y="1776"/>
            <a:chExt cx="252" cy="96"/>
          </a:xfrm>
        </p:grpSpPr>
        <p:sp>
          <p:nvSpPr>
            <p:cNvPr id="183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4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220" name="Group 187"/>
          <p:cNvGrpSpPr>
            <a:grpSpLocks/>
          </p:cNvGrpSpPr>
          <p:nvPr/>
        </p:nvGrpSpPr>
        <p:grpSpPr bwMode="auto">
          <a:xfrm>
            <a:off x="5894494" y="1762555"/>
            <a:ext cx="987028" cy="1015604"/>
            <a:chOff x="931" y="1941"/>
            <a:chExt cx="829" cy="853"/>
          </a:xfrm>
        </p:grpSpPr>
        <p:sp>
          <p:nvSpPr>
            <p:cNvPr id="221" name="Freeform 188"/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28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222" name="Group 189"/>
            <p:cNvGrpSpPr>
              <a:grpSpLocks/>
            </p:cNvGrpSpPr>
            <p:nvPr/>
          </p:nvGrpSpPr>
          <p:grpSpPr bwMode="auto">
            <a:xfrm>
              <a:off x="931" y="1941"/>
              <a:ext cx="500" cy="853"/>
              <a:chOff x="569" y="2954"/>
              <a:chExt cx="500" cy="853"/>
            </a:xfrm>
          </p:grpSpPr>
          <p:sp>
            <p:nvSpPr>
              <p:cNvPr id="223" name="Rectangle 190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24" name="Text Box 191"/>
              <p:cNvSpPr txBox="1">
                <a:spLocks noChangeArrowheads="1"/>
              </p:cNvSpPr>
              <p:nvPr/>
            </p:nvSpPr>
            <p:spPr bwMode="auto">
              <a:xfrm>
                <a:off x="617" y="2954"/>
                <a:ext cx="427" cy="8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latin typeface="Arial" panose="020B0604020202020204" pitchFamily="34" charset="0"/>
                  </a:rPr>
                  <a:t>DNS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latin typeface="Arial" panose="020B0604020202020204" pitchFamily="34" charset="0"/>
                  </a:rPr>
                  <a:t>UDP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latin typeface="Arial" panose="020B0604020202020204" pitchFamily="34" charset="0"/>
                  </a:rPr>
                  <a:t>IP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latin typeface="Arial" panose="020B0604020202020204" pitchFamily="34" charset="0"/>
                  </a:rPr>
                  <a:t>Eth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latin typeface="Arial" panose="020B0604020202020204" pitchFamily="34" charset="0"/>
                  </a:rPr>
                  <a:t>Phy</a:t>
                </a:r>
              </a:p>
            </p:txBody>
          </p:sp>
          <p:sp>
            <p:nvSpPr>
              <p:cNvPr id="225" name="Line 192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226" name="Line 193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227" name="Line 194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228" name="Line 195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229" name="Group 196"/>
          <p:cNvGrpSpPr>
            <a:grpSpLocks/>
          </p:cNvGrpSpPr>
          <p:nvPr/>
        </p:nvGrpSpPr>
        <p:grpSpPr bwMode="auto">
          <a:xfrm>
            <a:off x="5070582" y="1853041"/>
            <a:ext cx="810815" cy="913210"/>
            <a:chOff x="1404" y="3105"/>
            <a:chExt cx="681" cy="767"/>
          </a:xfrm>
        </p:grpSpPr>
        <p:grpSp>
          <p:nvGrpSpPr>
            <p:cNvPr id="230" name="Group 197"/>
            <p:cNvGrpSpPr>
              <a:grpSpLocks/>
            </p:cNvGrpSpPr>
            <p:nvPr/>
          </p:nvGrpSpPr>
          <p:grpSpPr bwMode="auto">
            <a:xfrm>
              <a:off x="1404" y="3355"/>
              <a:ext cx="681" cy="488"/>
              <a:chOff x="42" y="886"/>
              <a:chExt cx="681" cy="488"/>
            </a:xfrm>
          </p:grpSpPr>
          <p:grpSp>
            <p:nvGrpSpPr>
              <p:cNvPr id="235" name="Group 198"/>
              <p:cNvGrpSpPr>
                <a:grpSpLocks/>
              </p:cNvGrpSpPr>
              <p:nvPr/>
            </p:nvGrpSpPr>
            <p:grpSpPr bwMode="auto">
              <a:xfrm>
                <a:off x="278" y="886"/>
                <a:ext cx="379" cy="174"/>
                <a:chOff x="740" y="3209"/>
                <a:chExt cx="379" cy="174"/>
              </a:xfrm>
            </p:grpSpPr>
            <p:grpSp>
              <p:nvGrpSpPr>
                <p:cNvPr id="323" name="Group 199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25" cy="174"/>
                  <a:chOff x="844" y="3337"/>
                  <a:chExt cx="325" cy="174"/>
                </a:xfrm>
              </p:grpSpPr>
              <p:sp>
                <p:nvSpPr>
                  <p:cNvPr id="326" name="Rectangle 200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327" name="Text Box 20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750">
                        <a:solidFill>
                          <a:schemeClr val="bg1"/>
                        </a:solidFill>
                        <a:latin typeface="Arial" panose="020B0604020202020204" pitchFamily="34" charset="0"/>
                      </a:rPr>
                      <a:t>DNS</a:t>
                    </a:r>
                  </a:p>
                </p:txBody>
              </p:sp>
            </p:grpSp>
            <p:sp>
              <p:nvSpPr>
                <p:cNvPr id="324" name="Rectangle 202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325" name="Rectangle 203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latin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236" name="Group 204"/>
              <p:cNvGrpSpPr>
                <a:grpSpLocks/>
              </p:cNvGrpSpPr>
              <p:nvPr/>
            </p:nvGrpSpPr>
            <p:grpSpPr bwMode="auto">
              <a:xfrm>
                <a:off x="278" y="1034"/>
                <a:ext cx="379" cy="174"/>
                <a:chOff x="836" y="3305"/>
                <a:chExt cx="379" cy="174"/>
              </a:xfrm>
            </p:grpSpPr>
            <p:grpSp>
              <p:nvGrpSpPr>
                <p:cNvPr id="317" name="Group 205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74"/>
                  <a:chOff x="844" y="3337"/>
                  <a:chExt cx="325" cy="174"/>
                </a:xfrm>
              </p:grpSpPr>
              <p:sp>
                <p:nvSpPr>
                  <p:cNvPr id="321" name="Rectangle 206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322" name="Text Box 20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750">
                        <a:solidFill>
                          <a:schemeClr val="bg1"/>
                        </a:solidFill>
                        <a:latin typeface="Arial" panose="020B0604020202020204" pitchFamily="34" charset="0"/>
                      </a:rPr>
                      <a:t>DNS</a:t>
                    </a:r>
                  </a:p>
                </p:txBody>
              </p:sp>
            </p:grpSp>
            <p:grpSp>
              <p:nvGrpSpPr>
                <p:cNvPr id="318" name="Group 208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319" name="Rectangle 209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320" name="Rectangle 210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latin typeface="Comic Sans MS" panose="030F0702030302020204" pitchFamily="66" charset="0"/>
                    </a:endParaRPr>
                  </a:p>
                </p:txBody>
              </p:sp>
            </p:grpSp>
          </p:grpSp>
          <p:grpSp>
            <p:nvGrpSpPr>
              <p:cNvPr id="237" name="Group 211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315" name="Rectangle 212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316" name="Rectangle 213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latin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238" name="Group 214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74"/>
                <a:chOff x="504" y="3523"/>
                <a:chExt cx="681" cy="174"/>
              </a:xfrm>
            </p:grpSpPr>
            <p:grpSp>
              <p:nvGrpSpPr>
                <p:cNvPr id="239" name="Group 215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492" cy="174"/>
                  <a:chOff x="723" y="3453"/>
                  <a:chExt cx="492" cy="174"/>
                </a:xfrm>
              </p:grpSpPr>
              <p:grpSp>
                <p:nvGrpSpPr>
                  <p:cNvPr id="243" name="Group 216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79" cy="174"/>
                    <a:chOff x="836" y="3305"/>
                    <a:chExt cx="379" cy="174"/>
                  </a:xfrm>
                </p:grpSpPr>
                <p:grpSp>
                  <p:nvGrpSpPr>
                    <p:cNvPr id="284" name="Group 21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25" cy="174"/>
                      <a:chOff x="844" y="3337"/>
                      <a:chExt cx="325" cy="174"/>
                    </a:xfrm>
                  </p:grpSpPr>
                  <p:sp>
                    <p:nvSpPr>
                      <p:cNvPr id="313" name="Rectangle 21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SzPct val="65000"/>
                          <a:buFont typeface="Wingdings" panose="05000000000000000000" pitchFamily="2" charset="2"/>
                          <a:buChar char="v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350">
                          <a:latin typeface="Comic Sans MS" panose="030F0702030302020204" pitchFamily="66" charset="0"/>
                        </a:endParaRPr>
                      </a:p>
                    </p:txBody>
                  </p:sp>
                  <p:sp>
                    <p:nvSpPr>
                      <p:cNvPr id="314" name="Text Box 219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25" cy="1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SzPct val="65000"/>
                          <a:buFont typeface="Wingdings" panose="05000000000000000000" pitchFamily="2" charset="2"/>
                          <a:buChar char="v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sz="75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</a:rPr>
                          <a:t>DNS</a:t>
                        </a:r>
                      </a:p>
                    </p:txBody>
                  </p:sp>
                </p:grpSp>
                <p:grpSp>
                  <p:nvGrpSpPr>
                    <p:cNvPr id="310" name="Group 22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311" name="Rectangle 22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SzPct val="65000"/>
                          <a:buFont typeface="Wingdings" panose="05000000000000000000" pitchFamily="2" charset="2"/>
                          <a:buChar char="v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350">
                          <a:latin typeface="Comic Sans MS" panose="030F0702030302020204" pitchFamily="66" charset="0"/>
                        </a:endParaRPr>
                      </a:p>
                    </p:txBody>
                  </p:sp>
                  <p:sp>
                    <p:nvSpPr>
                      <p:cNvPr id="312" name="Rectangle 22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SzPct val="65000"/>
                          <a:buFont typeface="Wingdings" panose="05000000000000000000" pitchFamily="2" charset="2"/>
                          <a:buChar char="v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350">
                          <a:latin typeface="Comic Sans MS" panose="030F0702030302020204" pitchFamily="66" charset="0"/>
                        </a:endParaRPr>
                      </a:p>
                    </p:txBody>
                  </p:sp>
                </p:grpSp>
              </p:grpSp>
              <p:sp>
                <p:nvSpPr>
                  <p:cNvPr id="244" name="Rectangle 223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279" name="Rectangle 224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latin typeface="Comic Sans MS" panose="030F0702030302020204" pitchFamily="66" charset="0"/>
                    </a:endParaRPr>
                  </a:p>
                </p:txBody>
              </p:sp>
            </p:grpSp>
            <p:sp>
              <p:nvSpPr>
                <p:cNvPr id="240" name="Rectangle 225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241" name="Rectangle 226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242" name="Rectangle 227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latin typeface="Comic Sans MS" panose="030F0702030302020204" pitchFamily="66" charset="0"/>
                  </a:endParaRPr>
                </a:p>
              </p:txBody>
            </p:sp>
          </p:grpSp>
        </p:grpSp>
        <p:sp>
          <p:nvSpPr>
            <p:cNvPr id="231" name="AutoShape 228"/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grpSp>
          <p:nvGrpSpPr>
            <p:cNvPr id="232" name="Group 229"/>
            <p:cNvGrpSpPr>
              <a:grpSpLocks/>
            </p:cNvGrpSpPr>
            <p:nvPr/>
          </p:nvGrpSpPr>
          <p:grpSpPr bwMode="auto">
            <a:xfrm>
              <a:off x="1695" y="3227"/>
              <a:ext cx="325" cy="174"/>
              <a:chOff x="844" y="3337"/>
              <a:chExt cx="325" cy="174"/>
            </a:xfrm>
          </p:grpSpPr>
          <p:sp>
            <p:nvSpPr>
              <p:cNvPr id="233" name="Rectangle 230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34" name="Text Box 231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750">
                    <a:solidFill>
                      <a:schemeClr val="bg1"/>
                    </a:solidFill>
                    <a:latin typeface="Arial" panose="020B0604020202020204" pitchFamily="34" charset="0"/>
                  </a:rPr>
                  <a:t>DNS</a:t>
                </a:r>
              </a:p>
            </p:txBody>
          </p:sp>
        </p:grpSp>
      </p:grpSp>
      <p:sp>
        <p:nvSpPr>
          <p:cNvPr id="176" name="灯片编号占位符 2">
            <a:extLst>
              <a:ext uri="{FF2B5EF4-FFF2-40B4-BE49-F238E27FC236}">
                <a16:creationId xmlns:a16="http://schemas.microsoft.com/office/drawing/2014/main" id="{6EC72C5F-70DE-4C17-B31D-4489F663B65D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19</a:t>
            </a:fld>
            <a:endParaRPr lang="en-US" altLang="zh-CN" dirty="0"/>
          </a:p>
        </p:txBody>
      </p:sp>
      <p:sp>
        <p:nvSpPr>
          <p:cNvPr id="177" name="AutoShape 5">
            <a:extLst>
              <a:ext uri="{FF2B5EF4-FFF2-40B4-BE49-F238E27FC236}">
                <a16:creationId xmlns:a16="http://schemas.microsoft.com/office/drawing/2014/main" id="{A2C0F180-9F62-42A0-AA68-92019E9A9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8" name="Text Box 139">
            <a:extLst>
              <a:ext uri="{FF2B5EF4-FFF2-40B4-BE49-F238E27FC236}">
                <a16:creationId xmlns:a16="http://schemas.microsoft.com/office/drawing/2014/main" id="{0D66CBDD-FA4D-41C3-9383-BF25E484B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588" y="987574"/>
            <a:ext cx="11453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Up layer</a:t>
            </a:r>
            <a:b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DNS server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200" name="Group 248">
            <a:extLst>
              <a:ext uri="{FF2B5EF4-FFF2-40B4-BE49-F238E27FC236}">
                <a16:creationId xmlns:a16="http://schemas.microsoft.com/office/drawing/2014/main" id="{27A4F598-0442-4CA5-B7CC-CB97F993310E}"/>
              </a:ext>
            </a:extLst>
          </p:cNvPr>
          <p:cNvGrpSpPr>
            <a:grpSpLocks/>
          </p:cNvGrpSpPr>
          <p:nvPr/>
        </p:nvGrpSpPr>
        <p:grpSpPr bwMode="auto">
          <a:xfrm>
            <a:off x="7726472" y="1150691"/>
            <a:ext cx="279797" cy="515540"/>
            <a:chOff x="4140" y="429"/>
            <a:chExt cx="1425" cy="2396"/>
          </a:xfrm>
        </p:grpSpPr>
        <p:sp>
          <p:nvSpPr>
            <p:cNvPr id="201" name="Freeform 148">
              <a:extLst>
                <a:ext uri="{FF2B5EF4-FFF2-40B4-BE49-F238E27FC236}">
                  <a16:creationId xmlns:a16="http://schemas.microsoft.com/office/drawing/2014/main" id="{43757227-0C13-48FD-A61F-ECE0B18275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2" name="Rectangle 149">
              <a:extLst>
                <a:ext uri="{FF2B5EF4-FFF2-40B4-BE49-F238E27FC236}">
                  <a16:creationId xmlns:a16="http://schemas.microsoft.com/office/drawing/2014/main" id="{BC55144E-E020-4174-B90D-1A8B2429C0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03" name="Freeform 150">
              <a:extLst>
                <a:ext uri="{FF2B5EF4-FFF2-40B4-BE49-F238E27FC236}">
                  <a16:creationId xmlns:a16="http://schemas.microsoft.com/office/drawing/2014/main" id="{7C8B4D6E-0B45-4436-B0F8-44DD622CF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4" name="Freeform 151">
              <a:extLst>
                <a:ext uri="{FF2B5EF4-FFF2-40B4-BE49-F238E27FC236}">
                  <a16:creationId xmlns:a16="http://schemas.microsoft.com/office/drawing/2014/main" id="{68AFD796-6C1F-41EF-B629-86CEE3339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5" name="Rectangle 152">
              <a:extLst>
                <a:ext uri="{FF2B5EF4-FFF2-40B4-BE49-F238E27FC236}">
                  <a16:creationId xmlns:a16="http://schemas.microsoft.com/office/drawing/2014/main" id="{CC34CCD8-E3DA-47FE-B2AF-3B9B21377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5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grpSp>
          <p:nvGrpSpPr>
            <p:cNvPr id="206" name="Group 153">
              <a:extLst>
                <a:ext uri="{FF2B5EF4-FFF2-40B4-BE49-F238E27FC236}">
                  <a16:creationId xmlns:a16="http://schemas.microsoft.com/office/drawing/2014/main" id="{8678FD65-3D47-4DC0-BC3C-33BA4181DE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91" name="AutoShape 154">
                <a:extLst>
                  <a:ext uri="{FF2B5EF4-FFF2-40B4-BE49-F238E27FC236}">
                    <a16:creationId xmlns:a16="http://schemas.microsoft.com/office/drawing/2014/main" id="{8DC3C4C2-AB9A-4FE2-AE3D-B3CEC3F6FA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92" name="AutoShape 155">
                <a:extLst>
                  <a:ext uri="{FF2B5EF4-FFF2-40B4-BE49-F238E27FC236}">
                    <a16:creationId xmlns:a16="http://schemas.microsoft.com/office/drawing/2014/main" id="{E09206DA-52BD-4A1E-B3D7-3399E11C1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6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07" name="Rectangle 156">
              <a:extLst>
                <a:ext uri="{FF2B5EF4-FFF2-40B4-BE49-F238E27FC236}">
                  <a16:creationId xmlns:a16="http://schemas.microsoft.com/office/drawing/2014/main" id="{AAEAC0A1-AAED-4513-99F3-3DCDF1A0A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21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grpSp>
          <p:nvGrpSpPr>
            <p:cNvPr id="208" name="Group 157">
              <a:extLst>
                <a:ext uri="{FF2B5EF4-FFF2-40B4-BE49-F238E27FC236}">
                  <a16:creationId xmlns:a16="http://schemas.microsoft.com/office/drawing/2014/main" id="{2BCC01D7-9EAE-445B-8C4E-308F958D21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89" name="AutoShape 158">
                <a:extLst>
                  <a:ext uri="{FF2B5EF4-FFF2-40B4-BE49-F238E27FC236}">
                    <a16:creationId xmlns:a16="http://schemas.microsoft.com/office/drawing/2014/main" id="{592FEC54-EE70-4122-9144-EE54F32F83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7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90" name="AutoShape 159">
                <a:extLst>
                  <a:ext uri="{FF2B5EF4-FFF2-40B4-BE49-F238E27FC236}">
                    <a16:creationId xmlns:a16="http://schemas.microsoft.com/office/drawing/2014/main" id="{48631C41-7C5A-4157-ADC4-302AE71D2C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5"/>
                <a:ext cx="696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09" name="Rectangle 160">
              <a:extLst>
                <a:ext uri="{FF2B5EF4-FFF2-40B4-BE49-F238E27FC236}">
                  <a16:creationId xmlns:a16="http://schemas.microsoft.com/office/drawing/2014/main" id="{DEB3EA5F-FD85-48D6-AB83-83463A9D7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59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10" name="Rectangle 161">
              <a:extLst>
                <a:ext uri="{FF2B5EF4-FFF2-40B4-BE49-F238E27FC236}">
                  <a16:creationId xmlns:a16="http://schemas.microsoft.com/office/drawing/2014/main" id="{6969B202-1FB7-4057-BC4F-29851B732C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1" y="1657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grpSp>
          <p:nvGrpSpPr>
            <p:cNvPr id="211" name="Group 162">
              <a:extLst>
                <a:ext uri="{FF2B5EF4-FFF2-40B4-BE49-F238E27FC236}">
                  <a16:creationId xmlns:a16="http://schemas.microsoft.com/office/drawing/2014/main" id="{D929CBFC-182A-46B5-BA38-2B851D0313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87" name="AutoShape 163">
                <a:extLst>
                  <a:ext uri="{FF2B5EF4-FFF2-40B4-BE49-F238E27FC236}">
                    <a16:creationId xmlns:a16="http://schemas.microsoft.com/office/drawing/2014/main" id="{EC706B65-FE64-44D7-A907-5A3BE0FBE6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81"/>
                <a:ext cx="725" cy="12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88" name="AutoShape 164">
                <a:extLst>
                  <a:ext uri="{FF2B5EF4-FFF2-40B4-BE49-F238E27FC236}">
                    <a16:creationId xmlns:a16="http://schemas.microsoft.com/office/drawing/2014/main" id="{CF163FB1-95C7-4632-BB6A-9C4CA99A7B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12" name="Freeform 165">
              <a:extLst>
                <a:ext uri="{FF2B5EF4-FFF2-40B4-BE49-F238E27FC236}">
                  <a16:creationId xmlns:a16="http://schemas.microsoft.com/office/drawing/2014/main" id="{1819A23E-BC59-4604-BE7B-958414A84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13" name="Group 166">
              <a:extLst>
                <a:ext uri="{FF2B5EF4-FFF2-40B4-BE49-F238E27FC236}">
                  <a16:creationId xmlns:a16="http://schemas.microsoft.com/office/drawing/2014/main" id="{ACFC70FB-984D-4B1A-8977-E9C5E089C0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85" name="AutoShape 167">
                <a:extLst>
                  <a:ext uri="{FF2B5EF4-FFF2-40B4-BE49-F238E27FC236}">
                    <a16:creationId xmlns:a16="http://schemas.microsoft.com/office/drawing/2014/main" id="{25A24598-07FB-40BA-9022-2A8905B6A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5" cy="13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86" name="AutoShape 168">
                <a:extLst>
                  <a:ext uri="{FF2B5EF4-FFF2-40B4-BE49-F238E27FC236}">
                    <a16:creationId xmlns:a16="http://schemas.microsoft.com/office/drawing/2014/main" id="{68B5F5AF-2E44-48D7-A744-CC04B0CB5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3"/>
                <a:ext cx="695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14" name="Rectangle 169">
              <a:extLst>
                <a:ext uri="{FF2B5EF4-FFF2-40B4-BE49-F238E27FC236}">
                  <a16:creationId xmlns:a16="http://schemas.microsoft.com/office/drawing/2014/main" id="{1F14E9AC-8EF0-405A-9F49-AC421204AA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7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15" name="Freeform 170">
              <a:extLst>
                <a:ext uri="{FF2B5EF4-FFF2-40B4-BE49-F238E27FC236}">
                  <a16:creationId xmlns:a16="http://schemas.microsoft.com/office/drawing/2014/main" id="{0D21143D-16CA-42B6-B1DA-555226E4D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6" name="Freeform 171">
              <a:extLst>
                <a:ext uri="{FF2B5EF4-FFF2-40B4-BE49-F238E27FC236}">
                  <a16:creationId xmlns:a16="http://schemas.microsoft.com/office/drawing/2014/main" id="{44916A58-481E-40DC-9D13-57CA3CB88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7" name="Oval 172">
              <a:extLst>
                <a:ext uri="{FF2B5EF4-FFF2-40B4-BE49-F238E27FC236}">
                  <a16:creationId xmlns:a16="http://schemas.microsoft.com/office/drawing/2014/main" id="{BC857C1F-7AC4-4EB1-AA49-C7FBEA8F8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9"/>
              <a:ext cx="49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18" name="Freeform 173">
              <a:extLst>
                <a:ext uri="{FF2B5EF4-FFF2-40B4-BE49-F238E27FC236}">
                  <a16:creationId xmlns:a16="http://schemas.microsoft.com/office/drawing/2014/main" id="{A0A7E768-B462-49E9-986A-C7BE3D0D0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9" name="AutoShape 174">
              <a:extLst>
                <a:ext uri="{FF2B5EF4-FFF2-40B4-BE49-F238E27FC236}">
                  <a16:creationId xmlns:a16="http://schemas.microsoft.com/office/drawing/2014/main" id="{5C5BFC87-28EC-440C-8B4B-17F9C3C30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78" name="AutoShape 175">
              <a:extLst>
                <a:ext uri="{FF2B5EF4-FFF2-40B4-BE49-F238E27FC236}">
                  <a16:creationId xmlns:a16="http://schemas.microsoft.com/office/drawing/2014/main" id="{44E67478-A49A-43CE-BAE3-C68C5B635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2709"/>
              <a:ext cx="1067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80" name="Oval 176">
              <a:extLst>
                <a:ext uri="{FF2B5EF4-FFF2-40B4-BE49-F238E27FC236}">
                  <a16:creationId xmlns:a16="http://schemas.microsoft.com/office/drawing/2014/main" id="{6F601128-BA43-4123-8806-5C1281070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81" name="Oval 177">
              <a:extLst>
                <a:ext uri="{FF2B5EF4-FFF2-40B4-BE49-F238E27FC236}">
                  <a16:creationId xmlns:a16="http://schemas.microsoft.com/office/drawing/2014/main" id="{8202ACFB-70A2-4478-A3A1-A563A7108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58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2" name="Oval 178">
              <a:extLst>
                <a:ext uri="{FF2B5EF4-FFF2-40B4-BE49-F238E27FC236}">
                  <a16:creationId xmlns:a16="http://schemas.microsoft.com/office/drawing/2014/main" id="{E88A31D9-E8D0-4107-A76E-033A46053A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2"/>
              <a:ext cx="158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283" name="Rectangle 179">
              <a:extLst>
                <a:ext uri="{FF2B5EF4-FFF2-40B4-BE49-F238E27FC236}">
                  <a16:creationId xmlns:a16="http://schemas.microsoft.com/office/drawing/2014/main" id="{97647B66-A131-44BC-91B3-EE38FEC19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5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latin typeface="Comic Sans MS" panose="030F0702030302020204" pitchFamily="66" charset="0"/>
              </a:endParaRPr>
            </a:p>
          </p:txBody>
        </p:sp>
      </p:grp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5344E92-CF6E-47A5-9966-2B359F5CA7E3}"/>
              </a:ext>
            </a:extLst>
          </p:cNvPr>
          <p:cNvCxnSpPr>
            <a:cxnSpLocks/>
            <a:stCxn id="276" idx="3"/>
            <a:endCxn id="202" idx="1"/>
          </p:cNvCxnSpPr>
          <p:nvPr/>
        </p:nvCxnSpPr>
        <p:spPr>
          <a:xfrm flipV="1">
            <a:off x="6903463" y="1396519"/>
            <a:ext cx="836164" cy="815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9318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/>
      <p:bldP spid="177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406"/>
          <p:cNvSpPr>
            <a:spLocks/>
          </p:cNvSpPr>
          <p:nvPr/>
        </p:nvSpPr>
        <p:spPr bwMode="auto">
          <a:xfrm>
            <a:off x="4904091" y="1429301"/>
            <a:ext cx="2838450" cy="2189354"/>
          </a:xfrm>
          <a:custGeom>
            <a:avLst/>
            <a:gdLst>
              <a:gd name="T0" fmla="*/ 2147483646 w 2453"/>
              <a:gd name="T1" fmla="*/ 2147483646 h 2011"/>
              <a:gd name="T2" fmla="*/ 2147483646 w 2453"/>
              <a:gd name="T3" fmla="*/ 2147483646 h 2011"/>
              <a:gd name="T4" fmla="*/ 2147483646 w 2453"/>
              <a:gd name="T5" fmla="*/ 2147483646 h 2011"/>
              <a:gd name="T6" fmla="*/ 2147483646 w 2453"/>
              <a:gd name="T7" fmla="*/ 2147483646 h 2011"/>
              <a:gd name="T8" fmla="*/ 2147483646 w 2453"/>
              <a:gd name="T9" fmla="*/ 2147483646 h 2011"/>
              <a:gd name="T10" fmla="*/ 2147483646 w 2453"/>
              <a:gd name="T11" fmla="*/ 2147483646 h 2011"/>
              <a:gd name="T12" fmla="*/ 2147483646 w 2453"/>
              <a:gd name="T13" fmla="*/ 2147483646 h 2011"/>
              <a:gd name="T14" fmla="*/ 2147483646 w 2453"/>
              <a:gd name="T15" fmla="*/ 2147483646 h 2011"/>
              <a:gd name="T16" fmla="*/ 2147483646 w 2453"/>
              <a:gd name="T17" fmla="*/ 2147483646 h 2011"/>
              <a:gd name="T18" fmla="*/ 2147483646 w 2453"/>
              <a:gd name="T19" fmla="*/ 2147483646 h 2011"/>
              <a:gd name="T20" fmla="*/ 2147483646 w 2453"/>
              <a:gd name="T21" fmla="*/ 2147483646 h 2011"/>
              <a:gd name="T22" fmla="*/ 2147483646 w 2453"/>
              <a:gd name="T23" fmla="*/ 2147483646 h 2011"/>
              <a:gd name="T24" fmla="*/ 2147483646 w 2453"/>
              <a:gd name="T25" fmla="*/ 2147483646 h 2011"/>
              <a:gd name="T26" fmla="*/ 2147483646 w 2453"/>
              <a:gd name="T27" fmla="*/ 2147483646 h 2011"/>
              <a:gd name="T28" fmla="*/ 2147483646 w 2453"/>
              <a:gd name="T29" fmla="*/ 2147483646 h 2011"/>
              <a:gd name="T30" fmla="*/ 2147483646 w 2453"/>
              <a:gd name="T31" fmla="*/ 2147483646 h 2011"/>
              <a:gd name="T32" fmla="*/ 2147483646 w 2453"/>
              <a:gd name="T33" fmla="*/ 2147483646 h 2011"/>
              <a:gd name="T34" fmla="*/ 2147483646 w 2453"/>
              <a:gd name="T35" fmla="*/ 2147483646 h 2011"/>
              <a:gd name="T36" fmla="*/ 2147483646 w 2453"/>
              <a:gd name="T37" fmla="*/ 2147483646 h 2011"/>
              <a:gd name="T38" fmla="*/ 2147483646 w 2453"/>
              <a:gd name="T39" fmla="*/ 2147483646 h 2011"/>
              <a:gd name="T40" fmla="*/ 2147483646 w 2453"/>
              <a:gd name="T41" fmla="*/ 2147483646 h 2011"/>
              <a:gd name="T42" fmla="*/ 2147483646 w 2453"/>
              <a:gd name="T43" fmla="*/ 2147483646 h 2011"/>
              <a:gd name="T44" fmla="*/ 2147483646 w 2453"/>
              <a:gd name="T45" fmla="*/ 2147483646 h 2011"/>
              <a:gd name="T46" fmla="*/ 2147483646 w 2453"/>
              <a:gd name="T47" fmla="*/ 2147483646 h 201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2453" h="2011">
                <a:moveTo>
                  <a:pt x="84" y="632"/>
                </a:moveTo>
                <a:cubicBezTo>
                  <a:pt x="51" y="704"/>
                  <a:pt x="28" y="747"/>
                  <a:pt x="16" y="809"/>
                </a:cubicBezTo>
                <a:cubicBezTo>
                  <a:pt x="4" y="871"/>
                  <a:pt x="0" y="949"/>
                  <a:pt x="9" y="1005"/>
                </a:cubicBezTo>
                <a:cubicBezTo>
                  <a:pt x="18" y="1061"/>
                  <a:pt x="44" y="1087"/>
                  <a:pt x="70" y="1147"/>
                </a:cubicBezTo>
                <a:cubicBezTo>
                  <a:pt x="96" y="1207"/>
                  <a:pt x="130" y="1314"/>
                  <a:pt x="165" y="1364"/>
                </a:cubicBezTo>
                <a:cubicBezTo>
                  <a:pt x="200" y="1414"/>
                  <a:pt x="216" y="1402"/>
                  <a:pt x="280" y="1446"/>
                </a:cubicBezTo>
                <a:cubicBezTo>
                  <a:pt x="344" y="1490"/>
                  <a:pt x="404" y="1587"/>
                  <a:pt x="549" y="1627"/>
                </a:cubicBezTo>
                <a:cubicBezTo>
                  <a:pt x="694" y="1667"/>
                  <a:pt x="987" y="1631"/>
                  <a:pt x="1152" y="1687"/>
                </a:cubicBezTo>
                <a:cubicBezTo>
                  <a:pt x="1317" y="1743"/>
                  <a:pt x="1455" y="1919"/>
                  <a:pt x="1542" y="1965"/>
                </a:cubicBezTo>
                <a:cubicBezTo>
                  <a:pt x="1629" y="2011"/>
                  <a:pt x="1610" y="1968"/>
                  <a:pt x="1675" y="1965"/>
                </a:cubicBezTo>
                <a:cubicBezTo>
                  <a:pt x="1740" y="1962"/>
                  <a:pt x="1816" y="1974"/>
                  <a:pt x="1933" y="1945"/>
                </a:cubicBezTo>
                <a:cubicBezTo>
                  <a:pt x="2050" y="1916"/>
                  <a:pt x="2299" y="1866"/>
                  <a:pt x="2376" y="1793"/>
                </a:cubicBezTo>
                <a:cubicBezTo>
                  <a:pt x="2453" y="1720"/>
                  <a:pt x="2410" y="1591"/>
                  <a:pt x="2396" y="1508"/>
                </a:cubicBezTo>
                <a:cubicBezTo>
                  <a:pt x="2382" y="1425"/>
                  <a:pt x="2301" y="1408"/>
                  <a:pt x="2293" y="1297"/>
                </a:cubicBezTo>
                <a:cubicBezTo>
                  <a:pt x="2285" y="1186"/>
                  <a:pt x="2339" y="950"/>
                  <a:pt x="2347" y="843"/>
                </a:cubicBezTo>
                <a:cubicBezTo>
                  <a:pt x="2355" y="736"/>
                  <a:pt x="2368" y="717"/>
                  <a:pt x="2340" y="653"/>
                </a:cubicBezTo>
                <a:cubicBezTo>
                  <a:pt x="2312" y="589"/>
                  <a:pt x="2247" y="537"/>
                  <a:pt x="2177" y="456"/>
                </a:cubicBezTo>
                <a:cubicBezTo>
                  <a:pt x="2107" y="375"/>
                  <a:pt x="2016" y="235"/>
                  <a:pt x="1920" y="165"/>
                </a:cubicBezTo>
                <a:cubicBezTo>
                  <a:pt x="1824" y="95"/>
                  <a:pt x="1716" y="61"/>
                  <a:pt x="1601" y="36"/>
                </a:cubicBezTo>
                <a:cubicBezTo>
                  <a:pt x="1486" y="11"/>
                  <a:pt x="1343" y="0"/>
                  <a:pt x="1229" y="16"/>
                </a:cubicBezTo>
                <a:cubicBezTo>
                  <a:pt x="1115" y="32"/>
                  <a:pt x="1042" y="90"/>
                  <a:pt x="917" y="131"/>
                </a:cubicBezTo>
                <a:cubicBezTo>
                  <a:pt x="792" y="172"/>
                  <a:pt x="595" y="219"/>
                  <a:pt x="477" y="260"/>
                </a:cubicBezTo>
                <a:cubicBezTo>
                  <a:pt x="359" y="301"/>
                  <a:pt x="280" y="311"/>
                  <a:pt x="212" y="375"/>
                </a:cubicBezTo>
                <a:cubicBezTo>
                  <a:pt x="144" y="439"/>
                  <a:pt x="117" y="560"/>
                  <a:pt x="84" y="632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42" name="Line 43"/>
          <p:cNvSpPr>
            <a:spLocks noChangeShapeType="1"/>
          </p:cNvSpPr>
          <p:nvPr/>
        </p:nvSpPr>
        <p:spPr bwMode="auto">
          <a:xfrm flipV="1">
            <a:off x="3136014" y="2582812"/>
            <a:ext cx="52149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3" name="Line 44"/>
          <p:cNvSpPr>
            <a:spLocks noChangeShapeType="1"/>
          </p:cNvSpPr>
          <p:nvPr/>
        </p:nvSpPr>
        <p:spPr bwMode="auto">
          <a:xfrm flipV="1">
            <a:off x="4080179" y="2345878"/>
            <a:ext cx="103585" cy="107156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0" name="Text Box 137"/>
          <p:cNvSpPr txBox="1">
            <a:spLocks noChangeArrowheads="1"/>
          </p:cNvSpPr>
          <p:nvPr/>
        </p:nvSpPr>
        <p:spPr bwMode="auto">
          <a:xfrm>
            <a:off x="2737154" y="4659262"/>
            <a:ext cx="124906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t>64.233.169.105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5.7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总结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: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自底向上回顾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87574"/>
            <a:ext cx="6793951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一次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请求所要做的工作：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Whole picture</a:t>
            </a: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sp>
        <p:nvSpPr>
          <p:cNvPr id="9" name="Freeform 3"/>
          <p:cNvSpPr>
            <a:spLocks/>
          </p:cNvSpPr>
          <p:nvPr/>
        </p:nvSpPr>
        <p:spPr bwMode="auto">
          <a:xfrm>
            <a:off x="1716788" y="1649362"/>
            <a:ext cx="2665809" cy="2065735"/>
          </a:xfrm>
          <a:custGeom>
            <a:avLst/>
            <a:gdLst>
              <a:gd name="T0" fmla="*/ 2147483646 w 2406"/>
              <a:gd name="T1" fmla="*/ 2147483646 h 958"/>
              <a:gd name="T2" fmla="*/ 2147483646 w 2406"/>
              <a:gd name="T3" fmla="*/ 2147483646 h 958"/>
              <a:gd name="T4" fmla="*/ 2147483646 w 2406"/>
              <a:gd name="T5" fmla="*/ 2147483646 h 958"/>
              <a:gd name="T6" fmla="*/ 2147483646 w 2406"/>
              <a:gd name="T7" fmla="*/ 2147483646 h 958"/>
              <a:gd name="T8" fmla="*/ 2147483646 w 2406"/>
              <a:gd name="T9" fmla="*/ 2147483646 h 958"/>
              <a:gd name="T10" fmla="*/ 2147483646 w 2406"/>
              <a:gd name="T11" fmla="*/ 2147483646 h 958"/>
              <a:gd name="T12" fmla="*/ 2147483646 w 2406"/>
              <a:gd name="T13" fmla="*/ 2147483646 h 958"/>
              <a:gd name="T14" fmla="*/ 2147483646 w 2406"/>
              <a:gd name="T15" fmla="*/ 2147483646 h 958"/>
              <a:gd name="T16" fmla="*/ 2147483646 w 2406"/>
              <a:gd name="T17" fmla="*/ 2147483646 h 958"/>
              <a:gd name="T18" fmla="*/ 2147483646 w 2406"/>
              <a:gd name="T19" fmla="*/ 2147483646 h 958"/>
              <a:gd name="T20" fmla="*/ 2147483646 w 2406"/>
              <a:gd name="T21" fmla="*/ 2147483646 h 958"/>
              <a:gd name="T22" fmla="*/ 2147483646 w 2406"/>
              <a:gd name="T23" fmla="*/ 2147483646 h 958"/>
              <a:gd name="T24" fmla="*/ 2147483646 w 2406"/>
              <a:gd name="T25" fmla="*/ 2147483646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80" name="Freeform 94"/>
          <p:cNvSpPr>
            <a:spLocks/>
          </p:cNvSpPr>
          <p:nvPr/>
        </p:nvSpPr>
        <p:spPr bwMode="auto">
          <a:xfrm>
            <a:off x="2075166" y="3804393"/>
            <a:ext cx="4814888" cy="1215629"/>
          </a:xfrm>
          <a:custGeom>
            <a:avLst/>
            <a:gdLst>
              <a:gd name="T0" fmla="*/ 2147483646 w 2406"/>
              <a:gd name="T1" fmla="*/ 2147483646 h 958"/>
              <a:gd name="T2" fmla="*/ 2147483646 w 2406"/>
              <a:gd name="T3" fmla="*/ 2147483646 h 958"/>
              <a:gd name="T4" fmla="*/ 2147483646 w 2406"/>
              <a:gd name="T5" fmla="*/ 2147483646 h 958"/>
              <a:gd name="T6" fmla="*/ 2147483646 w 2406"/>
              <a:gd name="T7" fmla="*/ 2147483646 h 958"/>
              <a:gd name="T8" fmla="*/ 2147483646 w 2406"/>
              <a:gd name="T9" fmla="*/ 2147483646 h 958"/>
              <a:gd name="T10" fmla="*/ 2147483646 w 2406"/>
              <a:gd name="T11" fmla="*/ 2147483646 h 958"/>
              <a:gd name="T12" fmla="*/ 2147483646 w 2406"/>
              <a:gd name="T13" fmla="*/ 2147483646 h 958"/>
              <a:gd name="T14" fmla="*/ 2147483646 w 2406"/>
              <a:gd name="T15" fmla="*/ 2147483646 h 958"/>
              <a:gd name="T16" fmla="*/ 2147483646 w 2406"/>
              <a:gd name="T17" fmla="*/ 2147483646 h 958"/>
              <a:gd name="T18" fmla="*/ 2147483646 w 2406"/>
              <a:gd name="T19" fmla="*/ 2147483646 h 958"/>
              <a:gd name="T20" fmla="*/ 2147483646 w 2406"/>
              <a:gd name="T21" fmla="*/ 2147483646 h 958"/>
              <a:gd name="T22" fmla="*/ 2147483646 w 2406"/>
              <a:gd name="T23" fmla="*/ 2147483646 h 958"/>
              <a:gd name="T24" fmla="*/ 2147483646 w 2406"/>
              <a:gd name="T25" fmla="*/ 2147483646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pSp>
        <p:nvGrpSpPr>
          <p:cNvPr id="82" name="Group 110"/>
          <p:cNvGrpSpPr>
            <a:grpSpLocks/>
          </p:cNvGrpSpPr>
          <p:nvPr/>
        </p:nvGrpSpPr>
        <p:grpSpPr bwMode="auto">
          <a:xfrm>
            <a:off x="4277822" y="4237781"/>
            <a:ext cx="567929" cy="284560"/>
            <a:chOff x="2466" y="2026"/>
            <a:chExt cx="477" cy="282"/>
          </a:xfrm>
        </p:grpSpPr>
        <p:sp>
          <p:nvSpPr>
            <p:cNvPr id="83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4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5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6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87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94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5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6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88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91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2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3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89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0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97" name="Line 134"/>
          <p:cNvSpPr>
            <a:spLocks noChangeShapeType="1"/>
          </p:cNvSpPr>
          <p:nvPr/>
        </p:nvSpPr>
        <p:spPr bwMode="auto">
          <a:xfrm flipV="1">
            <a:off x="4618341" y="3000722"/>
            <a:ext cx="881063" cy="1238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99" name="Line 136"/>
          <p:cNvSpPr>
            <a:spLocks noChangeShapeType="1"/>
          </p:cNvSpPr>
          <p:nvPr/>
        </p:nvSpPr>
        <p:spPr bwMode="auto">
          <a:xfrm flipV="1">
            <a:off x="3552733" y="4365178"/>
            <a:ext cx="707231" cy="1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25" name="Group 19"/>
          <p:cNvGrpSpPr>
            <a:grpSpLocks/>
          </p:cNvGrpSpPr>
          <p:nvPr/>
        </p:nvGrpSpPr>
        <p:grpSpPr bwMode="auto">
          <a:xfrm>
            <a:off x="6319745" y="2513756"/>
            <a:ext cx="567928" cy="284560"/>
            <a:chOff x="2466" y="2026"/>
            <a:chExt cx="477" cy="282"/>
          </a:xfrm>
        </p:grpSpPr>
        <p:sp>
          <p:nvSpPr>
            <p:cNvPr id="26" name="Oval 2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8" name="Rectangle 2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" name="Oval 2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0" name="Group 2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37" name="Line 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8" name="Line 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9" name="Line 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31" name="Group 2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34" name="Line 2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5" name="Line 3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6" name="Line 3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32" name="Line 3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3" name="Line 3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27" name="Group 173"/>
          <p:cNvGrpSpPr>
            <a:grpSpLocks/>
          </p:cNvGrpSpPr>
          <p:nvPr/>
        </p:nvGrpSpPr>
        <p:grpSpPr bwMode="auto">
          <a:xfrm flipH="1" flipV="1">
            <a:off x="7305582" y="3116212"/>
            <a:ext cx="300038" cy="114300"/>
            <a:chOff x="3228" y="1776"/>
            <a:chExt cx="252" cy="96"/>
          </a:xfrm>
        </p:grpSpPr>
        <p:sp>
          <p:nvSpPr>
            <p:cNvPr id="128" name="Line 17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9" name="Line 17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0" name="Group 176"/>
          <p:cNvGrpSpPr>
            <a:grpSpLocks/>
          </p:cNvGrpSpPr>
          <p:nvPr/>
        </p:nvGrpSpPr>
        <p:grpSpPr bwMode="auto">
          <a:xfrm flipV="1">
            <a:off x="6687648" y="3130499"/>
            <a:ext cx="221456" cy="85725"/>
            <a:chOff x="3228" y="1776"/>
            <a:chExt cx="252" cy="96"/>
          </a:xfrm>
        </p:grpSpPr>
        <p:sp>
          <p:nvSpPr>
            <p:cNvPr id="131" name="Line 177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" name="Line 178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6" name="Group 182"/>
          <p:cNvGrpSpPr>
            <a:grpSpLocks/>
          </p:cNvGrpSpPr>
          <p:nvPr/>
        </p:nvGrpSpPr>
        <p:grpSpPr bwMode="auto">
          <a:xfrm>
            <a:off x="6248308" y="2791172"/>
            <a:ext cx="221456" cy="85725"/>
            <a:chOff x="3228" y="1776"/>
            <a:chExt cx="252" cy="96"/>
          </a:xfrm>
        </p:grpSpPr>
        <p:sp>
          <p:nvSpPr>
            <p:cNvPr id="137" name="Line 183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8" name="Line 184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9" name="Group 185"/>
          <p:cNvGrpSpPr>
            <a:grpSpLocks/>
          </p:cNvGrpSpPr>
          <p:nvPr/>
        </p:nvGrpSpPr>
        <p:grpSpPr bwMode="auto">
          <a:xfrm flipH="1">
            <a:off x="6726939" y="2791172"/>
            <a:ext cx="221456" cy="85725"/>
            <a:chOff x="3228" y="1776"/>
            <a:chExt cx="252" cy="96"/>
          </a:xfrm>
        </p:grpSpPr>
        <p:sp>
          <p:nvSpPr>
            <p:cNvPr id="140" name="Line 186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1" name="Line 187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93" name="Group 1185"/>
          <p:cNvGrpSpPr>
            <a:grpSpLocks/>
          </p:cNvGrpSpPr>
          <p:nvPr/>
        </p:nvGrpSpPr>
        <p:grpSpPr bwMode="auto">
          <a:xfrm>
            <a:off x="6305457" y="2495896"/>
            <a:ext cx="606028" cy="319088"/>
            <a:chOff x="4650" y="1129"/>
            <a:chExt cx="246" cy="95"/>
          </a:xfrm>
        </p:grpSpPr>
        <p:sp>
          <p:nvSpPr>
            <p:cNvPr id="194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5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6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97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00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01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98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9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0" name="Group 4"/>
          <p:cNvGrpSpPr>
            <a:grpSpLocks/>
          </p:cNvGrpSpPr>
          <p:nvPr/>
        </p:nvGrpSpPr>
        <p:grpSpPr bwMode="auto">
          <a:xfrm>
            <a:off x="5295807" y="2704256"/>
            <a:ext cx="567928" cy="284560"/>
            <a:chOff x="2466" y="2026"/>
            <a:chExt cx="477" cy="282"/>
          </a:xfrm>
        </p:grpSpPr>
        <p:sp>
          <p:nvSpPr>
            <p:cNvPr id="11" name="Oval 5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" name="Line 6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" name="Oval 8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5" name="Group 9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2" name="Line 1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3" name="Line 1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" name="Line 1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16" name="Group 13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19" name="Line 1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" name="Line 1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1" name="Line 1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03" name="Group 95"/>
          <p:cNvGrpSpPr>
            <a:grpSpLocks/>
          </p:cNvGrpSpPr>
          <p:nvPr/>
        </p:nvGrpSpPr>
        <p:grpSpPr bwMode="auto">
          <a:xfrm>
            <a:off x="5606560" y="3968700"/>
            <a:ext cx="567929" cy="284560"/>
            <a:chOff x="2466" y="2026"/>
            <a:chExt cx="477" cy="282"/>
          </a:xfrm>
        </p:grpSpPr>
        <p:sp>
          <p:nvSpPr>
            <p:cNvPr id="104" name="Oval 96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" name="Line 97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6" name="Rectangle 98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7" name="Oval 99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08" name="Group 100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115" name="Line 10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6" name="Line 10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7" name="Line 10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109" name="Group 104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112" name="Line 10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3" name="Line 10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4" name="Line 10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110" name="Line 108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1" name="Line 109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42" name="Group 188"/>
          <p:cNvGrpSpPr>
            <a:grpSpLocks/>
          </p:cNvGrpSpPr>
          <p:nvPr/>
        </p:nvGrpSpPr>
        <p:grpSpPr bwMode="auto">
          <a:xfrm>
            <a:off x="5537504" y="4252068"/>
            <a:ext cx="221456" cy="85725"/>
            <a:chOff x="3228" y="1776"/>
            <a:chExt cx="252" cy="96"/>
          </a:xfrm>
        </p:grpSpPr>
        <p:sp>
          <p:nvSpPr>
            <p:cNvPr id="143" name="Line 189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4" name="Line 190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45" name="Group 191"/>
          <p:cNvGrpSpPr>
            <a:grpSpLocks/>
          </p:cNvGrpSpPr>
          <p:nvPr/>
        </p:nvGrpSpPr>
        <p:grpSpPr bwMode="auto">
          <a:xfrm flipH="1">
            <a:off x="6016135" y="4252068"/>
            <a:ext cx="221456" cy="85725"/>
            <a:chOff x="3228" y="1776"/>
            <a:chExt cx="252" cy="96"/>
          </a:xfrm>
        </p:grpSpPr>
        <p:sp>
          <p:nvSpPr>
            <p:cNvPr id="146" name="Line 192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7" name="Line 193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64" name="Group 69"/>
          <p:cNvGrpSpPr>
            <a:grpSpLocks/>
          </p:cNvGrpSpPr>
          <p:nvPr/>
        </p:nvGrpSpPr>
        <p:grpSpPr bwMode="auto">
          <a:xfrm>
            <a:off x="6812664" y="3200747"/>
            <a:ext cx="567928" cy="284559"/>
            <a:chOff x="2466" y="2026"/>
            <a:chExt cx="477" cy="282"/>
          </a:xfrm>
        </p:grpSpPr>
        <p:sp>
          <p:nvSpPr>
            <p:cNvPr id="65" name="Oval 7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6" name="Line 7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7" name="Rectangle 7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" name="Oval 7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69" name="Group 7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76" name="Line 7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7" name="Line 7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8" name="Line 7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70" name="Group 7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73" name="Line 7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4" name="Line 8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5" name="Line 8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71" name="Line 8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2" name="Line 8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18" name="Group 166"/>
          <p:cNvGrpSpPr>
            <a:grpSpLocks/>
          </p:cNvGrpSpPr>
          <p:nvPr/>
        </p:nvGrpSpPr>
        <p:grpSpPr bwMode="auto">
          <a:xfrm>
            <a:off x="5144597" y="2980481"/>
            <a:ext cx="300038" cy="114300"/>
            <a:chOff x="3228" y="1776"/>
            <a:chExt cx="252" cy="96"/>
          </a:xfrm>
        </p:grpSpPr>
        <p:sp>
          <p:nvSpPr>
            <p:cNvPr id="119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0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21" name="Group 167"/>
          <p:cNvGrpSpPr>
            <a:grpSpLocks/>
          </p:cNvGrpSpPr>
          <p:nvPr/>
        </p:nvGrpSpPr>
        <p:grpSpPr bwMode="auto">
          <a:xfrm flipH="1">
            <a:off x="5616085" y="2991197"/>
            <a:ext cx="300038" cy="114300"/>
            <a:chOff x="3228" y="1776"/>
            <a:chExt cx="252" cy="96"/>
          </a:xfrm>
        </p:grpSpPr>
        <p:sp>
          <p:nvSpPr>
            <p:cNvPr id="122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3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24" name="Group 170"/>
          <p:cNvGrpSpPr>
            <a:grpSpLocks/>
          </p:cNvGrpSpPr>
          <p:nvPr/>
        </p:nvGrpSpPr>
        <p:grpSpPr bwMode="auto">
          <a:xfrm flipH="1" flipV="1">
            <a:off x="5730385" y="2598290"/>
            <a:ext cx="300038" cy="114300"/>
            <a:chOff x="3228" y="1776"/>
            <a:chExt cx="252" cy="96"/>
          </a:xfrm>
        </p:grpSpPr>
        <p:sp>
          <p:nvSpPr>
            <p:cNvPr id="125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6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48" name="Group 194"/>
          <p:cNvGrpSpPr>
            <a:grpSpLocks/>
          </p:cNvGrpSpPr>
          <p:nvPr/>
        </p:nvGrpSpPr>
        <p:grpSpPr bwMode="auto">
          <a:xfrm>
            <a:off x="4212339" y="4519959"/>
            <a:ext cx="221456" cy="85725"/>
            <a:chOff x="3228" y="1776"/>
            <a:chExt cx="252" cy="96"/>
          </a:xfrm>
        </p:grpSpPr>
        <p:sp>
          <p:nvSpPr>
            <p:cNvPr id="149" name="Line 195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0" name="Line 196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84" name="Group 1185"/>
          <p:cNvGrpSpPr>
            <a:grpSpLocks/>
          </p:cNvGrpSpPr>
          <p:nvPr/>
        </p:nvGrpSpPr>
        <p:grpSpPr bwMode="auto">
          <a:xfrm>
            <a:off x="5262469" y="2694731"/>
            <a:ext cx="622697" cy="341710"/>
            <a:chOff x="4650" y="1129"/>
            <a:chExt cx="246" cy="95"/>
          </a:xfrm>
        </p:grpSpPr>
        <p:sp>
          <p:nvSpPr>
            <p:cNvPr id="185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6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7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88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91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92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89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0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202" name="Group 1185"/>
          <p:cNvGrpSpPr>
            <a:grpSpLocks/>
          </p:cNvGrpSpPr>
          <p:nvPr/>
        </p:nvGrpSpPr>
        <p:grpSpPr bwMode="auto">
          <a:xfrm>
            <a:off x="6766229" y="3198366"/>
            <a:ext cx="669131" cy="292894"/>
            <a:chOff x="4650" y="1129"/>
            <a:chExt cx="246" cy="95"/>
          </a:xfrm>
        </p:grpSpPr>
        <p:sp>
          <p:nvSpPr>
            <p:cNvPr id="203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4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5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06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09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0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207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8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3" name="Group 179"/>
          <p:cNvGrpSpPr>
            <a:grpSpLocks/>
          </p:cNvGrpSpPr>
          <p:nvPr/>
        </p:nvGrpSpPr>
        <p:grpSpPr bwMode="auto">
          <a:xfrm rot="409689" flipH="1" flipV="1">
            <a:off x="6891245" y="2637580"/>
            <a:ext cx="339328" cy="42863"/>
            <a:chOff x="3228" y="1776"/>
            <a:chExt cx="252" cy="96"/>
          </a:xfrm>
        </p:grpSpPr>
        <p:sp>
          <p:nvSpPr>
            <p:cNvPr id="134" name="Line 180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5" name="Line 181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51" name="Group 197"/>
          <p:cNvGrpSpPr>
            <a:grpSpLocks/>
          </p:cNvGrpSpPr>
          <p:nvPr/>
        </p:nvGrpSpPr>
        <p:grpSpPr bwMode="auto">
          <a:xfrm flipH="1">
            <a:off x="4690970" y="4519959"/>
            <a:ext cx="221456" cy="85725"/>
            <a:chOff x="3228" y="1776"/>
            <a:chExt cx="252" cy="96"/>
          </a:xfrm>
        </p:grpSpPr>
        <p:sp>
          <p:nvSpPr>
            <p:cNvPr id="152" name="Line 19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3" name="Line 19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54" name="Group 200"/>
          <p:cNvGrpSpPr>
            <a:grpSpLocks/>
          </p:cNvGrpSpPr>
          <p:nvPr/>
        </p:nvGrpSpPr>
        <p:grpSpPr bwMode="auto">
          <a:xfrm flipH="1" flipV="1">
            <a:off x="4844560" y="4298503"/>
            <a:ext cx="221456" cy="85725"/>
            <a:chOff x="3228" y="1776"/>
            <a:chExt cx="252" cy="96"/>
          </a:xfrm>
        </p:grpSpPr>
        <p:sp>
          <p:nvSpPr>
            <p:cNvPr id="155" name="Line 20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6" name="Line 20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159" name="Text Box 404"/>
          <p:cNvSpPr txBox="1">
            <a:spLocks noChangeArrowheads="1"/>
          </p:cNvSpPr>
          <p:nvPr/>
        </p:nvSpPr>
        <p:spPr bwMode="auto">
          <a:xfrm>
            <a:off x="2431164" y="3649612"/>
            <a:ext cx="771365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>
                <a:solidFill>
                  <a:srgbClr val="FF0000"/>
                </a:solidFill>
                <a:latin typeface="Arial" panose="020B0604020202020204" pitchFamily="34" charset="0"/>
              </a:rPr>
              <a:t>web page</a:t>
            </a:r>
          </a:p>
        </p:txBody>
      </p:sp>
      <p:sp>
        <p:nvSpPr>
          <p:cNvPr id="40" name="Text Box 34"/>
          <p:cNvSpPr txBox="1">
            <a:spLocks noChangeArrowheads="1"/>
          </p:cNvSpPr>
          <p:nvPr/>
        </p:nvSpPr>
        <p:spPr bwMode="auto">
          <a:xfrm>
            <a:off x="5281519" y="2016075"/>
            <a:ext cx="14141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Comcast network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68.80.0.0/13</a:t>
            </a:r>
          </a:p>
        </p:txBody>
      </p:sp>
      <p:sp>
        <p:nvSpPr>
          <p:cNvPr id="102" name="Text Box 139"/>
          <p:cNvSpPr txBox="1">
            <a:spLocks noChangeArrowheads="1"/>
          </p:cNvSpPr>
          <p:nvPr/>
        </p:nvSpPr>
        <p:spPr bwMode="auto">
          <a:xfrm>
            <a:off x="6896007" y="2026166"/>
            <a:ext cx="9781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DNS server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3" name="Rectangle 43"/>
          <p:cNvSpPr>
            <a:spLocks noChangeArrowheads="1"/>
          </p:cNvSpPr>
          <p:nvPr/>
        </p:nvSpPr>
        <p:spPr bwMode="auto">
          <a:xfrm rot="16200000">
            <a:off x="3012188" y="2468512"/>
            <a:ext cx="109538" cy="235744"/>
          </a:xfrm>
          <a:prstGeom prst="rect">
            <a:avLst/>
          </a:prstGeom>
          <a:gradFill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350">
              <a:solidFill>
                <a:srgbClr val="000000"/>
              </a:solidFill>
            </a:endParaRPr>
          </a:p>
        </p:txBody>
      </p:sp>
      <p:grpSp>
        <p:nvGrpSpPr>
          <p:cNvPr id="229" name="Group 248"/>
          <p:cNvGrpSpPr>
            <a:grpSpLocks/>
          </p:cNvGrpSpPr>
          <p:nvPr/>
        </p:nvGrpSpPr>
        <p:grpSpPr bwMode="auto">
          <a:xfrm>
            <a:off x="6698456" y="1845449"/>
            <a:ext cx="269081" cy="467916"/>
            <a:chOff x="4140" y="429"/>
            <a:chExt cx="1425" cy="2396"/>
          </a:xfrm>
        </p:grpSpPr>
        <p:sp>
          <p:nvSpPr>
            <p:cNvPr id="230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1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32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3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4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35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0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61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36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37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8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59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38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39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40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6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57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41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42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4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55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43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44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5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6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47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8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49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0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1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2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3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211" name="Group 1185"/>
          <p:cNvGrpSpPr>
            <a:grpSpLocks/>
          </p:cNvGrpSpPr>
          <p:nvPr/>
        </p:nvGrpSpPr>
        <p:grpSpPr bwMode="auto">
          <a:xfrm>
            <a:off x="5574414" y="3953221"/>
            <a:ext cx="606028" cy="319088"/>
            <a:chOff x="4650" y="1129"/>
            <a:chExt cx="246" cy="95"/>
          </a:xfrm>
        </p:grpSpPr>
        <p:sp>
          <p:nvSpPr>
            <p:cNvPr id="212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13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14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15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8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9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216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7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157" name="Text Box 34"/>
          <p:cNvSpPr txBox="1">
            <a:spLocks noChangeArrowheads="1"/>
          </p:cNvSpPr>
          <p:nvPr/>
        </p:nvSpPr>
        <p:spPr bwMode="auto">
          <a:xfrm>
            <a:off x="1979917" y="3041203"/>
            <a:ext cx="12506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school network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68.80.2.0/24</a:t>
            </a:r>
          </a:p>
        </p:txBody>
      </p:sp>
      <p:sp>
        <p:nvSpPr>
          <p:cNvPr id="41" name="Line 36"/>
          <p:cNvSpPr>
            <a:spLocks noChangeShapeType="1"/>
          </p:cNvSpPr>
          <p:nvPr/>
        </p:nvSpPr>
        <p:spPr bwMode="auto">
          <a:xfrm flipV="1">
            <a:off x="3968260" y="2453035"/>
            <a:ext cx="116681" cy="10715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4" name="Line 48"/>
          <p:cNvSpPr>
            <a:spLocks noChangeShapeType="1"/>
          </p:cNvSpPr>
          <p:nvPr/>
        </p:nvSpPr>
        <p:spPr bwMode="auto">
          <a:xfrm flipV="1">
            <a:off x="3596785" y="2747119"/>
            <a:ext cx="384572" cy="45958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220" name="Group 1185"/>
          <p:cNvGrpSpPr>
            <a:grpSpLocks/>
          </p:cNvGrpSpPr>
          <p:nvPr/>
        </p:nvGrpSpPr>
        <p:grpSpPr bwMode="auto">
          <a:xfrm>
            <a:off x="4268297" y="4227065"/>
            <a:ext cx="606029" cy="319088"/>
            <a:chOff x="4650" y="1129"/>
            <a:chExt cx="246" cy="95"/>
          </a:xfrm>
        </p:grpSpPr>
        <p:sp>
          <p:nvSpPr>
            <p:cNvPr id="221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22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23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24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27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28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225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6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pic>
        <p:nvPicPr>
          <p:cNvPr id="17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545" y="2528043"/>
            <a:ext cx="685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5" name="Oval 407"/>
          <p:cNvSpPr>
            <a:spLocks noChangeArrowheads="1"/>
          </p:cNvSpPr>
          <p:nvPr/>
        </p:nvSpPr>
        <p:spPr bwMode="auto">
          <a:xfrm>
            <a:off x="3172922" y="3409106"/>
            <a:ext cx="638175" cy="188119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76" name="Rectangle 410"/>
          <p:cNvSpPr>
            <a:spLocks noChangeArrowheads="1"/>
          </p:cNvSpPr>
          <p:nvPr/>
        </p:nvSpPr>
        <p:spPr bwMode="auto">
          <a:xfrm>
            <a:off x="3172923" y="3387675"/>
            <a:ext cx="640556" cy="117872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45" name="Group 49"/>
          <p:cNvGrpSpPr>
            <a:grpSpLocks/>
          </p:cNvGrpSpPr>
          <p:nvPr/>
        </p:nvGrpSpPr>
        <p:grpSpPr bwMode="auto">
          <a:xfrm>
            <a:off x="3207451" y="3218606"/>
            <a:ext cx="740569" cy="297656"/>
            <a:chOff x="1118" y="1621"/>
            <a:chExt cx="622" cy="250"/>
          </a:xfrm>
        </p:grpSpPr>
        <p:sp>
          <p:nvSpPr>
            <p:cNvPr id="46" name="Rectangle 50"/>
            <p:cNvSpPr>
              <a:spLocks noChangeArrowheads="1"/>
            </p:cNvSpPr>
            <p:nvPr/>
          </p:nvSpPr>
          <p:spPr bwMode="auto">
            <a:xfrm>
              <a:off x="1578" y="1789"/>
              <a:ext cx="162" cy="44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" name="Rectangle 51"/>
            <p:cNvSpPr>
              <a:spLocks noChangeArrowheads="1"/>
            </p:cNvSpPr>
            <p:nvPr/>
          </p:nvSpPr>
          <p:spPr bwMode="auto">
            <a:xfrm rot="-2700000">
              <a:off x="1336" y="1621"/>
              <a:ext cx="162" cy="44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48" name="Group 52"/>
            <p:cNvGrpSpPr>
              <a:grpSpLocks/>
            </p:cNvGrpSpPr>
            <p:nvPr/>
          </p:nvGrpSpPr>
          <p:grpSpPr bwMode="auto">
            <a:xfrm>
              <a:off x="1118" y="1686"/>
              <a:ext cx="476" cy="185"/>
              <a:chOff x="2466" y="2026"/>
              <a:chExt cx="476" cy="218"/>
            </a:xfrm>
          </p:grpSpPr>
          <p:sp>
            <p:nvSpPr>
              <p:cNvPr id="50" name="Line 54"/>
              <p:cNvSpPr>
                <a:spLocks noChangeShapeType="1"/>
              </p:cNvSpPr>
              <p:nvPr/>
            </p:nvSpPr>
            <p:spPr bwMode="auto">
              <a:xfrm>
                <a:off x="2470" y="2125"/>
                <a:ext cx="1" cy="8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52" name="Oval 56"/>
              <p:cNvSpPr>
                <a:spLocks noChangeArrowheads="1"/>
              </p:cNvSpPr>
              <p:nvPr/>
            </p:nvSpPr>
            <p:spPr bwMode="auto">
              <a:xfrm>
                <a:off x="2466" y="2026"/>
                <a:ext cx="476" cy="160"/>
              </a:xfrm>
              <a:prstGeom prst="ellipse">
                <a:avLst/>
              </a:prstGeom>
              <a:solidFill>
                <a:srgbClr val="DDDDDD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53" name="Group 57"/>
              <p:cNvGrpSpPr>
                <a:grpSpLocks/>
              </p:cNvGrpSpPr>
              <p:nvPr/>
            </p:nvGrpSpPr>
            <p:grpSpPr bwMode="auto">
              <a:xfrm>
                <a:off x="2581" y="2061"/>
                <a:ext cx="236" cy="94"/>
                <a:chOff x="2848" y="848"/>
                <a:chExt cx="140" cy="98"/>
              </a:xfrm>
            </p:grpSpPr>
            <p:sp>
              <p:nvSpPr>
                <p:cNvPr id="60" name="Line 58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61" name="Line 59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62" name="Line 60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54" name="Group 61"/>
              <p:cNvGrpSpPr>
                <a:grpSpLocks/>
              </p:cNvGrpSpPr>
              <p:nvPr/>
            </p:nvGrpSpPr>
            <p:grpSpPr bwMode="auto">
              <a:xfrm flipV="1">
                <a:off x="2581" y="2060"/>
                <a:ext cx="236" cy="94"/>
                <a:chOff x="2848" y="848"/>
                <a:chExt cx="140" cy="98"/>
              </a:xfrm>
            </p:grpSpPr>
            <p:sp>
              <p:nvSpPr>
                <p:cNvPr id="57" name="Line 6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58" name="Line 6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59" name="Line 6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56" name="Line 66"/>
              <p:cNvSpPr>
                <a:spLocks noChangeShapeType="1"/>
              </p:cNvSpPr>
              <p:nvPr/>
            </p:nvSpPr>
            <p:spPr bwMode="auto">
              <a:xfrm flipH="1">
                <a:off x="2466" y="2117"/>
                <a:ext cx="1" cy="1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</p:grpSp>
      <p:sp>
        <p:nvSpPr>
          <p:cNvPr id="177" name="Oval 411"/>
          <p:cNvSpPr>
            <a:spLocks noChangeArrowheads="1"/>
          </p:cNvSpPr>
          <p:nvPr/>
        </p:nvSpPr>
        <p:spPr bwMode="auto">
          <a:xfrm>
            <a:off x="3170541" y="3260278"/>
            <a:ext cx="638175" cy="220265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81" name="Line 1192"/>
          <p:cNvSpPr>
            <a:spLocks noChangeShapeType="1"/>
          </p:cNvSpPr>
          <p:nvPr/>
        </p:nvSpPr>
        <p:spPr bwMode="auto">
          <a:xfrm>
            <a:off x="3172922" y="3362672"/>
            <a:ext cx="0" cy="1500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73" name="Rectangle 43"/>
          <p:cNvSpPr>
            <a:spLocks noChangeArrowheads="1"/>
          </p:cNvSpPr>
          <p:nvPr/>
        </p:nvSpPr>
        <p:spPr bwMode="auto">
          <a:xfrm rot="16200000">
            <a:off x="3820622" y="3357909"/>
            <a:ext cx="110729" cy="141684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350">
              <a:solidFill>
                <a:srgbClr val="000000"/>
              </a:solidFill>
            </a:endParaRPr>
          </a:p>
        </p:txBody>
      </p:sp>
      <p:sp>
        <p:nvSpPr>
          <p:cNvPr id="302" name="Text Box 135">
            <a:extLst>
              <a:ext uri="{FF2B5EF4-FFF2-40B4-BE49-F238E27FC236}">
                <a16:creationId xmlns:a16="http://schemas.microsoft.com/office/drawing/2014/main" id="{FB8B7FB1-7888-4F62-8A73-15B501940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2453" y="4497236"/>
            <a:ext cx="18309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Organization</a:t>
            </a: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’</a:t>
            </a:r>
            <a:r>
              <a:rPr lang="en-US" altLang="ja-JP" sz="1200" dirty="0">
                <a:solidFill>
                  <a:srgbClr val="000000"/>
                </a:solidFill>
                <a:latin typeface="Arial" panose="020B0604020202020204" pitchFamily="34" charset="0"/>
              </a:rPr>
              <a:t>s network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64.204.2.0/24 </a:t>
            </a:r>
          </a:p>
        </p:txBody>
      </p:sp>
      <p:sp>
        <p:nvSpPr>
          <p:cNvPr id="174" name="Rectangle 43"/>
          <p:cNvSpPr>
            <a:spLocks noChangeArrowheads="1"/>
          </p:cNvSpPr>
          <p:nvPr/>
        </p:nvSpPr>
        <p:spPr bwMode="auto">
          <a:xfrm rot="2460490">
            <a:off x="3564639" y="3100735"/>
            <a:ext cx="102394" cy="229790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350">
              <a:solidFill>
                <a:srgbClr val="000000"/>
              </a:solidFill>
            </a:endParaRPr>
          </a:p>
        </p:txBody>
      </p:sp>
      <p:grpSp>
        <p:nvGrpSpPr>
          <p:cNvPr id="178" name="Group 1189"/>
          <p:cNvGrpSpPr>
            <a:grpSpLocks/>
          </p:cNvGrpSpPr>
          <p:nvPr/>
        </p:nvGrpSpPr>
        <p:grpSpPr bwMode="auto">
          <a:xfrm>
            <a:off x="3299129" y="3317428"/>
            <a:ext cx="360760" cy="102394"/>
            <a:chOff x="2468" y="1332"/>
            <a:chExt cx="310" cy="60"/>
          </a:xfrm>
        </p:grpSpPr>
        <p:sp>
          <p:nvSpPr>
            <p:cNvPr id="179" name="Freeform 1190"/>
            <p:cNvSpPr>
              <a:spLocks/>
            </p:cNvSpPr>
            <p:nvPr/>
          </p:nvSpPr>
          <p:spPr bwMode="auto">
            <a:xfrm>
              <a:off x="2468" y="1332"/>
              <a:ext cx="310" cy="60"/>
            </a:xfrm>
            <a:custGeom>
              <a:avLst/>
              <a:gdLst>
                <a:gd name="T0" fmla="*/ 0 w 310"/>
                <a:gd name="T1" fmla="*/ 60 h 60"/>
                <a:gd name="T2" fmla="*/ 96 w 310"/>
                <a:gd name="T3" fmla="*/ 60 h 60"/>
                <a:gd name="T4" fmla="*/ 192 w 310"/>
                <a:gd name="T5" fmla="*/ 0 h 60"/>
                <a:gd name="T6" fmla="*/ 310 w 310"/>
                <a:gd name="T7" fmla="*/ 0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0" h="60">
                  <a:moveTo>
                    <a:pt x="0" y="60"/>
                  </a:moveTo>
                  <a:lnTo>
                    <a:pt x="96" y="60"/>
                  </a:lnTo>
                  <a:lnTo>
                    <a:pt x="192" y="0"/>
                  </a:lnTo>
                  <a:lnTo>
                    <a:pt x="310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0" name="Freeform 1191"/>
            <p:cNvSpPr>
              <a:spLocks/>
            </p:cNvSpPr>
            <p:nvPr/>
          </p:nvSpPr>
          <p:spPr bwMode="auto">
            <a:xfrm>
              <a:off x="2482" y="1332"/>
              <a:ext cx="282" cy="60"/>
            </a:xfrm>
            <a:custGeom>
              <a:avLst/>
              <a:gdLst>
                <a:gd name="T0" fmla="*/ 0 w 282"/>
                <a:gd name="T1" fmla="*/ 0 h 60"/>
                <a:gd name="T2" fmla="*/ 96 w 282"/>
                <a:gd name="T3" fmla="*/ 0 h 60"/>
                <a:gd name="T4" fmla="*/ 192 w 282"/>
                <a:gd name="T5" fmla="*/ 60 h 60"/>
                <a:gd name="T6" fmla="*/ 282 w 282"/>
                <a:gd name="T7" fmla="*/ 60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2" h="60">
                  <a:moveTo>
                    <a:pt x="0" y="0"/>
                  </a:moveTo>
                  <a:lnTo>
                    <a:pt x="96" y="0"/>
                  </a:lnTo>
                  <a:lnTo>
                    <a:pt x="192" y="60"/>
                  </a:lnTo>
                  <a:lnTo>
                    <a:pt x="282" y="6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182" name="Line 1193"/>
          <p:cNvSpPr>
            <a:spLocks noChangeShapeType="1"/>
          </p:cNvSpPr>
          <p:nvPr/>
        </p:nvSpPr>
        <p:spPr bwMode="auto">
          <a:xfrm>
            <a:off x="3808716" y="3369815"/>
            <a:ext cx="0" cy="1464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97" name="圆角矩形 296"/>
          <p:cNvSpPr/>
          <p:nvPr/>
        </p:nvSpPr>
        <p:spPr>
          <a:xfrm>
            <a:off x="1455775" y="1386327"/>
            <a:ext cx="6470389" cy="3628206"/>
          </a:xfrm>
          <a:prstGeom prst="roundRect">
            <a:avLst>
              <a:gd name="adj" fmla="val 3649"/>
            </a:avLst>
          </a:prstGeom>
          <a:solidFill>
            <a:srgbClr val="EFF8FF">
              <a:alpha val="9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9" name="Line 93"/>
          <p:cNvSpPr>
            <a:spLocks noChangeShapeType="1"/>
          </p:cNvSpPr>
          <p:nvPr/>
        </p:nvSpPr>
        <p:spPr bwMode="auto">
          <a:xfrm flipH="1">
            <a:off x="6601922" y="2319684"/>
            <a:ext cx="195263" cy="194072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160" name="Group 405"/>
          <p:cNvGrpSpPr>
            <a:grpSpLocks/>
          </p:cNvGrpSpPr>
          <p:nvPr/>
        </p:nvGrpSpPr>
        <p:grpSpPr bwMode="auto">
          <a:xfrm>
            <a:off x="1475091" y="1566018"/>
            <a:ext cx="1062038" cy="948929"/>
            <a:chOff x="146" y="690"/>
            <a:chExt cx="892" cy="797"/>
          </a:xfrm>
        </p:grpSpPr>
        <p:grpSp>
          <p:nvGrpSpPr>
            <p:cNvPr id="161" name="Group 400"/>
            <p:cNvGrpSpPr>
              <a:grpSpLocks/>
            </p:cNvGrpSpPr>
            <p:nvPr/>
          </p:nvGrpSpPr>
          <p:grpSpPr bwMode="auto">
            <a:xfrm>
              <a:off x="146" y="690"/>
              <a:ext cx="892" cy="797"/>
              <a:chOff x="146" y="690"/>
              <a:chExt cx="892" cy="797"/>
            </a:xfrm>
          </p:grpSpPr>
          <p:sp>
            <p:nvSpPr>
              <p:cNvPr id="163" name="Freeform 398"/>
              <p:cNvSpPr>
                <a:spLocks/>
              </p:cNvSpPr>
              <p:nvPr/>
            </p:nvSpPr>
            <p:spPr bwMode="auto">
              <a:xfrm>
                <a:off x="177" y="715"/>
                <a:ext cx="861" cy="772"/>
              </a:xfrm>
              <a:custGeom>
                <a:avLst/>
                <a:gdLst>
                  <a:gd name="T0" fmla="*/ 861 w 861"/>
                  <a:gd name="T1" fmla="*/ 772 h 772"/>
                  <a:gd name="T2" fmla="*/ 0 w 861"/>
                  <a:gd name="T3" fmla="*/ 557 h 772"/>
                  <a:gd name="T4" fmla="*/ 532 w 861"/>
                  <a:gd name="T5" fmla="*/ 405 h 772"/>
                  <a:gd name="T6" fmla="*/ 652 w 861"/>
                  <a:gd name="T7" fmla="*/ 0 h 772"/>
                  <a:gd name="T8" fmla="*/ 861 w 861"/>
                  <a:gd name="T9" fmla="*/ 772 h 7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61" h="772">
                    <a:moveTo>
                      <a:pt x="861" y="772"/>
                    </a:moveTo>
                    <a:lnTo>
                      <a:pt x="0" y="557"/>
                    </a:lnTo>
                    <a:lnTo>
                      <a:pt x="532" y="405"/>
                    </a:lnTo>
                    <a:lnTo>
                      <a:pt x="652" y="0"/>
                    </a:lnTo>
                    <a:lnTo>
                      <a:pt x="861" y="772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100000">
                    <a:srgbClr val="FF00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grpSp>
            <p:nvGrpSpPr>
              <p:cNvPr id="164" name="Group 392"/>
              <p:cNvGrpSpPr>
                <a:grpSpLocks/>
              </p:cNvGrpSpPr>
              <p:nvPr/>
            </p:nvGrpSpPr>
            <p:grpSpPr bwMode="auto">
              <a:xfrm>
                <a:off x="148" y="697"/>
                <a:ext cx="694" cy="574"/>
                <a:chOff x="2579" y="1366"/>
                <a:chExt cx="1078" cy="674"/>
              </a:xfrm>
            </p:grpSpPr>
            <p:pic>
              <p:nvPicPr>
                <p:cNvPr id="166" name="Picture 393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79" y="1366"/>
                  <a:ext cx="1078" cy="6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7" name="Rectangle 394"/>
                <p:cNvSpPr>
                  <a:spLocks noChangeArrowheads="1"/>
                </p:cNvSpPr>
                <p:nvPr/>
              </p:nvSpPr>
              <p:spPr bwMode="auto">
                <a:xfrm>
                  <a:off x="2633" y="1428"/>
                  <a:ext cx="957" cy="56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165" name="Rectangle 399"/>
              <p:cNvSpPr>
                <a:spLocks noChangeArrowheads="1"/>
              </p:cNvSpPr>
              <p:nvPr/>
            </p:nvSpPr>
            <p:spPr bwMode="auto">
              <a:xfrm>
                <a:off x="146" y="690"/>
                <a:ext cx="696" cy="58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162" name="Text Box 402"/>
            <p:cNvSpPr txBox="1">
              <a:spLocks noChangeArrowheads="1"/>
            </p:cNvSpPr>
            <p:nvPr/>
          </p:nvSpPr>
          <p:spPr bwMode="auto">
            <a:xfrm>
              <a:off x="227" y="850"/>
              <a:ext cx="55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FF0000"/>
                  </a:solidFill>
                  <a:latin typeface="Arial" panose="020B0604020202020204" pitchFamily="34" charset="0"/>
                </a:rPr>
                <a:t>browser</a:t>
              </a:r>
            </a:p>
          </p:txBody>
        </p:sp>
      </p:grpSp>
      <p:grpSp>
        <p:nvGrpSpPr>
          <p:cNvPr id="168" name="Group 356"/>
          <p:cNvGrpSpPr>
            <a:grpSpLocks/>
          </p:cNvGrpSpPr>
          <p:nvPr/>
        </p:nvGrpSpPr>
        <p:grpSpPr bwMode="auto">
          <a:xfrm>
            <a:off x="2391873" y="2118468"/>
            <a:ext cx="632222" cy="610791"/>
            <a:chOff x="313" y="1497"/>
            <a:chExt cx="1152" cy="1014"/>
          </a:xfrm>
        </p:grpSpPr>
        <p:pic>
          <p:nvPicPr>
            <p:cNvPr id="169" name="Picture 354" descr="laptop_stylized_small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0" name="Picture 355" descr="antenna_stylized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1" name="AutoShape 396"/>
          <p:cNvSpPr>
            <a:spLocks noChangeArrowheads="1"/>
          </p:cNvSpPr>
          <p:nvPr/>
        </p:nvSpPr>
        <p:spPr bwMode="auto">
          <a:xfrm>
            <a:off x="1759651" y="2394694"/>
            <a:ext cx="732234" cy="364331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pic>
        <p:nvPicPr>
          <p:cNvPr id="295" name="Picture 15" descr="User-icon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269" y="2105888"/>
            <a:ext cx="465425" cy="46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6" name="Text Box 139"/>
          <p:cNvSpPr txBox="1">
            <a:spLocks noChangeArrowheads="1"/>
          </p:cNvSpPr>
          <p:nvPr/>
        </p:nvSpPr>
        <p:spPr bwMode="auto">
          <a:xfrm>
            <a:off x="3667949" y="1667760"/>
            <a:ext cx="1219373" cy="52322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214313" indent="-214313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HTTP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请求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14313" indent="-214313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TCP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运输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3" name="Line 68"/>
          <p:cNvSpPr>
            <a:spLocks noChangeShapeType="1"/>
          </p:cNvSpPr>
          <p:nvPr/>
        </p:nvSpPr>
        <p:spPr bwMode="auto">
          <a:xfrm flipV="1">
            <a:off x="3950401" y="2892375"/>
            <a:ext cx="1364456" cy="550069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262" name="Group 248"/>
          <p:cNvGrpSpPr>
            <a:grpSpLocks/>
          </p:cNvGrpSpPr>
          <p:nvPr/>
        </p:nvGrpSpPr>
        <p:grpSpPr bwMode="auto">
          <a:xfrm>
            <a:off x="3415810" y="4035374"/>
            <a:ext cx="269081" cy="467916"/>
            <a:chOff x="4140" y="429"/>
            <a:chExt cx="1425" cy="2396"/>
          </a:xfrm>
        </p:grpSpPr>
        <p:sp>
          <p:nvSpPr>
            <p:cNvPr id="263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4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65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6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7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68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93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94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69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70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91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92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71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72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73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89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90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74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75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87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88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76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77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8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9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0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1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2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3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4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5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6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101" name="Text Box 138"/>
          <p:cNvSpPr txBox="1">
            <a:spLocks noChangeArrowheads="1"/>
          </p:cNvSpPr>
          <p:nvPr/>
        </p:nvSpPr>
        <p:spPr bwMode="auto">
          <a:xfrm>
            <a:off x="2744233" y="4488688"/>
            <a:ext cx="93487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web server</a:t>
            </a:r>
          </a:p>
        </p:txBody>
      </p:sp>
      <p:sp>
        <p:nvSpPr>
          <p:cNvPr id="298" name="Line 93"/>
          <p:cNvSpPr>
            <a:spLocks noChangeShapeType="1"/>
          </p:cNvSpPr>
          <p:nvPr/>
        </p:nvSpPr>
        <p:spPr bwMode="auto">
          <a:xfrm flipH="1" flipV="1">
            <a:off x="3240787" y="2576989"/>
            <a:ext cx="365551" cy="21302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99" name="灯片编号占位符 2">
            <a:extLst>
              <a:ext uri="{FF2B5EF4-FFF2-40B4-BE49-F238E27FC236}">
                <a16:creationId xmlns:a16="http://schemas.microsoft.com/office/drawing/2014/main" id="{4A12A181-6F78-4336-B1A0-668035EB26D9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20</a:t>
            </a:fld>
            <a:endParaRPr lang="en-US" altLang="zh-CN" dirty="0"/>
          </a:p>
        </p:txBody>
      </p:sp>
      <p:sp>
        <p:nvSpPr>
          <p:cNvPr id="300" name="AutoShape 5">
            <a:extLst>
              <a:ext uri="{FF2B5EF4-FFF2-40B4-BE49-F238E27FC236}">
                <a16:creationId xmlns:a16="http://schemas.microsoft.com/office/drawing/2014/main" id="{CAF1EE3D-D474-434E-9078-627783EF6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01" name="图片 300">
            <a:extLst>
              <a:ext uri="{FF2B5EF4-FFF2-40B4-BE49-F238E27FC236}">
                <a16:creationId xmlns:a16="http://schemas.microsoft.com/office/drawing/2014/main" id="{8338D03C-2311-4971-A7A9-9B94491620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0684" y="3868536"/>
            <a:ext cx="957628" cy="62339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123253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9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30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" grpId="0"/>
      <p:bldP spid="300" grpId="0" animBg="1"/>
      <p:bldP spid="300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5.7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总结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: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自底向上回顾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87574"/>
            <a:ext cx="7344815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一次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请求所要做的工作：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开始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请求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(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还要准备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)</a:t>
            </a:r>
          </a:p>
          <a:p>
            <a:pPr lvl="1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(18) HTTP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和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TCP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的合作：套接字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浏览器创建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Socket (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四元组标识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)</a:t>
            </a: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Sport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：浏览器随机生成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;  </a:t>
            </a:r>
            <a:r>
              <a:rPr lang="en-US" altLang="zh-CN" dirty="0">
                <a:solidFill>
                  <a:srgbClr val="0066CC"/>
                </a:solidFill>
              </a:rPr>
              <a:t>Dport</a:t>
            </a:r>
            <a:r>
              <a:rPr lang="zh-CN" altLang="en-US" dirty="0">
                <a:solidFill>
                  <a:srgbClr val="0066CC"/>
                </a:solidFill>
              </a:rPr>
              <a:t>：</a:t>
            </a:r>
            <a:r>
              <a:rPr lang="en-US" altLang="zh-CN" dirty="0">
                <a:solidFill>
                  <a:srgbClr val="0066CC"/>
                </a:solidFill>
              </a:rPr>
              <a:t>80</a:t>
            </a: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SIP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：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Bob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的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IP; D</a:t>
            </a:r>
            <a:r>
              <a:rPr lang="en-US" altLang="zh-CN" dirty="0">
                <a:solidFill>
                  <a:srgbClr val="0066CC"/>
                </a:solidFill>
              </a:rPr>
              <a:t>IP</a:t>
            </a:r>
            <a:r>
              <a:rPr lang="zh-CN" altLang="en-US" dirty="0">
                <a:solidFill>
                  <a:srgbClr val="0066CC"/>
                </a:solidFill>
              </a:rPr>
              <a:t>：</a:t>
            </a:r>
            <a:r>
              <a:rPr lang="en-US" altLang="zh-CN" dirty="0" err="1">
                <a:solidFill>
                  <a:srgbClr val="0066CC"/>
                </a:solidFill>
              </a:rPr>
              <a:t>deepseek</a:t>
            </a:r>
            <a:r>
              <a:rPr lang="en-US" altLang="zh-CN" dirty="0">
                <a:solidFill>
                  <a:srgbClr val="0066CC"/>
                </a:solidFill>
              </a:rPr>
              <a:t> </a:t>
            </a:r>
            <a:r>
              <a:rPr lang="zh-CN" altLang="en-US" dirty="0">
                <a:solidFill>
                  <a:srgbClr val="0066CC"/>
                </a:solidFill>
              </a:rPr>
              <a:t>的</a:t>
            </a:r>
            <a:r>
              <a:rPr lang="en-US" altLang="zh-CN" dirty="0">
                <a:solidFill>
                  <a:srgbClr val="0066CC"/>
                </a:solidFill>
              </a:rPr>
              <a:t>IP(</a:t>
            </a:r>
            <a:r>
              <a:rPr lang="zh-CN" altLang="en-US" dirty="0">
                <a:solidFill>
                  <a:srgbClr val="0066CC"/>
                </a:solidFill>
              </a:rPr>
              <a:t>刚刚通过</a:t>
            </a:r>
            <a:r>
              <a:rPr lang="en-US" altLang="zh-CN" dirty="0">
                <a:solidFill>
                  <a:srgbClr val="0066CC"/>
                </a:solidFill>
              </a:rPr>
              <a:t>DNS</a:t>
            </a:r>
            <a:r>
              <a:rPr lang="zh-CN" altLang="en-US" dirty="0">
                <a:solidFill>
                  <a:srgbClr val="0066CC"/>
                </a:solidFill>
              </a:rPr>
              <a:t>查询到</a:t>
            </a:r>
            <a:r>
              <a:rPr lang="en-US" altLang="zh-CN" dirty="0">
                <a:solidFill>
                  <a:srgbClr val="0066CC"/>
                </a:solidFill>
              </a:rPr>
              <a:t>)</a:t>
            </a: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TCP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三次握手开始！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3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客户端发送</a:t>
            </a:r>
            <a:r>
              <a:rPr lang="en-US" altLang="zh-CN" dirty="0">
                <a:solidFill>
                  <a:srgbClr val="0066CC"/>
                </a:solidFill>
              </a:rPr>
              <a:t>TCP SYN</a:t>
            </a:r>
            <a:r>
              <a:rPr lang="zh-CN" altLang="en-US" dirty="0">
                <a:solidFill>
                  <a:srgbClr val="0066CC"/>
                </a:solidFill>
              </a:rPr>
              <a:t>请求</a:t>
            </a:r>
            <a:endParaRPr lang="zh-CN" altLang="en-US" dirty="0">
              <a:solidFill>
                <a:srgbClr val="0066CC"/>
              </a:solidFill>
              <a:effectLst/>
            </a:endParaRPr>
          </a:p>
          <a:p>
            <a:pPr>
              <a:spcBef>
                <a:spcPts val="450"/>
              </a:spcBef>
            </a:pP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16" name="Group 356"/>
          <p:cNvGrpSpPr>
            <a:grpSpLocks/>
          </p:cNvGrpSpPr>
          <p:nvPr/>
        </p:nvGrpSpPr>
        <p:grpSpPr bwMode="auto">
          <a:xfrm>
            <a:off x="2626464" y="3826278"/>
            <a:ext cx="632222" cy="610791"/>
            <a:chOff x="313" y="1497"/>
            <a:chExt cx="1152" cy="1014"/>
          </a:xfrm>
        </p:grpSpPr>
        <p:pic>
          <p:nvPicPr>
            <p:cNvPr id="17" name="Picture 354" descr="laptop_stylized_small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355" descr="antenna_stylized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0" name="Picture 15" descr="User-icon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898" y="4033991"/>
            <a:ext cx="465425" cy="46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 Box 138"/>
          <p:cNvSpPr txBox="1">
            <a:spLocks noChangeArrowheads="1"/>
          </p:cNvSpPr>
          <p:nvPr/>
        </p:nvSpPr>
        <p:spPr bwMode="auto">
          <a:xfrm>
            <a:off x="5925145" y="4340719"/>
            <a:ext cx="93487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</a:rPr>
              <a:t>web server</a:t>
            </a:r>
          </a:p>
        </p:txBody>
      </p:sp>
      <p:pic>
        <p:nvPicPr>
          <p:cNvPr id="56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8596" y="3961504"/>
            <a:ext cx="330902" cy="131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7" name="Group 110"/>
          <p:cNvGrpSpPr>
            <a:grpSpLocks/>
          </p:cNvGrpSpPr>
          <p:nvPr/>
        </p:nvGrpSpPr>
        <p:grpSpPr bwMode="auto">
          <a:xfrm>
            <a:off x="5719892" y="3964821"/>
            <a:ext cx="336786" cy="168746"/>
            <a:chOff x="2466" y="2026"/>
            <a:chExt cx="477" cy="282"/>
          </a:xfrm>
        </p:grpSpPr>
        <p:sp>
          <p:nvSpPr>
            <p:cNvPr id="58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9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0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62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69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0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1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63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66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67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68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64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5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88" name="Group 110"/>
          <p:cNvGrpSpPr>
            <a:grpSpLocks/>
          </p:cNvGrpSpPr>
          <p:nvPr/>
        </p:nvGrpSpPr>
        <p:grpSpPr bwMode="auto">
          <a:xfrm>
            <a:off x="4512469" y="4225641"/>
            <a:ext cx="336786" cy="168746"/>
            <a:chOff x="2466" y="2026"/>
            <a:chExt cx="477" cy="282"/>
          </a:xfrm>
        </p:grpSpPr>
        <p:sp>
          <p:nvSpPr>
            <p:cNvPr id="89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0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1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93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100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01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02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94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97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8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9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95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6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cxnSp>
        <p:nvCxnSpPr>
          <p:cNvPr id="103" name="直接连接符 102"/>
          <p:cNvCxnSpPr>
            <a:endCxn id="56" idx="1"/>
          </p:cNvCxnSpPr>
          <p:nvPr/>
        </p:nvCxnSpPr>
        <p:spPr>
          <a:xfrm flipV="1">
            <a:off x="3258686" y="4027207"/>
            <a:ext cx="349910" cy="2089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>
            <a:stCxn id="92" idx="2"/>
          </p:cNvCxnSpPr>
          <p:nvPr/>
        </p:nvCxnSpPr>
        <p:spPr>
          <a:xfrm flipH="1" flipV="1">
            <a:off x="3823138" y="4091679"/>
            <a:ext cx="689331" cy="181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 flipH="1">
            <a:off x="4848549" y="4237648"/>
            <a:ext cx="244293" cy="58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 flipH="1">
            <a:off x="5484288" y="4088375"/>
            <a:ext cx="244293" cy="58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/>
        </p:nvCxnSpPr>
        <p:spPr>
          <a:xfrm flipH="1">
            <a:off x="5172002" y="4162915"/>
            <a:ext cx="244293" cy="5811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 flipH="1" flipV="1">
            <a:off x="6053369" y="4054580"/>
            <a:ext cx="689331" cy="181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48"/>
          <p:cNvGrpSpPr>
            <a:grpSpLocks/>
          </p:cNvGrpSpPr>
          <p:nvPr/>
        </p:nvGrpSpPr>
        <p:grpSpPr bwMode="auto">
          <a:xfrm>
            <a:off x="6596717" y="3887405"/>
            <a:ext cx="269080" cy="467916"/>
            <a:chOff x="4140" y="429"/>
            <a:chExt cx="1425" cy="2396"/>
          </a:xfrm>
        </p:grpSpPr>
        <p:sp>
          <p:nvSpPr>
            <p:cNvPr id="24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5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6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7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8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9" name="Group 153"/>
            <p:cNvGrpSpPr>
              <a:grpSpLocks/>
            </p:cNvGrpSpPr>
            <p:nvPr/>
          </p:nvGrpSpPr>
          <p:grpSpPr bwMode="auto">
            <a:xfrm>
              <a:off x="4751" y="666"/>
              <a:ext cx="580" cy="146"/>
              <a:chOff x="617" y="2567"/>
              <a:chExt cx="724" cy="140"/>
            </a:xfrm>
          </p:grpSpPr>
          <p:sp>
            <p:nvSpPr>
              <p:cNvPr id="54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5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30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31" name="Group 157"/>
            <p:cNvGrpSpPr>
              <a:grpSpLocks/>
            </p:cNvGrpSpPr>
            <p:nvPr/>
          </p:nvGrpSpPr>
          <p:grpSpPr bwMode="auto"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52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3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32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34" name="Group 162"/>
            <p:cNvGrpSpPr>
              <a:grpSpLocks/>
            </p:cNvGrpSpPr>
            <p:nvPr/>
          </p:nvGrpSpPr>
          <p:grpSpPr bwMode="auto">
            <a:xfrm>
              <a:off x="4733" y="1633"/>
              <a:ext cx="586" cy="140"/>
              <a:chOff x="611" y="2576"/>
              <a:chExt cx="730" cy="129"/>
            </a:xfrm>
          </p:grpSpPr>
          <p:sp>
            <p:nvSpPr>
              <p:cNvPr id="50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1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35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grpSp>
          <p:nvGrpSpPr>
            <p:cNvPr id="36" name="Group 166"/>
            <p:cNvGrpSpPr>
              <a:grpSpLocks/>
            </p:cNvGrpSpPr>
            <p:nvPr/>
          </p:nvGrpSpPr>
          <p:grpSpPr bwMode="auto"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48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49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37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8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39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40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1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42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3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4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5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6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7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115" name="Group 43"/>
          <p:cNvGrpSpPr>
            <a:grpSpLocks/>
          </p:cNvGrpSpPr>
          <p:nvPr/>
        </p:nvGrpSpPr>
        <p:grpSpPr bwMode="auto">
          <a:xfrm>
            <a:off x="2428162" y="3103577"/>
            <a:ext cx="732234" cy="1095375"/>
            <a:chOff x="651" y="681"/>
            <a:chExt cx="615" cy="920"/>
          </a:xfrm>
        </p:grpSpPr>
        <p:sp>
          <p:nvSpPr>
            <p:cNvPr id="116" name="Freeform 44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117" name="Group 45"/>
            <p:cNvGrpSpPr>
              <a:grpSpLocks/>
            </p:cNvGrpSpPr>
            <p:nvPr/>
          </p:nvGrpSpPr>
          <p:grpSpPr bwMode="auto">
            <a:xfrm>
              <a:off x="651" y="681"/>
              <a:ext cx="509" cy="853"/>
              <a:chOff x="569" y="2954"/>
              <a:chExt cx="509" cy="853"/>
            </a:xfrm>
          </p:grpSpPr>
          <p:sp>
            <p:nvSpPr>
              <p:cNvPr id="118" name="Rectangle 46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19" name="Text Box 47"/>
              <p:cNvSpPr txBox="1">
                <a:spLocks noChangeArrowheads="1"/>
              </p:cNvSpPr>
              <p:nvPr/>
            </p:nvSpPr>
            <p:spPr bwMode="auto">
              <a:xfrm>
                <a:off x="585" y="2954"/>
                <a:ext cx="493" cy="8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HTTP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TCP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IP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Eth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 err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Phy</a:t>
                </a:r>
                <a:endParaRPr lang="en-US" altLang="zh-CN" sz="12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20" name="Line 48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" name="Line 49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2" name="Line 50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3" name="Line 51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124" name="Group 325"/>
          <p:cNvGrpSpPr>
            <a:grpSpLocks/>
          </p:cNvGrpSpPr>
          <p:nvPr/>
        </p:nvGrpSpPr>
        <p:grpSpPr bwMode="auto">
          <a:xfrm>
            <a:off x="1863806" y="3083336"/>
            <a:ext cx="435769" cy="250031"/>
            <a:chOff x="328" y="678"/>
            <a:chExt cx="366" cy="210"/>
          </a:xfrm>
        </p:grpSpPr>
        <p:grpSp>
          <p:nvGrpSpPr>
            <p:cNvPr id="125" name="Group 52"/>
            <p:cNvGrpSpPr>
              <a:grpSpLocks/>
            </p:cNvGrpSpPr>
            <p:nvPr/>
          </p:nvGrpSpPr>
          <p:grpSpPr bwMode="auto">
            <a:xfrm>
              <a:off x="328" y="693"/>
              <a:ext cx="366" cy="174"/>
              <a:chOff x="844" y="3337"/>
              <a:chExt cx="366" cy="174"/>
            </a:xfrm>
          </p:grpSpPr>
          <p:sp>
            <p:nvSpPr>
              <p:cNvPr id="127" name="Rectangle 53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28" name="Text Box 54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6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750">
                    <a:solidFill>
                      <a:srgbClr val="FFFFFF"/>
                    </a:solidFill>
                    <a:latin typeface="Arial" panose="020B0604020202020204" pitchFamily="34" charset="0"/>
                  </a:rPr>
                  <a:t>HTTP</a:t>
                </a:r>
              </a:p>
            </p:txBody>
          </p:sp>
        </p:grpSp>
        <p:sp>
          <p:nvSpPr>
            <p:cNvPr id="126" name="AutoShape 85"/>
            <p:cNvSpPr>
              <a:spLocks noChangeArrowheads="1"/>
            </p:cNvSpPr>
            <p:nvPr/>
          </p:nvSpPr>
          <p:spPr bwMode="auto">
            <a:xfrm>
              <a:off x="396" y="678"/>
              <a:ext cx="240" cy="210"/>
            </a:xfrm>
            <a:prstGeom prst="downArrow">
              <a:avLst>
                <a:gd name="adj1" fmla="val 49167"/>
                <a:gd name="adj2" fmla="val 24292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129" name="Group 314"/>
          <p:cNvGrpSpPr>
            <a:grpSpLocks/>
          </p:cNvGrpSpPr>
          <p:nvPr/>
        </p:nvGrpSpPr>
        <p:grpSpPr bwMode="auto">
          <a:xfrm>
            <a:off x="1591152" y="3717944"/>
            <a:ext cx="810816" cy="207170"/>
            <a:chOff x="410" y="1508"/>
            <a:chExt cx="681" cy="174"/>
          </a:xfrm>
        </p:grpSpPr>
        <p:sp>
          <p:nvSpPr>
            <p:cNvPr id="130" name="Rectangle 99"/>
            <p:cNvSpPr>
              <a:spLocks noChangeArrowheads="1"/>
            </p:cNvSpPr>
            <p:nvPr/>
          </p:nvSpPr>
          <p:spPr bwMode="auto">
            <a:xfrm>
              <a:off x="410" y="1511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31" name="Rectangle 95"/>
            <p:cNvSpPr>
              <a:spLocks noChangeArrowheads="1"/>
            </p:cNvSpPr>
            <p:nvPr/>
          </p:nvSpPr>
          <p:spPr bwMode="auto">
            <a:xfrm>
              <a:off x="538" y="1536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32" name="Rectangle 96"/>
            <p:cNvSpPr>
              <a:spLocks noChangeArrowheads="1"/>
            </p:cNvSpPr>
            <p:nvPr/>
          </p:nvSpPr>
          <p:spPr bwMode="auto">
            <a:xfrm>
              <a:off x="529" y="1525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33" name="Rectangle 97"/>
            <p:cNvSpPr>
              <a:spLocks noChangeArrowheads="1"/>
            </p:cNvSpPr>
            <p:nvPr/>
          </p:nvSpPr>
          <p:spPr bwMode="auto">
            <a:xfrm>
              <a:off x="423" y="1527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34" name="Rectangle 98"/>
            <p:cNvSpPr>
              <a:spLocks noChangeArrowheads="1"/>
            </p:cNvSpPr>
            <p:nvPr/>
          </p:nvSpPr>
          <p:spPr bwMode="auto">
            <a:xfrm>
              <a:off x="1021" y="1526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135" name="Group 310"/>
            <p:cNvGrpSpPr>
              <a:grpSpLocks/>
            </p:cNvGrpSpPr>
            <p:nvPr/>
          </p:nvGrpSpPr>
          <p:grpSpPr bwMode="auto">
            <a:xfrm>
              <a:off x="647" y="1508"/>
              <a:ext cx="363" cy="174"/>
              <a:chOff x="290" y="875"/>
              <a:chExt cx="363" cy="174"/>
            </a:xfrm>
          </p:grpSpPr>
          <p:sp>
            <p:nvSpPr>
              <p:cNvPr id="136" name="Rectangle 311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37" name="Rectangle 312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38" name="Text Box 313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32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750">
                    <a:solidFill>
                      <a:srgbClr val="000000"/>
                    </a:solidFill>
                    <a:latin typeface="Arial" panose="020B0604020202020204" pitchFamily="34" charset="0"/>
                  </a:rPr>
                  <a:t>SYN</a:t>
                </a:r>
              </a:p>
            </p:txBody>
          </p:sp>
        </p:grpSp>
      </p:grpSp>
      <p:grpSp>
        <p:nvGrpSpPr>
          <p:cNvPr id="139" name="Group 337"/>
          <p:cNvGrpSpPr>
            <a:grpSpLocks/>
          </p:cNvGrpSpPr>
          <p:nvPr/>
        </p:nvGrpSpPr>
        <p:grpSpPr bwMode="auto">
          <a:xfrm>
            <a:off x="1591152" y="3309555"/>
            <a:ext cx="810816" cy="610791"/>
            <a:chOff x="59" y="863"/>
            <a:chExt cx="681" cy="513"/>
          </a:xfrm>
        </p:grpSpPr>
        <p:grpSp>
          <p:nvGrpSpPr>
            <p:cNvPr id="140" name="Group 338"/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159" name="Rectangle 339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60" name="Rectangle 340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141" name="Group 341"/>
            <p:cNvGrpSpPr>
              <a:grpSpLocks/>
            </p:cNvGrpSpPr>
            <p:nvPr/>
          </p:nvGrpSpPr>
          <p:grpSpPr bwMode="auto">
            <a:xfrm>
              <a:off x="290" y="863"/>
              <a:ext cx="363" cy="174"/>
              <a:chOff x="290" y="875"/>
              <a:chExt cx="363" cy="174"/>
            </a:xfrm>
          </p:grpSpPr>
          <p:sp>
            <p:nvSpPr>
              <p:cNvPr id="156" name="Rectangle 342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57" name="Rectangle 343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58" name="Text Box 344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32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750">
                    <a:solidFill>
                      <a:srgbClr val="000000"/>
                    </a:solidFill>
                    <a:latin typeface="Arial" panose="020B0604020202020204" pitchFamily="34" charset="0"/>
                  </a:rPr>
                  <a:t>SYN</a:t>
                </a:r>
              </a:p>
            </p:txBody>
          </p:sp>
        </p:grpSp>
        <p:grpSp>
          <p:nvGrpSpPr>
            <p:cNvPr id="142" name="Group 345"/>
            <p:cNvGrpSpPr>
              <a:grpSpLocks/>
            </p:cNvGrpSpPr>
            <p:nvPr/>
          </p:nvGrpSpPr>
          <p:grpSpPr bwMode="auto">
            <a:xfrm>
              <a:off x="284" y="1022"/>
              <a:ext cx="363" cy="174"/>
              <a:chOff x="290" y="875"/>
              <a:chExt cx="363" cy="174"/>
            </a:xfrm>
          </p:grpSpPr>
          <p:sp>
            <p:nvSpPr>
              <p:cNvPr id="153" name="Rectangle 346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54" name="Rectangle 347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55" name="Text Box 348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32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750">
                    <a:solidFill>
                      <a:srgbClr val="000000"/>
                    </a:solidFill>
                    <a:latin typeface="Arial" panose="020B0604020202020204" pitchFamily="34" charset="0"/>
                  </a:rPr>
                  <a:t>SYN</a:t>
                </a:r>
              </a:p>
            </p:txBody>
          </p:sp>
        </p:grpSp>
        <p:grpSp>
          <p:nvGrpSpPr>
            <p:cNvPr id="143" name="Group 349"/>
            <p:cNvGrpSpPr>
              <a:grpSpLocks/>
            </p:cNvGrpSpPr>
            <p:nvPr/>
          </p:nvGrpSpPr>
          <p:grpSpPr bwMode="auto">
            <a:xfrm>
              <a:off x="59" y="1202"/>
              <a:ext cx="681" cy="174"/>
              <a:chOff x="410" y="1508"/>
              <a:chExt cx="681" cy="174"/>
            </a:xfrm>
          </p:grpSpPr>
          <p:sp>
            <p:nvSpPr>
              <p:cNvPr id="144" name="Rectangle 350"/>
              <p:cNvSpPr>
                <a:spLocks noChangeArrowheads="1"/>
              </p:cNvSpPr>
              <p:nvPr/>
            </p:nvSpPr>
            <p:spPr bwMode="auto">
              <a:xfrm>
                <a:off x="410" y="1511"/>
                <a:ext cx="681" cy="1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45" name="Rectangle 351"/>
              <p:cNvSpPr>
                <a:spLocks noChangeArrowheads="1"/>
              </p:cNvSpPr>
              <p:nvPr/>
            </p:nvSpPr>
            <p:spPr bwMode="auto">
              <a:xfrm>
                <a:off x="538" y="1536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46" name="Rectangle 352"/>
              <p:cNvSpPr>
                <a:spLocks noChangeArrowheads="1"/>
              </p:cNvSpPr>
              <p:nvPr/>
            </p:nvSpPr>
            <p:spPr bwMode="auto">
              <a:xfrm>
                <a:off x="529" y="1525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47" name="Rectangle 353"/>
              <p:cNvSpPr>
                <a:spLocks noChangeArrowheads="1"/>
              </p:cNvSpPr>
              <p:nvPr/>
            </p:nvSpPr>
            <p:spPr bwMode="auto">
              <a:xfrm>
                <a:off x="423" y="1527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48" name="Rectangle 354"/>
              <p:cNvSpPr>
                <a:spLocks noChangeArrowheads="1"/>
              </p:cNvSpPr>
              <p:nvPr/>
            </p:nvSpPr>
            <p:spPr bwMode="auto">
              <a:xfrm>
                <a:off x="1021" y="1526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149" name="Group 355"/>
              <p:cNvGrpSpPr>
                <a:grpSpLocks/>
              </p:cNvGrpSpPr>
              <p:nvPr/>
            </p:nvGrpSpPr>
            <p:grpSpPr bwMode="auto">
              <a:xfrm>
                <a:off x="647" y="1508"/>
                <a:ext cx="363" cy="174"/>
                <a:chOff x="290" y="875"/>
                <a:chExt cx="363" cy="174"/>
              </a:xfrm>
            </p:grpSpPr>
            <p:sp>
              <p:nvSpPr>
                <p:cNvPr id="150" name="Rectangle 356"/>
                <p:cNvSpPr>
                  <a:spLocks noChangeArrowheads="1"/>
                </p:cNvSpPr>
                <p:nvPr/>
              </p:nvSpPr>
              <p:spPr bwMode="auto"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151" name="Rectangle 357"/>
                <p:cNvSpPr>
                  <a:spLocks noChangeArrowheads="1"/>
                </p:cNvSpPr>
                <p:nvPr/>
              </p:nvSpPr>
              <p:spPr bwMode="auto"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152" name="Text Box 358"/>
                <p:cNvSpPr txBox="1">
                  <a:spLocks noChangeArrowheads="1"/>
                </p:cNvSpPr>
                <p:nvPr/>
              </p:nvSpPr>
              <p:spPr bwMode="auto">
                <a:xfrm>
                  <a:off x="332" y="875"/>
                  <a:ext cx="321" cy="1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75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SYN</a:t>
                  </a:r>
                </a:p>
              </p:txBody>
            </p:sp>
          </p:grpSp>
        </p:grpSp>
      </p:grpSp>
      <p:sp>
        <p:nvSpPr>
          <p:cNvPr id="161" name="灯片编号占位符 2">
            <a:extLst>
              <a:ext uri="{FF2B5EF4-FFF2-40B4-BE49-F238E27FC236}">
                <a16:creationId xmlns:a16="http://schemas.microsoft.com/office/drawing/2014/main" id="{4FB84071-4FF8-46DD-827E-E4A92CD47EA6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21</a:t>
            </a:fld>
            <a:endParaRPr lang="en-US" altLang="zh-CN" dirty="0"/>
          </a:p>
        </p:txBody>
      </p:sp>
      <p:sp>
        <p:nvSpPr>
          <p:cNvPr id="162" name="AutoShape 5">
            <a:extLst>
              <a:ext uri="{FF2B5EF4-FFF2-40B4-BE49-F238E27FC236}">
                <a16:creationId xmlns:a16="http://schemas.microsoft.com/office/drawing/2014/main" id="{4F2E5F4F-EAFE-4382-9BB9-E362B76A2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63" name="图片 162">
            <a:extLst>
              <a:ext uri="{FF2B5EF4-FFF2-40B4-BE49-F238E27FC236}">
                <a16:creationId xmlns:a16="http://schemas.microsoft.com/office/drawing/2014/main" id="{693D51A7-F947-40AB-AC2A-1EF4757981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3966" y="3725870"/>
            <a:ext cx="957628" cy="62339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068728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8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" grpId="0" animBg="1"/>
      <p:bldP spid="162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5.7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总结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: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自底向上回顾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87574"/>
            <a:ext cx="7560840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一次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请求所要做的工作：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开始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请求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(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还要准备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)</a:t>
            </a: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(18) HTTP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TCP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的合作：套接字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pPr lvl="3">
              <a:spcBef>
                <a:spcPts val="450"/>
              </a:spcBef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浏览器创建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Socket (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四元组标识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 lvl="4">
              <a:spcBef>
                <a:spcPts val="45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Sport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：浏览器随机生成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;  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</a:rPr>
              <a:t>Dport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：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80</a:t>
            </a:r>
          </a:p>
          <a:p>
            <a:pPr lvl="4">
              <a:spcBef>
                <a:spcPts val="45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SIP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：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Bob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的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IP; DIP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：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</a:rPr>
              <a:t>deepseek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 WWW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的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IP(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刚刚通过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DNS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查询到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TCP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三次握手开始！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(19) </a:t>
            </a:r>
            <a:r>
              <a:rPr lang="zh-CN" altLang="en-US" dirty="0">
                <a:solidFill>
                  <a:srgbClr val="0066CC"/>
                </a:solidFill>
              </a:rPr>
              <a:t>路由转发</a:t>
            </a:r>
            <a:r>
              <a:rPr lang="en-US" altLang="zh-CN" dirty="0">
                <a:solidFill>
                  <a:srgbClr val="0066CC"/>
                </a:solidFill>
              </a:rPr>
              <a:t>…</a:t>
            </a:r>
            <a:endParaRPr lang="zh-CN" altLang="en-US" dirty="0">
              <a:solidFill>
                <a:srgbClr val="0066CC"/>
              </a:solidFill>
              <a:effectLst/>
            </a:endParaRPr>
          </a:p>
          <a:p>
            <a:pPr>
              <a:spcBef>
                <a:spcPts val="450"/>
              </a:spcBef>
            </a:pP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16" name="Group 356"/>
          <p:cNvGrpSpPr>
            <a:grpSpLocks/>
          </p:cNvGrpSpPr>
          <p:nvPr/>
        </p:nvGrpSpPr>
        <p:grpSpPr bwMode="auto">
          <a:xfrm>
            <a:off x="2626464" y="3826278"/>
            <a:ext cx="632222" cy="610791"/>
            <a:chOff x="313" y="1497"/>
            <a:chExt cx="1152" cy="1014"/>
          </a:xfrm>
        </p:grpSpPr>
        <p:pic>
          <p:nvPicPr>
            <p:cNvPr id="17" name="Picture 354" descr="laptop_stylized_small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355" descr="antenna_stylized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" name="Text Box 138"/>
          <p:cNvSpPr txBox="1">
            <a:spLocks noChangeArrowheads="1"/>
          </p:cNvSpPr>
          <p:nvPr/>
        </p:nvSpPr>
        <p:spPr bwMode="auto">
          <a:xfrm>
            <a:off x="5925145" y="4340719"/>
            <a:ext cx="93487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</a:rPr>
              <a:t>web server</a:t>
            </a:r>
          </a:p>
        </p:txBody>
      </p:sp>
      <p:pic>
        <p:nvPicPr>
          <p:cNvPr id="56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8596" y="3961504"/>
            <a:ext cx="330902" cy="131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7" name="Group 110"/>
          <p:cNvGrpSpPr>
            <a:grpSpLocks/>
          </p:cNvGrpSpPr>
          <p:nvPr/>
        </p:nvGrpSpPr>
        <p:grpSpPr bwMode="auto">
          <a:xfrm>
            <a:off x="5719892" y="3964821"/>
            <a:ext cx="336786" cy="168746"/>
            <a:chOff x="2466" y="2026"/>
            <a:chExt cx="477" cy="282"/>
          </a:xfrm>
        </p:grpSpPr>
        <p:sp>
          <p:nvSpPr>
            <p:cNvPr id="58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9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0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62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69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0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1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63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66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67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68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64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5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88" name="Group 110"/>
          <p:cNvGrpSpPr>
            <a:grpSpLocks/>
          </p:cNvGrpSpPr>
          <p:nvPr/>
        </p:nvGrpSpPr>
        <p:grpSpPr bwMode="auto">
          <a:xfrm>
            <a:off x="4512469" y="4225641"/>
            <a:ext cx="336786" cy="168746"/>
            <a:chOff x="2466" y="2026"/>
            <a:chExt cx="477" cy="282"/>
          </a:xfrm>
        </p:grpSpPr>
        <p:sp>
          <p:nvSpPr>
            <p:cNvPr id="89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0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1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93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100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01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02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94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97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8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9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95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6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cxnSp>
        <p:nvCxnSpPr>
          <p:cNvPr id="103" name="直接连接符 102"/>
          <p:cNvCxnSpPr>
            <a:endCxn id="56" idx="1"/>
          </p:cNvCxnSpPr>
          <p:nvPr/>
        </p:nvCxnSpPr>
        <p:spPr>
          <a:xfrm flipV="1">
            <a:off x="3258686" y="4027207"/>
            <a:ext cx="349910" cy="2089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>
            <a:stCxn id="92" idx="2"/>
          </p:cNvCxnSpPr>
          <p:nvPr/>
        </p:nvCxnSpPr>
        <p:spPr>
          <a:xfrm flipH="1" flipV="1">
            <a:off x="3823138" y="4091679"/>
            <a:ext cx="689331" cy="181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 flipH="1">
            <a:off x="4848549" y="4237648"/>
            <a:ext cx="244293" cy="58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 flipH="1">
            <a:off x="5484288" y="4088375"/>
            <a:ext cx="244293" cy="58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/>
        </p:nvCxnSpPr>
        <p:spPr>
          <a:xfrm flipH="1">
            <a:off x="5172002" y="4162915"/>
            <a:ext cx="244293" cy="5811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 flipH="1" flipV="1">
            <a:off x="6053369" y="4054580"/>
            <a:ext cx="689331" cy="181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48"/>
          <p:cNvGrpSpPr>
            <a:grpSpLocks/>
          </p:cNvGrpSpPr>
          <p:nvPr/>
        </p:nvGrpSpPr>
        <p:grpSpPr bwMode="auto">
          <a:xfrm>
            <a:off x="6596717" y="3887405"/>
            <a:ext cx="269080" cy="467916"/>
            <a:chOff x="4140" y="429"/>
            <a:chExt cx="1425" cy="2396"/>
          </a:xfrm>
        </p:grpSpPr>
        <p:sp>
          <p:nvSpPr>
            <p:cNvPr id="24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5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6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7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8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9" name="Group 153"/>
            <p:cNvGrpSpPr>
              <a:grpSpLocks/>
            </p:cNvGrpSpPr>
            <p:nvPr/>
          </p:nvGrpSpPr>
          <p:grpSpPr bwMode="auto">
            <a:xfrm>
              <a:off x="4751" y="666"/>
              <a:ext cx="580" cy="146"/>
              <a:chOff x="617" y="2567"/>
              <a:chExt cx="724" cy="140"/>
            </a:xfrm>
          </p:grpSpPr>
          <p:sp>
            <p:nvSpPr>
              <p:cNvPr id="54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5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30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31" name="Group 157"/>
            <p:cNvGrpSpPr>
              <a:grpSpLocks/>
            </p:cNvGrpSpPr>
            <p:nvPr/>
          </p:nvGrpSpPr>
          <p:grpSpPr bwMode="auto"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52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3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32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34" name="Group 162"/>
            <p:cNvGrpSpPr>
              <a:grpSpLocks/>
            </p:cNvGrpSpPr>
            <p:nvPr/>
          </p:nvGrpSpPr>
          <p:grpSpPr bwMode="auto">
            <a:xfrm>
              <a:off x="4733" y="1633"/>
              <a:ext cx="586" cy="140"/>
              <a:chOff x="611" y="2576"/>
              <a:chExt cx="730" cy="129"/>
            </a:xfrm>
          </p:grpSpPr>
          <p:sp>
            <p:nvSpPr>
              <p:cNvPr id="50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1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35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grpSp>
          <p:nvGrpSpPr>
            <p:cNvPr id="36" name="Group 166"/>
            <p:cNvGrpSpPr>
              <a:grpSpLocks/>
            </p:cNvGrpSpPr>
            <p:nvPr/>
          </p:nvGrpSpPr>
          <p:grpSpPr bwMode="auto"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48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49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37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8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39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40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1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42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3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4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5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6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7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182" name="组合 181"/>
          <p:cNvGrpSpPr/>
          <p:nvPr/>
        </p:nvGrpSpPr>
        <p:grpSpPr>
          <a:xfrm>
            <a:off x="4598710" y="3545352"/>
            <a:ext cx="680421" cy="685609"/>
            <a:chOff x="5052333" y="5054856"/>
            <a:chExt cx="907228" cy="914145"/>
          </a:xfrm>
        </p:grpSpPr>
        <p:sp>
          <p:nvSpPr>
            <p:cNvPr id="183" name="Freeform 45"/>
            <p:cNvSpPr>
              <a:spLocks/>
            </p:cNvSpPr>
            <p:nvPr/>
          </p:nvSpPr>
          <p:spPr bwMode="auto">
            <a:xfrm flipH="1">
              <a:off x="5052333" y="5076636"/>
              <a:ext cx="666635" cy="892365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184" name="Group 46"/>
            <p:cNvGrpSpPr>
              <a:grpSpLocks/>
            </p:cNvGrpSpPr>
            <p:nvPr/>
          </p:nvGrpSpPr>
          <p:grpSpPr bwMode="auto">
            <a:xfrm>
              <a:off x="5165811" y="5054856"/>
              <a:ext cx="793750" cy="874713"/>
              <a:chOff x="569" y="3288"/>
              <a:chExt cx="500" cy="551"/>
            </a:xfrm>
          </p:grpSpPr>
          <p:sp>
            <p:nvSpPr>
              <p:cNvPr id="185" name="Rectangle 47"/>
              <p:cNvSpPr>
                <a:spLocks noChangeArrowheads="1"/>
              </p:cNvSpPr>
              <p:nvPr/>
            </p:nvSpPr>
            <p:spPr bwMode="auto">
              <a:xfrm>
                <a:off x="576" y="3288"/>
                <a:ext cx="493" cy="47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86" name="Text Box 48"/>
              <p:cNvSpPr txBox="1">
                <a:spLocks noChangeArrowheads="1"/>
              </p:cNvSpPr>
              <p:nvPr/>
            </p:nvSpPr>
            <p:spPr bwMode="auto">
              <a:xfrm>
                <a:off x="631" y="3296"/>
                <a:ext cx="377" cy="5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latin typeface="Arial" panose="020B0604020202020204" pitchFamily="34" charset="0"/>
                  </a:rPr>
                  <a:t>IP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latin typeface="Arial" panose="020B0604020202020204" pitchFamily="34" charset="0"/>
                  </a:rPr>
                  <a:t>Eth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 err="1">
                    <a:latin typeface="Arial" panose="020B0604020202020204" pitchFamily="34" charset="0"/>
                  </a:rPr>
                  <a:t>Phy</a:t>
                </a:r>
                <a:endParaRPr lang="en-US" altLang="zh-CN" sz="12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7" name="Line 50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88" name="Line 51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89" name="Line 52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190" name="组合 189"/>
          <p:cNvGrpSpPr/>
          <p:nvPr/>
        </p:nvGrpSpPr>
        <p:grpSpPr>
          <a:xfrm>
            <a:off x="4387900" y="4441079"/>
            <a:ext cx="813197" cy="213113"/>
            <a:chOff x="597536" y="4949335"/>
            <a:chExt cx="1084263" cy="284151"/>
          </a:xfrm>
        </p:grpSpPr>
        <p:grpSp>
          <p:nvGrpSpPr>
            <p:cNvPr id="191" name="Group 314"/>
            <p:cNvGrpSpPr>
              <a:grpSpLocks/>
            </p:cNvGrpSpPr>
            <p:nvPr/>
          </p:nvGrpSpPr>
          <p:grpSpPr bwMode="auto">
            <a:xfrm>
              <a:off x="597536" y="4957260"/>
              <a:ext cx="1081088" cy="276226"/>
              <a:chOff x="410" y="1508"/>
              <a:chExt cx="681" cy="174"/>
            </a:xfrm>
          </p:grpSpPr>
          <p:sp>
            <p:nvSpPr>
              <p:cNvPr id="211" name="Rectangle 99"/>
              <p:cNvSpPr>
                <a:spLocks noChangeArrowheads="1"/>
              </p:cNvSpPr>
              <p:nvPr/>
            </p:nvSpPr>
            <p:spPr bwMode="auto">
              <a:xfrm>
                <a:off x="410" y="1511"/>
                <a:ext cx="681" cy="1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12" name="Rectangle 95"/>
              <p:cNvSpPr>
                <a:spLocks noChangeArrowheads="1"/>
              </p:cNvSpPr>
              <p:nvPr/>
            </p:nvSpPr>
            <p:spPr bwMode="auto">
              <a:xfrm>
                <a:off x="538" y="1536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13" name="Rectangle 96"/>
              <p:cNvSpPr>
                <a:spLocks noChangeArrowheads="1"/>
              </p:cNvSpPr>
              <p:nvPr/>
            </p:nvSpPr>
            <p:spPr bwMode="auto">
              <a:xfrm>
                <a:off x="529" y="1525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14" name="Rectangle 97"/>
              <p:cNvSpPr>
                <a:spLocks noChangeArrowheads="1"/>
              </p:cNvSpPr>
              <p:nvPr/>
            </p:nvSpPr>
            <p:spPr bwMode="auto">
              <a:xfrm>
                <a:off x="423" y="1527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15" name="Rectangle 98"/>
              <p:cNvSpPr>
                <a:spLocks noChangeArrowheads="1"/>
              </p:cNvSpPr>
              <p:nvPr/>
            </p:nvSpPr>
            <p:spPr bwMode="auto">
              <a:xfrm>
                <a:off x="1021" y="1526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216" name="Group 310"/>
              <p:cNvGrpSpPr>
                <a:grpSpLocks/>
              </p:cNvGrpSpPr>
              <p:nvPr/>
            </p:nvGrpSpPr>
            <p:grpSpPr bwMode="auto">
              <a:xfrm>
                <a:off x="647" y="1508"/>
                <a:ext cx="363" cy="174"/>
                <a:chOff x="290" y="875"/>
                <a:chExt cx="363" cy="174"/>
              </a:xfrm>
            </p:grpSpPr>
            <p:sp>
              <p:nvSpPr>
                <p:cNvPr id="217" name="Rectangle 311"/>
                <p:cNvSpPr>
                  <a:spLocks noChangeArrowheads="1"/>
                </p:cNvSpPr>
                <p:nvPr/>
              </p:nvSpPr>
              <p:spPr bwMode="auto"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218" name="Rectangle 312"/>
                <p:cNvSpPr>
                  <a:spLocks noChangeArrowheads="1"/>
                </p:cNvSpPr>
                <p:nvPr/>
              </p:nvSpPr>
              <p:spPr bwMode="auto"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219" name="Text Box 313"/>
                <p:cNvSpPr txBox="1">
                  <a:spLocks noChangeArrowheads="1"/>
                </p:cNvSpPr>
                <p:nvPr/>
              </p:nvSpPr>
              <p:spPr bwMode="auto">
                <a:xfrm>
                  <a:off x="332" y="875"/>
                  <a:ext cx="321" cy="1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75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SYN</a:t>
                  </a:r>
                </a:p>
              </p:txBody>
            </p:sp>
          </p:grpSp>
        </p:grpSp>
        <p:grpSp>
          <p:nvGrpSpPr>
            <p:cNvPr id="192" name="Group 349"/>
            <p:cNvGrpSpPr>
              <a:grpSpLocks/>
            </p:cNvGrpSpPr>
            <p:nvPr/>
          </p:nvGrpSpPr>
          <p:grpSpPr bwMode="auto">
            <a:xfrm>
              <a:off x="597536" y="4950910"/>
              <a:ext cx="1081088" cy="276226"/>
              <a:chOff x="410" y="1508"/>
              <a:chExt cx="681" cy="174"/>
            </a:xfrm>
          </p:grpSpPr>
          <p:sp>
            <p:nvSpPr>
              <p:cNvPr id="202" name="Rectangle 350"/>
              <p:cNvSpPr>
                <a:spLocks noChangeArrowheads="1"/>
              </p:cNvSpPr>
              <p:nvPr/>
            </p:nvSpPr>
            <p:spPr bwMode="auto">
              <a:xfrm>
                <a:off x="410" y="1511"/>
                <a:ext cx="681" cy="1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03" name="Rectangle 351"/>
              <p:cNvSpPr>
                <a:spLocks noChangeArrowheads="1"/>
              </p:cNvSpPr>
              <p:nvPr/>
            </p:nvSpPr>
            <p:spPr bwMode="auto">
              <a:xfrm>
                <a:off x="538" y="1536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04" name="Rectangle 352"/>
              <p:cNvSpPr>
                <a:spLocks noChangeArrowheads="1"/>
              </p:cNvSpPr>
              <p:nvPr/>
            </p:nvSpPr>
            <p:spPr bwMode="auto">
              <a:xfrm>
                <a:off x="529" y="1525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05" name="Rectangle 353"/>
              <p:cNvSpPr>
                <a:spLocks noChangeArrowheads="1"/>
              </p:cNvSpPr>
              <p:nvPr/>
            </p:nvSpPr>
            <p:spPr bwMode="auto">
              <a:xfrm>
                <a:off x="423" y="1527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06" name="Rectangle 354"/>
              <p:cNvSpPr>
                <a:spLocks noChangeArrowheads="1"/>
              </p:cNvSpPr>
              <p:nvPr/>
            </p:nvSpPr>
            <p:spPr bwMode="auto">
              <a:xfrm>
                <a:off x="1021" y="1526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207" name="Group 355"/>
              <p:cNvGrpSpPr>
                <a:grpSpLocks/>
              </p:cNvGrpSpPr>
              <p:nvPr/>
            </p:nvGrpSpPr>
            <p:grpSpPr bwMode="auto">
              <a:xfrm>
                <a:off x="647" y="1508"/>
                <a:ext cx="363" cy="174"/>
                <a:chOff x="290" y="875"/>
                <a:chExt cx="363" cy="174"/>
              </a:xfrm>
            </p:grpSpPr>
            <p:sp>
              <p:nvSpPr>
                <p:cNvPr id="208" name="Rectangle 356"/>
                <p:cNvSpPr>
                  <a:spLocks noChangeArrowheads="1"/>
                </p:cNvSpPr>
                <p:nvPr/>
              </p:nvSpPr>
              <p:spPr bwMode="auto"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209" name="Rectangle 357"/>
                <p:cNvSpPr>
                  <a:spLocks noChangeArrowheads="1"/>
                </p:cNvSpPr>
                <p:nvPr/>
              </p:nvSpPr>
              <p:spPr bwMode="auto"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210" name="Text Box 358"/>
                <p:cNvSpPr txBox="1">
                  <a:spLocks noChangeArrowheads="1"/>
                </p:cNvSpPr>
                <p:nvPr/>
              </p:nvSpPr>
              <p:spPr bwMode="auto">
                <a:xfrm>
                  <a:off x="332" y="875"/>
                  <a:ext cx="321" cy="1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75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SYN</a:t>
                  </a:r>
                </a:p>
              </p:txBody>
            </p:sp>
          </p:grpSp>
        </p:grpSp>
        <p:sp>
          <p:nvSpPr>
            <p:cNvPr id="193" name="Rectangle 400"/>
            <p:cNvSpPr>
              <a:spLocks noChangeArrowheads="1"/>
            </p:cNvSpPr>
            <p:nvPr/>
          </p:nvSpPr>
          <p:spPr bwMode="auto">
            <a:xfrm>
              <a:off x="600711" y="4954077"/>
              <a:ext cx="1081088" cy="2190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94" name="Rectangle 401"/>
            <p:cNvSpPr>
              <a:spLocks noChangeArrowheads="1"/>
            </p:cNvSpPr>
            <p:nvPr/>
          </p:nvSpPr>
          <p:spPr bwMode="auto">
            <a:xfrm>
              <a:off x="803911" y="4993764"/>
              <a:ext cx="152400" cy="1476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95" name="Rectangle 402"/>
            <p:cNvSpPr>
              <a:spLocks noChangeArrowheads="1"/>
            </p:cNvSpPr>
            <p:nvPr/>
          </p:nvSpPr>
          <p:spPr bwMode="auto">
            <a:xfrm>
              <a:off x="789624" y="4976302"/>
              <a:ext cx="762000" cy="177800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96" name="Rectangle 403"/>
            <p:cNvSpPr>
              <a:spLocks noChangeArrowheads="1"/>
            </p:cNvSpPr>
            <p:nvPr/>
          </p:nvSpPr>
          <p:spPr bwMode="auto">
            <a:xfrm>
              <a:off x="621349" y="4979477"/>
              <a:ext cx="149225" cy="17145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97" name="Rectangle 404"/>
            <p:cNvSpPr>
              <a:spLocks noChangeArrowheads="1"/>
            </p:cNvSpPr>
            <p:nvPr/>
          </p:nvSpPr>
          <p:spPr bwMode="auto">
            <a:xfrm>
              <a:off x="1570674" y="4977889"/>
              <a:ext cx="95250" cy="17145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198" name="Group 409"/>
            <p:cNvGrpSpPr>
              <a:grpSpLocks/>
            </p:cNvGrpSpPr>
            <p:nvPr/>
          </p:nvGrpSpPr>
          <p:grpSpPr bwMode="auto">
            <a:xfrm>
              <a:off x="972187" y="4949335"/>
              <a:ext cx="561975" cy="276226"/>
              <a:chOff x="2759" y="3676"/>
              <a:chExt cx="354" cy="174"/>
            </a:xfrm>
          </p:grpSpPr>
          <p:sp>
            <p:nvSpPr>
              <p:cNvPr id="199" name="Rectangle 410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00" name="Rectangle 411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01" name="Text Box 412"/>
              <p:cNvSpPr txBox="1">
                <a:spLocks noChangeArrowheads="1"/>
              </p:cNvSpPr>
              <p:nvPr/>
            </p:nvSpPr>
            <p:spPr bwMode="auto">
              <a:xfrm>
                <a:off x="2779" y="3676"/>
                <a:ext cx="32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75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SYN</a:t>
                </a:r>
              </a:p>
            </p:txBody>
          </p:sp>
        </p:grpSp>
      </p:grpSp>
      <p:grpSp>
        <p:nvGrpSpPr>
          <p:cNvPr id="220" name="组合 219"/>
          <p:cNvGrpSpPr/>
          <p:nvPr/>
        </p:nvGrpSpPr>
        <p:grpSpPr>
          <a:xfrm>
            <a:off x="5573971" y="4205249"/>
            <a:ext cx="813197" cy="213113"/>
            <a:chOff x="597536" y="4949335"/>
            <a:chExt cx="1084263" cy="284151"/>
          </a:xfrm>
        </p:grpSpPr>
        <p:grpSp>
          <p:nvGrpSpPr>
            <p:cNvPr id="221" name="Group 314"/>
            <p:cNvGrpSpPr>
              <a:grpSpLocks/>
            </p:cNvGrpSpPr>
            <p:nvPr/>
          </p:nvGrpSpPr>
          <p:grpSpPr bwMode="auto">
            <a:xfrm>
              <a:off x="597536" y="4957260"/>
              <a:ext cx="1081088" cy="276226"/>
              <a:chOff x="410" y="1508"/>
              <a:chExt cx="681" cy="174"/>
            </a:xfrm>
          </p:grpSpPr>
          <p:sp>
            <p:nvSpPr>
              <p:cNvPr id="241" name="Rectangle 99"/>
              <p:cNvSpPr>
                <a:spLocks noChangeArrowheads="1"/>
              </p:cNvSpPr>
              <p:nvPr/>
            </p:nvSpPr>
            <p:spPr bwMode="auto">
              <a:xfrm>
                <a:off x="410" y="1511"/>
                <a:ext cx="681" cy="1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42" name="Rectangle 95"/>
              <p:cNvSpPr>
                <a:spLocks noChangeArrowheads="1"/>
              </p:cNvSpPr>
              <p:nvPr/>
            </p:nvSpPr>
            <p:spPr bwMode="auto">
              <a:xfrm>
                <a:off x="538" y="1536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43" name="Rectangle 96"/>
              <p:cNvSpPr>
                <a:spLocks noChangeArrowheads="1"/>
              </p:cNvSpPr>
              <p:nvPr/>
            </p:nvSpPr>
            <p:spPr bwMode="auto">
              <a:xfrm>
                <a:off x="529" y="1525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44" name="Rectangle 97"/>
              <p:cNvSpPr>
                <a:spLocks noChangeArrowheads="1"/>
              </p:cNvSpPr>
              <p:nvPr/>
            </p:nvSpPr>
            <p:spPr bwMode="auto">
              <a:xfrm>
                <a:off x="423" y="1527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45" name="Rectangle 98"/>
              <p:cNvSpPr>
                <a:spLocks noChangeArrowheads="1"/>
              </p:cNvSpPr>
              <p:nvPr/>
            </p:nvSpPr>
            <p:spPr bwMode="auto">
              <a:xfrm>
                <a:off x="1021" y="1526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246" name="Group 310"/>
              <p:cNvGrpSpPr>
                <a:grpSpLocks/>
              </p:cNvGrpSpPr>
              <p:nvPr/>
            </p:nvGrpSpPr>
            <p:grpSpPr bwMode="auto">
              <a:xfrm>
                <a:off x="647" y="1508"/>
                <a:ext cx="363" cy="174"/>
                <a:chOff x="290" y="875"/>
                <a:chExt cx="363" cy="174"/>
              </a:xfrm>
            </p:grpSpPr>
            <p:sp>
              <p:nvSpPr>
                <p:cNvPr id="247" name="Rectangle 311"/>
                <p:cNvSpPr>
                  <a:spLocks noChangeArrowheads="1"/>
                </p:cNvSpPr>
                <p:nvPr/>
              </p:nvSpPr>
              <p:spPr bwMode="auto"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248" name="Rectangle 312"/>
                <p:cNvSpPr>
                  <a:spLocks noChangeArrowheads="1"/>
                </p:cNvSpPr>
                <p:nvPr/>
              </p:nvSpPr>
              <p:spPr bwMode="auto"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249" name="Text Box 313"/>
                <p:cNvSpPr txBox="1">
                  <a:spLocks noChangeArrowheads="1"/>
                </p:cNvSpPr>
                <p:nvPr/>
              </p:nvSpPr>
              <p:spPr bwMode="auto">
                <a:xfrm>
                  <a:off x="332" y="875"/>
                  <a:ext cx="321" cy="1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75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SYN</a:t>
                  </a:r>
                </a:p>
              </p:txBody>
            </p:sp>
          </p:grpSp>
        </p:grpSp>
        <p:grpSp>
          <p:nvGrpSpPr>
            <p:cNvPr id="222" name="Group 349"/>
            <p:cNvGrpSpPr>
              <a:grpSpLocks/>
            </p:cNvGrpSpPr>
            <p:nvPr/>
          </p:nvGrpSpPr>
          <p:grpSpPr bwMode="auto">
            <a:xfrm>
              <a:off x="597536" y="4950910"/>
              <a:ext cx="1081088" cy="276226"/>
              <a:chOff x="410" y="1508"/>
              <a:chExt cx="681" cy="174"/>
            </a:xfrm>
          </p:grpSpPr>
          <p:sp>
            <p:nvSpPr>
              <p:cNvPr id="232" name="Rectangle 350"/>
              <p:cNvSpPr>
                <a:spLocks noChangeArrowheads="1"/>
              </p:cNvSpPr>
              <p:nvPr/>
            </p:nvSpPr>
            <p:spPr bwMode="auto">
              <a:xfrm>
                <a:off x="410" y="1511"/>
                <a:ext cx="681" cy="1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33" name="Rectangle 351"/>
              <p:cNvSpPr>
                <a:spLocks noChangeArrowheads="1"/>
              </p:cNvSpPr>
              <p:nvPr/>
            </p:nvSpPr>
            <p:spPr bwMode="auto">
              <a:xfrm>
                <a:off x="538" y="1536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34" name="Rectangle 352"/>
              <p:cNvSpPr>
                <a:spLocks noChangeArrowheads="1"/>
              </p:cNvSpPr>
              <p:nvPr/>
            </p:nvSpPr>
            <p:spPr bwMode="auto">
              <a:xfrm>
                <a:off x="529" y="1525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35" name="Rectangle 353"/>
              <p:cNvSpPr>
                <a:spLocks noChangeArrowheads="1"/>
              </p:cNvSpPr>
              <p:nvPr/>
            </p:nvSpPr>
            <p:spPr bwMode="auto">
              <a:xfrm>
                <a:off x="423" y="1527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36" name="Rectangle 354"/>
              <p:cNvSpPr>
                <a:spLocks noChangeArrowheads="1"/>
              </p:cNvSpPr>
              <p:nvPr/>
            </p:nvSpPr>
            <p:spPr bwMode="auto">
              <a:xfrm>
                <a:off x="1021" y="1526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237" name="Group 355"/>
              <p:cNvGrpSpPr>
                <a:grpSpLocks/>
              </p:cNvGrpSpPr>
              <p:nvPr/>
            </p:nvGrpSpPr>
            <p:grpSpPr bwMode="auto">
              <a:xfrm>
                <a:off x="647" y="1508"/>
                <a:ext cx="363" cy="174"/>
                <a:chOff x="290" y="875"/>
                <a:chExt cx="363" cy="174"/>
              </a:xfrm>
            </p:grpSpPr>
            <p:sp>
              <p:nvSpPr>
                <p:cNvPr id="238" name="Rectangle 356"/>
                <p:cNvSpPr>
                  <a:spLocks noChangeArrowheads="1"/>
                </p:cNvSpPr>
                <p:nvPr/>
              </p:nvSpPr>
              <p:spPr bwMode="auto"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239" name="Rectangle 357"/>
                <p:cNvSpPr>
                  <a:spLocks noChangeArrowheads="1"/>
                </p:cNvSpPr>
                <p:nvPr/>
              </p:nvSpPr>
              <p:spPr bwMode="auto"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240" name="Text Box 358"/>
                <p:cNvSpPr txBox="1">
                  <a:spLocks noChangeArrowheads="1"/>
                </p:cNvSpPr>
                <p:nvPr/>
              </p:nvSpPr>
              <p:spPr bwMode="auto">
                <a:xfrm>
                  <a:off x="332" y="875"/>
                  <a:ext cx="321" cy="1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75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SYN</a:t>
                  </a:r>
                </a:p>
              </p:txBody>
            </p:sp>
          </p:grpSp>
        </p:grpSp>
        <p:sp>
          <p:nvSpPr>
            <p:cNvPr id="223" name="Rectangle 400"/>
            <p:cNvSpPr>
              <a:spLocks noChangeArrowheads="1"/>
            </p:cNvSpPr>
            <p:nvPr/>
          </p:nvSpPr>
          <p:spPr bwMode="auto">
            <a:xfrm>
              <a:off x="600711" y="4954077"/>
              <a:ext cx="1081088" cy="2190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24" name="Rectangle 401"/>
            <p:cNvSpPr>
              <a:spLocks noChangeArrowheads="1"/>
            </p:cNvSpPr>
            <p:nvPr/>
          </p:nvSpPr>
          <p:spPr bwMode="auto">
            <a:xfrm>
              <a:off x="803911" y="4993764"/>
              <a:ext cx="152400" cy="1476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25" name="Rectangle 402"/>
            <p:cNvSpPr>
              <a:spLocks noChangeArrowheads="1"/>
            </p:cNvSpPr>
            <p:nvPr/>
          </p:nvSpPr>
          <p:spPr bwMode="auto">
            <a:xfrm>
              <a:off x="789624" y="4976302"/>
              <a:ext cx="762000" cy="177800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26" name="Rectangle 403"/>
            <p:cNvSpPr>
              <a:spLocks noChangeArrowheads="1"/>
            </p:cNvSpPr>
            <p:nvPr/>
          </p:nvSpPr>
          <p:spPr bwMode="auto">
            <a:xfrm>
              <a:off x="621349" y="4979477"/>
              <a:ext cx="149225" cy="17145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27" name="Rectangle 404"/>
            <p:cNvSpPr>
              <a:spLocks noChangeArrowheads="1"/>
            </p:cNvSpPr>
            <p:nvPr/>
          </p:nvSpPr>
          <p:spPr bwMode="auto">
            <a:xfrm>
              <a:off x="1570674" y="4977889"/>
              <a:ext cx="95250" cy="17145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28" name="Group 409"/>
            <p:cNvGrpSpPr>
              <a:grpSpLocks/>
            </p:cNvGrpSpPr>
            <p:nvPr/>
          </p:nvGrpSpPr>
          <p:grpSpPr bwMode="auto">
            <a:xfrm>
              <a:off x="972187" y="4949335"/>
              <a:ext cx="561975" cy="276226"/>
              <a:chOff x="2759" y="3676"/>
              <a:chExt cx="354" cy="174"/>
            </a:xfrm>
          </p:grpSpPr>
          <p:sp>
            <p:nvSpPr>
              <p:cNvPr id="229" name="Rectangle 410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30" name="Rectangle 411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31" name="Text Box 412"/>
              <p:cNvSpPr txBox="1">
                <a:spLocks noChangeArrowheads="1"/>
              </p:cNvSpPr>
              <p:nvPr/>
            </p:nvSpPr>
            <p:spPr bwMode="auto">
              <a:xfrm>
                <a:off x="2779" y="3676"/>
                <a:ext cx="32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75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SYN</a:t>
                </a:r>
              </a:p>
            </p:txBody>
          </p:sp>
        </p:grpSp>
      </p:grpSp>
      <p:grpSp>
        <p:nvGrpSpPr>
          <p:cNvPr id="250" name="组合 249"/>
          <p:cNvGrpSpPr/>
          <p:nvPr/>
        </p:nvGrpSpPr>
        <p:grpSpPr>
          <a:xfrm>
            <a:off x="5834106" y="3280983"/>
            <a:ext cx="680421" cy="685609"/>
            <a:chOff x="5052333" y="5054856"/>
            <a:chExt cx="907228" cy="914145"/>
          </a:xfrm>
        </p:grpSpPr>
        <p:sp>
          <p:nvSpPr>
            <p:cNvPr id="251" name="Freeform 45"/>
            <p:cNvSpPr>
              <a:spLocks/>
            </p:cNvSpPr>
            <p:nvPr/>
          </p:nvSpPr>
          <p:spPr bwMode="auto">
            <a:xfrm flipH="1">
              <a:off x="5052333" y="5076636"/>
              <a:ext cx="666635" cy="892365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252" name="Group 46"/>
            <p:cNvGrpSpPr>
              <a:grpSpLocks/>
            </p:cNvGrpSpPr>
            <p:nvPr/>
          </p:nvGrpSpPr>
          <p:grpSpPr bwMode="auto">
            <a:xfrm>
              <a:off x="5165811" y="5054856"/>
              <a:ext cx="793750" cy="874713"/>
              <a:chOff x="569" y="3288"/>
              <a:chExt cx="500" cy="551"/>
            </a:xfrm>
          </p:grpSpPr>
          <p:sp>
            <p:nvSpPr>
              <p:cNvPr id="253" name="Rectangle 47"/>
              <p:cNvSpPr>
                <a:spLocks noChangeArrowheads="1"/>
              </p:cNvSpPr>
              <p:nvPr/>
            </p:nvSpPr>
            <p:spPr bwMode="auto">
              <a:xfrm>
                <a:off x="576" y="3288"/>
                <a:ext cx="493" cy="47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54" name="Text Box 48"/>
              <p:cNvSpPr txBox="1">
                <a:spLocks noChangeArrowheads="1"/>
              </p:cNvSpPr>
              <p:nvPr/>
            </p:nvSpPr>
            <p:spPr bwMode="auto">
              <a:xfrm>
                <a:off x="631" y="3296"/>
                <a:ext cx="377" cy="5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latin typeface="Arial" panose="020B0604020202020204" pitchFamily="34" charset="0"/>
                  </a:rPr>
                  <a:t>IP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latin typeface="Arial" panose="020B0604020202020204" pitchFamily="34" charset="0"/>
                  </a:rPr>
                  <a:t>Eth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 err="1">
                    <a:latin typeface="Arial" panose="020B0604020202020204" pitchFamily="34" charset="0"/>
                  </a:rPr>
                  <a:t>Phy</a:t>
                </a:r>
                <a:endParaRPr lang="en-US" altLang="zh-CN" sz="12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55" name="Line 50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256" name="Line 51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257" name="Line 52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</p:grpSp>
      <p:sp>
        <p:nvSpPr>
          <p:cNvPr id="155" name="灯片编号占位符 2">
            <a:extLst>
              <a:ext uri="{FF2B5EF4-FFF2-40B4-BE49-F238E27FC236}">
                <a16:creationId xmlns:a16="http://schemas.microsoft.com/office/drawing/2014/main" id="{C00033E9-4261-490F-A1F7-45EB595AEDC3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22</a:t>
            </a:fld>
            <a:endParaRPr lang="en-US" altLang="zh-CN" dirty="0"/>
          </a:p>
        </p:txBody>
      </p:sp>
      <p:sp>
        <p:nvSpPr>
          <p:cNvPr id="156" name="AutoShape 5">
            <a:extLst>
              <a:ext uri="{FF2B5EF4-FFF2-40B4-BE49-F238E27FC236}">
                <a16:creationId xmlns:a16="http://schemas.microsoft.com/office/drawing/2014/main" id="{BD6E66BD-4C88-445E-943A-B11D13C67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57" name="图片 156">
            <a:extLst>
              <a:ext uri="{FF2B5EF4-FFF2-40B4-BE49-F238E27FC236}">
                <a16:creationId xmlns:a16="http://schemas.microsoft.com/office/drawing/2014/main" id="{085B76D1-B72B-45CA-9303-A144CC60CD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3966" y="3725870"/>
            <a:ext cx="957628" cy="62339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921733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7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animBg="1"/>
      <p:bldP spid="156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5.7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总结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: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自底向上回顾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87574"/>
            <a:ext cx="7848871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一次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请求所要做的工作：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开始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请求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(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还要准备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)</a:t>
            </a: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(18) HTTP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TCP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的合作：套接字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pPr lvl="3">
              <a:spcBef>
                <a:spcPts val="450"/>
              </a:spcBef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浏览器创建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Socket (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四元组标识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)</a:t>
            </a:r>
          </a:p>
          <a:p>
            <a:pPr lvl="4">
              <a:spcBef>
                <a:spcPts val="45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Sport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：浏览器随机生成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; 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Dport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：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80</a:t>
            </a:r>
          </a:p>
          <a:p>
            <a:pPr lvl="4">
              <a:spcBef>
                <a:spcPts val="45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SIP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：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Bob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的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IP; D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IP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：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</a:rPr>
              <a:t>deepseek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 WWW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的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IP(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刚刚通过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DNS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查询到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TCP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三次握手开始！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(19)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路由转发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(20) </a:t>
            </a:r>
            <a:r>
              <a:rPr lang="zh-CN" altLang="en-US" dirty="0">
                <a:solidFill>
                  <a:srgbClr val="0066CC"/>
                </a:solidFill>
              </a:rPr>
              <a:t>服务器对连接请求做出响应</a:t>
            </a: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TCP SYN ACK</a:t>
            </a:r>
          </a:p>
          <a:p>
            <a:pPr lvl="2">
              <a:spcBef>
                <a:spcPts val="450"/>
              </a:spcBef>
            </a:pPr>
            <a:endParaRPr lang="zh-CN" altLang="en-US" dirty="0">
              <a:solidFill>
                <a:srgbClr val="0066CC"/>
              </a:solidFill>
              <a:effectLst/>
            </a:endParaRPr>
          </a:p>
          <a:p>
            <a:pPr>
              <a:spcBef>
                <a:spcPts val="450"/>
              </a:spcBef>
            </a:pP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16" name="Group 356"/>
          <p:cNvGrpSpPr>
            <a:grpSpLocks/>
          </p:cNvGrpSpPr>
          <p:nvPr/>
        </p:nvGrpSpPr>
        <p:grpSpPr bwMode="auto">
          <a:xfrm>
            <a:off x="2626464" y="3826278"/>
            <a:ext cx="632222" cy="610791"/>
            <a:chOff x="313" y="1497"/>
            <a:chExt cx="1152" cy="1014"/>
          </a:xfrm>
        </p:grpSpPr>
        <p:pic>
          <p:nvPicPr>
            <p:cNvPr id="17" name="Picture 354" descr="laptop_stylized_small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355" descr="antenna_stylized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" name="Text Box 138"/>
          <p:cNvSpPr txBox="1">
            <a:spLocks noChangeArrowheads="1"/>
          </p:cNvSpPr>
          <p:nvPr/>
        </p:nvSpPr>
        <p:spPr bwMode="auto">
          <a:xfrm>
            <a:off x="5925145" y="4340719"/>
            <a:ext cx="93487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</a:rPr>
              <a:t>web server</a:t>
            </a:r>
          </a:p>
        </p:txBody>
      </p:sp>
      <p:pic>
        <p:nvPicPr>
          <p:cNvPr id="56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8596" y="3961504"/>
            <a:ext cx="330902" cy="131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7" name="Group 110"/>
          <p:cNvGrpSpPr>
            <a:grpSpLocks/>
          </p:cNvGrpSpPr>
          <p:nvPr/>
        </p:nvGrpSpPr>
        <p:grpSpPr bwMode="auto">
          <a:xfrm>
            <a:off x="5719892" y="3964821"/>
            <a:ext cx="336786" cy="168746"/>
            <a:chOff x="2466" y="2026"/>
            <a:chExt cx="477" cy="282"/>
          </a:xfrm>
        </p:grpSpPr>
        <p:sp>
          <p:nvSpPr>
            <p:cNvPr id="58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9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0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62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69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0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1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63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66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67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68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64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5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88" name="Group 110"/>
          <p:cNvGrpSpPr>
            <a:grpSpLocks/>
          </p:cNvGrpSpPr>
          <p:nvPr/>
        </p:nvGrpSpPr>
        <p:grpSpPr bwMode="auto">
          <a:xfrm>
            <a:off x="4512469" y="4225641"/>
            <a:ext cx="336786" cy="168746"/>
            <a:chOff x="2466" y="2026"/>
            <a:chExt cx="477" cy="282"/>
          </a:xfrm>
        </p:grpSpPr>
        <p:sp>
          <p:nvSpPr>
            <p:cNvPr id="89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0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1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93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100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01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02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94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97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8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9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95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6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cxnSp>
        <p:nvCxnSpPr>
          <p:cNvPr id="103" name="直接连接符 102"/>
          <p:cNvCxnSpPr>
            <a:endCxn id="56" idx="1"/>
          </p:cNvCxnSpPr>
          <p:nvPr/>
        </p:nvCxnSpPr>
        <p:spPr>
          <a:xfrm flipV="1">
            <a:off x="3258686" y="4027207"/>
            <a:ext cx="349910" cy="2089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>
            <a:stCxn id="92" idx="2"/>
          </p:cNvCxnSpPr>
          <p:nvPr/>
        </p:nvCxnSpPr>
        <p:spPr>
          <a:xfrm flipH="1" flipV="1">
            <a:off x="3823138" y="4091679"/>
            <a:ext cx="689331" cy="181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 flipH="1">
            <a:off x="4848549" y="4237648"/>
            <a:ext cx="244293" cy="58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 flipH="1">
            <a:off x="5484288" y="4088375"/>
            <a:ext cx="244293" cy="58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/>
        </p:nvCxnSpPr>
        <p:spPr>
          <a:xfrm flipH="1">
            <a:off x="5172002" y="4162915"/>
            <a:ext cx="244293" cy="5811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 flipH="1" flipV="1">
            <a:off x="6053369" y="4054580"/>
            <a:ext cx="689331" cy="181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48"/>
          <p:cNvGrpSpPr>
            <a:grpSpLocks/>
          </p:cNvGrpSpPr>
          <p:nvPr/>
        </p:nvGrpSpPr>
        <p:grpSpPr bwMode="auto">
          <a:xfrm>
            <a:off x="6596717" y="3887405"/>
            <a:ext cx="269080" cy="467916"/>
            <a:chOff x="4140" y="429"/>
            <a:chExt cx="1425" cy="2396"/>
          </a:xfrm>
        </p:grpSpPr>
        <p:sp>
          <p:nvSpPr>
            <p:cNvPr id="24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5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6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7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8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9" name="Group 153"/>
            <p:cNvGrpSpPr>
              <a:grpSpLocks/>
            </p:cNvGrpSpPr>
            <p:nvPr/>
          </p:nvGrpSpPr>
          <p:grpSpPr bwMode="auto">
            <a:xfrm>
              <a:off x="4751" y="666"/>
              <a:ext cx="580" cy="146"/>
              <a:chOff x="617" y="2567"/>
              <a:chExt cx="724" cy="140"/>
            </a:xfrm>
          </p:grpSpPr>
          <p:sp>
            <p:nvSpPr>
              <p:cNvPr id="54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5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30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31" name="Group 157"/>
            <p:cNvGrpSpPr>
              <a:grpSpLocks/>
            </p:cNvGrpSpPr>
            <p:nvPr/>
          </p:nvGrpSpPr>
          <p:grpSpPr bwMode="auto"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52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3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32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34" name="Group 162"/>
            <p:cNvGrpSpPr>
              <a:grpSpLocks/>
            </p:cNvGrpSpPr>
            <p:nvPr/>
          </p:nvGrpSpPr>
          <p:grpSpPr bwMode="auto">
            <a:xfrm>
              <a:off x="4733" y="1633"/>
              <a:ext cx="586" cy="140"/>
              <a:chOff x="611" y="2576"/>
              <a:chExt cx="730" cy="129"/>
            </a:xfrm>
          </p:grpSpPr>
          <p:sp>
            <p:nvSpPr>
              <p:cNvPr id="50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1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35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grpSp>
          <p:nvGrpSpPr>
            <p:cNvPr id="36" name="Group 166"/>
            <p:cNvGrpSpPr>
              <a:grpSpLocks/>
            </p:cNvGrpSpPr>
            <p:nvPr/>
          </p:nvGrpSpPr>
          <p:grpSpPr bwMode="auto"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48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49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37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8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39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40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1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42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3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4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5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6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7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159" name="Group 391"/>
          <p:cNvGrpSpPr>
            <a:grpSpLocks/>
          </p:cNvGrpSpPr>
          <p:nvPr/>
        </p:nvGrpSpPr>
        <p:grpSpPr bwMode="auto">
          <a:xfrm>
            <a:off x="5225719" y="3046021"/>
            <a:ext cx="810815" cy="610791"/>
            <a:chOff x="2675" y="3676"/>
            <a:chExt cx="681" cy="513"/>
          </a:xfrm>
        </p:grpSpPr>
        <p:grpSp>
          <p:nvGrpSpPr>
            <p:cNvPr id="160" name="Group 361"/>
            <p:cNvGrpSpPr>
              <a:grpSpLocks/>
            </p:cNvGrpSpPr>
            <p:nvPr/>
          </p:nvGrpSpPr>
          <p:grpSpPr bwMode="auto">
            <a:xfrm>
              <a:off x="2793" y="3855"/>
              <a:ext cx="480" cy="112"/>
              <a:chOff x="627" y="3377"/>
              <a:chExt cx="480" cy="112"/>
            </a:xfrm>
          </p:grpSpPr>
          <p:sp>
            <p:nvSpPr>
              <p:cNvPr id="178" name="Rectangle 362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79" name="Rectangle 363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161" name="Group 382"/>
            <p:cNvGrpSpPr>
              <a:grpSpLocks/>
            </p:cNvGrpSpPr>
            <p:nvPr/>
          </p:nvGrpSpPr>
          <p:grpSpPr bwMode="auto">
            <a:xfrm>
              <a:off x="2855" y="3676"/>
              <a:ext cx="486" cy="174"/>
              <a:chOff x="2717" y="3676"/>
              <a:chExt cx="486" cy="174"/>
            </a:xfrm>
          </p:grpSpPr>
          <p:sp>
            <p:nvSpPr>
              <p:cNvPr id="175" name="Rectangle 365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76" name="Rectangle 366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77" name="Text Box 367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8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75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SYNACK</a:t>
                </a:r>
              </a:p>
            </p:txBody>
          </p:sp>
        </p:grpSp>
        <p:sp>
          <p:nvSpPr>
            <p:cNvPr id="162" name="Rectangle 373"/>
            <p:cNvSpPr>
              <a:spLocks noChangeArrowheads="1"/>
            </p:cNvSpPr>
            <p:nvPr/>
          </p:nvSpPr>
          <p:spPr bwMode="auto">
            <a:xfrm>
              <a:off x="2675" y="4018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63" name="Rectangle 374"/>
            <p:cNvSpPr>
              <a:spLocks noChangeArrowheads="1"/>
            </p:cNvSpPr>
            <p:nvPr/>
          </p:nvSpPr>
          <p:spPr bwMode="auto">
            <a:xfrm>
              <a:off x="2803" y="4043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64" name="Rectangle 375"/>
            <p:cNvSpPr>
              <a:spLocks noChangeArrowheads="1"/>
            </p:cNvSpPr>
            <p:nvPr/>
          </p:nvSpPr>
          <p:spPr bwMode="auto">
            <a:xfrm>
              <a:off x="2794" y="4032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65" name="Rectangle 376"/>
            <p:cNvSpPr>
              <a:spLocks noChangeArrowheads="1"/>
            </p:cNvSpPr>
            <p:nvPr/>
          </p:nvSpPr>
          <p:spPr bwMode="auto">
            <a:xfrm>
              <a:off x="2688" y="4034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66" name="Rectangle 377"/>
            <p:cNvSpPr>
              <a:spLocks noChangeArrowheads="1"/>
            </p:cNvSpPr>
            <p:nvPr/>
          </p:nvSpPr>
          <p:spPr bwMode="auto">
            <a:xfrm>
              <a:off x="3286" y="4033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167" name="Group 383"/>
            <p:cNvGrpSpPr>
              <a:grpSpLocks/>
            </p:cNvGrpSpPr>
            <p:nvPr/>
          </p:nvGrpSpPr>
          <p:grpSpPr bwMode="auto">
            <a:xfrm>
              <a:off x="2864" y="3835"/>
              <a:ext cx="486" cy="174"/>
              <a:chOff x="2717" y="3676"/>
              <a:chExt cx="486" cy="174"/>
            </a:xfrm>
          </p:grpSpPr>
          <p:sp>
            <p:nvSpPr>
              <p:cNvPr id="172" name="Rectangle 384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73" name="Rectangle 385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74" name="Text Box 386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8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750">
                    <a:solidFill>
                      <a:srgbClr val="000000"/>
                    </a:solidFill>
                    <a:latin typeface="Arial" panose="020B0604020202020204" pitchFamily="34" charset="0"/>
                  </a:rPr>
                  <a:t>SYNACK</a:t>
                </a:r>
              </a:p>
            </p:txBody>
          </p:sp>
        </p:grpSp>
        <p:grpSp>
          <p:nvGrpSpPr>
            <p:cNvPr id="168" name="Group 387"/>
            <p:cNvGrpSpPr>
              <a:grpSpLocks/>
            </p:cNvGrpSpPr>
            <p:nvPr/>
          </p:nvGrpSpPr>
          <p:grpSpPr bwMode="auto">
            <a:xfrm>
              <a:off x="2867" y="4015"/>
              <a:ext cx="486" cy="174"/>
              <a:chOff x="2717" y="3676"/>
              <a:chExt cx="486" cy="174"/>
            </a:xfrm>
          </p:grpSpPr>
          <p:sp>
            <p:nvSpPr>
              <p:cNvPr id="169" name="Rectangle 388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70" name="Rectangle 389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71" name="Text Box 390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8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750">
                    <a:solidFill>
                      <a:srgbClr val="000000"/>
                    </a:solidFill>
                    <a:latin typeface="Arial" panose="020B0604020202020204" pitchFamily="34" charset="0"/>
                  </a:rPr>
                  <a:t>SYNACK</a:t>
                </a:r>
              </a:p>
            </p:txBody>
          </p:sp>
        </p:grpSp>
      </p:grpSp>
      <p:grpSp>
        <p:nvGrpSpPr>
          <p:cNvPr id="180" name="Group 336"/>
          <p:cNvGrpSpPr>
            <a:grpSpLocks/>
          </p:cNvGrpSpPr>
          <p:nvPr/>
        </p:nvGrpSpPr>
        <p:grpSpPr bwMode="auto">
          <a:xfrm>
            <a:off x="6038393" y="2818873"/>
            <a:ext cx="732234" cy="1095375"/>
            <a:chOff x="4000" y="1895"/>
            <a:chExt cx="615" cy="920"/>
          </a:xfrm>
        </p:grpSpPr>
        <p:sp>
          <p:nvSpPr>
            <p:cNvPr id="181" name="Freeform 328"/>
            <p:cNvSpPr>
              <a:spLocks/>
            </p:cNvSpPr>
            <p:nvPr/>
          </p:nvSpPr>
          <p:spPr bwMode="auto">
            <a:xfrm>
              <a:off x="4011" y="1912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258" name="Group 329"/>
            <p:cNvGrpSpPr>
              <a:grpSpLocks/>
            </p:cNvGrpSpPr>
            <p:nvPr/>
          </p:nvGrpSpPr>
          <p:grpSpPr bwMode="auto">
            <a:xfrm>
              <a:off x="4000" y="1895"/>
              <a:ext cx="500" cy="853"/>
              <a:chOff x="569" y="2954"/>
              <a:chExt cx="500" cy="853"/>
            </a:xfrm>
          </p:grpSpPr>
          <p:sp>
            <p:nvSpPr>
              <p:cNvPr id="259" name="Rectangle 330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60" name="Text Box 331"/>
              <p:cNvSpPr txBox="1">
                <a:spLocks noChangeArrowheads="1"/>
              </p:cNvSpPr>
              <p:nvPr/>
            </p:nvSpPr>
            <p:spPr bwMode="auto">
              <a:xfrm>
                <a:off x="624" y="2954"/>
                <a:ext cx="414" cy="8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2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TCP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Eth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Phy</a:t>
                </a:r>
              </a:p>
            </p:txBody>
          </p:sp>
          <p:sp>
            <p:nvSpPr>
              <p:cNvPr id="261" name="Line 332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262" name="Line 333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263" name="Line 334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264" name="Line 335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</p:grpSp>
      <p:sp>
        <p:nvSpPr>
          <p:cNvPr id="109" name="灯片编号占位符 2">
            <a:extLst>
              <a:ext uri="{FF2B5EF4-FFF2-40B4-BE49-F238E27FC236}">
                <a16:creationId xmlns:a16="http://schemas.microsoft.com/office/drawing/2014/main" id="{60442978-8FA3-477D-9184-D6BFBB7FBCFF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23</a:t>
            </a:fld>
            <a:endParaRPr lang="en-US" altLang="zh-CN" dirty="0"/>
          </a:p>
        </p:txBody>
      </p:sp>
      <p:sp>
        <p:nvSpPr>
          <p:cNvPr id="111" name="AutoShape 5">
            <a:extLst>
              <a:ext uri="{FF2B5EF4-FFF2-40B4-BE49-F238E27FC236}">
                <a16:creationId xmlns:a16="http://schemas.microsoft.com/office/drawing/2014/main" id="{63D28939-BE44-4060-8D5A-96700885F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15" name="图片 114">
            <a:extLst>
              <a:ext uri="{FF2B5EF4-FFF2-40B4-BE49-F238E27FC236}">
                <a16:creationId xmlns:a16="http://schemas.microsoft.com/office/drawing/2014/main" id="{FEC66710-861B-44DF-84B2-EFA6B5247E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3966" y="3725870"/>
            <a:ext cx="957628" cy="62339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833293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7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 animBg="1"/>
      <p:bldP spid="111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5.7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总结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: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自底向上回顾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7398820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一次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请求所要做的工作：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开始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请求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(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还要准备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)</a:t>
            </a: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(18) HTTP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TCP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的合作：套接字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(19)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路由转发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(20)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服务器对连接请求做出响应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(21)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客户机收到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SYN ACK</a:t>
            </a:r>
          </a:p>
          <a:p>
            <a:pPr lvl="3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套接字创建成功！！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endParaRPr lang="zh-CN" altLang="en-US" dirty="0">
              <a:solidFill>
                <a:srgbClr val="0066CC"/>
              </a:solidFill>
              <a:effectLst/>
            </a:endParaRPr>
          </a:p>
          <a:p>
            <a:pPr>
              <a:spcBef>
                <a:spcPts val="450"/>
              </a:spcBef>
            </a:pP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16" name="Group 356"/>
          <p:cNvGrpSpPr>
            <a:grpSpLocks/>
          </p:cNvGrpSpPr>
          <p:nvPr/>
        </p:nvGrpSpPr>
        <p:grpSpPr bwMode="auto">
          <a:xfrm>
            <a:off x="2626464" y="3826278"/>
            <a:ext cx="632222" cy="610791"/>
            <a:chOff x="313" y="1497"/>
            <a:chExt cx="1152" cy="1014"/>
          </a:xfrm>
        </p:grpSpPr>
        <p:pic>
          <p:nvPicPr>
            <p:cNvPr id="17" name="Picture 354" descr="laptop_stylized_small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355" descr="antenna_stylized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" name="Text Box 138"/>
          <p:cNvSpPr txBox="1">
            <a:spLocks noChangeArrowheads="1"/>
          </p:cNvSpPr>
          <p:nvPr/>
        </p:nvSpPr>
        <p:spPr bwMode="auto">
          <a:xfrm>
            <a:off x="5925145" y="4340719"/>
            <a:ext cx="93487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</a:rPr>
              <a:t>web server</a:t>
            </a:r>
          </a:p>
        </p:txBody>
      </p:sp>
      <p:pic>
        <p:nvPicPr>
          <p:cNvPr id="56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8596" y="3961504"/>
            <a:ext cx="330902" cy="131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7" name="Group 110"/>
          <p:cNvGrpSpPr>
            <a:grpSpLocks/>
          </p:cNvGrpSpPr>
          <p:nvPr/>
        </p:nvGrpSpPr>
        <p:grpSpPr bwMode="auto">
          <a:xfrm>
            <a:off x="5719892" y="3964821"/>
            <a:ext cx="336786" cy="168746"/>
            <a:chOff x="2466" y="2026"/>
            <a:chExt cx="477" cy="282"/>
          </a:xfrm>
        </p:grpSpPr>
        <p:sp>
          <p:nvSpPr>
            <p:cNvPr id="58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9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0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62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69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0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1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63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66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67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68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64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5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88" name="Group 110"/>
          <p:cNvGrpSpPr>
            <a:grpSpLocks/>
          </p:cNvGrpSpPr>
          <p:nvPr/>
        </p:nvGrpSpPr>
        <p:grpSpPr bwMode="auto">
          <a:xfrm>
            <a:off x="4512469" y="4225641"/>
            <a:ext cx="336786" cy="168746"/>
            <a:chOff x="2466" y="2026"/>
            <a:chExt cx="477" cy="282"/>
          </a:xfrm>
        </p:grpSpPr>
        <p:sp>
          <p:nvSpPr>
            <p:cNvPr id="89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0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1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93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100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01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02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94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97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8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9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95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6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cxnSp>
        <p:nvCxnSpPr>
          <p:cNvPr id="103" name="直接连接符 102"/>
          <p:cNvCxnSpPr>
            <a:endCxn id="56" idx="1"/>
          </p:cNvCxnSpPr>
          <p:nvPr/>
        </p:nvCxnSpPr>
        <p:spPr>
          <a:xfrm flipV="1">
            <a:off x="3258686" y="4027207"/>
            <a:ext cx="349910" cy="2089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>
            <a:stCxn id="92" idx="2"/>
          </p:cNvCxnSpPr>
          <p:nvPr/>
        </p:nvCxnSpPr>
        <p:spPr>
          <a:xfrm flipH="1" flipV="1">
            <a:off x="3823138" y="4091679"/>
            <a:ext cx="689331" cy="181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 flipH="1">
            <a:off x="4848549" y="4237648"/>
            <a:ext cx="244293" cy="58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 flipH="1">
            <a:off x="5484288" y="4088375"/>
            <a:ext cx="244293" cy="58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/>
        </p:nvCxnSpPr>
        <p:spPr>
          <a:xfrm flipH="1">
            <a:off x="5172002" y="4162915"/>
            <a:ext cx="244293" cy="5811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 flipH="1" flipV="1">
            <a:off x="6053369" y="4054580"/>
            <a:ext cx="689331" cy="181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48"/>
          <p:cNvGrpSpPr>
            <a:grpSpLocks/>
          </p:cNvGrpSpPr>
          <p:nvPr/>
        </p:nvGrpSpPr>
        <p:grpSpPr bwMode="auto">
          <a:xfrm>
            <a:off x="6596717" y="3887405"/>
            <a:ext cx="269080" cy="467916"/>
            <a:chOff x="4140" y="429"/>
            <a:chExt cx="1425" cy="2396"/>
          </a:xfrm>
        </p:grpSpPr>
        <p:sp>
          <p:nvSpPr>
            <p:cNvPr id="24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5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6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7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8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9" name="Group 153"/>
            <p:cNvGrpSpPr>
              <a:grpSpLocks/>
            </p:cNvGrpSpPr>
            <p:nvPr/>
          </p:nvGrpSpPr>
          <p:grpSpPr bwMode="auto">
            <a:xfrm>
              <a:off x="4751" y="666"/>
              <a:ext cx="580" cy="146"/>
              <a:chOff x="617" y="2567"/>
              <a:chExt cx="724" cy="140"/>
            </a:xfrm>
          </p:grpSpPr>
          <p:sp>
            <p:nvSpPr>
              <p:cNvPr id="54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5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30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31" name="Group 157"/>
            <p:cNvGrpSpPr>
              <a:grpSpLocks/>
            </p:cNvGrpSpPr>
            <p:nvPr/>
          </p:nvGrpSpPr>
          <p:grpSpPr bwMode="auto"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52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3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32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34" name="Group 162"/>
            <p:cNvGrpSpPr>
              <a:grpSpLocks/>
            </p:cNvGrpSpPr>
            <p:nvPr/>
          </p:nvGrpSpPr>
          <p:grpSpPr bwMode="auto">
            <a:xfrm>
              <a:off x="4733" y="1633"/>
              <a:ext cx="586" cy="140"/>
              <a:chOff x="611" y="2576"/>
              <a:chExt cx="730" cy="129"/>
            </a:xfrm>
          </p:grpSpPr>
          <p:sp>
            <p:nvSpPr>
              <p:cNvPr id="50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1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35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grpSp>
          <p:nvGrpSpPr>
            <p:cNvPr id="36" name="Group 166"/>
            <p:cNvGrpSpPr>
              <a:grpSpLocks/>
            </p:cNvGrpSpPr>
            <p:nvPr/>
          </p:nvGrpSpPr>
          <p:grpSpPr bwMode="auto"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48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49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37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8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39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40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1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42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3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4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5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6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7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159" name="Group 391"/>
          <p:cNvGrpSpPr>
            <a:grpSpLocks/>
          </p:cNvGrpSpPr>
          <p:nvPr/>
        </p:nvGrpSpPr>
        <p:grpSpPr bwMode="auto">
          <a:xfrm>
            <a:off x="1277635" y="3630872"/>
            <a:ext cx="810815" cy="610791"/>
            <a:chOff x="2675" y="3676"/>
            <a:chExt cx="681" cy="513"/>
          </a:xfrm>
        </p:grpSpPr>
        <p:grpSp>
          <p:nvGrpSpPr>
            <p:cNvPr id="160" name="Group 361"/>
            <p:cNvGrpSpPr>
              <a:grpSpLocks/>
            </p:cNvGrpSpPr>
            <p:nvPr/>
          </p:nvGrpSpPr>
          <p:grpSpPr bwMode="auto">
            <a:xfrm>
              <a:off x="2793" y="3855"/>
              <a:ext cx="480" cy="112"/>
              <a:chOff x="627" y="3377"/>
              <a:chExt cx="480" cy="112"/>
            </a:xfrm>
          </p:grpSpPr>
          <p:sp>
            <p:nvSpPr>
              <p:cNvPr id="178" name="Rectangle 362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79" name="Rectangle 363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161" name="Group 382"/>
            <p:cNvGrpSpPr>
              <a:grpSpLocks/>
            </p:cNvGrpSpPr>
            <p:nvPr/>
          </p:nvGrpSpPr>
          <p:grpSpPr bwMode="auto">
            <a:xfrm>
              <a:off x="2855" y="3676"/>
              <a:ext cx="486" cy="174"/>
              <a:chOff x="2717" y="3676"/>
              <a:chExt cx="486" cy="174"/>
            </a:xfrm>
          </p:grpSpPr>
          <p:sp>
            <p:nvSpPr>
              <p:cNvPr id="175" name="Rectangle 365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76" name="Rectangle 366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77" name="Text Box 367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8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75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SYNACK</a:t>
                </a:r>
              </a:p>
            </p:txBody>
          </p:sp>
        </p:grpSp>
        <p:sp>
          <p:nvSpPr>
            <p:cNvPr id="162" name="Rectangle 373"/>
            <p:cNvSpPr>
              <a:spLocks noChangeArrowheads="1"/>
            </p:cNvSpPr>
            <p:nvPr/>
          </p:nvSpPr>
          <p:spPr bwMode="auto">
            <a:xfrm>
              <a:off x="2675" y="4018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63" name="Rectangle 374"/>
            <p:cNvSpPr>
              <a:spLocks noChangeArrowheads="1"/>
            </p:cNvSpPr>
            <p:nvPr/>
          </p:nvSpPr>
          <p:spPr bwMode="auto">
            <a:xfrm>
              <a:off x="2803" y="4043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64" name="Rectangle 375"/>
            <p:cNvSpPr>
              <a:spLocks noChangeArrowheads="1"/>
            </p:cNvSpPr>
            <p:nvPr/>
          </p:nvSpPr>
          <p:spPr bwMode="auto">
            <a:xfrm>
              <a:off x="2794" y="4032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65" name="Rectangle 376"/>
            <p:cNvSpPr>
              <a:spLocks noChangeArrowheads="1"/>
            </p:cNvSpPr>
            <p:nvPr/>
          </p:nvSpPr>
          <p:spPr bwMode="auto">
            <a:xfrm>
              <a:off x="2688" y="4034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66" name="Rectangle 377"/>
            <p:cNvSpPr>
              <a:spLocks noChangeArrowheads="1"/>
            </p:cNvSpPr>
            <p:nvPr/>
          </p:nvSpPr>
          <p:spPr bwMode="auto">
            <a:xfrm>
              <a:off x="3286" y="4033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167" name="Group 383"/>
            <p:cNvGrpSpPr>
              <a:grpSpLocks/>
            </p:cNvGrpSpPr>
            <p:nvPr/>
          </p:nvGrpSpPr>
          <p:grpSpPr bwMode="auto">
            <a:xfrm>
              <a:off x="2864" y="3835"/>
              <a:ext cx="486" cy="174"/>
              <a:chOff x="2717" y="3676"/>
              <a:chExt cx="486" cy="174"/>
            </a:xfrm>
          </p:grpSpPr>
          <p:sp>
            <p:nvSpPr>
              <p:cNvPr id="172" name="Rectangle 384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73" name="Rectangle 385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74" name="Text Box 386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8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750">
                    <a:solidFill>
                      <a:srgbClr val="000000"/>
                    </a:solidFill>
                    <a:latin typeface="Arial" panose="020B0604020202020204" pitchFamily="34" charset="0"/>
                  </a:rPr>
                  <a:t>SYNACK</a:t>
                </a:r>
              </a:p>
            </p:txBody>
          </p:sp>
        </p:grpSp>
        <p:grpSp>
          <p:nvGrpSpPr>
            <p:cNvPr id="168" name="Group 387"/>
            <p:cNvGrpSpPr>
              <a:grpSpLocks/>
            </p:cNvGrpSpPr>
            <p:nvPr/>
          </p:nvGrpSpPr>
          <p:grpSpPr bwMode="auto">
            <a:xfrm>
              <a:off x="2867" y="4015"/>
              <a:ext cx="486" cy="174"/>
              <a:chOff x="2717" y="3676"/>
              <a:chExt cx="486" cy="174"/>
            </a:xfrm>
          </p:grpSpPr>
          <p:sp>
            <p:nvSpPr>
              <p:cNvPr id="169" name="Rectangle 388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70" name="Rectangle 389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71" name="Text Box 390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8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750">
                    <a:solidFill>
                      <a:srgbClr val="000000"/>
                    </a:solidFill>
                    <a:latin typeface="Arial" panose="020B0604020202020204" pitchFamily="34" charset="0"/>
                  </a:rPr>
                  <a:t>SYNACK</a:t>
                </a:r>
              </a:p>
            </p:txBody>
          </p:sp>
        </p:grpSp>
      </p:grpSp>
      <p:grpSp>
        <p:nvGrpSpPr>
          <p:cNvPr id="180" name="Group 336"/>
          <p:cNvGrpSpPr>
            <a:grpSpLocks/>
          </p:cNvGrpSpPr>
          <p:nvPr/>
        </p:nvGrpSpPr>
        <p:grpSpPr bwMode="auto">
          <a:xfrm>
            <a:off x="2090501" y="3435846"/>
            <a:ext cx="732234" cy="1095375"/>
            <a:chOff x="4000" y="1895"/>
            <a:chExt cx="615" cy="920"/>
          </a:xfrm>
        </p:grpSpPr>
        <p:sp>
          <p:nvSpPr>
            <p:cNvPr id="181" name="Freeform 328"/>
            <p:cNvSpPr>
              <a:spLocks/>
            </p:cNvSpPr>
            <p:nvPr/>
          </p:nvSpPr>
          <p:spPr bwMode="auto">
            <a:xfrm>
              <a:off x="4011" y="1912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258" name="Group 329"/>
            <p:cNvGrpSpPr>
              <a:grpSpLocks/>
            </p:cNvGrpSpPr>
            <p:nvPr/>
          </p:nvGrpSpPr>
          <p:grpSpPr bwMode="auto">
            <a:xfrm>
              <a:off x="4000" y="1895"/>
              <a:ext cx="500" cy="853"/>
              <a:chOff x="569" y="2954"/>
              <a:chExt cx="500" cy="853"/>
            </a:xfrm>
          </p:grpSpPr>
          <p:sp>
            <p:nvSpPr>
              <p:cNvPr id="259" name="Rectangle 330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60" name="Text Box 331"/>
              <p:cNvSpPr txBox="1">
                <a:spLocks noChangeArrowheads="1"/>
              </p:cNvSpPr>
              <p:nvPr/>
            </p:nvSpPr>
            <p:spPr bwMode="auto">
              <a:xfrm>
                <a:off x="624" y="2954"/>
                <a:ext cx="414" cy="8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2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TCP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Eth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Phy</a:t>
                </a:r>
              </a:p>
            </p:txBody>
          </p:sp>
          <p:sp>
            <p:nvSpPr>
              <p:cNvPr id="261" name="Line 332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262" name="Line 333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263" name="Line 334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264" name="Line 335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</p:grpSp>
      <p:sp>
        <p:nvSpPr>
          <p:cNvPr id="109" name="灯片编号占位符 2">
            <a:extLst>
              <a:ext uri="{FF2B5EF4-FFF2-40B4-BE49-F238E27FC236}">
                <a16:creationId xmlns:a16="http://schemas.microsoft.com/office/drawing/2014/main" id="{C11A89EB-FB64-4793-91E2-D30E3C11D93B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24</a:t>
            </a:fld>
            <a:endParaRPr lang="en-US" altLang="zh-CN" dirty="0"/>
          </a:p>
        </p:txBody>
      </p:sp>
      <p:sp>
        <p:nvSpPr>
          <p:cNvPr id="111" name="AutoShape 5">
            <a:extLst>
              <a:ext uri="{FF2B5EF4-FFF2-40B4-BE49-F238E27FC236}">
                <a16:creationId xmlns:a16="http://schemas.microsoft.com/office/drawing/2014/main" id="{8060F1C0-4E4B-44BF-BB4E-6C4324B31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15" name="图片 114">
            <a:extLst>
              <a:ext uri="{FF2B5EF4-FFF2-40B4-BE49-F238E27FC236}">
                <a16:creationId xmlns:a16="http://schemas.microsoft.com/office/drawing/2014/main" id="{DAE4B3CB-C0D6-4BE9-9200-71F8439824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3966" y="3725870"/>
            <a:ext cx="957628" cy="62339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190646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7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100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1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 animBg="1"/>
      <p:bldP spid="111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5.7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总结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: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自底向上回顾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87574"/>
            <a:ext cx="6397119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一次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请求所要做的工作：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开始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请求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呼，先擦一下汗！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(22) HTTP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请求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HTTP GET</a:t>
            </a:r>
            <a:r>
              <a:rPr lang="zh-CN" altLang="en-US" dirty="0">
                <a:solidFill>
                  <a:srgbClr val="0066CC"/>
                </a:solidFill>
              </a:rPr>
              <a:t>报文</a:t>
            </a:r>
            <a:endParaRPr lang="en-US" altLang="zh-CN" dirty="0">
              <a:solidFill>
                <a:srgbClr val="0066CC"/>
              </a:solidFill>
            </a:endParaRPr>
          </a:p>
          <a:p>
            <a:pPr lvl="1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(23)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报文进入套接字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TCP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封装</a:t>
            </a:r>
            <a:r>
              <a:rPr lang="zh-CN" altLang="en-US" dirty="0">
                <a:solidFill>
                  <a:srgbClr val="0066CC"/>
                </a:solidFill>
              </a:rPr>
              <a:t>：端口号、序号、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确认号</a:t>
            </a:r>
            <a:r>
              <a:rPr lang="en-US" altLang="zh-CN" dirty="0">
                <a:solidFill>
                  <a:srgbClr val="0066CC"/>
                </a:solidFill>
              </a:rPr>
              <a:t>……</a:t>
            </a:r>
          </a:p>
          <a:p>
            <a:pPr lvl="2">
              <a:spcBef>
                <a:spcPts val="450"/>
              </a:spcBef>
            </a:pPr>
            <a:endParaRPr lang="zh-CN" altLang="en-US" dirty="0">
              <a:solidFill>
                <a:srgbClr val="0066CC"/>
              </a:solidFill>
              <a:effectLst/>
            </a:endParaRPr>
          </a:p>
          <a:p>
            <a:pPr>
              <a:spcBef>
                <a:spcPts val="450"/>
              </a:spcBef>
            </a:pP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16" name="Group 356"/>
          <p:cNvGrpSpPr>
            <a:grpSpLocks/>
          </p:cNvGrpSpPr>
          <p:nvPr/>
        </p:nvGrpSpPr>
        <p:grpSpPr bwMode="auto">
          <a:xfrm>
            <a:off x="2626464" y="3826278"/>
            <a:ext cx="632222" cy="610791"/>
            <a:chOff x="313" y="1497"/>
            <a:chExt cx="1152" cy="1014"/>
          </a:xfrm>
        </p:grpSpPr>
        <p:pic>
          <p:nvPicPr>
            <p:cNvPr id="17" name="Picture 354" descr="laptop_stylized_small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355" descr="antenna_stylized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" name="Text Box 138"/>
          <p:cNvSpPr txBox="1">
            <a:spLocks noChangeArrowheads="1"/>
          </p:cNvSpPr>
          <p:nvPr/>
        </p:nvSpPr>
        <p:spPr bwMode="auto">
          <a:xfrm>
            <a:off x="5925145" y="4340719"/>
            <a:ext cx="93487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</a:rPr>
              <a:t>web server</a:t>
            </a:r>
          </a:p>
        </p:txBody>
      </p:sp>
      <p:pic>
        <p:nvPicPr>
          <p:cNvPr id="56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8596" y="3961504"/>
            <a:ext cx="330902" cy="131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7" name="Group 110"/>
          <p:cNvGrpSpPr>
            <a:grpSpLocks/>
          </p:cNvGrpSpPr>
          <p:nvPr/>
        </p:nvGrpSpPr>
        <p:grpSpPr bwMode="auto">
          <a:xfrm>
            <a:off x="5719892" y="3964821"/>
            <a:ext cx="336786" cy="168746"/>
            <a:chOff x="2466" y="2026"/>
            <a:chExt cx="477" cy="282"/>
          </a:xfrm>
        </p:grpSpPr>
        <p:sp>
          <p:nvSpPr>
            <p:cNvPr id="58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9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0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62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69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0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1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63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66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67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68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64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5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88" name="Group 110"/>
          <p:cNvGrpSpPr>
            <a:grpSpLocks/>
          </p:cNvGrpSpPr>
          <p:nvPr/>
        </p:nvGrpSpPr>
        <p:grpSpPr bwMode="auto">
          <a:xfrm>
            <a:off x="4512469" y="4225641"/>
            <a:ext cx="336786" cy="168746"/>
            <a:chOff x="2466" y="2026"/>
            <a:chExt cx="477" cy="282"/>
          </a:xfrm>
        </p:grpSpPr>
        <p:sp>
          <p:nvSpPr>
            <p:cNvPr id="89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0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1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93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100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01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02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94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97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8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9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95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6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cxnSp>
        <p:nvCxnSpPr>
          <p:cNvPr id="103" name="直接连接符 102"/>
          <p:cNvCxnSpPr>
            <a:endCxn id="56" idx="1"/>
          </p:cNvCxnSpPr>
          <p:nvPr/>
        </p:nvCxnSpPr>
        <p:spPr>
          <a:xfrm flipV="1">
            <a:off x="3258686" y="4027207"/>
            <a:ext cx="349910" cy="2089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>
            <a:stCxn id="92" idx="2"/>
          </p:cNvCxnSpPr>
          <p:nvPr/>
        </p:nvCxnSpPr>
        <p:spPr>
          <a:xfrm flipH="1" flipV="1">
            <a:off x="3823138" y="4091679"/>
            <a:ext cx="689331" cy="181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 flipH="1">
            <a:off x="4848549" y="4237648"/>
            <a:ext cx="244293" cy="58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 flipH="1">
            <a:off x="5484288" y="4088375"/>
            <a:ext cx="244293" cy="58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/>
        </p:nvCxnSpPr>
        <p:spPr>
          <a:xfrm flipH="1">
            <a:off x="5172002" y="4162915"/>
            <a:ext cx="244293" cy="5811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 flipH="1" flipV="1">
            <a:off x="6053369" y="4054580"/>
            <a:ext cx="689331" cy="181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48"/>
          <p:cNvGrpSpPr>
            <a:grpSpLocks/>
          </p:cNvGrpSpPr>
          <p:nvPr/>
        </p:nvGrpSpPr>
        <p:grpSpPr bwMode="auto">
          <a:xfrm>
            <a:off x="6596717" y="3887405"/>
            <a:ext cx="269080" cy="467916"/>
            <a:chOff x="4140" y="429"/>
            <a:chExt cx="1425" cy="2396"/>
          </a:xfrm>
        </p:grpSpPr>
        <p:sp>
          <p:nvSpPr>
            <p:cNvPr id="24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5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6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7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8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9" name="Group 153"/>
            <p:cNvGrpSpPr>
              <a:grpSpLocks/>
            </p:cNvGrpSpPr>
            <p:nvPr/>
          </p:nvGrpSpPr>
          <p:grpSpPr bwMode="auto">
            <a:xfrm>
              <a:off x="4751" y="666"/>
              <a:ext cx="580" cy="146"/>
              <a:chOff x="617" y="2567"/>
              <a:chExt cx="724" cy="140"/>
            </a:xfrm>
          </p:grpSpPr>
          <p:sp>
            <p:nvSpPr>
              <p:cNvPr id="54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5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30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31" name="Group 157"/>
            <p:cNvGrpSpPr>
              <a:grpSpLocks/>
            </p:cNvGrpSpPr>
            <p:nvPr/>
          </p:nvGrpSpPr>
          <p:grpSpPr bwMode="auto"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52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3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32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34" name="Group 162"/>
            <p:cNvGrpSpPr>
              <a:grpSpLocks/>
            </p:cNvGrpSpPr>
            <p:nvPr/>
          </p:nvGrpSpPr>
          <p:grpSpPr bwMode="auto">
            <a:xfrm>
              <a:off x="4733" y="1633"/>
              <a:ext cx="586" cy="140"/>
              <a:chOff x="611" y="2576"/>
              <a:chExt cx="730" cy="129"/>
            </a:xfrm>
          </p:grpSpPr>
          <p:sp>
            <p:nvSpPr>
              <p:cNvPr id="50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1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35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grpSp>
          <p:nvGrpSpPr>
            <p:cNvPr id="36" name="Group 166"/>
            <p:cNvGrpSpPr>
              <a:grpSpLocks/>
            </p:cNvGrpSpPr>
            <p:nvPr/>
          </p:nvGrpSpPr>
          <p:grpSpPr bwMode="auto"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48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49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37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8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39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40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1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42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3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4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5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6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7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1419622"/>
            <a:ext cx="288032" cy="288032"/>
          </a:xfrm>
          <a:prstGeom prst="rect">
            <a:avLst/>
          </a:prstGeom>
        </p:spPr>
      </p:pic>
      <p:grpSp>
        <p:nvGrpSpPr>
          <p:cNvPr id="125" name="Group 35"/>
          <p:cNvGrpSpPr>
            <a:grpSpLocks/>
          </p:cNvGrpSpPr>
          <p:nvPr/>
        </p:nvGrpSpPr>
        <p:grpSpPr bwMode="auto">
          <a:xfrm>
            <a:off x="2131174" y="3119322"/>
            <a:ext cx="732236" cy="1095376"/>
            <a:chOff x="651" y="681"/>
            <a:chExt cx="615" cy="920"/>
          </a:xfrm>
        </p:grpSpPr>
        <p:sp>
          <p:nvSpPr>
            <p:cNvPr id="126" name="Freeform 36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grpSp>
          <p:nvGrpSpPr>
            <p:cNvPr id="127" name="Group 37"/>
            <p:cNvGrpSpPr>
              <a:grpSpLocks/>
            </p:cNvGrpSpPr>
            <p:nvPr/>
          </p:nvGrpSpPr>
          <p:grpSpPr bwMode="auto">
            <a:xfrm>
              <a:off x="651" y="681"/>
              <a:ext cx="509" cy="853"/>
              <a:chOff x="569" y="2954"/>
              <a:chExt cx="509" cy="853"/>
            </a:xfrm>
          </p:grpSpPr>
          <p:sp>
            <p:nvSpPr>
              <p:cNvPr id="128" name="Rectangle 3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29" name="Text Box 39"/>
              <p:cNvSpPr txBox="1">
                <a:spLocks noChangeArrowheads="1"/>
              </p:cNvSpPr>
              <p:nvPr/>
            </p:nvSpPr>
            <p:spPr bwMode="auto">
              <a:xfrm>
                <a:off x="585" y="2954"/>
                <a:ext cx="493" cy="8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solidFill>
                      <a:srgbClr val="000000"/>
                    </a:solidFill>
                  </a:rPr>
                  <a:t>HTTP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solidFill>
                      <a:srgbClr val="000000"/>
                    </a:solidFill>
                  </a:rPr>
                  <a:t>TCP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solidFill>
                      <a:srgbClr val="000000"/>
                    </a:solidFill>
                  </a:rPr>
                  <a:t>IP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solidFill>
                      <a:srgbClr val="000000"/>
                    </a:solidFill>
                  </a:rPr>
                  <a:t>Eth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 err="1">
                    <a:solidFill>
                      <a:srgbClr val="000000"/>
                    </a:solidFill>
                  </a:rPr>
                  <a:t>Phy</a:t>
                </a:r>
                <a:endParaRPr lang="en-US" altLang="zh-CN" sz="12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0" name="Line 4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  <p:sp>
            <p:nvSpPr>
              <p:cNvPr id="131" name="Line 4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  <p:sp>
            <p:nvSpPr>
              <p:cNvPr id="132" name="Line 4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  <p:sp>
            <p:nvSpPr>
              <p:cNvPr id="133" name="Line 4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</p:grpSp>
      </p:grpSp>
      <p:grpSp>
        <p:nvGrpSpPr>
          <p:cNvPr id="190" name="Group 44"/>
          <p:cNvGrpSpPr>
            <a:grpSpLocks/>
          </p:cNvGrpSpPr>
          <p:nvPr/>
        </p:nvGrpSpPr>
        <p:grpSpPr bwMode="auto">
          <a:xfrm>
            <a:off x="1668500" y="3145528"/>
            <a:ext cx="435769" cy="250031"/>
            <a:chOff x="328" y="678"/>
            <a:chExt cx="366" cy="210"/>
          </a:xfrm>
        </p:grpSpPr>
        <p:grpSp>
          <p:nvGrpSpPr>
            <p:cNvPr id="191" name="Group 45"/>
            <p:cNvGrpSpPr>
              <a:grpSpLocks/>
            </p:cNvGrpSpPr>
            <p:nvPr/>
          </p:nvGrpSpPr>
          <p:grpSpPr bwMode="auto">
            <a:xfrm>
              <a:off x="328" y="693"/>
              <a:ext cx="366" cy="174"/>
              <a:chOff x="844" y="3337"/>
              <a:chExt cx="366" cy="174"/>
            </a:xfrm>
          </p:grpSpPr>
          <p:sp>
            <p:nvSpPr>
              <p:cNvPr id="193" name="Rectangle 46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94" name="Text Box 47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6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750">
                    <a:solidFill>
                      <a:srgbClr val="FFFFFF"/>
                    </a:solidFill>
                    <a:latin typeface="Arial" panose="020B0604020202020204" pitchFamily="34" charset="0"/>
                  </a:rPr>
                  <a:t>HTTP</a:t>
                </a:r>
              </a:p>
            </p:txBody>
          </p:sp>
        </p:grpSp>
        <p:sp>
          <p:nvSpPr>
            <p:cNvPr id="192" name="AutoShape 48"/>
            <p:cNvSpPr>
              <a:spLocks noChangeArrowheads="1"/>
            </p:cNvSpPr>
            <p:nvPr/>
          </p:nvSpPr>
          <p:spPr bwMode="auto">
            <a:xfrm>
              <a:off x="396" y="678"/>
              <a:ext cx="240" cy="210"/>
            </a:xfrm>
            <a:prstGeom prst="downArrow">
              <a:avLst>
                <a:gd name="adj1" fmla="val 49167"/>
                <a:gd name="adj2" fmla="val 24292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124" name="Group 477"/>
          <p:cNvGrpSpPr>
            <a:grpSpLocks/>
          </p:cNvGrpSpPr>
          <p:nvPr/>
        </p:nvGrpSpPr>
        <p:grpSpPr bwMode="auto">
          <a:xfrm>
            <a:off x="1337506" y="3152942"/>
            <a:ext cx="810817" cy="785814"/>
            <a:chOff x="2256" y="3531"/>
            <a:chExt cx="681" cy="660"/>
          </a:xfrm>
        </p:grpSpPr>
        <p:grpSp>
          <p:nvGrpSpPr>
            <p:cNvPr id="134" name="Group 321"/>
            <p:cNvGrpSpPr>
              <a:grpSpLocks/>
            </p:cNvGrpSpPr>
            <p:nvPr/>
          </p:nvGrpSpPr>
          <p:grpSpPr bwMode="auto">
            <a:xfrm>
              <a:off x="2482" y="3684"/>
              <a:ext cx="420" cy="174"/>
              <a:chOff x="740" y="3209"/>
              <a:chExt cx="420" cy="174"/>
            </a:xfrm>
          </p:grpSpPr>
          <p:grpSp>
            <p:nvGrpSpPr>
              <p:cNvPr id="185" name="Group 322"/>
              <p:cNvGrpSpPr>
                <a:grpSpLocks/>
              </p:cNvGrpSpPr>
              <p:nvPr/>
            </p:nvGrpSpPr>
            <p:grpSpPr bwMode="auto">
              <a:xfrm>
                <a:off x="794" y="3209"/>
                <a:ext cx="366" cy="174"/>
                <a:chOff x="844" y="3337"/>
                <a:chExt cx="366" cy="174"/>
              </a:xfrm>
            </p:grpSpPr>
            <p:sp>
              <p:nvSpPr>
                <p:cNvPr id="188" name="Rectangle 323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189" name="Text Box 324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66" cy="1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750">
                      <a:solidFill>
                        <a:srgbClr val="FFFFFF"/>
                      </a:solidFill>
                    </a:rPr>
                    <a:t>HTTP</a:t>
                  </a:r>
                </a:p>
              </p:txBody>
            </p:sp>
          </p:grpSp>
          <p:sp>
            <p:nvSpPr>
              <p:cNvPr id="186" name="Rectangle 325"/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87" name="Rectangle 326"/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135" name="Group 327"/>
            <p:cNvGrpSpPr>
              <a:grpSpLocks/>
            </p:cNvGrpSpPr>
            <p:nvPr/>
          </p:nvGrpSpPr>
          <p:grpSpPr bwMode="auto">
            <a:xfrm>
              <a:off x="2482" y="3844"/>
              <a:ext cx="420" cy="174"/>
              <a:chOff x="836" y="3305"/>
              <a:chExt cx="420" cy="174"/>
            </a:xfrm>
          </p:grpSpPr>
          <p:grpSp>
            <p:nvGrpSpPr>
              <p:cNvPr id="156" name="Group 328"/>
              <p:cNvGrpSpPr>
                <a:grpSpLocks/>
              </p:cNvGrpSpPr>
              <p:nvPr/>
            </p:nvGrpSpPr>
            <p:grpSpPr bwMode="auto">
              <a:xfrm>
                <a:off x="890" y="3305"/>
                <a:ext cx="366" cy="174"/>
                <a:chOff x="844" y="3337"/>
                <a:chExt cx="366" cy="174"/>
              </a:xfrm>
            </p:grpSpPr>
            <p:sp>
              <p:nvSpPr>
                <p:cNvPr id="183" name="Rectangle 329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184" name="Text Box 330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66" cy="1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750" dirty="0">
                      <a:solidFill>
                        <a:srgbClr val="FFFFFF"/>
                      </a:solidFill>
                    </a:rPr>
                    <a:t>HTTP</a:t>
                  </a:r>
                </a:p>
              </p:txBody>
            </p:sp>
          </p:grpSp>
          <p:grpSp>
            <p:nvGrpSpPr>
              <p:cNvPr id="157" name="Group 331"/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158" name="Rectangle 332"/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182" name="Rectangle 333"/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</p:grpSp>
        <p:grpSp>
          <p:nvGrpSpPr>
            <p:cNvPr id="136" name="Group 334"/>
            <p:cNvGrpSpPr>
              <a:grpSpLocks/>
            </p:cNvGrpSpPr>
            <p:nvPr/>
          </p:nvGrpSpPr>
          <p:grpSpPr bwMode="auto">
            <a:xfrm>
              <a:off x="2369" y="3858"/>
              <a:ext cx="480" cy="112"/>
              <a:chOff x="627" y="3377"/>
              <a:chExt cx="480" cy="112"/>
            </a:xfrm>
          </p:grpSpPr>
          <p:sp>
            <p:nvSpPr>
              <p:cNvPr id="154" name="Rectangle 335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55" name="Rectangle 336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137" name="Group 360"/>
            <p:cNvGrpSpPr>
              <a:grpSpLocks/>
            </p:cNvGrpSpPr>
            <p:nvPr/>
          </p:nvGrpSpPr>
          <p:grpSpPr bwMode="auto">
            <a:xfrm>
              <a:off x="2534" y="3531"/>
              <a:ext cx="366" cy="174"/>
              <a:chOff x="844" y="3337"/>
              <a:chExt cx="366" cy="174"/>
            </a:xfrm>
          </p:grpSpPr>
          <p:sp>
            <p:nvSpPr>
              <p:cNvPr id="152" name="Rectangle 361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53" name="Text Box 362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6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750" dirty="0">
                    <a:solidFill>
                      <a:srgbClr val="FFFFFF"/>
                    </a:solidFill>
                  </a:rPr>
                  <a:t>HTTP</a:t>
                </a:r>
              </a:p>
            </p:txBody>
          </p:sp>
        </p:grpSp>
        <p:grpSp>
          <p:nvGrpSpPr>
            <p:cNvPr id="138" name="Group 461"/>
            <p:cNvGrpSpPr>
              <a:grpSpLocks/>
            </p:cNvGrpSpPr>
            <p:nvPr/>
          </p:nvGrpSpPr>
          <p:grpSpPr bwMode="auto">
            <a:xfrm>
              <a:off x="2256" y="4017"/>
              <a:ext cx="681" cy="174"/>
              <a:chOff x="-341" y="3180"/>
              <a:chExt cx="681" cy="174"/>
            </a:xfrm>
          </p:grpSpPr>
          <p:sp>
            <p:nvSpPr>
              <p:cNvPr id="139" name="Rectangle 457"/>
              <p:cNvSpPr>
                <a:spLocks noChangeArrowheads="1"/>
              </p:cNvSpPr>
              <p:nvPr/>
            </p:nvSpPr>
            <p:spPr bwMode="auto">
              <a:xfrm>
                <a:off x="-341" y="3186"/>
                <a:ext cx="681" cy="1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140" name="Group 445"/>
              <p:cNvGrpSpPr>
                <a:grpSpLocks/>
              </p:cNvGrpSpPr>
              <p:nvPr/>
            </p:nvGrpSpPr>
            <p:grpSpPr bwMode="auto">
              <a:xfrm>
                <a:off x="-222" y="3180"/>
                <a:ext cx="533" cy="174"/>
                <a:chOff x="723" y="3453"/>
                <a:chExt cx="533" cy="174"/>
              </a:xfrm>
            </p:grpSpPr>
            <p:grpSp>
              <p:nvGrpSpPr>
                <p:cNvPr id="143" name="Group 446"/>
                <p:cNvGrpSpPr>
                  <a:grpSpLocks/>
                </p:cNvGrpSpPr>
                <p:nvPr/>
              </p:nvGrpSpPr>
              <p:grpSpPr bwMode="auto">
                <a:xfrm>
                  <a:off x="836" y="3453"/>
                  <a:ext cx="420" cy="174"/>
                  <a:chOff x="836" y="3305"/>
                  <a:chExt cx="420" cy="174"/>
                </a:xfrm>
              </p:grpSpPr>
              <p:grpSp>
                <p:nvGrpSpPr>
                  <p:cNvPr id="146" name="Group 447"/>
                  <p:cNvGrpSpPr>
                    <a:grpSpLocks/>
                  </p:cNvGrpSpPr>
                  <p:nvPr/>
                </p:nvGrpSpPr>
                <p:grpSpPr bwMode="auto">
                  <a:xfrm>
                    <a:off x="890" y="3305"/>
                    <a:ext cx="366" cy="174"/>
                    <a:chOff x="844" y="3337"/>
                    <a:chExt cx="366" cy="174"/>
                  </a:xfrm>
                </p:grpSpPr>
                <p:sp>
                  <p:nvSpPr>
                    <p:cNvPr id="150" name="Rectangle 44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chemeClr val="bg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zh-CN" sz="1350">
                        <a:solidFill>
                          <a:srgbClr val="000000"/>
                        </a:solidFill>
                        <a:latin typeface="Comic Sans MS" panose="030F0702030302020204" pitchFamily="66" charset="0"/>
                      </a:endParaRPr>
                    </a:p>
                  </p:txBody>
                </p:sp>
                <p:sp>
                  <p:nvSpPr>
                    <p:cNvPr id="151" name="Text Box 44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44" y="3337"/>
                      <a:ext cx="366" cy="17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defPPr>
                        <a:defRPr lang="zh-CN"/>
                      </a:defPPr>
                      <a:lvl1pPr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750" dirty="0">
                          <a:solidFill>
                            <a:srgbClr val="FFFFFF"/>
                          </a:solidFill>
                        </a:rPr>
                        <a:t>HTTP</a:t>
                      </a:r>
                    </a:p>
                  </p:txBody>
                </p:sp>
              </p:grpSp>
              <p:grpSp>
                <p:nvGrpSpPr>
                  <p:cNvPr id="147" name="Group 450"/>
                  <p:cNvGrpSpPr>
                    <a:grpSpLocks/>
                  </p:cNvGrpSpPr>
                  <p:nvPr/>
                </p:nvGrpSpPr>
                <p:grpSpPr bwMode="auto"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148" name="Rectangle 4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bg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zh-CN" sz="1350">
                        <a:solidFill>
                          <a:srgbClr val="000000"/>
                        </a:solidFill>
                        <a:latin typeface="Comic Sans MS" panose="030F0702030302020204" pitchFamily="66" charset="0"/>
                      </a:endParaRPr>
                    </a:p>
                  </p:txBody>
                </p:sp>
                <p:sp>
                  <p:nvSpPr>
                    <p:cNvPr id="149" name="Rectangle 45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zh-CN" sz="1350">
                        <a:solidFill>
                          <a:srgbClr val="000000"/>
                        </a:solidFill>
                        <a:latin typeface="Comic Sans MS" panose="030F0702030302020204" pitchFamily="66" charset="0"/>
                      </a:endParaRPr>
                    </a:p>
                  </p:txBody>
                </p:sp>
              </p:grpSp>
            </p:grpSp>
            <p:sp>
              <p:nvSpPr>
                <p:cNvPr id="144" name="Rectangle 453"/>
                <p:cNvSpPr>
                  <a:spLocks noChangeArrowheads="1"/>
                </p:cNvSpPr>
                <p:nvPr/>
              </p:nvSpPr>
              <p:spPr bwMode="auto"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145" name="Rectangle 454"/>
                <p:cNvSpPr>
                  <a:spLocks noChangeArrowheads="1"/>
                </p:cNvSpPr>
                <p:nvPr/>
              </p:nvSpPr>
              <p:spPr bwMode="auto"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141" name="Rectangle 455"/>
              <p:cNvSpPr>
                <a:spLocks noChangeArrowheads="1"/>
              </p:cNvSpPr>
              <p:nvPr/>
            </p:nvSpPr>
            <p:spPr bwMode="auto">
              <a:xfrm>
                <a:off x="-328" y="3202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42" name="Rectangle 456"/>
              <p:cNvSpPr>
                <a:spLocks noChangeArrowheads="1"/>
              </p:cNvSpPr>
              <p:nvPr/>
            </p:nvSpPr>
            <p:spPr bwMode="auto">
              <a:xfrm>
                <a:off x="270" y="3201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</p:grpSp>
      <p:sp>
        <p:nvSpPr>
          <p:cNvPr id="159" name="灯片编号占位符 2">
            <a:extLst>
              <a:ext uri="{FF2B5EF4-FFF2-40B4-BE49-F238E27FC236}">
                <a16:creationId xmlns:a16="http://schemas.microsoft.com/office/drawing/2014/main" id="{464B0339-95C7-4537-94AE-C6181E230D79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25</a:t>
            </a:fld>
            <a:endParaRPr lang="en-US" altLang="zh-CN" dirty="0"/>
          </a:p>
        </p:txBody>
      </p:sp>
      <p:sp>
        <p:nvSpPr>
          <p:cNvPr id="160" name="AutoShape 5">
            <a:extLst>
              <a:ext uri="{FF2B5EF4-FFF2-40B4-BE49-F238E27FC236}">
                <a16:creationId xmlns:a16="http://schemas.microsoft.com/office/drawing/2014/main" id="{1B518C0F-3241-4E90-A05F-84C28CBAE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61" name="图片 160">
            <a:extLst>
              <a:ext uri="{FF2B5EF4-FFF2-40B4-BE49-F238E27FC236}">
                <a16:creationId xmlns:a16="http://schemas.microsoft.com/office/drawing/2014/main" id="{844A7CA7-7B3C-4AF5-B626-FFD2BDCF9F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3966" y="3725870"/>
            <a:ext cx="957628" cy="62339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75377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8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1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" grpId="0" animBg="1"/>
      <p:bldP spid="160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5.7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总结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: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自底向上回顾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一次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请求所要做的工作：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开始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Web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请求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(23) HTTP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响应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Sever</a:t>
            </a:r>
            <a:r>
              <a:rPr lang="zh-CN" altLang="en-US" dirty="0">
                <a:solidFill>
                  <a:srgbClr val="0066CC"/>
                </a:solidFill>
              </a:rPr>
              <a:t>读取</a:t>
            </a:r>
            <a:r>
              <a:rPr lang="en-US" altLang="zh-CN" dirty="0">
                <a:solidFill>
                  <a:srgbClr val="0066CC"/>
                </a:solidFill>
              </a:rPr>
              <a:t>HTTP</a:t>
            </a:r>
            <a:r>
              <a:rPr lang="zh-CN" altLang="en-US" dirty="0">
                <a:solidFill>
                  <a:srgbClr val="0066CC"/>
                </a:solidFill>
              </a:rPr>
              <a:t>请求</a:t>
            </a:r>
            <a:endParaRPr lang="en-US" altLang="zh-CN" dirty="0">
              <a:solidFill>
                <a:srgbClr val="0066CC"/>
              </a:solidFill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找到</a:t>
            </a:r>
            <a:r>
              <a:rPr lang="en-US" altLang="zh-CN" dirty="0">
                <a:solidFill>
                  <a:srgbClr val="0066CC"/>
                </a:solidFill>
              </a:rPr>
              <a:t>Web</a:t>
            </a:r>
            <a:r>
              <a:rPr lang="zh-CN" altLang="en-US" dirty="0">
                <a:solidFill>
                  <a:srgbClr val="0066CC"/>
                </a:solidFill>
              </a:rPr>
              <a:t>对象</a:t>
            </a:r>
            <a:endParaRPr lang="en-US" altLang="zh-CN" dirty="0">
              <a:solidFill>
                <a:srgbClr val="0066CC"/>
              </a:solidFill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封装</a:t>
            </a:r>
            <a:r>
              <a:rPr lang="en-US" altLang="zh-CN" dirty="0">
                <a:solidFill>
                  <a:srgbClr val="0066CC"/>
                </a:solidFill>
              </a:rPr>
              <a:t>HTTP</a:t>
            </a:r>
            <a:r>
              <a:rPr lang="zh-CN" altLang="en-US" dirty="0">
                <a:solidFill>
                  <a:srgbClr val="0066CC"/>
                </a:solidFill>
              </a:rPr>
              <a:t>响应</a:t>
            </a:r>
            <a:endParaRPr lang="en-US" altLang="zh-CN" dirty="0">
              <a:solidFill>
                <a:srgbClr val="0066CC"/>
              </a:solidFill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发送到</a:t>
            </a:r>
            <a:r>
              <a:rPr lang="en-US" altLang="zh-CN" dirty="0">
                <a:solidFill>
                  <a:srgbClr val="0066CC"/>
                </a:solidFill>
              </a:rPr>
              <a:t>TCP</a:t>
            </a:r>
            <a:r>
              <a:rPr lang="zh-CN" altLang="en-US" dirty="0">
                <a:solidFill>
                  <a:srgbClr val="0066CC"/>
                </a:solidFill>
              </a:rPr>
              <a:t>套接字中</a:t>
            </a:r>
            <a:endParaRPr lang="en-US" altLang="zh-CN" dirty="0">
              <a:solidFill>
                <a:srgbClr val="0066CC"/>
              </a:solidFill>
            </a:endParaRPr>
          </a:p>
          <a:p>
            <a:pPr lvl="1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(24) Bob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终于收到了报文！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endParaRPr lang="zh-CN" altLang="en-US" dirty="0">
              <a:solidFill>
                <a:srgbClr val="0066CC"/>
              </a:solidFill>
              <a:effectLst/>
            </a:endParaRPr>
          </a:p>
          <a:p>
            <a:pPr>
              <a:spcBef>
                <a:spcPts val="450"/>
              </a:spcBef>
            </a:pP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16" name="Group 356"/>
          <p:cNvGrpSpPr>
            <a:grpSpLocks/>
          </p:cNvGrpSpPr>
          <p:nvPr/>
        </p:nvGrpSpPr>
        <p:grpSpPr bwMode="auto">
          <a:xfrm>
            <a:off x="2626464" y="3826278"/>
            <a:ext cx="632222" cy="610791"/>
            <a:chOff x="313" y="1497"/>
            <a:chExt cx="1152" cy="1014"/>
          </a:xfrm>
        </p:grpSpPr>
        <p:pic>
          <p:nvPicPr>
            <p:cNvPr id="17" name="Picture 354" descr="laptop_stylized_small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355" descr="antenna_stylized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" name="Text Box 138"/>
          <p:cNvSpPr txBox="1">
            <a:spLocks noChangeArrowheads="1"/>
          </p:cNvSpPr>
          <p:nvPr/>
        </p:nvSpPr>
        <p:spPr bwMode="auto">
          <a:xfrm>
            <a:off x="5925145" y="4340719"/>
            <a:ext cx="93487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</a:rPr>
              <a:t>web server</a:t>
            </a:r>
          </a:p>
        </p:txBody>
      </p:sp>
      <p:pic>
        <p:nvPicPr>
          <p:cNvPr id="56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8596" y="3961504"/>
            <a:ext cx="330902" cy="131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7" name="Group 110"/>
          <p:cNvGrpSpPr>
            <a:grpSpLocks/>
          </p:cNvGrpSpPr>
          <p:nvPr/>
        </p:nvGrpSpPr>
        <p:grpSpPr bwMode="auto">
          <a:xfrm>
            <a:off x="5719892" y="3964821"/>
            <a:ext cx="336786" cy="168746"/>
            <a:chOff x="2466" y="2026"/>
            <a:chExt cx="477" cy="282"/>
          </a:xfrm>
        </p:grpSpPr>
        <p:sp>
          <p:nvSpPr>
            <p:cNvPr id="58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9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0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62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69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0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1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63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66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67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68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64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5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88" name="Group 110"/>
          <p:cNvGrpSpPr>
            <a:grpSpLocks/>
          </p:cNvGrpSpPr>
          <p:nvPr/>
        </p:nvGrpSpPr>
        <p:grpSpPr bwMode="auto">
          <a:xfrm>
            <a:off x="4512469" y="4225641"/>
            <a:ext cx="336786" cy="168746"/>
            <a:chOff x="2466" y="2026"/>
            <a:chExt cx="477" cy="282"/>
          </a:xfrm>
        </p:grpSpPr>
        <p:sp>
          <p:nvSpPr>
            <p:cNvPr id="89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0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1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93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100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01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02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94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97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8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9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95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6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cxnSp>
        <p:nvCxnSpPr>
          <p:cNvPr id="103" name="直接连接符 102"/>
          <p:cNvCxnSpPr>
            <a:endCxn id="56" idx="1"/>
          </p:cNvCxnSpPr>
          <p:nvPr/>
        </p:nvCxnSpPr>
        <p:spPr>
          <a:xfrm flipV="1">
            <a:off x="3258686" y="4027207"/>
            <a:ext cx="349910" cy="2089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>
            <a:stCxn id="92" idx="2"/>
          </p:cNvCxnSpPr>
          <p:nvPr/>
        </p:nvCxnSpPr>
        <p:spPr>
          <a:xfrm flipH="1" flipV="1">
            <a:off x="3823138" y="4091679"/>
            <a:ext cx="689331" cy="181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 flipH="1">
            <a:off x="4848549" y="4237648"/>
            <a:ext cx="244293" cy="58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 flipH="1">
            <a:off x="5484288" y="4088375"/>
            <a:ext cx="244293" cy="58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/>
        </p:nvCxnSpPr>
        <p:spPr>
          <a:xfrm flipH="1">
            <a:off x="5172002" y="4162915"/>
            <a:ext cx="244293" cy="5811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 flipH="1" flipV="1">
            <a:off x="6053369" y="4054580"/>
            <a:ext cx="689331" cy="1818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48"/>
          <p:cNvGrpSpPr>
            <a:grpSpLocks/>
          </p:cNvGrpSpPr>
          <p:nvPr/>
        </p:nvGrpSpPr>
        <p:grpSpPr bwMode="auto">
          <a:xfrm>
            <a:off x="6596717" y="3887405"/>
            <a:ext cx="269080" cy="467916"/>
            <a:chOff x="4140" y="429"/>
            <a:chExt cx="1425" cy="2396"/>
          </a:xfrm>
        </p:grpSpPr>
        <p:sp>
          <p:nvSpPr>
            <p:cNvPr id="24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5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6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7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8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9" name="Group 153"/>
            <p:cNvGrpSpPr>
              <a:grpSpLocks/>
            </p:cNvGrpSpPr>
            <p:nvPr/>
          </p:nvGrpSpPr>
          <p:grpSpPr bwMode="auto">
            <a:xfrm>
              <a:off x="4751" y="666"/>
              <a:ext cx="580" cy="146"/>
              <a:chOff x="617" y="2567"/>
              <a:chExt cx="724" cy="140"/>
            </a:xfrm>
          </p:grpSpPr>
          <p:sp>
            <p:nvSpPr>
              <p:cNvPr id="54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5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30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31" name="Group 157"/>
            <p:cNvGrpSpPr>
              <a:grpSpLocks/>
            </p:cNvGrpSpPr>
            <p:nvPr/>
          </p:nvGrpSpPr>
          <p:grpSpPr bwMode="auto"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52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3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32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34" name="Group 162"/>
            <p:cNvGrpSpPr>
              <a:grpSpLocks/>
            </p:cNvGrpSpPr>
            <p:nvPr/>
          </p:nvGrpSpPr>
          <p:grpSpPr bwMode="auto">
            <a:xfrm>
              <a:off x="4733" y="1633"/>
              <a:ext cx="586" cy="140"/>
              <a:chOff x="611" y="2576"/>
              <a:chExt cx="730" cy="129"/>
            </a:xfrm>
          </p:grpSpPr>
          <p:sp>
            <p:nvSpPr>
              <p:cNvPr id="50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51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35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grpSp>
          <p:nvGrpSpPr>
            <p:cNvPr id="36" name="Group 166"/>
            <p:cNvGrpSpPr>
              <a:grpSpLocks/>
            </p:cNvGrpSpPr>
            <p:nvPr/>
          </p:nvGrpSpPr>
          <p:grpSpPr bwMode="auto"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48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49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37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8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39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40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1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42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3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4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5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6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7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161" name="Group 145"/>
          <p:cNvGrpSpPr>
            <a:grpSpLocks/>
          </p:cNvGrpSpPr>
          <p:nvPr/>
        </p:nvGrpSpPr>
        <p:grpSpPr bwMode="auto">
          <a:xfrm>
            <a:off x="5950305" y="2875495"/>
            <a:ext cx="732234" cy="1095375"/>
            <a:chOff x="4000" y="1895"/>
            <a:chExt cx="615" cy="920"/>
          </a:xfrm>
        </p:grpSpPr>
        <p:sp>
          <p:nvSpPr>
            <p:cNvPr id="162" name="Freeform 146"/>
            <p:cNvSpPr>
              <a:spLocks/>
            </p:cNvSpPr>
            <p:nvPr/>
          </p:nvSpPr>
          <p:spPr bwMode="auto">
            <a:xfrm>
              <a:off x="4011" y="1912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163" name="Group 147"/>
            <p:cNvGrpSpPr>
              <a:grpSpLocks/>
            </p:cNvGrpSpPr>
            <p:nvPr/>
          </p:nvGrpSpPr>
          <p:grpSpPr bwMode="auto">
            <a:xfrm>
              <a:off x="4000" y="1895"/>
              <a:ext cx="509" cy="853"/>
              <a:chOff x="569" y="2954"/>
              <a:chExt cx="509" cy="853"/>
            </a:xfrm>
          </p:grpSpPr>
          <p:sp>
            <p:nvSpPr>
              <p:cNvPr id="164" name="Rectangle 14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65" name="Text Box 149"/>
              <p:cNvSpPr txBox="1">
                <a:spLocks noChangeArrowheads="1"/>
              </p:cNvSpPr>
              <p:nvPr/>
            </p:nvSpPr>
            <p:spPr bwMode="auto">
              <a:xfrm>
                <a:off x="585" y="2954"/>
                <a:ext cx="493" cy="8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HTTP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TCP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IP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Eth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 err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Phy</a:t>
                </a:r>
                <a:endParaRPr lang="en-US" altLang="zh-CN" sz="12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6" name="Line 15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67" name="Line 15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68" name="Line 15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69" name="Line 15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170" name="Group 391"/>
          <p:cNvGrpSpPr>
            <a:grpSpLocks/>
          </p:cNvGrpSpPr>
          <p:nvPr/>
        </p:nvGrpSpPr>
        <p:grpSpPr bwMode="auto">
          <a:xfrm>
            <a:off x="5126393" y="2939789"/>
            <a:ext cx="810815" cy="735807"/>
            <a:chOff x="2231" y="3555"/>
            <a:chExt cx="681" cy="618"/>
          </a:xfrm>
        </p:grpSpPr>
        <p:grpSp>
          <p:nvGrpSpPr>
            <p:cNvPr id="171" name="Group 392"/>
            <p:cNvGrpSpPr>
              <a:grpSpLocks/>
            </p:cNvGrpSpPr>
            <p:nvPr/>
          </p:nvGrpSpPr>
          <p:grpSpPr bwMode="auto">
            <a:xfrm>
              <a:off x="2231" y="3684"/>
              <a:ext cx="681" cy="489"/>
              <a:chOff x="152" y="970"/>
              <a:chExt cx="681" cy="489"/>
            </a:xfrm>
          </p:grpSpPr>
          <p:grpSp>
            <p:nvGrpSpPr>
              <p:cNvPr id="175" name="Group 393"/>
              <p:cNvGrpSpPr>
                <a:grpSpLocks/>
              </p:cNvGrpSpPr>
              <p:nvPr/>
            </p:nvGrpSpPr>
            <p:grpSpPr bwMode="auto">
              <a:xfrm>
                <a:off x="386" y="970"/>
                <a:ext cx="420" cy="174"/>
                <a:chOff x="740" y="3209"/>
                <a:chExt cx="420" cy="174"/>
              </a:xfrm>
            </p:grpSpPr>
            <p:grpSp>
              <p:nvGrpSpPr>
                <p:cNvPr id="200" name="Group 394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66" cy="174"/>
                  <a:chOff x="844" y="3337"/>
                  <a:chExt cx="366" cy="174"/>
                </a:xfrm>
              </p:grpSpPr>
              <p:sp>
                <p:nvSpPr>
                  <p:cNvPr id="203" name="Rectangle 395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204" name="Text Box 39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66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750">
                        <a:solidFill>
                          <a:srgbClr val="FFFFFF"/>
                        </a:solidFill>
                        <a:latin typeface="Arial" panose="020B0604020202020204" pitchFamily="34" charset="0"/>
                      </a:rPr>
                      <a:t>HTTP</a:t>
                    </a:r>
                  </a:p>
                </p:txBody>
              </p:sp>
            </p:grpSp>
            <p:sp>
              <p:nvSpPr>
                <p:cNvPr id="201" name="Rectangle 397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202" name="Rectangle 398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176" name="Group 399"/>
              <p:cNvGrpSpPr>
                <a:grpSpLocks/>
              </p:cNvGrpSpPr>
              <p:nvPr/>
            </p:nvGrpSpPr>
            <p:grpSpPr bwMode="auto">
              <a:xfrm>
                <a:off x="386" y="1118"/>
                <a:ext cx="420" cy="174"/>
                <a:chOff x="836" y="3305"/>
                <a:chExt cx="420" cy="174"/>
              </a:xfrm>
            </p:grpSpPr>
            <p:grpSp>
              <p:nvGrpSpPr>
                <p:cNvPr id="194" name="Group 400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66" cy="174"/>
                  <a:chOff x="844" y="3337"/>
                  <a:chExt cx="366" cy="174"/>
                </a:xfrm>
              </p:grpSpPr>
              <p:sp>
                <p:nvSpPr>
                  <p:cNvPr id="198" name="Rectangle 401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199" name="Text Box 40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66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750">
                        <a:solidFill>
                          <a:srgbClr val="FFFFFF"/>
                        </a:solidFill>
                        <a:latin typeface="Arial" panose="020B0604020202020204" pitchFamily="34" charset="0"/>
                      </a:rPr>
                      <a:t>HTTP</a:t>
                    </a:r>
                  </a:p>
                </p:txBody>
              </p:sp>
            </p:grpSp>
            <p:grpSp>
              <p:nvGrpSpPr>
                <p:cNvPr id="195" name="Group 403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96" name="Rectangle 404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197" name="Rectangle 405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</p:grpSp>
          </p:grpSp>
          <p:grpSp>
            <p:nvGrpSpPr>
              <p:cNvPr id="177" name="Group 406"/>
              <p:cNvGrpSpPr>
                <a:grpSpLocks/>
              </p:cNvGrpSpPr>
              <p:nvPr/>
            </p:nvGrpSpPr>
            <p:grpSpPr bwMode="auto">
              <a:xfrm>
                <a:off x="273" y="1138"/>
                <a:ext cx="480" cy="112"/>
                <a:chOff x="627" y="3377"/>
                <a:chExt cx="480" cy="112"/>
              </a:xfrm>
            </p:grpSpPr>
            <p:sp>
              <p:nvSpPr>
                <p:cNvPr id="192" name="Rectangle 407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193" name="Rectangle 408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grpSp>
            <p:nvGrpSpPr>
              <p:cNvPr id="178" name="Group 409"/>
              <p:cNvGrpSpPr>
                <a:grpSpLocks/>
              </p:cNvGrpSpPr>
              <p:nvPr/>
            </p:nvGrpSpPr>
            <p:grpSpPr bwMode="auto">
              <a:xfrm>
                <a:off x="152" y="1285"/>
                <a:ext cx="681" cy="174"/>
                <a:chOff x="504" y="3523"/>
                <a:chExt cx="681" cy="174"/>
              </a:xfrm>
            </p:grpSpPr>
            <p:grpSp>
              <p:nvGrpSpPr>
                <p:cNvPr id="179" name="Group 410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33" cy="174"/>
                  <a:chOff x="723" y="3453"/>
                  <a:chExt cx="533" cy="174"/>
                </a:xfrm>
              </p:grpSpPr>
              <p:grpSp>
                <p:nvGrpSpPr>
                  <p:cNvPr id="183" name="Group 411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420" cy="174"/>
                    <a:chOff x="836" y="3305"/>
                    <a:chExt cx="420" cy="174"/>
                  </a:xfrm>
                </p:grpSpPr>
                <p:grpSp>
                  <p:nvGrpSpPr>
                    <p:cNvPr id="186" name="Group 4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66" cy="174"/>
                      <a:chOff x="844" y="3337"/>
                      <a:chExt cx="366" cy="174"/>
                    </a:xfrm>
                  </p:grpSpPr>
                  <p:sp>
                    <p:nvSpPr>
                      <p:cNvPr id="190" name="Rectangle 41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SzPct val="65000"/>
                          <a:buFont typeface="Wingdings" panose="05000000000000000000" pitchFamily="2" charset="2"/>
                          <a:buChar char="v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350">
                          <a:solidFill>
                            <a:srgbClr val="000000"/>
                          </a:solidFill>
                          <a:latin typeface="Comic Sans MS" panose="030F0702030302020204" pitchFamily="66" charset="0"/>
                        </a:endParaRPr>
                      </a:p>
                    </p:txBody>
                  </p:sp>
                  <p:sp>
                    <p:nvSpPr>
                      <p:cNvPr id="191" name="Text Box 414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66" cy="1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SzPct val="65000"/>
                          <a:buFont typeface="Wingdings" panose="05000000000000000000" pitchFamily="2" charset="2"/>
                          <a:buChar char="v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sz="750">
                            <a:solidFill>
                              <a:srgbClr val="FFFFFF"/>
                            </a:solidFill>
                            <a:latin typeface="Arial" panose="020B0604020202020204" pitchFamily="34" charset="0"/>
                          </a:rPr>
                          <a:t>HTTP</a:t>
                        </a:r>
                      </a:p>
                    </p:txBody>
                  </p:sp>
                </p:grpSp>
                <p:grpSp>
                  <p:nvGrpSpPr>
                    <p:cNvPr id="187" name="Group 41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88" name="Rectangle 41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SzPct val="65000"/>
                          <a:buFont typeface="Wingdings" panose="05000000000000000000" pitchFamily="2" charset="2"/>
                          <a:buChar char="v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350">
                          <a:solidFill>
                            <a:srgbClr val="000000"/>
                          </a:solidFill>
                          <a:latin typeface="Comic Sans MS" panose="030F0702030302020204" pitchFamily="66" charset="0"/>
                        </a:endParaRPr>
                      </a:p>
                    </p:txBody>
                  </p:sp>
                  <p:sp>
                    <p:nvSpPr>
                      <p:cNvPr id="189" name="Rectangle 41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SzPct val="65000"/>
                          <a:buFont typeface="Wingdings" panose="05000000000000000000" pitchFamily="2" charset="2"/>
                          <a:buChar char="v"/>
                          <a:defRPr sz="28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lnSpc>
                            <a:spcPct val="85000"/>
                          </a:lnSpc>
                          <a:spcBef>
                            <a:spcPct val="20000"/>
                          </a:spcBef>
                          <a:buClr>
                            <a:srgbClr val="000099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Gill Sans MT" panose="020B0502020104020203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zh-CN" sz="1350">
                          <a:solidFill>
                            <a:srgbClr val="000000"/>
                          </a:solidFill>
                          <a:latin typeface="Comic Sans MS" panose="030F0702030302020204" pitchFamily="66" charset="0"/>
                        </a:endParaRPr>
                      </a:p>
                    </p:txBody>
                  </p:sp>
                </p:grpSp>
              </p:grpSp>
              <p:sp>
                <p:nvSpPr>
                  <p:cNvPr id="184" name="Rectangle 418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185" name="Rectangle 419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</p:grpSp>
            <p:sp>
              <p:nvSpPr>
                <p:cNvPr id="180" name="Rectangle 420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181" name="Rectangle 421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182" name="Rectangle 422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</p:grpSp>
        <p:grpSp>
          <p:nvGrpSpPr>
            <p:cNvPr id="172" name="Group 423"/>
            <p:cNvGrpSpPr>
              <a:grpSpLocks/>
            </p:cNvGrpSpPr>
            <p:nvPr/>
          </p:nvGrpSpPr>
          <p:grpSpPr bwMode="auto">
            <a:xfrm>
              <a:off x="2517" y="3555"/>
              <a:ext cx="366" cy="174"/>
              <a:chOff x="844" y="3337"/>
              <a:chExt cx="366" cy="174"/>
            </a:xfrm>
          </p:grpSpPr>
          <p:sp>
            <p:nvSpPr>
              <p:cNvPr id="173" name="Rectangle 424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74" name="Text Box 425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6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750">
                    <a:solidFill>
                      <a:srgbClr val="FFFFFF"/>
                    </a:solidFill>
                    <a:latin typeface="Arial" panose="020B0604020202020204" pitchFamily="34" charset="0"/>
                  </a:rPr>
                  <a:t>HTTP</a:t>
                </a:r>
              </a:p>
            </p:txBody>
          </p:sp>
        </p:grpSp>
      </p:grpSp>
      <p:grpSp>
        <p:nvGrpSpPr>
          <p:cNvPr id="205" name="Group 462"/>
          <p:cNvGrpSpPr>
            <a:grpSpLocks/>
          </p:cNvGrpSpPr>
          <p:nvPr/>
        </p:nvGrpSpPr>
        <p:grpSpPr bwMode="auto">
          <a:xfrm>
            <a:off x="5128774" y="3468431"/>
            <a:ext cx="810815" cy="207169"/>
            <a:chOff x="-341" y="3180"/>
            <a:chExt cx="681" cy="174"/>
          </a:xfrm>
        </p:grpSpPr>
        <p:sp>
          <p:nvSpPr>
            <p:cNvPr id="206" name="Rectangle 463"/>
            <p:cNvSpPr>
              <a:spLocks noChangeArrowheads="1"/>
            </p:cNvSpPr>
            <p:nvPr/>
          </p:nvSpPr>
          <p:spPr bwMode="auto">
            <a:xfrm>
              <a:off x="-341" y="3186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207" name="Group 464"/>
            <p:cNvGrpSpPr>
              <a:grpSpLocks/>
            </p:cNvGrpSpPr>
            <p:nvPr/>
          </p:nvGrpSpPr>
          <p:grpSpPr bwMode="auto">
            <a:xfrm>
              <a:off x="-222" y="3180"/>
              <a:ext cx="533" cy="174"/>
              <a:chOff x="723" y="3453"/>
              <a:chExt cx="533" cy="174"/>
            </a:xfrm>
          </p:grpSpPr>
          <p:grpSp>
            <p:nvGrpSpPr>
              <p:cNvPr id="210" name="Group 465"/>
              <p:cNvGrpSpPr>
                <a:grpSpLocks/>
              </p:cNvGrpSpPr>
              <p:nvPr/>
            </p:nvGrpSpPr>
            <p:grpSpPr bwMode="auto">
              <a:xfrm>
                <a:off x="836" y="3453"/>
                <a:ext cx="420" cy="174"/>
                <a:chOff x="836" y="3305"/>
                <a:chExt cx="420" cy="174"/>
              </a:xfrm>
            </p:grpSpPr>
            <p:grpSp>
              <p:nvGrpSpPr>
                <p:cNvPr id="213" name="Group 466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66" cy="174"/>
                  <a:chOff x="844" y="3337"/>
                  <a:chExt cx="366" cy="174"/>
                </a:xfrm>
              </p:grpSpPr>
              <p:sp>
                <p:nvSpPr>
                  <p:cNvPr id="217" name="Rectangle 46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218" name="Text Box 46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66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750">
                        <a:solidFill>
                          <a:srgbClr val="FFFFFF"/>
                        </a:solidFill>
                        <a:latin typeface="Arial" panose="020B0604020202020204" pitchFamily="34" charset="0"/>
                      </a:rPr>
                      <a:t>HTTP</a:t>
                    </a:r>
                  </a:p>
                </p:txBody>
              </p:sp>
            </p:grpSp>
            <p:grpSp>
              <p:nvGrpSpPr>
                <p:cNvPr id="214" name="Group 469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215" name="Rectangle 470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  <p:sp>
                <p:nvSpPr>
                  <p:cNvPr id="216" name="Rectangle 471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350">
                      <a:solidFill>
                        <a:srgbClr val="000000"/>
                      </a:solidFill>
                      <a:latin typeface="Comic Sans MS" panose="030F0702030302020204" pitchFamily="66" charset="0"/>
                    </a:endParaRPr>
                  </a:p>
                </p:txBody>
              </p:sp>
            </p:grpSp>
          </p:grpSp>
          <p:sp>
            <p:nvSpPr>
              <p:cNvPr id="211" name="Rectangle 472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12" name="Rectangle 473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08" name="Rectangle 474"/>
            <p:cNvSpPr>
              <a:spLocks noChangeArrowheads="1"/>
            </p:cNvSpPr>
            <p:nvPr/>
          </p:nvSpPr>
          <p:spPr bwMode="auto">
            <a:xfrm>
              <a:off x="-328" y="3202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09" name="Rectangle 475"/>
            <p:cNvSpPr>
              <a:spLocks noChangeArrowheads="1"/>
            </p:cNvSpPr>
            <p:nvPr/>
          </p:nvSpPr>
          <p:spPr bwMode="auto">
            <a:xfrm>
              <a:off x="270" y="3201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219" name="Group 405"/>
          <p:cNvGrpSpPr>
            <a:grpSpLocks/>
          </p:cNvGrpSpPr>
          <p:nvPr/>
        </p:nvGrpSpPr>
        <p:grpSpPr bwMode="auto">
          <a:xfrm>
            <a:off x="1739064" y="3298845"/>
            <a:ext cx="1062038" cy="948929"/>
            <a:chOff x="146" y="690"/>
            <a:chExt cx="892" cy="797"/>
          </a:xfrm>
        </p:grpSpPr>
        <p:grpSp>
          <p:nvGrpSpPr>
            <p:cNvPr id="220" name="Group 400"/>
            <p:cNvGrpSpPr>
              <a:grpSpLocks/>
            </p:cNvGrpSpPr>
            <p:nvPr/>
          </p:nvGrpSpPr>
          <p:grpSpPr bwMode="auto">
            <a:xfrm>
              <a:off x="146" y="690"/>
              <a:ext cx="892" cy="797"/>
              <a:chOff x="146" y="690"/>
              <a:chExt cx="892" cy="797"/>
            </a:xfrm>
          </p:grpSpPr>
          <p:sp>
            <p:nvSpPr>
              <p:cNvPr id="222" name="Freeform 398"/>
              <p:cNvSpPr>
                <a:spLocks/>
              </p:cNvSpPr>
              <p:nvPr/>
            </p:nvSpPr>
            <p:spPr bwMode="auto">
              <a:xfrm>
                <a:off x="177" y="715"/>
                <a:ext cx="861" cy="772"/>
              </a:xfrm>
              <a:custGeom>
                <a:avLst/>
                <a:gdLst>
                  <a:gd name="T0" fmla="*/ 861 w 861"/>
                  <a:gd name="T1" fmla="*/ 772 h 772"/>
                  <a:gd name="T2" fmla="*/ 0 w 861"/>
                  <a:gd name="T3" fmla="*/ 557 h 772"/>
                  <a:gd name="T4" fmla="*/ 532 w 861"/>
                  <a:gd name="T5" fmla="*/ 405 h 772"/>
                  <a:gd name="T6" fmla="*/ 652 w 861"/>
                  <a:gd name="T7" fmla="*/ 0 h 772"/>
                  <a:gd name="T8" fmla="*/ 861 w 861"/>
                  <a:gd name="T9" fmla="*/ 772 h 7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61" h="772">
                    <a:moveTo>
                      <a:pt x="861" y="772"/>
                    </a:moveTo>
                    <a:lnTo>
                      <a:pt x="0" y="557"/>
                    </a:lnTo>
                    <a:lnTo>
                      <a:pt x="532" y="405"/>
                    </a:lnTo>
                    <a:lnTo>
                      <a:pt x="652" y="0"/>
                    </a:lnTo>
                    <a:lnTo>
                      <a:pt x="861" y="772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100000">
                    <a:srgbClr val="FF00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grpSp>
            <p:nvGrpSpPr>
              <p:cNvPr id="223" name="Group 392"/>
              <p:cNvGrpSpPr>
                <a:grpSpLocks/>
              </p:cNvGrpSpPr>
              <p:nvPr/>
            </p:nvGrpSpPr>
            <p:grpSpPr bwMode="auto">
              <a:xfrm>
                <a:off x="148" y="697"/>
                <a:ext cx="694" cy="574"/>
                <a:chOff x="2579" y="1366"/>
                <a:chExt cx="1078" cy="674"/>
              </a:xfrm>
            </p:grpSpPr>
            <p:pic>
              <p:nvPicPr>
                <p:cNvPr id="225" name="Picture 393"/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79" y="1366"/>
                  <a:ext cx="1078" cy="6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26" name="Rectangle 394"/>
                <p:cNvSpPr>
                  <a:spLocks noChangeArrowheads="1"/>
                </p:cNvSpPr>
                <p:nvPr/>
              </p:nvSpPr>
              <p:spPr bwMode="auto">
                <a:xfrm>
                  <a:off x="2633" y="1428"/>
                  <a:ext cx="957" cy="56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350">
                    <a:solidFill>
                      <a:srgbClr val="000000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224" name="Rectangle 399"/>
              <p:cNvSpPr>
                <a:spLocks noChangeArrowheads="1"/>
              </p:cNvSpPr>
              <p:nvPr/>
            </p:nvSpPr>
            <p:spPr bwMode="auto">
              <a:xfrm>
                <a:off x="146" y="690"/>
                <a:ext cx="696" cy="58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221" name="Text Box 402"/>
            <p:cNvSpPr txBox="1">
              <a:spLocks noChangeArrowheads="1"/>
            </p:cNvSpPr>
            <p:nvPr/>
          </p:nvSpPr>
          <p:spPr bwMode="auto">
            <a:xfrm>
              <a:off x="227" y="850"/>
              <a:ext cx="55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FF0000"/>
                  </a:solidFill>
                  <a:latin typeface="Arial" panose="020B0604020202020204" pitchFamily="34" charset="0"/>
                </a:rPr>
                <a:t>browser</a:t>
              </a:r>
            </a:p>
          </p:txBody>
        </p:sp>
      </p:grpSp>
      <p:pic>
        <p:nvPicPr>
          <p:cNvPr id="227" name="Picture 15" descr="User-icon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242" y="3838715"/>
            <a:ext cx="465425" cy="46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7179" y="2694315"/>
            <a:ext cx="508358" cy="407851"/>
          </a:xfrm>
          <a:prstGeom prst="rect">
            <a:avLst/>
          </a:prstGeom>
        </p:spPr>
      </p:pic>
      <p:sp>
        <p:nvSpPr>
          <p:cNvPr id="148" name="灯片编号占位符 2">
            <a:extLst>
              <a:ext uri="{FF2B5EF4-FFF2-40B4-BE49-F238E27FC236}">
                <a16:creationId xmlns:a16="http://schemas.microsoft.com/office/drawing/2014/main" id="{B51C625B-1C99-4ABC-8A13-6CFEA2B089FF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26</a:t>
            </a:fld>
            <a:endParaRPr lang="en-US" altLang="zh-CN" dirty="0"/>
          </a:p>
        </p:txBody>
      </p:sp>
      <p:sp>
        <p:nvSpPr>
          <p:cNvPr id="149" name="AutoShape 5">
            <a:extLst>
              <a:ext uri="{FF2B5EF4-FFF2-40B4-BE49-F238E27FC236}">
                <a16:creationId xmlns:a16="http://schemas.microsoft.com/office/drawing/2014/main" id="{13C91F06-B03B-43C6-8777-73CFE5AD1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50" name="图片 149">
            <a:extLst>
              <a:ext uri="{FF2B5EF4-FFF2-40B4-BE49-F238E27FC236}">
                <a16:creationId xmlns:a16="http://schemas.microsoft.com/office/drawing/2014/main" id="{EED23ED7-8BEC-4709-8301-7A0831425A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4541" y="3725870"/>
            <a:ext cx="957628" cy="62339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51" name="图片 150">
            <a:extLst>
              <a:ext uri="{FF2B5EF4-FFF2-40B4-BE49-F238E27FC236}">
                <a16:creationId xmlns:a16="http://schemas.microsoft.com/office/drawing/2014/main" id="{0C228A44-497C-440C-B104-B67C7C71D5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28924" y="3843417"/>
            <a:ext cx="633124" cy="412151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02613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1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392 -0.00556 L -0.04392 -0.00525 C -0.06458 -0.00803 -0.08507 -0.00895 -0.10556 -0.01328 C -0.11406 -0.01482 -0.1224 -0.01976 -0.1309 -0.02284 C -0.14427 -0.02747 -0.14792 -0.02655 -0.16181 -0.02778 L -0.1849 -0.02408 C -0.19479 -0.02254 -0.19757 -0.02254 -0.20573 -0.01914 C -0.20747 -0.01852 -0.21406 -0.01513 -0.21702 -0.01328 C -0.21892 -0.01142 -0.22083 -0.00834 -0.22292 -0.0071 C -0.22465 -0.00556 -0.22674 -0.00463 -0.22847 -0.0034 C -0.23056 -0.00186 -0.23247 0.0003 -0.23455 0.00123 C -0.23941 0.00432 -0.2441 0.00648 -0.24879 0.00895 C -0.25035 0.00987 -0.25208 0.01018 -0.25365 0.01111 C -0.25556 0.01265 -0.25747 0.01388 -0.2592 0.01481 C -0.27083 0.02067 -0.26424 0.01358 -0.28142 0.02098 C -0.28767 0.02407 -0.2849 0.02253 -0.28993 0.02469 C -0.29809 0.02376 -0.30625 0.02284 -0.31441 0.02098 C -0.31806 0.02037 -0.32153 0.01759 -0.325 0.01635 C -0.35729 0.00339 -0.32274 0.01851 -0.34149 0.01018 C -0.34288 0.00895 -0.3441 0.00771 -0.34514 0.00648 C -0.3467 0.00463 -0.34809 0.00308 -0.34948 0.00123 C -0.35191 -0.00062 -0.35434 -0.00278 -0.35695 -0.00463 C -0.35781 -0.00525 -0.35886 -0.00525 -0.3599 -0.00556 C -0.3625 -0.0071 -0.36146 -0.00772 -0.36493 -0.00803 C -0.36875 -0.00865 -0.37257 -0.00895 -0.37656 -0.00957 C -0.37865 -0.01019 -0.38611 -0.01173 -0.38767 -0.01173 C -0.39514 -0.01173 -0.40278 -0.01112 -0.41024 -0.01081 C -0.41215 -0.01019 -0.41389 -0.01019 -0.4158 -0.00957 C -0.41736 -0.00895 -0.4184 -0.00772 -0.41962 -0.0071 C -0.43108 0.00092 -0.41892 -0.00772 -0.42813 0.0003 C -0.42986 0.00185 -0.43142 0.00277 -0.43299 0.00401 C -0.4382 0.01296 -0.44167 0.01697 -0.44531 0.02716 C -0.44792 0.03364 -0.44809 0.03765 -0.45087 0.0429 C -0.45208 0.04537 -0.45313 0.04784 -0.45452 0.04907 C -0.46233 0.05555 -0.46892 0.05432 -0.47726 0.05555 C -0.47917 0.05432 -0.48108 0.05401 -0.48299 0.05277 C -0.49392 0.04567 -0.50486 0.0324 -0.51476 0.02222 C -0.51702 0.02006 -0.52153 0.01635 -0.52153 0.01666 C -0.52379 0.01111 -0.52743 0.00246 -0.53021 -0.00186 C -0.53872 -0.01605 -0.52535 0.01327 -0.53941 -0.01698 C -0.54306 -0.0247 -0.54636 -0.03303 -0.54983 -0.04105 C -0.55122 -0.04445 -0.55261 -0.04784 -0.55399 -0.05093 C -0.55504 -0.05309 -0.55642 -0.05494 -0.55729 -0.0571 C -0.56615 -0.07809 -0.56111 -0.07099 -0.56615 -0.07747 " pathEditMode="relative" rAng="0" ptsTypes="AAAAAAAAAAAAAAAAAAAAAAAAAAAAAAAAAAAAAAAAAAAA">
                                      <p:cBhvr>
                                        <p:cTn id="46" dur="2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111" y="-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1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 animBg="1"/>
      <p:bldP spid="149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309273E-29FF-4C52-9570-10E3E7065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1800" y="2175926"/>
            <a:ext cx="3191838" cy="742074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Q &amp; 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6866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0" y="4760913"/>
            <a:ext cx="863600" cy="2730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54DBAD-753B-4F65-9204-124AE4700B0F}" type="datetime1"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2025/4/23</a:t>
            </a:fld>
            <a:endParaRPr lang="en-US" altLang="zh-CN" sz="9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6867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0" y="4767263"/>
            <a:ext cx="863600" cy="274637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  <a:t>计算机网络与通信</a:t>
            </a:r>
            <a:endParaRPr lang="zh-CN" altLang="en-US" sz="9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17444" name="Rectangle 4"/>
          <p:cNvSpPr>
            <a:spLocks noChangeArrowheads="1"/>
          </p:cNvSpPr>
          <p:nvPr/>
        </p:nvSpPr>
        <p:spPr bwMode="auto">
          <a:xfrm>
            <a:off x="2145060" y="1815481"/>
            <a:ext cx="5400675" cy="1102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4500" dirty="0"/>
              <a:t>  </a:t>
            </a:r>
          </a:p>
        </p:txBody>
      </p:sp>
      <p:pic>
        <p:nvPicPr>
          <p:cNvPr id="317445" name="Picture 5" descr="11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32563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下课铃">
            <a:hlinkClick r:id="" action="ppaction://media"/>
            <a:extLst>
              <a:ext uri="{FF2B5EF4-FFF2-40B4-BE49-F238E27FC236}">
                <a16:creationId xmlns:a16="http://schemas.microsoft.com/office/drawing/2014/main" id="{6AFFA5B7-4AEB-4186-B4B9-8F8BC2A877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956376" y="4231337"/>
            <a:ext cx="487363" cy="4873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5" name="arrow.wav"/>
          </p:stSnd>
        </p:sndAc>
      </p:transition>
    </mc:Choice>
    <mc:Fallback xmlns="">
      <p:transition spd="slow">
        <p:fade/>
        <p:sndAc>
          <p:stSnd>
            <p:snd r:embed="rId8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9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 0 template" id="{E25467C6-F7F9-47B8-AE23-3C87BB8AD566}" vid="{BC9338DA-AB37-4861-BD4C-BC6C68590DDB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0 template</Template>
  <TotalTime>1941</TotalTime>
  <Words>1930</Words>
  <Application>Microsoft Office PowerPoint</Application>
  <PresentationFormat>全屏显示(16:9)</PresentationFormat>
  <Paragraphs>524</Paragraphs>
  <Slides>27</Slides>
  <Notes>2</Notes>
  <HiddenSlides>0</HiddenSlides>
  <MMClips>1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等线</vt:lpstr>
      <vt:lpstr>等线 Light</vt:lpstr>
      <vt:lpstr>宋体</vt:lpstr>
      <vt:lpstr>微软雅黑</vt:lpstr>
      <vt:lpstr>Arial</vt:lpstr>
      <vt:lpstr>Calibri</vt:lpstr>
      <vt:lpstr>Comic Sans MS</vt:lpstr>
      <vt:lpstr>Times New Roman</vt:lpstr>
      <vt:lpstr>Wingdings</vt:lpstr>
      <vt:lpstr>Office 主题​​</vt:lpstr>
      <vt:lpstr>计算机网络</vt:lpstr>
      <vt:lpstr>PowerPoint 演示文稿</vt:lpstr>
      <vt:lpstr>5.7 总结:自底向上回顾</vt:lpstr>
      <vt:lpstr>5.7 总结:自底向上回顾</vt:lpstr>
      <vt:lpstr>5.7 总结:自底向上回顾</vt:lpstr>
      <vt:lpstr>5.7 总结:自底向上回顾</vt:lpstr>
      <vt:lpstr>5.7 总结:自底向上回顾</vt:lpstr>
      <vt:lpstr>5.7 总结:自底向上回顾</vt:lpstr>
      <vt:lpstr>5.7 总结:自底向上回顾</vt:lpstr>
      <vt:lpstr>5.7 总结:自底向上回顾</vt:lpstr>
      <vt:lpstr>5.7 总结:自底向上回顾</vt:lpstr>
      <vt:lpstr>5.7 总结:自底向上回顾</vt:lpstr>
      <vt:lpstr>5.7 总结:自底向上回顾</vt:lpstr>
      <vt:lpstr>5.7 总结:自底向上回顾</vt:lpstr>
      <vt:lpstr>5.7 总结:自底向上回顾</vt:lpstr>
      <vt:lpstr>5.7 总结:自底向上回顾</vt:lpstr>
      <vt:lpstr>5.7 总结:自底向上回顾</vt:lpstr>
      <vt:lpstr>5.7 总结:自底向上回顾</vt:lpstr>
      <vt:lpstr>5.7 总结:自底向上回顾</vt:lpstr>
      <vt:lpstr>5.7 总结:自底向上回顾</vt:lpstr>
      <vt:lpstr>5.7 总结:自底向上回顾</vt:lpstr>
      <vt:lpstr>5.7 总结:自底向上回顾</vt:lpstr>
      <vt:lpstr>5.7 总结:自底向上回顾</vt:lpstr>
      <vt:lpstr>5.7 总结:自底向上回顾</vt:lpstr>
      <vt:lpstr>5.7 总结:自底向上回顾</vt:lpstr>
      <vt:lpstr>5.7 总结:自底向上回顾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</dc:title>
  <dc:creator>Haibo</dc:creator>
  <cp:lastModifiedBy>cistecoram</cp:lastModifiedBy>
  <cp:revision>27</cp:revision>
  <dcterms:created xsi:type="dcterms:W3CDTF">2020-04-21T02:23:26Z</dcterms:created>
  <dcterms:modified xsi:type="dcterms:W3CDTF">2025-04-23T02:53:05Z</dcterms:modified>
</cp:coreProperties>
</file>