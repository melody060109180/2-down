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png" ContentType="image/png"/>
  <Default Extension="wmf" ContentType="image/x-wmf"/>
  <Default Extension="wdp" ContentType="image/vnd.ms-photo"/>
  <Default Extension="m4a" ContentType="audi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7"/>
  </p:handoutMasterIdLst>
  <p:sldIdLst>
    <p:sldId id="319" r:id="rId3"/>
    <p:sldId id="454" r:id="rId5"/>
    <p:sldId id="465" r:id="rId6"/>
    <p:sldId id="466" r:id="rId7"/>
    <p:sldId id="467" r:id="rId8"/>
    <p:sldId id="468" r:id="rId9"/>
    <p:sldId id="469" r:id="rId10"/>
    <p:sldId id="470" r:id="rId11"/>
    <p:sldId id="471" r:id="rId12"/>
    <p:sldId id="472" r:id="rId13"/>
    <p:sldId id="308" r:id="rId14"/>
    <p:sldId id="474" r:id="rId15"/>
    <p:sldId id="473" r:id="rId16"/>
    <p:sldId id="453" r:id="rId17"/>
    <p:sldId id="259" r:id="rId18"/>
    <p:sldId id="321" r:id="rId19"/>
    <p:sldId id="440" r:id="rId20"/>
    <p:sldId id="263" r:id="rId21"/>
    <p:sldId id="441" r:id="rId22"/>
    <p:sldId id="264" r:id="rId23"/>
    <p:sldId id="265" r:id="rId24"/>
    <p:sldId id="266" r:id="rId25"/>
    <p:sldId id="267" r:id="rId26"/>
    <p:sldId id="268" r:id="rId27"/>
    <p:sldId id="442" r:id="rId28"/>
    <p:sldId id="283" r:id="rId29"/>
    <p:sldId id="284" r:id="rId30"/>
    <p:sldId id="443" r:id="rId31"/>
    <p:sldId id="444" r:id="rId32"/>
    <p:sldId id="445" r:id="rId33"/>
    <p:sldId id="285" r:id="rId34"/>
    <p:sldId id="286" r:id="rId35"/>
    <p:sldId id="296" r:id="rId36"/>
  </p:sldIdLst>
  <p:sldSz cx="9144000" cy="5143500" type="screen16x9"/>
  <p:notesSz cx="7099300" cy="10234295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18601"/>
    <a:srgbClr val="008000"/>
    <a:srgbClr val="800000"/>
    <a:srgbClr val="FF3300"/>
    <a:srgbClr val="FF6600"/>
    <a:srgbClr val="D43005"/>
    <a:srgbClr val="EAEAEA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26" autoAdjust="0"/>
  </p:normalViewPr>
  <p:slideViewPr>
    <p:cSldViewPr>
      <p:cViewPr varScale="1">
        <p:scale>
          <a:sx n="152" d="100"/>
          <a:sy n="152" d="100"/>
        </p:scale>
        <p:origin x="106" y="24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4234" y="101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gs" Target="tags/tag1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  <a:endParaRPr lang="zh-CN" altLang="en-US" sz="1400" b="1">
              <a:solidFill>
                <a:srgbClr val="0000FF"/>
              </a:solidFill>
            </a:endParaRP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  <a:endParaRPr lang="zh-CN" altLang="en-US" sz="1400" b="1">
              <a:solidFill>
                <a:srgbClr val="0000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/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3419871" y="3448764"/>
            <a:ext cx="2191541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12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  <a:endParaRPr lang="zh-CN" altLang="en-US" sz="36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内容占位符 2"/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20" name="椭圆 19"/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内容占位符 2"/>
          <p:cNvSpPr>
            <a:spLocks noGrp="1"/>
          </p:cNvSpPr>
          <p:nvPr>
            <p:ph idx="14" hasCustomPrompt="1"/>
          </p:nvPr>
        </p:nvSpPr>
        <p:spPr>
          <a:xfrm>
            <a:off x="3491880" y="302873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22" name="椭圆 21"/>
          <p:cNvSpPr/>
          <p:nvPr userDrawn="1"/>
        </p:nvSpPr>
        <p:spPr>
          <a:xfrm>
            <a:off x="2751195" y="3016511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211710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67544" y="935999"/>
            <a:ext cx="7488831" cy="401200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67544" y="936000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2000" y="936000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9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6E106F-1905-4323-8FDE-2CD509C19B3D}" type="datetime1">
              <a:rPr lang="zh-CN" altLang="en-US" smtClean="0"/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67545" y="936000"/>
            <a:ext cx="5256583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pic>
        <p:nvPicPr>
          <p:cNvPr id="11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audio" Target="../media/audio1.wav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audio" Target="../media/audio1.wav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audio1.wav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audio1.wav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32.png"/><Relationship Id="rId2" Type="http://schemas.openxmlformats.org/officeDocument/2006/relationships/image" Target="../media/image14.png"/><Relationship Id="rId19" Type="http://schemas.openxmlformats.org/officeDocument/2006/relationships/image" Target="../media/image31.png"/><Relationship Id="rId18" Type="http://schemas.openxmlformats.org/officeDocument/2006/relationships/image" Target="../media/image30.png"/><Relationship Id="rId17" Type="http://schemas.openxmlformats.org/officeDocument/2006/relationships/image" Target="../media/image29.png"/><Relationship Id="rId16" Type="http://schemas.openxmlformats.org/officeDocument/2006/relationships/image" Target="../media/image28.png"/><Relationship Id="rId15" Type="http://schemas.openxmlformats.org/officeDocument/2006/relationships/image" Target="../media/image27.png"/><Relationship Id="rId14" Type="http://schemas.openxmlformats.org/officeDocument/2006/relationships/image" Target="../media/image26.png"/><Relationship Id="rId13" Type="http://schemas.openxmlformats.org/officeDocument/2006/relationships/image" Target="../media/image25.png"/><Relationship Id="rId12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1" Type="http://schemas.openxmlformats.org/officeDocument/2006/relationships/slideLayout" Target="../slideLayouts/slideLayout4.xml"/><Relationship Id="rId20" Type="http://schemas.openxmlformats.org/officeDocument/2006/relationships/image" Target="../media/image50.png"/><Relationship Id="rId2" Type="http://schemas.openxmlformats.org/officeDocument/2006/relationships/image" Target="../media/image34.png"/><Relationship Id="rId19" Type="http://schemas.openxmlformats.org/officeDocument/2006/relationships/image" Target="../media/image49.png"/><Relationship Id="rId18" Type="http://schemas.openxmlformats.org/officeDocument/2006/relationships/image" Target="../media/image48.png"/><Relationship Id="rId17" Type="http://schemas.openxmlformats.org/officeDocument/2006/relationships/image" Target="../media/image47.png"/><Relationship Id="rId16" Type="http://schemas.openxmlformats.org/officeDocument/2006/relationships/image" Target="../media/image46.png"/><Relationship Id="rId15" Type="http://schemas.openxmlformats.org/officeDocument/2006/relationships/image" Target="../media/image45.png"/><Relationship Id="rId14" Type="http://schemas.openxmlformats.org/officeDocument/2006/relationships/image" Target="../media/image44.png"/><Relationship Id="rId13" Type="http://schemas.openxmlformats.org/officeDocument/2006/relationships/image" Target="../media/image43.png"/><Relationship Id="rId12" Type="http://schemas.openxmlformats.org/officeDocument/2006/relationships/image" Target="../media/image42.png"/><Relationship Id="rId11" Type="http://schemas.openxmlformats.org/officeDocument/2006/relationships/image" Target="../media/image23.png"/><Relationship Id="rId10" Type="http://schemas.openxmlformats.org/officeDocument/2006/relationships/image" Target="../media/image41.png"/><Relationship Id="rId1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5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4.png"/><Relationship Id="rId1" Type="http://schemas.openxmlformats.org/officeDocument/2006/relationships/image" Target="../media/image53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6.png"/><Relationship Id="rId3" Type="http://schemas.microsoft.com/office/2007/relationships/media" Target="../media/media1.m4a"/><Relationship Id="rId2" Type="http://schemas.openxmlformats.org/officeDocument/2006/relationships/audio" Target="../media/media1.m4a"/><Relationship Id="rId1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effectLst/>
              </a:rPr>
              <a:t>知识点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：运输层概况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/>
              <a:t>提供端到端的逻辑通信</a:t>
            </a:r>
            <a:endParaRPr lang="en-US" altLang="zh-CN" dirty="0"/>
          </a:p>
          <a:p>
            <a:pPr lvl="1"/>
            <a:r>
              <a:rPr lang="zh-CN" altLang="en-US" dirty="0"/>
              <a:t>多路复用和多路分解：端口号</a:t>
            </a:r>
            <a:endParaRPr lang="en-US" altLang="zh-CN" dirty="0"/>
          </a:p>
          <a:p>
            <a:pPr lvl="2"/>
            <a:r>
              <a:rPr lang="zh-CN" altLang="en-US" dirty="0"/>
              <a:t>周知端口区间</a:t>
            </a:r>
            <a:endParaRPr lang="en-US" altLang="zh-CN" dirty="0"/>
          </a:p>
          <a:p>
            <a:pPr lvl="2"/>
            <a:r>
              <a:rPr lang="zh-CN" altLang="en-US" dirty="0"/>
              <a:t>源端口</a:t>
            </a:r>
            <a:r>
              <a:rPr lang="en-US" altLang="zh-CN" dirty="0"/>
              <a:t>/</a:t>
            </a:r>
            <a:r>
              <a:rPr lang="zh-CN" altLang="en-US" dirty="0"/>
              <a:t>目的端口</a:t>
            </a:r>
            <a:endParaRPr lang="en-US" altLang="zh-CN" dirty="0"/>
          </a:p>
          <a:p>
            <a:pPr lvl="1"/>
            <a:r>
              <a:rPr lang="en-US" altLang="zh-CN" dirty="0"/>
              <a:t>Socket</a:t>
            </a:r>
            <a:endParaRPr lang="en-US" altLang="zh-CN" dirty="0"/>
          </a:p>
          <a:p>
            <a:pPr lvl="2"/>
            <a:r>
              <a:rPr lang="en-US" altLang="zh-CN" dirty="0"/>
              <a:t>TCP Socket</a:t>
            </a:r>
            <a:endParaRPr lang="en-US" altLang="zh-CN" dirty="0"/>
          </a:p>
          <a:p>
            <a:pPr lvl="3"/>
            <a:r>
              <a:rPr lang="zh-CN" altLang="en-US" dirty="0"/>
              <a:t>四元组</a:t>
            </a:r>
            <a:endParaRPr lang="en-US" altLang="zh-CN" dirty="0"/>
          </a:p>
          <a:p>
            <a:pPr lvl="2"/>
            <a:r>
              <a:rPr lang="en-US" altLang="zh-CN" dirty="0"/>
              <a:t>UDP Socket</a:t>
            </a:r>
            <a:endParaRPr lang="en-US" altLang="zh-CN" dirty="0"/>
          </a:p>
          <a:p>
            <a:pPr lvl="3"/>
            <a:r>
              <a:rPr lang="zh-CN" altLang="en-US" dirty="0"/>
              <a:t>二元组 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章复习总结</a:t>
            </a:r>
            <a:endParaRPr lang="en-US" altLang="zh-CN" dirty="0"/>
          </a:p>
        </p:txBody>
      </p:sp>
      <p:grpSp>
        <p:nvGrpSpPr>
          <p:cNvPr id="4" name="组合 3"/>
          <p:cNvGrpSpPr/>
          <p:nvPr/>
        </p:nvGrpSpPr>
        <p:grpSpPr>
          <a:xfrm>
            <a:off x="4605987" y="847722"/>
            <a:ext cx="3937702" cy="2121005"/>
            <a:chOff x="1575048" y="1419622"/>
            <a:chExt cx="6548544" cy="3527310"/>
          </a:xfrm>
        </p:grpSpPr>
        <p:sp>
          <p:nvSpPr>
            <p:cNvPr id="5" name="AutoShape 4"/>
            <p:cNvSpPr>
              <a:spLocks noChangeArrowheads="1"/>
            </p:cNvSpPr>
            <p:nvPr/>
          </p:nvSpPr>
          <p:spPr bwMode="auto">
            <a:xfrm>
              <a:off x="5004048" y="1429342"/>
              <a:ext cx="2914650" cy="3086100"/>
            </a:xfrm>
            <a:prstGeom prst="roundRect">
              <a:avLst>
                <a:gd name="adj" fmla="val 7255"/>
              </a:avLst>
            </a:prstGeom>
            <a:solidFill>
              <a:srgbClr val="E9F5DB"/>
            </a:solidFill>
            <a:ln w="9525">
              <a:solidFill>
                <a:schemeClr val="tx1"/>
              </a:solidFill>
              <a:prstDash val="dash"/>
              <a:round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1575048" y="1429342"/>
              <a:ext cx="2914650" cy="3086100"/>
            </a:xfrm>
            <a:prstGeom prst="roundRect">
              <a:avLst>
                <a:gd name="adj" fmla="val 6400"/>
              </a:avLst>
            </a:prstGeom>
            <a:solidFill>
              <a:srgbClr val="E9F5DB"/>
            </a:solidFill>
            <a:ln w="9525">
              <a:solidFill>
                <a:schemeClr val="tx1"/>
              </a:solidFill>
              <a:prstDash val="dash"/>
              <a:round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5061198" y="3886792"/>
              <a:ext cx="2800350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AutoShape 7"/>
            <p:cNvSpPr>
              <a:spLocks noChangeArrowheads="1"/>
            </p:cNvSpPr>
            <p:nvPr/>
          </p:nvSpPr>
          <p:spPr bwMode="auto">
            <a:xfrm>
              <a:off x="5346948" y="3886792"/>
              <a:ext cx="222885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 flipH="1">
              <a:off x="1917948" y="251519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 flipH="1">
              <a:off x="2317998" y="251519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4619533" y="2010367"/>
              <a:ext cx="429539" cy="650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</a:t>
              </a:r>
              <a:endParaRPr kumimoji="1" lang="zh-CN" altLang="en-US" sz="7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</a:t>
              </a:r>
              <a:endParaRPr kumimoji="1" lang="zh-CN" altLang="en-US" sz="7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</a:t>
              </a:r>
              <a:endParaRPr kumimoji="1" lang="zh-CN" altLang="en-US" sz="7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4619533" y="2800943"/>
              <a:ext cx="429539" cy="650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</a:t>
              </a:r>
              <a:endParaRPr kumimoji="1" lang="zh-CN" altLang="en-US" sz="7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</a:t>
              </a:r>
              <a:endParaRPr kumimoji="1" lang="zh-CN" altLang="en-US" sz="7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</a:t>
              </a:r>
              <a:endParaRPr kumimoji="1" lang="zh-CN" altLang="en-US" sz="7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4619533" y="3886793"/>
              <a:ext cx="429539" cy="650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</a:t>
              </a:r>
              <a:endParaRPr kumimoji="1" lang="zh-CN" altLang="en-US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络</a:t>
              </a:r>
              <a:endParaRPr kumimoji="1" lang="zh-CN" altLang="en-US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</a:t>
              </a:r>
              <a:endParaRPr kumimoji="1" lang="zh-CN" altLang="en-US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 Box 15"/>
            <p:cNvSpPr txBox="1">
              <a:spLocks noChangeArrowheads="1"/>
            </p:cNvSpPr>
            <p:nvPr/>
          </p:nvSpPr>
          <p:spPr bwMode="auto">
            <a:xfrm>
              <a:off x="1884311" y="3387886"/>
              <a:ext cx="1011625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报文段</a:t>
              </a:r>
              <a:endParaRPr kumimoji="1" lang="zh-CN" altLang="en-US" sz="7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16"/>
            <p:cNvSpPr txBox="1">
              <a:spLocks noChangeArrowheads="1"/>
            </p:cNvSpPr>
            <p:nvPr/>
          </p:nvSpPr>
          <p:spPr bwMode="auto">
            <a:xfrm>
              <a:off x="3195744" y="3397692"/>
              <a:ext cx="1539237" cy="3147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用户数据报</a:t>
              </a:r>
              <a:endParaRPr kumimoji="1" lang="zh-CN" altLang="en-US" sz="7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Box 17"/>
            <p:cNvSpPr txBox="1">
              <a:spLocks noChangeArrowheads="1"/>
            </p:cNvSpPr>
            <p:nvPr/>
          </p:nvSpPr>
          <p:spPr bwMode="auto">
            <a:xfrm>
              <a:off x="2651374" y="1772244"/>
              <a:ext cx="851051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应用进程</a:t>
              </a:r>
              <a:endParaRPr kumimoji="1" lang="zh-CN" altLang="en-US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AutoShape 18"/>
            <p:cNvSpPr>
              <a:spLocks noChangeArrowheads="1"/>
            </p:cNvSpPr>
            <p:nvPr/>
          </p:nvSpPr>
          <p:spPr bwMode="auto">
            <a:xfrm>
              <a:off x="1689348" y="2858092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</a:t>
              </a:r>
              <a:endParaRPr kumimoji="1" lang="zh-CN" altLang="en-US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>
              <a:off x="1651249" y="193416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Rectangle 20"/>
            <p:cNvSpPr>
              <a:spLocks noChangeArrowheads="1"/>
            </p:cNvSpPr>
            <p:nvPr/>
          </p:nvSpPr>
          <p:spPr bwMode="auto">
            <a:xfrm>
              <a:off x="1860798" y="280094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21"/>
            <p:cNvSpPr>
              <a:spLocks noChangeArrowheads="1"/>
            </p:cNvSpPr>
            <p:nvPr/>
          </p:nvSpPr>
          <p:spPr bwMode="auto">
            <a:xfrm>
              <a:off x="2260848" y="280094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ctangle 22"/>
            <p:cNvSpPr>
              <a:spLocks noChangeArrowheads="1"/>
            </p:cNvSpPr>
            <p:nvPr/>
          </p:nvSpPr>
          <p:spPr bwMode="auto">
            <a:xfrm>
              <a:off x="2660898" y="280094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23"/>
            <p:cNvSpPr>
              <a:spLocks noChangeShapeType="1"/>
            </p:cNvSpPr>
            <p:nvPr/>
          </p:nvSpPr>
          <p:spPr bwMode="auto">
            <a:xfrm flipH="1">
              <a:off x="2718048" y="251519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Box 24"/>
            <p:cNvSpPr txBox="1">
              <a:spLocks noChangeArrowheads="1"/>
            </p:cNvSpPr>
            <p:nvPr/>
          </p:nvSpPr>
          <p:spPr bwMode="auto">
            <a:xfrm>
              <a:off x="2057253" y="193416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 Box 25"/>
            <p:cNvSpPr txBox="1">
              <a:spLocks noChangeArrowheads="1"/>
            </p:cNvSpPr>
            <p:nvPr/>
          </p:nvSpPr>
          <p:spPr bwMode="auto">
            <a:xfrm>
              <a:off x="2453731" y="193416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AutoShape 26"/>
            <p:cNvSpPr>
              <a:spLocks noChangeArrowheads="1"/>
            </p:cNvSpPr>
            <p:nvPr/>
          </p:nvSpPr>
          <p:spPr bwMode="auto">
            <a:xfrm>
              <a:off x="1917948" y="3886792"/>
              <a:ext cx="222885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</a:t>
              </a:r>
              <a:endParaRPr kumimoji="1" lang="zh-CN" altLang="en-US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7"/>
            <p:cNvSpPr>
              <a:spLocks noChangeShapeType="1"/>
            </p:cNvSpPr>
            <p:nvPr/>
          </p:nvSpPr>
          <p:spPr bwMode="auto">
            <a:xfrm flipH="1">
              <a:off x="33466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28"/>
            <p:cNvSpPr>
              <a:spLocks noChangeShapeType="1"/>
            </p:cNvSpPr>
            <p:nvPr/>
          </p:nvSpPr>
          <p:spPr bwMode="auto">
            <a:xfrm flipH="1">
              <a:off x="374674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AutoShape 29"/>
            <p:cNvSpPr>
              <a:spLocks noChangeArrowheads="1"/>
            </p:cNvSpPr>
            <p:nvPr/>
          </p:nvSpPr>
          <p:spPr bwMode="auto">
            <a:xfrm>
              <a:off x="3118098" y="2867617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0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</a:t>
              </a:r>
              <a:endParaRPr kumimoji="1" lang="zh-CN" altLang="en-US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3079999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32895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368959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40896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34"/>
            <p:cNvSpPr>
              <a:spLocks noChangeShapeType="1"/>
            </p:cNvSpPr>
            <p:nvPr/>
          </p:nvSpPr>
          <p:spPr bwMode="auto">
            <a:xfrm flipH="1">
              <a:off x="41467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Box 35"/>
            <p:cNvSpPr txBox="1">
              <a:spLocks noChangeArrowheads="1"/>
            </p:cNvSpPr>
            <p:nvPr/>
          </p:nvSpPr>
          <p:spPr bwMode="auto">
            <a:xfrm>
              <a:off x="3486002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auto">
            <a:xfrm>
              <a:off x="3882480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5061198" y="1886542"/>
              <a:ext cx="2800350" cy="971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 flipH="1" flipV="1">
              <a:off x="53278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 flipH="1" flipV="1">
              <a:off x="572794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 Box 40"/>
            <p:cNvSpPr txBox="1">
              <a:spLocks noChangeArrowheads="1"/>
            </p:cNvSpPr>
            <p:nvPr/>
          </p:nvSpPr>
          <p:spPr bwMode="auto">
            <a:xfrm>
              <a:off x="5302905" y="3566435"/>
              <a:ext cx="1011625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报文段</a:t>
              </a:r>
              <a:endParaRPr kumimoji="1" lang="zh-CN" altLang="en-US" sz="7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AutoShape 42"/>
            <p:cNvSpPr>
              <a:spLocks noChangeArrowheads="1"/>
            </p:cNvSpPr>
            <p:nvPr/>
          </p:nvSpPr>
          <p:spPr bwMode="auto">
            <a:xfrm>
              <a:off x="5099298" y="2867617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Text Box 43"/>
            <p:cNvSpPr txBox="1">
              <a:spLocks noChangeArrowheads="1"/>
            </p:cNvSpPr>
            <p:nvPr/>
          </p:nvSpPr>
          <p:spPr bwMode="auto">
            <a:xfrm>
              <a:off x="5061200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Rectangle 44"/>
            <p:cNvSpPr>
              <a:spLocks noChangeArrowheads="1"/>
            </p:cNvSpPr>
            <p:nvPr/>
          </p:nvSpPr>
          <p:spPr bwMode="auto">
            <a:xfrm>
              <a:off x="52707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Rectangle 45"/>
            <p:cNvSpPr>
              <a:spLocks noChangeArrowheads="1"/>
            </p:cNvSpPr>
            <p:nvPr/>
          </p:nvSpPr>
          <p:spPr bwMode="auto">
            <a:xfrm>
              <a:off x="567079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60708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47"/>
            <p:cNvSpPr>
              <a:spLocks noChangeShapeType="1"/>
            </p:cNvSpPr>
            <p:nvPr/>
          </p:nvSpPr>
          <p:spPr bwMode="auto">
            <a:xfrm flipH="1" flipV="1">
              <a:off x="61279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Text Box 48"/>
            <p:cNvSpPr txBox="1">
              <a:spLocks noChangeArrowheads="1"/>
            </p:cNvSpPr>
            <p:nvPr/>
          </p:nvSpPr>
          <p:spPr bwMode="auto">
            <a:xfrm>
              <a:off x="5467202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 Box 49"/>
            <p:cNvSpPr txBox="1">
              <a:spLocks noChangeArrowheads="1"/>
            </p:cNvSpPr>
            <p:nvPr/>
          </p:nvSpPr>
          <p:spPr bwMode="auto">
            <a:xfrm>
              <a:off x="5863680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8" name="Group 50"/>
            <p:cNvGrpSpPr/>
            <p:nvPr/>
          </p:nvGrpSpPr>
          <p:grpSpPr bwMode="auto">
            <a:xfrm>
              <a:off x="2317998" y="3372442"/>
              <a:ext cx="4838700" cy="521494"/>
              <a:chOff x="912" y="1920"/>
              <a:chExt cx="4064" cy="398"/>
            </a:xfrm>
          </p:grpSpPr>
          <p:sp>
            <p:nvSpPr>
              <p:cNvPr id="76" name="Line 51"/>
              <p:cNvSpPr>
                <a:spLocks noChangeShapeType="1"/>
              </p:cNvSpPr>
              <p:nvPr/>
            </p:nvSpPr>
            <p:spPr bwMode="auto">
              <a:xfrm>
                <a:off x="912" y="1920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52"/>
              <p:cNvSpPr>
                <a:spLocks noChangeShapeType="1"/>
              </p:cNvSpPr>
              <p:nvPr/>
            </p:nvSpPr>
            <p:spPr bwMode="auto">
              <a:xfrm>
                <a:off x="2112" y="1928"/>
                <a:ext cx="0" cy="38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Line 53"/>
              <p:cNvSpPr>
                <a:spLocks noChangeShapeType="1"/>
              </p:cNvSpPr>
              <p:nvPr/>
            </p:nvSpPr>
            <p:spPr bwMode="auto">
              <a:xfrm flipV="1">
                <a:off x="3776" y="1928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Line 54"/>
              <p:cNvSpPr>
                <a:spLocks noChangeShapeType="1"/>
              </p:cNvSpPr>
              <p:nvPr/>
            </p:nvSpPr>
            <p:spPr bwMode="auto">
              <a:xfrm flipV="1">
                <a:off x="4976" y="1936"/>
                <a:ext cx="0" cy="38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9" name="Line 55"/>
            <p:cNvSpPr>
              <a:spLocks noChangeShapeType="1"/>
            </p:cNvSpPr>
            <p:nvPr/>
          </p:nvSpPr>
          <p:spPr bwMode="auto">
            <a:xfrm flipH="1" flipV="1">
              <a:off x="6756648" y="253424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56"/>
            <p:cNvSpPr>
              <a:spLocks noChangeShapeType="1"/>
            </p:cNvSpPr>
            <p:nvPr/>
          </p:nvSpPr>
          <p:spPr bwMode="auto">
            <a:xfrm flipH="1" flipV="1">
              <a:off x="7156698" y="253424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AutoShape 57"/>
            <p:cNvSpPr>
              <a:spLocks noChangeArrowheads="1"/>
            </p:cNvSpPr>
            <p:nvPr/>
          </p:nvSpPr>
          <p:spPr bwMode="auto">
            <a:xfrm>
              <a:off x="6528048" y="2877142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0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Text Box 58"/>
            <p:cNvSpPr txBox="1">
              <a:spLocks noChangeArrowheads="1"/>
            </p:cNvSpPr>
            <p:nvPr/>
          </p:nvSpPr>
          <p:spPr bwMode="auto">
            <a:xfrm>
              <a:off x="6489949" y="195321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Rectangle 59"/>
            <p:cNvSpPr>
              <a:spLocks noChangeArrowheads="1"/>
            </p:cNvSpPr>
            <p:nvPr/>
          </p:nvSpPr>
          <p:spPr bwMode="auto">
            <a:xfrm>
              <a:off x="6699498" y="281999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Rectangle 60"/>
            <p:cNvSpPr>
              <a:spLocks noChangeArrowheads="1"/>
            </p:cNvSpPr>
            <p:nvPr/>
          </p:nvSpPr>
          <p:spPr bwMode="auto">
            <a:xfrm>
              <a:off x="7099548" y="281999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Rectangle 61"/>
            <p:cNvSpPr>
              <a:spLocks noChangeArrowheads="1"/>
            </p:cNvSpPr>
            <p:nvPr/>
          </p:nvSpPr>
          <p:spPr bwMode="auto">
            <a:xfrm>
              <a:off x="7499598" y="281999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Line 62"/>
            <p:cNvSpPr>
              <a:spLocks noChangeShapeType="1"/>
            </p:cNvSpPr>
            <p:nvPr/>
          </p:nvSpPr>
          <p:spPr bwMode="auto">
            <a:xfrm flipH="1" flipV="1">
              <a:off x="7556748" y="253424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Text Box 63"/>
            <p:cNvSpPr txBox="1">
              <a:spLocks noChangeArrowheads="1"/>
            </p:cNvSpPr>
            <p:nvPr/>
          </p:nvSpPr>
          <p:spPr bwMode="auto">
            <a:xfrm>
              <a:off x="6895952" y="195321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Text Box 64"/>
            <p:cNvSpPr txBox="1">
              <a:spLocks noChangeArrowheads="1"/>
            </p:cNvSpPr>
            <p:nvPr/>
          </p:nvSpPr>
          <p:spPr bwMode="auto">
            <a:xfrm>
              <a:off x="7292430" y="195321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Box 65"/>
            <p:cNvSpPr txBox="1">
              <a:spLocks noChangeArrowheads="1"/>
            </p:cNvSpPr>
            <p:nvPr/>
          </p:nvSpPr>
          <p:spPr bwMode="auto">
            <a:xfrm>
              <a:off x="6087515" y="1772244"/>
              <a:ext cx="851051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应用进程</a:t>
              </a:r>
              <a:endParaRPr kumimoji="1" lang="zh-CN" altLang="en-US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Text Box 66"/>
            <p:cNvSpPr txBox="1">
              <a:spLocks noChangeArrowheads="1"/>
            </p:cNvSpPr>
            <p:nvPr/>
          </p:nvSpPr>
          <p:spPr bwMode="auto">
            <a:xfrm>
              <a:off x="6180545" y="2593590"/>
              <a:ext cx="570043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端口</a:t>
              </a:r>
              <a:endParaRPr kumimoji="1" lang="zh-CN" altLang="en-US" sz="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Text Box 67"/>
            <p:cNvSpPr txBox="1">
              <a:spLocks noChangeArrowheads="1"/>
            </p:cNvSpPr>
            <p:nvPr/>
          </p:nvSpPr>
          <p:spPr bwMode="auto">
            <a:xfrm>
              <a:off x="2757151" y="2576188"/>
              <a:ext cx="570043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端口</a:t>
              </a:r>
              <a:endParaRPr kumimoji="1" lang="zh-CN" altLang="en-US" sz="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Text Box 68"/>
            <p:cNvSpPr txBox="1">
              <a:spLocks noChangeArrowheads="1"/>
            </p:cNvSpPr>
            <p:nvPr/>
          </p:nvSpPr>
          <p:spPr bwMode="auto">
            <a:xfrm>
              <a:off x="5375526" y="2999777"/>
              <a:ext cx="871123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</a:t>
              </a:r>
              <a:endParaRPr kumimoji="1" lang="zh-CN" altLang="en-US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Text Box 69"/>
            <p:cNvSpPr txBox="1">
              <a:spLocks noChangeArrowheads="1"/>
            </p:cNvSpPr>
            <p:nvPr/>
          </p:nvSpPr>
          <p:spPr bwMode="auto">
            <a:xfrm>
              <a:off x="6813799" y="2990252"/>
              <a:ext cx="911267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</a:t>
              </a:r>
              <a:endParaRPr kumimoji="1" lang="zh-CN" altLang="en-US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Text Box 70"/>
            <p:cNvSpPr txBox="1">
              <a:spLocks noChangeArrowheads="1"/>
            </p:cNvSpPr>
            <p:nvPr/>
          </p:nvSpPr>
          <p:spPr bwMode="auto">
            <a:xfrm>
              <a:off x="6158953" y="4014189"/>
              <a:ext cx="738146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</a:t>
              </a:r>
              <a:endParaRPr kumimoji="1" lang="zh-CN" altLang="en-US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AutoShape 71"/>
            <p:cNvSpPr>
              <a:spLocks noChangeArrowheads="1"/>
            </p:cNvSpPr>
            <p:nvPr/>
          </p:nvSpPr>
          <p:spPr bwMode="auto">
            <a:xfrm>
              <a:off x="2946648" y="4401142"/>
              <a:ext cx="228600" cy="352280"/>
            </a:xfrm>
            <a:prstGeom prst="downArrow">
              <a:avLst>
                <a:gd name="adj1" fmla="val 50000"/>
                <a:gd name="adj2" fmla="val 56250"/>
              </a:avLst>
            </a:prstGeom>
            <a:solidFill>
              <a:srgbClr val="92D050"/>
            </a:solidFill>
            <a:ln w="9525">
              <a:noFill/>
              <a:miter lim="800000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eaVert"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AutoShape 72"/>
            <p:cNvSpPr>
              <a:spLocks noChangeArrowheads="1"/>
            </p:cNvSpPr>
            <p:nvPr/>
          </p:nvSpPr>
          <p:spPr bwMode="auto">
            <a:xfrm flipV="1">
              <a:off x="6318498" y="4401142"/>
              <a:ext cx="228600" cy="352280"/>
            </a:xfrm>
            <a:prstGeom prst="downArrow">
              <a:avLst>
                <a:gd name="adj1" fmla="val 50000"/>
                <a:gd name="adj2" fmla="val 56250"/>
              </a:avLst>
            </a:prstGeom>
            <a:solidFill>
              <a:srgbClr val="92D050"/>
            </a:solidFill>
            <a:ln w="9525">
              <a:noFill/>
              <a:miter lim="800000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eaVert"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7" name="Group 73"/>
            <p:cNvGrpSpPr/>
            <p:nvPr/>
          </p:nvGrpSpPr>
          <p:grpSpPr bwMode="auto">
            <a:xfrm>
              <a:off x="5118348" y="4661182"/>
              <a:ext cx="1028700" cy="285750"/>
              <a:chOff x="2736" y="3216"/>
              <a:chExt cx="864" cy="240"/>
            </a:xfrm>
            <a:solidFill>
              <a:srgbClr val="D5EDFF"/>
            </a:solidFill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grpSpPr>
          <p:sp>
            <p:nvSpPr>
              <p:cNvPr id="74" name="AutoShape 74"/>
              <p:cNvSpPr>
                <a:spLocks noChangeArrowheads="1"/>
              </p:cNvSpPr>
              <p:nvPr/>
            </p:nvSpPr>
            <p:spPr bwMode="auto">
              <a:xfrm>
                <a:off x="3168" y="3216"/>
                <a:ext cx="432" cy="240"/>
              </a:xfrm>
              <a:custGeom>
                <a:avLst/>
                <a:gdLst>
                  <a:gd name="G0" fmla="+- 16200 0 0"/>
                  <a:gd name="G1" fmla="+- 5400 0 0"/>
                  <a:gd name="G2" fmla="+- 21600 0 5400"/>
                  <a:gd name="G3" fmla="+- 10800 0 5400"/>
                  <a:gd name="G4" fmla="+- 21600 0 16200"/>
                  <a:gd name="G5" fmla="*/ G4 G3 10800"/>
                  <a:gd name="G6" fmla="+- 21600 0 G5"/>
                  <a:gd name="T0" fmla="*/ 16200 w 21600"/>
                  <a:gd name="T1" fmla="*/ 0 h 21600"/>
                  <a:gd name="T2" fmla="*/ 0 w 21600"/>
                  <a:gd name="T3" fmla="*/ 10800 h 21600"/>
                  <a:gd name="T4" fmla="*/ 16200 w 21600"/>
                  <a:gd name="T5" fmla="*/ 21600 h 21600"/>
                  <a:gd name="T6" fmla="*/ 21600 w 21600"/>
                  <a:gd name="T7" fmla="*/ 1080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G1 h 21600"/>
                  <a:gd name="T14" fmla="*/ G6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grpFill/>
              <a:ln w="9525">
                <a:miter lim="800000"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CCECFF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Rectangle 75"/>
              <p:cNvSpPr>
                <a:spLocks noChangeArrowheads="1"/>
              </p:cNvSpPr>
              <p:nvPr/>
            </p:nvSpPr>
            <p:spPr bwMode="auto">
              <a:xfrm>
                <a:off x="2736" y="3216"/>
                <a:ext cx="624" cy="240"/>
              </a:xfrm>
              <a:prstGeom prst="rect">
                <a:avLst/>
              </a:prstGeom>
              <a:grpFill/>
              <a:ln w="9525">
                <a:miter lim="800000"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chemeClr val="bg1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pPr algn="ctr"/>
                <a:r>
                  <a:rPr kumimoji="1" lang="en-US" altLang="zh-CN" sz="70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 </a:t>
                </a:r>
                <a:r>
                  <a:rPr kumimoji="1" lang="zh-CN" altLang="en-US" sz="70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</a:t>
                </a:r>
                <a:endPara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8" name="Group 76"/>
            <p:cNvGrpSpPr/>
            <p:nvPr/>
          </p:nvGrpSpPr>
          <p:grpSpPr bwMode="auto">
            <a:xfrm>
              <a:off x="3518148" y="4661182"/>
              <a:ext cx="1028700" cy="285750"/>
              <a:chOff x="2736" y="3216"/>
              <a:chExt cx="864" cy="240"/>
            </a:xfrm>
            <a:solidFill>
              <a:srgbClr val="D5EDFF"/>
            </a:solidFill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grpSpPr>
          <p:sp>
            <p:nvSpPr>
              <p:cNvPr id="72" name="AutoShape 77"/>
              <p:cNvSpPr>
                <a:spLocks noChangeArrowheads="1"/>
              </p:cNvSpPr>
              <p:nvPr/>
            </p:nvSpPr>
            <p:spPr bwMode="auto">
              <a:xfrm>
                <a:off x="3168" y="3216"/>
                <a:ext cx="432" cy="240"/>
              </a:xfrm>
              <a:custGeom>
                <a:avLst/>
                <a:gdLst>
                  <a:gd name="G0" fmla="+- 16200 0 0"/>
                  <a:gd name="G1" fmla="+- 5400 0 0"/>
                  <a:gd name="G2" fmla="+- 21600 0 5400"/>
                  <a:gd name="G3" fmla="+- 10800 0 5400"/>
                  <a:gd name="G4" fmla="+- 21600 0 16200"/>
                  <a:gd name="G5" fmla="*/ G4 G3 10800"/>
                  <a:gd name="G6" fmla="+- 21600 0 G5"/>
                  <a:gd name="T0" fmla="*/ 16200 w 21600"/>
                  <a:gd name="T1" fmla="*/ 0 h 21600"/>
                  <a:gd name="T2" fmla="*/ 0 w 21600"/>
                  <a:gd name="T3" fmla="*/ 10800 h 21600"/>
                  <a:gd name="T4" fmla="*/ 16200 w 21600"/>
                  <a:gd name="T5" fmla="*/ 21600 h 21600"/>
                  <a:gd name="T6" fmla="*/ 21600 w 21600"/>
                  <a:gd name="T7" fmla="*/ 1080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G1 h 21600"/>
                  <a:gd name="T14" fmla="*/ G6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grpFill/>
              <a:ln w="9525">
                <a:miter lim="800000"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CCECFF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Rectangle 78"/>
              <p:cNvSpPr>
                <a:spLocks noChangeArrowheads="1"/>
              </p:cNvSpPr>
              <p:nvPr/>
            </p:nvSpPr>
            <p:spPr bwMode="auto">
              <a:xfrm>
                <a:off x="2736" y="3216"/>
                <a:ext cx="624" cy="240"/>
              </a:xfrm>
              <a:prstGeom prst="rect">
                <a:avLst/>
              </a:prstGeom>
              <a:grpFill/>
              <a:ln w="9525">
                <a:miter lim="800000"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chemeClr val="bg1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pPr algn="ctr"/>
                <a:r>
                  <a:rPr kumimoji="1" lang="en-US" altLang="zh-CN" sz="700" dirty="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 </a:t>
                </a:r>
                <a:r>
                  <a:rPr kumimoji="1" lang="zh-CN" altLang="en-US" sz="700" dirty="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</a:t>
                </a:r>
                <a:endPara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9" name="Text Box 79"/>
            <p:cNvSpPr txBox="1">
              <a:spLocks noChangeArrowheads="1"/>
            </p:cNvSpPr>
            <p:nvPr/>
          </p:nvSpPr>
          <p:spPr bwMode="auto">
            <a:xfrm>
              <a:off x="2680375" y="1438672"/>
              <a:ext cx="830979" cy="361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9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发送方</a:t>
              </a:r>
              <a:endParaRPr kumimoji="1" lang="zh-CN" altLang="en-US" sz="9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Text Box 80"/>
            <p:cNvSpPr txBox="1">
              <a:spLocks noChangeArrowheads="1"/>
            </p:cNvSpPr>
            <p:nvPr/>
          </p:nvSpPr>
          <p:spPr bwMode="auto">
            <a:xfrm>
              <a:off x="6076038" y="1419622"/>
              <a:ext cx="830979" cy="361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90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接收方</a:t>
              </a:r>
              <a:endParaRPr kumimoji="1" lang="zh-CN" altLang="en-US" sz="9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Text Box 82"/>
            <p:cNvSpPr txBox="1">
              <a:spLocks noChangeArrowheads="1"/>
            </p:cNvSpPr>
            <p:nvPr/>
          </p:nvSpPr>
          <p:spPr bwMode="auto">
            <a:xfrm>
              <a:off x="6611873" y="3605726"/>
              <a:ext cx="1511719" cy="3147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用户数据报</a:t>
              </a:r>
              <a:endParaRPr kumimoji="1" lang="zh-CN" altLang="en-US" sz="7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4673409" y="2993472"/>
            <a:ext cx="1652126" cy="2039023"/>
            <a:chOff x="5253038" y="1556792"/>
            <a:chExt cx="3414712" cy="4214371"/>
          </a:xfrm>
        </p:grpSpPr>
        <p:sp>
          <p:nvSpPr>
            <p:cNvPr id="81" name="Rectangle 2"/>
            <p:cNvSpPr>
              <a:spLocks noChangeArrowheads="1"/>
            </p:cNvSpPr>
            <p:nvPr/>
          </p:nvSpPr>
          <p:spPr bwMode="auto">
            <a:xfrm>
              <a:off x="5343525" y="2000250"/>
              <a:ext cx="3324225" cy="3200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3"/>
            <p:cNvSpPr>
              <a:spLocks noChangeArrowheads="1"/>
            </p:cNvSpPr>
            <p:nvPr/>
          </p:nvSpPr>
          <p:spPr bwMode="auto">
            <a:xfrm>
              <a:off x="5267325" y="2095500"/>
              <a:ext cx="3324225" cy="32004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Text Box 6"/>
            <p:cNvSpPr txBox="1">
              <a:spLocks noChangeArrowheads="1"/>
            </p:cNvSpPr>
            <p:nvPr/>
          </p:nvSpPr>
          <p:spPr bwMode="auto">
            <a:xfrm>
              <a:off x="5474723" y="2117727"/>
              <a:ext cx="1229854" cy="445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源端口号</a:t>
              </a:r>
              <a:endParaRPr lang="en-US" altLang="zh-CN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Text Box 7"/>
            <p:cNvSpPr txBox="1">
              <a:spLocks noChangeArrowheads="1"/>
            </p:cNvSpPr>
            <p:nvPr/>
          </p:nvSpPr>
          <p:spPr bwMode="auto">
            <a:xfrm>
              <a:off x="7036370" y="2117727"/>
              <a:ext cx="1441897" cy="445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目的端口号</a:t>
              </a:r>
              <a:endParaRPr lang="en-US" altLang="zh-CN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Line 8"/>
            <p:cNvSpPr>
              <a:spLocks noChangeShapeType="1"/>
            </p:cNvSpPr>
            <p:nvPr/>
          </p:nvSpPr>
          <p:spPr bwMode="auto">
            <a:xfrm flipV="1">
              <a:off x="5257800" y="2495550"/>
              <a:ext cx="33289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Line 9"/>
            <p:cNvSpPr>
              <a:spLocks noChangeShapeType="1"/>
            </p:cNvSpPr>
            <p:nvPr/>
          </p:nvSpPr>
          <p:spPr bwMode="auto">
            <a:xfrm flipV="1">
              <a:off x="5267325" y="3486150"/>
              <a:ext cx="33242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Line 10"/>
            <p:cNvSpPr>
              <a:spLocks noChangeShapeType="1"/>
            </p:cNvSpPr>
            <p:nvPr/>
          </p:nvSpPr>
          <p:spPr bwMode="auto">
            <a:xfrm flipV="1">
              <a:off x="6905625" y="2095500"/>
              <a:ext cx="0" cy="395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Text Box 11"/>
            <p:cNvSpPr txBox="1">
              <a:spLocks noChangeArrowheads="1"/>
            </p:cNvSpPr>
            <p:nvPr/>
          </p:nvSpPr>
          <p:spPr bwMode="auto">
            <a:xfrm>
              <a:off x="6348054" y="1556792"/>
              <a:ext cx="1067508" cy="445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Line 12"/>
            <p:cNvSpPr>
              <a:spLocks noChangeShapeType="1"/>
            </p:cNvSpPr>
            <p:nvPr/>
          </p:nvSpPr>
          <p:spPr bwMode="auto">
            <a:xfrm>
              <a:off x="7362825" y="1862138"/>
              <a:ext cx="1200150" cy="47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Line 13"/>
            <p:cNvSpPr>
              <a:spLocks noChangeShapeType="1"/>
            </p:cNvSpPr>
            <p:nvPr/>
          </p:nvSpPr>
          <p:spPr bwMode="auto">
            <a:xfrm rot="10800000">
              <a:off x="5253038" y="1871663"/>
              <a:ext cx="11287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Text Box 14"/>
            <p:cNvSpPr txBox="1">
              <a:spLocks noChangeArrowheads="1"/>
            </p:cNvSpPr>
            <p:nvPr/>
          </p:nvSpPr>
          <p:spPr bwMode="auto">
            <a:xfrm>
              <a:off x="5503864" y="3944939"/>
              <a:ext cx="2740023" cy="763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应用数据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分段报文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Text Box 15"/>
            <p:cNvSpPr txBox="1">
              <a:spLocks noChangeArrowheads="1"/>
            </p:cNvSpPr>
            <p:nvPr/>
          </p:nvSpPr>
          <p:spPr bwMode="auto">
            <a:xfrm>
              <a:off x="6015010" y="2854326"/>
              <a:ext cx="1812973" cy="477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其他首部字段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Text Box 16"/>
            <p:cNvSpPr txBox="1">
              <a:spLocks noChangeArrowheads="1"/>
            </p:cNvSpPr>
            <p:nvPr/>
          </p:nvSpPr>
          <p:spPr bwMode="auto">
            <a:xfrm>
              <a:off x="5727763" y="5294066"/>
              <a:ext cx="2455733" cy="477097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9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TCP/UDP </a:t>
              </a:r>
              <a:r>
                <a:rPr lang="zh-CN" altLang="en-US" sz="9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数据封装</a:t>
              </a:r>
              <a:endParaRPr lang="en-US" altLang="zh-CN" sz="1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4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5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256583" cy="3779688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effectLst/>
              </a:rPr>
              <a:t>知识点</a:t>
            </a:r>
            <a:r>
              <a:rPr lang="en-US" altLang="zh-CN" dirty="0">
                <a:effectLst/>
              </a:rPr>
              <a:t>2</a:t>
            </a:r>
            <a:r>
              <a:rPr lang="zh-CN" altLang="en-US" dirty="0">
                <a:effectLst/>
              </a:rPr>
              <a:t>：</a:t>
            </a:r>
            <a:r>
              <a:rPr lang="en-US" altLang="zh-CN" dirty="0">
                <a:effectLst/>
              </a:rPr>
              <a:t>UDP</a:t>
            </a:r>
            <a:r>
              <a:rPr lang="zh-CN" altLang="en-US" dirty="0">
                <a:effectLst/>
              </a:rPr>
              <a:t>协议和</a:t>
            </a:r>
            <a:r>
              <a:rPr lang="en-US" altLang="zh-CN" dirty="0">
                <a:effectLst/>
              </a:rPr>
              <a:t>Checksum</a:t>
            </a:r>
            <a:endParaRPr lang="en-US" altLang="zh-CN" dirty="0">
              <a:effectLst/>
            </a:endParaRPr>
          </a:p>
          <a:p>
            <a:r>
              <a:rPr lang="en-US" altLang="zh-CN" dirty="0"/>
              <a:t>UDP</a:t>
            </a:r>
            <a:r>
              <a:rPr lang="zh-CN" altLang="en-US" dirty="0"/>
              <a:t>协议</a:t>
            </a:r>
            <a:endParaRPr lang="zh-CN" altLang="en-US" dirty="0"/>
          </a:p>
          <a:p>
            <a:pPr lvl="1"/>
            <a:r>
              <a:rPr lang="zh-CN" altLang="en-US" dirty="0"/>
              <a:t>简单高效：尽最大努力交付</a:t>
            </a:r>
            <a:endParaRPr lang="zh-CN" altLang="en-US" dirty="0"/>
          </a:p>
          <a:p>
            <a:pPr lvl="1"/>
            <a:r>
              <a:rPr lang="zh-CN" altLang="en-US" dirty="0"/>
              <a:t>报文格式：首部</a:t>
            </a:r>
            <a:r>
              <a:rPr lang="en-US" altLang="zh-CN" dirty="0"/>
              <a:t>8</a:t>
            </a:r>
            <a:r>
              <a:rPr lang="zh-CN" altLang="en-US" dirty="0"/>
              <a:t>字节</a:t>
            </a:r>
            <a:r>
              <a:rPr lang="en-US" altLang="zh-CN" dirty="0"/>
              <a:t>/4</a:t>
            </a:r>
            <a:r>
              <a:rPr lang="zh-CN" altLang="en-US" dirty="0"/>
              <a:t>个字段</a:t>
            </a:r>
            <a:endParaRPr lang="zh-CN" altLang="en-US" dirty="0"/>
          </a:p>
          <a:p>
            <a:r>
              <a:rPr lang="zh-CN" altLang="en-US" dirty="0"/>
              <a:t>检验和：</a:t>
            </a:r>
            <a:endParaRPr lang="en-US" altLang="zh-CN" dirty="0"/>
          </a:p>
          <a:p>
            <a:pPr lvl="1"/>
            <a:r>
              <a:rPr lang="zh-CN" altLang="en-US" dirty="0"/>
              <a:t>差错检验流程</a:t>
            </a:r>
            <a:endParaRPr lang="en-US" altLang="zh-CN" dirty="0"/>
          </a:p>
          <a:p>
            <a:pPr lvl="1"/>
            <a:r>
              <a:rPr lang="en-US" altLang="zh-CN" dirty="0"/>
              <a:t>Checksum</a:t>
            </a:r>
            <a:endParaRPr lang="en-US" altLang="zh-CN" dirty="0"/>
          </a:p>
          <a:p>
            <a:pPr lvl="2"/>
            <a:r>
              <a:rPr lang="en-US" altLang="zh-CN" dirty="0"/>
              <a:t>16bits</a:t>
            </a:r>
            <a:endParaRPr lang="en-US" altLang="zh-CN" dirty="0"/>
          </a:p>
          <a:p>
            <a:pPr lvl="2"/>
            <a:r>
              <a:rPr lang="zh-CN" altLang="en-US" dirty="0"/>
              <a:t>加法</a:t>
            </a:r>
            <a:endParaRPr lang="en-US" altLang="zh-CN" dirty="0"/>
          </a:p>
          <a:p>
            <a:pPr lvl="2"/>
            <a:r>
              <a:rPr lang="zh-CN" altLang="en-US" dirty="0"/>
              <a:t>回卷</a:t>
            </a:r>
            <a:endParaRPr lang="zh-CN" altLang="en-US" dirty="0"/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章复习总结</a:t>
            </a:r>
            <a:endParaRPr lang="en-US" altLang="zh-CN" dirty="0"/>
          </a:p>
        </p:txBody>
      </p:sp>
      <p:grpSp>
        <p:nvGrpSpPr>
          <p:cNvPr id="4" name="组合 3"/>
          <p:cNvGrpSpPr/>
          <p:nvPr/>
        </p:nvGrpSpPr>
        <p:grpSpPr>
          <a:xfrm>
            <a:off x="5436096" y="970208"/>
            <a:ext cx="2470151" cy="1935055"/>
            <a:chOff x="3837351" y="1280617"/>
            <a:chExt cx="4509104" cy="3532319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5853286" y="1564209"/>
              <a:ext cx="2493169" cy="2400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5796136" y="1635646"/>
              <a:ext cx="2493169" cy="2400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zh-CN" altLang="zh-CN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5869779" y="1652314"/>
              <a:ext cx="1086200" cy="370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源端口号</a:t>
              </a:r>
              <a:endPara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7026893" y="1652314"/>
              <a:ext cx="1273476" cy="370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目的端口号</a:t>
              </a:r>
              <a:endPara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V="1">
              <a:off x="5788992" y="1935684"/>
              <a:ext cx="24967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V="1">
              <a:off x="5781849" y="2235721"/>
              <a:ext cx="24931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V="1">
              <a:off x="7024861" y="1635646"/>
              <a:ext cx="0" cy="2964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6633006" y="1280617"/>
              <a:ext cx="747992" cy="312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7367761" y="1460624"/>
              <a:ext cx="900113" cy="35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rot="10800000">
              <a:off x="5785421" y="1467768"/>
              <a:ext cx="8465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6029499" y="3027487"/>
              <a:ext cx="1945482" cy="5348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载荷：应用数据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报文，分段报文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5946676" y="4094289"/>
              <a:ext cx="2089219" cy="421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en-US" altLang="zh-CN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报文段结构</a:t>
              </a:r>
              <a:endParaRPr lang="en-US" altLang="zh-CN" sz="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 flipV="1">
              <a:off x="7024861" y="1942827"/>
              <a:ext cx="0" cy="2964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6033244" y="1959497"/>
              <a:ext cx="711646" cy="370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长度</a:t>
              </a:r>
              <a:endPara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7234412" y="1952352"/>
              <a:ext cx="898925" cy="370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检验和</a:t>
              </a:r>
              <a:endParaRPr lang="en-US" altLang="zh-CN" sz="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3837351" y="2175000"/>
              <a:ext cx="1812080" cy="365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r" eaLnBrk="0" hangingPunct="0"/>
              <a:r>
                <a:rPr lang="zh-CN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有效载荷长度</a:t>
              </a:r>
              <a:endPara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V="1">
              <a:off x="5649432" y="2078558"/>
              <a:ext cx="468173" cy="1774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Box 15"/>
            <p:cNvSpPr txBox="1">
              <a:spLocks noChangeArrowheads="1"/>
            </p:cNvSpPr>
            <p:nvPr/>
          </p:nvSpPr>
          <p:spPr bwMode="auto">
            <a:xfrm>
              <a:off x="5663377" y="4391567"/>
              <a:ext cx="2578269" cy="421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用户数据报）</a:t>
              </a:r>
              <a:endParaRPr lang="en-US" altLang="zh-CN" sz="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993929" y="3003781"/>
            <a:ext cx="3741218" cy="1977267"/>
            <a:chOff x="2126926" y="1540471"/>
            <a:chExt cx="6311219" cy="3335535"/>
          </a:xfrm>
        </p:grpSpPr>
        <p:sp>
          <p:nvSpPr>
            <p:cNvPr id="24" name="Line 115"/>
            <p:cNvSpPr>
              <a:spLocks noChangeShapeType="1"/>
            </p:cNvSpPr>
            <p:nvPr/>
          </p:nvSpPr>
          <p:spPr bwMode="auto">
            <a:xfrm flipH="1" flipV="1">
              <a:off x="7188753" y="1842890"/>
              <a:ext cx="1" cy="674488"/>
            </a:xfrm>
            <a:prstGeom prst="line">
              <a:avLst/>
            </a:prstGeom>
            <a:noFill/>
            <a:ln w="38100">
              <a:solidFill>
                <a:srgbClr val="0066CC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Rectangle 5"/>
            <p:cNvSpPr>
              <a:spLocks noChangeArrowheads="1"/>
            </p:cNvSpPr>
            <p:nvPr/>
          </p:nvSpPr>
          <p:spPr bwMode="auto">
            <a:xfrm>
              <a:off x="2143596" y="2250678"/>
              <a:ext cx="2031205" cy="2322910"/>
            </a:xfrm>
            <a:prstGeom prst="rect">
              <a:avLst/>
            </a:prstGeom>
            <a:noFill/>
            <a:ln w="19050">
              <a:solidFill>
                <a:srgbClr val="800000"/>
              </a:solidFill>
              <a:prstDash val="dash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Rectangle 6"/>
            <p:cNvSpPr>
              <a:spLocks noChangeArrowheads="1"/>
            </p:cNvSpPr>
            <p:nvPr/>
          </p:nvSpPr>
          <p:spPr bwMode="auto">
            <a:xfrm>
              <a:off x="6233391" y="2250678"/>
              <a:ext cx="2083020" cy="2405696"/>
            </a:xfrm>
            <a:prstGeom prst="rect">
              <a:avLst/>
            </a:prstGeom>
            <a:noFill/>
            <a:ln w="19050">
              <a:solidFill>
                <a:srgbClr val="800000"/>
              </a:solidFill>
              <a:prstDash val="dash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" name="Group 7"/>
            <p:cNvGrpSpPr/>
            <p:nvPr/>
          </p:nvGrpSpPr>
          <p:grpSpPr bwMode="auto">
            <a:xfrm>
              <a:off x="2685330" y="2326878"/>
              <a:ext cx="486965" cy="594122"/>
              <a:chOff x="1791" y="1997"/>
              <a:chExt cx="409" cy="499"/>
            </a:xfrm>
          </p:grpSpPr>
          <p:sp>
            <p:nvSpPr>
              <p:cNvPr id="100" name="AutoShape 8"/>
              <p:cNvSpPr>
                <a:spLocks noChangeArrowheads="1"/>
              </p:cNvSpPr>
              <p:nvPr/>
            </p:nvSpPr>
            <p:spPr bwMode="auto">
              <a:xfrm rot="10800000" flipH="1">
                <a:off x="1791" y="1997"/>
                <a:ext cx="409" cy="499"/>
              </a:xfrm>
              <a:prstGeom prst="foldedCorner">
                <a:avLst>
                  <a:gd name="adj" fmla="val 12500"/>
                </a:avLst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Line 9"/>
              <p:cNvSpPr>
                <a:spLocks noChangeShapeType="1"/>
              </p:cNvSpPr>
              <p:nvPr/>
            </p:nvSpPr>
            <p:spPr bwMode="auto">
              <a:xfrm>
                <a:off x="1855" y="207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Line 10"/>
              <p:cNvSpPr>
                <a:spLocks noChangeShapeType="1"/>
              </p:cNvSpPr>
              <p:nvPr/>
            </p:nvSpPr>
            <p:spPr bwMode="auto">
              <a:xfrm>
                <a:off x="1855" y="216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Line 11"/>
              <p:cNvSpPr>
                <a:spLocks noChangeShapeType="1"/>
              </p:cNvSpPr>
              <p:nvPr/>
            </p:nvSpPr>
            <p:spPr bwMode="auto">
              <a:xfrm>
                <a:off x="1855" y="225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Line 12"/>
              <p:cNvSpPr>
                <a:spLocks noChangeShapeType="1"/>
              </p:cNvSpPr>
              <p:nvPr/>
            </p:nvSpPr>
            <p:spPr bwMode="auto">
              <a:xfrm>
                <a:off x="1855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Line 13"/>
              <p:cNvSpPr>
                <a:spLocks noChangeShapeType="1"/>
              </p:cNvSpPr>
              <p:nvPr/>
            </p:nvSpPr>
            <p:spPr bwMode="auto">
              <a:xfrm>
                <a:off x="185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8" name="Rectangle 14"/>
            <p:cNvSpPr>
              <a:spLocks noChangeArrowheads="1"/>
            </p:cNvSpPr>
            <p:nvPr/>
          </p:nvSpPr>
          <p:spPr bwMode="auto">
            <a:xfrm>
              <a:off x="2991319" y="2409032"/>
              <a:ext cx="809625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Data</a:t>
              </a:r>
              <a:endParaRPr lang="zh-CN" altLang="en-US" sz="8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>
              <a:off x="2934169" y="2921000"/>
              <a:ext cx="0" cy="2476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0" name="Group 16"/>
            <p:cNvGrpSpPr/>
            <p:nvPr/>
          </p:nvGrpSpPr>
          <p:grpSpPr bwMode="auto">
            <a:xfrm>
              <a:off x="7419254" y="2341166"/>
              <a:ext cx="132159" cy="594122"/>
              <a:chOff x="1791" y="1997"/>
              <a:chExt cx="409" cy="499"/>
            </a:xfrm>
          </p:grpSpPr>
          <p:sp>
            <p:nvSpPr>
              <p:cNvPr id="94" name="AutoShape 17"/>
              <p:cNvSpPr>
                <a:spLocks noChangeArrowheads="1"/>
              </p:cNvSpPr>
              <p:nvPr/>
            </p:nvSpPr>
            <p:spPr bwMode="auto">
              <a:xfrm rot="10800000" flipH="1">
                <a:off x="1791" y="1997"/>
                <a:ext cx="409" cy="499"/>
              </a:xfrm>
              <a:prstGeom prst="foldedCorner">
                <a:avLst>
                  <a:gd name="adj" fmla="val 12500"/>
                </a:avLst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Line 18"/>
              <p:cNvSpPr>
                <a:spLocks noChangeShapeType="1"/>
              </p:cNvSpPr>
              <p:nvPr/>
            </p:nvSpPr>
            <p:spPr bwMode="auto">
              <a:xfrm>
                <a:off x="1855" y="2078"/>
                <a:ext cx="272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Line 19"/>
              <p:cNvSpPr>
                <a:spLocks noChangeShapeType="1"/>
              </p:cNvSpPr>
              <p:nvPr/>
            </p:nvSpPr>
            <p:spPr bwMode="auto">
              <a:xfrm>
                <a:off x="1855" y="2160"/>
                <a:ext cx="272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Line 20"/>
              <p:cNvSpPr>
                <a:spLocks noChangeShapeType="1"/>
              </p:cNvSpPr>
              <p:nvPr/>
            </p:nvSpPr>
            <p:spPr bwMode="auto">
              <a:xfrm>
                <a:off x="1855" y="2251"/>
                <a:ext cx="272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Line 21"/>
              <p:cNvSpPr>
                <a:spLocks noChangeShapeType="1"/>
              </p:cNvSpPr>
              <p:nvPr/>
            </p:nvSpPr>
            <p:spPr bwMode="auto">
              <a:xfrm>
                <a:off x="1855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Line 22"/>
              <p:cNvSpPr>
                <a:spLocks noChangeShapeType="1"/>
              </p:cNvSpPr>
              <p:nvPr/>
            </p:nvSpPr>
            <p:spPr bwMode="auto">
              <a:xfrm>
                <a:off x="185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>
              <a:off x="2934169" y="3547269"/>
              <a:ext cx="0" cy="2476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" name="Group 25"/>
            <p:cNvGrpSpPr/>
            <p:nvPr/>
          </p:nvGrpSpPr>
          <p:grpSpPr bwMode="auto">
            <a:xfrm>
              <a:off x="2881782" y="3741341"/>
              <a:ext cx="144066" cy="594122"/>
              <a:chOff x="1791" y="1997"/>
              <a:chExt cx="409" cy="499"/>
            </a:xfrm>
          </p:grpSpPr>
          <p:sp>
            <p:nvSpPr>
              <p:cNvPr id="88" name="AutoShape 26"/>
              <p:cNvSpPr>
                <a:spLocks noChangeArrowheads="1"/>
              </p:cNvSpPr>
              <p:nvPr/>
            </p:nvSpPr>
            <p:spPr bwMode="auto">
              <a:xfrm rot="10800000" flipH="1">
                <a:off x="1791" y="1997"/>
                <a:ext cx="409" cy="499"/>
              </a:xfrm>
              <a:prstGeom prst="foldedCorner">
                <a:avLst>
                  <a:gd name="adj" fmla="val 12500"/>
                </a:avLst>
              </a:prstGeom>
              <a:solidFill>
                <a:srgbClr val="99CCFF"/>
              </a:solidFill>
              <a:ln w="9525">
                <a:solidFill>
                  <a:schemeClr val="tx2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Line 27"/>
              <p:cNvSpPr>
                <a:spLocks noChangeShapeType="1"/>
              </p:cNvSpPr>
              <p:nvPr/>
            </p:nvSpPr>
            <p:spPr bwMode="auto">
              <a:xfrm>
                <a:off x="1855" y="207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Line 28"/>
              <p:cNvSpPr>
                <a:spLocks noChangeShapeType="1"/>
              </p:cNvSpPr>
              <p:nvPr/>
            </p:nvSpPr>
            <p:spPr bwMode="auto">
              <a:xfrm>
                <a:off x="1855" y="216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Line 29"/>
              <p:cNvSpPr>
                <a:spLocks noChangeShapeType="1"/>
              </p:cNvSpPr>
              <p:nvPr/>
            </p:nvSpPr>
            <p:spPr bwMode="auto">
              <a:xfrm>
                <a:off x="1855" y="225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Line 30"/>
              <p:cNvSpPr>
                <a:spLocks noChangeShapeType="1"/>
              </p:cNvSpPr>
              <p:nvPr/>
            </p:nvSpPr>
            <p:spPr bwMode="auto">
              <a:xfrm>
                <a:off x="1855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Line 31"/>
              <p:cNvSpPr>
                <a:spLocks noChangeShapeType="1"/>
              </p:cNvSpPr>
              <p:nvPr/>
            </p:nvSpPr>
            <p:spPr bwMode="auto">
              <a:xfrm>
                <a:off x="185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3" name="Rectangle 39"/>
            <p:cNvSpPr>
              <a:spLocks noChangeArrowheads="1"/>
            </p:cNvSpPr>
            <p:nvPr/>
          </p:nvSpPr>
          <p:spPr bwMode="auto">
            <a:xfrm>
              <a:off x="2126926" y="3904456"/>
              <a:ext cx="809625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检验和</a:t>
              </a:r>
              <a:endParaRPr lang="zh-CN" altLang="en-US" sz="8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4" name="Group 43"/>
            <p:cNvGrpSpPr/>
            <p:nvPr/>
          </p:nvGrpSpPr>
          <p:grpSpPr bwMode="auto">
            <a:xfrm>
              <a:off x="7043017" y="3168650"/>
              <a:ext cx="875109" cy="401240"/>
              <a:chOff x="4422" y="2704"/>
              <a:chExt cx="735" cy="337"/>
            </a:xfrm>
          </p:grpSpPr>
          <p:sp>
            <p:nvSpPr>
              <p:cNvPr id="86" name="Rectangle 44"/>
              <p:cNvSpPr>
                <a:spLocks noChangeArrowheads="1"/>
              </p:cNvSpPr>
              <p:nvPr/>
            </p:nvSpPr>
            <p:spPr bwMode="auto">
              <a:xfrm>
                <a:off x="4432" y="2723"/>
                <a:ext cx="725" cy="318"/>
              </a:xfrm>
              <a:prstGeom prst="rect">
                <a:avLst/>
              </a:prstGeom>
              <a:solidFill>
                <a:srgbClr val="1C1C1C"/>
              </a:solidFill>
              <a:ln w="9525" algn="ctr">
                <a:solidFill>
                  <a:srgbClr val="1C1C1C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sz="80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Rectangle 45"/>
              <p:cNvSpPr>
                <a:spLocks noChangeArrowheads="1"/>
              </p:cNvSpPr>
              <p:nvPr/>
            </p:nvSpPr>
            <p:spPr bwMode="auto">
              <a:xfrm>
                <a:off x="4422" y="2704"/>
                <a:ext cx="725" cy="318"/>
              </a:xfrm>
              <a:prstGeom prst="rect">
                <a:avLst/>
              </a:prstGeom>
              <a:solidFill>
                <a:srgbClr val="FFCC00"/>
              </a:solidFill>
              <a:ln w="9525" algn="ctr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800" dirty="0">
                    <a:solidFill>
                      <a:srgbClr val="0066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</a:t>
                </a:r>
                <a:endParaRPr lang="zh-CN" altLang="en-US" sz="8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5" name="Group 46"/>
            <p:cNvGrpSpPr/>
            <p:nvPr/>
          </p:nvGrpSpPr>
          <p:grpSpPr bwMode="auto">
            <a:xfrm>
              <a:off x="2501973" y="3168650"/>
              <a:ext cx="813197" cy="401240"/>
              <a:chOff x="4422" y="2704"/>
              <a:chExt cx="735" cy="337"/>
            </a:xfrm>
          </p:grpSpPr>
          <p:sp>
            <p:nvSpPr>
              <p:cNvPr id="84" name="Rectangle 47"/>
              <p:cNvSpPr>
                <a:spLocks noChangeArrowheads="1"/>
              </p:cNvSpPr>
              <p:nvPr/>
            </p:nvSpPr>
            <p:spPr bwMode="auto">
              <a:xfrm>
                <a:off x="4432" y="2723"/>
                <a:ext cx="725" cy="318"/>
              </a:xfrm>
              <a:prstGeom prst="rect">
                <a:avLst/>
              </a:prstGeom>
              <a:solidFill>
                <a:srgbClr val="1C1C1C"/>
              </a:solidFill>
              <a:ln w="9525" algn="ctr">
                <a:solidFill>
                  <a:srgbClr val="1C1C1C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sz="80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Rectangle 48"/>
              <p:cNvSpPr>
                <a:spLocks noChangeArrowheads="1"/>
              </p:cNvSpPr>
              <p:nvPr/>
            </p:nvSpPr>
            <p:spPr bwMode="auto">
              <a:xfrm>
                <a:off x="4422" y="2704"/>
                <a:ext cx="725" cy="318"/>
              </a:xfrm>
              <a:prstGeom prst="rect">
                <a:avLst/>
              </a:prstGeom>
              <a:solidFill>
                <a:srgbClr val="FFCC00"/>
              </a:solidFill>
              <a:ln w="9525" algn="ctr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800" dirty="0">
                    <a:solidFill>
                      <a:srgbClr val="0066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</a:t>
                </a:r>
                <a:endParaRPr lang="zh-CN" altLang="en-US" sz="8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6" name="Line 49"/>
            <p:cNvSpPr>
              <a:spLocks noChangeShapeType="1"/>
            </p:cNvSpPr>
            <p:nvPr/>
          </p:nvSpPr>
          <p:spPr bwMode="auto">
            <a:xfrm>
              <a:off x="7475213" y="2921000"/>
              <a:ext cx="0" cy="2476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50"/>
            <p:cNvSpPr>
              <a:spLocks noChangeShapeType="1"/>
            </p:cNvSpPr>
            <p:nvPr/>
          </p:nvSpPr>
          <p:spPr bwMode="auto">
            <a:xfrm>
              <a:off x="7475213" y="3547269"/>
              <a:ext cx="0" cy="2476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AutoShape 51"/>
            <p:cNvSpPr>
              <a:spLocks noChangeArrowheads="1"/>
            </p:cNvSpPr>
            <p:nvPr/>
          </p:nvSpPr>
          <p:spPr bwMode="auto">
            <a:xfrm rot="16200000">
              <a:off x="5057649" y="3752651"/>
              <a:ext cx="215504" cy="2031206"/>
            </a:xfrm>
            <a:prstGeom prst="can">
              <a:avLst>
                <a:gd name="adj" fmla="val 40102"/>
              </a:avLst>
            </a:prstGeom>
            <a:gradFill rotWithShape="1">
              <a:gsLst>
                <a:gs pos="0">
                  <a:schemeClr val="folHlink">
                    <a:gamma/>
                    <a:shade val="6627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52"/>
            <p:cNvSpPr>
              <a:spLocks noChangeShapeType="1"/>
            </p:cNvSpPr>
            <p:nvPr/>
          </p:nvSpPr>
          <p:spPr bwMode="auto">
            <a:xfrm>
              <a:off x="2934169" y="4411663"/>
              <a:ext cx="0" cy="37742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53"/>
            <p:cNvSpPr>
              <a:spLocks noChangeShapeType="1"/>
            </p:cNvSpPr>
            <p:nvPr/>
          </p:nvSpPr>
          <p:spPr bwMode="auto">
            <a:xfrm>
              <a:off x="2923454" y="4778375"/>
              <a:ext cx="1254919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54"/>
            <p:cNvSpPr>
              <a:spLocks noChangeShapeType="1"/>
            </p:cNvSpPr>
            <p:nvPr/>
          </p:nvSpPr>
          <p:spPr bwMode="auto">
            <a:xfrm>
              <a:off x="6176241" y="4778375"/>
              <a:ext cx="129897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55"/>
            <p:cNvSpPr>
              <a:spLocks noChangeShapeType="1"/>
            </p:cNvSpPr>
            <p:nvPr/>
          </p:nvSpPr>
          <p:spPr bwMode="auto">
            <a:xfrm>
              <a:off x="7475213" y="4411663"/>
              <a:ext cx="0" cy="37742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Rectangle 56"/>
            <p:cNvSpPr>
              <a:spLocks noChangeArrowheads="1"/>
            </p:cNvSpPr>
            <p:nvPr/>
          </p:nvSpPr>
          <p:spPr bwMode="auto">
            <a:xfrm>
              <a:off x="4454598" y="4386102"/>
              <a:ext cx="1457325" cy="270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不可靠的网络</a:t>
              </a:r>
              <a:endParaRPr lang="zh-CN" altLang="en-US" sz="8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4" name="Picture 57" descr="j0431640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3594" y="1978025"/>
              <a:ext cx="539354" cy="5393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58" descr="j043164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8575" y="1981596"/>
              <a:ext cx="539354" cy="5393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Rectangle 59"/>
            <p:cNvSpPr>
              <a:spLocks noChangeArrowheads="1"/>
            </p:cNvSpPr>
            <p:nvPr/>
          </p:nvSpPr>
          <p:spPr bwMode="auto">
            <a:xfrm>
              <a:off x="4392685" y="2122090"/>
              <a:ext cx="433388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发送方</a:t>
              </a:r>
              <a:endParaRPr lang="en-US" altLang="zh-CN" sz="8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</a:t>
              </a:r>
              <a:endParaRPr lang="en-US" altLang="zh-CN" sz="8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Rectangle 60"/>
            <p:cNvSpPr>
              <a:spLocks noChangeArrowheads="1"/>
            </p:cNvSpPr>
            <p:nvPr/>
          </p:nvSpPr>
          <p:spPr bwMode="auto">
            <a:xfrm>
              <a:off x="5582120" y="2122090"/>
              <a:ext cx="378619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接收方</a:t>
              </a:r>
              <a:endParaRPr lang="en-US" altLang="zh-CN" sz="8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</a:t>
              </a:r>
              <a:endParaRPr lang="en-US" altLang="zh-CN" sz="8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8" name="Group 76"/>
            <p:cNvGrpSpPr/>
            <p:nvPr/>
          </p:nvGrpSpPr>
          <p:grpSpPr bwMode="auto">
            <a:xfrm>
              <a:off x="3043707" y="3741341"/>
              <a:ext cx="486966" cy="594122"/>
              <a:chOff x="1791" y="1997"/>
              <a:chExt cx="409" cy="499"/>
            </a:xfrm>
          </p:grpSpPr>
          <p:sp>
            <p:nvSpPr>
              <p:cNvPr id="78" name="AutoShape 77"/>
              <p:cNvSpPr>
                <a:spLocks noChangeArrowheads="1"/>
              </p:cNvSpPr>
              <p:nvPr/>
            </p:nvSpPr>
            <p:spPr bwMode="auto">
              <a:xfrm rot="10800000" flipH="1">
                <a:off x="1791" y="1997"/>
                <a:ext cx="409" cy="499"/>
              </a:xfrm>
              <a:prstGeom prst="foldedCorner">
                <a:avLst>
                  <a:gd name="adj" fmla="val 12500"/>
                </a:avLst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Line 78"/>
              <p:cNvSpPr>
                <a:spLocks noChangeShapeType="1"/>
              </p:cNvSpPr>
              <p:nvPr/>
            </p:nvSpPr>
            <p:spPr bwMode="auto">
              <a:xfrm>
                <a:off x="1855" y="207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Line 79"/>
              <p:cNvSpPr>
                <a:spLocks noChangeShapeType="1"/>
              </p:cNvSpPr>
              <p:nvPr/>
            </p:nvSpPr>
            <p:spPr bwMode="auto">
              <a:xfrm>
                <a:off x="1855" y="216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Line 80"/>
              <p:cNvSpPr>
                <a:spLocks noChangeShapeType="1"/>
              </p:cNvSpPr>
              <p:nvPr/>
            </p:nvSpPr>
            <p:spPr bwMode="auto">
              <a:xfrm>
                <a:off x="1855" y="225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Line 81"/>
              <p:cNvSpPr>
                <a:spLocks noChangeShapeType="1"/>
              </p:cNvSpPr>
              <p:nvPr/>
            </p:nvSpPr>
            <p:spPr bwMode="auto">
              <a:xfrm>
                <a:off x="1855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Line 82"/>
              <p:cNvSpPr>
                <a:spLocks noChangeShapeType="1"/>
              </p:cNvSpPr>
              <p:nvPr/>
            </p:nvSpPr>
            <p:spPr bwMode="auto">
              <a:xfrm>
                <a:off x="185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9" name="Line 83"/>
            <p:cNvSpPr>
              <a:spLocks noChangeShapeType="1"/>
            </p:cNvSpPr>
            <p:nvPr/>
          </p:nvSpPr>
          <p:spPr bwMode="auto">
            <a:xfrm>
              <a:off x="6858470" y="3958034"/>
              <a:ext cx="2369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84"/>
            <p:cNvSpPr>
              <a:spLocks noChangeShapeType="1"/>
            </p:cNvSpPr>
            <p:nvPr/>
          </p:nvSpPr>
          <p:spPr bwMode="auto">
            <a:xfrm>
              <a:off x="6872757" y="2931715"/>
              <a:ext cx="0" cy="1025129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1" name="Group 85"/>
            <p:cNvGrpSpPr/>
            <p:nvPr/>
          </p:nvGrpSpPr>
          <p:grpSpPr bwMode="auto">
            <a:xfrm>
              <a:off x="7070401" y="3796109"/>
              <a:ext cx="144066" cy="594122"/>
              <a:chOff x="1791" y="1997"/>
              <a:chExt cx="409" cy="499"/>
            </a:xfrm>
          </p:grpSpPr>
          <p:sp>
            <p:nvSpPr>
              <p:cNvPr id="72" name="AutoShape 86"/>
              <p:cNvSpPr>
                <a:spLocks noChangeArrowheads="1"/>
              </p:cNvSpPr>
              <p:nvPr/>
            </p:nvSpPr>
            <p:spPr bwMode="auto">
              <a:xfrm rot="10800000" flipH="1">
                <a:off x="1791" y="1997"/>
                <a:ext cx="409" cy="499"/>
              </a:xfrm>
              <a:prstGeom prst="foldedCorner">
                <a:avLst>
                  <a:gd name="adj" fmla="val 12500"/>
                </a:avLst>
              </a:prstGeom>
              <a:solidFill>
                <a:srgbClr val="99CCFF"/>
              </a:solidFill>
              <a:ln w="9525">
                <a:solidFill>
                  <a:schemeClr val="tx2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Line 87"/>
              <p:cNvSpPr>
                <a:spLocks noChangeShapeType="1"/>
              </p:cNvSpPr>
              <p:nvPr/>
            </p:nvSpPr>
            <p:spPr bwMode="auto">
              <a:xfrm>
                <a:off x="1855" y="207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Line 88"/>
              <p:cNvSpPr>
                <a:spLocks noChangeShapeType="1"/>
              </p:cNvSpPr>
              <p:nvPr/>
            </p:nvSpPr>
            <p:spPr bwMode="auto">
              <a:xfrm>
                <a:off x="1855" y="216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Line 89"/>
              <p:cNvSpPr>
                <a:spLocks noChangeShapeType="1"/>
              </p:cNvSpPr>
              <p:nvPr/>
            </p:nvSpPr>
            <p:spPr bwMode="auto">
              <a:xfrm>
                <a:off x="1855" y="225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90"/>
              <p:cNvSpPr>
                <a:spLocks noChangeShapeType="1"/>
              </p:cNvSpPr>
              <p:nvPr/>
            </p:nvSpPr>
            <p:spPr bwMode="auto">
              <a:xfrm>
                <a:off x="1855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91"/>
              <p:cNvSpPr>
                <a:spLocks noChangeShapeType="1"/>
              </p:cNvSpPr>
              <p:nvPr/>
            </p:nvSpPr>
            <p:spPr bwMode="auto">
              <a:xfrm>
                <a:off x="185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2" name="Group 92"/>
            <p:cNvGrpSpPr/>
            <p:nvPr/>
          </p:nvGrpSpPr>
          <p:grpSpPr bwMode="auto">
            <a:xfrm>
              <a:off x="7232326" y="3796109"/>
              <a:ext cx="486966" cy="594122"/>
              <a:chOff x="1791" y="1997"/>
              <a:chExt cx="409" cy="499"/>
            </a:xfrm>
          </p:grpSpPr>
          <p:sp>
            <p:nvSpPr>
              <p:cNvPr id="66" name="AutoShape 93"/>
              <p:cNvSpPr>
                <a:spLocks noChangeArrowheads="1"/>
              </p:cNvSpPr>
              <p:nvPr/>
            </p:nvSpPr>
            <p:spPr bwMode="auto">
              <a:xfrm rot="10800000" flipH="1">
                <a:off x="1791" y="1997"/>
                <a:ext cx="409" cy="499"/>
              </a:xfrm>
              <a:prstGeom prst="foldedCorner">
                <a:avLst>
                  <a:gd name="adj" fmla="val 12500"/>
                </a:avLst>
              </a:prstGeom>
              <a:solidFill>
                <a:srgbClr val="F8F8F8"/>
              </a:solidFill>
              <a:ln w="9525">
                <a:solidFill>
                  <a:schemeClr val="tx2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Line 94"/>
              <p:cNvSpPr>
                <a:spLocks noChangeShapeType="1"/>
              </p:cNvSpPr>
              <p:nvPr/>
            </p:nvSpPr>
            <p:spPr bwMode="auto">
              <a:xfrm>
                <a:off x="1855" y="207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Line 95"/>
              <p:cNvSpPr>
                <a:spLocks noChangeShapeType="1"/>
              </p:cNvSpPr>
              <p:nvPr/>
            </p:nvSpPr>
            <p:spPr bwMode="auto">
              <a:xfrm>
                <a:off x="1855" y="216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Line 96"/>
              <p:cNvSpPr>
                <a:spLocks noChangeShapeType="1"/>
              </p:cNvSpPr>
              <p:nvPr/>
            </p:nvSpPr>
            <p:spPr bwMode="auto">
              <a:xfrm>
                <a:off x="1855" y="225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Line 97"/>
              <p:cNvSpPr>
                <a:spLocks noChangeShapeType="1"/>
              </p:cNvSpPr>
              <p:nvPr/>
            </p:nvSpPr>
            <p:spPr bwMode="auto">
              <a:xfrm>
                <a:off x="1855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Line 98"/>
              <p:cNvSpPr>
                <a:spLocks noChangeShapeType="1"/>
              </p:cNvSpPr>
              <p:nvPr/>
            </p:nvSpPr>
            <p:spPr bwMode="auto">
              <a:xfrm>
                <a:off x="185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3" name="Rectangle 106"/>
            <p:cNvSpPr>
              <a:spLocks noChangeArrowheads="1"/>
            </p:cNvSpPr>
            <p:nvPr/>
          </p:nvSpPr>
          <p:spPr bwMode="auto">
            <a:xfrm>
              <a:off x="6231010" y="3904456"/>
              <a:ext cx="809625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检验和</a:t>
              </a:r>
              <a:endParaRPr lang="zh-CN" altLang="en-US" sz="8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4" name="Group 107"/>
            <p:cNvGrpSpPr/>
            <p:nvPr/>
          </p:nvGrpSpPr>
          <p:grpSpPr bwMode="auto">
            <a:xfrm>
              <a:off x="6803701" y="2337593"/>
              <a:ext cx="144066" cy="594122"/>
              <a:chOff x="1791" y="1997"/>
              <a:chExt cx="409" cy="499"/>
            </a:xfrm>
          </p:grpSpPr>
          <p:sp>
            <p:nvSpPr>
              <p:cNvPr id="60" name="AutoShape 108"/>
              <p:cNvSpPr>
                <a:spLocks noChangeArrowheads="1"/>
              </p:cNvSpPr>
              <p:nvPr/>
            </p:nvSpPr>
            <p:spPr bwMode="auto">
              <a:xfrm rot="10800000" flipH="1">
                <a:off x="1791" y="1997"/>
                <a:ext cx="409" cy="499"/>
              </a:xfrm>
              <a:prstGeom prst="foldedCorner">
                <a:avLst>
                  <a:gd name="adj" fmla="val 12500"/>
                </a:avLst>
              </a:prstGeom>
              <a:solidFill>
                <a:srgbClr val="99CCFF"/>
              </a:solidFill>
              <a:ln w="9525">
                <a:solidFill>
                  <a:schemeClr val="tx2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Line 109"/>
              <p:cNvSpPr>
                <a:spLocks noChangeShapeType="1"/>
              </p:cNvSpPr>
              <p:nvPr/>
            </p:nvSpPr>
            <p:spPr bwMode="auto">
              <a:xfrm>
                <a:off x="1855" y="207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Line 110"/>
              <p:cNvSpPr>
                <a:spLocks noChangeShapeType="1"/>
              </p:cNvSpPr>
              <p:nvPr/>
            </p:nvSpPr>
            <p:spPr bwMode="auto">
              <a:xfrm>
                <a:off x="1855" y="216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Line 111"/>
              <p:cNvSpPr>
                <a:spLocks noChangeShapeType="1"/>
              </p:cNvSpPr>
              <p:nvPr/>
            </p:nvSpPr>
            <p:spPr bwMode="auto">
              <a:xfrm>
                <a:off x="1855" y="225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Line 112"/>
              <p:cNvSpPr>
                <a:spLocks noChangeShapeType="1"/>
              </p:cNvSpPr>
              <p:nvPr/>
            </p:nvSpPr>
            <p:spPr bwMode="auto">
              <a:xfrm>
                <a:off x="1855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Line 113"/>
              <p:cNvSpPr>
                <a:spLocks noChangeShapeType="1"/>
              </p:cNvSpPr>
              <p:nvPr/>
            </p:nvSpPr>
            <p:spPr bwMode="auto">
              <a:xfrm>
                <a:off x="1855" y="2432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5" name="Rectangle 114"/>
            <p:cNvSpPr>
              <a:spLocks noChangeArrowheads="1"/>
            </p:cNvSpPr>
            <p:nvPr/>
          </p:nvSpPr>
          <p:spPr bwMode="auto">
            <a:xfrm>
              <a:off x="6987057" y="2499519"/>
              <a:ext cx="385763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8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</a:t>
              </a:r>
              <a:endParaRPr lang="zh-CN" altLang="en-US" sz="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Rectangle 116"/>
            <p:cNvSpPr>
              <a:spLocks noChangeArrowheads="1"/>
            </p:cNvSpPr>
            <p:nvPr/>
          </p:nvSpPr>
          <p:spPr bwMode="auto">
            <a:xfrm>
              <a:off x="5905970" y="1540471"/>
              <a:ext cx="2216944" cy="270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确定“数据”</a:t>
              </a:r>
              <a:r>
                <a:rPr lang="zh-CN" altLang="en-US" sz="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是否出错</a:t>
              </a:r>
              <a:endParaRPr lang="zh-CN" altLang="en-US" sz="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117"/>
            <p:cNvSpPr>
              <a:spLocks noChangeShapeType="1"/>
            </p:cNvSpPr>
            <p:nvPr/>
          </p:nvSpPr>
          <p:spPr bwMode="auto">
            <a:xfrm>
              <a:off x="3423517" y="2716213"/>
              <a:ext cx="0" cy="102512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Line 118"/>
            <p:cNvSpPr>
              <a:spLocks noChangeShapeType="1"/>
            </p:cNvSpPr>
            <p:nvPr/>
          </p:nvSpPr>
          <p:spPr bwMode="auto">
            <a:xfrm>
              <a:off x="3185392" y="2716212"/>
              <a:ext cx="2369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Rectangle 14"/>
            <p:cNvSpPr>
              <a:spLocks noChangeArrowheads="1"/>
            </p:cNvSpPr>
            <p:nvPr/>
          </p:nvSpPr>
          <p:spPr bwMode="auto">
            <a:xfrm>
              <a:off x="7628520" y="3973670"/>
              <a:ext cx="809625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800" dirty="0">
                  <a:solidFill>
                    <a:srgbClr val="0066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Data’</a:t>
              </a:r>
              <a:endParaRPr lang="zh-CN" altLang="en-US" sz="80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07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10501" y="907307"/>
            <a:ext cx="4533627" cy="4084022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  <a:effectLst/>
              </a:rPr>
              <a:t>知识点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3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：可靠传输原理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/>
            <a:r>
              <a:rPr lang="zh-CN" altLang="en-US" dirty="0"/>
              <a:t>机制：停止等待协议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工具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方法：有限状态机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差错检验，</a:t>
            </a:r>
            <a:r>
              <a:rPr lang="en-US" altLang="zh-CN" dirty="0"/>
              <a:t>Timer</a:t>
            </a:r>
            <a:endParaRPr lang="en-US" altLang="zh-CN" dirty="0"/>
          </a:p>
          <a:p>
            <a:pPr lvl="2"/>
            <a:r>
              <a:rPr lang="zh-CN" altLang="en-US" dirty="0"/>
              <a:t>确认，重传</a:t>
            </a:r>
            <a:endParaRPr lang="en-US" altLang="zh-CN" dirty="0"/>
          </a:p>
          <a:p>
            <a:pPr lvl="1"/>
            <a:r>
              <a:rPr lang="zh-CN" altLang="en-US" dirty="0"/>
              <a:t>机制：流水线协议</a:t>
            </a:r>
            <a:endParaRPr lang="en-US" altLang="zh-CN" dirty="0"/>
          </a:p>
          <a:p>
            <a:pPr lvl="2"/>
            <a:r>
              <a:rPr lang="zh-CN" altLang="en-US" dirty="0"/>
              <a:t>差错检验，</a:t>
            </a:r>
            <a:r>
              <a:rPr lang="en-US" altLang="zh-CN" dirty="0"/>
              <a:t>Timer</a:t>
            </a:r>
            <a:endParaRPr lang="en-US" altLang="zh-CN" dirty="0"/>
          </a:p>
          <a:p>
            <a:pPr lvl="2"/>
            <a:r>
              <a:rPr lang="zh-CN" altLang="en-US" dirty="0"/>
              <a:t>分组序号</a:t>
            </a:r>
            <a:r>
              <a:rPr lang="en-US" altLang="zh-CN" dirty="0"/>
              <a:t>/</a:t>
            </a:r>
            <a:r>
              <a:rPr lang="zh-CN" altLang="en-US" dirty="0"/>
              <a:t>确认序号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技术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方法：滑动窗口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确认和重传策略（分析各种场景）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zh-CN" altLang="en-US" dirty="0"/>
              <a:t>回退</a:t>
            </a:r>
            <a:r>
              <a:rPr lang="en-US" altLang="zh-CN" dirty="0"/>
              <a:t>N</a:t>
            </a:r>
            <a:r>
              <a:rPr lang="zh-CN" altLang="en-US" dirty="0"/>
              <a:t>步</a:t>
            </a:r>
            <a:endParaRPr lang="en-US" altLang="zh-CN" dirty="0"/>
          </a:p>
          <a:p>
            <a:pPr lvl="3"/>
            <a:r>
              <a:rPr lang="zh-CN" altLang="en-US" dirty="0"/>
              <a:t>选择重传</a:t>
            </a:r>
            <a:endParaRPr lang="en-US" altLang="zh-CN" dirty="0"/>
          </a:p>
          <a:p>
            <a:pPr lvl="2"/>
            <a:endParaRPr lang="en-US" altLang="zh-CN" dirty="0">
              <a:effectLst/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章复习总结</a:t>
            </a:r>
            <a:endParaRPr lang="en-US" altLang="zh-CN" dirty="0"/>
          </a:p>
        </p:txBody>
      </p:sp>
      <p:grpSp>
        <p:nvGrpSpPr>
          <p:cNvPr id="4" name="组合 3"/>
          <p:cNvGrpSpPr/>
          <p:nvPr/>
        </p:nvGrpSpPr>
        <p:grpSpPr>
          <a:xfrm>
            <a:off x="5019623" y="826493"/>
            <a:ext cx="3230775" cy="2045172"/>
            <a:chOff x="873411" y="3035306"/>
            <a:chExt cx="3230775" cy="2045172"/>
          </a:xfrm>
        </p:grpSpPr>
        <p:sp>
          <p:nvSpPr>
            <p:cNvPr id="5" name="Oval 5"/>
            <p:cNvSpPr>
              <a:spLocks noChangeArrowheads="1"/>
            </p:cNvSpPr>
            <p:nvPr/>
          </p:nvSpPr>
          <p:spPr bwMode="auto">
            <a:xfrm>
              <a:off x="1394904" y="3331802"/>
              <a:ext cx="676275" cy="627459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355614" y="3465383"/>
              <a:ext cx="817959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</a:t>
              </a:r>
              <a:endParaRPr lang="en-US" altLang="zh-CN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/>
              <a:r>
                <a:rPr lang="en-US" altLang="zh-CN" sz="9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call 0</a:t>
              </a:r>
              <a:endParaRPr lang="en-US" altLang="zh-CN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1120864" y="3419593"/>
              <a:ext cx="283369" cy="1428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2826036" y="3292511"/>
              <a:ext cx="702469" cy="648891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770078" y="3456699"/>
              <a:ext cx="812030" cy="561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ACK 0</a:t>
              </a:r>
              <a:endPara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10"/>
            <p:cNvSpPr/>
            <p:nvPr/>
          </p:nvSpPr>
          <p:spPr bwMode="auto">
            <a:xfrm flipV="1">
              <a:off x="1812814" y="3200833"/>
              <a:ext cx="1112044" cy="165497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 rot="-3229536">
              <a:off x="3373738" y="2981134"/>
              <a:ext cx="340519" cy="515540"/>
            </a:xfrm>
            <a:custGeom>
              <a:avLst/>
              <a:gdLst>
                <a:gd name="T0" fmla="*/ 0 w 735"/>
                <a:gd name="T1" fmla="*/ 195 h 1080"/>
                <a:gd name="T2" fmla="*/ 0 w 735"/>
                <a:gd name="T3" fmla="*/ 855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 rot="16200000" flipV="1">
              <a:off x="1023429" y="3985454"/>
              <a:ext cx="585788" cy="200025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2016411" y="4778411"/>
              <a:ext cx="1060847" cy="171450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14"/>
            <p:cNvSpPr/>
            <p:nvPr/>
          </p:nvSpPr>
          <p:spPr bwMode="auto">
            <a:xfrm rot="5400000" flipH="1" flipV="1">
              <a:off x="3274306" y="4036056"/>
              <a:ext cx="514350" cy="55959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2873661" y="4228342"/>
              <a:ext cx="675085" cy="617935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2811748" y="4371738"/>
              <a:ext cx="838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</a:t>
              </a:r>
              <a:endPara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call 1</a:t>
              </a:r>
              <a:endPara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1394904" y="4217627"/>
              <a:ext cx="675085" cy="617934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1346089" y="4355069"/>
              <a:ext cx="78462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ACK 1</a:t>
              </a:r>
              <a:endPara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20"/>
            <p:cNvSpPr/>
            <p:nvPr/>
          </p:nvSpPr>
          <p:spPr bwMode="auto">
            <a:xfrm rot="10074080">
              <a:off x="1052295" y="4367415"/>
              <a:ext cx="340519" cy="515540"/>
            </a:xfrm>
            <a:custGeom>
              <a:avLst/>
              <a:gdLst>
                <a:gd name="T0" fmla="*/ 0 w 735"/>
                <a:gd name="T1" fmla="*/ 195 h 1080"/>
                <a:gd name="T2" fmla="*/ 0 w 735"/>
                <a:gd name="T3" fmla="*/ 855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solidFill>
              <a:srgbClr val="FFFFFF"/>
            </a:solidFill>
            <a:ln w="28575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58"/>
            <p:cNvSpPr/>
            <p:nvPr/>
          </p:nvSpPr>
          <p:spPr bwMode="auto">
            <a:xfrm rot="1081619">
              <a:off x="3547079" y="3424163"/>
              <a:ext cx="340519" cy="515541"/>
            </a:xfrm>
            <a:custGeom>
              <a:avLst/>
              <a:gdLst>
                <a:gd name="T0" fmla="*/ 0 w 735"/>
                <a:gd name="T1" fmla="*/ 195 h 1080"/>
                <a:gd name="T2" fmla="*/ 0 w 735"/>
                <a:gd name="T3" fmla="*/ 855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ctangle 61"/>
            <p:cNvSpPr>
              <a:spLocks noChangeArrowheads="1"/>
            </p:cNvSpPr>
            <p:nvPr/>
          </p:nvSpPr>
          <p:spPr bwMode="auto">
            <a:xfrm>
              <a:off x="3589836" y="3035306"/>
              <a:ext cx="514350" cy="285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Timer</a:t>
              </a:r>
              <a:endPara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Rectangle 62"/>
            <p:cNvSpPr>
              <a:spLocks noChangeArrowheads="1"/>
            </p:cNvSpPr>
            <p:nvPr/>
          </p:nvSpPr>
          <p:spPr bwMode="auto">
            <a:xfrm>
              <a:off x="873411" y="4849347"/>
              <a:ext cx="514350" cy="231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Timer</a:t>
              </a:r>
              <a:endPara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839828" y="3154219"/>
            <a:ext cx="1487165" cy="1753290"/>
            <a:chOff x="4996290" y="1275606"/>
            <a:chExt cx="2955065" cy="3483868"/>
          </a:xfrm>
        </p:grpSpPr>
        <p:sp>
          <p:nvSpPr>
            <p:cNvPr id="27" name="Line 5"/>
            <p:cNvSpPr>
              <a:spLocks noChangeShapeType="1"/>
            </p:cNvSpPr>
            <p:nvPr/>
          </p:nvSpPr>
          <p:spPr bwMode="auto">
            <a:xfrm>
              <a:off x="6034424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6"/>
            <p:cNvSpPr>
              <a:spLocks noChangeShapeType="1"/>
            </p:cNvSpPr>
            <p:nvPr/>
          </p:nvSpPr>
          <p:spPr bwMode="auto">
            <a:xfrm>
              <a:off x="7601801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7"/>
            <p:cNvSpPr>
              <a:spLocks noChangeShapeType="1"/>
            </p:cNvSpPr>
            <p:nvPr/>
          </p:nvSpPr>
          <p:spPr bwMode="auto">
            <a:xfrm>
              <a:off x="6040891" y="1653034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5716446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sz="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7275650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en-US" altLang="zh-CN" sz="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Rectangle 26"/>
            <p:cNvSpPr>
              <a:spLocks noChangeArrowheads="1"/>
            </p:cNvSpPr>
            <p:nvPr/>
          </p:nvSpPr>
          <p:spPr bwMode="auto">
            <a:xfrm>
              <a:off x="5601551" y="1869090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6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Rectangle 29"/>
            <p:cNvSpPr>
              <a:spLocks noChangeArrowheads="1"/>
            </p:cNvSpPr>
            <p:nvPr/>
          </p:nvSpPr>
          <p:spPr bwMode="auto">
            <a:xfrm>
              <a:off x="5601551" y="2113008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6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5601551" y="1626685"/>
              <a:ext cx="439806" cy="2166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6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29"/>
            <p:cNvSpPr>
              <a:spLocks noChangeArrowheads="1"/>
            </p:cNvSpPr>
            <p:nvPr/>
          </p:nvSpPr>
          <p:spPr bwMode="auto">
            <a:xfrm>
              <a:off x="5601551" y="2349544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6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7"/>
            <p:cNvSpPr>
              <a:spLocks noChangeShapeType="1"/>
            </p:cNvSpPr>
            <p:nvPr/>
          </p:nvSpPr>
          <p:spPr bwMode="auto">
            <a:xfrm>
              <a:off x="6040892" y="1882642"/>
              <a:ext cx="1553976" cy="618899"/>
            </a:xfrm>
            <a:prstGeom prst="line">
              <a:avLst/>
            </a:prstGeom>
            <a:noFill/>
            <a:ln w="44450">
              <a:solidFill>
                <a:srgbClr val="C0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7"/>
            <p:cNvSpPr>
              <a:spLocks noChangeShapeType="1"/>
            </p:cNvSpPr>
            <p:nvPr/>
          </p:nvSpPr>
          <p:spPr bwMode="auto">
            <a:xfrm>
              <a:off x="6040891" y="2118850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7"/>
            <p:cNvSpPr>
              <a:spLocks noChangeShapeType="1"/>
            </p:cNvSpPr>
            <p:nvPr/>
          </p:nvSpPr>
          <p:spPr bwMode="auto">
            <a:xfrm>
              <a:off x="6040891" y="235605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7"/>
            <p:cNvSpPr>
              <a:spLocks noChangeShapeType="1"/>
            </p:cNvSpPr>
            <p:nvPr/>
          </p:nvSpPr>
          <p:spPr bwMode="auto">
            <a:xfrm>
              <a:off x="6040891" y="299631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Rectangle 26"/>
            <p:cNvSpPr>
              <a:spLocks noChangeArrowheads="1"/>
            </p:cNvSpPr>
            <p:nvPr/>
          </p:nvSpPr>
          <p:spPr bwMode="auto">
            <a:xfrm>
              <a:off x="5601551" y="2950274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6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Rectangle 29"/>
            <p:cNvSpPr>
              <a:spLocks noChangeArrowheads="1"/>
            </p:cNvSpPr>
            <p:nvPr/>
          </p:nvSpPr>
          <p:spPr bwMode="auto">
            <a:xfrm>
              <a:off x="5601551" y="3194192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6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Rectangle 29"/>
            <p:cNvSpPr>
              <a:spLocks noChangeArrowheads="1"/>
            </p:cNvSpPr>
            <p:nvPr/>
          </p:nvSpPr>
          <p:spPr bwMode="auto">
            <a:xfrm>
              <a:off x="5601551" y="3430728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6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7"/>
            <p:cNvSpPr>
              <a:spLocks noChangeShapeType="1"/>
            </p:cNvSpPr>
            <p:nvPr/>
          </p:nvSpPr>
          <p:spPr bwMode="auto">
            <a:xfrm>
              <a:off x="6040891" y="3245283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7"/>
            <p:cNvSpPr>
              <a:spLocks noChangeShapeType="1"/>
            </p:cNvSpPr>
            <p:nvPr/>
          </p:nvSpPr>
          <p:spPr bwMode="auto">
            <a:xfrm>
              <a:off x="6040891" y="3481095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左大括号 44"/>
            <p:cNvSpPr/>
            <p:nvPr/>
          </p:nvSpPr>
          <p:spPr>
            <a:xfrm>
              <a:off x="5412205" y="2085783"/>
              <a:ext cx="111710" cy="1337346"/>
            </a:xfrm>
            <a:prstGeom prst="leftBrac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Rectangle 32"/>
            <p:cNvSpPr>
              <a:spLocks noChangeArrowheads="1"/>
            </p:cNvSpPr>
            <p:nvPr/>
          </p:nvSpPr>
          <p:spPr bwMode="auto">
            <a:xfrm>
              <a:off x="4996290" y="2010503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计时</a:t>
              </a:r>
              <a:endParaRPr lang="en-US" altLang="zh-CN" sz="7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Rectangle 29"/>
            <p:cNvSpPr>
              <a:spLocks noChangeArrowheads="1"/>
            </p:cNvSpPr>
            <p:nvPr/>
          </p:nvSpPr>
          <p:spPr bwMode="auto">
            <a:xfrm>
              <a:off x="5601551" y="3674473"/>
              <a:ext cx="439806" cy="21669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6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6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Line 7"/>
            <p:cNvSpPr>
              <a:spLocks noChangeShapeType="1"/>
            </p:cNvSpPr>
            <p:nvPr/>
          </p:nvSpPr>
          <p:spPr bwMode="auto">
            <a:xfrm>
              <a:off x="6040891" y="3762273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27"/>
            <p:cNvSpPr>
              <a:spLocks noChangeShapeType="1"/>
            </p:cNvSpPr>
            <p:nvPr/>
          </p:nvSpPr>
          <p:spPr bwMode="auto">
            <a:xfrm flipH="1">
              <a:off x="6076470" y="2313736"/>
              <a:ext cx="1506581" cy="40206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27"/>
            <p:cNvSpPr>
              <a:spLocks noChangeShapeType="1"/>
            </p:cNvSpPr>
            <p:nvPr/>
          </p:nvSpPr>
          <p:spPr bwMode="auto">
            <a:xfrm flipH="1">
              <a:off x="6076470" y="2519548"/>
              <a:ext cx="1506581" cy="40206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Rectangle 32"/>
            <p:cNvSpPr>
              <a:spLocks noChangeArrowheads="1"/>
            </p:cNvSpPr>
            <p:nvPr/>
          </p:nvSpPr>
          <p:spPr bwMode="auto">
            <a:xfrm>
              <a:off x="6118994" y="2508666"/>
              <a:ext cx="433797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ack</a:t>
              </a:r>
              <a:r>
                <a:rPr lang="en-US" altLang="zh-CN" sz="600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800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Rectangle 32"/>
            <p:cNvSpPr>
              <a:spLocks noChangeArrowheads="1"/>
            </p:cNvSpPr>
            <p:nvPr/>
          </p:nvSpPr>
          <p:spPr bwMode="auto">
            <a:xfrm>
              <a:off x="6118994" y="2745985"/>
              <a:ext cx="433797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6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ack</a:t>
              </a:r>
              <a:r>
                <a:rPr lang="en-US" altLang="zh-CN" sz="600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800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Rectangle 32"/>
            <p:cNvSpPr>
              <a:spLocks noChangeArrowheads="1"/>
            </p:cNvSpPr>
            <p:nvPr/>
          </p:nvSpPr>
          <p:spPr bwMode="auto">
            <a:xfrm>
              <a:off x="7511549" y="2885133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弃</a:t>
              </a:r>
              <a:endParaRPr lang="en-US" altLang="zh-CN" sz="7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Rectangle 32"/>
            <p:cNvSpPr>
              <a:spLocks noChangeArrowheads="1"/>
            </p:cNvSpPr>
            <p:nvPr/>
          </p:nvSpPr>
          <p:spPr bwMode="auto">
            <a:xfrm>
              <a:off x="7511549" y="2638923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弃</a:t>
              </a:r>
              <a:endParaRPr lang="en-US" altLang="zh-CN" sz="7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Rectangle 32"/>
            <p:cNvSpPr>
              <a:spLocks noChangeArrowheads="1"/>
            </p:cNvSpPr>
            <p:nvPr/>
          </p:nvSpPr>
          <p:spPr bwMode="auto">
            <a:xfrm>
              <a:off x="7511549" y="2363475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错</a:t>
              </a:r>
              <a:endParaRPr lang="en-US" altLang="zh-CN" sz="7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6644482" y="3209622"/>
            <a:ext cx="1552126" cy="1612927"/>
            <a:chOff x="4572000" y="1275606"/>
            <a:chExt cx="3352540" cy="3483868"/>
          </a:xfrm>
        </p:grpSpPr>
        <p:sp>
          <p:nvSpPr>
            <p:cNvPr id="57" name="Line 5"/>
            <p:cNvSpPr>
              <a:spLocks noChangeShapeType="1"/>
            </p:cNvSpPr>
            <p:nvPr/>
          </p:nvSpPr>
          <p:spPr bwMode="auto">
            <a:xfrm>
              <a:off x="6034424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58" name="Line 6"/>
            <p:cNvSpPr>
              <a:spLocks noChangeShapeType="1"/>
            </p:cNvSpPr>
            <p:nvPr/>
          </p:nvSpPr>
          <p:spPr bwMode="auto">
            <a:xfrm>
              <a:off x="7601801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59" name="Line 7"/>
            <p:cNvSpPr>
              <a:spLocks noChangeShapeType="1"/>
            </p:cNvSpPr>
            <p:nvPr/>
          </p:nvSpPr>
          <p:spPr bwMode="auto">
            <a:xfrm>
              <a:off x="6040891" y="1653034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60" name="Rectangle 9"/>
            <p:cNvSpPr>
              <a:spLocks noChangeArrowheads="1"/>
            </p:cNvSpPr>
            <p:nvPr/>
          </p:nvSpPr>
          <p:spPr bwMode="auto">
            <a:xfrm>
              <a:off x="5716446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A</a:t>
              </a:r>
              <a:endParaRPr lang="en-US" altLang="zh-CN" sz="700" dirty="0"/>
            </a:p>
          </p:txBody>
        </p:sp>
        <p:sp>
          <p:nvSpPr>
            <p:cNvPr id="61" name="Rectangle 10"/>
            <p:cNvSpPr>
              <a:spLocks noChangeArrowheads="1"/>
            </p:cNvSpPr>
            <p:nvPr/>
          </p:nvSpPr>
          <p:spPr bwMode="auto">
            <a:xfrm>
              <a:off x="7275650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B</a:t>
              </a:r>
              <a:endParaRPr lang="en-US" altLang="zh-CN" sz="700" dirty="0"/>
            </a:p>
          </p:txBody>
        </p:sp>
        <p:sp>
          <p:nvSpPr>
            <p:cNvPr id="62" name="Rectangle 26"/>
            <p:cNvSpPr>
              <a:spLocks noChangeArrowheads="1"/>
            </p:cNvSpPr>
            <p:nvPr/>
          </p:nvSpPr>
          <p:spPr bwMode="auto">
            <a:xfrm>
              <a:off x="5601551" y="1869090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pkt</a:t>
              </a:r>
              <a:r>
                <a:rPr lang="en-US" altLang="zh-CN" sz="700" baseline="-25000" dirty="0"/>
                <a:t>1</a:t>
              </a:r>
              <a:endParaRPr lang="en-US" altLang="zh-CN" sz="700" baseline="-25000" dirty="0"/>
            </a:p>
          </p:txBody>
        </p:sp>
        <p:sp>
          <p:nvSpPr>
            <p:cNvPr id="63" name="Line 27"/>
            <p:cNvSpPr>
              <a:spLocks noChangeShapeType="1"/>
            </p:cNvSpPr>
            <p:nvPr/>
          </p:nvSpPr>
          <p:spPr bwMode="auto">
            <a:xfrm flipH="1">
              <a:off x="6027491" y="2310871"/>
              <a:ext cx="1518277" cy="56886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64" name="Rectangle 29"/>
            <p:cNvSpPr>
              <a:spLocks noChangeArrowheads="1"/>
            </p:cNvSpPr>
            <p:nvPr/>
          </p:nvSpPr>
          <p:spPr bwMode="auto">
            <a:xfrm>
              <a:off x="5601551" y="2113008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pkt</a:t>
              </a:r>
              <a:r>
                <a:rPr lang="en-US" altLang="zh-CN" sz="700" baseline="-25000" dirty="0"/>
                <a:t>2</a:t>
              </a:r>
              <a:endParaRPr lang="en-US" altLang="zh-CN" sz="700" baseline="-25000" dirty="0"/>
            </a:p>
          </p:txBody>
        </p:sp>
        <p:sp>
          <p:nvSpPr>
            <p:cNvPr id="65" name="Rectangle 32"/>
            <p:cNvSpPr>
              <a:spLocks noChangeArrowheads="1"/>
            </p:cNvSpPr>
            <p:nvPr/>
          </p:nvSpPr>
          <p:spPr bwMode="auto">
            <a:xfrm>
              <a:off x="5601551" y="1626685"/>
              <a:ext cx="439806" cy="2166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pkt</a:t>
              </a:r>
              <a:r>
                <a:rPr lang="en-US" altLang="zh-CN" sz="700" baseline="-25000" dirty="0"/>
                <a:t>0</a:t>
              </a:r>
              <a:endParaRPr lang="en-US" altLang="zh-CN" sz="700" baseline="-25000" dirty="0"/>
            </a:p>
          </p:txBody>
        </p:sp>
        <p:sp>
          <p:nvSpPr>
            <p:cNvPr id="66" name="Rectangle 29"/>
            <p:cNvSpPr>
              <a:spLocks noChangeArrowheads="1"/>
            </p:cNvSpPr>
            <p:nvPr/>
          </p:nvSpPr>
          <p:spPr bwMode="auto">
            <a:xfrm>
              <a:off x="5601551" y="2349544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pkt</a:t>
              </a:r>
              <a:r>
                <a:rPr lang="en-US" altLang="zh-CN" sz="700" baseline="-25000" dirty="0"/>
                <a:t>3</a:t>
              </a:r>
              <a:endParaRPr lang="en-US" altLang="zh-CN" sz="700" baseline="-25000" dirty="0"/>
            </a:p>
          </p:txBody>
        </p:sp>
        <p:sp>
          <p:nvSpPr>
            <p:cNvPr id="67" name="Line 7"/>
            <p:cNvSpPr>
              <a:spLocks noChangeShapeType="1"/>
            </p:cNvSpPr>
            <p:nvPr/>
          </p:nvSpPr>
          <p:spPr bwMode="auto">
            <a:xfrm>
              <a:off x="6040892" y="1882642"/>
              <a:ext cx="765173" cy="304744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68" name="Line 7"/>
            <p:cNvSpPr>
              <a:spLocks noChangeShapeType="1"/>
            </p:cNvSpPr>
            <p:nvPr/>
          </p:nvSpPr>
          <p:spPr bwMode="auto">
            <a:xfrm>
              <a:off x="6040891" y="2118850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69" name="Line 7"/>
            <p:cNvSpPr>
              <a:spLocks noChangeShapeType="1"/>
            </p:cNvSpPr>
            <p:nvPr/>
          </p:nvSpPr>
          <p:spPr bwMode="auto">
            <a:xfrm>
              <a:off x="6040891" y="235605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70" name="Rectangle 32"/>
            <p:cNvSpPr>
              <a:spLocks noChangeArrowheads="1"/>
            </p:cNvSpPr>
            <p:nvPr/>
          </p:nvSpPr>
          <p:spPr bwMode="auto">
            <a:xfrm>
              <a:off x="6650776" y="2084117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800" dirty="0">
                  <a:solidFill>
                    <a:srgbClr val="FF0000"/>
                  </a:solidFill>
                  <a:latin typeface="+mj-ea"/>
                  <a:ea typeface="+mj-ea"/>
                </a:rPr>
                <a:t>失</a:t>
              </a:r>
              <a:endParaRPr lang="en-US" altLang="zh-CN" sz="800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71" name="Line 7"/>
            <p:cNvSpPr>
              <a:spLocks noChangeShapeType="1"/>
            </p:cNvSpPr>
            <p:nvPr/>
          </p:nvSpPr>
          <p:spPr bwMode="auto">
            <a:xfrm>
              <a:off x="6040891" y="3387908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72" name="Rectangle 26"/>
            <p:cNvSpPr>
              <a:spLocks noChangeArrowheads="1"/>
            </p:cNvSpPr>
            <p:nvPr/>
          </p:nvSpPr>
          <p:spPr bwMode="auto">
            <a:xfrm>
              <a:off x="5601551" y="3341871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pkt</a:t>
              </a:r>
              <a:r>
                <a:rPr lang="en-US" altLang="zh-CN" sz="700" baseline="-25000" dirty="0"/>
                <a:t>1</a:t>
              </a:r>
              <a:endParaRPr lang="en-US" altLang="zh-CN" sz="700" baseline="-25000" dirty="0"/>
            </a:p>
          </p:txBody>
        </p:sp>
        <p:sp>
          <p:nvSpPr>
            <p:cNvPr id="73" name="左大括号 72"/>
            <p:cNvSpPr/>
            <p:nvPr/>
          </p:nvSpPr>
          <p:spPr>
            <a:xfrm>
              <a:off x="5396315" y="2085784"/>
              <a:ext cx="128595" cy="1256087"/>
            </a:xfrm>
            <a:prstGeom prst="leftBrac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700"/>
            </a:p>
          </p:txBody>
        </p:sp>
        <p:sp>
          <p:nvSpPr>
            <p:cNvPr id="74" name="Rectangle 32"/>
            <p:cNvSpPr>
              <a:spLocks noChangeArrowheads="1"/>
            </p:cNvSpPr>
            <p:nvPr/>
          </p:nvSpPr>
          <p:spPr bwMode="auto">
            <a:xfrm>
              <a:off x="4572000" y="3273159"/>
              <a:ext cx="881143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800" dirty="0">
                  <a:solidFill>
                    <a:srgbClr val="FF0000"/>
                  </a:solidFill>
                </a:rPr>
                <a:t>pkt</a:t>
              </a:r>
              <a:r>
                <a:rPr lang="en-US" altLang="zh-CN" sz="800" baseline="-25000" dirty="0">
                  <a:solidFill>
                    <a:srgbClr val="FF0000"/>
                  </a:solidFill>
                </a:rPr>
                <a:t>1</a:t>
              </a:r>
              <a:r>
                <a:rPr lang="zh-CN" altLang="en-US" sz="800" dirty="0">
                  <a:solidFill>
                    <a:srgbClr val="FF0000"/>
                  </a:solidFill>
                  <a:latin typeface="+mj-ea"/>
                  <a:ea typeface="+mj-ea"/>
                </a:rPr>
                <a:t>超时</a:t>
              </a:r>
              <a:endParaRPr lang="en-US" altLang="zh-CN" sz="800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75" name="Rectangle 29"/>
            <p:cNvSpPr>
              <a:spLocks noChangeArrowheads="1"/>
            </p:cNvSpPr>
            <p:nvPr/>
          </p:nvSpPr>
          <p:spPr bwMode="auto">
            <a:xfrm>
              <a:off x="5601551" y="3611275"/>
              <a:ext cx="439806" cy="21669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/>
                <a:t>pkt</a:t>
              </a:r>
              <a:r>
                <a:rPr lang="en-US" altLang="zh-CN" sz="700" baseline="-25000" dirty="0"/>
                <a:t>4</a:t>
              </a:r>
              <a:endParaRPr lang="en-US" altLang="zh-CN" sz="700" baseline="-25000" dirty="0"/>
            </a:p>
          </p:txBody>
        </p:sp>
        <p:sp>
          <p:nvSpPr>
            <p:cNvPr id="76" name="Rectangle 32"/>
            <p:cNvSpPr>
              <a:spLocks noChangeArrowheads="1"/>
            </p:cNvSpPr>
            <p:nvPr/>
          </p:nvSpPr>
          <p:spPr bwMode="auto">
            <a:xfrm>
              <a:off x="6167417" y="2645328"/>
              <a:ext cx="433797" cy="21669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>
                  <a:solidFill>
                    <a:srgbClr val="0000FF"/>
                  </a:solidFill>
                </a:rPr>
                <a:t>ack</a:t>
              </a:r>
              <a:r>
                <a:rPr lang="en-US" altLang="zh-CN" sz="700" baseline="-25000" dirty="0">
                  <a:solidFill>
                    <a:srgbClr val="0000FF"/>
                  </a:solidFill>
                </a:rPr>
                <a:t>0</a:t>
              </a:r>
              <a:endParaRPr lang="en-US" altLang="zh-CN" sz="9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77" name="Rectangle 32"/>
            <p:cNvSpPr>
              <a:spLocks noChangeArrowheads="1"/>
            </p:cNvSpPr>
            <p:nvPr/>
          </p:nvSpPr>
          <p:spPr bwMode="auto">
            <a:xfrm>
              <a:off x="5013337" y="1997292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800" dirty="0">
                  <a:solidFill>
                    <a:srgbClr val="FF0000"/>
                  </a:solidFill>
                  <a:latin typeface="+mj-ea"/>
                  <a:ea typeface="+mj-ea"/>
                </a:rPr>
                <a:t>计时</a:t>
              </a:r>
              <a:endParaRPr lang="en-US" altLang="zh-CN" sz="800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78" name="Line 27"/>
            <p:cNvSpPr>
              <a:spLocks noChangeShapeType="1"/>
            </p:cNvSpPr>
            <p:nvPr/>
          </p:nvSpPr>
          <p:spPr bwMode="auto">
            <a:xfrm flipH="1">
              <a:off x="6027491" y="2759395"/>
              <a:ext cx="1518277" cy="56886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79" name="Line 27"/>
            <p:cNvSpPr>
              <a:spLocks noChangeShapeType="1"/>
            </p:cNvSpPr>
            <p:nvPr/>
          </p:nvSpPr>
          <p:spPr bwMode="auto">
            <a:xfrm flipH="1">
              <a:off x="6027491" y="3015306"/>
              <a:ext cx="1518277" cy="56886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  <p:sp>
          <p:nvSpPr>
            <p:cNvPr id="80" name="Rectangle 32"/>
            <p:cNvSpPr>
              <a:spLocks noChangeArrowheads="1"/>
            </p:cNvSpPr>
            <p:nvPr/>
          </p:nvSpPr>
          <p:spPr bwMode="auto">
            <a:xfrm>
              <a:off x="6344838" y="2984913"/>
              <a:ext cx="433797" cy="21669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>
                  <a:solidFill>
                    <a:srgbClr val="0000FF"/>
                  </a:solidFill>
                </a:rPr>
                <a:t>ack</a:t>
              </a:r>
              <a:r>
                <a:rPr lang="en-US" altLang="zh-CN" sz="700" baseline="-25000" dirty="0">
                  <a:solidFill>
                    <a:srgbClr val="0000FF"/>
                  </a:solidFill>
                </a:rPr>
                <a:t>2</a:t>
              </a:r>
              <a:endParaRPr lang="en-US" altLang="zh-CN" sz="9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81" name="Rectangle 32"/>
            <p:cNvSpPr>
              <a:spLocks noChangeArrowheads="1"/>
            </p:cNvSpPr>
            <p:nvPr/>
          </p:nvSpPr>
          <p:spPr bwMode="auto">
            <a:xfrm>
              <a:off x="6423478" y="3291107"/>
              <a:ext cx="433797" cy="21669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700" dirty="0">
                  <a:solidFill>
                    <a:srgbClr val="0000FF"/>
                  </a:solidFill>
                </a:rPr>
                <a:t>ack</a:t>
              </a:r>
              <a:r>
                <a:rPr lang="en-US" altLang="zh-CN" sz="700" baseline="-25000" dirty="0">
                  <a:solidFill>
                    <a:srgbClr val="0000FF"/>
                  </a:solidFill>
                </a:rPr>
                <a:t>3</a:t>
              </a:r>
              <a:endParaRPr lang="en-US" altLang="zh-CN" sz="9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82" name="Line 7"/>
            <p:cNvSpPr>
              <a:spLocks noChangeShapeType="1"/>
            </p:cNvSpPr>
            <p:nvPr/>
          </p:nvSpPr>
          <p:spPr bwMode="auto">
            <a:xfrm>
              <a:off x="6028240" y="363014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700"/>
            </a:p>
          </p:txBody>
        </p:sp>
      </p:grpSp>
      <p:sp>
        <p:nvSpPr>
          <p:cNvPr id="8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10501" y="907307"/>
            <a:ext cx="5256583" cy="4084022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effectLst/>
              </a:rPr>
              <a:t>知识点</a:t>
            </a:r>
            <a:r>
              <a:rPr lang="en-US" altLang="zh-CN" dirty="0">
                <a:effectLst/>
              </a:rPr>
              <a:t>4</a:t>
            </a:r>
            <a:r>
              <a:rPr lang="zh-CN" altLang="en-US" dirty="0">
                <a:effectLst/>
              </a:rPr>
              <a:t>：</a:t>
            </a:r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可靠传输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/>
              <a:t>可靠的字节流传输</a:t>
            </a:r>
            <a:endParaRPr lang="en-US" altLang="zh-CN" dirty="0"/>
          </a:p>
          <a:p>
            <a:pPr lvl="1"/>
            <a:r>
              <a:rPr lang="zh-CN" altLang="en-US" dirty="0"/>
              <a:t>序号</a:t>
            </a:r>
            <a:r>
              <a:rPr lang="en-US" altLang="zh-CN" dirty="0"/>
              <a:t>/</a:t>
            </a:r>
            <a:r>
              <a:rPr lang="zh-CN" altLang="en-US" dirty="0"/>
              <a:t>确认号的设定机制</a:t>
            </a:r>
            <a:endParaRPr lang="en-US" altLang="zh-CN" dirty="0"/>
          </a:p>
          <a:p>
            <a:pPr lvl="1"/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确认和重传策略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延迟确认</a:t>
            </a:r>
            <a:endParaRPr lang="en-US" altLang="zh-CN" dirty="0"/>
          </a:p>
          <a:p>
            <a:pPr lvl="2"/>
            <a:r>
              <a:rPr lang="zh-CN" altLang="en-US" dirty="0">
                <a:effectLst/>
              </a:rPr>
              <a:t>累积确认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重复确认</a:t>
            </a:r>
            <a:endParaRPr lang="en-US" altLang="zh-CN" dirty="0"/>
          </a:p>
          <a:p>
            <a:pPr lvl="2"/>
            <a:r>
              <a:rPr lang="zh-CN" altLang="en-US" dirty="0">
                <a:effectLst/>
              </a:rPr>
              <a:t>立即确认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快速重传</a:t>
            </a:r>
            <a:endParaRPr lang="en-US" altLang="zh-CN" dirty="0"/>
          </a:p>
          <a:p>
            <a:pPr lvl="2"/>
            <a:r>
              <a:rPr lang="zh-CN" altLang="en-US" dirty="0">
                <a:effectLst/>
              </a:rPr>
              <a:t>加倍超时</a:t>
            </a:r>
            <a:endParaRPr lang="en-US" altLang="zh-CN" dirty="0">
              <a:effectLst/>
            </a:endParaRPr>
          </a:p>
          <a:p>
            <a:pPr lvl="1"/>
            <a:endParaRPr lang="en-US" altLang="zh-CN" dirty="0">
              <a:effectLst/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章复习总结</a:t>
            </a:r>
            <a:endParaRPr lang="en-US" altLang="zh-CN" dirty="0"/>
          </a:p>
        </p:txBody>
      </p:sp>
      <p:grpSp>
        <p:nvGrpSpPr>
          <p:cNvPr id="83" name="组合 82"/>
          <p:cNvGrpSpPr/>
          <p:nvPr/>
        </p:nvGrpSpPr>
        <p:grpSpPr>
          <a:xfrm>
            <a:off x="4939836" y="1424779"/>
            <a:ext cx="3016540" cy="2762250"/>
            <a:chOff x="4939836" y="1424779"/>
            <a:chExt cx="3016540" cy="2762250"/>
          </a:xfrm>
        </p:grpSpPr>
        <p:sp>
          <p:nvSpPr>
            <p:cNvPr id="84" name="Line 4"/>
            <p:cNvSpPr>
              <a:spLocks noChangeShapeType="1"/>
            </p:cNvSpPr>
            <p:nvPr/>
          </p:nvSpPr>
          <p:spPr bwMode="auto">
            <a:xfrm>
              <a:off x="5615607" y="2387995"/>
              <a:ext cx="1939528" cy="43730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85" name="Text Box 13"/>
            <p:cNvSpPr txBox="1">
              <a:spLocks noChangeArrowheads="1"/>
            </p:cNvSpPr>
            <p:nvPr/>
          </p:nvSpPr>
          <p:spPr bwMode="auto">
            <a:xfrm>
              <a:off x="7246763" y="1424779"/>
              <a:ext cx="631904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 dirty="0"/>
                <a:t>Host B</a:t>
              </a:r>
              <a:endParaRPr lang="en-US" sz="1200" dirty="0"/>
            </a:p>
          </p:txBody>
        </p:sp>
        <p:sp>
          <p:nvSpPr>
            <p:cNvPr id="86" name="Text Box 17"/>
            <p:cNvSpPr txBox="1">
              <a:spLocks noChangeArrowheads="1"/>
            </p:cNvSpPr>
            <p:nvPr/>
          </p:nvSpPr>
          <p:spPr bwMode="auto">
            <a:xfrm>
              <a:off x="5319142" y="1429542"/>
              <a:ext cx="633507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/>
                <a:t>Host A</a:t>
              </a:r>
              <a:endParaRPr lang="en-US" sz="1200"/>
            </a:p>
          </p:txBody>
        </p:sp>
        <p:sp>
          <p:nvSpPr>
            <p:cNvPr id="87" name="Line 24"/>
            <p:cNvSpPr>
              <a:spLocks noChangeShapeType="1"/>
            </p:cNvSpPr>
            <p:nvPr/>
          </p:nvSpPr>
          <p:spPr bwMode="auto">
            <a:xfrm>
              <a:off x="5598938" y="2207019"/>
              <a:ext cx="0" cy="1940719"/>
            </a:xfrm>
            <a:prstGeom prst="line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prstDash val="lgDash"/>
              <a:round/>
            </a:ln>
            <a:effectLst/>
          </p:spPr>
          <p:txBody>
            <a:bodyPr wrap="none"/>
            <a:lstStyle/>
            <a:p>
              <a:endParaRPr lang="en-US" sz="135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88" name="Line 25"/>
            <p:cNvSpPr>
              <a:spLocks noChangeShapeType="1"/>
            </p:cNvSpPr>
            <p:nvPr/>
          </p:nvSpPr>
          <p:spPr bwMode="auto">
            <a:xfrm>
              <a:off x="7595616" y="2246310"/>
              <a:ext cx="0" cy="1940719"/>
            </a:xfrm>
            <a:prstGeom prst="line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prstDash val="lgDash"/>
              <a:round/>
            </a:ln>
            <a:effectLst/>
          </p:spPr>
          <p:txBody>
            <a:bodyPr wrap="none"/>
            <a:lstStyle/>
            <a:p>
              <a:endParaRPr lang="en-US" sz="135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grpSp>
          <p:nvGrpSpPr>
            <p:cNvPr id="89" name="Group 27"/>
            <p:cNvGrpSpPr/>
            <p:nvPr/>
          </p:nvGrpSpPr>
          <p:grpSpPr bwMode="auto">
            <a:xfrm>
              <a:off x="5217938" y="1591467"/>
              <a:ext cx="566738" cy="586978"/>
              <a:chOff x="-44" y="1473"/>
              <a:chExt cx="981" cy="1105"/>
            </a:xfrm>
          </p:grpSpPr>
          <p:pic>
            <p:nvPicPr>
              <p:cNvPr id="107" name="Picture 2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8" name="Freeform 29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90" name="Group 30"/>
            <p:cNvGrpSpPr/>
            <p:nvPr/>
          </p:nvGrpSpPr>
          <p:grpSpPr bwMode="auto">
            <a:xfrm flipH="1">
              <a:off x="7364635" y="1621232"/>
              <a:ext cx="591741" cy="646510"/>
              <a:chOff x="-44" y="1473"/>
              <a:chExt cx="981" cy="1105"/>
            </a:xfrm>
          </p:grpSpPr>
          <p:pic>
            <p:nvPicPr>
              <p:cNvPr id="105" name="Picture 3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Freeform 32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sp>
          <p:nvSpPr>
            <p:cNvPr id="91" name="Line 4"/>
            <p:cNvSpPr>
              <a:spLocks noChangeShapeType="1"/>
            </p:cNvSpPr>
            <p:nvPr/>
          </p:nvSpPr>
          <p:spPr bwMode="auto">
            <a:xfrm>
              <a:off x="5615607" y="2315366"/>
              <a:ext cx="1939528" cy="42862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92" name="Line 4"/>
            <p:cNvSpPr>
              <a:spLocks noChangeShapeType="1"/>
            </p:cNvSpPr>
            <p:nvPr/>
          </p:nvSpPr>
          <p:spPr bwMode="auto">
            <a:xfrm>
              <a:off x="5615607" y="2252463"/>
              <a:ext cx="1347787" cy="2978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prstDash val="solid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93" name="Line 4"/>
            <p:cNvSpPr>
              <a:spLocks noChangeShapeType="1"/>
            </p:cNvSpPr>
            <p:nvPr/>
          </p:nvSpPr>
          <p:spPr bwMode="auto">
            <a:xfrm>
              <a:off x="5615607" y="2184002"/>
              <a:ext cx="1939528" cy="42862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94" name="Line 10"/>
            <p:cNvSpPr>
              <a:spLocks noChangeShapeType="1"/>
            </p:cNvSpPr>
            <p:nvPr/>
          </p:nvSpPr>
          <p:spPr bwMode="auto">
            <a:xfrm flipH="1">
              <a:off x="5608463" y="2759473"/>
              <a:ext cx="1939528" cy="541735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95" name="Line 10"/>
            <p:cNvSpPr>
              <a:spLocks noChangeShapeType="1"/>
            </p:cNvSpPr>
            <p:nvPr/>
          </p:nvSpPr>
          <p:spPr bwMode="auto">
            <a:xfrm flipH="1">
              <a:off x="5608463" y="2922789"/>
              <a:ext cx="1939528" cy="541735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96" name="Line 4"/>
            <p:cNvSpPr>
              <a:spLocks noChangeShapeType="1"/>
            </p:cNvSpPr>
            <p:nvPr/>
          </p:nvSpPr>
          <p:spPr bwMode="auto">
            <a:xfrm>
              <a:off x="5615607" y="2473767"/>
              <a:ext cx="1939528" cy="42862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97" name="Line 10"/>
            <p:cNvSpPr>
              <a:spLocks noChangeShapeType="1"/>
            </p:cNvSpPr>
            <p:nvPr/>
          </p:nvSpPr>
          <p:spPr bwMode="auto">
            <a:xfrm flipH="1">
              <a:off x="5608463" y="2848770"/>
              <a:ext cx="1939528" cy="541735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 rot="20712716">
              <a:off x="6244710" y="2976599"/>
              <a:ext cx="723275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rgbClr val="C00000"/>
                  </a:solidFill>
                  <a:latin typeface="+mj-ea"/>
                  <a:ea typeface="+mj-ea"/>
                </a:rPr>
                <a:t>重复确认</a:t>
              </a:r>
              <a:endParaRPr lang="zh-CN" altLang="en-US" sz="1050" dirty="0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  <p:sp>
          <p:nvSpPr>
            <p:cNvPr id="99" name="Line 10"/>
            <p:cNvSpPr>
              <a:spLocks noChangeShapeType="1"/>
            </p:cNvSpPr>
            <p:nvPr/>
          </p:nvSpPr>
          <p:spPr bwMode="auto">
            <a:xfrm flipH="1">
              <a:off x="5608463" y="2622945"/>
              <a:ext cx="1939528" cy="541735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100" name="右大括号 99"/>
            <p:cNvSpPr/>
            <p:nvPr/>
          </p:nvSpPr>
          <p:spPr>
            <a:xfrm rot="10800000">
              <a:off x="5220422" y="2253446"/>
              <a:ext cx="239001" cy="1561636"/>
            </a:xfrm>
            <a:prstGeom prst="rightBrace">
              <a:avLst/>
            </a:prstGeom>
            <a:ln w="19050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1" name="Text Box 13"/>
            <p:cNvSpPr txBox="1">
              <a:spLocks noChangeArrowheads="1"/>
            </p:cNvSpPr>
            <p:nvPr/>
          </p:nvSpPr>
          <p:spPr bwMode="auto">
            <a:xfrm>
              <a:off x="4939836" y="3657607"/>
              <a:ext cx="492443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zh-CN" altLang="en-US" sz="1200" dirty="0">
                  <a:solidFill>
                    <a:srgbClr val="0066FF"/>
                  </a:solidFill>
                </a:rPr>
                <a:t>超时</a:t>
              </a:r>
              <a:endParaRPr lang="en-US" sz="1200" dirty="0">
                <a:solidFill>
                  <a:srgbClr val="0066FF"/>
                </a:solidFill>
              </a:endParaRPr>
            </a:p>
          </p:txBody>
        </p:sp>
        <p:sp>
          <p:nvSpPr>
            <p:cNvPr id="102" name="Line 4"/>
            <p:cNvSpPr>
              <a:spLocks noChangeShapeType="1"/>
            </p:cNvSpPr>
            <p:nvPr/>
          </p:nvSpPr>
          <p:spPr bwMode="auto">
            <a:xfrm>
              <a:off x="5615607" y="3487894"/>
              <a:ext cx="1980009" cy="327188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prstDash val="solid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103" name="Line 4"/>
            <p:cNvSpPr>
              <a:spLocks noChangeShapeType="1"/>
            </p:cNvSpPr>
            <p:nvPr/>
          </p:nvSpPr>
          <p:spPr bwMode="auto">
            <a:xfrm>
              <a:off x="5615607" y="3805387"/>
              <a:ext cx="1980009" cy="327188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cxnSp>
          <p:nvCxnSpPr>
            <p:cNvPr id="104" name="直接箭头连接符 103"/>
            <p:cNvCxnSpPr/>
            <p:nvPr/>
          </p:nvCxnSpPr>
          <p:spPr>
            <a:xfrm flipV="1">
              <a:off x="6585371" y="3718346"/>
              <a:ext cx="0" cy="1516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10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10501" y="907307"/>
            <a:ext cx="7673867" cy="4084022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effectLst/>
              </a:rPr>
              <a:t>知识点</a:t>
            </a:r>
            <a:r>
              <a:rPr lang="en-US" altLang="zh-CN" dirty="0">
                <a:effectLst/>
              </a:rPr>
              <a:t>5</a:t>
            </a:r>
            <a:r>
              <a:rPr lang="zh-CN" altLang="en-US" dirty="0">
                <a:effectLst/>
              </a:rPr>
              <a:t>：</a:t>
            </a:r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往返时延和超时时间间隔</a:t>
            </a:r>
            <a:endParaRPr lang="en-US" altLang="zh-CN" dirty="0">
              <a:effectLst/>
            </a:endParaRPr>
          </a:p>
          <a:p>
            <a:pPr lvl="1"/>
            <a:r>
              <a:rPr lang="en-US" altLang="zh-CN" dirty="0" err="1">
                <a:effectLst/>
              </a:rPr>
              <a:t>SampleRTT</a:t>
            </a:r>
            <a:r>
              <a:rPr lang="en-US" altLang="zh-CN" dirty="0">
                <a:effectLst/>
              </a:rPr>
              <a:t>: </a:t>
            </a:r>
            <a:r>
              <a:rPr lang="zh-CN" altLang="en-US" dirty="0">
                <a:effectLst/>
              </a:rPr>
              <a:t>在某个时刻测量出样本</a:t>
            </a:r>
            <a:endParaRPr lang="en-US" altLang="zh-CN" dirty="0">
              <a:effectLst/>
            </a:endParaRPr>
          </a:p>
          <a:p>
            <a:pPr lvl="1"/>
            <a:r>
              <a:rPr lang="en-US" altLang="zh-CN" dirty="0" err="1"/>
              <a:t>EstimatedRTT</a:t>
            </a:r>
            <a:r>
              <a:rPr lang="zh-CN" altLang="en-US" dirty="0"/>
              <a:t>：使用指数加权平均移动进行估计</a:t>
            </a:r>
            <a:endParaRPr lang="en-US" altLang="zh-CN" dirty="0"/>
          </a:p>
          <a:p>
            <a:pPr lvl="2"/>
            <a:r>
              <a:rPr lang="en-US" altLang="zh-CN" b="1" dirty="0" err="1">
                <a:latin typeface="Courier New" panose="02070309020205020404" charset="0"/>
              </a:rPr>
              <a:t>EstimatedRTT</a:t>
            </a:r>
            <a:r>
              <a:rPr lang="en-US" altLang="zh-CN" dirty="0">
                <a:solidFill>
                  <a:srgbClr val="0066CC"/>
                </a:solidFill>
              </a:rPr>
              <a:t> 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66CC"/>
                </a:solidFill>
              </a:rPr>
              <a:t> </a:t>
            </a:r>
            <a:r>
              <a:rPr lang="en-US" altLang="zh-CN" b="1" dirty="0">
                <a:latin typeface="Courier New" panose="02070309020205020404" charset="0"/>
              </a:rPr>
              <a:t>(1-</a:t>
            </a:r>
            <a:r>
              <a:rPr lang="en-US" altLang="zh-CN" b="1" dirty="0">
                <a:latin typeface="Courier New" panose="02070309020205020404" charset="0"/>
                <a:sym typeface="Symbol" panose="05050102010706020507" charset="0"/>
              </a:rPr>
              <a:t></a:t>
            </a:r>
            <a:r>
              <a:rPr lang="en-US" altLang="zh-CN" b="1" dirty="0">
                <a:latin typeface="Courier New" panose="02070309020205020404" charset="0"/>
              </a:rPr>
              <a:t>)*</a:t>
            </a:r>
            <a:r>
              <a:rPr lang="en-US" altLang="zh-CN" b="1" dirty="0" err="1">
                <a:latin typeface="Courier New" panose="02070309020205020404" charset="0"/>
              </a:rPr>
              <a:t>EstimatedRTT</a:t>
            </a:r>
            <a:r>
              <a:rPr lang="en-US" altLang="zh-CN" b="1" dirty="0">
                <a:latin typeface="Courier New" panose="02070309020205020404" charset="0"/>
              </a:rPr>
              <a:t> + </a:t>
            </a:r>
            <a:r>
              <a:rPr lang="en-US" altLang="zh-CN" b="1" dirty="0">
                <a:latin typeface="Courier New" panose="02070309020205020404" charset="0"/>
                <a:sym typeface="Symbol" panose="05050102010706020507" charset="0"/>
              </a:rPr>
              <a:t></a:t>
            </a:r>
            <a:r>
              <a:rPr lang="en-US" altLang="zh-CN" b="1" dirty="0">
                <a:latin typeface="Courier New" panose="02070309020205020404" charset="0"/>
              </a:rPr>
              <a:t>*</a:t>
            </a:r>
            <a:r>
              <a:rPr lang="en-US" altLang="zh-CN" b="1" dirty="0" err="1">
                <a:latin typeface="Courier New" panose="02070309020205020404" charset="0"/>
              </a:rPr>
              <a:t>SampleRTT</a:t>
            </a:r>
            <a:endParaRPr lang="en-US" altLang="zh-CN" b="1" dirty="0">
              <a:latin typeface="Courier New" panose="02070309020205020404" charset="0"/>
            </a:endParaRPr>
          </a:p>
          <a:p>
            <a:pPr lvl="1"/>
            <a:r>
              <a:rPr lang="en-US" altLang="zh-CN" dirty="0" err="1">
                <a:effectLst/>
              </a:rPr>
              <a:t>DevRTT</a:t>
            </a:r>
            <a:r>
              <a:rPr lang="zh-CN" altLang="en-US" dirty="0">
                <a:effectLst/>
              </a:rPr>
              <a:t>：计算偏差</a:t>
            </a:r>
            <a:endParaRPr lang="en-US" altLang="zh-CN" dirty="0">
              <a:effectLst/>
            </a:endParaRPr>
          </a:p>
          <a:p>
            <a:pPr lvl="2"/>
            <a:r>
              <a:rPr lang="en-US" altLang="zh-CN" b="1" dirty="0" err="1">
                <a:latin typeface="Courier New" panose="02070309020205020404" charset="0"/>
              </a:rPr>
              <a:t>DevRTT</a:t>
            </a:r>
            <a:r>
              <a:rPr lang="en-US" altLang="zh-CN" dirty="0">
                <a:solidFill>
                  <a:srgbClr val="0066CC"/>
                </a:solidFill>
              </a:rPr>
              <a:t> 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66CC"/>
                </a:solidFill>
              </a:rPr>
              <a:t> </a:t>
            </a:r>
            <a:r>
              <a:rPr lang="en-US" altLang="zh-CN" b="1" dirty="0">
                <a:latin typeface="Courier New" panose="02070309020205020404" charset="0"/>
              </a:rPr>
              <a:t>(1-</a:t>
            </a:r>
            <a:r>
              <a:rPr lang="en-US" altLang="zh-CN" b="1" dirty="0">
                <a:latin typeface="Courier New" panose="02070309020205020404" charset="0"/>
                <a:sym typeface="Symbol" panose="05050102010706020507" charset="0"/>
              </a:rPr>
              <a:t></a:t>
            </a:r>
            <a:r>
              <a:rPr lang="en-US" altLang="zh-CN" b="1" dirty="0">
                <a:latin typeface="Courier New" panose="02070309020205020404" charset="0"/>
              </a:rPr>
              <a:t>)*</a:t>
            </a:r>
            <a:r>
              <a:rPr lang="en-US" altLang="zh-CN" b="1" dirty="0" err="1">
                <a:latin typeface="Courier New" panose="02070309020205020404" charset="0"/>
              </a:rPr>
              <a:t>DevRTT</a:t>
            </a:r>
            <a:r>
              <a:rPr lang="en-US" altLang="zh-CN" b="1" dirty="0">
                <a:latin typeface="Courier New" panose="02070309020205020404" charset="0"/>
              </a:rPr>
              <a:t> + </a:t>
            </a:r>
            <a:r>
              <a:rPr lang="en-US" altLang="zh-CN" b="1" dirty="0">
                <a:latin typeface="Courier New" panose="02070309020205020404" charset="0"/>
                <a:sym typeface="Symbol" panose="05050102010706020507" charset="0"/>
              </a:rPr>
              <a:t></a:t>
            </a:r>
            <a:r>
              <a:rPr lang="en-US" altLang="zh-CN" b="1" dirty="0">
                <a:latin typeface="Courier New" panose="02070309020205020404" charset="0"/>
              </a:rPr>
              <a:t>*|</a:t>
            </a:r>
            <a:r>
              <a:rPr lang="en-US" altLang="zh-CN" b="1" dirty="0" err="1">
                <a:latin typeface="Courier New" panose="02070309020205020404" charset="0"/>
              </a:rPr>
              <a:t>SampleRTT-EstimatedRTT</a:t>
            </a:r>
            <a:r>
              <a:rPr lang="en-US" altLang="zh-CN" b="1" dirty="0">
                <a:latin typeface="Courier New" panose="02070309020205020404" charset="0"/>
              </a:rPr>
              <a:t>|</a:t>
            </a:r>
            <a:endParaRPr lang="en-US" altLang="zh-CN" b="1" dirty="0">
              <a:latin typeface="Courier New" panose="02070309020205020404" charset="0"/>
            </a:endParaRPr>
          </a:p>
          <a:p>
            <a:pPr lvl="1"/>
            <a:r>
              <a:rPr lang="en-US" altLang="zh-CN" dirty="0"/>
              <a:t>Timer</a:t>
            </a:r>
            <a:r>
              <a:rPr lang="zh-CN" altLang="en-US" dirty="0"/>
              <a:t>：根据估计和偏差设定时间间隔</a:t>
            </a:r>
            <a:endParaRPr lang="en-US" altLang="zh-CN" dirty="0"/>
          </a:p>
          <a:p>
            <a:pPr lvl="2"/>
            <a:r>
              <a:rPr lang="en-US" altLang="zh-CN" b="1" dirty="0" err="1">
                <a:latin typeface="Courier New" panose="02070309020205020404" charset="0"/>
                <a:ea typeface="MS PGothic" panose="020B0600070205080204" charset="-128"/>
              </a:rPr>
              <a:t>TimeoutInterval</a:t>
            </a:r>
            <a:r>
              <a:rPr lang="en-US" altLang="zh-CN" b="1" dirty="0">
                <a:latin typeface="Courier New" panose="02070309020205020404" charset="0"/>
                <a:ea typeface="MS PGothic" panose="020B0600070205080204" charset="-128"/>
              </a:rPr>
              <a:t> = </a:t>
            </a:r>
            <a:r>
              <a:rPr lang="en-US" altLang="zh-CN" b="1" dirty="0" err="1">
                <a:latin typeface="Courier New" panose="02070309020205020404" charset="0"/>
                <a:ea typeface="MS PGothic" panose="020B0600070205080204" charset="-128"/>
              </a:rPr>
              <a:t>EstimatedRTT</a:t>
            </a:r>
            <a:r>
              <a:rPr lang="en-US" altLang="zh-CN" b="1" dirty="0">
                <a:latin typeface="Courier New" panose="02070309020205020404" charset="0"/>
                <a:ea typeface="MS PGothic" panose="020B0600070205080204" charset="-128"/>
              </a:rPr>
              <a:t> + 4*</a:t>
            </a:r>
            <a:r>
              <a:rPr lang="en-US" altLang="zh-CN" b="1" dirty="0" err="1">
                <a:latin typeface="Courier New" panose="02070309020205020404" charset="0"/>
                <a:ea typeface="MS PGothic" panose="020B0600070205080204" charset="-128"/>
              </a:rPr>
              <a:t>DevRTT</a:t>
            </a:r>
            <a:endParaRPr lang="en-US" altLang="zh-CN" b="1" dirty="0">
              <a:latin typeface="Courier New" panose="02070309020205020404" charset="0"/>
              <a:ea typeface="MS PGothic" panose="020B0600070205080204" charset="-128"/>
            </a:endParaRPr>
          </a:p>
          <a:p>
            <a:pPr marL="685800" lvl="2" indent="0">
              <a:buNone/>
            </a:pPr>
            <a:endParaRPr lang="en-US" altLang="zh-CN" dirty="0">
              <a:effectLst/>
            </a:endParaRPr>
          </a:p>
          <a:p>
            <a:pPr lvl="1"/>
            <a:endParaRPr lang="en-US" altLang="zh-CN" dirty="0">
              <a:effectLst/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章复习总结</a:t>
            </a:r>
            <a:endParaRPr lang="en-US" altLang="zh-CN" dirty="0"/>
          </a:p>
        </p:txBody>
      </p:sp>
      <p:sp>
        <p:nvSpPr>
          <p:cNvPr id="30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10501" y="907307"/>
            <a:ext cx="7673867" cy="536010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  <a:effectLst/>
              </a:rPr>
              <a:t>知识点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6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：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数据封装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/>
            <a:endParaRPr lang="en-US" altLang="zh-CN" b="1" dirty="0">
              <a:latin typeface="Courier New" panose="02070309020205020404" charset="0"/>
              <a:ea typeface="MS PGothic" panose="020B0600070205080204" charset="-128"/>
            </a:endParaRPr>
          </a:p>
          <a:p>
            <a:pPr marL="685800" lvl="2" indent="0">
              <a:buNone/>
            </a:pPr>
            <a:endParaRPr lang="en-US" altLang="zh-CN" dirty="0">
              <a:effectLst/>
            </a:endParaRPr>
          </a:p>
          <a:p>
            <a:pPr lvl="1"/>
            <a:endParaRPr lang="en-US" altLang="zh-CN" dirty="0">
              <a:effectLst/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章复习总结</a:t>
            </a:r>
            <a:endParaRPr lang="en-US" altLang="zh-CN" dirty="0"/>
          </a:p>
        </p:txBody>
      </p:sp>
      <p:sp>
        <p:nvSpPr>
          <p:cNvPr id="4" name="Rectangle 82"/>
          <p:cNvSpPr>
            <a:spLocks noChangeArrowheads="1"/>
          </p:cNvSpPr>
          <p:nvPr/>
        </p:nvSpPr>
        <p:spPr bwMode="auto">
          <a:xfrm>
            <a:off x="4108274" y="3875452"/>
            <a:ext cx="2934460" cy="269054"/>
          </a:xfrm>
          <a:prstGeom prst="rect">
            <a:avLst/>
          </a:prstGeom>
          <a:solidFill>
            <a:srgbClr val="CCECFF"/>
          </a:solidFill>
          <a:ln w="349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85"/>
          <p:cNvSpPr>
            <a:spLocks noChangeArrowheads="1"/>
          </p:cNvSpPr>
          <p:nvPr/>
        </p:nvSpPr>
        <p:spPr bwMode="auto">
          <a:xfrm>
            <a:off x="3135531" y="3874143"/>
            <a:ext cx="958677" cy="270362"/>
          </a:xfrm>
          <a:prstGeom prst="rect">
            <a:avLst/>
          </a:prstGeom>
          <a:solidFill>
            <a:srgbClr val="FFFFCC"/>
          </a:solidFill>
          <a:ln w="349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90"/>
          <p:cNvSpPr>
            <a:spLocks noChangeArrowheads="1"/>
          </p:cNvSpPr>
          <p:nvPr/>
        </p:nvSpPr>
        <p:spPr bwMode="auto">
          <a:xfrm>
            <a:off x="3713665" y="4332248"/>
            <a:ext cx="1111243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kumimoji="1" lang="zh-CN" altLang="en-US" sz="105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  <a:endParaRPr kumimoji="1" lang="zh-CN" altLang="en-US" sz="105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868477" y="1476000"/>
            <a:ext cx="5714269" cy="2360572"/>
            <a:chOff x="1868477" y="1500917"/>
            <a:chExt cx="5714269" cy="2360572"/>
          </a:xfrm>
        </p:grpSpPr>
        <p:sp>
          <p:nvSpPr>
            <p:cNvPr id="8" name="Line 3"/>
            <p:cNvSpPr>
              <a:spLocks noChangeShapeType="1"/>
            </p:cNvSpPr>
            <p:nvPr/>
          </p:nvSpPr>
          <p:spPr bwMode="auto">
            <a:xfrm flipH="1">
              <a:off x="2066487" y="1926780"/>
              <a:ext cx="10820" cy="151582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1868477" y="2514959"/>
              <a:ext cx="367890" cy="3166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7195300" y="1923289"/>
              <a:ext cx="0" cy="127322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6924712" y="2373587"/>
              <a:ext cx="658034" cy="3166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2263416" y="1925907"/>
              <a:ext cx="4641900" cy="1519319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9"/>
            <p:cNvSpPr/>
            <p:nvPr/>
          </p:nvSpPr>
          <p:spPr bwMode="auto">
            <a:xfrm>
              <a:off x="2269909" y="3445226"/>
              <a:ext cx="4652721" cy="41626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2259088" y="2184217"/>
              <a:ext cx="46494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2267745" y="2439910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2259088" y="2694729"/>
              <a:ext cx="46494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2259088" y="2949549"/>
              <a:ext cx="46494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2267745" y="3205241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>
              <a:off x="4585449" y="1928525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5310407" y="1944476"/>
              <a:ext cx="916117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2256819" y="2712317"/>
              <a:ext cx="634482" cy="205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3007852" y="2962755"/>
              <a:ext cx="781465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3130121" y="3217080"/>
              <a:ext cx="1931421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3077101" y="1944476"/>
              <a:ext cx="701315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4317106" y="2196677"/>
              <a:ext cx="524783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4588694" y="2698220"/>
              <a:ext cx="0" cy="5035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Rectangle 23"/>
            <p:cNvSpPr>
              <a:spLocks noChangeArrowheads="1"/>
            </p:cNvSpPr>
            <p:nvPr/>
          </p:nvSpPr>
          <p:spPr bwMode="auto">
            <a:xfrm>
              <a:off x="5213025" y="2962755"/>
              <a:ext cx="1036343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Rectangle 24"/>
            <p:cNvSpPr>
              <a:spLocks noChangeArrowheads="1"/>
            </p:cNvSpPr>
            <p:nvPr/>
          </p:nvSpPr>
          <p:spPr bwMode="auto">
            <a:xfrm>
              <a:off x="5484614" y="2698336"/>
              <a:ext cx="675666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auto">
            <a:xfrm>
              <a:off x="4168867" y="2462842"/>
              <a:ext cx="884017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2841219" y="2698220"/>
              <a:ext cx="0" cy="2548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4005482" y="2695602"/>
              <a:ext cx="0" cy="2513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>
              <a:off x="3706842" y="2698220"/>
              <a:ext cx="0" cy="2548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>
              <a:off x="3855079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>
              <a:off x="4295465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4150473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4443703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Rectangle 33"/>
            <p:cNvSpPr>
              <a:spLocks noChangeArrowheads="1"/>
            </p:cNvSpPr>
            <p:nvPr/>
          </p:nvSpPr>
          <p:spPr bwMode="auto">
            <a:xfrm>
              <a:off x="3023000" y="2703572"/>
              <a:ext cx="526588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Rectangle 34"/>
            <p:cNvSpPr>
              <a:spLocks noChangeArrowheads="1"/>
            </p:cNvSpPr>
            <p:nvPr/>
          </p:nvSpPr>
          <p:spPr bwMode="auto">
            <a:xfrm>
              <a:off x="4422174" y="2692732"/>
              <a:ext cx="193058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35"/>
            <p:cNvSpPr>
              <a:spLocks noChangeShapeType="1"/>
            </p:cNvSpPr>
            <p:nvPr/>
          </p:nvSpPr>
          <p:spPr bwMode="auto">
            <a:xfrm>
              <a:off x="2270990" y="1589056"/>
              <a:ext cx="463108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Rectangle 36"/>
            <p:cNvSpPr>
              <a:spLocks noChangeArrowheads="1"/>
            </p:cNvSpPr>
            <p:nvPr/>
          </p:nvSpPr>
          <p:spPr bwMode="auto">
            <a:xfrm>
              <a:off x="4359304" y="1500917"/>
              <a:ext cx="529794" cy="2289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37"/>
            <p:cNvSpPr>
              <a:spLocks noChangeShapeType="1"/>
            </p:cNvSpPr>
            <p:nvPr/>
          </p:nvSpPr>
          <p:spPr bwMode="auto">
            <a:xfrm>
              <a:off x="2261252" y="1868311"/>
              <a:ext cx="4635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38"/>
            <p:cNvSpPr>
              <a:spLocks noChangeShapeType="1"/>
            </p:cNvSpPr>
            <p:nvPr/>
          </p:nvSpPr>
          <p:spPr bwMode="auto">
            <a:xfrm>
              <a:off x="2261252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39"/>
            <p:cNvSpPr>
              <a:spLocks noChangeShapeType="1"/>
            </p:cNvSpPr>
            <p:nvPr/>
          </p:nvSpPr>
          <p:spPr bwMode="auto">
            <a:xfrm>
              <a:off x="2406244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40"/>
            <p:cNvSpPr>
              <a:spLocks noChangeShapeType="1"/>
            </p:cNvSpPr>
            <p:nvPr/>
          </p:nvSpPr>
          <p:spPr bwMode="auto">
            <a:xfrm>
              <a:off x="2551236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41"/>
            <p:cNvSpPr>
              <a:spLocks noChangeShapeType="1"/>
            </p:cNvSpPr>
            <p:nvPr/>
          </p:nvSpPr>
          <p:spPr bwMode="auto">
            <a:xfrm>
              <a:off x="2696228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42"/>
            <p:cNvSpPr>
              <a:spLocks noChangeShapeType="1"/>
            </p:cNvSpPr>
            <p:nvPr/>
          </p:nvSpPr>
          <p:spPr bwMode="auto">
            <a:xfrm>
              <a:off x="2841219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Line 43"/>
            <p:cNvSpPr>
              <a:spLocks noChangeShapeType="1"/>
            </p:cNvSpPr>
            <p:nvPr/>
          </p:nvSpPr>
          <p:spPr bwMode="auto">
            <a:xfrm>
              <a:off x="2986211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Line 44"/>
            <p:cNvSpPr>
              <a:spLocks noChangeShapeType="1"/>
            </p:cNvSpPr>
            <p:nvPr/>
          </p:nvSpPr>
          <p:spPr bwMode="auto">
            <a:xfrm>
              <a:off x="3130121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45"/>
            <p:cNvSpPr>
              <a:spLocks noChangeShapeType="1"/>
            </p:cNvSpPr>
            <p:nvPr/>
          </p:nvSpPr>
          <p:spPr bwMode="auto">
            <a:xfrm>
              <a:off x="3275112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46"/>
            <p:cNvSpPr>
              <a:spLocks noChangeShapeType="1"/>
            </p:cNvSpPr>
            <p:nvPr/>
          </p:nvSpPr>
          <p:spPr bwMode="auto">
            <a:xfrm>
              <a:off x="3420104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47"/>
            <p:cNvSpPr>
              <a:spLocks noChangeShapeType="1"/>
            </p:cNvSpPr>
            <p:nvPr/>
          </p:nvSpPr>
          <p:spPr bwMode="auto">
            <a:xfrm>
              <a:off x="3565096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48"/>
            <p:cNvSpPr>
              <a:spLocks noChangeShapeType="1"/>
            </p:cNvSpPr>
            <p:nvPr/>
          </p:nvSpPr>
          <p:spPr bwMode="auto">
            <a:xfrm>
              <a:off x="3710088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Line 49"/>
            <p:cNvSpPr>
              <a:spLocks noChangeShapeType="1"/>
            </p:cNvSpPr>
            <p:nvPr/>
          </p:nvSpPr>
          <p:spPr bwMode="auto">
            <a:xfrm>
              <a:off x="3855079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50"/>
            <p:cNvSpPr>
              <a:spLocks noChangeShapeType="1"/>
            </p:cNvSpPr>
            <p:nvPr/>
          </p:nvSpPr>
          <p:spPr bwMode="auto">
            <a:xfrm>
              <a:off x="4000071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51"/>
            <p:cNvSpPr>
              <a:spLocks noChangeShapeType="1"/>
            </p:cNvSpPr>
            <p:nvPr/>
          </p:nvSpPr>
          <p:spPr bwMode="auto">
            <a:xfrm>
              <a:off x="414506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Line 52"/>
            <p:cNvSpPr>
              <a:spLocks noChangeShapeType="1"/>
            </p:cNvSpPr>
            <p:nvPr/>
          </p:nvSpPr>
          <p:spPr bwMode="auto">
            <a:xfrm>
              <a:off x="428897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53"/>
            <p:cNvSpPr>
              <a:spLocks noChangeShapeType="1"/>
            </p:cNvSpPr>
            <p:nvPr/>
          </p:nvSpPr>
          <p:spPr bwMode="auto">
            <a:xfrm>
              <a:off x="443396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Line 54"/>
            <p:cNvSpPr>
              <a:spLocks noChangeShapeType="1"/>
            </p:cNvSpPr>
            <p:nvPr/>
          </p:nvSpPr>
          <p:spPr bwMode="auto">
            <a:xfrm>
              <a:off x="4578956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55"/>
            <p:cNvSpPr>
              <a:spLocks noChangeShapeType="1"/>
            </p:cNvSpPr>
            <p:nvPr/>
          </p:nvSpPr>
          <p:spPr bwMode="auto">
            <a:xfrm>
              <a:off x="4723948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56"/>
            <p:cNvSpPr>
              <a:spLocks noChangeShapeType="1"/>
            </p:cNvSpPr>
            <p:nvPr/>
          </p:nvSpPr>
          <p:spPr bwMode="auto">
            <a:xfrm>
              <a:off x="4868940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57"/>
            <p:cNvSpPr>
              <a:spLocks noChangeShapeType="1"/>
            </p:cNvSpPr>
            <p:nvPr/>
          </p:nvSpPr>
          <p:spPr bwMode="auto">
            <a:xfrm>
              <a:off x="5013932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Line 58"/>
            <p:cNvSpPr>
              <a:spLocks noChangeShapeType="1"/>
            </p:cNvSpPr>
            <p:nvPr/>
          </p:nvSpPr>
          <p:spPr bwMode="auto">
            <a:xfrm>
              <a:off x="515892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Line 59"/>
            <p:cNvSpPr>
              <a:spLocks noChangeShapeType="1"/>
            </p:cNvSpPr>
            <p:nvPr/>
          </p:nvSpPr>
          <p:spPr bwMode="auto">
            <a:xfrm>
              <a:off x="530391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60"/>
            <p:cNvSpPr>
              <a:spLocks noChangeShapeType="1"/>
            </p:cNvSpPr>
            <p:nvPr/>
          </p:nvSpPr>
          <p:spPr bwMode="auto">
            <a:xfrm>
              <a:off x="544782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Line 61"/>
            <p:cNvSpPr>
              <a:spLocks noChangeShapeType="1"/>
            </p:cNvSpPr>
            <p:nvPr/>
          </p:nvSpPr>
          <p:spPr bwMode="auto">
            <a:xfrm>
              <a:off x="5592816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62"/>
            <p:cNvSpPr>
              <a:spLocks noChangeShapeType="1"/>
            </p:cNvSpPr>
            <p:nvPr/>
          </p:nvSpPr>
          <p:spPr bwMode="auto">
            <a:xfrm>
              <a:off x="5737808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63"/>
            <p:cNvSpPr>
              <a:spLocks noChangeShapeType="1"/>
            </p:cNvSpPr>
            <p:nvPr/>
          </p:nvSpPr>
          <p:spPr bwMode="auto">
            <a:xfrm>
              <a:off x="5882800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Line 64"/>
            <p:cNvSpPr>
              <a:spLocks noChangeShapeType="1"/>
            </p:cNvSpPr>
            <p:nvPr/>
          </p:nvSpPr>
          <p:spPr bwMode="auto">
            <a:xfrm>
              <a:off x="6027792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Line 65"/>
            <p:cNvSpPr>
              <a:spLocks noChangeShapeType="1"/>
            </p:cNvSpPr>
            <p:nvPr/>
          </p:nvSpPr>
          <p:spPr bwMode="auto">
            <a:xfrm>
              <a:off x="617278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Line 66"/>
            <p:cNvSpPr>
              <a:spLocks noChangeShapeType="1"/>
            </p:cNvSpPr>
            <p:nvPr/>
          </p:nvSpPr>
          <p:spPr bwMode="auto">
            <a:xfrm>
              <a:off x="631777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67"/>
            <p:cNvSpPr>
              <a:spLocks noChangeShapeType="1"/>
            </p:cNvSpPr>
            <p:nvPr/>
          </p:nvSpPr>
          <p:spPr bwMode="auto">
            <a:xfrm>
              <a:off x="6462767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68"/>
            <p:cNvSpPr>
              <a:spLocks noChangeShapeType="1"/>
            </p:cNvSpPr>
            <p:nvPr/>
          </p:nvSpPr>
          <p:spPr bwMode="auto">
            <a:xfrm>
              <a:off x="6606677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69"/>
            <p:cNvSpPr>
              <a:spLocks noChangeShapeType="1"/>
            </p:cNvSpPr>
            <p:nvPr/>
          </p:nvSpPr>
          <p:spPr bwMode="auto">
            <a:xfrm>
              <a:off x="6751669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70"/>
            <p:cNvSpPr>
              <a:spLocks noChangeShapeType="1"/>
            </p:cNvSpPr>
            <p:nvPr/>
          </p:nvSpPr>
          <p:spPr bwMode="auto">
            <a:xfrm>
              <a:off x="6896660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Rectangle 71"/>
            <p:cNvSpPr>
              <a:spLocks noChangeArrowheads="1"/>
            </p:cNvSpPr>
            <p:nvPr/>
          </p:nvSpPr>
          <p:spPr bwMode="auto">
            <a:xfrm>
              <a:off x="2357553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Rectangle 72"/>
            <p:cNvSpPr>
              <a:spLocks noChangeArrowheads="1"/>
            </p:cNvSpPr>
            <p:nvPr/>
          </p:nvSpPr>
          <p:spPr bwMode="auto">
            <a:xfrm>
              <a:off x="3516405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Rectangle 73"/>
            <p:cNvSpPr>
              <a:spLocks noChangeArrowheads="1"/>
            </p:cNvSpPr>
            <p:nvPr/>
          </p:nvSpPr>
          <p:spPr bwMode="auto">
            <a:xfrm>
              <a:off x="4675257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Rectangle 74"/>
            <p:cNvSpPr>
              <a:spLocks noChangeArrowheads="1"/>
            </p:cNvSpPr>
            <p:nvPr/>
          </p:nvSpPr>
          <p:spPr bwMode="auto">
            <a:xfrm>
              <a:off x="5834109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 75"/>
            <p:cNvSpPr>
              <a:spLocks noChangeArrowheads="1"/>
            </p:cNvSpPr>
            <p:nvPr/>
          </p:nvSpPr>
          <p:spPr bwMode="auto">
            <a:xfrm>
              <a:off x="4264035" y="2692732"/>
              <a:ext cx="154729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Rectangle 76"/>
            <p:cNvSpPr>
              <a:spLocks noChangeArrowheads="1"/>
            </p:cNvSpPr>
            <p:nvPr/>
          </p:nvSpPr>
          <p:spPr bwMode="auto">
            <a:xfrm>
              <a:off x="4132594" y="2692732"/>
              <a:ext cx="153648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Rectangle 77"/>
            <p:cNvSpPr>
              <a:spLocks noChangeArrowheads="1"/>
            </p:cNvSpPr>
            <p:nvPr/>
          </p:nvSpPr>
          <p:spPr bwMode="auto">
            <a:xfrm>
              <a:off x="3977864" y="2692732"/>
              <a:ext cx="150403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78"/>
            <p:cNvSpPr>
              <a:spLocks noChangeArrowheads="1"/>
            </p:cNvSpPr>
            <p:nvPr/>
          </p:nvSpPr>
          <p:spPr bwMode="auto">
            <a:xfrm>
              <a:off x="3832873" y="2692732"/>
              <a:ext cx="160140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Rectangle 79"/>
            <p:cNvSpPr>
              <a:spLocks noChangeArrowheads="1"/>
            </p:cNvSpPr>
            <p:nvPr/>
          </p:nvSpPr>
          <p:spPr bwMode="auto">
            <a:xfrm>
              <a:off x="3674896" y="2692732"/>
              <a:ext cx="154730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Rectangle 80"/>
            <p:cNvSpPr>
              <a:spLocks noChangeArrowheads="1"/>
            </p:cNvSpPr>
            <p:nvPr/>
          </p:nvSpPr>
          <p:spPr bwMode="auto">
            <a:xfrm>
              <a:off x="1883624" y="1656252"/>
              <a:ext cx="5496688" cy="205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Line 81"/>
            <p:cNvSpPr>
              <a:spLocks noChangeShapeType="1"/>
            </p:cNvSpPr>
            <p:nvPr/>
          </p:nvSpPr>
          <p:spPr bwMode="auto">
            <a:xfrm flipH="1">
              <a:off x="5736726" y="3211350"/>
              <a:ext cx="2164" cy="2364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Rectangle 83"/>
            <p:cNvSpPr>
              <a:spLocks noChangeArrowheads="1"/>
            </p:cNvSpPr>
            <p:nvPr/>
          </p:nvSpPr>
          <p:spPr bwMode="auto">
            <a:xfrm>
              <a:off x="6046186" y="3217080"/>
              <a:ext cx="686054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Line 96"/>
            <p:cNvSpPr>
              <a:spLocks noChangeShapeType="1"/>
            </p:cNvSpPr>
            <p:nvPr/>
          </p:nvSpPr>
          <p:spPr bwMode="auto">
            <a:xfrm>
              <a:off x="6969156" y="1917180"/>
              <a:ext cx="5020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Line 97"/>
            <p:cNvSpPr>
              <a:spLocks noChangeShapeType="1"/>
            </p:cNvSpPr>
            <p:nvPr/>
          </p:nvSpPr>
          <p:spPr bwMode="auto">
            <a:xfrm>
              <a:off x="6969156" y="3201750"/>
              <a:ext cx="5020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Line 98"/>
            <p:cNvSpPr>
              <a:spLocks noChangeShapeType="1"/>
            </p:cNvSpPr>
            <p:nvPr/>
          </p:nvSpPr>
          <p:spPr bwMode="auto">
            <a:xfrm>
              <a:off x="1904183" y="1931143"/>
              <a:ext cx="320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Line 99"/>
            <p:cNvSpPr>
              <a:spLocks noChangeShapeType="1"/>
            </p:cNvSpPr>
            <p:nvPr/>
          </p:nvSpPr>
          <p:spPr bwMode="auto">
            <a:xfrm>
              <a:off x="1912839" y="3438244"/>
              <a:ext cx="320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1" name="Rectangle 84"/>
          <p:cNvSpPr>
            <a:spLocks noChangeArrowheads="1"/>
          </p:cNvSpPr>
          <p:nvPr/>
        </p:nvSpPr>
        <p:spPr bwMode="auto">
          <a:xfrm>
            <a:off x="4578956" y="3905996"/>
            <a:ext cx="2221403" cy="20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数据载荷</a:t>
            </a:r>
            <a:r>
              <a: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应用层报文分段</a:t>
            </a:r>
            <a:r>
              <a: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zh-CN" altLang="en-US" sz="900" b="1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Rectangle 89"/>
          <p:cNvSpPr>
            <a:spLocks noChangeArrowheads="1"/>
          </p:cNvSpPr>
          <p:nvPr/>
        </p:nvSpPr>
        <p:spPr bwMode="auto">
          <a:xfrm>
            <a:off x="3274031" y="3905995"/>
            <a:ext cx="630782" cy="20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kumimoji="1" lang="zh-CN" altLang="en-US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  <a:endParaRPr kumimoji="1" lang="zh-CN" altLang="en-US" sz="9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5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10501" y="907307"/>
            <a:ext cx="7673867" cy="4084022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effectLst/>
              </a:rPr>
              <a:t>知识点</a:t>
            </a:r>
            <a:r>
              <a:rPr lang="en-US" altLang="zh-CN" dirty="0">
                <a:effectLst/>
              </a:rPr>
              <a:t>7</a:t>
            </a:r>
            <a:r>
              <a:rPr lang="en-US" altLang="zh-CN" dirty="0"/>
              <a:t>: TCP</a:t>
            </a:r>
            <a:r>
              <a:rPr lang="zh-CN" altLang="en-US"/>
              <a:t>流控制</a:t>
            </a:r>
            <a:endParaRPr lang="en-US" altLang="zh-CN" dirty="0"/>
          </a:p>
          <a:p>
            <a:pPr lvl="1"/>
            <a:r>
              <a:rPr lang="zh-CN" altLang="en-US" dirty="0"/>
              <a:t>机制：</a:t>
            </a:r>
            <a:endParaRPr lang="en-US" altLang="zh-CN" dirty="0"/>
          </a:p>
          <a:p>
            <a:pPr lvl="2" algn="just"/>
            <a:r>
              <a:rPr lang="zh-CN" altLang="en-US" dirty="0"/>
              <a:t>接收窗口：接收缓存中的剩余空间</a:t>
            </a:r>
            <a:endParaRPr lang="en-US" altLang="zh-CN" dirty="0"/>
          </a:p>
          <a:p>
            <a:pPr lvl="2"/>
            <a:r>
              <a:rPr lang="zh-CN" altLang="en-US" dirty="0"/>
              <a:t>接收方在向发送方确认时，</a:t>
            </a:r>
            <a:r>
              <a:rPr lang="zh-CN" altLang="en-US" dirty="0">
                <a:solidFill>
                  <a:srgbClr val="FF0000"/>
                </a:solidFill>
              </a:rPr>
              <a:t>随时告诉</a:t>
            </a:r>
            <a:r>
              <a:rPr lang="zh-CN" altLang="en-US" dirty="0"/>
              <a:t>对方自己接收窗口的大小</a:t>
            </a:r>
            <a:endParaRPr lang="en-US" altLang="zh-CN" dirty="0"/>
          </a:p>
          <a:p>
            <a:endParaRPr lang="en-US" altLang="zh-CN" dirty="0">
              <a:effectLst/>
            </a:endParaRPr>
          </a:p>
          <a:p>
            <a:pPr lvl="1"/>
            <a:endParaRPr lang="en-US" altLang="zh-CN" dirty="0">
              <a:effectLst/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章复习总结</a:t>
            </a:r>
            <a:endParaRPr lang="en-US" altLang="zh-CN" dirty="0"/>
          </a:p>
        </p:txBody>
      </p:sp>
      <p:grpSp>
        <p:nvGrpSpPr>
          <p:cNvPr id="5" name="组合 4"/>
          <p:cNvGrpSpPr/>
          <p:nvPr/>
        </p:nvGrpSpPr>
        <p:grpSpPr>
          <a:xfrm>
            <a:off x="1403648" y="3147814"/>
            <a:ext cx="6206368" cy="1810645"/>
            <a:chOff x="1763688" y="3048891"/>
            <a:chExt cx="6206368" cy="1810645"/>
          </a:xfrm>
        </p:grpSpPr>
        <p:pic>
          <p:nvPicPr>
            <p:cNvPr id="6" name="Picture 5" descr="rcvwin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1760" y="3147814"/>
              <a:ext cx="4104456" cy="1498453"/>
            </a:xfrm>
            <a:prstGeom prst="roundRect">
              <a:avLst>
                <a:gd name="adj" fmla="val 0"/>
              </a:avLst>
            </a:prstGeom>
            <a:ln>
              <a:noFill/>
            </a:ln>
            <a:effectLst/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文本框 6"/>
            <p:cNvSpPr txBox="1"/>
            <p:nvPr/>
          </p:nvSpPr>
          <p:spPr>
            <a:xfrm>
              <a:off x="1763688" y="3766235"/>
              <a:ext cx="1152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data from IP</a:t>
              </a:r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868144" y="3759046"/>
              <a:ext cx="2101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data to application process</a:t>
              </a:r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3185560" y="4443958"/>
              <a:ext cx="0" cy="232326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508104" y="4443958"/>
              <a:ext cx="0" cy="232326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3191656" y="4560121"/>
              <a:ext cx="230425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3707904" y="4597926"/>
              <a:ext cx="1152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RcvBuffer</a:t>
              </a:r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3203848" y="3147814"/>
              <a:ext cx="0" cy="232326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4499992" y="3147814"/>
              <a:ext cx="0" cy="232326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3203848" y="3263977"/>
              <a:ext cx="129614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3279664" y="3048891"/>
              <a:ext cx="1152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RcvWindow</a:t>
              </a:r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8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10501" y="907307"/>
            <a:ext cx="7673867" cy="4084022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  <a:effectLst/>
              </a:rPr>
              <a:t>知识点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8</a:t>
            </a:r>
            <a:r>
              <a:rPr lang="en-US" altLang="zh-CN" dirty="0">
                <a:solidFill>
                  <a:srgbClr val="FF0000"/>
                </a:solidFill>
              </a:rPr>
              <a:t>: TCP</a:t>
            </a:r>
            <a:r>
              <a:rPr lang="zh-CN" altLang="en-US" dirty="0">
                <a:solidFill>
                  <a:srgbClr val="FF0000"/>
                </a:solidFill>
              </a:rPr>
              <a:t>连接管理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机制：</a:t>
            </a:r>
            <a:endParaRPr lang="en-US" altLang="zh-CN" dirty="0"/>
          </a:p>
          <a:p>
            <a:pPr lvl="2" algn="just"/>
            <a:r>
              <a:rPr lang="zh-CN" altLang="en-US" dirty="0"/>
              <a:t>建立连接：三次握手</a:t>
            </a:r>
            <a:endParaRPr lang="en-US" altLang="zh-CN" dirty="0"/>
          </a:p>
          <a:p>
            <a:pPr lvl="2" algn="just"/>
            <a:r>
              <a:rPr lang="zh-CN" altLang="en-US" dirty="0">
                <a:effectLst/>
              </a:rPr>
              <a:t>释放连接</a:t>
            </a:r>
            <a:endParaRPr lang="en-US" altLang="zh-CN" dirty="0">
              <a:effectLst/>
            </a:endParaRPr>
          </a:p>
          <a:p>
            <a:pPr lvl="1"/>
            <a:endParaRPr lang="en-US" altLang="zh-CN" dirty="0">
              <a:effectLst/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章复习总结</a:t>
            </a:r>
            <a:endParaRPr lang="en-US" altLang="zh-CN" dirty="0"/>
          </a:p>
        </p:txBody>
      </p:sp>
      <p:grpSp>
        <p:nvGrpSpPr>
          <p:cNvPr id="17" name="Group 27"/>
          <p:cNvGrpSpPr/>
          <p:nvPr/>
        </p:nvGrpSpPr>
        <p:grpSpPr bwMode="auto">
          <a:xfrm>
            <a:off x="4957652" y="970794"/>
            <a:ext cx="566738" cy="586978"/>
            <a:chOff x="-44" y="1473"/>
            <a:chExt cx="981" cy="1105"/>
          </a:xfrm>
        </p:grpSpPr>
        <p:pic>
          <p:nvPicPr>
            <p:cNvPr id="18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43"/>
          <p:cNvGrpSpPr/>
          <p:nvPr/>
        </p:nvGrpSpPr>
        <p:grpSpPr bwMode="auto">
          <a:xfrm>
            <a:off x="7412137" y="940595"/>
            <a:ext cx="317897" cy="513160"/>
            <a:chOff x="4140" y="429"/>
            <a:chExt cx="1425" cy="2396"/>
          </a:xfrm>
        </p:grpSpPr>
        <p:sp>
          <p:nvSpPr>
            <p:cNvPr id="21" name="Freeform 44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ctangle 45"/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46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47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Rectangle 48"/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" name="Group 49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1" name="AutoShape 50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AutoShape 51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7" name="Rectangle 52"/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8" name="Group 53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9" name="AutoShape 54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AutoShape 55"/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9" name="Rectangle 56"/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57"/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1" name="Group 58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7" name="AutoShape 59"/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AutoShape 60"/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" name="Freeform 61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3" name="Group 62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" name="AutoShape 63"/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AutoShape 64"/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4" name="Rectangle 65"/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66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67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68"/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69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AutoShape 70"/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AutoShape 71"/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72"/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73"/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3" name="Oval 74"/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Rectangle 75"/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3" name="矩形 52"/>
          <p:cNvSpPr/>
          <p:nvPr/>
        </p:nvSpPr>
        <p:spPr>
          <a:xfrm>
            <a:off x="4839959" y="1523637"/>
            <a:ext cx="174788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IP: 172.20.60.13</a:t>
            </a:r>
            <a:endParaRPr lang="en-US" altLang="zh-CN" sz="10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Port: 49753</a:t>
            </a:r>
            <a:endParaRPr lang="zh-CN" altLang="en-US" sz="10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箭头连接符 53"/>
          <p:cNvCxnSpPr/>
          <p:nvPr/>
        </p:nvCxnSpPr>
        <p:spPr>
          <a:xfrm>
            <a:off x="5001977" y="1916052"/>
            <a:ext cx="0" cy="310397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7740352" y="1916052"/>
            <a:ext cx="0" cy="310397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5001977" y="2024884"/>
            <a:ext cx="2738375" cy="168824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5686063" y="1969303"/>
            <a:ext cx="1319698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[SYN] Seq=0,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 flipH="1">
            <a:off x="5001977" y="2224882"/>
            <a:ext cx="2738375" cy="29504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5485054" y="2226287"/>
            <a:ext cx="1941358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[SYN,ACK] Seq=0, Ack=1, len=0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>
            <a:off x="5055984" y="2563028"/>
            <a:ext cx="2670035" cy="231948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5485054" y="2544829"/>
            <a:ext cx="1941356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[SYN,ACK] Seq=1, Ack=1,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2" name="直接箭头连接符 61"/>
          <p:cNvCxnSpPr/>
          <p:nvPr/>
        </p:nvCxnSpPr>
        <p:spPr>
          <a:xfrm>
            <a:off x="5001977" y="2725047"/>
            <a:ext cx="2738375" cy="29864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5449360" y="2749946"/>
            <a:ext cx="196274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Seq=1, Ack=1, len=300</a:t>
            </a:r>
            <a:endParaRPr lang="zh-CN" altLang="en-US" sz="9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箭头连接符 63"/>
          <p:cNvCxnSpPr/>
          <p:nvPr/>
        </p:nvCxnSpPr>
        <p:spPr>
          <a:xfrm flipH="1">
            <a:off x="5001977" y="3049249"/>
            <a:ext cx="2738375" cy="3202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5449359" y="3086679"/>
            <a:ext cx="1962743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[ACK]Seq=1, Ack=301, len=0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H="1">
            <a:off x="5001977" y="3261488"/>
            <a:ext cx="2738375" cy="269957"/>
          </a:xfrm>
          <a:prstGeom prst="straightConnector1">
            <a:avLst/>
          </a:prstGeom>
          <a:ln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5344510" y="3305947"/>
            <a:ext cx="217244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[ACK]Seq=1, Ack=301, len=489</a:t>
            </a:r>
            <a:endParaRPr lang="zh-CN" altLang="en-US" sz="9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>
            <a:off x="5028980" y="3568876"/>
            <a:ext cx="2711372" cy="232673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380840" y="3583711"/>
            <a:ext cx="209978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Seq=301, Ack=490,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箭头连接符 69"/>
          <p:cNvCxnSpPr/>
          <p:nvPr/>
        </p:nvCxnSpPr>
        <p:spPr>
          <a:xfrm flipH="1">
            <a:off x="5001977" y="4132304"/>
            <a:ext cx="2738375" cy="3202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5261709" y="4169734"/>
            <a:ext cx="2296929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[FIN,ACK] Seq=490, Ack=301, len=0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2" name="直接箭头连接符 71"/>
          <p:cNvCxnSpPr/>
          <p:nvPr/>
        </p:nvCxnSpPr>
        <p:spPr>
          <a:xfrm>
            <a:off x="5001977" y="4472269"/>
            <a:ext cx="2738375" cy="246726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5380840" y="4501158"/>
            <a:ext cx="209978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Seq=301, Ack=491,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左大括号 73"/>
          <p:cNvSpPr/>
          <p:nvPr/>
        </p:nvSpPr>
        <p:spPr>
          <a:xfrm>
            <a:off x="4677941" y="1969303"/>
            <a:ext cx="54006" cy="593726"/>
          </a:xfrm>
          <a:prstGeom prst="leftBrace">
            <a:avLst/>
          </a:prstGeom>
          <a:ln w="1905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336078" y="2139208"/>
            <a:ext cx="1323115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zh-CN" altLang="en-US" sz="105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三次握手建立连接</a:t>
            </a:r>
            <a:endParaRPr lang="zh-CN" altLang="en-US" sz="1050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6" name="直接箭头连接符 75"/>
          <p:cNvCxnSpPr/>
          <p:nvPr/>
        </p:nvCxnSpPr>
        <p:spPr>
          <a:xfrm flipH="1">
            <a:off x="4569930" y="2749946"/>
            <a:ext cx="383567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>
          <a:xfrm>
            <a:off x="3651827" y="2620110"/>
            <a:ext cx="986206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0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endParaRPr lang="zh-CN" altLang="en-US" sz="10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8" name="直接箭头连接符 77"/>
          <p:cNvCxnSpPr/>
          <p:nvPr/>
        </p:nvCxnSpPr>
        <p:spPr>
          <a:xfrm flipH="1">
            <a:off x="4569930" y="3531445"/>
            <a:ext cx="383567" cy="0"/>
          </a:xfrm>
          <a:prstGeom prst="straightConnector1">
            <a:avLst/>
          </a:prstGeom>
          <a:ln w="190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3651827" y="3409821"/>
            <a:ext cx="986206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05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endParaRPr lang="zh-CN" altLang="en-US" sz="105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3588141" y="4371950"/>
            <a:ext cx="1143038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zh-CN" altLang="en-US" sz="105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结束连接</a:t>
            </a:r>
            <a:endParaRPr lang="zh-CN" altLang="en-US" sz="1050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箭头连接符 80"/>
          <p:cNvCxnSpPr/>
          <p:nvPr/>
        </p:nvCxnSpPr>
        <p:spPr>
          <a:xfrm flipH="1">
            <a:off x="4569930" y="4481196"/>
            <a:ext cx="383567" cy="0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7216593" y="1523637"/>
            <a:ext cx="174789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IP: 128.119.245.12</a:t>
            </a:r>
            <a:endParaRPr lang="en-US" altLang="zh-CN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Port: 80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10501" y="907307"/>
            <a:ext cx="7673867" cy="4084022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6600"/>
                </a:solidFill>
                <a:effectLst/>
              </a:rPr>
              <a:t>知识点</a:t>
            </a:r>
            <a:r>
              <a:rPr lang="en-US" altLang="zh-CN" dirty="0">
                <a:solidFill>
                  <a:srgbClr val="FF6600"/>
                </a:solidFill>
                <a:effectLst/>
              </a:rPr>
              <a:t>9</a:t>
            </a:r>
            <a:r>
              <a:rPr lang="en-US" altLang="zh-CN" dirty="0">
                <a:solidFill>
                  <a:srgbClr val="FF6600"/>
                </a:solidFill>
              </a:rPr>
              <a:t>: TCP</a:t>
            </a:r>
            <a:r>
              <a:rPr lang="zh-CN" altLang="en-US" dirty="0">
                <a:solidFill>
                  <a:srgbClr val="FF6600"/>
                </a:solidFill>
              </a:rPr>
              <a:t>拥塞控制</a:t>
            </a:r>
            <a:endParaRPr lang="en-US" altLang="zh-CN" dirty="0">
              <a:solidFill>
                <a:srgbClr val="FF6600"/>
              </a:solidFill>
            </a:endParaRPr>
          </a:p>
          <a:p>
            <a:pPr lvl="1"/>
            <a:r>
              <a:rPr lang="zh-CN" altLang="en-US" dirty="0"/>
              <a:t>机制：</a:t>
            </a:r>
            <a:endParaRPr lang="en-US" altLang="zh-CN" dirty="0"/>
          </a:p>
          <a:p>
            <a:pPr lvl="2" algn="just"/>
            <a:r>
              <a:rPr lang="zh-CN" altLang="en-US" dirty="0"/>
              <a:t>加性增，乘性减</a:t>
            </a:r>
            <a:endParaRPr lang="en-US" altLang="zh-CN" dirty="0"/>
          </a:p>
          <a:p>
            <a:pPr lvl="2" algn="just"/>
            <a:r>
              <a:rPr lang="zh-CN" altLang="en-US" dirty="0"/>
              <a:t>拥塞窗口</a:t>
            </a:r>
            <a:endParaRPr lang="en-US" altLang="zh-CN" dirty="0"/>
          </a:p>
          <a:p>
            <a:pPr lvl="2" algn="just"/>
            <a:r>
              <a:rPr lang="zh-CN" altLang="en-US" dirty="0"/>
              <a:t>拥塞控制算法</a:t>
            </a:r>
            <a:endParaRPr lang="en-US" altLang="zh-CN" dirty="0"/>
          </a:p>
          <a:p>
            <a:pPr lvl="3" algn="just"/>
            <a:r>
              <a:rPr lang="zh-CN" altLang="en-US" dirty="0"/>
              <a:t>慢启动</a:t>
            </a:r>
            <a:endParaRPr lang="en-US" altLang="zh-CN" dirty="0"/>
          </a:p>
          <a:p>
            <a:pPr lvl="3" algn="just"/>
            <a:r>
              <a:rPr lang="zh-CN" altLang="en-US" dirty="0"/>
              <a:t>拥塞避免</a:t>
            </a:r>
            <a:endParaRPr lang="en-US" altLang="zh-CN" dirty="0"/>
          </a:p>
          <a:p>
            <a:pPr lvl="3" algn="just"/>
            <a:r>
              <a:rPr lang="zh-CN" altLang="en-US" dirty="0"/>
              <a:t>快恢复</a:t>
            </a:r>
            <a:endParaRPr lang="en-US" altLang="zh-CN" dirty="0"/>
          </a:p>
          <a:p>
            <a:pPr lvl="2" algn="just"/>
            <a:endParaRPr lang="en-US" altLang="zh-CN" dirty="0">
              <a:effectLst/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>
              <a:effectLst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章复习总结</a:t>
            </a:r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5122445" y="907307"/>
            <a:ext cx="3792365" cy="1707268"/>
            <a:chOff x="4072223" y="907307"/>
            <a:chExt cx="4953624" cy="2230049"/>
          </a:xfrm>
        </p:grpSpPr>
        <p:sp>
          <p:nvSpPr>
            <p:cNvPr id="83" name="Line 19"/>
            <p:cNvSpPr>
              <a:spLocks noChangeShapeType="1"/>
            </p:cNvSpPr>
            <p:nvPr/>
          </p:nvSpPr>
          <p:spPr bwMode="auto">
            <a:xfrm flipV="1">
              <a:off x="4618186" y="1830041"/>
              <a:ext cx="127397" cy="127397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10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84" name="Line 20"/>
            <p:cNvSpPr>
              <a:spLocks noChangeShapeType="1"/>
            </p:cNvSpPr>
            <p:nvPr/>
          </p:nvSpPr>
          <p:spPr bwMode="auto">
            <a:xfrm>
              <a:off x="4753917" y="1821706"/>
              <a:ext cx="0" cy="48220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10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85" name="Line 21"/>
            <p:cNvSpPr>
              <a:spLocks noChangeShapeType="1"/>
            </p:cNvSpPr>
            <p:nvPr/>
          </p:nvSpPr>
          <p:spPr bwMode="auto">
            <a:xfrm flipV="1">
              <a:off x="4745582" y="1584773"/>
              <a:ext cx="736997" cy="735806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10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86" name="Line 22"/>
            <p:cNvSpPr>
              <a:spLocks noChangeShapeType="1"/>
            </p:cNvSpPr>
            <p:nvPr/>
          </p:nvSpPr>
          <p:spPr bwMode="auto">
            <a:xfrm>
              <a:off x="5474245" y="1585963"/>
              <a:ext cx="0" cy="60126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10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87" name="Line 23"/>
            <p:cNvSpPr>
              <a:spLocks noChangeShapeType="1"/>
            </p:cNvSpPr>
            <p:nvPr/>
          </p:nvSpPr>
          <p:spPr bwMode="auto">
            <a:xfrm flipV="1">
              <a:off x="5468292" y="1808610"/>
              <a:ext cx="394097" cy="392906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10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sp>
          <p:nvSpPr>
            <p:cNvPr id="88" name="Line 24"/>
            <p:cNvSpPr>
              <a:spLocks noChangeShapeType="1"/>
            </p:cNvSpPr>
            <p:nvPr/>
          </p:nvSpPr>
          <p:spPr bwMode="auto">
            <a:xfrm>
              <a:off x="5862389" y="1805038"/>
              <a:ext cx="0" cy="51673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100">
                <a:latin typeface="Tahoma" panose="020B0604030504040204" charset="0"/>
                <a:ea typeface="MS PGothic" panose="020B0600070205080204" charset="-128"/>
              </a:endParaRP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5870724" y="1491903"/>
              <a:ext cx="1877615" cy="813197"/>
              <a:chOff x="4314926" y="4162450"/>
              <a:chExt cx="2503487" cy="1084262"/>
            </a:xfrm>
          </p:grpSpPr>
          <p:sp>
            <p:nvSpPr>
              <p:cNvPr id="90" name="Line 25"/>
              <p:cNvSpPr>
                <a:spLocks noChangeShapeType="1"/>
              </p:cNvSpPr>
              <p:nvPr/>
            </p:nvSpPr>
            <p:spPr bwMode="auto">
              <a:xfrm flipV="1">
                <a:off x="4314926" y="4265637"/>
                <a:ext cx="969963" cy="981075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100">
                  <a:latin typeface="Tahoma" panose="020B0604030504040204" charset="0"/>
                  <a:ea typeface="MS PGothic" panose="020B0600070205080204" charset="-128"/>
                </a:endParaRPr>
              </a:p>
            </p:txBody>
          </p:sp>
          <p:sp>
            <p:nvSpPr>
              <p:cNvPr id="91" name="Line 26"/>
              <p:cNvSpPr>
                <a:spLocks noChangeShapeType="1"/>
              </p:cNvSpPr>
              <p:nvPr/>
            </p:nvSpPr>
            <p:spPr bwMode="auto">
              <a:xfrm>
                <a:off x="5280126" y="4265637"/>
                <a:ext cx="11113" cy="835025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100">
                  <a:latin typeface="Tahoma" panose="020B0604030504040204" charset="0"/>
                  <a:ea typeface="MS PGothic" panose="020B0600070205080204" charset="-128"/>
                </a:endParaRPr>
              </a:p>
            </p:txBody>
          </p:sp>
          <p:sp>
            <p:nvSpPr>
              <p:cNvPr id="92" name="Line 29"/>
              <p:cNvSpPr>
                <a:spLocks noChangeShapeType="1"/>
              </p:cNvSpPr>
              <p:nvPr/>
            </p:nvSpPr>
            <p:spPr bwMode="auto">
              <a:xfrm flipV="1">
                <a:off x="5284888" y="4429150"/>
                <a:ext cx="666750" cy="666750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100">
                  <a:latin typeface="Tahoma" panose="020B0604030504040204" charset="0"/>
                  <a:ea typeface="MS PGothic" panose="020B0600070205080204" charset="-128"/>
                </a:endParaRPr>
              </a:p>
            </p:txBody>
          </p:sp>
          <p:sp>
            <p:nvSpPr>
              <p:cNvPr id="93" name="Line 30"/>
              <p:cNvSpPr>
                <a:spLocks noChangeShapeType="1"/>
              </p:cNvSpPr>
              <p:nvPr/>
            </p:nvSpPr>
            <p:spPr bwMode="auto">
              <a:xfrm>
                <a:off x="5951638" y="4414862"/>
                <a:ext cx="0" cy="74771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100">
                  <a:latin typeface="Tahoma" panose="020B0604030504040204" charset="0"/>
                  <a:ea typeface="MS PGothic" panose="020B0600070205080204" charset="-128"/>
                </a:endParaRPr>
              </a:p>
            </p:txBody>
          </p:sp>
          <p:sp>
            <p:nvSpPr>
              <p:cNvPr id="94" name="Line 31"/>
              <p:cNvSpPr>
                <a:spLocks noChangeShapeType="1"/>
              </p:cNvSpPr>
              <p:nvPr/>
            </p:nvSpPr>
            <p:spPr bwMode="auto">
              <a:xfrm flipV="1">
                <a:off x="5942113" y="4162450"/>
                <a:ext cx="876300" cy="1014412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100">
                  <a:latin typeface="Tahoma" panose="020B0604030504040204" charset="0"/>
                  <a:ea typeface="MS PGothic" panose="020B0600070205080204" charset="-128"/>
                </a:endParaRPr>
              </a:p>
            </p:txBody>
          </p:sp>
        </p:grpSp>
        <p:sp>
          <p:nvSpPr>
            <p:cNvPr id="95" name="Text Box 32"/>
            <p:cNvSpPr txBox="1">
              <a:spLocks noChangeArrowheads="1"/>
            </p:cNvSpPr>
            <p:nvPr/>
          </p:nvSpPr>
          <p:spPr bwMode="auto">
            <a:xfrm>
              <a:off x="5292080" y="907307"/>
              <a:ext cx="3733767" cy="5427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 algn="l"/>
              <a:r>
                <a:rPr lang="en-US" altLang="zh-CN" sz="1050" dirty="0">
                  <a:solidFill>
                    <a:srgbClr val="006600"/>
                  </a:solidFill>
                </a:rPr>
                <a:t>additively increase window size …</a:t>
              </a:r>
              <a:endParaRPr lang="en-US" altLang="zh-CN" sz="1050" dirty="0">
                <a:solidFill>
                  <a:srgbClr val="006600"/>
                </a:solidFill>
              </a:endParaRPr>
            </a:p>
            <a:p>
              <a:pPr algn="l"/>
              <a:r>
                <a:rPr lang="en-US" altLang="zh-CN" sz="1050" dirty="0"/>
                <a:t>…. </a:t>
              </a:r>
              <a:r>
                <a:rPr lang="en-US" altLang="zh-CN" sz="1050" dirty="0">
                  <a:solidFill>
                    <a:srgbClr val="FF0000"/>
                  </a:solidFill>
                </a:rPr>
                <a:t>until loss occurs (then cut window in half)</a:t>
              </a:r>
              <a:endParaRPr lang="en-US" altLang="zh-CN" sz="1050" dirty="0">
                <a:solidFill>
                  <a:srgbClr val="FF0000"/>
                </a:solidFill>
              </a:endParaRPr>
            </a:p>
          </p:txBody>
        </p:sp>
        <p:grpSp>
          <p:nvGrpSpPr>
            <p:cNvPr id="96" name="组合 95"/>
            <p:cNvGrpSpPr/>
            <p:nvPr/>
          </p:nvGrpSpPr>
          <p:grpSpPr>
            <a:xfrm>
              <a:off x="4072223" y="991841"/>
              <a:ext cx="3653495" cy="2145515"/>
              <a:chOff x="1916923" y="3495700"/>
              <a:chExt cx="4871327" cy="2860686"/>
            </a:xfrm>
          </p:grpSpPr>
          <p:sp>
            <p:nvSpPr>
              <p:cNvPr id="97" name="Text Box 12"/>
              <p:cNvSpPr txBox="1">
                <a:spLocks noChangeArrowheads="1"/>
              </p:cNvSpPr>
              <p:nvPr/>
            </p:nvSpPr>
            <p:spPr bwMode="auto">
              <a:xfrm rot="16200000">
                <a:off x="1022428" y="4525044"/>
                <a:ext cx="2432223" cy="6432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pPr>
                  <a:defRPr/>
                </a:pPr>
                <a:r>
                  <a:rPr lang="en-US" sz="900" b="1" dirty="0">
                    <a:latin typeface="Courier New" panose="02070309020205020404" charset="0"/>
                  </a:rPr>
                  <a:t>cwnd:</a:t>
                </a:r>
                <a:r>
                  <a:rPr lang="en-US" sz="900" dirty="0">
                    <a:latin typeface="Arial" panose="020B0604020202020204" pitchFamily="34" charset="0"/>
                  </a:rPr>
                  <a:t> TCP sender </a:t>
                </a:r>
                <a:endParaRPr lang="en-US" sz="900" dirty="0">
                  <a:latin typeface="Arial" panose="020B0604020202020204" pitchFamily="34" charset="0"/>
                </a:endParaRPr>
              </a:p>
              <a:p>
                <a:pPr>
                  <a:defRPr/>
                </a:pPr>
                <a:r>
                  <a:rPr lang="en-US" sz="900" dirty="0">
                    <a:latin typeface="Arial" panose="020B0604020202020204" pitchFamily="34" charset="0"/>
                  </a:rPr>
                  <a:t>congestion window size</a:t>
                </a:r>
                <a:endParaRPr lang="en-US" sz="9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8" name="Line 17"/>
              <p:cNvSpPr>
                <a:spLocks noChangeShapeType="1"/>
              </p:cNvSpPr>
              <p:nvPr/>
            </p:nvSpPr>
            <p:spPr bwMode="auto">
              <a:xfrm>
                <a:off x="2644875" y="5910287"/>
                <a:ext cx="414337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100">
                  <a:latin typeface="Tahoma" panose="020B0604030504040204" charset="0"/>
                  <a:ea typeface="MS PGothic" panose="020B0600070205080204" charset="-128"/>
                </a:endParaRPr>
              </a:p>
            </p:txBody>
          </p:sp>
          <p:sp>
            <p:nvSpPr>
              <p:cNvPr id="99" name="Line 18"/>
              <p:cNvSpPr>
                <a:spLocks noChangeShapeType="1"/>
              </p:cNvSpPr>
              <p:nvPr/>
            </p:nvSpPr>
            <p:spPr bwMode="auto">
              <a:xfrm>
                <a:off x="2633763" y="3495700"/>
                <a:ext cx="0" cy="24161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100">
                  <a:latin typeface="Tahoma" panose="020B0604030504040204" charset="0"/>
                  <a:ea typeface="MS PGothic" panose="020B0600070205080204" charset="-128"/>
                </a:endParaRPr>
              </a:p>
            </p:txBody>
          </p:sp>
          <p:sp>
            <p:nvSpPr>
              <p:cNvPr id="100" name="Text Box 40"/>
              <p:cNvSpPr txBox="1">
                <a:spLocks noChangeArrowheads="1"/>
              </p:cNvSpPr>
              <p:nvPr/>
            </p:nvSpPr>
            <p:spPr bwMode="auto">
              <a:xfrm>
                <a:off x="4211738" y="5900763"/>
                <a:ext cx="793433" cy="4556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pPr>
                  <a:defRPr/>
                </a:pPr>
                <a:r>
                  <a:rPr lang="en-US" sz="1050"/>
                  <a:t>time</a:t>
                </a:r>
                <a:endParaRPr lang="en-US" sz="1050"/>
              </a:p>
            </p:txBody>
          </p:sp>
        </p:grpSp>
      </p:grpSp>
      <p:pic>
        <p:nvPicPr>
          <p:cNvPr id="101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790" y="2609841"/>
            <a:ext cx="4099080" cy="233759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102" name="直接连接符 101"/>
          <p:cNvCxnSpPr/>
          <p:nvPr/>
        </p:nvCxnSpPr>
        <p:spPr>
          <a:xfrm flipV="1">
            <a:off x="7025574" y="2688174"/>
            <a:ext cx="1228163" cy="702078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>
            <a:off x="6813577" y="2978569"/>
            <a:ext cx="211997" cy="411683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>
            <a:off x="6813577" y="2978569"/>
            <a:ext cx="204594" cy="759703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/>
          <p:cNvSpPr txBox="1"/>
          <p:nvPr/>
        </p:nvSpPr>
        <p:spPr>
          <a:xfrm>
            <a:off x="8223307" y="2561216"/>
            <a:ext cx="6049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/>
              <a:t>v6, 7</a:t>
            </a:r>
            <a:endParaRPr lang="zh-CN" altLang="en-US" sz="1050" b="1" dirty="0"/>
          </a:p>
        </p:txBody>
      </p:sp>
      <p:sp>
        <p:nvSpPr>
          <p:cNvPr id="106" name="文本框 105"/>
          <p:cNvSpPr txBox="1"/>
          <p:nvPr/>
        </p:nvSpPr>
        <p:spPr>
          <a:xfrm>
            <a:off x="8224833" y="2834553"/>
            <a:ext cx="6049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/>
              <a:t>v5-</a:t>
            </a:r>
            <a:endParaRPr lang="zh-CN" altLang="en-US" sz="1050" b="1" dirty="0"/>
          </a:p>
        </p:txBody>
      </p:sp>
      <p:sp>
        <p:nvSpPr>
          <p:cNvPr id="10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08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</a:t>
            </a:r>
            <a:r>
              <a:rPr lang="en-US" altLang="zh-CN" dirty="0"/>
              <a:t>Quiz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8064896" cy="377968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>
              <a:tabLst>
                <a:tab pos="270510" algn="l"/>
                <a:tab pos="1260475" algn="l"/>
                <a:tab pos="2430780" algn="l"/>
              </a:tabLst>
            </a:pPr>
            <a:r>
              <a:rPr lang="en-US" altLang="zh-CN" sz="1800" dirty="0"/>
              <a:t>1.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主机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向主机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发送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[SYN=1, seq=1230]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TCP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报文段建立连接。若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接受该连接请求，应向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发送的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TCP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报文段是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? </a:t>
            </a:r>
            <a:r>
              <a:rPr lang="fr-FR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fr-FR" altLang="zh-CN" sz="1800" b="1" u="sng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fr-FR" altLang="zh-CN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tabLst>
                <a:tab pos="270510" algn="l"/>
                <a:tab pos="4500880" algn="l"/>
              </a:tabLst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a. SYN=0, ACK=0, seq=1, ack=1231  </a:t>
            </a:r>
            <a:endParaRPr lang="en-US" altLang="zh-CN" sz="18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66700" algn="just">
              <a:tabLst>
                <a:tab pos="270510" algn="l"/>
                <a:tab pos="4500880" algn="l"/>
              </a:tabLst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b. SYN=1, ACK=1, seq=1, ack=1230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tabLst>
                <a:tab pos="270510" algn="l"/>
                <a:tab pos="4500880" algn="l"/>
              </a:tabLst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c. SYN=1, ACK=1, seq=1, ack=1231  </a:t>
            </a:r>
            <a:endParaRPr lang="en-US" altLang="zh-CN" sz="18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66700" algn="just">
              <a:tabLst>
                <a:tab pos="270510" algn="l"/>
                <a:tab pos="4500880" algn="l"/>
              </a:tabLst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d. SYN=0, ACK=0, seq=1, ack=1230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8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90" name="Group 27"/>
          <p:cNvGrpSpPr/>
          <p:nvPr/>
        </p:nvGrpSpPr>
        <p:grpSpPr bwMode="auto">
          <a:xfrm>
            <a:off x="5148064" y="1851670"/>
            <a:ext cx="566738" cy="586978"/>
            <a:chOff x="-44" y="1473"/>
            <a:chExt cx="981" cy="1105"/>
          </a:xfrm>
        </p:grpSpPr>
        <p:pic>
          <p:nvPicPr>
            <p:cNvPr id="91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3" name="Group 43"/>
          <p:cNvGrpSpPr/>
          <p:nvPr/>
        </p:nvGrpSpPr>
        <p:grpSpPr bwMode="auto">
          <a:xfrm>
            <a:off x="8075263" y="1827644"/>
            <a:ext cx="317897" cy="513160"/>
            <a:chOff x="4140" y="429"/>
            <a:chExt cx="1425" cy="2396"/>
          </a:xfrm>
        </p:grpSpPr>
        <p:sp>
          <p:nvSpPr>
            <p:cNvPr id="94" name="Freeform 44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Rectangle 45"/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46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47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Rectangle 48"/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9" name="Group 49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4" name="AutoShape 50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AutoShape 51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0" name="Rectangle 52"/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1" name="Group 53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2" name="AutoShape 54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AutoShape 55"/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2" name="Rectangle 56"/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Rectangle 57"/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4" name="Group 58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0" name="AutoShape 59"/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AutoShape 60"/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5" name="Freeform 61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6" name="Group 62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8" name="AutoShape 63"/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AutoShape 64"/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7" name="Rectangle 65"/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66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67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Oval 68"/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69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AutoShape 70"/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AutoShape 71"/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Oval 72"/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Oval 73"/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6" name="Oval 74"/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Rectangle 75"/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6" name="矩形 125"/>
          <p:cNvSpPr/>
          <p:nvPr/>
        </p:nvSpPr>
        <p:spPr>
          <a:xfrm flipH="1">
            <a:off x="5401505" y="2438648"/>
            <a:ext cx="2739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0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7" name="直接箭头连接符 126"/>
          <p:cNvCxnSpPr/>
          <p:nvPr/>
        </p:nvCxnSpPr>
        <p:spPr>
          <a:xfrm>
            <a:off x="5525736" y="2631229"/>
            <a:ext cx="0" cy="1983849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/>
        </p:nvCxnSpPr>
        <p:spPr>
          <a:xfrm>
            <a:off x="8264111" y="2631229"/>
            <a:ext cx="0" cy="1983849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/>
          <p:cNvCxnSpPr/>
          <p:nvPr/>
        </p:nvCxnSpPr>
        <p:spPr>
          <a:xfrm>
            <a:off x="5525736" y="3273368"/>
            <a:ext cx="2698325" cy="304948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矩形 129"/>
          <p:cNvSpPr/>
          <p:nvPr/>
        </p:nvSpPr>
        <p:spPr>
          <a:xfrm>
            <a:off x="5887859" y="3317050"/>
            <a:ext cx="1963626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[SYN] Seq=1230, </a:t>
            </a:r>
            <a:r>
              <a:rPr lang="en-US" altLang="zh-CN" sz="90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1" name="直接箭头连接符 130"/>
          <p:cNvCxnSpPr/>
          <p:nvPr/>
        </p:nvCxnSpPr>
        <p:spPr>
          <a:xfrm flipH="1">
            <a:off x="5525737" y="3641277"/>
            <a:ext cx="2722470" cy="38735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 131"/>
          <p:cNvSpPr/>
          <p:nvPr/>
        </p:nvSpPr>
        <p:spPr>
          <a:xfrm>
            <a:off x="5999110" y="3741375"/>
            <a:ext cx="1941358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[###,###] Seq=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Ack=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9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8111227" y="2410686"/>
            <a:ext cx="27396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8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</a:t>
            </a:r>
            <a:r>
              <a:rPr lang="en-US" altLang="zh-CN" dirty="0"/>
              <a:t>Quiz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8064896" cy="377968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altLang="zh-CN" sz="1800" dirty="0"/>
              <a:t>2. Blanco</a:t>
            </a:r>
            <a:r>
              <a:rPr lang="zh-CN" altLang="zh-CN" sz="1800" dirty="0"/>
              <a:t>使用</a:t>
            </a:r>
            <a:r>
              <a:rPr lang="en-US" altLang="zh-CN" sz="1800" dirty="0"/>
              <a:t>Wireshark/WinPcap</a:t>
            </a:r>
            <a:r>
              <a:rPr lang="zh-CN" altLang="zh-CN" sz="1800" dirty="0"/>
              <a:t>软件</a:t>
            </a:r>
            <a:r>
              <a:rPr lang="zh-CN" altLang="en-US" sz="1800" dirty="0"/>
              <a:t>监听到他的主机发送出去的数据分组。该分组中</a:t>
            </a:r>
            <a:r>
              <a:rPr lang="en-US" altLang="zh-CN" sz="1800" dirty="0"/>
              <a:t>TCP</a:t>
            </a:r>
            <a:r>
              <a:rPr lang="zh-CN" altLang="en-US" sz="1800" dirty="0"/>
              <a:t>首部如下：</a:t>
            </a:r>
            <a:endParaRPr lang="en-US" altLang="zh-CN" sz="1800" dirty="0"/>
          </a:p>
          <a:p>
            <a:pPr lvl="1"/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charset="0"/>
                <a:cs typeface="Courier New" panose="02070309020205020404" charset="0"/>
              </a:rPr>
              <a:t>0489</a:t>
            </a:r>
            <a:r>
              <a:rPr lang="zh-CN" altLang="zh-CN" sz="1600" b="1" dirty="0">
                <a:solidFill>
                  <a:srgbClr val="FF0000"/>
                </a:solidFill>
                <a:latin typeface="Courier New" panose="02070309020205020404" charset="0"/>
                <a:cs typeface="Courier New" panose="02070309020205020404" charset="0"/>
              </a:rPr>
              <a:t>　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charset="0"/>
                <a:cs typeface="Courier New" panose="02070309020205020404" charset="0"/>
              </a:rPr>
              <a:t>0050  0dd6</a:t>
            </a:r>
            <a:r>
              <a:rPr lang="zh-CN" altLang="zh-CN" sz="1600" b="1" dirty="0">
                <a:solidFill>
                  <a:srgbClr val="FF0000"/>
                </a:solidFill>
                <a:latin typeface="Courier New" panose="02070309020205020404" charset="0"/>
                <a:cs typeface="Courier New" panose="02070309020205020404" charset="0"/>
              </a:rPr>
              <a:t>　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charset="0"/>
                <a:cs typeface="Courier New" panose="02070309020205020404" charset="0"/>
              </a:rPr>
              <a:t>01f5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lvl="1"/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charset="0"/>
                <a:cs typeface="Courier New" panose="02070309020205020404" charset="0"/>
              </a:rPr>
              <a:t>34a2</a:t>
            </a:r>
            <a:r>
              <a:rPr lang="zh-CN" altLang="zh-CN" sz="1600" b="1" dirty="0">
                <a:solidFill>
                  <a:srgbClr val="FF0000"/>
                </a:solidFill>
                <a:latin typeface="Courier New" panose="02070309020205020404" charset="0"/>
                <a:cs typeface="Courier New" panose="02070309020205020404" charset="0"/>
              </a:rPr>
              <a:t>　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charset="0"/>
                <a:cs typeface="Courier New" panose="02070309020205020404" charset="0"/>
              </a:rPr>
              <a:t>741a  5018</a:t>
            </a:r>
            <a:r>
              <a:rPr lang="zh-CN" altLang="zh-CN" sz="1600" b="1" dirty="0">
                <a:solidFill>
                  <a:srgbClr val="FF0000"/>
                </a:solidFill>
                <a:latin typeface="Courier New" panose="02070309020205020404" charset="0"/>
                <a:cs typeface="Courier New" panose="02070309020205020404" charset="0"/>
              </a:rPr>
              <a:t>　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charset="0"/>
                <a:cs typeface="Courier New" panose="02070309020205020404" charset="0"/>
              </a:rPr>
              <a:t>4470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lvl="1"/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charset="0"/>
                <a:cs typeface="Courier New" panose="02070309020205020404" charset="0"/>
              </a:rPr>
              <a:t>1fbd</a:t>
            </a:r>
            <a:r>
              <a:rPr lang="zh-CN" altLang="zh-CN" sz="1600" b="1" dirty="0">
                <a:solidFill>
                  <a:srgbClr val="FF0000"/>
                </a:solidFill>
                <a:latin typeface="Courier New" panose="02070309020205020404" charset="0"/>
                <a:cs typeface="Courier New" panose="02070309020205020404" charset="0"/>
              </a:rPr>
              <a:t>　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charset="0"/>
                <a:cs typeface="Courier New" panose="02070309020205020404" charset="0"/>
              </a:rPr>
              <a:t>0000</a:t>
            </a:r>
            <a:endParaRPr lang="en-US" altLang="zh-CN" sz="1600" b="1" dirty="0">
              <a:solidFill>
                <a:srgbClr val="FF0000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zh-CN" altLang="en-US" sz="1800" dirty="0"/>
              <a:t>问：</a:t>
            </a:r>
            <a:endParaRPr lang="en-US" altLang="zh-CN" sz="1800" dirty="0"/>
          </a:p>
          <a:p>
            <a:pPr lvl="1"/>
            <a:r>
              <a:rPr lang="zh-CN" altLang="en-US" sz="1400" dirty="0"/>
              <a:t>目标端口号是多少？</a:t>
            </a:r>
            <a:endParaRPr lang="en-US" altLang="zh-CN" sz="1400" dirty="0"/>
          </a:p>
          <a:p>
            <a:pPr lvl="1"/>
            <a:r>
              <a:rPr lang="zh-CN" altLang="en-US" sz="1400" dirty="0"/>
              <a:t>顶层是什么协议？</a:t>
            </a:r>
            <a:endParaRPr lang="en-US" altLang="zh-CN" sz="1400" dirty="0"/>
          </a:p>
          <a:p>
            <a:pPr lvl="1"/>
            <a:r>
              <a:rPr lang="en-US" altLang="zh-CN" sz="1400" dirty="0"/>
              <a:t>Blanco</a:t>
            </a:r>
            <a:r>
              <a:rPr lang="zh-CN" altLang="en-US" sz="1400" dirty="0"/>
              <a:t>主机的接收窗口多大？</a:t>
            </a:r>
            <a:endParaRPr lang="en-US" altLang="zh-CN" sz="1400" dirty="0"/>
          </a:p>
          <a:p>
            <a:pPr lvl="1"/>
            <a:r>
              <a:rPr lang="en-US" altLang="zh-CN" sz="1400" dirty="0"/>
              <a:t>TCP</a:t>
            </a:r>
            <a:r>
              <a:rPr lang="zh-CN" altLang="en-US" sz="1400" dirty="0"/>
              <a:t>首部长度多少字节？</a:t>
            </a:r>
            <a:endParaRPr lang="en-US" altLang="zh-CN" sz="1400" dirty="0"/>
          </a:p>
          <a:p>
            <a:pPr lvl="1"/>
            <a:endParaRPr lang="en-US" altLang="zh-CN" sz="1600" dirty="0"/>
          </a:p>
        </p:txBody>
      </p:sp>
      <p:grpSp>
        <p:nvGrpSpPr>
          <p:cNvPr id="4" name="组合 3"/>
          <p:cNvGrpSpPr/>
          <p:nvPr/>
        </p:nvGrpSpPr>
        <p:grpSpPr>
          <a:xfrm>
            <a:off x="4067944" y="1563638"/>
            <a:ext cx="4813572" cy="2355073"/>
            <a:chOff x="1868477" y="1500917"/>
            <a:chExt cx="5711183" cy="2360572"/>
          </a:xfrm>
        </p:grpSpPr>
        <p:sp>
          <p:nvSpPr>
            <p:cNvPr id="5" name="Line 3"/>
            <p:cNvSpPr>
              <a:spLocks noChangeShapeType="1"/>
            </p:cNvSpPr>
            <p:nvPr/>
          </p:nvSpPr>
          <p:spPr bwMode="auto">
            <a:xfrm flipH="1">
              <a:off x="2066487" y="1926780"/>
              <a:ext cx="10820" cy="151582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868477" y="2514959"/>
              <a:ext cx="374181" cy="3087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7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7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7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7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7195300" y="1923289"/>
              <a:ext cx="0" cy="127322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6927802" y="2373587"/>
              <a:ext cx="651858" cy="2650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8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8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8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2263416" y="1925907"/>
              <a:ext cx="4641900" cy="1519319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2269909" y="3445226"/>
              <a:ext cx="4652721" cy="41626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2259088" y="2184217"/>
              <a:ext cx="46494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2267745" y="2439910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2259088" y="2694729"/>
              <a:ext cx="46494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2259088" y="2949549"/>
              <a:ext cx="46494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2267745" y="3205241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4585449" y="1928525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5310409" y="1944476"/>
              <a:ext cx="946344" cy="243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2256819" y="2712317"/>
              <a:ext cx="634482" cy="2068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7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7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3007852" y="2962755"/>
              <a:ext cx="809935" cy="243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9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3130121" y="3217080"/>
              <a:ext cx="1931420" cy="243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077101" y="1944476"/>
              <a:ext cx="730361" cy="243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4317105" y="2196677"/>
              <a:ext cx="524783" cy="243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号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4588694" y="2698220"/>
              <a:ext cx="0" cy="5035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5213025" y="2962755"/>
              <a:ext cx="1065703" cy="243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5484614" y="2698336"/>
              <a:ext cx="707626" cy="243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4168868" y="2462843"/>
              <a:ext cx="884016" cy="206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认   号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2841219" y="2698220"/>
              <a:ext cx="0" cy="2548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4005482" y="2695602"/>
              <a:ext cx="0" cy="2513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3706842" y="2698220"/>
              <a:ext cx="0" cy="2548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3855079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4295465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>
              <a:off x="4150473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4443703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3023000" y="2703572"/>
              <a:ext cx="554167" cy="243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9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4422174" y="2692732"/>
              <a:ext cx="193058" cy="352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5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2270990" y="1589056"/>
              <a:ext cx="463108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4359304" y="1500917"/>
              <a:ext cx="556060" cy="2432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9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>
              <a:off x="2261252" y="1868311"/>
              <a:ext cx="4635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>
              <a:off x="2261252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>
              <a:off x="2406244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40"/>
            <p:cNvSpPr>
              <a:spLocks noChangeShapeType="1"/>
            </p:cNvSpPr>
            <p:nvPr/>
          </p:nvSpPr>
          <p:spPr bwMode="auto">
            <a:xfrm>
              <a:off x="2551236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41"/>
            <p:cNvSpPr>
              <a:spLocks noChangeShapeType="1"/>
            </p:cNvSpPr>
            <p:nvPr/>
          </p:nvSpPr>
          <p:spPr bwMode="auto">
            <a:xfrm>
              <a:off x="2696228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42"/>
            <p:cNvSpPr>
              <a:spLocks noChangeShapeType="1"/>
            </p:cNvSpPr>
            <p:nvPr/>
          </p:nvSpPr>
          <p:spPr bwMode="auto">
            <a:xfrm>
              <a:off x="2841219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43"/>
            <p:cNvSpPr>
              <a:spLocks noChangeShapeType="1"/>
            </p:cNvSpPr>
            <p:nvPr/>
          </p:nvSpPr>
          <p:spPr bwMode="auto">
            <a:xfrm>
              <a:off x="2986211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44"/>
            <p:cNvSpPr>
              <a:spLocks noChangeShapeType="1"/>
            </p:cNvSpPr>
            <p:nvPr/>
          </p:nvSpPr>
          <p:spPr bwMode="auto">
            <a:xfrm>
              <a:off x="3130121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45"/>
            <p:cNvSpPr>
              <a:spLocks noChangeShapeType="1"/>
            </p:cNvSpPr>
            <p:nvPr/>
          </p:nvSpPr>
          <p:spPr bwMode="auto">
            <a:xfrm>
              <a:off x="3275112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Line 46"/>
            <p:cNvSpPr>
              <a:spLocks noChangeShapeType="1"/>
            </p:cNvSpPr>
            <p:nvPr/>
          </p:nvSpPr>
          <p:spPr bwMode="auto">
            <a:xfrm>
              <a:off x="3420104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Line 47"/>
            <p:cNvSpPr>
              <a:spLocks noChangeShapeType="1"/>
            </p:cNvSpPr>
            <p:nvPr/>
          </p:nvSpPr>
          <p:spPr bwMode="auto">
            <a:xfrm>
              <a:off x="3565096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48"/>
            <p:cNvSpPr>
              <a:spLocks noChangeShapeType="1"/>
            </p:cNvSpPr>
            <p:nvPr/>
          </p:nvSpPr>
          <p:spPr bwMode="auto">
            <a:xfrm>
              <a:off x="3710088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49"/>
            <p:cNvSpPr>
              <a:spLocks noChangeShapeType="1"/>
            </p:cNvSpPr>
            <p:nvPr/>
          </p:nvSpPr>
          <p:spPr bwMode="auto">
            <a:xfrm>
              <a:off x="3855079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50"/>
            <p:cNvSpPr>
              <a:spLocks noChangeShapeType="1"/>
            </p:cNvSpPr>
            <p:nvPr/>
          </p:nvSpPr>
          <p:spPr bwMode="auto">
            <a:xfrm>
              <a:off x="4000071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51"/>
            <p:cNvSpPr>
              <a:spLocks noChangeShapeType="1"/>
            </p:cNvSpPr>
            <p:nvPr/>
          </p:nvSpPr>
          <p:spPr bwMode="auto">
            <a:xfrm>
              <a:off x="414506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Line 52"/>
            <p:cNvSpPr>
              <a:spLocks noChangeShapeType="1"/>
            </p:cNvSpPr>
            <p:nvPr/>
          </p:nvSpPr>
          <p:spPr bwMode="auto">
            <a:xfrm>
              <a:off x="428897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53"/>
            <p:cNvSpPr>
              <a:spLocks noChangeShapeType="1"/>
            </p:cNvSpPr>
            <p:nvPr/>
          </p:nvSpPr>
          <p:spPr bwMode="auto">
            <a:xfrm>
              <a:off x="443396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54"/>
            <p:cNvSpPr>
              <a:spLocks noChangeShapeType="1"/>
            </p:cNvSpPr>
            <p:nvPr/>
          </p:nvSpPr>
          <p:spPr bwMode="auto">
            <a:xfrm>
              <a:off x="4578956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Line 55"/>
            <p:cNvSpPr>
              <a:spLocks noChangeShapeType="1"/>
            </p:cNvSpPr>
            <p:nvPr/>
          </p:nvSpPr>
          <p:spPr bwMode="auto">
            <a:xfrm>
              <a:off x="4723948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>
              <a:off x="4868940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>
              <a:off x="5013932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58"/>
            <p:cNvSpPr>
              <a:spLocks noChangeShapeType="1"/>
            </p:cNvSpPr>
            <p:nvPr/>
          </p:nvSpPr>
          <p:spPr bwMode="auto">
            <a:xfrm>
              <a:off x="515892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>
              <a:off x="530391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>
              <a:off x="544782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Line 61"/>
            <p:cNvSpPr>
              <a:spLocks noChangeShapeType="1"/>
            </p:cNvSpPr>
            <p:nvPr/>
          </p:nvSpPr>
          <p:spPr bwMode="auto">
            <a:xfrm>
              <a:off x="5592816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Line 62"/>
            <p:cNvSpPr>
              <a:spLocks noChangeShapeType="1"/>
            </p:cNvSpPr>
            <p:nvPr/>
          </p:nvSpPr>
          <p:spPr bwMode="auto">
            <a:xfrm>
              <a:off x="5737808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63"/>
            <p:cNvSpPr>
              <a:spLocks noChangeShapeType="1"/>
            </p:cNvSpPr>
            <p:nvPr/>
          </p:nvSpPr>
          <p:spPr bwMode="auto">
            <a:xfrm>
              <a:off x="5882800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Line 64"/>
            <p:cNvSpPr>
              <a:spLocks noChangeShapeType="1"/>
            </p:cNvSpPr>
            <p:nvPr/>
          </p:nvSpPr>
          <p:spPr bwMode="auto">
            <a:xfrm>
              <a:off x="6027792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65"/>
            <p:cNvSpPr>
              <a:spLocks noChangeShapeType="1"/>
            </p:cNvSpPr>
            <p:nvPr/>
          </p:nvSpPr>
          <p:spPr bwMode="auto">
            <a:xfrm>
              <a:off x="617278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66"/>
            <p:cNvSpPr>
              <a:spLocks noChangeShapeType="1"/>
            </p:cNvSpPr>
            <p:nvPr/>
          </p:nvSpPr>
          <p:spPr bwMode="auto">
            <a:xfrm>
              <a:off x="631777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Line 67"/>
            <p:cNvSpPr>
              <a:spLocks noChangeShapeType="1"/>
            </p:cNvSpPr>
            <p:nvPr/>
          </p:nvSpPr>
          <p:spPr bwMode="auto">
            <a:xfrm>
              <a:off x="6462767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Line 68"/>
            <p:cNvSpPr>
              <a:spLocks noChangeShapeType="1"/>
            </p:cNvSpPr>
            <p:nvPr/>
          </p:nvSpPr>
          <p:spPr bwMode="auto">
            <a:xfrm>
              <a:off x="6606677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Line 69"/>
            <p:cNvSpPr>
              <a:spLocks noChangeShapeType="1"/>
            </p:cNvSpPr>
            <p:nvPr/>
          </p:nvSpPr>
          <p:spPr bwMode="auto">
            <a:xfrm>
              <a:off x="6751669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70"/>
            <p:cNvSpPr>
              <a:spLocks noChangeShapeType="1"/>
            </p:cNvSpPr>
            <p:nvPr/>
          </p:nvSpPr>
          <p:spPr bwMode="auto">
            <a:xfrm>
              <a:off x="6896660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2357553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3516405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4675257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5834109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4264035" y="2692732"/>
              <a:ext cx="154729" cy="352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5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Rectangle 76"/>
            <p:cNvSpPr>
              <a:spLocks noChangeArrowheads="1"/>
            </p:cNvSpPr>
            <p:nvPr/>
          </p:nvSpPr>
          <p:spPr bwMode="auto">
            <a:xfrm>
              <a:off x="4132594" y="2692732"/>
              <a:ext cx="153648" cy="352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5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Rectangle 77"/>
            <p:cNvSpPr>
              <a:spLocks noChangeArrowheads="1"/>
            </p:cNvSpPr>
            <p:nvPr/>
          </p:nvSpPr>
          <p:spPr bwMode="auto">
            <a:xfrm>
              <a:off x="3977864" y="2692732"/>
              <a:ext cx="150403" cy="352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5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 78"/>
            <p:cNvSpPr>
              <a:spLocks noChangeArrowheads="1"/>
            </p:cNvSpPr>
            <p:nvPr/>
          </p:nvSpPr>
          <p:spPr bwMode="auto">
            <a:xfrm>
              <a:off x="3832873" y="2692732"/>
              <a:ext cx="160140" cy="352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5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Rectangle 79"/>
            <p:cNvSpPr>
              <a:spLocks noChangeArrowheads="1"/>
            </p:cNvSpPr>
            <p:nvPr/>
          </p:nvSpPr>
          <p:spPr bwMode="auto">
            <a:xfrm>
              <a:off x="3674896" y="2692732"/>
              <a:ext cx="154730" cy="352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50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5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Rectangle 80"/>
            <p:cNvSpPr>
              <a:spLocks noChangeArrowheads="1"/>
            </p:cNvSpPr>
            <p:nvPr/>
          </p:nvSpPr>
          <p:spPr bwMode="auto">
            <a:xfrm>
              <a:off x="1883624" y="1656252"/>
              <a:ext cx="5496688" cy="2068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7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7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7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Line 81"/>
            <p:cNvSpPr>
              <a:spLocks noChangeShapeType="1"/>
            </p:cNvSpPr>
            <p:nvPr/>
          </p:nvSpPr>
          <p:spPr bwMode="auto">
            <a:xfrm flipH="1">
              <a:off x="5736726" y="3211350"/>
              <a:ext cx="2164" cy="2364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Rectangle 83"/>
            <p:cNvSpPr>
              <a:spLocks noChangeArrowheads="1"/>
            </p:cNvSpPr>
            <p:nvPr/>
          </p:nvSpPr>
          <p:spPr bwMode="auto">
            <a:xfrm>
              <a:off x="6046184" y="3217080"/>
              <a:ext cx="686054" cy="243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Line 96"/>
            <p:cNvSpPr>
              <a:spLocks noChangeShapeType="1"/>
            </p:cNvSpPr>
            <p:nvPr/>
          </p:nvSpPr>
          <p:spPr bwMode="auto">
            <a:xfrm>
              <a:off x="6969156" y="1917180"/>
              <a:ext cx="5020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Line 97"/>
            <p:cNvSpPr>
              <a:spLocks noChangeShapeType="1"/>
            </p:cNvSpPr>
            <p:nvPr/>
          </p:nvSpPr>
          <p:spPr bwMode="auto">
            <a:xfrm>
              <a:off x="6969156" y="3201750"/>
              <a:ext cx="5020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Line 98"/>
            <p:cNvSpPr>
              <a:spLocks noChangeShapeType="1"/>
            </p:cNvSpPr>
            <p:nvPr/>
          </p:nvSpPr>
          <p:spPr bwMode="auto">
            <a:xfrm>
              <a:off x="1904183" y="1931143"/>
              <a:ext cx="320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Line 99"/>
            <p:cNvSpPr>
              <a:spLocks noChangeShapeType="1"/>
            </p:cNvSpPr>
            <p:nvPr/>
          </p:nvSpPr>
          <p:spPr bwMode="auto">
            <a:xfrm>
              <a:off x="1912839" y="3438244"/>
              <a:ext cx="320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8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8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" name="文本框 92"/>
          <p:cNvSpPr txBox="1"/>
          <p:nvPr/>
        </p:nvSpPr>
        <p:spPr>
          <a:xfrm>
            <a:off x="2051720" y="4174606"/>
            <a:ext cx="627603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05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备注：二进制和十六进制转换表</a:t>
            </a:r>
            <a:endParaRPr lang="zh-CN" altLang="zh-CN" sz="105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1050" b="1" kern="100" dirty="0">
                <a:solidFill>
                  <a:srgbClr val="000000"/>
                </a:solidFill>
                <a:effectLst/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</a:rPr>
              <a:t>{0000}bin={0}hex; {0001}bin={1}hex; {0010}bin={2}hex; {0011}bin={3}hex;</a:t>
            </a:r>
            <a:endParaRPr lang="zh-CN" altLang="zh-CN" sz="1050" kern="100" dirty="0">
              <a:effectLst/>
              <a:latin typeface="Courier New" panose="02070309020205020404" charset="0"/>
              <a:ea typeface="宋体" panose="02010600030101010101" pitchFamily="2" charset="-122"/>
              <a:cs typeface="Courier New" panose="02070309020205020404" charset="0"/>
            </a:endParaRPr>
          </a:p>
          <a:p>
            <a:pPr algn="just"/>
            <a:r>
              <a:rPr lang="en-US" altLang="zh-CN" sz="1050" b="1" kern="100" dirty="0">
                <a:solidFill>
                  <a:srgbClr val="000000"/>
                </a:solidFill>
                <a:effectLst/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</a:rPr>
              <a:t>{0100}bin={4}hex; {0101}bin={5}hex; {0110}bin={6}hex; {0111}bin={7}hex;</a:t>
            </a:r>
            <a:endParaRPr lang="zh-CN" altLang="zh-CN" sz="1050" kern="100" dirty="0">
              <a:effectLst/>
              <a:latin typeface="Courier New" panose="02070309020205020404" charset="0"/>
              <a:ea typeface="宋体" panose="02010600030101010101" pitchFamily="2" charset="-122"/>
              <a:cs typeface="Courier New" panose="02070309020205020404" charset="0"/>
            </a:endParaRPr>
          </a:p>
          <a:p>
            <a:pPr algn="just"/>
            <a:r>
              <a:rPr lang="en-US" altLang="zh-CN" sz="1050" b="1" kern="100" dirty="0">
                <a:solidFill>
                  <a:srgbClr val="000000"/>
                </a:solidFill>
                <a:effectLst/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</a:rPr>
              <a:t>{1000}bin={8}hex; {1001}bin={9}hex; {1010}bin={a}hex; {1011}bin={b}hex;</a:t>
            </a:r>
            <a:endParaRPr lang="zh-CN" altLang="zh-CN" sz="1050" kern="100" dirty="0">
              <a:effectLst/>
              <a:latin typeface="Courier New" panose="02070309020205020404" charset="0"/>
              <a:ea typeface="宋体" panose="02010600030101010101" pitchFamily="2" charset="-122"/>
              <a:cs typeface="Courier New" panose="02070309020205020404" charset="0"/>
            </a:endParaRPr>
          </a:p>
          <a:p>
            <a:pPr algn="just"/>
            <a:r>
              <a:rPr lang="en-US" altLang="zh-CN" sz="1050" b="1" kern="100" dirty="0">
                <a:solidFill>
                  <a:srgbClr val="000000"/>
                </a:solidFill>
                <a:effectLst/>
                <a:latin typeface="Courier New" panose="02070309020205020404" charset="0"/>
                <a:ea typeface="宋体" panose="02010600030101010101" pitchFamily="2" charset="-122"/>
                <a:cs typeface="Courier New" panose="02070309020205020404" charset="0"/>
              </a:rPr>
              <a:t>{1100}bin={c}hex; {1101}bin={d}hex; {1110}bin={e}hex; {1111}bin={f}hex.</a:t>
            </a:r>
            <a:endParaRPr lang="zh-CN" altLang="zh-CN" sz="1050" kern="100" dirty="0">
              <a:effectLst/>
              <a:latin typeface="Courier New" panose="02070309020205020404" charset="0"/>
              <a:ea typeface="宋体" panose="02010600030101010101" pitchFamily="2" charset="-122"/>
              <a:cs typeface="Courier New" panose="020703090202050204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8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</a:t>
            </a:r>
            <a:r>
              <a:rPr lang="en-US" altLang="zh-CN" dirty="0"/>
              <a:t>Quiz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47135" y="935999"/>
            <a:ext cx="8573337" cy="4012005"/>
          </a:xfrm>
        </p:spPr>
        <p:txBody>
          <a:bodyPr>
            <a:normAutofit/>
          </a:bodyPr>
          <a:lstStyle/>
          <a:p>
            <a:r>
              <a:rPr lang="en-US" altLang="zh-CN" sz="1800" dirty="0"/>
              <a:t>3 TCP</a:t>
            </a:r>
            <a:r>
              <a:rPr lang="zh-CN" altLang="en-US" sz="1800" dirty="0"/>
              <a:t>拥塞窗口长度作为传输周期</a:t>
            </a:r>
            <a:r>
              <a:rPr lang="en-US" altLang="zh-CN" sz="1800" dirty="0"/>
              <a:t>(</a:t>
            </a:r>
            <a:r>
              <a:rPr lang="zh-CN" altLang="en-US" sz="1800" dirty="0"/>
              <a:t>回合</a:t>
            </a:r>
            <a:r>
              <a:rPr lang="en-US" altLang="zh-CN" sz="1800" dirty="0"/>
              <a:t>)</a:t>
            </a:r>
            <a:r>
              <a:rPr lang="zh-CN" altLang="en-US" sz="1800" dirty="0"/>
              <a:t>的函数，折线表示的是</a:t>
            </a:r>
            <a:r>
              <a:rPr lang="en-US" altLang="zh-CN" sz="1800" dirty="0"/>
              <a:t>TCP Reno</a:t>
            </a:r>
            <a:r>
              <a:rPr lang="zh-CN" altLang="en-US" sz="1800" dirty="0"/>
              <a:t>的行为。</a:t>
            </a:r>
            <a:endParaRPr lang="en-US" altLang="zh-CN" sz="1800" dirty="0"/>
          </a:p>
          <a:p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(1) </a:t>
            </a:r>
            <a:r>
              <a:rPr lang="zh-CN" altLang="en-US" sz="1400" dirty="0"/>
              <a:t>请指出</a:t>
            </a:r>
            <a:r>
              <a:rPr lang="en-US" altLang="zh-CN" sz="1400" dirty="0"/>
              <a:t>TCP</a:t>
            </a:r>
            <a:r>
              <a:rPr lang="zh-CN" altLang="en-US" sz="1400" dirty="0"/>
              <a:t>慢启动运行阶段的时间</a:t>
            </a:r>
            <a:r>
              <a:rPr lang="en-US" altLang="zh-CN" sz="1400" dirty="0"/>
              <a:t>(</a:t>
            </a:r>
            <a:r>
              <a:rPr lang="zh-CN" altLang="en-US" sz="1400" dirty="0"/>
              <a:t>周期</a:t>
            </a:r>
            <a:r>
              <a:rPr lang="en-US" altLang="zh-CN" sz="1400" dirty="0"/>
              <a:t>)</a:t>
            </a:r>
            <a:r>
              <a:rPr lang="zh-CN" altLang="en-US" sz="1400" dirty="0"/>
              <a:t>间隔。</a:t>
            </a:r>
            <a:endParaRPr lang="zh-CN" altLang="en-US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(2) </a:t>
            </a:r>
            <a:r>
              <a:rPr lang="zh-CN" altLang="en-US" sz="1400" dirty="0"/>
              <a:t>请指出</a:t>
            </a:r>
            <a:r>
              <a:rPr lang="en-US" altLang="zh-CN" sz="1400" dirty="0"/>
              <a:t>TCP</a:t>
            </a:r>
            <a:r>
              <a:rPr lang="zh-CN" altLang="en-US" sz="1400" dirty="0"/>
              <a:t>拥塞避免运行时的时间</a:t>
            </a:r>
            <a:r>
              <a:rPr lang="en-US" altLang="zh-CN" sz="1400" dirty="0"/>
              <a:t>(</a:t>
            </a:r>
            <a:r>
              <a:rPr lang="zh-CN" altLang="en-US" sz="1400" dirty="0"/>
              <a:t>周期</a:t>
            </a:r>
            <a:r>
              <a:rPr lang="en-US" altLang="zh-CN" sz="1400" dirty="0"/>
              <a:t>)</a:t>
            </a:r>
            <a:r>
              <a:rPr lang="zh-CN" altLang="en-US" sz="1400" dirty="0"/>
              <a:t>间隔。</a:t>
            </a:r>
            <a:endParaRPr lang="zh-CN" altLang="en-US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(3) </a:t>
            </a:r>
            <a:r>
              <a:rPr lang="zh-CN" altLang="en-US" sz="1400" dirty="0"/>
              <a:t>在第</a:t>
            </a:r>
            <a:r>
              <a:rPr lang="en-US" altLang="zh-CN" sz="1400" dirty="0"/>
              <a:t>14</a:t>
            </a:r>
            <a:r>
              <a:rPr lang="zh-CN" altLang="en-US" sz="1400" dirty="0"/>
              <a:t>和</a:t>
            </a:r>
            <a:r>
              <a:rPr lang="en-US" altLang="zh-CN" sz="1400" dirty="0"/>
              <a:t>22</a:t>
            </a:r>
            <a:r>
              <a:rPr lang="zh-CN" altLang="en-US" sz="1400" dirty="0"/>
              <a:t>个传输轮回里，</a:t>
            </a:r>
            <a:r>
              <a:rPr lang="en-US" altLang="zh-CN" sz="1400" dirty="0"/>
              <a:t>TCP</a:t>
            </a:r>
            <a:r>
              <a:rPr lang="zh-CN" altLang="en-US" sz="1400" dirty="0"/>
              <a:t>慢启动阈值</a:t>
            </a:r>
            <a:br>
              <a:rPr lang="en-US" altLang="zh-CN" sz="1400" dirty="0"/>
            </a:br>
            <a:r>
              <a:rPr lang="en-US" altLang="zh-CN" sz="1400" dirty="0"/>
              <a:t>(</a:t>
            </a:r>
            <a:r>
              <a:rPr lang="en-US" altLang="zh-CN" sz="1400" dirty="0" err="1"/>
              <a:t>ssthreshold</a:t>
            </a:r>
            <a:r>
              <a:rPr lang="en-US" altLang="zh-CN" sz="1400" dirty="0"/>
              <a:t>)</a:t>
            </a:r>
            <a:r>
              <a:rPr lang="zh-CN" altLang="en-US" sz="1400" dirty="0"/>
              <a:t>分别是多少？</a:t>
            </a:r>
            <a:endParaRPr lang="zh-CN" altLang="en-US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(4) </a:t>
            </a:r>
            <a:r>
              <a:rPr lang="zh-CN" altLang="en-US" sz="1400" dirty="0"/>
              <a:t>第</a:t>
            </a:r>
            <a:r>
              <a:rPr lang="en-US" altLang="zh-CN" sz="1400" dirty="0"/>
              <a:t>20</a:t>
            </a:r>
            <a:r>
              <a:rPr lang="zh-CN" altLang="en-US" sz="1400" dirty="0"/>
              <a:t>个传输轮回之后，报文段的丢失是根据</a:t>
            </a:r>
            <a:br>
              <a:rPr lang="en-US" altLang="zh-CN" sz="1400" dirty="0"/>
            </a:br>
            <a:r>
              <a:rPr lang="zh-CN" altLang="en-US" sz="1400" dirty="0"/>
              <a:t>什么事件检测出来的？</a:t>
            </a:r>
            <a:endParaRPr lang="zh-CN" altLang="en-US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(5) </a:t>
            </a:r>
            <a:r>
              <a:rPr lang="zh-CN" altLang="en-US" sz="1400" dirty="0"/>
              <a:t>发送端在哪个传输轮回内发送了第</a:t>
            </a:r>
            <a:r>
              <a:rPr lang="en-US" altLang="zh-CN" sz="1400" dirty="0"/>
              <a:t>80</a:t>
            </a:r>
            <a:r>
              <a:rPr lang="zh-CN" altLang="en-US" sz="1400" dirty="0"/>
              <a:t>个报文段？</a:t>
            </a:r>
            <a:endParaRPr lang="zh-CN" altLang="en-US" sz="1400" dirty="0"/>
          </a:p>
        </p:txBody>
      </p:sp>
      <p:pic>
        <p:nvPicPr>
          <p:cNvPr id="4" name="Drawing 0" descr="图片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779662"/>
            <a:ext cx="4380510" cy="280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  <a:effectLst/>
              </a:rPr>
              <a:t>第四章 网络层</a:t>
            </a:r>
            <a:endParaRPr lang="zh-CN" altLang="en-US" dirty="0">
              <a:solidFill>
                <a:srgbClr val="C00000"/>
              </a:solidFill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483768" y="936000"/>
            <a:ext cx="5616624" cy="3779688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教学目标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理解网络层服务的基本原理  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/>
              <a:t>网络层的服务模型</a:t>
            </a:r>
            <a:endParaRPr lang="en-US" altLang="zh-CN" dirty="0"/>
          </a:p>
          <a:p>
            <a:pPr lvl="2"/>
            <a:r>
              <a:rPr lang="zh-CN" altLang="en-US" dirty="0"/>
              <a:t>分组转发和路由</a:t>
            </a:r>
            <a:endParaRPr lang="en-US" altLang="zh-CN" dirty="0"/>
          </a:p>
          <a:p>
            <a:pPr lvl="2"/>
            <a:r>
              <a:rPr lang="zh-CN" altLang="en-US" dirty="0"/>
              <a:t>路由器是怎样工作的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路由选择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因特网的组网：实施和实例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子网划分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effectLst/>
              </a:rPr>
              <a:t>网络地址转换</a:t>
            </a:r>
            <a:r>
              <a:rPr lang="en-US" altLang="zh-CN" dirty="0">
                <a:effectLst/>
              </a:rPr>
              <a:t>NAT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动态主机配置</a:t>
            </a:r>
            <a:r>
              <a:rPr lang="en-US" altLang="zh-CN" dirty="0"/>
              <a:t>DHCP</a:t>
            </a:r>
            <a:endParaRPr lang="en-US" altLang="zh-CN" dirty="0"/>
          </a:p>
          <a:p>
            <a:pPr lvl="2"/>
            <a:r>
              <a:rPr lang="zh-CN" altLang="en-US" dirty="0"/>
              <a:t>因特网控制报文协议</a:t>
            </a:r>
            <a:r>
              <a:rPr lang="en-US" altLang="zh-CN" dirty="0"/>
              <a:t>ICMP</a:t>
            </a:r>
            <a:endParaRPr lang="en-US" altLang="zh-CN" dirty="0">
              <a:effectLst/>
            </a:endParaRPr>
          </a:p>
        </p:txBody>
      </p:sp>
      <p:pic>
        <p:nvPicPr>
          <p:cNvPr id="7" name="Picture 7" descr="rada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707654"/>
            <a:ext cx="1021940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/>
              <a:t>4.1 </a:t>
            </a:r>
            <a:r>
              <a:rPr lang="zh-CN" altLang="en-US" sz="2200" dirty="0"/>
              <a:t>网络层概述</a:t>
            </a:r>
            <a:endParaRPr lang="zh-CN" altLang="en-US" sz="2200" dirty="0"/>
          </a:p>
        </p:txBody>
      </p:sp>
      <p:sp>
        <p:nvSpPr>
          <p:cNvPr id="6" name="内容占位符 5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/>
              <a:t>4.2 </a:t>
            </a:r>
            <a:r>
              <a:rPr lang="zh-CN" altLang="en-US" sz="2200" dirty="0"/>
              <a:t>路由器原理</a:t>
            </a:r>
            <a:endParaRPr lang="zh-CN" altLang="en-US" sz="2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roup 1"/>
          <p:cNvGrpSpPr/>
          <p:nvPr/>
        </p:nvGrpSpPr>
        <p:grpSpPr bwMode="auto">
          <a:xfrm>
            <a:off x="5122752" y="987574"/>
            <a:ext cx="3126346" cy="3863194"/>
            <a:chOff x="5202238" y="1384300"/>
            <a:chExt cx="3581240" cy="4777914"/>
          </a:xfrm>
        </p:grpSpPr>
        <p:sp>
          <p:nvSpPr>
            <p:cNvPr id="417" name="Freeform 415"/>
            <p:cNvSpPr/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8" name="Freeform 416"/>
            <p:cNvSpPr/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9" name="Freeform 417"/>
            <p:cNvSpPr/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20" name="Group 418"/>
            <p:cNvGrpSpPr/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770" name="Rectangle 41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1" name="AutoShape 42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CC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21" name="Line 421"/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2" name="Line 422"/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3" name="Line 423"/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4" name="Line 424"/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5" name="Line 425"/>
            <p:cNvSpPr>
              <a:spLocks noChangeShapeType="1"/>
            </p:cNvSpPr>
            <p:nvPr/>
          </p:nvSpPr>
          <p:spPr bwMode="auto">
            <a:xfrm>
              <a:off x="6723063" y="2239318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6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7" name="Freeform 427"/>
            <p:cNvSpPr/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8" name="Line 428"/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9" name="Line 429"/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0" name="Line 430"/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1" name="Line 431"/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2" name="Line 432"/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3" name="Line 433"/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4" name="Line 435"/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5" name="Line 436"/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6" name="Line 439"/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7" name="Line 440"/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8" name="Line 441"/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9" name="Line 443"/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0" name="Line 444"/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1" name="Line 445"/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2" name="Line 446"/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3" name="Line 447"/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4" name="Line 448"/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5" name="Line 449"/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6" name="Line 450"/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7" name="Line 451"/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8" name="Line 452"/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9" name="Line 541"/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50" name="Group 590"/>
            <p:cNvGrpSpPr/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768" name="Picture 59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9" name="Freeform 592"/>
              <p:cNvSpPr/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1" name="Group 593"/>
            <p:cNvGrpSpPr/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766" name="Picture 5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7" name="Freeform 595"/>
              <p:cNvSpPr/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2" name="Group 596"/>
            <p:cNvGrpSpPr/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764" name="Picture 5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5" name="Freeform 598"/>
              <p:cNvSpPr/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3" name="Group 599"/>
            <p:cNvGrpSpPr/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762" name="Picture 60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3" name="Freeform 601"/>
              <p:cNvSpPr/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454" name="Picture 603" descr="car_icon_small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55" name="Group 652"/>
            <p:cNvGrpSpPr/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760" name="Picture 653" descr="iphone_stylized_small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61" name="Picture 654" descr="antenna_radiation_stylized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56" name="Group 665"/>
            <p:cNvGrpSpPr/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75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55" name="Group 659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58" name="Freeform 660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59" name="Freeform 661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56" name="Line 6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7" name="Line 6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7" name="Group 666"/>
            <p:cNvGrpSpPr/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74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47" name="Group 670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50" name="Freeform 671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51" name="Freeform 672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48" name="Line 67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9" name="Line 67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8" name="Group 675"/>
            <p:cNvGrpSpPr/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73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39" name="Group 679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42" name="Freeform 680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43" name="Freeform 681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40" name="Line 68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1" name="Line 68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9" name="Group 684"/>
            <p:cNvGrpSpPr/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728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9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0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31" name="Group 688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34" name="Freeform 689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35" name="Freeform 690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32" name="Line 69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3" name="Line 69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60" name="Line 693"/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61" name="Group 694"/>
            <p:cNvGrpSpPr/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720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1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2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23" name="Group 698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26" name="Freeform 699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27" name="Freeform 700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24" name="Line 70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5" name="Line 70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2" name="Group 712"/>
            <p:cNvGrpSpPr/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71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15" name="Group 716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18" name="Freeform 717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9" name="Freeform 718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16" name="Line 719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7" name="Line 720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3" name="Group 721"/>
            <p:cNvGrpSpPr/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70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07" name="Group 725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10" name="Freeform 726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1" name="Freeform 727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08" name="Line 728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9" name="Line 729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4" name="Group 730"/>
            <p:cNvGrpSpPr/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69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99" name="Group 734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02" name="Freeform 735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03" name="Freeform 736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00" name="Line 737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1" name="Line 738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5" name="Group 739"/>
            <p:cNvGrpSpPr/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688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9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0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91" name="Group 743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94" name="Freeform 744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5" name="Freeform 745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92" name="Line 746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3" name="Line 747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6" name="Group 748"/>
            <p:cNvGrpSpPr/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680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1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2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83" name="Group 752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86" name="Freeform 753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87" name="Freeform 754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84" name="Line 755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5" name="Line 756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7" name="Group 757"/>
            <p:cNvGrpSpPr/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672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3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4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75" name="Group 761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78" name="Freeform 762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79" name="Freeform 763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76" name="Line 76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7" name="Line 76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8" name="Group 767"/>
            <p:cNvGrpSpPr/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66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67" name="Group 771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70" name="Freeform 772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71" name="Freeform 773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68" name="Line 77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9" name="Line 77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9" name="Group 776"/>
            <p:cNvGrpSpPr/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662" name="Picture 777" descr="access_point_stylized_small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3" name="Picture 778" descr="antenna_radiation_stylized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70" name="Group 779"/>
            <p:cNvGrpSpPr/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660" name="Picture 780" descr="access_point_stylized_small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1" name="Picture 781" descr="antenna_radiation_stylized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71" name="Group 782"/>
            <p:cNvGrpSpPr/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642" name="Group 783"/>
              <p:cNvGrpSpPr/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645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6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7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8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9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0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1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2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3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4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5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6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7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8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9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643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44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72" name="Text Box 580"/>
            <p:cNvSpPr txBox="1">
              <a:spLocks noChangeArrowheads="1"/>
            </p:cNvSpPr>
            <p:nvPr/>
          </p:nvSpPr>
          <p:spPr bwMode="auto">
            <a:xfrm>
              <a:off x="5957889" y="1384300"/>
              <a:ext cx="17866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mobile network</a:t>
              </a: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3" name="Text Box 580"/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22221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global ISP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4" name="Text Box 580"/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41243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regional ISP</a:t>
              </a: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5" name="Text Box 580"/>
            <p:cNvSpPr txBox="1">
              <a:spLocks noChangeArrowheads="1"/>
            </p:cNvSpPr>
            <p:nvPr/>
          </p:nvSpPr>
          <p:spPr bwMode="auto">
            <a:xfrm>
              <a:off x="6324601" y="2963863"/>
              <a:ext cx="1047124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home </a:t>
              </a: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network</a:t>
              </a: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6" name="Text Box 580"/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466043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institutional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network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77" name="Group 950"/>
            <p:cNvGrpSpPr/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610" name="Freeform 951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1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2" name="Freeform 953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3" name="Freeform 954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4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15" name="Group 956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40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1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16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17" name="Group 960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38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39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18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9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20" name="Group 965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36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37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21" name="Freeform 968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22" name="Group 969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34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35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23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4" name="Freeform 973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5" name="Freeform 974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6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7" name="Freeform 976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8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9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0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1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2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3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78" name="Group 983"/>
            <p:cNvGrpSpPr/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578" name="Freeform 984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9" name="Rectangle 9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0" name="Freeform 986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1" name="Freeform 987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2" name="Rectangle 9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83" name="Group 989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08" name="AutoShape 9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9" name="AutoShape 9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84" name="Rectangle 9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85" name="Group 993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06" name="AutoShape 9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7" name="AutoShape 9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86" name="Rectangle 9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7" name="Rectangle 9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88" name="Group 998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04" name="AutoShape 9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5" name="AutoShape 10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89" name="Freeform 1001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90" name="Group 1002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02" name="AutoShape 10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3" name="AutoShape 10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91" name="Rectangle 10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2" name="Freeform 1006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3" name="Freeform 1007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4" name="Oval 10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5" name="Freeform 1009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6" name="AutoShape 10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7" name="AutoShape 10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8" name="Oval 10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9" name="Oval 10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0" name="Oval 10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1" name="Rectangle 10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79" name="Group 1016"/>
            <p:cNvGrpSpPr/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555" name="Picture 1017" descr="antenna_stylized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6" name="Picture 1018" descr="laptop_keyboard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7" name="Freeform 1019"/>
              <p:cNvSpPr/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558" name="Picture 1020" descr="screen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9" name="Freeform 1021"/>
              <p:cNvSpPr/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0" name="Freeform 1022"/>
              <p:cNvSpPr/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1" name="Freeform 1023"/>
              <p:cNvSpPr/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2" name="Freeform 1024"/>
              <p:cNvSpPr/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3" name="Freeform 1025"/>
              <p:cNvSpPr/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4" name="Freeform 1026"/>
              <p:cNvSpPr/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65" name="Group 1027"/>
              <p:cNvGrpSpPr/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572" name="Freeform 1028"/>
                <p:cNvSpPr/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73" name="Freeform 1029"/>
                <p:cNvSpPr/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74" name="Freeform 1030"/>
                <p:cNvSpPr/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75" name="Freeform 1031"/>
                <p:cNvSpPr/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76" name="Freeform 1032"/>
                <p:cNvSpPr/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77" name="Freeform 1033"/>
                <p:cNvSpPr/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66" name="Freeform 1034"/>
              <p:cNvSpPr/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7" name="Freeform 1035"/>
              <p:cNvSpPr/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8" name="Freeform 1036"/>
              <p:cNvSpPr/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9" name="Freeform 1037"/>
              <p:cNvSpPr/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0" name="Freeform 1038"/>
              <p:cNvSpPr/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1" name="Freeform 1039"/>
              <p:cNvSpPr/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0" name="Group 1064"/>
            <p:cNvGrpSpPr/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532" name="Picture 1065" descr="antenna_stylized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33" name="Picture 1066" descr="laptop_keyboard"/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34" name="Freeform 1067"/>
              <p:cNvSpPr/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535" name="Picture 1068" descr="screen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36" name="Freeform 1069"/>
              <p:cNvSpPr/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7" name="Freeform 1070"/>
              <p:cNvSpPr/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8" name="Freeform 1071"/>
              <p:cNvSpPr/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9" name="Freeform 1072"/>
              <p:cNvSpPr/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0" name="Freeform 1073"/>
              <p:cNvSpPr/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1" name="Freeform 1074"/>
              <p:cNvSpPr/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42" name="Group 1075"/>
              <p:cNvGrpSpPr/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549" name="Freeform 1076"/>
                <p:cNvSpPr/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0" name="Freeform 1077"/>
                <p:cNvSpPr/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1" name="Freeform 1078"/>
                <p:cNvSpPr/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2" name="Freeform 1079"/>
                <p:cNvSpPr/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3" name="Freeform 1080"/>
                <p:cNvSpPr/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4" name="Freeform 1081"/>
                <p:cNvSpPr/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43" name="Freeform 1082"/>
              <p:cNvSpPr/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4" name="Freeform 1083"/>
              <p:cNvSpPr/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5" name="Freeform 1084"/>
              <p:cNvSpPr/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6" name="Freeform 1085"/>
              <p:cNvSpPr/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7" name="Freeform 1086"/>
              <p:cNvSpPr/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8" name="Freeform 1087"/>
              <p:cNvSpPr/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1" name="Group 1114"/>
            <p:cNvGrpSpPr/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509" name="Picture 1115" descr="antenna_stylized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10" name="Picture 1116" descr="laptop_keyboard"/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11" name="Freeform 1117"/>
              <p:cNvSpPr/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512" name="Picture 1118" descr="screen"/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13" name="Freeform 1119"/>
              <p:cNvSpPr/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4" name="Freeform 1120"/>
              <p:cNvSpPr/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5" name="Freeform 1121"/>
              <p:cNvSpPr/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6" name="Freeform 1122"/>
              <p:cNvSpPr/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7" name="Freeform 1123"/>
              <p:cNvSpPr/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8" name="Freeform 1124"/>
              <p:cNvSpPr/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19" name="Group 1125"/>
              <p:cNvGrpSpPr/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526" name="Freeform 1126"/>
                <p:cNvSpPr/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7" name="Freeform 1127"/>
                <p:cNvSpPr/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8" name="Freeform 1128"/>
                <p:cNvSpPr/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9" name="Freeform 1129"/>
                <p:cNvSpPr/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0" name="Freeform 1130"/>
                <p:cNvSpPr/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1" name="Freeform 1131"/>
                <p:cNvSpPr/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20" name="Freeform 1132"/>
              <p:cNvSpPr/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1" name="Freeform 1133"/>
              <p:cNvSpPr/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2" name="Freeform 1134"/>
              <p:cNvSpPr/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3" name="Freeform 1135"/>
              <p:cNvSpPr/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4" name="Freeform 1136"/>
              <p:cNvSpPr/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5" name="Freeform 1137"/>
              <p:cNvSpPr/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2" name="Group 1139"/>
            <p:cNvGrpSpPr/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507" name="Picture 114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08" name="Freeform 1141"/>
              <p:cNvSpPr/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3" name="Group 1142"/>
            <p:cNvGrpSpPr/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484" name="Picture 1143" descr="antenna_stylized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85" name="Picture 1144" descr="laptop_keyboard"/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6" name="Freeform 1145"/>
              <p:cNvSpPr/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487" name="Picture 1146" descr="screen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8" name="Freeform 1147"/>
              <p:cNvSpPr/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9" name="Freeform 1148"/>
              <p:cNvSpPr/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0" name="Freeform 1149"/>
              <p:cNvSpPr/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1" name="Freeform 1150"/>
              <p:cNvSpPr/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2" name="Freeform 1151"/>
              <p:cNvSpPr/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3" name="Freeform 1152"/>
              <p:cNvSpPr/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94" name="Group 1153"/>
              <p:cNvGrpSpPr/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501" name="Freeform 1154"/>
                <p:cNvSpPr/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2" name="Freeform 1155"/>
                <p:cNvSpPr/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3" name="Freeform 1156"/>
                <p:cNvSpPr/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4" name="Freeform 1157"/>
                <p:cNvSpPr/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5" name="Freeform 1158"/>
                <p:cNvSpPr/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6" name="Freeform 1159"/>
                <p:cNvSpPr/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95" name="Freeform 1160"/>
              <p:cNvSpPr/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6" name="Freeform 1161"/>
              <p:cNvSpPr/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7" name="Freeform 1162"/>
              <p:cNvSpPr/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8" name="Freeform 1163"/>
              <p:cNvSpPr/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9" name="Freeform 1164"/>
              <p:cNvSpPr/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0" name="Freeform 1165"/>
              <p:cNvSpPr/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4247190" cy="3954936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450"/>
              </a:spcAft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运输层服务和协议：回顾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应用进程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之间的逻辑通信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运输层协议工作在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端系统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将报文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封装成报文段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提交给网络层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接收方：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解析成报文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提交给应用层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提供了两种协议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(alternative)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/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1" name="Group 669"/>
          <p:cNvGrpSpPr/>
          <p:nvPr/>
        </p:nvGrpSpPr>
        <p:grpSpPr bwMode="auto">
          <a:xfrm>
            <a:off x="7909212" y="3208411"/>
            <a:ext cx="1028699" cy="784622"/>
            <a:chOff x="-153" y="1680"/>
            <a:chExt cx="666" cy="659"/>
          </a:xfrm>
        </p:grpSpPr>
        <p:grpSp>
          <p:nvGrpSpPr>
            <p:cNvPr id="392" name="Group 670"/>
            <p:cNvGrpSpPr/>
            <p:nvPr/>
          </p:nvGrpSpPr>
          <p:grpSpPr bwMode="auto">
            <a:xfrm>
              <a:off x="0" y="1680"/>
              <a:ext cx="513" cy="659"/>
              <a:chOff x="4180" y="744"/>
              <a:chExt cx="513" cy="659"/>
            </a:xfrm>
          </p:grpSpPr>
          <p:sp>
            <p:nvSpPr>
              <p:cNvPr id="394" name="Rectangle 671"/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95" name="Rectangle 672"/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96" name="Rectangle 673"/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397" name="Text Box 674"/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6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r>
                  <a:rPr lang="en-US" altLang="zh-CN" sz="750"/>
                  <a:t>application</a:t>
                </a:r>
                <a:endParaRPr lang="en-US" altLang="zh-CN" sz="750"/>
              </a:p>
              <a:p>
                <a:r>
                  <a:rPr lang="en-US" altLang="zh-CN" sz="750">
                    <a:solidFill>
                      <a:schemeClr val="bg1"/>
                    </a:solidFill>
                  </a:rPr>
                  <a:t>transport</a:t>
                </a:r>
                <a:endParaRPr lang="en-US" altLang="zh-CN" sz="750"/>
              </a:p>
              <a:p>
                <a:r>
                  <a:rPr lang="en-US" altLang="zh-CN" sz="750"/>
                  <a:t>network</a:t>
                </a:r>
                <a:endParaRPr lang="en-US" altLang="zh-CN" sz="750"/>
              </a:p>
              <a:p>
                <a:r>
                  <a:rPr lang="en-US" altLang="zh-CN" sz="750"/>
                  <a:t>data link</a:t>
                </a:r>
                <a:endParaRPr lang="en-US" altLang="zh-CN" sz="750"/>
              </a:p>
              <a:p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  <p:sp>
            <p:nvSpPr>
              <p:cNvPr id="398" name="Line 675"/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Tahoma" panose="020B0604030504040204" charset="0"/>
                  <a:ea typeface="MS PGothic" panose="020B0600070205080204" charset="-128"/>
                </a:endParaRPr>
              </a:p>
            </p:txBody>
          </p:sp>
          <p:sp>
            <p:nvSpPr>
              <p:cNvPr id="399" name="Line 676"/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Tahoma" panose="020B0604030504040204" charset="0"/>
                  <a:ea typeface="MS PGothic" panose="020B0600070205080204" charset="-128"/>
                </a:endParaRPr>
              </a:p>
            </p:txBody>
          </p:sp>
          <p:sp>
            <p:nvSpPr>
              <p:cNvPr id="400" name="Line 677"/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Tahoma" panose="020B0604030504040204" charset="0"/>
                  <a:ea typeface="MS PGothic" panose="020B0600070205080204" charset="-128"/>
                </a:endParaRPr>
              </a:p>
            </p:txBody>
          </p:sp>
        </p:grpSp>
        <p:sp>
          <p:nvSpPr>
            <p:cNvPr id="393" name="Freeform 678"/>
            <p:cNvSpPr/>
            <p:nvPr/>
          </p:nvSpPr>
          <p:spPr bwMode="auto">
            <a:xfrm>
              <a:off x="-153" y="1689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 cap="flat" cmpd="sng">
              <a:solidFill>
                <a:srgbClr val="FF000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406" name="Group 865"/>
          <p:cNvGrpSpPr/>
          <p:nvPr/>
        </p:nvGrpSpPr>
        <p:grpSpPr bwMode="auto">
          <a:xfrm>
            <a:off x="5613169" y="1007610"/>
            <a:ext cx="1052511" cy="784622"/>
            <a:chOff x="-153" y="1680"/>
            <a:chExt cx="666" cy="659"/>
          </a:xfrm>
        </p:grpSpPr>
        <p:grpSp>
          <p:nvGrpSpPr>
            <p:cNvPr id="407" name="Group 866"/>
            <p:cNvGrpSpPr/>
            <p:nvPr/>
          </p:nvGrpSpPr>
          <p:grpSpPr bwMode="auto">
            <a:xfrm>
              <a:off x="0" y="1680"/>
              <a:ext cx="513" cy="659"/>
              <a:chOff x="4180" y="744"/>
              <a:chExt cx="513" cy="659"/>
            </a:xfrm>
          </p:grpSpPr>
          <p:sp>
            <p:nvSpPr>
              <p:cNvPr id="409" name="Rectangle 867"/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10" name="Rectangle 868"/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11" name="Rectangle 869"/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412" name="Text Box 870"/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6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r>
                  <a:rPr lang="en-US" altLang="zh-CN" sz="750"/>
                  <a:t>application</a:t>
                </a:r>
                <a:endParaRPr lang="en-US" altLang="zh-CN" sz="750"/>
              </a:p>
              <a:p>
                <a:r>
                  <a:rPr lang="en-US" altLang="zh-CN" sz="750">
                    <a:solidFill>
                      <a:schemeClr val="bg1"/>
                    </a:solidFill>
                  </a:rPr>
                  <a:t>transport</a:t>
                </a:r>
                <a:endParaRPr lang="en-US" altLang="zh-CN" sz="750"/>
              </a:p>
              <a:p>
                <a:r>
                  <a:rPr lang="en-US" altLang="zh-CN" sz="750"/>
                  <a:t>network</a:t>
                </a:r>
                <a:endParaRPr lang="en-US" altLang="zh-CN" sz="750"/>
              </a:p>
              <a:p>
                <a:r>
                  <a:rPr lang="en-US" altLang="zh-CN" sz="750"/>
                  <a:t>data link</a:t>
                </a:r>
                <a:endParaRPr lang="en-US" altLang="zh-CN" sz="750"/>
              </a:p>
              <a:p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  <p:sp>
            <p:nvSpPr>
              <p:cNvPr id="413" name="Line 871"/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Tahoma" panose="020B0604030504040204" charset="0"/>
                  <a:ea typeface="MS PGothic" panose="020B0600070205080204" charset="-128"/>
                </a:endParaRPr>
              </a:p>
            </p:txBody>
          </p:sp>
          <p:sp>
            <p:nvSpPr>
              <p:cNvPr id="414" name="Line 872"/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Tahoma" panose="020B0604030504040204" charset="0"/>
                  <a:ea typeface="MS PGothic" panose="020B0600070205080204" charset="-128"/>
                </a:endParaRPr>
              </a:p>
            </p:txBody>
          </p:sp>
          <p:sp>
            <p:nvSpPr>
              <p:cNvPr id="415" name="Line 873"/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Tahoma" panose="020B0604030504040204" charset="0"/>
                  <a:ea typeface="MS PGothic" panose="020B0600070205080204" charset="-128"/>
                </a:endParaRPr>
              </a:p>
            </p:txBody>
          </p:sp>
        </p:grpSp>
        <p:sp>
          <p:nvSpPr>
            <p:cNvPr id="408" name="Freeform 874"/>
            <p:cNvSpPr/>
            <p:nvPr/>
          </p:nvSpPr>
          <p:spPr bwMode="auto">
            <a:xfrm>
              <a:off x="-153" y="1689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 cap="flat" cmpd="sng">
              <a:solidFill>
                <a:srgbClr val="FF000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401" name="Group 298"/>
          <p:cNvGrpSpPr/>
          <p:nvPr/>
        </p:nvGrpSpPr>
        <p:grpSpPr bwMode="auto">
          <a:xfrm rot="2937887">
            <a:off x="5888266" y="2133522"/>
            <a:ext cx="2822508" cy="326231"/>
            <a:chOff x="2937" y="3579"/>
            <a:chExt cx="2382" cy="274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sp>
          <p:nvSpPr>
            <p:cNvPr id="402" name="Rectangle 295"/>
            <p:cNvSpPr>
              <a:spLocks noChangeArrowheads="1"/>
            </p:cNvSpPr>
            <p:nvPr/>
          </p:nvSpPr>
          <p:spPr bwMode="auto">
            <a:xfrm>
              <a:off x="3166" y="3630"/>
              <a:ext cx="1920" cy="1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03" name="Text Box 293"/>
            <p:cNvSpPr txBox="1">
              <a:spLocks noChangeArrowheads="1"/>
            </p:cNvSpPr>
            <p:nvPr/>
          </p:nvSpPr>
          <p:spPr bwMode="auto">
            <a:xfrm>
              <a:off x="3644" y="3601"/>
              <a:ext cx="1009" cy="233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r>
                <a:rPr lang="zh-CN" altLang="en-US" sz="1200" dirty="0">
                  <a:solidFill>
                    <a:srgbClr val="FFFF00"/>
                  </a:solidFill>
                </a:rPr>
                <a:t>逻辑端到端传输</a:t>
              </a:r>
              <a:endParaRPr lang="en-US" altLang="zh-CN" sz="1200" dirty="0">
                <a:solidFill>
                  <a:srgbClr val="FFFF00"/>
                </a:solidFill>
              </a:endParaRPr>
            </a:p>
          </p:txBody>
        </p:sp>
        <p:sp>
          <p:nvSpPr>
            <p:cNvPr id="404" name="Freeform 296"/>
            <p:cNvSpPr/>
            <p:nvPr/>
          </p:nvSpPr>
          <p:spPr bwMode="auto">
            <a:xfrm>
              <a:off x="2937" y="357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prstDash val="solid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05" name="Freeform 297"/>
            <p:cNvSpPr/>
            <p:nvPr/>
          </p:nvSpPr>
          <p:spPr bwMode="auto">
            <a:xfrm flipH="1">
              <a:off x="5037" y="358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prstDash val="solid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38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8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0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4.1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网络层概述</a:t>
            </a:r>
            <a:endParaRPr lang="zh-CN" altLang="en-US" dirty="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" grpId="0" animBg="1"/>
      <p:bldP spid="386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4.1 </a:t>
            </a:r>
            <a:r>
              <a:rPr lang="zh-CN" altLang="en-US" dirty="0"/>
              <a:t>网络层概述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effectLst/>
              </a:rPr>
              <a:t>网络层服务和协议</a:t>
            </a:r>
            <a:endParaRPr lang="en-US" altLang="zh-CN" sz="2200" dirty="0">
              <a:effectLst/>
            </a:endParaRPr>
          </a:p>
          <a:p>
            <a:pPr lvl="1">
              <a:lnSpc>
                <a:spcPct val="110000"/>
              </a:lnSpc>
            </a:pPr>
            <a:r>
              <a:rPr lang="zh-CN" altLang="en-US" sz="1900" dirty="0">
                <a:effectLst/>
              </a:rPr>
              <a:t>提供</a:t>
            </a:r>
            <a:r>
              <a:rPr lang="zh-CN" altLang="en-US" sz="1900" dirty="0">
                <a:solidFill>
                  <a:srgbClr val="FF0000"/>
                </a:solidFill>
                <a:effectLst/>
              </a:rPr>
              <a:t>主机之间</a:t>
            </a:r>
            <a:r>
              <a:rPr lang="zh-CN" altLang="en-US" sz="1900" dirty="0">
                <a:effectLst/>
              </a:rPr>
              <a:t>的逻辑通信</a:t>
            </a:r>
            <a:endParaRPr lang="en-US" altLang="zh-CN" sz="1900" dirty="0">
              <a:effectLst/>
            </a:endParaRPr>
          </a:p>
          <a:p>
            <a:pPr lvl="1">
              <a:lnSpc>
                <a:spcPct val="110000"/>
              </a:lnSpc>
            </a:pPr>
            <a:r>
              <a:rPr lang="zh-CN" altLang="en-US" sz="1900" dirty="0">
                <a:effectLst/>
              </a:rPr>
              <a:t>在端系统中</a:t>
            </a:r>
            <a:endParaRPr lang="en-US" altLang="zh-CN" sz="1900" dirty="0"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/>
              <a:t>发送方：</a:t>
            </a:r>
            <a:endParaRPr lang="en-US" altLang="zh-CN" dirty="0"/>
          </a:p>
          <a:p>
            <a:pPr lvl="3">
              <a:lnSpc>
                <a:spcPct val="110000"/>
              </a:lnSpc>
            </a:pPr>
            <a:r>
              <a:rPr lang="zh-CN" altLang="en-US" sz="1500" dirty="0"/>
              <a:t>将报文段封装成</a:t>
            </a:r>
            <a:r>
              <a:rPr lang="zh-CN" altLang="en-US" sz="1500" dirty="0">
                <a:solidFill>
                  <a:srgbClr val="FF0000"/>
                </a:solidFill>
              </a:rPr>
              <a:t>数据报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lvl="3">
              <a:lnSpc>
                <a:spcPct val="110000"/>
              </a:lnSpc>
            </a:pPr>
            <a:r>
              <a:rPr lang="zh-CN" altLang="en-US" sz="1500" dirty="0"/>
              <a:t>提交给数据链路层</a:t>
            </a:r>
            <a:endParaRPr lang="en-US" altLang="zh-CN" sz="1500" dirty="0"/>
          </a:p>
          <a:p>
            <a:pPr lvl="2">
              <a:lnSpc>
                <a:spcPct val="110000"/>
              </a:lnSpc>
            </a:pPr>
            <a:r>
              <a:rPr lang="zh-CN" altLang="en-US" sz="1700" dirty="0">
                <a:effectLst/>
              </a:rPr>
              <a:t>接收方：</a:t>
            </a:r>
            <a:endParaRPr lang="en-US" altLang="zh-CN" sz="1700" dirty="0">
              <a:effectLst/>
            </a:endParaRPr>
          </a:p>
          <a:p>
            <a:pPr lvl="3">
              <a:lnSpc>
                <a:spcPct val="110000"/>
              </a:lnSpc>
            </a:pPr>
            <a:r>
              <a:rPr lang="zh-CN" altLang="en-US" sz="1500" dirty="0">
                <a:effectLst/>
              </a:rPr>
              <a:t>将数据报解析成报文</a:t>
            </a:r>
            <a:r>
              <a:rPr lang="zh-CN" altLang="en-US" sz="1500" dirty="0"/>
              <a:t>段</a:t>
            </a:r>
            <a:endParaRPr lang="en-US" altLang="zh-CN" sz="1500" dirty="0">
              <a:effectLst/>
            </a:endParaRPr>
          </a:p>
          <a:p>
            <a:pPr lvl="3">
              <a:lnSpc>
                <a:spcPct val="110000"/>
              </a:lnSpc>
            </a:pPr>
            <a:r>
              <a:rPr lang="zh-CN" altLang="en-US" sz="1500" dirty="0"/>
              <a:t>提交给运输层</a:t>
            </a:r>
            <a:endParaRPr lang="en-US" altLang="zh-CN" sz="1500" dirty="0"/>
          </a:p>
          <a:p>
            <a:pPr lvl="1">
              <a:lnSpc>
                <a:spcPct val="110000"/>
              </a:lnSpc>
            </a:pPr>
            <a:r>
              <a:rPr lang="zh-CN" altLang="en-US" dirty="0">
                <a:effectLst/>
              </a:rPr>
              <a:t>在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网络核心节点</a:t>
            </a:r>
            <a:r>
              <a:rPr lang="zh-CN" altLang="en-US" dirty="0">
                <a:effectLst/>
              </a:rPr>
              <a:t>中</a:t>
            </a:r>
            <a:endParaRPr lang="en-US" altLang="zh-CN" dirty="0"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sz="1700" dirty="0"/>
              <a:t>路由器</a:t>
            </a:r>
            <a:endParaRPr lang="en-US" altLang="zh-CN" sz="1700" dirty="0"/>
          </a:p>
          <a:p>
            <a:pPr lvl="3">
              <a:lnSpc>
                <a:spcPct val="110000"/>
              </a:lnSpc>
            </a:pPr>
            <a:r>
              <a:rPr lang="zh-CN" altLang="en-US" sz="1500" dirty="0"/>
              <a:t>转发数据报</a:t>
            </a:r>
            <a:endParaRPr lang="en-US" altLang="zh-CN" sz="1500" dirty="0"/>
          </a:p>
          <a:p>
            <a:pPr lvl="3">
              <a:lnSpc>
                <a:spcPct val="110000"/>
              </a:lnSpc>
            </a:pPr>
            <a:r>
              <a:rPr lang="zh-CN" altLang="en-US" sz="1500" dirty="0">
                <a:effectLst/>
              </a:rPr>
              <a:t>交付到目的主机</a:t>
            </a:r>
            <a:endParaRPr lang="en-US" altLang="zh-CN" sz="1500" dirty="0">
              <a:effectLst/>
            </a:endParaRPr>
          </a:p>
          <a:p>
            <a:pPr lvl="1">
              <a:lnSpc>
                <a:spcPct val="110000"/>
              </a:lnSpc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1036" name="Freeform 1285"/>
          <p:cNvSpPr/>
          <p:nvPr/>
        </p:nvSpPr>
        <p:spPr bwMode="auto">
          <a:xfrm>
            <a:off x="6123719" y="2980680"/>
            <a:ext cx="985838" cy="506015"/>
          </a:xfrm>
          <a:custGeom>
            <a:avLst/>
            <a:gdLst>
              <a:gd name="T0" fmla="*/ 962699688 w 828"/>
              <a:gd name="T1" fmla="*/ 75604631 h 425"/>
              <a:gd name="T2" fmla="*/ 932457813 w 828"/>
              <a:gd name="T3" fmla="*/ 75604631 h 425"/>
              <a:gd name="T4" fmla="*/ 317539688 w 828"/>
              <a:gd name="T5" fmla="*/ 80644940 h 425"/>
              <a:gd name="T6" fmla="*/ 15120938 w 828"/>
              <a:gd name="T7" fmla="*/ 317539452 h 425"/>
              <a:gd name="T8" fmla="*/ 231854375 w 828"/>
              <a:gd name="T9" fmla="*/ 690522301 h 425"/>
              <a:gd name="T10" fmla="*/ 735885625 w 828"/>
              <a:gd name="T11" fmla="*/ 967739283 h 425"/>
              <a:gd name="T12" fmla="*/ 1360884375 w 828"/>
              <a:gd name="T13" fmla="*/ 1048384223 h 425"/>
              <a:gd name="T14" fmla="*/ 1759069063 w 828"/>
              <a:gd name="T15" fmla="*/ 831650946 h 425"/>
              <a:gd name="T16" fmla="*/ 1955641250 w 828"/>
              <a:gd name="T17" fmla="*/ 428426245 h 425"/>
              <a:gd name="T18" fmla="*/ 1995963750 w 828"/>
              <a:gd name="T19" fmla="*/ 55443396 h 425"/>
              <a:gd name="T20" fmla="*/ 1411287500 w 828"/>
              <a:gd name="T21" fmla="*/ 95765867 h 425"/>
              <a:gd name="T22" fmla="*/ 962699688 w 828"/>
              <a:gd name="T23" fmla="*/ 75604631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37" name="Freeform 1286"/>
          <p:cNvSpPr/>
          <p:nvPr/>
        </p:nvSpPr>
        <p:spPr bwMode="auto">
          <a:xfrm>
            <a:off x="6138007" y="1836489"/>
            <a:ext cx="1297781" cy="844154"/>
          </a:xfrm>
          <a:custGeom>
            <a:avLst/>
            <a:gdLst>
              <a:gd name="T0" fmla="*/ 2147483647 w 765"/>
              <a:gd name="T1" fmla="*/ 216468667 h 459"/>
              <a:gd name="T2" fmla="*/ 2147483647 w 765"/>
              <a:gd name="T3" fmla="*/ 1551366543 h 459"/>
              <a:gd name="T4" fmla="*/ 1422336583 w 765"/>
              <a:gd name="T5" fmla="*/ 2147483647 h 459"/>
              <a:gd name="T6" fmla="*/ 204652469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763656690 h 459"/>
              <a:gd name="T22" fmla="*/ 2147483647 w 765"/>
              <a:gd name="T23" fmla="*/ 21646866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38" name="Freeform 1287"/>
          <p:cNvSpPr/>
          <p:nvPr/>
        </p:nvSpPr>
        <p:spPr bwMode="auto">
          <a:xfrm>
            <a:off x="4772360" y="1617414"/>
            <a:ext cx="1302544" cy="803672"/>
          </a:xfrm>
          <a:custGeom>
            <a:avLst/>
            <a:gdLst>
              <a:gd name="T0" fmla="*/ 2141398689 w 1036"/>
              <a:gd name="T1" fmla="*/ 27720938 h 675"/>
              <a:gd name="T2" fmla="*/ 1289897173 w 1036"/>
              <a:gd name="T3" fmla="*/ 133567550 h 675"/>
              <a:gd name="T4" fmla="*/ 682886640 w 1036"/>
              <a:gd name="T5" fmla="*/ 325099514 h 675"/>
              <a:gd name="T6" fmla="*/ 505842949 w 1036"/>
              <a:gd name="T7" fmla="*/ 577115257 h 675"/>
              <a:gd name="T8" fmla="*/ 70255220 w 1036"/>
              <a:gd name="T9" fmla="*/ 748485962 h 675"/>
              <a:gd name="T10" fmla="*/ 59015122 w 1036"/>
              <a:gd name="T11" fmla="*/ 1156751465 h 675"/>
              <a:gd name="T12" fmla="*/ 435586053 w 1036"/>
              <a:gd name="T13" fmla="*/ 1232356188 h 675"/>
              <a:gd name="T14" fmla="*/ 1517527171 w 1036"/>
              <a:gd name="T15" fmla="*/ 1232356188 h 675"/>
              <a:gd name="T16" fmla="*/ 1975595095 w 1036"/>
              <a:gd name="T17" fmla="*/ 1398686578 h 675"/>
              <a:gd name="T18" fmla="*/ 2147483647 w 1036"/>
              <a:gd name="T19" fmla="*/ 1655742635 h 675"/>
              <a:gd name="T20" fmla="*/ 2147483647 w 1036"/>
              <a:gd name="T21" fmla="*/ 1665823265 h 675"/>
              <a:gd name="T22" fmla="*/ 2147483647 w 1036"/>
              <a:gd name="T23" fmla="*/ 1519654134 h 675"/>
              <a:gd name="T24" fmla="*/ 2147483647 w 1036"/>
              <a:gd name="T25" fmla="*/ 1121469261 h 675"/>
              <a:gd name="T26" fmla="*/ 2147483647 w 1036"/>
              <a:gd name="T27" fmla="*/ 733365017 h 675"/>
              <a:gd name="T28" fmla="*/ 2147483647 w 1036"/>
              <a:gd name="T29" fmla="*/ 269656051 h 675"/>
              <a:gd name="T30" fmla="*/ 2147483647 w 1036"/>
              <a:gd name="T31" fmla="*/ 42841882 h 675"/>
              <a:gd name="T32" fmla="*/ 2147483647 w 1036"/>
              <a:gd name="T33" fmla="*/ 7559679 h 675"/>
              <a:gd name="T34" fmla="*/ 2141398689 w 1036"/>
              <a:gd name="T35" fmla="*/ 27720938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039" name="Group 1288"/>
          <p:cNvGrpSpPr/>
          <p:nvPr/>
        </p:nvGrpSpPr>
        <p:grpSpPr bwMode="auto">
          <a:xfrm>
            <a:off x="4829510" y="2566342"/>
            <a:ext cx="1094185" cy="700088"/>
            <a:chOff x="2889" y="1631"/>
            <a:chExt cx="980" cy="743"/>
          </a:xfrm>
        </p:grpSpPr>
        <p:sp>
          <p:nvSpPr>
            <p:cNvPr id="1040" name="Rectangle 1289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041" name="AutoShape 1290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endParaRPr lang="zh-CN" altLang="zh-CN" sz="1800">
                <a:solidFill>
                  <a:srgbClr val="00CCFF"/>
                </a:solidFill>
              </a:endParaRPr>
            </a:p>
          </p:txBody>
        </p:sp>
      </p:grpSp>
      <p:sp>
        <p:nvSpPr>
          <p:cNvPr id="1042" name="Line 1291"/>
          <p:cNvSpPr>
            <a:spLocks noChangeShapeType="1"/>
          </p:cNvSpPr>
          <p:nvPr/>
        </p:nvSpPr>
        <p:spPr bwMode="auto">
          <a:xfrm>
            <a:off x="6417804" y="3194992"/>
            <a:ext cx="122635" cy="90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43" name="Line 1292"/>
          <p:cNvSpPr>
            <a:spLocks noChangeShapeType="1"/>
          </p:cNvSpPr>
          <p:nvPr/>
        </p:nvSpPr>
        <p:spPr bwMode="auto">
          <a:xfrm>
            <a:off x="6490432" y="3135461"/>
            <a:ext cx="209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44" name="Line 1293"/>
          <p:cNvSpPr>
            <a:spLocks noChangeShapeType="1"/>
          </p:cNvSpPr>
          <p:nvPr/>
        </p:nvSpPr>
        <p:spPr bwMode="auto">
          <a:xfrm flipV="1">
            <a:off x="6667834" y="3199755"/>
            <a:ext cx="101204" cy="785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45" name="Line 1294"/>
          <p:cNvSpPr>
            <a:spLocks noChangeShapeType="1"/>
          </p:cNvSpPr>
          <p:nvPr/>
        </p:nvSpPr>
        <p:spPr bwMode="auto">
          <a:xfrm>
            <a:off x="5691522" y="3140224"/>
            <a:ext cx="509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46" name="Line 1295"/>
          <p:cNvSpPr>
            <a:spLocks noChangeShapeType="1"/>
          </p:cNvSpPr>
          <p:nvPr/>
        </p:nvSpPr>
        <p:spPr bwMode="auto">
          <a:xfrm>
            <a:off x="5912978" y="2275830"/>
            <a:ext cx="382191" cy="23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47" name="Line 1296"/>
          <p:cNvSpPr>
            <a:spLocks noChangeShapeType="1"/>
          </p:cNvSpPr>
          <p:nvPr/>
        </p:nvSpPr>
        <p:spPr bwMode="auto">
          <a:xfrm>
            <a:off x="5587938" y="2137717"/>
            <a:ext cx="114300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48" name="Freeform 1297"/>
          <p:cNvSpPr/>
          <p:nvPr/>
        </p:nvSpPr>
        <p:spPr bwMode="auto">
          <a:xfrm>
            <a:off x="4993816" y="3618855"/>
            <a:ext cx="2309813" cy="1248965"/>
          </a:xfrm>
          <a:custGeom>
            <a:avLst/>
            <a:gdLst>
              <a:gd name="T0" fmla="*/ 2147483647 w 1940"/>
              <a:gd name="T1" fmla="*/ 65524043 h 1049"/>
              <a:gd name="T2" fmla="*/ 1902718763 w 1940"/>
              <a:gd name="T3" fmla="*/ 315018643 h 1049"/>
              <a:gd name="T4" fmla="*/ 1229836250 w 1940"/>
              <a:gd name="T5" fmla="*/ 171370574 h 1049"/>
              <a:gd name="T6" fmla="*/ 398184688 w 1940"/>
              <a:gd name="T7" fmla="*/ 254534911 h 1049"/>
              <a:gd name="T8" fmla="*/ 35282188 w 1940"/>
              <a:gd name="T9" fmla="*/ 980339693 h 1049"/>
              <a:gd name="T10" fmla="*/ 178931888 w 1940"/>
              <a:gd name="T11" fmla="*/ 1633060760 h 1049"/>
              <a:gd name="T12" fmla="*/ 725805000 w 1940"/>
              <a:gd name="T13" fmla="*/ 1779229778 h 1049"/>
              <a:gd name="T14" fmla="*/ 1431448750 w 1940"/>
              <a:gd name="T15" fmla="*/ 2147483647 h 1049"/>
              <a:gd name="T16" fmla="*/ 2147483647 w 1940"/>
              <a:gd name="T17" fmla="*/ 2147483647 h 1049"/>
              <a:gd name="T18" fmla="*/ 2147483647 w 1940"/>
              <a:gd name="T19" fmla="*/ 2147483647 h 1049"/>
              <a:gd name="T20" fmla="*/ 2147483647 w 1940"/>
              <a:gd name="T21" fmla="*/ 2147483647 h 1049"/>
              <a:gd name="T22" fmla="*/ 2147483647 w 1940"/>
              <a:gd name="T23" fmla="*/ 1799391022 h 1049"/>
              <a:gd name="T24" fmla="*/ 2147483647 w 1940"/>
              <a:gd name="T25" fmla="*/ 632558235 h 1049"/>
              <a:gd name="T26" fmla="*/ 2147483647 w 1940"/>
              <a:gd name="T27" fmla="*/ 287297726 h 1049"/>
              <a:gd name="T28" fmla="*/ 2147483647 w 1940"/>
              <a:gd name="T29" fmla="*/ 37801539 h 1049"/>
              <a:gd name="T30" fmla="*/ 2147483647 w 1940"/>
              <a:gd name="T31" fmla="*/ 65524043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49" name="Line 1298"/>
          <p:cNvSpPr>
            <a:spLocks noChangeShapeType="1"/>
          </p:cNvSpPr>
          <p:nvPr/>
        </p:nvSpPr>
        <p:spPr bwMode="auto">
          <a:xfrm rot="16200000" flipV="1">
            <a:off x="6718436" y="4273103"/>
            <a:ext cx="355997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50" name="Line 1299"/>
          <p:cNvSpPr>
            <a:spLocks noChangeShapeType="1"/>
          </p:cNvSpPr>
          <p:nvPr/>
        </p:nvSpPr>
        <p:spPr bwMode="auto">
          <a:xfrm rot="5400000" flipV="1">
            <a:off x="6864289" y="4415383"/>
            <a:ext cx="2381" cy="64294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51" name="Line 1300"/>
          <p:cNvSpPr>
            <a:spLocks noChangeShapeType="1"/>
          </p:cNvSpPr>
          <p:nvPr/>
        </p:nvSpPr>
        <p:spPr bwMode="auto">
          <a:xfrm rot="16200000" flipH="1">
            <a:off x="6945250" y="4114155"/>
            <a:ext cx="145256" cy="5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52" name="Line 1301"/>
          <p:cNvSpPr>
            <a:spLocks noChangeShapeType="1"/>
          </p:cNvSpPr>
          <p:nvPr/>
        </p:nvSpPr>
        <p:spPr bwMode="auto">
          <a:xfrm>
            <a:off x="6389229" y="3858170"/>
            <a:ext cx="292894" cy="138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53" name="Line 1302"/>
          <p:cNvSpPr>
            <a:spLocks noChangeShapeType="1"/>
          </p:cNvSpPr>
          <p:nvPr/>
        </p:nvSpPr>
        <p:spPr bwMode="auto">
          <a:xfrm flipV="1">
            <a:off x="5923694" y="3848645"/>
            <a:ext cx="241697" cy="1488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54" name="Line 1303"/>
          <p:cNvSpPr>
            <a:spLocks noChangeShapeType="1"/>
          </p:cNvSpPr>
          <p:nvPr/>
        </p:nvSpPr>
        <p:spPr bwMode="auto">
          <a:xfrm flipV="1">
            <a:off x="5955841" y="4067720"/>
            <a:ext cx="728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55" name="Line 1305"/>
          <p:cNvSpPr>
            <a:spLocks noChangeShapeType="1"/>
          </p:cNvSpPr>
          <p:nvPr/>
        </p:nvSpPr>
        <p:spPr bwMode="auto">
          <a:xfrm>
            <a:off x="5446254" y="3915320"/>
            <a:ext cx="175022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56" name="Line 1306"/>
          <p:cNvSpPr>
            <a:spLocks noChangeShapeType="1"/>
          </p:cNvSpPr>
          <p:nvPr/>
        </p:nvSpPr>
        <p:spPr bwMode="auto">
          <a:xfrm flipV="1">
            <a:off x="5252182" y="4092724"/>
            <a:ext cx="302419" cy="750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57" name="Line 1309"/>
          <p:cNvSpPr>
            <a:spLocks noChangeShapeType="1"/>
          </p:cNvSpPr>
          <p:nvPr/>
        </p:nvSpPr>
        <p:spPr bwMode="auto">
          <a:xfrm flipH="1">
            <a:off x="5571269" y="4134395"/>
            <a:ext cx="13335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58" name="Line 1310"/>
          <p:cNvSpPr>
            <a:spLocks noChangeShapeType="1"/>
          </p:cNvSpPr>
          <p:nvPr/>
        </p:nvSpPr>
        <p:spPr bwMode="auto">
          <a:xfrm flipH="1" flipV="1">
            <a:off x="5866545" y="4122489"/>
            <a:ext cx="1190" cy="1654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59" name="Line 1311"/>
          <p:cNvSpPr>
            <a:spLocks noChangeShapeType="1"/>
          </p:cNvSpPr>
          <p:nvPr/>
        </p:nvSpPr>
        <p:spPr bwMode="auto">
          <a:xfrm>
            <a:off x="5928457" y="4124871"/>
            <a:ext cx="377428" cy="2024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60" name="Line 1313"/>
          <p:cNvSpPr>
            <a:spLocks noChangeShapeType="1"/>
          </p:cNvSpPr>
          <p:nvPr/>
        </p:nvSpPr>
        <p:spPr bwMode="auto">
          <a:xfrm>
            <a:off x="5581985" y="2977108"/>
            <a:ext cx="0" cy="98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61" name="Line 1314"/>
          <p:cNvSpPr>
            <a:spLocks noChangeShapeType="1"/>
          </p:cNvSpPr>
          <p:nvPr/>
        </p:nvSpPr>
        <p:spPr bwMode="auto">
          <a:xfrm flipV="1">
            <a:off x="6553535" y="2204392"/>
            <a:ext cx="92869" cy="654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62" name="Line 1315"/>
          <p:cNvSpPr>
            <a:spLocks noChangeShapeType="1"/>
          </p:cNvSpPr>
          <p:nvPr/>
        </p:nvSpPr>
        <p:spPr bwMode="auto">
          <a:xfrm>
            <a:off x="6424947" y="2334170"/>
            <a:ext cx="0" cy="61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63" name="Line 1316"/>
          <p:cNvSpPr>
            <a:spLocks noChangeShapeType="1"/>
          </p:cNvSpPr>
          <p:nvPr/>
        </p:nvSpPr>
        <p:spPr bwMode="auto">
          <a:xfrm flipV="1">
            <a:off x="6553535" y="2256780"/>
            <a:ext cx="197644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64" name="Line 1317"/>
          <p:cNvSpPr>
            <a:spLocks noChangeShapeType="1"/>
          </p:cNvSpPr>
          <p:nvPr/>
        </p:nvSpPr>
        <p:spPr bwMode="auto">
          <a:xfrm>
            <a:off x="6827378" y="2255589"/>
            <a:ext cx="0" cy="147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65" name="Line 1318"/>
          <p:cNvSpPr>
            <a:spLocks noChangeShapeType="1"/>
          </p:cNvSpPr>
          <p:nvPr/>
        </p:nvSpPr>
        <p:spPr bwMode="auto">
          <a:xfrm>
            <a:off x="6567822" y="2485380"/>
            <a:ext cx="1416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66" name="Line 1319"/>
          <p:cNvSpPr>
            <a:spLocks noChangeShapeType="1"/>
          </p:cNvSpPr>
          <p:nvPr/>
        </p:nvSpPr>
        <p:spPr bwMode="auto">
          <a:xfrm flipV="1">
            <a:off x="5289091" y="3135462"/>
            <a:ext cx="126206" cy="23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67" name="Line 1320"/>
          <p:cNvSpPr>
            <a:spLocks noChangeShapeType="1"/>
          </p:cNvSpPr>
          <p:nvPr/>
        </p:nvSpPr>
        <p:spPr bwMode="auto">
          <a:xfrm>
            <a:off x="6983351" y="2478236"/>
            <a:ext cx="133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68" name="Line 1321"/>
          <p:cNvSpPr>
            <a:spLocks noChangeShapeType="1"/>
          </p:cNvSpPr>
          <p:nvPr/>
        </p:nvSpPr>
        <p:spPr bwMode="auto">
          <a:xfrm flipH="1">
            <a:off x="6342795" y="2535386"/>
            <a:ext cx="73819" cy="528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69" name="Line 1322"/>
          <p:cNvSpPr>
            <a:spLocks noChangeShapeType="1"/>
          </p:cNvSpPr>
          <p:nvPr/>
        </p:nvSpPr>
        <p:spPr bwMode="auto">
          <a:xfrm flipH="1">
            <a:off x="6786897" y="2535387"/>
            <a:ext cx="83344" cy="5453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70" name="Line 1323"/>
          <p:cNvSpPr>
            <a:spLocks noChangeShapeType="1"/>
          </p:cNvSpPr>
          <p:nvPr/>
        </p:nvSpPr>
        <p:spPr bwMode="auto">
          <a:xfrm flipV="1">
            <a:off x="6324935" y="3391446"/>
            <a:ext cx="170260" cy="3274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grpSp>
        <p:nvGrpSpPr>
          <p:cNvPr id="1071" name="Group 1324"/>
          <p:cNvGrpSpPr/>
          <p:nvPr/>
        </p:nvGrpSpPr>
        <p:grpSpPr bwMode="auto">
          <a:xfrm flipH="1">
            <a:off x="5202176" y="3735536"/>
            <a:ext cx="310753" cy="279797"/>
            <a:chOff x="2839" y="3501"/>
            <a:chExt cx="755" cy="803"/>
          </a:xfrm>
        </p:grpSpPr>
        <p:pic>
          <p:nvPicPr>
            <p:cNvPr id="1072" name="Picture 1325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3" name="Freeform 1326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074" name="Group 1327"/>
          <p:cNvGrpSpPr/>
          <p:nvPr/>
        </p:nvGrpSpPr>
        <p:grpSpPr bwMode="auto">
          <a:xfrm flipH="1">
            <a:off x="4964051" y="4051051"/>
            <a:ext cx="361950" cy="304800"/>
            <a:chOff x="2839" y="3501"/>
            <a:chExt cx="755" cy="803"/>
          </a:xfrm>
        </p:grpSpPr>
        <p:pic>
          <p:nvPicPr>
            <p:cNvPr id="1075" name="Picture 1328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6" name="Freeform 1329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077" name="Group 1330"/>
          <p:cNvGrpSpPr/>
          <p:nvPr/>
        </p:nvGrpSpPr>
        <p:grpSpPr bwMode="auto">
          <a:xfrm flipH="1">
            <a:off x="5322428" y="4277270"/>
            <a:ext cx="320279" cy="261938"/>
            <a:chOff x="2839" y="3501"/>
            <a:chExt cx="755" cy="803"/>
          </a:xfrm>
        </p:grpSpPr>
        <p:pic>
          <p:nvPicPr>
            <p:cNvPr id="1078" name="Picture 1331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9" name="Freeform 1332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080" name="Group 1333"/>
          <p:cNvGrpSpPr/>
          <p:nvPr/>
        </p:nvGrpSpPr>
        <p:grpSpPr bwMode="auto">
          <a:xfrm>
            <a:off x="5783201" y="4264174"/>
            <a:ext cx="320278" cy="263128"/>
            <a:chOff x="2839" y="3501"/>
            <a:chExt cx="755" cy="803"/>
          </a:xfrm>
        </p:grpSpPr>
        <p:pic>
          <p:nvPicPr>
            <p:cNvPr id="1081" name="Picture 1334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2" name="Freeform 1335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pic>
        <p:nvPicPr>
          <p:cNvPr id="1083" name="Picture 1336" descr="car_icon_smal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229" y="1625749"/>
            <a:ext cx="636985" cy="126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84" name="Group 1337"/>
          <p:cNvGrpSpPr/>
          <p:nvPr/>
        </p:nvGrpSpPr>
        <p:grpSpPr bwMode="auto">
          <a:xfrm>
            <a:off x="5080732" y="1494780"/>
            <a:ext cx="311944" cy="289322"/>
            <a:chOff x="2751" y="1851"/>
            <a:chExt cx="462" cy="478"/>
          </a:xfrm>
        </p:grpSpPr>
        <p:pic>
          <p:nvPicPr>
            <p:cNvPr id="1085" name="Picture 1338" descr="iphone_stylized_small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86" name="Picture 1339" descr="antenna_radiation_stylized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87" name="Group 1340"/>
          <p:cNvGrpSpPr/>
          <p:nvPr/>
        </p:nvGrpSpPr>
        <p:grpSpPr bwMode="auto">
          <a:xfrm>
            <a:off x="6638070" y="2131764"/>
            <a:ext cx="292894" cy="127397"/>
            <a:chOff x="4650" y="1129"/>
            <a:chExt cx="246" cy="95"/>
          </a:xfrm>
        </p:grpSpPr>
        <p:sp>
          <p:nvSpPr>
            <p:cNvPr id="1088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89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90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091" name="Group 1344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094" name="Freeform 1345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95" name="Freeform 1346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092" name="Line 1347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093" name="Line 1348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</p:grpSp>
      <p:grpSp>
        <p:nvGrpSpPr>
          <p:cNvPr id="1096" name="Group 1349"/>
          <p:cNvGrpSpPr/>
          <p:nvPr/>
        </p:nvGrpSpPr>
        <p:grpSpPr bwMode="auto">
          <a:xfrm>
            <a:off x="6692838" y="2403227"/>
            <a:ext cx="292894" cy="132160"/>
            <a:chOff x="4650" y="1129"/>
            <a:chExt cx="246" cy="95"/>
          </a:xfrm>
        </p:grpSpPr>
        <p:sp>
          <p:nvSpPr>
            <p:cNvPr id="1097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98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99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00" name="Group 1353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03" name="Freeform 1354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04" name="Freeform 1355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01" name="Line 1356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102" name="Line 1357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</p:grpSp>
      <p:grpSp>
        <p:nvGrpSpPr>
          <p:cNvPr id="1105" name="Group 1358"/>
          <p:cNvGrpSpPr/>
          <p:nvPr/>
        </p:nvGrpSpPr>
        <p:grpSpPr bwMode="auto">
          <a:xfrm>
            <a:off x="6273738" y="2205583"/>
            <a:ext cx="292894" cy="127397"/>
            <a:chOff x="4650" y="1129"/>
            <a:chExt cx="246" cy="95"/>
          </a:xfrm>
        </p:grpSpPr>
        <p:sp>
          <p:nvSpPr>
            <p:cNvPr id="1106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07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08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09" name="Group 1362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12" name="Freeform 1363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13" name="Freeform 1364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10" name="Line 1365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111" name="Line 1366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</p:grpSp>
      <p:grpSp>
        <p:nvGrpSpPr>
          <p:cNvPr id="1114" name="Group 1367"/>
          <p:cNvGrpSpPr/>
          <p:nvPr/>
        </p:nvGrpSpPr>
        <p:grpSpPr bwMode="auto">
          <a:xfrm>
            <a:off x="6282072" y="2403227"/>
            <a:ext cx="292894" cy="127397"/>
            <a:chOff x="4650" y="1129"/>
            <a:chExt cx="246" cy="95"/>
          </a:xfrm>
        </p:grpSpPr>
        <p:sp>
          <p:nvSpPr>
            <p:cNvPr id="111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1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1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18" name="Group 1371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21" name="Freeform 1372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22" name="Freeform 1373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19" name="Line 1374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120" name="Line 1375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</p:grpSp>
      <p:sp>
        <p:nvSpPr>
          <p:cNvPr id="1123" name="Line 1376"/>
          <p:cNvSpPr>
            <a:spLocks noChangeShapeType="1"/>
          </p:cNvSpPr>
          <p:nvPr/>
        </p:nvSpPr>
        <p:spPr bwMode="auto">
          <a:xfrm>
            <a:off x="7129797" y="2477045"/>
            <a:ext cx="1333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grpSp>
        <p:nvGrpSpPr>
          <p:cNvPr id="1124" name="Group 1377"/>
          <p:cNvGrpSpPr/>
          <p:nvPr/>
        </p:nvGrpSpPr>
        <p:grpSpPr bwMode="auto">
          <a:xfrm>
            <a:off x="6421376" y="3268811"/>
            <a:ext cx="364331" cy="152400"/>
            <a:chOff x="4650" y="1129"/>
            <a:chExt cx="246" cy="95"/>
          </a:xfrm>
        </p:grpSpPr>
        <p:sp>
          <p:nvSpPr>
            <p:cNvPr id="112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2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2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28" name="Group 1381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31" name="Freeform 1382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32" name="Freeform 1383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29" name="Line 1384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130" name="Line 1385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</p:grpSp>
      <p:grpSp>
        <p:nvGrpSpPr>
          <p:cNvPr id="1133" name="Group 1386"/>
          <p:cNvGrpSpPr/>
          <p:nvPr/>
        </p:nvGrpSpPr>
        <p:grpSpPr bwMode="auto">
          <a:xfrm>
            <a:off x="6182060" y="3058070"/>
            <a:ext cx="364331" cy="152400"/>
            <a:chOff x="4650" y="1129"/>
            <a:chExt cx="246" cy="95"/>
          </a:xfrm>
        </p:grpSpPr>
        <p:sp>
          <p:nvSpPr>
            <p:cNvPr id="1134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35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36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37" name="Group 1390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40" name="Freeform 1391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41" name="Freeform 1392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38" name="Line 1393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139" name="Line 1394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</p:grpSp>
      <p:grpSp>
        <p:nvGrpSpPr>
          <p:cNvPr id="1142" name="Group 1395"/>
          <p:cNvGrpSpPr/>
          <p:nvPr/>
        </p:nvGrpSpPr>
        <p:grpSpPr bwMode="auto">
          <a:xfrm>
            <a:off x="6678551" y="3067595"/>
            <a:ext cx="364331" cy="152400"/>
            <a:chOff x="4650" y="1129"/>
            <a:chExt cx="246" cy="95"/>
          </a:xfrm>
        </p:grpSpPr>
        <p:sp>
          <p:nvSpPr>
            <p:cNvPr id="114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4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4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46" name="Group 1399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49" name="Freeform 1400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50" name="Freeform 1401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47" name="Line 140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148" name="Line 140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</p:grpSp>
      <p:grpSp>
        <p:nvGrpSpPr>
          <p:cNvPr id="1151" name="Group 1404"/>
          <p:cNvGrpSpPr/>
          <p:nvPr/>
        </p:nvGrpSpPr>
        <p:grpSpPr bwMode="auto">
          <a:xfrm>
            <a:off x="6092763" y="3714105"/>
            <a:ext cx="464344" cy="182165"/>
            <a:chOff x="4650" y="1129"/>
            <a:chExt cx="246" cy="95"/>
          </a:xfrm>
        </p:grpSpPr>
        <p:sp>
          <p:nvSpPr>
            <p:cNvPr id="1152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53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54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55" name="Group 1408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58" name="Freeform 1409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59" name="Freeform 1410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56" name="Line 1411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157" name="Line 1412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</p:grpSp>
      <p:grpSp>
        <p:nvGrpSpPr>
          <p:cNvPr id="1160" name="Group 1413"/>
          <p:cNvGrpSpPr/>
          <p:nvPr/>
        </p:nvGrpSpPr>
        <p:grpSpPr bwMode="auto">
          <a:xfrm>
            <a:off x="6567822" y="3937943"/>
            <a:ext cx="464344" cy="182165"/>
            <a:chOff x="4650" y="1129"/>
            <a:chExt cx="246" cy="95"/>
          </a:xfrm>
        </p:grpSpPr>
        <p:sp>
          <p:nvSpPr>
            <p:cNvPr id="116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6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6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64" name="Group 1417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67" name="Freeform 1418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68" name="Freeform 1419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65" name="Line 1420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166" name="Line 1421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</p:grpSp>
      <p:grpSp>
        <p:nvGrpSpPr>
          <p:cNvPr id="1169" name="Group 1422"/>
          <p:cNvGrpSpPr/>
          <p:nvPr/>
        </p:nvGrpSpPr>
        <p:grpSpPr bwMode="auto">
          <a:xfrm>
            <a:off x="5555791" y="3971280"/>
            <a:ext cx="464344" cy="182165"/>
            <a:chOff x="4650" y="1129"/>
            <a:chExt cx="246" cy="95"/>
          </a:xfrm>
        </p:grpSpPr>
        <p:sp>
          <p:nvSpPr>
            <p:cNvPr id="1170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71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72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73" name="Group 1426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76" name="Freeform 1427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77" name="Freeform 1428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74" name="Line 1429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175" name="Line 1430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</p:grpSp>
      <p:grpSp>
        <p:nvGrpSpPr>
          <p:cNvPr id="1178" name="Group 1431"/>
          <p:cNvGrpSpPr/>
          <p:nvPr/>
        </p:nvGrpSpPr>
        <p:grpSpPr bwMode="auto">
          <a:xfrm>
            <a:off x="5410535" y="3065214"/>
            <a:ext cx="292894" cy="127397"/>
            <a:chOff x="4650" y="1129"/>
            <a:chExt cx="246" cy="95"/>
          </a:xfrm>
        </p:grpSpPr>
        <p:sp>
          <p:nvSpPr>
            <p:cNvPr id="1179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80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81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82" name="Group 1435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85" name="Freeform 1436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86" name="Freeform 1437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83" name="Line 1438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184" name="Line 1439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</p:grpSp>
      <p:grpSp>
        <p:nvGrpSpPr>
          <p:cNvPr id="1187" name="Group 1440"/>
          <p:cNvGrpSpPr/>
          <p:nvPr/>
        </p:nvGrpSpPr>
        <p:grpSpPr bwMode="auto">
          <a:xfrm>
            <a:off x="5635563" y="2200821"/>
            <a:ext cx="292894" cy="127397"/>
            <a:chOff x="4650" y="1129"/>
            <a:chExt cx="246" cy="95"/>
          </a:xfrm>
        </p:grpSpPr>
        <p:sp>
          <p:nvSpPr>
            <p:cNvPr id="1188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89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90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91" name="Group 1444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94" name="Freeform 1445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95" name="Freeform 1446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92" name="Line 1447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193" name="Line 1448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</p:grpSp>
      <p:grpSp>
        <p:nvGrpSpPr>
          <p:cNvPr id="1196" name="Group 1449"/>
          <p:cNvGrpSpPr/>
          <p:nvPr/>
        </p:nvGrpSpPr>
        <p:grpSpPr bwMode="auto">
          <a:xfrm>
            <a:off x="5079541" y="2960439"/>
            <a:ext cx="379810" cy="264319"/>
            <a:chOff x="2967" y="478"/>
            <a:chExt cx="788" cy="625"/>
          </a:xfrm>
        </p:grpSpPr>
        <p:pic>
          <p:nvPicPr>
            <p:cNvPr id="1197" name="Picture 1450" descr="access_point_stylized_small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8" name="Picture 1451" descr="antenna_radiation_stylized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99" name="Group 1452"/>
          <p:cNvGrpSpPr/>
          <p:nvPr/>
        </p:nvGrpSpPr>
        <p:grpSpPr bwMode="auto">
          <a:xfrm>
            <a:off x="6220160" y="4087962"/>
            <a:ext cx="422672" cy="315515"/>
            <a:chOff x="2967" y="478"/>
            <a:chExt cx="788" cy="625"/>
          </a:xfrm>
        </p:grpSpPr>
        <p:pic>
          <p:nvPicPr>
            <p:cNvPr id="1200" name="Picture 1453" descr="access_point_stylized_small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01" name="Picture 1454" descr="antenna_radiation_stylized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02" name="Group 1455"/>
          <p:cNvGrpSpPr/>
          <p:nvPr/>
        </p:nvGrpSpPr>
        <p:grpSpPr bwMode="auto">
          <a:xfrm>
            <a:off x="5416488" y="1718618"/>
            <a:ext cx="342900" cy="473869"/>
            <a:chOff x="742" y="2409"/>
            <a:chExt cx="576" cy="881"/>
          </a:xfrm>
        </p:grpSpPr>
        <p:grpSp>
          <p:nvGrpSpPr>
            <p:cNvPr id="1203" name="Group 1456"/>
            <p:cNvGrpSpPr/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1206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07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08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09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0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1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2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3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4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5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6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7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8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9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20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pic>
          <p:nvPicPr>
            <p:cNvPr id="1204" name="Picture 1472" descr="cell_tower_radiation copy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5" name="Oval 1473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</p:grpSp>
      <p:grpSp>
        <p:nvGrpSpPr>
          <p:cNvPr id="1221" name="Group 1474"/>
          <p:cNvGrpSpPr/>
          <p:nvPr/>
        </p:nvGrpSpPr>
        <p:grpSpPr bwMode="auto">
          <a:xfrm>
            <a:off x="7051216" y="4086770"/>
            <a:ext cx="170260" cy="360760"/>
            <a:chOff x="4140" y="429"/>
            <a:chExt cx="1425" cy="2396"/>
          </a:xfrm>
        </p:grpSpPr>
        <p:sp>
          <p:nvSpPr>
            <p:cNvPr id="1222" name="Freeform 1475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3" name="Rectangle 1476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24" name="Freeform 1477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5" name="Freeform 1478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6" name="Rectangle 1479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27" name="Group 1480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52" name="AutoShape 1481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53" name="AutoShape 1482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28" name="Rectangle 1483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29" name="Group 1484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50" name="AutoShape 1485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51" name="AutoShape 1486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30" name="Rectangle 1487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31" name="Rectangle 1488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32" name="Group 1489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48" name="AutoShape 1490"/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49" name="AutoShape 1491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33" name="Freeform 1492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234" name="Group 1493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46" name="AutoShape 1494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47" name="AutoShape 1495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35" name="Rectangle 1496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36" name="Freeform 1497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7" name="Freeform 1498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8" name="Oval 1499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39" name="Freeform 1500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40" name="AutoShape 1501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41" name="AutoShape 1502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42" name="Oval 1503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43" name="Oval 1504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endParaRPr lang="zh-CN" altLang="zh-CN" sz="135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44" name="Oval 1505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45" name="Rectangle 1506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</p:grpSp>
      <p:grpSp>
        <p:nvGrpSpPr>
          <p:cNvPr id="1254" name="Group 1507"/>
          <p:cNvGrpSpPr/>
          <p:nvPr/>
        </p:nvGrpSpPr>
        <p:grpSpPr bwMode="auto">
          <a:xfrm>
            <a:off x="6814282" y="4312989"/>
            <a:ext cx="170259" cy="360760"/>
            <a:chOff x="4140" y="429"/>
            <a:chExt cx="1425" cy="2396"/>
          </a:xfrm>
        </p:grpSpPr>
        <p:sp>
          <p:nvSpPr>
            <p:cNvPr id="1255" name="Freeform 1508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56" name="Rectangle 1509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57" name="Freeform 1510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58" name="Freeform 1511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59" name="Rectangle 1512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60" name="Group 1513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85" name="AutoShape 151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86" name="AutoShape 1515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61" name="Rectangle 1516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62" name="Group 1517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83" name="AutoShape 1518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84" name="AutoShape 1519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63" name="Rectangle 1520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64" name="Rectangle 1521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65" name="Group 1522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81" name="AutoShape 1523"/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82" name="AutoShape 1524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66" name="Freeform 1525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267" name="Group 1526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79" name="AutoShape 1527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80" name="AutoShape 1528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68" name="Rectangle 1529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69" name="Freeform 1530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70" name="Freeform 1531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71" name="Oval 1532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2" name="Freeform 1533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73" name="AutoShape 1534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4" name="AutoShape 1535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5" name="Oval 1536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6" name="Oval 1537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endParaRPr lang="zh-CN" altLang="zh-CN" sz="135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77" name="Oval 1538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8" name="Rectangle 1539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</p:grpSp>
      <p:grpSp>
        <p:nvGrpSpPr>
          <p:cNvPr id="1287" name="Group 1540"/>
          <p:cNvGrpSpPr/>
          <p:nvPr/>
        </p:nvGrpSpPr>
        <p:grpSpPr bwMode="auto">
          <a:xfrm>
            <a:off x="4847370" y="1867445"/>
            <a:ext cx="401240" cy="305991"/>
            <a:chOff x="877" y="1008"/>
            <a:chExt cx="2747" cy="2591"/>
          </a:xfrm>
        </p:grpSpPr>
        <p:pic>
          <p:nvPicPr>
            <p:cNvPr id="1288" name="Picture 1541" descr="antenna_stylized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9" name="Picture 1542" descr="laptop_keyboard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90" name="Freeform 1543"/>
            <p:cNvSpPr/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4 w 2982"/>
                <a:gd name="T1" fmla="*/ 0 h 2442"/>
                <a:gd name="T2" fmla="*/ 0 w 2982"/>
                <a:gd name="T3" fmla="*/ 81 h 2442"/>
                <a:gd name="T4" fmla="*/ 196 w 2982"/>
                <a:gd name="T5" fmla="*/ 114 h 2442"/>
                <a:gd name="T6" fmla="*/ 244 w 2982"/>
                <a:gd name="T7" fmla="*/ 15 h 2442"/>
                <a:gd name="T8" fmla="*/ 4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291" name="Picture 1544" descr="screen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92" name="Freeform 1545"/>
            <p:cNvSpPr/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06 w 2528"/>
                <a:gd name="T3" fmla="*/ 16 h 455"/>
                <a:gd name="T4" fmla="*/ 202 w 2528"/>
                <a:gd name="T5" fmla="*/ 21 h 455"/>
                <a:gd name="T6" fmla="*/ 0 w 2528"/>
                <a:gd name="T7" fmla="*/ 4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3" name="Freeform 1546"/>
            <p:cNvSpPr/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7 w 702"/>
                <a:gd name="T1" fmla="*/ 0 h 1893"/>
                <a:gd name="T2" fmla="*/ 0 w 702"/>
                <a:gd name="T3" fmla="*/ 87 h 1893"/>
                <a:gd name="T4" fmla="*/ 9 w 702"/>
                <a:gd name="T5" fmla="*/ 88 h 1893"/>
                <a:gd name="T6" fmla="*/ 57 w 702"/>
                <a:gd name="T7" fmla="*/ 2 h 1893"/>
                <a:gd name="T8" fmla="*/ 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4" name="Freeform 1547"/>
            <p:cNvSpPr/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62 w 756"/>
                <a:gd name="T1" fmla="*/ 0 h 2184"/>
                <a:gd name="T2" fmla="*/ 12 w 756"/>
                <a:gd name="T3" fmla="*/ 101 h 2184"/>
                <a:gd name="T4" fmla="*/ 0 w 756"/>
                <a:gd name="T5" fmla="*/ 100 h 2184"/>
                <a:gd name="T6" fmla="*/ 49 w 756"/>
                <a:gd name="T7" fmla="*/ 3 h 2184"/>
                <a:gd name="T8" fmla="*/ 6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5" name="Freeform 1548"/>
            <p:cNvSpPr/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2 w 2773"/>
                <a:gd name="T1" fmla="*/ 0 h 738"/>
                <a:gd name="T2" fmla="*/ 0 w 2773"/>
                <a:gd name="T3" fmla="*/ 5 h 738"/>
                <a:gd name="T4" fmla="*/ 199 w 2773"/>
                <a:gd name="T5" fmla="*/ 34 h 738"/>
                <a:gd name="T6" fmla="*/ 194 w 2773"/>
                <a:gd name="T7" fmla="*/ 28 h 738"/>
                <a:gd name="T8" fmla="*/ 2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6" name="Freeform 1549"/>
            <p:cNvSpPr/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86 w 637"/>
                <a:gd name="T1" fmla="*/ 0 h 1659"/>
                <a:gd name="T2" fmla="*/ 88 w 637"/>
                <a:gd name="T3" fmla="*/ 0 h 1659"/>
                <a:gd name="T4" fmla="*/ 9 w 637"/>
                <a:gd name="T5" fmla="*/ 311 h 1659"/>
                <a:gd name="T6" fmla="*/ 0 w 637"/>
                <a:gd name="T7" fmla="*/ 308 h 1659"/>
                <a:gd name="T8" fmla="*/ 8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7" name="Freeform 1550"/>
            <p:cNvSpPr/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1 h 550"/>
                <a:gd name="T4" fmla="*/ 301 w 2216"/>
                <a:gd name="T5" fmla="*/ 104 h 550"/>
                <a:gd name="T6" fmla="*/ 309 w 2216"/>
                <a:gd name="T7" fmla="*/ 93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298" name="Group 1551"/>
            <p:cNvGrpSpPr/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05" name="Freeform 1552"/>
              <p:cNvSpPr/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6" name="Freeform 1553"/>
              <p:cNvSpPr/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7" name="Freeform 1554"/>
              <p:cNvSpPr/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8" name="Freeform 1555"/>
              <p:cNvSpPr/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9" name="Freeform 1556"/>
              <p:cNvSpPr/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10" name="Freeform 1557"/>
              <p:cNvSpPr/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299" name="Freeform 1558"/>
            <p:cNvSpPr/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85 h 792"/>
                <a:gd name="T2" fmla="*/ 91 w 990"/>
                <a:gd name="T3" fmla="*/ 0 h 792"/>
                <a:gd name="T4" fmla="*/ 91 w 990"/>
                <a:gd name="T5" fmla="*/ 6 h 792"/>
                <a:gd name="T6" fmla="*/ 0 w 990"/>
                <a:gd name="T7" fmla="*/ 92 h 792"/>
                <a:gd name="T8" fmla="*/ 1 w 990"/>
                <a:gd name="T9" fmla="*/ 8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00" name="Freeform 1559"/>
            <p:cNvSpPr/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4 w 2532"/>
                <a:gd name="T3" fmla="*/ 0 h 723"/>
                <a:gd name="T4" fmla="*/ 233 w 2532"/>
                <a:gd name="T5" fmla="*/ 78 h 723"/>
                <a:gd name="T6" fmla="*/ 233 w 2532"/>
                <a:gd name="T7" fmla="*/ 83 h 723"/>
                <a:gd name="T8" fmla="*/ 0 w 2532"/>
                <a:gd name="T9" fmla="*/ 3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01" name="Freeform 1560"/>
            <p:cNvSpPr/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3 w 26"/>
                <a:gd name="T1" fmla="*/ 1 h 147"/>
                <a:gd name="T2" fmla="*/ 3 w 26"/>
                <a:gd name="T3" fmla="*/ 16 h 147"/>
                <a:gd name="T4" fmla="*/ 0 w 26"/>
                <a:gd name="T5" fmla="*/ 16 h 147"/>
                <a:gd name="T6" fmla="*/ 1 w 26"/>
                <a:gd name="T7" fmla="*/ 0 h 147"/>
                <a:gd name="T8" fmla="*/ 3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02" name="Freeform 1561"/>
            <p:cNvSpPr/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8 w 1176"/>
                <a:gd name="T1" fmla="*/ 0 h 606"/>
                <a:gd name="T2" fmla="*/ 0 w 1176"/>
                <a:gd name="T3" fmla="*/ 69 h 606"/>
                <a:gd name="T4" fmla="*/ 2 w 1176"/>
                <a:gd name="T5" fmla="*/ 69 h 606"/>
                <a:gd name="T6" fmla="*/ 108 w 1176"/>
                <a:gd name="T7" fmla="*/ 2 h 606"/>
                <a:gd name="T8" fmla="*/ 108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03" name="Freeform 1562"/>
            <p:cNvSpPr/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2 w 2532"/>
                <a:gd name="T3" fmla="*/ 0 h 723"/>
                <a:gd name="T4" fmla="*/ 179 w 2532"/>
                <a:gd name="T5" fmla="*/ 64 h 723"/>
                <a:gd name="T6" fmla="*/ 178 w 2532"/>
                <a:gd name="T7" fmla="*/ 68 h 723"/>
                <a:gd name="T8" fmla="*/ 0 w 2532"/>
                <a:gd name="T9" fmla="*/ 2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04" name="Freeform 1563"/>
            <p:cNvSpPr/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2 w 2532"/>
                <a:gd name="T5" fmla="*/ 76 h 723"/>
                <a:gd name="T6" fmla="*/ 2 w 2532"/>
                <a:gd name="T7" fmla="*/ 81 h 723"/>
                <a:gd name="T8" fmla="*/ 0 w 2532"/>
                <a:gd name="T9" fmla="*/ 3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11" name="Group 1564"/>
          <p:cNvGrpSpPr/>
          <p:nvPr/>
        </p:nvGrpSpPr>
        <p:grpSpPr bwMode="auto">
          <a:xfrm>
            <a:off x="6024898" y="4449912"/>
            <a:ext cx="355997" cy="305990"/>
            <a:chOff x="877" y="1008"/>
            <a:chExt cx="2747" cy="2591"/>
          </a:xfrm>
        </p:grpSpPr>
        <p:pic>
          <p:nvPicPr>
            <p:cNvPr id="1312" name="Picture 1565" descr="antenna_stylized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3" name="Picture 1566" descr="laptop_keyboard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4" name="Freeform 1567"/>
            <p:cNvSpPr/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4 w 2982"/>
                <a:gd name="T1" fmla="*/ 0 h 2442"/>
                <a:gd name="T2" fmla="*/ 0 w 2982"/>
                <a:gd name="T3" fmla="*/ 81 h 2442"/>
                <a:gd name="T4" fmla="*/ 196 w 2982"/>
                <a:gd name="T5" fmla="*/ 114 h 2442"/>
                <a:gd name="T6" fmla="*/ 244 w 2982"/>
                <a:gd name="T7" fmla="*/ 15 h 2442"/>
                <a:gd name="T8" fmla="*/ 4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315" name="Picture 1568" descr="screen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6" name="Freeform 1569"/>
            <p:cNvSpPr/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06 w 2528"/>
                <a:gd name="T3" fmla="*/ 16 h 455"/>
                <a:gd name="T4" fmla="*/ 202 w 2528"/>
                <a:gd name="T5" fmla="*/ 21 h 455"/>
                <a:gd name="T6" fmla="*/ 0 w 2528"/>
                <a:gd name="T7" fmla="*/ 4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17" name="Freeform 1570"/>
            <p:cNvSpPr/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7 w 702"/>
                <a:gd name="T1" fmla="*/ 0 h 1893"/>
                <a:gd name="T2" fmla="*/ 0 w 702"/>
                <a:gd name="T3" fmla="*/ 87 h 1893"/>
                <a:gd name="T4" fmla="*/ 9 w 702"/>
                <a:gd name="T5" fmla="*/ 88 h 1893"/>
                <a:gd name="T6" fmla="*/ 57 w 702"/>
                <a:gd name="T7" fmla="*/ 2 h 1893"/>
                <a:gd name="T8" fmla="*/ 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18" name="Freeform 1571"/>
            <p:cNvSpPr/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62 w 756"/>
                <a:gd name="T1" fmla="*/ 0 h 2184"/>
                <a:gd name="T2" fmla="*/ 12 w 756"/>
                <a:gd name="T3" fmla="*/ 101 h 2184"/>
                <a:gd name="T4" fmla="*/ 0 w 756"/>
                <a:gd name="T5" fmla="*/ 100 h 2184"/>
                <a:gd name="T6" fmla="*/ 49 w 756"/>
                <a:gd name="T7" fmla="*/ 3 h 2184"/>
                <a:gd name="T8" fmla="*/ 6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19" name="Freeform 1572"/>
            <p:cNvSpPr/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2 w 2773"/>
                <a:gd name="T1" fmla="*/ 0 h 738"/>
                <a:gd name="T2" fmla="*/ 0 w 2773"/>
                <a:gd name="T3" fmla="*/ 5 h 738"/>
                <a:gd name="T4" fmla="*/ 199 w 2773"/>
                <a:gd name="T5" fmla="*/ 34 h 738"/>
                <a:gd name="T6" fmla="*/ 194 w 2773"/>
                <a:gd name="T7" fmla="*/ 28 h 738"/>
                <a:gd name="T8" fmla="*/ 2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0" name="Freeform 1573"/>
            <p:cNvSpPr/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86 w 637"/>
                <a:gd name="T1" fmla="*/ 0 h 1659"/>
                <a:gd name="T2" fmla="*/ 88 w 637"/>
                <a:gd name="T3" fmla="*/ 0 h 1659"/>
                <a:gd name="T4" fmla="*/ 9 w 637"/>
                <a:gd name="T5" fmla="*/ 311 h 1659"/>
                <a:gd name="T6" fmla="*/ 0 w 637"/>
                <a:gd name="T7" fmla="*/ 308 h 1659"/>
                <a:gd name="T8" fmla="*/ 8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1" name="Freeform 1574"/>
            <p:cNvSpPr/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1 h 550"/>
                <a:gd name="T4" fmla="*/ 301 w 2216"/>
                <a:gd name="T5" fmla="*/ 104 h 550"/>
                <a:gd name="T6" fmla="*/ 309 w 2216"/>
                <a:gd name="T7" fmla="*/ 93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22" name="Group 1575"/>
            <p:cNvGrpSpPr/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29" name="Freeform 1576"/>
              <p:cNvSpPr/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0" name="Freeform 1577"/>
              <p:cNvSpPr/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1" name="Freeform 1578"/>
              <p:cNvSpPr/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2" name="Freeform 1579"/>
              <p:cNvSpPr/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3" name="Freeform 1580"/>
              <p:cNvSpPr/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4" name="Freeform 1581"/>
              <p:cNvSpPr/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323" name="Freeform 1582"/>
            <p:cNvSpPr/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85 h 792"/>
                <a:gd name="T2" fmla="*/ 91 w 990"/>
                <a:gd name="T3" fmla="*/ 0 h 792"/>
                <a:gd name="T4" fmla="*/ 91 w 990"/>
                <a:gd name="T5" fmla="*/ 6 h 792"/>
                <a:gd name="T6" fmla="*/ 0 w 990"/>
                <a:gd name="T7" fmla="*/ 92 h 792"/>
                <a:gd name="T8" fmla="*/ 1 w 990"/>
                <a:gd name="T9" fmla="*/ 8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4" name="Freeform 1583"/>
            <p:cNvSpPr/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4 w 2532"/>
                <a:gd name="T3" fmla="*/ 0 h 723"/>
                <a:gd name="T4" fmla="*/ 233 w 2532"/>
                <a:gd name="T5" fmla="*/ 78 h 723"/>
                <a:gd name="T6" fmla="*/ 233 w 2532"/>
                <a:gd name="T7" fmla="*/ 83 h 723"/>
                <a:gd name="T8" fmla="*/ 0 w 2532"/>
                <a:gd name="T9" fmla="*/ 3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5" name="Freeform 1584"/>
            <p:cNvSpPr/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3 w 26"/>
                <a:gd name="T1" fmla="*/ 1 h 147"/>
                <a:gd name="T2" fmla="*/ 3 w 26"/>
                <a:gd name="T3" fmla="*/ 16 h 147"/>
                <a:gd name="T4" fmla="*/ 0 w 26"/>
                <a:gd name="T5" fmla="*/ 16 h 147"/>
                <a:gd name="T6" fmla="*/ 1 w 26"/>
                <a:gd name="T7" fmla="*/ 0 h 147"/>
                <a:gd name="T8" fmla="*/ 3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6" name="Freeform 1585"/>
            <p:cNvSpPr/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8 w 1176"/>
                <a:gd name="T1" fmla="*/ 0 h 606"/>
                <a:gd name="T2" fmla="*/ 0 w 1176"/>
                <a:gd name="T3" fmla="*/ 69 h 606"/>
                <a:gd name="T4" fmla="*/ 2 w 1176"/>
                <a:gd name="T5" fmla="*/ 69 h 606"/>
                <a:gd name="T6" fmla="*/ 108 w 1176"/>
                <a:gd name="T7" fmla="*/ 2 h 606"/>
                <a:gd name="T8" fmla="*/ 108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7" name="Freeform 1586"/>
            <p:cNvSpPr/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2 w 2532"/>
                <a:gd name="T3" fmla="*/ 0 h 723"/>
                <a:gd name="T4" fmla="*/ 179 w 2532"/>
                <a:gd name="T5" fmla="*/ 64 h 723"/>
                <a:gd name="T6" fmla="*/ 178 w 2532"/>
                <a:gd name="T7" fmla="*/ 68 h 723"/>
                <a:gd name="T8" fmla="*/ 0 w 2532"/>
                <a:gd name="T9" fmla="*/ 2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8" name="Freeform 1587"/>
            <p:cNvSpPr/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2 w 2532"/>
                <a:gd name="T5" fmla="*/ 76 h 723"/>
                <a:gd name="T6" fmla="*/ 2 w 2532"/>
                <a:gd name="T7" fmla="*/ 81 h 723"/>
                <a:gd name="T8" fmla="*/ 0 w 2532"/>
                <a:gd name="T9" fmla="*/ 3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35" name="Group 1588"/>
          <p:cNvGrpSpPr/>
          <p:nvPr/>
        </p:nvGrpSpPr>
        <p:grpSpPr bwMode="auto">
          <a:xfrm>
            <a:off x="5041441" y="2616349"/>
            <a:ext cx="333375" cy="305990"/>
            <a:chOff x="877" y="1008"/>
            <a:chExt cx="2747" cy="2591"/>
          </a:xfrm>
        </p:grpSpPr>
        <p:pic>
          <p:nvPicPr>
            <p:cNvPr id="1336" name="Picture 1589" descr="antenna_stylized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7" name="Picture 1590" descr="laptop_keyboard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8" name="Freeform 1591"/>
            <p:cNvSpPr/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4 w 2982"/>
                <a:gd name="T1" fmla="*/ 0 h 2442"/>
                <a:gd name="T2" fmla="*/ 0 w 2982"/>
                <a:gd name="T3" fmla="*/ 81 h 2442"/>
                <a:gd name="T4" fmla="*/ 196 w 2982"/>
                <a:gd name="T5" fmla="*/ 114 h 2442"/>
                <a:gd name="T6" fmla="*/ 244 w 2982"/>
                <a:gd name="T7" fmla="*/ 15 h 2442"/>
                <a:gd name="T8" fmla="*/ 4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339" name="Picture 1592" descr="screen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40" name="Freeform 1593"/>
            <p:cNvSpPr/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06 w 2528"/>
                <a:gd name="T3" fmla="*/ 16 h 455"/>
                <a:gd name="T4" fmla="*/ 202 w 2528"/>
                <a:gd name="T5" fmla="*/ 21 h 455"/>
                <a:gd name="T6" fmla="*/ 0 w 2528"/>
                <a:gd name="T7" fmla="*/ 4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1" name="Freeform 1594"/>
            <p:cNvSpPr/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7 w 702"/>
                <a:gd name="T1" fmla="*/ 0 h 1893"/>
                <a:gd name="T2" fmla="*/ 0 w 702"/>
                <a:gd name="T3" fmla="*/ 87 h 1893"/>
                <a:gd name="T4" fmla="*/ 9 w 702"/>
                <a:gd name="T5" fmla="*/ 88 h 1893"/>
                <a:gd name="T6" fmla="*/ 57 w 702"/>
                <a:gd name="T7" fmla="*/ 2 h 1893"/>
                <a:gd name="T8" fmla="*/ 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2" name="Freeform 1595"/>
            <p:cNvSpPr/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62 w 756"/>
                <a:gd name="T1" fmla="*/ 0 h 2184"/>
                <a:gd name="T2" fmla="*/ 12 w 756"/>
                <a:gd name="T3" fmla="*/ 101 h 2184"/>
                <a:gd name="T4" fmla="*/ 0 w 756"/>
                <a:gd name="T5" fmla="*/ 100 h 2184"/>
                <a:gd name="T6" fmla="*/ 49 w 756"/>
                <a:gd name="T7" fmla="*/ 3 h 2184"/>
                <a:gd name="T8" fmla="*/ 6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3" name="Freeform 1596"/>
            <p:cNvSpPr/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2 w 2773"/>
                <a:gd name="T1" fmla="*/ 0 h 738"/>
                <a:gd name="T2" fmla="*/ 0 w 2773"/>
                <a:gd name="T3" fmla="*/ 5 h 738"/>
                <a:gd name="T4" fmla="*/ 199 w 2773"/>
                <a:gd name="T5" fmla="*/ 34 h 738"/>
                <a:gd name="T6" fmla="*/ 194 w 2773"/>
                <a:gd name="T7" fmla="*/ 28 h 738"/>
                <a:gd name="T8" fmla="*/ 2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4" name="Freeform 1597"/>
            <p:cNvSpPr/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86 w 637"/>
                <a:gd name="T1" fmla="*/ 0 h 1659"/>
                <a:gd name="T2" fmla="*/ 88 w 637"/>
                <a:gd name="T3" fmla="*/ 0 h 1659"/>
                <a:gd name="T4" fmla="*/ 9 w 637"/>
                <a:gd name="T5" fmla="*/ 311 h 1659"/>
                <a:gd name="T6" fmla="*/ 0 w 637"/>
                <a:gd name="T7" fmla="*/ 308 h 1659"/>
                <a:gd name="T8" fmla="*/ 8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5" name="Freeform 1598"/>
            <p:cNvSpPr/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1 h 550"/>
                <a:gd name="T4" fmla="*/ 301 w 2216"/>
                <a:gd name="T5" fmla="*/ 104 h 550"/>
                <a:gd name="T6" fmla="*/ 309 w 2216"/>
                <a:gd name="T7" fmla="*/ 93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46" name="Group 1599"/>
            <p:cNvGrpSpPr/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53" name="Freeform 1600"/>
              <p:cNvSpPr/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54" name="Freeform 1601"/>
              <p:cNvSpPr/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55" name="Freeform 1602"/>
              <p:cNvSpPr/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56" name="Freeform 1603"/>
              <p:cNvSpPr/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57" name="Freeform 1604"/>
              <p:cNvSpPr/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58" name="Freeform 1605"/>
              <p:cNvSpPr/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347" name="Freeform 1606"/>
            <p:cNvSpPr/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85 h 792"/>
                <a:gd name="T2" fmla="*/ 91 w 990"/>
                <a:gd name="T3" fmla="*/ 0 h 792"/>
                <a:gd name="T4" fmla="*/ 91 w 990"/>
                <a:gd name="T5" fmla="*/ 6 h 792"/>
                <a:gd name="T6" fmla="*/ 0 w 990"/>
                <a:gd name="T7" fmla="*/ 92 h 792"/>
                <a:gd name="T8" fmla="*/ 1 w 990"/>
                <a:gd name="T9" fmla="*/ 8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8" name="Freeform 1607"/>
            <p:cNvSpPr/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4 w 2532"/>
                <a:gd name="T3" fmla="*/ 0 h 723"/>
                <a:gd name="T4" fmla="*/ 233 w 2532"/>
                <a:gd name="T5" fmla="*/ 78 h 723"/>
                <a:gd name="T6" fmla="*/ 233 w 2532"/>
                <a:gd name="T7" fmla="*/ 83 h 723"/>
                <a:gd name="T8" fmla="*/ 0 w 2532"/>
                <a:gd name="T9" fmla="*/ 3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9" name="Freeform 1608"/>
            <p:cNvSpPr/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3 w 26"/>
                <a:gd name="T1" fmla="*/ 1 h 147"/>
                <a:gd name="T2" fmla="*/ 3 w 26"/>
                <a:gd name="T3" fmla="*/ 16 h 147"/>
                <a:gd name="T4" fmla="*/ 0 w 26"/>
                <a:gd name="T5" fmla="*/ 16 h 147"/>
                <a:gd name="T6" fmla="*/ 1 w 26"/>
                <a:gd name="T7" fmla="*/ 0 h 147"/>
                <a:gd name="T8" fmla="*/ 3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0" name="Freeform 1609"/>
            <p:cNvSpPr/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8 w 1176"/>
                <a:gd name="T1" fmla="*/ 0 h 606"/>
                <a:gd name="T2" fmla="*/ 0 w 1176"/>
                <a:gd name="T3" fmla="*/ 69 h 606"/>
                <a:gd name="T4" fmla="*/ 2 w 1176"/>
                <a:gd name="T5" fmla="*/ 69 h 606"/>
                <a:gd name="T6" fmla="*/ 108 w 1176"/>
                <a:gd name="T7" fmla="*/ 2 h 606"/>
                <a:gd name="T8" fmla="*/ 108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1" name="Freeform 1610"/>
            <p:cNvSpPr/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2 w 2532"/>
                <a:gd name="T3" fmla="*/ 0 h 723"/>
                <a:gd name="T4" fmla="*/ 179 w 2532"/>
                <a:gd name="T5" fmla="*/ 64 h 723"/>
                <a:gd name="T6" fmla="*/ 178 w 2532"/>
                <a:gd name="T7" fmla="*/ 68 h 723"/>
                <a:gd name="T8" fmla="*/ 0 w 2532"/>
                <a:gd name="T9" fmla="*/ 2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2" name="Freeform 1611"/>
            <p:cNvSpPr/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2 w 2532"/>
                <a:gd name="T5" fmla="*/ 76 h 723"/>
                <a:gd name="T6" fmla="*/ 2 w 2532"/>
                <a:gd name="T7" fmla="*/ 81 h 723"/>
                <a:gd name="T8" fmla="*/ 0 w 2532"/>
                <a:gd name="T9" fmla="*/ 3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59" name="Group 1612"/>
          <p:cNvGrpSpPr/>
          <p:nvPr/>
        </p:nvGrpSpPr>
        <p:grpSpPr bwMode="auto">
          <a:xfrm flipH="1">
            <a:off x="5326001" y="2752080"/>
            <a:ext cx="310753" cy="279797"/>
            <a:chOff x="2839" y="3501"/>
            <a:chExt cx="755" cy="803"/>
          </a:xfrm>
        </p:grpSpPr>
        <p:pic>
          <p:nvPicPr>
            <p:cNvPr id="1360" name="Picture 1613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1" name="Freeform 1614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362" name="Group 1615"/>
          <p:cNvGrpSpPr/>
          <p:nvPr/>
        </p:nvGrpSpPr>
        <p:grpSpPr bwMode="auto">
          <a:xfrm>
            <a:off x="6351129" y="4402287"/>
            <a:ext cx="355997" cy="305990"/>
            <a:chOff x="877" y="1008"/>
            <a:chExt cx="2747" cy="2591"/>
          </a:xfrm>
        </p:grpSpPr>
        <p:pic>
          <p:nvPicPr>
            <p:cNvPr id="1363" name="Picture 1616" descr="antenna_stylized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64" name="Picture 1617" descr="laptop_keyboard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5" name="Freeform 1618"/>
            <p:cNvSpPr/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4 w 2982"/>
                <a:gd name="T1" fmla="*/ 0 h 2442"/>
                <a:gd name="T2" fmla="*/ 0 w 2982"/>
                <a:gd name="T3" fmla="*/ 81 h 2442"/>
                <a:gd name="T4" fmla="*/ 196 w 2982"/>
                <a:gd name="T5" fmla="*/ 114 h 2442"/>
                <a:gd name="T6" fmla="*/ 244 w 2982"/>
                <a:gd name="T7" fmla="*/ 15 h 2442"/>
                <a:gd name="T8" fmla="*/ 4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366" name="Picture 1619" descr="screen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7" name="Freeform 1620"/>
            <p:cNvSpPr/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06 w 2528"/>
                <a:gd name="T3" fmla="*/ 16 h 455"/>
                <a:gd name="T4" fmla="*/ 202 w 2528"/>
                <a:gd name="T5" fmla="*/ 21 h 455"/>
                <a:gd name="T6" fmla="*/ 0 w 2528"/>
                <a:gd name="T7" fmla="*/ 4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68" name="Freeform 1621"/>
            <p:cNvSpPr/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7 w 702"/>
                <a:gd name="T1" fmla="*/ 0 h 1893"/>
                <a:gd name="T2" fmla="*/ 0 w 702"/>
                <a:gd name="T3" fmla="*/ 87 h 1893"/>
                <a:gd name="T4" fmla="*/ 9 w 702"/>
                <a:gd name="T5" fmla="*/ 88 h 1893"/>
                <a:gd name="T6" fmla="*/ 57 w 702"/>
                <a:gd name="T7" fmla="*/ 2 h 1893"/>
                <a:gd name="T8" fmla="*/ 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69" name="Freeform 1622"/>
            <p:cNvSpPr/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62 w 756"/>
                <a:gd name="T1" fmla="*/ 0 h 2184"/>
                <a:gd name="T2" fmla="*/ 12 w 756"/>
                <a:gd name="T3" fmla="*/ 101 h 2184"/>
                <a:gd name="T4" fmla="*/ 0 w 756"/>
                <a:gd name="T5" fmla="*/ 100 h 2184"/>
                <a:gd name="T6" fmla="*/ 49 w 756"/>
                <a:gd name="T7" fmla="*/ 3 h 2184"/>
                <a:gd name="T8" fmla="*/ 6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0" name="Freeform 1623"/>
            <p:cNvSpPr/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2 w 2773"/>
                <a:gd name="T1" fmla="*/ 0 h 738"/>
                <a:gd name="T2" fmla="*/ 0 w 2773"/>
                <a:gd name="T3" fmla="*/ 5 h 738"/>
                <a:gd name="T4" fmla="*/ 199 w 2773"/>
                <a:gd name="T5" fmla="*/ 34 h 738"/>
                <a:gd name="T6" fmla="*/ 194 w 2773"/>
                <a:gd name="T7" fmla="*/ 28 h 738"/>
                <a:gd name="T8" fmla="*/ 2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1" name="Freeform 1624"/>
            <p:cNvSpPr/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86 w 637"/>
                <a:gd name="T1" fmla="*/ 0 h 1659"/>
                <a:gd name="T2" fmla="*/ 88 w 637"/>
                <a:gd name="T3" fmla="*/ 0 h 1659"/>
                <a:gd name="T4" fmla="*/ 9 w 637"/>
                <a:gd name="T5" fmla="*/ 311 h 1659"/>
                <a:gd name="T6" fmla="*/ 0 w 637"/>
                <a:gd name="T7" fmla="*/ 308 h 1659"/>
                <a:gd name="T8" fmla="*/ 8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2" name="Freeform 1625"/>
            <p:cNvSpPr/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1 h 550"/>
                <a:gd name="T4" fmla="*/ 301 w 2216"/>
                <a:gd name="T5" fmla="*/ 104 h 550"/>
                <a:gd name="T6" fmla="*/ 309 w 2216"/>
                <a:gd name="T7" fmla="*/ 93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73" name="Group 1626"/>
            <p:cNvGrpSpPr/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80" name="Freeform 1627"/>
              <p:cNvSpPr/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81" name="Freeform 1628"/>
              <p:cNvSpPr/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82" name="Freeform 1629"/>
              <p:cNvSpPr/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83" name="Freeform 1630"/>
              <p:cNvSpPr/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84" name="Freeform 1631"/>
              <p:cNvSpPr/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85" name="Freeform 1632"/>
              <p:cNvSpPr/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374" name="Freeform 1633"/>
            <p:cNvSpPr/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85 h 792"/>
                <a:gd name="T2" fmla="*/ 91 w 990"/>
                <a:gd name="T3" fmla="*/ 0 h 792"/>
                <a:gd name="T4" fmla="*/ 91 w 990"/>
                <a:gd name="T5" fmla="*/ 6 h 792"/>
                <a:gd name="T6" fmla="*/ 0 w 990"/>
                <a:gd name="T7" fmla="*/ 92 h 792"/>
                <a:gd name="T8" fmla="*/ 1 w 990"/>
                <a:gd name="T9" fmla="*/ 8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5" name="Freeform 1634"/>
            <p:cNvSpPr/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4 w 2532"/>
                <a:gd name="T3" fmla="*/ 0 h 723"/>
                <a:gd name="T4" fmla="*/ 233 w 2532"/>
                <a:gd name="T5" fmla="*/ 78 h 723"/>
                <a:gd name="T6" fmla="*/ 233 w 2532"/>
                <a:gd name="T7" fmla="*/ 83 h 723"/>
                <a:gd name="T8" fmla="*/ 0 w 2532"/>
                <a:gd name="T9" fmla="*/ 3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6" name="Freeform 1635"/>
            <p:cNvSpPr/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3 w 26"/>
                <a:gd name="T1" fmla="*/ 1 h 147"/>
                <a:gd name="T2" fmla="*/ 3 w 26"/>
                <a:gd name="T3" fmla="*/ 16 h 147"/>
                <a:gd name="T4" fmla="*/ 0 w 26"/>
                <a:gd name="T5" fmla="*/ 16 h 147"/>
                <a:gd name="T6" fmla="*/ 1 w 26"/>
                <a:gd name="T7" fmla="*/ 0 h 147"/>
                <a:gd name="T8" fmla="*/ 3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7" name="Freeform 1636"/>
            <p:cNvSpPr/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8 w 1176"/>
                <a:gd name="T1" fmla="*/ 0 h 606"/>
                <a:gd name="T2" fmla="*/ 0 w 1176"/>
                <a:gd name="T3" fmla="*/ 69 h 606"/>
                <a:gd name="T4" fmla="*/ 2 w 1176"/>
                <a:gd name="T5" fmla="*/ 69 h 606"/>
                <a:gd name="T6" fmla="*/ 108 w 1176"/>
                <a:gd name="T7" fmla="*/ 2 h 606"/>
                <a:gd name="T8" fmla="*/ 108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8" name="Freeform 1637"/>
            <p:cNvSpPr/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2 w 2532"/>
                <a:gd name="T3" fmla="*/ 0 h 723"/>
                <a:gd name="T4" fmla="*/ 179 w 2532"/>
                <a:gd name="T5" fmla="*/ 64 h 723"/>
                <a:gd name="T6" fmla="*/ 178 w 2532"/>
                <a:gd name="T7" fmla="*/ 68 h 723"/>
                <a:gd name="T8" fmla="*/ 0 w 2532"/>
                <a:gd name="T9" fmla="*/ 2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9" name="Freeform 1638"/>
            <p:cNvSpPr/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2 w 2532"/>
                <a:gd name="T5" fmla="*/ 76 h 723"/>
                <a:gd name="T6" fmla="*/ 2 w 2532"/>
                <a:gd name="T7" fmla="*/ 81 h 723"/>
                <a:gd name="T8" fmla="*/ 0 w 2532"/>
                <a:gd name="T9" fmla="*/ 3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86" name="Group 1046"/>
          <p:cNvGrpSpPr/>
          <p:nvPr/>
        </p:nvGrpSpPr>
        <p:grpSpPr bwMode="auto">
          <a:xfrm>
            <a:off x="5112881" y="1199505"/>
            <a:ext cx="841773" cy="747713"/>
            <a:chOff x="3402" y="719"/>
            <a:chExt cx="707" cy="628"/>
          </a:xfrm>
        </p:grpSpPr>
        <p:sp>
          <p:nvSpPr>
            <p:cNvPr id="1387" name="Freeform 1030"/>
            <p:cNvSpPr/>
            <p:nvPr/>
          </p:nvSpPr>
          <p:spPr bwMode="auto">
            <a:xfrm>
              <a:off x="3402" y="753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88" name="Group 310"/>
            <p:cNvGrpSpPr/>
            <p:nvPr/>
          </p:nvGrpSpPr>
          <p:grpSpPr bwMode="auto">
            <a:xfrm>
              <a:off x="3512" y="719"/>
              <a:ext cx="597" cy="570"/>
              <a:chOff x="2919" y="969"/>
              <a:chExt cx="597" cy="570"/>
            </a:xfrm>
          </p:grpSpPr>
          <p:sp>
            <p:nvSpPr>
              <p:cNvPr id="1389" name="Rectangle 311"/>
              <p:cNvSpPr>
                <a:spLocks noChangeArrowheads="1"/>
              </p:cNvSpPr>
              <p:nvPr/>
            </p:nvSpPr>
            <p:spPr bwMode="auto"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390" name="Rectangle 312"/>
              <p:cNvSpPr>
                <a:spLocks noChangeArrowheads="1"/>
              </p:cNvSpPr>
              <p:nvPr/>
            </p:nvSpPr>
            <p:spPr bwMode="auto"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391" name="Rectangle 313"/>
              <p:cNvSpPr>
                <a:spLocks noChangeArrowheads="1"/>
              </p:cNvSpPr>
              <p:nvPr/>
            </p:nvSpPr>
            <p:spPr bwMode="auto"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392" name="Text Box 314"/>
              <p:cNvSpPr txBox="1">
                <a:spLocks noChangeArrowheads="1"/>
              </p:cNvSpPr>
              <p:nvPr/>
            </p:nvSpPr>
            <p:spPr bwMode="auto">
              <a:xfrm>
                <a:off x="2919" y="977"/>
                <a:ext cx="597" cy="5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 altLang="zh-CN" sz="750" dirty="0"/>
                  <a:t>application</a:t>
                </a:r>
                <a:endParaRPr lang="en-US" altLang="zh-CN" sz="750" dirty="0"/>
              </a:p>
              <a:p>
                <a:pPr algn="ctr"/>
                <a:r>
                  <a:rPr lang="en-US" altLang="zh-CN" sz="750" dirty="0"/>
                  <a:t>transport</a:t>
                </a:r>
                <a:endParaRPr lang="en-US" altLang="zh-CN" sz="750" dirty="0"/>
              </a:p>
              <a:p>
                <a:pPr algn="ctr"/>
                <a:r>
                  <a:rPr lang="en-US" altLang="zh-CN" sz="750" dirty="0">
                    <a:solidFill>
                      <a:schemeClr val="bg1"/>
                    </a:solidFill>
                  </a:rPr>
                  <a:t>network</a:t>
                </a:r>
                <a:endParaRPr lang="en-US" altLang="zh-CN" sz="750" dirty="0"/>
              </a:p>
              <a:p>
                <a:pPr algn="ctr"/>
                <a:r>
                  <a:rPr lang="en-US" altLang="zh-CN" sz="750" dirty="0"/>
                  <a:t>data link</a:t>
                </a:r>
                <a:endParaRPr lang="en-US" altLang="zh-CN" sz="750" dirty="0"/>
              </a:p>
              <a:p>
                <a:pPr algn="ctr"/>
                <a:r>
                  <a:rPr lang="en-US" altLang="zh-CN" sz="750" dirty="0"/>
                  <a:t>physical</a:t>
                </a:r>
                <a:endParaRPr lang="en-US" altLang="zh-CN" sz="1800" dirty="0"/>
              </a:p>
            </p:txBody>
          </p:sp>
          <p:sp>
            <p:nvSpPr>
              <p:cNvPr id="1393" name="Line 315"/>
              <p:cNvSpPr>
                <a:spLocks noChangeShapeType="1"/>
              </p:cNvSpPr>
              <p:nvPr/>
            </p:nvSpPr>
            <p:spPr bwMode="auto">
              <a:xfrm>
                <a:off x="2997" y="119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394" name="Line 316"/>
              <p:cNvSpPr>
                <a:spLocks noChangeShapeType="1"/>
              </p:cNvSpPr>
              <p:nvPr/>
            </p:nvSpPr>
            <p:spPr bwMode="auto">
              <a:xfrm>
                <a:off x="3003" y="129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395" name="Line 317"/>
              <p:cNvSpPr>
                <a:spLocks noChangeShapeType="1"/>
              </p:cNvSpPr>
              <p:nvPr/>
            </p:nvSpPr>
            <p:spPr bwMode="auto">
              <a:xfrm>
                <a:off x="3003" y="137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396" name="Line 318"/>
              <p:cNvSpPr>
                <a:spLocks noChangeShapeType="1"/>
              </p:cNvSpPr>
              <p:nvPr/>
            </p:nvSpPr>
            <p:spPr bwMode="auto">
              <a:xfrm>
                <a:off x="3003" y="111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</p:grpSp>
      </p:grpSp>
      <p:grpSp>
        <p:nvGrpSpPr>
          <p:cNvPr id="1397" name="Group 1047"/>
          <p:cNvGrpSpPr/>
          <p:nvPr/>
        </p:nvGrpSpPr>
        <p:grpSpPr bwMode="auto">
          <a:xfrm>
            <a:off x="7134558" y="3454548"/>
            <a:ext cx="854869" cy="747713"/>
            <a:chOff x="3402" y="719"/>
            <a:chExt cx="718" cy="628"/>
          </a:xfrm>
        </p:grpSpPr>
        <p:sp>
          <p:nvSpPr>
            <p:cNvPr id="1398" name="Freeform 1048"/>
            <p:cNvSpPr/>
            <p:nvPr/>
          </p:nvSpPr>
          <p:spPr bwMode="auto">
            <a:xfrm>
              <a:off x="3402" y="753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99" name="Group 1049"/>
            <p:cNvGrpSpPr/>
            <p:nvPr/>
          </p:nvGrpSpPr>
          <p:grpSpPr bwMode="auto">
            <a:xfrm>
              <a:off x="3549" y="719"/>
              <a:ext cx="571" cy="571"/>
              <a:chOff x="2956" y="969"/>
              <a:chExt cx="571" cy="571"/>
            </a:xfrm>
          </p:grpSpPr>
          <p:sp>
            <p:nvSpPr>
              <p:cNvPr id="1400" name="Rectangle 1050"/>
              <p:cNvSpPr>
                <a:spLocks noChangeArrowheads="1"/>
              </p:cNvSpPr>
              <p:nvPr/>
            </p:nvSpPr>
            <p:spPr bwMode="auto"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01" name="Rectangle 1051"/>
              <p:cNvSpPr>
                <a:spLocks noChangeArrowheads="1"/>
              </p:cNvSpPr>
              <p:nvPr/>
            </p:nvSpPr>
            <p:spPr bwMode="auto"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02" name="Rectangle 1052"/>
              <p:cNvSpPr>
                <a:spLocks noChangeArrowheads="1"/>
              </p:cNvSpPr>
              <p:nvPr/>
            </p:nvSpPr>
            <p:spPr bwMode="auto"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03" name="Text Box 1053"/>
              <p:cNvSpPr txBox="1">
                <a:spLocks noChangeArrowheads="1"/>
              </p:cNvSpPr>
              <p:nvPr/>
            </p:nvSpPr>
            <p:spPr bwMode="auto">
              <a:xfrm>
                <a:off x="2956" y="978"/>
                <a:ext cx="571" cy="5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r>
                  <a:rPr lang="en-US" altLang="zh-CN" sz="750" dirty="0"/>
                  <a:t>application</a:t>
                </a:r>
                <a:endParaRPr lang="en-US" altLang="zh-CN" sz="750" dirty="0"/>
              </a:p>
              <a:p>
                <a:pPr algn="ctr"/>
                <a:r>
                  <a:rPr lang="en-US" altLang="zh-CN" sz="750" dirty="0"/>
                  <a:t>transport</a:t>
                </a:r>
                <a:endParaRPr lang="en-US" altLang="zh-CN" sz="750" dirty="0"/>
              </a:p>
              <a:p>
                <a:pPr algn="ctr"/>
                <a:r>
                  <a:rPr lang="en-US" altLang="zh-CN" sz="750" dirty="0">
                    <a:solidFill>
                      <a:schemeClr val="bg1"/>
                    </a:solidFill>
                  </a:rPr>
                  <a:t>network</a:t>
                </a:r>
                <a:endParaRPr lang="en-US" altLang="zh-CN" sz="750" dirty="0"/>
              </a:p>
              <a:p>
                <a:pPr algn="ctr"/>
                <a:r>
                  <a:rPr lang="en-US" altLang="zh-CN" sz="750" dirty="0"/>
                  <a:t>data link</a:t>
                </a:r>
                <a:endParaRPr lang="en-US" altLang="zh-CN" sz="750" dirty="0"/>
              </a:p>
              <a:p>
                <a:pPr algn="ctr"/>
                <a:r>
                  <a:rPr lang="en-US" altLang="zh-CN" sz="750" dirty="0"/>
                  <a:t>physical</a:t>
                </a:r>
                <a:endParaRPr lang="en-US" altLang="zh-CN" sz="1800" dirty="0"/>
              </a:p>
            </p:txBody>
          </p:sp>
          <p:sp>
            <p:nvSpPr>
              <p:cNvPr id="1404" name="Line 1054"/>
              <p:cNvSpPr>
                <a:spLocks noChangeShapeType="1"/>
              </p:cNvSpPr>
              <p:nvPr/>
            </p:nvSpPr>
            <p:spPr bwMode="auto">
              <a:xfrm>
                <a:off x="2997" y="119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05" name="Line 1055"/>
              <p:cNvSpPr>
                <a:spLocks noChangeShapeType="1"/>
              </p:cNvSpPr>
              <p:nvPr/>
            </p:nvSpPr>
            <p:spPr bwMode="auto">
              <a:xfrm>
                <a:off x="3003" y="129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06" name="Line 1056"/>
              <p:cNvSpPr>
                <a:spLocks noChangeShapeType="1"/>
              </p:cNvSpPr>
              <p:nvPr/>
            </p:nvSpPr>
            <p:spPr bwMode="auto">
              <a:xfrm>
                <a:off x="3003" y="137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07" name="Line 1057"/>
              <p:cNvSpPr>
                <a:spLocks noChangeShapeType="1"/>
              </p:cNvSpPr>
              <p:nvPr/>
            </p:nvSpPr>
            <p:spPr bwMode="auto">
              <a:xfrm>
                <a:off x="3003" y="110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</p:grpSp>
      </p:grpSp>
      <p:grpSp>
        <p:nvGrpSpPr>
          <p:cNvPr id="1408" name="Group 1278"/>
          <p:cNvGrpSpPr/>
          <p:nvPr/>
        </p:nvGrpSpPr>
        <p:grpSpPr bwMode="auto">
          <a:xfrm>
            <a:off x="5452207" y="1666230"/>
            <a:ext cx="1909763" cy="2599135"/>
            <a:chOff x="3674" y="1148"/>
            <a:chExt cx="1604" cy="2183"/>
          </a:xfrm>
        </p:grpSpPr>
        <p:grpSp>
          <p:nvGrpSpPr>
            <p:cNvPr id="1409" name="Group 433"/>
            <p:cNvGrpSpPr/>
            <p:nvPr/>
          </p:nvGrpSpPr>
          <p:grpSpPr bwMode="auto">
            <a:xfrm>
              <a:off x="3701" y="1305"/>
              <a:ext cx="513" cy="465"/>
              <a:chOff x="3937" y="633"/>
              <a:chExt cx="513" cy="465"/>
            </a:xfrm>
          </p:grpSpPr>
          <p:sp>
            <p:nvSpPr>
              <p:cNvPr id="1630" name="Line 434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631" name="Line 435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632" name="Oval 436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33" name="Line 437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634" name="Line 438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635" name="Rectangle 439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636" name="Oval 440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637" name="Group 441"/>
              <p:cNvGrpSpPr/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648" name="Line 44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649" name="Line 44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650" name="Line 44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grpSp>
            <p:nvGrpSpPr>
              <p:cNvPr id="1638" name="Group 445"/>
              <p:cNvGrpSpPr/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645" name="Line 44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646" name="Line 44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647" name="Line 44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sp>
            <p:nvSpPr>
              <p:cNvPr id="1639" name="Rectangle 449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40" name="Rectangle 450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41" name="Line 451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642" name="Line 452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643" name="Rectangle 453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350">
                  <a:solidFill>
                    <a:srgbClr val="CC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644" name="Text Box 454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  <a:endParaRPr lang="en-US" altLang="zh-CN" sz="75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altLang="zh-CN" sz="750"/>
                  <a:t>data link</a:t>
                </a:r>
                <a:endParaRPr lang="en-US" altLang="zh-CN" sz="750"/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0" name="Group 1058"/>
            <p:cNvGrpSpPr/>
            <p:nvPr/>
          </p:nvGrpSpPr>
          <p:grpSpPr bwMode="auto">
            <a:xfrm>
              <a:off x="4207" y="1532"/>
              <a:ext cx="513" cy="465"/>
              <a:chOff x="3937" y="633"/>
              <a:chExt cx="513" cy="465"/>
            </a:xfrm>
          </p:grpSpPr>
          <p:sp>
            <p:nvSpPr>
              <p:cNvPr id="1609" name="Line 1059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610" name="Line 1060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611" name="Oval 1061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12" name="Line 1062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613" name="Line 1063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614" name="Rectangle 1064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615" name="Oval 1065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616" name="Group 1066"/>
              <p:cNvGrpSpPr/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627" name="Line 106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628" name="Line 106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629" name="Line 106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grpSp>
            <p:nvGrpSpPr>
              <p:cNvPr id="1617" name="Group 1070"/>
              <p:cNvGrpSpPr/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624" name="Line 107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625" name="Line 107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626" name="Line 107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sp>
            <p:nvSpPr>
              <p:cNvPr id="1618" name="Rectangle 1074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19" name="Rectangle 1075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20" name="Line 1076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621" name="Line 1077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622" name="Rectangle 1078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23" name="Text Box 1079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  <a:endParaRPr lang="en-US" altLang="zh-CN" sz="75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altLang="zh-CN" sz="750"/>
                  <a:t>data link</a:t>
                </a:r>
                <a:endParaRPr lang="en-US" altLang="zh-CN" sz="750"/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1" name="Group 1080"/>
            <p:cNvGrpSpPr/>
            <p:nvPr/>
          </p:nvGrpSpPr>
          <p:grpSpPr bwMode="auto">
            <a:xfrm>
              <a:off x="4661" y="1148"/>
              <a:ext cx="513" cy="465"/>
              <a:chOff x="3937" y="633"/>
              <a:chExt cx="513" cy="465"/>
            </a:xfrm>
          </p:grpSpPr>
          <p:sp>
            <p:nvSpPr>
              <p:cNvPr id="1588" name="Line 1081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89" name="Line 1082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90" name="Oval 1083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91" name="Line 1084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92" name="Line 1085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93" name="Rectangle 1086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594" name="Oval 1087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595" name="Group 1088"/>
              <p:cNvGrpSpPr/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606" name="Line 108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607" name="Line 109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608" name="Line 109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grpSp>
            <p:nvGrpSpPr>
              <p:cNvPr id="1596" name="Group 1092"/>
              <p:cNvGrpSpPr/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603" name="Line 109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604" name="Line 109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605" name="Line 109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sp>
            <p:nvSpPr>
              <p:cNvPr id="1597" name="Rectangle 1096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98" name="Rectangle 1097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99" name="Line 1098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600" name="Line 1099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601" name="Rectangle 1100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02" name="Text Box 1101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  <a:endParaRPr lang="en-US" altLang="zh-CN" sz="75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altLang="zh-CN" sz="750"/>
                  <a:t>data link</a:t>
                </a:r>
                <a:endParaRPr lang="en-US" altLang="zh-CN" sz="750"/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2" name="Group 1102"/>
            <p:cNvGrpSpPr/>
            <p:nvPr/>
          </p:nvGrpSpPr>
          <p:grpSpPr bwMode="auto">
            <a:xfrm>
              <a:off x="4702" y="1523"/>
              <a:ext cx="513" cy="465"/>
              <a:chOff x="3937" y="633"/>
              <a:chExt cx="513" cy="465"/>
            </a:xfrm>
          </p:grpSpPr>
          <p:sp>
            <p:nvSpPr>
              <p:cNvPr id="1567" name="Line 1103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68" name="Line 1104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69" name="Oval 1105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70" name="Line 1106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71" name="Line 1107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72" name="Rectangle 1108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573" name="Oval 1109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574" name="Group 1110"/>
              <p:cNvGrpSpPr/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585" name="Line 111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86" name="Line 111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87" name="Line 111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grpSp>
            <p:nvGrpSpPr>
              <p:cNvPr id="1575" name="Group 1114"/>
              <p:cNvGrpSpPr/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582" name="Line 111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83" name="Line 111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84" name="Line 111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sp>
            <p:nvSpPr>
              <p:cNvPr id="1576" name="Rectangle 1118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77" name="Rectangle 1119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78" name="Line 1120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79" name="Line 1121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80" name="Rectangle 1122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81" name="Text Box 1123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en-US" altLang="zh-CN" sz="750" dirty="0"/>
              </a:p>
              <a:p>
                <a:pPr algn="ctr"/>
                <a:r>
                  <a:rPr lang="en-US" altLang="zh-CN" sz="750" dirty="0">
                    <a:solidFill>
                      <a:schemeClr val="bg1"/>
                    </a:solidFill>
                  </a:rPr>
                  <a:t>network</a:t>
                </a:r>
                <a:endParaRPr lang="en-US" altLang="zh-CN" sz="75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altLang="zh-CN" sz="750" dirty="0"/>
                  <a:t>data link</a:t>
                </a:r>
                <a:endParaRPr lang="en-US" altLang="zh-CN" sz="750" dirty="0"/>
              </a:p>
              <a:p>
                <a:pPr algn="ctr"/>
                <a:r>
                  <a:rPr lang="en-US" altLang="zh-CN" sz="750" dirty="0"/>
                  <a:t>physical</a:t>
                </a:r>
                <a:endParaRPr lang="en-US" altLang="zh-CN" sz="1800" dirty="0"/>
              </a:p>
            </p:txBody>
          </p:sp>
        </p:grpSp>
        <p:grpSp>
          <p:nvGrpSpPr>
            <p:cNvPr id="1413" name="Group 1124"/>
            <p:cNvGrpSpPr/>
            <p:nvPr/>
          </p:nvGrpSpPr>
          <p:grpSpPr bwMode="auto">
            <a:xfrm>
              <a:off x="4197" y="1157"/>
              <a:ext cx="513" cy="465"/>
              <a:chOff x="3937" y="633"/>
              <a:chExt cx="513" cy="465"/>
            </a:xfrm>
          </p:grpSpPr>
          <p:sp>
            <p:nvSpPr>
              <p:cNvPr id="1546" name="Line 1125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47" name="Line 1126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48" name="Oval 1127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49" name="Line 1128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50" name="Line 1129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51" name="Rectangle 1130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552" name="Oval 1131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553" name="Group 1132"/>
              <p:cNvGrpSpPr/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564" name="Line 113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65" name="Line 113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66" name="Line 113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grpSp>
            <p:nvGrpSpPr>
              <p:cNvPr id="1554" name="Group 1136"/>
              <p:cNvGrpSpPr/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561" name="Line 113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62" name="Line 113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63" name="Line 113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sp>
            <p:nvSpPr>
              <p:cNvPr id="1555" name="Rectangle 1140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56" name="Rectangle 1141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57" name="Line 1142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58" name="Line 1143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59" name="Rectangle 1144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60" name="Text Box 1145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  <a:endParaRPr lang="en-US" altLang="zh-CN" sz="75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altLang="zh-CN" sz="750"/>
                  <a:t>data link</a:t>
                </a:r>
                <a:endParaRPr lang="en-US" altLang="zh-CN" sz="750"/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4" name="Group 1146"/>
            <p:cNvGrpSpPr/>
            <p:nvPr/>
          </p:nvGrpSpPr>
          <p:grpSpPr bwMode="auto">
            <a:xfrm>
              <a:off x="4389" y="2239"/>
              <a:ext cx="513" cy="465"/>
              <a:chOff x="3937" y="633"/>
              <a:chExt cx="513" cy="465"/>
            </a:xfrm>
          </p:grpSpPr>
          <p:sp>
            <p:nvSpPr>
              <p:cNvPr id="1525" name="Line 1147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26" name="Line 1148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27" name="Oval 1149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28" name="Line 1150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29" name="Line 1151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30" name="Rectangle 1152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531" name="Oval 1153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532" name="Group 1154"/>
              <p:cNvGrpSpPr/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543" name="Line 11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44" name="Line 11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45" name="Line 11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grpSp>
            <p:nvGrpSpPr>
              <p:cNvPr id="1533" name="Group 1158"/>
              <p:cNvGrpSpPr/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540" name="Line 11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41" name="Line 11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42" name="Line 116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sp>
            <p:nvSpPr>
              <p:cNvPr id="1534" name="Rectangle 1162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35" name="Rectangle 1163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36" name="Line 1164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37" name="Line 1165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38" name="Rectangle 1166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39" name="Text Box 1167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  <a:endParaRPr lang="en-US" altLang="zh-CN" sz="75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altLang="zh-CN" sz="750"/>
                  <a:t>data link</a:t>
                </a:r>
                <a:endParaRPr lang="en-US" altLang="zh-CN" sz="750"/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5" name="Group 1168"/>
            <p:cNvGrpSpPr/>
            <p:nvPr/>
          </p:nvGrpSpPr>
          <p:grpSpPr bwMode="auto">
            <a:xfrm>
              <a:off x="4765" y="1995"/>
              <a:ext cx="513" cy="465"/>
              <a:chOff x="3937" y="633"/>
              <a:chExt cx="513" cy="465"/>
            </a:xfrm>
          </p:grpSpPr>
          <p:sp>
            <p:nvSpPr>
              <p:cNvPr id="1504" name="Line 1169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05" name="Line 1170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06" name="Oval 1171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07" name="Line 1172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08" name="Line 1173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09" name="Rectangle 1174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510" name="Oval 1175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511" name="Group 1176"/>
              <p:cNvGrpSpPr/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522" name="Line 117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23" name="Line 117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24" name="Line 117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grpSp>
            <p:nvGrpSpPr>
              <p:cNvPr id="1512" name="Group 1180"/>
              <p:cNvGrpSpPr/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519" name="Line 118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20" name="Line 118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21" name="Line 118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sp>
            <p:nvSpPr>
              <p:cNvPr id="1513" name="Rectangle 1184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14" name="Rectangle 1185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15" name="Line 1186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16" name="Line 1187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517" name="Rectangle 1188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18" name="Text Box 1189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  <a:endParaRPr lang="en-US" altLang="zh-CN" sz="75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altLang="zh-CN" sz="750"/>
                  <a:t>data link</a:t>
                </a:r>
                <a:endParaRPr lang="en-US" altLang="zh-CN" sz="750"/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6" name="Group 1190"/>
            <p:cNvGrpSpPr/>
            <p:nvPr/>
          </p:nvGrpSpPr>
          <p:grpSpPr bwMode="auto">
            <a:xfrm>
              <a:off x="4128" y="2003"/>
              <a:ext cx="513" cy="465"/>
              <a:chOff x="3937" y="633"/>
              <a:chExt cx="513" cy="465"/>
            </a:xfrm>
          </p:grpSpPr>
          <p:sp>
            <p:nvSpPr>
              <p:cNvPr id="1483" name="Line 1191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84" name="Line 1192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85" name="Oval 1193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86" name="Line 1194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87" name="Line 1195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88" name="Rectangle 1196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489" name="Oval 1197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490" name="Group 1198"/>
              <p:cNvGrpSpPr/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501" name="Line 119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02" name="Line 120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03" name="Line 120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grpSp>
            <p:nvGrpSpPr>
              <p:cNvPr id="1491" name="Group 1202"/>
              <p:cNvGrpSpPr/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98" name="Line 120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499" name="Line 120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500" name="Line 120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sp>
            <p:nvSpPr>
              <p:cNvPr id="1492" name="Rectangle 1206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93" name="Rectangle 1207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94" name="Line 1208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95" name="Line 1209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96" name="Rectangle 1210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97" name="Text Box 1211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  <a:endParaRPr lang="en-US" altLang="zh-CN" sz="75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altLang="zh-CN" sz="750"/>
                  <a:t>data link</a:t>
                </a:r>
                <a:endParaRPr lang="en-US" altLang="zh-CN" sz="750"/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7" name="Group 1212"/>
            <p:cNvGrpSpPr/>
            <p:nvPr/>
          </p:nvGrpSpPr>
          <p:grpSpPr bwMode="auto">
            <a:xfrm>
              <a:off x="4608" y="2771"/>
              <a:ext cx="513" cy="465"/>
              <a:chOff x="3937" y="633"/>
              <a:chExt cx="513" cy="465"/>
            </a:xfrm>
          </p:grpSpPr>
          <p:sp>
            <p:nvSpPr>
              <p:cNvPr id="1462" name="Line 1213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63" name="Line 1214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64" name="Oval 1215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65" name="Line 1216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66" name="Line 1217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67" name="Rectangle 1218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468" name="Oval 1219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469" name="Group 1220"/>
              <p:cNvGrpSpPr/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80" name="Line 122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481" name="Line 122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482" name="Line 122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grpSp>
            <p:nvGrpSpPr>
              <p:cNvPr id="1470" name="Group 1224"/>
              <p:cNvGrpSpPr/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77" name="Line 122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478" name="Line 122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479" name="Line 122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sp>
            <p:nvSpPr>
              <p:cNvPr id="1471" name="Rectangle 1228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72" name="Rectangle 1229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73" name="Line 1230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74" name="Line 1231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75" name="Rectangle 1232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76" name="Text Box 1233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  <a:endParaRPr lang="en-US" altLang="zh-CN" sz="75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altLang="zh-CN" sz="750"/>
                  <a:t>data link</a:t>
                </a:r>
                <a:endParaRPr lang="en-US" altLang="zh-CN" sz="750"/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8" name="Group 1234"/>
            <p:cNvGrpSpPr/>
            <p:nvPr/>
          </p:nvGrpSpPr>
          <p:grpSpPr bwMode="auto">
            <a:xfrm>
              <a:off x="4119" y="2640"/>
              <a:ext cx="513" cy="465"/>
              <a:chOff x="3937" y="633"/>
              <a:chExt cx="513" cy="465"/>
            </a:xfrm>
          </p:grpSpPr>
          <p:sp>
            <p:nvSpPr>
              <p:cNvPr id="1441" name="Line 1235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42" name="Line 1236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43" name="Oval 1237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44" name="Line 1238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45" name="Line 1239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46" name="Rectangle 1240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447" name="Oval 1241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448" name="Group 1242"/>
              <p:cNvGrpSpPr/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59" name="Line 124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460" name="Line 124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461" name="Line 124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grpSp>
            <p:nvGrpSpPr>
              <p:cNvPr id="1449" name="Group 1246"/>
              <p:cNvGrpSpPr/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56" name="Line 124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457" name="Line 124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458" name="Line 124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sp>
            <p:nvSpPr>
              <p:cNvPr id="1450" name="Rectangle 1250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51" name="Rectangle 1251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52" name="Line 1252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53" name="Line 1253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54" name="Rectangle 1254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55" name="Text Box 1255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  <a:endParaRPr lang="en-US" altLang="zh-CN" sz="75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altLang="zh-CN" sz="750"/>
                  <a:t>data link</a:t>
                </a:r>
                <a:endParaRPr lang="en-US" altLang="zh-CN" sz="750"/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9" name="Group 1256"/>
            <p:cNvGrpSpPr/>
            <p:nvPr/>
          </p:nvGrpSpPr>
          <p:grpSpPr bwMode="auto">
            <a:xfrm>
              <a:off x="3674" y="2866"/>
              <a:ext cx="513" cy="465"/>
              <a:chOff x="3937" y="633"/>
              <a:chExt cx="513" cy="465"/>
            </a:xfrm>
          </p:grpSpPr>
          <p:sp>
            <p:nvSpPr>
              <p:cNvPr id="1420" name="Line 1257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21" name="Line 1258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22" name="Oval 1259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23" name="Line 1260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24" name="Line 1261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25" name="Rectangle 1262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426" name="Oval 1263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427" name="Group 1264"/>
              <p:cNvGrpSpPr/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38" name="Line 126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439" name="Line 126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440" name="Line 126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grpSp>
            <p:nvGrpSpPr>
              <p:cNvPr id="1428" name="Group 1268"/>
              <p:cNvGrpSpPr/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35" name="Line 126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436" name="Line 127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  <p:sp>
              <p:nvSpPr>
                <p:cNvPr id="1437" name="Line 127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panose="020B0600070205080204" charset="-128"/>
                  </a:endParaRPr>
                </a:p>
              </p:txBody>
            </p:sp>
          </p:grpSp>
          <p:sp>
            <p:nvSpPr>
              <p:cNvPr id="1429" name="Rectangle 1272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30" name="Rectangle 1273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31" name="Line 1274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32" name="Line 1275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433" name="Rectangle 1276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34" name="Text Box 1277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  <a:endParaRPr lang="en-US" altLang="zh-CN" sz="75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altLang="zh-CN" sz="750"/>
                  <a:t>data link</a:t>
                </a:r>
                <a:endParaRPr lang="en-US" altLang="zh-CN" sz="750"/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</p:grpSp>
      <p:sp>
        <p:nvSpPr>
          <p:cNvPr id="1651" name="Rectangle 1280"/>
          <p:cNvSpPr>
            <a:spLocks noChangeArrowheads="1"/>
          </p:cNvSpPr>
          <p:nvPr/>
        </p:nvSpPr>
        <p:spPr bwMode="auto">
          <a:xfrm>
            <a:off x="5353384" y="987574"/>
            <a:ext cx="291704" cy="10358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0" rIns="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r>
              <a:rPr lang="en-US" altLang="zh-CN" sz="600" dirty="0"/>
              <a:t>segment</a:t>
            </a:r>
            <a:endParaRPr lang="zh-CN" altLang="zh-CN" sz="525" dirty="0"/>
          </a:p>
        </p:txBody>
      </p:sp>
      <p:sp>
        <p:nvSpPr>
          <p:cNvPr id="1652" name="Rectangle 1281"/>
          <p:cNvSpPr>
            <a:spLocks noChangeArrowheads="1"/>
          </p:cNvSpPr>
          <p:nvPr/>
        </p:nvSpPr>
        <p:spPr bwMode="auto">
          <a:xfrm>
            <a:off x="5300997" y="1475730"/>
            <a:ext cx="447675" cy="10358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r>
              <a:rPr lang="en-US" altLang="zh-CN" sz="600" dirty="0"/>
              <a:t>datagram</a:t>
            </a:r>
            <a:endParaRPr lang="zh-CN" altLang="zh-CN" sz="600" dirty="0"/>
          </a:p>
        </p:txBody>
      </p:sp>
      <p:sp>
        <p:nvSpPr>
          <p:cNvPr id="1653" name="Rectangle 1282"/>
          <p:cNvSpPr>
            <a:spLocks noChangeArrowheads="1"/>
          </p:cNvSpPr>
          <p:nvPr/>
        </p:nvSpPr>
        <p:spPr bwMode="auto">
          <a:xfrm>
            <a:off x="7420309" y="3709342"/>
            <a:ext cx="291704" cy="10358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0" rIns="0" anchor="ctr"/>
          <a:lstStyle/>
          <a:p>
            <a:r>
              <a:rPr lang="en-US" altLang="zh-CN" sz="600" dirty="0">
                <a:ea typeface="MS PGothic" panose="020B0600070205080204" charset="-128"/>
              </a:rPr>
              <a:t>segment</a:t>
            </a:r>
            <a:endParaRPr lang="zh-CN" altLang="zh-CN" sz="600" dirty="0">
              <a:ea typeface="MS PGothic" panose="020B0600070205080204" charset="-128"/>
            </a:endParaRPr>
          </a:p>
        </p:txBody>
      </p:sp>
      <p:sp>
        <p:nvSpPr>
          <p:cNvPr id="62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2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0.01235 L 0.00382 0.0950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6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41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58025E-6 L 3.33333E-6 0.07284 L 0.02725 0.18982 L 0.02725 0.11328 L 0.07118 0.11111 L 0.07257 0.18982 L 0.11666 0.14136 L 0.11666 0.07871 L 0.16059 0.07686 L 0.10902 0.23426 L 0.1151 0.15957 L 0.1559 0.15957 L 0.15746 0.23642 L 0.1059 0.34537 L 0.10295 0.27068 L 0.14236 0.26883 L 0.14687 0.39568 L 0.1559 0.3213 L 0.19236 0.31914 L 0.19687 0.39784 L 0.1059 0.49908 L 0.1059 0.41605 L 0.14236 0.41605 L 0.14236 0.49692 L 0.18784 0.5355 L 0.18784 0.44661 L 0.22569 0.44661 L 0.22864 0.52747 L 0.31198 0.50309 L 0.31198 0.43858 " pathEditMode="relative" rAng="0" ptsTypes="AAAAAAAAAAAAAAAAAAAAAAAAAAAAAA">
                                      <p:cBhvr>
                                        <p:cTn id="31" dur="5000" fill="hold"/>
                                        <p:tgtEl>
                                          <p:spTgt spid="16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90" y="26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0"/>
                            </p:stCondLst>
                            <p:childTnLst>
                              <p:par>
                                <p:cTn id="3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0"/>
                            </p:stCondLst>
                            <p:childTnLst>
                              <p:par>
                                <p:cTn id="42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2.83951E-6 L -0.00156 -0.07098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6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-35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500"/>
                            </p:stCondLst>
                            <p:childTnLst>
                              <p:par>
                                <p:cTn id="5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6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1" grpId="0" animBg="1"/>
      <p:bldP spid="1651" grpId="1" animBg="1"/>
      <p:bldP spid="1651" grpId="2" animBg="1"/>
      <p:bldP spid="1652" grpId="0" animBg="1"/>
      <p:bldP spid="1652" grpId="1" animBg="1"/>
      <p:bldP spid="1652" grpId="2" animBg="1"/>
      <p:bldP spid="1653" grpId="0" animBg="1"/>
      <p:bldP spid="1653" grpId="1" animBg="1"/>
      <p:bldP spid="1653" grpId="2" animBg="1"/>
      <p:bldP spid="623" grpId="0" animBg="1"/>
      <p:bldP spid="62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4.1 </a:t>
            </a:r>
            <a:r>
              <a:rPr lang="zh-CN" altLang="en-US" dirty="0"/>
              <a:t>网络层概述</a:t>
            </a:r>
            <a:endParaRPr lang="zh-CN" altLang="en-US" dirty="0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2553405" y="3124075"/>
            <a:ext cx="3694509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794977" y="1851297"/>
            <a:ext cx="1335881" cy="775097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5616883" y="1851297"/>
            <a:ext cx="1335881" cy="775097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1794976" y="1773906"/>
            <a:ext cx="6687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5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</a:t>
            </a:r>
            <a:endParaRPr kumimoji="1" lang="en-US" altLang="zh-CN" sz="5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2056914" y="1509588"/>
            <a:ext cx="1036343" cy="2981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Processes</a:t>
            </a:r>
            <a:endParaRPr kumimoji="1"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306945" y="2203723"/>
            <a:ext cx="329418" cy="29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5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1" lang="en-US" altLang="zh-CN" sz="15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2529592" y="1773906"/>
            <a:ext cx="6687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5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</a:t>
            </a:r>
            <a:endParaRPr kumimoji="1" lang="en-US" altLang="zh-CN" sz="5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5616883" y="1773906"/>
            <a:ext cx="6687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5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</a:t>
            </a:r>
            <a:endParaRPr kumimoji="1" lang="en-US" altLang="zh-CN" sz="5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5878820" y="1509588"/>
            <a:ext cx="944971" cy="27507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Processes</a:t>
            </a:r>
            <a:endParaRPr kumimoji="1"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6128851" y="2203723"/>
            <a:ext cx="329418" cy="29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5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1" lang="en-US" altLang="zh-CN" sz="15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6351499" y="1773906"/>
            <a:ext cx="6687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</a:t>
            </a:r>
            <a:endParaRPr kumimoji="1" lang="en-US" altLang="zh-CN" sz="5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Picture 15"/>
          <p:cNvPicPr>
            <a:picLocks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514" y="2804987"/>
            <a:ext cx="400050" cy="40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16"/>
          <p:cNvPicPr>
            <a:picLocks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374" y="2804987"/>
            <a:ext cx="401240" cy="40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AutoShape 17"/>
          <p:cNvSpPr>
            <a:spLocks noChangeArrowheads="1"/>
          </p:cNvSpPr>
          <p:nvPr/>
        </p:nvSpPr>
        <p:spPr bwMode="auto">
          <a:xfrm>
            <a:off x="6195526" y="2513285"/>
            <a:ext cx="191691" cy="429815"/>
          </a:xfrm>
          <a:prstGeom prst="upDownArrow">
            <a:avLst>
              <a:gd name="adj1" fmla="val 50000"/>
              <a:gd name="adj2" fmla="val 448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>
            <a:off x="2489111" y="3187178"/>
            <a:ext cx="0" cy="83224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6312207" y="3187178"/>
            <a:ext cx="0" cy="83224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>
            <a:off x="2489111" y="3827735"/>
            <a:ext cx="3823097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3078811" y="3484835"/>
            <a:ext cx="2637743" cy="5289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kumimoji="1"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协议的作用范围</a:t>
            </a:r>
            <a:endParaRPr kumimoji="1" lang="zh-CN" altLang="en-US" sz="1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r>
              <a:rPr kumimoji="1"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（提供主机之间的逻辑通信）</a:t>
            </a:r>
            <a:endParaRPr kumimoji="1" lang="zh-CN" altLang="en-US" sz="1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>
            <a:off x="2041436" y="2513285"/>
            <a:ext cx="2381" cy="214669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Line 23"/>
          <p:cNvSpPr>
            <a:spLocks noChangeShapeType="1"/>
          </p:cNvSpPr>
          <p:nvPr/>
        </p:nvSpPr>
        <p:spPr bwMode="auto">
          <a:xfrm>
            <a:off x="6739642" y="2547813"/>
            <a:ext cx="4763" cy="2077641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Line 24"/>
          <p:cNvSpPr>
            <a:spLocks noChangeShapeType="1"/>
          </p:cNvSpPr>
          <p:nvPr/>
        </p:nvSpPr>
        <p:spPr bwMode="auto">
          <a:xfrm>
            <a:off x="2043817" y="4402806"/>
            <a:ext cx="4713684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25"/>
          <p:cNvSpPr>
            <a:spLocks noChangeArrowheads="1"/>
          </p:cNvSpPr>
          <p:nvPr/>
        </p:nvSpPr>
        <p:spPr bwMode="auto">
          <a:xfrm>
            <a:off x="3137747" y="4078957"/>
            <a:ext cx="2637743" cy="5289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kumimoji="1"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kumimoji="1"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UDP </a:t>
            </a:r>
            <a:r>
              <a:rPr kumimoji="1"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协议的作用范围</a:t>
            </a:r>
            <a:endParaRPr kumimoji="1" lang="zh-CN" altLang="en-US" sz="1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r>
              <a:rPr kumimoji="1"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（提供进程之间的逻辑通信）</a:t>
            </a:r>
            <a:endParaRPr kumimoji="1" lang="zh-CN" altLang="en-US" sz="1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AutoShape 26"/>
          <p:cNvSpPr>
            <a:spLocks noChangeArrowheads="1"/>
          </p:cNvSpPr>
          <p:nvPr/>
        </p:nvSpPr>
        <p:spPr bwMode="auto">
          <a:xfrm>
            <a:off x="2378382" y="2526381"/>
            <a:ext cx="191691" cy="429816"/>
          </a:xfrm>
          <a:prstGeom prst="upDownArrow">
            <a:avLst>
              <a:gd name="adj1" fmla="val 50000"/>
              <a:gd name="adj2" fmla="val 448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" name="Object 27"/>
          <p:cNvGraphicFramePr>
            <a:graphicFrameLocks noChangeAspect="1"/>
          </p:cNvGraphicFramePr>
          <p:nvPr/>
        </p:nvGraphicFramePr>
        <p:xfrm>
          <a:off x="3198813" y="2352675"/>
          <a:ext cx="2400300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Visio" r:id="rId2" imgW="1687195" imgH="964565" progId="Visio.Drawing.11">
                  <p:embed/>
                </p:oleObj>
              </mc:Choice>
              <mc:Fallback>
                <p:oleObj name="Visio" r:id="rId2" imgW="1687195" imgH="964565" progId="Visio.Drawing.11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8813" y="2352675"/>
                        <a:ext cx="2400300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25400" dir="54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28"/>
          <p:cNvSpPr>
            <a:spLocks noChangeArrowheads="1"/>
          </p:cNvSpPr>
          <p:nvPr/>
        </p:nvSpPr>
        <p:spPr bwMode="auto">
          <a:xfrm>
            <a:off x="3925004" y="2762125"/>
            <a:ext cx="864436" cy="2981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endParaRPr kumimoji="1"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内容占位符 2"/>
          <p:cNvSpPr txBox="1"/>
          <p:nvPr/>
        </p:nvSpPr>
        <p:spPr>
          <a:xfrm>
            <a:off x="468000" y="936000"/>
            <a:ext cx="3556653" cy="44247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运输层和网络层的关系：回顾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5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4.1 </a:t>
            </a:r>
            <a:r>
              <a:rPr lang="zh-CN" altLang="en-US" dirty="0"/>
              <a:t>网络层概述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4.1.1 </a:t>
            </a:r>
            <a:r>
              <a:rPr lang="zh-CN" altLang="en-US" dirty="0">
                <a:effectLst/>
              </a:rPr>
              <a:t>分组转发和路由选择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网络的两个主要功能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effectLst/>
              </a:rPr>
              <a:t>分组转发：数据平面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/>
            <a:r>
              <a:rPr lang="zh-CN" altLang="en-US" dirty="0">
                <a:effectLst/>
              </a:rPr>
              <a:t>分组到达一个路由器的输入链路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这个路由器将分组输出到正确链路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effectLst/>
              </a:rPr>
              <a:t>路由选择：控制平面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/>
            <a:r>
              <a:rPr lang="zh-CN" altLang="en-US" dirty="0"/>
              <a:t>多个路由器之间如何协同</a:t>
            </a:r>
            <a:endParaRPr lang="en-US" altLang="zh-CN" dirty="0"/>
          </a:p>
          <a:p>
            <a:pPr lvl="2"/>
            <a:r>
              <a:rPr lang="zh-CN" altLang="en-US" dirty="0"/>
              <a:t>最终确定分组的路径</a:t>
            </a:r>
            <a:endParaRPr lang="en-US" altLang="zh-CN" dirty="0"/>
          </a:p>
          <a:p>
            <a:pPr lvl="2"/>
            <a:endParaRPr lang="en-US" altLang="zh-CN" dirty="0">
              <a:effectLst/>
            </a:endParaRPr>
          </a:p>
          <a:p>
            <a:pPr lvl="2"/>
            <a:endParaRPr lang="en-US" altLang="zh-CN" dirty="0"/>
          </a:p>
          <a:p>
            <a:pPr lvl="2"/>
            <a:endParaRPr lang="zh-CN" altLang="en-US" dirty="0">
              <a:effectLst/>
            </a:endParaRPr>
          </a:p>
        </p:txBody>
      </p:sp>
      <p:pic>
        <p:nvPicPr>
          <p:cNvPr id="2050" name="Picture 2" descr="https://timgsa.baidu.com/timg?image&amp;quality=80&amp;size=b9999_10000&amp;sec=1585537335796&amp;di=53f55195d002dcdd0a8d39b1f2863967&amp;imgtype=0&amp;src=http%3A%2F%2Fimg4.imgtn.bdimg.com%2Fit%2Fu%3D4091501349%2C3209948583%26fm%3D214%26gp%3D0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3075806"/>
            <a:ext cx="2195989" cy="1731566"/>
          </a:xfrm>
          <a:prstGeom prst="roundRect">
            <a:avLst>
              <a:gd name="adj" fmla="val 12123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1123427"/>
            <a:ext cx="2195989" cy="14401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4.1 </a:t>
            </a:r>
            <a:r>
              <a:rPr lang="zh-CN" altLang="en-US" dirty="0"/>
              <a:t>网络层概述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4.1.1 </a:t>
            </a:r>
            <a:r>
              <a:rPr lang="zh-CN" altLang="en-US" dirty="0">
                <a:effectLst/>
              </a:rPr>
              <a:t>分组转发和路由选择</a:t>
            </a:r>
            <a:endParaRPr lang="en-US" altLang="zh-CN" dirty="0">
              <a:effectLst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267207" y="1976477"/>
            <a:ext cx="2522134" cy="3269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转发和路由选择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177"/>
          <p:cNvGrpSpPr/>
          <p:nvPr/>
        </p:nvGrpSpPr>
        <p:grpSpPr bwMode="auto">
          <a:xfrm>
            <a:off x="5716526" y="3238897"/>
            <a:ext cx="2135981" cy="1110853"/>
            <a:chOff x="3787" y="2683"/>
            <a:chExt cx="1794" cy="933"/>
          </a:xfrm>
        </p:grpSpPr>
        <p:sp>
          <p:nvSpPr>
            <p:cNvPr id="10" name="Freeform 2"/>
            <p:cNvSpPr/>
            <p:nvPr/>
          </p:nvSpPr>
          <p:spPr bwMode="auto">
            <a:xfrm>
              <a:off x="3787" y="2683"/>
              <a:ext cx="1794" cy="933"/>
            </a:xfrm>
            <a:custGeom>
              <a:avLst/>
              <a:gdLst>
                <a:gd name="T0" fmla="*/ 6 w 1794"/>
                <a:gd name="T1" fmla="*/ 483 h 933"/>
                <a:gd name="T2" fmla="*/ 108 w 1794"/>
                <a:gd name="T3" fmla="*/ 125 h 933"/>
                <a:gd name="T4" fmla="*/ 559 w 1794"/>
                <a:gd name="T5" fmla="*/ 100 h 933"/>
                <a:gd name="T6" fmla="*/ 1128 w 1794"/>
                <a:gd name="T7" fmla="*/ 29 h 933"/>
                <a:gd name="T8" fmla="*/ 1716 w 1794"/>
                <a:gd name="T9" fmla="*/ 275 h 933"/>
                <a:gd name="T10" fmla="*/ 1596 w 1794"/>
                <a:gd name="T11" fmla="*/ 827 h 933"/>
                <a:gd name="T12" fmla="*/ 1380 w 1794"/>
                <a:gd name="T13" fmla="*/ 911 h 933"/>
                <a:gd name="T14" fmla="*/ 840 w 1794"/>
                <a:gd name="T15" fmla="*/ 929 h 933"/>
                <a:gd name="T16" fmla="*/ 414 w 1794"/>
                <a:gd name="T17" fmla="*/ 911 h 933"/>
                <a:gd name="T18" fmla="*/ 143 w 1794"/>
                <a:gd name="T19" fmla="*/ 832 h 933"/>
                <a:gd name="T20" fmla="*/ 6 w 1794"/>
                <a:gd name="T21" fmla="*/ 483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4189" y="2874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Group 7"/>
            <p:cNvGrpSpPr/>
            <p:nvPr/>
          </p:nvGrpSpPr>
          <p:grpSpPr bwMode="auto">
            <a:xfrm>
              <a:off x="3878" y="2984"/>
              <a:ext cx="316" cy="147"/>
              <a:chOff x="3600" y="219"/>
              <a:chExt cx="360" cy="175"/>
            </a:xfrm>
          </p:grpSpPr>
          <p:sp>
            <p:nvSpPr>
              <p:cNvPr id="93" name="Oval 8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Line 9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Line 10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Rectangle 11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Oval 12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8" name="Group 13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03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4" name="Line 1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5" name="Line 1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99" name="Group 17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00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1" name="Line 1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2" name="Line 2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3" name="Group 21"/>
            <p:cNvGrpSpPr/>
            <p:nvPr/>
          </p:nvGrpSpPr>
          <p:grpSpPr bwMode="auto">
            <a:xfrm>
              <a:off x="4100" y="3386"/>
              <a:ext cx="316" cy="147"/>
              <a:chOff x="3600" y="219"/>
              <a:chExt cx="360" cy="175"/>
            </a:xfrm>
          </p:grpSpPr>
          <p:sp>
            <p:nvSpPr>
              <p:cNvPr id="79" name="Oval 22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Line 23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Line 24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Rectangle 25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Oval 26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5" name="Group 27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0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1" name="Line 2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2" name="Line 3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6" name="Group 31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87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8" name="Line 3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9" name="Line 3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4" name="Group 35"/>
            <p:cNvGrpSpPr/>
            <p:nvPr/>
          </p:nvGrpSpPr>
          <p:grpSpPr bwMode="auto">
            <a:xfrm>
              <a:off x="4525" y="2792"/>
              <a:ext cx="316" cy="147"/>
              <a:chOff x="3600" y="219"/>
              <a:chExt cx="360" cy="175"/>
            </a:xfrm>
          </p:grpSpPr>
          <p:sp>
            <p:nvSpPr>
              <p:cNvPr id="66" name="Oval 36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Line 37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Line 38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Rectangle 39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Oval 40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1" name="Group 41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76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7" name="Line 4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8" name="Line 4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72" name="Group 45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73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4" name="Line 4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5" name="Line 4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5" name="Group 49"/>
            <p:cNvGrpSpPr/>
            <p:nvPr/>
          </p:nvGrpSpPr>
          <p:grpSpPr bwMode="auto">
            <a:xfrm>
              <a:off x="4476" y="3211"/>
              <a:ext cx="315" cy="147"/>
              <a:chOff x="3600" y="219"/>
              <a:chExt cx="360" cy="175"/>
            </a:xfrm>
          </p:grpSpPr>
          <p:sp>
            <p:nvSpPr>
              <p:cNvPr id="53" name="Oval 50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Line 51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Line 52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Rectangle 53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Oval 54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8" name="Group 55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3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" name="Line 5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" name="Line 5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59" name="Group 59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0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1" name="Line 6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2" name="Line 6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6" name="Group 63"/>
            <p:cNvGrpSpPr/>
            <p:nvPr/>
          </p:nvGrpSpPr>
          <p:grpSpPr bwMode="auto">
            <a:xfrm>
              <a:off x="4876" y="3398"/>
              <a:ext cx="316" cy="147"/>
              <a:chOff x="3600" y="219"/>
              <a:chExt cx="360" cy="175"/>
            </a:xfrm>
          </p:grpSpPr>
          <p:sp>
            <p:nvSpPr>
              <p:cNvPr id="40" name="Oval 64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Line 65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Line 66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Rectangle 67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Oval 68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5" name="Group 69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50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" name="Line 7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" name="Line 7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6" name="Group 73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47" name="Line 7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8" name="Line 7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9" name="Line 7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7" name="Group 77"/>
            <p:cNvGrpSpPr/>
            <p:nvPr/>
          </p:nvGrpSpPr>
          <p:grpSpPr bwMode="auto">
            <a:xfrm>
              <a:off x="5156" y="2985"/>
              <a:ext cx="316" cy="147"/>
              <a:chOff x="3600" y="219"/>
              <a:chExt cx="360" cy="175"/>
            </a:xfrm>
          </p:grpSpPr>
          <p:sp>
            <p:nvSpPr>
              <p:cNvPr id="27" name="Oval 78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Line 79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Line 80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Rectangle 81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Oval 82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2" name="Group 83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7" name="Line 8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" name="Line 8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Line 8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3" name="Group 87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4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Line 8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Line 9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8" name="Freeform 91"/>
            <p:cNvSpPr/>
            <p:nvPr/>
          </p:nvSpPr>
          <p:spPr bwMode="auto">
            <a:xfrm>
              <a:off x="4845" y="2870"/>
              <a:ext cx="318" cy="194"/>
            </a:xfrm>
            <a:custGeom>
              <a:avLst/>
              <a:gdLst>
                <a:gd name="T0" fmla="*/ 0 w 318"/>
                <a:gd name="T1" fmla="*/ 0 h 194"/>
                <a:gd name="T2" fmla="*/ 318 w 318"/>
                <a:gd name="T3" fmla="*/ 194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92"/>
            <p:cNvSpPr/>
            <p:nvPr/>
          </p:nvSpPr>
          <p:spPr bwMode="auto">
            <a:xfrm>
              <a:off x="4174" y="3117"/>
              <a:ext cx="303" cy="150"/>
            </a:xfrm>
            <a:custGeom>
              <a:avLst/>
              <a:gdLst>
                <a:gd name="T0" fmla="*/ 0 w 294"/>
                <a:gd name="T1" fmla="*/ 0 h 174"/>
                <a:gd name="T2" fmla="*/ 303 w 294"/>
                <a:gd name="T3" fmla="*/ 150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93"/>
            <p:cNvSpPr/>
            <p:nvPr/>
          </p:nvSpPr>
          <p:spPr bwMode="auto">
            <a:xfrm>
              <a:off x="4771" y="3102"/>
              <a:ext cx="396" cy="156"/>
            </a:xfrm>
            <a:custGeom>
              <a:avLst/>
              <a:gdLst>
                <a:gd name="T0" fmla="*/ 0 w 378"/>
                <a:gd name="T1" fmla="*/ 156 h 174"/>
                <a:gd name="T2" fmla="*/ 396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94"/>
            <p:cNvSpPr/>
            <p:nvPr/>
          </p:nvSpPr>
          <p:spPr bwMode="auto">
            <a:xfrm>
              <a:off x="5191" y="3136"/>
              <a:ext cx="130" cy="320"/>
            </a:xfrm>
            <a:custGeom>
              <a:avLst/>
              <a:gdLst>
                <a:gd name="T0" fmla="*/ 0 w 118"/>
                <a:gd name="T1" fmla="*/ 320 h 500"/>
                <a:gd name="T2" fmla="*/ 130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95"/>
            <p:cNvSpPr/>
            <p:nvPr/>
          </p:nvSpPr>
          <p:spPr bwMode="auto">
            <a:xfrm>
              <a:off x="4413" y="3472"/>
              <a:ext cx="464" cy="47"/>
            </a:xfrm>
            <a:custGeom>
              <a:avLst/>
              <a:gdLst>
                <a:gd name="T0" fmla="*/ 464 w 370"/>
                <a:gd name="T1" fmla="*/ 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96"/>
            <p:cNvSpPr/>
            <p:nvPr/>
          </p:nvSpPr>
          <p:spPr bwMode="auto">
            <a:xfrm>
              <a:off x="4075" y="3132"/>
              <a:ext cx="122" cy="268"/>
            </a:xfrm>
            <a:custGeom>
              <a:avLst/>
              <a:gdLst>
                <a:gd name="T0" fmla="*/ 112 w 176"/>
                <a:gd name="T1" fmla="*/ 265 h 412"/>
                <a:gd name="T2" fmla="*/ 122 w 176"/>
                <a:gd name="T3" fmla="*/ 268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 Box 100"/>
            <p:cNvSpPr txBox="1">
              <a:spLocks noChangeArrowheads="1"/>
            </p:cNvSpPr>
            <p:nvPr/>
          </p:nvSpPr>
          <p:spPr bwMode="auto">
            <a:xfrm>
              <a:off x="4146" y="2808"/>
              <a:ext cx="2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Box 101"/>
            <p:cNvSpPr txBox="1">
              <a:spLocks noChangeArrowheads="1"/>
            </p:cNvSpPr>
            <p:nvPr/>
          </p:nvSpPr>
          <p:spPr bwMode="auto">
            <a:xfrm>
              <a:off x="4092" y="3084"/>
              <a:ext cx="2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 Box 102"/>
            <p:cNvSpPr txBox="1">
              <a:spLocks noChangeArrowheads="1"/>
            </p:cNvSpPr>
            <p:nvPr/>
          </p:nvSpPr>
          <p:spPr bwMode="auto">
            <a:xfrm>
              <a:off x="3934" y="3130"/>
              <a:ext cx="2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6" name="Text Box 106"/>
          <p:cNvSpPr txBox="1">
            <a:spLocks noChangeArrowheads="1"/>
          </p:cNvSpPr>
          <p:nvPr/>
        </p:nvSpPr>
        <p:spPr bwMode="auto">
          <a:xfrm>
            <a:off x="3718657" y="2940050"/>
            <a:ext cx="12618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到达分组：首部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7" name="Group 179"/>
          <p:cNvGrpSpPr/>
          <p:nvPr/>
        </p:nvGrpSpPr>
        <p:grpSpPr bwMode="auto">
          <a:xfrm>
            <a:off x="4589003" y="942181"/>
            <a:ext cx="1738313" cy="2715816"/>
            <a:chOff x="2840" y="754"/>
            <a:chExt cx="1460" cy="2281"/>
          </a:xfrm>
        </p:grpSpPr>
        <p:sp>
          <p:nvSpPr>
            <p:cNvPr id="108" name="Freeform 3"/>
            <p:cNvSpPr/>
            <p:nvPr/>
          </p:nvSpPr>
          <p:spPr bwMode="auto">
            <a:xfrm>
              <a:off x="2846" y="2219"/>
              <a:ext cx="1443" cy="816"/>
            </a:xfrm>
            <a:custGeom>
              <a:avLst/>
              <a:gdLst>
                <a:gd name="T0" fmla="*/ 0 w 1443"/>
                <a:gd name="T1" fmla="*/ 0 h 816"/>
                <a:gd name="T2" fmla="*/ 1076 w 1443"/>
                <a:gd name="T3" fmla="*/ 782 h 816"/>
                <a:gd name="T4" fmla="*/ 1320 w 1443"/>
                <a:gd name="T5" fmla="*/ 788 h 816"/>
                <a:gd name="T6" fmla="*/ 1443 w 1443"/>
                <a:gd name="T7" fmla="*/ 5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Rectangle 4"/>
            <p:cNvSpPr>
              <a:spLocks noChangeArrowheads="1"/>
            </p:cNvSpPr>
            <p:nvPr/>
          </p:nvSpPr>
          <p:spPr bwMode="auto">
            <a:xfrm>
              <a:off x="2840" y="754"/>
              <a:ext cx="1460" cy="147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Oval 5"/>
            <p:cNvSpPr>
              <a:spLocks noChangeArrowheads="1"/>
            </p:cNvSpPr>
            <p:nvPr/>
          </p:nvSpPr>
          <p:spPr bwMode="auto">
            <a:xfrm>
              <a:off x="2919" y="787"/>
              <a:ext cx="1320" cy="38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Text Box 108"/>
            <p:cNvSpPr txBox="1">
              <a:spLocks noChangeArrowheads="1"/>
            </p:cNvSpPr>
            <p:nvPr/>
          </p:nvSpPr>
          <p:spPr bwMode="auto">
            <a:xfrm>
              <a:off x="3000" y="886"/>
              <a:ext cx="117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路由选择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Rectangle 109"/>
            <p:cNvSpPr>
              <a:spLocks noChangeArrowheads="1"/>
            </p:cNvSpPr>
            <p:nvPr/>
          </p:nvSpPr>
          <p:spPr bwMode="auto">
            <a:xfrm>
              <a:off x="2953" y="1357"/>
              <a:ext cx="1263" cy="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Text Box 110"/>
            <p:cNvSpPr txBox="1">
              <a:spLocks noChangeArrowheads="1"/>
            </p:cNvSpPr>
            <p:nvPr/>
          </p:nvSpPr>
          <p:spPr bwMode="auto">
            <a:xfrm>
              <a:off x="3004" y="1327"/>
              <a:ext cx="111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本地转发表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Text Box 111"/>
            <p:cNvSpPr txBox="1">
              <a:spLocks noChangeArrowheads="1"/>
            </p:cNvSpPr>
            <p:nvPr/>
          </p:nvSpPr>
          <p:spPr bwMode="auto">
            <a:xfrm>
              <a:off x="2930" y="1483"/>
              <a:ext cx="76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首部值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Text Box 112"/>
            <p:cNvSpPr txBox="1">
              <a:spLocks noChangeArrowheads="1"/>
            </p:cNvSpPr>
            <p:nvPr/>
          </p:nvSpPr>
          <p:spPr bwMode="auto">
            <a:xfrm>
              <a:off x="3602" y="1484"/>
              <a:ext cx="65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输出链路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Line 113"/>
            <p:cNvSpPr>
              <a:spLocks noChangeShapeType="1"/>
            </p:cNvSpPr>
            <p:nvPr/>
          </p:nvSpPr>
          <p:spPr bwMode="auto">
            <a:xfrm>
              <a:off x="3664" y="1491"/>
              <a:ext cx="5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Text Box 114"/>
            <p:cNvSpPr txBox="1">
              <a:spLocks noChangeArrowheads="1"/>
            </p:cNvSpPr>
            <p:nvPr/>
          </p:nvSpPr>
          <p:spPr bwMode="auto">
            <a:xfrm>
              <a:off x="3290" y="1662"/>
              <a:ext cx="381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0100</a:t>
              </a:r>
              <a:endPara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0101</a:t>
              </a:r>
              <a:endPara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0111</a:t>
              </a:r>
              <a:endPara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1001</a:t>
              </a:r>
              <a:endPara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Text Box 115"/>
            <p:cNvSpPr txBox="1">
              <a:spLocks noChangeArrowheads="1"/>
            </p:cNvSpPr>
            <p:nvPr/>
          </p:nvSpPr>
          <p:spPr bwMode="auto">
            <a:xfrm>
              <a:off x="3653" y="1662"/>
              <a:ext cx="212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16"/>
            <p:cNvSpPr>
              <a:spLocks noChangeShapeType="1"/>
            </p:cNvSpPr>
            <p:nvPr/>
          </p:nvSpPr>
          <p:spPr bwMode="auto">
            <a:xfrm>
              <a:off x="2953" y="1653"/>
              <a:ext cx="1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17"/>
            <p:cNvSpPr>
              <a:spLocks noChangeShapeType="1"/>
            </p:cNvSpPr>
            <p:nvPr/>
          </p:nvSpPr>
          <p:spPr bwMode="auto">
            <a:xfrm>
              <a:off x="2948" y="1497"/>
              <a:ext cx="1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AutoShape 118"/>
            <p:cNvSpPr>
              <a:spLocks noChangeArrowheads="1"/>
            </p:cNvSpPr>
            <p:nvPr/>
          </p:nvSpPr>
          <p:spPr bwMode="auto">
            <a:xfrm rot="5400000">
              <a:off x="3519" y="1173"/>
              <a:ext cx="151" cy="172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rot="10800000"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2" name="Freeform 120"/>
          <p:cNvSpPr/>
          <p:nvPr/>
        </p:nvSpPr>
        <p:spPr bwMode="auto">
          <a:xfrm>
            <a:off x="5735576" y="3640137"/>
            <a:ext cx="659606" cy="198835"/>
          </a:xfrm>
          <a:custGeom>
            <a:avLst/>
            <a:gdLst>
              <a:gd name="T0" fmla="*/ 0 w 554"/>
              <a:gd name="T1" fmla="*/ 10 h 167"/>
              <a:gd name="T2" fmla="*/ 324 w 554"/>
              <a:gd name="T3" fmla="*/ 26 h 167"/>
              <a:gd name="T4" fmla="*/ 554 w 554"/>
              <a:gd name="T5" fmla="*/ 167 h 167"/>
              <a:gd name="T6" fmla="*/ 0 60000 65536"/>
              <a:gd name="T7" fmla="*/ 0 60000 65536"/>
              <a:gd name="T8" fmla="*/ 0 60000 65536"/>
              <a:gd name="T9" fmla="*/ 0 w 554"/>
              <a:gd name="T10" fmla="*/ 0 h 167"/>
              <a:gd name="T11" fmla="*/ 554 w 554"/>
              <a:gd name="T12" fmla="*/ 167 h 1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4" h="167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w="5715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3" name="Group 172"/>
          <p:cNvGrpSpPr/>
          <p:nvPr/>
        </p:nvGrpSpPr>
        <p:grpSpPr bwMode="auto">
          <a:xfrm>
            <a:off x="6728557" y="2774554"/>
            <a:ext cx="433388" cy="611981"/>
            <a:chOff x="4637" y="2293"/>
            <a:chExt cx="364" cy="514"/>
          </a:xfrm>
        </p:grpSpPr>
        <p:sp>
          <p:nvSpPr>
            <p:cNvPr id="124" name="Freeform 122"/>
            <p:cNvSpPr/>
            <p:nvPr/>
          </p:nvSpPr>
          <p:spPr bwMode="auto">
            <a:xfrm flipH="1">
              <a:off x="4637" y="2573"/>
              <a:ext cx="364" cy="234"/>
            </a:xfrm>
            <a:custGeom>
              <a:avLst/>
              <a:gdLst>
                <a:gd name="T0" fmla="*/ 0 w 1443"/>
                <a:gd name="T1" fmla="*/ 0 h 816"/>
                <a:gd name="T2" fmla="*/ 271 w 1443"/>
                <a:gd name="T3" fmla="*/ 224 h 816"/>
                <a:gd name="T4" fmla="*/ 333 w 1443"/>
                <a:gd name="T5" fmla="*/ 226 h 816"/>
                <a:gd name="T6" fmla="*/ 364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5" name="Group 126"/>
            <p:cNvGrpSpPr/>
            <p:nvPr/>
          </p:nvGrpSpPr>
          <p:grpSpPr bwMode="auto">
            <a:xfrm>
              <a:off x="4642" y="2293"/>
              <a:ext cx="347" cy="285"/>
              <a:chOff x="2886" y="1668"/>
              <a:chExt cx="347" cy="285"/>
            </a:xfrm>
          </p:grpSpPr>
          <p:sp>
            <p:nvSpPr>
              <p:cNvPr id="126" name="Rectangle 127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Oval 128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Rectangle 129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Line 130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Line 131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Line 132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AutoShape 133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33" name="Group 171"/>
          <p:cNvGrpSpPr/>
          <p:nvPr/>
        </p:nvGrpSpPr>
        <p:grpSpPr bwMode="auto">
          <a:xfrm>
            <a:off x="7486984" y="2979341"/>
            <a:ext cx="433388" cy="620315"/>
            <a:chOff x="5274" y="2465"/>
            <a:chExt cx="364" cy="521"/>
          </a:xfrm>
        </p:grpSpPr>
        <p:sp>
          <p:nvSpPr>
            <p:cNvPr id="134" name="Freeform 121"/>
            <p:cNvSpPr/>
            <p:nvPr/>
          </p:nvSpPr>
          <p:spPr bwMode="auto">
            <a:xfrm flipH="1">
              <a:off x="5274" y="2752"/>
              <a:ext cx="364" cy="234"/>
            </a:xfrm>
            <a:custGeom>
              <a:avLst/>
              <a:gdLst>
                <a:gd name="T0" fmla="*/ 0 w 1443"/>
                <a:gd name="T1" fmla="*/ 0 h 816"/>
                <a:gd name="T2" fmla="*/ 271 w 1443"/>
                <a:gd name="T3" fmla="*/ 224 h 816"/>
                <a:gd name="T4" fmla="*/ 333 w 1443"/>
                <a:gd name="T5" fmla="*/ 226 h 816"/>
                <a:gd name="T6" fmla="*/ 364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5" name="Group 134"/>
            <p:cNvGrpSpPr/>
            <p:nvPr/>
          </p:nvGrpSpPr>
          <p:grpSpPr bwMode="auto">
            <a:xfrm>
              <a:off x="5280" y="2465"/>
              <a:ext cx="347" cy="285"/>
              <a:chOff x="2886" y="1668"/>
              <a:chExt cx="347" cy="285"/>
            </a:xfrm>
          </p:grpSpPr>
          <p:sp>
            <p:nvSpPr>
              <p:cNvPr id="136" name="Rectangle 135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7" name="Oval 136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Rectangle 137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Line 138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0" name="Line 139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Line 140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AutoShape 141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43" name="Group 170"/>
          <p:cNvGrpSpPr/>
          <p:nvPr/>
        </p:nvGrpSpPr>
        <p:grpSpPr bwMode="auto">
          <a:xfrm>
            <a:off x="7216714" y="4267597"/>
            <a:ext cx="420290" cy="608409"/>
            <a:chOff x="5047" y="3547"/>
            <a:chExt cx="353" cy="511"/>
          </a:xfrm>
        </p:grpSpPr>
        <p:sp>
          <p:nvSpPr>
            <p:cNvPr id="144" name="Freeform 123"/>
            <p:cNvSpPr/>
            <p:nvPr/>
          </p:nvSpPr>
          <p:spPr bwMode="auto">
            <a:xfrm flipH="1" flipV="1">
              <a:off x="5058" y="3547"/>
              <a:ext cx="342" cy="234"/>
            </a:xfrm>
            <a:custGeom>
              <a:avLst/>
              <a:gdLst>
                <a:gd name="T0" fmla="*/ 0 w 1443"/>
                <a:gd name="T1" fmla="*/ 0 h 816"/>
                <a:gd name="T2" fmla="*/ 255 w 1443"/>
                <a:gd name="T3" fmla="*/ 224 h 816"/>
                <a:gd name="T4" fmla="*/ 313 w 1443"/>
                <a:gd name="T5" fmla="*/ 226 h 816"/>
                <a:gd name="T6" fmla="*/ 342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5" name="Group 142"/>
            <p:cNvGrpSpPr/>
            <p:nvPr/>
          </p:nvGrpSpPr>
          <p:grpSpPr bwMode="auto">
            <a:xfrm>
              <a:off x="5047" y="3773"/>
              <a:ext cx="347" cy="285"/>
              <a:chOff x="2886" y="1668"/>
              <a:chExt cx="347" cy="285"/>
            </a:xfrm>
          </p:grpSpPr>
          <p:sp>
            <p:nvSpPr>
              <p:cNvPr id="146" name="Rectangle 143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Oval 144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8" name="Rectangle 145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Line 146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0" name="Line 147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Line 148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AutoShape 149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53" name="Group 173"/>
          <p:cNvGrpSpPr/>
          <p:nvPr/>
        </p:nvGrpSpPr>
        <p:grpSpPr bwMode="auto">
          <a:xfrm>
            <a:off x="6695219" y="4036616"/>
            <a:ext cx="413147" cy="675084"/>
            <a:chOff x="4609" y="3353"/>
            <a:chExt cx="347" cy="567"/>
          </a:xfrm>
        </p:grpSpPr>
        <p:sp>
          <p:nvSpPr>
            <p:cNvPr id="154" name="Freeform 125"/>
            <p:cNvSpPr/>
            <p:nvPr/>
          </p:nvSpPr>
          <p:spPr bwMode="auto">
            <a:xfrm flipH="1" flipV="1">
              <a:off x="4611" y="3353"/>
              <a:ext cx="342" cy="285"/>
            </a:xfrm>
            <a:custGeom>
              <a:avLst/>
              <a:gdLst>
                <a:gd name="T0" fmla="*/ 0 w 1443"/>
                <a:gd name="T1" fmla="*/ 0 h 816"/>
                <a:gd name="T2" fmla="*/ 255 w 1443"/>
                <a:gd name="T3" fmla="*/ 273 h 816"/>
                <a:gd name="T4" fmla="*/ 313 w 1443"/>
                <a:gd name="T5" fmla="*/ 275 h 816"/>
                <a:gd name="T6" fmla="*/ 342 w 1443"/>
                <a:gd name="T7" fmla="*/ 2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5" name="Group 150"/>
            <p:cNvGrpSpPr/>
            <p:nvPr/>
          </p:nvGrpSpPr>
          <p:grpSpPr bwMode="auto">
            <a:xfrm>
              <a:off x="4609" y="3635"/>
              <a:ext cx="347" cy="285"/>
              <a:chOff x="2886" y="1668"/>
              <a:chExt cx="347" cy="285"/>
            </a:xfrm>
          </p:grpSpPr>
          <p:sp>
            <p:nvSpPr>
              <p:cNvPr id="156" name="Rectangle 151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Oval 152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Rectangle 153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Line 154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Line 155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Line 156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AutoShape 157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63" name="Group 174"/>
          <p:cNvGrpSpPr/>
          <p:nvPr/>
        </p:nvGrpSpPr>
        <p:grpSpPr bwMode="auto">
          <a:xfrm>
            <a:off x="6203491" y="4255691"/>
            <a:ext cx="421481" cy="600075"/>
            <a:chOff x="4196" y="3537"/>
            <a:chExt cx="354" cy="504"/>
          </a:xfrm>
        </p:grpSpPr>
        <p:sp>
          <p:nvSpPr>
            <p:cNvPr id="164" name="Freeform 124"/>
            <p:cNvSpPr/>
            <p:nvPr/>
          </p:nvSpPr>
          <p:spPr bwMode="auto">
            <a:xfrm flipH="1" flipV="1">
              <a:off x="4208" y="3537"/>
              <a:ext cx="342" cy="234"/>
            </a:xfrm>
            <a:custGeom>
              <a:avLst/>
              <a:gdLst>
                <a:gd name="T0" fmla="*/ 0 w 1443"/>
                <a:gd name="T1" fmla="*/ 0 h 816"/>
                <a:gd name="T2" fmla="*/ 255 w 1443"/>
                <a:gd name="T3" fmla="*/ 224 h 816"/>
                <a:gd name="T4" fmla="*/ 313 w 1443"/>
                <a:gd name="T5" fmla="*/ 226 h 816"/>
                <a:gd name="T6" fmla="*/ 342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5" name="Group 158"/>
            <p:cNvGrpSpPr/>
            <p:nvPr/>
          </p:nvGrpSpPr>
          <p:grpSpPr bwMode="auto">
            <a:xfrm>
              <a:off x="4196" y="3756"/>
              <a:ext cx="347" cy="285"/>
              <a:chOff x="2886" y="1668"/>
              <a:chExt cx="347" cy="285"/>
            </a:xfrm>
          </p:grpSpPr>
          <p:sp>
            <p:nvSpPr>
              <p:cNvPr id="166" name="Rectangle 159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Oval 160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Rectangle 161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Line 162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Line 163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Line 164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AutoShape 165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73" name="Rectangle 181"/>
          <p:cNvSpPr>
            <a:spLocks noChangeArrowheads="1"/>
          </p:cNvSpPr>
          <p:nvPr/>
        </p:nvSpPr>
        <p:spPr bwMode="auto">
          <a:xfrm>
            <a:off x="5170743" y="2338784"/>
            <a:ext cx="594122" cy="126206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Line 119"/>
          <p:cNvSpPr>
            <a:spLocks noChangeShapeType="1"/>
          </p:cNvSpPr>
          <p:nvPr/>
        </p:nvSpPr>
        <p:spPr bwMode="auto">
          <a:xfrm flipV="1">
            <a:off x="5284329" y="2464988"/>
            <a:ext cx="265508" cy="101560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Line 99"/>
          <p:cNvSpPr>
            <a:spLocks noChangeShapeType="1"/>
          </p:cNvSpPr>
          <p:nvPr/>
        </p:nvSpPr>
        <p:spPr bwMode="auto">
          <a:xfrm>
            <a:off x="5392676" y="3600847"/>
            <a:ext cx="316706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6" name="Group 183"/>
          <p:cNvGrpSpPr/>
          <p:nvPr/>
        </p:nvGrpSpPr>
        <p:grpSpPr bwMode="auto">
          <a:xfrm>
            <a:off x="4623530" y="3484168"/>
            <a:ext cx="889396" cy="230981"/>
            <a:chOff x="2869" y="2889"/>
            <a:chExt cx="747" cy="194"/>
          </a:xfrm>
        </p:grpSpPr>
        <p:sp>
          <p:nvSpPr>
            <p:cNvPr id="177" name="Rectangle 97"/>
            <p:cNvSpPr>
              <a:spLocks noChangeArrowheads="1"/>
            </p:cNvSpPr>
            <p:nvPr/>
          </p:nvSpPr>
          <p:spPr bwMode="auto">
            <a:xfrm>
              <a:off x="2884" y="2889"/>
              <a:ext cx="728" cy="15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98"/>
            <p:cNvSpPr>
              <a:spLocks noChangeArrowheads="1"/>
            </p:cNvSpPr>
            <p:nvPr/>
          </p:nvSpPr>
          <p:spPr bwMode="auto">
            <a:xfrm>
              <a:off x="2869" y="2904"/>
              <a:ext cx="723" cy="15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104"/>
            <p:cNvSpPr>
              <a:spLocks noChangeArrowheads="1"/>
            </p:cNvSpPr>
            <p:nvPr/>
          </p:nvSpPr>
          <p:spPr bwMode="auto">
            <a:xfrm>
              <a:off x="3265" y="2906"/>
              <a:ext cx="269" cy="1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Text Box 105"/>
            <p:cNvSpPr txBox="1">
              <a:spLocks noChangeArrowheads="1"/>
            </p:cNvSpPr>
            <p:nvPr/>
          </p:nvSpPr>
          <p:spPr bwMode="auto">
            <a:xfrm>
              <a:off x="3235" y="2889"/>
              <a:ext cx="3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0111</a:t>
              </a:r>
              <a:endPara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1" name="Line 107"/>
          <p:cNvSpPr>
            <a:spLocks noChangeShapeType="1"/>
          </p:cNvSpPr>
          <p:nvPr/>
        </p:nvSpPr>
        <p:spPr bwMode="auto">
          <a:xfrm flipH="1">
            <a:off x="4809270" y="3698478"/>
            <a:ext cx="101203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2" name="Line 119"/>
          <p:cNvSpPr>
            <a:spLocks noChangeShapeType="1"/>
          </p:cNvSpPr>
          <p:nvPr/>
        </p:nvSpPr>
        <p:spPr bwMode="auto">
          <a:xfrm>
            <a:off x="4906901" y="3263900"/>
            <a:ext cx="296465" cy="2107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 flipV="1">
            <a:off x="6423660" y="1866900"/>
            <a:ext cx="6050" cy="11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392800" y="1453555"/>
            <a:ext cx="170759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232"/>
          <p:cNvSpPr txBox="1">
            <a:spLocks noChangeArrowheads="1"/>
          </p:cNvSpPr>
          <p:nvPr/>
        </p:nvSpPr>
        <p:spPr bwMode="auto">
          <a:xfrm>
            <a:off x="6743458" y="1489236"/>
            <a:ext cx="1212918" cy="28469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146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数据平面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" name="TextBox 233"/>
          <p:cNvSpPr txBox="1">
            <a:spLocks noChangeArrowheads="1"/>
          </p:cNvSpPr>
          <p:nvPr/>
        </p:nvSpPr>
        <p:spPr bwMode="auto">
          <a:xfrm>
            <a:off x="6752906" y="1155018"/>
            <a:ext cx="876817" cy="27137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ts val="146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控制平面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8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35802E-6 C 0.05625 -0.00494 0.11267 -0.01018 0.15555 0.00154 C 0.19843 0.01358 0.2276 0.04229 0.25694 0.07099 " pathEditMode="relative" rAng="0" ptsTypes="AAA">
                                      <p:cBhvr>
                                        <p:cTn id="66" dur="2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47" y="32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1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  <p:bldP spid="122" grpId="0" animBg="1"/>
      <p:bldP spid="173" grpId="0" animBg="1"/>
      <p:bldP spid="174" grpId="0" animBg="1"/>
      <p:bldP spid="175" grpId="0" animBg="1"/>
      <p:bldP spid="181" grpId="0" animBg="1"/>
      <p:bldP spid="182" grpId="0" animBg="1"/>
      <p:bldP spid="183" grpId="0"/>
      <p:bldP spid="184" grpId="0"/>
      <p:bldP spid="186" grpId="0" animBg="1"/>
      <p:bldP spid="186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4.1 </a:t>
            </a:r>
            <a:r>
              <a:rPr lang="zh-CN" altLang="en-US" dirty="0"/>
              <a:t>网络层概述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488831" cy="4084023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4.1.1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分组转发和路由选择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</a:rPr>
              <a:t>网络的第三个功能</a:t>
            </a:r>
            <a:r>
              <a:rPr lang="en-US" altLang="zh-CN" dirty="0">
                <a:solidFill>
                  <a:srgbClr val="0066CC"/>
                </a:solidFill>
              </a:rPr>
              <a:t>(</a:t>
            </a:r>
            <a:r>
              <a:rPr lang="zh-CN" altLang="en-US" dirty="0">
                <a:solidFill>
                  <a:srgbClr val="C00000"/>
                </a:solidFill>
              </a:rPr>
              <a:t>可</a:t>
            </a:r>
            <a:r>
              <a:rPr lang="zh-CN" altLang="en-US" dirty="0">
                <a:solidFill>
                  <a:srgbClr val="FF00FF"/>
                </a:solidFill>
              </a:rPr>
              <a:t>选</a:t>
            </a:r>
            <a:r>
              <a:rPr lang="en-US" altLang="zh-CN" dirty="0">
                <a:solidFill>
                  <a:srgbClr val="0066CC"/>
                </a:solidFill>
              </a:rPr>
              <a:t>)</a:t>
            </a:r>
            <a:r>
              <a:rPr lang="zh-CN" altLang="en-US" dirty="0">
                <a:solidFill>
                  <a:srgbClr val="0066CC"/>
                </a:solidFill>
              </a:rPr>
              <a:t>：</a:t>
            </a:r>
            <a:r>
              <a:rPr lang="zh-CN" altLang="en-US" dirty="0">
                <a:solidFill>
                  <a:srgbClr val="FF0000"/>
                </a:solidFill>
              </a:rPr>
              <a:t>建立连接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在</a:t>
            </a:r>
            <a:r>
              <a:rPr lang="zh-CN" altLang="en-US" dirty="0">
                <a:solidFill>
                  <a:srgbClr val="FF0000"/>
                </a:solidFill>
              </a:rPr>
              <a:t>某些网络体系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不是</a:t>
            </a:r>
            <a:r>
              <a:rPr lang="en-US" altLang="zh-CN" dirty="0">
                <a:solidFill>
                  <a:srgbClr val="FF0000"/>
                </a:solidFill>
              </a:rPr>
              <a:t>Internet)</a:t>
            </a:r>
            <a:r>
              <a:rPr lang="zh-CN" altLang="en-US" dirty="0"/>
              <a:t>中存在连接</a:t>
            </a:r>
            <a:r>
              <a:rPr lang="en-US" altLang="zh-CN" dirty="0"/>
              <a:t>:</a:t>
            </a:r>
            <a:endParaRPr lang="en-US" altLang="zh-CN" dirty="0"/>
          </a:p>
          <a:p>
            <a:pPr lvl="3"/>
            <a:r>
              <a:rPr lang="en-US" altLang="zh-CN" dirty="0"/>
              <a:t>ATM (Asynchronous Transfer Mode, </a:t>
            </a:r>
            <a:r>
              <a:rPr lang="zh-CN" altLang="en-US" dirty="0"/>
              <a:t>异步传输模式</a:t>
            </a:r>
            <a:r>
              <a:rPr lang="en-US" altLang="zh-CN" dirty="0"/>
              <a:t>)</a:t>
            </a:r>
            <a:endParaRPr lang="en-US" altLang="zh-CN" dirty="0"/>
          </a:p>
          <a:p>
            <a:pPr lvl="3"/>
            <a:r>
              <a:rPr lang="en-US" altLang="zh-CN" dirty="0"/>
              <a:t>frame relay (</a:t>
            </a:r>
            <a:r>
              <a:rPr lang="zh-CN" altLang="en-US" dirty="0"/>
              <a:t>帧中继</a:t>
            </a:r>
            <a:r>
              <a:rPr lang="en-US" altLang="zh-CN" dirty="0"/>
              <a:t>)</a:t>
            </a:r>
            <a:endParaRPr lang="en-US" altLang="zh-CN" dirty="0"/>
          </a:p>
          <a:p>
            <a:pPr lvl="3"/>
            <a:r>
              <a:rPr lang="en-US" altLang="zh-CN" dirty="0"/>
              <a:t>X.25</a:t>
            </a:r>
            <a:endParaRPr lang="en-US" altLang="zh-CN" dirty="0"/>
          </a:p>
          <a:p>
            <a:pPr lvl="2"/>
            <a:r>
              <a:rPr lang="zh-CN" altLang="en-US" dirty="0"/>
              <a:t>在交付数据报之前，要建立虚拟的连接</a:t>
            </a:r>
            <a:endParaRPr lang="en-US" altLang="zh-CN" dirty="0"/>
          </a:p>
          <a:p>
            <a:pPr lvl="3"/>
            <a:r>
              <a:rPr lang="zh-CN" altLang="en-US" dirty="0"/>
              <a:t>主机和路由器都参与连接</a:t>
            </a:r>
            <a:endParaRPr lang="en-US" altLang="zh-CN" dirty="0"/>
          </a:p>
          <a:p>
            <a:pPr lvl="2"/>
            <a:r>
              <a:rPr lang="zh-CN" altLang="en-US" dirty="0"/>
              <a:t>网络层 </a:t>
            </a:r>
            <a:r>
              <a:rPr lang="en-US" altLang="zh-CN" dirty="0" err="1"/>
              <a:t>v.s</a:t>
            </a:r>
            <a:r>
              <a:rPr lang="en-US" altLang="zh-CN" dirty="0"/>
              <a:t>. </a:t>
            </a:r>
            <a:r>
              <a:rPr lang="zh-CN" altLang="en-US" dirty="0"/>
              <a:t>运输层</a:t>
            </a:r>
            <a:r>
              <a:rPr lang="en-US" altLang="zh-CN" dirty="0"/>
              <a:t> </a:t>
            </a:r>
            <a:r>
              <a:rPr lang="zh-CN" altLang="en-US" dirty="0"/>
              <a:t>连接服务</a:t>
            </a:r>
            <a:r>
              <a:rPr lang="en-US" altLang="zh-CN" dirty="0"/>
              <a:t>:</a:t>
            </a:r>
            <a:endParaRPr lang="en-US" altLang="zh-CN" dirty="0"/>
          </a:p>
          <a:p>
            <a:pPr lvl="3"/>
            <a:r>
              <a:rPr lang="zh-CN" altLang="en-US" dirty="0"/>
              <a:t>网络层</a:t>
            </a:r>
            <a:r>
              <a:rPr lang="en-US" altLang="zh-CN" dirty="0"/>
              <a:t>: </a:t>
            </a:r>
            <a:r>
              <a:rPr lang="zh-CN" altLang="en-US" dirty="0"/>
              <a:t>两个主机以及中间的路由器创建的虚电路</a:t>
            </a:r>
            <a:endParaRPr lang="en-US" altLang="zh-CN" dirty="0"/>
          </a:p>
          <a:p>
            <a:pPr lvl="3"/>
            <a:r>
              <a:rPr lang="zh-CN" altLang="en-US" dirty="0"/>
              <a:t>运输层</a:t>
            </a:r>
            <a:r>
              <a:rPr lang="en-US" altLang="zh-CN" dirty="0"/>
              <a:t>: </a:t>
            </a:r>
            <a:r>
              <a:rPr lang="zh-CN" altLang="en-US" dirty="0"/>
              <a:t>两个进程直接建立连接的端到端连接，中间的路由器不参与</a:t>
            </a:r>
            <a:endParaRPr lang="en-US" altLang="zh-CN" sz="1800" dirty="0">
              <a:solidFill>
                <a:srgbClr val="0066CC"/>
              </a:solidFill>
            </a:endParaRPr>
          </a:p>
        </p:txBody>
      </p:sp>
      <p:sp>
        <p:nvSpPr>
          <p:cNvPr id="4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4.1 </a:t>
            </a:r>
            <a:r>
              <a:rPr lang="zh-CN" altLang="en-US" dirty="0"/>
              <a:t>网络层概述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7488831" cy="936110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4.1.2 </a:t>
            </a:r>
            <a:r>
              <a:rPr lang="zh-CN" altLang="en-US" dirty="0">
                <a:effectLst/>
              </a:rPr>
              <a:t>网络服务模型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网络层能够提供的数据交付服务（可选）：</a:t>
            </a:r>
            <a:endParaRPr lang="en-US" altLang="zh-CN" dirty="0">
              <a:effectLst/>
            </a:endParaRPr>
          </a:p>
        </p:txBody>
      </p:sp>
      <p:sp>
        <p:nvSpPr>
          <p:cNvPr id="8" name="Rectangle 15"/>
          <p:cNvSpPr>
            <a:spLocks noChangeArrowheads="1"/>
          </p:cNvSpPr>
          <p:nvPr/>
        </p:nvSpPr>
        <p:spPr bwMode="auto">
          <a:xfrm>
            <a:off x="539976" y="1872109"/>
            <a:ext cx="3379142" cy="23885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为单个分组的交付服务（例子）</a:t>
            </a:r>
            <a:r>
              <a:rPr lang="en-US" altLang="zh-CN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16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guaranteed delivery</a:t>
            </a:r>
            <a:endParaRPr lang="en-US" altLang="zh-CN" sz="16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——</a:t>
            </a:r>
            <a:r>
              <a:rPr lang="zh-CN" altLang="en-US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确保交付</a:t>
            </a:r>
            <a:endParaRPr lang="zh-CN" altLang="en-US" sz="16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guaranteed delivery with less than 40 msec delay</a:t>
            </a:r>
            <a:endParaRPr lang="en-US" altLang="zh-CN" sz="16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——</a:t>
            </a:r>
            <a:r>
              <a:rPr lang="zh-CN" altLang="en-US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具有时延上界确保交付</a:t>
            </a:r>
            <a:endParaRPr lang="en-US" altLang="zh-CN" sz="16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安全性服务</a:t>
            </a:r>
            <a:endParaRPr lang="zh-CN" altLang="en-US" sz="16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6"/>
          <p:cNvSpPr>
            <a:spLocks noChangeArrowheads="1"/>
          </p:cNvSpPr>
          <p:nvPr/>
        </p:nvSpPr>
        <p:spPr bwMode="auto">
          <a:xfrm>
            <a:off x="4148484" y="1872109"/>
            <a:ext cx="4527972" cy="242783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为分组数据流的交付服务（例子） </a:t>
            </a:r>
            <a:r>
              <a:rPr lang="en-US" altLang="zh-CN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16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in-order datagram delivery</a:t>
            </a:r>
            <a:endParaRPr lang="en-US" altLang="zh-CN" sz="16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——</a:t>
            </a:r>
            <a:r>
              <a:rPr lang="zh-CN" altLang="en-US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有序分组交付</a:t>
            </a:r>
            <a:endParaRPr lang="zh-CN" altLang="en-US" sz="16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guaranteed minimum bandwidth to flow</a:t>
            </a:r>
            <a:endParaRPr lang="en-US" altLang="zh-CN" sz="16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——</a:t>
            </a:r>
            <a:r>
              <a:rPr lang="zh-CN" altLang="en-US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确保最低带宽</a:t>
            </a:r>
            <a:endParaRPr lang="zh-CN" altLang="en-US" sz="16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restrictions on changes in inter-packet spacing</a:t>
            </a:r>
            <a:endParaRPr lang="en-US" altLang="zh-CN" sz="16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——</a:t>
            </a:r>
            <a:r>
              <a:rPr lang="zh-CN" altLang="en-US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确保最大时延抖动</a:t>
            </a:r>
            <a:endParaRPr lang="zh-CN" altLang="en-US" sz="16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4.1 </a:t>
            </a:r>
            <a:r>
              <a:rPr lang="zh-CN" altLang="en-US" dirty="0"/>
              <a:t>网络层概述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488831" cy="4012005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4.1.2 </a:t>
            </a:r>
            <a:r>
              <a:rPr lang="zh-CN" altLang="en-US" dirty="0">
                <a:effectLst/>
              </a:rPr>
              <a:t>网络服务模型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网络层能够提供的数据交付服务包括</a:t>
            </a:r>
            <a:endParaRPr lang="en-US" altLang="zh-CN" dirty="0"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87625" y="1995686"/>
            <a:ext cx="6730349" cy="2610861"/>
            <a:chOff x="336632" y="2225231"/>
            <a:chExt cx="8729757" cy="348114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Text Box 3"/>
            <p:cNvSpPr txBox="1">
              <a:spLocks noChangeArrowheads="1"/>
            </p:cNvSpPr>
            <p:nvPr/>
          </p:nvSpPr>
          <p:spPr bwMode="auto">
            <a:xfrm>
              <a:off x="336632" y="2363342"/>
              <a:ext cx="1338487" cy="3077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Network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algn="r"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Architecture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algn="r"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algn="r" eaLnBrk="0" hangingPunct="0"/>
              <a:r>
                <a:rPr lang="en-US" altLang="zh-CN" sz="1200" dirty="0">
                  <a:solidFill>
                    <a:srgbClr val="FF0000"/>
                  </a:solidFill>
                </a:rPr>
                <a:t>Internet</a:t>
              </a:r>
              <a:endParaRPr lang="en-US" altLang="zh-CN" sz="1200" dirty="0">
                <a:solidFill>
                  <a:srgbClr val="FF0000"/>
                </a:solidFill>
              </a:endParaRPr>
            </a:p>
            <a:p>
              <a:pPr algn="r"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algn="r"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ATM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algn="r"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algn="r"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ATM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algn="r"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algn="r"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ATM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algn="r"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algn="r"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ATM</a:t>
              </a:r>
              <a:endParaRPr lang="en-US" altLang="zh-CN" sz="135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1747547" y="2363342"/>
              <a:ext cx="1155188" cy="3077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Service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Model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best effort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CBR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VBR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ABR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UBR</a:t>
              </a:r>
              <a:endParaRPr lang="en-US" altLang="zh-CN" sz="135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2915816" y="2658618"/>
              <a:ext cx="1891789" cy="2831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Bandwidth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FF0000"/>
                  </a:solidFill>
                </a:rPr>
                <a:t>none</a:t>
              </a:r>
              <a:endParaRPr lang="en-US" altLang="zh-CN" sz="1200" dirty="0">
                <a:solidFill>
                  <a:srgbClr val="FF0000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constant rate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guaranteed rate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guaranteed min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none</a:t>
              </a:r>
              <a:endParaRPr lang="en-US" altLang="zh-CN" sz="135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" name="Line 6"/>
            <p:cNvSpPr>
              <a:spLocks noChangeShapeType="1"/>
            </p:cNvSpPr>
            <p:nvPr/>
          </p:nvSpPr>
          <p:spPr bwMode="auto">
            <a:xfrm>
              <a:off x="518976" y="3002312"/>
              <a:ext cx="8429625" cy="9525"/>
            </a:xfrm>
            <a:prstGeom prst="line">
              <a:avLst/>
            </a:prstGeom>
            <a:noFill/>
            <a:ln w="28575">
              <a:solidFill>
                <a:schemeClr val="bg2">
                  <a:lumMod val="5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50"/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>
              <a:off x="561974" y="3547619"/>
              <a:ext cx="8429625" cy="9525"/>
            </a:xfrm>
            <a:prstGeom prst="line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50"/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571500" y="4026116"/>
              <a:ext cx="8429625" cy="9525"/>
            </a:xfrm>
            <a:prstGeom prst="line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50"/>
            </a:p>
          </p:txBody>
        </p:sp>
        <p:sp>
          <p:nvSpPr>
            <p:cNvPr id="16" name="Line 9"/>
            <p:cNvSpPr>
              <a:spLocks noChangeShapeType="1"/>
            </p:cNvSpPr>
            <p:nvPr/>
          </p:nvSpPr>
          <p:spPr bwMode="auto">
            <a:xfrm>
              <a:off x="561973" y="4579132"/>
              <a:ext cx="8429625" cy="9525"/>
            </a:xfrm>
            <a:prstGeom prst="line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50"/>
            </a:p>
          </p:txBody>
        </p:sp>
        <p:sp>
          <p:nvSpPr>
            <p:cNvPr id="17" name="Line 10"/>
            <p:cNvSpPr>
              <a:spLocks noChangeShapeType="1"/>
            </p:cNvSpPr>
            <p:nvPr/>
          </p:nvSpPr>
          <p:spPr bwMode="auto">
            <a:xfrm>
              <a:off x="571499" y="5074104"/>
              <a:ext cx="8429625" cy="9525"/>
            </a:xfrm>
            <a:prstGeom prst="line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50"/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4700588" y="2658618"/>
              <a:ext cx="677964" cy="2831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Loss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FF0000"/>
                  </a:solidFill>
                </a:rPr>
                <a:t>no</a:t>
              </a:r>
              <a:endParaRPr lang="en-US" altLang="zh-CN" sz="1200" dirty="0">
                <a:solidFill>
                  <a:srgbClr val="FF0000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yes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yes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no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no</a:t>
              </a:r>
              <a:endParaRPr lang="en-US" altLang="zh-CN" sz="135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5424488" y="2668142"/>
              <a:ext cx="769869" cy="2831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Order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FF0000"/>
                  </a:solidFill>
                </a:rPr>
                <a:t>no</a:t>
              </a:r>
              <a:endParaRPr lang="en-US" altLang="zh-CN" sz="1200" dirty="0">
                <a:solidFill>
                  <a:srgbClr val="FF0000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yes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yes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yes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yes</a:t>
              </a:r>
              <a:endParaRPr lang="en-US" altLang="zh-CN" sz="135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6156176" y="2668142"/>
              <a:ext cx="852028" cy="2831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Timing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FF0000"/>
                  </a:solidFill>
                </a:rPr>
                <a:t>no</a:t>
              </a:r>
              <a:endParaRPr lang="en-US" altLang="zh-CN" sz="1200" dirty="0">
                <a:solidFill>
                  <a:srgbClr val="FF0000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yes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yes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no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no</a:t>
              </a:r>
              <a:endParaRPr lang="en-US" altLang="zh-CN" sz="135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7020272" y="2382392"/>
              <a:ext cx="2046117" cy="3323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Congestion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feedback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FF0000"/>
                  </a:solidFill>
                </a:rPr>
                <a:t>no</a:t>
              </a:r>
              <a:r>
                <a:rPr lang="en-US" altLang="zh-CN" sz="1200" dirty="0">
                  <a:solidFill>
                    <a:srgbClr val="0000FF"/>
                  </a:solidFill>
                </a:rPr>
                <a:t> (inferred via loss)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no congestion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no congestion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yes</a:t>
              </a:r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endParaRPr lang="en-US" altLang="zh-CN" sz="1200" dirty="0">
                <a:solidFill>
                  <a:srgbClr val="0000FF"/>
                </a:solidFill>
              </a:endParaRPr>
            </a:p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no</a:t>
              </a:r>
              <a:endParaRPr lang="en-US" altLang="zh-CN" sz="135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Text Box 15"/>
            <p:cNvSpPr txBox="1">
              <a:spLocks noChangeArrowheads="1"/>
            </p:cNvSpPr>
            <p:nvPr/>
          </p:nvSpPr>
          <p:spPr bwMode="auto">
            <a:xfrm>
              <a:off x="4672013" y="2231580"/>
              <a:ext cx="14858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 dirty="0">
                  <a:solidFill>
                    <a:srgbClr val="0000FF"/>
                  </a:solidFill>
                </a:rPr>
                <a:t>Guarantees ?</a:t>
              </a:r>
              <a:endParaRPr lang="en-US" altLang="zh-CN" sz="135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 flipV="1">
              <a:off x="2930172" y="2657030"/>
              <a:ext cx="4018092" cy="0"/>
            </a:xfrm>
            <a:prstGeom prst="line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50"/>
            </a:p>
          </p:txBody>
        </p:sp>
        <p:sp>
          <p:nvSpPr>
            <p:cNvPr id="24" name="Rectangle 53"/>
            <p:cNvSpPr>
              <a:spLocks noChangeArrowheads="1"/>
            </p:cNvSpPr>
            <p:nvPr/>
          </p:nvSpPr>
          <p:spPr bwMode="auto">
            <a:xfrm>
              <a:off x="1598747" y="3754371"/>
              <a:ext cx="1250769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rgbClr val="0000FF"/>
                  </a:solidFill>
                </a:rPr>
                <a:t>(</a:t>
              </a:r>
              <a:r>
                <a:rPr lang="zh-CN" altLang="en-US" sz="1050" dirty="0">
                  <a:solidFill>
                    <a:srgbClr val="0000FF"/>
                  </a:solidFill>
                </a:rPr>
                <a:t>恒定比特率</a:t>
              </a:r>
              <a:r>
                <a:rPr lang="en-US" altLang="zh-CN" sz="1050" dirty="0">
                  <a:solidFill>
                    <a:srgbClr val="0000FF"/>
                  </a:solidFill>
                </a:rPr>
                <a:t>)</a:t>
              </a:r>
              <a:endParaRPr lang="en-US" altLang="zh-CN" sz="1050" dirty="0">
                <a:solidFill>
                  <a:srgbClr val="0000FF"/>
                </a:solidFill>
              </a:endParaRPr>
            </a:p>
          </p:txBody>
        </p:sp>
        <p:sp>
          <p:nvSpPr>
            <p:cNvPr id="25" name="Rectangle 54"/>
            <p:cNvSpPr>
              <a:spLocks noChangeArrowheads="1"/>
            </p:cNvSpPr>
            <p:nvPr/>
          </p:nvSpPr>
          <p:spPr bwMode="auto">
            <a:xfrm>
              <a:off x="1598747" y="4288806"/>
              <a:ext cx="1250769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rgbClr val="0000FF"/>
                  </a:solidFill>
                </a:rPr>
                <a:t>(</a:t>
              </a:r>
              <a:r>
                <a:rPr lang="zh-CN" altLang="en-US" sz="1050" dirty="0">
                  <a:solidFill>
                    <a:srgbClr val="0000FF"/>
                  </a:solidFill>
                </a:rPr>
                <a:t>可变比特率</a:t>
              </a:r>
              <a:r>
                <a:rPr lang="en-US" altLang="zh-CN" sz="1050" dirty="0">
                  <a:solidFill>
                    <a:srgbClr val="0000FF"/>
                  </a:solidFill>
                </a:rPr>
                <a:t>)</a:t>
              </a:r>
              <a:endParaRPr lang="en-US" altLang="zh-CN" sz="1050" dirty="0">
                <a:solidFill>
                  <a:srgbClr val="0000FF"/>
                </a:solidFill>
              </a:endParaRPr>
            </a:p>
          </p:txBody>
        </p:sp>
        <p:sp>
          <p:nvSpPr>
            <p:cNvPr id="26" name="Rectangle 55"/>
            <p:cNvSpPr>
              <a:spLocks noChangeArrowheads="1"/>
            </p:cNvSpPr>
            <p:nvPr/>
          </p:nvSpPr>
          <p:spPr bwMode="auto">
            <a:xfrm>
              <a:off x="1598745" y="4783168"/>
              <a:ext cx="1250769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rgbClr val="0000FF"/>
                  </a:solidFill>
                </a:rPr>
                <a:t>(</a:t>
              </a:r>
              <a:r>
                <a:rPr lang="zh-CN" altLang="en-US" sz="1050" dirty="0">
                  <a:solidFill>
                    <a:srgbClr val="0000FF"/>
                  </a:solidFill>
                </a:rPr>
                <a:t>可用比特率</a:t>
              </a:r>
              <a:r>
                <a:rPr lang="en-US" altLang="zh-CN" sz="1050" dirty="0">
                  <a:solidFill>
                    <a:srgbClr val="0000FF"/>
                  </a:solidFill>
                </a:rPr>
                <a:t>)</a:t>
              </a:r>
              <a:endParaRPr lang="en-US" altLang="zh-CN" sz="1050" dirty="0">
                <a:solidFill>
                  <a:srgbClr val="0000FF"/>
                </a:solidFill>
              </a:endParaRPr>
            </a:p>
          </p:txBody>
        </p:sp>
        <p:sp>
          <p:nvSpPr>
            <p:cNvPr id="27" name="Rectangle 56"/>
            <p:cNvSpPr>
              <a:spLocks noChangeArrowheads="1"/>
            </p:cNvSpPr>
            <p:nvPr/>
          </p:nvSpPr>
          <p:spPr bwMode="auto">
            <a:xfrm>
              <a:off x="1593215" y="5257086"/>
              <a:ext cx="1250769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rgbClr val="0000FF"/>
                  </a:solidFill>
                </a:rPr>
                <a:t>(</a:t>
              </a:r>
              <a:r>
                <a:rPr lang="zh-CN" altLang="en-US" sz="1050" dirty="0">
                  <a:solidFill>
                    <a:srgbClr val="0000FF"/>
                  </a:solidFill>
                </a:rPr>
                <a:t>未定比特率</a:t>
              </a:r>
              <a:r>
                <a:rPr lang="en-US" altLang="zh-CN" sz="1050" dirty="0">
                  <a:solidFill>
                    <a:srgbClr val="0000FF"/>
                  </a:solidFill>
                </a:rPr>
                <a:t>)</a:t>
              </a:r>
              <a:endParaRPr lang="en-US" altLang="zh-CN" sz="1050" dirty="0">
                <a:solidFill>
                  <a:srgbClr val="0000FF"/>
                </a:solidFill>
              </a:endParaRPr>
            </a:p>
          </p:txBody>
        </p:sp>
        <p:sp>
          <p:nvSpPr>
            <p:cNvPr id="28" name="Line 10"/>
            <p:cNvSpPr>
              <a:spLocks noChangeShapeType="1"/>
            </p:cNvSpPr>
            <p:nvPr/>
          </p:nvSpPr>
          <p:spPr bwMode="auto">
            <a:xfrm>
              <a:off x="571499" y="5579715"/>
              <a:ext cx="8429625" cy="9525"/>
            </a:xfrm>
            <a:prstGeom prst="line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50"/>
            </a:p>
          </p:txBody>
        </p:sp>
        <p:sp>
          <p:nvSpPr>
            <p:cNvPr id="29" name="Line 6"/>
            <p:cNvSpPr>
              <a:spLocks noChangeShapeType="1"/>
            </p:cNvSpPr>
            <p:nvPr/>
          </p:nvSpPr>
          <p:spPr bwMode="auto">
            <a:xfrm>
              <a:off x="518976" y="2225231"/>
              <a:ext cx="8429625" cy="9525"/>
            </a:xfrm>
            <a:prstGeom prst="line">
              <a:avLst/>
            </a:prstGeom>
            <a:noFill/>
            <a:ln w="28575">
              <a:solidFill>
                <a:schemeClr val="bg2">
                  <a:lumMod val="5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50"/>
            </a:p>
          </p:txBody>
        </p:sp>
      </p:grpSp>
      <p:sp>
        <p:nvSpPr>
          <p:cNvPr id="30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/>
              <a:t>4.1 </a:t>
            </a:r>
            <a:r>
              <a:rPr lang="zh-CN" altLang="en-US" sz="2200" dirty="0"/>
              <a:t>网络层概述</a:t>
            </a:r>
            <a:endParaRPr lang="zh-CN" altLang="en-US" sz="2200" dirty="0"/>
          </a:p>
        </p:txBody>
      </p:sp>
      <p:sp>
        <p:nvSpPr>
          <p:cNvPr id="6" name="内容占位符 5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/>
              <a:t>4.2 </a:t>
            </a:r>
            <a:r>
              <a:rPr lang="zh-CN" altLang="en-US" sz="2200" dirty="0"/>
              <a:t>路由器原理</a:t>
            </a:r>
            <a:endParaRPr lang="zh-CN" altLang="en-US" sz="2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4.2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路由器的工作原理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488831" cy="4012005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effectLst/>
              </a:rPr>
              <a:t>路由器的体系结构</a:t>
            </a:r>
            <a:endParaRPr lang="en-US" altLang="zh-CN" dirty="0"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sz="1600" dirty="0">
                <a:effectLst/>
              </a:rPr>
              <a:t>两个主要功能：分组转发、路由选择</a:t>
            </a:r>
            <a:endParaRPr lang="en-US" altLang="zh-CN" sz="1600" dirty="0"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sz="1600" dirty="0">
                <a:effectLst/>
              </a:rPr>
              <a:t>四个主要构件：</a:t>
            </a:r>
            <a:r>
              <a:rPr lang="zh-CN" altLang="en-US" sz="1600" dirty="0">
                <a:solidFill>
                  <a:srgbClr val="0070C0"/>
                </a:solidFill>
                <a:effectLst/>
              </a:rPr>
              <a:t>输入、输出端口</a:t>
            </a:r>
            <a:r>
              <a:rPr lang="zh-CN" altLang="en-US" sz="1600" dirty="0">
                <a:effectLst/>
              </a:rPr>
              <a:t>；路由选择处理器、交换结构</a:t>
            </a:r>
            <a:endParaRPr lang="zh-CN" altLang="en-US" sz="1600" dirty="0"/>
          </a:p>
        </p:txBody>
      </p:sp>
      <p:grpSp>
        <p:nvGrpSpPr>
          <p:cNvPr id="4" name="组合 3"/>
          <p:cNvGrpSpPr/>
          <p:nvPr/>
        </p:nvGrpSpPr>
        <p:grpSpPr>
          <a:xfrm>
            <a:off x="1835696" y="2221967"/>
            <a:ext cx="6840760" cy="2647689"/>
            <a:chOff x="1835696" y="2221967"/>
            <a:chExt cx="6840760" cy="2647689"/>
          </a:xfrm>
        </p:grpSpPr>
        <p:sp>
          <p:nvSpPr>
            <p:cNvPr id="112" name="圆角矩形 6"/>
            <p:cNvSpPr/>
            <p:nvPr/>
          </p:nvSpPr>
          <p:spPr>
            <a:xfrm>
              <a:off x="1967588" y="2221967"/>
              <a:ext cx="4167784" cy="2647689"/>
            </a:xfrm>
            <a:prstGeom prst="roundRect">
              <a:avLst>
                <a:gd name="adj" fmla="val 11123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5400" cap="flat" cmpd="sng" algn="ctr">
              <a:solidFill>
                <a:srgbClr val="97D2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3" name="Group 60"/>
            <p:cNvGrpSpPr/>
            <p:nvPr/>
          </p:nvGrpSpPr>
          <p:grpSpPr bwMode="auto">
            <a:xfrm>
              <a:off x="3472659" y="2961581"/>
              <a:ext cx="1115511" cy="1528468"/>
              <a:chOff x="2418" y="1882"/>
              <a:chExt cx="1014" cy="1476"/>
            </a:xfrm>
          </p:grpSpPr>
          <p:sp>
            <p:nvSpPr>
              <p:cNvPr id="114" name="Rectangle 45"/>
              <p:cNvSpPr>
                <a:spLocks noChangeArrowheads="1"/>
              </p:cNvSpPr>
              <p:nvPr/>
            </p:nvSpPr>
            <p:spPr bwMode="auto">
              <a:xfrm>
                <a:off x="2418" y="1882"/>
                <a:ext cx="1014" cy="147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Text Box 48"/>
              <p:cNvSpPr txBox="1">
                <a:spLocks noChangeArrowheads="1"/>
              </p:cNvSpPr>
              <p:nvPr/>
            </p:nvSpPr>
            <p:spPr bwMode="auto">
              <a:xfrm>
                <a:off x="2560" y="2421"/>
                <a:ext cx="727" cy="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交换结构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6" name="Group 62"/>
            <p:cNvGrpSpPr/>
            <p:nvPr/>
          </p:nvGrpSpPr>
          <p:grpSpPr bwMode="auto">
            <a:xfrm>
              <a:off x="3492462" y="2371937"/>
              <a:ext cx="1102310" cy="750275"/>
              <a:chOff x="2436" y="3543"/>
              <a:chExt cx="1002" cy="682"/>
            </a:xfrm>
          </p:grpSpPr>
          <p:sp>
            <p:nvSpPr>
              <p:cNvPr id="117" name="Rectangle 46"/>
              <p:cNvSpPr>
                <a:spLocks noChangeArrowheads="1"/>
              </p:cNvSpPr>
              <p:nvPr/>
            </p:nvSpPr>
            <p:spPr bwMode="auto">
              <a:xfrm>
                <a:off x="2436" y="3543"/>
                <a:ext cx="1002" cy="40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Text Box 47"/>
              <p:cNvSpPr txBox="1">
                <a:spLocks noChangeArrowheads="1"/>
              </p:cNvSpPr>
              <p:nvPr/>
            </p:nvSpPr>
            <p:spPr bwMode="auto">
              <a:xfrm>
                <a:off x="2559" y="3568"/>
                <a:ext cx="727" cy="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路由选择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处理器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Line 50"/>
              <p:cNvSpPr>
                <a:spLocks noChangeShapeType="1"/>
              </p:cNvSpPr>
              <p:nvPr/>
            </p:nvSpPr>
            <p:spPr bwMode="auto">
              <a:xfrm flipH="1">
                <a:off x="2928" y="3948"/>
                <a:ext cx="1" cy="27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0" name="Group 59"/>
            <p:cNvGrpSpPr/>
            <p:nvPr/>
          </p:nvGrpSpPr>
          <p:grpSpPr bwMode="auto">
            <a:xfrm>
              <a:off x="1835696" y="2946596"/>
              <a:ext cx="1640264" cy="1597360"/>
              <a:chOff x="930" y="1891"/>
              <a:chExt cx="1491" cy="1452"/>
            </a:xfrm>
          </p:grpSpPr>
          <p:grpSp>
            <p:nvGrpSpPr>
              <p:cNvPr id="121" name="Group 17"/>
              <p:cNvGrpSpPr/>
              <p:nvPr/>
            </p:nvGrpSpPr>
            <p:grpSpPr bwMode="auto">
              <a:xfrm>
                <a:off x="930" y="1891"/>
                <a:ext cx="1482" cy="357"/>
                <a:chOff x="930" y="1989"/>
                <a:chExt cx="1482" cy="357"/>
              </a:xfrm>
            </p:grpSpPr>
            <p:sp>
              <p:nvSpPr>
                <p:cNvPr id="134" name="Rectangle 9"/>
                <p:cNvSpPr>
                  <a:spLocks noChangeArrowheads="1"/>
                </p:cNvSpPr>
                <p:nvPr/>
              </p:nvSpPr>
              <p:spPr bwMode="auto">
                <a:xfrm>
                  <a:off x="1152" y="1989"/>
                  <a:ext cx="1086" cy="357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5" name="Rectangle 5"/>
                <p:cNvSpPr>
                  <a:spLocks noChangeArrowheads="1"/>
                </p:cNvSpPr>
                <p:nvPr/>
              </p:nvSpPr>
              <p:spPr bwMode="auto">
                <a:xfrm>
                  <a:off x="1197" y="2089"/>
                  <a:ext cx="337" cy="161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6600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6" name="Rectangle 6"/>
                <p:cNvSpPr>
                  <a:spLocks noChangeArrowheads="1"/>
                </p:cNvSpPr>
                <p:nvPr/>
              </p:nvSpPr>
              <p:spPr bwMode="auto">
                <a:xfrm>
                  <a:off x="1583" y="2025"/>
                  <a:ext cx="274" cy="274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333399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7" name="Rectangle 8"/>
                <p:cNvSpPr>
                  <a:spLocks noChangeArrowheads="1"/>
                </p:cNvSpPr>
                <p:nvPr/>
              </p:nvSpPr>
              <p:spPr bwMode="auto">
                <a:xfrm>
                  <a:off x="1904" y="2023"/>
                  <a:ext cx="274" cy="274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FF0000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8" name="Line 16"/>
                <p:cNvSpPr>
                  <a:spLocks noChangeShapeType="1"/>
                </p:cNvSpPr>
                <p:nvPr/>
              </p:nvSpPr>
              <p:spPr bwMode="auto">
                <a:xfrm>
                  <a:off x="930" y="2169"/>
                  <a:ext cx="1482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2" name="Group 18"/>
              <p:cNvGrpSpPr/>
              <p:nvPr/>
            </p:nvGrpSpPr>
            <p:grpSpPr bwMode="auto">
              <a:xfrm>
                <a:off x="939" y="2986"/>
                <a:ext cx="1482" cy="357"/>
                <a:chOff x="930" y="1989"/>
                <a:chExt cx="1482" cy="357"/>
              </a:xfrm>
            </p:grpSpPr>
            <p:sp>
              <p:nvSpPr>
                <p:cNvPr id="129" name="Rectangle 19"/>
                <p:cNvSpPr>
                  <a:spLocks noChangeArrowheads="1"/>
                </p:cNvSpPr>
                <p:nvPr/>
              </p:nvSpPr>
              <p:spPr bwMode="auto">
                <a:xfrm>
                  <a:off x="1152" y="1989"/>
                  <a:ext cx="1086" cy="357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0" name="Rectangle 20"/>
                <p:cNvSpPr>
                  <a:spLocks noChangeArrowheads="1"/>
                </p:cNvSpPr>
                <p:nvPr/>
              </p:nvSpPr>
              <p:spPr bwMode="auto">
                <a:xfrm>
                  <a:off x="1197" y="2089"/>
                  <a:ext cx="337" cy="161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6600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1" name="Rectangle 21"/>
                <p:cNvSpPr>
                  <a:spLocks noChangeArrowheads="1"/>
                </p:cNvSpPr>
                <p:nvPr/>
              </p:nvSpPr>
              <p:spPr bwMode="auto">
                <a:xfrm>
                  <a:off x="1583" y="2025"/>
                  <a:ext cx="274" cy="274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333399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2" name="Rectangle 22"/>
                <p:cNvSpPr>
                  <a:spLocks noChangeArrowheads="1"/>
                </p:cNvSpPr>
                <p:nvPr/>
              </p:nvSpPr>
              <p:spPr bwMode="auto">
                <a:xfrm>
                  <a:off x="1904" y="2023"/>
                  <a:ext cx="274" cy="274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FF0000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3" name="Line 23"/>
                <p:cNvSpPr>
                  <a:spLocks noChangeShapeType="1"/>
                </p:cNvSpPr>
                <p:nvPr/>
              </p:nvSpPr>
              <p:spPr bwMode="auto">
                <a:xfrm>
                  <a:off x="930" y="2169"/>
                  <a:ext cx="1482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3" name="Group 29"/>
              <p:cNvGrpSpPr/>
              <p:nvPr/>
            </p:nvGrpSpPr>
            <p:grpSpPr bwMode="auto">
              <a:xfrm rot="2656396">
                <a:off x="1194" y="2452"/>
                <a:ext cx="342" cy="346"/>
                <a:chOff x="119" y="2944"/>
                <a:chExt cx="342" cy="346"/>
              </a:xfrm>
            </p:grpSpPr>
            <p:sp>
              <p:nvSpPr>
                <p:cNvPr id="125" name="Oval 25"/>
                <p:cNvSpPr>
                  <a:spLocks noChangeArrowheads="1"/>
                </p:cNvSpPr>
                <p:nvPr/>
              </p:nvSpPr>
              <p:spPr bwMode="auto">
                <a:xfrm>
                  <a:off x="119" y="2944"/>
                  <a:ext cx="56" cy="56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6" name="Oval 26"/>
                <p:cNvSpPr>
                  <a:spLocks noChangeArrowheads="1"/>
                </p:cNvSpPr>
                <p:nvPr/>
              </p:nvSpPr>
              <p:spPr bwMode="auto">
                <a:xfrm>
                  <a:off x="213" y="3042"/>
                  <a:ext cx="56" cy="56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7" name="Oval 27"/>
                <p:cNvSpPr>
                  <a:spLocks noChangeArrowheads="1"/>
                </p:cNvSpPr>
                <p:nvPr/>
              </p:nvSpPr>
              <p:spPr bwMode="auto">
                <a:xfrm>
                  <a:off x="309" y="3138"/>
                  <a:ext cx="56" cy="56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8" name="Oval 28"/>
                <p:cNvSpPr>
                  <a:spLocks noChangeArrowheads="1"/>
                </p:cNvSpPr>
                <p:nvPr/>
              </p:nvSpPr>
              <p:spPr bwMode="auto">
                <a:xfrm>
                  <a:off x="405" y="3234"/>
                  <a:ext cx="56" cy="56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4" name="Text Box 57"/>
              <p:cNvSpPr txBox="1">
                <a:spLocks noChangeArrowheads="1"/>
              </p:cNvSpPr>
              <p:nvPr/>
            </p:nvSpPr>
            <p:spPr bwMode="auto">
              <a:xfrm>
                <a:off x="1460" y="2491"/>
                <a:ext cx="72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输入端口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9" name="Group 61"/>
            <p:cNvGrpSpPr/>
            <p:nvPr/>
          </p:nvGrpSpPr>
          <p:grpSpPr bwMode="auto">
            <a:xfrm>
              <a:off x="4551867" y="2949896"/>
              <a:ext cx="1771177" cy="1594059"/>
              <a:chOff x="3399" y="1894"/>
              <a:chExt cx="1610" cy="1449"/>
            </a:xfrm>
          </p:grpSpPr>
          <p:grpSp>
            <p:nvGrpSpPr>
              <p:cNvPr id="140" name="Group 37"/>
              <p:cNvGrpSpPr/>
              <p:nvPr/>
            </p:nvGrpSpPr>
            <p:grpSpPr bwMode="auto">
              <a:xfrm>
                <a:off x="3399" y="1894"/>
                <a:ext cx="1610" cy="357"/>
                <a:chOff x="-51" y="2454"/>
                <a:chExt cx="1610" cy="357"/>
              </a:xfrm>
            </p:grpSpPr>
            <p:grpSp>
              <p:nvGrpSpPr>
                <p:cNvPr id="154" name="Group 36"/>
                <p:cNvGrpSpPr/>
                <p:nvPr/>
              </p:nvGrpSpPr>
              <p:grpSpPr bwMode="auto">
                <a:xfrm flipH="1">
                  <a:off x="171" y="2454"/>
                  <a:ext cx="1086" cy="357"/>
                  <a:chOff x="171" y="2454"/>
                  <a:chExt cx="1086" cy="357"/>
                </a:xfrm>
              </p:grpSpPr>
              <p:sp>
                <p:nvSpPr>
                  <p:cNvPr id="156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171" y="2454"/>
                    <a:ext cx="1086" cy="357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5F5F5F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66CC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57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216" y="2554"/>
                    <a:ext cx="337" cy="161"/>
                  </a:xfrm>
                  <a:prstGeom prst="rect">
                    <a:avLst/>
                  </a:prstGeom>
                  <a:solidFill>
                    <a:srgbClr val="FFFFFF"/>
                  </a:solidFill>
                  <a:ln w="28575">
                    <a:solidFill>
                      <a:srgbClr val="006600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66CC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58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602" y="2490"/>
                    <a:ext cx="274" cy="274"/>
                  </a:xfrm>
                  <a:prstGeom prst="rect">
                    <a:avLst/>
                  </a:prstGeom>
                  <a:solidFill>
                    <a:srgbClr val="FFFFFF"/>
                  </a:solidFill>
                  <a:ln w="28575">
                    <a:solidFill>
                      <a:srgbClr val="333399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66CC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59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488"/>
                    <a:ext cx="274" cy="274"/>
                  </a:xfrm>
                  <a:prstGeom prst="rect">
                    <a:avLst/>
                  </a:prstGeom>
                  <a:solidFill>
                    <a:srgbClr val="FFFFFF"/>
                  </a:solidFill>
                  <a:ln w="28575">
                    <a:solidFill>
                      <a:srgbClr val="FF0000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66CC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55" name="Line 35"/>
                <p:cNvSpPr>
                  <a:spLocks noChangeShapeType="1"/>
                </p:cNvSpPr>
                <p:nvPr/>
              </p:nvSpPr>
              <p:spPr bwMode="auto">
                <a:xfrm>
                  <a:off x="-51" y="2634"/>
                  <a:ext cx="161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1" name="Group 38"/>
              <p:cNvGrpSpPr/>
              <p:nvPr/>
            </p:nvGrpSpPr>
            <p:grpSpPr bwMode="auto">
              <a:xfrm>
                <a:off x="3411" y="2986"/>
                <a:ext cx="1598" cy="357"/>
                <a:chOff x="-51" y="2454"/>
                <a:chExt cx="1598" cy="357"/>
              </a:xfrm>
            </p:grpSpPr>
            <p:grpSp>
              <p:nvGrpSpPr>
                <p:cNvPr id="148" name="Group 39"/>
                <p:cNvGrpSpPr/>
                <p:nvPr/>
              </p:nvGrpSpPr>
              <p:grpSpPr bwMode="auto">
                <a:xfrm flipH="1">
                  <a:off x="171" y="2454"/>
                  <a:ext cx="1086" cy="357"/>
                  <a:chOff x="171" y="2454"/>
                  <a:chExt cx="1086" cy="357"/>
                </a:xfrm>
              </p:grpSpPr>
              <p:sp>
                <p:nvSpPr>
                  <p:cNvPr id="150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171" y="2454"/>
                    <a:ext cx="1086" cy="357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5F5F5F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66CC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51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216" y="2554"/>
                    <a:ext cx="337" cy="161"/>
                  </a:xfrm>
                  <a:prstGeom prst="rect">
                    <a:avLst/>
                  </a:prstGeom>
                  <a:solidFill>
                    <a:srgbClr val="FFFFFF"/>
                  </a:solidFill>
                  <a:ln w="28575">
                    <a:solidFill>
                      <a:srgbClr val="006600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66CC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52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602" y="2490"/>
                    <a:ext cx="274" cy="274"/>
                  </a:xfrm>
                  <a:prstGeom prst="rect">
                    <a:avLst/>
                  </a:prstGeom>
                  <a:solidFill>
                    <a:srgbClr val="FFFFFF"/>
                  </a:solidFill>
                  <a:ln w="28575">
                    <a:solidFill>
                      <a:srgbClr val="333399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66CC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53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488"/>
                    <a:ext cx="274" cy="274"/>
                  </a:xfrm>
                  <a:prstGeom prst="rect">
                    <a:avLst/>
                  </a:prstGeom>
                  <a:solidFill>
                    <a:srgbClr val="FFFFFF"/>
                  </a:solidFill>
                  <a:ln w="28575">
                    <a:solidFill>
                      <a:srgbClr val="FF0000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zh-CN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66CC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49" name="Line 44"/>
                <p:cNvSpPr>
                  <a:spLocks noChangeShapeType="1"/>
                </p:cNvSpPr>
                <p:nvPr/>
              </p:nvSpPr>
              <p:spPr bwMode="auto">
                <a:xfrm>
                  <a:off x="-51" y="2634"/>
                  <a:ext cx="159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2" name="Group 51"/>
              <p:cNvGrpSpPr/>
              <p:nvPr/>
            </p:nvGrpSpPr>
            <p:grpSpPr bwMode="auto">
              <a:xfrm rot="2656396">
                <a:off x="4313" y="2446"/>
                <a:ext cx="347" cy="344"/>
                <a:chOff x="612" y="2463"/>
                <a:chExt cx="347" cy="344"/>
              </a:xfrm>
            </p:grpSpPr>
            <p:sp>
              <p:nvSpPr>
                <p:cNvPr id="144" name="Oval 52"/>
                <p:cNvSpPr>
                  <a:spLocks noChangeArrowheads="1"/>
                </p:cNvSpPr>
                <p:nvPr/>
              </p:nvSpPr>
              <p:spPr bwMode="auto">
                <a:xfrm>
                  <a:off x="612" y="2463"/>
                  <a:ext cx="56" cy="56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5" name="Oval 53"/>
                <p:cNvSpPr>
                  <a:spLocks noChangeArrowheads="1"/>
                </p:cNvSpPr>
                <p:nvPr/>
              </p:nvSpPr>
              <p:spPr bwMode="auto">
                <a:xfrm>
                  <a:off x="711" y="2559"/>
                  <a:ext cx="56" cy="56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6" name="Oval 54"/>
                <p:cNvSpPr>
                  <a:spLocks noChangeArrowheads="1"/>
                </p:cNvSpPr>
                <p:nvPr/>
              </p:nvSpPr>
              <p:spPr bwMode="auto">
                <a:xfrm>
                  <a:off x="807" y="2655"/>
                  <a:ext cx="56" cy="56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7" name="Oval 55"/>
                <p:cNvSpPr>
                  <a:spLocks noChangeArrowheads="1"/>
                </p:cNvSpPr>
                <p:nvPr/>
              </p:nvSpPr>
              <p:spPr bwMode="auto">
                <a:xfrm>
                  <a:off x="903" y="2751"/>
                  <a:ext cx="56" cy="56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43" name="Text Box 58"/>
              <p:cNvSpPr txBox="1">
                <a:spLocks noChangeArrowheads="1"/>
              </p:cNvSpPr>
              <p:nvPr/>
            </p:nvSpPr>
            <p:spPr bwMode="auto">
              <a:xfrm>
                <a:off x="3634" y="2478"/>
                <a:ext cx="72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66CC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输出端口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60" name="Straight Connector 2"/>
            <p:cNvCxnSpPr>
              <a:cxnSpLocks noChangeShapeType="1"/>
            </p:cNvCxnSpPr>
            <p:nvPr/>
          </p:nvCxnSpPr>
          <p:spPr bwMode="auto">
            <a:xfrm>
              <a:off x="1967588" y="2886803"/>
              <a:ext cx="6708868" cy="0"/>
            </a:xfrm>
            <a:prstGeom prst="line">
              <a:avLst/>
            </a:prstGeom>
            <a:noFill/>
            <a:ln w="9525">
              <a:solidFill>
                <a:srgbClr val="0066CC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1" name="TextBox 4"/>
            <p:cNvSpPr txBox="1">
              <a:spLocks noChangeArrowheads="1"/>
            </p:cNvSpPr>
            <p:nvPr/>
          </p:nvSpPr>
          <p:spPr bwMode="auto">
            <a:xfrm>
              <a:off x="6660900" y="2883301"/>
              <a:ext cx="1806473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数据转发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数据平面：硬件系统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Rectangle 5"/>
            <p:cNvSpPr>
              <a:spLocks noChangeArrowheads="1"/>
            </p:cNvSpPr>
            <p:nvPr/>
          </p:nvSpPr>
          <p:spPr bwMode="auto">
            <a:xfrm>
              <a:off x="6660900" y="2421255"/>
              <a:ext cx="1806473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路由选择、管理控制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控制平面：软件系统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139326" y="1858815"/>
            <a:ext cx="279537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（不同于运输层的端口）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7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7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4.2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路由器的工作原理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488831" cy="4012005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4.2.1 </a:t>
            </a:r>
            <a:r>
              <a:rPr lang="zh-CN" altLang="en-US" dirty="0">
                <a:effectLst/>
              </a:rPr>
              <a:t>输入端口</a:t>
            </a:r>
            <a:endParaRPr lang="en-US" altLang="zh-CN" dirty="0">
              <a:effectLst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3388050" y="1245580"/>
            <a:ext cx="3720515" cy="1785417"/>
          </a:xfrm>
          <a:prstGeom prst="roundRect">
            <a:avLst>
              <a:gd name="adj" fmla="val 11123"/>
            </a:avLst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solidFill>
              <a:srgbClr val="97D2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Rectangle 13"/>
          <p:cNvSpPr>
            <a:spLocks noChangeArrowheads="1"/>
          </p:cNvSpPr>
          <p:nvPr/>
        </p:nvSpPr>
        <p:spPr bwMode="auto">
          <a:xfrm>
            <a:off x="3565899" y="1799295"/>
            <a:ext cx="1063229" cy="621506"/>
          </a:xfrm>
          <a:prstGeom prst="rect">
            <a:avLst/>
          </a:prstGeom>
          <a:solidFill>
            <a:schemeClr val="bg1"/>
          </a:solidFill>
          <a:ln w="28575">
            <a:solidFill>
              <a:srgbClr val="006600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1350" dirty="0">
                <a:latin typeface="+mj-ea"/>
                <a:ea typeface="+mj-ea"/>
              </a:rPr>
              <a:t>链路终端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91" name="Rectangle 14"/>
          <p:cNvSpPr>
            <a:spLocks noChangeArrowheads="1"/>
          </p:cNvSpPr>
          <p:nvPr/>
        </p:nvSpPr>
        <p:spPr bwMode="auto">
          <a:xfrm>
            <a:off x="4783909" y="1552835"/>
            <a:ext cx="864394" cy="105727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endParaRPr lang="zh-CN" altLang="zh-CN" sz="1350"/>
          </a:p>
        </p:txBody>
      </p:sp>
      <p:sp>
        <p:nvSpPr>
          <p:cNvPr id="92" name="Rectangle 15"/>
          <p:cNvSpPr>
            <a:spLocks noChangeArrowheads="1"/>
          </p:cNvSpPr>
          <p:nvPr/>
        </p:nvSpPr>
        <p:spPr bwMode="auto">
          <a:xfrm>
            <a:off x="5797131" y="1515926"/>
            <a:ext cx="935831" cy="1128713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endParaRPr lang="zh-CN" altLang="zh-CN" sz="1350"/>
          </a:p>
        </p:txBody>
      </p:sp>
      <p:sp>
        <p:nvSpPr>
          <p:cNvPr id="93" name="Line 16"/>
          <p:cNvSpPr>
            <a:spLocks noChangeShapeType="1"/>
          </p:cNvSpPr>
          <p:nvPr/>
        </p:nvSpPr>
        <p:spPr bwMode="auto">
          <a:xfrm>
            <a:off x="3242049" y="2107667"/>
            <a:ext cx="31789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94" name="Line 30"/>
          <p:cNvSpPr>
            <a:spLocks noChangeShapeType="1"/>
          </p:cNvSpPr>
          <p:nvPr/>
        </p:nvSpPr>
        <p:spPr bwMode="auto">
          <a:xfrm>
            <a:off x="4643415" y="2092189"/>
            <a:ext cx="142875" cy="119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95" name="Line 31"/>
          <p:cNvSpPr>
            <a:spLocks noChangeShapeType="1"/>
          </p:cNvSpPr>
          <p:nvPr/>
        </p:nvSpPr>
        <p:spPr bwMode="auto">
          <a:xfrm>
            <a:off x="5650684" y="2060042"/>
            <a:ext cx="142875" cy="119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96" name="Line 32"/>
          <p:cNvSpPr>
            <a:spLocks noChangeShapeType="1"/>
          </p:cNvSpPr>
          <p:nvPr/>
        </p:nvSpPr>
        <p:spPr bwMode="auto">
          <a:xfrm flipV="1">
            <a:off x="6693672" y="2090998"/>
            <a:ext cx="552450" cy="119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97" name="Rectangle 33"/>
          <p:cNvSpPr>
            <a:spLocks noChangeArrowheads="1"/>
          </p:cNvSpPr>
          <p:nvPr/>
        </p:nvSpPr>
        <p:spPr bwMode="auto">
          <a:xfrm>
            <a:off x="4808912" y="1785008"/>
            <a:ext cx="791766" cy="62150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1350" dirty="0">
                <a:latin typeface="+mj-ea"/>
                <a:ea typeface="+mj-ea"/>
              </a:rPr>
              <a:t>链路层</a:t>
            </a:r>
            <a:endParaRPr lang="en-US" altLang="zh-CN" sz="1350" dirty="0">
              <a:latin typeface="+mj-ea"/>
              <a:ea typeface="+mj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zh-CN" altLang="en-US" sz="1350" dirty="0">
                <a:latin typeface="+mj-ea"/>
                <a:ea typeface="+mj-ea"/>
              </a:rPr>
              <a:t>协议</a:t>
            </a:r>
            <a:endParaRPr lang="en-US" altLang="zh-CN" sz="1350" dirty="0">
              <a:latin typeface="+mj-ea"/>
              <a:ea typeface="+mj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zh-CN" altLang="en-US" sz="1350" dirty="0">
                <a:latin typeface="+mj-ea"/>
                <a:ea typeface="+mj-ea"/>
              </a:rPr>
              <a:t>接收端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98" name="Text Box 35"/>
          <p:cNvSpPr txBox="1">
            <a:spLocks noChangeArrowheads="1"/>
          </p:cNvSpPr>
          <p:nvPr/>
        </p:nvSpPr>
        <p:spPr bwMode="auto">
          <a:xfrm>
            <a:off x="6005356" y="1525451"/>
            <a:ext cx="569387" cy="113107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zh-CN" altLang="en-US" sz="1350" dirty="0">
                <a:latin typeface="+mj-ea"/>
                <a:ea typeface="+mj-ea"/>
              </a:rPr>
              <a:t>查找</a:t>
            </a:r>
            <a:r>
              <a:rPr lang="en-US" altLang="zh-CN" sz="1350" dirty="0">
                <a:latin typeface="+mj-ea"/>
                <a:ea typeface="+mj-ea"/>
              </a:rPr>
              <a:t>,</a:t>
            </a:r>
            <a:endParaRPr lang="en-US" altLang="zh-CN" sz="1350" dirty="0">
              <a:latin typeface="+mj-ea"/>
              <a:ea typeface="+mj-ea"/>
            </a:endParaRPr>
          </a:p>
          <a:p>
            <a:r>
              <a:rPr lang="zh-CN" altLang="en-US" sz="1350" dirty="0">
                <a:latin typeface="+mj-ea"/>
                <a:ea typeface="+mj-ea"/>
              </a:rPr>
              <a:t>转发</a:t>
            </a:r>
            <a:endParaRPr lang="en-US" altLang="zh-CN" sz="1350" dirty="0">
              <a:latin typeface="+mj-ea"/>
              <a:ea typeface="+mj-ea"/>
            </a:endParaRPr>
          </a:p>
          <a:p>
            <a:pPr algn="ctr"/>
            <a:endParaRPr lang="en-US" altLang="zh-CN" sz="1350" dirty="0">
              <a:latin typeface="+mj-ea"/>
              <a:ea typeface="+mj-ea"/>
            </a:endParaRPr>
          </a:p>
          <a:p>
            <a:pPr algn="ctr"/>
            <a:endParaRPr lang="en-US" altLang="zh-CN" sz="1350" dirty="0">
              <a:latin typeface="+mj-ea"/>
              <a:ea typeface="+mj-ea"/>
            </a:endParaRPr>
          </a:p>
          <a:p>
            <a:pPr algn="ctr"/>
            <a:r>
              <a:rPr lang="zh-CN" altLang="en-US" sz="1350" dirty="0">
                <a:latin typeface="+mj-ea"/>
                <a:ea typeface="+mj-ea"/>
              </a:rPr>
              <a:t>排队</a:t>
            </a:r>
            <a:endParaRPr lang="en-US" altLang="zh-CN" sz="1350" dirty="0">
              <a:latin typeface="+mj-ea"/>
              <a:ea typeface="+mj-ea"/>
            </a:endParaRPr>
          </a:p>
        </p:txBody>
      </p:sp>
      <p:sp>
        <p:nvSpPr>
          <p:cNvPr id="102" name="Line 45"/>
          <p:cNvSpPr>
            <a:spLocks noChangeShapeType="1"/>
          </p:cNvSpPr>
          <p:nvPr/>
        </p:nvSpPr>
        <p:spPr bwMode="auto">
          <a:xfrm>
            <a:off x="7237787" y="951570"/>
            <a:ext cx="8335" cy="21490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03" name="Rectangle 46"/>
          <p:cNvSpPr>
            <a:spLocks noChangeArrowheads="1"/>
          </p:cNvSpPr>
          <p:nvPr/>
        </p:nvSpPr>
        <p:spPr bwMode="auto">
          <a:xfrm>
            <a:off x="7306844" y="1798104"/>
            <a:ext cx="762506" cy="6215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solidFill>
              <a:srgbClr val="97D2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ker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</a:t>
            </a:r>
            <a:endParaRPr lang="en-US" altLang="zh-CN" sz="12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ker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en-US" sz="12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4" name="Group 56"/>
          <p:cNvGrpSpPr/>
          <p:nvPr/>
        </p:nvGrpSpPr>
        <p:grpSpPr bwMode="auto">
          <a:xfrm>
            <a:off x="5892381" y="1980270"/>
            <a:ext cx="745331" cy="351234"/>
            <a:chOff x="310" y="3526"/>
            <a:chExt cx="1040" cy="457"/>
          </a:xfrm>
        </p:grpSpPr>
        <p:sp>
          <p:nvSpPr>
            <p:cNvPr id="105" name="Rectangle 47"/>
            <p:cNvSpPr>
              <a:spLocks noChangeArrowheads="1"/>
            </p:cNvSpPr>
            <p:nvPr/>
          </p:nvSpPr>
          <p:spPr bwMode="auto">
            <a:xfrm>
              <a:off x="310" y="3526"/>
              <a:ext cx="1040" cy="457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bg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06" name="Line 48"/>
            <p:cNvSpPr>
              <a:spLocks noChangeShapeType="1"/>
            </p:cNvSpPr>
            <p:nvPr/>
          </p:nvSpPr>
          <p:spPr bwMode="auto">
            <a:xfrm>
              <a:off x="446" y="3535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07" name="Line 49"/>
            <p:cNvSpPr>
              <a:spLocks noChangeShapeType="1"/>
            </p:cNvSpPr>
            <p:nvPr/>
          </p:nvSpPr>
          <p:spPr bwMode="auto">
            <a:xfrm>
              <a:off x="558" y="3538"/>
              <a:ext cx="2" cy="435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08" name="Line 50"/>
            <p:cNvSpPr>
              <a:spLocks noChangeShapeType="1"/>
            </p:cNvSpPr>
            <p:nvPr/>
          </p:nvSpPr>
          <p:spPr bwMode="auto">
            <a:xfrm>
              <a:off x="671" y="3534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09" name="Line 51"/>
            <p:cNvSpPr>
              <a:spLocks noChangeShapeType="1"/>
            </p:cNvSpPr>
            <p:nvPr/>
          </p:nvSpPr>
          <p:spPr bwMode="auto">
            <a:xfrm>
              <a:off x="782" y="3535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10" name="Line 52"/>
            <p:cNvSpPr>
              <a:spLocks noChangeShapeType="1"/>
            </p:cNvSpPr>
            <p:nvPr/>
          </p:nvSpPr>
          <p:spPr bwMode="auto">
            <a:xfrm>
              <a:off x="895" y="3534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11" name="Line 53"/>
            <p:cNvSpPr>
              <a:spLocks noChangeShapeType="1"/>
            </p:cNvSpPr>
            <p:nvPr/>
          </p:nvSpPr>
          <p:spPr bwMode="auto">
            <a:xfrm>
              <a:off x="1006" y="3534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12" name="Line 54"/>
            <p:cNvSpPr>
              <a:spLocks noChangeShapeType="1"/>
            </p:cNvSpPr>
            <p:nvPr/>
          </p:nvSpPr>
          <p:spPr bwMode="auto">
            <a:xfrm>
              <a:off x="1121" y="3535"/>
              <a:ext cx="2" cy="43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113" name="Line 55"/>
            <p:cNvSpPr>
              <a:spLocks noChangeShapeType="1"/>
            </p:cNvSpPr>
            <p:nvPr/>
          </p:nvSpPr>
          <p:spPr bwMode="auto">
            <a:xfrm>
              <a:off x="1229" y="3538"/>
              <a:ext cx="2" cy="435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077930" y="2429730"/>
            <a:ext cx="2027376" cy="784768"/>
            <a:chOff x="1246573" y="3239640"/>
            <a:chExt cx="2703168" cy="1046357"/>
          </a:xfrm>
        </p:grpSpPr>
        <p:sp>
          <p:nvSpPr>
            <p:cNvPr id="100" name="Text Box 5"/>
            <p:cNvSpPr txBox="1">
              <a:spLocks noChangeArrowheads="1"/>
            </p:cNvSpPr>
            <p:nvPr/>
          </p:nvSpPr>
          <p:spPr bwMode="auto">
            <a:xfrm>
              <a:off x="1246573" y="3578111"/>
              <a:ext cx="1462367" cy="707886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r"/>
              <a:r>
                <a:rPr lang="zh-CN" altLang="en-US" sz="15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  <a:r>
                <a:rPr lang="en-US" altLang="zh-CN" sz="15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endPara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en-US" altLang="zh-CN" sz="135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Bit</a:t>
              </a:r>
              <a:r>
                <a:rPr lang="zh-CN" altLang="en-US" sz="135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信号接收</a:t>
              </a:r>
              <a:endPara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Line 58"/>
            <p:cNvSpPr>
              <a:spLocks noChangeShapeType="1"/>
            </p:cNvSpPr>
            <p:nvPr/>
          </p:nvSpPr>
          <p:spPr bwMode="auto">
            <a:xfrm flipV="1">
              <a:off x="2678531" y="3239640"/>
              <a:ext cx="1271210" cy="515493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615879" y="2619039"/>
            <a:ext cx="2399064" cy="1436699"/>
            <a:chOff x="1963838" y="3492052"/>
            <a:chExt cx="3198752" cy="1915599"/>
          </a:xfrm>
        </p:grpSpPr>
        <p:sp>
          <p:nvSpPr>
            <p:cNvPr id="101" name="Text Box 6"/>
            <p:cNvSpPr txBox="1">
              <a:spLocks noChangeArrowheads="1"/>
            </p:cNvSpPr>
            <p:nvPr/>
          </p:nvSpPr>
          <p:spPr bwMode="auto">
            <a:xfrm>
              <a:off x="1963838" y="4361211"/>
              <a:ext cx="1584195" cy="1046440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r"/>
              <a:r>
                <a:rPr lang="zh-CN" altLang="en-US" sz="15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  <a:r>
                <a:rPr lang="en-US" altLang="zh-CN" sz="15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endPara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en-US" altLang="zh-CN" sz="15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e.g., </a:t>
              </a:r>
              <a:r>
                <a:rPr lang="zh-CN" altLang="en-US" sz="15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以太网</a:t>
              </a:r>
              <a:endPara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zh-CN" altLang="en-US" sz="15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参见第</a:t>
              </a:r>
              <a:r>
                <a:rPr lang="en-US" altLang="zh-CN" sz="15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5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章</a:t>
              </a:r>
              <a:endPara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Line 59"/>
            <p:cNvSpPr>
              <a:spLocks noChangeShapeType="1"/>
            </p:cNvSpPr>
            <p:nvPr/>
          </p:nvSpPr>
          <p:spPr bwMode="auto">
            <a:xfrm flipV="1">
              <a:off x="3562320" y="3492052"/>
              <a:ext cx="1600270" cy="1364457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276460" y="2683582"/>
            <a:ext cx="4085681" cy="2048408"/>
            <a:chOff x="4177947" y="3578109"/>
            <a:chExt cx="5447574" cy="2731211"/>
          </a:xfrm>
        </p:grpSpPr>
        <p:sp>
          <p:nvSpPr>
            <p:cNvPr id="99" name="Rectangle 4"/>
            <p:cNvSpPr txBox="1">
              <a:spLocks noChangeArrowheads="1"/>
            </p:cNvSpPr>
            <p:nvPr/>
          </p:nvSpPr>
          <p:spPr bwMode="auto">
            <a:xfrm>
              <a:off x="4177947" y="4324697"/>
              <a:ext cx="5447574" cy="1984623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AFAFA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rgbClr val="0066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66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ern="1200">
                  <a:solidFill>
                    <a:srgbClr val="990000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 kern="1200">
                  <a:solidFill>
                    <a:srgbClr val="990000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 kern="1200">
                  <a:solidFill>
                    <a:srgbClr val="008000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zh-CN" altLang="en-US" sz="1500" dirty="0">
                  <a:solidFill>
                    <a:srgbClr val="0066C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分布式交换</a:t>
              </a:r>
              <a:r>
                <a:rPr lang="en-US" altLang="zh-CN" sz="1500" dirty="0">
                  <a:solidFill>
                    <a:srgbClr val="0066C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endPara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500" dirty="0">
                  <a:solidFill>
                    <a:srgbClr val="0066C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转发：给定目的地址</a:t>
              </a:r>
              <a:r>
                <a:rPr lang="en-US" altLang="zh-CN" sz="1500" dirty="0">
                  <a:solidFill>
                    <a:srgbClr val="0066C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zh-CN" altLang="en-US" sz="1500" dirty="0">
                  <a:solidFill>
                    <a:srgbClr val="0066C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在路由转发表查找输出链路</a:t>
              </a:r>
              <a:r>
                <a:rPr lang="en-US" altLang="zh-CN" sz="1500" dirty="0">
                  <a:solidFill>
                    <a:srgbClr val="0066C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en-US" altLang="en-US" sz="1500" dirty="0">
                  <a:solidFill>
                    <a:srgbClr val="0066C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500" dirty="0">
                  <a:solidFill>
                    <a:srgbClr val="0066C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match plus action</a:t>
              </a:r>
              <a:r>
                <a:rPr lang="en-US" altLang="en-US" sz="1500" dirty="0">
                  <a:solidFill>
                    <a:srgbClr val="0066C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en-US" altLang="zh-CN" sz="1500" dirty="0">
                  <a:solidFill>
                    <a:srgbClr val="0066C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500" dirty="0">
                  <a:solidFill>
                    <a:srgbClr val="0066C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目标：匹配链路速度</a:t>
              </a:r>
              <a:endParaRPr lang="en-US" altLang="ja-JP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500" dirty="0">
                  <a:solidFill>
                    <a:srgbClr val="0066C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排队：输入速度大于输出速度，产生队列</a:t>
              </a:r>
              <a:endPara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Line 60"/>
            <p:cNvSpPr>
              <a:spLocks noChangeShapeType="1"/>
            </p:cNvSpPr>
            <p:nvPr/>
          </p:nvSpPr>
          <p:spPr bwMode="auto">
            <a:xfrm flipV="1">
              <a:off x="6067395" y="3578109"/>
              <a:ext cx="610067" cy="860887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4.2.1 </a:t>
            </a:r>
            <a:r>
              <a:rPr lang="zh-CN" altLang="en-US" dirty="0"/>
              <a:t>输入端口</a:t>
            </a:r>
            <a:endParaRPr lang="en-US" altLang="zh-CN" dirty="0"/>
          </a:p>
          <a:p>
            <a:pPr lvl="1"/>
            <a:r>
              <a:rPr lang="zh-CN" altLang="en-US" dirty="0"/>
              <a:t>数据报的转发</a:t>
            </a:r>
            <a:endParaRPr lang="en-US" altLang="zh-CN" dirty="0"/>
          </a:p>
          <a:p>
            <a:pPr lvl="2"/>
            <a:r>
              <a:rPr lang="zh-CN" altLang="en-US" dirty="0"/>
              <a:t>查询地址区间</a:t>
            </a:r>
            <a:endParaRPr lang="en-US" altLang="zh-CN" dirty="0"/>
          </a:p>
          <a:p>
            <a:pPr lvl="2"/>
            <a:r>
              <a:rPr lang="zh-CN" altLang="en-US" dirty="0"/>
              <a:t>最长前缀匹配</a:t>
            </a:r>
            <a:endParaRPr lang="zh-CN" altLang="en-US" dirty="0"/>
          </a:p>
        </p:txBody>
      </p:sp>
      <p:grpSp>
        <p:nvGrpSpPr>
          <p:cNvPr id="60" name="Group 8"/>
          <p:cNvGrpSpPr/>
          <p:nvPr/>
        </p:nvGrpSpPr>
        <p:grpSpPr bwMode="auto">
          <a:xfrm>
            <a:off x="4877824" y="3442779"/>
            <a:ext cx="3328782" cy="1236528"/>
            <a:chOff x="643772" y="4918924"/>
            <a:chExt cx="3329564" cy="1236729"/>
          </a:xfrm>
        </p:grpSpPr>
        <p:cxnSp>
          <p:nvCxnSpPr>
            <p:cNvPr id="62" name="Straight Connector 10"/>
            <p:cNvCxnSpPr/>
            <p:nvPr/>
          </p:nvCxnSpPr>
          <p:spPr>
            <a:xfrm flipV="1">
              <a:off x="3261968" y="5558656"/>
              <a:ext cx="500180" cy="157189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63" name="Straight Connector 11"/>
            <p:cNvCxnSpPr/>
            <p:nvPr/>
          </p:nvCxnSpPr>
          <p:spPr>
            <a:xfrm>
              <a:off x="3111121" y="5774591"/>
              <a:ext cx="862215" cy="10479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64" name="Straight Connector 12"/>
            <p:cNvCxnSpPr/>
            <p:nvPr/>
          </p:nvCxnSpPr>
          <p:spPr>
            <a:xfrm>
              <a:off x="3123824" y="5880971"/>
              <a:ext cx="714543" cy="27468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65" name="Straight Connector 13"/>
            <p:cNvCxnSpPr/>
            <p:nvPr/>
          </p:nvCxnSpPr>
          <p:spPr>
            <a:xfrm flipH="1">
              <a:off x="1283479" y="5801583"/>
              <a:ext cx="1506892" cy="1587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66" name="TextBox 265"/>
            <p:cNvSpPr txBox="1">
              <a:spLocks noChangeArrowheads="1"/>
            </p:cNvSpPr>
            <p:nvPr/>
          </p:nvSpPr>
          <p:spPr bwMode="auto"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charset="-128"/>
                </a:rPr>
                <a:t>1</a:t>
              </a:r>
              <a:endPara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67" name="TextBox 281"/>
            <p:cNvSpPr txBox="1">
              <a:spLocks noChangeArrowheads="1"/>
            </p:cNvSpPr>
            <p:nvPr/>
          </p:nvSpPr>
          <p:spPr bwMode="auto"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charset="-128"/>
                </a:rPr>
                <a:t>2</a:t>
              </a:r>
              <a:endPara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sp>
          <p:nvSpPr>
            <p:cNvPr id="68" name="TextBox 282"/>
            <p:cNvSpPr txBox="1">
              <a:spLocks noChangeArrowheads="1"/>
            </p:cNvSpPr>
            <p:nvPr/>
          </p:nvSpPr>
          <p:spPr bwMode="auto"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charset="-128"/>
                </a:rPr>
                <a:t>3</a:t>
              </a:r>
              <a:endPara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grpSp>
          <p:nvGrpSpPr>
            <p:cNvPr id="69" name="Group 5"/>
            <p:cNvGrpSpPr/>
            <p:nvPr/>
          </p:nvGrpSpPr>
          <p:grpSpPr bwMode="auto">
            <a:xfrm>
              <a:off x="938213" y="5237164"/>
              <a:ext cx="1616075" cy="524196"/>
              <a:chOff x="-4079003" y="2717403"/>
              <a:chExt cx="1616718" cy="525393"/>
            </a:xfrm>
          </p:grpSpPr>
          <p:sp>
            <p:nvSpPr>
              <p:cNvPr id="82" name="Rectangle 97"/>
              <p:cNvSpPr>
                <a:spLocks noChangeArrowheads="1"/>
              </p:cNvSpPr>
              <p:nvPr/>
            </p:nvSpPr>
            <p:spPr bwMode="auto">
              <a:xfrm>
                <a:off x="-4052413" y="2965119"/>
                <a:ext cx="1290538" cy="208750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83" name="Rectangle 98"/>
              <p:cNvSpPr>
                <a:spLocks noChangeArrowheads="1"/>
              </p:cNvSpPr>
              <p:nvPr/>
            </p:nvSpPr>
            <p:spPr bwMode="auto"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84" name="Line 99"/>
              <p:cNvSpPr>
                <a:spLocks noChangeShapeType="1"/>
              </p:cNvSpPr>
              <p:nvPr/>
            </p:nvSpPr>
            <p:spPr bwMode="auto">
              <a:xfrm>
                <a:off x="-2933828" y="3101502"/>
                <a:ext cx="471543" cy="0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85" name="Rectangle 104"/>
              <p:cNvSpPr>
                <a:spLocks noChangeArrowheads="1"/>
              </p:cNvSpPr>
              <p:nvPr/>
            </p:nvSpPr>
            <p:spPr bwMode="auto"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86" name="Text Box 105"/>
              <p:cNvSpPr txBox="1">
                <a:spLocks noChangeArrowheads="1"/>
              </p:cNvSpPr>
              <p:nvPr/>
            </p:nvSpPr>
            <p:spPr bwMode="auto">
              <a:xfrm>
                <a:off x="-3454668" y="2965119"/>
                <a:ext cx="671219" cy="2776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charset="-128"/>
                  </a:rPr>
                  <a:t>Des.IP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87" name="Line 119"/>
              <p:cNvSpPr>
                <a:spLocks noChangeShapeType="1"/>
              </p:cNvSpPr>
              <p:nvPr/>
            </p:nvSpPr>
            <p:spPr bwMode="auto">
              <a:xfrm>
                <a:off x="-3621642" y="2717403"/>
                <a:ext cx="405953" cy="3006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</p:grpSp>
        <p:sp>
          <p:nvSpPr>
            <p:cNvPr id="70" name="TextBox 6"/>
            <p:cNvSpPr txBox="1">
              <a:spLocks noChangeArrowheads="1"/>
            </p:cNvSpPr>
            <p:nvPr/>
          </p:nvSpPr>
          <p:spPr bwMode="auto">
            <a:xfrm>
              <a:off x="643772" y="4918924"/>
              <a:ext cx="1910516" cy="307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kern="0" dirty="0">
                  <a:solidFill>
                    <a:srgbClr val="000000"/>
                  </a:solidFill>
                </a:rPr>
                <a:t>数据报首部：目的地址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  <p:grpSp>
          <p:nvGrpSpPr>
            <p:cNvPr id="71" name="Group 357"/>
            <p:cNvGrpSpPr/>
            <p:nvPr/>
          </p:nvGrpSpPr>
          <p:grpSpPr bwMode="auto">
            <a:xfrm>
              <a:off x="2714625" y="5659438"/>
              <a:ext cx="565150" cy="293687"/>
              <a:chOff x="1871277" y="1576300"/>
              <a:chExt cx="1128371" cy="437861"/>
            </a:xfrm>
          </p:grpSpPr>
          <p:sp>
            <p:nvSpPr>
              <p:cNvPr id="73" name="Oval 21"/>
              <p:cNvSpPr>
                <a:spLocks noChangeArrowheads="1"/>
              </p:cNvSpPr>
              <p:nvPr/>
            </p:nvSpPr>
            <p:spPr bwMode="auto">
              <a:xfrm flipV="1">
                <a:off x="1873504" y="1693538"/>
                <a:ext cx="1125467" cy="319572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74" name="Rectangle 22"/>
              <p:cNvSpPr/>
              <p:nvPr/>
            </p:nvSpPr>
            <p:spPr bwMode="auto">
              <a:xfrm>
                <a:off x="1870334" y="1738514"/>
                <a:ext cx="1128637" cy="11599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75" name="Oval 23"/>
              <p:cNvSpPr>
                <a:spLocks noChangeArrowheads="1"/>
              </p:cNvSpPr>
              <p:nvPr/>
            </p:nvSpPr>
            <p:spPr bwMode="auto">
              <a:xfrm flipV="1">
                <a:off x="1870334" y="1575177"/>
                <a:ext cx="1125465" cy="319572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76" name="Freeform 24"/>
              <p:cNvSpPr/>
              <p:nvPr/>
            </p:nvSpPr>
            <p:spPr bwMode="auto">
              <a:xfrm>
                <a:off x="2158833" y="1672232"/>
                <a:ext cx="548468" cy="160970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-1" fmla="*/ 1486231 w 2944854"/>
                  <a:gd name="connsiteY0-2" fmla="*/ 727041 h 1316375"/>
                  <a:gd name="connsiteX1-3" fmla="*/ 257675 w 2944854"/>
                  <a:gd name="connsiteY1-4" fmla="*/ 1302232 h 1316375"/>
                  <a:gd name="connsiteX2-5" fmla="*/ 0 w 2944854"/>
                  <a:gd name="connsiteY2-6" fmla="*/ 1228607 h 1316375"/>
                  <a:gd name="connsiteX3-7" fmla="*/ 911064 w 2944854"/>
                  <a:gd name="connsiteY3-8" fmla="*/ 837478 h 1316375"/>
                  <a:gd name="connsiteX4-9" fmla="*/ 883456 w 2944854"/>
                  <a:gd name="connsiteY4-10" fmla="*/ 450949 h 1316375"/>
                  <a:gd name="connsiteX5-11" fmla="*/ 161047 w 2944854"/>
                  <a:gd name="connsiteY5-12" fmla="*/ 119640 h 1316375"/>
                  <a:gd name="connsiteX6-13" fmla="*/ 404917 w 2944854"/>
                  <a:gd name="connsiteY6-14" fmla="*/ 50617 h 1316375"/>
                  <a:gd name="connsiteX7-15" fmla="*/ 1477028 w 2944854"/>
                  <a:gd name="connsiteY7-16" fmla="*/ 501566 h 1316375"/>
                  <a:gd name="connsiteX8-17" fmla="*/ 2572146 w 2944854"/>
                  <a:gd name="connsiteY8-18" fmla="*/ 0 h 1316375"/>
                  <a:gd name="connsiteX9-19" fmla="*/ 2875834 w 2944854"/>
                  <a:gd name="connsiteY9-20" fmla="*/ 96632 h 1316375"/>
                  <a:gd name="connsiteX10-21" fmla="*/ 2079803 w 2944854"/>
                  <a:gd name="connsiteY10-22" fmla="*/ 432543 h 1316375"/>
                  <a:gd name="connsiteX11-23" fmla="*/ 2240850 w 2944854"/>
                  <a:gd name="connsiteY11-24" fmla="*/ 920305 h 1316375"/>
                  <a:gd name="connsiteX12-25" fmla="*/ 2944854 w 2944854"/>
                  <a:gd name="connsiteY12-26" fmla="*/ 1228607 h 1316375"/>
                  <a:gd name="connsiteX13-27" fmla="*/ 2756623 w 2944854"/>
                  <a:gd name="connsiteY13-28" fmla="*/ 1316375 h 1316375"/>
                  <a:gd name="connsiteX14-29" fmla="*/ 1486231 w 2944854"/>
                  <a:gd name="connsiteY14-30" fmla="*/ 727041 h 1316375"/>
                  <a:gd name="connsiteX0-31" fmla="*/ 1486231 w 3024520"/>
                  <a:gd name="connsiteY0-32" fmla="*/ 727041 h 1316375"/>
                  <a:gd name="connsiteX1-33" fmla="*/ 257675 w 3024520"/>
                  <a:gd name="connsiteY1-34" fmla="*/ 1302232 h 1316375"/>
                  <a:gd name="connsiteX2-35" fmla="*/ 0 w 3024520"/>
                  <a:gd name="connsiteY2-36" fmla="*/ 1228607 h 1316375"/>
                  <a:gd name="connsiteX3-37" fmla="*/ 911064 w 3024520"/>
                  <a:gd name="connsiteY3-38" fmla="*/ 837478 h 1316375"/>
                  <a:gd name="connsiteX4-39" fmla="*/ 883456 w 3024520"/>
                  <a:gd name="connsiteY4-40" fmla="*/ 450949 h 1316375"/>
                  <a:gd name="connsiteX5-41" fmla="*/ 161047 w 3024520"/>
                  <a:gd name="connsiteY5-42" fmla="*/ 119640 h 1316375"/>
                  <a:gd name="connsiteX6-43" fmla="*/ 404917 w 3024520"/>
                  <a:gd name="connsiteY6-44" fmla="*/ 50617 h 1316375"/>
                  <a:gd name="connsiteX7-45" fmla="*/ 1477028 w 3024520"/>
                  <a:gd name="connsiteY7-46" fmla="*/ 501566 h 1316375"/>
                  <a:gd name="connsiteX8-47" fmla="*/ 2572146 w 3024520"/>
                  <a:gd name="connsiteY8-48" fmla="*/ 0 h 1316375"/>
                  <a:gd name="connsiteX9-49" fmla="*/ 2875834 w 3024520"/>
                  <a:gd name="connsiteY9-50" fmla="*/ 96632 h 1316375"/>
                  <a:gd name="connsiteX10-51" fmla="*/ 2079803 w 3024520"/>
                  <a:gd name="connsiteY10-52" fmla="*/ 432543 h 1316375"/>
                  <a:gd name="connsiteX11-53" fmla="*/ 2240850 w 3024520"/>
                  <a:gd name="connsiteY11-54" fmla="*/ 920305 h 1316375"/>
                  <a:gd name="connsiteX12-55" fmla="*/ 3024520 w 3024520"/>
                  <a:gd name="connsiteY12-56" fmla="*/ 1228607 h 1316375"/>
                  <a:gd name="connsiteX13-57" fmla="*/ 2756623 w 3024520"/>
                  <a:gd name="connsiteY13-58" fmla="*/ 1316375 h 1316375"/>
                  <a:gd name="connsiteX14-59" fmla="*/ 1486231 w 3024520"/>
                  <a:gd name="connsiteY14-60" fmla="*/ 727041 h 1316375"/>
                  <a:gd name="connsiteX0-61" fmla="*/ 1537780 w 3076069"/>
                  <a:gd name="connsiteY0-62" fmla="*/ 727041 h 1316375"/>
                  <a:gd name="connsiteX1-63" fmla="*/ 309224 w 3076069"/>
                  <a:gd name="connsiteY1-64" fmla="*/ 1302232 h 1316375"/>
                  <a:gd name="connsiteX2-65" fmla="*/ 0 w 3076069"/>
                  <a:gd name="connsiteY2-66" fmla="*/ 1228607 h 1316375"/>
                  <a:gd name="connsiteX3-67" fmla="*/ 962613 w 3076069"/>
                  <a:gd name="connsiteY3-68" fmla="*/ 837478 h 1316375"/>
                  <a:gd name="connsiteX4-69" fmla="*/ 935005 w 3076069"/>
                  <a:gd name="connsiteY4-70" fmla="*/ 450949 h 1316375"/>
                  <a:gd name="connsiteX5-71" fmla="*/ 212596 w 3076069"/>
                  <a:gd name="connsiteY5-72" fmla="*/ 119640 h 1316375"/>
                  <a:gd name="connsiteX6-73" fmla="*/ 456466 w 3076069"/>
                  <a:gd name="connsiteY6-74" fmla="*/ 50617 h 1316375"/>
                  <a:gd name="connsiteX7-75" fmla="*/ 1528577 w 3076069"/>
                  <a:gd name="connsiteY7-76" fmla="*/ 501566 h 1316375"/>
                  <a:gd name="connsiteX8-77" fmla="*/ 2623695 w 3076069"/>
                  <a:gd name="connsiteY8-78" fmla="*/ 0 h 1316375"/>
                  <a:gd name="connsiteX9-79" fmla="*/ 2927383 w 3076069"/>
                  <a:gd name="connsiteY9-80" fmla="*/ 96632 h 1316375"/>
                  <a:gd name="connsiteX10-81" fmla="*/ 2131352 w 3076069"/>
                  <a:gd name="connsiteY10-82" fmla="*/ 432543 h 1316375"/>
                  <a:gd name="connsiteX11-83" fmla="*/ 2292399 w 3076069"/>
                  <a:gd name="connsiteY11-84" fmla="*/ 920305 h 1316375"/>
                  <a:gd name="connsiteX12-85" fmla="*/ 3076069 w 3076069"/>
                  <a:gd name="connsiteY12-86" fmla="*/ 1228607 h 1316375"/>
                  <a:gd name="connsiteX13-87" fmla="*/ 2808172 w 3076069"/>
                  <a:gd name="connsiteY13-88" fmla="*/ 1316375 h 1316375"/>
                  <a:gd name="connsiteX14-89" fmla="*/ 1537780 w 3076069"/>
                  <a:gd name="connsiteY14-90" fmla="*/ 727041 h 1316375"/>
                  <a:gd name="connsiteX0-91" fmla="*/ 1537780 w 3076069"/>
                  <a:gd name="connsiteY0-92" fmla="*/ 727041 h 1321259"/>
                  <a:gd name="connsiteX1-93" fmla="*/ 313981 w 3076069"/>
                  <a:gd name="connsiteY1-94" fmla="*/ 1321259 h 1321259"/>
                  <a:gd name="connsiteX2-95" fmla="*/ 0 w 3076069"/>
                  <a:gd name="connsiteY2-96" fmla="*/ 1228607 h 1321259"/>
                  <a:gd name="connsiteX3-97" fmla="*/ 962613 w 3076069"/>
                  <a:gd name="connsiteY3-98" fmla="*/ 837478 h 1321259"/>
                  <a:gd name="connsiteX4-99" fmla="*/ 935005 w 3076069"/>
                  <a:gd name="connsiteY4-100" fmla="*/ 450949 h 1321259"/>
                  <a:gd name="connsiteX5-101" fmla="*/ 212596 w 3076069"/>
                  <a:gd name="connsiteY5-102" fmla="*/ 119640 h 1321259"/>
                  <a:gd name="connsiteX6-103" fmla="*/ 456466 w 3076069"/>
                  <a:gd name="connsiteY6-104" fmla="*/ 50617 h 1321259"/>
                  <a:gd name="connsiteX7-105" fmla="*/ 1528577 w 3076069"/>
                  <a:gd name="connsiteY7-106" fmla="*/ 501566 h 1321259"/>
                  <a:gd name="connsiteX8-107" fmla="*/ 2623695 w 3076069"/>
                  <a:gd name="connsiteY8-108" fmla="*/ 0 h 1321259"/>
                  <a:gd name="connsiteX9-109" fmla="*/ 2927383 w 3076069"/>
                  <a:gd name="connsiteY9-110" fmla="*/ 96632 h 1321259"/>
                  <a:gd name="connsiteX10-111" fmla="*/ 2131352 w 3076069"/>
                  <a:gd name="connsiteY10-112" fmla="*/ 432543 h 1321259"/>
                  <a:gd name="connsiteX11-113" fmla="*/ 2292399 w 3076069"/>
                  <a:gd name="connsiteY11-114" fmla="*/ 920305 h 1321259"/>
                  <a:gd name="connsiteX12-115" fmla="*/ 3076069 w 3076069"/>
                  <a:gd name="connsiteY12-116" fmla="*/ 1228607 h 1321259"/>
                  <a:gd name="connsiteX13-117" fmla="*/ 2808172 w 3076069"/>
                  <a:gd name="connsiteY13-118" fmla="*/ 1316375 h 1321259"/>
                  <a:gd name="connsiteX14-119" fmla="*/ 1537780 w 3076069"/>
                  <a:gd name="connsiteY14-120" fmla="*/ 727041 h 1321259"/>
                  <a:gd name="connsiteX0-121" fmla="*/ 1537780 w 3076069"/>
                  <a:gd name="connsiteY0-122" fmla="*/ 750825 h 1321259"/>
                  <a:gd name="connsiteX1-123" fmla="*/ 313981 w 3076069"/>
                  <a:gd name="connsiteY1-124" fmla="*/ 1321259 h 1321259"/>
                  <a:gd name="connsiteX2-125" fmla="*/ 0 w 3076069"/>
                  <a:gd name="connsiteY2-126" fmla="*/ 1228607 h 1321259"/>
                  <a:gd name="connsiteX3-127" fmla="*/ 962613 w 3076069"/>
                  <a:gd name="connsiteY3-128" fmla="*/ 837478 h 1321259"/>
                  <a:gd name="connsiteX4-129" fmla="*/ 935005 w 3076069"/>
                  <a:gd name="connsiteY4-130" fmla="*/ 450949 h 1321259"/>
                  <a:gd name="connsiteX5-131" fmla="*/ 212596 w 3076069"/>
                  <a:gd name="connsiteY5-132" fmla="*/ 119640 h 1321259"/>
                  <a:gd name="connsiteX6-133" fmla="*/ 456466 w 3076069"/>
                  <a:gd name="connsiteY6-134" fmla="*/ 50617 h 1321259"/>
                  <a:gd name="connsiteX7-135" fmla="*/ 1528577 w 3076069"/>
                  <a:gd name="connsiteY7-136" fmla="*/ 501566 h 1321259"/>
                  <a:gd name="connsiteX8-137" fmla="*/ 2623695 w 3076069"/>
                  <a:gd name="connsiteY8-138" fmla="*/ 0 h 1321259"/>
                  <a:gd name="connsiteX9-139" fmla="*/ 2927383 w 3076069"/>
                  <a:gd name="connsiteY9-140" fmla="*/ 96632 h 1321259"/>
                  <a:gd name="connsiteX10-141" fmla="*/ 2131352 w 3076069"/>
                  <a:gd name="connsiteY10-142" fmla="*/ 432543 h 1321259"/>
                  <a:gd name="connsiteX11-143" fmla="*/ 2292399 w 3076069"/>
                  <a:gd name="connsiteY11-144" fmla="*/ 920305 h 1321259"/>
                  <a:gd name="connsiteX12-145" fmla="*/ 3076069 w 3076069"/>
                  <a:gd name="connsiteY12-146" fmla="*/ 1228607 h 1321259"/>
                  <a:gd name="connsiteX13-147" fmla="*/ 2808172 w 3076069"/>
                  <a:gd name="connsiteY13-148" fmla="*/ 1316375 h 1321259"/>
                  <a:gd name="connsiteX14-149" fmla="*/ 1537780 w 3076069"/>
                  <a:gd name="connsiteY14-150" fmla="*/ 750825 h 132125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77" name="Freeform 25"/>
              <p:cNvSpPr/>
              <p:nvPr/>
            </p:nvSpPr>
            <p:spPr bwMode="auto">
              <a:xfrm>
                <a:off x="2101767" y="1631990"/>
                <a:ext cx="662599" cy="111258"/>
              </a:xfrm>
              <a:custGeom>
                <a:avLst/>
                <a:gdLst>
                  <a:gd name="T0" fmla="*/ 0 w 3723451"/>
                  <a:gd name="T1" fmla="*/ 27219 h 932950"/>
                  <a:gd name="T2" fmla="*/ 116589 w 3723451"/>
                  <a:gd name="T3" fmla="*/ 321 h 932950"/>
                  <a:gd name="T4" fmla="*/ 330241 w 3723451"/>
                  <a:gd name="T5" fmla="*/ 62079 h 932950"/>
                  <a:gd name="T6" fmla="*/ 534068 w 3723451"/>
                  <a:gd name="T7" fmla="*/ 0 h 932950"/>
                  <a:gd name="T8" fmla="*/ 662599 w 3723451"/>
                  <a:gd name="T9" fmla="*/ 24703 h 932950"/>
                  <a:gd name="T10" fmla="*/ 566972 w 3723451"/>
                  <a:gd name="T11" fmla="*/ 55080 h 932950"/>
                  <a:gd name="T12" fmla="*/ 536184 w 3723451"/>
                  <a:gd name="T13" fmla="*/ 46891 h 932950"/>
                  <a:gd name="T14" fmla="*/ 333995 w 3723451"/>
                  <a:gd name="T15" fmla="*/ 111258 h 932950"/>
                  <a:gd name="T16" fmla="*/ 126634 w 3723451"/>
                  <a:gd name="T17" fmla="*/ 49258 h 932950"/>
                  <a:gd name="T18" fmla="*/ 93107 w 3723451"/>
                  <a:gd name="T19" fmla="*/ 55950 h 932950"/>
                  <a:gd name="T20" fmla="*/ 0 w 3723451"/>
                  <a:gd name="T21" fmla="*/ 27219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78" name="Freeform 26"/>
              <p:cNvSpPr/>
              <p:nvPr/>
            </p:nvSpPr>
            <p:spPr bwMode="auto">
              <a:xfrm>
                <a:off x="2536103" y="1726678"/>
                <a:ext cx="244114" cy="97055"/>
              </a:xfrm>
              <a:custGeom>
                <a:avLst/>
                <a:gdLst>
                  <a:gd name="T0" fmla="*/ 0 w 1366596"/>
                  <a:gd name="T1" fmla="*/ 0 h 809868"/>
                  <a:gd name="T2" fmla="*/ 244114 w 1366596"/>
                  <a:gd name="T3" fmla="*/ 74997 h 809868"/>
                  <a:gd name="T4" fmla="*/ 154523 w 1366596"/>
                  <a:gd name="T5" fmla="*/ 97055 h 809868"/>
                  <a:gd name="T6" fmla="*/ 822 w 1366596"/>
                  <a:gd name="T7" fmla="*/ 51285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79" name="Freeform 27"/>
              <p:cNvSpPr/>
              <p:nvPr/>
            </p:nvSpPr>
            <p:spPr bwMode="auto">
              <a:xfrm>
                <a:off x="2089086" y="1729045"/>
                <a:ext cx="240945" cy="97056"/>
              </a:xfrm>
              <a:custGeom>
                <a:avLst/>
                <a:gdLst>
                  <a:gd name="T0" fmla="*/ 237656 w 1348191"/>
                  <a:gd name="T1" fmla="*/ 0 h 791462"/>
                  <a:gd name="T2" fmla="*/ 240945 w 1348191"/>
                  <a:gd name="T3" fmla="*/ 46835 h 791462"/>
                  <a:gd name="T4" fmla="*/ 87168 w 1348191"/>
                  <a:gd name="T5" fmla="*/ 97056 h 791462"/>
                  <a:gd name="T6" fmla="*/ 0 w 1348191"/>
                  <a:gd name="T7" fmla="*/ 75049 h 791462"/>
                  <a:gd name="T8" fmla="*/ 237656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cxnSp>
            <p:nvCxnSpPr>
              <p:cNvPr id="80" name="Straight Connector 28"/>
              <p:cNvCxnSpPr>
                <a:cxnSpLocks noChangeShapeType="1"/>
                <a:endCxn id="75" idx="2"/>
              </p:cNvCxnSpPr>
              <p:nvPr/>
            </p:nvCxnSpPr>
            <p:spPr bwMode="auto">
              <a:xfrm flipH="1" flipV="1">
                <a:off x="1870334" y="1736147"/>
                <a:ext cx="3169" cy="12309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9"/>
              <p:cNvCxnSpPr>
                <a:cxnSpLocks noChangeShapeType="1"/>
              </p:cNvCxnSpPr>
              <p:nvPr/>
            </p:nvCxnSpPr>
            <p:spPr bwMode="auto">
              <a:xfrm flipH="1" flipV="1">
                <a:off x="2995800" y="1733779"/>
                <a:ext cx="3171" cy="12309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2" name="Freeform 120"/>
            <p:cNvSpPr/>
            <p:nvPr/>
          </p:nvSpPr>
          <p:spPr bwMode="auto">
            <a:xfrm>
              <a:off x="2493963" y="5668963"/>
              <a:ext cx="982662" cy="233362"/>
            </a:xfrm>
            <a:custGeom>
              <a:avLst/>
              <a:gdLst>
                <a:gd name="T0" fmla="*/ 0 w 554"/>
                <a:gd name="T1" fmla="*/ 2147483647 h 167"/>
                <a:gd name="T2" fmla="*/ 2147483647 w 554"/>
                <a:gd name="T3" fmla="*/ 2147483647 h 167"/>
                <a:gd name="T4" fmla="*/ 2147483647 w 554"/>
                <a:gd name="T5" fmla="*/ 2147483647 h 167"/>
                <a:gd name="T6" fmla="*/ 0 60000 65536"/>
                <a:gd name="T7" fmla="*/ 0 60000 65536"/>
                <a:gd name="T8" fmla="*/ 0 60000 65536"/>
                <a:gd name="T9" fmla="*/ 0 w 554"/>
                <a:gd name="T10" fmla="*/ 0 h 167"/>
                <a:gd name="T11" fmla="*/ 554 w 554"/>
                <a:gd name="T12" fmla="*/ 167 h 1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</a:endParaRPr>
            </a:p>
          </p:txBody>
        </p:sp>
      </p:grpSp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4.2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路由器的工作原理</a:t>
            </a:r>
            <a:endParaRPr lang="zh-CN" altLang="en-US" dirty="0">
              <a:effectLst/>
            </a:endParaRPr>
          </a:p>
        </p:txBody>
      </p:sp>
      <p:grpSp>
        <p:nvGrpSpPr>
          <p:cNvPr id="89" name="Group 179"/>
          <p:cNvGrpSpPr/>
          <p:nvPr/>
        </p:nvGrpSpPr>
        <p:grpSpPr bwMode="auto">
          <a:xfrm>
            <a:off x="5782617" y="1344008"/>
            <a:ext cx="1738313" cy="2715816"/>
            <a:chOff x="2840" y="754"/>
            <a:chExt cx="1460" cy="2281"/>
          </a:xfrm>
        </p:grpSpPr>
        <p:sp>
          <p:nvSpPr>
            <p:cNvPr id="90" name="Freeform 3"/>
            <p:cNvSpPr/>
            <p:nvPr/>
          </p:nvSpPr>
          <p:spPr bwMode="auto">
            <a:xfrm>
              <a:off x="2846" y="2219"/>
              <a:ext cx="1443" cy="816"/>
            </a:xfrm>
            <a:custGeom>
              <a:avLst/>
              <a:gdLst>
                <a:gd name="T0" fmla="*/ 0 w 1443"/>
                <a:gd name="T1" fmla="*/ 0 h 816"/>
                <a:gd name="T2" fmla="*/ 1076 w 1443"/>
                <a:gd name="T3" fmla="*/ 782 h 816"/>
                <a:gd name="T4" fmla="*/ 1320 w 1443"/>
                <a:gd name="T5" fmla="*/ 788 h 816"/>
                <a:gd name="T6" fmla="*/ 1443 w 1443"/>
                <a:gd name="T7" fmla="*/ 5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Rectangle 4"/>
            <p:cNvSpPr>
              <a:spLocks noChangeArrowheads="1"/>
            </p:cNvSpPr>
            <p:nvPr/>
          </p:nvSpPr>
          <p:spPr bwMode="auto">
            <a:xfrm>
              <a:off x="2840" y="754"/>
              <a:ext cx="1460" cy="147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Oval 5"/>
            <p:cNvSpPr>
              <a:spLocks noChangeArrowheads="1"/>
            </p:cNvSpPr>
            <p:nvPr/>
          </p:nvSpPr>
          <p:spPr bwMode="auto">
            <a:xfrm>
              <a:off x="2919" y="787"/>
              <a:ext cx="1320" cy="38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Text Box 108"/>
            <p:cNvSpPr txBox="1">
              <a:spLocks noChangeArrowheads="1"/>
            </p:cNvSpPr>
            <p:nvPr/>
          </p:nvSpPr>
          <p:spPr bwMode="auto">
            <a:xfrm>
              <a:off x="3000" y="886"/>
              <a:ext cx="117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路由选择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Rectangle 109"/>
            <p:cNvSpPr>
              <a:spLocks noChangeArrowheads="1"/>
            </p:cNvSpPr>
            <p:nvPr/>
          </p:nvSpPr>
          <p:spPr bwMode="auto">
            <a:xfrm>
              <a:off x="2953" y="1357"/>
              <a:ext cx="1263" cy="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Text Box 110"/>
            <p:cNvSpPr txBox="1">
              <a:spLocks noChangeArrowheads="1"/>
            </p:cNvSpPr>
            <p:nvPr/>
          </p:nvSpPr>
          <p:spPr bwMode="auto">
            <a:xfrm>
              <a:off x="3004" y="1327"/>
              <a:ext cx="111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本地转发表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Text Box 111"/>
            <p:cNvSpPr txBox="1">
              <a:spLocks noChangeArrowheads="1"/>
            </p:cNvSpPr>
            <p:nvPr/>
          </p:nvSpPr>
          <p:spPr bwMode="auto">
            <a:xfrm>
              <a:off x="2930" y="1483"/>
              <a:ext cx="76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首部值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Text Box 112"/>
            <p:cNvSpPr txBox="1">
              <a:spLocks noChangeArrowheads="1"/>
            </p:cNvSpPr>
            <p:nvPr/>
          </p:nvSpPr>
          <p:spPr bwMode="auto">
            <a:xfrm>
              <a:off x="3602" y="1484"/>
              <a:ext cx="65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输出链路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Line 113"/>
            <p:cNvSpPr>
              <a:spLocks noChangeShapeType="1"/>
            </p:cNvSpPr>
            <p:nvPr/>
          </p:nvSpPr>
          <p:spPr bwMode="auto">
            <a:xfrm>
              <a:off x="3664" y="1491"/>
              <a:ext cx="5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Text Box 114"/>
            <p:cNvSpPr txBox="1">
              <a:spLocks noChangeArrowheads="1"/>
            </p:cNvSpPr>
            <p:nvPr/>
          </p:nvSpPr>
          <p:spPr bwMode="auto">
            <a:xfrm>
              <a:off x="3124" y="1662"/>
              <a:ext cx="381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0100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0101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0111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1001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Text Box 115"/>
            <p:cNvSpPr txBox="1">
              <a:spLocks noChangeArrowheads="1"/>
            </p:cNvSpPr>
            <p:nvPr/>
          </p:nvSpPr>
          <p:spPr bwMode="auto">
            <a:xfrm>
              <a:off x="3653" y="1662"/>
              <a:ext cx="212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Line 116"/>
            <p:cNvSpPr>
              <a:spLocks noChangeShapeType="1"/>
            </p:cNvSpPr>
            <p:nvPr/>
          </p:nvSpPr>
          <p:spPr bwMode="auto">
            <a:xfrm>
              <a:off x="2953" y="1653"/>
              <a:ext cx="1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Line 117"/>
            <p:cNvSpPr>
              <a:spLocks noChangeShapeType="1"/>
            </p:cNvSpPr>
            <p:nvPr/>
          </p:nvSpPr>
          <p:spPr bwMode="auto">
            <a:xfrm>
              <a:off x="2948" y="1497"/>
              <a:ext cx="1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AutoShape 118"/>
            <p:cNvSpPr>
              <a:spLocks noChangeArrowheads="1"/>
            </p:cNvSpPr>
            <p:nvPr/>
          </p:nvSpPr>
          <p:spPr bwMode="auto">
            <a:xfrm rot="5400000">
              <a:off x="3519" y="1173"/>
              <a:ext cx="151" cy="172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rot="10800000"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7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7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4.2.1 </a:t>
            </a:r>
            <a:r>
              <a:rPr lang="zh-CN" altLang="en-US" dirty="0"/>
              <a:t>输入端口</a:t>
            </a:r>
            <a:endParaRPr lang="en-US" altLang="zh-CN" dirty="0"/>
          </a:p>
          <a:p>
            <a:pPr lvl="1"/>
            <a:r>
              <a:rPr lang="zh-CN" altLang="en-US" dirty="0"/>
              <a:t>数据报的转发</a:t>
            </a:r>
            <a:endParaRPr lang="en-US" altLang="zh-CN" dirty="0"/>
          </a:p>
          <a:p>
            <a:pPr lvl="2"/>
            <a:r>
              <a:rPr lang="zh-CN" altLang="en-US" dirty="0"/>
              <a:t>查询地址区间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最长前缀匹配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4.2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路由器的工作原理</a:t>
            </a:r>
            <a:endParaRPr lang="zh-CN" altLang="en-US" dirty="0">
              <a:effectLst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3779912" y="1347614"/>
            <a:ext cx="4424953" cy="3008408"/>
            <a:chOff x="777875" y="1443038"/>
            <a:chExt cx="6530976" cy="4440237"/>
          </a:xfrm>
        </p:grpSpPr>
        <p:sp>
          <p:nvSpPr>
            <p:cNvPr id="48" name="Rectangle 3"/>
            <p:cNvSpPr>
              <a:spLocks noChangeArrowheads="1"/>
            </p:cNvSpPr>
            <p:nvPr/>
          </p:nvSpPr>
          <p:spPr bwMode="auto">
            <a:xfrm>
              <a:off x="850725" y="1554324"/>
              <a:ext cx="4426297" cy="4270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0" hangingPunct="0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目标地址区间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just" eaLnBrk="0" hangingPunct="0"/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r>
                <a:rPr lang="en-US" altLang="zh-CN" sz="1200" dirty="0">
                  <a:cs typeface="Times New Roman" panose="02020603050405020304" pitchFamily="18" charset="0"/>
                </a:rPr>
                <a:t>11001000 00010111 00010000 00000000</a:t>
              </a:r>
              <a:endParaRPr lang="en-US" altLang="zh-CN" sz="1400" dirty="0">
                <a:cs typeface="Times New Roman" panose="02020603050405020304" pitchFamily="18" charset="0"/>
              </a:endParaRPr>
            </a:p>
            <a:p>
              <a:pPr algn="just" eaLnBrk="0" hangingPunct="0"/>
              <a:r>
                <a:rPr lang="en-US" altLang="zh-CN" sz="1200" dirty="0">
                  <a:cs typeface="Times New Roman" panose="02020603050405020304" pitchFamily="18" charset="0"/>
                </a:rPr>
                <a:t>through                                 </a:t>
              </a:r>
              <a:endParaRPr lang="en-US" altLang="zh-CN" sz="1400" dirty="0">
                <a:cs typeface="Times New Roman" panose="02020603050405020304" pitchFamily="18" charset="0"/>
              </a:endParaRPr>
            </a:p>
            <a:p>
              <a:pPr algn="just" eaLnBrk="0" hangingPunct="0"/>
              <a:r>
                <a:rPr lang="en-US" altLang="zh-CN" sz="1200" dirty="0">
                  <a:cs typeface="Times New Roman" panose="02020603050405020304" pitchFamily="18" charset="0"/>
                </a:rPr>
                <a:t>11001000 00010111 00010111 11111111</a:t>
              </a:r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r>
                <a:rPr lang="en-US" altLang="zh-CN" sz="1200" dirty="0">
                  <a:cs typeface="Times New Roman" panose="02020603050405020304" pitchFamily="18" charset="0"/>
                </a:rPr>
                <a:t>11001000 00010111 00011000 00000000</a:t>
              </a:r>
              <a:endParaRPr lang="en-US" altLang="zh-CN" sz="1400" dirty="0">
                <a:cs typeface="Times New Roman" panose="02020603050405020304" pitchFamily="18" charset="0"/>
              </a:endParaRPr>
            </a:p>
            <a:p>
              <a:pPr algn="just" eaLnBrk="0" hangingPunct="0"/>
              <a:r>
                <a:rPr lang="en-US" altLang="zh-CN" sz="1200" dirty="0">
                  <a:cs typeface="Times New Roman" panose="02020603050405020304" pitchFamily="18" charset="0"/>
                </a:rPr>
                <a:t>through</a:t>
              </a:r>
              <a:endParaRPr lang="en-US" altLang="zh-CN" sz="1400" dirty="0">
                <a:cs typeface="Times New Roman" panose="02020603050405020304" pitchFamily="18" charset="0"/>
              </a:endParaRPr>
            </a:p>
            <a:p>
              <a:pPr algn="just" eaLnBrk="0" hangingPunct="0"/>
              <a:r>
                <a:rPr lang="en-US" altLang="zh-CN" sz="1200" dirty="0">
                  <a:cs typeface="Times New Roman" panose="02020603050405020304" pitchFamily="18" charset="0"/>
                </a:rPr>
                <a:t>11001000 00010111 00011000 11111111  </a:t>
              </a:r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endParaRPr lang="en-US" altLang="zh-CN" sz="1400" dirty="0">
                <a:cs typeface="Times New Roman" panose="02020603050405020304" pitchFamily="18" charset="0"/>
              </a:endParaRPr>
            </a:p>
            <a:p>
              <a:pPr algn="just" eaLnBrk="0" hangingPunct="0"/>
              <a:r>
                <a:rPr lang="en-US" altLang="zh-CN" sz="1200" dirty="0">
                  <a:cs typeface="Times New Roman" panose="02020603050405020304" pitchFamily="18" charset="0"/>
                </a:rPr>
                <a:t>11001000 00010111 00011001 00000000</a:t>
              </a:r>
              <a:endParaRPr lang="en-US" altLang="zh-CN" sz="1400" dirty="0">
                <a:cs typeface="Times New Roman" panose="02020603050405020304" pitchFamily="18" charset="0"/>
              </a:endParaRPr>
            </a:p>
            <a:p>
              <a:pPr algn="just" eaLnBrk="0" hangingPunct="0"/>
              <a:r>
                <a:rPr lang="en-US" altLang="zh-CN" sz="1200" dirty="0">
                  <a:cs typeface="Times New Roman" panose="02020603050405020304" pitchFamily="18" charset="0"/>
                </a:rPr>
                <a:t>through</a:t>
              </a:r>
              <a:endParaRPr lang="en-US" altLang="zh-CN" sz="1400" dirty="0">
                <a:cs typeface="Times New Roman" panose="02020603050405020304" pitchFamily="18" charset="0"/>
              </a:endParaRPr>
            </a:p>
            <a:p>
              <a:pPr algn="just" eaLnBrk="0" hangingPunct="0"/>
              <a:r>
                <a:rPr lang="en-US" altLang="zh-CN" sz="1200" dirty="0">
                  <a:cs typeface="Times New Roman" panose="02020603050405020304" pitchFamily="18" charset="0"/>
                </a:rPr>
                <a:t>11001000 00010111 00011111 11111111  </a:t>
              </a:r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r>
                <a:rPr lang="en-US" altLang="zh-CN" sz="1200" dirty="0">
                  <a:cs typeface="Times New Roman" panose="02020603050405020304" pitchFamily="18" charset="0"/>
                </a:rPr>
                <a:t>otherwise</a:t>
              </a:r>
              <a:endParaRPr lang="en-US" altLang="zh-CN" sz="1200" dirty="0">
                <a:cs typeface="Times New Roman" panose="02020603050405020304" pitchFamily="18" charset="0"/>
              </a:endParaRPr>
            </a:p>
          </p:txBody>
        </p:sp>
        <p:sp>
          <p:nvSpPr>
            <p:cNvPr id="49" name="Rectangle 5"/>
            <p:cNvSpPr>
              <a:spLocks noChangeArrowheads="1"/>
            </p:cNvSpPr>
            <p:nvPr/>
          </p:nvSpPr>
          <p:spPr bwMode="auto">
            <a:xfrm>
              <a:off x="5761017" y="1559948"/>
              <a:ext cx="1181077" cy="4224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0" hangingPunct="0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链路接口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just" eaLnBrk="0" hangingPunct="0"/>
              <a:endParaRPr lang="en-US" altLang="zh-CN" sz="1200" u="sng" dirty="0">
                <a:cs typeface="Times New Roman" panose="02020603050405020304" pitchFamily="18" charset="0"/>
              </a:endParaRPr>
            </a:p>
            <a:p>
              <a:pPr algn="just" eaLnBrk="0" hangingPunct="0"/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r>
                <a:rPr lang="en-US" altLang="zh-CN" sz="1200" dirty="0">
                  <a:cs typeface="Times New Roman" panose="02020603050405020304" pitchFamily="18" charset="0"/>
                </a:rPr>
                <a:t>0</a:t>
              </a:r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r>
                <a:rPr lang="en-US" altLang="zh-CN" sz="1200" dirty="0">
                  <a:cs typeface="Times New Roman" panose="02020603050405020304" pitchFamily="18" charset="0"/>
                </a:rPr>
                <a:t>1</a:t>
              </a:r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r>
                <a:rPr lang="en-US" altLang="zh-CN" sz="1200" dirty="0">
                  <a:cs typeface="Times New Roman" panose="02020603050405020304" pitchFamily="18" charset="0"/>
                </a:rPr>
                <a:t>2</a:t>
              </a:r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endParaRPr lang="en-US" altLang="zh-CN" sz="1200" dirty="0">
                <a:cs typeface="Times New Roman" panose="02020603050405020304" pitchFamily="18" charset="0"/>
              </a:endParaRPr>
            </a:p>
            <a:p>
              <a:pPr algn="just" eaLnBrk="0" hangingPunct="0"/>
              <a:r>
                <a:rPr lang="en-US" altLang="zh-CN" sz="1200" dirty="0">
                  <a:cs typeface="Times New Roman" panose="02020603050405020304" pitchFamily="18" charset="0"/>
                </a:rPr>
                <a:t>3</a:t>
              </a:r>
              <a:endParaRPr lang="en-US" altLang="zh-CN" sz="1200" dirty="0"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6"/>
            <p:cNvSpPr>
              <a:spLocks noChangeArrowheads="1"/>
            </p:cNvSpPr>
            <p:nvPr/>
          </p:nvSpPr>
          <p:spPr bwMode="auto">
            <a:xfrm>
              <a:off x="788989" y="1443038"/>
              <a:ext cx="6519862" cy="4440237"/>
            </a:xfrm>
            <a:prstGeom prst="rect">
              <a:avLst/>
            </a:prstGeom>
            <a:noFill/>
            <a:ln w="19050">
              <a:solidFill>
                <a:srgbClr val="000099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200"/>
            </a:p>
          </p:txBody>
        </p:sp>
        <p:sp>
          <p:nvSpPr>
            <p:cNvPr id="51" name="Line 7"/>
            <p:cNvSpPr>
              <a:spLocks noChangeShapeType="1"/>
            </p:cNvSpPr>
            <p:nvPr/>
          </p:nvSpPr>
          <p:spPr bwMode="auto">
            <a:xfrm>
              <a:off x="777875" y="2049463"/>
              <a:ext cx="653097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52" name="Line 8"/>
            <p:cNvSpPr>
              <a:spLocks noChangeShapeType="1"/>
            </p:cNvSpPr>
            <p:nvPr/>
          </p:nvSpPr>
          <p:spPr bwMode="auto">
            <a:xfrm>
              <a:off x="804863" y="3068960"/>
              <a:ext cx="650398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53" name="Line 9"/>
            <p:cNvSpPr>
              <a:spLocks noChangeShapeType="1"/>
            </p:cNvSpPr>
            <p:nvPr/>
          </p:nvSpPr>
          <p:spPr bwMode="auto">
            <a:xfrm>
              <a:off x="798513" y="4227513"/>
              <a:ext cx="651033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54" name="Line 10"/>
            <p:cNvSpPr>
              <a:spLocks noChangeShapeType="1"/>
            </p:cNvSpPr>
            <p:nvPr/>
          </p:nvSpPr>
          <p:spPr bwMode="auto">
            <a:xfrm>
              <a:off x="792163" y="5349875"/>
              <a:ext cx="651668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  <p:sp>
          <p:nvSpPr>
            <p:cNvPr id="55" name="Line 11"/>
            <p:cNvSpPr>
              <a:spLocks noChangeShapeType="1"/>
            </p:cNvSpPr>
            <p:nvPr/>
          </p:nvSpPr>
          <p:spPr bwMode="auto">
            <a:xfrm>
              <a:off x="5346700" y="1443038"/>
              <a:ext cx="0" cy="4440237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</p:grpSp>
      <p:sp>
        <p:nvSpPr>
          <p:cNvPr id="1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4.2.1 </a:t>
            </a:r>
            <a:r>
              <a:rPr lang="zh-CN" altLang="en-US" dirty="0"/>
              <a:t>输入端口</a:t>
            </a:r>
            <a:endParaRPr lang="en-US" altLang="zh-CN" dirty="0"/>
          </a:p>
          <a:p>
            <a:pPr lvl="1"/>
            <a:r>
              <a:rPr lang="zh-CN" altLang="en-US" dirty="0"/>
              <a:t>数据报的转发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查询地址区间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dirty="0"/>
              <a:t>最长前缀匹配</a:t>
            </a:r>
            <a:endParaRPr lang="zh-CN" altLang="en-US" dirty="0"/>
          </a:p>
        </p:txBody>
      </p:sp>
      <p:sp>
        <p:nvSpPr>
          <p:cNvPr id="88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4.2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路由器的工作原理</a:t>
            </a:r>
            <a:endParaRPr lang="zh-CN" altLang="en-US" dirty="0">
              <a:effectLst/>
            </a:endParaRPr>
          </a:p>
        </p:txBody>
      </p:sp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4841320" y="3988066"/>
            <a:ext cx="1493837" cy="341312"/>
          </a:xfrm>
          <a:prstGeom prst="rect">
            <a:avLst/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endParaRPr lang="zh-CN" altLang="zh-CN" b="1">
              <a:latin typeface="Comic Sans MS" panose="030F0702030302020204" pitchFamily="66" charset="0"/>
            </a:endParaRPr>
          </a:p>
        </p:txBody>
      </p:sp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5252443" y="4462023"/>
            <a:ext cx="1081922" cy="341312"/>
          </a:xfrm>
          <a:prstGeom prst="rect">
            <a:avLst/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endParaRPr lang="zh-CN" altLang="zh-CN" b="1">
              <a:latin typeface="Comic Sans MS" panose="030F0702030302020204" pitchFamily="66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203848" y="1744632"/>
            <a:ext cx="5750520" cy="1677290"/>
            <a:chOff x="1475656" y="1224806"/>
            <a:chExt cx="7478712" cy="2181362"/>
          </a:xfrm>
        </p:grpSpPr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475656" y="1234192"/>
              <a:ext cx="5043659" cy="2171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15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目标地址段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            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just" eaLnBrk="0" hangingPunct="0">
                <a:lnSpc>
                  <a:spcPct val="15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11001000 00010111 00010*** ********* 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just" eaLnBrk="0" hangingPunct="0">
                <a:lnSpc>
                  <a:spcPct val="15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11001000 00010111 00011000 *********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just" eaLnBrk="0" hangingPunct="0">
                <a:lnSpc>
                  <a:spcPct val="15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11001000 00010111 00011*** *********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just" eaLnBrk="0" hangingPunct="0">
                <a:lnSpc>
                  <a:spcPct val="15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otherwise             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24"/>
            <p:cNvSpPr>
              <a:spLocks noChangeArrowheads="1"/>
            </p:cNvSpPr>
            <p:nvPr/>
          </p:nvSpPr>
          <p:spPr bwMode="auto">
            <a:xfrm>
              <a:off x="1475656" y="1275606"/>
              <a:ext cx="7459662" cy="2106613"/>
            </a:xfrm>
            <a:prstGeom prst="rect">
              <a:avLst/>
            </a:prstGeom>
            <a:noFill/>
            <a:ln w="19050">
              <a:solidFill>
                <a:srgbClr val="000099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25"/>
            <p:cNvSpPr>
              <a:spLocks noChangeShapeType="1"/>
            </p:cNvSpPr>
            <p:nvPr/>
          </p:nvSpPr>
          <p:spPr bwMode="auto">
            <a:xfrm>
              <a:off x="1475656" y="1710581"/>
              <a:ext cx="7448550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26"/>
            <p:cNvSpPr>
              <a:spLocks noChangeShapeType="1"/>
            </p:cNvSpPr>
            <p:nvPr/>
          </p:nvSpPr>
          <p:spPr bwMode="auto">
            <a:xfrm>
              <a:off x="1505818" y="2140794"/>
              <a:ext cx="7448550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27"/>
            <p:cNvSpPr>
              <a:spLocks noChangeShapeType="1"/>
            </p:cNvSpPr>
            <p:nvPr/>
          </p:nvSpPr>
          <p:spPr bwMode="auto">
            <a:xfrm>
              <a:off x="1480418" y="2559894"/>
              <a:ext cx="7448550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28"/>
            <p:cNvSpPr>
              <a:spLocks noChangeShapeType="1"/>
            </p:cNvSpPr>
            <p:nvPr/>
          </p:nvSpPr>
          <p:spPr bwMode="auto">
            <a:xfrm>
              <a:off x="1477243" y="2990106"/>
              <a:ext cx="7448550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29"/>
            <p:cNvSpPr>
              <a:spLocks noChangeShapeType="1"/>
            </p:cNvSpPr>
            <p:nvPr/>
          </p:nvSpPr>
          <p:spPr bwMode="auto">
            <a:xfrm>
              <a:off x="6660431" y="1275606"/>
              <a:ext cx="0" cy="2117725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Box 30"/>
            <p:cNvSpPr txBox="1">
              <a:spLocks noChangeArrowheads="1"/>
            </p:cNvSpPr>
            <p:nvPr/>
          </p:nvSpPr>
          <p:spPr bwMode="auto">
            <a:xfrm>
              <a:off x="6958881" y="1224806"/>
              <a:ext cx="1174131" cy="2178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15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输出链路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15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15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15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15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1617315" y="4453251"/>
            <a:ext cx="48461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b="1" dirty="0">
                <a:latin typeface="+mj-lt"/>
              </a:rPr>
              <a:t>DA: 11001000  00010111  00011000  10101010 </a:t>
            </a:r>
            <a:endParaRPr lang="en-US" altLang="zh-CN" b="1" dirty="0">
              <a:latin typeface="+mj-lt"/>
            </a:endParaRP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1352135" y="3581789"/>
            <a:ext cx="7024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1617315" y="3980403"/>
            <a:ext cx="48461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b="1" dirty="0">
                <a:latin typeface="+mj-lt"/>
              </a:rPr>
              <a:t>DA: 11001000  00010111  00010110  10100001 </a:t>
            </a:r>
            <a:endParaRPr lang="en-US" altLang="zh-CN" b="1" dirty="0">
              <a:latin typeface="+mj-lt"/>
            </a:endParaRP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6746279" y="3979093"/>
            <a:ext cx="17844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b="1" dirty="0">
                <a:solidFill>
                  <a:srgbClr val="FF0000"/>
                </a:solidFill>
                <a:latin typeface="+mj-lt"/>
              </a:rPr>
              <a:t>Which interface?</a:t>
            </a:r>
            <a:endParaRPr lang="en-US" altLang="zh-CN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6746279" y="4450841"/>
            <a:ext cx="17844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b="1" dirty="0">
                <a:solidFill>
                  <a:srgbClr val="FF0000"/>
                </a:solidFill>
                <a:latin typeface="+mj-lt"/>
              </a:rPr>
              <a:t>Which interface?</a:t>
            </a:r>
            <a:endParaRPr lang="en-US" altLang="zh-CN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4.2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路由器的工作原理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effectLst/>
              </a:rPr>
              <a:t>4.2.2 </a:t>
            </a:r>
            <a:r>
              <a:rPr lang="zh-CN" altLang="en-US" dirty="0">
                <a:effectLst/>
              </a:rPr>
              <a:t>交换结构</a:t>
            </a:r>
            <a:endParaRPr lang="en-US" altLang="zh-CN" dirty="0">
              <a:effectLst/>
            </a:endParaRPr>
          </a:p>
          <a:p>
            <a:pPr lvl="1"/>
            <a:r>
              <a:rPr lang="zh-CN" altLang="en-US" sz="1600" dirty="0"/>
              <a:t>作用：将分组从输入端口的缓存</a:t>
            </a:r>
            <a:endParaRPr lang="en-US" altLang="zh-CN" sz="1600" dirty="0"/>
          </a:p>
          <a:p>
            <a:pPr lvl="1"/>
            <a:r>
              <a:rPr lang="zh-CN" altLang="en-US" sz="1600" dirty="0"/>
              <a:t>交换速度</a:t>
            </a:r>
            <a:r>
              <a:rPr lang="en-US" altLang="zh-CN" sz="1600" dirty="0"/>
              <a:t>: rate at which packets can be transfer from inputs to outputs</a:t>
            </a:r>
            <a:endParaRPr lang="en-US" altLang="zh-CN" dirty="0"/>
          </a:p>
          <a:p>
            <a:pPr lvl="1"/>
            <a:r>
              <a:rPr lang="zh-CN" altLang="en-US" sz="1600" dirty="0"/>
              <a:t>三种类型的交换结构：</a:t>
            </a:r>
            <a:endParaRPr lang="en-US" altLang="zh-CN" sz="1600" dirty="0"/>
          </a:p>
        </p:txBody>
      </p:sp>
      <p:grpSp>
        <p:nvGrpSpPr>
          <p:cNvPr id="37" name="组合 36"/>
          <p:cNvGrpSpPr/>
          <p:nvPr/>
        </p:nvGrpSpPr>
        <p:grpSpPr>
          <a:xfrm>
            <a:off x="1763316" y="2733768"/>
            <a:ext cx="2156460" cy="1501140"/>
            <a:chOff x="827088" y="4005263"/>
            <a:chExt cx="2875279" cy="2001520"/>
          </a:xfrm>
        </p:grpSpPr>
        <p:grpSp>
          <p:nvGrpSpPr>
            <p:cNvPr id="38" name="Group 30"/>
            <p:cNvGrpSpPr/>
            <p:nvPr/>
          </p:nvGrpSpPr>
          <p:grpSpPr bwMode="auto">
            <a:xfrm>
              <a:off x="979488" y="4087813"/>
              <a:ext cx="890587" cy="215900"/>
              <a:chOff x="876" y="2800"/>
              <a:chExt cx="642" cy="175"/>
            </a:xfrm>
          </p:grpSpPr>
          <p:sp>
            <p:nvSpPr>
              <p:cNvPr id="74" name="Rectangle 7"/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Rectangle 8"/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Rectangle 9"/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Rectangle 10"/>
              <p:cNvSpPr>
                <a:spLocks noChangeArrowheads="1"/>
              </p:cNvSpPr>
              <p:nvPr/>
            </p:nvSpPr>
            <p:spPr bwMode="auto">
              <a:xfrm>
                <a:off x="1263" y="2816"/>
                <a:ext cx="123" cy="13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Line 11"/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45"/>
            <p:cNvGrpSpPr/>
            <p:nvPr/>
          </p:nvGrpSpPr>
          <p:grpSpPr bwMode="auto">
            <a:xfrm>
              <a:off x="955675" y="4483100"/>
              <a:ext cx="890588" cy="215900"/>
              <a:chOff x="876" y="2800"/>
              <a:chExt cx="642" cy="175"/>
            </a:xfrm>
          </p:grpSpPr>
          <p:sp>
            <p:nvSpPr>
              <p:cNvPr id="69" name="Rectangle 46"/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Rectangle 47"/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Rectangle 48"/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Rectangle 49"/>
              <p:cNvSpPr>
                <a:spLocks noChangeArrowheads="1"/>
              </p:cNvSpPr>
              <p:nvPr/>
            </p:nvSpPr>
            <p:spPr bwMode="auto">
              <a:xfrm>
                <a:off x="1263" y="2816"/>
                <a:ext cx="123" cy="13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Line 50"/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" name="Group 51"/>
            <p:cNvGrpSpPr/>
            <p:nvPr/>
          </p:nvGrpSpPr>
          <p:grpSpPr bwMode="auto">
            <a:xfrm>
              <a:off x="950913" y="4910138"/>
              <a:ext cx="890587" cy="215900"/>
              <a:chOff x="876" y="2800"/>
              <a:chExt cx="642" cy="175"/>
            </a:xfrm>
          </p:grpSpPr>
          <p:sp>
            <p:nvSpPr>
              <p:cNvPr id="64" name="Rectangle 52"/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Rectangle 53"/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Rectangle 54"/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Rectangle 55"/>
              <p:cNvSpPr>
                <a:spLocks noChangeArrowheads="1"/>
              </p:cNvSpPr>
              <p:nvPr/>
            </p:nvSpPr>
            <p:spPr bwMode="auto">
              <a:xfrm>
                <a:off x="1263" y="2816"/>
                <a:ext cx="123" cy="13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Line 56"/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1" name="Rectangle 57"/>
            <p:cNvSpPr>
              <a:spLocks noChangeArrowheads="1"/>
            </p:cNvSpPr>
            <p:nvPr/>
          </p:nvSpPr>
          <p:spPr bwMode="auto">
            <a:xfrm>
              <a:off x="1838325" y="4005263"/>
              <a:ext cx="704850" cy="11763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2" name="Group 64"/>
            <p:cNvGrpSpPr/>
            <p:nvPr/>
          </p:nvGrpSpPr>
          <p:grpSpPr bwMode="auto">
            <a:xfrm>
              <a:off x="2547938" y="4086225"/>
              <a:ext cx="890587" cy="215900"/>
              <a:chOff x="455" y="3463"/>
              <a:chExt cx="561" cy="136"/>
            </a:xfrm>
          </p:grpSpPr>
          <p:sp>
            <p:nvSpPr>
              <p:cNvPr id="58" name="Rectangle 59"/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Rectangle 60"/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Rectangle 61"/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Rectangle 62"/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Line 63"/>
              <p:cNvSpPr>
                <a:spLocks noChangeShapeType="1"/>
              </p:cNvSpPr>
              <p:nvPr/>
            </p:nvSpPr>
            <p:spPr bwMode="auto">
              <a:xfrm flipV="1">
                <a:off x="455" y="3527"/>
                <a:ext cx="561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" name="Group 65"/>
            <p:cNvGrpSpPr/>
            <p:nvPr/>
          </p:nvGrpSpPr>
          <p:grpSpPr bwMode="auto">
            <a:xfrm>
              <a:off x="2552700" y="4478338"/>
              <a:ext cx="890588" cy="215900"/>
              <a:chOff x="455" y="3463"/>
              <a:chExt cx="561" cy="136"/>
            </a:xfrm>
          </p:grpSpPr>
          <p:sp>
            <p:nvSpPr>
              <p:cNvPr id="53" name="Rectangle 66"/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Rectangle 67"/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Rectangle 68"/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Rectangle 69"/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Line 70"/>
              <p:cNvSpPr>
                <a:spLocks noChangeShapeType="1"/>
              </p:cNvSpPr>
              <p:nvPr/>
            </p:nvSpPr>
            <p:spPr bwMode="auto">
              <a:xfrm flipV="1">
                <a:off x="455" y="3527"/>
                <a:ext cx="561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4" name="Group 71"/>
            <p:cNvGrpSpPr/>
            <p:nvPr/>
          </p:nvGrpSpPr>
          <p:grpSpPr bwMode="auto">
            <a:xfrm>
              <a:off x="2547938" y="4905375"/>
              <a:ext cx="890587" cy="215900"/>
              <a:chOff x="455" y="3463"/>
              <a:chExt cx="561" cy="136"/>
            </a:xfrm>
          </p:grpSpPr>
          <p:sp>
            <p:nvSpPr>
              <p:cNvPr id="48" name="Rectangle 72"/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Rectangle 73"/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Rectangle 74"/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Rectangle 75"/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Line 76"/>
              <p:cNvSpPr>
                <a:spLocks noChangeShapeType="1"/>
              </p:cNvSpPr>
              <p:nvPr/>
            </p:nvSpPr>
            <p:spPr bwMode="auto">
              <a:xfrm flipV="1">
                <a:off x="455" y="3527"/>
                <a:ext cx="561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5" name="Text Box 78"/>
            <p:cNvSpPr txBox="1">
              <a:spLocks noChangeArrowheads="1"/>
            </p:cNvSpPr>
            <p:nvPr/>
          </p:nvSpPr>
          <p:spPr bwMode="auto">
            <a:xfrm>
              <a:off x="895668" y="5362470"/>
              <a:ext cx="2806699" cy="64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内存交换</a:t>
              </a:r>
              <a:endPara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/>
              <a:r>
                <a:rPr lang="zh-CN" altLang="en-US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需要读取，效率低</a:t>
              </a:r>
              <a:endPara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Text Box 79"/>
            <p:cNvSpPr txBox="1">
              <a:spLocks noChangeArrowheads="1"/>
            </p:cNvSpPr>
            <p:nvPr/>
          </p:nvSpPr>
          <p:spPr bwMode="auto">
            <a:xfrm>
              <a:off x="1795588" y="4501775"/>
              <a:ext cx="962229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0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memory</a:t>
              </a:r>
              <a:endParaRPr lang="en-US" altLang="zh-CN" sz="10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Freeform 171"/>
            <p:cNvSpPr/>
            <p:nvPr/>
          </p:nvSpPr>
          <p:spPr bwMode="auto">
            <a:xfrm>
              <a:off x="827088" y="4130675"/>
              <a:ext cx="2798762" cy="412750"/>
            </a:xfrm>
            <a:custGeom>
              <a:avLst/>
              <a:gdLst>
                <a:gd name="T0" fmla="*/ 0 w 1763"/>
                <a:gd name="T1" fmla="*/ 0 h 260"/>
                <a:gd name="T2" fmla="*/ 1093788 w 1763"/>
                <a:gd name="T3" fmla="*/ 0 h 260"/>
                <a:gd name="T4" fmla="*/ 1673226 w 1763"/>
                <a:gd name="T5" fmla="*/ 412750 h 260"/>
                <a:gd name="T6" fmla="*/ 2798763 w 1763"/>
                <a:gd name="T7" fmla="*/ 412750 h 2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63"/>
                <a:gd name="T13" fmla="*/ 0 h 260"/>
                <a:gd name="T14" fmla="*/ 1763 w 1763"/>
                <a:gd name="T15" fmla="*/ 260 h 2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63" h="260">
                  <a:moveTo>
                    <a:pt x="0" y="0"/>
                  </a:moveTo>
                  <a:lnTo>
                    <a:pt x="689" y="0"/>
                  </a:lnTo>
                  <a:lnTo>
                    <a:pt x="1054" y="260"/>
                  </a:lnTo>
                  <a:lnTo>
                    <a:pt x="1763" y="26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051697" y="2774251"/>
            <a:ext cx="1504950" cy="1273626"/>
            <a:chOff x="3878263" y="4059238"/>
            <a:chExt cx="2006600" cy="1698167"/>
          </a:xfrm>
        </p:grpSpPr>
        <p:grpSp>
          <p:nvGrpSpPr>
            <p:cNvPr id="80" name="Group 80"/>
            <p:cNvGrpSpPr/>
            <p:nvPr/>
          </p:nvGrpSpPr>
          <p:grpSpPr bwMode="auto">
            <a:xfrm>
              <a:off x="3884613" y="4071938"/>
              <a:ext cx="890587" cy="215900"/>
              <a:chOff x="876" y="2800"/>
              <a:chExt cx="642" cy="175"/>
            </a:xfrm>
          </p:grpSpPr>
          <p:sp>
            <p:nvSpPr>
              <p:cNvPr id="143" name="Rectangle 81"/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4" name="Rectangle 82"/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5" name="Rectangle 83"/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Rectangle 84"/>
              <p:cNvSpPr>
                <a:spLocks noChangeArrowheads="1"/>
              </p:cNvSpPr>
              <p:nvPr/>
            </p:nvSpPr>
            <p:spPr bwMode="auto">
              <a:xfrm>
                <a:off x="1263" y="2816"/>
                <a:ext cx="123" cy="13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Line 85"/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Group 86"/>
            <p:cNvGrpSpPr/>
            <p:nvPr/>
          </p:nvGrpSpPr>
          <p:grpSpPr bwMode="auto">
            <a:xfrm>
              <a:off x="3883025" y="4467225"/>
              <a:ext cx="890588" cy="215900"/>
              <a:chOff x="876" y="2800"/>
              <a:chExt cx="642" cy="175"/>
            </a:xfrm>
          </p:grpSpPr>
          <p:sp>
            <p:nvSpPr>
              <p:cNvPr id="138" name="Rectangle 87"/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Rectangle 88"/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0" name="Rectangle 89"/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Rectangle 90"/>
              <p:cNvSpPr>
                <a:spLocks noChangeArrowheads="1"/>
              </p:cNvSpPr>
              <p:nvPr/>
            </p:nvSpPr>
            <p:spPr bwMode="auto">
              <a:xfrm>
                <a:off x="1263" y="2816"/>
                <a:ext cx="123" cy="13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Line 91"/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3" name="Group 92"/>
            <p:cNvGrpSpPr/>
            <p:nvPr/>
          </p:nvGrpSpPr>
          <p:grpSpPr bwMode="auto">
            <a:xfrm>
              <a:off x="3878263" y="4894263"/>
              <a:ext cx="890587" cy="215900"/>
              <a:chOff x="876" y="2800"/>
              <a:chExt cx="642" cy="175"/>
            </a:xfrm>
          </p:grpSpPr>
          <p:sp>
            <p:nvSpPr>
              <p:cNvPr id="133" name="Rectangle 93"/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Rectangle 94"/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Rectangle 95"/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6" name="Rectangle 96"/>
              <p:cNvSpPr>
                <a:spLocks noChangeArrowheads="1"/>
              </p:cNvSpPr>
              <p:nvPr/>
            </p:nvSpPr>
            <p:spPr bwMode="auto">
              <a:xfrm>
                <a:off x="1263" y="2816"/>
                <a:ext cx="123" cy="13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7" name="Line 97"/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4" name="Line 98"/>
            <p:cNvSpPr>
              <a:spLocks noChangeShapeType="1"/>
            </p:cNvSpPr>
            <p:nvPr/>
          </p:nvSpPr>
          <p:spPr bwMode="auto">
            <a:xfrm>
              <a:off x="4786313" y="4075113"/>
              <a:ext cx="0" cy="100330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5" name="Group 99"/>
            <p:cNvGrpSpPr/>
            <p:nvPr/>
          </p:nvGrpSpPr>
          <p:grpSpPr bwMode="auto">
            <a:xfrm>
              <a:off x="4840288" y="4059238"/>
              <a:ext cx="890587" cy="215900"/>
              <a:chOff x="455" y="3463"/>
              <a:chExt cx="561" cy="136"/>
            </a:xfrm>
          </p:grpSpPr>
          <p:sp>
            <p:nvSpPr>
              <p:cNvPr id="128" name="Rectangle 100"/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Rectangle 101"/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Rectangle 102"/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Rectangle 103"/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Line 104"/>
              <p:cNvSpPr>
                <a:spLocks noChangeShapeType="1"/>
              </p:cNvSpPr>
              <p:nvPr/>
            </p:nvSpPr>
            <p:spPr bwMode="auto">
              <a:xfrm flipV="1">
                <a:off x="455" y="3527"/>
                <a:ext cx="561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6" name="Group 105"/>
            <p:cNvGrpSpPr/>
            <p:nvPr/>
          </p:nvGrpSpPr>
          <p:grpSpPr bwMode="auto">
            <a:xfrm>
              <a:off x="4845050" y="4451350"/>
              <a:ext cx="890588" cy="215900"/>
              <a:chOff x="455" y="3463"/>
              <a:chExt cx="561" cy="136"/>
            </a:xfrm>
          </p:grpSpPr>
          <p:sp>
            <p:nvSpPr>
              <p:cNvPr id="123" name="Rectangle 106"/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Rectangle 107"/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Rectangle 108"/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Rectangle 109"/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Line 110"/>
              <p:cNvSpPr>
                <a:spLocks noChangeShapeType="1"/>
              </p:cNvSpPr>
              <p:nvPr/>
            </p:nvSpPr>
            <p:spPr bwMode="auto">
              <a:xfrm flipV="1">
                <a:off x="455" y="3527"/>
                <a:ext cx="561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7" name="Group 111"/>
            <p:cNvGrpSpPr/>
            <p:nvPr/>
          </p:nvGrpSpPr>
          <p:grpSpPr bwMode="auto">
            <a:xfrm>
              <a:off x="4840288" y="4878388"/>
              <a:ext cx="890587" cy="215900"/>
              <a:chOff x="455" y="3463"/>
              <a:chExt cx="561" cy="136"/>
            </a:xfrm>
          </p:grpSpPr>
          <p:sp>
            <p:nvSpPr>
              <p:cNvPr id="118" name="Rectangle 112"/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Rectangle 113"/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Rectangle 114"/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Rectangle 115"/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Line 116"/>
              <p:cNvSpPr>
                <a:spLocks noChangeShapeType="1"/>
              </p:cNvSpPr>
              <p:nvPr/>
            </p:nvSpPr>
            <p:spPr bwMode="auto">
              <a:xfrm flipV="1">
                <a:off x="455" y="3527"/>
                <a:ext cx="561" cy="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8" name="Text Box 117"/>
            <p:cNvSpPr txBox="1">
              <a:spLocks noChangeArrowheads="1"/>
            </p:cNvSpPr>
            <p:nvPr/>
          </p:nvSpPr>
          <p:spPr bwMode="auto">
            <a:xfrm>
              <a:off x="4235124" y="5357296"/>
              <a:ext cx="1169551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总线交换</a:t>
              </a:r>
              <a:endPara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Freeform 172"/>
            <p:cNvSpPr/>
            <p:nvPr/>
          </p:nvSpPr>
          <p:spPr bwMode="auto">
            <a:xfrm>
              <a:off x="3878263" y="4100513"/>
              <a:ext cx="2006600" cy="400050"/>
            </a:xfrm>
            <a:custGeom>
              <a:avLst/>
              <a:gdLst>
                <a:gd name="T0" fmla="*/ 0 w 1264"/>
                <a:gd name="T1" fmla="*/ 3175 h 252"/>
                <a:gd name="T2" fmla="*/ 987425 w 1264"/>
                <a:gd name="T3" fmla="*/ 0 h 252"/>
                <a:gd name="T4" fmla="*/ 977900 w 1264"/>
                <a:gd name="T5" fmla="*/ 390525 h 252"/>
                <a:gd name="T6" fmla="*/ 2006600 w 1264"/>
                <a:gd name="T7" fmla="*/ 400050 h 2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4"/>
                <a:gd name="T13" fmla="*/ 0 h 252"/>
                <a:gd name="T14" fmla="*/ 1264 w 1264"/>
                <a:gd name="T15" fmla="*/ 252 h 2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4" h="252">
                  <a:moveTo>
                    <a:pt x="0" y="2"/>
                  </a:moveTo>
                  <a:lnTo>
                    <a:pt x="622" y="0"/>
                  </a:lnTo>
                  <a:lnTo>
                    <a:pt x="616" y="246"/>
                  </a:lnTo>
                  <a:lnTo>
                    <a:pt x="1264" y="25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8" name="组合 147"/>
          <p:cNvGrpSpPr/>
          <p:nvPr/>
        </p:nvGrpSpPr>
        <p:grpSpPr>
          <a:xfrm>
            <a:off x="5776071" y="2758771"/>
            <a:ext cx="1658191" cy="1550194"/>
            <a:chOff x="6177429" y="4038600"/>
            <a:chExt cx="2210921" cy="2066925"/>
          </a:xfrm>
        </p:grpSpPr>
        <p:grpSp>
          <p:nvGrpSpPr>
            <p:cNvPr id="149" name="Group 118"/>
            <p:cNvGrpSpPr/>
            <p:nvPr/>
          </p:nvGrpSpPr>
          <p:grpSpPr bwMode="auto">
            <a:xfrm>
              <a:off x="6327775" y="4038600"/>
              <a:ext cx="890588" cy="215900"/>
              <a:chOff x="876" y="2800"/>
              <a:chExt cx="642" cy="175"/>
            </a:xfrm>
          </p:grpSpPr>
          <p:sp>
            <p:nvSpPr>
              <p:cNvPr id="198" name="Rectangle 119"/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9" name="Rectangle 120"/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0" name="Rectangle 121"/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1" name="Rectangle 122"/>
              <p:cNvSpPr>
                <a:spLocks noChangeArrowheads="1"/>
              </p:cNvSpPr>
              <p:nvPr/>
            </p:nvSpPr>
            <p:spPr bwMode="auto">
              <a:xfrm>
                <a:off x="1263" y="2816"/>
                <a:ext cx="123" cy="13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2" name="Line 123"/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0" name="Group 124"/>
            <p:cNvGrpSpPr/>
            <p:nvPr/>
          </p:nvGrpSpPr>
          <p:grpSpPr bwMode="auto">
            <a:xfrm>
              <a:off x="6303963" y="4433888"/>
              <a:ext cx="890587" cy="215900"/>
              <a:chOff x="876" y="2800"/>
              <a:chExt cx="642" cy="175"/>
            </a:xfrm>
          </p:grpSpPr>
          <p:sp>
            <p:nvSpPr>
              <p:cNvPr id="193" name="Rectangle 125"/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Rectangle 126"/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5" name="Rectangle 127"/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6" name="Rectangle 128"/>
              <p:cNvSpPr>
                <a:spLocks noChangeArrowheads="1"/>
              </p:cNvSpPr>
              <p:nvPr/>
            </p:nvSpPr>
            <p:spPr bwMode="auto">
              <a:xfrm>
                <a:off x="1263" y="2816"/>
                <a:ext cx="123" cy="13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7" name="Line 129"/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1" name="Group 130"/>
            <p:cNvGrpSpPr/>
            <p:nvPr/>
          </p:nvGrpSpPr>
          <p:grpSpPr bwMode="auto">
            <a:xfrm>
              <a:off x="6299200" y="4860925"/>
              <a:ext cx="890588" cy="215900"/>
              <a:chOff x="876" y="2800"/>
              <a:chExt cx="642" cy="175"/>
            </a:xfrm>
          </p:grpSpPr>
          <p:sp>
            <p:nvSpPr>
              <p:cNvPr id="188" name="Rectangle 131"/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Rectangle 132"/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Rectangle 133"/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2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Rectangle 134"/>
              <p:cNvSpPr>
                <a:spLocks noChangeArrowheads="1"/>
              </p:cNvSpPr>
              <p:nvPr/>
            </p:nvSpPr>
            <p:spPr bwMode="auto">
              <a:xfrm>
                <a:off x="1263" y="2816"/>
                <a:ext cx="123" cy="13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Line 135"/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2" name="Group 154"/>
            <p:cNvGrpSpPr/>
            <p:nvPr/>
          </p:nvGrpSpPr>
          <p:grpSpPr bwMode="auto">
            <a:xfrm rot="5400000">
              <a:off x="7423150" y="5057775"/>
              <a:ext cx="895350" cy="1035050"/>
              <a:chOff x="2954" y="2776"/>
              <a:chExt cx="564" cy="652"/>
            </a:xfrm>
          </p:grpSpPr>
          <p:grpSp>
            <p:nvGrpSpPr>
              <p:cNvPr id="170" name="Group 136"/>
              <p:cNvGrpSpPr/>
              <p:nvPr/>
            </p:nvGrpSpPr>
            <p:grpSpPr bwMode="auto">
              <a:xfrm>
                <a:off x="2954" y="2776"/>
                <a:ext cx="561" cy="136"/>
                <a:chOff x="455" y="3463"/>
                <a:chExt cx="561" cy="136"/>
              </a:xfrm>
            </p:grpSpPr>
            <p:sp>
              <p:nvSpPr>
                <p:cNvPr id="183" name="Rectangle 137"/>
                <p:cNvSpPr>
                  <a:spLocks noChangeArrowheads="1"/>
                </p:cNvSpPr>
                <p:nvPr/>
              </p:nvSpPr>
              <p:spPr bwMode="auto">
                <a:xfrm>
                  <a:off x="498" y="3463"/>
                  <a:ext cx="424" cy="13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5F5F5F"/>
                  </a:solidFill>
                  <a:miter lim="800000"/>
                </a:ln>
              </p:spPr>
              <p:txBody>
                <a:bodyPr rot="10800000"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4" name="Rectangle 138"/>
                <p:cNvSpPr>
                  <a:spLocks noChangeArrowheads="1"/>
                </p:cNvSpPr>
                <p:nvPr/>
              </p:nvSpPr>
              <p:spPr bwMode="auto">
                <a:xfrm>
                  <a:off x="771" y="3500"/>
                  <a:ext cx="132" cy="6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6600"/>
                  </a:solidFill>
                  <a:miter lim="800000"/>
                </a:ln>
              </p:spPr>
              <p:txBody>
                <a:bodyPr rot="10800000"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5" name="Rectangle 139"/>
                <p:cNvSpPr>
                  <a:spLocks noChangeArrowheads="1"/>
                </p:cNvSpPr>
                <p:nvPr/>
              </p:nvSpPr>
              <p:spPr bwMode="auto">
                <a:xfrm>
                  <a:off x="644" y="3477"/>
                  <a:ext cx="108" cy="10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miter lim="800000"/>
                </a:ln>
              </p:spPr>
              <p:txBody>
                <a:bodyPr rot="10800000"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6" name="Rectangle 140"/>
                <p:cNvSpPr>
                  <a:spLocks noChangeArrowheads="1"/>
                </p:cNvSpPr>
                <p:nvPr/>
              </p:nvSpPr>
              <p:spPr bwMode="auto">
                <a:xfrm>
                  <a:off x="517" y="3480"/>
                  <a:ext cx="108" cy="105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miter lim="800000"/>
                </a:ln>
              </p:spPr>
              <p:txBody>
                <a:bodyPr rot="10800000"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7" name="Line 141"/>
                <p:cNvSpPr>
                  <a:spLocks noChangeShapeType="1"/>
                </p:cNvSpPr>
                <p:nvPr/>
              </p:nvSpPr>
              <p:spPr bwMode="auto">
                <a:xfrm flipV="1">
                  <a:off x="455" y="3527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1" name="Group 142"/>
              <p:cNvGrpSpPr/>
              <p:nvPr/>
            </p:nvGrpSpPr>
            <p:grpSpPr bwMode="auto">
              <a:xfrm>
                <a:off x="2957" y="3023"/>
                <a:ext cx="561" cy="136"/>
                <a:chOff x="455" y="3463"/>
                <a:chExt cx="561" cy="136"/>
              </a:xfrm>
            </p:grpSpPr>
            <p:sp>
              <p:nvSpPr>
                <p:cNvPr id="178" name="Rectangle 143"/>
                <p:cNvSpPr>
                  <a:spLocks noChangeArrowheads="1"/>
                </p:cNvSpPr>
                <p:nvPr/>
              </p:nvSpPr>
              <p:spPr bwMode="auto">
                <a:xfrm>
                  <a:off x="498" y="3463"/>
                  <a:ext cx="424" cy="13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5F5F5F"/>
                  </a:solidFill>
                  <a:miter lim="800000"/>
                </a:ln>
              </p:spPr>
              <p:txBody>
                <a:bodyPr rot="10800000"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9" name="Rectangle 144"/>
                <p:cNvSpPr>
                  <a:spLocks noChangeArrowheads="1"/>
                </p:cNvSpPr>
                <p:nvPr/>
              </p:nvSpPr>
              <p:spPr bwMode="auto">
                <a:xfrm>
                  <a:off x="771" y="3500"/>
                  <a:ext cx="132" cy="6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6600"/>
                  </a:solidFill>
                  <a:miter lim="800000"/>
                </a:ln>
              </p:spPr>
              <p:txBody>
                <a:bodyPr rot="10800000"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0" name="Rectangle 145"/>
                <p:cNvSpPr>
                  <a:spLocks noChangeArrowheads="1"/>
                </p:cNvSpPr>
                <p:nvPr/>
              </p:nvSpPr>
              <p:spPr bwMode="auto">
                <a:xfrm>
                  <a:off x="644" y="3477"/>
                  <a:ext cx="108" cy="10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miter lim="800000"/>
                </a:ln>
              </p:spPr>
              <p:txBody>
                <a:bodyPr rot="10800000"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1" name="Rectangle 146"/>
                <p:cNvSpPr>
                  <a:spLocks noChangeArrowheads="1"/>
                </p:cNvSpPr>
                <p:nvPr/>
              </p:nvSpPr>
              <p:spPr bwMode="auto">
                <a:xfrm>
                  <a:off x="517" y="3480"/>
                  <a:ext cx="108" cy="105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miter lim="800000"/>
                </a:ln>
              </p:spPr>
              <p:txBody>
                <a:bodyPr rot="10800000"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2" name="Line 147"/>
                <p:cNvSpPr>
                  <a:spLocks noChangeShapeType="1"/>
                </p:cNvSpPr>
                <p:nvPr/>
              </p:nvSpPr>
              <p:spPr bwMode="auto">
                <a:xfrm flipV="1">
                  <a:off x="455" y="3527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2" name="Group 148"/>
              <p:cNvGrpSpPr/>
              <p:nvPr/>
            </p:nvGrpSpPr>
            <p:grpSpPr bwMode="auto">
              <a:xfrm>
                <a:off x="2954" y="3292"/>
                <a:ext cx="561" cy="136"/>
                <a:chOff x="455" y="3463"/>
                <a:chExt cx="561" cy="136"/>
              </a:xfrm>
            </p:grpSpPr>
            <p:sp>
              <p:nvSpPr>
                <p:cNvPr id="173" name="Rectangle 149"/>
                <p:cNvSpPr>
                  <a:spLocks noChangeArrowheads="1"/>
                </p:cNvSpPr>
                <p:nvPr/>
              </p:nvSpPr>
              <p:spPr bwMode="auto">
                <a:xfrm>
                  <a:off x="498" y="3463"/>
                  <a:ext cx="424" cy="13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5F5F5F"/>
                  </a:solidFill>
                  <a:miter lim="800000"/>
                </a:ln>
              </p:spPr>
              <p:txBody>
                <a:bodyPr rot="10800000"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4" name="Rectangle 150"/>
                <p:cNvSpPr>
                  <a:spLocks noChangeArrowheads="1"/>
                </p:cNvSpPr>
                <p:nvPr/>
              </p:nvSpPr>
              <p:spPr bwMode="auto">
                <a:xfrm>
                  <a:off x="771" y="3500"/>
                  <a:ext cx="132" cy="6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6600"/>
                  </a:solidFill>
                  <a:miter lim="800000"/>
                </a:ln>
              </p:spPr>
              <p:txBody>
                <a:bodyPr rot="10800000"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5" name="Rectangle 151"/>
                <p:cNvSpPr>
                  <a:spLocks noChangeArrowheads="1"/>
                </p:cNvSpPr>
                <p:nvPr/>
              </p:nvSpPr>
              <p:spPr bwMode="auto">
                <a:xfrm>
                  <a:off x="644" y="3477"/>
                  <a:ext cx="108" cy="10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accent2"/>
                  </a:solidFill>
                  <a:miter lim="800000"/>
                </a:ln>
              </p:spPr>
              <p:txBody>
                <a:bodyPr rot="10800000"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6" name="Rectangle 152"/>
                <p:cNvSpPr>
                  <a:spLocks noChangeArrowheads="1"/>
                </p:cNvSpPr>
                <p:nvPr/>
              </p:nvSpPr>
              <p:spPr bwMode="auto">
                <a:xfrm>
                  <a:off x="517" y="3480"/>
                  <a:ext cx="108" cy="105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miter lim="800000"/>
                </a:ln>
              </p:spPr>
              <p:txBody>
                <a:bodyPr rot="10800000" vert="eaVert"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7" name="Line 153"/>
                <p:cNvSpPr>
                  <a:spLocks noChangeShapeType="1"/>
                </p:cNvSpPr>
                <p:nvPr/>
              </p:nvSpPr>
              <p:spPr bwMode="auto">
                <a:xfrm flipV="1">
                  <a:off x="455" y="3527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53" name="Line 155"/>
            <p:cNvSpPr>
              <a:spLocks noChangeShapeType="1"/>
            </p:cNvSpPr>
            <p:nvPr/>
          </p:nvSpPr>
          <p:spPr bwMode="auto">
            <a:xfrm>
              <a:off x="7218363" y="4144963"/>
              <a:ext cx="10636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156"/>
            <p:cNvSpPr>
              <a:spLocks noChangeShapeType="1"/>
            </p:cNvSpPr>
            <p:nvPr/>
          </p:nvSpPr>
          <p:spPr bwMode="auto">
            <a:xfrm flipV="1">
              <a:off x="7180263" y="4532313"/>
              <a:ext cx="1111250" cy="31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157"/>
            <p:cNvSpPr>
              <a:spLocks noChangeShapeType="1"/>
            </p:cNvSpPr>
            <p:nvPr/>
          </p:nvSpPr>
          <p:spPr bwMode="auto">
            <a:xfrm>
              <a:off x="7180263" y="4964113"/>
              <a:ext cx="11017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158"/>
            <p:cNvSpPr>
              <a:spLocks noChangeShapeType="1"/>
            </p:cNvSpPr>
            <p:nvPr/>
          </p:nvSpPr>
          <p:spPr bwMode="auto">
            <a:xfrm flipV="1">
              <a:off x="7462838" y="4144963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159"/>
            <p:cNvSpPr>
              <a:spLocks noChangeShapeType="1"/>
            </p:cNvSpPr>
            <p:nvPr/>
          </p:nvSpPr>
          <p:spPr bwMode="auto">
            <a:xfrm flipV="1">
              <a:off x="7885113" y="4144963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160"/>
            <p:cNvSpPr>
              <a:spLocks noChangeShapeType="1"/>
            </p:cNvSpPr>
            <p:nvPr/>
          </p:nvSpPr>
          <p:spPr bwMode="auto">
            <a:xfrm flipV="1">
              <a:off x="8281988" y="4135438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Oval 161"/>
            <p:cNvSpPr>
              <a:spLocks noChangeArrowheads="1"/>
            </p:cNvSpPr>
            <p:nvPr/>
          </p:nvSpPr>
          <p:spPr bwMode="auto">
            <a:xfrm>
              <a:off x="7421563" y="4106863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Oval 162"/>
            <p:cNvSpPr>
              <a:spLocks noChangeArrowheads="1"/>
            </p:cNvSpPr>
            <p:nvPr/>
          </p:nvSpPr>
          <p:spPr bwMode="auto">
            <a:xfrm>
              <a:off x="7421563" y="4491038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Oval 163"/>
            <p:cNvSpPr>
              <a:spLocks noChangeArrowheads="1"/>
            </p:cNvSpPr>
            <p:nvPr/>
          </p:nvSpPr>
          <p:spPr bwMode="auto">
            <a:xfrm>
              <a:off x="7415213" y="4916488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Oval 164"/>
            <p:cNvSpPr>
              <a:spLocks noChangeArrowheads="1"/>
            </p:cNvSpPr>
            <p:nvPr/>
          </p:nvSpPr>
          <p:spPr bwMode="auto">
            <a:xfrm>
              <a:off x="7847013" y="4106863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Oval 165"/>
            <p:cNvSpPr>
              <a:spLocks noChangeArrowheads="1"/>
            </p:cNvSpPr>
            <p:nvPr/>
          </p:nvSpPr>
          <p:spPr bwMode="auto">
            <a:xfrm>
              <a:off x="7847013" y="4491038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Oval 166"/>
            <p:cNvSpPr>
              <a:spLocks noChangeArrowheads="1"/>
            </p:cNvSpPr>
            <p:nvPr/>
          </p:nvSpPr>
          <p:spPr bwMode="auto">
            <a:xfrm>
              <a:off x="7840663" y="4916488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Oval 167"/>
            <p:cNvSpPr>
              <a:spLocks noChangeArrowheads="1"/>
            </p:cNvSpPr>
            <p:nvPr/>
          </p:nvSpPr>
          <p:spPr bwMode="auto">
            <a:xfrm>
              <a:off x="8237538" y="4106863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Oval 168"/>
            <p:cNvSpPr>
              <a:spLocks noChangeArrowheads="1"/>
            </p:cNvSpPr>
            <p:nvPr/>
          </p:nvSpPr>
          <p:spPr bwMode="auto">
            <a:xfrm>
              <a:off x="8237538" y="4491038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Oval 169"/>
            <p:cNvSpPr>
              <a:spLocks noChangeArrowheads="1"/>
            </p:cNvSpPr>
            <p:nvPr/>
          </p:nvSpPr>
          <p:spPr bwMode="auto">
            <a:xfrm>
              <a:off x="8231188" y="4916488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Text Box 170"/>
            <p:cNvSpPr txBox="1">
              <a:spLocks noChangeArrowheads="1"/>
            </p:cNvSpPr>
            <p:nvPr/>
          </p:nvSpPr>
          <p:spPr bwMode="auto">
            <a:xfrm>
              <a:off x="6177429" y="5342773"/>
              <a:ext cx="1169550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网络交换</a:t>
              </a:r>
              <a:endPara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173"/>
            <p:cNvSpPr/>
            <p:nvPr/>
          </p:nvSpPr>
          <p:spPr bwMode="auto">
            <a:xfrm>
              <a:off x="6275388" y="4090988"/>
              <a:ext cx="1543050" cy="2014537"/>
            </a:xfrm>
            <a:custGeom>
              <a:avLst/>
              <a:gdLst>
                <a:gd name="T0" fmla="*/ 0 w 972"/>
                <a:gd name="T1" fmla="*/ 4774 h 1266"/>
                <a:gd name="T2" fmla="*/ 1538288 w 972"/>
                <a:gd name="T3" fmla="*/ 0 h 1266"/>
                <a:gd name="T4" fmla="*/ 1543050 w 972"/>
                <a:gd name="T5" fmla="*/ 2014538 h 1266"/>
                <a:gd name="T6" fmla="*/ 0 60000 65536"/>
                <a:gd name="T7" fmla="*/ 0 60000 65536"/>
                <a:gd name="T8" fmla="*/ 0 60000 65536"/>
                <a:gd name="T9" fmla="*/ 0 w 972"/>
                <a:gd name="T10" fmla="*/ 0 h 1266"/>
                <a:gd name="T11" fmla="*/ 972 w 972"/>
                <a:gd name="T12" fmla="*/ 1266 h 12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2" h="1266">
                  <a:moveTo>
                    <a:pt x="0" y="3"/>
                  </a:moveTo>
                  <a:lnTo>
                    <a:pt x="969" y="0"/>
                  </a:lnTo>
                  <a:lnTo>
                    <a:pt x="972" y="12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04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 animBg="1"/>
      <p:bldP spid="204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4.2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路由器的工作原理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4.2.3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输出端口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3388050" y="1245580"/>
            <a:ext cx="3720515" cy="1785417"/>
          </a:xfrm>
          <a:prstGeom prst="roundRect">
            <a:avLst>
              <a:gd name="adj" fmla="val 11123"/>
            </a:avLst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solidFill>
              <a:srgbClr val="97D2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Rectangle 6"/>
          <p:cNvSpPr>
            <a:spLocks noChangeArrowheads="1"/>
          </p:cNvSpPr>
          <p:nvPr/>
        </p:nvSpPr>
        <p:spPr bwMode="auto">
          <a:xfrm>
            <a:off x="5737827" y="1796088"/>
            <a:ext cx="1063228" cy="621506"/>
          </a:xfrm>
          <a:prstGeom prst="rect">
            <a:avLst/>
          </a:prstGeom>
          <a:solidFill>
            <a:schemeClr val="bg1"/>
          </a:solidFill>
          <a:ln w="28575">
            <a:solidFill>
              <a:srgbClr val="006600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1350" dirty="0">
                <a:latin typeface="Arial" panose="020B0604020202020204" pitchFamily="34" charset="0"/>
                <a:ea typeface="MS PGothic" panose="020B0600070205080204" charset="-128"/>
              </a:rPr>
              <a:t>链路终端</a:t>
            </a:r>
            <a:endParaRPr lang="en-US" sz="1350" dirty="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19" name="Rectangle 7"/>
          <p:cNvSpPr>
            <a:spLocks noChangeArrowheads="1"/>
          </p:cNvSpPr>
          <p:nvPr/>
        </p:nvSpPr>
        <p:spPr bwMode="auto">
          <a:xfrm>
            <a:off x="4755561" y="1591300"/>
            <a:ext cx="864394" cy="105727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endParaRPr lang="zh-CN" altLang="zh-CN" sz="1350"/>
          </a:p>
        </p:txBody>
      </p:sp>
      <p:sp>
        <p:nvSpPr>
          <p:cNvPr id="120" name="Line 10"/>
          <p:cNvSpPr>
            <a:spLocks noChangeShapeType="1"/>
          </p:cNvSpPr>
          <p:nvPr/>
        </p:nvSpPr>
        <p:spPr bwMode="auto">
          <a:xfrm>
            <a:off x="4622211" y="2130653"/>
            <a:ext cx="142875" cy="119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21" name="Line 11"/>
          <p:cNvSpPr>
            <a:spLocks noChangeShapeType="1"/>
          </p:cNvSpPr>
          <p:nvPr/>
        </p:nvSpPr>
        <p:spPr bwMode="auto">
          <a:xfrm>
            <a:off x="5622336" y="2098507"/>
            <a:ext cx="142875" cy="119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22" name="Line 12"/>
          <p:cNvSpPr>
            <a:spLocks noChangeShapeType="1"/>
          </p:cNvSpPr>
          <p:nvPr/>
        </p:nvSpPr>
        <p:spPr bwMode="auto">
          <a:xfrm flipV="1">
            <a:off x="6790340" y="2129463"/>
            <a:ext cx="552450" cy="119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23" name="Rectangle 13"/>
          <p:cNvSpPr>
            <a:spLocks noChangeArrowheads="1"/>
          </p:cNvSpPr>
          <p:nvPr/>
        </p:nvSpPr>
        <p:spPr bwMode="auto">
          <a:xfrm>
            <a:off x="4780565" y="1823472"/>
            <a:ext cx="791765" cy="62150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lvl="0" algn="ctr">
              <a:lnSpc>
                <a:spcPct val="90000"/>
              </a:lnSpc>
              <a:defRPr/>
            </a:pPr>
            <a:r>
              <a:rPr lang="zh-CN" altLang="en-US" sz="135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链路层</a:t>
            </a:r>
            <a:endParaRPr lang="en-US" altLang="zh-CN" sz="135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zh-CN" altLang="en-US" sz="135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协议</a:t>
            </a:r>
            <a:endParaRPr lang="en-US" altLang="zh-CN" sz="135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zh-CN" altLang="en-US" sz="135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接收端</a:t>
            </a:r>
            <a:endParaRPr lang="en-US" altLang="zh-CN" sz="135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4" name="Rectangle 16"/>
          <p:cNvSpPr>
            <a:spLocks noChangeArrowheads="1"/>
          </p:cNvSpPr>
          <p:nvPr/>
        </p:nvSpPr>
        <p:spPr bwMode="auto">
          <a:xfrm>
            <a:off x="2285014" y="1865144"/>
            <a:ext cx="791766" cy="6215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solidFill>
              <a:srgbClr val="97D2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ker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</a:t>
            </a:r>
            <a:endParaRPr lang="en-US" altLang="zh-CN" sz="12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ker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en-US" sz="12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5" name="Group 28"/>
          <p:cNvGrpSpPr/>
          <p:nvPr/>
        </p:nvGrpSpPr>
        <p:grpSpPr bwMode="auto">
          <a:xfrm>
            <a:off x="3660187" y="1554390"/>
            <a:ext cx="935831" cy="1128713"/>
            <a:chOff x="3180" y="909"/>
            <a:chExt cx="786" cy="948"/>
          </a:xfrm>
        </p:grpSpPr>
        <p:sp>
          <p:nvSpPr>
            <p:cNvPr id="126" name="Rectangle 8"/>
            <p:cNvSpPr>
              <a:spLocks noChangeArrowheads="1"/>
            </p:cNvSpPr>
            <p:nvPr/>
          </p:nvSpPr>
          <p:spPr bwMode="auto">
            <a:xfrm>
              <a:off x="3180" y="909"/>
              <a:ext cx="786" cy="94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" name="Text Box 14"/>
            <p:cNvSpPr txBox="1">
              <a:spLocks noChangeArrowheads="1"/>
            </p:cNvSpPr>
            <p:nvPr/>
          </p:nvSpPr>
          <p:spPr bwMode="auto">
            <a:xfrm>
              <a:off x="3370" y="917"/>
              <a:ext cx="446" cy="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zh-CN" altLang="en-US" sz="1350" dirty="0"/>
                <a:t>缓存</a:t>
              </a:r>
              <a:endParaRPr lang="en-US" altLang="zh-CN" sz="1350" dirty="0"/>
            </a:p>
            <a:p>
              <a:pPr algn="ctr"/>
              <a:r>
                <a:rPr lang="zh-CN" altLang="en-US" sz="1350" dirty="0"/>
                <a:t>队列</a:t>
              </a:r>
              <a:endParaRPr lang="en-US" altLang="zh-CN" sz="1350" dirty="0"/>
            </a:p>
            <a:p>
              <a:pPr algn="ctr"/>
              <a:endParaRPr lang="en-US" altLang="zh-CN" sz="1350" dirty="0"/>
            </a:p>
            <a:p>
              <a:pPr algn="ctr"/>
              <a:endParaRPr lang="en-US" altLang="zh-CN" sz="1350" dirty="0"/>
            </a:p>
          </p:txBody>
        </p:sp>
        <p:grpSp>
          <p:nvGrpSpPr>
            <p:cNvPr id="128" name="Group 17"/>
            <p:cNvGrpSpPr/>
            <p:nvPr/>
          </p:nvGrpSpPr>
          <p:grpSpPr bwMode="auto">
            <a:xfrm>
              <a:off x="3260" y="1299"/>
              <a:ext cx="626" cy="295"/>
              <a:chOff x="310" y="3526"/>
              <a:chExt cx="1040" cy="457"/>
            </a:xfrm>
          </p:grpSpPr>
          <p:sp>
            <p:nvSpPr>
              <p:cNvPr id="129" name="Rectangle 18"/>
              <p:cNvSpPr>
                <a:spLocks noChangeArrowheads="1"/>
              </p:cNvSpPr>
              <p:nvPr/>
            </p:nvSpPr>
            <p:spPr bwMode="auto">
              <a:xfrm>
                <a:off x="310" y="3526"/>
                <a:ext cx="1040" cy="457"/>
              </a:xfrm>
              <a:prstGeom prst="rect">
                <a:avLst/>
              </a:prstGeom>
              <a:solidFill>
                <a:srgbClr val="FF0000"/>
              </a:solidFill>
              <a:ln w="38100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30" name="Line 19"/>
              <p:cNvSpPr>
                <a:spLocks noChangeShapeType="1"/>
              </p:cNvSpPr>
              <p:nvPr/>
            </p:nvSpPr>
            <p:spPr bwMode="auto">
              <a:xfrm>
                <a:off x="446" y="3535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31" name="Line 20"/>
              <p:cNvSpPr>
                <a:spLocks noChangeShapeType="1"/>
              </p:cNvSpPr>
              <p:nvPr/>
            </p:nvSpPr>
            <p:spPr bwMode="auto">
              <a:xfrm>
                <a:off x="558" y="3538"/>
                <a:ext cx="2" cy="435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32" name="Line 21"/>
              <p:cNvSpPr>
                <a:spLocks noChangeShapeType="1"/>
              </p:cNvSpPr>
              <p:nvPr/>
            </p:nvSpPr>
            <p:spPr bwMode="auto">
              <a:xfrm>
                <a:off x="671" y="3534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33" name="Line 22"/>
              <p:cNvSpPr>
                <a:spLocks noChangeShapeType="1"/>
              </p:cNvSpPr>
              <p:nvPr/>
            </p:nvSpPr>
            <p:spPr bwMode="auto">
              <a:xfrm>
                <a:off x="782" y="3535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34" name="Line 23"/>
              <p:cNvSpPr>
                <a:spLocks noChangeShapeType="1"/>
              </p:cNvSpPr>
              <p:nvPr/>
            </p:nvSpPr>
            <p:spPr bwMode="auto">
              <a:xfrm>
                <a:off x="895" y="3534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35" name="Line 24"/>
              <p:cNvSpPr>
                <a:spLocks noChangeShapeType="1"/>
              </p:cNvSpPr>
              <p:nvPr/>
            </p:nvSpPr>
            <p:spPr bwMode="auto">
              <a:xfrm>
                <a:off x="1006" y="3534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36" name="Line 25"/>
              <p:cNvSpPr>
                <a:spLocks noChangeShapeType="1"/>
              </p:cNvSpPr>
              <p:nvPr/>
            </p:nvSpPr>
            <p:spPr bwMode="auto">
              <a:xfrm>
                <a:off x="1121" y="3535"/>
                <a:ext cx="2" cy="437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  <p:sp>
            <p:nvSpPr>
              <p:cNvPr id="137" name="Line 26"/>
              <p:cNvSpPr>
                <a:spLocks noChangeShapeType="1"/>
              </p:cNvSpPr>
              <p:nvPr/>
            </p:nvSpPr>
            <p:spPr bwMode="auto">
              <a:xfrm>
                <a:off x="1229" y="3538"/>
                <a:ext cx="2" cy="435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panose="020B0600070205080204" charset="-128"/>
                </a:endParaRPr>
              </a:p>
            </p:txBody>
          </p:sp>
        </p:grpSp>
      </p:grpSp>
      <p:sp>
        <p:nvSpPr>
          <p:cNvPr id="138" name="Line 27"/>
          <p:cNvSpPr>
            <a:spLocks noChangeShapeType="1"/>
          </p:cNvSpPr>
          <p:nvPr/>
        </p:nvSpPr>
        <p:spPr bwMode="auto">
          <a:xfrm>
            <a:off x="3068446" y="1350794"/>
            <a:ext cx="8334" cy="164663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39" name="Line 9"/>
          <p:cNvSpPr>
            <a:spLocks noChangeShapeType="1"/>
          </p:cNvSpPr>
          <p:nvPr/>
        </p:nvSpPr>
        <p:spPr bwMode="auto">
          <a:xfrm flipV="1">
            <a:off x="3062493" y="2162800"/>
            <a:ext cx="69413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149113" y="3249885"/>
            <a:ext cx="4004888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缓存：输入速度大于输出时，将分组缓存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排队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  <a:endParaRPr lang="en-US" altLang="zh-CN" sz="4500" dirty="0"/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下课铃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956376" y="4231337"/>
            <a:ext cx="487363" cy="487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9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KSO_WPP_MARK_KEY" val="2be98e99-dcce-405e-b746-3b5841261afe"/>
  <p:tag name="COMMONDATA" val="eyJoZGlkIjoiMzEwNTM5NzYwMDRjMzkwZTVkZjY2ODkwMGIxNGU0OT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0</TotalTime>
  <Words>6714</Words>
  <Application>WPS 演示</Application>
  <PresentationFormat>全屏显示(16:9)</PresentationFormat>
  <Paragraphs>1162</Paragraphs>
  <Slides>33</Slides>
  <Notes>3</Notes>
  <HiddenSlides>0</HiddenSlides>
  <MMClips>1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Times New Roman</vt:lpstr>
      <vt:lpstr>Tahoma</vt:lpstr>
      <vt:lpstr>MS PGothic</vt:lpstr>
      <vt:lpstr>Courier New</vt:lpstr>
      <vt:lpstr>Symbol</vt:lpstr>
      <vt:lpstr>Gill Sans MT</vt:lpstr>
      <vt:lpstr>Comic Sans MS</vt:lpstr>
      <vt:lpstr>ZapfDingbats</vt:lpstr>
      <vt:lpstr>等线</vt:lpstr>
      <vt:lpstr>Arial Unicode MS</vt:lpstr>
      <vt:lpstr>等线 Light</vt:lpstr>
      <vt:lpstr>Calibri</vt:lpstr>
      <vt:lpstr>黑体</vt:lpstr>
      <vt:lpstr>Gill Sans MT</vt:lpstr>
      <vt:lpstr>华文新魏</vt:lpstr>
      <vt:lpstr>Office 主题​​</vt:lpstr>
      <vt:lpstr>Visio.Drawing.11</vt:lpstr>
      <vt:lpstr>计算机网络</vt:lpstr>
      <vt:lpstr>第3章复习总结</vt:lpstr>
      <vt:lpstr>第3章复习总结</vt:lpstr>
      <vt:lpstr>第3章复习总结</vt:lpstr>
      <vt:lpstr>第3章复习总结</vt:lpstr>
      <vt:lpstr>第3章复习总结</vt:lpstr>
      <vt:lpstr>第3章复习总结</vt:lpstr>
      <vt:lpstr>第3章复习总结</vt:lpstr>
      <vt:lpstr>第3章复习总结</vt:lpstr>
      <vt:lpstr>第3章复习总结</vt:lpstr>
      <vt:lpstr>第3章 Quiz</vt:lpstr>
      <vt:lpstr>第3章 Quiz</vt:lpstr>
      <vt:lpstr>第3章 Quiz</vt:lpstr>
      <vt:lpstr>计算机网络</vt:lpstr>
      <vt:lpstr>第四章 网络层</vt:lpstr>
      <vt:lpstr>PowerPoint 演示文稿</vt:lpstr>
      <vt:lpstr>4.1 网络层概述</vt:lpstr>
      <vt:lpstr>4.1 网络层概述</vt:lpstr>
      <vt:lpstr>4.1 网络层概述</vt:lpstr>
      <vt:lpstr>4.1 网络层概述</vt:lpstr>
      <vt:lpstr>4.1 网络层概述</vt:lpstr>
      <vt:lpstr>4.1 网络层概述</vt:lpstr>
      <vt:lpstr>4.1 网络层概述</vt:lpstr>
      <vt:lpstr>4.1 网络层概述</vt:lpstr>
      <vt:lpstr>PowerPoint 演示文稿</vt:lpstr>
      <vt:lpstr>4.2 路由器的工作原理</vt:lpstr>
      <vt:lpstr>4.2 路由器的工作原理</vt:lpstr>
      <vt:lpstr>4.2 路由器的工作原理</vt:lpstr>
      <vt:lpstr>4.2 路由器的工作原理</vt:lpstr>
      <vt:lpstr>4.2 路由器的工作原理</vt:lpstr>
      <vt:lpstr>4.2 路由器的工作原理</vt:lpstr>
      <vt:lpstr>4.2 路由器的工作原理</vt:lpstr>
      <vt:lpstr>Q &amp; 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Whhou</dc:creator>
  <cp:lastModifiedBy>传输</cp:lastModifiedBy>
  <cp:revision>58</cp:revision>
  <dcterms:created xsi:type="dcterms:W3CDTF">2020-03-28T02:17:00Z</dcterms:created>
  <dcterms:modified xsi:type="dcterms:W3CDTF">2025-04-02T07:00:16Z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A125A43F0741424FB4CDF27DF2BE8F1F</vt:lpwstr>
  </property>
  <property fmtid="{D5CDD505-2E9C-101B-9397-08002B2CF9AE}" pid="3" name="KSOProductBuildVer">
    <vt:lpwstr>2052-11.1.0.12375</vt:lpwstr>
  </property>
</Properties>
</file>