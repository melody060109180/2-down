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4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2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65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9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0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9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0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05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87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09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13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5A65A9-F2DD-41DD-BDC4-EFF735C6DF9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9DBC896-A07B-49CC-B906-A71B7957FD9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9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04564" y="3976778"/>
            <a:ext cx="10058400" cy="1319056"/>
          </a:xfrm>
        </p:spPr>
        <p:txBody>
          <a:bodyPr>
            <a:normAutofit/>
          </a:bodyPr>
          <a:lstStyle/>
          <a:p>
            <a:r>
              <a:rPr lang="zh-CN" altLang="en-US" sz="3600"/>
              <a:t>计算机网络   </a:t>
            </a:r>
            <a:r>
              <a:rPr lang="zh-CN" altLang="en-US" sz="3600" dirty="0"/>
              <a:t>上机课程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4119" y="2937372"/>
            <a:ext cx="10058400" cy="1143000"/>
          </a:xfrm>
        </p:spPr>
        <p:txBody>
          <a:bodyPr>
            <a:no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实验一 利用</a:t>
            </a:r>
            <a:r>
              <a:rPr lang="en-US" altLang="zh-CN" sz="4000" cap="none" dirty="0">
                <a:latin typeface="Times New Roman" panose="02020603050405020304" pitchFamily="18" charset="0"/>
                <a:ea typeface="宋体" panose="02010600030101010101" pitchFamily="2" charset="-122"/>
              </a:rPr>
              <a:t>Wireshark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Http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328335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1" y="1255295"/>
            <a:ext cx="4064160" cy="179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48574" y="552091"/>
            <a:ext cx="3212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1.Wireshark</a:t>
            </a:r>
            <a:r>
              <a:rPr lang="zh-CN" altLang="en-US" sz="2400" dirty="0"/>
              <a:t>下载与安装</a:t>
            </a:r>
          </a:p>
        </p:txBody>
      </p:sp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181" y="1255295"/>
            <a:ext cx="6223808" cy="4903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207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6159" y="577970"/>
            <a:ext cx="4136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2.Wireshark</a:t>
            </a:r>
            <a:r>
              <a:rPr lang="zh-CN" altLang="en-US" sz="2400" dirty="0"/>
              <a:t>基本使用方法介绍</a:t>
            </a:r>
          </a:p>
        </p:txBody>
      </p:sp>
      <p:pic>
        <p:nvPicPr>
          <p:cNvPr id="5" name="Picture 2" descr="fig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59" y="1166656"/>
            <a:ext cx="7125419" cy="498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144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12" y="1039635"/>
            <a:ext cx="9691327" cy="50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966159" y="57797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抓包查看协议类型</a:t>
            </a:r>
          </a:p>
        </p:txBody>
      </p:sp>
    </p:spTree>
    <p:extLst>
      <p:ext uri="{BB962C8B-B14F-4D97-AF65-F5344CB8AC3E}">
        <p14:creationId xmlns:p14="http://schemas.microsoft.com/office/powerpoint/2010/main" val="224882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83" y="824274"/>
            <a:ext cx="10233869" cy="536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38355" y="2846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筛选协议</a:t>
            </a:r>
          </a:p>
        </p:txBody>
      </p:sp>
    </p:spTree>
    <p:extLst>
      <p:ext uri="{BB962C8B-B14F-4D97-AF65-F5344CB8AC3E}">
        <p14:creationId xmlns:p14="http://schemas.microsoft.com/office/powerpoint/2010/main" val="2977975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59" y="2375440"/>
            <a:ext cx="9446161" cy="299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966159" y="577970"/>
            <a:ext cx="4820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3.</a:t>
            </a:r>
            <a:r>
              <a:rPr lang="zh-CN" altLang="en-US" sz="2400" dirty="0"/>
              <a:t>清空</a:t>
            </a:r>
            <a:r>
              <a:rPr lang="en-US" altLang="zh-CN" sz="2400" dirty="0"/>
              <a:t>DNS</a:t>
            </a:r>
            <a:r>
              <a:rPr lang="zh-CN" altLang="en-US" sz="2400" dirty="0"/>
              <a:t>高速缓存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在命令提示行输入</a:t>
            </a:r>
            <a:r>
              <a:rPr lang="en-US" altLang="zh-CN" sz="2400" dirty="0"/>
              <a:t>ipconfig/</a:t>
            </a:r>
            <a:r>
              <a:rPr lang="en-US" altLang="zh-CN" sz="2400" dirty="0" err="1"/>
              <a:t>flushdns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028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/>
          <a:stretch>
            <a:fillRect/>
          </a:stretch>
        </p:blipFill>
        <p:spPr bwMode="auto">
          <a:xfrm>
            <a:off x="638355" y="1159114"/>
            <a:ext cx="7905660" cy="457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38355" y="284672"/>
            <a:ext cx="496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4.</a:t>
            </a:r>
            <a:r>
              <a:rPr lang="zh-CN" altLang="en-US" sz="2400" dirty="0"/>
              <a:t>分析</a:t>
            </a:r>
            <a:r>
              <a:rPr lang="en-US" altLang="zh-CN" sz="2400" dirty="0"/>
              <a:t>HTTP</a:t>
            </a:r>
            <a:r>
              <a:rPr lang="zh-CN" altLang="en-US" sz="2400" dirty="0"/>
              <a:t>首部信息：</a:t>
            </a:r>
            <a:r>
              <a:rPr lang="en-US" altLang="zh-CN" sz="2400" dirty="0"/>
              <a:t>Cache-control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063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"/>
          <a:stretch>
            <a:fillRect/>
          </a:stretch>
        </p:blipFill>
        <p:spPr bwMode="auto">
          <a:xfrm>
            <a:off x="1279884" y="1162835"/>
            <a:ext cx="7148124" cy="4830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210872" y="429088"/>
            <a:ext cx="6797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5.</a:t>
            </a:r>
            <a:r>
              <a:rPr lang="zh-CN" altLang="en-US" sz="2400" dirty="0"/>
              <a:t>分析</a:t>
            </a:r>
            <a:r>
              <a:rPr lang="en-US" altLang="zh-CN" sz="2400" dirty="0"/>
              <a:t>web</a:t>
            </a:r>
            <a:r>
              <a:rPr lang="zh-CN" altLang="en-US" sz="2400" dirty="0"/>
              <a:t>服务器列出内容类型及可接受编码内容</a:t>
            </a:r>
          </a:p>
        </p:txBody>
      </p:sp>
    </p:spTree>
    <p:extLst>
      <p:ext uri="{BB962C8B-B14F-4D97-AF65-F5344CB8AC3E}">
        <p14:creationId xmlns:p14="http://schemas.microsoft.com/office/powerpoint/2010/main" val="147113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52" y="1574770"/>
            <a:ext cx="10335415" cy="377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50152" y="584364"/>
            <a:ext cx="4110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6.</a:t>
            </a:r>
            <a:r>
              <a:rPr lang="zh-CN" altLang="en-US" sz="2400" dirty="0"/>
              <a:t>分析</a:t>
            </a:r>
            <a:r>
              <a:rPr lang="zh-CN" altLang="zh-CN" sz="2400" dirty="0"/>
              <a:t>服务器响应报文的</a:t>
            </a:r>
            <a:r>
              <a:rPr lang="zh-CN" altLang="en-US" sz="2400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8738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1789" y="1580672"/>
            <a:ext cx="904434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0" dirty="0">
                <a:latin typeface="宋体" panose="02010600030101010101" pitchFamily="2" charset="-122"/>
              </a:rPr>
              <a:t>Last-Modified</a:t>
            </a:r>
            <a:r>
              <a:rPr lang="en-US" altLang="zh-CN" kern="0" dirty="0">
                <a:latin typeface="宋体" panose="02010600030101010101" pitchFamily="2" charset="-122"/>
              </a:rPr>
              <a:t> </a:t>
            </a:r>
            <a:r>
              <a:rPr lang="zh-CN" altLang="zh-CN" kern="0" dirty="0">
                <a:latin typeface="Times New Roman" panose="02020603050405020304" pitchFamily="18" charset="0"/>
              </a:rPr>
              <a:t>与</a:t>
            </a:r>
            <a:r>
              <a:rPr lang="en-US" altLang="zh-CN" kern="0" dirty="0">
                <a:latin typeface="Times New Roman" panose="02020603050405020304" pitchFamily="18" charset="0"/>
              </a:rPr>
              <a:t>If-Modified-Since</a:t>
            </a:r>
            <a:r>
              <a:rPr lang="zh-CN" altLang="zh-CN" kern="0" dirty="0">
                <a:latin typeface="Times New Roman" panose="02020603050405020304" pitchFamily="18" charset="0"/>
              </a:rPr>
              <a:t>都是用来记录页面的最后修改时间。当客户端访问页面时，服务器会将页面最后修改时间通过</a:t>
            </a:r>
            <a:r>
              <a:rPr lang="en-US" altLang="zh-CN" kern="0" dirty="0">
                <a:latin typeface="Times New Roman" panose="02020603050405020304" pitchFamily="18" charset="0"/>
              </a:rPr>
              <a:t> Last-Modified </a:t>
            </a:r>
            <a:r>
              <a:rPr lang="zh-CN" altLang="zh-CN" kern="0" dirty="0">
                <a:latin typeface="Times New Roman" panose="02020603050405020304" pitchFamily="18" charset="0"/>
              </a:rPr>
              <a:t>标识由服务器发往客户端，客户端记录修改时间，再次请求本地存在的</a:t>
            </a:r>
            <a:r>
              <a:rPr lang="en-US" altLang="zh-CN" kern="0" dirty="0">
                <a:latin typeface="Times New Roman" panose="02020603050405020304" pitchFamily="18" charset="0"/>
              </a:rPr>
              <a:t>cache</a:t>
            </a:r>
            <a:r>
              <a:rPr lang="zh-CN" altLang="zh-CN" kern="0" dirty="0">
                <a:latin typeface="Times New Roman" panose="02020603050405020304" pitchFamily="18" charset="0"/>
              </a:rPr>
              <a:t>页面时，客户端会通过</a:t>
            </a:r>
            <a:r>
              <a:rPr lang="en-US" altLang="zh-CN" kern="0" dirty="0">
                <a:latin typeface="Times New Roman" panose="02020603050405020304" pitchFamily="18" charset="0"/>
              </a:rPr>
              <a:t> If-Modified-Since </a:t>
            </a:r>
            <a:r>
              <a:rPr lang="zh-CN" altLang="zh-CN" kern="0" dirty="0">
                <a:latin typeface="Times New Roman" panose="02020603050405020304" pitchFamily="18" charset="0"/>
              </a:rPr>
              <a:t>头将先前服务器端发过来的最后修改时间戳发送回去，服务器端通过这个时间戳判断客户端的页面是否是最新的，如果不是最新的，则返回新的内容，如果是最新的，则 返回</a:t>
            </a:r>
            <a:r>
              <a:rPr lang="en-US" altLang="zh-CN" kern="0" dirty="0">
                <a:latin typeface="Times New Roman" panose="02020603050405020304" pitchFamily="18" charset="0"/>
              </a:rPr>
              <a:t> 304 </a:t>
            </a:r>
            <a:r>
              <a:rPr lang="zh-CN" altLang="zh-CN" kern="0" dirty="0">
                <a:latin typeface="Times New Roman" panose="02020603050405020304" pitchFamily="18" charset="0"/>
              </a:rPr>
              <a:t>告诉客户端其本地</a:t>
            </a:r>
            <a:r>
              <a:rPr lang="en-US" altLang="zh-CN" kern="0" dirty="0">
                <a:latin typeface="Times New Roman" panose="02020603050405020304" pitchFamily="18" charset="0"/>
              </a:rPr>
              <a:t> cache </a:t>
            </a:r>
            <a:r>
              <a:rPr lang="zh-CN" altLang="zh-CN" kern="0" dirty="0">
                <a:latin typeface="Times New Roman" panose="02020603050405020304" pitchFamily="18" charset="0"/>
              </a:rPr>
              <a:t>的页面是最新的，于是客户端就可以直接从本地加载页面了，这样在网络上传输的数据就会大大减少，同时也减轻了服务器的负担。</a:t>
            </a:r>
            <a:endParaRPr lang="zh-CN" altLang="zh-CN" sz="1400" kern="100" dirty="0"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2680" y="722387"/>
            <a:ext cx="6218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7.</a:t>
            </a:r>
            <a:r>
              <a:rPr lang="zh-CN" altLang="en-US" sz="2400" dirty="0"/>
              <a:t>分析</a:t>
            </a:r>
            <a:r>
              <a:rPr lang="en-US" altLang="zh-CN" sz="2400" dirty="0"/>
              <a:t>Last-Modified </a:t>
            </a:r>
            <a:r>
              <a:rPr lang="zh-CN" altLang="zh-CN" sz="2400" dirty="0"/>
              <a:t>与</a:t>
            </a:r>
            <a:r>
              <a:rPr lang="en-US" altLang="zh-CN" sz="2400" dirty="0"/>
              <a:t>If-Modified-Since</a:t>
            </a:r>
            <a:r>
              <a:rPr lang="zh-CN" altLang="zh-CN" sz="2400" dirty="0"/>
              <a:t>的区别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2827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456" y="3333914"/>
            <a:ext cx="5778780" cy="2385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186582" y="541232"/>
            <a:ext cx="1049999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8.</a:t>
            </a:r>
            <a:r>
              <a:rPr lang="zh-CN" altLang="en-US" sz="2400" dirty="0"/>
              <a:t>分析服务器对第二个请求是否明确返回文件内容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状态码：</a:t>
            </a:r>
            <a:r>
              <a:rPr lang="en-US" altLang="zh-CN" sz="2400" dirty="0"/>
              <a:t> 304.  </a:t>
            </a:r>
            <a:r>
              <a:rPr lang="zh-CN" altLang="zh-CN" sz="2400" dirty="0"/>
              <a:t>服务器没有明确返回文件内容。</a:t>
            </a:r>
            <a:endParaRPr lang="en-US" altLang="zh-CN" sz="2400" dirty="0"/>
          </a:p>
          <a:p>
            <a:r>
              <a:rPr lang="zh-CN" altLang="zh-CN" sz="2400" dirty="0"/>
              <a:t>因为返回</a:t>
            </a:r>
            <a:r>
              <a:rPr lang="en-US" altLang="zh-CN" sz="2400" dirty="0"/>
              <a:t>304</a:t>
            </a:r>
            <a:r>
              <a:rPr lang="zh-CN" altLang="zh-CN" sz="2400" dirty="0"/>
              <a:t>状态码，意思是不返回文件内容。</a:t>
            </a:r>
            <a:endParaRPr lang="en-US" altLang="zh-CN" sz="2400" dirty="0"/>
          </a:p>
          <a:p>
            <a:r>
              <a:rPr lang="zh-CN" altLang="zh-CN" sz="2400" dirty="0"/>
              <a:t>具体原因：浏览器端缓存页面最后修改时间与服务器端时间一致，</a:t>
            </a:r>
            <a:endParaRPr lang="en-US" altLang="zh-CN" sz="2400" dirty="0"/>
          </a:p>
          <a:p>
            <a:r>
              <a:rPr lang="zh-CN" altLang="zh-CN" sz="2400" dirty="0"/>
              <a:t>返回</a:t>
            </a:r>
            <a:r>
              <a:rPr lang="en-US" altLang="zh-CN" sz="2400" dirty="0"/>
              <a:t>304</a:t>
            </a:r>
            <a:r>
              <a:rPr lang="zh-CN" altLang="zh-CN" sz="2400" dirty="0"/>
              <a:t>状态码，客户端接到之后，就直接把本地缓存文件显示到浏览器中。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804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"/>
          <a:stretch>
            <a:fillRect/>
          </a:stretch>
        </p:blipFill>
        <p:spPr bwMode="auto">
          <a:xfrm>
            <a:off x="995213" y="1902574"/>
            <a:ext cx="9436751" cy="197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50152" y="584364"/>
            <a:ext cx="786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9.</a:t>
            </a:r>
            <a:r>
              <a:rPr lang="zh-CN" altLang="en-US" sz="2400" dirty="0"/>
              <a:t>分析</a:t>
            </a:r>
            <a:r>
              <a:rPr lang="en-US" altLang="zh-CN" sz="2400" dirty="0"/>
              <a:t>HTTP</a:t>
            </a:r>
            <a:r>
              <a:rPr lang="zh-CN" altLang="en-US" sz="2400" dirty="0"/>
              <a:t>响应报文需要多少个</a:t>
            </a:r>
            <a:r>
              <a:rPr lang="en-US" altLang="zh-CN" sz="2400" dirty="0"/>
              <a:t>data-containing TCP</a:t>
            </a:r>
            <a:r>
              <a:rPr lang="zh-CN" altLang="zh-CN" sz="2400" dirty="0"/>
              <a:t>报文段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0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0152" y="584364"/>
            <a:ext cx="5497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10.</a:t>
            </a:r>
            <a:r>
              <a:rPr lang="zh-CN" altLang="en-US" sz="2400" dirty="0"/>
              <a:t>分析浏览器是串行还是并行下载图片</a:t>
            </a:r>
          </a:p>
        </p:txBody>
      </p:sp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52" y="1646038"/>
            <a:ext cx="11027270" cy="875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850152" y="3121179"/>
            <a:ext cx="1008814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当</a:t>
            </a:r>
            <a:r>
              <a:rPr lang="zh-CN" altLang="zh-CN" sz="2400" dirty="0"/>
              <a:t>两个图片是连续请求，不需要等第一个请求得到回复后才继续第二次请求</a:t>
            </a:r>
            <a:r>
              <a:rPr lang="zh-CN" altLang="en-US" sz="2400" dirty="0"/>
              <a:t>，是并行下载</a:t>
            </a:r>
            <a:r>
              <a:rPr lang="zh-CN" altLang="zh-CN" sz="2400" dirty="0"/>
              <a:t>。有时候不同网络环境下，可能抓到的包是在对应请求得到回应后才继续第二次的请求，有时候是不需要等第一个请求得到回复后才继续第二次请求。可以多抓几次试试。只有存在不需要等第一个请求得到回复后才继续第二次请求的情况，就说明是并行的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10601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 txBox="1">
            <a:spLocks/>
          </p:cNvSpPr>
          <p:nvPr/>
        </p:nvSpPr>
        <p:spPr>
          <a:xfrm>
            <a:off x="1298459" y="2773470"/>
            <a:ext cx="10058400" cy="114300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</a:rPr>
              <a:t>请根据实验指导书，完成第一次上机报告。</a:t>
            </a:r>
          </a:p>
        </p:txBody>
      </p:sp>
    </p:spTree>
    <p:extLst>
      <p:ext uri="{BB962C8B-B14F-4D97-AF65-F5344CB8AC3E}">
        <p14:creationId xmlns:p14="http://schemas.microsoft.com/office/powerpoint/2010/main" val="1415678358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430</Words>
  <Application>Microsoft Office PowerPoint</Application>
  <PresentationFormat>宽屏</PresentationFormat>
  <Paragraphs>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宋体</vt:lpstr>
      <vt:lpstr>Calibri</vt:lpstr>
      <vt:lpstr>Calibri Light</vt:lpstr>
      <vt:lpstr>Times New Roman</vt:lpstr>
      <vt:lpstr>回顾</vt:lpstr>
      <vt:lpstr>计算机网络   上机课程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计算机网络与通信   上机课程</dc:title>
  <dc:creator>somnussyq@163.com</dc:creator>
  <cp:lastModifiedBy>Min Gao</cp:lastModifiedBy>
  <cp:revision>6</cp:revision>
  <dcterms:created xsi:type="dcterms:W3CDTF">2017-03-12T07:50:56Z</dcterms:created>
  <dcterms:modified xsi:type="dcterms:W3CDTF">2026-03-21T11:49:28Z</dcterms:modified>
</cp:coreProperties>
</file>