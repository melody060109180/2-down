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24"/>
  </p:notesMasterIdLst>
  <p:sldIdLst>
    <p:sldId id="256" r:id="rId2"/>
    <p:sldId id="332" r:id="rId3"/>
    <p:sldId id="260" r:id="rId4"/>
    <p:sldId id="630" r:id="rId5"/>
    <p:sldId id="761" r:id="rId6"/>
    <p:sldId id="762" r:id="rId7"/>
    <p:sldId id="763" r:id="rId8"/>
    <p:sldId id="646" r:id="rId9"/>
    <p:sldId id="648" r:id="rId10"/>
    <p:sldId id="649" r:id="rId11"/>
    <p:sldId id="650" r:id="rId12"/>
    <p:sldId id="651" r:id="rId13"/>
    <p:sldId id="747" r:id="rId14"/>
    <p:sldId id="652" r:id="rId15"/>
    <p:sldId id="653" r:id="rId16"/>
    <p:sldId id="654" r:id="rId17"/>
    <p:sldId id="655" r:id="rId18"/>
    <p:sldId id="674" r:id="rId19"/>
    <p:sldId id="656" r:id="rId20"/>
    <p:sldId id="657" r:id="rId21"/>
    <p:sldId id="524" r:id="rId22"/>
    <p:sldId id="658" r:id="rId23"/>
    <p:sldId id="659" r:id="rId24"/>
    <p:sldId id="749" r:id="rId25"/>
    <p:sldId id="660" r:id="rId26"/>
    <p:sldId id="750" r:id="rId27"/>
    <p:sldId id="661" r:id="rId28"/>
    <p:sldId id="751" r:id="rId29"/>
    <p:sldId id="662" r:id="rId30"/>
    <p:sldId id="756" r:id="rId31"/>
    <p:sldId id="757" r:id="rId32"/>
    <p:sldId id="663" r:id="rId33"/>
    <p:sldId id="752" r:id="rId34"/>
    <p:sldId id="664" r:id="rId35"/>
    <p:sldId id="758" r:id="rId36"/>
    <p:sldId id="754" r:id="rId37"/>
    <p:sldId id="665" r:id="rId38"/>
    <p:sldId id="666" r:id="rId39"/>
    <p:sldId id="667" r:id="rId40"/>
    <p:sldId id="668" r:id="rId41"/>
    <p:sldId id="670" r:id="rId42"/>
    <p:sldId id="671" r:id="rId43"/>
    <p:sldId id="672" r:id="rId44"/>
    <p:sldId id="673" r:id="rId45"/>
    <p:sldId id="675" r:id="rId46"/>
    <p:sldId id="676" r:id="rId47"/>
    <p:sldId id="677" r:id="rId48"/>
    <p:sldId id="755" r:id="rId49"/>
    <p:sldId id="678" r:id="rId50"/>
    <p:sldId id="679" r:id="rId51"/>
    <p:sldId id="680" r:id="rId52"/>
    <p:sldId id="681" r:id="rId53"/>
    <p:sldId id="682" r:id="rId54"/>
    <p:sldId id="683" r:id="rId55"/>
    <p:sldId id="684" r:id="rId56"/>
    <p:sldId id="685" r:id="rId57"/>
    <p:sldId id="687" r:id="rId58"/>
    <p:sldId id="686" r:id="rId59"/>
    <p:sldId id="688" r:id="rId60"/>
    <p:sldId id="689" r:id="rId61"/>
    <p:sldId id="690" r:id="rId62"/>
    <p:sldId id="691" r:id="rId63"/>
    <p:sldId id="692" r:id="rId64"/>
    <p:sldId id="693" r:id="rId65"/>
    <p:sldId id="694" r:id="rId66"/>
    <p:sldId id="695" r:id="rId67"/>
    <p:sldId id="748" r:id="rId68"/>
    <p:sldId id="696" r:id="rId69"/>
    <p:sldId id="697" r:id="rId70"/>
    <p:sldId id="698" r:id="rId71"/>
    <p:sldId id="699" r:id="rId72"/>
    <p:sldId id="700" r:id="rId73"/>
    <p:sldId id="701" r:id="rId74"/>
    <p:sldId id="702" r:id="rId75"/>
    <p:sldId id="760" r:id="rId76"/>
    <p:sldId id="703" r:id="rId77"/>
    <p:sldId id="704" r:id="rId78"/>
    <p:sldId id="705" r:id="rId79"/>
    <p:sldId id="706" r:id="rId80"/>
    <p:sldId id="707" r:id="rId81"/>
    <p:sldId id="708" r:id="rId82"/>
    <p:sldId id="709" r:id="rId83"/>
    <p:sldId id="710" r:id="rId84"/>
    <p:sldId id="711" r:id="rId85"/>
    <p:sldId id="712" r:id="rId86"/>
    <p:sldId id="713" r:id="rId87"/>
    <p:sldId id="759" r:id="rId88"/>
    <p:sldId id="715" r:id="rId89"/>
    <p:sldId id="716" r:id="rId90"/>
    <p:sldId id="717" r:id="rId91"/>
    <p:sldId id="718" r:id="rId92"/>
    <p:sldId id="719" r:id="rId93"/>
    <p:sldId id="720" r:id="rId94"/>
    <p:sldId id="721" r:id="rId95"/>
    <p:sldId id="764" r:id="rId96"/>
    <p:sldId id="722" r:id="rId97"/>
    <p:sldId id="724" r:id="rId98"/>
    <p:sldId id="723" r:id="rId99"/>
    <p:sldId id="765" r:id="rId100"/>
    <p:sldId id="725" r:id="rId101"/>
    <p:sldId id="726" r:id="rId102"/>
    <p:sldId id="727" r:id="rId103"/>
    <p:sldId id="728" r:id="rId104"/>
    <p:sldId id="729" r:id="rId105"/>
    <p:sldId id="730" r:id="rId106"/>
    <p:sldId id="731" r:id="rId107"/>
    <p:sldId id="732" r:id="rId108"/>
    <p:sldId id="766" r:id="rId109"/>
    <p:sldId id="733" r:id="rId110"/>
    <p:sldId id="734" r:id="rId111"/>
    <p:sldId id="735" r:id="rId112"/>
    <p:sldId id="736" r:id="rId113"/>
    <p:sldId id="737" r:id="rId114"/>
    <p:sldId id="738" r:id="rId115"/>
    <p:sldId id="739" r:id="rId116"/>
    <p:sldId id="740" r:id="rId117"/>
    <p:sldId id="741" r:id="rId118"/>
    <p:sldId id="742" r:id="rId119"/>
    <p:sldId id="743" r:id="rId120"/>
    <p:sldId id="744" r:id="rId121"/>
    <p:sldId id="745" r:id="rId122"/>
    <p:sldId id="426" r:id="rId1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CCFFCC"/>
    <a:srgbClr val="CC6600"/>
    <a:srgbClr val="FF9900"/>
    <a:srgbClr val="4E8F00"/>
    <a:srgbClr val="008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57" autoAdjust="0"/>
    <p:restoredTop sz="94660"/>
  </p:normalViewPr>
  <p:slideViewPr>
    <p:cSldViewPr snapToGrid="0">
      <p:cViewPr varScale="1">
        <p:scale>
          <a:sx n="82" d="100"/>
          <a:sy n="82" d="100"/>
        </p:scale>
        <p:origin x="1627" y="72"/>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6D237-0A8C-41AD-A549-C316A052396E}" type="datetimeFigureOut">
              <a:rPr lang="zh-CN" altLang="en-US" smtClean="0"/>
              <a:t>2025/2/6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A3D49-478E-4229-8803-539C598C7A39}" type="slidenum">
              <a:rPr lang="zh-CN" altLang="en-US" smtClean="0"/>
              <a:t>‹#›</a:t>
            </a:fld>
            <a:endParaRPr lang="zh-CN" altLang="en-US"/>
          </a:p>
        </p:txBody>
      </p:sp>
    </p:spTree>
    <p:extLst>
      <p:ext uri="{BB962C8B-B14F-4D97-AF65-F5344CB8AC3E}">
        <p14:creationId xmlns:p14="http://schemas.microsoft.com/office/powerpoint/2010/main" val="13156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图片 7" descr="深蓝色的天空中漂浮着朵朵白云"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117854" cy="3886200"/>
          </a:xfrm>
          <a:prstGeom prst="rect">
            <a:avLst/>
          </a:prstGeom>
        </p:spPr>
      </p:pic>
      <p:sp>
        <p:nvSpPr>
          <p:cNvPr id="9" name="矩形 8"/>
          <p:cNvSpPr/>
          <p:nvPr/>
        </p:nvSpPr>
        <p:spPr>
          <a:xfrm>
            <a:off x="1200150" y="0"/>
            <a:ext cx="37719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pic>
        <p:nvPicPr>
          <p:cNvPr id="10" name="图片 9" descr="植物出芽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054347" y="2057400"/>
            <a:ext cx="1545575" cy="3886200"/>
          </a:xfrm>
          <a:prstGeom prst="rect">
            <a:avLst/>
          </a:prstGeom>
        </p:spPr>
      </p:pic>
      <p:pic>
        <p:nvPicPr>
          <p:cNvPr id="11" name="图片 10" descr="波形" title="幻灯片设计图片"/>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682217" y="2057400"/>
            <a:ext cx="2462022" cy="3886200"/>
          </a:xfrm>
          <a:prstGeom prst="rect">
            <a:avLst/>
          </a:prstGeom>
        </p:spPr>
      </p:pic>
      <p:sp>
        <p:nvSpPr>
          <p:cNvPr id="2" name="标题 1"/>
          <p:cNvSpPr>
            <a:spLocks noGrp="1"/>
          </p:cNvSpPr>
          <p:nvPr>
            <p:ph type="ctrTitle"/>
          </p:nvPr>
        </p:nvSpPr>
        <p:spPr>
          <a:xfrm>
            <a:off x="1268730" y="303347"/>
            <a:ext cx="3634740" cy="2387600"/>
          </a:xfrm>
        </p:spPr>
        <p:txBody>
          <a:bodyPr anchor="b">
            <a:normAutofit/>
          </a:bodyPr>
          <a:lstStyle>
            <a:lvl1pPr algn="l" latinLnBrk="0">
              <a:lnSpc>
                <a:spcPct val="90000"/>
              </a:lnSpc>
              <a:defRPr lang="zh-CN" sz="4400">
                <a:solidFill>
                  <a:schemeClr val="bg1"/>
                </a:solidFill>
              </a:defRPr>
            </a:lvl1pPr>
          </a:lstStyle>
          <a:p>
            <a:r>
              <a:rPr lang="zh-CN" altLang="en-US" dirty="0"/>
              <a:t>单击此处编辑母版标题样式</a:t>
            </a:r>
            <a:endParaRPr lang="zh-CN" dirty="0"/>
          </a:p>
        </p:txBody>
      </p:sp>
      <p:sp>
        <p:nvSpPr>
          <p:cNvPr id="3" name="副标题 2"/>
          <p:cNvSpPr>
            <a:spLocks noGrp="1"/>
          </p:cNvSpPr>
          <p:nvPr>
            <p:ph type="subTitle" idx="1"/>
          </p:nvPr>
        </p:nvSpPr>
        <p:spPr>
          <a:xfrm>
            <a:off x="1313833" y="5381894"/>
            <a:ext cx="3634740" cy="448056"/>
          </a:xfrm>
        </p:spPr>
        <p:txBody>
          <a:bodyPr>
            <a:normAutofit/>
          </a:bodyPr>
          <a:lstStyle>
            <a:lvl1pPr marL="0" indent="0" algn="l" latinLnBrk="0">
              <a:spcBef>
                <a:spcPts val="0"/>
              </a:spcBef>
              <a:buNone/>
              <a:defRPr lang="zh-CN" sz="1800">
                <a:solidFill>
                  <a:schemeClr val="bg1"/>
                </a:solidFill>
              </a:defRPr>
            </a:lvl1pPr>
            <a:lvl2pPr marL="342900" indent="0" algn="ctr" latinLnBrk="0">
              <a:buNone/>
              <a:defRPr lang="zh-CN" sz="1500"/>
            </a:lvl2pPr>
            <a:lvl3pPr marL="685800" indent="0" algn="ctr" latinLnBrk="0">
              <a:buNone/>
              <a:defRPr lang="zh-CN" sz="1350"/>
            </a:lvl3pPr>
            <a:lvl4pPr marL="1028700" indent="0" algn="ctr" latinLnBrk="0">
              <a:buNone/>
              <a:defRPr lang="zh-CN" sz="1200"/>
            </a:lvl4pPr>
            <a:lvl5pPr marL="1371600" indent="0" algn="ctr" latinLnBrk="0">
              <a:buNone/>
              <a:defRPr lang="zh-CN" sz="1200"/>
            </a:lvl5pPr>
            <a:lvl6pPr marL="1714500" indent="0" algn="ctr" latinLnBrk="0">
              <a:buNone/>
              <a:defRPr lang="zh-CN" sz="1200"/>
            </a:lvl6pPr>
            <a:lvl7pPr marL="2057400" indent="0" algn="ctr" latinLnBrk="0">
              <a:buNone/>
              <a:defRPr lang="zh-CN" sz="1200"/>
            </a:lvl7pPr>
            <a:lvl8pPr marL="2400300" indent="0" algn="ctr" latinLnBrk="0">
              <a:buNone/>
              <a:defRPr lang="zh-CN" sz="1200"/>
            </a:lvl8pPr>
            <a:lvl9pPr marL="2743200" indent="0" algn="ctr" latinLnBrk="0">
              <a:buNone/>
              <a:defRPr lang="zh-CN" sz="1200"/>
            </a:lvl9pPr>
          </a:lstStyle>
          <a:p>
            <a:r>
              <a:rPr lang="zh-CN" altLang="en-US" dirty="0"/>
              <a:t>单击此处编辑母版副标题样式</a:t>
            </a:r>
            <a:endParaRPr lang="zh-CN" dirty="0"/>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章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400">
                <a:latin typeface="Arial" panose="020B0604020202020204" pitchFamily="34" charset="0"/>
                <a:cs typeface="Arial" panose="020B0604020202020204" pitchFamily="34" charset="0"/>
              </a:defRPr>
            </a:lvl1pPr>
            <a:lvl2pPr>
              <a:lnSpc>
                <a:spcPct val="150000"/>
              </a:lnSpc>
              <a:defRPr sz="2000">
                <a:latin typeface="Arial" panose="020B0604020202020204" pitchFamily="34" charset="0"/>
                <a:cs typeface="Arial" panose="020B0604020202020204" pitchFamily="34" charset="0"/>
              </a:defRPr>
            </a:lvl2pPr>
          </a:lstStyle>
          <a:p>
            <a:pPr lvl="0"/>
            <a:r>
              <a:rPr lang="zh-CN" altLang="en-US" dirty="0"/>
              <a:t>单击此处编辑母版文本样式</a:t>
            </a:r>
          </a:p>
          <a:p>
            <a:pPr lvl="1"/>
            <a:r>
              <a:rPr lang="zh-CN" altLang="en-US" dirty="0"/>
              <a:t> 第二级</a:t>
            </a:r>
          </a:p>
        </p:txBody>
      </p:sp>
      <p:sp>
        <p:nvSpPr>
          <p:cNvPr id="4" name="日期占位符 3"/>
          <p:cNvSpPr>
            <a:spLocks noGrp="1"/>
          </p:cNvSpPr>
          <p:nvPr>
            <p:ph type="dt" sz="half" idx="10"/>
          </p:nvPr>
        </p:nvSpPr>
        <p:spPr>
          <a:xfrm>
            <a:off x="457200" y="6629400"/>
            <a:ext cx="616623" cy="228600"/>
          </a:xfrm>
        </p:spPr>
        <p:txBody>
          <a:bodyPr/>
          <a:lstStyle>
            <a:lvl1pPr>
              <a:defRPr sz="800"/>
            </a:lvl1pPr>
          </a:lstStyle>
          <a:p>
            <a:fld id="{C69415A0-FAE7-FB41-9F48-9F24B7034EC9}" type="datetime1">
              <a:rPr lang="zh-CN" altLang="en-US" smtClean="0"/>
              <a:t>2025/2/6</a:t>
            </a:fld>
            <a:endParaRPr lang="en-US"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
        <p:nvSpPr>
          <p:cNvPr id="6" name="幻灯片编号占位符 5"/>
          <p:cNvSpPr>
            <a:spLocks noGrp="1"/>
          </p:cNvSpPr>
          <p:nvPr>
            <p:ph type="sldNum" sz="quarter" idx="12"/>
          </p:nvPr>
        </p:nvSpPr>
        <p:spPr>
          <a:xfrm>
            <a:off x="0" y="6629400"/>
            <a:ext cx="457200" cy="228600"/>
          </a:xfrm>
        </p:spPr>
        <p:txBody>
          <a:bodyPr/>
          <a:lstStyle>
            <a:lvl1pPr>
              <a:defRPr sz="800"/>
            </a:lvl1pPr>
          </a:lstStyle>
          <a:p>
            <a:fld id="{9CD8D479-8942-46E8-A226-A4E01F7A105C}" type="slidenum">
              <a:rPr lang="en-US" altLang="zh-CN" smtClean="0"/>
              <a:pPr/>
              <a:t>‹#›</a:t>
            </a:fld>
            <a:endParaRPr lang="zh-CN" altLang="en-US" dirty="0"/>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200">
                <a:latin typeface="Arial" panose="020B0604020202020204" pitchFamily="34" charset="0"/>
                <a:ea typeface="微软雅黑" panose="020B0503020204020204" pitchFamily="34" charset="-122"/>
                <a:cs typeface="Arial" panose="020B0604020202020204" pitchFamily="34" charset="0"/>
              </a:defRPr>
            </a:lvl1pPr>
            <a:lvl2pPr>
              <a:lnSpc>
                <a:spcPct val="150000"/>
              </a:lnSpc>
              <a:defRPr sz="2000">
                <a:latin typeface="Arial" panose="020B0604020202020204" pitchFamily="34" charset="0"/>
                <a:ea typeface="微软雅黑" panose="020B0503020204020204" pitchFamily="34" charset="-122"/>
                <a:cs typeface="Arial" panose="020B0604020202020204" pitchFamily="34" charset="0"/>
              </a:defRPr>
            </a:lvl2pPr>
            <a:lvl3pPr>
              <a:lnSpc>
                <a:spcPct val="130000"/>
              </a:lnSpc>
              <a:defRPr sz="1600">
                <a:solidFill>
                  <a:schemeClr val="accent2">
                    <a:lumMod val="75000"/>
                  </a:schemeClr>
                </a:solidFill>
                <a:latin typeface="Arial" panose="020B0604020202020204" pitchFamily="34" charset="0"/>
                <a:cs typeface="Arial" panose="020B0604020202020204" pitchFamily="34" charset="0"/>
              </a:defRPr>
            </a:lvl3pPr>
          </a:lstStyle>
          <a:p>
            <a:pPr lvl="0"/>
            <a:r>
              <a:rPr lang="zh-CN" altLang="en-US" dirty="0"/>
              <a:t>单击此处编辑母版文本样式</a:t>
            </a:r>
          </a:p>
          <a:p>
            <a:pPr lvl="1"/>
            <a:r>
              <a:rPr lang="zh-CN" altLang="en-US" dirty="0"/>
              <a:t> 第二级</a:t>
            </a:r>
            <a:endParaRPr lang="en-US" altLang="zh-CN" dirty="0"/>
          </a:p>
          <a:p>
            <a:pPr lvl="1"/>
            <a:r>
              <a:rPr lang="zh-CN" altLang="en-US" dirty="0"/>
              <a:t> 第二级</a:t>
            </a:r>
            <a:endParaRPr lang="en-US" altLang="zh-CN" dirty="0"/>
          </a:p>
          <a:p>
            <a:pPr lvl="2"/>
            <a:r>
              <a:rPr lang="zh-CN" altLang="en-US" dirty="0"/>
              <a:t> 第三级</a:t>
            </a:r>
          </a:p>
        </p:txBody>
      </p:sp>
      <p:sp>
        <p:nvSpPr>
          <p:cNvPr id="4" name="日期占位符 3"/>
          <p:cNvSpPr>
            <a:spLocks noGrp="1"/>
          </p:cNvSpPr>
          <p:nvPr>
            <p:ph type="dt" sz="half" idx="10"/>
          </p:nvPr>
        </p:nvSpPr>
        <p:spPr>
          <a:xfrm>
            <a:off x="426040" y="6629400"/>
            <a:ext cx="647783" cy="228600"/>
          </a:xfrm>
        </p:spPr>
        <p:txBody>
          <a:bodyPr/>
          <a:lstStyle>
            <a:lvl1pPr>
              <a:defRPr sz="800"/>
            </a:lvl1pPr>
          </a:lstStyle>
          <a:p>
            <a:fld id="{B2CB8352-4891-804B-8CB8-EAFD4E57CF78}" type="datetime1">
              <a:rPr lang="zh-CN" altLang="en-US" smtClean="0"/>
              <a:t>2025/2/6</a:t>
            </a:fld>
            <a:endParaRPr lang="en-US" dirty="0"/>
          </a:p>
        </p:txBody>
      </p:sp>
      <p:sp>
        <p:nvSpPr>
          <p:cNvPr id="6" name="幻灯片编号占位符 5"/>
          <p:cNvSpPr>
            <a:spLocks noGrp="1"/>
          </p:cNvSpPr>
          <p:nvPr>
            <p:ph type="sldNum" sz="quarter" idx="12"/>
          </p:nvPr>
        </p:nvSpPr>
        <p:spPr>
          <a:xfrm>
            <a:off x="-1" y="6629400"/>
            <a:ext cx="426041" cy="228600"/>
          </a:xfrm>
        </p:spPr>
        <p:txBody>
          <a:bodyPr/>
          <a:lstStyle>
            <a:lvl1pPr>
              <a:defRPr sz="800"/>
            </a:lvl1pPr>
          </a:lstStyle>
          <a:p>
            <a:fld id="{9CD8D479-8942-46E8-A226-A4E01F7A105C}" type="slidenum">
              <a:rPr lang="en-US" altLang="zh-CN" smtClean="0"/>
              <a:pPr/>
              <a:t>‹#›</a:t>
            </a:fld>
            <a:endParaRPr lang="zh-CN" altLang="en-US" dirty="0"/>
          </a:p>
        </p:txBody>
      </p:sp>
      <p:sp>
        <p:nvSpPr>
          <p:cNvPr id="7" name="动作按钮: 第一张 6">
            <a:hlinkClick r:id="rId2" action="ppaction://hlinksldjump" highlightClick="1"/>
          </p:cNvPr>
          <p:cNvSpPr/>
          <p:nvPr userDrawn="1"/>
        </p:nvSpPr>
        <p:spPr>
          <a:xfrm>
            <a:off x="8888729" y="6623694"/>
            <a:ext cx="235393" cy="220133"/>
          </a:xfrm>
          <a:prstGeom prst="actionButtonHome">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33720442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矩形 7"/>
          <p:cNvSpPr/>
          <p:nvPr/>
        </p:nvSpPr>
        <p:spPr>
          <a:xfrm>
            <a:off x="1200149" y="2059146"/>
            <a:ext cx="5399772"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2" name="标题 1"/>
          <p:cNvSpPr>
            <a:spLocks noGrp="1"/>
          </p:cNvSpPr>
          <p:nvPr>
            <p:ph type="title"/>
          </p:nvPr>
        </p:nvSpPr>
        <p:spPr>
          <a:xfrm>
            <a:off x="1313833" y="2263915"/>
            <a:ext cx="5212080" cy="2079486"/>
          </a:xfrm>
        </p:spPr>
        <p:txBody>
          <a:bodyPr anchor="b"/>
          <a:lstStyle>
            <a:lvl1pPr latinLnBrk="0">
              <a:defRPr lang="zh-CN" sz="4500">
                <a:solidFill>
                  <a:schemeClr val="bg1"/>
                </a:solidFill>
              </a:defRPr>
            </a:lvl1pPr>
          </a:lstStyle>
          <a:p>
            <a:r>
              <a:rPr lang="zh-CN" altLang="en-US" dirty="0"/>
              <a:t>单击此处编辑母版标题样式</a:t>
            </a:r>
            <a:endParaRPr lang="zh-CN" dirty="0"/>
          </a:p>
        </p:txBody>
      </p:sp>
      <p:sp>
        <p:nvSpPr>
          <p:cNvPr id="3" name="文本占位符 2"/>
          <p:cNvSpPr>
            <a:spLocks noGrp="1"/>
          </p:cNvSpPr>
          <p:nvPr>
            <p:ph type="body" idx="1"/>
          </p:nvPr>
        </p:nvSpPr>
        <p:spPr>
          <a:xfrm>
            <a:off x="1313833" y="5381894"/>
            <a:ext cx="5212080" cy="449523"/>
          </a:xfrm>
        </p:spPr>
        <p:txBody>
          <a:bodyPr/>
          <a:lstStyle>
            <a:lvl1pPr marL="0" indent="0" latinLnBrk="0">
              <a:spcBef>
                <a:spcPts val="0"/>
              </a:spcBef>
              <a:buNone/>
              <a:defRPr lang="zh-CN" sz="1800">
                <a:solidFill>
                  <a:schemeClr val="bg1"/>
                </a:solidFill>
              </a:defRPr>
            </a:lvl1pPr>
            <a:lvl2pPr marL="342900" indent="0" latinLnBrk="0">
              <a:buNone/>
              <a:defRPr lang="zh-CN" sz="1500"/>
            </a:lvl2pPr>
            <a:lvl3pPr marL="685800" indent="0" latinLnBrk="0">
              <a:buNone/>
              <a:defRPr lang="zh-CN" sz="1350"/>
            </a:lvl3pPr>
            <a:lvl4pPr marL="1028700" indent="0" latinLnBrk="0">
              <a:buNone/>
              <a:defRPr lang="zh-CN" sz="1200"/>
            </a:lvl4pPr>
            <a:lvl5pPr marL="1371600" indent="0" latinLnBrk="0">
              <a:buNone/>
              <a:defRPr lang="zh-CN" sz="1200"/>
            </a:lvl5pPr>
            <a:lvl6pPr marL="1714500" indent="0" latinLnBrk="0">
              <a:buNone/>
              <a:defRPr lang="zh-CN" sz="1200"/>
            </a:lvl6pPr>
            <a:lvl7pPr marL="2057400" indent="0" latinLnBrk="0">
              <a:buNone/>
              <a:defRPr lang="zh-CN" sz="1200"/>
            </a:lvl7pPr>
            <a:lvl8pPr marL="2400300" indent="0" latinLnBrk="0">
              <a:buNone/>
              <a:defRPr lang="zh-CN" sz="1200"/>
            </a:lvl8pPr>
            <a:lvl9pPr marL="2743200" indent="0" latinLnBrk="0">
              <a:buNone/>
              <a:defRPr lang="zh-CN" sz="1200"/>
            </a:lvl9pPr>
          </a:lstStyle>
          <a:p>
            <a:pPr lvl="0"/>
            <a:r>
              <a:rPr lang="zh-CN" altLang="en-US"/>
              <a:t>单击此处编辑母版文本样式</a:t>
            </a:r>
          </a:p>
        </p:txBody>
      </p:sp>
      <p:pic>
        <p:nvPicPr>
          <p:cNvPr id="9" name="图片 8" descr="波形"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682217" y="2059146"/>
            <a:ext cx="2462022" cy="3886200"/>
          </a:xfrm>
          <a:prstGeom prst="rect">
            <a:avLst/>
          </a:prstGeom>
        </p:spPr>
      </p:pic>
      <p:pic>
        <p:nvPicPr>
          <p:cNvPr id="11" name="图片 10" descr="绿色植物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117854"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a:xfrm>
            <a:off x="0" y="6629400"/>
            <a:ext cx="1124712"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11" name="矩形 10"/>
          <p:cNvSpPr/>
          <p:nvPr/>
        </p:nvSpPr>
        <p:spPr>
          <a:xfrm>
            <a:off x="1207008" y="6629400"/>
            <a:ext cx="7936992"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accent1">
                  <a:lumMod val="75000"/>
                </a:schemeClr>
              </a:solidFill>
              <a:ea typeface="Microsoft YaHei UI" panose="020B0503020204020204" pitchFamily="34" charset="-122"/>
            </a:endParaRPr>
          </a:p>
        </p:txBody>
      </p:sp>
      <p:sp>
        <p:nvSpPr>
          <p:cNvPr id="2" name="标题占位符 1"/>
          <p:cNvSpPr>
            <a:spLocks noGrp="1"/>
          </p:cNvSpPr>
          <p:nvPr>
            <p:ph type="title"/>
          </p:nvPr>
        </p:nvSpPr>
        <p:spPr>
          <a:xfrm>
            <a:off x="1057520" y="276087"/>
            <a:ext cx="7028962" cy="1183566"/>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1057520" y="1566001"/>
            <a:ext cx="7028961" cy="4620682"/>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幻灯片编号占位符 5"/>
          <p:cNvSpPr>
            <a:spLocks noGrp="1"/>
          </p:cNvSpPr>
          <p:nvPr>
            <p:ph type="sldNum" sz="quarter" idx="4"/>
          </p:nvPr>
        </p:nvSpPr>
        <p:spPr>
          <a:xfrm>
            <a:off x="0" y="6629400"/>
            <a:ext cx="307802"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CD8D479-8942-46E8-A226-A4E01F7A105C}" type="slidenum">
              <a:rPr lang="en-US" altLang="zh-CN" smtClean="0"/>
              <a:pPr/>
              <a:t>‹#›</a:t>
            </a:fld>
            <a:endParaRPr lang="en-US" altLang="zh-CN" dirty="0"/>
          </a:p>
        </p:txBody>
      </p:sp>
      <p:sp>
        <p:nvSpPr>
          <p:cNvPr id="4" name="日期占位符 3"/>
          <p:cNvSpPr>
            <a:spLocks noGrp="1"/>
          </p:cNvSpPr>
          <p:nvPr>
            <p:ph type="dt" sz="half" idx="2"/>
          </p:nvPr>
        </p:nvSpPr>
        <p:spPr>
          <a:xfrm>
            <a:off x="323326" y="6629400"/>
            <a:ext cx="750497"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FB283A0-CB17-A043-9B7A-AF1BF540E167}" type="datetime1">
              <a:rPr lang="zh-CN" altLang="en-US" smtClean="0"/>
              <a:t>2025/2/6</a:t>
            </a:fld>
            <a:endParaRPr lang="en-US" altLang="zh-CN" dirty="0"/>
          </a:p>
        </p:txBody>
      </p:sp>
      <p:sp>
        <p:nvSpPr>
          <p:cNvPr id="5" name="页脚占位符 4"/>
          <p:cNvSpPr>
            <a:spLocks noGrp="1"/>
          </p:cNvSpPr>
          <p:nvPr>
            <p:ph type="ftr" sz="quarter" idx="3"/>
          </p:nvPr>
        </p:nvSpPr>
        <p:spPr>
          <a:xfrm>
            <a:off x="1228288" y="6629400"/>
            <a:ext cx="6858194" cy="228600"/>
          </a:xfrm>
          <a:prstGeom prst="rect">
            <a:avLst/>
          </a:prstGeom>
        </p:spPr>
        <p:txBody>
          <a:bodyPr vert="horz" lIns="91440" tIns="45720" rIns="91440" bIns="45720" rtlCol="0" anchor="ctr"/>
          <a:lstStyle>
            <a:lvl1pPr algn="l" latinLnBrk="0">
              <a:defRPr lang="zh-CN" sz="600">
                <a:solidFill>
                  <a:schemeClr val="accent1">
                    <a:lumMod val="75000"/>
                  </a:schemeClr>
                </a:solidFill>
                <a:ea typeface="Microsoft YaHei UI" panose="020B0503020204020204" pitchFamily="34" charset="-122"/>
              </a:defRPr>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685800" rtl="0" eaLnBrk="1" latinLnBrk="0" hangingPunct="1">
        <a:spcBef>
          <a:spcPct val="0"/>
        </a:spcBef>
        <a:buNone/>
        <a:defRPr lang="zh-CN" sz="2550" kern="1200">
          <a:solidFill>
            <a:schemeClr val="accent1"/>
          </a:solidFill>
          <a:latin typeface="+mj-lt"/>
          <a:ea typeface="Microsoft YaHei UI" panose="020B0503020204020204" pitchFamily="34" charset="-122"/>
          <a:cs typeface="+mj-cs"/>
        </a:defRPr>
      </a:lvl1pPr>
    </p:titleStyle>
    <p:bodyStyle>
      <a:lvl1pPr marL="157734" indent="-157734" algn="l" defTabSz="685800" rtl="0" eaLnBrk="1" latinLnBrk="0" hangingPunct="1">
        <a:lnSpc>
          <a:spcPct val="90000"/>
        </a:lnSpc>
        <a:spcBef>
          <a:spcPts val="825"/>
        </a:spcBef>
        <a:buFont typeface="Arial" panose="020B0604020202020204" pitchFamily="34" charset="0"/>
        <a:buChar char="•"/>
        <a:defRPr lang="zh-CN" sz="1650" kern="1200">
          <a:solidFill>
            <a:schemeClr val="tx1"/>
          </a:solidFill>
          <a:latin typeface="+mn-lt"/>
          <a:ea typeface="Microsoft YaHei UI" panose="020B0503020204020204" pitchFamily="34" charset="-122"/>
          <a:cs typeface="+mn-cs"/>
        </a:defRPr>
      </a:lvl1pPr>
      <a:lvl2pPr marL="329184" indent="-116586" algn="l" defTabSz="685800" rtl="0" eaLnBrk="1" latinLnBrk="0" hangingPunct="1">
        <a:lnSpc>
          <a:spcPct val="90000"/>
        </a:lnSpc>
        <a:spcBef>
          <a:spcPts val="300"/>
        </a:spcBef>
        <a:buFont typeface="Arial" panose="020B0604020202020204" pitchFamily="34" charset="0"/>
        <a:buChar char="•"/>
        <a:defRPr lang="zh-CN" sz="1350" kern="1200">
          <a:solidFill>
            <a:schemeClr val="tx1"/>
          </a:solidFill>
          <a:latin typeface="+mn-lt"/>
          <a:ea typeface="Microsoft YaHei UI" panose="020B0503020204020204" pitchFamily="34" charset="-122"/>
          <a:cs typeface="+mn-cs"/>
        </a:defRPr>
      </a:lvl2pPr>
      <a:lvl3pPr marL="5074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p:bodyStyle>
    <p:otherStyle>
      <a:defPPr>
        <a:defRPr lang="zh-CN"/>
      </a:defPPr>
      <a:lvl1pPr marL="0" algn="l" defTabSz="685800" rtl="0" eaLnBrk="1" latinLnBrk="0" hangingPunct="1">
        <a:defRPr lang="zh-CN" sz="1350" kern="1200">
          <a:solidFill>
            <a:schemeClr val="tx1"/>
          </a:solidFill>
          <a:latin typeface="+mn-lt"/>
          <a:ea typeface="+mn-ea"/>
          <a:cs typeface="+mn-cs"/>
        </a:defRPr>
      </a:lvl1pPr>
      <a:lvl2pPr marL="342900" algn="l" defTabSz="685800" rtl="0" eaLnBrk="1" latinLnBrk="0" hangingPunct="1">
        <a:defRPr lang="zh-CN" sz="1350" kern="1200">
          <a:solidFill>
            <a:schemeClr val="tx1"/>
          </a:solidFill>
          <a:latin typeface="+mn-lt"/>
          <a:ea typeface="+mn-ea"/>
          <a:cs typeface="+mn-cs"/>
        </a:defRPr>
      </a:lvl2pPr>
      <a:lvl3pPr marL="685800" algn="l" defTabSz="685800" rtl="0" eaLnBrk="1" latinLnBrk="0" hangingPunct="1">
        <a:defRPr lang="zh-CN" sz="1350" kern="1200">
          <a:solidFill>
            <a:schemeClr val="tx1"/>
          </a:solidFill>
          <a:latin typeface="+mn-lt"/>
          <a:ea typeface="+mn-ea"/>
          <a:cs typeface="+mn-cs"/>
        </a:defRPr>
      </a:lvl3pPr>
      <a:lvl4pPr marL="1028700" algn="l" defTabSz="685800" rtl="0" eaLnBrk="1" latinLnBrk="0" hangingPunct="1">
        <a:defRPr lang="zh-CN" sz="1350" kern="1200">
          <a:solidFill>
            <a:schemeClr val="tx1"/>
          </a:solidFill>
          <a:latin typeface="+mn-lt"/>
          <a:ea typeface="+mn-ea"/>
          <a:cs typeface="+mn-cs"/>
        </a:defRPr>
      </a:lvl4pPr>
      <a:lvl5pPr marL="1371600" algn="l" defTabSz="685800" rtl="0" eaLnBrk="1" latinLnBrk="0" hangingPunct="1">
        <a:defRPr lang="zh-CN" sz="1350" kern="1200">
          <a:solidFill>
            <a:schemeClr val="tx1"/>
          </a:solidFill>
          <a:latin typeface="+mn-lt"/>
          <a:ea typeface="+mn-ea"/>
          <a:cs typeface="+mn-cs"/>
        </a:defRPr>
      </a:lvl5pPr>
      <a:lvl6pPr marL="1714500" algn="l" defTabSz="685800" rtl="0" eaLnBrk="1" latinLnBrk="0" hangingPunct="1">
        <a:defRPr lang="zh-CN" sz="1350" kern="1200">
          <a:solidFill>
            <a:schemeClr val="tx1"/>
          </a:solidFill>
          <a:latin typeface="+mn-lt"/>
          <a:ea typeface="+mn-ea"/>
          <a:cs typeface="+mn-cs"/>
        </a:defRPr>
      </a:lvl6pPr>
      <a:lvl7pPr marL="2057400" algn="l" defTabSz="685800" rtl="0" eaLnBrk="1" latinLnBrk="0" hangingPunct="1">
        <a:defRPr lang="zh-CN" sz="1350" kern="1200">
          <a:solidFill>
            <a:schemeClr val="tx1"/>
          </a:solidFill>
          <a:latin typeface="+mn-lt"/>
          <a:ea typeface="+mn-ea"/>
          <a:cs typeface="+mn-cs"/>
        </a:defRPr>
      </a:lvl7pPr>
      <a:lvl8pPr marL="2400300" algn="l" defTabSz="685800" rtl="0" eaLnBrk="1" latinLnBrk="0" hangingPunct="1">
        <a:defRPr lang="zh-CN" sz="1350" kern="1200">
          <a:solidFill>
            <a:schemeClr val="tx1"/>
          </a:solidFill>
          <a:latin typeface="+mn-lt"/>
          <a:ea typeface="+mn-ea"/>
          <a:cs typeface="+mn-cs"/>
        </a:defRPr>
      </a:lvl8pPr>
      <a:lvl9pPr marL="2743200" algn="l" defTabSz="685800" rtl="0" eaLnBrk="1" latinLnBrk="0" hangingPunct="1">
        <a:defRPr lang="zh-CN"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hyperlink" Target="https://www.zhihu.com/search?q=%E6%B0%B4%E5%B9%B3%E9%80%9F%E7%8E%87&amp;search_source=Entity&amp;hybrid_search_source=Entity&amp;hybrid_search_extra=%7B%22sourceType%22%3A%22answer%22%2C%22sourceId%22%3A1132468758%7D" TargetMode="Externa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8730" y="1115365"/>
            <a:ext cx="3634740" cy="962631"/>
          </a:xfrm>
        </p:spPr>
        <p:txBody>
          <a:bodyPr>
            <a:normAutofit/>
          </a:bodyPr>
          <a:lstStyle/>
          <a:p>
            <a:r>
              <a:rPr lang="zh-CN" altLang="en-US" sz="4400" dirty="0">
                <a:latin typeface="Arial" panose="020B0604020202020204" pitchFamily="34" charset="0"/>
                <a:cs typeface="Arial" panose="020B0604020202020204" pitchFamily="34" charset="0"/>
              </a:rPr>
              <a:t>软件工程导论</a:t>
            </a:r>
            <a:endParaRPr lang="zh-CN" altLang="en-US" sz="4400" dirty="0"/>
          </a:p>
        </p:txBody>
      </p:sp>
      <p:sp>
        <p:nvSpPr>
          <p:cNvPr id="5" name="矩形 4"/>
          <p:cNvSpPr/>
          <p:nvPr/>
        </p:nvSpPr>
        <p:spPr>
          <a:xfrm>
            <a:off x="1268730" y="2229450"/>
            <a:ext cx="3634740" cy="499496"/>
          </a:xfrm>
          <a:prstGeom prst="rect">
            <a:avLst/>
          </a:prstGeom>
        </p:spPr>
        <p:txBody>
          <a:bodyPr wrap="square">
            <a:spAutoFit/>
          </a:bodyPr>
          <a:lstStyle/>
          <a:p>
            <a:pPr marL="285750" indent="-285750" algn="r">
              <a:lnSpc>
                <a:spcPct val="150000"/>
              </a:lnSpc>
              <a:buFont typeface="Arial" panose="020B0604020202020204" pitchFamily="34" charset="0"/>
              <a:buChar char="•"/>
            </a:pPr>
            <a:r>
              <a:rPr lang="zh-CN" altLang="zh-CN" sz="2000" dirty="0">
                <a:solidFill>
                  <a:schemeClr val="bg1"/>
                </a:solidFill>
                <a:latin typeface="华文中宋" panose="02010600040101010101" pitchFamily="2" charset="-122"/>
                <a:ea typeface="华文中宋" panose="02010600040101010101" pitchFamily="2" charset="-122"/>
              </a:rPr>
              <a:t>第</a:t>
            </a:r>
            <a:r>
              <a:rPr lang="en-US" altLang="zh-CN" sz="2000" dirty="0">
                <a:solidFill>
                  <a:schemeClr val="bg1"/>
                </a:solidFill>
                <a:latin typeface="华文中宋" panose="02010600040101010101" pitchFamily="2" charset="-122"/>
                <a:ea typeface="华文中宋" panose="02010600040101010101" pitchFamily="2" charset="-122"/>
              </a:rPr>
              <a:t>5</a:t>
            </a:r>
            <a:r>
              <a:rPr lang="zh-CN" altLang="zh-CN" sz="2000" dirty="0">
                <a:solidFill>
                  <a:schemeClr val="bg1"/>
                </a:solidFill>
                <a:latin typeface="华文中宋" panose="02010600040101010101" pitchFamily="2" charset="-122"/>
                <a:ea typeface="华文中宋" panose="02010600040101010101" pitchFamily="2" charset="-122"/>
              </a:rPr>
              <a:t>章</a:t>
            </a:r>
            <a:r>
              <a:rPr lang="en-US" altLang="zh-CN" sz="2000" dirty="0">
                <a:solidFill>
                  <a:schemeClr val="bg1"/>
                </a:solidFill>
                <a:latin typeface="华文中宋" panose="02010600040101010101" pitchFamily="2" charset="-122"/>
                <a:ea typeface="华文中宋" panose="02010600040101010101" pitchFamily="2" charset="-122"/>
              </a:rPr>
              <a:t>  </a:t>
            </a:r>
            <a:r>
              <a:rPr lang="zh-CN" altLang="en-US" sz="2000" dirty="0">
                <a:solidFill>
                  <a:schemeClr val="bg1"/>
                </a:solidFill>
                <a:latin typeface="华文中宋" panose="02010600040101010101" pitchFamily="2" charset="-122"/>
                <a:ea typeface="华文中宋" panose="02010600040101010101" pitchFamily="2" charset="-122"/>
              </a:rPr>
              <a:t>软件测试</a:t>
            </a:r>
            <a:endParaRPr lang="en-US" altLang="zh-CN" sz="2000" dirty="0">
              <a:solidFill>
                <a:schemeClr val="bg1"/>
              </a:solidFill>
              <a:latin typeface="华文中宋" panose="02010600040101010101" pitchFamily="2" charset="-122"/>
              <a:ea typeface="华文中宋" panose="02010600040101010101" pitchFamily="2" charset="-122"/>
            </a:endParaRPr>
          </a:p>
        </p:txBody>
      </p:sp>
      <p:sp>
        <p:nvSpPr>
          <p:cNvPr id="7" name="副标题 2"/>
          <p:cNvSpPr>
            <a:spLocks noGrp="1"/>
          </p:cNvSpPr>
          <p:nvPr>
            <p:ph type="subTitle" idx="1"/>
          </p:nvPr>
        </p:nvSpPr>
        <p:spPr>
          <a:xfrm>
            <a:off x="1268730" y="4945463"/>
            <a:ext cx="3634740" cy="942871"/>
          </a:xfrm>
        </p:spPr>
        <p:txBody>
          <a:bodyPr>
            <a:normAutofit/>
          </a:bodyPr>
          <a:lstStyle/>
          <a:p>
            <a:r>
              <a:rPr lang="zh-CN" altLang="en-US" sz="1600" dirty="0"/>
              <a:t>重庆大学大数据与软件学院 </a:t>
            </a:r>
            <a:r>
              <a:rPr lang="en-US" altLang="zh-CN" sz="1600" dirty="0"/>
              <a:t>• </a:t>
            </a:r>
            <a:r>
              <a:rPr lang="zh-CN" altLang="en-US" sz="1600" dirty="0"/>
              <a:t>本科课程</a:t>
            </a:r>
            <a:endParaRPr lang="en-US" altLang="zh-CN" sz="1600" dirty="0"/>
          </a:p>
          <a:p>
            <a:endParaRPr lang="en-US" altLang="zh-CN" sz="1600" dirty="0"/>
          </a:p>
          <a:p>
            <a:r>
              <a:rPr lang="zh-CN" altLang="en-US" sz="1600" dirty="0"/>
              <a:t>讲授：胡健</a:t>
            </a:r>
          </a:p>
          <a:p>
            <a:endParaRPr lang="en-US" altLang="zh-CN" dirty="0"/>
          </a:p>
          <a:p>
            <a:endParaRPr lang="en-US" altLang="zh-CN" sz="1800" dirty="0"/>
          </a:p>
        </p:txBody>
      </p:sp>
    </p:spTree>
    <p:extLst>
      <p:ext uri="{BB962C8B-B14F-4D97-AF65-F5344CB8AC3E}">
        <p14:creationId xmlns:p14="http://schemas.microsoft.com/office/powerpoint/2010/main" val="26406345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87450" y="0"/>
            <a:ext cx="5400675" cy="5949950"/>
          </a:xfrm>
          <a:prstGeom prst="rect">
            <a:avLst/>
          </a:prstGeom>
          <a:solidFill>
            <a:srgbClr val="8BA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Rectangle 3"/>
          <p:cNvSpPr txBox="1">
            <a:spLocks noChangeArrowheads="1"/>
          </p:cNvSpPr>
          <p:nvPr/>
        </p:nvSpPr>
        <p:spPr>
          <a:xfrm>
            <a:off x="1463675" y="765175"/>
            <a:ext cx="4837113" cy="5111750"/>
          </a:xfrm>
          <a:prstGeom prst="rect">
            <a:avLst/>
          </a:prstGeom>
        </p:spPr>
        <p:txBody>
          <a:bodyPr>
            <a:normAutofit/>
          </a:bodyPr>
          <a:lstStyle>
            <a:lvl1pPr marL="0" indent="0" algn="l" defTabSz="685783" rtl="0" eaLnBrk="1" latinLnBrk="0" hangingPunct="1">
              <a:lnSpc>
                <a:spcPct val="90000"/>
              </a:lnSpc>
              <a:spcBef>
                <a:spcPts val="0"/>
              </a:spcBef>
              <a:buFont typeface="Arial" panose="020B0604020202020204" pitchFamily="34" charset="0"/>
              <a:buNone/>
              <a:defRPr lang="zh-CN" sz="1350" kern="1200">
                <a:solidFill>
                  <a:schemeClr val="bg1"/>
                </a:solidFill>
                <a:latin typeface="+mn-lt"/>
                <a:ea typeface="Microsoft YaHei UI" panose="020B0503020204020204" pitchFamily="34" charset="-122"/>
                <a:cs typeface="+mn-cs"/>
              </a:defRPr>
            </a:lvl1pPr>
            <a:lvl2pPr marL="342892" indent="0" algn="ctr" defTabSz="685783" rtl="0" eaLnBrk="1" latinLnBrk="0" hangingPunct="1">
              <a:lnSpc>
                <a:spcPct val="90000"/>
              </a:lnSpc>
              <a:spcBef>
                <a:spcPts val="300"/>
              </a:spcBef>
              <a:buFont typeface="Arial" panose="020B0604020202020204" pitchFamily="34" charset="0"/>
              <a:buNone/>
              <a:defRPr lang="zh-CN" sz="1500" kern="1200">
                <a:solidFill>
                  <a:schemeClr val="tx1"/>
                </a:solidFill>
                <a:latin typeface="+mn-lt"/>
                <a:ea typeface="Microsoft YaHei UI" panose="020B0503020204020204" pitchFamily="34" charset="-122"/>
                <a:cs typeface="+mn-cs"/>
              </a:defRPr>
            </a:lvl2pPr>
            <a:lvl3pPr marL="685783" indent="0" algn="ctr" defTabSz="685783" rtl="0" eaLnBrk="1" latinLnBrk="0" hangingPunct="1">
              <a:lnSpc>
                <a:spcPct val="90000"/>
              </a:lnSpc>
              <a:spcBef>
                <a:spcPts val="300"/>
              </a:spcBef>
              <a:buFont typeface="Arial" panose="020B0604020202020204" pitchFamily="34" charset="0"/>
              <a:buNone/>
              <a:defRPr lang="zh-CN" sz="1350" kern="1200">
                <a:solidFill>
                  <a:schemeClr val="tx1"/>
                </a:solidFill>
                <a:latin typeface="+mn-lt"/>
                <a:ea typeface="Microsoft YaHei UI" panose="020B0503020204020204" pitchFamily="34" charset="-122"/>
                <a:cs typeface="+mn-cs"/>
              </a:defRPr>
            </a:lvl3pPr>
            <a:lvl4pPr marL="1028675"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4pPr>
            <a:lvl5pPr marL="1371566"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5pPr>
            <a:lvl6pPr marL="1714457"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6pPr>
            <a:lvl7pPr marL="2057348"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7pPr>
            <a:lvl8pPr marL="2400240"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8pPr>
            <a:lvl9pPr marL="2743132"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9pPr>
          </a:lstStyle>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章   软件工程概述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zh-CN"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rPr>
              <a:t>	</a:t>
            </a:r>
            <a:endParaRPr lang="en-US" altLang="zh-CN" sz="1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endParaRPr>
          </a:p>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章   软件需求分析</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章   软件设计</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4</a:t>
            </a:r>
            <a:r>
              <a:rPr lang="zh-CN" altLang="en-US" sz="2000" dirty="0">
                <a:latin typeface="Arial" panose="020B0604020202020204" pitchFamily="34" charset="0"/>
                <a:cs typeface="Arial" panose="020B0604020202020204" pitchFamily="34" charset="0"/>
              </a:rPr>
              <a:t>章   编码及实现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20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第</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5</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章   </a:t>
            </a:r>
            <a:r>
              <a:rPr lang="zh-CN" altLang="en-US" sz="2400" b="1" dirty="0">
                <a:ln w="12700" cmpd="sng">
                  <a:noFill/>
                  <a:prstDash val="solid"/>
                </a:ln>
                <a:solidFill>
                  <a:srgbClr val="FFFC00"/>
                </a:solidFill>
                <a:latin typeface="Arial" panose="020B0604020202020204" pitchFamily="34" charset="0"/>
                <a:cs typeface="Arial" panose="020B0604020202020204" pitchFamily="34" charset="0"/>
              </a:rPr>
              <a:t>软件测试</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6</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6</a:t>
            </a:r>
            <a:r>
              <a:rPr lang="zh-CN" altLang="en-US" sz="2000" dirty="0">
                <a:latin typeface="Arial" panose="020B0604020202020204" pitchFamily="34" charset="0"/>
                <a:cs typeface="Arial" panose="020B0604020202020204" pitchFamily="34" charset="0"/>
              </a:rPr>
              <a:t>章   软件维护</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7</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面向对象技术</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10</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8</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敏捷开发方法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5132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5</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软件测试</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effectLst>
                  <a:glow rad="228600">
                    <a:schemeClr val="accent6">
                      <a:satMod val="175000"/>
                      <a:alpha val="40000"/>
                    </a:schemeClr>
                  </a:glow>
                </a:effectLst>
                <a:sym typeface="微软雅黑" panose="020B0503020204020204" pitchFamily="34" charset="-122"/>
              </a:rPr>
              <a:t>5.1</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软件测试的基本概念</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5.2  </a:t>
            </a:r>
            <a:r>
              <a:rPr lang="zh-CN" altLang="en-US" dirty="0">
                <a:solidFill>
                  <a:srgbClr val="4E8F00"/>
                </a:solidFill>
                <a:sym typeface="微软雅黑" panose="020B0503020204020204" pitchFamily="34" charset="-122"/>
              </a:rPr>
              <a:t>白盒测试方法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5.3  </a:t>
            </a:r>
            <a:r>
              <a:rPr lang="zh-CN" altLang="en-US" dirty="0">
                <a:solidFill>
                  <a:srgbClr val="4E8F00"/>
                </a:solidFill>
                <a:sym typeface="微软雅黑" panose="020B0503020204020204" pitchFamily="34" charset="-122"/>
              </a:rPr>
              <a:t>黑盒测试方法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5.4  </a:t>
            </a:r>
            <a:r>
              <a:rPr lang="zh-CN" altLang="en-US" dirty="0">
                <a:solidFill>
                  <a:srgbClr val="4E8F00"/>
                </a:solidFill>
                <a:sym typeface="微软雅黑" panose="020B0503020204020204" pitchFamily="34" charset="-122"/>
              </a:rPr>
              <a:t>软件测试的基本过程</a:t>
            </a:r>
          </a:p>
          <a:p>
            <a:pPr>
              <a:spcBef>
                <a:spcPts val="1200"/>
              </a:spcBef>
            </a:pPr>
            <a:r>
              <a:rPr lang="en-US" altLang="zh-CN" dirty="0">
                <a:solidFill>
                  <a:srgbClr val="4E8F00"/>
                </a:solidFill>
                <a:sym typeface="微软雅黑" panose="020B0503020204020204" pitchFamily="34" charset="-122"/>
              </a:rPr>
              <a:t>5.5  </a:t>
            </a:r>
            <a:r>
              <a:rPr lang="zh-CN" altLang="en-US" dirty="0">
                <a:solidFill>
                  <a:srgbClr val="4E8F00"/>
                </a:solidFill>
                <a:sym typeface="微软雅黑" panose="020B0503020204020204" pitchFamily="34" charset="-122"/>
              </a:rPr>
              <a:t>软件调试</a:t>
            </a:r>
          </a:p>
          <a:p>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1</a:t>
            </a:r>
            <a:r>
              <a:rPr lang="zh-CN" altLang="en-US" sz="2400" dirty="0">
                <a:solidFill>
                  <a:srgbClr val="CC6600"/>
                </a:solidFill>
                <a:latin typeface="微软雅黑" panose="020B0503020204020204" pitchFamily="34" charset="-122"/>
                <a:sym typeface="微软雅黑" panose="020B0503020204020204" pitchFamily="34" charset="-122"/>
              </a:rPr>
              <a:t>  软件测试的定义</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zh-CN" dirty="0">
                <a:solidFill>
                  <a:srgbClr val="000000"/>
                </a:solidFill>
                <a:latin typeface="微软雅黑" panose="020B0503020204020204" pitchFamily="34" charset="-122"/>
                <a:sym typeface="微软雅黑" panose="020B0503020204020204" pitchFamily="34" charset="-122"/>
              </a:rPr>
              <a:t>软件测试</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是指利用人工或自动的方法执行和评价软件各个模块的过程</a:t>
            </a:r>
            <a:endParaRPr lang="en-US" altLang="zh-CN" dirty="0">
              <a:solidFill>
                <a:srgbClr val="000000"/>
              </a:solidFill>
              <a:latin typeface="微软雅黑" panose="020B0503020204020204" pitchFamily="34" charset="-122"/>
              <a:sym typeface="微软雅黑" panose="020B0503020204020204" pitchFamily="34" charset="-122"/>
            </a:endParaRPr>
          </a:p>
          <a:p>
            <a:pPr marL="268288" lvl="1" indent="-260350" algn="just">
              <a:spcBef>
                <a:spcPts val="600"/>
              </a:spcBef>
            </a:pPr>
            <a:r>
              <a:rPr lang="zh-CN" altLang="en-US" dirty="0">
                <a:solidFill>
                  <a:srgbClr val="000000"/>
                </a:solidFill>
                <a:latin typeface="微软雅黑" panose="020B0503020204020204" pitchFamily="34" charset="-122"/>
                <a:sym typeface="微软雅黑" panose="020B0503020204020204" pitchFamily="34" charset="-122"/>
              </a:rPr>
              <a:t>软件测试要以最少的人力、物力和时间，找出软件中潜在的各种错误与缺陷，通过修正各种错误和缺陷，提高软件质量</a:t>
            </a:r>
            <a:endParaRPr lang="en-US" altLang="zh-CN" dirty="0">
              <a:solidFill>
                <a:srgbClr val="000000"/>
              </a:solidFill>
              <a:latin typeface="微软雅黑" panose="020B0503020204020204" pitchFamily="34" charset="-122"/>
              <a:sym typeface="微软雅黑" panose="020B0503020204020204" pitchFamily="34" charset="-122"/>
            </a:endParaRPr>
          </a:p>
          <a:p>
            <a:pPr marL="268288" lvl="1" indent="-260350" algn="just">
              <a:spcBef>
                <a:spcPts val="600"/>
              </a:spcBef>
            </a:pPr>
            <a:r>
              <a:rPr lang="zh-CN" altLang="en-US" dirty="0">
                <a:solidFill>
                  <a:schemeClr val="tx2"/>
                </a:solidFill>
                <a:latin typeface="微软雅黑" panose="020B0503020204020204" pitchFamily="34" charset="-122"/>
                <a:sym typeface="微软雅黑" panose="020B0503020204020204" pitchFamily="34" charset="-122"/>
              </a:rPr>
              <a:t>软件测试的</a:t>
            </a:r>
            <a:r>
              <a:rPr lang="zh-CN" altLang="zh-CN" dirty="0">
                <a:solidFill>
                  <a:schemeClr val="tx2"/>
                </a:solidFill>
                <a:latin typeface="微软雅黑" panose="020B0503020204020204" pitchFamily="34" charset="-122"/>
                <a:sym typeface="微软雅黑" panose="020B0503020204020204" pitchFamily="34" charset="-122"/>
              </a:rPr>
              <a:t>目的</a:t>
            </a:r>
            <a:r>
              <a:rPr lang="zh-CN" altLang="en-US" dirty="0">
                <a:solidFill>
                  <a:schemeClr val="tx2"/>
                </a:solidFill>
                <a:latin typeface="微软雅黑" panose="020B0503020204020204" pitchFamily="34" charset="-122"/>
                <a:sym typeface="微软雅黑" panose="020B0503020204020204" pitchFamily="34" charset="-122"/>
              </a:rPr>
              <a:t>：</a:t>
            </a:r>
            <a:r>
              <a:rPr lang="zh-CN" altLang="zh-CN" dirty="0">
                <a:solidFill>
                  <a:srgbClr val="C00000"/>
                </a:solidFill>
                <a:latin typeface="微软雅黑" panose="020B0503020204020204" pitchFamily="34" charset="-122"/>
                <a:sym typeface="微软雅黑" panose="020B0503020204020204" pitchFamily="34" charset="-122"/>
              </a:rPr>
              <a:t>在于</a:t>
            </a:r>
            <a:r>
              <a:rPr lang="zh-CN" altLang="en-US" dirty="0">
                <a:solidFill>
                  <a:srgbClr val="C00000"/>
                </a:solidFill>
                <a:latin typeface="微软雅黑" panose="020B0503020204020204" pitchFamily="34" charset="-122"/>
                <a:sym typeface="微软雅黑" panose="020B0503020204020204" pitchFamily="34" charset="-122"/>
              </a:rPr>
              <a:t>检验它是否满足规定的需求，或弄清预期结果与实际结果之间的差别</a:t>
            </a:r>
            <a:endParaRPr lang="en-US" altLang="zh-CN" dirty="0">
              <a:solidFill>
                <a:srgbClr val="C00000"/>
              </a:solidFill>
              <a:latin typeface="微软雅黑" panose="020B0503020204020204" pitchFamily="34" charset="-122"/>
              <a:sym typeface="微软雅黑" panose="020B0503020204020204" pitchFamily="34" charset="-122"/>
            </a:endParaRPr>
          </a:p>
          <a:p>
            <a:pPr marL="268288" lvl="1" indent="-260350" algn="just">
              <a:spcBef>
                <a:spcPts val="600"/>
              </a:spcBef>
            </a:pPr>
            <a:r>
              <a:rPr lang="zh-CN" altLang="zh-CN" dirty="0">
                <a:solidFill>
                  <a:srgbClr val="000000"/>
                </a:solidFill>
                <a:latin typeface="微软雅黑" panose="020B0503020204020204" pitchFamily="34" charset="-122"/>
                <a:sym typeface="微软雅黑" panose="020B0503020204020204" pitchFamily="34" charset="-122"/>
              </a:rPr>
              <a:t>从根本上来说，软件测试是为了尽可能的发现软件中</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隐藏的错误</a:t>
            </a:r>
            <a:r>
              <a:rPr lang="zh-CN" altLang="zh-CN" dirty="0">
                <a:solidFill>
                  <a:srgbClr val="000000"/>
                </a:solidFill>
                <a:latin typeface="微软雅黑" panose="020B0503020204020204" pitchFamily="34" charset="-122"/>
                <a:sym typeface="微软雅黑" panose="020B0503020204020204" pitchFamily="34" charset="-122"/>
              </a:rPr>
              <a:t>，而不是为了证明自己的程序没有错误</a:t>
            </a: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0693521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FB09DC7F-A941-3E45-9199-108878F5B721}"/>
              </a:ext>
            </a:extLst>
          </p:cNvPr>
          <p:cNvPicPr>
            <a:picLocks noChangeAspect="1"/>
          </p:cNvPicPr>
          <p:nvPr/>
        </p:nvPicPr>
        <p:blipFill>
          <a:blip r:embed="rId2"/>
          <a:stretch>
            <a:fillRect/>
          </a:stretch>
        </p:blipFill>
        <p:spPr>
          <a:xfrm>
            <a:off x="683314" y="2814257"/>
            <a:ext cx="5056723" cy="694519"/>
          </a:xfrm>
          <a:prstGeom prst="rect">
            <a:avLst/>
          </a:prstGeom>
        </p:spPr>
      </p:pic>
      <p:pic>
        <p:nvPicPr>
          <p:cNvPr id="21" name="图片 20">
            <a:extLst>
              <a:ext uri="{FF2B5EF4-FFF2-40B4-BE49-F238E27FC236}">
                <a16:creationId xmlns:a16="http://schemas.microsoft.com/office/drawing/2014/main" id="{5E198F53-FF88-4149-8AE0-B9D4DFA224EC}"/>
              </a:ext>
            </a:extLst>
          </p:cNvPr>
          <p:cNvPicPr>
            <a:picLocks noChangeAspect="1"/>
          </p:cNvPicPr>
          <p:nvPr/>
        </p:nvPicPr>
        <p:blipFill>
          <a:blip r:embed="rId3"/>
          <a:stretch>
            <a:fillRect/>
          </a:stretch>
        </p:blipFill>
        <p:spPr>
          <a:xfrm>
            <a:off x="697481" y="3718192"/>
            <a:ext cx="5042557" cy="2635346"/>
          </a:xfrm>
          <a:prstGeom prst="rect">
            <a:avLst/>
          </a:prstGeom>
        </p:spPr>
      </p:pic>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1</a:t>
            </a:r>
            <a:r>
              <a:rPr lang="zh-CN" altLang="en-US" sz="2400" dirty="0">
                <a:solidFill>
                  <a:srgbClr val="CC6600"/>
                </a:solidFill>
                <a:latin typeface="微软雅黑" panose="020B0503020204020204" pitchFamily="34" charset="-122"/>
                <a:sym typeface="微软雅黑" panose="020B0503020204020204" pitchFamily="34" charset="-122"/>
              </a:rPr>
              <a:t>  软件测试的定义</a:t>
            </a:r>
            <a:endParaRPr lang="zh-CN" altLang="en-US" sz="2400" dirty="0">
              <a:solidFill>
                <a:srgbClr val="CC6600"/>
              </a:solidFill>
              <a:sym typeface="微软雅黑" panose="020B0503020204020204" pitchFamily="34" charset="-122"/>
            </a:endParaRPr>
          </a:p>
        </p:txBody>
      </p:sp>
      <p:grpSp>
        <p:nvGrpSpPr>
          <p:cNvPr id="18" name="组合 17">
            <a:extLst>
              <a:ext uri="{FF2B5EF4-FFF2-40B4-BE49-F238E27FC236}">
                <a16:creationId xmlns:a16="http://schemas.microsoft.com/office/drawing/2014/main" id="{4F420116-5379-514F-A028-9F656E26F801}"/>
              </a:ext>
            </a:extLst>
          </p:cNvPr>
          <p:cNvGrpSpPr/>
          <p:nvPr/>
        </p:nvGrpSpPr>
        <p:grpSpPr>
          <a:xfrm>
            <a:off x="5069771" y="573028"/>
            <a:ext cx="3437461" cy="3239550"/>
            <a:chOff x="4628645" y="1110777"/>
            <a:chExt cx="3900361" cy="3494073"/>
          </a:xfrm>
        </p:grpSpPr>
        <p:pic>
          <p:nvPicPr>
            <p:cNvPr id="2" name="图片 1">
              <a:extLst>
                <a:ext uri="{FF2B5EF4-FFF2-40B4-BE49-F238E27FC236}">
                  <a16:creationId xmlns:a16="http://schemas.microsoft.com/office/drawing/2014/main" id="{6F988B1F-1DDA-2749-A134-3976C0A47863}"/>
                </a:ext>
              </a:extLst>
            </p:cNvPr>
            <p:cNvPicPr>
              <a:picLocks noChangeAspect="1"/>
            </p:cNvPicPr>
            <p:nvPr/>
          </p:nvPicPr>
          <p:blipFill>
            <a:blip r:embed="rId4"/>
            <a:stretch>
              <a:fillRect/>
            </a:stretch>
          </p:blipFill>
          <p:spPr>
            <a:xfrm>
              <a:off x="4628645" y="1110777"/>
              <a:ext cx="3900361" cy="3494073"/>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3" name="矩形 2">
              <a:extLst>
                <a:ext uri="{FF2B5EF4-FFF2-40B4-BE49-F238E27FC236}">
                  <a16:creationId xmlns:a16="http://schemas.microsoft.com/office/drawing/2014/main" id="{44719C23-DC88-6049-B23A-91C6D7BBEED8}"/>
                </a:ext>
              </a:extLst>
            </p:cNvPr>
            <p:cNvSpPr/>
            <p:nvPr/>
          </p:nvSpPr>
          <p:spPr>
            <a:xfrm>
              <a:off x="4720342" y="1279399"/>
              <a:ext cx="2276585" cy="369332"/>
            </a:xfrm>
            <a:prstGeom prst="rect">
              <a:avLst/>
            </a:prstGeom>
          </p:spPr>
          <p:txBody>
            <a:bodyPr wrap="none">
              <a:spAutoFit/>
            </a:bodyPr>
            <a:lstStyle/>
            <a:p>
              <a:r>
                <a:rPr lang="zh-CN" altLang="en-US" b="1" dirty="0">
                  <a:solidFill>
                    <a:srgbClr val="FFFF00"/>
                  </a:solidFill>
                  <a:latin typeface="-apple-system"/>
                </a:rPr>
                <a:t>爱国者导弹拦截失败</a:t>
              </a:r>
              <a:endParaRPr lang="zh-CN" altLang="en-US" dirty="0">
                <a:solidFill>
                  <a:srgbClr val="FFFF00"/>
                </a:solidFill>
              </a:endParaRPr>
            </a:p>
          </p:txBody>
        </p:sp>
      </p:grpSp>
      <p:pic>
        <p:nvPicPr>
          <p:cNvPr id="22" name="图片 21">
            <a:extLst>
              <a:ext uri="{FF2B5EF4-FFF2-40B4-BE49-F238E27FC236}">
                <a16:creationId xmlns:a16="http://schemas.microsoft.com/office/drawing/2014/main" id="{5B616433-BE5F-9A4E-B673-6D582F723194}"/>
              </a:ext>
            </a:extLst>
          </p:cNvPr>
          <p:cNvPicPr>
            <a:picLocks noChangeAspect="1"/>
          </p:cNvPicPr>
          <p:nvPr/>
        </p:nvPicPr>
        <p:blipFill>
          <a:blip r:embed="rId5"/>
          <a:stretch>
            <a:fillRect/>
          </a:stretch>
        </p:blipFill>
        <p:spPr>
          <a:xfrm>
            <a:off x="636768" y="2040749"/>
            <a:ext cx="6029909" cy="44683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602907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F6BFE884-93F2-584D-AFF2-FBAA74E26B2F}"/>
              </a:ext>
            </a:extLst>
          </p:cNvPr>
          <p:cNvPicPr>
            <a:picLocks noChangeAspect="1"/>
          </p:cNvPicPr>
          <p:nvPr/>
        </p:nvPicPr>
        <p:blipFill>
          <a:blip r:embed="rId2"/>
          <a:stretch>
            <a:fillRect/>
          </a:stretch>
        </p:blipFill>
        <p:spPr>
          <a:xfrm>
            <a:off x="4837728" y="1064567"/>
            <a:ext cx="3950493" cy="5320941"/>
          </a:xfrm>
          <a:prstGeom prst="rect">
            <a:avLst/>
          </a:prstGeom>
        </p:spPr>
      </p:pic>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1</a:t>
            </a:r>
            <a:r>
              <a:rPr lang="zh-CN" altLang="en-US" sz="2400" dirty="0">
                <a:solidFill>
                  <a:srgbClr val="CC6600"/>
                </a:solidFill>
                <a:latin typeface="微软雅黑" panose="020B0503020204020204" pitchFamily="34" charset="-122"/>
                <a:sym typeface="微软雅黑" panose="020B0503020204020204" pitchFamily="34" charset="-122"/>
              </a:rPr>
              <a:t>  软件测试的定义</a:t>
            </a:r>
            <a:endParaRPr lang="zh-CN" altLang="en-US" sz="2400" dirty="0">
              <a:solidFill>
                <a:srgbClr val="CC6600"/>
              </a:solidFill>
              <a:sym typeface="微软雅黑" panose="020B0503020204020204" pitchFamily="34" charset="-122"/>
            </a:endParaRPr>
          </a:p>
        </p:txBody>
      </p:sp>
      <p:pic>
        <p:nvPicPr>
          <p:cNvPr id="11" name="图片 10">
            <a:extLst>
              <a:ext uri="{FF2B5EF4-FFF2-40B4-BE49-F238E27FC236}">
                <a16:creationId xmlns:a16="http://schemas.microsoft.com/office/drawing/2014/main" id="{11AA60E3-5BFE-394F-B8DE-4B7ECFB37B75}"/>
              </a:ext>
            </a:extLst>
          </p:cNvPr>
          <p:cNvPicPr>
            <a:picLocks noChangeAspect="1"/>
          </p:cNvPicPr>
          <p:nvPr/>
        </p:nvPicPr>
        <p:blipFill>
          <a:blip r:embed="rId3"/>
          <a:stretch>
            <a:fillRect/>
          </a:stretch>
        </p:blipFill>
        <p:spPr>
          <a:xfrm>
            <a:off x="544830" y="3965393"/>
            <a:ext cx="4292898" cy="2432878"/>
          </a:xfrm>
          <a:prstGeom prst="rect">
            <a:avLst/>
          </a:prstGeom>
        </p:spPr>
      </p:pic>
      <p:grpSp>
        <p:nvGrpSpPr>
          <p:cNvPr id="2" name="组合 1">
            <a:extLst>
              <a:ext uri="{FF2B5EF4-FFF2-40B4-BE49-F238E27FC236}">
                <a16:creationId xmlns:a16="http://schemas.microsoft.com/office/drawing/2014/main" id="{C3CC9635-E8A2-6147-A395-0E5E8ECF1A3E}"/>
              </a:ext>
            </a:extLst>
          </p:cNvPr>
          <p:cNvGrpSpPr/>
          <p:nvPr/>
        </p:nvGrpSpPr>
        <p:grpSpPr>
          <a:xfrm>
            <a:off x="1216635" y="2833245"/>
            <a:ext cx="5681041" cy="3120209"/>
            <a:chOff x="1285150" y="995756"/>
            <a:chExt cx="5681041" cy="3120209"/>
          </a:xfrm>
        </p:grpSpPr>
        <p:pic>
          <p:nvPicPr>
            <p:cNvPr id="4" name="图片 3">
              <a:extLst>
                <a:ext uri="{FF2B5EF4-FFF2-40B4-BE49-F238E27FC236}">
                  <a16:creationId xmlns:a16="http://schemas.microsoft.com/office/drawing/2014/main" id="{B0E3F47B-7B68-F240-9019-0052F917958A}"/>
                </a:ext>
              </a:extLst>
            </p:cNvPr>
            <p:cNvPicPr>
              <a:picLocks noChangeAspect="1"/>
            </p:cNvPicPr>
            <p:nvPr/>
          </p:nvPicPr>
          <p:blipFill>
            <a:blip r:embed="rId4"/>
            <a:stretch>
              <a:fillRect/>
            </a:stretch>
          </p:blipFill>
          <p:spPr>
            <a:xfrm>
              <a:off x="1285150" y="995756"/>
              <a:ext cx="5681041" cy="3120209"/>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5" name="矩形 4">
              <a:extLst>
                <a:ext uri="{FF2B5EF4-FFF2-40B4-BE49-F238E27FC236}">
                  <a16:creationId xmlns:a16="http://schemas.microsoft.com/office/drawing/2014/main" id="{15667F7F-EF2B-A14D-8DDE-1F708D1B060A}"/>
                </a:ext>
              </a:extLst>
            </p:cNvPr>
            <p:cNvSpPr/>
            <p:nvPr/>
          </p:nvSpPr>
          <p:spPr>
            <a:xfrm>
              <a:off x="1521730" y="3602717"/>
              <a:ext cx="3148294" cy="329814"/>
            </a:xfrm>
            <a:prstGeom prst="rect">
              <a:avLst/>
            </a:prstGeom>
          </p:spPr>
          <p:txBody>
            <a:bodyPr wrap="none">
              <a:spAutoFit/>
            </a:bodyPr>
            <a:lstStyle/>
            <a:p>
              <a:r>
                <a:rPr lang="zh-CN" altLang="en-US" b="1" dirty="0">
                  <a:solidFill>
                    <a:srgbClr val="FFFF00"/>
                  </a:solidFill>
                  <a:latin typeface="-apple-system"/>
                </a:rPr>
                <a:t>欧洲航天局阿丽亚娜</a:t>
              </a:r>
              <a:r>
                <a:rPr lang="en-US" altLang="zh-CN" b="1" dirty="0">
                  <a:solidFill>
                    <a:srgbClr val="FFFF00"/>
                  </a:solidFill>
                  <a:latin typeface="-apple-system"/>
                </a:rPr>
                <a:t>5</a:t>
              </a:r>
              <a:r>
                <a:rPr lang="zh-CN" altLang="en-US" b="1" dirty="0">
                  <a:solidFill>
                    <a:srgbClr val="FFFF00"/>
                  </a:solidFill>
                  <a:latin typeface="-apple-system"/>
                </a:rPr>
                <a:t>号的爆炸</a:t>
              </a:r>
              <a:endParaRPr lang="zh-CN" altLang="en-US" dirty="0">
                <a:solidFill>
                  <a:srgbClr val="FFFF00"/>
                </a:solidFill>
              </a:endParaRPr>
            </a:p>
          </p:txBody>
        </p:sp>
      </p:grpSp>
      <p:sp>
        <p:nvSpPr>
          <p:cNvPr id="3" name="文本框 2">
            <a:extLst>
              <a:ext uri="{FF2B5EF4-FFF2-40B4-BE49-F238E27FC236}">
                <a16:creationId xmlns:a16="http://schemas.microsoft.com/office/drawing/2014/main" id="{C5B3842D-9E34-1341-AD8F-10CA74D39455}"/>
              </a:ext>
            </a:extLst>
          </p:cNvPr>
          <p:cNvSpPr txBox="1"/>
          <p:nvPr/>
        </p:nvSpPr>
        <p:spPr>
          <a:xfrm>
            <a:off x="4837728" y="995756"/>
            <a:ext cx="3768448" cy="2114297"/>
          </a:xfrm>
          <a:prstGeom prst="rect">
            <a:avLst/>
          </a:prstGeom>
          <a:solidFill>
            <a:schemeClr val="bg1"/>
          </a:solidFill>
          <a:ln>
            <a:solidFill>
              <a:schemeClr val="bg1">
                <a:lumMod val="65000"/>
              </a:schemeClr>
            </a:solidFill>
          </a:ln>
          <a:effectLst>
            <a:outerShdw blurRad="50800" dist="38100" dir="2700000" algn="tl" rotWithShape="0">
              <a:prstClr val="black">
                <a:alpha val="40000"/>
              </a:prstClr>
            </a:outerShdw>
          </a:effectLst>
        </p:spPr>
        <p:txBody>
          <a:bodyPr wrap="square" rtlCol="0">
            <a:spAutoFit/>
          </a:bodyPr>
          <a:lstStyle/>
          <a:p>
            <a:pPr algn="just">
              <a:lnSpc>
                <a:spcPts val="2000"/>
              </a:lnSpc>
            </a:pPr>
            <a:r>
              <a:rPr lang="zh-CN" altLang="en-US" sz="1200" dirty="0">
                <a:latin typeface="Times New Roman" panose="02020603050405020304" pitchFamily="18" charset="0"/>
                <a:cs typeface="Times New Roman" panose="02020603050405020304" pitchFamily="18" charset="0"/>
              </a:rPr>
              <a:t>阿丽亚娜</a:t>
            </a:r>
            <a:r>
              <a:rPr lang="en-US" altLang="zh-CN" sz="1200" dirty="0">
                <a:latin typeface="Times New Roman" panose="02020603050405020304" pitchFamily="18" charset="0"/>
                <a:cs typeface="Times New Roman" panose="02020603050405020304" pitchFamily="18" charset="0"/>
              </a:rPr>
              <a:t>5</a:t>
            </a:r>
            <a:r>
              <a:rPr lang="zh-CN" altLang="en-US" sz="1200" dirty="0">
                <a:latin typeface="Times New Roman" panose="02020603050405020304" pitchFamily="18" charset="0"/>
                <a:cs typeface="Times New Roman" panose="02020603050405020304" pitchFamily="18" charset="0"/>
              </a:rPr>
              <a:t>型运载火箭基于前一代</a:t>
            </a:r>
            <a:r>
              <a:rPr lang="en-US" altLang="zh-CN" sz="1200" dirty="0">
                <a:latin typeface="Times New Roman" panose="02020603050405020304" pitchFamily="18" charset="0"/>
                <a:cs typeface="Times New Roman" panose="02020603050405020304" pitchFamily="18" charset="0"/>
              </a:rPr>
              <a:t>4</a:t>
            </a:r>
            <a:r>
              <a:rPr lang="zh-CN" altLang="en-US" sz="1200" dirty="0">
                <a:latin typeface="Times New Roman" panose="02020603050405020304" pitchFamily="18" charset="0"/>
                <a:cs typeface="Times New Roman" panose="02020603050405020304" pitchFamily="18" charset="0"/>
              </a:rPr>
              <a:t>型火箭开发，在</a:t>
            </a:r>
            <a:r>
              <a:rPr lang="en-US" altLang="zh-CN" sz="1200" dirty="0">
                <a:latin typeface="Times New Roman" panose="02020603050405020304" pitchFamily="18" charset="0"/>
                <a:cs typeface="Times New Roman" panose="02020603050405020304" pitchFamily="18" charset="0"/>
              </a:rPr>
              <a:t>4</a:t>
            </a:r>
            <a:r>
              <a:rPr lang="zh-CN" altLang="en-US" sz="1200" dirty="0">
                <a:latin typeface="Times New Roman" panose="02020603050405020304" pitchFamily="18" charset="0"/>
                <a:cs typeface="Times New Roman" panose="02020603050405020304" pitchFamily="18" charset="0"/>
              </a:rPr>
              <a:t>型火箭系统中，对一个</a:t>
            </a:r>
            <a:r>
              <a:rPr lang="zh-CN" altLang="en-US" sz="1200" dirty="0">
                <a:latin typeface="Times New Roman" panose="02020603050405020304" pitchFamily="18" charset="0"/>
                <a:cs typeface="Times New Roman" panose="02020603050405020304" pitchFamily="18" charset="0"/>
                <a:hlinkClick r:id="rId5"/>
              </a:rPr>
              <a:t>水平速率</a:t>
            </a:r>
            <a:r>
              <a:rPr lang="zh-CN" altLang="en-US" sz="1200" dirty="0">
                <a:latin typeface="Times New Roman" panose="02020603050405020304" pitchFamily="18" charset="0"/>
                <a:cs typeface="Times New Roman" panose="02020603050405020304" pitchFamily="18" charset="0"/>
              </a:rPr>
              <a:t>的测量值使用了</a:t>
            </a:r>
            <a:r>
              <a:rPr lang="en-US" altLang="zh-CN" sz="1200" dirty="0">
                <a:latin typeface="Times New Roman" panose="02020603050405020304" pitchFamily="18" charset="0"/>
                <a:cs typeface="Times New Roman" panose="02020603050405020304" pitchFamily="18" charset="0"/>
              </a:rPr>
              <a:t>16</a:t>
            </a:r>
            <a:r>
              <a:rPr lang="zh-CN" altLang="en-US" sz="1200" dirty="0">
                <a:latin typeface="Times New Roman" panose="02020603050405020304" pitchFamily="18" charset="0"/>
                <a:cs typeface="Times New Roman" panose="02020603050405020304" pitchFamily="18" charset="0"/>
              </a:rPr>
              <a:t>位的变量及内存，因为在</a:t>
            </a:r>
            <a:r>
              <a:rPr lang="en-US" altLang="zh-CN" sz="1200" dirty="0">
                <a:latin typeface="Times New Roman" panose="02020603050405020304" pitchFamily="18" charset="0"/>
                <a:cs typeface="Times New Roman" panose="02020603050405020304" pitchFamily="18" charset="0"/>
              </a:rPr>
              <a:t>4</a:t>
            </a:r>
            <a:r>
              <a:rPr lang="zh-CN" altLang="en-US" sz="1200" dirty="0">
                <a:latin typeface="Times New Roman" panose="02020603050405020304" pitchFamily="18" charset="0"/>
                <a:cs typeface="Times New Roman" panose="02020603050405020304" pitchFamily="18" charset="0"/>
              </a:rPr>
              <a:t>型火箭系统中反复验证过，这一值不会超过</a:t>
            </a:r>
            <a:r>
              <a:rPr lang="en-US" altLang="zh-CN" sz="1200" dirty="0">
                <a:latin typeface="Times New Roman" panose="02020603050405020304" pitchFamily="18" charset="0"/>
                <a:cs typeface="Times New Roman" panose="02020603050405020304" pitchFamily="18" charset="0"/>
              </a:rPr>
              <a:t>16</a:t>
            </a:r>
            <a:r>
              <a:rPr lang="zh-CN" altLang="en-US" sz="1200" dirty="0">
                <a:latin typeface="Times New Roman" panose="02020603050405020304" pitchFamily="18" charset="0"/>
                <a:cs typeface="Times New Roman" panose="02020603050405020304" pitchFamily="18" charset="0"/>
              </a:rPr>
              <a:t>位的变量，而</a:t>
            </a:r>
            <a:r>
              <a:rPr lang="en-US" altLang="zh-CN" sz="1200" dirty="0">
                <a:latin typeface="Times New Roman" panose="02020603050405020304" pitchFamily="18" charset="0"/>
                <a:cs typeface="Times New Roman" panose="02020603050405020304" pitchFamily="18" charset="0"/>
              </a:rPr>
              <a:t>5</a:t>
            </a:r>
            <a:r>
              <a:rPr lang="zh-CN" altLang="en-US" sz="1200" dirty="0">
                <a:latin typeface="Times New Roman" panose="02020603050405020304" pitchFamily="18" charset="0"/>
                <a:cs typeface="Times New Roman" panose="02020603050405020304" pitchFamily="18" charset="0"/>
              </a:rPr>
              <a:t>型火箭的开发人员简单复制了这部分程序，而没有对新火箭进行数值的验证，</a:t>
            </a:r>
            <a:r>
              <a:rPr lang="zh-CN" altLang="en-US" sz="1200" dirty="0">
                <a:latin typeface="Microsoft YaHei" panose="020B0503020204020204" pitchFamily="34" charset="-122"/>
                <a:ea typeface="Microsoft YaHei" panose="020B0503020204020204" pitchFamily="34" charset="-122"/>
                <a:cs typeface="Times New Roman" panose="02020603050405020304" pitchFamily="18" charset="0"/>
              </a:rPr>
              <a:t>结果发生了致命的数值溢出，导致飞行器在发射后 </a:t>
            </a:r>
            <a:r>
              <a:rPr lang="en-US" altLang="zh-CN" sz="1200" dirty="0">
                <a:latin typeface="Microsoft YaHei" panose="020B0503020204020204" pitchFamily="34" charset="-122"/>
                <a:ea typeface="Microsoft YaHei" panose="020B0503020204020204" pitchFamily="34" charset="-122"/>
                <a:cs typeface="Times New Roman" panose="02020603050405020304" pitchFamily="18" charset="0"/>
              </a:rPr>
              <a:t>37 </a:t>
            </a:r>
            <a:r>
              <a:rPr lang="zh-CN" altLang="en-US" sz="1200" dirty="0">
                <a:latin typeface="Microsoft YaHei" panose="020B0503020204020204" pitchFamily="34" charset="-122"/>
                <a:ea typeface="Microsoft YaHei" panose="020B0503020204020204" pitchFamily="34" charset="-122"/>
                <a:cs typeface="Times New Roman" panose="02020603050405020304" pitchFamily="18" charset="0"/>
              </a:rPr>
              <a:t>秒便从原始路径偏移</a:t>
            </a:r>
            <a:r>
              <a:rPr lang="zh-CN" altLang="en-US" sz="1200" b="1"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最终不得不启动了火箭自毁程序。</a:t>
            </a:r>
          </a:p>
        </p:txBody>
      </p:sp>
    </p:spTree>
    <p:extLst>
      <p:ext uri="{BB962C8B-B14F-4D97-AF65-F5344CB8AC3E}">
        <p14:creationId xmlns:p14="http://schemas.microsoft.com/office/powerpoint/2010/main" val="38041896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1</a:t>
            </a:r>
            <a:r>
              <a:rPr lang="zh-CN" altLang="en-US" sz="2400" dirty="0">
                <a:solidFill>
                  <a:srgbClr val="CC6600"/>
                </a:solidFill>
                <a:latin typeface="微软雅黑" panose="020B0503020204020204" pitchFamily="34" charset="-122"/>
                <a:sym typeface="微软雅黑" panose="020B0503020204020204" pitchFamily="34" charset="-122"/>
              </a:rPr>
              <a:t>  软件测试的定义</a:t>
            </a:r>
            <a:endParaRPr lang="zh-CN" altLang="en-US" sz="2400" dirty="0">
              <a:solidFill>
                <a:srgbClr val="CC6600"/>
              </a:solidFill>
              <a:sym typeface="微软雅黑" panose="020B0503020204020204" pitchFamily="34" charset="-122"/>
            </a:endParaRPr>
          </a:p>
        </p:txBody>
      </p:sp>
      <p:pic>
        <p:nvPicPr>
          <p:cNvPr id="6" name="图片 5">
            <a:extLst>
              <a:ext uri="{FF2B5EF4-FFF2-40B4-BE49-F238E27FC236}">
                <a16:creationId xmlns:a16="http://schemas.microsoft.com/office/drawing/2014/main" id="{A065230D-9066-BB4F-9EBA-48416491982E}"/>
              </a:ext>
            </a:extLst>
          </p:cNvPr>
          <p:cNvPicPr>
            <a:picLocks noChangeAspect="1"/>
          </p:cNvPicPr>
          <p:nvPr/>
        </p:nvPicPr>
        <p:blipFill>
          <a:blip r:embed="rId2"/>
          <a:stretch>
            <a:fillRect/>
          </a:stretch>
        </p:blipFill>
        <p:spPr>
          <a:xfrm>
            <a:off x="3111470" y="2248776"/>
            <a:ext cx="2921060" cy="1108419"/>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2" name="矩形 1">
            <a:extLst>
              <a:ext uri="{FF2B5EF4-FFF2-40B4-BE49-F238E27FC236}">
                <a16:creationId xmlns:a16="http://schemas.microsoft.com/office/drawing/2014/main" id="{94232E4C-D006-E14A-8DDC-A8A6D01B224B}"/>
              </a:ext>
            </a:extLst>
          </p:cNvPr>
          <p:cNvSpPr/>
          <p:nvPr/>
        </p:nvSpPr>
        <p:spPr>
          <a:xfrm>
            <a:off x="3061252" y="3628030"/>
            <a:ext cx="5407088" cy="2677656"/>
          </a:xfrm>
          <a:prstGeom prst="rect">
            <a:avLst/>
          </a:prstGeom>
        </p:spPr>
        <p:txBody>
          <a:bodyPr wrap="square">
            <a:spAutoFit/>
          </a:bodyPr>
          <a:lstStyle/>
          <a:p>
            <a:pPr algn="just"/>
            <a:r>
              <a:rPr lang="zh-CN" altLang="en-US" sz="1200" dirty="0"/>
              <a:t>Oracle曾分析过这样一个故障案例：当某人从自动柜员机中取钱时，在输入信息后，系统开始交易并已经从数据库中扣除了</a:t>
            </a:r>
            <a:r>
              <a:rPr lang="zh-CN" altLang="en-US" sz="1200" dirty="0">
                <a:latin typeface="Times New Roman" panose="02020603050405020304" pitchFamily="18" charset="0"/>
                <a:cs typeface="Times New Roman" panose="02020603050405020304" pitchFamily="18" charset="0"/>
              </a:rPr>
              <a:t>100</a:t>
            </a:r>
            <a:r>
              <a:rPr lang="zh-CN" altLang="en-US" sz="1200" dirty="0"/>
              <a:t>元，但在柜员机吐出钱之前，突然由于某些硬件的原因导致故障。这样顾客没有拿到钱，而在其账户中却已经被扣除了100元。为了解决这类问题，Oracle提出了“</a:t>
            </a:r>
            <a:r>
              <a:rPr lang="zh-CN" altLang="en-US" sz="1600" dirty="0">
                <a:highlight>
                  <a:srgbClr val="FFFF00"/>
                </a:highlight>
              </a:rPr>
              <a:t>有效交易</a:t>
            </a:r>
            <a:r>
              <a:rPr lang="zh-CN" altLang="en-US" sz="1200" dirty="0"/>
              <a:t>”概念，即交易中的每一步都要在上一步完全有效下才能进行。为此，研发人员在产品中建立登录档案来记录交易中的每个步骤，万一交易过程突然中断，则Oracle的登录档案会适时</a:t>
            </a:r>
            <a:r>
              <a:rPr lang="zh-CN" altLang="en-US" sz="1600" dirty="0">
                <a:highlight>
                  <a:srgbClr val="FFFF00"/>
                </a:highlight>
              </a:rPr>
              <a:t>修复数据</a:t>
            </a:r>
            <a:r>
              <a:rPr lang="zh-CN" altLang="en-US" sz="1200" dirty="0"/>
              <a:t>，重新恢复到初始状态。</a:t>
            </a:r>
          </a:p>
          <a:p>
            <a:endParaRPr lang="zh-CN" altLang="en-US" sz="1200" dirty="0"/>
          </a:p>
          <a:p>
            <a:r>
              <a:rPr lang="zh-CN" altLang="en-US" sz="1200" dirty="0"/>
              <a:t>事实上，这种</a:t>
            </a:r>
            <a:r>
              <a:rPr lang="zh-CN" altLang="en-US" sz="1600" dirty="0">
                <a:highlight>
                  <a:srgbClr val="FFFF00"/>
                </a:highlight>
              </a:rPr>
              <a:t>未雨绸缪</a:t>
            </a:r>
            <a:r>
              <a:rPr lang="zh-CN" altLang="en-US" sz="1200" dirty="0"/>
              <a:t>的研发策略已经在许多行业得到了使用，只是在Oracle得到了更强有力的执行。例如，汽车生产商知道汽车会发生车祸，尽管许多情形是厂商无法控制的，但厂家在事前可以使刹车系统更灵敏、使转弯操控系统更优越、或增加安全气囊、添加安全措施，使安全性能增强。这些措施可以使得客户免遭许多伤害和麻烦。</a:t>
            </a:r>
          </a:p>
        </p:txBody>
      </p:sp>
    </p:spTree>
    <p:extLst>
      <p:ext uri="{BB962C8B-B14F-4D97-AF65-F5344CB8AC3E}">
        <p14:creationId xmlns:p14="http://schemas.microsoft.com/office/powerpoint/2010/main" val="14348355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2</a:t>
            </a:r>
            <a:r>
              <a:rPr lang="zh-CN" altLang="en-US" sz="2400" dirty="0">
                <a:solidFill>
                  <a:srgbClr val="CC6600"/>
                </a:solidFill>
                <a:latin typeface="微软雅黑" panose="020B0503020204020204" pitchFamily="34" charset="-122"/>
                <a:sym typeface="微软雅黑" panose="020B0503020204020204" pitchFamily="34" charset="-122"/>
              </a:rPr>
              <a:t>  软件测试的基本原则</a:t>
            </a:r>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4D7B741F-68CC-8C44-BBEC-62DD6CE9EC5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15963" lvl="1" indent="-708025" algn="just">
              <a:spcBef>
                <a:spcPts val="600"/>
              </a:spcBef>
              <a:buNone/>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1</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穷举测试是不可行的</a:t>
            </a:r>
          </a:p>
          <a:p>
            <a:pPr marL="755650" lvl="2" indent="-438150" algn="just">
              <a:spcBef>
                <a:spcPts val="600"/>
              </a:spcBef>
            </a:pP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穷举测试：就是把程序所有可能的执行路径或输入，都检查一遍的测试</a:t>
            </a: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例：一个程序需要</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个整型数的输入。假设计算机字长是</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16</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位，则每个整数可能取值有</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2</a:t>
            </a:r>
            <a:r>
              <a:rPr lang="en-US" altLang="zh-CN" sz="1800" baseline="30000" dirty="0">
                <a:solidFill>
                  <a:schemeClr val="tx2">
                    <a:lumMod val="65000"/>
                    <a:lumOff val="35000"/>
                  </a:schemeClr>
                </a:solidFill>
                <a:latin typeface="微软雅黑" panose="020B0503020204020204" pitchFamily="34" charset="-122"/>
                <a:ea typeface="微软雅黑" panose="020B0503020204020204" pitchFamily="34" charset="-122"/>
              </a:rPr>
              <a:t>16</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个，那么</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3</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个输入整数的各种可能值的情况约为：</a:t>
            </a: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317500" lvl="2" indent="0" algn="just">
              <a:spcBef>
                <a:spcPts val="600"/>
              </a:spcBef>
              <a:buSzPct val="85000"/>
              <a:buNone/>
            </a:pP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		2</a:t>
            </a:r>
            <a:r>
              <a:rPr lang="en-US" altLang="zh-CN" sz="1800" baseline="30000" dirty="0">
                <a:solidFill>
                  <a:schemeClr val="tx2">
                    <a:lumMod val="65000"/>
                    <a:lumOff val="35000"/>
                  </a:schemeClr>
                </a:solidFill>
                <a:latin typeface="微软雅黑" panose="020B0503020204020204" pitchFamily="34" charset="-122"/>
                <a:ea typeface="微软雅黑" panose="020B0503020204020204" pitchFamily="34" charset="-122"/>
              </a:rPr>
              <a:t>16</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×2</a:t>
            </a:r>
            <a:r>
              <a:rPr lang="en-US" altLang="zh-CN" sz="1800" baseline="30000" dirty="0">
                <a:solidFill>
                  <a:schemeClr val="tx2">
                    <a:lumMod val="65000"/>
                    <a:lumOff val="35000"/>
                  </a:schemeClr>
                </a:solidFill>
                <a:latin typeface="微软雅黑" panose="020B0503020204020204" pitchFamily="34" charset="-122"/>
                <a:ea typeface="微软雅黑" panose="020B0503020204020204" pitchFamily="34" charset="-122"/>
              </a:rPr>
              <a:t>16</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×2</a:t>
            </a:r>
            <a:r>
              <a:rPr lang="en-US" altLang="zh-CN" sz="1800" baseline="30000" dirty="0">
                <a:solidFill>
                  <a:schemeClr val="tx2">
                    <a:lumMod val="65000"/>
                    <a:lumOff val="35000"/>
                  </a:schemeClr>
                </a:solidFill>
                <a:latin typeface="微软雅黑" panose="020B0503020204020204" pitchFamily="34" charset="-122"/>
                <a:ea typeface="微软雅黑" panose="020B0503020204020204" pitchFamily="34" charset="-122"/>
              </a:rPr>
              <a:t>16</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 </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 </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2</a:t>
            </a:r>
            <a:r>
              <a:rPr lang="en-US" altLang="zh-CN" sz="1800" baseline="30000" dirty="0">
                <a:solidFill>
                  <a:schemeClr val="tx2">
                    <a:lumMod val="65000"/>
                    <a:lumOff val="35000"/>
                  </a:schemeClr>
                </a:solidFill>
                <a:latin typeface="微软雅黑" panose="020B0503020204020204" pitchFamily="34" charset="-122"/>
                <a:ea typeface="微软雅黑" panose="020B0503020204020204" pitchFamily="34" charset="-122"/>
              </a:rPr>
              <a:t>48</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 ≈</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rPr>
              <a:t> </a:t>
            </a:r>
            <a:r>
              <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rPr>
              <a:t>3×10</a:t>
            </a:r>
            <a:r>
              <a:rPr lang="en-US" altLang="zh-CN" sz="1800" baseline="30000" dirty="0">
                <a:solidFill>
                  <a:schemeClr val="tx2">
                    <a:lumMod val="65000"/>
                    <a:lumOff val="35000"/>
                  </a:schemeClr>
                </a:solidFill>
                <a:latin typeface="微软雅黑" panose="020B0503020204020204" pitchFamily="34" charset="-122"/>
                <a:ea typeface="微软雅黑" panose="020B0503020204020204" pitchFamily="34" charset="-122"/>
              </a:rPr>
              <a:t>14</a:t>
            </a: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4737528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2</a:t>
            </a:r>
            <a:r>
              <a:rPr lang="zh-CN" altLang="en-US" sz="2400" dirty="0">
                <a:solidFill>
                  <a:srgbClr val="CC6600"/>
                </a:solidFill>
                <a:latin typeface="微软雅黑" panose="020B0503020204020204" pitchFamily="34" charset="-122"/>
                <a:sym typeface="微软雅黑" panose="020B0503020204020204" pitchFamily="34" charset="-122"/>
              </a:rPr>
              <a:t>  软件测试的基本原则</a:t>
            </a:r>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4D7B741F-68CC-8C44-BBEC-62DD6CE9EC5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15963" lvl="1" indent="-708025" algn="just">
              <a:spcBef>
                <a:spcPts val="600"/>
              </a:spcBef>
              <a:buNone/>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2</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测试是有风险</a:t>
            </a:r>
            <a:r>
              <a:rPr lang="zh-CN" altLang="en-US" dirty="0">
                <a:solidFill>
                  <a:srgbClr val="000000"/>
                </a:solidFill>
                <a:latin typeface="微软雅黑" panose="020B0503020204020204" pitchFamily="34" charset="-122"/>
                <a:sym typeface="微软雅黑" panose="020B0503020204020204" pitchFamily="34" charset="-122"/>
              </a:rPr>
              <a:t>的</a:t>
            </a:r>
            <a:endParaRPr lang="zh-CN" altLang="zh-CN" dirty="0">
              <a:solidFill>
                <a:srgbClr val="000000"/>
              </a:solidFill>
              <a:latin typeface="微软雅黑" panose="020B0503020204020204" pitchFamily="34" charset="-122"/>
              <a:sym typeface="微软雅黑" panose="020B0503020204020204" pitchFamily="34" charset="-122"/>
            </a:endParaRPr>
          </a:p>
          <a:p>
            <a:pPr marL="755650" lvl="2" indent="-438150" algn="just">
              <a:spcBef>
                <a:spcPts val="600"/>
              </a:spcBef>
            </a:pP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因为测试结果与</a:t>
            </a:r>
            <a:r>
              <a:rPr lang="zh-CN" altLang="zh-CN"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测试工具、测试方法、</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选择的</a:t>
            </a:r>
            <a:r>
              <a:rPr lang="zh-CN" altLang="zh-CN"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测试用例</a:t>
            </a:r>
            <a:r>
              <a:rPr lang="zh-CN" altLang="en-US"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都有关，由于上述内容的局限性，可能无法发现错误</a:t>
            </a: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marL="755650" lvl="2" indent="-438150" algn="just">
              <a:spcBef>
                <a:spcPts val="600"/>
              </a:spcBef>
            </a:pPr>
            <a:r>
              <a:rPr lang="zh-CN" altLang="zh-CN" sz="1800" dirty="0">
                <a:solidFill>
                  <a:schemeClr val="tx2">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测试结果不一定准确，即便通过测试，某些软件缺陷也可能不被发现</a:t>
            </a: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13394234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2</a:t>
            </a:r>
            <a:r>
              <a:rPr lang="zh-CN" altLang="en-US" sz="2400" dirty="0">
                <a:solidFill>
                  <a:srgbClr val="CC6600"/>
                </a:solidFill>
                <a:latin typeface="微软雅黑" panose="020B0503020204020204" pitchFamily="34" charset="-122"/>
                <a:sym typeface="微软雅黑" panose="020B0503020204020204" pitchFamily="34" charset="-122"/>
              </a:rPr>
              <a:t>  软件测试的基本原则</a:t>
            </a:r>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4D7B741F-68CC-8C44-BBEC-62DD6CE9EC5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15963" lvl="1" indent="-708025" algn="just">
              <a:spcBef>
                <a:spcPts val="600"/>
              </a:spcBef>
              <a:buNone/>
            </a:pPr>
            <a:r>
              <a:rPr lang="zh-CN" altLang="en-US" dirty="0">
                <a:solidFill>
                  <a:schemeClr val="tx2"/>
                </a:solidFill>
                <a:latin typeface="微软雅黑" panose="020B0503020204020204" pitchFamily="34" charset="-122"/>
                <a:sym typeface="微软雅黑" panose="020B0503020204020204" pitchFamily="34" charset="-122"/>
              </a:rPr>
              <a:t>（</a:t>
            </a:r>
            <a:r>
              <a:rPr lang="en-US" altLang="zh-CN" dirty="0">
                <a:solidFill>
                  <a:schemeClr val="tx2"/>
                </a:solidFill>
                <a:latin typeface="微软雅黑" panose="020B0503020204020204" pitchFamily="34" charset="-122"/>
                <a:sym typeface="微软雅黑" panose="020B0503020204020204" pitchFamily="34" charset="-122"/>
              </a:rPr>
              <a:t>3</a:t>
            </a:r>
            <a:r>
              <a:rPr lang="zh-CN" altLang="en-US" dirty="0">
                <a:solidFill>
                  <a:schemeClr val="tx2"/>
                </a:solidFill>
                <a:latin typeface="微软雅黑" panose="020B0503020204020204" pitchFamily="34" charset="-122"/>
                <a:sym typeface="微软雅黑" panose="020B0503020204020204" pitchFamily="34" charset="-122"/>
              </a:rPr>
              <a:t>）</a:t>
            </a:r>
            <a:r>
              <a:rPr lang="zh-CN" altLang="zh-CN" dirty="0">
                <a:solidFill>
                  <a:schemeClr val="tx2"/>
                </a:solidFill>
                <a:latin typeface="微软雅黑" panose="020B0503020204020204" pitchFamily="34" charset="-122"/>
                <a:sym typeface="微软雅黑" panose="020B0503020204020204" pitchFamily="34" charset="-122"/>
              </a:rPr>
              <a:t>软件测试只能证明缺陷的存在，而不能证明产品没有缺陷</a:t>
            </a:r>
            <a:endParaRPr lang="en-US" altLang="zh-CN" dirty="0">
              <a:solidFill>
                <a:schemeClr val="tx2"/>
              </a:solidFill>
              <a:latin typeface="微软雅黑" panose="020B0503020204020204" pitchFamily="34" charset="-122"/>
              <a:sym typeface="微软雅黑" panose="020B0503020204020204" pitchFamily="34" charset="-122"/>
            </a:endParaRPr>
          </a:p>
          <a:p>
            <a:pPr marL="715963" lvl="1" indent="-708025" algn="just">
              <a:spcBef>
                <a:spcPts val="600"/>
              </a:spcBef>
              <a:buNone/>
            </a:pPr>
            <a:r>
              <a:rPr lang="zh-CN" altLang="en-US" dirty="0">
                <a:solidFill>
                  <a:schemeClr val="tx2"/>
                </a:solidFill>
                <a:latin typeface="微软雅黑" panose="020B0503020204020204" pitchFamily="34" charset="-122"/>
                <a:sym typeface="微软雅黑" panose="020B0503020204020204" pitchFamily="34" charset="-122"/>
              </a:rPr>
              <a:t>（</a:t>
            </a:r>
            <a:r>
              <a:rPr lang="en-US" altLang="zh-CN" dirty="0">
                <a:solidFill>
                  <a:schemeClr val="tx2"/>
                </a:solidFill>
                <a:latin typeface="微软雅黑" panose="020B0503020204020204" pitchFamily="34" charset="-122"/>
                <a:sym typeface="微软雅黑" panose="020B0503020204020204" pitchFamily="34" charset="-122"/>
              </a:rPr>
              <a:t>4</a:t>
            </a:r>
            <a:r>
              <a:rPr lang="zh-CN" altLang="en-US" dirty="0">
                <a:solidFill>
                  <a:schemeClr val="tx2"/>
                </a:solidFill>
                <a:latin typeface="微软雅黑" panose="020B0503020204020204" pitchFamily="34" charset="-122"/>
                <a:sym typeface="微软雅黑" panose="020B0503020204020204" pitchFamily="34" charset="-122"/>
              </a:rPr>
              <a:t>） </a:t>
            </a:r>
            <a:r>
              <a:rPr lang="zh-CN" altLang="zh-CN" dirty="0">
                <a:solidFill>
                  <a:schemeClr val="tx2"/>
                </a:solidFill>
                <a:latin typeface="微软雅黑" panose="020B0503020204020204" pitchFamily="34" charset="-122"/>
                <a:sym typeface="微软雅黑" panose="020B0503020204020204" pitchFamily="34" charset="-122"/>
              </a:rPr>
              <a:t>软件中存在的错误数与已发现的错误数成正比</a:t>
            </a:r>
            <a:endParaRPr lang="en-US" altLang="zh-CN" dirty="0">
              <a:solidFill>
                <a:schemeClr val="tx2"/>
              </a:solidFill>
              <a:latin typeface="微软雅黑" panose="020B0503020204020204" pitchFamily="34" charset="-122"/>
              <a:sym typeface="微软雅黑" panose="020B0503020204020204" pitchFamily="34" charset="-122"/>
            </a:endParaRPr>
          </a:p>
          <a:p>
            <a:pPr marL="715963" lvl="1" indent="-708025" algn="just">
              <a:spcBef>
                <a:spcPts val="600"/>
              </a:spcBef>
              <a:buNone/>
            </a:pPr>
            <a:r>
              <a:rPr lang="zh-CN" altLang="en-US" dirty="0">
                <a:solidFill>
                  <a:schemeClr val="tx2"/>
                </a:solidFill>
                <a:latin typeface="微软雅黑" panose="020B0503020204020204" pitchFamily="34" charset="-122"/>
                <a:sym typeface="微软雅黑" panose="020B0503020204020204" pitchFamily="34" charset="-122"/>
              </a:rPr>
              <a:t>（</a:t>
            </a:r>
            <a:r>
              <a:rPr lang="en-US" altLang="zh-CN" dirty="0">
                <a:solidFill>
                  <a:schemeClr val="tx2"/>
                </a:solidFill>
                <a:latin typeface="微软雅黑" panose="020B0503020204020204" pitchFamily="34" charset="-122"/>
                <a:sym typeface="微软雅黑" panose="020B0503020204020204" pitchFamily="34" charset="-122"/>
              </a:rPr>
              <a:t>5</a:t>
            </a:r>
            <a:r>
              <a:rPr lang="zh-CN" altLang="en-US" dirty="0">
                <a:solidFill>
                  <a:schemeClr val="tx2"/>
                </a:solidFill>
                <a:latin typeface="微软雅黑" panose="020B0503020204020204" pitchFamily="34" charset="-122"/>
                <a:sym typeface="微软雅黑" panose="020B0503020204020204" pitchFamily="34" charset="-122"/>
              </a:rPr>
              <a:t>） </a:t>
            </a:r>
            <a:r>
              <a:rPr lang="zh-CN" altLang="zh-CN" dirty="0">
                <a:solidFill>
                  <a:schemeClr val="tx2"/>
                </a:solidFill>
                <a:latin typeface="微软雅黑" panose="020B0503020204020204" pitchFamily="34" charset="-122"/>
                <a:sym typeface="微软雅黑" panose="020B0503020204020204" pitchFamily="34" charset="-122"/>
              </a:rPr>
              <a:t>设计</a:t>
            </a:r>
            <a:r>
              <a:rPr lang="zh-CN" altLang="zh-CN" dirty="0">
                <a:solidFill>
                  <a:schemeClr val="tx2"/>
                </a:solidFill>
                <a:highlight>
                  <a:srgbClr val="FFFF00"/>
                </a:highlight>
                <a:latin typeface="微软雅黑" panose="020B0503020204020204" pitchFamily="34" charset="-122"/>
                <a:sym typeface="微软雅黑" panose="020B0503020204020204" pitchFamily="34" charset="-122"/>
              </a:rPr>
              <a:t>测试用例</a:t>
            </a:r>
            <a:r>
              <a:rPr lang="zh-CN" altLang="zh-CN" dirty="0">
                <a:solidFill>
                  <a:schemeClr val="tx2"/>
                </a:solidFill>
                <a:latin typeface="微软雅黑" panose="020B0503020204020204" pitchFamily="34" charset="-122"/>
                <a:sym typeface="微软雅黑" panose="020B0503020204020204" pitchFamily="34" charset="-122"/>
              </a:rPr>
              <a:t>是搞好软件测试的关键</a:t>
            </a:r>
            <a:endParaRPr lang="en-US" altLang="zh-CN" dirty="0">
              <a:solidFill>
                <a:schemeClr val="tx2"/>
              </a:solidFill>
              <a:latin typeface="微软雅黑" panose="020B0503020204020204" pitchFamily="34" charset="-122"/>
              <a:sym typeface="微软雅黑" panose="020B0503020204020204" pitchFamily="34" charset="-122"/>
            </a:endParaRPr>
          </a:p>
          <a:p>
            <a:pPr marL="755650" lvl="2" indent="-438150" algn="just">
              <a:spcBef>
                <a:spcPts val="600"/>
              </a:spcBef>
            </a:pPr>
            <a:r>
              <a:rPr lang="zh-CN" altLang="zh-CN" sz="1800" dirty="0">
                <a:solidFill>
                  <a:schemeClr val="tx2">
                    <a:lumMod val="65000"/>
                    <a:lumOff val="35000"/>
                  </a:schemeClr>
                </a:solidFill>
                <a:latin typeface="微软雅黑" panose="020B0503020204020204" pitchFamily="34" charset="-122"/>
                <a:sym typeface="微软雅黑" panose="020B0503020204020204" pitchFamily="34" charset="-122"/>
              </a:rPr>
              <a:t>测试用例应该包括测试输入数据和预期输出两部分，同时</a:t>
            </a:r>
            <a:r>
              <a:rPr lang="zh-CN" altLang="en-US" sz="1800" dirty="0">
                <a:solidFill>
                  <a:schemeClr val="tx2">
                    <a:lumMod val="65000"/>
                    <a:lumOff val="35000"/>
                  </a:schemeClr>
                </a:solidFill>
                <a:latin typeface="微软雅黑" panose="020B0503020204020204" pitchFamily="34" charset="-122"/>
                <a:sym typeface="微软雅黑" panose="020B0503020204020204" pitchFamily="34" charset="-122"/>
              </a:rPr>
              <a:t>，</a:t>
            </a:r>
            <a:r>
              <a:rPr lang="zh-CN" altLang="zh-CN" sz="1800" dirty="0">
                <a:solidFill>
                  <a:schemeClr val="tx2">
                    <a:lumMod val="65000"/>
                    <a:lumOff val="35000"/>
                  </a:schemeClr>
                </a:solidFill>
                <a:latin typeface="微软雅黑" panose="020B0503020204020204" pitchFamily="34" charset="-122"/>
                <a:sym typeface="微软雅黑" panose="020B0503020204020204" pitchFamily="34" charset="-122"/>
              </a:rPr>
              <a:t>输入数据应该包括合法输入和非法输入两部分</a:t>
            </a: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6504566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2</a:t>
            </a:r>
            <a:r>
              <a:rPr lang="zh-CN" altLang="en-US" sz="2400" dirty="0">
                <a:solidFill>
                  <a:srgbClr val="CC6600"/>
                </a:solidFill>
                <a:latin typeface="微软雅黑" panose="020B0503020204020204" pitchFamily="34" charset="-122"/>
                <a:sym typeface="微软雅黑" panose="020B0503020204020204" pitchFamily="34" charset="-122"/>
              </a:rPr>
              <a:t>  软件测试的基本原则</a:t>
            </a:r>
            <a:endParaRPr lang="zh-CN" altLang="en-US" sz="2400" dirty="0">
              <a:solidFill>
                <a:srgbClr val="CC6600"/>
              </a:solidFill>
              <a:sym typeface="微软雅黑" panose="020B0503020204020204" pitchFamily="34" charset="-122"/>
            </a:endParaRPr>
          </a:p>
        </p:txBody>
      </p:sp>
      <p:sp>
        <p:nvSpPr>
          <p:cNvPr id="8" name="Rectangle 7">
            <a:extLst>
              <a:ext uri="{FF2B5EF4-FFF2-40B4-BE49-F238E27FC236}">
                <a16:creationId xmlns:a16="http://schemas.microsoft.com/office/drawing/2014/main" id="{4D7B741F-68CC-8C44-BBEC-62DD6CE9EC5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15963" lvl="1" indent="-708025" algn="just">
              <a:spcBef>
                <a:spcPts val="600"/>
              </a:spcBef>
              <a:buNone/>
            </a:pPr>
            <a:r>
              <a:rPr lang="zh-CN" altLang="en-US" dirty="0">
                <a:solidFill>
                  <a:schemeClr val="tx2"/>
                </a:solidFill>
                <a:latin typeface="微软雅黑" panose="020B0503020204020204" pitchFamily="34" charset="-122"/>
                <a:sym typeface="微软雅黑" panose="020B0503020204020204" pitchFamily="34" charset="-122"/>
              </a:rPr>
              <a:t>（</a:t>
            </a:r>
            <a:r>
              <a:rPr lang="en-US" altLang="zh-CN" dirty="0">
                <a:solidFill>
                  <a:schemeClr val="tx2"/>
                </a:solidFill>
                <a:latin typeface="微软雅黑" panose="020B0503020204020204" pitchFamily="34" charset="-122"/>
                <a:sym typeface="微软雅黑" panose="020B0503020204020204" pitchFamily="34" charset="-122"/>
              </a:rPr>
              <a:t>6</a:t>
            </a:r>
            <a:r>
              <a:rPr lang="zh-CN" altLang="en-US" dirty="0">
                <a:solidFill>
                  <a:schemeClr val="tx2"/>
                </a:solidFill>
                <a:latin typeface="微软雅黑" panose="020B0503020204020204" pitchFamily="34" charset="-122"/>
                <a:sym typeface="微软雅黑" panose="020B0503020204020204" pitchFamily="34" charset="-122"/>
              </a:rPr>
              <a:t>） </a:t>
            </a:r>
            <a:r>
              <a:rPr lang="zh-CN" altLang="zh-CN" dirty="0">
                <a:solidFill>
                  <a:schemeClr val="tx2"/>
                </a:solidFill>
                <a:latin typeface="微软雅黑" panose="020B0503020204020204" pitchFamily="34" charset="-122"/>
                <a:sym typeface="微软雅黑" panose="020B0503020204020204" pitchFamily="34" charset="-122"/>
              </a:rPr>
              <a:t>注意测试中的</a:t>
            </a:r>
            <a:r>
              <a:rPr lang="zh-CN" altLang="zh-CN" dirty="0">
                <a:solidFill>
                  <a:schemeClr val="tx2"/>
                </a:solidFill>
                <a:highlight>
                  <a:srgbClr val="FFFF00"/>
                </a:highlight>
                <a:latin typeface="微软雅黑" panose="020B0503020204020204" pitchFamily="34" charset="-122"/>
                <a:sym typeface="微软雅黑" panose="020B0503020204020204" pitchFamily="34" charset="-122"/>
              </a:rPr>
              <a:t>群集</a:t>
            </a:r>
            <a:r>
              <a:rPr lang="zh-CN" altLang="zh-CN" dirty="0">
                <a:solidFill>
                  <a:schemeClr val="tx2"/>
                </a:solidFill>
                <a:latin typeface="微软雅黑" panose="020B0503020204020204" pitchFamily="34" charset="-122"/>
                <a:sym typeface="微软雅黑" panose="020B0503020204020204" pitchFamily="34" charset="-122"/>
              </a:rPr>
              <a:t>现象</a:t>
            </a:r>
          </a:p>
          <a:p>
            <a:pPr marL="755650" lvl="2" indent="-438150" algn="just">
              <a:spcBef>
                <a:spcPts val="600"/>
              </a:spcBef>
            </a:pPr>
            <a:r>
              <a:rPr lang="zh-CN" altLang="zh-CN" sz="1800" dirty="0">
                <a:solidFill>
                  <a:schemeClr val="tx2">
                    <a:lumMod val="65000"/>
                    <a:lumOff val="35000"/>
                  </a:schemeClr>
                </a:solidFill>
                <a:latin typeface="微软雅黑" panose="020B0503020204020204" pitchFamily="34" charset="-122"/>
                <a:sym typeface="微软雅黑" panose="020B0503020204020204" pitchFamily="34" charset="-122"/>
              </a:rPr>
              <a:t>群集现象是指</a:t>
            </a:r>
            <a:r>
              <a:rPr lang="zh-CN" altLang="en-US" sz="1800" dirty="0">
                <a:solidFill>
                  <a:schemeClr val="tx2">
                    <a:lumMod val="65000"/>
                    <a:lumOff val="35000"/>
                  </a:schemeClr>
                </a:solidFill>
                <a:latin typeface="微软雅黑" panose="020B0503020204020204" pitchFamily="34" charset="-122"/>
                <a:sym typeface="微软雅黑" panose="020B0503020204020204" pitchFamily="34" charset="-122"/>
              </a:rPr>
              <a:t>：</a:t>
            </a:r>
            <a:r>
              <a:rPr lang="zh-CN" altLang="zh-CN" sz="1800" dirty="0">
                <a:solidFill>
                  <a:schemeClr val="tx2">
                    <a:lumMod val="65000"/>
                    <a:lumOff val="35000"/>
                  </a:schemeClr>
                </a:solidFill>
                <a:latin typeface="微软雅黑" panose="020B0503020204020204" pitchFamily="34" charset="-122"/>
                <a:sym typeface="微软雅黑" panose="020B0503020204020204" pitchFamily="34" charset="-122"/>
              </a:rPr>
              <a:t>错误比较集中的程序段，往往可能残留的错误数较多</a:t>
            </a:r>
            <a:r>
              <a:rPr lang="zh-CN" altLang="en-US" sz="1800" dirty="0">
                <a:solidFill>
                  <a:schemeClr val="tx2">
                    <a:lumMod val="65000"/>
                    <a:lumOff val="35000"/>
                  </a:schemeClr>
                </a:solidFill>
                <a:latin typeface="微软雅黑" panose="020B0503020204020204" pitchFamily="34" charset="-122"/>
                <a:sym typeface="微软雅黑" panose="020B0503020204020204" pitchFamily="34" charset="-122"/>
              </a:rPr>
              <a:t>。如：</a:t>
            </a:r>
            <a:r>
              <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rPr>
              <a:t>IBM370</a:t>
            </a:r>
            <a:r>
              <a:rPr lang="zh-CN" altLang="en-US" sz="1800" dirty="0">
                <a:solidFill>
                  <a:schemeClr val="tx2">
                    <a:lumMod val="65000"/>
                    <a:lumOff val="35000"/>
                  </a:schemeClr>
                </a:solidFill>
                <a:latin typeface="微软雅黑" panose="020B0503020204020204" pitchFamily="34" charset="-122"/>
                <a:sym typeface="微软雅黑" panose="020B0503020204020204" pitchFamily="34" charset="-122"/>
              </a:rPr>
              <a:t>系统中，</a:t>
            </a:r>
            <a:r>
              <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rPr>
              <a:t>47</a:t>
            </a:r>
            <a:r>
              <a:rPr lang="zh-CN" altLang="en-US" sz="1800" dirty="0">
                <a:solidFill>
                  <a:schemeClr val="tx2">
                    <a:lumMod val="65000"/>
                    <a:lumOff val="35000"/>
                  </a:schemeClr>
                </a:solidFill>
                <a:latin typeface="微软雅黑" panose="020B0503020204020204" pitchFamily="34" charset="-122"/>
                <a:sym typeface="微软雅黑" panose="020B0503020204020204" pitchFamily="34" charset="-122"/>
              </a:rPr>
              <a:t>％的错误集中在</a:t>
            </a:r>
            <a:r>
              <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rPr>
              <a:t>4</a:t>
            </a:r>
            <a:r>
              <a:rPr lang="zh-CN" altLang="en-US" sz="1800" dirty="0">
                <a:solidFill>
                  <a:schemeClr val="tx2">
                    <a:lumMod val="65000"/>
                    <a:lumOff val="35000"/>
                  </a:schemeClr>
                </a:solidFill>
                <a:latin typeface="微软雅黑" panose="020B0503020204020204" pitchFamily="34" charset="-122"/>
                <a:sym typeface="微软雅黑" panose="020B0503020204020204" pitchFamily="34" charset="-122"/>
              </a:rPr>
              <a:t>％的模块中</a:t>
            </a: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a:p>
            <a:pPr marL="715963" lvl="1" indent="-708025" algn="just">
              <a:spcBef>
                <a:spcPts val="600"/>
              </a:spcBef>
              <a:buNone/>
            </a:pPr>
            <a:r>
              <a:rPr lang="zh-CN" altLang="en-US" dirty="0">
                <a:solidFill>
                  <a:schemeClr val="tx2"/>
                </a:solidFill>
                <a:latin typeface="微软雅黑" panose="020B0503020204020204" pitchFamily="34" charset="-122"/>
                <a:sym typeface="微软雅黑" panose="020B0503020204020204" pitchFamily="34" charset="-122"/>
              </a:rPr>
              <a:t>（</a:t>
            </a:r>
            <a:r>
              <a:rPr lang="en-US" altLang="zh-CN" dirty="0">
                <a:solidFill>
                  <a:schemeClr val="tx2"/>
                </a:solidFill>
                <a:latin typeface="微软雅黑" panose="020B0503020204020204" pitchFamily="34" charset="-122"/>
                <a:sym typeface="微软雅黑" panose="020B0503020204020204" pitchFamily="34" charset="-122"/>
              </a:rPr>
              <a:t>7</a:t>
            </a:r>
            <a:r>
              <a:rPr lang="zh-CN" altLang="en-US" dirty="0">
                <a:solidFill>
                  <a:schemeClr val="tx2"/>
                </a:solidFill>
                <a:latin typeface="微软雅黑" panose="020B0503020204020204" pitchFamily="34" charset="-122"/>
                <a:sym typeface="微软雅黑" panose="020B0503020204020204" pitchFamily="34" charset="-122"/>
              </a:rPr>
              <a:t>） </a:t>
            </a:r>
            <a:r>
              <a:rPr lang="zh-CN" altLang="zh-CN" dirty="0">
                <a:solidFill>
                  <a:schemeClr val="tx2"/>
                </a:solidFill>
                <a:latin typeface="微软雅黑" panose="020B0503020204020204" pitchFamily="34" charset="-122"/>
                <a:sym typeface="微软雅黑" panose="020B0503020204020204" pitchFamily="34" charset="-122"/>
              </a:rPr>
              <a:t>妥善保存测试计划、测试用例等</a:t>
            </a:r>
          </a:p>
          <a:p>
            <a:pPr marL="755650" lvl="2" indent="-438150" algn="just">
              <a:spcBef>
                <a:spcPts val="600"/>
              </a:spcBef>
            </a:pPr>
            <a:r>
              <a:rPr lang="zh-CN" altLang="zh-CN" sz="1800" dirty="0">
                <a:solidFill>
                  <a:schemeClr val="tx2">
                    <a:lumMod val="65000"/>
                    <a:lumOff val="35000"/>
                  </a:schemeClr>
                </a:solidFill>
                <a:latin typeface="微软雅黑" panose="020B0503020204020204" pitchFamily="34" charset="-122"/>
                <a:sym typeface="微软雅黑" panose="020B0503020204020204" pitchFamily="34" charset="-122"/>
              </a:rPr>
              <a:t>有时我们需要对之前已经完成测试的代码进行重复测试，这时为了方便，可以使用之前已经用过的测试用例等</a:t>
            </a: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a:p>
            <a:pPr marL="715963" lvl="1" indent="-708025" algn="just">
              <a:spcBef>
                <a:spcPts val="600"/>
              </a:spcBef>
              <a:buNone/>
            </a:pPr>
            <a:r>
              <a:rPr lang="zh-CN" altLang="en-US" dirty="0">
                <a:solidFill>
                  <a:schemeClr val="tx2"/>
                </a:solidFill>
                <a:latin typeface="微软雅黑" panose="020B0503020204020204" pitchFamily="34" charset="-122"/>
                <a:sym typeface="微软雅黑" panose="020B0503020204020204" pitchFamily="34" charset="-122"/>
              </a:rPr>
              <a:t>（</a:t>
            </a:r>
            <a:r>
              <a:rPr lang="en-US" altLang="zh-CN" dirty="0">
                <a:solidFill>
                  <a:schemeClr val="tx2"/>
                </a:solidFill>
                <a:latin typeface="微软雅黑" panose="020B0503020204020204" pitchFamily="34" charset="-122"/>
                <a:sym typeface="微软雅黑" panose="020B0503020204020204" pitchFamily="34" charset="-122"/>
              </a:rPr>
              <a:t>8</a:t>
            </a:r>
            <a:r>
              <a:rPr lang="zh-CN" altLang="en-US" dirty="0">
                <a:solidFill>
                  <a:schemeClr val="tx2"/>
                </a:solidFill>
                <a:latin typeface="微软雅黑" panose="020B0503020204020204" pitchFamily="34" charset="-122"/>
                <a:sym typeface="微软雅黑" panose="020B0503020204020204" pitchFamily="34" charset="-122"/>
              </a:rPr>
              <a:t>） </a:t>
            </a:r>
            <a:r>
              <a:rPr lang="zh-CN" altLang="zh-CN" dirty="0">
                <a:solidFill>
                  <a:schemeClr val="tx2"/>
                </a:solidFill>
                <a:latin typeface="微软雅黑" panose="020B0503020204020204" pitchFamily="34" charset="-122"/>
                <a:sym typeface="微软雅黑" panose="020B0503020204020204" pitchFamily="34" charset="-122"/>
              </a:rPr>
              <a:t>尽早开始测试工作，并将其贯穿整个开发过程</a:t>
            </a:r>
            <a:endParaRPr lang="en-US" altLang="zh-CN" dirty="0">
              <a:solidFill>
                <a:schemeClr val="tx2"/>
              </a:solidFill>
              <a:latin typeface="微软雅黑" panose="020B0503020204020204" pitchFamily="34" charset="-122"/>
              <a:sym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755650" lvl="2" indent="-438150" algn="just">
              <a:spcBef>
                <a:spcPts val="600"/>
              </a:spcBef>
            </a:pPr>
            <a:endParaRPr lang="en-US" altLang="zh-CN" sz="1800" dirty="0">
              <a:solidFill>
                <a:schemeClr val="tx2">
                  <a:lumMod val="65000"/>
                  <a:lumOff val="35000"/>
                </a:schemeClr>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210103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12</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3</a:t>
            </a:r>
            <a:r>
              <a:rPr lang="zh-CN" altLang="en-US" sz="2400" dirty="0">
                <a:solidFill>
                  <a:srgbClr val="CC6600"/>
                </a:solidFill>
                <a:latin typeface="微软雅黑" panose="020B0503020204020204" pitchFamily="34" charset="-122"/>
                <a:sym typeface="微软雅黑" panose="020B0503020204020204" pitchFamily="34" charset="-122"/>
              </a:rPr>
              <a:t>  软件测试用例</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en-US" dirty="0">
                <a:solidFill>
                  <a:srgbClr val="000000"/>
                </a:solidFill>
                <a:latin typeface="微软雅黑" panose="020B0503020204020204" pitchFamily="34" charset="-122"/>
              </a:rPr>
              <a:t>软件测试用例：是为特定目标，而开发的</a:t>
            </a:r>
            <a:r>
              <a:rPr lang="zh-CN" altLang="en-US" dirty="0">
                <a:solidFill>
                  <a:srgbClr val="000000"/>
                </a:solidFill>
                <a:highlight>
                  <a:srgbClr val="FFFF00"/>
                </a:highlight>
                <a:latin typeface="微软雅黑" panose="020B0503020204020204" pitchFamily="34" charset="-122"/>
              </a:rPr>
              <a:t>一组</a:t>
            </a:r>
            <a:r>
              <a:rPr lang="zh-CN" altLang="en-US" dirty="0">
                <a:solidFill>
                  <a:srgbClr val="000000"/>
                </a:solidFill>
                <a:latin typeface="微软雅黑" panose="020B0503020204020204" pitchFamily="34" charset="-122"/>
              </a:rPr>
              <a:t>测试输入、执行条件和预期结果。其目标可以是测试某个程序路径，或核实是否满足某个特定的需求</a:t>
            </a:r>
            <a:endParaRPr lang="en-US" altLang="zh-CN" dirty="0">
              <a:solidFill>
                <a:srgbClr val="000000"/>
              </a:solidFill>
              <a:latin typeface="微软雅黑" panose="020B0503020204020204" pitchFamily="34" charset="-122"/>
              <a:sym typeface="微软雅黑" panose="020B0503020204020204" pitchFamily="34" charset="-122"/>
            </a:endParaRPr>
          </a:p>
          <a:p>
            <a:pPr marL="268288" lvl="1" indent="-260350" algn="just">
              <a:spcBef>
                <a:spcPts val="600"/>
              </a:spcBef>
            </a:pPr>
            <a:r>
              <a:rPr lang="zh-CN" altLang="en-US" dirty="0">
                <a:solidFill>
                  <a:srgbClr val="000000"/>
                </a:solidFill>
                <a:latin typeface="微软雅黑" panose="020B0503020204020204" pitchFamily="34" charset="-122"/>
              </a:rPr>
              <a:t>测试用例基本内容包括：</a:t>
            </a:r>
            <a:r>
              <a:rPr lang="zh-CN" altLang="en-US" dirty="0">
                <a:solidFill>
                  <a:srgbClr val="000000"/>
                </a:solidFill>
                <a:highlight>
                  <a:srgbClr val="FFFF00"/>
                </a:highlight>
                <a:latin typeface="微软雅黑" panose="020B0503020204020204" pitchFamily="34" charset="-122"/>
              </a:rPr>
              <a:t>测试目标</a:t>
            </a:r>
            <a:r>
              <a:rPr lang="zh-CN" altLang="en-US" dirty="0">
                <a:solidFill>
                  <a:srgbClr val="000000"/>
                </a:solidFill>
                <a:latin typeface="微软雅黑" panose="020B0503020204020204" pitchFamily="34" charset="-122"/>
              </a:rPr>
              <a:t>描述、</a:t>
            </a:r>
            <a:r>
              <a:rPr lang="zh-CN" altLang="en-US" dirty="0">
                <a:solidFill>
                  <a:srgbClr val="000000"/>
                </a:solidFill>
                <a:highlight>
                  <a:srgbClr val="FFFF00"/>
                </a:highlight>
                <a:latin typeface="微软雅黑" panose="020B0503020204020204" pitchFamily="34" charset="-122"/>
              </a:rPr>
              <a:t>输入数据</a:t>
            </a:r>
            <a:r>
              <a:rPr lang="zh-CN" altLang="en-US" dirty="0">
                <a:solidFill>
                  <a:srgbClr val="000000"/>
                </a:solidFill>
                <a:latin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rPr>
              <a:t>测试步骤</a:t>
            </a:r>
            <a:r>
              <a:rPr lang="zh-CN" altLang="en-US" dirty="0">
                <a:solidFill>
                  <a:srgbClr val="000000"/>
                </a:solidFill>
                <a:latin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rPr>
              <a:t>预期结果</a:t>
            </a:r>
            <a:r>
              <a:rPr lang="zh-CN" altLang="en-US" dirty="0">
                <a:solidFill>
                  <a:srgbClr val="000000"/>
                </a:solidFill>
                <a:latin typeface="微软雅黑" panose="020B0503020204020204" pitchFamily="34" charset="-122"/>
              </a:rPr>
              <a:t>。可能会根据要求不同，增加测试用例编号、模块、用例编写人、创建日期、前提条件等</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4656948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F846CBAC-94F7-9841-8BA5-75491AC35CF8}"/>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89B1CEFF-E15D-F94B-B193-4D78D0D33E60}"/>
              </a:ext>
            </a:extLst>
          </p:cNvPr>
          <p:cNvSpPr>
            <a:spLocks noGrp="1"/>
          </p:cNvSpPr>
          <p:nvPr>
            <p:ph type="sldNum" sz="quarter" idx="12"/>
          </p:nvPr>
        </p:nvSpPr>
        <p:spPr/>
        <p:txBody>
          <a:bodyPr/>
          <a:lstStyle/>
          <a:p>
            <a:fld id="{9CD8D479-8942-46E8-A226-A4E01F7A105C}" type="slidenum">
              <a:rPr lang="en-US" altLang="zh-CN" smtClean="0"/>
              <a:pPr/>
              <a:t>13</a:t>
            </a:fld>
            <a:endParaRPr lang="zh-CN" altLang="en-US" dirty="0"/>
          </a:p>
        </p:txBody>
      </p:sp>
      <p:sp>
        <p:nvSpPr>
          <p:cNvPr id="6" name="页脚占位符 5">
            <a:extLst>
              <a:ext uri="{FF2B5EF4-FFF2-40B4-BE49-F238E27FC236}">
                <a16:creationId xmlns:a16="http://schemas.microsoft.com/office/drawing/2014/main" id="{F22473D1-FD87-2149-B5BD-0F814793A2E4}"/>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8" name="图片 7">
            <a:extLst>
              <a:ext uri="{FF2B5EF4-FFF2-40B4-BE49-F238E27FC236}">
                <a16:creationId xmlns:a16="http://schemas.microsoft.com/office/drawing/2014/main" id="{13C5119A-50F4-7246-BFD3-322140E62A92}"/>
              </a:ext>
            </a:extLst>
          </p:cNvPr>
          <p:cNvPicPr>
            <a:picLocks noChangeAspect="1"/>
          </p:cNvPicPr>
          <p:nvPr/>
        </p:nvPicPr>
        <p:blipFill>
          <a:blip r:embed="rId2"/>
          <a:stretch>
            <a:fillRect/>
          </a:stretch>
        </p:blipFill>
        <p:spPr>
          <a:xfrm>
            <a:off x="567607" y="744322"/>
            <a:ext cx="7788729" cy="5599410"/>
          </a:xfrm>
          <a:prstGeom prst="rect">
            <a:avLst/>
          </a:prstGeom>
          <a:ln>
            <a:noFill/>
          </a:ln>
          <a:effectLst>
            <a:outerShdw blurRad="292100" dist="139700" dir="2700000" algn="tl" rotWithShape="0">
              <a:srgbClr val="333333">
                <a:alpha val="65000"/>
              </a:srgbClr>
            </a:outerShdw>
          </a:effectLst>
        </p:spPr>
      </p:pic>
      <p:grpSp>
        <p:nvGrpSpPr>
          <p:cNvPr id="11" name="组合 10">
            <a:extLst>
              <a:ext uri="{FF2B5EF4-FFF2-40B4-BE49-F238E27FC236}">
                <a16:creationId xmlns:a16="http://schemas.microsoft.com/office/drawing/2014/main" id="{0D08CA92-D6AE-D745-BB0A-4F6E3C28BB2C}"/>
              </a:ext>
            </a:extLst>
          </p:cNvPr>
          <p:cNvGrpSpPr/>
          <p:nvPr/>
        </p:nvGrpSpPr>
        <p:grpSpPr>
          <a:xfrm>
            <a:off x="1228288" y="331250"/>
            <a:ext cx="7486650" cy="1769167"/>
            <a:chOff x="0" y="228297"/>
            <a:chExt cx="9144000" cy="2160815"/>
          </a:xfrm>
        </p:grpSpPr>
        <p:pic>
          <p:nvPicPr>
            <p:cNvPr id="10" name="图片 9">
              <a:extLst>
                <a:ext uri="{FF2B5EF4-FFF2-40B4-BE49-F238E27FC236}">
                  <a16:creationId xmlns:a16="http://schemas.microsoft.com/office/drawing/2014/main" id="{EAC692C9-F5FE-4945-ABC4-CBE5A6C1709D}"/>
                </a:ext>
              </a:extLst>
            </p:cNvPr>
            <p:cNvPicPr>
              <a:picLocks noChangeAspect="1"/>
            </p:cNvPicPr>
            <p:nvPr/>
          </p:nvPicPr>
          <p:blipFill>
            <a:blip r:embed="rId3"/>
            <a:stretch>
              <a:fillRect/>
            </a:stretch>
          </p:blipFill>
          <p:spPr>
            <a:xfrm>
              <a:off x="0" y="1143302"/>
              <a:ext cx="9144000" cy="1245810"/>
            </a:xfrm>
            <a:prstGeom prst="rect">
              <a:avLst/>
            </a:prstGeom>
          </p:spPr>
        </p:pic>
        <p:pic>
          <p:nvPicPr>
            <p:cNvPr id="9" name="图片 8">
              <a:extLst>
                <a:ext uri="{FF2B5EF4-FFF2-40B4-BE49-F238E27FC236}">
                  <a16:creationId xmlns:a16="http://schemas.microsoft.com/office/drawing/2014/main" id="{F5B7F9BB-769B-F940-A526-73806A5000AE}"/>
                </a:ext>
              </a:extLst>
            </p:cNvPr>
            <p:cNvPicPr>
              <a:picLocks noChangeAspect="1"/>
            </p:cNvPicPr>
            <p:nvPr/>
          </p:nvPicPr>
          <p:blipFill>
            <a:blip r:embed="rId4"/>
            <a:stretch>
              <a:fillRect/>
            </a:stretch>
          </p:blipFill>
          <p:spPr>
            <a:xfrm>
              <a:off x="0" y="228297"/>
              <a:ext cx="9144000" cy="931333"/>
            </a:xfrm>
            <a:prstGeom prst="rect">
              <a:avLst/>
            </a:prstGeom>
          </p:spPr>
        </p:pic>
      </p:grpSp>
    </p:spTree>
    <p:extLst>
      <p:ext uri="{BB962C8B-B14F-4D97-AF65-F5344CB8AC3E}">
        <p14:creationId xmlns:p14="http://schemas.microsoft.com/office/powerpoint/2010/main" val="122570415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14</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4</a:t>
            </a:r>
            <a:r>
              <a:rPr lang="zh-CN" altLang="en-US" sz="2400" dirty="0">
                <a:solidFill>
                  <a:srgbClr val="CC6600"/>
                </a:solidFill>
                <a:latin typeface="微软雅黑" panose="020B0503020204020204" pitchFamily="34" charset="-122"/>
                <a:sym typeface="微软雅黑" panose="020B0503020204020204" pitchFamily="34" charset="-122"/>
              </a:rPr>
              <a:t>  软件测试的分类</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4014632"/>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en-US" sz="2100" dirty="0">
                <a:solidFill>
                  <a:srgbClr val="000000"/>
                </a:solidFill>
                <a:latin typeface="微软雅黑" panose="020B0503020204020204" pitchFamily="34" charset="-122"/>
              </a:rPr>
              <a:t>根据开发</a:t>
            </a:r>
            <a:r>
              <a:rPr lang="zh-CN" altLang="en-US" sz="2100" dirty="0">
                <a:solidFill>
                  <a:srgbClr val="000000"/>
                </a:solidFill>
                <a:highlight>
                  <a:srgbClr val="FFFF00"/>
                </a:highlight>
                <a:latin typeface="微软雅黑" panose="020B0503020204020204" pitchFamily="34" charset="-122"/>
              </a:rPr>
              <a:t>阶段</a:t>
            </a:r>
            <a:r>
              <a:rPr lang="zh-CN" altLang="en-US" sz="2100" dirty="0">
                <a:solidFill>
                  <a:srgbClr val="000000"/>
                </a:solidFill>
                <a:latin typeface="微软雅黑" panose="020B0503020204020204" pitchFamily="34" charset="-122"/>
              </a:rPr>
              <a:t>不同，可以将其分为：单元测试、集成测试、确认测试、系统测试和验收测试</a:t>
            </a:r>
            <a:endParaRPr lang="en-US" altLang="zh-CN" sz="2100" dirty="0">
              <a:solidFill>
                <a:srgbClr val="000000"/>
              </a:solidFill>
              <a:latin typeface="微软雅黑" panose="020B0503020204020204" pitchFamily="34" charset="-122"/>
            </a:endParaRPr>
          </a:p>
          <a:p>
            <a:pPr marL="268288" lvl="1" indent="-260350" algn="just">
              <a:spcBef>
                <a:spcPts val="600"/>
              </a:spcBef>
            </a:pPr>
            <a:r>
              <a:rPr lang="zh-CN" altLang="en-US" sz="2100" dirty="0">
                <a:solidFill>
                  <a:srgbClr val="000000"/>
                </a:solidFill>
                <a:latin typeface="微软雅黑" panose="020B0503020204020204" pitchFamily="34" charset="-122"/>
              </a:rPr>
              <a:t>根据测试</a:t>
            </a:r>
            <a:r>
              <a:rPr lang="zh-CN" altLang="en-US" sz="2100" dirty="0">
                <a:solidFill>
                  <a:srgbClr val="000000"/>
                </a:solidFill>
                <a:highlight>
                  <a:srgbClr val="FFFF00"/>
                </a:highlight>
                <a:latin typeface="微软雅黑" panose="020B0503020204020204" pitchFamily="34" charset="-122"/>
              </a:rPr>
              <a:t>实施</a:t>
            </a:r>
            <a:r>
              <a:rPr lang="zh-CN" altLang="en-US" sz="2100" dirty="0">
                <a:solidFill>
                  <a:srgbClr val="000000"/>
                </a:solidFill>
                <a:latin typeface="微软雅黑" panose="020B0503020204020204" pitchFamily="34" charset="-122"/>
              </a:rPr>
              <a:t>组织方式不同，可以将其分为：开发方测试、用户测试、第三方测试</a:t>
            </a:r>
            <a:endParaRPr lang="en-US" altLang="zh-CN" sz="2100" dirty="0">
              <a:solidFill>
                <a:srgbClr val="000000"/>
              </a:solidFill>
              <a:latin typeface="微软雅黑" panose="020B0503020204020204" pitchFamily="34" charset="-122"/>
            </a:endParaRPr>
          </a:p>
          <a:p>
            <a:pPr marL="268288" lvl="1" indent="-260350" algn="just">
              <a:spcBef>
                <a:spcPts val="600"/>
              </a:spcBef>
            </a:pPr>
            <a:r>
              <a:rPr lang="zh-CN" altLang="en-US" sz="2100" dirty="0">
                <a:solidFill>
                  <a:srgbClr val="000000"/>
                </a:solidFill>
                <a:latin typeface="微软雅黑" panose="020B0503020204020204" pitchFamily="34" charset="-122"/>
              </a:rPr>
              <a:t>根据测试</a:t>
            </a:r>
            <a:r>
              <a:rPr lang="zh-CN" altLang="en-US" sz="2100" dirty="0">
                <a:solidFill>
                  <a:srgbClr val="000000"/>
                </a:solidFill>
                <a:highlight>
                  <a:srgbClr val="FFFF00"/>
                </a:highlight>
                <a:latin typeface="微软雅黑" panose="020B0503020204020204" pitchFamily="34" charset="-122"/>
              </a:rPr>
              <a:t>技术</a:t>
            </a:r>
            <a:r>
              <a:rPr lang="zh-CN" altLang="en-US" sz="2100" dirty="0">
                <a:solidFill>
                  <a:srgbClr val="000000"/>
                </a:solidFill>
                <a:latin typeface="微软雅黑" panose="020B0503020204020204" pitchFamily="34" charset="-122"/>
              </a:rPr>
              <a:t>不同，可以将其分为：</a:t>
            </a:r>
            <a:r>
              <a:rPr lang="zh-CN" altLang="en-US" sz="2100" dirty="0">
                <a:solidFill>
                  <a:srgbClr val="CC6600"/>
                </a:solidFill>
                <a:latin typeface="微软雅黑" panose="020B0503020204020204" pitchFamily="34" charset="-122"/>
              </a:rPr>
              <a:t>白盒测试</a:t>
            </a:r>
            <a:r>
              <a:rPr lang="zh-CN" altLang="en-US" sz="2100" dirty="0">
                <a:solidFill>
                  <a:srgbClr val="000000"/>
                </a:solidFill>
                <a:latin typeface="微软雅黑" panose="020B0503020204020204" pitchFamily="34" charset="-122"/>
              </a:rPr>
              <a:t>、</a:t>
            </a:r>
            <a:r>
              <a:rPr lang="zh-CN" altLang="en-US" sz="2100" dirty="0">
                <a:solidFill>
                  <a:srgbClr val="CC6600"/>
                </a:solidFill>
                <a:latin typeface="微软雅黑" panose="020B0503020204020204" pitchFamily="34" charset="-122"/>
              </a:rPr>
              <a:t>黑盒测试</a:t>
            </a:r>
            <a:r>
              <a:rPr lang="zh-CN" altLang="en-US" sz="2100" dirty="0">
                <a:solidFill>
                  <a:srgbClr val="000000"/>
                </a:solidFill>
                <a:latin typeface="微软雅黑" panose="020B0503020204020204" pitchFamily="34" charset="-122"/>
              </a:rPr>
              <a:t>、</a:t>
            </a:r>
            <a:r>
              <a:rPr lang="zh-CN" altLang="en-US" sz="2100" dirty="0">
                <a:solidFill>
                  <a:srgbClr val="CC6600"/>
                </a:solidFill>
                <a:latin typeface="微软雅黑" panose="020B0503020204020204" pitchFamily="34" charset="-122"/>
              </a:rPr>
              <a:t>灰盒测试</a:t>
            </a:r>
            <a:endParaRPr lang="en-US" altLang="zh-CN" sz="2100" dirty="0">
              <a:solidFill>
                <a:srgbClr val="CC6600"/>
              </a:solidFill>
              <a:latin typeface="微软雅黑" panose="020B0503020204020204" pitchFamily="34" charset="-122"/>
              <a:sym typeface="微软雅黑" panose="020B0503020204020204" pitchFamily="34" charset="-122"/>
            </a:endParaRPr>
          </a:p>
          <a:p>
            <a:pPr marL="268288" lvl="1" indent="-260350" algn="just">
              <a:spcBef>
                <a:spcPts val="600"/>
              </a:spcBef>
            </a:pPr>
            <a:r>
              <a:rPr lang="zh-CN" altLang="en-US" sz="2100" dirty="0">
                <a:solidFill>
                  <a:srgbClr val="000000"/>
                </a:solidFill>
                <a:latin typeface="微软雅黑" panose="020B0503020204020204" pitchFamily="34" charset="-122"/>
              </a:rPr>
              <a:t>根据测试</a:t>
            </a:r>
            <a:r>
              <a:rPr lang="zh-CN" altLang="en-US" sz="2100" dirty="0">
                <a:solidFill>
                  <a:srgbClr val="000000"/>
                </a:solidFill>
                <a:highlight>
                  <a:srgbClr val="FFFF00"/>
                </a:highlight>
                <a:latin typeface="微软雅黑" panose="020B0503020204020204" pitchFamily="34" charset="-122"/>
              </a:rPr>
              <a:t>内容</a:t>
            </a:r>
            <a:r>
              <a:rPr lang="zh-CN" altLang="en-US" sz="2100" dirty="0">
                <a:solidFill>
                  <a:srgbClr val="000000"/>
                </a:solidFill>
                <a:latin typeface="微软雅黑" panose="020B0503020204020204" pitchFamily="34" charset="-122"/>
              </a:rPr>
              <a:t>不同，可以将其分为：符合性测试、验收测试、易用性测试、兼容性测试、可靠性测试、安全性测试、性能测试、压力测试等</a:t>
            </a:r>
            <a:endParaRPr lang="en-US" altLang="zh-CN" sz="21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1110956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15</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4</a:t>
            </a:r>
            <a:r>
              <a:rPr lang="zh-CN" altLang="en-US" sz="2400" dirty="0">
                <a:solidFill>
                  <a:srgbClr val="CC6600"/>
                </a:solidFill>
                <a:latin typeface="微软雅黑" panose="020B0503020204020204" pitchFamily="34" charset="-122"/>
                <a:sym typeface="微软雅黑" panose="020B0503020204020204" pitchFamily="34" charset="-122"/>
              </a:rPr>
              <a:t>  软件测试的分类</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112447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en-US" dirty="0">
                <a:solidFill>
                  <a:srgbClr val="000000"/>
                </a:solidFill>
                <a:latin typeface="微软雅黑" panose="020B0503020204020204" pitchFamily="34" charset="-122"/>
              </a:rPr>
              <a:t>根据测试时，是否需要</a:t>
            </a:r>
            <a:r>
              <a:rPr lang="zh-CN" altLang="en-US" dirty="0">
                <a:solidFill>
                  <a:srgbClr val="000000"/>
                </a:solidFill>
                <a:highlight>
                  <a:srgbClr val="FFFF00"/>
                </a:highlight>
                <a:latin typeface="微软雅黑" panose="020B0503020204020204" pitchFamily="34" charset="-122"/>
              </a:rPr>
              <a:t>执行</a:t>
            </a:r>
            <a:r>
              <a:rPr lang="zh-CN" altLang="en-US" dirty="0">
                <a:solidFill>
                  <a:srgbClr val="000000"/>
                </a:solidFill>
                <a:latin typeface="微软雅黑" panose="020B0503020204020204" pitchFamily="34" charset="-122"/>
              </a:rPr>
              <a:t>被测程序，可以将测试分为：静态测试和动态测试</a:t>
            </a:r>
            <a:endParaRPr lang="en-US" altLang="zh-CN" dirty="0">
              <a:solidFill>
                <a:srgbClr val="000000"/>
              </a:solidFill>
              <a:latin typeface="微软雅黑" panose="020B0503020204020204" pitchFamily="34" charset="-122"/>
            </a:endParaRPr>
          </a:p>
        </p:txBody>
      </p:sp>
      <p:sp>
        <p:nvSpPr>
          <p:cNvPr id="8" name="Rectangle 7">
            <a:extLst>
              <a:ext uri="{FF2B5EF4-FFF2-40B4-BE49-F238E27FC236}">
                <a16:creationId xmlns:a16="http://schemas.microsoft.com/office/drawing/2014/main" id="{FA8E61C9-C7C5-9E4C-A0F5-30D37B6873EB}"/>
              </a:ext>
            </a:extLst>
          </p:cNvPr>
          <p:cNvSpPr txBox="1">
            <a:spLocks noChangeArrowheads="1"/>
          </p:cNvSpPr>
          <p:nvPr/>
        </p:nvSpPr>
        <p:spPr>
          <a:xfrm>
            <a:off x="1679357" y="3435904"/>
            <a:ext cx="5464393" cy="1873149"/>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938" lvl="1" indent="0" algn="just">
              <a:spcBef>
                <a:spcPts val="600"/>
              </a:spcBef>
              <a:buNone/>
            </a:pPr>
            <a:r>
              <a:rPr lang="zh-CN" altLang="en-US" sz="1800" dirty="0">
                <a:solidFill>
                  <a:srgbClr val="CC6600"/>
                </a:solidFill>
                <a:latin typeface="微软雅黑" panose="020B0503020204020204" pitchFamily="34" charset="-122"/>
              </a:rPr>
              <a:t>静态测试</a:t>
            </a:r>
            <a:endParaRPr lang="en-US" altLang="zh-CN" sz="1800" dirty="0">
              <a:solidFill>
                <a:srgbClr val="CC6600"/>
              </a:solidFill>
              <a:latin typeface="微软雅黑" panose="020B0503020204020204" pitchFamily="34" charset="-122"/>
            </a:endParaRPr>
          </a:p>
          <a:p>
            <a:pPr marL="268288" lvl="1" indent="-260350" algn="just">
              <a:spcBef>
                <a:spcPts val="600"/>
              </a:spcBef>
            </a:pPr>
            <a:r>
              <a:rPr lang="zh-CN" altLang="en-US" sz="1600" dirty="0">
                <a:solidFill>
                  <a:srgbClr val="000000"/>
                </a:solidFill>
                <a:latin typeface="微软雅黑" panose="020B0503020204020204" pitchFamily="34" charset="-122"/>
              </a:rPr>
              <a:t>是指被测试程序，不在机器上运行，而是采用人工检测和计算机辅助静态分析的手段，对程序进行检测</a:t>
            </a:r>
            <a:endParaRPr lang="en-US" altLang="zh-CN" sz="1600" dirty="0">
              <a:solidFill>
                <a:srgbClr val="000000"/>
              </a:solidFill>
              <a:latin typeface="微软雅黑" panose="020B0503020204020204" pitchFamily="34" charset="-122"/>
            </a:endParaRPr>
          </a:p>
        </p:txBody>
      </p:sp>
      <p:grpSp>
        <p:nvGrpSpPr>
          <p:cNvPr id="4" name="组合 3">
            <a:extLst>
              <a:ext uri="{FF2B5EF4-FFF2-40B4-BE49-F238E27FC236}">
                <a16:creationId xmlns:a16="http://schemas.microsoft.com/office/drawing/2014/main" id="{7A5938B8-B351-BF4D-A9B7-C3E17DFF7842}"/>
              </a:ext>
            </a:extLst>
          </p:cNvPr>
          <p:cNvGrpSpPr/>
          <p:nvPr/>
        </p:nvGrpSpPr>
        <p:grpSpPr>
          <a:xfrm>
            <a:off x="1879761" y="1655324"/>
            <a:ext cx="6588579" cy="4314508"/>
            <a:chOff x="2098221" y="1228642"/>
            <a:chExt cx="6588579" cy="4314508"/>
          </a:xfrm>
        </p:grpSpPr>
        <p:sp>
          <p:nvSpPr>
            <p:cNvPr id="2" name="矩形 1">
              <a:extLst>
                <a:ext uri="{FF2B5EF4-FFF2-40B4-BE49-F238E27FC236}">
                  <a16:creationId xmlns:a16="http://schemas.microsoft.com/office/drawing/2014/main" id="{925BA9D7-85A1-7441-A9D0-4D64099EB7A2}"/>
                </a:ext>
              </a:extLst>
            </p:cNvPr>
            <p:cNvSpPr/>
            <p:nvPr/>
          </p:nvSpPr>
          <p:spPr>
            <a:xfrm>
              <a:off x="2098221" y="1228642"/>
              <a:ext cx="6588579" cy="4220936"/>
            </a:xfrm>
            <a:prstGeom prst="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lumMod val="95000"/>
                  </a:schemeClr>
                </a:solidFill>
              </a:endParaRPr>
            </a:p>
          </p:txBody>
        </p:sp>
        <p:sp>
          <p:nvSpPr>
            <p:cNvPr id="16" name="Rectangle 7">
              <a:extLst>
                <a:ext uri="{FF2B5EF4-FFF2-40B4-BE49-F238E27FC236}">
                  <a16:creationId xmlns:a16="http://schemas.microsoft.com/office/drawing/2014/main" id="{1126AC13-2DB9-0F44-92C2-8692B2D40566}"/>
                </a:ext>
              </a:extLst>
            </p:cNvPr>
            <p:cNvSpPr txBox="1">
              <a:spLocks noChangeArrowheads="1"/>
            </p:cNvSpPr>
            <p:nvPr/>
          </p:nvSpPr>
          <p:spPr>
            <a:xfrm>
              <a:off x="2331881" y="1442705"/>
              <a:ext cx="6063490" cy="22528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938" lvl="1" indent="0" algn="just">
                <a:spcBef>
                  <a:spcPts val="600"/>
                </a:spcBef>
                <a:buNone/>
              </a:pPr>
              <a:r>
                <a:rPr lang="zh-CN" altLang="en-US" sz="1800" dirty="0">
                  <a:solidFill>
                    <a:srgbClr val="000000"/>
                  </a:solidFill>
                  <a:latin typeface="微软雅黑" panose="020B0503020204020204" pitchFamily="34" charset="-122"/>
                </a:rPr>
                <a:t>（</a:t>
              </a:r>
              <a:r>
                <a:rPr lang="en-US" altLang="zh-CN" sz="1800" dirty="0">
                  <a:solidFill>
                    <a:srgbClr val="000000"/>
                  </a:solidFill>
                  <a:latin typeface="微软雅黑" panose="020B0503020204020204" pitchFamily="34" charset="-122"/>
                </a:rPr>
                <a:t>1</a:t>
              </a:r>
              <a:r>
                <a:rPr lang="zh-CN" altLang="en-US" sz="1800" dirty="0">
                  <a:solidFill>
                    <a:srgbClr val="000000"/>
                  </a:solidFill>
                  <a:latin typeface="微软雅黑" panose="020B0503020204020204" pitchFamily="34" charset="-122"/>
                </a:rPr>
                <a:t>）人工测试：是指不依靠计算机，而靠人工审查程序的办法</a:t>
              </a:r>
              <a:endParaRPr lang="en-US" altLang="zh-CN" sz="1800" dirty="0">
                <a:solidFill>
                  <a:srgbClr val="000000"/>
                </a:solidFill>
                <a:latin typeface="微软雅黑" panose="020B0503020204020204" pitchFamily="34" charset="-122"/>
              </a:endParaRPr>
            </a:p>
            <a:p>
              <a:pPr marL="446596" lvl="2" indent="-260350" algn="just">
                <a:lnSpc>
                  <a:spcPct val="160000"/>
                </a:lnSpc>
                <a:spcBef>
                  <a:spcPts val="600"/>
                </a:spcBef>
              </a:pPr>
              <a:r>
                <a:rPr lang="zh-CN" altLang="en-US" dirty="0">
                  <a:solidFill>
                    <a:srgbClr val="000000"/>
                  </a:solidFill>
                  <a:latin typeface="微软雅黑" panose="020B0503020204020204" pitchFamily="34" charset="-122"/>
                </a:rPr>
                <a:t>人工审查程序偏重于程序质量的检验，而软件审查除了审查程序质量外，还要对各阶段的软件产品进行检验。人工测试可以发现计算机不易发现的错误</a:t>
              </a:r>
              <a:endParaRPr lang="en-US" altLang="zh-CN" dirty="0">
                <a:solidFill>
                  <a:srgbClr val="000000"/>
                </a:solidFill>
                <a:latin typeface="微软雅黑" panose="020B0503020204020204" pitchFamily="34" charset="-122"/>
              </a:endParaRPr>
            </a:p>
            <a:p>
              <a:pPr marL="268288" lvl="1" indent="-260350" algn="just">
                <a:spcBef>
                  <a:spcPts val="600"/>
                </a:spcBef>
              </a:pPr>
              <a:endParaRPr lang="en-US" altLang="zh-CN" sz="1800" dirty="0">
                <a:solidFill>
                  <a:srgbClr val="000000"/>
                </a:solidFill>
                <a:latin typeface="微软雅黑" panose="020B0503020204020204" pitchFamily="34" charset="-122"/>
              </a:endParaRPr>
            </a:p>
          </p:txBody>
        </p:sp>
        <p:sp>
          <p:nvSpPr>
            <p:cNvPr id="17" name="Rectangle 7">
              <a:extLst>
                <a:ext uri="{FF2B5EF4-FFF2-40B4-BE49-F238E27FC236}">
                  <a16:creationId xmlns:a16="http://schemas.microsoft.com/office/drawing/2014/main" id="{CF11B28D-1B2F-FB47-80A3-1BBCF6E9FF3E}"/>
                </a:ext>
              </a:extLst>
            </p:cNvPr>
            <p:cNvSpPr txBox="1">
              <a:spLocks noChangeArrowheads="1"/>
            </p:cNvSpPr>
            <p:nvPr/>
          </p:nvSpPr>
          <p:spPr>
            <a:xfrm>
              <a:off x="2344038" y="3873900"/>
              <a:ext cx="6051333" cy="166925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938" lvl="1" indent="0" algn="just">
                <a:spcBef>
                  <a:spcPts val="600"/>
                </a:spcBef>
                <a:buNone/>
              </a:pPr>
              <a:r>
                <a:rPr lang="zh-CN" altLang="en-US" sz="1800" dirty="0">
                  <a:solidFill>
                    <a:srgbClr val="000000"/>
                  </a:solidFill>
                  <a:latin typeface="微软雅黑" panose="020B0503020204020204" pitchFamily="34" charset="-122"/>
                </a:rPr>
                <a:t>（</a:t>
              </a:r>
              <a:r>
                <a:rPr lang="en-US" altLang="zh-CN" sz="1800" dirty="0">
                  <a:solidFill>
                    <a:srgbClr val="000000"/>
                  </a:solidFill>
                  <a:latin typeface="微软雅黑" panose="020B0503020204020204" pitchFamily="34" charset="-122"/>
                </a:rPr>
                <a:t>2</a:t>
              </a:r>
              <a:r>
                <a:rPr lang="zh-CN" altLang="en-US" sz="1800" dirty="0">
                  <a:solidFill>
                    <a:srgbClr val="000000"/>
                  </a:solidFill>
                  <a:latin typeface="微软雅黑" panose="020B0503020204020204" pitchFamily="34" charset="-122"/>
                </a:rPr>
                <a:t>）计算机辅助静态分析：是指利用静态分析工具，对被测试程序进行特性分析，从程序中提取一些信息，以便检查程序逻辑的各种缺陷和可疑的程序构造</a:t>
              </a:r>
              <a:endParaRPr lang="en-US" altLang="zh-CN" sz="1800" dirty="0">
                <a:solidFill>
                  <a:srgbClr val="000000"/>
                </a:solidFill>
                <a:latin typeface="微软雅黑" panose="020B0503020204020204" pitchFamily="34" charset="-122"/>
              </a:endParaRPr>
            </a:p>
            <a:p>
              <a:pPr marL="7938" lvl="1" indent="0" algn="just">
                <a:spcBef>
                  <a:spcPts val="600"/>
                </a:spcBef>
                <a:buNone/>
              </a:pPr>
              <a:endParaRPr lang="en-US" altLang="zh-CN" sz="1200" dirty="0">
                <a:solidFill>
                  <a:srgbClr val="000000"/>
                </a:solidFill>
                <a:latin typeface="微软雅黑" panose="020B0503020204020204" pitchFamily="34" charset="-122"/>
              </a:endParaRPr>
            </a:p>
          </p:txBody>
        </p:sp>
      </p:grpSp>
    </p:spTree>
    <p:extLst>
      <p:ext uri="{BB962C8B-B14F-4D97-AF65-F5344CB8AC3E}">
        <p14:creationId xmlns:p14="http://schemas.microsoft.com/office/powerpoint/2010/main" val="7944415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16</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4</a:t>
            </a:r>
            <a:r>
              <a:rPr lang="zh-CN" altLang="en-US" sz="2400" dirty="0">
                <a:solidFill>
                  <a:srgbClr val="CC6600"/>
                </a:solidFill>
                <a:latin typeface="微软雅黑" panose="020B0503020204020204" pitchFamily="34" charset="-122"/>
                <a:sym typeface="微软雅黑" panose="020B0503020204020204" pitchFamily="34" charset="-122"/>
              </a:rPr>
              <a:t>  软件测试的分类</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112447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en-US" dirty="0">
                <a:solidFill>
                  <a:srgbClr val="000000"/>
                </a:solidFill>
                <a:latin typeface="微软雅黑" panose="020B0503020204020204" pitchFamily="34" charset="-122"/>
              </a:rPr>
              <a:t>根据测试时，是否需要</a:t>
            </a:r>
            <a:r>
              <a:rPr lang="zh-CN" altLang="en-US" dirty="0">
                <a:solidFill>
                  <a:srgbClr val="000000"/>
                </a:solidFill>
                <a:highlight>
                  <a:srgbClr val="FFFF00"/>
                </a:highlight>
                <a:latin typeface="微软雅黑" panose="020B0503020204020204" pitchFamily="34" charset="-122"/>
              </a:rPr>
              <a:t>执行</a:t>
            </a:r>
            <a:r>
              <a:rPr lang="zh-CN" altLang="en-US" dirty="0">
                <a:solidFill>
                  <a:srgbClr val="000000"/>
                </a:solidFill>
                <a:latin typeface="微软雅黑" panose="020B0503020204020204" pitchFamily="34" charset="-122"/>
              </a:rPr>
              <a:t>被测程序，可以将测试分为：静态测试和动态测试</a:t>
            </a:r>
            <a:endParaRPr lang="en-US" altLang="zh-CN" dirty="0">
              <a:solidFill>
                <a:srgbClr val="000000"/>
              </a:solidFill>
              <a:latin typeface="微软雅黑" panose="020B0503020204020204" pitchFamily="34" charset="-122"/>
            </a:endParaRPr>
          </a:p>
        </p:txBody>
      </p:sp>
      <p:sp>
        <p:nvSpPr>
          <p:cNvPr id="8" name="Rectangle 7">
            <a:extLst>
              <a:ext uri="{FF2B5EF4-FFF2-40B4-BE49-F238E27FC236}">
                <a16:creationId xmlns:a16="http://schemas.microsoft.com/office/drawing/2014/main" id="{FA8E61C9-C7C5-9E4C-A0F5-30D37B6873EB}"/>
              </a:ext>
            </a:extLst>
          </p:cNvPr>
          <p:cNvSpPr txBox="1">
            <a:spLocks noChangeArrowheads="1"/>
          </p:cNvSpPr>
          <p:nvPr/>
        </p:nvSpPr>
        <p:spPr>
          <a:xfrm>
            <a:off x="1685648" y="3428930"/>
            <a:ext cx="5464394" cy="1873149"/>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938" lvl="1" indent="0" algn="just">
              <a:spcBef>
                <a:spcPts val="600"/>
              </a:spcBef>
              <a:buNone/>
            </a:pPr>
            <a:r>
              <a:rPr lang="zh-CN" altLang="en-US" sz="1800" dirty="0">
                <a:solidFill>
                  <a:srgbClr val="CC6600"/>
                </a:solidFill>
                <a:latin typeface="微软雅黑" panose="020B0503020204020204" pitchFamily="34" charset="-122"/>
              </a:rPr>
              <a:t>动态测试</a:t>
            </a:r>
            <a:endParaRPr lang="en-US" altLang="zh-CN" sz="1800" dirty="0">
              <a:solidFill>
                <a:srgbClr val="CC6600"/>
              </a:solidFill>
              <a:latin typeface="微软雅黑" panose="020B0503020204020204" pitchFamily="34" charset="-122"/>
            </a:endParaRPr>
          </a:p>
          <a:p>
            <a:pPr marL="268288" lvl="1" indent="-260350" algn="just">
              <a:spcBef>
                <a:spcPts val="600"/>
              </a:spcBef>
            </a:pPr>
            <a:r>
              <a:rPr lang="zh-CN" altLang="en-US" sz="1600" dirty="0">
                <a:latin typeface="微软雅黑" panose="020B0503020204020204" pitchFamily="34" charset="-122"/>
              </a:rPr>
              <a:t>是指在计算机上运行被测试软件，通过输入测试用例，对其运行情况进行分析，发现其表现的行为与设计规约或用户需求不一致的地方</a:t>
            </a:r>
            <a:endParaRPr lang="en-US" altLang="zh-CN" sz="1600" dirty="0">
              <a:latin typeface="微软雅黑" panose="020B0503020204020204" pitchFamily="34" charset="-122"/>
            </a:endParaRPr>
          </a:p>
          <a:p>
            <a:pPr marL="268288" lvl="1" indent="-260350" algn="just">
              <a:spcBef>
                <a:spcPts val="600"/>
              </a:spcBef>
            </a:pPr>
            <a:r>
              <a:rPr lang="zh-CN" altLang="en-US" sz="1600" dirty="0">
                <a:latin typeface="微软雅黑" panose="020B0503020204020204" pitchFamily="34" charset="-122"/>
              </a:rPr>
              <a:t>对软件进行动态测试时，最常使用的方法为：白盒测试和黑盒测试</a:t>
            </a:r>
            <a:endParaRPr lang="en-US" altLang="zh-CN" sz="1600" dirty="0">
              <a:solidFill>
                <a:srgbClr val="000000"/>
              </a:solidFill>
              <a:latin typeface="微软雅黑" panose="020B0503020204020204" pitchFamily="34" charset="-122"/>
            </a:endParaRPr>
          </a:p>
          <a:p>
            <a:pPr marL="268288" lvl="1" indent="-260350" algn="just">
              <a:spcBef>
                <a:spcPts val="600"/>
              </a:spcBef>
            </a:pPr>
            <a:endParaRPr lang="en-US" altLang="zh-CN" sz="1600" dirty="0">
              <a:solidFill>
                <a:srgbClr val="000000"/>
              </a:solidFill>
              <a:latin typeface="微软雅黑" panose="020B0503020204020204" pitchFamily="34" charset="-122"/>
            </a:endParaRPr>
          </a:p>
        </p:txBody>
      </p:sp>
    </p:spTree>
    <p:extLst>
      <p:ext uri="{BB962C8B-B14F-4D97-AF65-F5344CB8AC3E}">
        <p14:creationId xmlns:p14="http://schemas.microsoft.com/office/powerpoint/2010/main" val="3855630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软件测试的基本概念 </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17</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latin typeface="微软雅黑" panose="020B0503020204020204" pitchFamily="34" charset="-122"/>
                <a:sym typeface="微软雅黑" panose="020B0503020204020204" pitchFamily="34" charset="-122"/>
              </a:rPr>
              <a:t>4</a:t>
            </a:r>
            <a:r>
              <a:rPr lang="zh-CN" altLang="en-US" sz="2400" dirty="0">
                <a:solidFill>
                  <a:srgbClr val="CC6600"/>
                </a:solidFill>
                <a:latin typeface="微软雅黑" panose="020B0503020204020204" pitchFamily="34" charset="-122"/>
                <a:sym typeface="微软雅黑" panose="020B0503020204020204" pitchFamily="34" charset="-122"/>
              </a:rPr>
              <a:t>  软件测试的分类</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112447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en-US" dirty="0">
                <a:solidFill>
                  <a:srgbClr val="000000"/>
                </a:solidFill>
                <a:latin typeface="微软雅黑" panose="020B0503020204020204" pitchFamily="34" charset="-122"/>
                <a:sym typeface="微软雅黑" panose="020B0503020204020204" pitchFamily="34" charset="-122"/>
              </a:rPr>
              <a:t>也可以按照测试执行时，是否需要</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人工干预</a:t>
            </a:r>
            <a:r>
              <a:rPr lang="zh-CN" altLang="en-US" dirty="0">
                <a:solidFill>
                  <a:srgbClr val="000000"/>
                </a:solidFill>
                <a:latin typeface="微软雅黑" panose="020B0503020204020204" pitchFamily="34" charset="-122"/>
                <a:sym typeface="微软雅黑" panose="020B0503020204020204" pitchFamily="34" charset="-122"/>
              </a:rPr>
              <a:t>将软件测试分为：手工测试和自动测试</a:t>
            </a:r>
            <a:endParaRPr lang="en-US" altLang="zh-CN" dirty="0">
              <a:solidFill>
                <a:srgbClr val="000000"/>
              </a:solidFill>
              <a:latin typeface="微软雅黑" panose="020B0503020204020204" pitchFamily="34" charset="-122"/>
            </a:endParaRPr>
          </a:p>
        </p:txBody>
      </p:sp>
    </p:spTree>
    <p:extLst>
      <p:ext uri="{BB962C8B-B14F-4D97-AF65-F5344CB8AC3E}">
        <p14:creationId xmlns:p14="http://schemas.microsoft.com/office/powerpoint/2010/main" val="31124453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5</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软件测试</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5.1</a:t>
            </a:r>
            <a:r>
              <a:rPr lang="zh-CN" altLang="en-US" dirty="0">
                <a:solidFill>
                  <a:srgbClr val="4E8F00"/>
                </a:solidFill>
                <a:sym typeface="微软雅黑" panose="020B0503020204020204" pitchFamily="34" charset="-122"/>
              </a:rPr>
              <a:t>  软件测试的基本概念</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effectLst>
                  <a:glow rad="228600">
                    <a:schemeClr val="accent6">
                      <a:satMod val="175000"/>
                      <a:alpha val="40000"/>
                    </a:schemeClr>
                  </a:glow>
                </a:effectLst>
                <a:sym typeface="微软雅黑" panose="020B0503020204020204" pitchFamily="34" charset="-122"/>
              </a:rPr>
              <a:t>5.2  </a:t>
            </a:r>
            <a:r>
              <a:rPr lang="zh-CN" altLang="en-US" dirty="0">
                <a:solidFill>
                  <a:srgbClr val="4E8F00"/>
                </a:solidFill>
                <a:effectLst>
                  <a:glow rad="228600">
                    <a:schemeClr val="accent6">
                      <a:satMod val="175000"/>
                      <a:alpha val="40000"/>
                    </a:schemeClr>
                  </a:glow>
                </a:effectLst>
                <a:sym typeface="微软雅黑" panose="020B0503020204020204" pitchFamily="34" charset="-122"/>
              </a:rPr>
              <a:t>白盒测试方法</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5.3  </a:t>
            </a:r>
            <a:r>
              <a:rPr lang="zh-CN" altLang="en-US" dirty="0">
                <a:solidFill>
                  <a:srgbClr val="4E8F00"/>
                </a:solidFill>
                <a:sym typeface="微软雅黑" panose="020B0503020204020204" pitchFamily="34" charset="-122"/>
              </a:rPr>
              <a:t>黑盒测试方法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5.4  </a:t>
            </a:r>
            <a:r>
              <a:rPr lang="zh-CN" altLang="en-US" dirty="0">
                <a:solidFill>
                  <a:srgbClr val="4E8F00"/>
                </a:solidFill>
                <a:sym typeface="微软雅黑" panose="020B0503020204020204" pitchFamily="34" charset="-122"/>
              </a:rPr>
              <a:t>软件测试的基本过程</a:t>
            </a:r>
          </a:p>
          <a:p>
            <a:pPr>
              <a:spcBef>
                <a:spcPts val="1200"/>
              </a:spcBef>
            </a:pPr>
            <a:r>
              <a:rPr lang="en-US" altLang="zh-CN" dirty="0">
                <a:solidFill>
                  <a:srgbClr val="4E8F00"/>
                </a:solidFill>
                <a:sym typeface="微软雅黑" panose="020B0503020204020204" pitchFamily="34" charset="-122"/>
              </a:rPr>
              <a:t>5.5  </a:t>
            </a:r>
            <a:r>
              <a:rPr lang="zh-CN" altLang="en-US" dirty="0">
                <a:solidFill>
                  <a:srgbClr val="4E8F00"/>
                </a:solidFill>
                <a:sym typeface="微软雅黑" panose="020B0503020204020204" pitchFamily="34" charset="-122"/>
              </a:rPr>
              <a:t>软件调试</a:t>
            </a:r>
          </a:p>
          <a:p>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18</a:t>
            </a:fld>
            <a:endParaRPr lang="zh-CN" altLang="en-US"/>
          </a:p>
        </p:txBody>
      </p:sp>
    </p:spTree>
    <p:extLst>
      <p:ext uri="{BB962C8B-B14F-4D97-AF65-F5344CB8AC3E}">
        <p14:creationId xmlns:p14="http://schemas.microsoft.com/office/powerpoint/2010/main" val="35622784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19</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latin typeface="微软雅黑" panose="020B0503020204020204" pitchFamily="34" charset="-122"/>
                <a:sym typeface="微软雅黑" panose="020B0503020204020204" pitchFamily="34" charset="-122"/>
              </a:rPr>
              <a:t>什么是白盒测试法</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289612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zh-CN" dirty="0">
                <a:solidFill>
                  <a:srgbClr val="000000"/>
                </a:solidFill>
                <a:latin typeface="微软雅黑" panose="020B0503020204020204" pitchFamily="34" charset="-122"/>
                <a:sym typeface="微软雅黑" panose="020B0503020204020204" pitchFamily="34" charset="-122"/>
              </a:rPr>
              <a:t>白盒测试</a:t>
            </a:r>
            <a:r>
              <a:rPr lang="zh-CN" altLang="en-US" dirty="0">
                <a:solidFill>
                  <a:srgbClr val="000000"/>
                </a:solidFill>
                <a:latin typeface="微软雅黑" panose="020B0503020204020204" pitchFamily="34" charset="-122"/>
                <a:sym typeface="微软雅黑" panose="020B0503020204020204" pitchFamily="34" charset="-122"/>
              </a:rPr>
              <a:t>法中</a:t>
            </a:r>
            <a:r>
              <a:rPr lang="zh-CN" altLang="zh-CN" dirty="0">
                <a:solidFill>
                  <a:srgbClr val="000000"/>
                </a:solidFill>
                <a:latin typeface="微软雅黑" panose="020B0503020204020204" pitchFamily="34" charset="-122"/>
                <a:sym typeface="微软雅黑" panose="020B0503020204020204" pitchFamily="34" charset="-122"/>
              </a:rPr>
              <a:t>，测试者</a:t>
            </a:r>
            <a:r>
              <a:rPr lang="zh-CN" altLang="zh-CN" dirty="0">
                <a:solidFill>
                  <a:srgbClr val="C00000"/>
                </a:solidFill>
                <a:latin typeface="微软雅黑" panose="020B0503020204020204" pitchFamily="34" charset="-122"/>
                <a:sym typeface="微软雅黑" panose="020B0503020204020204" pitchFamily="34" charset="-122"/>
              </a:rPr>
              <a:t>可以看到被测程序源代码</a:t>
            </a:r>
            <a:r>
              <a:rPr lang="zh-CN" altLang="en-US" dirty="0">
                <a:solidFill>
                  <a:srgbClr val="C00000"/>
                </a:solidFill>
                <a:latin typeface="微软雅黑" panose="020B0503020204020204" pitchFamily="34" charset="-122"/>
                <a:sym typeface="微软雅黑" panose="020B0503020204020204" pitchFamily="34" charset="-122"/>
              </a:rPr>
              <a:t>和</a:t>
            </a:r>
            <a:r>
              <a:rPr lang="zh-CN" altLang="zh-CN" dirty="0">
                <a:solidFill>
                  <a:srgbClr val="C00000"/>
                </a:solidFill>
                <a:latin typeface="微软雅黑" panose="020B0503020204020204" pitchFamily="34" charset="-122"/>
                <a:sym typeface="微软雅黑" panose="020B0503020204020204" pitchFamily="34" charset="-122"/>
              </a:rPr>
              <a:t>内部结构</a:t>
            </a:r>
            <a:r>
              <a:rPr lang="zh-CN" altLang="en-US" dirty="0">
                <a:solidFill>
                  <a:srgbClr val="000000"/>
                </a:solidFill>
                <a:latin typeface="微软雅黑" panose="020B0503020204020204" pitchFamily="34" charset="-122"/>
                <a:sym typeface="微软雅黑" panose="020B0503020204020204" pitchFamily="34" charset="-122"/>
              </a:rPr>
              <a:t>，并</a:t>
            </a:r>
            <a:r>
              <a:rPr lang="zh-CN" altLang="en-US" dirty="0">
                <a:solidFill>
                  <a:srgbClr val="C00000"/>
                </a:solidFill>
                <a:latin typeface="微软雅黑" panose="020B0503020204020204" pitchFamily="34" charset="-122"/>
                <a:sym typeface="微软雅黑" panose="020B0503020204020204" pitchFamily="34" charset="-122"/>
              </a:rPr>
              <a:t>根据内部结构找到合适的测试用例</a:t>
            </a:r>
            <a:r>
              <a:rPr lang="zh-CN" altLang="en-US" dirty="0">
                <a:solidFill>
                  <a:srgbClr val="000000"/>
                </a:solidFill>
                <a:latin typeface="微软雅黑" panose="020B0503020204020204" pitchFamily="34" charset="-122"/>
                <a:sym typeface="微软雅黑" panose="020B0503020204020204" pitchFamily="34" charset="-122"/>
              </a:rPr>
              <a:t>，以</a:t>
            </a:r>
            <a:r>
              <a:rPr lang="zh-CN" altLang="zh-CN" dirty="0">
                <a:solidFill>
                  <a:srgbClr val="000000"/>
                </a:solidFill>
                <a:latin typeface="微软雅黑" panose="020B0503020204020204" pitchFamily="34" charset="-122"/>
                <a:sym typeface="微软雅黑" panose="020B0503020204020204" pitchFamily="34" charset="-122"/>
              </a:rPr>
              <a:t>检验程序中的每条通路</a:t>
            </a:r>
            <a:r>
              <a:rPr lang="zh-CN" altLang="en-US" dirty="0">
                <a:solidFill>
                  <a:srgbClr val="000000"/>
                </a:solidFill>
                <a:latin typeface="微软雅黑" panose="020B0503020204020204" pitchFamily="34" charset="-122"/>
                <a:sym typeface="微软雅黑" panose="020B0503020204020204" pitchFamily="34" charset="-122"/>
              </a:rPr>
              <a:t>或关键元素</a:t>
            </a:r>
            <a:r>
              <a:rPr lang="zh-CN" altLang="zh-CN" dirty="0">
                <a:solidFill>
                  <a:srgbClr val="000000"/>
                </a:solidFill>
                <a:latin typeface="微软雅黑" panose="020B0503020204020204" pitchFamily="34" charset="-122"/>
                <a:sym typeface="微软雅黑" panose="020B0503020204020204" pitchFamily="34" charset="-122"/>
              </a:rPr>
              <a:t>是否都能按预定要求正确工作</a:t>
            </a:r>
            <a:endParaRPr lang="en-US" altLang="zh-CN" dirty="0">
              <a:solidFill>
                <a:srgbClr val="000000"/>
              </a:solidFill>
              <a:latin typeface="微软雅黑" panose="020B0503020204020204" pitchFamily="34" charset="-122"/>
            </a:endParaRPr>
          </a:p>
        </p:txBody>
      </p:sp>
      <p:sp>
        <p:nvSpPr>
          <p:cNvPr id="8" name="矩形 4">
            <a:extLst>
              <a:ext uri="{FF2B5EF4-FFF2-40B4-BE49-F238E27FC236}">
                <a16:creationId xmlns:a16="http://schemas.microsoft.com/office/drawing/2014/main" id="{CCA19F54-B7B9-A143-BBC9-982066130D83}"/>
              </a:ext>
            </a:extLst>
          </p:cNvPr>
          <p:cNvSpPr>
            <a:spLocks noChangeArrowheads="1"/>
          </p:cNvSpPr>
          <p:nvPr/>
        </p:nvSpPr>
        <p:spPr bwMode="auto">
          <a:xfrm>
            <a:off x="6855406" y="5543150"/>
            <a:ext cx="6477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nvGrpSpPr>
          <p:cNvPr id="11" name="Group 6">
            <a:extLst>
              <a:ext uri="{FF2B5EF4-FFF2-40B4-BE49-F238E27FC236}">
                <a16:creationId xmlns:a16="http://schemas.microsoft.com/office/drawing/2014/main" id="{D2EB744C-AD60-774C-BC90-EDDC9D4E6B33}"/>
              </a:ext>
            </a:extLst>
          </p:cNvPr>
          <p:cNvGrpSpPr>
            <a:grpSpLocks/>
          </p:cNvGrpSpPr>
          <p:nvPr/>
        </p:nvGrpSpPr>
        <p:grpSpPr bwMode="auto">
          <a:xfrm>
            <a:off x="6404556" y="4538263"/>
            <a:ext cx="1357312" cy="1143000"/>
            <a:chOff x="4416" y="624"/>
            <a:chExt cx="672" cy="528"/>
          </a:xfrm>
        </p:grpSpPr>
        <p:sp>
          <p:nvSpPr>
            <p:cNvPr id="15" name="Rectangle 7">
              <a:extLst>
                <a:ext uri="{FF2B5EF4-FFF2-40B4-BE49-F238E27FC236}">
                  <a16:creationId xmlns:a16="http://schemas.microsoft.com/office/drawing/2014/main" id="{D6222456-BE51-0741-9AFA-FF4A017CE32F}"/>
                </a:ext>
              </a:extLst>
            </p:cNvPr>
            <p:cNvSpPr>
              <a:spLocks noChangeArrowheads="1"/>
            </p:cNvSpPr>
            <p:nvPr/>
          </p:nvSpPr>
          <p:spPr bwMode="auto">
            <a:xfrm>
              <a:off x="4416" y="624"/>
              <a:ext cx="672" cy="528"/>
            </a:xfrm>
            <a:prstGeom prst="rect">
              <a:avLst/>
            </a:prstGeom>
            <a:solidFill>
              <a:srgbClr val="CCFFFF">
                <a:alpha val="50195"/>
              </a:srgbClr>
            </a:solidFill>
            <a:ln w="9525">
              <a:miter lim="800000"/>
              <a:headEnd/>
              <a:tailEnd/>
            </a:ln>
            <a:scene3d>
              <a:camera prst="legacyPerspectiveTopRight"/>
              <a:lightRig rig="legacyFlat4" dir="t"/>
            </a:scene3d>
            <a:sp3d extrusionH="1801800" prstMaterial="legacyMatte">
              <a:bevelT w="13500" h="13500" prst="angle"/>
              <a:bevelB w="13500" h="13500" prst="angle"/>
              <a:extrusionClr>
                <a:srgbClr val="CCFFFF"/>
              </a:extrusionClr>
              <a:contourClr>
                <a:srgbClr val="CCFFFF"/>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a:latin typeface="宋体" panose="02010600030101010101" pitchFamily="2" charset="-122"/>
                </a:rPr>
                <a:t>逻辑结构</a:t>
              </a:r>
            </a:p>
            <a:p>
              <a:pPr algn="just"/>
              <a:endParaRPr lang="en-US" altLang="zh-CN">
                <a:latin typeface="宋体" panose="02010600030101010101" pitchFamily="2" charset="-122"/>
              </a:endParaRPr>
            </a:p>
          </p:txBody>
        </p:sp>
        <p:sp>
          <p:nvSpPr>
            <p:cNvPr id="16" name="Oval 8">
              <a:extLst>
                <a:ext uri="{FF2B5EF4-FFF2-40B4-BE49-F238E27FC236}">
                  <a16:creationId xmlns:a16="http://schemas.microsoft.com/office/drawing/2014/main" id="{1566DB67-9228-1545-8A0F-BD8A0474A20B}"/>
                </a:ext>
              </a:extLst>
            </p:cNvPr>
            <p:cNvSpPr>
              <a:spLocks noChangeArrowheads="1"/>
            </p:cNvSpPr>
            <p:nvPr/>
          </p:nvSpPr>
          <p:spPr bwMode="auto">
            <a:xfrm>
              <a:off x="4704" y="888"/>
              <a:ext cx="144" cy="144"/>
            </a:xfrm>
            <a:prstGeom prst="ellipse">
              <a:avLst/>
            </a:prstGeom>
            <a:gradFill rotWithShape="0">
              <a:gsLst>
                <a:gs pos="0">
                  <a:srgbClr val="FFFF99"/>
                </a:gs>
                <a:gs pos="100000">
                  <a:srgbClr val="767647"/>
                </a:gs>
              </a:gsLst>
              <a:path path="shape">
                <a:fillToRect l="50000" t="50000" r="50000" b="50000"/>
              </a:path>
            </a:gradFill>
            <a:ln w="9525" cap="sq">
              <a:solidFill>
                <a:schemeClr val="tx1"/>
              </a:solidFill>
              <a:round/>
              <a:headEnd/>
              <a:tailEnd/>
            </a:ln>
            <a:effectLst>
              <a:prstShdw prst="shdw17" dist="17961" dir="2700000">
                <a:srgbClr val="99995C"/>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extLst>
      <p:ext uri="{BB962C8B-B14F-4D97-AF65-F5344CB8AC3E}">
        <p14:creationId xmlns:p14="http://schemas.microsoft.com/office/powerpoint/2010/main" val="15744474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20</a:t>
            </a:fld>
            <a:endParaRPr lang="zh-CN" altLang="en-US"/>
          </a:p>
        </p:txBody>
      </p:sp>
      <p:sp>
        <p:nvSpPr>
          <p:cNvPr id="9" name="Rectangle 7">
            <a:extLst>
              <a:ext uri="{FF2B5EF4-FFF2-40B4-BE49-F238E27FC236}">
                <a16:creationId xmlns:a16="http://schemas.microsoft.com/office/drawing/2014/main" id="{1EB2D398-F847-7149-A981-AF79FD28E386}"/>
              </a:ext>
            </a:extLst>
          </p:cNvPr>
          <p:cNvSpPr txBox="1">
            <a:spLocks noChangeArrowheads="1"/>
          </p:cNvSpPr>
          <p:nvPr/>
        </p:nvSpPr>
        <p:spPr>
          <a:xfrm>
            <a:off x="1073823" y="131485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latin typeface="微软雅黑" panose="020B0503020204020204" pitchFamily="34" charset="-122"/>
                <a:sym typeface="微软雅黑" panose="020B0503020204020204" pitchFamily="34" charset="-122"/>
              </a:rPr>
              <a:t>测试目标</a:t>
            </a:r>
            <a:endParaRPr lang="en-US" altLang="en-US" sz="2400" dirty="0">
              <a:solidFill>
                <a:srgbClr val="CC6600"/>
              </a:solidFill>
              <a:latin typeface="微软雅黑" panose="020B0503020204020204" pitchFamily="34" charset="-122"/>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866AEAC5-0DF3-494E-9838-ED37271AF214}"/>
              </a:ext>
            </a:extLst>
          </p:cNvPr>
          <p:cNvSpPr txBox="1">
            <a:spLocks noChangeArrowheads="1"/>
          </p:cNvSpPr>
          <p:nvPr/>
        </p:nvSpPr>
        <p:spPr>
          <a:xfrm>
            <a:off x="1421174" y="2133075"/>
            <a:ext cx="6688045" cy="289612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68288" lvl="1" indent="-260350" algn="just">
              <a:spcBef>
                <a:spcPts val="600"/>
              </a:spcBef>
            </a:pPr>
            <a:r>
              <a:rPr lang="zh-CN" altLang="zh-CN" dirty="0">
                <a:solidFill>
                  <a:srgbClr val="000000"/>
                </a:solidFill>
                <a:latin typeface="微软雅黑" panose="020B0503020204020204" pitchFamily="34" charset="-122"/>
                <a:sym typeface="微软雅黑" panose="020B0503020204020204" pitchFamily="34" charset="-122"/>
              </a:rPr>
              <a:t>是通过测试</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尽可能提高程序</a:t>
            </a:r>
            <a:r>
              <a:rPr lang="zh-CN" altLang="zh-CN" dirty="0">
                <a:solidFill>
                  <a:srgbClr val="C00000"/>
                </a:solidFill>
                <a:highlight>
                  <a:srgbClr val="FFFF00"/>
                </a:highlight>
                <a:latin typeface="微软雅黑" panose="020B0503020204020204" pitchFamily="34" charset="-122"/>
                <a:sym typeface="微软雅黑" panose="020B0503020204020204" pitchFamily="34" charset="-122"/>
              </a:rPr>
              <a:t>内部逻辑</a:t>
            </a:r>
            <a:r>
              <a:rPr lang="zh-CN" altLang="zh-CN" dirty="0">
                <a:solidFill>
                  <a:srgbClr val="C00000"/>
                </a:solidFill>
                <a:latin typeface="微软雅黑" panose="020B0503020204020204" pitchFamily="34" charset="-122"/>
                <a:sym typeface="微软雅黑" panose="020B0503020204020204" pitchFamily="34" charset="-122"/>
              </a:rPr>
              <a:t>的覆盖程度</a:t>
            </a:r>
            <a:r>
              <a:rPr lang="zh-CN" altLang="en-US" dirty="0">
                <a:solidFill>
                  <a:srgbClr val="000000"/>
                </a:solidFill>
                <a:latin typeface="微软雅黑" panose="020B0503020204020204" pitchFamily="34" charset="-122"/>
                <a:sym typeface="微软雅黑" panose="020B0503020204020204" pitchFamily="34" charset="-122"/>
              </a:rPr>
              <a:t>，以发现可能潜在在程序语句、判定、条件以及路径中的可能错误</a:t>
            </a:r>
            <a:endParaRPr lang="en-US" altLang="zh-CN" dirty="0">
              <a:solidFill>
                <a:srgbClr val="000000"/>
              </a:solidFill>
              <a:latin typeface="微软雅黑" panose="020B0503020204020204" pitchFamily="34" charset="-122"/>
              <a:sym typeface="微软雅黑" panose="020B0503020204020204" pitchFamily="34" charset="-122"/>
            </a:endParaRPr>
          </a:p>
          <a:p>
            <a:pPr marL="268288" lvl="1" indent="-260350" algn="just">
              <a:spcBef>
                <a:spcPts val="600"/>
              </a:spcBef>
            </a:pPr>
            <a:r>
              <a:rPr lang="zh-CN" altLang="en-US" dirty="0">
                <a:solidFill>
                  <a:srgbClr val="000000"/>
                </a:solidFill>
                <a:latin typeface="微软雅黑" panose="020B0503020204020204" pitchFamily="34" charset="-122"/>
                <a:sym typeface="微软雅黑" panose="020B0503020204020204" pitchFamily="34" charset="-122"/>
              </a:rPr>
              <a:t>白盒测试方法包括</a:t>
            </a:r>
            <a:r>
              <a:rPr lang="zh-CN" altLang="zh-CN" dirty="0">
                <a:solidFill>
                  <a:srgbClr val="000000"/>
                </a:solidFill>
                <a:latin typeface="微软雅黑" panose="020B0503020204020204" pitchFamily="34" charset="-122"/>
                <a:sym typeface="微软雅黑" panose="020B0503020204020204" pitchFamily="34" charset="-122"/>
              </a:rPr>
              <a:t>：</a:t>
            </a:r>
            <a:r>
              <a:rPr lang="zh-CN" altLang="zh-CN" dirty="0">
                <a:solidFill>
                  <a:srgbClr val="C00000"/>
                </a:solidFill>
                <a:latin typeface="微软雅黑" panose="020B0503020204020204" pitchFamily="34" charset="-122"/>
                <a:sym typeface="微软雅黑" panose="020B0503020204020204" pitchFamily="34" charset="-122"/>
              </a:rPr>
              <a:t>逻辑覆盖法</a:t>
            </a:r>
            <a:r>
              <a:rPr lang="zh-CN" altLang="en-US" dirty="0">
                <a:solidFill>
                  <a:srgbClr val="C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和</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基本路径测试法</a:t>
            </a:r>
            <a:endParaRPr lang="en-US" altLang="zh-CN" dirty="0">
              <a:solidFill>
                <a:srgbClr val="000000"/>
              </a:solidFill>
              <a:latin typeface="微软雅黑" panose="020B0503020204020204" pitchFamily="34" charset="-122"/>
            </a:endParaRPr>
          </a:p>
        </p:txBody>
      </p:sp>
    </p:spTree>
    <p:extLst>
      <p:ext uri="{BB962C8B-B14F-4D97-AF65-F5344CB8AC3E}">
        <p14:creationId xmlns:p14="http://schemas.microsoft.com/office/powerpoint/2010/main" val="245830804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CC6600"/>
                </a:solidFill>
                <a:ea typeface="Microsoft YaHei UI" panose="020B0503020204020204" pitchFamily="34" charset="-122"/>
                <a:sym typeface="微软雅黑" panose="020B0503020204020204" pitchFamily="34" charset="-122"/>
              </a:rPr>
              <a:t>逻辑覆盖法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zh-CN" sz="2400" dirty="0">
                <a:solidFill>
                  <a:srgbClr val="CC6600"/>
                </a:solidFill>
                <a:sym typeface="微软雅黑" panose="020B0503020204020204" pitchFamily="34" charset="-122"/>
              </a:rPr>
              <a:t>基本思想</a:t>
            </a:r>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逻辑覆盖法：是通过对程序</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逻辑结构的遍历</a:t>
            </a:r>
            <a:r>
              <a:rPr lang="zh-CN" altLang="en-US" dirty="0">
                <a:solidFill>
                  <a:srgbClr val="000000"/>
                </a:solidFill>
                <a:latin typeface="微软雅黑" panose="020B0503020204020204" pitchFamily="34" charset="-122"/>
                <a:sym typeface="微软雅黑" panose="020B0503020204020204" pitchFamily="34" charset="-122"/>
              </a:rPr>
              <a:t>实现程序的覆盖。它是一系列测试过程的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总称</a:t>
            </a:r>
            <a:endParaRPr lang="en-US" altLang="zh-CN" dirty="0">
              <a:solidFill>
                <a:srgbClr val="000000"/>
              </a:solidFill>
              <a:highlight>
                <a:srgbClr val="FFFF00"/>
              </a:highlight>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根据覆盖目标的不同和覆盖程序语句的详尽程度，逻辑覆盖又可分为：</a:t>
            </a:r>
            <a:r>
              <a:rPr lang="zh-CN" altLang="zh-CN" dirty="0">
                <a:solidFill>
                  <a:srgbClr val="C00000"/>
                </a:solidFill>
                <a:latin typeface="微软雅黑" panose="020B0503020204020204" pitchFamily="34" charset="-122"/>
                <a:sym typeface="微软雅黑" panose="020B0503020204020204" pitchFamily="34" charset="-122"/>
              </a:rPr>
              <a:t>语句覆盖</a:t>
            </a:r>
            <a:r>
              <a:rPr lang="zh-CN" altLang="zh-CN" dirty="0">
                <a:solidFill>
                  <a:srgbClr val="000000"/>
                </a:solidFill>
                <a:latin typeface="微软雅黑" panose="020B0503020204020204" pitchFamily="34" charset="-122"/>
                <a:sym typeface="微软雅黑" panose="020B0503020204020204" pitchFamily="34" charset="-122"/>
              </a:rPr>
              <a:t>、</a:t>
            </a:r>
            <a:r>
              <a:rPr lang="zh-CN" altLang="zh-CN" dirty="0">
                <a:solidFill>
                  <a:srgbClr val="C00000"/>
                </a:solidFill>
                <a:latin typeface="微软雅黑" panose="020B0503020204020204" pitchFamily="34" charset="-122"/>
                <a:sym typeface="微软雅黑" panose="020B0503020204020204" pitchFamily="34" charset="-122"/>
              </a:rPr>
              <a:t>判定覆盖</a:t>
            </a:r>
            <a:r>
              <a:rPr lang="zh-CN" altLang="zh-CN" dirty="0">
                <a:solidFill>
                  <a:srgbClr val="000000"/>
                </a:solidFill>
                <a:latin typeface="微软雅黑" panose="020B0503020204020204" pitchFamily="34" charset="-122"/>
                <a:sym typeface="微软雅黑" panose="020B0503020204020204" pitchFamily="34" charset="-122"/>
              </a:rPr>
              <a:t>、</a:t>
            </a:r>
            <a:r>
              <a:rPr lang="zh-CN" altLang="zh-CN" dirty="0">
                <a:solidFill>
                  <a:srgbClr val="C00000"/>
                </a:solidFill>
                <a:latin typeface="微软雅黑" panose="020B0503020204020204" pitchFamily="34" charset="-122"/>
                <a:sym typeface="微软雅黑" panose="020B0503020204020204" pitchFamily="34" charset="-122"/>
              </a:rPr>
              <a:t>条件覆盖</a:t>
            </a:r>
            <a:r>
              <a:rPr lang="zh-CN" altLang="zh-CN" dirty="0">
                <a:solidFill>
                  <a:srgbClr val="000000"/>
                </a:solidFill>
                <a:latin typeface="微软雅黑" panose="020B0503020204020204" pitchFamily="34" charset="-122"/>
                <a:sym typeface="微软雅黑" panose="020B0503020204020204" pitchFamily="34" charset="-122"/>
              </a:rPr>
              <a:t>、</a:t>
            </a:r>
            <a:r>
              <a:rPr lang="zh-CN" altLang="zh-CN" dirty="0">
                <a:solidFill>
                  <a:srgbClr val="C00000"/>
                </a:solidFill>
                <a:latin typeface="微软雅黑" panose="020B0503020204020204" pitchFamily="34" charset="-122"/>
                <a:sym typeface="微软雅黑" panose="020B0503020204020204" pitchFamily="34" charset="-122"/>
              </a:rPr>
              <a:t>判定条件覆盖</a:t>
            </a:r>
            <a:r>
              <a:rPr lang="zh-CN" altLang="en-US" dirty="0">
                <a:solidFill>
                  <a:srgbClr val="C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和</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条件组合覆盖</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3946440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1948605"/>
            <a:ext cx="6383883" cy="11734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latin typeface="Microsoft YaHei" panose="020B0503020204020204" pitchFamily="34" charset="-122"/>
                <a:ea typeface="Microsoft YaHei" panose="020B0503020204020204" pitchFamily="34" charset="-122"/>
              </a:rPr>
              <a:t>在白盒法中，不同的标准对测试情况具有不同的覆盖程度，使用时</a:t>
            </a:r>
            <a:r>
              <a:rPr lang="zh-CN" altLang="en-US" sz="1800" dirty="0">
                <a:highlight>
                  <a:srgbClr val="FFFF00"/>
                </a:highlight>
                <a:latin typeface="Microsoft YaHei" panose="020B0503020204020204" pitchFamily="34" charset="-122"/>
                <a:ea typeface="Microsoft YaHei" panose="020B0503020204020204" pitchFamily="34" charset="-122"/>
              </a:rPr>
              <a:t>只需确定一种覆盖</a:t>
            </a:r>
            <a:r>
              <a:rPr lang="zh-CN" altLang="en-US" sz="1800" dirty="0">
                <a:latin typeface="Microsoft YaHei" panose="020B0503020204020204" pitchFamily="34" charset="-122"/>
                <a:ea typeface="Microsoft YaHei" panose="020B0503020204020204" pitchFamily="34" charset="-122"/>
              </a:rPr>
              <a:t>标准，再按照选定的覆盖标准来设计测试用例</a:t>
            </a:r>
            <a:endParaRPr lang="en-US" altLang="zh-CN" sz="1800" dirty="0">
              <a:solidFill>
                <a:srgbClr val="000000"/>
              </a:solidFill>
              <a:latin typeface="Microsoft YaHei" panose="020B0503020204020204" pitchFamily="34" charset="-122"/>
              <a:ea typeface="Microsoft YaHei" panose="020B0503020204020204" pitchFamily="34" charset="-122"/>
              <a:sym typeface="微软雅黑" panose="020B0503020204020204" pitchFamily="34" charset="-122"/>
            </a:endParaRPr>
          </a:p>
        </p:txBody>
      </p:sp>
      <p:grpSp>
        <p:nvGrpSpPr>
          <p:cNvPr id="9" name="Group 4">
            <a:extLst>
              <a:ext uri="{FF2B5EF4-FFF2-40B4-BE49-F238E27FC236}">
                <a16:creationId xmlns:a16="http://schemas.microsoft.com/office/drawing/2014/main" id="{31F5638B-4E26-C849-AF93-AC0381FF083E}"/>
              </a:ext>
            </a:extLst>
          </p:cNvPr>
          <p:cNvGrpSpPr>
            <a:grpSpLocks/>
          </p:cNvGrpSpPr>
          <p:nvPr/>
        </p:nvGrpSpPr>
        <p:grpSpPr bwMode="auto">
          <a:xfrm>
            <a:off x="2468336" y="4315619"/>
            <a:ext cx="4419600" cy="1700212"/>
            <a:chOff x="1488" y="2734"/>
            <a:chExt cx="2784" cy="962"/>
          </a:xfrm>
        </p:grpSpPr>
        <p:sp>
          <p:nvSpPr>
            <p:cNvPr id="10" name="Rectangle 5">
              <a:extLst>
                <a:ext uri="{FF2B5EF4-FFF2-40B4-BE49-F238E27FC236}">
                  <a16:creationId xmlns:a16="http://schemas.microsoft.com/office/drawing/2014/main" id="{9BBFE777-2C43-2647-B51E-25D30CBE2B31}"/>
                </a:ext>
              </a:extLst>
            </p:cNvPr>
            <p:cNvSpPr>
              <a:spLocks noChangeArrowheads="1"/>
            </p:cNvSpPr>
            <p:nvPr/>
          </p:nvSpPr>
          <p:spPr bwMode="auto">
            <a:xfrm>
              <a:off x="1488" y="2734"/>
              <a:ext cx="288" cy="962"/>
            </a:xfrm>
            <a:prstGeom prst="rect">
              <a:avLst/>
            </a:prstGeom>
            <a:solidFill>
              <a:schemeClr val="bg1"/>
            </a:solidFill>
            <a:ln w="9525">
              <a:solidFill>
                <a:schemeClr val="tx1"/>
              </a:solidFill>
              <a:miter lim="800000"/>
              <a:headEnd/>
              <a:tailEnd/>
            </a:ln>
            <a:effectLst>
              <a:outerShdw dist="107763" dir="13500000" algn="ctr" rotWithShape="0">
                <a:schemeClr val="hlink"/>
              </a:outerShdw>
            </a:effectLst>
          </p:spPr>
          <p:txBody>
            <a:bodyPr wrap="none" anchor="ctr"/>
            <a:lstStyle/>
            <a:p>
              <a:pPr algn="ctr">
                <a:defRPr/>
              </a:pPr>
              <a:r>
                <a:rPr lang="zh-CN" altLang="en-US">
                  <a:latin typeface="Times New Roman" pitchFamily="18" charset="0"/>
                </a:rPr>
                <a:t>语</a:t>
              </a:r>
            </a:p>
            <a:p>
              <a:pPr algn="ctr">
                <a:defRPr/>
              </a:pPr>
              <a:r>
                <a:rPr lang="zh-CN" altLang="en-US">
                  <a:latin typeface="Times New Roman" pitchFamily="18" charset="0"/>
                </a:rPr>
                <a:t>句</a:t>
              </a:r>
            </a:p>
            <a:p>
              <a:pPr algn="ctr">
                <a:defRPr/>
              </a:pPr>
              <a:r>
                <a:rPr lang="zh-CN" altLang="en-US">
                  <a:latin typeface="Times New Roman" pitchFamily="18" charset="0"/>
                </a:rPr>
                <a:t>覆</a:t>
              </a:r>
            </a:p>
            <a:p>
              <a:pPr algn="ctr">
                <a:defRPr/>
              </a:pPr>
              <a:r>
                <a:rPr lang="zh-CN" altLang="en-US">
                  <a:latin typeface="Times New Roman" pitchFamily="18" charset="0"/>
                </a:rPr>
                <a:t>盖</a:t>
              </a:r>
            </a:p>
          </p:txBody>
        </p:sp>
        <p:sp>
          <p:nvSpPr>
            <p:cNvPr id="16" name="Rectangle 6">
              <a:extLst>
                <a:ext uri="{FF2B5EF4-FFF2-40B4-BE49-F238E27FC236}">
                  <a16:creationId xmlns:a16="http://schemas.microsoft.com/office/drawing/2014/main" id="{D3D096BB-232A-3D46-B28B-905E0AE547F7}"/>
                </a:ext>
              </a:extLst>
            </p:cNvPr>
            <p:cNvSpPr>
              <a:spLocks noChangeArrowheads="1"/>
            </p:cNvSpPr>
            <p:nvPr/>
          </p:nvSpPr>
          <p:spPr bwMode="auto">
            <a:xfrm>
              <a:off x="2112" y="2734"/>
              <a:ext cx="288" cy="962"/>
            </a:xfrm>
            <a:prstGeom prst="rect">
              <a:avLst/>
            </a:prstGeom>
            <a:solidFill>
              <a:schemeClr val="bg1"/>
            </a:solidFill>
            <a:ln w="9525">
              <a:solidFill>
                <a:schemeClr val="tx1"/>
              </a:solidFill>
              <a:miter lim="800000"/>
              <a:headEnd/>
              <a:tailEnd/>
            </a:ln>
            <a:effectLst>
              <a:outerShdw dist="107763" dir="13500000" algn="ctr" rotWithShape="0">
                <a:schemeClr val="hlink"/>
              </a:outerShdw>
            </a:effectLst>
          </p:spPr>
          <p:txBody>
            <a:bodyPr wrap="none" anchor="ctr"/>
            <a:lstStyle/>
            <a:p>
              <a:pPr algn="ctr">
                <a:defRPr/>
              </a:pPr>
              <a:r>
                <a:rPr lang="zh-CN" altLang="en-US">
                  <a:latin typeface="Times New Roman" pitchFamily="18" charset="0"/>
                </a:rPr>
                <a:t>判</a:t>
              </a:r>
            </a:p>
            <a:p>
              <a:pPr algn="ctr">
                <a:defRPr/>
              </a:pPr>
              <a:r>
                <a:rPr lang="zh-CN" altLang="en-US">
                  <a:latin typeface="Times New Roman" pitchFamily="18" charset="0"/>
                </a:rPr>
                <a:t>定</a:t>
              </a:r>
            </a:p>
            <a:p>
              <a:pPr algn="ctr">
                <a:defRPr/>
              </a:pPr>
              <a:r>
                <a:rPr lang="zh-CN" altLang="en-US">
                  <a:latin typeface="Times New Roman" pitchFamily="18" charset="0"/>
                </a:rPr>
                <a:t>覆</a:t>
              </a:r>
            </a:p>
            <a:p>
              <a:pPr algn="ctr">
                <a:defRPr/>
              </a:pPr>
              <a:r>
                <a:rPr lang="zh-CN" altLang="en-US">
                  <a:latin typeface="Times New Roman" pitchFamily="18" charset="0"/>
                </a:rPr>
                <a:t>盖</a:t>
              </a:r>
            </a:p>
          </p:txBody>
        </p:sp>
        <p:sp>
          <p:nvSpPr>
            <p:cNvPr id="17" name="Rectangle 7">
              <a:extLst>
                <a:ext uri="{FF2B5EF4-FFF2-40B4-BE49-F238E27FC236}">
                  <a16:creationId xmlns:a16="http://schemas.microsoft.com/office/drawing/2014/main" id="{7E84C210-97ED-884B-8C4F-7E673BA7DFF6}"/>
                </a:ext>
              </a:extLst>
            </p:cNvPr>
            <p:cNvSpPr>
              <a:spLocks noChangeArrowheads="1"/>
            </p:cNvSpPr>
            <p:nvPr/>
          </p:nvSpPr>
          <p:spPr bwMode="auto">
            <a:xfrm>
              <a:off x="2736" y="2734"/>
              <a:ext cx="288" cy="962"/>
            </a:xfrm>
            <a:prstGeom prst="rect">
              <a:avLst/>
            </a:prstGeom>
            <a:solidFill>
              <a:schemeClr val="bg1"/>
            </a:solidFill>
            <a:ln w="9525">
              <a:solidFill>
                <a:schemeClr val="tx1"/>
              </a:solidFill>
              <a:miter lim="800000"/>
              <a:headEnd/>
              <a:tailEnd/>
            </a:ln>
            <a:effectLst>
              <a:outerShdw dist="107763" dir="13500000" algn="ctr" rotWithShape="0">
                <a:schemeClr val="hlink"/>
              </a:outerShdw>
            </a:effectLst>
          </p:spPr>
          <p:txBody>
            <a:bodyPr wrap="none" anchor="ctr"/>
            <a:lstStyle/>
            <a:p>
              <a:pPr algn="ctr">
                <a:defRPr/>
              </a:pPr>
              <a:r>
                <a:rPr lang="zh-CN" altLang="en-US">
                  <a:latin typeface="Times New Roman" pitchFamily="18" charset="0"/>
                </a:rPr>
                <a:t>条</a:t>
              </a:r>
            </a:p>
            <a:p>
              <a:pPr algn="ctr">
                <a:defRPr/>
              </a:pPr>
              <a:r>
                <a:rPr lang="zh-CN" altLang="en-US">
                  <a:latin typeface="Times New Roman" pitchFamily="18" charset="0"/>
                </a:rPr>
                <a:t>件</a:t>
              </a:r>
            </a:p>
            <a:p>
              <a:pPr algn="ctr">
                <a:defRPr/>
              </a:pPr>
              <a:r>
                <a:rPr lang="zh-CN" altLang="en-US">
                  <a:latin typeface="Times New Roman" pitchFamily="18" charset="0"/>
                </a:rPr>
                <a:t>覆</a:t>
              </a:r>
            </a:p>
            <a:p>
              <a:pPr algn="ctr">
                <a:defRPr/>
              </a:pPr>
              <a:r>
                <a:rPr lang="zh-CN" altLang="en-US">
                  <a:latin typeface="Times New Roman" pitchFamily="18" charset="0"/>
                </a:rPr>
                <a:t>盖</a:t>
              </a:r>
            </a:p>
          </p:txBody>
        </p:sp>
        <p:sp>
          <p:nvSpPr>
            <p:cNvPr id="18" name="Rectangle 8">
              <a:extLst>
                <a:ext uri="{FF2B5EF4-FFF2-40B4-BE49-F238E27FC236}">
                  <a16:creationId xmlns:a16="http://schemas.microsoft.com/office/drawing/2014/main" id="{6DBF76E8-47FB-EB47-9AF0-8D285C4AF5EC}"/>
                </a:ext>
              </a:extLst>
            </p:cNvPr>
            <p:cNvSpPr>
              <a:spLocks noChangeArrowheads="1"/>
            </p:cNvSpPr>
            <p:nvPr/>
          </p:nvSpPr>
          <p:spPr bwMode="auto">
            <a:xfrm>
              <a:off x="3360" y="2734"/>
              <a:ext cx="288" cy="962"/>
            </a:xfrm>
            <a:prstGeom prst="rect">
              <a:avLst/>
            </a:prstGeom>
            <a:solidFill>
              <a:schemeClr val="bg1"/>
            </a:solidFill>
            <a:ln w="9525">
              <a:solidFill>
                <a:schemeClr val="tx1"/>
              </a:solidFill>
              <a:miter lim="800000"/>
              <a:headEnd/>
              <a:tailEnd/>
            </a:ln>
            <a:effectLst>
              <a:outerShdw dist="107763" dir="13500000" algn="ctr" rotWithShape="0">
                <a:schemeClr val="hlink"/>
              </a:outerShdw>
            </a:effectLst>
          </p:spPr>
          <p:txBody>
            <a:bodyPr wrap="none" anchor="ctr"/>
            <a:lstStyle/>
            <a:p>
              <a:pPr algn="ctr">
                <a:lnSpc>
                  <a:spcPct val="85000"/>
                </a:lnSpc>
                <a:defRPr/>
              </a:pPr>
              <a:r>
                <a:rPr lang="zh-CN" altLang="en-US">
                  <a:latin typeface="Times New Roman" pitchFamily="18" charset="0"/>
                </a:rPr>
                <a:t>判</a:t>
              </a:r>
            </a:p>
            <a:p>
              <a:pPr algn="ctr">
                <a:lnSpc>
                  <a:spcPct val="85000"/>
                </a:lnSpc>
                <a:defRPr/>
              </a:pPr>
              <a:r>
                <a:rPr lang="zh-CN" altLang="en-US">
                  <a:latin typeface="Times New Roman" pitchFamily="18" charset="0"/>
                </a:rPr>
                <a:t>定</a:t>
              </a:r>
            </a:p>
            <a:p>
              <a:pPr algn="ctr">
                <a:lnSpc>
                  <a:spcPct val="85000"/>
                </a:lnSpc>
                <a:defRPr/>
              </a:pPr>
              <a:r>
                <a:rPr lang="zh-CN" altLang="en-US">
                  <a:latin typeface="Times New Roman" pitchFamily="18" charset="0"/>
                </a:rPr>
                <a:t>条</a:t>
              </a:r>
            </a:p>
            <a:p>
              <a:pPr algn="ctr">
                <a:lnSpc>
                  <a:spcPct val="85000"/>
                </a:lnSpc>
                <a:defRPr/>
              </a:pPr>
              <a:r>
                <a:rPr lang="zh-CN" altLang="en-US">
                  <a:latin typeface="Times New Roman" pitchFamily="18" charset="0"/>
                </a:rPr>
                <a:t>件</a:t>
              </a:r>
            </a:p>
            <a:p>
              <a:pPr algn="ctr">
                <a:lnSpc>
                  <a:spcPct val="85000"/>
                </a:lnSpc>
                <a:defRPr/>
              </a:pPr>
              <a:r>
                <a:rPr lang="zh-CN" altLang="en-US">
                  <a:latin typeface="Times New Roman" pitchFamily="18" charset="0"/>
                </a:rPr>
                <a:t>覆</a:t>
              </a:r>
            </a:p>
            <a:p>
              <a:pPr algn="ctr">
                <a:lnSpc>
                  <a:spcPct val="85000"/>
                </a:lnSpc>
                <a:defRPr/>
              </a:pPr>
              <a:r>
                <a:rPr lang="zh-CN" altLang="en-US">
                  <a:latin typeface="Times New Roman" pitchFamily="18" charset="0"/>
                </a:rPr>
                <a:t>盖</a:t>
              </a:r>
            </a:p>
          </p:txBody>
        </p:sp>
        <p:sp>
          <p:nvSpPr>
            <p:cNvPr id="19" name="Rectangle 9">
              <a:extLst>
                <a:ext uri="{FF2B5EF4-FFF2-40B4-BE49-F238E27FC236}">
                  <a16:creationId xmlns:a16="http://schemas.microsoft.com/office/drawing/2014/main" id="{9388EB85-5D89-6848-B31B-90D36B5DC1D7}"/>
                </a:ext>
              </a:extLst>
            </p:cNvPr>
            <p:cNvSpPr>
              <a:spLocks noChangeArrowheads="1"/>
            </p:cNvSpPr>
            <p:nvPr/>
          </p:nvSpPr>
          <p:spPr bwMode="auto">
            <a:xfrm>
              <a:off x="3984" y="2734"/>
              <a:ext cx="288" cy="962"/>
            </a:xfrm>
            <a:prstGeom prst="rect">
              <a:avLst/>
            </a:prstGeom>
            <a:solidFill>
              <a:schemeClr val="bg1"/>
            </a:solidFill>
            <a:ln w="9525">
              <a:solidFill>
                <a:schemeClr val="tx1"/>
              </a:solidFill>
              <a:miter lim="800000"/>
              <a:headEnd/>
              <a:tailEnd/>
            </a:ln>
            <a:effectLst>
              <a:outerShdw dist="107763" dir="13500000" algn="ctr" rotWithShape="0">
                <a:schemeClr val="hlink"/>
              </a:outerShdw>
            </a:effectLst>
          </p:spPr>
          <p:txBody>
            <a:bodyPr wrap="none" anchor="ctr"/>
            <a:lstStyle/>
            <a:p>
              <a:pPr algn="ctr">
                <a:lnSpc>
                  <a:spcPct val="85000"/>
                </a:lnSpc>
                <a:defRPr/>
              </a:pPr>
              <a:r>
                <a:rPr lang="zh-CN" altLang="en-US">
                  <a:latin typeface="Times New Roman" pitchFamily="18" charset="0"/>
                </a:rPr>
                <a:t>条</a:t>
              </a:r>
            </a:p>
            <a:p>
              <a:pPr algn="ctr">
                <a:lnSpc>
                  <a:spcPct val="85000"/>
                </a:lnSpc>
                <a:defRPr/>
              </a:pPr>
              <a:r>
                <a:rPr lang="zh-CN" altLang="en-US">
                  <a:latin typeface="Times New Roman" pitchFamily="18" charset="0"/>
                </a:rPr>
                <a:t>件</a:t>
              </a:r>
            </a:p>
            <a:p>
              <a:pPr algn="ctr">
                <a:lnSpc>
                  <a:spcPct val="85000"/>
                </a:lnSpc>
                <a:defRPr/>
              </a:pPr>
              <a:r>
                <a:rPr lang="zh-CN" altLang="en-US">
                  <a:latin typeface="Times New Roman" pitchFamily="18" charset="0"/>
                </a:rPr>
                <a:t>组</a:t>
              </a:r>
            </a:p>
            <a:p>
              <a:pPr algn="ctr">
                <a:lnSpc>
                  <a:spcPct val="85000"/>
                </a:lnSpc>
                <a:defRPr/>
              </a:pPr>
              <a:r>
                <a:rPr lang="zh-CN" altLang="en-US">
                  <a:latin typeface="Times New Roman" pitchFamily="18" charset="0"/>
                </a:rPr>
                <a:t>合</a:t>
              </a:r>
            </a:p>
            <a:p>
              <a:pPr algn="ctr">
                <a:lnSpc>
                  <a:spcPct val="85000"/>
                </a:lnSpc>
                <a:defRPr/>
              </a:pPr>
              <a:r>
                <a:rPr lang="zh-CN" altLang="en-US">
                  <a:latin typeface="Times New Roman" pitchFamily="18" charset="0"/>
                </a:rPr>
                <a:t>覆</a:t>
              </a:r>
            </a:p>
            <a:p>
              <a:pPr algn="ctr">
                <a:lnSpc>
                  <a:spcPct val="85000"/>
                </a:lnSpc>
                <a:defRPr/>
              </a:pPr>
              <a:r>
                <a:rPr lang="zh-CN" altLang="en-US">
                  <a:latin typeface="Times New Roman" pitchFamily="18" charset="0"/>
                </a:rPr>
                <a:t>盖</a:t>
              </a:r>
            </a:p>
          </p:txBody>
        </p:sp>
      </p:grpSp>
      <p:grpSp>
        <p:nvGrpSpPr>
          <p:cNvPr id="20" name="Group 10">
            <a:extLst>
              <a:ext uri="{FF2B5EF4-FFF2-40B4-BE49-F238E27FC236}">
                <a16:creationId xmlns:a16="http://schemas.microsoft.com/office/drawing/2014/main" id="{283DB5BB-D51C-5E4C-AB1D-8482745055C6}"/>
              </a:ext>
            </a:extLst>
          </p:cNvPr>
          <p:cNvGrpSpPr>
            <a:grpSpLocks/>
          </p:cNvGrpSpPr>
          <p:nvPr/>
        </p:nvGrpSpPr>
        <p:grpSpPr bwMode="auto">
          <a:xfrm>
            <a:off x="1706336" y="3622261"/>
            <a:ext cx="6172200" cy="385400"/>
            <a:chOff x="1008" y="2399"/>
            <a:chExt cx="3888" cy="323"/>
          </a:xfrm>
        </p:grpSpPr>
        <p:sp>
          <p:nvSpPr>
            <p:cNvPr id="21" name="Line 11">
              <a:extLst>
                <a:ext uri="{FF2B5EF4-FFF2-40B4-BE49-F238E27FC236}">
                  <a16:creationId xmlns:a16="http://schemas.microsoft.com/office/drawing/2014/main" id="{555C3FD6-BA49-654D-95EE-6EAA2C3A885A}"/>
                </a:ext>
              </a:extLst>
            </p:cNvPr>
            <p:cNvSpPr>
              <a:spLocks noChangeShapeType="1"/>
            </p:cNvSpPr>
            <p:nvPr/>
          </p:nvSpPr>
          <p:spPr bwMode="auto">
            <a:xfrm>
              <a:off x="1440" y="2609"/>
              <a:ext cx="2976" cy="0"/>
            </a:xfrm>
            <a:prstGeom prst="line">
              <a:avLst/>
            </a:prstGeom>
            <a:noFill/>
            <a:ln w="57150">
              <a:solidFill>
                <a:srgbClr val="FFFF00"/>
              </a:solidFill>
              <a:round/>
              <a:headEnd/>
              <a:tailEnd type="triangle" w="med" len="med"/>
            </a:ln>
            <a:effectLst>
              <a:outerShdw dist="107763" dir="13500000" algn="ctr" rotWithShape="0">
                <a:schemeClr val="hlink"/>
              </a:outerShdw>
            </a:effectLst>
          </p:spPr>
          <p:txBody>
            <a:bodyPr wrap="none" anchor="ctr"/>
            <a:lstStyle/>
            <a:p>
              <a:pPr>
                <a:defRPr/>
              </a:pPr>
              <a:endParaRPr lang="zh-CN" altLang="en-US">
                <a:latin typeface="Arial" charset="0"/>
              </a:endParaRPr>
            </a:p>
          </p:txBody>
        </p:sp>
        <p:sp>
          <p:nvSpPr>
            <p:cNvPr id="22" name="Text Box 12">
              <a:extLst>
                <a:ext uri="{FF2B5EF4-FFF2-40B4-BE49-F238E27FC236}">
                  <a16:creationId xmlns:a16="http://schemas.microsoft.com/office/drawing/2014/main" id="{B9B46FF1-9BE2-CE4C-8AFC-198F2C4587F9}"/>
                </a:ext>
              </a:extLst>
            </p:cNvPr>
            <p:cNvSpPr txBox="1">
              <a:spLocks noChangeArrowheads="1"/>
            </p:cNvSpPr>
            <p:nvPr/>
          </p:nvSpPr>
          <p:spPr bwMode="auto">
            <a:xfrm>
              <a:off x="1008" y="2412"/>
              <a:ext cx="33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dirty="0">
                  <a:latin typeface="Times New Roman" panose="02020603050405020304" pitchFamily="18" charset="0"/>
                </a:rPr>
                <a:t>弱</a:t>
              </a:r>
            </a:p>
          </p:txBody>
        </p:sp>
        <p:sp>
          <p:nvSpPr>
            <p:cNvPr id="23" name="Text Box 13">
              <a:extLst>
                <a:ext uri="{FF2B5EF4-FFF2-40B4-BE49-F238E27FC236}">
                  <a16:creationId xmlns:a16="http://schemas.microsoft.com/office/drawing/2014/main" id="{BBEA77CB-275D-034E-892D-0CC85E97A7AF}"/>
                </a:ext>
              </a:extLst>
            </p:cNvPr>
            <p:cNvSpPr txBox="1">
              <a:spLocks noChangeArrowheads="1"/>
            </p:cNvSpPr>
            <p:nvPr/>
          </p:nvSpPr>
          <p:spPr bwMode="auto">
            <a:xfrm>
              <a:off x="4512" y="2399"/>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dirty="0">
                  <a:latin typeface="Times New Roman" panose="02020603050405020304" pitchFamily="18" charset="0"/>
                </a:rPr>
                <a:t>强</a:t>
              </a:r>
            </a:p>
          </p:txBody>
        </p:sp>
        <p:sp>
          <p:nvSpPr>
            <p:cNvPr id="24" name="Line 14">
              <a:extLst>
                <a:ext uri="{FF2B5EF4-FFF2-40B4-BE49-F238E27FC236}">
                  <a16:creationId xmlns:a16="http://schemas.microsoft.com/office/drawing/2014/main" id="{5195FEFC-4C21-F14A-8939-B6D8995D3CEE}"/>
                </a:ext>
              </a:extLst>
            </p:cNvPr>
            <p:cNvSpPr>
              <a:spLocks noChangeShapeType="1"/>
            </p:cNvSpPr>
            <p:nvPr/>
          </p:nvSpPr>
          <p:spPr bwMode="auto">
            <a:xfrm>
              <a:off x="1440" y="2609"/>
              <a:ext cx="2976" cy="0"/>
            </a:xfrm>
            <a:prstGeom prst="line">
              <a:avLst/>
            </a:prstGeom>
            <a:noFill/>
            <a:ln w="57150">
              <a:solidFill>
                <a:srgbClr val="FFFF00"/>
              </a:solidFill>
              <a:round/>
              <a:headEnd/>
              <a:tailEnd type="triangle" w="med" len="med"/>
            </a:ln>
            <a:effectLst>
              <a:outerShdw dist="107763" dir="13500000" algn="ctr" rotWithShape="0">
                <a:schemeClr val="hlink"/>
              </a:outerShdw>
            </a:effectLst>
          </p:spPr>
          <p:txBody>
            <a:bodyPr wrap="none" anchor="ctr"/>
            <a:lstStyle/>
            <a:p>
              <a:pPr>
                <a:defRPr/>
              </a:pPr>
              <a:endParaRPr lang="zh-CN" altLang="en-US">
                <a:latin typeface="Arial" charset="0"/>
              </a:endParaRPr>
            </a:p>
          </p:txBody>
        </p:sp>
      </p:grpSp>
    </p:spTree>
    <p:extLst>
      <p:ext uri="{BB962C8B-B14F-4D97-AF65-F5344CB8AC3E}">
        <p14:creationId xmlns:p14="http://schemas.microsoft.com/office/powerpoint/2010/main" val="13505475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765511" y="1924521"/>
            <a:ext cx="6383883" cy="11734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latin typeface="宋体" panose="02010600030101010101" pitchFamily="2" charset="-122"/>
              </a:rPr>
              <a:t>例：用白盒法测试以下程序段。如图所示，程序中有两个判定，每个判定都包含复合条件的逻辑表达式</a:t>
            </a:r>
            <a:endParaRPr lang="en-US" altLang="zh-CN" sz="1800" dirty="0">
              <a:solidFill>
                <a:srgbClr val="000000"/>
              </a:solidFill>
              <a:latin typeface="Microsoft YaHei" panose="020B0503020204020204" pitchFamily="34" charset="-122"/>
              <a:ea typeface="Microsoft YaHei" panose="020B0503020204020204" pitchFamily="34" charset="-122"/>
              <a:sym typeface="微软雅黑" panose="020B0503020204020204" pitchFamily="34" charset="-122"/>
            </a:endParaRPr>
          </a:p>
        </p:txBody>
      </p:sp>
      <p:grpSp>
        <p:nvGrpSpPr>
          <p:cNvPr id="25" name="Group 8">
            <a:extLst>
              <a:ext uri="{FF2B5EF4-FFF2-40B4-BE49-F238E27FC236}">
                <a16:creationId xmlns:a16="http://schemas.microsoft.com/office/drawing/2014/main" id="{4E519C52-064F-A44B-81B3-026FAFECEFB4}"/>
              </a:ext>
            </a:extLst>
          </p:cNvPr>
          <p:cNvGrpSpPr>
            <a:grpSpLocks/>
          </p:cNvGrpSpPr>
          <p:nvPr/>
        </p:nvGrpSpPr>
        <p:grpSpPr bwMode="auto">
          <a:xfrm>
            <a:off x="5384948" y="2528880"/>
            <a:ext cx="3097213" cy="3509963"/>
            <a:chOff x="3216" y="864"/>
            <a:chExt cx="2035" cy="3058"/>
          </a:xfrm>
        </p:grpSpPr>
        <p:sp>
          <p:nvSpPr>
            <p:cNvPr id="26" name="Line 9">
              <a:extLst>
                <a:ext uri="{FF2B5EF4-FFF2-40B4-BE49-F238E27FC236}">
                  <a16:creationId xmlns:a16="http://schemas.microsoft.com/office/drawing/2014/main" id="{2D9ED55E-B301-1948-A71E-AAC164FC64E7}"/>
                </a:ext>
              </a:extLst>
            </p:cNvPr>
            <p:cNvSpPr>
              <a:spLocks noChangeShapeType="1"/>
            </p:cNvSpPr>
            <p:nvPr/>
          </p:nvSpPr>
          <p:spPr bwMode="auto">
            <a:xfrm>
              <a:off x="3821" y="864"/>
              <a:ext cx="0" cy="241"/>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27" name="AutoShape 10">
              <a:extLst>
                <a:ext uri="{FF2B5EF4-FFF2-40B4-BE49-F238E27FC236}">
                  <a16:creationId xmlns:a16="http://schemas.microsoft.com/office/drawing/2014/main" id="{C519168E-BE24-6C41-92B5-6C7998CED9D2}"/>
                </a:ext>
              </a:extLst>
            </p:cNvPr>
            <p:cNvSpPr>
              <a:spLocks noChangeArrowheads="1"/>
            </p:cNvSpPr>
            <p:nvPr/>
          </p:nvSpPr>
          <p:spPr bwMode="auto">
            <a:xfrm>
              <a:off x="3216" y="1101"/>
              <a:ext cx="1206" cy="550"/>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28" name="Line 11">
              <a:extLst>
                <a:ext uri="{FF2B5EF4-FFF2-40B4-BE49-F238E27FC236}">
                  <a16:creationId xmlns:a16="http://schemas.microsoft.com/office/drawing/2014/main" id="{1F4EE0F8-A897-E54C-B8F4-3EBC897AF902}"/>
                </a:ext>
              </a:extLst>
            </p:cNvPr>
            <p:cNvSpPr>
              <a:spLocks noChangeShapeType="1"/>
            </p:cNvSpPr>
            <p:nvPr/>
          </p:nvSpPr>
          <p:spPr bwMode="auto">
            <a:xfrm>
              <a:off x="4446" y="1385"/>
              <a:ext cx="391" cy="0"/>
            </a:xfrm>
            <a:prstGeom prst="line">
              <a:avLst/>
            </a:prstGeom>
            <a:noFill/>
            <a:ln w="28575">
              <a:solidFill>
                <a:schemeClr val="tx1"/>
              </a:solidFill>
              <a:round/>
              <a:headEnd/>
              <a:tailEn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29" name="Rectangle 12">
              <a:extLst>
                <a:ext uri="{FF2B5EF4-FFF2-40B4-BE49-F238E27FC236}">
                  <a16:creationId xmlns:a16="http://schemas.microsoft.com/office/drawing/2014/main" id="{FACE7A10-5D00-7244-B901-199BCE0C2C62}"/>
                </a:ext>
              </a:extLst>
            </p:cNvPr>
            <p:cNvSpPr>
              <a:spLocks noChangeArrowheads="1"/>
            </p:cNvSpPr>
            <p:nvPr/>
          </p:nvSpPr>
          <p:spPr bwMode="auto">
            <a:xfrm>
              <a:off x="4489" y="1639"/>
              <a:ext cx="724" cy="232"/>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30" name="Line 13">
              <a:extLst>
                <a:ext uri="{FF2B5EF4-FFF2-40B4-BE49-F238E27FC236}">
                  <a16:creationId xmlns:a16="http://schemas.microsoft.com/office/drawing/2014/main" id="{E9246AEB-EC17-524D-BCAD-A972974E55F9}"/>
                </a:ext>
              </a:extLst>
            </p:cNvPr>
            <p:cNvSpPr>
              <a:spLocks noChangeShapeType="1"/>
            </p:cNvSpPr>
            <p:nvPr/>
          </p:nvSpPr>
          <p:spPr bwMode="auto">
            <a:xfrm>
              <a:off x="4860" y="1926"/>
              <a:ext cx="0" cy="141"/>
            </a:xfrm>
            <a:prstGeom prst="line">
              <a:avLst/>
            </a:prstGeom>
            <a:noFill/>
            <a:ln w="28575" cap="sq">
              <a:solidFill>
                <a:schemeClr val="tx1"/>
              </a:solidFill>
              <a:round/>
              <a:headEnd/>
              <a:tailEnd type="triangle" w="med" len="me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1" name="Line 14">
              <a:extLst>
                <a:ext uri="{FF2B5EF4-FFF2-40B4-BE49-F238E27FC236}">
                  <a16:creationId xmlns:a16="http://schemas.microsoft.com/office/drawing/2014/main" id="{03100166-8022-294D-A51A-4B9F1851C3B2}"/>
                </a:ext>
              </a:extLst>
            </p:cNvPr>
            <p:cNvSpPr>
              <a:spLocks noChangeShapeType="1"/>
            </p:cNvSpPr>
            <p:nvPr/>
          </p:nvSpPr>
          <p:spPr bwMode="auto">
            <a:xfrm flipH="1">
              <a:off x="3849" y="1670"/>
              <a:ext cx="1" cy="563"/>
            </a:xfrm>
            <a:prstGeom prst="line">
              <a:avLst/>
            </a:prstGeom>
            <a:noFill/>
            <a:ln w="28575" cap="sq">
              <a:solidFill>
                <a:schemeClr val="tx1"/>
              </a:solidFill>
              <a:round/>
              <a:headEnd/>
              <a:tailEnd type="triangle" w="med" len="me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2" name="Line 15">
              <a:extLst>
                <a:ext uri="{FF2B5EF4-FFF2-40B4-BE49-F238E27FC236}">
                  <a16:creationId xmlns:a16="http://schemas.microsoft.com/office/drawing/2014/main" id="{59A0995B-1813-EA4A-8E0C-15697BCCFBF3}"/>
                </a:ext>
              </a:extLst>
            </p:cNvPr>
            <p:cNvSpPr>
              <a:spLocks noChangeShapeType="1"/>
            </p:cNvSpPr>
            <p:nvPr/>
          </p:nvSpPr>
          <p:spPr bwMode="auto">
            <a:xfrm flipV="1">
              <a:off x="3852" y="2065"/>
              <a:ext cx="1011" cy="1"/>
            </a:xfrm>
            <a:prstGeom prst="line">
              <a:avLst/>
            </a:prstGeom>
            <a:noFill/>
            <a:ln w="28575" cap="sq">
              <a:solidFill>
                <a:schemeClr val="tx1"/>
              </a:solidFill>
              <a:round/>
              <a:headEnd/>
              <a:tailEn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3" name="Line 16">
              <a:extLst>
                <a:ext uri="{FF2B5EF4-FFF2-40B4-BE49-F238E27FC236}">
                  <a16:creationId xmlns:a16="http://schemas.microsoft.com/office/drawing/2014/main" id="{BCBF160F-DF9C-1C4E-B760-5D4D806A111D}"/>
                </a:ext>
              </a:extLst>
            </p:cNvPr>
            <p:cNvSpPr>
              <a:spLocks noChangeShapeType="1"/>
            </p:cNvSpPr>
            <p:nvPr/>
          </p:nvSpPr>
          <p:spPr bwMode="auto">
            <a:xfrm>
              <a:off x="4848" y="1398"/>
              <a:ext cx="0" cy="243"/>
            </a:xfrm>
            <a:prstGeom prst="line">
              <a:avLst/>
            </a:prstGeom>
            <a:noFill/>
            <a:ln w="28575" cap="sq">
              <a:solidFill>
                <a:schemeClr val="tx1"/>
              </a:solidFill>
              <a:round/>
              <a:headEnd/>
              <a:tailEnd type="triangle" w="med" len="me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4" name="AutoShape 17">
              <a:extLst>
                <a:ext uri="{FF2B5EF4-FFF2-40B4-BE49-F238E27FC236}">
                  <a16:creationId xmlns:a16="http://schemas.microsoft.com/office/drawing/2014/main" id="{EE5A50C5-527C-0C4C-9F59-35569ED8B12A}"/>
                </a:ext>
              </a:extLst>
            </p:cNvPr>
            <p:cNvSpPr>
              <a:spLocks noChangeArrowheads="1"/>
            </p:cNvSpPr>
            <p:nvPr/>
          </p:nvSpPr>
          <p:spPr bwMode="auto">
            <a:xfrm>
              <a:off x="3261" y="2235"/>
              <a:ext cx="1206" cy="546"/>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35" name="Rectangle 18">
              <a:extLst>
                <a:ext uri="{FF2B5EF4-FFF2-40B4-BE49-F238E27FC236}">
                  <a16:creationId xmlns:a16="http://schemas.microsoft.com/office/drawing/2014/main" id="{2D46C76D-470F-8F49-8318-EEB6E3F8F10C}"/>
                </a:ext>
              </a:extLst>
            </p:cNvPr>
            <p:cNvSpPr>
              <a:spLocks noChangeArrowheads="1"/>
            </p:cNvSpPr>
            <p:nvPr/>
          </p:nvSpPr>
          <p:spPr bwMode="auto">
            <a:xfrm>
              <a:off x="4534" y="2771"/>
              <a:ext cx="717" cy="232"/>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a:latin typeface="宋体" pitchFamily="2" charset="-122"/>
                </a:rPr>
                <a:t>X:=X+1</a:t>
              </a:r>
            </a:p>
          </p:txBody>
        </p:sp>
        <p:sp>
          <p:nvSpPr>
            <p:cNvPr id="36" name="Line 19">
              <a:extLst>
                <a:ext uri="{FF2B5EF4-FFF2-40B4-BE49-F238E27FC236}">
                  <a16:creationId xmlns:a16="http://schemas.microsoft.com/office/drawing/2014/main" id="{F2FF6498-C2A7-C642-B2B4-E4846A5AE8FA}"/>
                </a:ext>
              </a:extLst>
            </p:cNvPr>
            <p:cNvSpPr>
              <a:spLocks noChangeShapeType="1"/>
            </p:cNvSpPr>
            <p:nvPr/>
          </p:nvSpPr>
          <p:spPr bwMode="auto">
            <a:xfrm>
              <a:off x="4893" y="3059"/>
              <a:ext cx="0" cy="141"/>
            </a:xfrm>
            <a:prstGeom prst="line">
              <a:avLst/>
            </a:prstGeom>
            <a:noFill/>
            <a:ln w="28575" cap="sq">
              <a:solidFill>
                <a:schemeClr val="tx1"/>
              </a:solidFill>
              <a:round/>
              <a:headEnd/>
              <a:tailEnd type="triangle" w="med" len="me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7" name="Line 20">
              <a:extLst>
                <a:ext uri="{FF2B5EF4-FFF2-40B4-BE49-F238E27FC236}">
                  <a16:creationId xmlns:a16="http://schemas.microsoft.com/office/drawing/2014/main" id="{B5F67549-C5E1-8041-9CE2-34864B5431D7}"/>
                </a:ext>
              </a:extLst>
            </p:cNvPr>
            <p:cNvSpPr>
              <a:spLocks noChangeShapeType="1"/>
            </p:cNvSpPr>
            <p:nvPr/>
          </p:nvSpPr>
          <p:spPr bwMode="auto">
            <a:xfrm>
              <a:off x="3870" y="2829"/>
              <a:ext cx="0" cy="678"/>
            </a:xfrm>
            <a:prstGeom prst="line">
              <a:avLst/>
            </a:prstGeom>
            <a:noFill/>
            <a:ln w="28575" cap="sq">
              <a:solidFill>
                <a:schemeClr val="tx1"/>
              </a:solidFill>
              <a:round/>
              <a:headEnd/>
              <a:tailEnd type="triangle" w="med" len="me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8" name="Line 21">
              <a:extLst>
                <a:ext uri="{FF2B5EF4-FFF2-40B4-BE49-F238E27FC236}">
                  <a16:creationId xmlns:a16="http://schemas.microsoft.com/office/drawing/2014/main" id="{64A9F0B8-F6CA-9D41-A377-FB25842E815D}"/>
                </a:ext>
              </a:extLst>
            </p:cNvPr>
            <p:cNvSpPr>
              <a:spLocks noChangeShapeType="1"/>
            </p:cNvSpPr>
            <p:nvPr/>
          </p:nvSpPr>
          <p:spPr bwMode="auto">
            <a:xfrm flipV="1">
              <a:off x="3872" y="3199"/>
              <a:ext cx="1036" cy="1"/>
            </a:xfrm>
            <a:prstGeom prst="line">
              <a:avLst/>
            </a:prstGeom>
            <a:noFill/>
            <a:ln w="28575" cap="sq">
              <a:solidFill>
                <a:schemeClr val="tx1"/>
              </a:solidFill>
              <a:round/>
              <a:headEnd/>
              <a:tailEn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39" name="Line 22">
              <a:extLst>
                <a:ext uri="{FF2B5EF4-FFF2-40B4-BE49-F238E27FC236}">
                  <a16:creationId xmlns:a16="http://schemas.microsoft.com/office/drawing/2014/main" id="{5B93C4DA-7DBD-4949-8860-295B5F789A21}"/>
                </a:ext>
              </a:extLst>
            </p:cNvPr>
            <p:cNvSpPr>
              <a:spLocks noChangeShapeType="1"/>
            </p:cNvSpPr>
            <p:nvPr/>
          </p:nvSpPr>
          <p:spPr bwMode="auto">
            <a:xfrm>
              <a:off x="4893" y="2522"/>
              <a:ext cx="0" cy="242"/>
            </a:xfrm>
            <a:prstGeom prst="line">
              <a:avLst/>
            </a:prstGeom>
            <a:noFill/>
            <a:ln w="28575" cap="sq">
              <a:solidFill>
                <a:schemeClr val="tx1"/>
              </a:solidFill>
              <a:round/>
              <a:headEnd/>
              <a:tailEnd type="triangle" w="med" len="med"/>
            </a:ln>
            <a:effectLst>
              <a:prstShdw prst="shdw17" dist="17961" dir="2700000">
                <a:schemeClr val="tx1">
                  <a:gamma/>
                  <a:shade val="60000"/>
                  <a:invGamma/>
                </a:schemeClr>
              </a:prstShdw>
            </a:effectLst>
          </p:spPr>
          <p:txBody>
            <a:bodyPr wrap="none" anchor="ctr"/>
            <a:lstStyle/>
            <a:p>
              <a:pPr>
                <a:defRPr/>
              </a:pPr>
              <a:endParaRPr lang="zh-CN" altLang="en-US">
                <a:latin typeface="Arial" charset="0"/>
              </a:endParaRPr>
            </a:p>
          </p:txBody>
        </p:sp>
        <p:sp>
          <p:nvSpPr>
            <p:cNvPr id="40" name="Text Box 23">
              <a:extLst>
                <a:ext uri="{FF2B5EF4-FFF2-40B4-BE49-F238E27FC236}">
                  <a16:creationId xmlns:a16="http://schemas.microsoft.com/office/drawing/2014/main" id="{7EE4D881-B850-854E-BFB8-CBBEB76413D6}"/>
                </a:ext>
              </a:extLst>
            </p:cNvPr>
            <p:cNvSpPr txBox="1">
              <a:spLocks noChangeArrowheads="1"/>
            </p:cNvSpPr>
            <p:nvPr/>
          </p:nvSpPr>
          <p:spPr bwMode="auto">
            <a:xfrm>
              <a:off x="4396" y="1013"/>
              <a:ext cx="197" cy="322"/>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宋体" panose="02010600030101010101" pitchFamily="2" charset="-122"/>
                </a:rPr>
                <a:t>Y</a:t>
              </a:r>
            </a:p>
          </p:txBody>
        </p:sp>
        <p:sp>
          <p:nvSpPr>
            <p:cNvPr id="41" name="Text Box 24">
              <a:extLst>
                <a:ext uri="{FF2B5EF4-FFF2-40B4-BE49-F238E27FC236}">
                  <a16:creationId xmlns:a16="http://schemas.microsoft.com/office/drawing/2014/main" id="{63D88CBE-CFD2-FB4B-98C9-B69247A60BAF}"/>
                </a:ext>
              </a:extLst>
            </p:cNvPr>
            <p:cNvSpPr txBox="1">
              <a:spLocks noChangeArrowheads="1"/>
            </p:cNvSpPr>
            <p:nvPr/>
          </p:nvSpPr>
          <p:spPr bwMode="auto">
            <a:xfrm>
              <a:off x="3844" y="1615"/>
              <a:ext cx="197" cy="322"/>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a:latin typeface="宋体" panose="02010600030101010101" pitchFamily="2" charset="-122"/>
                </a:rPr>
                <a:t>N</a:t>
              </a:r>
            </a:p>
          </p:txBody>
        </p:sp>
        <p:sp>
          <p:nvSpPr>
            <p:cNvPr id="42" name="Text Box 25">
              <a:extLst>
                <a:ext uri="{FF2B5EF4-FFF2-40B4-BE49-F238E27FC236}">
                  <a16:creationId xmlns:a16="http://schemas.microsoft.com/office/drawing/2014/main" id="{927DF993-59A1-A64A-A98D-33CE092EE600}"/>
                </a:ext>
              </a:extLst>
            </p:cNvPr>
            <p:cNvSpPr txBox="1">
              <a:spLocks noChangeArrowheads="1"/>
            </p:cNvSpPr>
            <p:nvPr/>
          </p:nvSpPr>
          <p:spPr bwMode="auto">
            <a:xfrm>
              <a:off x="4348" y="2215"/>
              <a:ext cx="197" cy="322"/>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宋体" panose="02010600030101010101" pitchFamily="2" charset="-122"/>
                </a:rPr>
                <a:t>Y</a:t>
              </a:r>
            </a:p>
          </p:txBody>
        </p:sp>
        <p:sp>
          <p:nvSpPr>
            <p:cNvPr id="43" name="Text Box 26">
              <a:extLst>
                <a:ext uri="{FF2B5EF4-FFF2-40B4-BE49-F238E27FC236}">
                  <a16:creationId xmlns:a16="http://schemas.microsoft.com/office/drawing/2014/main" id="{EBED5FA3-77D0-4543-AA6C-AB0129C113CB}"/>
                </a:ext>
              </a:extLst>
            </p:cNvPr>
            <p:cNvSpPr txBox="1">
              <a:spLocks noChangeArrowheads="1"/>
            </p:cNvSpPr>
            <p:nvPr/>
          </p:nvSpPr>
          <p:spPr bwMode="auto">
            <a:xfrm>
              <a:off x="3868" y="2791"/>
              <a:ext cx="197" cy="32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宋体" panose="02010600030101010101" pitchFamily="2" charset="-122"/>
                </a:rPr>
                <a:t>N</a:t>
              </a:r>
            </a:p>
          </p:txBody>
        </p:sp>
        <p:sp>
          <p:nvSpPr>
            <p:cNvPr id="44" name="Line 27">
              <a:extLst>
                <a:ext uri="{FF2B5EF4-FFF2-40B4-BE49-F238E27FC236}">
                  <a16:creationId xmlns:a16="http://schemas.microsoft.com/office/drawing/2014/main" id="{B686B7F2-CECD-DC4A-96DE-98B618BCF136}"/>
                </a:ext>
              </a:extLst>
            </p:cNvPr>
            <p:cNvSpPr>
              <a:spLocks noChangeShapeType="1"/>
            </p:cNvSpPr>
            <p:nvPr/>
          </p:nvSpPr>
          <p:spPr bwMode="auto">
            <a:xfrm>
              <a:off x="4407" y="2511"/>
              <a:ext cx="480" cy="0"/>
            </a:xfrm>
            <a:prstGeom prst="line">
              <a:avLst/>
            </a:prstGeom>
            <a:noFill/>
            <a:ln w="28575">
              <a:solidFill>
                <a:schemeClr val="tx1"/>
              </a:solidFill>
              <a:round/>
              <a:headEnd/>
              <a:tailEnd/>
            </a:ln>
            <a:effectLst>
              <a:outerShdw dist="35921" dir="2700000" algn="ctr" rotWithShape="0">
                <a:srgbClr val="B2B2B2"/>
              </a:outerShdw>
            </a:effectLst>
          </p:spPr>
          <p:txBody>
            <a:bodyPr wrap="none" anchor="ctr"/>
            <a:lstStyle/>
            <a:p>
              <a:pPr>
                <a:defRPr/>
              </a:pPr>
              <a:endParaRPr lang="zh-CN" altLang="en-US">
                <a:latin typeface="Arial" charset="0"/>
              </a:endParaRPr>
            </a:p>
          </p:txBody>
        </p:sp>
        <p:sp>
          <p:nvSpPr>
            <p:cNvPr id="45" name="Text Box 28">
              <a:extLst>
                <a:ext uri="{FF2B5EF4-FFF2-40B4-BE49-F238E27FC236}">
                  <a16:creationId xmlns:a16="http://schemas.microsoft.com/office/drawing/2014/main" id="{1023E292-34CB-3648-A6B9-F1B2401F089D}"/>
                </a:ext>
              </a:extLst>
            </p:cNvPr>
            <p:cNvSpPr txBox="1">
              <a:spLocks noChangeArrowheads="1"/>
            </p:cNvSpPr>
            <p:nvPr/>
          </p:nvSpPr>
          <p:spPr bwMode="auto">
            <a:xfrm>
              <a:off x="3600" y="3600"/>
              <a:ext cx="1440"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endParaRPr lang="zh-CN" altLang="zh-CN">
                <a:latin typeface="Times New Roman" panose="02020603050405020304" pitchFamily="18" charset="0"/>
              </a:endParaRPr>
            </a:p>
          </p:txBody>
        </p:sp>
      </p:grpSp>
      <p:sp>
        <p:nvSpPr>
          <p:cNvPr id="2" name="矩形 1">
            <a:extLst>
              <a:ext uri="{FF2B5EF4-FFF2-40B4-BE49-F238E27FC236}">
                <a16:creationId xmlns:a16="http://schemas.microsoft.com/office/drawing/2014/main" id="{78118BDC-BBC9-A647-94A1-54D9CDAB94B9}"/>
              </a:ext>
            </a:extLst>
          </p:cNvPr>
          <p:cNvSpPr/>
          <p:nvPr/>
        </p:nvSpPr>
        <p:spPr>
          <a:xfrm>
            <a:off x="1014879" y="3102000"/>
            <a:ext cx="4572000" cy="2363724"/>
          </a:xfrm>
          <a:prstGeom prst="rect">
            <a:avLst/>
          </a:prstGeom>
        </p:spPr>
        <p:txBody>
          <a:bodyPr>
            <a:spAutoFit/>
          </a:bodyPr>
          <a:lstStyle/>
          <a:p>
            <a:pPr algn="just">
              <a:spcBef>
                <a:spcPct val="20000"/>
              </a:spcBef>
            </a:pPr>
            <a:r>
              <a:rPr lang="en-US" altLang="zh-CN" dirty="0">
                <a:latin typeface="Times New Roman" panose="02020603050405020304" pitchFamily="18" charset="0"/>
              </a:rPr>
              <a:t>Procedure (VAR A,</a:t>
            </a:r>
            <a:r>
              <a:rPr lang="zh-CN" altLang="en-US" dirty="0">
                <a:latin typeface="Times New Roman" panose="02020603050405020304" pitchFamily="18" charset="0"/>
              </a:rPr>
              <a:t> </a:t>
            </a:r>
            <a:r>
              <a:rPr lang="en-US" altLang="zh-CN" dirty="0">
                <a:latin typeface="Times New Roman" panose="02020603050405020304" pitchFamily="18" charset="0"/>
              </a:rPr>
              <a:t>B,</a:t>
            </a:r>
            <a:r>
              <a:rPr lang="zh-CN" altLang="en-US" dirty="0">
                <a:latin typeface="Times New Roman" panose="02020603050405020304" pitchFamily="18" charset="0"/>
              </a:rPr>
              <a:t> </a:t>
            </a:r>
            <a:r>
              <a:rPr lang="en-US" altLang="zh-CN" dirty="0">
                <a:latin typeface="Times New Roman" panose="02020603050405020304" pitchFamily="18" charset="0"/>
              </a:rPr>
              <a:t>X:REAL);</a:t>
            </a:r>
            <a:endParaRPr lang="zh-CN" altLang="en-US" dirty="0">
              <a:latin typeface="Times New Roman" panose="02020603050405020304" pitchFamily="18" charset="0"/>
            </a:endParaRP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BEGIN</a:t>
            </a:r>
          </a:p>
          <a:p>
            <a:pPr algn="just">
              <a:spcBef>
                <a:spcPct val="20000"/>
              </a:spcBef>
            </a:pPr>
            <a:r>
              <a:rPr lang="en-US" altLang="zh-CN" dirty="0">
                <a:latin typeface="Times New Roman" panose="02020603050405020304" pitchFamily="18" charset="0"/>
              </a:rPr>
              <a:t>      IF</a:t>
            </a:r>
            <a:r>
              <a:rPr lang="zh-CN" altLang="en-US" dirty="0">
                <a:latin typeface="Times New Roman" panose="02020603050405020304" pitchFamily="18" charset="0"/>
              </a:rPr>
              <a:t> </a:t>
            </a:r>
            <a:r>
              <a:rPr lang="en-US" altLang="zh-CN" dirty="0">
                <a:latin typeface="Times New Roman" panose="02020603050405020304" pitchFamily="18" charset="0"/>
              </a:rPr>
              <a:t>(A&gt;1) AND (B=0)  </a:t>
            </a:r>
          </a:p>
          <a:p>
            <a:pPr algn="just">
              <a:spcBef>
                <a:spcPct val="20000"/>
              </a:spcBef>
            </a:pPr>
            <a:r>
              <a:rPr lang="en-US" altLang="zh-CN" dirty="0">
                <a:latin typeface="Times New Roman" panose="02020603050405020304" pitchFamily="18" charset="0"/>
              </a:rPr>
              <a:t>          THEN</a:t>
            </a:r>
            <a:r>
              <a:rPr lang="zh-CN" altLang="en-US" dirty="0">
                <a:latin typeface="Times New Roman" panose="02020603050405020304" pitchFamily="18" charset="0"/>
              </a:rPr>
              <a:t> </a:t>
            </a:r>
            <a:r>
              <a:rPr lang="en-US" altLang="zh-CN" dirty="0">
                <a:latin typeface="Times New Roman" panose="02020603050405020304" pitchFamily="18" charset="0"/>
              </a:rPr>
              <a:t>X:=X/A;</a:t>
            </a:r>
          </a:p>
          <a:p>
            <a:pPr algn="just">
              <a:spcBef>
                <a:spcPct val="20000"/>
              </a:spcBef>
            </a:pPr>
            <a:r>
              <a:rPr lang="en-US" altLang="zh-CN" dirty="0">
                <a:latin typeface="Times New Roman" panose="02020603050405020304" pitchFamily="18" charset="0"/>
              </a:rPr>
              <a:t>      IF (A=2) OR (X&gt;1) </a:t>
            </a:r>
          </a:p>
          <a:p>
            <a:pPr algn="just">
              <a:spcBef>
                <a:spcPct val="20000"/>
              </a:spcBef>
            </a:pPr>
            <a:r>
              <a:rPr lang="en-US" altLang="zh-CN" dirty="0">
                <a:latin typeface="Times New Roman" panose="02020603050405020304" pitchFamily="18" charset="0"/>
              </a:rPr>
              <a:t>          THEN</a:t>
            </a:r>
            <a:r>
              <a:rPr lang="zh-CN" altLang="en-US" dirty="0">
                <a:latin typeface="Times New Roman" panose="02020603050405020304" pitchFamily="18" charset="0"/>
              </a:rPr>
              <a:t> </a:t>
            </a:r>
            <a:r>
              <a:rPr lang="en-US" altLang="zh-CN" dirty="0">
                <a:latin typeface="Times New Roman" panose="02020603050405020304" pitchFamily="18" charset="0"/>
              </a:rPr>
              <a:t>X:=X+1;</a:t>
            </a:r>
          </a:p>
          <a:p>
            <a:pPr algn="just">
              <a:spcBef>
                <a:spcPct val="20000"/>
              </a:spcBef>
            </a:pPr>
            <a:r>
              <a:rPr lang="en-US" altLang="zh-CN" dirty="0">
                <a:latin typeface="宋体" panose="02010600030101010101" pitchFamily="2" charset="-122"/>
              </a:rPr>
              <a:t>  </a:t>
            </a:r>
            <a:r>
              <a:rPr lang="en-US" altLang="zh-CN" dirty="0">
                <a:latin typeface="Times New Roman" panose="02020603050405020304" pitchFamily="18" charset="0"/>
              </a:rPr>
              <a:t>END;</a:t>
            </a:r>
          </a:p>
        </p:txBody>
      </p:sp>
      <p:sp>
        <p:nvSpPr>
          <p:cNvPr id="46" name="Rectangle 7">
            <a:extLst>
              <a:ext uri="{FF2B5EF4-FFF2-40B4-BE49-F238E27FC236}">
                <a16:creationId xmlns:a16="http://schemas.microsoft.com/office/drawing/2014/main" id="{85445E3E-D58B-5B45-9600-C04B11CD8DBD}"/>
              </a:ext>
            </a:extLst>
          </p:cNvPr>
          <p:cNvSpPr txBox="1">
            <a:spLocks noChangeArrowheads="1"/>
          </p:cNvSpPr>
          <p:nvPr/>
        </p:nvSpPr>
        <p:spPr>
          <a:xfrm>
            <a:off x="761512" y="5807768"/>
            <a:ext cx="6383883" cy="6244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latin typeface="Times New Roman" panose="02020603050405020304" pitchFamily="18" charset="0"/>
              </a:rPr>
              <a:t>下面，我们按照不同的覆盖标准，对该程序段进行测试</a:t>
            </a:r>
            <a:endParaRPr lang="en-US" altLang="zh-CN" sz="1800" dirty="0">
              <a:solidFill>
                <a:srgbClr val="000000"/>
              </a:solidFill>
              <a:latin typeface="Microsoft YaHei" panose="020B0503020204020204" pitchFamily="34" charset="-122"/>
              <a:ea typeface="Microsoft YaHei"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6091481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fade">
                                      <p:cBhvr>
                                        <p:cTn id="18" dur="1000"/>
                                        <p:tgtEl>
                                          <p:spTgt spid="25"/>
                                        </p:tgtEl>
                                      </p:cBhvr>
                                    </p:animEffect>
                                    <p:anim calcmode="lin" valueType="num">
                                      <p:cBhvr>
                                        <p:cTn id="19" dur="1000" fill="hold"/>
                                        <p:tgtEl>
                                          <p:spTgt spid="25"/>
                                        </p:tgtEl>
                                        <p:attrNameLst>
                                          <p:attrName>ppt_x</p:attrName>
                                        </p:attrNameLst>
                                      </p:cBhvr>
                                      <p:tavLst>
                                        <p:tav tm="0">
                                          <p:val>
                                            <p:strVal val="#ppt_x"/>
                                          </p:val>
                                        </p:tav>
                                        <p:tav tm="100000">
                                          <p:val>
                                            <p:strVal val="#ppt_x"/>
                                          </p:val>
                                        </p:tav>
                                      </p:tavLst>
                                    </p:anim>
                                    <p:anim calcmode="lin" valueType="num">
                                      <p:cBhvr>
                                        <p:cTn id="20" dur="1000" fill="hold"/>
                                        <p:tgtEl>
                                          <p:spTgt spid="25"/>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grpId="0" nodeType="after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1000"/>
                                        <p:tgtEl>
                                          <p:spTgt spid="46"/>
                                        </p:tgtEl>
                                      </p:cBhvr>
                                    </p:animEffect>
                                    <p:anim calcmode="lin" valueType="num">
                                      <p:cBhvr>
                                        <p:cTn id="25" dur="1000" fill="hold"/>
                                        <p:tgtEl>
                                          <p:spTgt spid="46"/>
                                        </p:tgtEl>
                                        <p:attrNameLst>
                                          <p:attrName>ppt_x</p:attrName>
                                        </p:attrNameLst>
                                      </p:cBhvr>
                                      <p:tavLst>
                                        <p:tav tm="0">
                                          <p:val>
                                            <p:strVal val="#ppt_x"/>
                                          </p:val>
                                        </p:tav>
                                        <p:tav tm="100000">
                                          <p:val>
                                            <p:strVal val="#ppt_x"/>
                                          </p:val>
                                        </p:tav>
                                      </p:tavLst>
                                    </p:anim>
                                    <p:anim calcmode="lin" valueType="num">
                                      <p:cBhvr>
                                        <p:cTn id="26"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p:bldP spid="46"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45" name="矩形 44">
            <a:extLst>
              <a:ext uri="{FF2B5EF4-FFF2-40B4-BE49-F238E27FC236}">
                <a16:creationId xmlns:a16="http://schemas.microsoft.com/office/drawing/2014/main" id="{40B7F3A3-D1BC-E743-AF53-63B1795334C7}"/>
              </a:ext>
            </a:extLst>
          </p:cNvPr>
          <p:cNvSpPr/>
          <p:nvPr/>
        </p:nvSpPr>
        <p:spPr>
          <a:xfrm>
            <a:off x="1228905" y="4664772"/>
            <a:ext cx="2736257" cy="701731"/>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设计测试用例：</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en-US" altLang="zh-CN" dirty="0">
                <a:solidFill>
                  <a:schemeClr val="accent5">
                    <a:lumMod val="75000"/>
                  </a:schemeClr>
                </a:solidFill>
                <a:highlight>
                  <a:srgbClr val="FFFF00"/>
                </a:highlight>
                <a:latin typeface="Times New Roman" panose="02020603050405020304" pitchFamily="18" charset="0"/>
              </a:rPr>
              <a:t>[</a:t>
            </a:r>
            <a:r>
              <a:rPr lang="zh-CN" altLang="en-US" dirty="0">
                <a:solidFill>
                  <a:schemeClr val="accent5">
                    <a:lumMod val="75000"/>
                  </a:schemeClr>
                </a:solidFill>
                <a:highlight>
                  <a:srgbClr val="FFFF00"/>
                </a:highlight>
                <a:latin typeface="Times New Roman" panose="02020603050405020304" pitchFamily="18" charset="0"/>
              </a:rPr>
              <a:t>输入</a:t>
            </a:r>
            <a:r>
              <a:rPr lang="en-US" altLang="zh-CN" dirty="0">
                <a:solidFill>
                  <a:schemeClr val="accent5">
                    <a:lumMod val="75000"/>
                  </a:schemeClr>
                </a:solidFill>
                <a:highlight>
                  <a:srgbClr val="FFFF00"/>
                </a:highlight>
                <a:latin typeface="Times New Roman" panose="02020603050405020304" pitchFamily="18" charset="0"/>
              </a:rPr>
              <a:t>(A,</a:t>
            </a:r>
            <a:r>
              <a:rPr lang="zh-CN" altLang="en-US" dirty="0">
                <a:solidFill>
                  <a:schemeClr val="accent5">
                    <a:lumMod val="75000"/>
                  </a:schemeClr>
                </a:solidFill>
                <a:highlight>
                  <a:srgbClr val="FFFF00"/>
                </a:highlight>
                <a:latin typeface="Times New Roman" panose="02020603050405020304" pitchFamily="18" charset="0"/>
              </a:rPr>
              <a:t> </a:t>
            </a:r>
            <a:r>
              <a:rPr lang="en-US" altLang="zh-CN" dirty="0">
                <a:solidFill>
                  <a:schemeClr val="accent5">
                    <a:lumMod val="75000"/>
                  </a:schemeClr>
                </a:solidFill>
                <a:highlight>
                  <a:srgbClr val="FFFF00"/>
                </a:highlight>
                <a:latin typeface="Times New Roman" panose="02020603050405020304" pitchFamily="18" charset="0"/>
              </a:rPr>
              <a:t>B,</a:t>
            </a:r>
            <a:r>
              <a:rPr lang="zh-CN" altLang="en-US" dirty="0">
                <a:solidFill>
                  <a:schemeClr val="accent5">
                    <a:lumMod val="75000"/>
                  </a:schemeClr>
                </a:solidFill>
                <a:highlight>
                  <a:srgbClr val="FFFF00"/>
                </a:highlight>
                <a:latin typeface="Times New Roman" panose="02020603050405020304" pitchFamily="18" charset="0"/>
              </a:rPr>
              <a:t> </a:t>
            </a:r>
            <a:r>
              <a:rPr lang="en-US" altLang="zh-CN" dirty="0">
                <a:solidFill>
                  <a:schemeClr val="accent5">
                    <a:lumMod val="75000"/>
                  </a:schemeClr>
                </a:solidFill>
                <a:highlight>
                  <a:srgbClr val="FFFF00"/>
                </a:highlight>
                <a:latin typeface="Times New Roman" panose="02020603050405020304" pitchFamily="18" charset="0"/>
              </a:rPr>
              <a:t>X),</a:t>
            </a:r>
            <a:r>
              <a:rPr lang="zh-CN" altLang="en-US" dirty="0">
                <a:solidFill>
                  <a:schemeClr val="accent5">
                    <a:lumMod val="75000"/>
                  </a:schemeClr>
                </a:solidFill>
                <a:highlight>
                  <a:srgbClr val="FFFF00"/>
                </a:highlight>
                <a:latin typeface="Times New Roman" panose="02020603050405020304" pitchFamily="18" charset="0"/>
              </a:rPr>
              <a:t>  输出</a:t>
            </a:r>
            <a:r>
              <a:rPr lang="en-US" altLang="zh-CN" dirty="0">
                <a:solidFill>
                  <a:schemeClr val="accent5">
                    <a:lumMod val="75000"/>
                  </a:schemeClr>
                </a:solidFill>
                <a:highlight>
                  <a:srgbClr val="FFFF00"/>
                </a:highlight>
                <a:latin typeface="Times New Roman" panose="02020603050405020304" pitchFamily="18" charset="0"/>
              </a:rPr>
              <a:t>(X)]</a:t>
            </a:r>
          </a:p>
        </p:txBody>
      </p:sp>
      <p:sp>
        <p:nvSpPr>
          <p:cNvPr id="48" name="矩形 47">
            <a:extLst>
              <a:ext uri="{FF2B5EF4-FFF2-40B4-BE49-F238E27FC236}">
                <a16:creationId xmlns:a16="http://schemas.microsoft.com/office/drawing/2014/main" id="{78AF8B1A-9F30-E849-9817-57F9A3F7D29C}"/>
              </a:ext>
            </a:extLst>
          </p:cNvPr>
          <p:cNvSpPr/>
          <p:nvPr/>
        </p:nvSpPr>
        <p:spPr>
          <a:xfrm>
            <a:off x="1014879" y="1986848"/>
            <a:ext cx="4572000" cy="2363724"/>
          </a:xfrm>
          <a:prstGeom prst="rect">
            <a:avLst/>
          </a:prstGeom>
        </p:spPr>
        <p:txBody>
          <a:bodyPr>
            <a:spAutoFit/>
          </a:bodyPr>
          <a:lstStyle/>
          <a:p>
            <a:pPr algn="just">
              <a:spcBef>
                <a:spcPct val="20000"/>
              </a:spcBef>
            </a:pPr>
            <a:r>
              <a:rPr lang="en-US" altLang="zh-CN" dirty="0">
                <a:latin typeface="Times New Roman" panose="02020603050405020304" pitchFamily="18" charset="0"/>
              </a:rPr>
              <a:t>Procedure EX(A,</a:t>
            </a:r>
            <a:r>
              <a:rPr lang="zh-CN" altLang="en-US" dirty="0">
                <a:latin typeface="Times New Roman" panose="02020603050405020304" pitchFamily="18" charset="0"/>
              </a:rPr>
              <a:t> </a:t>
            </a:r>
            <a:r>
              <a:rPr lang="en-US" altLang="zh-CN" dirty="0">
                <a:latin typeface="Times New Roman" panose="02020603050405020304" pitchFamily="18" charset="0"/>
              </a:rPr>
              <a:t>B,</a:t>
            </a:r>
            <a:r>
              <a:rPr lang="zh-CN" altLang="en-US" dirty="0">
                <a:latin typeface="Times New Roman" panose="02020603050405020304" pitchFamily="18" charset="0"/>
              </a:rPr>
              <a:t> </a:t>
            </a:r>
            <a:r>
              <a:rPr lang="en-US" altLang="zh-CN" dirty="0">
                <a:latin typeface="Times New Roman" panose="02020603050405020304" pitchFamily="18" charset="0"/>
              </a:rPr>
              <a:t>X:REAL);</a:t>
            </a:r>
            <a:endParaRPr lang="zh-CN" altLang="en-US" dirty="0">
              <a:latin typeface="Times New Roman" panose="02020603050405020304" pitchFamily="18" charset="0"/>
            </a:endParaRP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BEGIN</a:t>
            </a:r>
          </a:p>
          <a:p>
            <a:pPr algn="just">
              <a:spcBef>
                <a:spcPct val="20000"/>
              </a:spcBef>
            </a:pPr>
            <a:r>
              <a:rPr lang="en-US" altLang="zh-CN" dirty="0">
                <a:latin typeface="Times New Roman" panose="02020603050405020304" pitchFamily="18" charset="0"/>
              </a:rPr>
              <a:t>      IF</a:t>
            </a:r>
            <a:r>
              <a:rPr lang="zh-CN" altLang="en-US" dirty="0">
                <a:latin typeface="Times New Roman" panose="02020603050405020304" pitchFamily="18" charset="0"/>
              </a:rPr>
              <a:t> </a:t>
            </a:r>
            <a:r>
              <a:rPr lang="en-US" altLang="zh-CN" dirty="0">
                <a:latin typeface="Times New Roman" panose="02020603050405020304" pitchFamily="18" charset="0"/>
              </a:rPr>
              <a:t>(A&gt;1) AND (B=0)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X:=X/A</a:t>
            </a:r>
          </a:p>
          <a:p>
            <a:pPr algn="just">
              <a:spcBef>
                <a:spcPct val="20000"/>
              </a:spcBef>
            </a:pPr>
            <a:r>
              <a:rPr lang="en-US" altLang="zh-CN" dirty="0">
                <a:latin typeface="Times New Roman" panose="02020603050405020304" pitchFamily="18" charset="0"/>
              </a:rPr>
              <a:t>      IF (A=2) OR (X&gt;1)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X:=X+1</a:t>
            </a:r>
          </a:p>
          <a:p>
            <a:pPr algn="just">
              <a:spcBef>
                <a:spcPct val="20000"/>
              </a:spcBef>
            </a:pPr>
            <a:r>
              <a:rPr lang="en-US" altLang="zh-CN" dirty="0">
                <a:latin typeface="宋体" panose="02010600030101010101" pitchFamily="2" charset="-122"/>
              </a:rPr>
              <a:t>  </a:t>
            </a:r>
            <a:r>
              <a:rPr lang="en-US" altLang="zh-CN" dirty="0">
                <a:latin typeface="Times New Roman" panose="02020603050405020304" pitchFamily="18" charset="0"/>
              </a:rPr>
              <a:t>END</a:t>
            </a:r>
          </a:p>
        </p:txBody>
      </p:sp>
      <p:grpSp>
        <p:nvGrpSpPr>
          <p:cNvPr id="5" name="组合 4">
            <a:extLst>
              <a:ext uri="{FF2B5EF4-FFF2-40B4-BE49-F238E27FC236}">
                <a16:creationId xmlns:a16="http://schemas.microsoft.com/office/drawing/2014/main" id="{E31783D9-E266-1840-A6F1-57AB7EDEE0FC}"/>
              </a:ext>
            </a:extLst>
          </p:cNvPr>
          <p:cNvGrpSpPr/>
          <p:nvPr/>
        </p:nvGrpSpPr>
        <p:grpSpPr>
          <a:xfrm>
            <a:off x="5384948" y="1975535"/>
            <a:ext cx="3097213" cy="3988929"/>
            <a:chOff x="5384948" y="1975535"/>
            <a:chExt cx="3097213" cy="3988929"/>
          </a:xfrm>
        </p:grpSpPr>
        <p:sp>
          <p:nvSpPr>
            <p:cNvPr id="56" name="Line 9">
              <a:extLst>
                <a:ext uri="{FF2B5EF4-FFF2-40B4-BE49-F238E27FC236}">
                  <a16:creationId xmlns:a16="http://schemas.microsoft.com/office/drawing/2014/main" id="{E29EF0BF-4447-BF4D-AC75-2C36A1F395E5}"/>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57" name="AutoShape 10">
              <a:extLst>
                <a:ext uri="{FF2B5EF4-FFF2-40B4-BE49-F238E27FC236}">
                  <a16:creationId xmlns:a16="http://schemas.microsoft.com/office/drawing/2014/main" id="{BE524199-1DB3-284A-8A4F-F3110779F724}"/>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58" name="Line 11">
              <a:extLst>
                <a:ext uri="{FF2B5EF4-FFF2-40B4-BE49-F238E27FC236}">
                  <a16:creationId xmlns:a16="http://schemas.microsoft.com/office/drawing/2014/main" id="{16BB7C98-2B96-1340-BD8F-2644B1D8570B}"/>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59" name="Rectangle 12">
              <a:extLst>
                <a:ext uri="{FF2B5EF4-FFF2-40B4-BE49-F238E27FC236}">
                  <a16:creationId xmlns:a16="http://schemas.microsoft.com/office/drawing/2014/main" id="{8C75A3D3-E35C-374E-B0BB-F2A812F86764}"/>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60" name="Line 13">
              <a:extLst>
                <a:ext uri="{FF2B5EF4-FFF2-40B4-BE49-F238E27FC236}">
                  <a16:creationId xmlns:a16="http://schemas.microsoft.com/office/drawing/2014/main" id="{D9532517-E6B3-4E45-B7FA-8CDFADEE784E}"/>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1" name="Line 14">
              <a:extLst>
                <a:ext uri="{FF2B5EF4-FFF2-40B4-BE49-F238E27FC236}">
                  <a16:creationId xmlns:a16="http://schemas.microsoft.com/office/drawing/2014/main" id="{67261348-1B74-4748-AB74-9F53AE385640}"/>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2" name="Line 15">
              <a:extLst>
                <a:ext uri="{FF2B5EF4-FFF2-40B4-BE49-F238E27FC236}">
                  <a16:creationId xmlns:a16="http://schemas.microsoft.com/office/drawing/2014/main" id="{B8DFA053-E27D-2C4F-B7D6-7317DE7239FA}"/>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3" name="Line 16">
              <a:extLst>
                <a:ext uri="{FF2B5EF4-FFF2-40B4-BE49-F238E27FC236}">
                  <a16:creationId xmlns:a16="http://schemas.microsoft.com/office/drawing/2014/main" id="{DDCEB25A-66C0-1049-9FF1-02F6E8E8041A}"/>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4" name="AutoShape 17">
              <a:extLst>
                <a:ext uri="{FF2B5EF4-FFF2-40B4-BE49-F238E27FC236}">
                  <a16:creationId xmlns:a16="http://schemas.microsoft.com/office/drawing/2014/main" id="{BA6B8DA3-94A4-6F49-A7AC-614B7377AB2C}"/>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65" name="Rectangle 18">
              <a:extLst>
                <a:ext uri="{FF2B5EF4-FFF2-40B4-BE49-F238E27FC236}">
                  <a16:creationId xmlns:a16="http://schemas.microsoft.com/office/drawing/2014/main" id="{96766488-32C1-B047-B805-DD80BBE03CD7}"/>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66" name="Line 19">
              <a:extLst>
                <a:ext uri="{FF2B5EF4-FFF2-40B4-BE49-F238E27FC236}">
                  <a16:creationId xmlns:a16="http://schemas.microsoft.com/office/drawing/2014/main" id="{9C1559F7-638E-3C43-B7B4-8D002BCF4655}"/>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7" name="Line 20">
              <a:extLst>
                <a:ext uri="{FF2B5EF4-FFF2-40B4-BE49-F238E27FC236}">
                  <a16:creationId xmlns:a16="http://schemas.microsoft.com/office/drawing/2014/main" id="{6086C7B0-B618-094E-8C35-FA64CBEAE324}"/>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8" name="Line 21">
              <a:extLst>
                <a:ext uri="{FF2B5EF4-FFF2-40B4-BE49-F238E27FC236}">
                  <a16:creationId xmlns:a16="http://schemas.microsoft.com/office/drawing/2014/main" id="{ED4ADAAF-9685-F842-9D63-B6AC9422CC60}"/>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9" name="Text Box 23">
              <a:extLst>
                <a:ext uri="{FF2B5EF4-FFF2-40B4-BE49-F238E27FC236}">
                  <a16:creationId xmlns:a16="http://schemas.microsoft.com/office/drawing/2014/main" id="{513CA9E6-1670-C243-AF31-8BCDC8B567FB}"/>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70" name="Text Box 24">
              <a:extLst>
                <a:ext uri="{FF2B5EF4-FFF2-40B4-BE49-F238E27FC236}">
                  <a16:creationId xmlns:a16="http://schemas.microsoft.com/office/drawing/2014/main" id="{B2541105-5421-E345-AC2D-29F6619728D6}"/>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71" name="Text Box 25">
              <a:extLst>
                <a:ext uri="{FF2B5EF4-FFF2-40B4-BE49-F238E27FC236}">
                  <a16:creationId xmlns:a16="http://schemas.microsoft.com/office/drawing/2014/main" id="{63028F03-1DB2-874B-B929-962654D8628D}"/>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72" name="Text Box 26">
              <a:extLst>
                <a:ext uri="{FF2B5EF4-FFF2-40B4-BE49-F238E27FC236}">
                  <a16:creationId xmlns:a16="http://schemas.microsoft.com/office/drawing/2014/main" id="{5C40CD9C-8648-D746-8608-2646E1687BD7}"/>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73" name="Line 27">
              <a:extLst>
                <a:ext uri="{FF2B5EF4-FFF2-40B4-BE49-F238E27FC236}">
                  <a16:creationId xmlns:a16="http://schemas.microsoft.com/office/drawing/2014/main" id="{E64D2C93-8590-EC47-9DEF-AE66B4AC111B}"/>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74" name="圆角矩形 73">
              <a:extLst>
                <a:ext uri="{FF2B5EF4-FFF2-40B4-BE49-F238E27FC236}">
                  <a16:creationId xmlns:a16="http://schemas.microsoft.com/office/drawing/2014/main" id="{7736D35F-0688-7C49-A5B6-C6A19CD9BCB7}"/>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75" name="圆角矩形 74">
              <a:extLst>
                <a:ext uri="{FF2B5EF4-FFF2-40B4-BE49-F238E27FC236}">
                  <a16:creationId xmlns:a16="http://schemas.microsoft.com/office/drawing/2014/main" id="{43445BE8-5BE0-304A-BBE7-60E99BEFAC6C}"/>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76" name="Line 22">
              <a:extLst>
                <a:ext uri="{FF2B5EF4-FFF2-40B4-BE49-F238E27FC236}">
                  <a16:creationId xmlns:a16="http://schemas.microsoft.com/office/drawing/2014/main" id="{EC4CBFA9-DC75-C543-A8EE-7ABC338E132B}"/>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77" name="文本框 76">
              <a:extLst>
                <a:ext uri="{FF2B5EF4-FFF2-40B4-BE49-F238E27FC236}">
                  <a16:creationId xmlns:a16="http://schemas.microsoft.com/office/drawing/2014/main" id="{71911DB3-C525-C846-B139-1C89CF59E5AB}"/>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78" name="文本框 77">
              <a:extLst>
                <a:ext uri="{FF2B5EF4-FFF2-40B4-BE49-F238E27FC236}">
                  <a16:creationId xmlns:a16="http://schemas.microsoft.com/office/drawing/2014/main" id="{DF5E3E0B-A1D9-8C44-8B65-C80AE196FB24}"/>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79" name="文本框 78">
              <a:extLst>
                <a:ext uri="{FF2B5EF4-FFF2-40B4-BE49-F238E27FC236}">
                  <a16:creationId xmlns:a16="http://schemas.microsoft.com/office/drawing/2014/main" id="{C3E5E877-BB80-C049-A8F5-19853212C28D}"/>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80" name="文本框 79">
              <a:extLst>
                <a:ext uri="{FF2B5EF4-FFF2-40B4-BE49-F238E27FC236}">
                  <a16:creationId xmlns:a16="http://schemas.microsoft.com/office/drawing/2014/main" id="{15775C24-BD71-AB44-9246-F6285372A9C7}"/>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81" name="文本框 80">
              <a:extLst>
                <a:ext uri="{FF2B5EF4-FFF2-40B4-BE49-F238E27FC236}">
                  <a16:creationId xmlns:a16="http://schemas.microsoft.com/office/drawing/2014/main" id="{25778F40-A4D5-864C-A131-265589D3E0BA}"/>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82" name="文本框 81">
              <a:extLst>
                <a:ext uri="{FF2B5EF4-FFF2-40B4-BE49-F238E27FC236}">
                  <a16:creationId xmlns:a16="http://schemas.microsoft.com/office/drawing/2014/main" id="{C6812D75-EC48-4B47-A475-5A88120DF3E9}"/>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Tree>
    <p:extLst>
      <p:ext uri="{BB962C8B-B14F-4D97-AF65-F5344CB8AC3E}">
        <p14:creationId xmlns:p14="http://schemas.microsoft.com/office/powerpoint/2010/main" val="5389314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anim calcmode="lin" valueType="num">
                                      <p:cBhvr>
                                        <p:cTn id="8" dur="1000" fill="hold"/>
                                        <p:tgtEl>
                                          <p:spTgt spid="45"/>
                                        </p:tgtEl>
                                        <p:attrNameLst>
                                          <p:attrName>ppt_x</p:attrName>
                                        </p:attrNameLst>
                                      </p:cBhvr>
                                      <p:tavLst>
                                        <p:tav tm="0">
                                          <p:val>
                                            <p:strVal val="#ppt_x"/>
                                          </p:val>
                                        </p:tav>
                                        <p:tav tm="100000">
                                          <p:val>
                                            <p:strVal val="#ppt_x"/>
                                          </p:val>
                                        </p:tav>
                                      </p:tavLst>
                                    </p:anim>
                                    <p:anim calcmode="lin" valueType="num">
                                      <p:cBhvr>
                                        <p:cTn id="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a:t>
            </a:r>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a:t>
            </a:r>
            <a:r>
              <a:rPr lang="zh-CN" altLang="zh-CN" sz="2400" dirty="0">
                <a:solidFill>
                  <a:srgbClr val="CC6600"/>
                </a:solidFill>
                <a:sym typeface="微软雅黑" panose="020B0503020204020204" pitchFamily="34" charset="-122"/>
              </a:rPr>
              <a:t>语句覆盖</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语句覆盖是指设计足够的测试用例，使被测程序中</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每个语句至少执行一次</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98860141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46" name="矩形 45">
            <a:extLst>
              <a:ext uri="{FF2B5EF4-FFF2-40B4-BE49-F238E27FC236}">
                <a16:creationId xmlns:a16="http://schemas.microsoft.com/office/drawing/2014/main" id="{DDD241EC-DCD8-8545-A98E-0E44FA9D355E}"/>
              </a:ext>
            </a:extLst>
          </p:cNvPr>
          <p:cNvSpPr/>
          <p:nvPr/>
        </p:nvSpPr>
        <p:spPr>
          <a:xfrm>
            <a:off x="1228905" y="4664772"/>
            <a:ext cx="4357973" cy="701731"/>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）语句覆盖：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用例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，覆盖路径 </a:t>
            </a:r>
            <a:r>
              <a:rPr lang="en-US" altLang="zh-CN" dirty="0" err="1">
                <a:solidFill>
                  <a:srgbClr val="FF0000"/>
                </a:solidFill>
                <a:latin typeface="Times New Roman" panose="02020603050405020304" pitchFamily="18" charset="0"/>
              </a:rPr>
              <a:t>sacbed</a:t>
            </a:r>
            <a:endParaRPr lang="en-US" altLang="zh-CN" dirty="0">
              <a:solidFill>
                <a:srgbClr val="FF0000"/>
              </a:solidFill>
              <a:latin typeface="Times New Roman" panose="02020603050405020304" pitchFamily="18" charset="0"/>
            </a:endParaRPr>
          </a:p>
        </p:txBody>
      </p:sp>
      <p:sp>
        <p:nvSpPr>
          <p:cNvPr id="52" name="云形 51">
            <a:extLst>
              <a:ext uri="{FF2B5EF4-FFF2-40B4-BE49-F238E27FC236}">
                <a16:creationId xmlns:a16="http://schemas.microsoft.com/office/drawing/2014/main" id="{235069B6-6F10-8E4F-8CC6-EFF9E18C039C}"/>
              </a:ext>
            </a:extLst>
          </p:cNvPr>
          <p:cNvSpPr/>
          <p:nvPr/>
        </p:nvSpPr>
        <p:spPr>
          <a:xfrm>
            <a:off x="4564868" y="412380"/>
            <a:ext cx="3910161" cy="119659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1"/>
                </a:solidFill>
                <a:latin typeface="微软雅黑" panose="020B0503020204020204" pitchFamily="34" charset="-122"/>
                <a:sym typeface="微软雅黑" panose="020B0503020204020204" pitchFamily="34" charset="-122"/>
              </a:rPr>
              <a:t>每个语句至少执行一次</a:t>
            </a:r>
            <a:endParaRPr kumimoji="1" lang="zh-CN" altLang="en-US" dirty="0">
              <a:solidFill>
                <a:schemeClr val="bg1"/>
              </a:solidFill>
              <a:latin typeface="Kaiti SC" panose="02010600040101010101" pitchFamily="2" charset="-122"/>
              <a:ea typeface="Kaiti SC" panose="02010600040101010101" pitchFamily="2" charset="-122"/>
            </a:endParaRPr>
          </a:p>
        </p:txBody>
      </p:sp>
      <p:grpSp>
        <p:nvGrpSpPr>
          <p:cNvPr id="55" name="组合 54">
            <a:extLst>
              <a:ext uri="{FF2B5EF4-FFF2-40B4-BE49-F238E27FC236}">
                <a16:creationId xmlns:a16="http://schemas.microsoft.com/office/drawing/2014/main" id="{749DAC4F-C743-1343-AF35-B4F09F5A7207}"/>
              </a:ext>
            </a:extLst>
          </p:cNvPr>
          <p:cNvGrpSpPr/>
          <p:nvPr/>
        </p:nvGrpSpPr>
        <p:grpSpPr>
          <a:xfrm>
            <a:off x="5384948" y="1975535"/>
            <a:ext cx="3097213" cy="3988929"/>
            <a:chOff x="5384948" y="1975535"/>
            <a:chExt cx="3097213" cy="3988929"/>
          </a:xfrm>
        </p:grpSpPr>
        <p:sp>
          <p:nvSpPr>
            <p:cNvPr id="56" name="Line 9">
              <a:extLst>
                <a:ext uri="{FF2B5EF4-FFF2-40B4-BE49-F238E27FC236}">
                  <a16:creationId xmlns:a16="http://schemas.microsoft.com/office/drawing/2014/main" id="{09DD2898-CA5C-ED4C-BE7D-3C7F4B52B7D9}"/>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57" name="AutoShape 10">
              <a:extLst>
                <a:ext uri="{FF2B5EF4-FFF2-40B4-BE49-F238E27FC236}">
                  <a16:creationId xmlns:a16="http://schemas.microsoft.com/office/drawing/2014/main" id="{FF7DA380-0E90-ED47-B47A-7D8A8185E5E2}"/>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58" name="Line 11">
              <a:extLst>
                <a:ext uri="{FF2B5EF4-FFF2-40B4-BE49-F238E27FC236}">
                  <a16:creationId xmlns:a16="http://schemas.microsoft.com/office/drawing/2014/main" id="{4A09818E-79E0-CF40-B2D6-CE82F4F87B00}"/>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59" name="Rectangle 12">
              <a:extLst>
                <a:ext uri="{FF2B5EF4-FFF2-40B4-BE49-F238E27FC236}">
                  <a16:creationId xmlns:a16="http://schemas.microsoft.com/office/drawing/2014/main" id="{CB9F88E5-93AD-5344-86B5-2C817342FDE4}"/>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60" name="Line 13">
              <a:extLst>
                <a:ext uri="{FF2B5EF4-FFF2-40B4-BE49-F238E27FC236}">
                  <a16:creationId xmlns:a16="http://schemas.microsoft.com/office/drawing/2014/main" id="{61617DB8-8A53-3342-8276-56FF2A0093AF}"/>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1" name="Line 14">
              <a:extLst>
                <a:ext uri="{FF2B5EF4-FFF2-40B4-BE49-F238E27FC236}">
                  <a16:creationId xmlns:a16="http://schemas.microsoft.com/office/drawing/2014/main" id="{413498DE-2ECE-A648-9CCB-0D111FFE1F2B}"/>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2" name="Line 15">
              <a:extLst>
                <a:ext uri="{FF2B5EF4-FFF2-40B4-BE49-F238E27FC236}">
                  <a16:creationId xmlns:a16="http://schemas.microsoft.com/office/drawing/2014/main" id="{1FE9B0F0-57F3-2244-8B80-8CD4B0B556BF}"/>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3" name="Line 16">
              <a:extLst>
                <a:ext uri="{FF2B5EF4-FFF2-40B4-BE49-F238E27FC236}">
                  <a16:creationId xmlns:a16="http://schemas.microsoft.com/office/drawing/2014/main" id="{1D89F4CF-2CB7-D74F-A503-AADE753561B5}"/>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4" name="AutoShape 17">
              <a:extLst>
                <a:ext uri="{FF2B5EF4-FFF2-40B4-BE49-F238E27FC236}">
                  <a16:creationId xmlns:a16="http://schemas.microsoft.com/office/drawing/2014/main" id="{F48EEC1E-76EF-344F-894B-3F12A8E3A818}"/>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65" name="Rectangle 18">
              <a:extLst>
                <a:ext uri="{FF2B5EF4-FFF2-40B4-BE49-F238E27FC236}">
                  <a16:creationId xmlns:a16="http://schemas.microsoft.com/office/drawing/2014/main" id="{C2448989-1DD2-C347-B001-7C4F62BB5EFD}"/>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66" name="Line 19">
              <a:extLst>
                <a:ext uri="{FF2B5EF4-FFF2-40B4-BE49-F238E27FC236}">
                  <a16:creationId xmlns:a16="http://schemas.microsoft.com/office/drawing/2014/main" id="{A644B4B0-385B-A844-A954-F692F2E4F588}"/>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7" name="Line 20">
              <a:extLst>
                <a:ext uri="{FF2B5EF4-FFF2-40B4-BE49-F238E27FC236}">
                  <a16:creationId xmlns:a16="http://schemas.microsoft.com/office/drawing/2014/main" id="{4456B215-F9CE-FE4A-9A66-B7A61F171EF6}"/>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8" name="Line 21">
              <a:extLst>
                <a:ext uri="{FF2B5EF4-FFF2-40B4-BE49-F238E27FC236}">
                  <a16:creationId xmlns:a16="http://schemas.microsoft.com/office/drawing/2014/main" id="{D686C2E3-4D9E-EE44-9B7E-4F469E29B47F}"/>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69" name="Text Box 23">
              <a:extLst>
                <a:ext uri="{FF2B5EF4-FFF2-40B4-BE49-F238E27FC236}">
                  <a16:creationId xmlns:a16="http://schemas.microsoft.com/office/drawing/2014/main" id="{21C305AE-58F7-AA4D-A401-4A0754CFF2F2}"/>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70" name="Text Box 24">
              <a:extLst>
                <a:ext uri="{FF2B5EF4-FFF2-40B4-BE49-F238E27FC236}">
                  <a16:creationId xmlns:a16="http://schemas.microsoft.com/office/drawing/2014/main" id="{7EBEFB8F-7D22-BE43-9AE6-A640F3919412}"/>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71" name="Text Box 25">
              <a:extLst>
                <a:ext uri="{FF2B5EF4-FFF2-40B4-BE49-F238E27FC236}">
                  <a16:creationId xmlns:a16="http://schemas.microsoft.com/office/drawing/2014/main" id="{05407FF7-1BDF-DC47-85B7-2FB5A6944ABA}"/>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72" name="Text Box 26">
              <a:extLst>
                <a:ext uri="{FF2B5EF4-FFF2-40B4-BE49-F238E27FC236}">
                  <a16:creationId xmlns:a16="http://schemas.microsoft.com/office/drawing/2014/main" id="{7A43DFCF-22B0-4E4D-8D1E-E5AB82B0F4B5}"/>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73" name="Line 27">
              <a:extLst>
                <a:ext uri="{FF2B5EF4-FFF2-40B4-BE49-F238E27FC236}">
                  <a16:creationId xmlns:a16="http://schemas.microsoft.com/office/drawing/2014/main" id="{CC38FC31-15EA-C94A-884F-05E3BEBF3C55}"/>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74" name="圆角矩形 73">
              <a:extLst>
                <a:ext uri="{FF2B5EF4-FFF2-40B4-BE49-F238E27FC236}">
                  <a16:creationId xmlns:a16="http://schemas.microsoft.com/office/drawing/2014/main" id="{0F54EEE4-23A2-5D49-8631-67D885EDF190}"/>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75" name="圆角矩形 74">
              <a:extLst>
                <a:ext uri="{FF2B5EF4-FFF2-40B4-BE49-F238E27FC236}">
                  <a16:creationId xmlns:a16="http://schemas.microsoft.com/office/drawing/2014/main" id="{54EC4BCF-4C87-DA4A-872F-E3DE3CD6CD24}"/>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76" name="Line 22">
              <a:extLst>
                <a:ext uri="{FF2B5EF4-FFF2-40B4-BE49-F238E27FC236}">
                  <a16:creationId xmlns:a16="http://schemas.microsoft.com/office/drawing/2014/main" id="{7EA368BC-0E2C-1740-824B-CC5DE9F519BF}"/>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77" name="文本框 76">
              <a:extLst>
                <a:ext uri="{FF2B5EF4-FFF2-40B4-BE49-F238E27FC236}">
                  <a16:creationId xmlns:a16="http://schemas.microsoft.com/office/drawing/2014/main" id="{E6CF5519-FBD6-B145-8BC7-DB4F8AC303C9}"/>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78" name="文本框 77">
              <a:extLst>
                <a:ext uri="{FF2B5EF4-FFF2-40B4-BE49-F238E27FC236}">
                  <a16:creationId xmlns:a16="http://schemas.microsoft.com/office/drawing/2014/main" id="{E85A31EE-BA33-2C4C-BAA4-52DD3CCC3C60}"/>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79" name="文本框 78">
              <a:extLst>
                <a:ext uri="{FF2B5EF4-FFF2-40B4-BE49-F238E27FC236}">
                  <a16:creationId xmlns:a16="http://schemas.microsoft.com/office/drawing/2014/main" id="{CCC6359B-ADFF-E44E-A5BA-0FC3F65FE02D}"/>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80" name="文本框 79">
              <a:extLst>
                <a:ext uri="{FF2B5EF4-FFF2-40B4-BE49-F238E27FC236}">
                  <a16:creationId xmlns:a16="http://schemas.microsoft.com/office/drawing/2014/main" id="{E22F6B1D-2669-8B48-8F78-845B183754A5}"/>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81" name="文本框 80">
              <a:extLst>
                <a:ext uri="{FF2B5EF4-FFF2-40B4-BE49-F238E27FC236}">
                  <a16:creationId xmlns:a16="http://schemas.microsoft.com/office/drawing/2014/main" id="{939543CF-2A89-D44E-A480-F43C76DC56B9}"/>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82" name="文本框 81">
              <a:extLst>
                <a:ext uri="{FF2B5EF4-FFF2-40B4-BE49-F238E27FC236}">
                  <a16:creationId xmlns:a16="http://schemas.microsoft.com/office/drawing/2014/main" id="{FB1B4F76-9DBD-BC46-BD6F-BB08CB6DD36A}"/>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
        <p:nvSpPr>
          <p:cNvPr id="83" name="矩形 82">
            <a:extLst>
              <a:ext uri="{FF2B5EF4-FFF2-40B4-BE49-F238E27FC236}">
                <a16:creationId xmlns:a16="http://schemas.microsoft.com/office/drawing/2014/main" id="{41A1D6DE-DE9B-0E4A-9F7C-2FAD45C32851}"/>
              </a:ext>
            </a:extLst>
          </p:cNvPr>
          <p:cNvSpPr/>
          <p:nvPr/>
        </p:nvSpPr>
        <p:spPr>
          <a:xfrm>
            <a:off x="1014879" y="1986848"/>
            <a:ext cx="4572000" cy="2363724"/>
          </a:xfrm>
          <a:prstGeom prst="rect">
            <a:avLst/>
          </a:prstGeom>
        </p:spPr>
        <p:txBody>
          <a:bodyPr>
            <a:spAutoFit/>
          </a:bodyPr>
          <a:lstStyle/>
          <a:p>
            <a:pPr algn="just">
              <a:spcBef>
                <a:spcPct val="20000"/>
              </a:spcBef>
            </a:pPr>
            <a:r>
              <a:rPr lang="en-US" altLang="zh-CN" dirty="0">
                <a:latin typeface="Times New Roman" panose="02020603050405020304" pitchFamily="18" charset="0"/>
              </a:rPr>
              <a:t>Procedure EX(A,</a:t>
            </a:r>
            <a:r>
              <a:rPr lang="zh-CN" altLang="en-US" dirty="0">
                <a:latin typeface="Times New Roman" panose="02020603050405020304" pitchFamily="18" charset="0"/>
              </a:rPr>
              <a:t> </a:t>
            </a:r>
            <a:r>
              <a:rPr lang="en-US" altLang="zh-CN" dirty="0">
                <a:latin typeface="Times New Roman" panose="02020603050405020304" pitchFamily="18" charset="0"/>
              </a:rPr>
              <a:t>B,</a:t>
            </a:r>
            <a:r>
              <a:rPr lang="zh-CN" altLang="en-US" dirty="0">
                <a:latin typeface="Times New Roman" panose="02020603050405020304" pitchFamily="18" charset="0"/>
              </a:rPr>
              <a:t> </a:t>
            </a:r>
            <a:r>
              <a:rPr lang="en-US" altLang="zh-CN" dirty="0">
                <a:latin typeface="Times New Roman" panose="02020603050405020304" pitchFamily="18" charset="0"/>
              </a:rPr>
              <a:t>X:REAL);</a:t>
            </a:r>
            <a:endParaRPr lang="zh-CN" altLang="en-US" dirty="0">
              <a:latin typeface="Times New Roman" panose="02020603050405020304" pitchFamily="18" charset="0"/>
            </a:endParaRP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BEGIN</a:t>
            </a:r>
          </a:p>
          <a:p>
            <a:pPr algn="just">
              <a:spcBef>
                <a:spcPct val="20000"/>
              </a:spcBef>
            </a:pPr>
            <a:r>
              <a:rPr lang="en-US" altLang="zh-CN" dirty="0">
                <a:latin typeface="Times New Roman" panose="02020603050405020304" pitchFamily="18" charset="0"/>
              </a:rPr>
              <a:t>      IF</a:t>
            </a:r>
            <a:r>
              <a:rPr lang="zh-CN" altLang="en-US" dirty="0">
                <a:latin typeface="Times New Roman" panose="02020603050405020304" pitchFamily="18" charset="0"/>
              </a:rPr>
              <a:t> </a:t>
            </a:r>
            <a:r>
              <a:rPr lang="en-US" altLang="zh-CN" dirty="0">
                <a:latin typeface="Times New Roman" panose="02020603050405020304" pitchFamily="18" charset="0"/>
              </a:rPr>
              <a:t>(A&gt;1) AND (B=0)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X:=X/A</a:t>
            </a:r>
          </a:p>
          <a:p>
            <a:pPr algn="just">
              <a:spcBef>
                <a:spcPct val="20000"/>
              </a:spcBef>
            </a:pPr>
            <a:r>
              <a:rPr lang="en-US" altLang="zh-CN" dirty="0">
                <a:latin typeface="Times New Roman" panose="02020603050405020304" pitchFamily="18" charset="0"/>
              </a:rPr>
              <a:t>      IF (A=2) OR (X&gt;1)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X:=X+1</a:t>
            </a:r>
          </a:p>
          <a:p>
            <a:pPr algn="just">
              <a:spcBef>
                <a:spcPct val="20000"/>
              </a:spcBef>
            </a:pPr>
            <a:r>
              <a:rPr lang="en-US" altLang="zh-CN" dirty="0">
                <a:latin typeface="宋体" panose="02010600030101010101" pitchFamily="2" charset="-122"/>
              </a:rPr>
              <a:t>  </a:t>
            </a:r>
            <a:r>
              <a:rPr lang="en-US" altLang="zh-CN" dirty="0">
                <a:latin typeface="Times New Roman" panose="02020603050405020304" pitchFamily="18" charset="0"/>
              </a:rPr>
              <a:t>END</a:t>
            </a:r>
          </a:p>
        </p:txBody>
      </p:sp>
    </p:spTree>
    <p:extLst>
      <p:ext uri="{BB962C8B-B14F-4D97-AF65-F5344CB8AC3E}">
        <p14:creationId xmlns:p14="http://schemas.microsoft.com/office/powerpoint/2010/main" val="3654514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a:t>
            </a:r>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）判定</a:t>
            </a:r>
            <a:r>
              <a:rPr lang="zh-CN" altLang="zh-CN" sz="2400" dirty="0">
                <a:solidFill>
                  <a:srgbClr val="CC6600"/>
                </a:solidFill>
                <a:sym typeface="微软雅黑" panose="020B0503020204020204" pitchFamily="34" charset="-122"/>
              </a:rPr>
              <a:t>覆盖</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执行足够的测试用例，使得被测试程序中每个语句至少执行一次，并且</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每个判定分支也至少执行一次</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即真假分支</a:t>
            </a:r>
            <a:r>
              <a:rPr lang="zh-CN" altLang="zh-CN" dirty="0"/>
              <a:t>均通过一次</a:t>
            </a:r>
            <a:r>
              <a:rPr lang="zh-CN" altLang="en-US" dirty="0"/>
              <a:t>）</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41055628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45" name="云形 44">
            <a:extLst>
              <a:ext uri="{FF2B5EF4-FFF2-40B4-BE49-F238E27FC236}">
                <a16:creationId xmlns:a16="http://schemas.microsoft.com/office/drawing/2014/main" id="{BB6F47B3-031B-D54E-B5C4-416EDA42D04B}"/>
              </a:ext>
            </a:extLst>
          </p:cNvPr>
          <p:cNvSpPr/>
          <p:nvPr/>
        </p:nvSpPr>
        <p:spPr>
          <a:xfrm>
            <a:off x="4564869" y="412380"/>
            <a:ext cx="3859458" cy="119659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1"/>
                </a:solidFill>
                <a:latin typeface="微软雅黑" panose="020B0503020204020204" pitchFamily="34" charset="-122"/>
                <a:sym typeface="微软雅黑" panose="020B0503020204020204" pitchFamily="34" charset="-122"/>
              </a:rPr>
              <a:t>每个语句至少执行一次</a:t>
            </a:r>
            <a:endParaRPr lang="en-US" altLang="zh-CN" dirty="0">
              <a:solidFill>
                <a:schemeClr val="bg1"/>
              </a:solidFill>
              <a:latin typeface="微软雅黑" panose="020B0503020204020204" pitchFamily="34" charset="-122"/>
              <a:sym typeface="微软雅黑" panose="020B0503020204020204" pitchFamily="34" charset="-122"/>
            </a:endParaRPr>
          </a:p>
          <a:p>
            <a:pPr algn="ctr"/>
            <a:r>
              <a:rPr lang="zh-CN" altLang="zh-CN" dirty="0">
                <a:solidFill>
                  <a:schemeClr val="bg1"/>
                </a:solidFill>
                <a:latin typeface="微软雅黑" panose="020B0503020204020204" pitchFamily="34" charset="-122"/>
                <a:sym typeface="微软雅黑" panose="020B0503020204020204" pitchFamily="34" charset="-122"/>
              </a:rPr>
              <a:t>每个判定分支也至少执行一次</a:t>
            </a:r>
            <a:endParaRPr lang="zh-CN" altLang="en-US" dirty="0">
              <a:solidFill>
                <a:schemeClr val="bg1"/>
              </a:solidFill>
              <a:latin typeface="微软雅黑" panose="020B0503020204020204" pitchFamily="34" charset="-122"/>
            </a:endParaRPr>
          </a:p>
        </p:txBody>
      </p:sp>
      <p:sp>
        <p:nvSpPr>
          <p:cNvPr id="78" name="矩形 77">
            <a:extLst>
              <a:ext uri="{FF2B5EF4-FFF2-40B4-BE49-F238E27FC236}">
                <a16:creationId xmlns:a16="http://schemas.microsoft.com/office/drawing/2014/main" id="{E474D318-0A1D-7841-8046-230E0A1B7293}"/>
              </a:ext>
            </a:extLst>
          </p:cNvPr>
          <p:cNvSpPr/>
          <p:nvPr/>
        </p:nvSpPr>
        <p:spPr>
          <a:xfrm>
            <a:off x="1013549" y="4418921"/>
            <a:ext cx="4357973" cy="2215991"/>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）判定覆盖：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方案</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sacbed</a:t>
            </a:r>
            <a:endParaRPr lang="en-US" altLang="zh-CN" sz="2000" dirty="0">
              <a:solidFill>
                <a:schemeClr val="tx2"/>
              </a:solidFill>
              <a:latin typeface="+mj-ea"/>
            </a:endParaRPr>
          </a:p>
          <a:p>
            <a:pPr algn="just">
              <a:spcBef>
                <a:spcPct val="20000"/>
              </a:spcBef>
            </a:pP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sabd</a:t>
            </a:r>
            <a:endParaRPr lang="en-US" altLang="zh-CN" sz="2000" dirty="0">
              <a:solidFill>
                <a:srgbClr val="FF0000"/>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方案</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sacbd</a:t>
            </a:r>
            <a:endParaRPr lang="en-US" altLang="zh-CN" sz="2000" dirty="0">
              <a:solidFill>
                <a:schemeClr val="tx2"/>
              </a:solidFill>
              <a:latin typeface="+mj-ea"/>
            </a:endParaRPr>
          </a:p>
          <a:p>
            <a:pPr algn="just">
              <a:spcBef>
                <a:spcPct val="20000"/>
              </a:spcBef>
            </a:pP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，覆盖</a:t>
            </a:r>
            <a:r>
              <a:rPr lang="en-US" altLang="zh-CN" sz="2000" dirty="0">
                <a:solidFill>
                  <a:srgbClr val="FF0000"/>
                </a:solidFill>
                <a:latin typeface="Times New Roman" panose="02020603050405020304" pitchFamily="18" charset="0"/>
              </a:rPr>
              <a:t>sabed</a:t>
            </a:r>
            <a:endParaRPr lang="en-US" altLang="zh-CN" sz="2000" dirty="0">
              <a:solidFill>
                <a:schemeClr val="tx2"/>
              </a:solidFill>
              <a:latin typeface="+mj-ea"/>
            </a:endParaRPr>
          </a:p>
          <a:p>
            <a:pPr algn="just">
              <a:spcBef>
                <a:spcPct val="20000"/>
              </a:spcBef>
            </a:pPr>
            <a:endParaRPr lang="en-US" altLang="zh-CN" sz="2000" dirty="0">
              <a:solidFill>
                <a:schemeClr val="tx2"/>
              </a:solidFill>
              <a:latin typeface="+mj-ea"/>
            </a:endParaRPr>
          </a:p>
        </p:txBody>
      </p:sp>
      <p:grpSp>
        <p:nvGrpSpPr>
          <p:cNvPr id="109" name="组合 108">
            <a:extLst>
              <a:ext uri="{FF2B5EF4-FFF2-40B4-BE49-F238E27FC236}">
                <a16:creationId xmlns:a16="http://schemas.microsoft.com/office/drawing/2014/main" id="{58B2E494-2B1E-1D40-921C-B1843D098D0C}"/>
              </a:ext>
            </a:extLst>
          </p:cNvPr>
          <p:cNvGrpSpPr/>
          <p:nvPr/>
        </p:nvGrpSpPr>
        <p:grpSpPr>
          <a:xfrm>
            <a:off x="5384948" y="1975535"/>
            <a:ext cx="3097213" cy="3988929"/>
            <a:chOff x="5384948" y="1975535"/>
            <a:chExt cx="3097213" cy="3988929"/>
          </a:xfrm>
        </p:grpSpPr>
        <p:sp>
          <p:nvSpPr>
            <p:cNvPr id="110" name="Line 9">
              <a:extLst>
                <a:ext uri="{FF2B5EF4-FFF2-40B4-BE49-F238E27FC236}">
                  <a16:creationId xmlns:a16="http://schemas.microsoft.com/office/drawing/2014/main" id="{90B6FB24-B4B9-1242-916E-F1DA749853D8}"/>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111" name="AutoShape 10">
              <a:extLst>
                <a:ext uri="{FF2B5EF4-FFF2-40B4-BE49-F238E27FC236}">
                  <a16:creationId xmlns:a16="http://schemas.microsoft.com/office/drawing/2014/main" id="{E9C8DD70-EB53-0043-B912-AC43B384C305}"/>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112" name="Line 11">
              <a:extLst>
                <a:ext uri="{FF2B5EF4-FFF2-40B4-BE49-F238E27FC236}">
                  <a16:creationId xmlns:a16="http://schemas.microsoft.com/office/drawing/2014/main" id="{62B7E71B-BC6B-9E47-B793-5F3C6ABA9B3D}"/>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3" name="Rectangle 12">
              <a:extLst>
                <a:ext uri="{FF2B5EF4-FFF2-40B4-BE49-F238E27FC236}">
                  <a16:creationId xmlns:a16="http://schemas.microsoft.com/office/drawing/2014/main" id="{73FF1C1A-29EA-194F-90FB-9D463695B588}"/>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114" name="Line 13">
              <a:extLst>
                <a:ext uri="{FF2B5EF4-FFF2-40B4-BE49-F238E27FC236}">
                  <a16:creationId xmlns:a16="http://schemas.microsoft.com/office/drawing/2014/main" id="{2856CCD0-4B27-F848-9F85-BA3888253A12}"/>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5" name="Line 14">
              <a:extLst>
                <a:ext uri="{FF2B5EF4-FFF2-40B4-BE49-F238E27FC236}">
                  <a16:creationId xmlns:a16="http://schemas.microsoft.com/office/drawing/2014/main" id="{5AD9E648-AF0E-D545-A1B5-C5E68A9BE82A}"/>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6" name="Line 15">
              <a:extLst>
                <a:ext uri="{FF2B5EF4-FFF2-40B4-BE49-F238E27FC236}">
                  <a16:creationId xmlns:a16="http://schemas.microsoft.com/office/drawing/2014/main" id="{522966D9-9B58-6E41-AD57-45D87E635FB2}"/>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7" name="Line 16">
              <a:extLst>
                <a:ext uri="{FF2B5EF4-FFF2-40B4-BE49-F238E27FC236}">
                  <a16:creationId xmlns:a16="http://schemas.microsoft.com/office/drawing/2014/main" id="{A19E4242-222D-CA43-97D3-FA5A722695FA}"/>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8" name="AutoShape 17">
              <a:extLst>
                <a:ext uri="{FF2B5EF4-FFF2-40B4-BE49-F238E27FC236}">
                  <a16:creationId xmlns:a16="http://schemas.microsoft.com/office/drawing/2014/main" id="{7335C11D-42B0-5D4E-998C-4E98505A4869}"/>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119" name="Rectangle 18">
              <a:extLst>
                <a:ext uri="{FF2B5EF4-FFF2-40B4-BE49-F238E27FC236}">
                  <a16:creationId xmlns:a16="http://schemas.microsoft.com/office/drawing/2014/main" id="{CE41A5A4-4C6B-4A4D-9847-2AF09E876A64}"/>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120" name="Line 19">
              <a:extLst>
                <a:ext uri="{FF2B5EF4-FFF2-40B4-BE49-F238E27FC236}">
                  <a16:creationId xmlns:a16="http://schemas.microsoft.com/office/drawing/2014/main" id="{E0F5CDD1-F803-524A-962A-B78E17E2B8AD}"/>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21" name="Line 20">
              <a:extLst>
                <a:ext uri="{FF2B5EF4-FFF2-40B4-BE49-F238E27FC236}">
                  <a16:creationId xmlns:a16="http://schemas.microsoft.com/office/drawing/2014/main" id="{2130A0F4-72CB-DD48-93B4-748A217FFB10}"/>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22" name="Line 21">
              <a:extLst>
                <a:ext uri="{FF2B5EF4-FFF2-40B4-BE49-F238E27FC236}">
                  <a16:creationId xmlns:a16="http://schemas.microsoft.com/office/drawing/2014/main" id="{5E86384B-D813-EC42-AD3C-01DCDEDB7F28}"/>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23" name="Text Box 23">
              <a:extLst>
                <a:ext uri="{FF2B5EF4-FFF2-40B4-BE49-F238E27FC236}">
                  <a16:creationId xmlns:a16="http://schemas.microsoft.com/office/drawing/2014/main" id="{29223CD0-B81A-8147-9247-BAA13D76075B}"/>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124" name="Text Box 24">
              <a:extLst>
                <a:ext uri="{FF2B5EF4-FFF2-40B4-BE49-F238E27FC236}">
                  <a16:creationId xmlns:a16="http://schemas.microsoft.com/office/drawing/2014/main" id="{C4E512CA-DD4E-8E45-B09A-4ECFBBBEF55C}"/>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125" name="Text Box 25">
              <a:extLst>
                <a:ext uri="{FF2B5EF4-FFF2-40B4-BE49-F238E27FC236}">
                  <a16:creationId xmlns:a16="http://schemas.microsoft.com/office/drawing/2014/main" id="{1E998D1A-170C-1E45-9111-43EBA16FCD96}"/>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126" name="Text Box 26">
              <a:extLst>
                <a:ext uri="{FF2B5EF4-FFF2-40B4-BE49-F238E27FC236}">
                  <a16:creationId xmlns:a16="http://schemas.microsoft.com/office/drawing/2014/main" id="{04F18E11-3431-564A-85B4-EA6D567274BE}"/>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127" name="Line 27">
              <a:extLst>
                <a:ext uri="{FF2B5EF4-FFF2-40B4-BE49-F238E27FC236}">
                  <a16:creationId xmlns:a16="http://schemas.microsoft.com/office/drawing/2014/main" id="{D87F6EDF-2A4B-B248-9437-496D3B8F95CE}"/>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28" name="圆角矩形 127">
              <a:extLst>
                <a:ext uri="{FF2B5EF4-FFF2-40B4-BE49-F238E27FC236}">
                  <a16:creationId xmlns:a16="http://schemas.microsoft.com/office/drawing/2014/main" id="{9CBFDCD5-BE5B-1341-B950-340592005109}"/>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129" name="圆角矩形 128">
              <a:extLst>
                <a:ext uri="{FF2B5EF4-FFF2-40B4-BE49-F238E27FC236}">
                  <a16:creationId xmlns:a16="http://schemas.microsoft.com/office/drawing/2014/main" id="{144D030D-DE94-4243-9D7A-E159E9274286}"/>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130" name="Line 22">
              <a:extLst>
                <a:ext uri="{FF2B5EF4-FFF2-40B4-BE49-F238E27FC236}">
                  <a16:creationId xmlns:a16="http://schemas.microsoft.com/office/drawing/2014/main" id="{83BAFE7E-FBCA-C84F-9472-0FFD7CA2DB1B}"/>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31" name="文本框 130">
              <a:extLst>
                <a:ext uri="{FF2B5EF4-FFF2-40B4-BE49-F238E27FC236}">
                  <a16:creationId xmlns:a16="http://schemas.microsoft.com/office/drawing/2014/main" id="{B441802D-05A2-704C-BC10-048D9FEEBC4E}"/>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132" name="文本框 131">
              <a:extLst>
                <a:ext uri="{FF2B5EF4-FFF2-40B4-BE49-F238E27FC236}">
                  <a16:creationId xmlns:a16="http://schemas.microsoft.com/office/drawing/2014/main" id="{E87531DB-2FCC-D24A-B405-A19C84765A8A}"/>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133" name="文本框 132">
              <a:extLst>
                <a:ext uri="{FF2B5EF4-FFF2-40B4-BE49-F238E27FC236}">
                  <a16:creationId xmlns:a16="http://schemas.microsoft.com/office/drawing/2014/main" id="{1B0A37FF-1031-864E-821F-51463647F0A4}"/>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134" name="文本框 133">
              <a:extLst>
                <a:ext uri="{FF2B5EF4-FFF2-40B4-BE49-F238E27FC236}">
                  <a16:creationId xmlns:a16="http://schemas.microsoft.com/office/drawing/2014/main" id="{0F0FF2BD-BFBE-7B43-87D7-15180EFDA09D}"/>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135" name="文本框 134">
              <a:extLst>
                <a:ext uri="{FF2B5EF4-FFF2-40B4-BE49-F238E27FC236}">
                  <a16:creationId xmlns:a16="http://schemas.microsoft.com/office/drawing/2014/main" id="{D37E8A77-F514-DD4B-AB58-9F29515E325E}"/>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136" name="文本框 135">
              <a:extLst>
                <a:ext uri="{FF2B5EF4-FFF2-40B4-BE49-F238E27FC236}">
                  <a16:creationId xmlns:a16="http://schemas.microsoft.com/office/drawing/2014/main" id="{8F1F5D8A-C092-204C-B1FA-922F67503682}"/>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
        <p:nvSpPr>
          <p:cNvPr id="37" name="矩形 36">
            <a:extLst>
              <a:ext uri="{FF2B5EF4-FFF2-40B4-BE49-F238E27FC236}">
                <a16:creationId xmlns:a16="http://schemas.microsoft.com/office/drawing/2014/main" id="{ECAF0218-366E-9343-97C1-DDB50C2BC9A9}"/>
              </a:ext>
            </a:extLst>
          </p:cNvPr>
          <p:cNvSpPr/>
          <p:nvPr/>
        </p:nvSpPr>
        <p:spPr>
          <a:xfrm>
            <a:off x="1014879" y="1986848"/>
            <a:ext cx="4572000" cy="2363724"/>
          </a:xfrm>
          <a:prstGeom prst="rect">
            <a:avLst/>
          </a:prstGeom>
        </p:spPr>
        <p:txBody>
          <a:bodyPr>
            <a:spAutoFit/>
          </a:bodyPr>
          <a:lstStyle/>
          <a:p>
            <a:pPr algn="just">
              <a:spcBef>
                <a:spcPct val="20000"/>
              </a:spcBef>
            </a:pPr>
            <a:r>
              <a:rPr lang="en-US" altLang="zh-CN" dirty="0">
                <a:latin typeface="Times New Roman" panose="02020603050405020304" pitchFamily="18" charset="0"/>
              </a:rPr>
              <a:t>Procedure EX(A,</a:t>
            </a:r>
            <a:r>
              <a:rPr lang="zh-CN" altLang="en-US" dirty="0">
                <a:latin typeface="Times New Roman" panose="02020603050405020304" pitchFamily="18" charset="0"/>
              </a:rPr>
              <a:t> </a:t>
            </a:r>
            <a:r>
              <a:rPr lang="en-US" altLang="zh-CN" dirty="0">
                <a:latin typeface="Times New Roman" panose="02020603050405020304" pitchFamily="18" charset="0"/>
              </a:rPr>
              <a:t>B,</a:t>
            </a:r>
            <a:r>
              <a:rPr lang="zh-CN" altLang="en-US" dirty="0">
                <a:latin typeface="Times New Roman" panose="02020603050405020304" pitchFamily="18" charset="0"/>
              </a:rPr>
              <a:t> </a:t>
            </a:r>
            <a:r>
              <a:rPr lang="en-US" altLang="zh-CN" dirty="0">
                <a:latin typeface="Times New Roman" panose="02020603050405020304" pitchFamily="18" charset="0"/>
              </a:rPr>
              <a:t>X:REAL);</a:t>
            </a:r>
            <a:endParaRPr lang="zh-CN" altLang="en-US" dirty="0">
              <a:latin typeface="Times New Roman" panose="02020603050405020304" pitchFamily="18" charset="0"/>
            </a:endParaRP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BEGIN</a:t>
            </a:r>
          </a:p>
          <a:p>
            <a:pPr algn="just">
              <a:spcBef>
                <a:spcPct val="20000"/>
              </a:spcBef>
            </a:pPr>
            <a:r>
              <a:rPr lang="en-US" altLang="zh-CN" dirty="0">
                <a:latin typeface="Times New Roman" panose="02020603050405020304" pitchFamily="18" charset="0"/>
              </a:rPr>
              <a:t>      IF</a:t>
            </a:r>
            <a:r>
              <a:rPr lang="zh-CN" altLang="en-US" dirty="0">
                <a:latin typeface="Times New Roman" panose="02020603050405020304" pitchFamily="18" charset="0"/>
              </a:rPr>
              <a:t> </a:t>
            </a:r>
            <a:r>
              <a:rPr lang="en-US" altLang="zh-CN" dirty="0">
                <a:latin typeface="Times New Roman" panose="02020603050405020304" pitchFamily="18" charset="0"/>
              </a:rPr>
              <a:t>(A&gt;1) AND (B=0)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X:=X/A</a:t>
            </a:r>
          </a:p>
          <a:p>
            <a:pPr algn="just">
              <a:spcBef>
                <a:spcPct val="20000"/>
              </a:spcBef>
            </a:pPr>
            <a:r>
              <a:rPr lang="en-US" altLang="zh-CN" dirty="0">
                <a:latin typeface="Times New Roman" panose="02020603050405020304" pitchFamily="18" charset="0"/>
              </a:rPr>
              <a:t>      IF (A=2) OR (X&gt;1)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X:=X+1</a:t>
            </a:r>
          </a:p>
          <a:p>
            <a:pPr algn="just">
              <a:spcBef>
                <a:spcPct val="20000"/>
              </a:spcBef>
            </a:pPr>
            <a:r>
              <a:rPr lang="en-US" altLang="zh-CN" dirty="0">
                <a:latin typeface="宋体" panose="02010600030101010101" pitchFamily="2" charset="-122"/>
              </a:rPr>
              <a:t>  </a:t>
            </a:r>
            <a:r>
              <a:rPr lang="en-US" altLang="zh-CN" dirty="0">
                <a:latin typeface="Times New Roman" panose="02020603050405020304" pitchFamily="18" charset="0"/>
              </a:rPr>
              <a:t>END</a:t>
            </a:r>
          </a:p>
        </p:txBody>
      </p:sp>
    </p:spTree>
    <p:extLst>
      <p:ext uri="{BB962C8B-B14F-4D97-AF65-F5344CB8AC3E}">
        <p14:creationId xmlns:p14="http://schemas.microsoft.com/office/powerpoint/2010/main" val="8656419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1000"/>
                                        <p:tgtEl>
                                          <p:spTgt spid="78"/>
                                        </p:tgtEl>
                                      </p:cBhvr>
                                    </p:animEffect>
                                    <p:anim calcmode="lin" valueType="num">
                                      <p:cBhvr>
                                        <p:cTn id="8" dur="1000" fill="hold"/>
                                        <p:tgtEl>
                                          <p:spTgt spid="78"/>
                                        </p:tgtEl>
                                        <p:attrNameLst>
                                          <p:attrName>ppt_x</p:attrName>
                                        </p:attrNameLst>
                                      </p:cBhvr>
                                      <p:tavLst>
                                        <p:tav tm="0">
                                          <p:val>
                                            <p:strVal val="#ppt_x"/>
                                          </p:val>
                                        </p:tav>
                                        <p:tav tm="100000">
                                          <p:val>
                                            <p:strVal val="#ppt_x"/>
                                          </p:val>
                                        </p:tav>
                                      </p:tavLst>
                                    </p:anim>
                                    <p:anim calcmode="lin" valueType="num">
                                      <p:cBhvr>
                                        <p:cTn id="9" dur="10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a:t>
            </a:r>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）条件</a:t>
            </a:r>
            <a:r>
              <a:rPr lang="zh-CN" altLang="zh-CN" sz="2400" dirty="0">
                <a:solidFill>
                  <a:srgbClr val="CC6600"/>
                </a:solidFill>
                <a:sym typeface="微软雅黑" panose="020B0503020204020204" pitchFamily="34" charset="-122"/>
              </a:rPr>
              <a:t>覆盖</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执行足够的测试用例，不仅使每个语句至少执行一次，而且使</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判定条件中的每个</a:t>
            </a:r>
            <a:r>
              <a:rPr lang="zh-CN" altLang="en-US" dirty="0">
                <a:solidFill>
                  <a:srgbClr val="C00000"/>
                </a:solidFill>
                <a:latin typeface="微软雅黑" panose="020B0503020204020204" pitchFamily="34" charset="-122"/>
                <a:sym typeface="微软雅黑" panose="020B0503020204020204" pitchFamily="34" charset="-122"/>
              </a:rPr>
              <a:t>（子）</a:t>
            </a:r>
            <a:r>
              <a:rPr lang="zh-CN" altLang="zh-CN" dirty="0">
                <a:solidFill>
                  <a:srgbClr val="C00000"/>
                </a:solidFill>
                <a:latin typeface="微软雅黑" panose="020B0503020204020204" pitchFamily="34" charset="-122"/>
                <a:sym typeface="微软雅黑" panose="020B0503020204020204" pitchFamily="34" charset="-122"/>
              </a:rPr>
              <a:t>条件至少获得一次可能取值的机会</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0079992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48" name="云形 47">
            <a:extLst>
              <a:ext uri="{FF2B5EF4-FFF2-40B4-BE49-F238E27FC236}">
                <a16:creationId xmlns:a16="http://schemas.microsoft.com/office/drawing/2014/main" id="{266346FD-3EA1-7346-9915-D70A07407AC9}"/>
              </a:ext>
            </a:extLst>
          </p:cNvPr>
          <p:cNvSpPr/>
          <p:nvPr/>
        </p:nvSpPr>
        <p:spPr>
          <a:xfrm>
            <a:off x="4564869" y="271389"/>
            <a:ext cx="3859458" cy="148369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1"/>
                </a:solidFill>
                <a:latin typeface="微软雅黑" panose="020B0503020204020204" pitchFamily="34" charset="-122"/>
                <a:sym typeface="微软雅黑" panose="020B0503020204020204" pitchFamily="34" charset="-122"/>
              </a:rPr>
              <a:t>每个语句至少执行一次</a:t>
            </a:r>
            <a:endParaRPr lang="en-US" altLang="zh-CN" dirty="0">
              <a:solidFill>
                <a:schemeClr val="bg1"/>
              </a:solidFill>
              <a:latin typeface="微软雅黑" panose="020B0503020204020204" pitchFamily="34" charset="-122"/>
              <a:sym typeface="微软雅黑" panose="020B0503020204020204" pitchFamily="34" charset="-122"/>
            </a:endParaRPr>
          </a:p>
          <a:p>
            <a:pPr algn="ctr"/>
            <a:r>
              <a:rPr lang="zh-CN" altLang="zh-CN" dirty="0">
                <a:solidFill>
                  <a:schemeClr val="bg1"/>
                </a:solidFill>
                <a:latin typeface="微软雅黑" panose="020B0503020204020204" pitchFamily="34" charset="-122"/>
                <a:sym typeface="微软雅黑" panose="020B0503020204020204" pitchFamily="34" charset="-122"/>
              </a:rPr>
              <a:t>判定</a:t>
            </a:r>
            <a:r>
              <a:rPr lang="zh-CN" altLang="en-US" dirty="0">
                <a:solidFill>
                  <a:schemeClr val="bg1"/>
                </a:solidFill>
                <a:latin typeface="微软雅黑" panose="020B0503020204020204" pitchFamily="34" charset="-122"/>
                <a:sym typeface="微软雅黑" panose="020B0503020204020204" pitchFamily="34" charset="-122"/>
              </a:rPr>
              <a:t>条件中</a:t>
            </a:r>
            <a:r>
              <a:rPr lang="zh-CN" altLang="zh-CN" dirty="0">
                <a:solidFill>
                  <a:schemeClr val="bg1"/>
                </a:solidFill>
                <a:latin typeface="微软雅黑" panose="020B0503020204020204" pitchFamily="34" charset="-122"/>
                <a:sym typeface="微软雅黑" panose="020B0503020204020204" pitchFamily="34" charset="-122"/>
              </a:rPr>
              <a:t>每个条件至少获得一次可能取值的机会</a:t>
            </a:r>
            <a:endParaRPr lang="zh-CN" altLang="en-US" dirty="0">
              <a:solidFill>
                <a:schemeClr val="bg1"/>
              </a:solidFill>
              <a:latin typeface="微软雅黑" panose="020B0503020204020204" pitchFamily="34" charset="-122"/>
            </a:endParaRPr>
          </a:p>
        </p:txBody>
      </p:sp>
      <p:sp>
        <p:nvSpPr>
          <p:cNvPr id="78" name="矩形 77">
            <a:extLst>
              <a:ext uri="{FF2B5EF4-FFF2-40B4-BE49-F238E27FC236}">
                <a16:creationId xmlns:a16="http://schemas.microsoft.com/office/drawing/2014/main" id="{6FBC497E-EB1E-624E-8CC7-9AC5FBEF8173}"/>
              </a:ext>
            </a:extLst>
          </p:cNvPr>
          <p:cNvSpPr/>
          <p:nvPr/>
        </p:nvSpPr>
        <p:spPr>
          <a:xfrm>
            <a:off x="1007073" y="4477972"/>
            <a:ext cx="4357973" cy="1772793"/>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）条件覆盖：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的条件：</a:t>
            </a:r>
            <a:r>
              <a:rPr lang="en-US" altLang="zh-CN" dirty="0">
                <a:solidFill>
                  <a:schemeClr val="accent5">
                    <a:lumMod val="75000"/>
                  </a:schemeClr>
                </a:solidFill>
                <a:latin typeface="Times New Roman" panose="02020603050405020304" pitchFamily="18" charset="0"/>
              </a:rPr>
              <a:t>A &gt; 1,</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B</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0</a:t>
            </a:r>
          </a:p>
          <a:p>
            <a:pPr algn="just">
              <a:spcBef>
                <a:spcPct val="20000"/>
              </a:spcBef>
            </a:pP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的条件：</a:t>
            </a:r>
            <a:r>
              <a:rPr lang="en-US" altLang="zh-CN" dirty="0">
                <a:solidFill>
                  <a:schemeClr val="accent5">
                    <a:lumMod val="75000"/>
                  </a:schemeClr>
                </a:solidFill>
                <a:latin typeface="Times New Roman" panose="02020603050405020304" pitchFamily="18" charset="0"/>
              </a:rPr>
              <a:t>A</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2</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X</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&gt;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X</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1</a:t>
            </a:r>
          </a:p>
          <a:p>
            <a:pPr algn="just">
              <a:spcBef>
                <a:spcPct val="20000"/>
              </a:spcBef>
            </a:pP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sacbed</a:t>
            </a:r>
            <a:endParaRPr lang="en-US" altLang="zh-CN" sz="2000" dirty="0">
              <a:solidFill>
                <a:srgbClr val="FF0000"/>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sabd</a:t>
            </a:r>
            <a:endParaRPr lang="en-US" altLang="zh-CN" dirty="0">
              <a:solidFill>
                <a:srgbClr val="FF0000"/>
              </a:solidFill>
              <a:latin typeface="Times New Roman" panose="02020603050405020304" pitchFamily="18" charset="0"/>
            </a:endParaRPr>
          </a:p>
        </p:txBody>
      </p:sp>
      <p:grpSp>
        <p:nvGrpSpPr>
          <p:cNvPr id="79" name="组合 78">
            <a:extLst>
              <a:ext uri="{FF2B5EF4-FFF2-40B4-BE49-F238E27FC236}">
                <a16:creationId xmlns:a16="http://schemas.microsoft.com/office/drawing/2014/main" id="{39E345BB-DC5C-9148-AC34-0F94BFA283FB}"/>
              </a:ext>
            </a:extLst>
          </p:cNvPr>
          <p:cNvGrpSpPr/>
          <p:nvPr/>
        </p:nvGrpSpPr>
        <p:grpSpPr>
          <a:xfrm>
            <a:off x="5384948" y="1975535"/>
            <a:ext cx="3097213" cy="3988929"/>
            <a:chOff x="5384948" y="1975535"/>
            <a:chExt cx="3097213" cy="3988929"/>
          </a:xfrm>
        </p:grpSpPr>
        <p:sp>
          <p:nvSpPr>
            <p:cNvPr id="80" name="Line 9">
              <a:extLst>
                <a:ext uri="{FF2B5EF4-FFF2-40B4-BE49-F238E27FC236}">
                  <a16:creationId xmlns:a16="http://schemas.microsoft.com/office/drawing/2014/main" id="{B573D4E8-C518-C049-910E-8727C1AB3EE6}"/>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81" name="AutoShape 10">
              <a:extLst>
                <a:ext uri="{FF2B5EF4-FFF2-40B4-BE49-F238E27FC236}">
                  <a16:creationId xmlns:a16="http://schemas.microsoft.com/office/drawing/2014/main" id="{1BD7E5DD-EF19-6C4A-A566-EC4F4FD85D40}"/>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82" name="Line 11">
              <a:extLst>
                <a:ext uri="{FF2B5EF4-FFF2-40B4-BE49-F238E27FC236}">
                  <a16:creationId xmlns:a16="http://schemas.microsoft.com/office/drawing/2014/main" id="{D8250B1A-D544-EE4B-B382-C04D948B9E5F}"/>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3" name="Rectangle 12">
              <a:extLst>
                <a:ext uri="{FF2B5EF4-FFF2-40B4-BE49-F238E27FC236}">
                  <a16:creationId xmlns:a16="http://schemas.microsoft.com/office/drawing/2014/main" id="{214B0D09-BCAD-DC42-B3CC-990A5F136535}"/>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84" name="Line 13">
              <a:extLst>
                <a:ext uri="{FF2B5EF4-FFF2-40B4-BE49-F238E27FC236}">
                  <a16:creationId xmlns:a16="http://schemas.microsoft.com/office/drawing/2014/main" id="{D7AC92E1-CECC-CC49-8C6A-4BDE409B9F3E}"/>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5" name="Line 14">
              <a:extLst>
                <a:ext uri="{FF2B5EF4-FFF2-40B4-BE49-F238E27FC236}">
                  <a16:creationId xmlns:a16="http://schemas.microsoft.com/office/drawing/2014/main" id="{B7A74423-8E86-434E-9133-D6417644E027}"/>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6" name="Line 15">
              <a:extLst>
                <a:ext uri="{FF2B5EF4-FFF2-40B4-BE49-F238E27FC236}">
                  <a16:creationId xmlns:a16="http://schemas.microsoft.com/office/drawing/2014/main" id="{2B4D5156-DAC4-5241-8771-77A942A4F32C}"/>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7" name="Line 16">
              <a:extLst>
                <a:ext uri="{FF2B5EF4-FFF2-40B4-BE49-F238E27FC236}">
                  <a16:creationId xmlns:a16="http://schemas.microsoft.com/office/drawing/2014/main" id="{DB5336DE-F205-2F41-A3CB-F4BA28C3DB56}"/>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8" name="AutoShape 17">
              <a:extLst>
                <a:ext uri="{FF2B5EF4-FFF2-40B4-BE49-F238E27FC236}">
                  <a16:creationId xmlns:a16="http://schemas.microsoft.com/office/drawing/2014/main" id="{A58D651E-6E05-C34E-A450-9E1F5A1FB513}"/>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89" name="Rectangle 18">
              <a:extLst>
                <a:ext uri="{FF2B5EF4-FFF2-40B4-BE49-F238E27FC236}">
                  <a16:creationId xmlns:a16="http://schemas.microsoft.com/office/drawing/2014/main" id="{4433E3F9-BC23-8546-B139-DABEF99C9941}"/>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90" name="Line 19">
              <a:extLst>
                <a:ext uri="{FF2B5EF4-FFF2-40B4-BE49-F238E27FC236}">
                  <a16:creationId xmlns:a16="http://schemas.microsoft.com/office/drawing/2014/main" id="{838B7C34-B84C-5446-8BA7-1EFB83961557}"/>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1" name="Line 20">
              <a:extLst>
                <a:ext uri="{FF2B5EF4-FFF2-40B4-BE49-F238E27FC236}">
                  <a16:creationId xmlns:a16="http://schemas.microsoft.com/office/drawing/2014/main" id="{C4F059B6-A9B5-C741-888C-EF29344D1359}"/>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2" name="Line 21">
              <a:extLst>
                <a:ext uri="{FF2B5EF4-FFF2-40B4-BE49-F238E27FC236}">
                  <a16:creationId xmlns:a16="http://schemas.microsoft.com/office/drawing/2014/main" id="{78D7EC07-A028-4B4D-B448-56CBA921AD90}"/>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3" name="Text Box 23">
              <a:extLst>
                <a:ext uri="{FF2B5EF4-FFF2-40B4-BE49-F238E27FC236}">
                  <a16:creationId xmlns:a16="http://schemas.microsoft.com/office/drawing/2014/main" id="{4B292F06-0AC4-9A40-9559-59419525245D}"/>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94" name="Text Box 24">
              <a:extLst>
                <a:ext uri="{FF2B5EF4-FFF2-40B4-BE49-F238E27FC236}">
                  <a16:creationId xmlns:a16="http://schemas.microsoft.com/office/drawing/2014/main" id="{D7F5BBF9-22C1-F24D-8367-979CB59A6BCE}"/>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95" name="Text Box 25">
              <a:extLst>
                <a:ext uri="{FF2B5EF4-FFF2-40B4-BE49-F238E27FC236}">
                  <a16:creationId xmlns:a16="http://schemas.microsoft.com/office/drawing/2014/main" id="{49944882-FBDC-7A46-A493-7BBA8F55FBF1}"/>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96" name="Text Box 26">
              <a:extLst>
                <a:ext uri="{FF2B5EF4-FFF2-40B4-BE49-F238E27FC236}">
                  <a16:creationId xmlns:a16="http://schemas.microsoft.com/office/drawing/2014/main" id="{66D17C72-42BA-FE4D-B819-5672A0A22D82}"/>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97" name="Line 27">
              <a:extLst>
                <a:ext uri="{FF2B5EF4-FFF2-40B4-BE49-F238E27FC236}">
                  <a16:creationId xmlns:a16="http://schemas.microsoft.com/office/drawing/2014/main" id="{EAD489AD-35B4-ED4A-903C-EA97146D3096}"/>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8" name="圆角矩形 97">
              <a:extLst>
                <a:ext uri="{FF2B5EF4-FFF2-40B4-BE49-F238E27FC236}">
                  <a16:creationId xmlns:a16="http://schemas.microsoft.com/office/drawing/2014/main" id="{62C23A61-CAD5-D343-AA48-1506E37BAE4C}"/>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99" name="圆角矩形 98">
              <a:extLst>
                <a:ext uri="{FF2B5EF4-FFF2-40B4-BE49-F238E27FC236}">
                  <a16:creationId xmlns:a16="http://schemas.microsoft.com/office/drawing/2014/main" id="{7235CFC9-3FE8-3549-869F-C1801920D22E}"/>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100" name="Line 22">
              <a:extLst>
                <a:ext uri="{FF2B5EF4-FFF2-40B4-BE49-F238E27FC236}">
                  <a16:creationId xmlns:a16="http://schemas.microsoft.com/office/drawing/2014/main" id="{32A26882-7680-904F-8CC1-D7D5020E9536}"/>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1" name="文本框 100">
              <a:extLst>
                <a:ext uri="{FF2B5EF4-FFF2-40B4-BE49-F238E27FC236}">
                  <a16:creationId xmlns:a16="http://schemas.microsoft.com/office/drawing/2014/main" id="{A4D56859-1A5F-2D47-A4A7-8A196A315E28}"/>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102" name="文本框 101">
              <a:extLst>
                <a:ext uri="{FF2B5EF4-FFF2-40B4-BE49-F238E27FC236}">
                  <a16:creationId xmlns:a16="http://schemas.microsoft.com/office/drawing/2014/main" id="{03C90F3B-65C3-4942-A674-CCEBEDF79C83}"/>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103" name="文本框 102">
              <a:extLst>
                <a:ext uri="{FF2B5EF4-FFF2-40B4-BE49-F238E27FC236}">
                  <a16:creationId xmlns:a16="http://schemas.microsoft.com/office/drawing/2014/main" id="{20AE1990-783C-5C42-8936-793FCF119857}"/>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104" name="文本框 103">
              <a:extLst>
                <a:ext uri="{FF2B5EF4-FFF2-40B4-BE49-F238E27FC236}">
                  <a16:creationId xmlns:a16="http://schemas.microsoft.com/office/drawing/2014/main" id="{CB8B3A1C-57DF-5E4F-AF41-A47689E5290A}"/>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105" name="文本框 104">
              <a:extLst>
                <a:ext uri="{FF2B5EF4-FFF2-40B4-BE49-F238E27FC236}">
                  <a16:creationId xmlns:a16="http://schemas.microsoft.com/office/drawing/2014/main" id="{5E62C16C-0D89-5747-8E42-C74FAE1D233B}"/>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106" name="文本框 105">
              <a:extLst>
                <a:ext uri="{FF2B5EF4-FFF2-40B4-BE49-F238E27FC236}">
                  <a16:creationId xmlns:a16="http://schemas.microsoft.com/office/drawing/2014/main" id="{7E9BECD6-E424-9C49-87A1-512A844FC3A4}"/>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
        <p:nvSpPr>
          <p:cNvPr id="39" name="矩形 38">
            <a:extLst>
              <a:ext uri="{FF2B5EF4-FFF2-40B4-BE49-F238E27FC236}">
                <a16:creationId xmlns:a16="http://schemas.microsoft.com/office/drawing/2014/main" id="{9DE0FA24-A521-7648-91C7-1885B5C665CF}"/>
              </a:ext>
            </a:extLst>
          </p:cNvPr>
          <p:cNvSpPr/>
          <p:nvPr/>
        </p:nvSpPr>
        <p:spPr>
          <a:xfrm>
            <a:off x="1014879" y="1986848"/>
            <a:ext cx="4572000" cy="2363724"/>
          </a:xfrm>
          <a:prstGeom prst="rect">
            <a:avLst/>
          </a:prstGeom>
        </p:spPr>
        <p:txBody>
          <a:bodyPr>
            <a:spAutoFit/>
          </a:bodyPr>
          <a:lstStyle/>
          <a:p>
            <a:pPr algn="just">
              <a:spcBef>
                <a:spcPct val="20000"/>
              </a:spcBef>
            </a:pPr>
            <a:r>
              <a:rPr lang="en-US" altLang="zh-CN" dirty="0">
                <a:latin typeface="Times New Roman" panose="02020603050405020304" pitchFamily="18" charset="0"/>
              </a:rPr>
              <a:t>Procedure EX(A,</a:t>
            </a:r>
            <a:r>
              <a:rPr lang="zh-CN" altLang="en-US" dirty="0">
                <a:latin typeface="Times New Roman" panose="02020603050405020304" pitchFamily="18" charset="0"/>
              </a:rPr>
              <a:t> </a:t>
            </a:r>
            <a:r>
              <a:rPr lang="en-US" altLang="zh-CN" dirty="0">
                <a:latin typeface="Times New Roman" panose="02020603050405020304" pitchFamily="18" charset="0"/>
              </a:rPr>
              <a:t>B,</a:t>
            </a:r>
            <a:r>
              <a:rPr lang="zh-CN" altLang="en-US" dirty="0">
                <a:latin typeface="Times New Roman" panose="02020603050405020304" pitchFamily="18" charset="0"/>
              </a:rPr>
              <a:t> </a:t>
            </a:r>
            <a:r>
              <a:rPr lang="en-US" altLang="zh-CN" dirty="0">
                <a:latin typeface="Times New Roman" panose="02020603050405020304" pitchFamily="18" charset="0"/>
              </a:rPr>
              <a:t>X:REAL);</a:t>
            </a:r>
            <a:endParaRPr lang="zh-CN" altLang="en-US" dirty="0">
              <a:latin typeface="Times New Roman" panose="02020603050405020304" pitchFamily="18" charset="0"/>
            </a:endParaRP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BEGIN</a:t>
            </a:r>
          </a:p>
          <a:p>
            <a:pPr algn="just">
              <a:spcBef>
                <a:spcPct val="20000"/>
              </a:spcBef>
            </a:pPr>
            <a:r>
              <a:rPr lang="en-US" altLang="zh-CN" dirty="0">
                <a:latin typeface="Times New Roman" panose="02020603050405020304" pitchFamily="18" charset="0"/>
              </a:rPr>
              <a:t>      IF</a:t>
            </a:r>
            <a:r>
              <a:rPr lang="zh-CN" altLang="en-US" dirty="0">
                <a:latin typeface="Times New Roman" panose="02020603050405020304" pitchFamily="18" charset="0"/>
              </a:rPr>
              <a:t> </a:t>
            </a:r>
            <a:r>
              <a:rPr lang="en-US" altLang="zh-CN" dirty="0">
                <a:latin typeface="Times New Roman" panose="02020603050405020304" pitchFamily="18" charset="0"/>
              </a:rPr>
              <a:t>(A&gt;1) AND (B=0)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X:=X/A</a:t>
            </a:r>
          </a:p>
          <a:p>
            <a:pPr algn="just">
              <a:spcBef>
                <a:spcPct val="20000"/>
              </a:spcBef>
            </a:pPr>
            <a:r>
              <a:rPr lang="en-US" altLang="zh-CN" dirty="0">
                <a:latin typeface="Times New Roman" panose="02020603050405020304" pitchFamily="18" charset="0"/>
              </a:rPr>
              <a:t>      IF (A=2) OR (X&gt;1) </a:t>
            </a:r>
          </a:p>
          <a:p>
            <a:pPr algn="just">
              <a:spcBef>
                <a:spcPct val="20000"/>
              </a:spcBef>
            </a:pPr>
            <a:r>
              <a:rPr lang="zh-CN" altLang="en-US" dirty="0">
                <a:latin typeface="Times New Roman" panose="02020603050405020304" pitchFamily="18" charset="0"/>
              </a:rPr>
              <a:t>          </a:t>
            </a:r>
            <a:r>
              <a:rPr lang="en-US" altLang="zh-CN" dirty="0">
                <a:latin typeface="Times New Roman" panose="02020603050405020304" pitchFamily="18" charset="0"/>
              </a:rPr>
              <a:t>THEN</a:t>
            </a:r>
            <a:r>
              <a:rPr lang="zh-CN" altLang="en-US" dirty="0">
                <a:latin typeface="Times New Roman" panose="02020603050405020304" pitchFamily="18" charset="0"/>
              </a:rPr>
              <a:t> </a:t>
            </a:r>
            <a:r>
              <a:rPr lang="en-US" altLang="zh-CN" dirty="0">
                <a:latin typeface="Times New Roman" panose="02020603050405020304" pitchFamily="18" charset="0"/>
              </a:rPr>
              <a:t>X:=X+1</a:t>
            </a:r>
          </a:p>
          <a:p>
            <a:pPr algn="just">
              <a:spcBef>
                <a:spcPct val="20000"/>
              </a:spcBef>
            </a:pPr>
            <a:r>
              <a:rPr lang="en-US" altLang="zh-CN" dirty="0">
                <a:latin typeface="宋体" panose="02010600030101010101" pitchFamily="2" charset="-122"/>
              </a:rPr>
              <a:t>  </a:t>
            </a:r>
            <a:r>
              <a:rPr lang="en-US" altLang="zh-CN" dirty="0">
                <a:latin typeface="Times New Roman" panose="02020603050405020304" pitchFamily="18" charset="0"/>
              </a:rPr>
              <a:t>END</a:t>
            </a:r>
          </a:p>
        </p:txBody>
      </p:sp>
    </p:spTree>
    <p:extLst>
      <p:ext uri="{BB962C8B-B14F-4D97-AF65-F5344CB8AC3E}">
        <p14:creationId xmlns:p14="http://schemas.microsoft.com/office/powerpoint/2010/main" val="44454043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1000"/>
                                        <p:tgtEl>
                                          <p:spTgt spid="78"/>
                                        </p:tgtEl>
                                      </p:cBhvr>
                                    </p:animEffect>
                                    <p:anim calcmode="lin" valueType="num">
                                      <p:cBhvr>
                                        <p:cTn id="8" dur="1000" fill="hold"/>
                                        <p:tgtEl>
                                          <p:spTgt spid="78"/>
                                        </p:tgtEl>
                                        <p:attrNameLst>
                                          <p:attrName>ppt_x</p:attrName>
                                        </p:attrNameLst>
                                      </p:cBhvr>
                                      <p:tavLst>
                                        <p:tav tm="0">
                                          <p:val>
                                            <p:strVal val="#ppt_x"/>
                                          </p:val>
                                        </p:tav>
                                        <p:tav tm="100000">
                                          <p:val>
                                            <p:strVal val="#ppt_x"/>
                                          </p:val>
                                        </p:tav>
                                      </p:tavLst>
                                    </p:anim>
                                    <p:anim calcmode="lin" valueType="num">
                                      <p:cBhvr>
                                        <p:cTn id="9" dur="10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48" name="云形 47">
            <a:extLst>
              <a:ext uri="{FF2B5EF4-FFF2-40B4-BE49-F238E27FC236}">
                <a16:creationId xmlns:a16="http://schemas.microsoft.com/office/drawing/2014/main" id="{266346FD-3EA1-7346-9915-D70A07407AC9}"/>
              </a:ext>
            </a:extLst>
          </p:cNvPr>
          <p:cNvSpPr/>
          <p:nvPr/>
        </p:nvSpPr>
        <p:spPr>
          <a:xfrm>
            <a:off x="4564869" y="271389"/>
            <a:ext cx="3859458" cy="148369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1"/>
                </a:solidFill>
                <a:latin typeface="微软雅黑" panose="020B0503020204020204" pitchFamily="34" charset="-122"/>
                <a:sym typeface="微软雅黑" panose="020B0503020204020204" pitchFamily="34" charset="-122"/>
              </a:rPr>
              <a:t>每个语句至少执行一次</a:t>
            </a:r>
            <a:endParaRPr lang="en-US" altLang="zh-CN" dirty="0">
              <a:solidFill>
                <a:schemeClr val="bg1"/>
              </a:solidFill>
              <a:latin typeface="微软雅黑" panose="020B0503020204020204" pitchFamily="34" charset="-122"/>
              <a:sym typeface="微软雅黑" panose="020B0503020204020204" pitchFamily="34" charset="-122"/>
            </a:endParaRPr>
          </a:p>
          <a:p>
            <a:pPr algn="ctr"/>
            <a:r>
              <a:rPr lang="zh-CN" altLang="zh-CN" dirty="0">
                <a:solidFill>
                  <a:schemeClr val="bg1"/>
                </a:solidFill>
                <a:latin typeface="微软雅黑" panose="020B0503020204020204" pitchFamily="34" charset="-122"/>
                <a:sym typeface="微软雅黑" panose="020B0503020204020204" pitchFamily="34" charset="-122"/>
              </a:rPr>
              <a:t>判定</a:t>
            </a:r>
            <a:r>
              <a:rPr lang="zh-CN" altLang="en-US" dirty="0">
                <a:solidFill>
                  <a:schemeClr val="bg1"/>
                </a:solidFill>
                <a:latin typeface="微软雅黑" panose="020B0503020204020204" pitchFamily="34" charset="-122"/>
                <a:sym typeface="微软雅黑" panose="020B0503020204020204" pitchFamily="34" charset="-122"/>
              </a:rPr>
              <a:t>条件中</a:t>
            </a:r>
            <a:r>
              <a:rPr lang="zh-CN" altLang="zh-CN" dirty="0">
                <a:solidFill>
                  <a:schemeClr val="bg1"/>
                </a:solidFill>
                <a:latin typeface="微软雅黑" panose="020B0503020204020204" pitchFamily="34" charset="-122"/>
                <a:sym typeface="微软雅黑" panose="020B0503020204020204" pitchFamily="34" charset="-122"/>
              </a:rPr>
              <a:t>每个条件至少获得一次可能取值的机会</a:t>
            </a:r>
            <a:endParaRPr lang="zh-CN" altLang="en-US" dirty="0">
              <a:solidFill>
                <a:schemeClr val="bg1"/>
              </a:solidFill>
              <a:latin typeface="微软雅黑" panose="020B0503020204020204" pitchFamily="34" charset="-122"/>
            </a:endParaRPr>
          </a:p>
        </p:txBody>
      </p:sp>
      <p:sp>
        <p:nvSpPr>
          <p:cNvPr id="78" name="矩形 77">
            <a:extLst>
              <a:ext uri="{FF2B5EF4-FFF2-40B4-BE49-F238E27FC236}">
                <a16:creationId xmlns:a16="http://schemas.microsoft.com/office/drawing/2014/main" id="{6FBC497E-EB1E-624E-8CC7-9AC5FBEF8173}"/>
              </a:ext>
            </a:extLst>
          </p:cNvPr>
          <p:cNvSpPr/>
          <p:nvPr/>
        </p:nvSpPr>
        <p:spPr>
          <a:xfrm>
            <a:off x="1007073" y="1970346"/>
            <a:ext cx="4357973" cy="4173450"/>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）条件覆盖：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的条件：</a:t>
            </a:r>
            <a:r>
              <a:rPr lang="en-US" altLang="zh-CN" dirty="0">
                <a:solidFill>
                  <a:schemeClr val="accent5">
                    <a:lumMod val="75000"/>
                  </a:schemeClr>
                </a:solidFill>
                <a:latin typeface="Times New Roman" panose="02020603050405020304" pitchFamily="18" charset="0"/>
              </a:rPr>
              <a:t>A &gt; 1,</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B</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0</a:t>
            </a:r>
          </a:p>
          <a:p>
            <a:pPr algn="just">
              <a:spcBef>
                <a:spcPct val="20000"/>
              </a:spcBef>
            </a:pP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的条件：</a:t>
            </a:r>
            <a:r>
              <a:rPr lang="en-US" altLang="zh-CN" dirty="0">
                <a:solidFill>
                  <a:schemeClr val="accent5">
                    <a:lumMod val="75000"/>
                  </a:schemeClr>
                </a:solidFill>
                <a:latin typeface="Times New Roman" panose="02020603050405020304" pitchFamily="18" charset="0"/>
              </a:rPr>
              <a:t>A</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2</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X</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&gt;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rgbClr val="C00000"/>
                </a:solidFill>
                <a:latin typeface="Times New Roman" panose="02020603050405020304" pitchFamily="18" charset="0"/>
              </a:rPr>
              <a:t>X</a:t>
            </a:r>
            <a:r>
              <a:rPr lang="zh-CN" altLang="en-US" dirty="0">
                <a:solidFill>
                  <a:srgbClr val="C00000"/>
                </a:solidFill>
                <a:latin typeface="Times New Roman" panose="02020603050405020304" pitchFamily="18" charset="0"/>
              </a:rPr>
              <a:t> </a:t>
            </a:r>
            <a:r>
              <a:rPr lang="zh-CN" altLang="zh-CN" dirty="0">
                <a:solidFill>
                  <a:srgbClr val="C00000"/>
                </a:solidFill>
                <a:latin typeface="Times New Roman" panose="02020603050405020304" pitchFamily="18" charset="0"/>
              </a:rPr>
              <a:t>≤</a:t>
            </a:r>
            <a:r>
              <a:rPr lang="zh-CN" altLang="en-US" dirty="0">
                <a:solidFill>
                  <a:srgbClr val="C00000"/>
                </a:solidFill>
                <a:latin typeface="Times New Roman" panose="02020603050405020304" pitchFamily="18" charset="0"/>
              </a:rPr>
              <a:t> </a:t>
            </a:r>
            <a:r>
              <a:rPr lang="en-US" altLang="zh-CN" dirty="0">
                <a:solidFill>
                  <a:srgbClr val="C00000"/>
                </a:solidFill>
                <a:latin typeface="Times New Roman" panose="02020603050405020304" pitchFamily="18" charset="0"/>
              </a:rPr>
              <a:t>1</a:t>
            </a:r>
          </a:p>
          <a:p>
            <a:pPr algn="just">
              <a:spcBef>
                <a:spcPct val="20000"/>
              </a:spcBef>
            </a:pP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条件覆盖同时</a:t>
            </a:r>
            <a:r>
              <a:rPr lang="zh-CN" altLang="en-US" dirty="0">
                <a:solidFill>
                  <a:schemeClr val="accent5">
                    <a:lumMod val="75000"/>
                  </a:schemeClr>
                </a:solidFill>
                <a:highlight>
                  <a:srgbClr val="FFFF00"/>
                </a:highlight>
                <a:latin typeface="Times New Roman" panose="02020603050405020304" pitchFamily="18" charset="0"/>
              </a:rPr>
              <a:t>满足</a:t>
            </a:r>
            <a:r>
              <a:rPr lang="zh-CN" altLang="en-US" dirty="0">
                <a:solidFill>
                  <a:schemeClr val="accent5">
                    <a:lumMod val="75000"/>
                  </a:schemeClr>
                </a:solidFill>
                <a:latin typeface="Times New Roman" panose="02020603050405020304" pitchFamily="18" charset="0"/>
              </a:rPr>
              <a:t>判定覆盖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sacbed</a:t>
            </a:r>
            <a:endParaRPr lang="en-US" altLang="zh-CN" sz="2000" dirty="0">
              <a:solidFill>
                <a:srgbClr val="FF0000"/>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sabd</a:t>
            </a:r>
            <a:endParaRPr lang="en-US" altLang="zh-CN" sz="2000" dirty="0">
              <a:solidFill>
                <a:srgbClr val="FF0000"/>
              </a:solidFill>
              <a:latin typeface="Times New Roman" panose="02020603050405020304" pitchFamily="18" charset="0"/>
            </a:endParaRPr>
          </a:p>
          <a:p>
            <a:pPr algn="just">
              <a:spcBef>
                <a:spcPct val="20000"/>
              </a:spcBef>
            </a:pP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条件覆盖但</a:t>
            </a:r>
            <a:r>
              <a:rPr lang="zh-CN" altLang="en-US" dirty="0">
                <a:solidFill>
                  <a:schemeClr val="accent5">
                    <a:lumMod val="75000"/>
                  </a:schemeClr>
                </a:solidFill>
                <a:highlight>
                  <a:srgbClr val="FFFF00"/>
                </a:highlight>
                <a:latin typeface="Times New Roman" panose="02020603050405020304" pitchFamily="18" charset="0"/>
              </a:rPr>
              <a:t>不满足</a:t>
            </a:r>
            <a:r>
              <a:rPr lang="zh-CN" altLang="en-US" dirty="0">
                <a:solidFill>
                  <a:schemeClr val="accent5">
                    <a:lumMod val="75000"/>
                  </a:schemeClr>
                </a:solidFill>
                <a:latin typeface="Times New Roman" panose="02020603050405020304" pitchFamily="18" charset="0"/>
              </a:rPr>
              <a:t>判定覆盖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sacbed</a:t>
            </a:r>
            <a:endParaRPr lang="en-US" altLang="zh-CN" sz="2000" dirty="0">
              <a:solidFill>
                <a:srgbClr val="FF0000"/>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b="1" dirty="0">
                <a:solidFill>
                  <a:srgbClr val="C00000"/>
                </a:solidFill>
                <a:latin typeface="Times New Roman" panose="02020603050405020304" pitchFamily="18" charset="0"/>
              </a:rPr>
              <a:t>1</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a:solidFill>
                  <a:srgbClr val="FF0000"/>
                </a:solidFill>
                <a:latin typeface="Times New Roman" panose="02020603050405020304" pitchFamily="18" charset="0"/>
              </a:rPr>
              <a:t>sabed</a:t>
            </a:r>
            <a:endParaRPr lang="en-US" altLang="zh-CN" dirty="0">
              <a:solidFill>
                <a:srgbClr val="FF0000"/>
              </a:solidFill>
              <a:latin typeface="Times New Roman" panose="02020603050405020304" pitchFamily="18" charset="0"/>
            </a:endParaRPr>
          </a:p>
          <a:p>
            <a:pPr algn="just">
              <a:spcBef>
                <a:spcPct val="20000"/>
              </a:spcBef>
            </a:pPr>
            <a:endParaRPr lang="en-US" altLang="zh-CN" dirty="0">
              <a:solidFill>
                <a:srgbClr val="FF0000"/>
              </a:solidFill>
              <a:latin typeface="Times New Roman" panose="02020603050405020304" pitchFamily="18" charset="0"/>
            </a:endParaRPr>
          </a:p>
        </p:txBody>
      </p:sp>
      <p:grpSp>
        <p:nvGrpSpPr>
          <p:cNvPr id="79" name="组合 78">
            <a:extLst>
              <a:ext uri="{FF2B5EF4-FFF2-40B4-BE49-F238E27FC236}">
                <a16:creationId xmlns:a16="http://schemas.microsoft.com/office/drawing/2014/main" id="{39E345BB-DC5C-9148-AC34-0F94BFA283FB}"/>
              </a:ext>
            </a:extLst>
          </p:cNvPr>
          <p:cNvGrpSpPr/>
          <p:nvPr/>
        </p:nvGrpSpPr>
        <p:grpSpPr>
          <a:xfrm>
            <a:off x="5384948" y="1975535"/>
            <a:ext cx="3097213" cy="3988929"/>
            <a:chOff x="5384948" y="1975535"/>
            <a:chExt cx="3097213" cy="3988929"/>
          </a:xfrm>
        </p:grpSpPr>
        <p:sp>
          <p:nvSpPr>
            <p:cNvPr id="80" name="Line 9">
              <a:extLst>
                <a:ext uri="{FF2B5EF4-FFF2-40B4-BE49-F238E27FC236}">
                  <a16:creationId xmlns:a16="http://schemas.microsoft.com/office/drawing/2014/main" id="{B573D4E8-C518-C049-910E-8727C1AB3EE6}"/>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81" name="AutoShape 10">
              <a:extLst>
                <a:ext uri="{FF2B5EF4-FFF2-40B4-BE49-F238E27FC236}">
                  <a16:creationId xmlns:a16="http://schemas.microsoft.com/office/drawing/2014/main" id="{1BD7E5DD-EF19-6C4A-A566-EC4F4FD85D40}"/>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82" name="Line 11">
              <a:extLst>
                <a:ext uri="{FF2B5EF4-FFF2-40B4-BE49-F238E27FC236}">
                  <a16:creationId xmlns:a16="http://schemas.microsoft.com/office/drawing/2014/main" id="{D8250B1A-D544-EE4B-B382-C04D948B9E5F}"/>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3" name="Rectangle 12">
              <a:extLst>
                <a:ext uri="{FF2B5EF4-FFF2-40B4-BE49-F238E27FC236}">
                  <a16:creationId xmlns:a16="http://schemas.microsoft.com/office/drawing/2014/main" id="{214B0D09-BCAD-DC42-B3CC-990A5F136535}"/>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84" name="Line 13">
              <a:extLst>
                <a:ext uri="{FF2B5EF4-FFF2-40B4-BE49-F238E27FC236}">
                  <a16:creationId xmlns:a16="http://schemas.microsoft.com/office/drawing/2014/main" id="{D7AC92E1-CECC-CC49-8C6A-4BDE409B9F3E}"/>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5" name="Line 14">
              <a:extLst>
                <a:ext uri="{FF2B5EF4-FFF2-40B4-BE49-F238E27FC236}">
                  <a16:creationId xmlns:a16="http://schemas.microsoft.com/office/drawing/2014/main" id="{B7A74423-8E86-434E-9133-D6417644E027}"/>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6" name="Line 15">
              <a:extLst>
                <a:ext uri="{FF2B5EF4-FFF2-40B4-BE49-F238E27FC236}">
                  <a16:creationId xmlns:a16="http://schemas.microsoft.com/office/drawing/2014/main" id="{2B4D5156-DAC4-5241-8771-77A942A4F32C}"/>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7" name="Line 16">
              <a:extLst>
                <a:ext uri="{FF2B5EF4-FFF2-40B4-BE49-F238E27FC236}">
                  <a16:creationId xmlns:a16="http://schemas.microsoft.com/office/drawing/2014/main" id="{DB5336DE-F205-2F41-A3CB-F4BA28C3DB56}"/>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8" name="AutoShape 17">
              <a:extLst>
                <a:ext uri="{FF2B5EF4-FFF2-40B4-BE49-F238E27FC236}">
                  <a16:creationId xmlns:a16="http://schemas.microsoft.com/office/drawing/2014/main" id="{A58D651E-6E05-C34E-A450-9E1F5A1FB513}"/>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89" name="Rectangle 18">
              <a:extLst>
                <a:ext uri="{FF2B5EF4-FFF2-40B4-BE49-F238E27FC236}">
                  <a16:creationId xmlns:a16="http://schemas.microsoft.com/office/drawing/2014/main" id="{4433E3F9-BC23-8546-B139-DABEF99C9941}"/>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90" name="Line 19">
              <a:extLst>
                <a:ext uri="{FF2B5EF4-FFF2-40B4-BE49-F238E27FC236}">
                  <a16:creationId xmlns:a16="http://schemas.microsoft.com/office/drawing/2014/main" id="{838B7C34-B84C-5446-8BA7-1EFB83961557}"/>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1" name="Line 20">
              <a:extLst>
                <a:ext uri="{FF2B5EF4-FFF2-40B4-BE49-F238E27FC236}">
                  <a16:creationId xmlns:a16="http://schemas.microsoft.com/office/drawing/2014/main" id="{C4F059B6-A9B5-C741-888C-EF29344D1359}"/>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2" name="Line 21">
              <a:extLst>
                <a:ext uri="{FF2B5EF4-FFF2-40B4-BE49-F238E27FC236}">
                  <a16:creationId xmlns:a16="http://schemas.microsoft.com/office/drawing/2014/main" id="{78D7EC07-A028-4B4D-B448-56CBA921AD90}"/>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3" name="Text Box 23">
              <a:extLst>
                <a:ext uri="{FF2B5EF4-FFF2-40B4-BE49-F238E27FC236}">
                  <a16:creationId xmlns:a16="http://schemas.microsoft.com/office/drawing/2014/main" id="{4B292F06-0AC4-9A40-9559-59419525245D}"/>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94" name="Text Box 24">
              <a:extLst>
                <a:ext uri="{FF2B5EF4-FFF2-40B4-BE49-F238E27FC236}">
                  <a16:creationId xmlns:a16="http://schemas.microsoft.com/office/drawing/2014/main" id="{D7F5BBF9-22C1-F24D-8367-979CB59A6BCE}"/>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95" name="Text Box 25">
              <a:extLst>
                <a:ext uri="{FF2B5EF4-FFF2-40B4-BE49-F238E27FC236}">
                  <a16:creationId xmlns:a16="http://schemas.microsoft.com/office/drawing/2014/main" id="{49944882-FBDC-7A46-A493-7BBA8F55FBF1}"/>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96" name="Text Box 26">
              <a:extLst>
                <a:ext uri="{FF2B5EF4-FFF2-40B4-BE49-F238E27FC236}">
                  <a16:creationId xmlns:a16="http://schemas.microsoft.com/office/drawing/2014/main" id="{66D17C72-42BA-FE4D-B819-5672A0A22D82}"/>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97" name="Line 27">
              <a:extLst>
                <a:ext uri="{FF2B5EF4-FFF2-40B4-BE49-F238E27FC236}">
                  <a16:creationId xmlns:a16="http://schemas.microsoft.com/office/drawing/2014/main" id="{EAD489AD-35B4-ED4A-903C-EA97146D3096}"/>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8" name="圆角矩形 97">
              <a:extLst>
                <a:ext uri="{FF2B5EF4-FFF2-40B4-BE49-F238E27FC236}">
                  <a16:creationId xmlns:a16="http://schemas.microsoft.com/office/drawing/2014/main" id="{62C23A61-CAD5-D343-AA48-1506E37BAE4C}"/>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99" name="圆角矩形 98">
              <a:extLst>
                <a:ext uri="{FF2B5EF4-FFF2-40B4-BE49-F238E27FC236}">
                  <a16:creationId xmlns:a16="http://schemas.microsoft.com/office/drawing/2014/main" id="{7235CFC9-3FE8-3549-869F-C1801920D22E}"/>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100" name="Line 22">
              <a:extLst>
                <a:ext uri="{FF2B5EF4-FFF2-40B4-BE49-F238E27FC236}">
                  <a16:creationId xmlns:a16="http://schemas.microsoft.com/office/drawing/2014/main" id="{32A26882-7680-904F-8CC1-D7D5020E9536}"/>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1" name="文本框 100">
              <a:extLst>
                <a:ext uri="{FF2B5EF4-FFF2-40B4-BE49-F238E27FC236}">
                  <a16:creationId xmlns:a16="http://schemas.microsoft.com/office/drawing/2014/main" id="{A4D56859-1A5F-2D47-A4A7-8A196A315E28}"/>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102" name="文本框 101">
              <a:extLst>
                <a:ext uri="{FF2B5EF4-FFF2-40B4-BE49-F238E27FC236}">
                  <a16:creationId xmlns:a16="http://schemas.microsoft.com/office/drawing/2014/main" id="{03C90F3B-65C3-4942-A674-CCEBEDF79C83}"/>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103" name="文本框 102">
              <a:extLst>
                <a:ext uri="{FF2B5EF4-FFF2-40B4-BE49-F238E27FC236}">
                  <a16:creationId xmlns:a16="http://schemas.microsoft.com/office/drawing/2014/main" id="{20AE1990-783C-5C42-8936-793FCF119857}"/>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104" name="文本框 103">
              <a:extLst>
                <a:ext uri="{FF2B5EF4-FFF2-40B4-BE49-F238E27FC236}">
                  <a16:creationId xmlns:a16="http://schemas.microsoft.com/office/drawing/2014/main" id="{CB8B3A1C-57DF-5E4F-AF41-A47689E5290A}"/>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105" name="文本框 104">
              <a:extLst>
                <a:ext uri="{FF2B5EF4-FFF2-40B4-BE49-F238E27FC236}">
                  <a16:creationId xmlns:a16="http://schemas.microsoft.com/office/drawing/2014/main" id="{5E62C16C-0D89-5747-8E42-C74FAE1D233B}"/>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106" name="文本框 105">
              <a:extLst>
                <a:ext uri="{FF2B5EF4-FFF2-40B4-BE49-F238E27FC236}">
                  <a16:creationId xmlns:a16="http://schemas.microsoft.com/office/drawing/2014/main" id="{7E9BECD6-E424-9C49-87A1-512A844FC3A4}"/>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Tree>
    <p:extLst>
      <p:ext uri="{BB962C8B-B14F-4D97-AF65-F5344CB8AC3E}">
        <p14:creationId xmlns:p14="http://schemas.microsoft.com/office/powerpoint/2010/main" val="24944022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1000"/>
                                        <p:tgtEl>
                                          <p:spTgt spid="78"/>
                                        </p:tgtEl>
                                      </p:cBhvr>
                                    </p:animEffect>
                                    <p:anim calcmode="lin" valueType="num">
                                      <p:cBhvr>
                                        <p:cTn id="8" dur="1000" fill="hold"/>
                                        <p:tgtEl>
                                          <p:spTgt spid="78"/>
                                        </p:tgtEl>
                                        <p:attrNameLst>
                                          <p:attrName>ppt_x</p:attrName>
                                        </p:attrNameLst>
                                      </p:cBhvr>
                                      <p:tavLst>
                                        <p:tav tm="0">
                                          <p:val>
                                            <p:strVal val="#ppt_x"/>
                                          </p:val>
                                        </p:tav>
                                        <p:tav tm="100000">
                                          <p:val>
                                            <p:strVal val="#ppt_x"/>
                                          </p:val>
                                        </p:tav>
                                      </p:tavLst>
                                    </p:anim>
                                    <p:anim calcmode="lin" valueType="num">
                                      <p:cBhvr>
                                        <p:cTn id="9" dur="10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a:t>
            </a:r>
            <a:r>
              <a:rPr lang="en-US" altLang="zh-CN" sz="2400" dirty="0">
                <a:solidFill>
                  <a:srgbClr val="CC6600"/>
                </a:solidFill>
                <a:sym typeface="微软雅黑" panose="020B0503020204020204" pitchFamily="34" charset="-122"/>
              </a:rPr>
              <a:t>4</a:t>
            </a:r>
            <a:r>
              <a:rPr lang="zh-CN" altLang="en-US" sz="2400" dirty="0">
                <a:solidFill>
                  <a:srgbClr val="CC6600"/>
                </a:solidFill>
                <a:sym typeface="微软雅黑" panose="020B0503020204020204" pitchFamily="34" charset="-122"/>
              </a:rPr>
              <a:t>）判定</a:t>
            </a:r>
            <a:r>
              <a:rPr lang="en-US" altLang="zh-CN" sz="2400" dirty="0">
                <a:solidFill>
                  <a:srgbClr val="CC6600"/>
                </a:solidFill>
                <a:sym typeface="微软雅黑" panose="020B0503020204020204" pitchFamily="34" charset="-122"/>
              </a:rPr>
              <a:t>/</a:t>
            </a:r>
            <a:r>
              <a:rPr lang="zh-CN" altLang="en-US" sz="2400" dirty="0">
                <a:solidFill>
                  <a:srgbClr val="CC6600"/>
                </a:solidFill>
                <a:sym typeface="微软雅黑" panose="020B0503020204020204" pitchFamily="34" charset="-122"/>
              </a:rPr>
              <a:t>条件</a:t>
            </a:r>
            <a:r>
              <a:rPr lang="zh-CN" altLang="zh-CN" sz="2400" dirty="0">
                <a:solidFill>
                  <a:srgbClr val="CC6600"/>
                </a:solidFill>
                <a:sym typeface="微软雅黑" panose="020B0503020204020204" pitchFamily="34" charset="-122"/>
              </a:rPr>
              <a:t>覆盖</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执行足够的测试用例，使得被测试程序中</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每个判定分支至少获得一次通过</a:t>
            </a:r>
            <a:r>
              <a:rPr lang="zh-CN" altLang="zh-CN" dirty="0">
                <a:solidFill>
                  <a:srgbClr val="000000"/>
                </a:solidFill>
                <a:latin typeface="微软雅黑" panose="020B0503020204020204" pitchFamily="34" charset="-122"/>
                <a:sym typeface="微软雅黑" panose="020B0503020204020204" pitchFamily="34" charset="-122"/>
              </a:rPr>
              <a:t>，同时各判定中</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每个条件至少获得一次可能取值的机会</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9228078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grpSp>
        <p:nvGrpSpPr>
          <p:cNvPr id="81" name="组合 80">
            <a:extLst>
              <a:ext uri="{FF2B5EF4-FFF2-40B4-BE49-F238E27FC236}">
                <a16:creationId xmlns:a16="http://schemas.microsoft.com/office/drawing/2014/main" id="{D83F9404-74F2-3E46-8FF1-2B413D446CFC}"/>
              </a:ext>
            </a:extLst>
          </p:cNvPr>
          <p:cNvGrpSpPr/>
          <p:nvPr/>
        </p:nvGrpSpPr>
        <p:grpSpPr>
          <a:xfrm>
            <a:off x="5384948" y="1975535"/>
            <a:ext cx="3097213" cy="3988929"/>
            <a:chOff x="5384948" y="1975535"/>
            <a:chExt cx="3097213" cy="3988929"/>
          </a:xfrm>
        </p:grpSpPr>
        <p:sp>
          <p:nvSpPr>
            <p:cNvPr id="82" name="Line 9">
              <a:extLst>
                <a:ext uri="{FF2B5EF4-FFF2-40B4-BE49-F238E27FC236}">
                  <a16:creationId xmlns:a16="http://schemas.microsoft.com/office/drawing/2014/main" id="{1D0C8C66-15B3-D34B-A3E3-3C7EDBC8806B}"/>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83" name="AutoShape 10">
              <a:extLst>
                <a:ext uri="{FF2B5EF4-FFF2-40B4-BE49-F238E27FC236}">
                  <a16:creationId xmlns:a16="http://schemas.microsoft.com/office/drawing/2014/main" id="{D54F2645-9EC5-C044-B307-7DAFFEDAF83E}"/>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84" name="Line 11">
              <a:extLst>
                <a:ext uri="{FF2B5EF4-FFF2-40B4-BE49-F238E27FC236}">
                  <a16:creationId xmlns:a16="http://schemas.microsoft.com/office/drawing/2014/main" id="{C93DFC49-6285-C34A-964B-7CF0C977DF67}"/>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5" name="Rectangle 12">
              <a:extLst>
                <a:ext uri="{FF2B5EF4-FFF2-40B4-BE49-F238E27FC236}">
                  <a16:creationId xmlns:a16="http://schemas.microsoft.com/office/drawing/2014/main" id="{359C20E4-38A0-E04D-87FF-AE2712C33D23}"/>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86" name="Line 13">
              <a:extLst>
                <a:ext uri="{FF2B5EF4-FFF2-40B4-BE49-F238E27FC236}">
                  <a16:creationId xmlns:a16="http://schemas.microsoft.com/office/drawing/2014/main" id="{53D80400-1E84-7642-9B1B-036A5788C43F}"/>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7" name="Line 14">
              <a:extLst>
                <a:ext uri="{FF2B5EF4-FFF2-40B4-BE49-F238E27FC236}">
                  <a16:creationId xmlns:a16="http://schemas.microsoft.com/office/drawing/2014/main" id="{EC6F0B59-D34B-A54F-98C7-EE40354AC995}"/>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8" name="Line 15">
              <a:extLst>
                <a:ext uri="{FF2B5EF4-FFF2-40B4-BE49-F238E27FC236}">
                  <a16:creationId xmlns:a16="http://schemas.microsoft.com/office/drawing/2014/main" id="{445DFCAC-1AA6-484D-ABA6-A650639E9AF3}"/>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89" name="Line 16">
              <a:extLst>
                <a:ext uri="{FF2B5EF4-FFF2-40B4-BE49-F238E27FC236}">
                  <a16:creationId xmlns:a16="http://schemas.microsoft.com/office/drawing/2014/main" id="{D5E58D52-DB12-FF4A-AED0-E713847EE9CC}"/>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0" name="AutoShape 17">
              <a:extLst>
                <a:ext uri="{FF2B5EF4-FFF2-40B4-BE49-F238E27FC236}">
                  <a16:creationId xmlns:a16="http://schemas.microsoft.com/office/drawing/2014/main" id="{C94158ED-B655-D64A-84FF-B0351DCC38D8}"/>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91" name="Rectangle 18">
              <a:extLst>
                <a:ext uri="{FF2B5EF4-FFF2-40B4-BE49-F238E27FC236}">
                  <a16:creationId xmlns:a16="http://schemas.microsoft.com/office/drawing/2014/main" id="{61435DBE-F5CB-8448-9696-E7F925EBAFC8}"/>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92" name="Line 19">
              <a:extLst>
                <a:ext uri="{FF2B5EF4-FFF2-40B4-BE49-F238E27FC236}">
                  <a16:creationId xmlns:a16="http://schemas.microsoft.com/office/drawing/2014/main" id="{EF0663E4-6645-4742-8B6D-47EC317B9D8E}"/>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3" name="Line 20">
              <a:extLst>
                <a:ext uri="{FF2B5EF4-FFF2-40B4-BE49-F238E27FC236}">
                  <a16:creationId xmlns:a16="http://schemas.microsoft.com/office/drawing/2014/main" id="{CD64DBAE-BA50-BF47-A468-FFBB15BF998D}"/>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4" name="Line 21">
              <a:extLst>
                <a:ext uri="{FF2B5EF4-FFF2-40B4-BE49-F238E27FC236}">
                  <a16:creationId xmlns:a16="http://schemas.microsoft.com/office/drawing/2014/main" id="{EA6AA5D8-6751-164A-A172-1D5A9DF3D71D}"/>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5" name="Text Box 23">
              <a:extLst>
                <a:ext uri="{FF2B5EF4-FFF2-40B4-BE49-F238E27FC236}">
                  <a16:creationId xmlns:a16="http://schemas.microsoft.com/office/drawing/2014/main" id="{C8519760-9070-F441-87F1-51527979B755}"/>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96" name="Text Box 24">
              <a:extLst>
                <a:ext uri="{FF2B5EF4-FFF2-40B4-BE49-F238E27FC236}">
                  <a16:creationId xmlns:a16="http://schemas.microsoft.com/office/drawing/2014/main" id="{F60B9365-16EF-3041-92AA-4B42E009421A}"/>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97" name="Text Box 25">
              <a:extLst>
                <a:ext uri="{FF2B5EF4-FFF2-40B4-BE49-F238E27FC236}">
                  <a16:creationId xmlns:a16="http://schemas.microsoft.com/office/drawing/2014/main" id="{DE47DEB7-6555-8045-87DC-4C6A69A3AE67}"/>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98" name="Text Box 26">
              <a:extLst>
                <a:ext uri="{FF2B5EF4-FFF2-40B4-BE49-F238E27FC236}">
                  <a16:creationId xmlns:a16="http://schemas.microsoft.com/office/drawing/2014/main" id="{66D8D74C-6DBE-6742-9AD5-5050F7E4022A}"/>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99" name="Line 27">
              <a:extLst>
                <a:ext uri="{FF2B5EF4-FFF2-40B4-BE49-F238E27FC236}">
                  <a16:creationId xmlns:a16="http://schemas.microsoft.com/office/drawing/2014/main" id="{4BDDDD90-7851-0348-B80A-5F2AB65F1BA5}"/>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0" name="圆角矩形 99">
              <a:extLst>
                <a:ext uri="{FF2B5EF4-FFF2-40B4-BE49-F238E27FC236}">
                  <a16:creationId xmlns:a16="http://schemas.microsoft.com/office/drawing/2014/main" id="{77D76C1C-3931-5E4C-8F82-AC8B25608367}"/>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101" name="圆角矩形 100">
              <a:extLst>
                <a:ext uri="{FF2B5EF4-FFF2-40B4-BE49-F238E27FC236}">
                  <a16:creationId xmlns:a16="http://schemas.microsoft.com/office/drawing/2014/main" id="{8A6258C9-7EF6-0446-B0DB-13721858B4CB}"/>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102" name="Line 22">
              <a:extLst>
                <a:ext uri="{FF2B5EF4-FFF2-40B4-BE49-F238E27FC236}">
                  <a16:creationId xmlns:a16="http://schemas.microsoft.com/office/drawing/2014/main" id="{3BA1C0A4-3FE1-0145-B687-9C1BB582E443}"/>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3" name="文本框 102">
              <a:extLst>
                <a:ext uri="{FF2B5EF4-FFF2-40B4-BE49-F238E27FC236}">
                  <a16:creationId xmlns:a16="http://schemas.microsoft.com/office/drawing/2014/main" id="{DB9641D5-6ED8-004C-B095-7B97EDA927DB}"/>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104" name="文本框 103">
              <a:extLst>
                <a:ext uri="{FF2B5EF4-FFF2-40B4-BE49-F238E27FC236}">
                  <a16:creationId xmlns:a16="http://schemas.microsoft.com/office/drawing/2014/main" id="{008976FE-C9E3-5642-A64C-1C6F6E47974D}"/>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105" name="文本框 104">
              <a:extLst>
                <a:ext uri="{FF2B5EF4-FFF2-40B4-BE49-F238E27FC236}">
                  <a16:creationId xmlns:a16="http://schemas.microsoft.com/office/drawing/2014/main" id="{8DE1AE44-79AE-1844-B2C0-FB3B5554942C}"/>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106" name="文本框 105">
              <a:extLst>
                <a:ext uri="{FF2B5EF4-FFF2-40B4-BE49-F238E27FC236}">
                  <a16:creationId xmlns:a16="http://schemas.microsoft.com/office/drawing/2014/main" id="{88337501-C404-8F4D-81C9-04F373C748F0}"/>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107" name="文本框 106">
              <a:extLst>
                <a:ext uri="{FF2B5EF4-FFF2-40B4-BE49-F238E27FC236}">
                  <a16:creationId xmlns:a16="http://schemas.microsoft.com/office/drawing/2014/main" id="{343FE14B-E91F-3048-8B7B-6FAE3FFBFEE7}"/>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108" name="文本框 107">
              <a:extLst>
                <a:ext uri="{FF2B5EF4-FFF2-40B4-BE49-F238E27FC236}">
                  <a16:creationId xmlns:a16="http://schemas.microsoft.com/office/drawing/2014/main" id="{3B623F2C-CC32-C948-AF4A-7C6BF6929C8A}"/>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
        <p:nvSpPr>
          <p:cNvPr id="109" name="矩形 108">
            <a:extLst>
              <a:ext uri="{FF2B5EF4-FFF2-40B4-BE49-F238E27FC236}">
                <a16:creationId xmlns:a16="http://schemas.microsoft.com/office/drawing/2014/main" id="{58AD0CF3-00CA-6F48-9EB6-B9799818870A}"/>
              </a:ext>
            </a:extLst>
          </p:cNvPr>
          <p:cNvSpPr/>
          <p:nvPr/>
        </p:nvSpPr>
        <p:spPr>
          <a:xfrm>
            <a:off x="1007073" y="1970346"/>
            <a:ext cx="4357973" cy="1107996"/>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条件覆盖：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sacbed</a:t>
            </a:r>
            <a:endParaRPr lang="en-US" altLang="zh-CN" sz="2000" dirty="0">
              <a:solidFill>
                <a:srgbClr val="FF0000"/>
              </a:solidFill>
              <a:latin typeface="Times New Roman" panose="02020603050405020304" pitchFamily="18" charset="0"/>
            </a:endParaRPr>
          </a:p>
          <a:p>
            <a:pPr algn="just">
              <a:spcBef>
                <a:spcPct val="20000"/>
              </a:spcBef>
            </a:pP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sabd</a:t>
            </a:r>
            <a:endParaRPr lang="en-US" altLang="zh-CN" dirty="0">
              <a:solidFill>
                <a:srgbClr val="FF0000"/>
              </a:solidFill>
              <a:latin typeface="Times New Roman" panose="02020603050405020304" pitchFamily="18" charset="0"/>
            </a:endParaRPr>
          </a:p>
        </p:txBody>
      </p:sp>
    </p:spTree>
    <p:extLst>
      <p:ext uri="{BB962C8B-B14F-4D97-AF65-F5344CB8AC3E}">
        <p14:creationId xmlns:p14="http://schemas.microsoft.com/office/powerpoint/2010/main" val="37491311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1000"/>
                                        <p:tgtEl>
                                          <p:spTgt spid="109"/>
                                        </p:tgtEl>
                                      </p:cBhvr>
                                    </p:animEffect>
                                    <p:anim calcmode="lin" valueType="num">
                                      <p:cBhvr>
                                        <p:cTn id="8" dur="1000" fill="hold"/>
                                        <p:tgtEl>
                                          <p:spTgt spid="109"/>
                                        </p:tgtEl>
                                        <p:attrNameLst>
                                          <p:attrName>ppt_x</p:attrName>
                                        </p:attrNameLst>
                                      </p:cBhvr>
                                      <p:tavLst>
                                        <p:tav tm="0">
                                          <p:val>
                                            <p:strVal val="#ppt_x"/>
                                          </p:val>
                                        </p:tav>
                                        <p:tav tm="100000">
                                          <p:val>
                                            <p:strVal val="#ppt_x"/>
                                          </p:val>
                                        </p:tav>
                                      </p:tavLst>
                                    </p:anim>
                                    <p:anim calcmode="lin" valueType="num">
                                      <p:cBhvr>
                                        <p:cTn id="9" dur="1000" fill="hold"/>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a:t>
            </a:r>
            <a:r>
              <a:rPr lang="en-US" altLang="zh-CN" sz="2400" dirty="0">
                <a:solidFill>
                  <a:srgbClr val="CC6600"/>
                </a:solidFill>
                <a:sym typeface="微软雅黑" panose="020B0503020204020204" pitchFamily="34" charset="-122"/>
              </a:rPr>
              <a:t>5</a:t>
            </a:r>
            <a:r>
              <a:rPr lang="zh-CN" altLang="en-US" sz="2400" dirty="0">
                <a:solidFill>
                  <a:srgbClr val="CC6600"/>
                </a:solidFill>
                <a:sym typeface="微软雅黑" panose="020B0503020204020204" pitchFamily="34" charset="-122"/>
              </a:rPr>
              <a:t>）条件组合</a:t>
            </a:r>
            <a:r>
              <a:rPr lang="zh-CN" altLang="zh-CN" sz="2400" dirty="0">
                <a:solidFill>
                  <a:srgbClr val="CC6600"/>
                </a:solidFill>
                <a:sym typeface="微软雅黑" panose="020B0503020204020204" pitchFamily="34" charset="-122"/>
              </a:rPr>
              <a:t>覆盖</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执行足够的测试用例，使得被测试程序中每个</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判定条件的各种组合至少获得一次为真和假的机会</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3294685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grpSp>
        <p:nvGrpSpPr>
          <p:cNvPr id="91" name="组合 90">
            <a:extLst>
              <a:ext uri="{FF2B5EF4-FFF2-40B4-BE49-F238E27FC236}">
                <a16:creationId xmlns:a16="http://schemas.microsoft.com/office/drawing/2014/main" id="{952C682F-8BB2-F34A-8C33-D3128D122FCF}"/>
              </a:ext>
            </a:extLst>
          </p:cNvPr>
          <p:cNvGrpSpPr/>
          <p:nvPr/>
        </p:nvGrpSpPr>
        <p:grpSpPr>
          <a:xfrm>
            <a:off x="5384948" y="1975535"/>
            <a:ext cx="3097213" cy="3988929"/>
            <a:chOff x="5384948" y="1975535"/>
            <a:chExt cx="3097213" cy="3988929"/>
          </a:xfrm>
        </p:grpSpPr>
        <p:sp>
          <p:nvSpPr>
            <p:cNvPr id="92" name="Line 9">
              <a:extLst>
                <a:ext uri="{FF2B5EF4-FFF2-40B4-BE49-F238E27FC236}">
                  <a16:creationId xmlns:a16="http://schemas.microsoft.com/office/drawing/2014/main" id="{0BE8136E-13CB-444C-8C7C-A6179066BAF0}"/>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93" name="AutoShape 10">
              <a:extLst>
                <a:ext uri="{FF2B5EF4-FFF2-40B4-BE49-F238E27FC236}">
                  <a16:creationId xmlns:a16="http://schemas.microsoft.com/office/drawing/2014/main" id="{EC49A599-F867-624F-854F-A2EDD2272390}"/>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94" name="Line 11">
              <a:extLst>
                <a:ext uri="{FF2B5EF4-FFF2-40B4-BE49-F238E27FC236}">
                  <a16:creationId xmlns:a16="http://schemas.microsoft.com/office/drawing/2014/main" id="{BD0770A8-DD0F-1E4E-89AA-057DED06C5A6}"/>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5" name="Rectangle 12">
              <a:extLst>
                <a:ext uri="{FF2B5EF4-FFF2-40B4-BE49-F238E27FC236}">
                  <a16:creationId xmlns:a16="http://schemas.microsoft.com/office/drawing/2014/main" id="{57663CA6-72DB-2448-92C1-8712CB2AB298}"/>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96" name="Line 13">
              <a:extLst>
                <a:ext uri="{FF2B5EF4-FFF2-40B4-BE49-F238E27FC236}">
                  <a16:creationId xmlns:a16="http://schemas.microsoft.com/office/drawing/2014/main" id="{DD5A13A7-832C-6849-9EB0-2F0D8E7CC2F0}"/>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7" name="Line 14">
              <a:extLst>
                <a:ext uri="{FF2B5EF4-FFF2-40B4-BE49-F238E27FC236}">
                  <a16:creationId xmlns:a16="http://schemas.microsoft.com/office/drawing/2014/main" id="{9B4AA6BE-49C2-8547-B2FF-48EEB3E835EE}"/>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8" name="Line 15">
              <a:extLst>
                <a:ext uri="{FF2B5EF4-FFF2-40B4-BE49-F238E27FC236}">
                  <a16:creationId xmlns:a16="http://schemas.microsoft.com/office/drawing/2014/main" id="{4F2C02BB-61F4-6447-8B69-4C45ED439464}"/>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9" name="Line 16">
              <a:extLst>
                <a:ext uri="{FF2B5EF4-FFF2-40B4-BE49-F238E27FC236}">
                  <a16:creationId xmlns:a16="http://schemas.microsoft.com/office/drawing/2014/main" id="{87F55FC9-7A54-9C41-8CC7-3651E8DFDC8E}"/>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0" name="AutoShape 17">
              <a:extLst>
                <a:ext uri="{FF2B5EF4-FFF2-40B4-BE49-F238E27FC236}">
                  <a16:creationId xmlns:a16="http://schemas.microsoft.com/office/drawing/2014/main" id="{8A668BEF-4F37-B640-A660-DD09B2DFAE13}"/>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101" name="Rectangle 18">
              <a:extLst>
                <a:ext uri="{FF2B5EF4-FFF2-40B4-BE49-F238E27FC236}">
                  <a16:creationId xmlns:a16="http://schemas.microsoft.com/office/drawing/2014/main" id="{427591F0-DF75-1E45-A1A7-3083F6892313}"/>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102" name="Line 19">
              <a:extLst>
                <a:ext uri="{FF2B5EF4-FFF2-40B4-BE49-F238E27FC236}">
                  <a16:creationId xmlns:a16="http://schemas.microsoft.com/office/drawing/2014/main" id="{D13D5DC8-5E7A-4A43-BEED-32FB5CD664ED}"/>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3" name="Line 20">
              <a:extLst>
                <a:ext uri="{FF2B5EF4-FFF2-40B4-BE49-F238E27FC236}">
                  <a16:creationId xmlns:a16="http://schemas.microsoft.com/office/drawing/2014/main" id="{64DD3AFB-C87A-604B-97DC-66F91B8F66E3}"/>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4" name="Line 21">
              <a:extLst>
                <a:ext uri="{FF2B5EF4-FFF2-40B4-BE49-F238E27FC236}">
                  <a16:creationId xmlns:a16="http://schemas.microsoft.com/office/drawing/2014/main" id="{76E01833-3828-EB42-BC5C-0B3D86B529BE}"/>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5" name="Text Box 23">
              <a:extLst>
                <a:ext uri="{FF2B5EF4-FFF2-40B4-BE49-F238E27FC236}">
                  <a16:creationId xmlns:a16="http://schemas.microsoft.com/office/drawing/2014/main" id="{D5F8E067-6DB2-9B41-AF40-A8F55917AA9D}"/>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106" name="Text Box 24">
              <a:extLst>
                <a:ext uri="{FF2B5EF4-FFF2-40B4-BE49-F238E27FC236}">
                  <a16:creationId xmlns:a16="http://schemas.microsoft.com/office/drawing/2014/main" id="{6B8F51CB-9926-BF48-A9E9-BC0FD8BB48A7}"/>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107" name="Text Box 25">
              <a:extLst>
                <a:ext uri="{FF2B5EF4-FFF2-40B4-BE49-F238E27FC236}">
                  <a16:creationId xmlns:a16="http://schemas.microsoft.com/office/drawing/2014/main" id="{0F70E655-4C10-F542-AC35-AA51AF886B96}"/>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108" name="Text Box 26">
              <a:extLst>
                <a:ext uri="{FF2B5EF4-FFF2-40B4-BE49-F238E27FC236}">
                  <a16:creationId xmlns:a16="http://schemas.microsoft.com/office/drawing/2014/main" id="{FD1CC19D-234D-974F-85FD-4B1D86D086D9}"/>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109" name="Line 27">
              <a:extLst>
                <a:ext uri="{FF2B5EF4-FFF2-40B4-BE49-F238E27FC236}">
                  <a16:creationId xmlns:a16="http://schemas.microsoft.com/office/drawing/2014/main" id="{3C7D1A4B-CDAF-904D-9188-EC3E81CBBFA1}"/>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0" name="圆角矩形 109">
              <a:extLst>
                <a:ext uri="{FF2B5EF4-FFF2-40B4-BE49-F238E27FC236}">
                  <a16:creationId xmlns:a16="http://schemas.microsoft.com/office/drawing/2014/main" id="{9DF725CD-9659-CC4F-A763-C454F192A03C}"/>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111" name="圆角矩形 110">
              <a:extLst>
                <a:ext uri="{FF2B5EF4-FFF2-40B4-BE49-F238E27FC236}">
                  <a16:creationId xmlns:a16="http://schemas.microsoft.com/office/drawing/2014/main" id="{A65D8B74-D7B7-DD4A-9304-CCDDC95974B9}"/>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112" name="Line 22">
              <a:extLst>
                <a:ext uri="{FF2B5EF4-FFF2-40B4-BE49-F238E27FC236}">
                  <a16:creationId xmlns:a16="http://schemas.microsoft.com/office/drawing/2014/main" id="{F80E60A0-0AB6-7F48-817E-8A8B14C4583D}"/>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3" name="文本框 112">
              <a:extLst>
                <a:ext uri="{FF2B5EF4-FFF2-40B4-BE49-F238E27FC236}">
                  <a16:creationId xmlns:a16="http://schemas.microsoft.com/office/drawing/2014/main" id="{5FCCECE1-E144-3647-B737-0C9CCB2D77F2}"/>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114" name="文本框 113">
              <a:extLst>
                <a:ext uri="{FF2B5EF4-FFF2-40B4-BE49-F238E27FC236}">
                  <a16:creationId xmlns:a16="http://schemas.microsoft.com/office/drawing/2014/main" id="{E762BF51-25C7-1F42-9793-6B952C663F82}"/>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115" name="文本框 114">
              <a:extLst>
                <a:ext uri="{FF2B5EF4-FFF2-40B4-BE49-F238E27FC236}">
                  <a16:creationId xmlns:a16="http://schemas.microsoft.com/office/drawing/2014/main" id="{6435420A-C8B5-8C4A-B59F-777F3ED9EA1F}"/>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116" name="文本框 115">
              <a:extLst>
                <a:ext uri="{FF2B5EF4-FFF2-40B4-BE49-F238E27FC236}">
                  <a16:creationId xmlns:a16="http://schemas.microsoft.com/office/drawing/2014/main" id="{6CAA2C6E-E232-1841-BFC9-C1D00670B1B8}"/>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117" name="文本框 116">
              <a:extLst>
                <a:ext uri="{FF2B5EF4-FFF2-40B4-BE49-F238E27FC236}">
                  <a16:creationId xmlns:a16="http://schemas.microsoft.com/office/drawing/2014/main" id="{ECC3BB5A-C583-094B-AA93-16535ABD1D5C}"/>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118" name="文本框 117">
              <a:extLst>
                <a:ext uri="{FF2B5EF4-FFF2-40B4-BE49-F238E27FC236}">
                  <a16:creationId xmlns:a16="http://schemas.microsoft.com/office/drawing/2014/main" id="{E99333BE-1BDF-F842-BB98-35176D13819E}"/>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
        <p:nvSpPr>
          <p:cNvPr id="119" name="矩形 118">
            <a:extLst>
              <a:ext uri="{FF2B5EF4-FFF2-40B4-BE49-F238E27FC236}">
                <a16:creationId xmlns:a16="http://schemas.microsoft.com/office/drawing/2014/main" id="{C7050633-A1D2-AC4B-A0FD-D49F16CC27FE}"/>
              </a:ext>
            </a:extLst>
          </p:cNvPr>
          <p:cNvSpPr/>
          <p:nvPr/>
        </p:nvSpPr>
        <p:spPr>
          <a:xfrm>
            <a:off x="1007073" y="1970346"/>
            <a:ext cx="4357973" cy="4358116"/>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5</a:t>
            </a:r>
            <a:r>
              <a:rPr lang="zh-CN" altLang="en-US" dirty="0">
                <a:solidFill>
                  <a:schemeClr val="accent5">
                    <a:lumMod val="75000"/>
                  </a:schemeClr>
                </a:solidFill>
                <a:latin typeface="Times New Roman" panose="02020603050405020304" pitchFamily="18" charset="0"/>
              </a:rPr>
              <a:t>）条件组合覆盖：</a:t>
            </a:r>
            <a:endParaRPr lang="en-US" altLang="zh-CN" dirty="0">
              <a:solidFill>
                <a:schemeClr val="accent5">
                  <a:lumMod val="75000"/>
                </a:schemeClr>
              </a:solidFill>
              <a:latin typeface="Times New Roman" panose="02020603050405020304" pitchFamily="18" charset="0"/>
            </a:endParaRPr>
          </a:p>
          <a:p>
            <a:pPr algn="just">
              <a:spcBef>
                <a:spcPct val="20000"/>
              </a:spcBef>
            </a:pP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的条件：</a:t>
            </a:r>
            <a:r>
              <a:rPr lang="en-US" altLang="zh-CN" dirty="0">
                <a:solidFill>
                  <a:schemeClr val="accent5">
                    <a:lumMod val="75000"/>
                  </a:schemeClr>
                </a:solidFill>
                <a:latin typeface="Times New Roman" panose="02020603050405020304" pitchFamily="18" charset="0"/>
              </a:rPr>
              <a:t>A &gt; 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a:t>
            </a:r>
            <a:r>
              <a:rPr lang="zh-CN" altLang="en-US" dirty="0">
                <a:solidFill>
                  <a:schemeClr val="accent5">
                    <a:lumMod val="75000"/>
                  </a:schemeClr>
                </a:solidFill>
                <a:latin typeface="Times New Roman" panose="02020603050405020304" pitchFamily="18" charset="0"/>
              </a:rPr>
              <a:t> </a:t>
            </a:r>
            <a:r>
              <a:rPr lang="zh-CN"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B</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B</a:t>
            </a:r>
            <a:r>
              <a:rPr lang="zh-CN" altLang="en-US" dirty="0">
                <a:solidFill>
                  <a:schemeClr val="accent5">
                    <a:lumMod val="75000"/>
                  </a:schemeClr>
                </a:solidFill>
                <a:latin typeface="Times New Roman" panose="02020603050405020304" pitchFamily="18" charset="0"/>
              </a:rPr>
              <a:t> </a:t>
            </a:r>
            <a:r>
              <a:rPr lang="zh-CN"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p>
          <a:p>
            <a:pPr algn="just">
              <a:spcBef>
                <a:spcPct val="20000"/>
              </a:spcBef>
            </a:pPr>
            <a:r>
              <a:rPr lang="zh-CN" altLang="en-US" dirty="0">
                <a:solidFill>
                  <a:schemeClr val="accent5">
                    <a:lumMod val="75000"/>
                  </a:schemeClr>
                </a:solidFill>
                <a:latin typeface="Times New Roman" panose="02020603050405020304" pitchFamily="18" charset="0"/>
              </a:rPr>
              <a:t>判定</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的条件：</a:t>
            </a:r>
            <a:r>
              <a:rPr lang="en-US" altLang="zh-CN" dirty="0">
                <a:solidFill>
                  <a:schemeClr val="accent5">
                    <a:lumMod val="75000"/>
                  </a:schemeClr>
                </a:solidFill>
                <a:latin typeface="Times New Roman" panose="02020603050405020304" pitchFamily="18" charset="0"/>
              </a:rPr>
              <a:t>A</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A</a:t>
            </a:r>
            <a:r>
              <a:rPr lang="zh-CN" altLang="en-US" dirty="0">
                <a:solidFill>
                  <a:schemeClr val="accent5">
                    <a:lumMod val="75000"/>
                  </a:schemeClr>
                </a:solidFill>
                <a:latin typeface="Times New Roman" panose="02020603050405020304" pitchFamily="18" charset="0"/>
              </a:rPr>
              <a:t> </a:t>
            </a:r>
            <a:r>
              <a:rPr lang="zh-CN"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X</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&gt;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X</a:t>
            </a:r>
            <a:r>
              <a:rPr lang="zh-CN" altLang="en-US" dirty="0">
                <a:solidFill>
                  <a:schemeClr val="accent5">
                    <a:lumMod val="75000"/>
                  </a:schemeClr>
                </a:solidFill>
                <a:latin typeface="Times New Roman" panose="02020603050405020304" pitchFamily="18" charset="0"/>
              </a:rPr>
              <a:t> </a:t>
            </a:r>
            <a:r>
              <a:rPr lang="zh-CN" altLang="zh-CN" dirty="0">
                <a:solidFill>
                  <a:schemeClr val="accent5">
                    <a:lumMod val="75000"/>
                  </a:schemeClr>
                </a:solidFill>
                <a:latin typeface="Times New Roman" panose="02020603050405020304" pitchFamily="18" charset="0"/>
              </a:rPr>
              <a:t>≤</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p>
          <a:p>
            <a:pPr algn="just">
              <a:spcBef>
                <a:spcPct val="20000"/>
              </a:spcBef>
            </a:pPr>
            <a:r>
              <a:rPr lang="zh-CN" altLang="en-US" dirty="0">
                <a:solidFill>
                  <a:schemeClr val="accent5">
                    <a:lumMod val="75000"/>
                  </a:schemeClr>
                </a:solidFill>
                <a:latin typeface="Times New Roman" panose="02020603050405020304" pitchFamily="18" charset="0"/>
              </a:rPr>
              <a:t>共组成</a:t>
            </a:r>
            <a:r>
              <a:rPr lang="en-US" altLang="zh-CN" dirty="0">
                <a:solidFill>
                  <a:schemeClr val="accent5">
                    <a:lumMod val="75000"/>
                  </a:schemeClr>
                </a:solidFill>
                <a:latin typeface="Times New Roman" panose="02020603050405020304" pitchFamily="18" charset="0"/>
              </a:rPr>
              <a:t>8</a:t>
            </a:r>
            <a:r>
              <a:rPr lang="zh-CN" altLang="en-US" dirty="0">
                <a:solidFill>
                  <a:schemeClr val="accent5">
                    <a:lumMod val="75000"/>
                  </a:schemeClr>
                </a:solidFill>
                <a:latin typeface="Times New Roman" panose="02020603050405020304" pitchFamily="18" charset="0"/>
              </a:rPr>
              <a:t>种条件组合</a:t>
            </a:r>
            <a:endParaRPr lang="en-US" altLang="zh-CN" dirty="0">
              <a:solidFill>
                <a:schemeClr val="accent5">
                  <a:lumMod val="75000"/>
                </a:schemeClr>
              </a:solidFill>
              <a:latin typeface="Times New Roman" panose="02020603050405020304" pitchFamily="18" charset="0"/>
            </a:endParaRP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zh-CN" dirty="0">
                <a:solidFill>
                  <a:srgbClr val="FF0000"/>
                </a:solidFill>
                <a:latin typeface="Times New Roman" panose="02020603050405020304" pitchFamily="18" charset="0"/>
              </a:rPr>
              <a:t> ≤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zh-CN" dirty="0">
                <a:solidFill>
                  <a:srgbClr val="FF0000"/>
                </a:solidFill>
                <a:latin typeface="Times New Roman" panose="02020603050405020304" pitchFamily="18" charset="0"/>
              </a:rPr>
              <a:t> ≤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algn="just">
              <a:spcBef>
                <a:spcPct val="20000"/>
              </a:spcBef>
            </a:pPr>
            <a:endParaRPr lang="en-US" altLang="zh-CN" dirty="0">
              <a:solidFill>
                <a:schemeClr val="accent5">
                  <a:lumMod val="75000"/>
                </a:schemeClr>
              </a:solidFill>
              <a:latin typeface="Times New Roman" panose="02020603050405020304" pitchFamily="18" charset="0"/>
            </a:endParaRPr>
          </a:p>
        </p:txBody>
      </p:sp>
    </p:spTree>
    <p:extLst>
      <p:ext uri="{BB962C8B-B14F-4D97-AF65-F5344CB8AC3E}">
        <p14:creationId xmlns:p14="http://schemas.microsoft.com/office/powerpoint/2010/main" val="10788109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anim calcmode="lin" valueType="num">
                                      <p:cBhvr>
                                        <p:cTn id="8" dur="1000" fill="hold"/>
                                        <p:tgtEl>
                                          <p:spTgt spid="119"/>
                                        </p:tgtEl>
                                        <p:attrNameLst>
                                          <p:attrName>ppt_x</p:attrName>
                                        </p:attrNameLst>
                                      </p:cBhvr>
                                      <p:tavLst>
                                        <p:tav tm="0">
                                          <p:val>
                                            <p:strVal val="#ppt_x"/>
                                          </p:val>
                                        </p:tav>
                                        <p:tav tm="100000">
                                          <p:val>
                                            <p:strVal val="#ppt_x"/>
                                          </p:val>
                                        </p:tav>
                                      </p:tavLst>
                                    </p:anim>
                                    <p:anim calcmode="lin" valueType="num">
                                      <p:cBhvr>
                                        <p:cTn id="9" dur="1000" fill="hold"/>
                                        <p:tgtEl>
                                          <p:spTgt spid="1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逻辑覆盖法</a:t>
            </a:r>
          </a:p>
        </p:txBody>
      </p:sp>
      <p:grpSp>
        <p:nvGrpSpPr>
          <p:cNvPr id="91" name="组合 90">
            <a:extLst>
              <a:ext uri="{FF2B5EF4-FFF2-40B4-BE49-F238E27FC236}">
                <a16:creationId xmlns:a16="http://schemas.microsoft.com/office/drawing/2014/main" id="{952C682F-8BB2-F34A-8C33-D3128D122FCF}"/>
              </a:ext>
            </a:extLst>
          </p:cNvPr>
          <p:cNvGrpSpPr/>
          <p:nvPr/>
        </p:nvGrpSpPr>
        <p:grpSpPr>
          <a:xfrm>
            <a:off x="5384948" y="1975535"/>
            <a:ext cx="3097213" cy="3988929"/>
            <a:chOff x="5384948" y="1975535"/>
            <a:chExt cx="3097213" cy="3988929"/>
          </a:xfrm>
        </p:grpSpPr>
        <p:sp>
          <p:nvSpPr>
            <p:cNvPr id="92" name="Line 9">
              <a:extLst>
                <a:ext uri="{FF2B5EF4-FFF2-40B4-BE49-F238E27FC236}">
                  <a16:creationId xmlns:a16="http://schemas.microsoft.com/office/drawing/2014/main" id="{0BE8136E-13CB-444C-8C7C-A6179066BAF0}"/>
                </a:ext>
              </a:extLst>
            </p:cNvPr>
            <p:cNvSpPr>
              <a:spLocks noChangeShapeType="1"/>
            </p:cNvSpPr>
            <p:nvPr/>
          </p:nvSpPr>
          <p:spPr bwMode="auto">
            <a:xfrm>
              <a:off x="6305741" y="2406850"/>
              <a:ext cx="0" cy="39865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pPr>
                <a:defRPr/>
              </a:pPr>
              <a:endParaRPr lang="zh-CN" altLang="en-US">
                <a:latin typeface="Arial" charset="0"/>
              </a:endParaRPr>
            </a:p>
          </p:txBody>
        </p:sp>
        <p:sp>
          <p:nvSpPr>
            <p:cNvPr id="93" name="AutoShape 10">
              <a:extLst>
                <a:ext uri="{FF2B5EF4-FFF2-40B4-BE49-F238E27FC236}">
                  <a16:creationId xmlns:a16="http://schemas.microsoft.com/office/drawing/2014/main" id="{EC49A599-F867-624F-854F-A2EDD2272390}"/>
                </a:ext>
              </a:extLst>
            </p:cNvPr>
            <p:cNvSpPr>
              <a:spLocks noChangeArrowheads="1"/>
            </p:cNvSpPr>
            <p:nvPr/>
          </p:nvSpPr>
          <p:spPr bwMode="auto">
            <a:xfrm>
              <a:off x="5384948" y="2800908"/>
              <a:ext cx="1835498" cy="631288"/>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A&gt;1</a:t>
              </a:r>
              <a:r>
                <a:rPr lang="zh-CN" altLang="en-US" dirty="0">
                  <a:latin typeface="宋体" pitchFamily="2" charset="-122"/>
                </a:rPr>
                <a:t> </a:t>
              </a:r>
              <a:r>
                <a:rPr lang="en-US" altLang="zh-CN" dirty="0">
                  <a:latin typeface="宋体" pitchFamily="2" charset="-122"/>
                </a:rPr>
                <a:t>AND</a:t>
              </a:r>
              <a:r>
                <a:rPr lang="zh-CN" altLang="en-US" dirty="0">
                  <a:latin typeface="宋体" pitchFamily="2" charset="-122"/>
                </a:rPr>
                <a:t> </a:t>
              </a:r>
              <a:r>
                <a:rPr lang="en-US" altLang="zh-CN" dirty="0">
                  <a:latin typeface="宋体" pitchFamily="2" charset="-122"/>
                </a:rPr>
                <a:t>B=0</a:t>
              </a:r>
            </a:p>
          </p:txBody>
        </p:sp>
        <p:sp>
          <p:nvSpPr>
            <p:cNvPr id="94" name="Line 11">
              <a:extLst>
                <a:ext uri="{FF2B5EF4-FFF2-40B4-BE49-F238E27FC236}">
                  <a16:creationId xmlns:a16="http://schemas.microsoft.com/office/drawing/2014/main" id="{BD0770A8-DD0F-1E4E-89AA-057DED06C5A6}"/>
                </a:ext>
              </a:extLst>
            </p:cNvPr>
            <p:cNvSpPr>
              <a:spLocks noChangeShapeType="1"/>
            </p:cNvSpPr>
            <p:nvPr/>
          </p:nvSpPr>
          <p:spPr bwMode="auto">
            <a:xfrm>
              <a:off x="7256974" y="3126882"/>
              <a:ext cx="630094"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5" name="Rectangle 12">
              <a:extLst>
                <a:ext uri="{FF2B5EF4-FFF2-40B4-BE49-F238E27FC236}">
                  <a16:creationId xmlns:a16="http://schemas.microsoft.com/office/drawing/2014/main" id="{57663CA6-72DB-2448-92C1-8712CB2AB298}"/>
                </a:ext>
              </a:extLst>
            </p:cNvPr>
            <p:cNvSpPr>
              <a:spLocks noChangeArrowheads="1"/>
            </p:cNvSpPr>
            <p:nvPr/>
          </p:nvSpPr>
          <p:spPr bwMode="auto">
            <a:xfrm>
              <a:off x="7322418" y="3418423"/>
              <a:ext cx="1101908"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X:=X/A</a:t>
              </a:r>
            </a:p>
          </p:txBody>
        </p:sp>
        <p:sp>
          <p:nvSpPr>
            <p:cNvPr id="96" name="Line 13">
              <a:extLst>
                <a:ext uri="{FF2B5EF4-FFF2-40B4-BE49-F238E27FC236}">
                  <a16:creationId xmlns:a16="http://schemas.microsoft.com/office/drawing/2014/main" id="{DD5A13A7-832C-6849-9EB0-2F0D8E7CC2F0}"/>
                </a:ext>
              </a:extLst>
            </p:cNvPr>
            <p:cNvSpPr>
              <a:spLocks noChangeShapeType="1"/>
            </p:cNvSpPr>
            <p:nvPr/>
          </p:nvSpPr>
          <p:spPr bwMode="auto">
            <a:xfrm>
              <a:off x="7887070" y="3747840"/>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7" name="Line 14">
              <a:extLst>
                <a:ext uri="{FF2B5EF4-FFF2-40B4-BE49-F238E27FC236}">
                  <a16:creationId xmlns:a16="http://schemas.microsoft.com/office/drawing/2014/main" id="{9B4AA6BE-49C2-8547-B2FF-48EEB3E835EE}"/>
                </a:ext>
              </a:extLst>
            </p:cNvPr>
            <p:cNvSpPr>
              <a:spLocks noChangeShapeType="1"/>
            </p:cNvSpPr>
            <p:nvPr/>
          </p:nvSpPr>
          <p:spPr bwMode="auto">
            <a:xfrm flipH="1">
              <a:off x="6348356" y="3454004"/>
              <a:ext cx="1522" cy="646210"/>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8" name="Line 15">
              <a:extLst>
                <a:ext uri="{FF2B5EF4-FFF2-40B4-BE49-F238E27FC236}">
                  <a16:creationId xmlns:a16="http://schemas.microsoft.com/office/drawing/2014/main" id="{4F2C02BB-61F4-6447-8B69-4C45ED439464}"/>
                </a:ext>
              </a:extLst>
            </p:cNvPr>
            <p:cNvSpPr>
              <a:spLocks noChangeShapeType="1"/>
            </p:cNvSpPr>
            <p:nvPr/>
          </p:nvSpPr>
          <p:spPr bwMode="auto">
            <a:xfrm flipV="1">
              <a:off x="6352922" y="3907384"/>
              <a:ext cx="1538714"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99" name="Line 16">
              <a:extLst>
                <a:ext uri="{FF2B5EF4-FFF2-40B4-BE49-F238E27FC236}">
                  <a16:creationId xmlns:a16="http://schemas.microsoft.com/office/drawing/2014/main" id="{87F55FC9-7A54-9C41-8CC7-3651E8DFDC8E}"/>
                </a:ext>
              </a:extLst>
            </p:cNvPr>
            <p:cNvSpPr>
              <a:spLocks noChangeShapeType="1"/>
            </p:cNvSpPr>
            <p:nvPr/>
          </p:nvSpPr>
          <p:spPr bwMode="auto">
            <a:xfrm>
              <a:off x="7868806" y="3141804"/>
              <a:ext cx="0" cy="278915"/>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0" name="AutoShape 17">
              <a:extLst>
                <a:ext uri="{FF2B5EF4-FFF2-40B4-BE49-F238E27FC236}">
                  <a16:creationId xmlns:a16="http://schemas.microsoft.com/office/drawing/2014/main" id="{8A668BEF-4F37-B640-A660-DD09B2DFAE13}"/>
                </a:ext>
              </a:extLst>
            </p:cNvPr>
            <p:cNvSpPr>
              <a:spLocks noChangeArrowheads="1"/>
            </p:cNvSpPr>
            <p:nvPr/>
          </p:nvSpPr>
          <p:spPr bwMode="auto">
            <a:xfrm>
              <a:off x="5453437" y="4102510"/>
              <a:ext cx="1835498" cy="626697"/>
            </a:xfrm>
            <a:prstGeom prst="diamond">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defRPr/>
              </a:pPr>
              <a:r>
                <a:rPr lang="en-US" altLang="zh-CN" dirty="0">
                  <a:latin typeface="宋体" pitchFamily="2" charset="-122"/>
                </a:rPr>
                <a:t>A=2</a:t>
              </a:r>
              <a:r>
                <a:rPr lang="zh-CN" altLang="en-US" dirty="0">
                  <a:latin typeface="宋体" pitchFamily="2" charset="-122"/>
                </a:rPr>
                <a:t> </a:t>
              </a:r>
              <a:r>
                <a:rPr lang="en-US" altLang="zh-CN" dirty="0">
                  <a:latin typeface="宋体" pitchFamily="2" charset="-122"/>
                </a:rPr>
                <a:t>OR</a:t>
              </a:r>
              <a:r>
                <a:rPr lang="zh-CN" altLang="en-US" dirty="0">
                  <a:latin typeface="宋体" pitchFamily="2" charset="-122"/>
                </a:rPr>
                <a:t> </a:t>
              </a:r>
              <a:r>
                <a:rPr lang="en-US" altLang="zh-CN" dirty="0">
                  <a:latin typeface="宋体" pitchFamily="2" charset="-122"/>
                </a:rPr>
                <a:t>X&gt;1</a:t>
              </a:r>
            </a:p>
          </p:txBody>
        </p:sp>
        <p:sp>
          <p:nvSpPr>
            <p:cNvPr id="101" name="Rectangle 18">
              <a:extLst>
                <a:ext uri="{FF2B5EF4-FFF2-40B4-BE49-F238E27FC236}">
                  <a16:creationId xmlns:a16="http://schemas.microsoft.com/office/drawing/2014/main" id="{427591F0-DF75-1E45-A1A7-3083F6892313}"/>
                </a:ext>
              </a:extLst>
            </p:cNvPr>
            <p:cNvSpPr>
              <a:spLocks noChangeArrowheads="1"/>
            </p:cNvSpPr>
            <p:nvPr/>
          </p:nvSpPr>
          <p:spPr bwMode="auto">
            <a:xfrm>
              <a:off x="7390907" y="4717729"/>
              <a:ext cx="1091254" cy="266289"/>
            </a:xfrm>
            <a:prstGeom prst="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defRPr/>
              </a:pPr>
              <a:r>
                <a:rPr lang="en-US" altLang="zh-CN" dirty="0">
                  <a:latin typeface="宋体" pitchFamily="2" charset="-122"/>
                </a:rPr>
                <a:t>X:=X+1</a:t>
              </a:r>
            </a:p>
          </p:txBody>
        </p:sp>
        <p:sp>
          <p:nvSpPr>
            <p:cNvPr id="102" name="Line 19">
              <a:extLst>
                <a:ext uri="{FF2B5EF4-FFF2-40B4-BE49-F238E27FC236}">
                  <a16:creationId xmlns:a16="http://schemas.microsoft.com/office/drawing/2014/main" id="{D13D5DC8-5E7A-4A43-BEED-32FB5CD664ED}"/>
                </a:ext>
              </a:extLst>
            </p:cNvPr>
            <p:cNvSpPr>
              <a:spLocks noChangeShapeType="1"/>
            </p:cNvSpPr>
            <p:nvPr/>
          </p:nvSpPr>
          <p:spPr bwMode="auto">
            <a:xfrm>
              <a:off x="7937295" y="5048294"/>
              <a:ext cx="0" cy="161839"/>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3" name="Line 20">
              <a:extLst>
                <a:ext uri="{FF2B5EF4-FFF2-40B4-BE49-F238E27FC236}">
                  <a16:creationId xmlns:a16="http://schemas.microsoft.com/office/drawing/2014/main" id="{64DD3AFB-C87A-604B-97DC-66F91B8F66E3}"/>
                </a:ext>
              </a:extLst>
            </p:cNvPr>
            <p:cNvSpPr>
              <a:spLocks noChangeShapeType="1"/>
            </p:cNvSpPr>
            <p:nvPr/>
          </p:nvSpPr>
          <p:spPr bwMode="auto">
            <a:xfrm>
              <a:off x="6380318" y="4784301"/>
              <a:ext cx="0" cy="778206"/>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4" name="Line 21">
              <a:extLst>
                <a:ext uri="{FF2B5EF4-FFF2-40B4-BE49-F238E27FC236}">
                  <a16:creationId xmlns:a16="http://schemas.microsoft.com/office/drawing/2014/main" id="{76E01833-3828-EB42-BC5C-0B3D86B529BE}"/>
                </a:ext>
              </a:extLst>
            </p:cNvPr>
            <p:cNvSpPr>
              <a:spLocks noChangeShapeType="1"/>
            </p:cNvSpPr>
            <p:nvPr/>
          </p:nvSpPr>
          <p:spPr bwMode="auto">
            <a:xfrm flipV="1">
              <a:off x="6383362" y="5208986"/>
              <a:ext cx="1576763" cy="1148"/>
            </a:xfrm>
            <a:prstGeom prst="line">
              <a:avLst/>
            </a:prstGeom>
            <a:noFill/>
            <a:ln w="28575">
              <a:solidFill>
                <a:schemeClr val="tx1"/>
              </a:solidFill>
              <a:round/>
              <a:headEnd type="triangl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05" name="Text Box 23">
              <a:extLst>
                <a:ext uri="{FF2B5EF4-FFF2-40B4-BE49-F238E27FC236}">
                  <a16:creationId xmlns:a16="http://schemas.microsoft.com/office/drawing/2014/main" id="{D5F8E067-6DB2-9B41-AF40-A8F55917AA9D}"/>
                </a:ext>
              </a:extLst>
            </p:cNvPr>
            <p:cNvSpPr txBox="1">
              <a:spLocks noChangeArrowheads="1"/>
            </p:cNvSpPr>
            <p:nvPr/>
          </p:nvSpPr>
          <p:spPr bwMode="auto">
            <a:xfrm>
              <a:off x="7121518" y="2742370"/>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106" name="Text Box 24">
              <a:extLst>
                <a:ext uri="{FF2B5EF4-FFF2-40B4-BE49-F238E27FC236}">
                  <a16:creationId xmlns:a16="http://schemas.microsoft.com/office/drawing/2014/main" id="{6B8F51CB-9926-BF48-A9E9-BC0FD8BB48A7}"/>
                </a:ext>
              </a:extLst>
            </p:cNvPr>
            <p:cNvSpPr txBox="1">
              <a:spLocks noChangeArrowheads="1"/>
            </p:cNvSpPr>
            <p:nvPr/>
          </p:nvSpPr>
          <p:spPr bwMode="auto">
            <a:xfrm>
              <a:off x="6340746" y="3390875"/>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latin typeface="宋体" panose="02010600030101010101" pitchFamily="2" charset="-122"/>
                </a:rPr>
                <a:t>F</a:t>
              </a:r>
            </a:p>
          </p:txBody>
        </p:sp>
        <p:sp>
          <p:nvSpPr>
            <p:cNvPr id="107" name="Text Box 25">
              <a:extLst>
                <a:ext uri="{FF2B5EF4-FFF2-40B4-BE49-F238E27FC236}">
                  <a16:creationId xmlns:a16="http://schemas.microsoft.com/office/drawing/2014/main" id="{0F70E655-4C10-F542-AC35-AA51AF886B96}"/>
                </a:ext>
              </a:extLst>
            </p:cNvPr>
            <p:cNvSpPr txBox="1">
              <a:spLocks noChangeArrowheads="1"/>
            </p:cNvSpPr>
            <p:nvPr/>
          </p:nvSpPr>
          <p:spPr bwMode="auto">
            <a:xfrm>
              <a:off x="7107820" y="4079554"/>
              <a:ext cx="299828" cy="369591"/>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T</a:t>
              </a:r>
            </a:p>
          </p:txBody>
        </p:sp>
        <p:sp>
          <p:nvSpPr>
            <p:cNvPr id="108" name="Text Box 26">
              <a:extLst>
                <a:ext uri="{FF2B5EF4-FFF2-40B4-BE49-F238E27FC236}">
                  <a16:creationId xmlns:a16="http://schemas.microsoft.com/office/drawing/2014/main" id="{FD1CC19D-234D-974F-85FD-4B1D86D086D9}"/>
                </a:ext>
              </a:extLst>
            </p:cNvPr>
            <p:cNvSpPr txBox="1">
              <a:spLocks noChangeArrowheads="1"/>
            </p:cNvSpPr>
            <p:nvPr/>
          </p:nvSpPr>
          <p:spPr bwMode="auto">
            <a:xfrm>
              <a:off x="6377274" y="4740685"/>
              <a:ext cx="299828" cy="368443"/>
            </a:xfrm>
            <a:prstGeom prst="rect">
              <a:avLst/>
            </a:prstGeom>
            <a:noFill/>
            <a:ln w="9525" cap="sq">
              <a:noFill/>
              <a:miter lim="800000"/>
              <a:headEnd/>
              <a:tailEnd/>
            </a:ln>
            <a:effectLst>
              <a:prstShdw prst="shdw17" dist="17961" dir="2700000">
                <a:schemeClr val="tx1">
                  <a:gamma/>
                  <a:shade val="60000"/>
                  <a:invGamma/>
                </a:schemeClr>
              </a:prstShdw>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宋体" panose="02010600030101010101" pitchFamily="2" charset="-122"/>
                </a:rPr>
                <a:t>F</a:t>
              </a:r>
            </a:p>
          </p:txBody>
        </p:sp>
        <p:sp>
          <p:nvSpPr>
            <p:cNvPr id="109" name="Line 27">
              <a:extLst>
                <a:ext uri="{FF2B5EF4-FFF2-40B4-BE49-F238E27FC236}">
                  <a16:creationId xmlns:a16="http://schemas.microsoft.com/office/drawing/2014/main" id="{3C7D1A4B-CDAF-904D-9188-EC3E81CBBFA1}"/>
                </a:ext>
              </a:extLst>
            </p:cNvPr>
            <p:cNvSpPr>
              <a:spLocks noChangeShapeType="1"/>
            </p:cNvSpPr>
            <p:nvPr/>
          </p:nvSpPr>
          <p:spPr bwMode="auto">
            <a:xfrm>
              <a:off x="7288935" y="4419302"/>
              <a:ext cx="648360" cy="0"/>
            </a:xfrm>
            <a:prstGeom prst="line">
              <a:avLst/>
            </a:prstGeom>
            <a:noFill/>
            <a:ln w="28575">
              <a:solidFill>
                <a:schemeClr val="tx1"/>
              </a:solidFill>
              <a:round/>
              <a:headEnd type="none" w="med" len="med"/>
              <a:tailEnd type="non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0" name="圆角矩形 109">
              <a:extLst>
                <a:ext uri="{FF2B5EF4-FFF2-40B4-BE49-F238E27FC236}">
                  <a16:creationId xmlns:a16="http://schemas.microsoft.com/office/drawing/2014/main" id="{9DF725CD-9659-CC4F-A763-C454F192A03C}"/>
                </a:ext>
              </a:extLst>
            </p:cNvPr>
            <p:cNvSpPr/>
            <p:nvPr/>
          </p:nvSpPr>
          <p:spPr>
            <a:xfrm>
              <a:off x="5830422" y="2031292"/>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Begin</a:t>
              </a:r>
              <a:endParaRPr lang="zh-CN" altLang="en-US" dirty="0">
                <a:solidFill>
                  <a:schemeClr val="tx1"/>
                </a:solidFill>
                <a:latin typeface="宋体" pitchFamily="2" charset="-122"/>
              </a:endParaRPr>
            </a:p>
          </p:txBody>
        </p:sp>
        <p:sp>
          <p:nvSpPr>
            <p:cNvPr id="111" name="圆角矩形 110">
              <a:extLst>
                <a:ext uri="{FF2B5EF4-FFF2-40B4-BE49-F238E27FC236}">
                  <a16:creationId xmlns:a16="http://schemas.microsoft.com/office/drawing/2014/main" id="{A65D8B74-D7B7-DD4A-9304-CCDDC95974B9}"/>
                </a:ext>
              </a:extLst>
            </p:cNvPr>
            <p:cNvSpPr/>
            <p:nvPr/>
          </p:nvSpPr>
          <p:spPr>
            <a:xfrm>
              <a:off x="5830422" y="5588907"/>
              <a:ext cx="944550" cy="375557"/>
            </a:xfrm>
            <a:prstGeom prst="roundRect">
              <a:avLst/>
            </a:prstGeom>
            <a:solidFill>
              <a:srgbClr val="FFFFCC"/>
            </a:solidFill>
            <a:ln w="9525">
              <a:solidFill>
                <a:srgbClr val="A50021"/>
              </a:solidFill>
              <a:miter lim="800000"/>
              <a:headEnd/>
              <a:tailEnd/>
            </a:ln>
            <a:effectLst>
              <a:outerShdw dist="53882" dir="2700000" algn="ctr" rotWithShape="0">
                <a:srgbClr val="F1A673"/>
              </a:outerShdw>
            </a:effectLst>
          </p:spPr>
          <p:txBody>
            <a:bodyPr wrap="none" anchor="ctr"/>
            <a:lstStyle/>
            <a:p>
              <a:pPr algn="ctr">
                <a:lnSpc>
                  <a:spcPct val="80000"/>
                </a:lnSpc>
              </a:pPr>
              <a:r>
                <a:rPr lang="en-US" altLang="zh-CN" dirty="0">
                  <a:solidFill>
                    <a:schemeClr val="tx1"/>
                  </a:solidFill>
                  <a:latin typeface="宋体" pitchFamily="2" charset="-122"/>
                </a:rPr>
                <a:t>End</a:t>
              </a:r>
              <a:endParaRPr lang="zh-CN" altLang="en-US" dirty="0">
                <a:solidFill>
                  <a:schemeClr val="tx1"/>
                </a:solidFill>
                <a:latin typeface="宋体" pitchFamily="2" charset="-122"/>
              </a:endParaRPr>
            </a:p>
          </p:txBody>
        </p:sp>
        <p:sp>
          <p:nvSpPr>
            <p:cNvPr id="112" name="Line 22">
              <a:extLst>
                <a:ext uri="{FF2B5EF4-FFF2-40B4-BE49-F238E27FC236}">
                  <a16:creationId xmlns:a16="http://schemas.microsoft.com/office/drawing/2014/main" id="{F80E60A0-0AB6-7F48-817E-8A8B14C4583D}"/>
                </a:ext>
              </a:extLst>
            </p:cNvPr>
            <p:cNvSpPr>
              <a:spLocks noChangeShapeType="1"/>
            </p:cNvSpPr>
            <p:nvPr/>
          </p:nvSpPr>
          <p:spPr bwMode="auto">
            <a:xfrm>
              <a:off x="7937295" y="4419302"/>
              <a:ext cx="0" cy="290393"/>
            </a:xfrm>
            <a:prstGeom prst="line">
              <a:avLst/>
            </a:prstGeom>
            <a:noFill/>
            <a:ln w="28575">
              <a:solidFill>
                <a:schemeClr val="tx1"/>
              </a:solidFill>
              <a:round/>
              <a:headEnd/>
              <a:tailEnd type="triangle" w="med" len="med"/>
            </a:ln>
            <a:effectLst>
              <a:outerShdw dist="17961" dir="2700000" algn="ctr" rotWithShape="0">
                <a:srgbClr val="DDDDDD"/>
              </a:outerShdw>
            </a:effectLst>
          </p:spPr>
          <p:txBody>
            <a:bodyPr wrap="none"/>
            <a:lstStyle/>
            <a:p>
              <a:endParaRPr lang="zh-CN" altLang="en-US">
                <a:latin typeface="Arial" charset="0"/>
              </a:endParaRPr>
            </a:p>
          </p:txBody>
        </p:sp>
        <p:sp>
          <p:nvSpPr>
            <p:cNvPr id="113" name="文本框 112">
              <a:extLst>
                <a:ext uri="{FF2B5EF4-FFF2-40B4-BE49-F238E27FC236}">
                  <a16:creationId xmlns:a16="http://schemas.microsoft.com/office/drawing/2014/main" id="{5FCCECE1-E144-3647-B737-0C9CCB2D77F2}"/>
                </a:ext>
              </a:extLst>
            </p:cNvPr>
            <p:cNvSpPr txBox="1"/>
            <p:nvPr/>
          </p:nvSpPr>
          <p:spPr>
            <a:xfrm>
              <a:off x="5500961" y="1975535"/>
              <a:ext cx="330810" cy="400110"/>
            </a:xfrm>
            <a:prstGeom prst="rect">
              <a:avLst/>
            </a:prstGeom>
            <a:noFill/>
          </p:spPr>
          <p:txBody>
            <a:bodyPr wrap="square" rtlCol="0">
              <a:spAutoFit/>
            </a:bodyPr>
            <a:lstStyle/>
            <a:p>
              <a:r>
                <a:rPr kumimoji="1" lang="en-US" altLang="zh-CN" sz="2000" dirty="0">
                  <a:solidFill>
                    <a:srgbClr val="FF0000"/>
                  </a:solidFill>
                </a:rPr>
                <a:t>s</a:t>
              </a:r>
              <a:endParaRPr kumimoji="1" lang="zh-CN" altLang="en-US" sz="2000" dirty="0">
                <a:solidFill>
                  <a:srgbClr val="FF0000"/>
                </a:solidFill>
              </a:endParaRPr>
            </a:p>
          </p:txBody>
        </p:sp>
        <p:sp>
          <p:nvSpPr>
            <p:cNvPr id="114" name="文本框 113">
              <a:extLst>
                <a:ext uri="{FF2B5EF4-FFF2-40B4-BE49-F238E27FC236}">
                  <a16:creationId xmlns:a16="http://schemas.microsoft.com/office/drawing/2014/main" id="{E762BF51-25C7-1F42-9793-6B952C663F82}"/>
                </a:ext>
              </a:extLst>
            </p:cNvPr>
            <p:cNvSpPr txBox="1"/>
            <p:nvPr/>
          </p:nvSpPr>
          <p:spPr>
            <a:xfrm>
              <a:off x="5505701" y="2634778"/>
              <a:ext cx="330810" cy="400110"/>
            </a:xfrm>
            <a:prstGeom prst="rect">
              <a:avLst/>
            </a:prstGeom>
            <a:noFill/>
          </p:spPr>
          <p:txBody>
            <a:bodyPr wrap="square" rtlCol="0">
              <a:spAutoFit/>
            </a:bodyPr>
            <a:lstStyle/>
            <a:p>
              <a:r>
                <a:rPr kumimoji="1" lang="en-US" altLang="zh-CN" sz="2000" dirty="0">
                  <a:solidFill>
                    <a:srgbClr val="FF0000"/>
                  </a:solidFill>
                </a:rPr>
                <a:t>a</a:t>
              </a:r>
              <a:endParaRPr kumimoji="1" lang="zh-CN" altLang="en-US" sz="2000" dirty="0">
                <a:solidFill>
                  <a:srgbClr val="FF0000"/>
                </a:solidFill>
              </a:endParaRPr>
            </a:p>
          </p:txBody>
        </p:sp>
        <p:sp>
          <p:nvSpPr>
            <p:cNvPr id="115" name="文本框 114">
              <a:extLst>
                <a:ext uri="{FF2B5EF4-FFF2-40B4-BE49-F238E27FC236}">
                  <a16:creationId xmlns:a16="http://schemas.microsoft.com/office/drawing/2014/main" id="{6435420A-C8B5-8C4A-B59F-777F3ED9EA1F}"/>
                </a:ext>
              </a:extLst>
            </p:cNvPr>
            <p:cNvSpPr txBox="1"/>
            <p:nvPr/>
          </p:nvSpPr>
          <p:spPr>
            <a:xfrm>
              <a:off x="5499612" y="3958767"/>
              <a:ext cx="330810" cy="400110"/>
            </a:xfrm>
            <a:prstGeom prst="rect">
              <a:avLst/>
            </a:prstGeom>
            <a:noFill/>
          </p:spPr>
          <p:txBody>
            <a:bodyPr wrap="square" rtlCol="0">
              <a:spAutoFit/>
            </a:bodyPr>
            <a:lstStyle/>
            <a:p>
              <a:r>
                <a:rPr kumimoji="1" lang="en-US" altLang="zh-CN" sz="2000" dirty="0">
                  <a:solidFill>
                    <a:srgbClr val="FF0000"/>
                  </a:solidFill>
                </a:rPr>
                <a:t>b</a:t>
              </a:r>
              <a:endParaRPr kumimoji="1" lang="zh-CN" altLang="en-US" sz="2000" dirty="0">
                <a:solidFill>
                  <a:srgbClr val="FF0000"/>
                </a:solidFill>
              </a:endParaRPr>
            </a:p>
          </p:txBody>
        </p:sp>
        <p:sp>
          <p:nvSpPr>
            <p:cNvPr id="116" name="文本框 115">
              <a:extLst>
                <a:ext uri="{FF2B5EF4-FFF2-40B4-BE49-F238E27FC236}">
                  <a16:creationId xmlns:a16="http://schemas.microsoft.com/office/drawing/2014/main" id="{6CAA2C6E-E232-1841-BFC9-C1D00670B1B8}"/>
                </a:ext>
              </a:extLst>
            </p:cNvPr>
            <p:cNvSpPr txBox="1"/>
            <p:nvPr/>
          </p:nvSpPr>
          <p:spPr>
            <a:xfrm>
              <a:off x="5499612" y="5553795"/>
              <a:ext cx="330810" cy="400110"/>
            </a:xfrm>
            <a:prstGeom prst="rect">
              <a:avLst/>
            </a:prstGeom>
            <a:noFill/>
          </p:spPr>
          <p:txBody>
            <a:bodyPr wrap="square" rtlCol="0">
              <a:spAutoFit/>
            </a:bodyPr>
            <a:lstStyle/>
            <a:p>
              <a:r>
                <a:rPr kumimoji="1" lang="en-US" altLang="zh-CN" sz="2000" dirty="0">
                  <a:solidFill>
                    <a:srgbClr val="FF0000"/>
                  </a:solidFill>
                </a:rPr>
                <a:t>d</a:t>
              </a:r>
              <a:endParaRPr kumimoji="1" lang="zh-CN" altLang="en-US" sz="2000" dirty="0">
                <a:solidFill>
                  <a:srgbClr val="FF0000"/>
                </a:solidFill>
              </a:endParaRPr>
            </a:p>
          </p:txBody>
        </p:sp>
        <p:sp>
          <p:nvSpPr>
            <p:cNvPr id="117" name="文本框 116">
              <a:extLst>
                <a:ext uri="{FF2B5EF4-FFF2-40B4-BE49-F238E27FC236}">
                  <a16:creationId xmlns:a16="http://schemas.microsoft.com/office/drawing/2014/main" id="{ECC3BB5A-C583-094B-AA93-16535ABD1D5C}"/>
                </a:ext>
              </a:extLst>
            </p:cNvPr>
            <p:cNvSpPr txBox="1"/>
            <p:nvPr/>
          </p:nvSpPr>
          <p:spPr>
            <a:xfrm>
              <a:off x="8050897" y="3028491"/>
              <a:ext cx="330810" cy="400110"/>
            </a:xfrm>
            <a:prstGeom prst="rect">
              <a:avLst/>
            </a:prstGeom>
            <a:noFill/>
          </p:spPr>
          <p:txBody>
            <a:bodyPr wrap="square" rtlCol="0">
              <a:spAutoFit/>
            </a:bodyPr>
            <a:lstStyle/>
            <a:p>
              <a:r>
                <a:rPr kumimoji="1" lang="en-US" altLang="zh-CN" sz="2000" dirty="0">
                  <a:solidFill>
                    <a:srgbClr val="FF0000"/>
                  </a:solidFill>
                </a:rPr>
                <a:t>c</a:t>
              </a:r>
              <a:endParaRPr kumimoji="1" lang="zh-CN" altLang="en-US" sz="2000" dirty="0">
                <a:solidFill>
                  <a:srgbClr val="FF0000"/>
                </a:solidFill>
              </a:endParaRPr>
            </a:p>
          </p:txBody>
        </p:sp>
        <p:sp>
          <p:nvSpPr>
            <p:cNvPr id="118" name="文本框 117">
              <a:extLst>
                <a:ext uri="{FF2B5EF4-FFF2-40B4-BE49-F238E27FC236}">
                  <a16:creationId xmlns:a16="http://schemas.microsoft.com/office/drawing/2014/main" id="{E99333BE-1BDF-F842-BB98-35176D13819E}"/>
                </a:ext>
              </a:extLst>
            </p:cNvPr>
            <p:cNvSpPr txBox="1"/>
            <p:nvPr/>
          </p:nvSpPr>
          <p:spPr>
            <a:xfrm>
              <a:off x="8093516" y="4307348"/>
              <a:ext cx="330810" cy="400110"/>
            </a:xfrm>
            <a:prstGeom prst="rect">
              <a:avLst/>
            </a:prstGeom>
            <a:noFill/>
          </p:spPr>
          <p:txBody>
            <a:bodyPr wrap="square" rtlCol="0">
              <a:spAutoFit/>
            </a:bodyPr>
            <a:lstStyle/>
            <a:p>
              <a:r>
                <a:rPr kumimoji="1" lang="en-US" altLang="zh-CN" sz="2000" dirty="0">
                  <a:solidFill>
                    <a:srgbClr val="FF0000"/>
                  </a:solidFill>
                </a:rPr>
                <a:t>e</a:t>
              </a:r>
              <a:endParaRPr kumimoji="1" lang="zh-CN" altLang="en-US" sz="2000" dirty="0">
                <a:solidFill>
                  <a:srgbClr val="FF0000"/>
                </a:solidFill>
              </a:endParaRPr>
            </a:p>
          </p:txBody>
        </p:sp>
      </p:grpSp>
      <p:sp>
        <p:nvSpPr>
          <p:cNvPr id="119" name="矩形 118">
            <a:extLst>
              <a:ext uri="{FF2B5EF4-FFF2-40B4-BE49-F238E27FC236}">
                <a16:creationId xmlns:a16="http://schemas.microsoft.com/office/drawing/2014/main" id="{C7050633-A1D2-AC4B-A0FD-D49F16CC27FE}"/>
              </a:ext>
            </a:extLst>
          </p:cNvPr>
          <p:cNvSpPr/>
          <p:nvPr/>
        </p:nvSpPr>
        <p:spPr>
          <a:xfrm>
            <a:off x="1007073" y="1970346"/>
            <a:ext cx="4357973" cy="4838248"/>
          </a:xfrm>
          <a:prstGeom prst="rect">
            <a:avLst/>
          </a:prstGeom>
        </p:spPr>
        <p:txBody>
          <a:bodyPr wrap="square">
            <a:spAutoFit/>
          </a:bodyPr>
          <a:lstStyle/>
          <a:p>
            <a:pPr algn="just">
              <a:spcBef>
                <a:spcPct val="20000"/>
              </a:spcBef>
            </a:pPr>
            <a:r>
              <a:rPr lang="zh-CN" altLang="en-US" dirty="0">
                <a:solidFill>
                  <a:schemeClr val="accent5">
                    <a:lumMod val="75000"/>
                  </a:schemeClr>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5</a:t>
            </a:r>
            <a:r>
              <a:rPr lang="zh-CN" altLang="en-US" dirty="0">
                <a:solidFill>
                  <a:schemeClr val="accent5">
                    <a:lumMod val="75000"/>
                  </a:schemeClr>
                </a:solidFill>
                <a:latin typeface="Times New Roman" panose="02020603050405020304" pitchFamily="18" charset="0"/>
              </a:rPr>
              <a:t>）条件组合覆盖：</a:t>
            </a:r>
            <a:endParaRPr lang="en-US" altLang="zh-CN" dirty="0">
              <a:solidFill>
                <a:schemeClr val="accent5">
                  <a:lumMod val="75000"/>
                </a:schemeClr>
              </a:solidFill>
              <a:latin typeface="Times New Roman" panose="02020603050405020304" pitchFamily="18" charset="0"/>
            </a:endParaRP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zh-CN" dirty="0">
                <a:solidFill>
                  <a:srgbClr val="FF0000"/>
                </a:solidFill>
                <a:latin typeface="Times New Roman" panose="02020603050405020304" pitchFamily="18" charset="0"/>
              </a:rPr>
              <a:t> ≤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zh-CN" dirty="0">
                <a:solidFill>
                  <a:srgbClr val="FF0000"/>
                </a:solidFill>
                <a:latin typeface="Times New Roman" panose="02020603050405020304" pitchFamily="18" charset="0"/>
              </a:rPr>
              <a:t> ≤ </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B</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0</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&gt;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marL="763588" indent="-407988" algn="just">
              <a:spcBef>
                <a:spcPct val="20000"/>
              </a:spcBef>
              <a:buFont typeface="+mj-ea"/>
              <a:buAutoNum type="circleNumDbPlain"/>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X</a:t>
            </a:r>
            <a:r>
              <a:rPr lang="zh-CN" altLang="en-US" dirty="0">
                <a:solidFill>
                  <a:srgbClr val="FF0000"/>
                </a:solidFill>
                <a:latin typeface="Times New Roman" panose="02020603050405020304" pitchFamily="18" charset="0"/>
              </a:rPr>
              <a:t> </a:t>
            </a:r>
            <a:r>
              <a:rPr lang="zh-CN" altLang="zh-CN" dirty="0">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a:t>
            </a:r>
          </a:p>
          <a:p>
            <a:pPr algn="just">
              <a:spcBef>
                <a:spcPct val="20000"/>
              </a:spcBef>
            </a:pPr>
            <a:r>
              <a:rPr lang="zh-CN" altLang="en-US" dirty="0">
                <a:solidFill>
                  <a:srgbClr val="FF0000"/>
                </a:solidFill>
                <a:latin typeface="Times New Roman" panose="02020603050405020304" pitchFamily="18" charset="0"/>
              </a:rPr>
              <a:t>组合</a:t>
            </a:r>
            <a:r>
              <a:rPr lang="en-US" altLang="zh-CN" dirty="0">
                <a:solidFill>
                  <a:srgbClr val="FF0000"/>
                </a:solidFill>
                <a:latin typeface="Times New Roman" panose="02020603050405020304" pitchFamily="18" charset="0"/>
              </a:rPr>
              <a:t>1/5</a:t>
            </a:r>
            <a:r>
              <a:rPr lang="zh-CN" altLang="en-US" dirty="0">
                <a:solidFill>
                  <a:srgbClr val="FF0000"/>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4),</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sacbed</a:t>
            </a:r>
            <a:endParaRPr lang="en-US" altLang="zh-CN" sz="2000" dirty="0">
              <a:solidFill>
                <a:srgbClr val="FF0000"/>
              </a:solidFill>
              <a:latin typeface="Times New Roman" panose="02020603050405020304" pitchFamily="18" charset="0"/>
            </a:endParaRPr>
          </a:p>
          <a:p>
            <a:pPr algn="just">
              <a:spcBef>
                <a:spcPct val="20000"/>
              </a:spcBef>
            </a:pPr>
            <a:r>
              <a:rPr lang="zh-CN" altLang="en-US" dirty="0">
                <a:solidFill>
                  <a:srgbClr val="FF0000"/>
                </a:solidFill>
                <a:latin typeface="Times New Roman" panose="02020603050405020304" pitchFamily="18" charset="0"/>
              </a:rPr>
              <a:t>组合</a:t>
            </a:r>
            <a:r>
              <a:rPr lang="en-US" altLang="zh-CN" dirty="0">
                <a:solidFill>
                  <a:srgbClr val="FF0000"/>
                </a:solidFill>
                <a:latin typeface="Times New Roman" panose="02020603050405020304" pitchFamily="18" charset="0"/>
              </a:rPr>
              <a:t>2/6</a:t>
            </a:r>
            <a:r>
              <a:rPr lang="zh-CN" altLang="en-US" dirty="0">
                <a:solidFill>
                  <a:srgbClr val="FF0000"/>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，覆盖</a:t>
            </a:r>
            <a:r>
              <a:rPr lang="en-US" altLang="zh-CN" sz="2000" dirty="0">
                <a:solidFill>
                  <a:srgbClr val="FF0000"/>
                </a:solidFill>
                <a:latin typeface="Times New Roman" panose="02020603050405020304" pitchFamily="18" charset="0"/>
              </a:rPr>
              <a:t>sabed</a:t>
            </a:r>
          </a:p>
          <a:p>
            <a:pPr algn="just">
              <a:spcBef>
                <a:spcPct val="20000"/>
              </a:spcBef>
            </a:pPr>
            <a:r>
              <a:rPr lang="zh-CN" altLang="en-US" dirty="0">
                <a:solidFill>
                  <a:srgbClr val="FF0000"/>
                </a:solidFill>
                <a:latin typeface="Times New Roman" panose="02020603050405020304" pitchFamily="18" charset="0"/>
              </a:rPr>
              <a:t>组合</a:t>
            </a:r>
            <a:r>
              <a:rPr lang="en-US" altLang="zh-CN" dirty="0">
                <a:solidFill>
                  <a:srgbClr val="FF0000"/>
                </a:solidFill>
                <a:latin typeface="Times New Roman" panose="02020603050405020304" pitchFamily="18" charset="0"/>
              </a:rPr>
              <a:t>3/7</a:t>
            </a:r>
            <a:r>
              <a:rPr lang="zh-CN" altLang="en-US" dirty="0">
                <a:solidFill>
                  <a:srgbClr val="FF0000"/>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0,</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2),</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(3)]</a:t>
            </a:r>
            <a:r>
              <a:rPr lang="zh-CN" altLang="en-US" dirty="0">
                <a:solidFill>
                  <a:schemeClr val="accent5">
                    <a:lumMod val="75000"/>
                  </a:schemeClr>
                </a:solidFill>
                <a:latin typeface="Times New Roman" panose="02020603050405020304" pitchFamily="18" charset="0"/>
              </a:rPr>
              <a:t>，覆盖</a:t>
            </a:r>
            <a:r>
              <a:rPr lang="en-US" altLang="zh-CN" sz="2000" dirty="0">
                <a:solidFill>
                  <a:srgbClr val="FF0000"/>
                </a:solidFill>
                <a:latin typeface="Times New Roman" panose="02020603050405020304" pitchFamily="18" charset="0"/>
              </a:rPr>
              <a:t>sabed</a:t>
            </a:r>
          </a:p>
          <a:p>
            <a:pPr algn="just">
              <a:spcBef>
                <a:spcPct val="20000"/>
              </a:spcBef>
            </a:pPr>
            <a:r>
              <a:rPr lang="zh-CN" altLang="en-US" dirty="0">
                <a:solidFill>
                  <a:srgbClr val="FF0000"/>
                </a:solidFill>
                <a:latin typeface="Times New Roman" panose="02020603050405020304" pitchFamily="18" charset="0"/>
              </a:rPr>
              <a:t>组合</a:t>
            </a:r>
            <a:r>
              <a:rPr lang="en-US" altLang="zh-CN" dirty="0">
                <a:solidFill>
                  <a:srgbClr val="FF0000"/>
                </a:solidFill>
                <a:latin typeface="Times New Roman" panose="02020603050405020304" pitchFamily="18" charset="0"/>
              </a:rPr>
              <a:t>4/8</a:t>
            </a:r>
            <a:r>
              <a:rPr lang="zh-CN" altLang="en-US" dirty="0">
                <a:solidFill>
                  <a:srgbClr val="FF0000"/>
                </a:solidFill>
                <a:latin typeface="Times New Roman" panose="02020603050405020304" pitchFamily="18" charset="0"/>
              </a:rPr>
              <a:t>：</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 </a:t>
            </a:r>
            <a:r>
              <a:rPr lang="en-US" altLang="zh-CN" dirty="0">
                <a:solidFill>
                  <a:schemeClr val="accent5">
                    <a:lumMod val="75000"/>
                  </a:schemeClr>
                </a:solidFill>
                <a:latin typeface="Times New Roman" panose="02020603050405020304" pitchFamily="18" charset="0"/>
              </a:rPr>
              <a:t>(1)]</a:t>
            </a:r>
            <a:r>
              <a:rPr lang="zh-CN" altLang="en-US" dirty="0">
                <a:solidFill>
                  <a:schemeClr val="accent5">
                    <a:lumMod val="75000"/>
                  </a:schemeClr>
                </a:solidFill>
                <a:latin typeface="Times New Roman" panose="02020603050405020304" pitchFamily="18" charset="0"/>
              </a:rPr>
              <a:t>，覆盖</a:t>
            </a:r>
            <a:r>
              <a:rPr lang="en-US" altLang="zh-CN" sz="2000" dirty="0" err="1">
                <a:solidFill>
                  <a:srgbClr val="FF0000"/>
                </a:solidFill>
                <a:latin typeface="Times New Roman" panose="02020603050405020304" pitchFamily="18" charset="0"/>
              </a:rPr>
              <a:t>sabd</a:t>
            </a:r>
            <a:endParaRPr lang="en-US" altLang="zh-CN" sz="2000" dirty="0">
              <a:solidFill>
                <a:srgbClr val="FF0000"/>
              </a:solidFill>
              <a:latin typeface="Times New Roman" panose="02020603050405020304" pitchFamily="18" charset="0"/>
            </a:endParaRPr>
          </a:p>
          <a:p>
            <a:pPr algn="just">
              <a:spcBef>
                <a:spcPct val="20000"/>
              </a:spcBef>
            </a:pPr>
            <a:endParaRPr lang="en-US" altLang="zh-CN" dirty="0">
              <a:solidFill>
                <a:schemeClr val="accent5">
                  <a:lumMod val="75000"/>
                </a:schemeClr>
              </a:solidFill>
              <a:latin typeface="Times New Roman" panose="02020603050405020304" pitchFamily="18" charset="0"/>
            </a:endParaRPr>
          </a:p>
        </p:txBody>
      </p:sp>
    </p:spTree>
    <p:extLst>
      <p:ext uri="{BB962C8B-B14F-4D97-AF65-F5344CB8AC3E}">
        <p14:creationId xmlns:p14="http://schemas.microsoft.com/office/powerpoint/2010/main" val="167475943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1000"/>
                                        <p:tgtEl>
                                          <p:spTgt spid="119"/>
                                        </p:tgtEl>
                                      </p:cBhvr>
                                    </p:animEffect>
                                    <p:anim calcmode="lin" valueType="num">
                                      <p:cBhvr>
                                        <p:cTn id="8" dur="1000" fill="hold"/>
                                        <p:tgtEl>
                                          <p:spTgt spid="119"/>
                                        </p:tgtEl>
                                        <p:attrNameLst>
                                          <p:attrName>ppt_x</p:attrName>
                                        </p:attrNameLst>
                                      </p:cBhvr>
                                      <p:tavLst>
                                        <p:tav tm="0">
                                          <p:val>
                                            <p:strVal val="#ppt_x"/>
                                          </p:val>
                                        </p:tav>
                                        <p:tav tm="100000">
                                          <p:val>
                                            <p:strVal val="#ppt_x"/>
                                          </p:val>
                                        </p:tav>
                                      </p:tavLst>
                                    </p:anim>
                                    <p:anim calcmode="lin" valueType="num">
                                      <p:cBhvr>
                                        <p:cTn id="9" dur="1000" fill="hold"/>
                                        <p:tgtEl>
                                          <p:spTgt spid="1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CC6600"/>
                </a:solidFill>
                <a:ea typeface="Microsoft YaHei UI" panose="020B0503020204020204" pitchFamily="34" charset="-122"/>
                <a:sym typeface="微软雅黑" panose="020B0503020204020204" pitchFamily="34" charset="-122"/>
              </a:rPr>
              <a:t>基本路径法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基本路径法的设计思想</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基本路径测试法：是在 </a:t>
            </a:r>
            <a:r>
              <a:rPr lang="zh-CN" altLang="en-US" dirty="0">
                <a:solidFill>
                  <a:srgbClr val="C00000"/>
                </a:solidFill>
                <a:latin typeface="微软雅黑" panose="020B0503020204020204" pitchFamily="34" charset="-122"/>
                <a:sym typeface="微软雅黑" panose="020B0503020204020204" pitchFamily="34" charset="-122"/>
              </a:rPr>
              <a:t>程序</a:t>
            </a:r>
            <a:r>
              <a:rPr lang="zh-CN" altLang="en-US" dirty="0">
                <a:solidFill>
                  <a:srgbClr val="C00000"/>
                </a:solidFill>
                <a:highlight>
                  <a:srgbClr val="FFFF00"/>
                </a:highlight>
                <a:latin typeface="微软雅黑" panose="020B0503020204020204" pitchFamily="34" charset="-122"/>
                <a:sym typeface="微软雅黑" panose="020B0503020204020204" pitchFamily="34" charset="-122"/>
              </a:rPr>
              <a:t>控制流图</a:t>
            </a:r>
            <a:r>
              <a:rPr lang="zh-CN" altLang="en-US" dirty="0">
                <a:solidFill>
                  <a:srgbClr val="C00000"/>
                </a:solidFill>
                <a:latin typeface="微软雅黑" panose="020B0503020204020204" pitchFamily="34" charset="-122"/>
                <a:sym typeface="微软雅黑" panose="020B0503020204020204" pitchFamily="34" charset="-122"/>
              </a:rPr>
              <a:t> </a:t>
            </a:r>
            <a:r>
              <a:rPr lang="zh-CN" altLang="en-US" dirty="0">
                <a:solidFill>
                  <a:srgbClr val="000000"/>
                </a:solidFill>
                <a:latin typeface="微软雅黑" panose="020B0503020204020204" pitchFamily="34" charset="-122"/>
                <a:sym typeface="微软雅黑" panose="020B0503020204020204" pitchFamily="34" charset="-122"/>
              </a:rPr>
              <a:t>的基础上，通过分析控制构造的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环路复杂性</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导出基本可执行路径集合</a:t>
            </a:r>
            <a:r>
              <a:rPr lang="zh-CN" altLang="en-US" dirty="0">
                <a:solidFill>
                  <a:srgbClr val="000000"/>
                </a:solidFill>
                <a:latin typeface="微软雅黑" panose="020B0503020204020204" pitchFamily="34" charset="-122"/>
                <a:sym typeface="微软雅黑" panose="020B0503020204020204" pitchFamily="34" charset="-122"/>
              </a:rPr>
              <a:t>，从而设计测试用例的方法</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设计出的测试用例要保证在测试中程序的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每个</a:t>
            </a:r>
            <a:r>
              <a:rPr lang="zh-CN" altLang="en-US" dirty="0">
                <a:solidFill>
                  <a:srgbClr val="000000"/>
                </a:solidFill>
                <a:latin typeface="微软雅黑" panose="020B0503020204020204" pitchFamily="34" charset="-122"/>
                <a:sym typeface="微软雅黑" panose="020B0503020204020204" pitchFamily="34" charset="-122"/>
              </a:rPr>
              <a:t>可执行</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语句</a:t>
            </a:r>
            <a:r>
              <a:rPr lang="zh-CN" altLang="en-US" dirty="0">
                <a:solidFill>
                  <a:srgbClr val="000000"/>
                </a:solidFill>
                <a:latin typeface="微软雅黑" panose="020B0503020204020204" pitchFamily="34" charset="-122"/>
                <a:sym typeface="微软雅黑" panose="020B0503020204020204" pitchFamily="34" charset="-122"/>
              </a:rPr>
              <a:t>至少</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执行一次</a:t>
            </a:r>
            <a:endParaRPr lang="zh-CN" altLang="zh-CN" dirty="0">
              <a:solidFill>
                <a:srgbClr val="C00000"/>
              </a:solidFill>
              <a:highlight>
                <a:srgbClr val="FFFF00"/>
              </a:highlight>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9623389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设计步骤</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666750" lvl="1" indent="-666750">
              <a:lnSpc>
                <a:spcPct val="120000"/>
              </a:lnSpc>
              <a:spcBef>
                <a:spcPts val="900"/>
              </a:spcBef>
              <a:buNone/>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1</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绘制</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程序控制流图</a:t>
            </a:r>
            <a:r>
              <a:rPr lang="zh-CN" altLang="zh-CN" dirty="0">
                <a:solidFill>
                  <a:srgbClr val="000000"/>
                </a:solidFill>
                <a:latin typeface="微软雅黑" panose="020B0503020204020204" pitchFamily="34" charset="-122"/>
                <a:sym typeface="微软雅黑" panose="020B0503020204020204" pitchFamily="34" charset="-122"/>
              </a:rPr>
              <a:t>：描述程序控制流的一种图示方法</a:t>
            </a:r>
            <a:endParaRPr lang="en-US" altLang="zh-CN" dirty="0">
              <a:solidFill>
                <a:srgbClr val="000000"/>
              </a:solidFill>
              <a:latin typeface="微软雅黑" panose="020B0503020204020204" pitchFamily="34" charset="-122"/>
              <a:sym typeface="微软雅黑" panose="020B0503020204020204" pitchFamily="34" charset="-122"/>
            </a:endParaRPr>
          </a:p>
          <a:p>
            <a:pPr marL="666750" lvl="1" indent="-666750">
              <a:lnSpc>
                <a:spcPct val="120000"/>
              </a:lnSpc>
              <a:spcBef>
                <a:spcPts val="900"/>
              </a:spcBef>
              <a:buNone/>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2</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计算程序</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环形复杂度</a:t>
            </a:r>
            <a:r>
              <a:rPr lang="zh-CN" altLang="zh-CN" dirty="0">
                <a:solidFill>
                  <a:srgbClr val="000000"/>
                </a:solidFill>
                <a:latin typeface="微软雅黑" panose="020B0503020204020204" pitchFamily="34" charset="-122"/>
                <a:sym typeface="微软雅黑" panose="020B0503020204020204" pitchFamily="34" charset="-122"/>
              </a:rPr>
              <a:t>：从</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程序的</a:t>
            </a:r>
            <a:r>
              <a:rPr lang="zh-CN" altLang="en-US" dirty="0">
                <a:solidFill>
                  <a:srgbClr val="C00000"/>
                </a:solidFill>
                <a:latin typeface="微软雅黑" panose="020B0503020204020204" pitchFamily="34" charset="-122"/>
                <a:sym typeface="微软雅黑" panose="020B0503020204020204" pitchFamily="34" charset="-122"/>
              </a:rPr>
              <a:t>环形复杂度</a:t>
            </a:r>
            <a:r>
              <a:rPr lang="zh-CN" altLang="zh-CN" dirty="0">
                <a:solidFill>
                  <a:srgbClr val="C00000"/>
                </a:solidFill>
                <a:latin typeface="微软雅黑" panose="020B0503020204020204" pitchFamily="34" charset="-122"/>
                <a:sym typeface="微软雅黑" panose="020B0503020204020204" pitchFamily="34" charset="-122"/>
              </a:rPr>
              <a:t>可导出程序基本路径集合中的独立路径数</a:t>
            </a:r>
            <a:r>
              <a:rPr lang="zh-CN" altLang="zh-CN" dirty="0">
                <a:solidFill>
                  <a:srgbClr val="000000"/>
                </a:solidFill>
                <a:latin typeface="微软雅黑" panose="020B0503020204020204" pitchFamily="34" charset="-122"/>
                <a:sym typeface="微软雅黑" panose="020B0503020204020204" pitchFamily="34" charset="-122"/>
              </a:rPr>
              <a:t>，这是确定程序中每个可执行语句至少执行一次所必须的</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测试用例</a:t>
            </a:r>
            <a:r>
              <a:rPr lang="zh-CN" altLang="zh-CN" dirty="0">
                <a:solidFill>
                  <a:srgbClr val="C00000"/>
                </a:solidFill>
                <a:highlight>
                  <a:srgbClr val="FFFF00"/>
                </a:highlight>
                <a:latin typeface="微软雅黑" panose="020B0503020204020204" pitchFamily="34" charset="-122"/>
                <a:sym typeface="微软雅黑" panose="020B0503020204020204" pitchFamily="34" charset="-122"/>
              </a:rPr>
              <a:t>数目</a:t>
            </a:r>
            <a:r>
              <a:rPr lang="zh-CN" altLang="zh-CN" dirty="0">
                <a:solidFill>
                  <a:srgbClr val="C00000"/>
                </a:solidFill>
                <a:latin typeface="微软雅黑" panose="020B0503020204020204" pitchFamily="34" charset="-122"/>
                <a:sym typeface="微软雅黑" panose="020B0503020204020204" pitchFamily="34" charset="-122"/>
              </a:rPr>
              <a:t>的上界</a:t>
            </a:r>
            <a:endParaRPr lang="en-US" altLang="zh-CN" dirty="0">
              <a:solidFill>
                <a:srgbClr val="C00000"/>
              </a:solidFill>
              <a:latin typeface="微软雅黑" panose="020B0503020204020204" pitchFamily="34" charset="-122"/>
              <a:sym typeface="微软雅黑" panose="020B0503020204020204" pitchFamily="34" charset="-122"/>
            </a:endParaRPr>
          </a:p>
          <a:p>
            <a:pPr marL="666750" lvl="1" indent="-666750">
              <a:lnSpc>
                <a:spcPct val="120000"/>
              </a:lnSpc>
              <a:spcBef>
                <a:spcPts val="900"/>
              </a:spcBef>
              <a:buNone/>
            </a:pPr>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3</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导出测试用例：根据</a:t>
            </a:r>
            <a:r>
              <a:rPr lang="zh-CN" altLang="en-US" dirty="0">
                <a:solidFill>
                  <a:srgbClr val="000000"/>
                </a:solidFill>
                <a:latin typeface="微软雅黑" panose="020B0503020204020204" pitchFamily="34" charset="-122"/>
                <a:sym typeface="微软雅黑" panose="020B0503020204020204" pitchFamily="34" charset="-122"/>
              </a:rPr>
              <a:t>环形复杂度</a:t>
            </a:r>
            <a:r>
              <a:rPr lang="zh-CN" altLang="zh-CN" dirty="0">
                <a:solidFill>
                  <a:srgbClr val="000000"/>
                </a:solidFill>
                <a:latin typeface="微软雅黑" panose="020B0503020204020204" pitchFamily="34" charset="-122"/>
                <a:sym typeface="微软雅黑" panose="020B0503020204020204" pitchFamily="34" charset="-122"/>
              </a:rPr>
              <a:t>和程序结构设计测试用例</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9805804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程序控制流图</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程序控制流图</a:t>
            </a:r>
            <a:r>
              <a:rPr lang="zh-CN" altLang="en-US" dirty="0">
                <a:solidFill>
                  <a:srgbClr val="000000"/>
                </a:solidFill>
                <a:latin typeface="微软雅黑" panose="020B0503020204020204" pitchFamily="34" charset="-122"/>
                <a:sym typeface="微软雅黑" panose="020B0503020204020204" pitchFamily="34" charset="-122"/>
              </a:rPr>
              <a:t>：可简称为</a:t>
            </a:r>
            <a:r>
              <a:rPr lang="zh-CN" altLang="en-US" dirty="0">
                <a:solidFill>
                  <a:srgbClr val="CC6600"/>
                </a:solidFill>
                <a:latin typeface="微软雅黑" panose="020B0503020204020204" pitchFamily="34" charset="-122"/>
                <a:sym typeface="微软雅黑" panose="020B0503020204020204" pitchFamily="34" charset="-122"/>
              </a:rPr>
              <a:t>流图</a:t>
            </a:r>
            <a:r>
              <a:rPr lang="zh-CN" altLang="en-US" dirty="0">
                <a:solidFill>
                  <a:srgbClr val="000000"/>
                </a:solidFill>
                <a:latin typeface="微软雅黑" panose="020B0503020204020204" pitchFamily="34" charset="-122"/>
                <a:sym typeface="微软雅黑" panose="020B0503020204020204" pitchFamily="34" charset="-122"/>
              </a:rPr>
              <a:t>，是对程序</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流程图进行简化</a:t>
            </a:r>
            <a:r>
              <a:rPr lang="zh-CN" altLang="en-US" dirty="0">
                <a:solidFill>
                  <a:srgbClr val="000000"/>
                </a:solidFill>
                <a:latin typeface="微软雅黑" panose="020B0503020204020204" pitchFamily="34" charset="-122"/>
                <a:sym typeface="微软雅黑" panose="020B0503020204020204" pitchFamily="34" charset="-122"/>
              </a:rPr>
              <a:t>后得到的，表示程序控制流的结构</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程序控制流图：是描述程序控制流的一种方式</a:t>
            </a:r>
            <a:endParaRPr lang="zh-CN" altLang="zh-CN" dirty="0">
              <a:solidFill>
                <a:srgbClr val="C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5433395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48" name="Rectangle 7">
            <a:extLst>
              <a:ext uri="{FF2B5EF4-FFF2-40B4-BE49-F238E27FC236}">
                <a16:creationId xmlns:a16="http://schemas.microsoft.com/office/drawing/2014/main" id="{21599882-3322-B449-8739-E23FFBBA95D7}"/>
              </a:ext>
            </a:extLst>
          </p:cNvPr>
          <p:cNvSpPr txBox="1">
            <a:spLocks noChangeArrowheads="1"/>
          </p:cNvSpPr>
          <p:nvPr/>
        </p:nvSpPr>
        <p:spPr>
          <a:xfrm>
            <a:off x="648032" y="4298003"/>
            <a:ext cx="7544411" cy="237057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666750" lvl="1" indent="-666750">
              <a:lnSpc>
                <a:spcPct val="120000"/>
              </a:lnSpc>
              <a:spcBef>
                <a:spcPts val="900"/>
              </a:spcBef>
              <a:buNone/>
            </a:pPr>
            <a:r>
              <a:rPr lang="zh-CN" altLang="en-US" dirty="0">
                <a:solidFill>
                  <a:srgbClr val="CC6600"/>
                </a:solidFill>
                <a:latin typeface="微软雅黑" panose="020B0503020204020204" pitchFamily="34" charset="-122"/>
                <a:sym typeface="微软雅黑" panose="020B0503020204020204" pitchFamily="34" charset="-122"/>
              </a:rPr>
              <a:t>图形符号</a:t>
            </a:r>
            <a:endParaRPr lang="en-US" altLang="zh-CN" dirty="0">
              <a:solidFill>
                <a:srgbClr val="CC6600"/>
              </a:solidFill>
              <a:latin typeface="微软雅黑" panose="020B0503020204020204" pitchFamily="34" charset="-122"/>
              <a:sym typeface="微软雅黑" panose="020B0503020204020204" pitchFamily="34" charset="-122"/>
            </a:endParaRPr>
          </a:p>
          <a:p>
            <a:pPr marL="285750" indent="-285750">
              <a:lnSpc>
                <a:spcPct val="100000"/>
              </a:lnSpc>
              <a:buFont typeface="Arial" panose="020B0604020202020204" pitchFamily="34" charset="0"/>
              <a:buChar char="•"/>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圆圈代表一个</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节点</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，表示一个或多个</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无分支</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的语句或源程序语句</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285750" indent="-285750">
              <a:lnSpc>
                <a:spcPct val="100000"/>
              </a:lnSpc>
              <a:buFont typeface="Arial" panose="020B0604020202020204" pitchFamily="34" charset="0"/>
              <a:buChar char="•"/>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程序控制流图中</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边</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和节点，圈定的部分叫做</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区域</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。当对区域计数时，图形外的一个部分也应记为一个区域</a:t>
            </a:r>
            <a:endParaRPr lang="zh-CN" altLang="en-US" sz="1600" dirty="0">
              <a:latin typeface="Kaiti SC" panose="02010600040101010101" pitchFamily="2" charset="-122"/>
              <a:ea typeface="Kaiti SC" panose="02010600040101010101" pitchFamily="2" charset="-122"/>
            </a:endParaRPr>
          </a:p>
          <a:p>
            <a:pPr marL="285750" lvl="1" indent="-285750">
              <a:lnSpc>
                <a:spcPct val="100000"/>
              </a:lnSpc>
              <a:spcBef>
                <a:spcPts val="825"/>
              </a:spcBef>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判断语句中的条件为复合条件时，即，条件表达式由一个或多个逻辑运算符连接的逻辑表达式，则需要</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改变复合条件</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的判断为一系列只有</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单个条件</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嵌套</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的判断</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p:txBody>
      </p:sp>
      <p:grpSp>
        <p:nvGrpSpPr>
          <p:cNvPr id="6" name="组合 5">
            <a:extLst>
              <a:ext uri="{FF2B5EF4-FFF2-40B4-BE49-F238E27FC236}">
                <a16:creationId xmlns:a16="http://schemas.microsoft.com/office/drawing/2014/main" id="{F9EFB147-86EB-9949-A5FD-B26C53880EB4}"/>
              </a:ext>
            </a:extLst>
          </p:cNvPr>
          <p:cNvGrpSpPr/>
          <p:nvPr/>
        </p:nvGrpSpPr>
        <p:grpSpPr>
          <a:xfrm>
            <a:off x="3298140" y="1676400"/>
            <a:ext cx="5141482" cy="2817679"/>
            <a:chOff x="1607097" y="3035874"/>
            <a:chExt cx="6557187" cy="3593526"/>
          </a:xfrm>
        </p:grpSpPr>
        <p:sp>
          <p:nvSpPr>
            <p:cNvPr id="4" name="矩形 3">
              <a:extLst>
                <a:ext uri="{FF2B5EF4-FFF2-40B4-BE49-F238E27FC236}">
                  <a16:creationId xmlns:a16="http://schemas.microsoft.com/office/drawing/2014/main" id="{D3CA0322-16D9-0540-AAC4-7B7C21530E51}"/>
                </a:ext>
              </a:extLst>
            </p:cNvPr>
            <p:cNvSpPr/>
            <p:nvPr/>
          </p:nvSpPr>
          <p:spPr>
            <a:xfrm>
              <a:off x="1607097" y="3035874"/>
              <a:ext cx="6243220" cy="3593526"/>
            </a:xfrm>
            <a:prstGeom prst="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008C342-3101-1548-8E61-A7048E9B712E}"/>
                </a:ext>
              </a:extLst>
            </p:cNvPr>
            <p:cNvGrpSpPr/>
            <p:nvPr/>
          </p:nvGrpSpPr>
          <p:grpSpPr>
            <a:xfrm>
              <a:off x="1607097" y="3048293"/>
              <a:ext cx="6557187" cy="3333908"/>
              <a:chOff x="852165" y="2158178"/>
              <a:chExt cx="8291835" cy="4215864"/>
            </a:xfrm>
          </p:grpSpPr>
          <p:grpSp>
            <p:nvGrpSpPr>
              <p:cNvPr id="9" name="Group 3">
                <a:extLst>
                  <a:ext uri="{FF2B5EF4-FFF2-40B4-BE49-F238E27FC236}">
                    <a16:creationId xmlns:a16="http://schemas.microsoft.com/office/drawing/2014/main" id="{B1341146-8886-0F46-92C4-CF62B6759A74}"/>
                  </a:ext>
                </a:extLst>
              </p:cNvPr>
              <p:cNvGrpSpPr>
                <a:grpSpLocks/>
              </p:cNvGrpSpPr>
              <p:nvPr/>
            </p:nvGrpSpPr>
            <p:grpSpPr bwMode="auto">
              <a:xfrm>
                <a:off x="1219200" y="2716442"/>
                <a:ext cx="3581400" cy="1371600"/>
                <a:chOff x="768" y="672"/>
                <a:chExt cx="2304" cy="1152"/>
              </a:xfrm>
            </p:grpSpPr>
            <p:sp>
              <p:nvSpPr>
                <p:cNvPr id="10" name="Line 4">
                  <a:extLst>
                    <a:ext uri="{FF2B5EF4-FFF2-40B4-BE49-F238E27FC236}">
                      <a16:creationId xmlns:a16="http://schemas.microsoft.com/office/drawing/2014/main" id="{6ABA0702-52CF-0544-9906-5AD0B57F5935}"/>
                    </a:ext>
                  </a:extLst>
                </p:cNvPr>
                <p:cNvSpPr>
                  <a:spLocks noChangeShapeType="1"/>
                </p:cNvSpPr>
                <p:nvPr/>
              </p:nvSpPr>
              <p:spPr bwMode="auto">
                <a:xfrm>
                  <a:off x="768" y="672"/>
                  <a:ext cx="1968" cy="72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 name="Line 5">
                  <a:extLst>
                    <a:ext uri="{FF2B5EF4-FFF2-40B4-BE49-F238E27FC236}">
                      <a16:creationId xmlns:a16="http://schemas.microsoft.com/office/drawing/2014/main" id="{CB9E9C44-D93F-D34D-9503-89AC7EB38750}"/>
                    </a:ext>
                  </a:extLst>
                </p:cNvPr>
                <p:cNvSpPr>
                  <a:spLocks noChangeShapeType="1"/>
                </p:cNvSpPr>
                <p:nvPr/>
              </p:nvSpPr>
              <p:spPr bwMode="auto">
                <a:xfrm>
                  <a:off x="768" y="672"/>
                  <a:ext cx="1296" cy="115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 name="Line 6">
                  <a:extLst>
                    <a:ext uri="{FF2B5EF4-FFF2-40B4-BE49-F238E27FC236}">
                      <a16:creationId xmlns:a16="http://schemas.microsoft.com/office/drawing/2014/main" id="{514C89AE-8CBD-9341-ABCC-97C9D50512D2}"/>
                    </a:ext>
                  </a:extLst>
                </p:cNvPr>
                <p:cNvSpPr>
                  <a:spLocks noChangeShapeType="1"/>
                </p:cNvSpPr>
                <p:nvPr/>
              </p:nvSpPr>
              <p:spPr bwMode="auto">
                <a:xfrm>
                  <a:off x="768" y="672"/>
                  <a:ext cx="2304" cy="2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8" name="Group 7">
                <a:extLst>
                  <a:ext uri="{FF2B5EF4-FFF2-40B4-BE49-F238E27FC236}">
                    <a16:creationId xmlns:a16="http://schemas.microsoft.com/office/drawing/2014/main" id="{B38D8F33-5E0A-F44A-B3DB-FADF85A41B08}"/>
                  </a:ext>
                </a:extLst>
              </p:cNvPr>
              <p:cNvGrpSpPr>
                <a:grpSpLocks/>
              </p:cNvGrpSpPr>
              <p:nvPr/>
            </p:nvGrpSpPr>
            <p:grpSpPr bwMode="auto">
              <a:xfrm>
                <a:off x="5105400" y="3059342"/>
                <a:ext cx="3124200" cy="857250"/>
                <a:chOff x="3216" y="720"/>
                <a:chExt cx="1968" cy="720"/>
              </a:xfrm>
            </p:grpSpPr>
            <p:sp>
              <p:nvSpPr>
                <p:cNvPr id="19" name="Line 8">
                  <a:extLst>
                    <a:ext uri="{FF2B5EF4-FFF2-40B4-BE49-F238E27FC236}">
                      <a16:creationId xmlns:a16="http://schemas.microsoft.com/office/drawing/2014/main" id="{13099B5F-BC4E-F04D-8BA7-2242FB9363F4}"/>
                    </a:ext>
                  </a:extLst>
                </p:cNvPr>
                <p:cNvSpPr>
                  <a:spLocks noChangeShapeType="1"/>
                </p:cNvSpPr>
                <p:nvPr/>
              </p:nvSpPr>
              <p:spPr bwMode="auto">
                <a:xfrm flipH="1">
                  <a:off x="3216" y="720"/>
                  <a:ext cx="1968" cy="19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 name="Line 9">
                  <a:extLst>
                    <a:ext uri="{FF2B5EF4-FFF2-40B4-BE49-F238E27FC236}">
                      <a16:creationId xmlns:a16="http://schemas.microsoft.com/office/drawing/2014/main" id="{44F0A2A1-EC70-8E44-AFD6-81D3331DFCF2}"/>
                    </a:ext>
                  </a:extLst>
                </p:cNvPr>
                <p:cNvSpPr>
                  <a:spLocks noChangeShapeType="1"/>
                </p:cNvSpPr>
                <p:nvPr/>
              </p:nvSpPr>
              <p:spPr bwMode="auto">
                <a:xfrm flipH="1">
                  <a:off x="3888" y="720"/>
                  <a:ext cx="1296" cy="72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1" name="Line 10">
                <a:extLst>
                  <a:ext uri="{FF2B5EF4-FFF2-40B4-BE49-F238E27FC236}">
                    <a16:creationId xmlns:a16="http://schemas.microsoft.com/office/drawing/2014/main" id="{FC9CA0B3-84C7-CC42-B151-62D25F349787}"/>
                  </a:ext>
                </a:extLst>
              </p:cNvPr>
              <p:cNvSpPr>
                <a:spLocks noChangeShapeType="1"/>
              </p:cNvSpPr>
              <p:nvPr/>
            </p:nvSpPr>
            <p:spPr bwMode="auto">
              <a:xfrm flipH="1" flipV="1">
                <a:off x="5791200" y="4830992"/>
                <a:ext cx="1752600" cy="5715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 name="Line 11">
                <a:extLst>
                  <a:ext uri="{FF2B5EF4-FFF2-40B4-BE49-F238E27FC236}">
                    <a16:creationId xmlns:a16="http://schemas.microsoft.com/office/drawing/2014/main" id="{9B000E48-01FD-3A4E-B6F4-11A799808C8A}"/>
                  </a:ext>
                </a:extLst>
              </p:cNvPr>
              <p:cNvSpPr>
                <a:spLocks noChangeShapeType="1"/>
              </p:cNvSpPr>
              <p:nvPr/>
            </p:nvSpPr>
            <p:spPr bwMode="auto">
              <a:xfrm flipH="1">
                <a:off x="6019800" y="5402492"/>
                <a:ext cx="1524000" cy="3429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 name="Rectangle 12">
                <a:extLst>
                  <a:ext uri="{FF2B5EF4-FFF2-40B4-BE49-F238E27FC236}">
                    <a16:creationId xmlns:a16="http://schemas.microsoft.com/office/drawing/2014/main" id="{32E91479-BC64-1943-B786-67AEEFED2C8F}"/>
                  </a:ext>
                </a:extLst>
              </p:cNvPr>
              <p:cNvSpPr>
                <a:spLocks noChangeArrowheads="1"/>
              </p:cNvSpPr>
              <p:nvPr/>
            </p:nvSpPr>
            <p:spPr bwMode="auto">
              <a:xfrm>
                <a:off x="852165" y="2158178"/>
                <a:ext cx="1066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Clr>
                    <a:schemeClr val="folHlink"/>
                  </a:buClr>
                  <a:buSzPct val="60000"/>
                  <a:buFont typeface="Wingdings" pitchFamily="2" charset="2"/>
                  <a:buNone/>
                </a:pPr>
                <a:r>
                  <a:rPr lang="en-US" altLang="zh-CN" dirty="0">
                    <a:solidFill>
                      <a:srgbClr val="FF0000"/>
                    </a:solidFill>
                    <a:latin typeface="Times New Roman" panose="02020603050405020304" pitchFamily="18" charset="0"/>
                  </a:rPr>
                  <a:t>Edge</a:t>
                </a:r>
              </a:p>
            </p:txBody>
          </p:sp>
          <p:sp>
            <p:nvSpPr>
              <p:cNvPr id="24" name="Rectangle 13">
                <a:extLst>
                  <a:ext uri="{FF2B5EF4-FFF2-40B4-BE49-F238E27FC236}">
                    <a16:creationId xmlns:a16="http://schemas.microsoft.com/office/drawing/2014/main" id="{B8AFA0F3-971E-5841-91BF-88FA1494A41F}"/>
                  </a:ext>
                </a:extLst>
              </p:cNvPr>
              <p:cNvSpPr>
                <a:spLocks noChangeArrowheads="1"/>
              </p:cNvSpPr>
              <p:nvPr/>
            </p:nvSpPr>
            <p:spPr bwMode="auto">
              <a:xfrm>
                <a:off x="7543802" y="2544992"/>
                <a:ext cx="1203176" cy="342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Clr>
                    <a:schemeClr val="folHlink"/>
                  </a:buClr>
                  <a:buSzPct val="60000"/>
                  <a:buFont typeface="Wingdings" pitchFamily="2" charset="2"/>
                  <a:buNone/>
                </a:pPr>
                <a:r>
                  <a:rPr lang="en-US" altLang="zh-CN" dirty="0">
                    <a:solidFill>
                      <a:srgbClr val="FF0000"/>
                    </a:solidFill>
                    <a:latin typeface="Times New Roman" panose="02020603050405020304" pitchFamily="18" charset="0"/>
                  </a:rPr>
                  <a:t>Node</a:t>
                </a:r>
              </a:p>
            </p:txBody>
          </p:sp>
          <p:sp>
            <p:nvSpPr>
              <p:cNvPr id="25" name="Rectangle 14">
                <a:extLst>
                  <a:ext uri="{FF2B5EF4-FFF2-40B4-BE49-F238E27FC236}">
                    <a16:creationId xmlns:a16="http://schemas.microsoft.com/office/drawing/2014/main" id="{D74BE869-3F31-9A4E-B86D-F1E4B4707DBE}"/>
                  </a:ext>
                </a:extLst>
              </p:cNvPr>
              <p:cNvSpPr>
                <a:spLocks noChangeArrowheads="1"/>
              </p:cNvSpPr>
              <p:nvPr/>
            </p:nvSpPr>
            <p:spPr bwMode="auto">
              <a:xfrm>
                <a:off x="7543800" y="5125308"/>
                <a:ext cx="1600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buClr>
                    <a:schemeClr val="folHlink"/>
                  </a:buClr>
                  <a:buSzPct val="60000"/>
                  <a:buFont typeface="Wingdings" pitchFamily="2" charset="2"/>
                  <a:buNone/>
                </a:pPr>
                <a:r>
                  <a:rPr lang="en-US" altLang="zh-CN" dirty="0">
                    <a:solidFill>
                      <a:srgbClr val="FF0000"/>
                    </a:solidFill>
                    <a:latin typeface="Times New Roman" panose="02020603050405020304" pitchFamily="18" charset="0"/>
                  </a:rPr>
                  <a:t>Region</a:t>
                </a:r>
              </a:p>
            </p:txBody>
          </p:sp>
          <p:grpSp>
            <p:nvGrpSpPr>
              <p:cNvPr id="26" name="Group 15">
                <a:extLst>
                  <a:ext uri="{FF2B5EF4-FFF2-40B4-BE49-F238E27FC236}">
                    <a16:creationId xmlns:a16="http://schemas.microsoft.com/office/drawing/2014/main" id="{6B6E0257-7684-2D41-ABCC-26BDAEB1C1C2}"/>
                  </a:ext>
                </a:extLst>
              </p:cNvPr>
              <p:cNvGrpSpPr>
                <a:grpSpLocks/>
              </p:cNvGrpSpPr>
              <p:nvPr/>
            </p:nvGrpSpPr>
            <p:grpSpPr bwMode="auto">
              <a:xfrm>
                <a:off x="2133600" y="2487842"/>
                <a:ext cx="4724400" cy="3886200"/>
                <a:chOff x="2144" y="1824"/>
                <a:chExt cx="2464" cy="2171"/>
              </a:xfrm>
            </p:grpSpPr>
            <p:grpSp>
              <p:nvGrpSpPr>
                <p:cNvPr id="27" name="Group 16">
                  <a:extLst>
                    <a:ext uri="{FF2B5EF4-FFF2-40B4-BE49-F238E27FC236}">
                      <a16:creationId xmlns:a16="http://schemas.microsoft.com/office/drawing/2014/main" id="{3A610424-6D14-AB45-959A-4709DC00B9A0}"/>
                    </a:ext>
                  </a:extLst>
                </p:cNvPr>
                <p:cNvGrpSpPr>
                  <a:grpSpLocks/>
                </p:cNvGrpSpPr>
                <p:nvPr/>
              </p:nvGrpSpPr>
              <p:grpSpPr bwMode="auto">
                <a:xfrm>
                  <a:off x="2304" y="2496"/>
                  <a:ext cx="1296" cy="912"/>
                  <a:chOff x="2880" y="2554"/>
                  <a:chExt cx="1296" cy="1046"/>
                </a:xfrm>
              </p:grpSpPr>
              <p:sp>
                <p:nvSpPr>
                  <p:cNvPr id="40" name="Oval 17">
                    <a:extLst>
                      <a:ext uri="{FF2B5EF4-FFF2-40B4-BE49-F238E27FC236}">
                        <a16:creationId xmlns:a16="http://schemas.microsoft.com/office/drawing/2014/main" id="{C1D16C83-BFBA-DF44-8896-BABAF820E9DE}"/>
                      </a:ext>
                    </a:extLst>
                  </p:cNvPr>
                  <p:cNvSpPr>
                    <a:spLocks noChangeArrowheads="1"/>
                  </p:cNvSpPr>
                  <p:nvPr/>
                </p:nvSpPr>
                <p:spPr bwMode="auto">
                  <a:xfrm>
                    <a:off x="3411" y="2554"/>
                    <a:ext cx="215"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rgbClr val="FF0000"/>
                        </a:solidFill>
                        <a:latin typeface="Tahoma" panose="020B0604030504040204" pitchFamily="34" charset="0"/>
                      </a:rPr>
                      <a:t>6</a:t>
                    </a:r>
                  </a:p>
                </p:txBody>
              </p:sp>
              <p:sp>
                <p:nvSpPr>
                  <p:cNvPr id="41" name="Oval 18">
                    <a:extLst>
                      <a:ext uri="{FF2B5EF4-FFF2-40B4-BE49-F238E27FC236}">
                        <a16:creationId xmlns:a16="http://schemas.microsoft.com/office/drawing/2014/main" id="{BDD1D10D-4D3A-1B47-B52A-3644FC728F70}"/>
                      </a:ext>
                    </a:extLst>
                  </p:cNvPr>
                  <p:cNvSpPr>
                    <a:spLocks noChangeArrowheads="1"/>
                  </p:cNvSpPr>
                  <p:nvPr/>
                </p:nvSpPr>
                <p:spPr bwMode="auto">
                  <a:xfrm>
                    <a:off x="2880" y="3024"/>
                    <a:ext cx="216"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rgbClr val="FF0000"/>
                        </a:solidFill>
                        <a:latin typeface="Tahoma" panose="020B0604030504040204" pitchFamily="34" charset="0"/>
                      </a:rPr>
                      <a:t>7</a:t>
                    </a:r>
                  </a:p>
                </p:txBody>
              </p:sp>
              <p:sp>
                <p:nvSpPr>
                  <p:cNvPr id="42" name="Oval 19">
                    <a:extLst>
                      <a:ext uri="{FF2B5EF4-FFF2-40B4-BE49-F238E27FC236}">
                        <a16:creationId xmlns:a16="http://schemas.microsoft.com/office/drawing/2014/main" id="{B917D2FE-389E-924C-8539-AA153305A759}"/>
                      </a:ext>
                    </a:extLst>
                  </p:cNvPr>
                  <p:cNvSpPr>
                    <a:spLocks noChangeArrowheads="1"/>
                  </p:cNvSpPr>
                  <p:nvPr/>
                </p:nvSpPr>
                <p:spPr bwMode="auto">
                  <a:xfrm>
                    <a:off x="3960" y="3024"/>
                    <a:ext cx="216"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rgbClr val="FF0000"/>
                        </a:solidFill>
                        <a:latin typeface="Tahoma" panose="020B0604030504040204" pitchFamily="34" charset="0"/>
                      </a:rPr>
                      <a:t>8</a:t>
                    </a:r>
                  </a:p>
                </p:txBody>
              </p:sp>
              <p:sp>
                <p:nvSpPr>
                  <p:cNvPr id="43" name="Line 20">
                    <a:extLst>
                      <a:ext uri="{FF2B5EF4-FFF2-40B4-BE49-F238E27FC236}">
                        <a16:creationId xmlns:a16="http://schemas.microsoft.com/office/drawing/2014/main" id="{2D93E14F-3099-DC42-BD01-5B94267261AD}"/>
                      </a:ext>
                    </a:extLst>
                  </p:cNvPr>
                  <p:cNvSpPr>
                    <a:spLocks noChangeShapeType="1"/>
                  </p:cNvSpPr>
                  <p:nvPr/>
                </p:nvSpPr>
                <p:spPr bwMode="auto">
                  <a:xfrm flipH="1">
                    <a:off x="3052" y="2692"/>
                    <a:ext cx="366" cy="345"/>
                  </a:xfrm>
                  <a:prstGeom prst="line">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44" name="Line 21">
                    <a:extLst>
                      <a:ext uri="{FF2B5EF4-FFF2-40B4-BE49-F238E27FC236}">
                        <a16:creationId xmlns:a16="http://schemas.microsoft.com/office/drawing/2014/main" id="{D73E4737-CE65-0447-B605-14810ADD45D1}"/>
                      </a:ext>
                    </a:extLst>
                  </p:cNvPr>
                  <p:cNvSpPr>
                    <a:spLocks noChangeShapeType="1"/>
                  </p:cNvSpPr>
                  <p:nvPr/>
                </p:nvSpPr>
                <p:spPr bwMode="auto">
                  <a:xfrm>
                    <a:off x="3613" y="2705"/>
                    <a:ext cx="366" cy="34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22">
                    <a:extLst>
                      <a:ext uri="{FF2B5EF4-FFF2-40B4-BE49-F238E27FC236}">
                        <a16:creationId xmlns:a16="http://schemas.microsoft.com/office/drawing/2014/main" id="{866C5AE5-1DDE-5346-B553-197C52BDCF64}"/>
                      </a:ext>
                    </a:extLst>
                  </p:cNvPr>
                  <p:cNvSpPr>
                    <a:spLocks noChangeShapeType="1"/>
                  </p:cNvSpPr>
                  <p:nvPr/>
                </p:nvSpPr>
                <p:spPr bwMode="auto">
                  <a:xfrm rot="900000">
                    <a:off x="2986" y="3262"/>
                    <a:ext cx="442" cy="18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23">
                    <a:extLst>
                      <a:ext uri="{FF2B5EF4-FFF2-40B4-BE49-F238E27FC236}">
                        <a16:creationId xmlns:a16="http://schemas.microsoft.com/office/drawing/2014/main" id="{7406A9B3-3666-7648-90F5-15C4D28B14C5}"/>
                      </a:ext>
                    </a:extLst>
                  </p:cNvPr>
                  <p:cNvSpPr>
                    <a:spLocks noChangeShapeType="1"/>
                  </p:cNvSpPr>
                  <p:nvPr/>
                </p:nvSpPr>
                <p:spPr bwMode="auto">
                  <a:xfrm rot="20700000" flipH="1">
                    <a:off x="3596" y="3274"/>
                    <a:ext cx="441" cy="86"/>
                  </a:xfrm>
                  <a:prstGeom prst="line">
                    <a:avLst/>
                  </a:prstGeom>
                  <a:noFill/>
                  <a:ln w="25400">
                    <a:solidFill>
                      <a:schemeClr val="tx1"/>
                    </a:solidFill>
                    <a:round/>
                    <a:headEnd type="non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Oval 24">
                    <a:extLst>
                      <a:ext uri="{FF2B5EF4-FFF2-40B4-BE49-F238E27FC236}">
                        <a16:creationId xmlns:a16="http://schemas.microsoft.com/office/drawing/2014/main" id="{833BFFAF-0010-EF4B-93C0-FA81F21F5E70}"/>
                      </a:ext>
                    </a:extLst>
                  </p:cNvPr>
                  <p:cNvSpPr>
                    <a:spLocks noChangeArrowheads="1"/>
                  </p:cNvSpPr>
                  <p:nvPr/>
                </p:nvSpPr>
                <p:spPr bwMode="auto">
                  <a:xfrm>
                    <a:off x="3411" y="3397"/>
                    <a:ext cx="215"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rgbClr val="FF0000"/>
                        </a:solidFill>
                        <a:latin typeface="Tahoma" panose="020B0604030504040204" pitchFamily="34" charset="0"/>
                      </a:rPr>
                      <a:t>9</a:t>
                    </a:r>
                  </a:p>
                </p:txBody>
              </p:sp>
            </p:grpSp>
            <p:sp>
              <p:nvSpPr>
                <p:cNvPr id="28" name="Oval 25">
                  <a:extLst>
                    <a:ext uri="{FF2B5EF4-FFF2-40B4-BE49-F238E27FC236}">
                      <a16:creationId xmlns:a16="http://schemas.microsoft.com/office/drawing/2014/main" id="{4E935749-D31E-7842-B704-1F56B2AF69CD}"/>
                    </a:ext>
                  </a:extLst>
                </p:cNvPr>
                <p:cNvSpPr>
                  <a:spLocks noChangeArrowheads="1"/>
                </p:cNvSpPr>
                <p:nvPr/>
              </p:nvSpPr>
              <p:spPr bwMode="auto">
                <a:xfrm>
                  <a:off x="3456" y="2208"/>
                  <a:ext cx="240" cy="21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dirty="0">
                      <a:solidFill>
                        <a:srgbClr val="FF0000"/>
                      </a:solidFill>
                      <a:latin typeface="Tahoma" panose="020B0604030504040204" pitchFamily="34" charset="0"/>
                    </a:rPr>
                    <a:t>2,3</a:t>
                  </a:r>
                </a:p>
              </p:txBody>
            </p:sp>
            <p:sp>
              <p:nvSpPr>
                <p:cNvPr id="29" name="Oval 26">
                  <a:extLst>
                    <a:ext uri="{FF2B5EF4-FFF2-40B4-BE49-F238E27FC236}">
                      <a16:creationId xmlns:a16="http://schemas.microsoft.com/office/drawing/2014/main" id="{9E44D050-70BD-194C-B17A-AA3A4484D62D}"/>
                    </a:ext>
                  </a:extLst>
                </p:cNvPr>
                <p:cNvSpPr>
                  <a:spLocks noChangeArrowheads="1"/>
                </p:cNvSpPr>
                <p:nvPr/>
              </p:nvSpPr>
              <p:spPr bwMode="auto">
                <a:xfrm>
                  <a:off x="3456" y="1824"/>
                  <a:ext cx="216"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rgbClr val="FF0000"/>
                      </a:solidFill>
                      <a:latin typeface="Tahoma" panose="020B0604030504040204" pitchFamily="34" charset="0"/>
                    </a:rPr>
                    <a:t>1</a:t>
                  </a:r>
                </a:p>
              </p:txBody>
            </p:sp>
            <p:sp>
              <p:nvSpPr>
                <p:cNvPr id="30" name="Oval 27">
                  <a:extLst>
                    <a:ext uri="{FF2B5EF4-FFF2-40B4-BE49-F238E27FC236}">
                      <a16:creationId xmlns:a16="http://schemas.microsoft.com/office/drawing/2014/main" id="{DF94381F-604E-1949-A4D4-EB479B318C16}"/>
                    </a:ext>
                  </a:extLst>
                </p:cNvPr>
                <p:cNvSpPr>
                  <a:spLocks noChangeArrowheads="1"/>
                </p:cNvSpPr>
                <p:nvPr/>
              </p:nvSpPr>
              <p:spPr bwMode="auto">
                <a:xfrm>
                  <a:off x="3504" y="3792"/>
                  <a:ext cx="216"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rgbClr val="FF0000"/>
                      </a:solidFill>
                      <a:latin typeface="Tahoma" panose="020B0604030504040204" pitchFamily="34" charset="0"/>
                    </a:rPr>
                    <a:t>11</a:t>
                  </a:r>
                </a:p>
              </p:txBody>
            </p:sp>
            <p:sp>
              <p:nvSpPr>
                <p:cNvPr id="31" name="Oval 28">
                  <a:extLst>
                    <a:ext uri="{FF2B5EF4-FFF2-40B4-BE49-F238E27FC236}">
                      <a16:creationId xmlns:a16="http://schemas.microsoft.com/office/drawing/2014/main" id="{7688FE1D-0A94-7042-A22A-DBBDF81C2E18}"/>
                    </a:ext>
                  </a:extLst>
                </p:cNvPr>
                <p:cNvSpPr>
                  <a:spLocks noChangeArrowheads="1"/>
                </p:cNvSpPr>
                <p:nvPr/>
              </p:nvSpPr>
              <p:spPr bwMode="auto">
                <a:xfrm>
                  <a:off x="3504" y="3456"/>
                  <a:ext cx="215" cy="20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rgbClr val="FF0000"/>
                      </a:solidFill>
                      <a:latin typeface="Tahoma" panose="020B0604030504040204" pitchFamily="34" charset="0"/>
                    </a:rPr>
                    <a:t>10</a:t>
                  </a:r>
                </a:p>
              </p:txBody>
            </p:sp>
            <p:sp>
              <p:nvSpPr>
                <p:cNvPr id="32" name="Oval 29">
                  <a:extLst>
                    <a:ext uri="{FF2B5EF4-FFF2-40B4-BE49-F238E27FC236}">
                      <a16:creationId xmlns:a16="http://schemas.microsoft.com/office/drawing/2014/main" id="{8F8F862E-1C0F-4A4E-A57D-79BC11D0894F}"/>
                    </a:ext>
                  </a:extLst>
                </p:cNvPr>
                <p:cNvSpPr>
                  <a:spLocks noChangeArrowheads="1"/>
                </p:cNvSpPr>
                <p:nvPr/>
              </p:nvSpPr>
              <p:spPr bwMode="auto">
                <a:xfrm>
                  <a:off x="3984" y="2544"/>
                  <a:ext cx="240" cy="213"/>
                </a:xfrm>
                <a:prstGeom prst="ellipse">
                  <a:avLst/>
                </a:prstGeom>
                <a:no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a:solidFill>
                        <a:srgbClr val="FF0000"/>
                      </a:solidFill>
                      <a:latin typeface="Tahoma" panose="020B0604030504040204" pitchFamily="34" charset="0"/>
                    </a:rPr>
                    <a:t>4,5</a:t>
                  </a:r>
                </a:p>
              </p:txBody>
            </p:sp>
            <p:sp>
              <p:nvSpPr>
                <p:cNvPr id="33" name="Line 30">
                  <a:extLst>
                    <a:ext uri="{FF2B5EF4-FFF2-40B4-BE49-F238E27FC236}">
                      <a16:creationId xmlns:a16="http://schemas.microsoft.com/office/drawing/2014/main" id="{B2E2F76C-1F44-9D44-9CDE-3514415B7B90}"/>
                    </a:ext>
                  </a:extLst>
                </p:cNvPr>
                <p:cNvSpPr>
                  <a:spLocks noChangeShapeType="1"/>
                </p:cNvSpPr>
                <p:nvPr/>
              </p:nvSpPr>
              <p:spPr bwMode="auto">
                <a:xfrm>
                  <a:off x="3552" y="2016"/>
                  <a:ext cx="0" cy="192"/>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31">
                  <a:extLst>
                    <a:ext uri="{FF2B5EF4-FFF2-40B4-BE49-F238E27FC236}">
                      <a16:creationId xmlns:a16="http://schemas.microsoft.com/office/drawing/2014/main" id="{DC18CEA1-5D59-EA45-933C-1A2190FD5FC4}"/>
                    </a:ext>
                  </a:extLst>
                </p:cNvPr>
                <p:cNvSpPr>
                  <a:spLocks noChangeShapeType="1"/>
                </p:cNvSpPr>
                <p:nvPr/>
              </p:nvSpPr>
              <p:spPr bwMode="auto">
                <a:xfrm flipH="1">
                  <a:off x="3024" y="2352"/>
                  <a:ext cx="432" cy="192"/>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5" name="Line 32">
                  <a:extLst>
                    <a:ext uri="{FF2B5EF4-FFF2-40B4-BE49-F238E27FC236}">
                      <a16:creationId xmlns:a16="http://schemas.microsoft.com/office/drawing/2014/main" id="{7041285A-9972-004C-95EB-7DEE3E9465FF}"/>
                    </a:ext>
                  </a:extLst>
                </p:cNvPr>
                <p:cNvSpPr>
                  <a:spLocks noChangeShapeType="1"/>
                </p:cNvSpPr>
                <p:nvPr/>
              </p:nvSpPr>
              <p:spPr bwMode="auto">
                <a:xfrm>
                  <a:off x="3696" y="2352"/>
                  <a:ext cx="288" cy="24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6" name="Line 33">
                  <a:extLst>
                    <a:ext uri="{FF2B5EF4-FFF2-40B4-BE49-F238E27FC236}">
                      <a16:creationId xmlns:a16="http://schemas.microsoft.com/office/drawing/2014/main" id="{09A0A215-9438-EB4E-AF1E-B2B96FCE4AB1}"/>
                    </a:ext>
                  </a:extLst>
                </p:cNvPr>
                <p:cNvSpPr>
                  <a:spLocks noChangeShapeType="1"/>
                </p:cNvSpPr>
                <p:nvPr/>
              </p:nvSpPr>
              <p:spPr bwMode="auto">
                <a:xfrm flipH="1">
                  <a:off x="3658" y="2736"/>
                  <a:ext cx="374" cy="737"/>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dirty="0"/>
                </a:p>
              </p:txBody>
            </p:sp>
            <p:sp>
              <p:nvSpPr>
                <p:cNvPr id="37" name="Line 34">
                  <a:extLst>
                    <a:ext uri="{FF2B5EF4-FFF2-40B4-BE49-F238E27FC236}">
                      <a16:creationId xmlns:a16="http://schemas.microsoft.com/office/drawing/2014/main" id="{93DC20F8-06FC-1C4C-BA0E-015BB85542C2}"/>
                    </a:ext>
                  </a:extLst>
                </p:cNvPr>
                <p:cNvSpPr>
                  <a:spLocks noChangeShapeType="1"/>
                </p:cNvSpPr>
                <p:nvPr/>
              </p:nvSpPr>
              <p:spPr bwMode="auto">
                <a:xfrm>
                  <a:off x="3024" y="3360"/>
                  <a:ext cx="480" cy="192"/>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8" name="Freeform 35">
                  <a:extLst>
                    <a:ext uri="{FF2B5EF4-FFF2-40B4-BE49-F238E27FC236}">
                      <a16:creationId xmlns:a16="http://schemas.microsoft.com/office/drawing/2014/main" id="{AF48D8E6-2C52-114F-BFE0-2C1D39DD1C93}"/>
                    </a:ext>
                  </a:extLst>
                </p:cNvPr>
                <p:cNvSpPr>
                  <a:spLocks/>
                </p:cNvSpPr>
                <p:nvPr/>
              </p:nvSpPr>
              <p:spPr bwMode="auto">
                <a:xfrm>
                  <a:off x="3648" y="1920"/>
                  <a:ext cx="960" cy="1632"/>
                </a:xfrm>
                <a:custGeom>
                  <a:avLst/>
                  <a:gdLst>
                    <a:gd name="T0" fmla="*/ 48 w 960"/>
                    <a:gd name="T1" fmla="*/ 0 h 1632"/>
                    <a:gd name="T2" fmla="*/ 816 w 960"/>
                    <a:gd name="T3" fmla="*/ 288 h 1632"/>
                    <a:gd name="T4" fmla="*/ 912 w 960"/>
                    <a:gd name="T5" fmla="*/ 912 h 1632"/>
                    <a:gd name="T6" fmla="*/ 720 w 960"/>
                    <a:gd name="T7" fmla="*/ 1488 h 1632"/>
                    <a:gd name="T8" fmla="*/ 96 w 960"/>
                    <a:gd name="T9" fmla="*/ 1632 h 1632"/>
                    <a:gd name="T10" fmla="*/ 0 60000 65536"/>
                    <a:gd name="T11" fmla="*/ 0 60000 65536"/>
                    <a:gd name="T12" fmla="*/ 0 60000 65536"/>
                    <a:gd name="T13" fmla="*/ 0 60000 65536"/>
                    <a:gd name="T14" fmla="*/ 0 60000 65536"/>
                    <a:gd name="T15" fmla="*/ 0 w 960"/>
                    <a:gd name="T16" fmla="*/ 0 h 1632"/>
                    <a:gd name="T17" fmla="*/ 960 w 960"/>
                    <a:gd name="T18" fmla="*/ 1632 h 1632"/>
                  </a:gdLst>
                  <a:ahLst/>
                  <a:cxnLst>
                    <a:cxn ang="T10">
                      <a:pos x="T0" y="T1"/>
                    </a:cxn>
                    <a:cxn ang="T11">
                      <a:pos x="T2" y="T3"/>
                    </a:cxn>
                    <a:cxn ang="T12">
                      <a:pos x="T4" y="T5"/>
                    </a:cxn>
                    <a:cxn ang="T13">
                      <a:pos x="T6" y="T7"/>
                    </a:cxn>
                    <a:cxn ang="T14">
                      <a:pos x="T8" y="T9"/>
                    </a:cxn>
                  </a:cxnLst>
                  <a:rect l="T15" t="T16" r="T17" b="T18"/>
                  <a:pathLst>
                    <a:path w="960" h="1632">
                      <a:moveTo>
                        <a:pt x="48" y="0"/>
                      </a:moveTo>
                      <a:cubicBezTo>
                        <a:pt x="360" y="68"/>
                        <a:pt x="672" y="136"/>
                        <a:pt x="816" y="288"/>
                      </a:cubicBezTo>
                      <a:cubicBezTo>
                        <a:pt x="960" y="440"/>
                        <a:pt x="928" y="712"/>
                        <a:pt x="912" y="912"/>
                      </a:cubicBezTo>
                      <a:cubicBezTo>
                        <a:pt x="896" y="1112"/>
                        <a:pt x="856" y="1368"/>
                        <a:pt x="720" y="1488"/>
                      </a:cubicBezTo>
                      <a:cubicBezTo>
                        <a:pt x="584" y="1608"/>
                        <a:pt x="0" y="1632"/>
                        <a:pt x="96" y="1632"/>
                      </a:cubicBezTo>
                    </a:path>
                  </a:pathLst>
                </a:custGeom>
                <a:noFill/>
                <a:ln w="28575">
                  <a:solidFill>
                    <a:schemeClr val="tx1"/>
                  </a:solidFill>
                  <a:miter lim="800000"/>
                  <a:headEnd type="triangle" w="med" len="me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9" name="Freeform 36">
                  <a:extLst>
                    <a:ext uri="{FF2B5EF4-FFF2-40B4-BE49-F238E27FC236}">
                      <a16:creationId xmlns:a16="http://schemas.microsoft.com/office/drawing/2014/main" id="{335113F6-B2B6-DE4A-9496-2F3EA6CF0759}"/>
                    </a:ext>
                  </a:extLst>
                </p:cNvPr>
                <p:cNvSpPr>
                  <a:spLocks/>
                </p:cNvSpPr>
                <p:nvPr/>
              </p:nvSpPr>
              <p:spPr bwMode="auto">
                <a:xfrm>
                  <a:off x="2144" y="1920"/>
                  <a:ext cx="1360" cy="1976"/>
                </a:xfrm>
                <a:custGeom>
                  <a:avLst/>
                  <a:gdLst>
                    <a:gd name="T0" fmla="*/ 1312 w 1360"/>
                    <a:gd name="T1" fmla="*/ 0 h 1976"/>
                    <a:gd name="T2" fmla="*/ 544 w 1360"/>
                    <a:gd name="T3" fmla="*/ 144 h 1976"/>
                    <a:gd name="T4" fmla="*/ 64 w 1360"/>
                    <a:gd name="T5" fmla="*/ 720 h 1976"/>
                    <a:gd name="T6" fmla="*/ 160 w 1360"/>
                    <a:gd name="T7" fmla="*/ 1344 h 1976"/>
                    <a:gd name="T8" fmla="*/ 976 w 1360"/>
                    <a:gd name="T9" fmla="*/ 1872 h 1976"/>
                    <a:gd name="T10" fmla="*/ 1360 w 1360"/>
                    <a:gd name="T11" fmla="*/ 1968 h 1976"/>
                    <a:gd name="T12" fmla="*/ 0 60000 65536"/>
                    <a:gd name="T13" fmla="*/ 0 60000 65536"/>
                    <a:gd name="T14" fmla="*/ 0 60000 65536"/>
                    <a:gd name="T15" fmla="*/ 0 60000 65536"/>
                    <a:gd name="T16" fmla="*/ 0 60000 65536"/>
                    <a:gd name="T17" fmla="*/ 0 60000 65536"/>
                    <a:gd name="T18" fmla="*/ 0 w 1360"/>
                    <a:gd name="T19" fmla="*/ 0 h 1976"/>
                    <a:gd name="T20" fmla="*/ 1360 w 1360"/>
                    <a:gd name="T21" fmla="*/ 1976 h 1976"/>
                  </a:gdLst>
                  <a:ahLst/>
                  <a:cxnLst>
                    <a:cxn ang="T12">
                      <a:pos x="T0" y="T1"/>
                    </a:cxn>
                    <a:cxn ang="T13">
                      <a:pos x="T2" y="T3"/>
                    </a:cxn>
                    <a:cxn ang="T14">
                      <a:pos x="T4" y="T5"/>
                    </a:cxn>
                    <a:cxn ang="T15">
                      <a:pos x="T6" y="T7"/>
                    </a:cxn>
                    <a:cxn ang="T16">
                      <a:pos x="T8" y="T9"/>
                    </a:cxn>
                    <a:cxn ang="T17">
                      <a:pos x="T10" y="T11"/>
                    </a:cxn>
                  </a:cxnLst>
                  <a:rect l="T18" t="T19" r="T20" b="T21"/>
                  <a:pathLst>
                    <a:path w="1360" h="1976">
                      <a:moveTo>
                        <a:pt x="1312" y="0"/>
                      </a:moveTo>
                      <a:cubicBezTo>
                        <a:pt x="1032" y="12"/>
                        <a:pt x="752" y="24"/>
                        <a:pt x="544" y="144"/>
                      </a:cubicBezTo>
                      <a:cubicBezTo>
                        <a:pt x="336" y="264"/>
                        <a:pt x="128" y="520"/>
                        <a:pt x="64" y="720"/>
                      </a:cubicBezTo>
                      <a:cubicBezTo>
                        <a:pt x="0" y="920"/>
                        <a:pt x="8" y="1152"/>
                        <a:pt x="160" y="1344"/>
                      </a:cubicBezTo>
                      <a:cubicBezTo>
                        <a:pt x="312" y="1536"/>
                        <a:pt x="776" y="1768"/>
                        <a:pt x="976" y="1872"/>
                      </a:cubicBezTo>
                      <a:cubicBezTo>
                        <a:pt x="1176" y="1976"/>
                        <a:pt x="1344" y="1976"/>
                        <a:pt x="1360" y="1968"/>
                      </a:cubicBezTo>
                    </a:path>
                  </a:pathLst>
                </a:custGeom>
                <a:noFill/>
                <a:ln w="2857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grpSp>
      </p:grpSp>
      <p:sp>
        <p:nvSpPr>
          <p:cNvPr id="49" name="云形 48">
            <a:extLst>
              <a:ext uri="{FF2B5EF4-FFF2-40B4-BE49-F238E27FC236}">
                <a16:creationId xmlns:a16="http://schemas.microsoft.com/office/drawing/2014/main" id="{CAAAB0EE-781A-7A44-AE99-57F23F227B92}"/>
              </a:ext>
            </a:extLst>
          </p:cNvPr>
          <p:cNvSpPr/>
          <p:nvPr/>
        </p:nvSpPr>
        <p:spPr>
          <a:xfrm>
            <a:off x="-915341" y="1639207"/>
            <a:ext cx="2178834" cy="114463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sym typeface="微软雅黑" panose="020B0503020204020204" pitchFamily="34" charset="-122"/>
              </a:rPr>
              <a:t>相当于条件组合覆盖</a:t>
            </a:r>
            <a:endParaRPr lang="zh-CN" altLang="en-US"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28893939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48" name="Rectangle 7">
            <a:extLst>
              <a:ext uri="{FF2B5EF4-FFF2-40B4-BE49-F238E27FC236}">
                <a16:creationId xmlns:a16="http://schemas.microsoft.com/office/drawing/2014/main" id="{21599882-3322-B449-8739-E23FFBBA95D7}"/>
              </a:ext>
            </a:extLst>
          </p:cNvPr>
          <p:cNvSpPr txBox="1">
            <a:spLocks noChangeArrowheads="1"/>
          </p:cNvSpPr>
          <p:nvPr/>
        </p:nvSpPr>
        <p:spPr>
          <a:xfrm>
            <a:off x="1255308" y="1984578"/>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666750" lvl="1" indent="-666750">
              <a:lnSpc>
                <a:spcPct val="120000"/>
              </a:lnSpc>
              <a:spcBef>
                <a:spcPts val="900"/>
              </a:spcBef>
              <a:buNone/>
            </a:pPr>
            <a:r>
              <a:rPr lang="zh-CN" altLang="en-US" sz="2400" dirty="0">
                <a:solidFill>
                  <a:srgbClr val="CC6600"/>
                </a:solidFill>
                <a:latin typeface="微软雅黑" panose="020B0503020204020204" pitchFamily="34" charset="-122"/>
                <a:sym typeface="微软雅黑" panose="020B0503020204020204" pitchFamily="34" charset="-122"/>
              </a:rPr>
              <a:t>实例：</a:t>
            </a:r>
            <a:r>
              <a:rPr lang="en-US" altLang="zh-CN" dirty="0">
                <a:solidFill>
                  <a:srgbClr val="000000"/>
                </a:solidFill>
                <a:latin typeface="微软雅黑" panose="020B0503020204020204" pitchFamily="34" charset="-122"/>
                <a:sym typeface="微软雅黑" panose="020B0503020204020204" pitchFamily="34" charset="-122"/>
              </a:rPr>
              <a:t>(a)</a:t>
            </a:r>
            <a:r>
              <a:rPr lang="zh-CN" altLang="en-US" dirty="0">
                <a:solidFill>
                  <a:srgbClr val="000000"/>
                </a:solidFill>
                <a:latin typeface="微软雅黑" panose="020B0503020204020204" pitchFamily="34" charset="-122"/>
                <a:sym typeface="微软雅黑" panose="020B0503020204020204" pitchFamily="34" charset="-122"/>
              </a:rPr>
              <a:t>为一个简单的程序流程图，</a:t>
            </a:r>
            <a:r>
              <a:rPr lang="en-US" altLang="zh-CN" dirty="0">
                <a:solidFill>
                  <a:srgbClr val="000000"/>
                </a:solidFill>
                <a:latin typeface="微软雅黑" panose="020B0503020204020204" pitchFamily="34" charset="-122"/>
                <a:sym typeface="微软雅黑" panose="020B0503020204020204" pitchFamily="34" charset="-122"/>
              </a:rPr>
              <a:t>(b)</a:t>
            </a:r>
            <a:r>
              <a:rPr lang="zh-CN" altLang="en-US" dirty="0">
                <a:solidFill>
                  <a:srgbClr val="000000"/>
                </a:solidFill>
                <a:latin typeface="微软雅黑" panose="020B0503020204020204" pitchFamily="34" charset="-122"/>
                <a:sym typeface="微软雅黑" panose="020B0503020204020204" pitchFamily="34" charset="-122"/>
              </a:rPr>
              <a:t>为简化后的流图</a:t>
            </a:r>
            <a:endParaRPr lang="en-US" altLang="zh-CN" dirty="0">
              <a:solidFill>
                <a:srgbClr val="000000"/>
              </a:solidFill>
              <a:latin typeface="微软雅黑" panose="020B0503020204020204" pitchFamily="34" charset="-122"/>
              <a:sym typeface="微软雅黑" panose="020B0503020204020204" pitchFamily="34" charset="-122"/>
            </a:endParaRPr>
          </a:p>
        </p:txBody>
      </p:sp>
      <p:grpSp>
        <p:nvGrpSpPr>
          <p:cNvPr id="5" name="组合 4">
            <a:extLst>
              <a:ext uri="{FF2B5EF4-FFF2-40B4-BE49-F238E27FC236}">
                <a16:creationId xmlns:a16="http://schemas.microsoft.com/office/drawing/2014/main" id="{5B4F0504-3B7B-B446-A0E6-83FB668505B9}"/>
              </a:ext>
            </a:extLst>
          </p:cNvPr>
          <p:cNvGrpSpPr/>
          <p:nvPr/>
        </p:nvGrpSpPr>
        <p:grpSpPr>
          <a:xfrm>
            <a:off x="1955800" y="2809307"/>
            <a:ext cx="5706254" cy="3699782"/>
            <a:chOff x="1955800" y="2809307"/>
            <a:chExt cx="5706254" cy="3699782"/>
          </a:xfrm>
        </p:grpSpPr>
        <p:pic>
          <p:nvPicPr>
            <p:cNvPr id="49" name="图片 2" descr="rjgc-tp-xxnr-050402-01.png">
              <a:extLst>
                <a:ext uri="{FF2B5EF4-FFF2-40B4-BE49-F238E27FC236}">
                  <a16:creationId xmlns:a16="http://schemas.microsoft.com/office/drawing/2014/main" id="{441DBA7B-A3A8-0B41-A98C-2A97CD7F8B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55800" y="2809307"/>
              <a:ext cx="5706254" cy="3699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3606799-1374-914A-A6AB-252012F0E131}"/>
                </a:ext>
              </a:extLst>
            </p:cNvPr>
            <p:cNvSpPr/>
            <p:nvPr/>
          </p:nvSpPr>
          <p:spPr>
            <a:xfrm>
              <a:off x="3673929" y="5706836"/>
              <a:ext cx="195942" cy="195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 name="直线箭头连接符 3">
              <a:extLst>
                <a:ext uri="{FF2B5EF4-FFF2-40B4-BE49-F238E27FC236}">
                  <a16:creationId xmlns:a16="http://schemas.microsoft.com/office/drawing/2014/main" id="{21EC46D4-390B-F04A-A05F-BC0AD90ACDFF}"/>
                </a:ext>
              </a:extLst>
            </p:cNvPr>
            <p:cNvCxnSpPr>
              <a:cxnSpLocks/>
            </p:cNvCxnSpPr>
            <p:nvPr/>
          </p:nvCxnSpPr>
          <p:spPr>
            <a:xfrm>
              <a:off x="3657597" y="5796495"/>
              <a:ext cx="293914"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 name="椭圆 2">
              <a:extLst>
                <a:ext uri="{FF2B5EF4-FFF2-40B4-BE49-F238E27FC236}">
                  <a16:creationId xmlns:a16="http://schemas.microsoft.com/office/drawing/2014/main" id="{27900C65-0823-5F41-9F07-41C2FA4BA24A}"/>
                </a:ext>
              </a:extLst>
            </p:cNvPr>
            <p:cNvSpPr/>
            <p:nvPr/>
          </p:nvSpPr>
          <p:spPr>
            <a:xfrm>
              <a:off x="3938299" y="5721680"/>
              <a:ext cx="124691" cy="124691"/>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椭圆 14">
              <a:extLst>
                <a:ext uri="{FF2B5EF4-FFF2-40B4-BE49-F238E27FC236}">
                  <a16:creationId xmlns:a16="http://schemas.microsoft.com/office/drawing/2014/main" id="{4155BC31-DD79-184A-9450-592A0DDE9032}"/>
                </a:ext>
              </a:extLst>
            </p:cNvPr>
            <p:cNvSpPr/>
            <p:nvPr/>
          </p:nvSpPr>
          <p:spPr>
            <a:xfrm>
              <a:off x="3093172" y="6061021"/>
              <a:ext cx="124691" cy="124691"/>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28764455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4</a:t>
            </a:r>
            <a:r>
              <a:rPr lang="zh-CN" altLang="en-US" sz="2400" dirty="0">
                <a:solidFill>
                  <a:srgbClr val="CC6600"/>
                </a:solidFill>
                <a:sym typeface="微软雅黑" panose="020B0503020204020204" pitchFamily="34" charset="-122"/>
              </a:rPr>
              <a:t>  环形复杂度与独立路径</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8"/>
            <a:ext cx="6688045" cy="381052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环形复杂度：</a:t>
            </a:r>
            <a:r>
              <a:rPr lang="zh-CN" altLang="zh-CN" dirty="0">
                <a:solidFill>
                  <a:srgbClr val="000000"/>
                </a:solidFill>
                <a:latin typeface="微软雅黑" panose="020B0503020204020204" pitchFamily="34" charset="-122"/>
                <a:sym typeface="微软雅黑" panose="020B0503020204020204" pitchFamily="34" charset="-122"/>
              </a:rPr>
              <a:t>是一种为</a:t>
            </a:r>
            <a:r>
              <a:rPr lang="zh-CN" altLang="zh-CN" dirty="0">
                <a:solidFill>
                  <a:srgbClr val="C00000"/>
                </a:solidFill>
                <a:latin typeface="微软雅黑" panose="020B0503020204020204" pitchFamily="34" charset="-122"/>
                <a:sym typeface="微软雅黑" panose="020B0503020204020204" pitchFamily="34" charset="-122"/>
              </a:rPr>
              <a:t>程序逻辑复杂性</a:t>
            </a:r>
            <a:r>
              <a:rPr lang="zh-CN" altLang="zh-CN" dirty="0">
                <a:solidFill>
                  <a:srgbClr val="000000"/>
                </a:solidFill>
                <a:latin typeface="微软雅黑" panose="020B0503020204020204" pitchFamily="34" charset="-122"/>
                <a:sym typeface="微软雅黑" panose="020B0503020204020204" pitchFamily="34" charset="-122"/>
              </a:rPr>
              <a:t>提供定量尺度的软件度量</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计算方式有三种：</a:t>
            </a:r>
            <a:endParaRPr lang="en-US" altLang="zh-CN" dirty="0">
              <a:solidFill>
                <a:srgbClr val="000000"/>
              </a:solidFill>
              <a:latin typeface="微软雅黑" panose="020B0503020204020204" pitchFamily="34" charset="-122"/>
              <a:sym typeface="微软雅黑" panose="020B0503020204020204" pitchFamily="34" charset="-122"/>
            </a:endParaRPr>
          </a:p>
          <a:p>
            <a:pPr marL="804863" lvl="1" indent="-577850">
              <a:lnSpc>
                <a:spcPct val="120000"/>
              </a:lnSpc>
              <a:spcBef>
                <a:spcPts val="900"/>
              </a:spcBef>
              <a:buNone/>
            </a:pP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1</a:t>
            </a:r>
            <a:r>
              <a:rPr lang="zh-CN" altLang="en-US" sz="1700" dirty="0">
                <a:solidFill>
                  <a:srgbClr val="000000"/>
                </a:solidFill>
                <a:latin typeface="微软雅黑" panose="020B0503020204020204" pitchFamily="34" charset="-122"/>
                <a:sym typeface="微软雅黑" panose="020B0503020204020204" pitchFamily="34" charset="-122"/>
              </a:rPr>
              <a:t>）流图</a:t>
            </a:r>
            <a:r>
              <a:rPr lang="en-US" altLang="zh-CN" sz="1700" dirty="0">
                <a:solidFill>
                  <a:srgbClr val="000000"/>
                </a:solidFill>
                <a:latin typeface="微软雅黑" panose="020B0503020204020204" pitchFamily="34" charset="-122"/>
                <a:sym typeface="微软雅黑" panose="020B0503020204020204" pitchFamily="34" charset="-122"/>
              </a:rPr>
              <a:t>G</a:t>
            </a:r>
            <a:r>
              <a:rPr lang="zh-CN" altLang="en-US" sz="1700" dirty="0">
                <a:solidFill>
                  <a:srgbClr val="000000"/>
                </a:solidFill>
                <a:latin typeface="微软雅黑" panose="020B0503020204020204" pitchFamily="34" charset="-122"/>
                <a:sym typeface="微软雅黑" panose="020B0503020204020204" pitchFamily="34" charset="-122"/>
              </a:rPr>
              <a:t>的环形复杂度 </a:t>
            </a:r>
            <a:r>
              <a:rPr lang="en-US" altLang="zh-CN" sz="1700" dirty="0">
                <a:solidFill>
                  <a:srgbClr val="000000"/>
                </a:solidFill>
                <a:latin typeface="微软雅黑" panose="020B0503020204020204" pitchFamily="34" charset="-122"/>
                <a:sym typeface="微软雅黑" panose="020B0503020204020204" pitchFamily="34" charset="-122"/>
              </a:rPr>
              <a:t>V(G)= </a:t>
            </a:r>
            <a:r>
              <a:rPr lang="en-US" altLang="zh-CN" sz="1700" dirty="0">
                <a:solidFill>
                  <a:srgbClr val="C00000"/>
                </a:solidFill>
                <a:latin typeface="微软雅黑" panose="020B0503020204020204" pitchFamily="34" charset="-122"/>
                <a:sym typeface="微软雅黑" panose="020B0503020204020204" pitchFamily="34" charset="-122"/>
              </a:rPr>
              <a:t>E-N+2</a:t>
            </a:r>
            <a:r>
              <a:rPr lang="en-US" altLang="zh-CN" sz="1700" dirty="0">
                <a:solidFill>
                  <a:srgbClr val="000000"/>
                </a:solidFill>
                <a:latin typeface="微软雅黑" panose="020B0503020204020204" pitchFamily="34" charset="-122"/>
                <a:sym typeface="微软雅黑" panose="020B0503020204020204" pitchFamily="34" charset="-122"/>
              </a:rPr>
              <a:t>  </a:t>
            </a:r>
            <a:r>
              <a:rPr lang="zh-CN" altLang="en-US" sz="1700" dirty="0">
                <a:solidFill>
                  <a:srgbClr val="000000"/>
                </a:solidFill>
                <a:latin typeface="微软雅黑" panose="020B0503020204020204" pitchFamily="34" charset="-122"/>
                <a:sym typeface="微软雅黑" panose="020B0503020204020204" pitchFamily="34" charset="-122"/>
              </a:rPr>
              <a:t>，其中：</a:t>
            </a:r>
            <a:r>
              <a:rPr lang="en-US" altLang="zh-CN" sz="1700" dirty="0">
                <a:solidFill>
                  <a:srgbClr val="000000"/>
                </a:solidFill>
                <a:latin typeface="微软雅黑" panose="020B0503020204020204" pitchFamily="34" charset="-122"/>
                <a:sym typeface="微软雅黑" panose="020B0503020204020204" pitchFamily="34" charset="-122"/>
              </a:rPr>
              <a:t>E-</a:t>
            </a:r>
            <a:r>
              <a:rPr lang="zh-CN" altLang="en-US" sz="1700" dirty="0">
                <a:solidFill>
                  <a:srgbClr val="000000"/>
                </a:solidFill>
                <a:latin typeface="微软雅黑" panose="020B0503020204020204" pitchFamily="34" charset="-122"/>
                <a:sym typeface="微软雅黑" panose="020B0503020204020204" pitchFamily="34" charset="-122"/>
              </a:rPr>
              <a:t>是流图中边的数量，</a:t>
            </a:r>
            <a:r>
              <a:rPr lang="en-US" altLang="zh-CN" sz="1700" dirty="0">
                <a:solidFill>
                  <a:srgbClr val="000000"/>
                </a:solidFill>
                <a:latin typeface="微软雅黑" panose="020B0503020204020204" pitchFamily="34" charset="-122"/>
                <a:sym typeface="微软雅黑" panose="020B0503020204020204" pitchFamily="34" charset="-122"/>
              </a:rPr>
              <a:t>N-</a:t>
            </a:r>
            <a:r>
              <a:rPr lang="zh-CN" altLang="en-US" sz="1700" dirty="0">
                <a:solidFill>
                  <a:srgbClr val="000000"/>
                </a:solidFill>
                <a:latin typeface="微软雅黑" panose="020B0503020204020204" pitchFamily="34" charset="-122"/>
                <a:sym typeface="微软雅黑" panose="020B0503020204020204" pitchFamily="34" charset="-122"/>
              </a:rPr>
              <a:t>是流图中的节点数量</a:t>
            </a:r>
            <a:endParaRPr lang="en-US" altLang="zh-CN" sz="1700" dirty="0">
              <a:solidFill>
                <a:srgbClr val="C00000"/>
              </a:solidFill>
              <a:latin typeface="微软雅黑" panose="020B0503020204020204" pitchFamily="34" charset="-122"/>
              <a:sym typeface="微软雅黑" panose="020B0503020204020204" pitchFamily="34" charset="-122"/>
            </a:endParaRPr>
          </a:p>
          <a:p>
            <a:pPr marL="804863" lvl="1" indent="-536575">
              <a:buNone/>
            </a:pP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2</a:t>
            </a: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V(G)</a:t>
            </a:r>
            <a:r>
              <a:rPr lang="zh-CN" altLang="en-US" sz="1700" dirty="0">
                <a:solidFill>
                  <a:srgbClr val="000000"/>
                </a:solidFill>
                <a:latin typeface="微软雅黑" panose="020B0503020204020204" pitchFamily="34" charset="-122"/>
                <a:sym typeface="微软雅黑" panose="020B0503020204020204" pitchFamily="34" charset="-122"/>
              </a:rPr>
              <a:t> </a:t>
            </a:r>
            <a:r>
              <a:rPr lang="zh-CN" altLang="zh-CN" sz="1700" dirty="0">
                <a:solidFill>
                  <a:srgbClr val="000000"/>
                </a:solidFill>
                <a:latin typeface="微软雅黑" panose="020B0503020204020204" pitchFamily="34" charset="-122"/>
                <a:sym typeface="微软雅黑" panose="020B0503020204020204" pitchFamily="34" charset="-122"/>
              </a:rPr>
              <a:t>等于控制流图中</a:t>
            </a:r>
            <a:r>
              <a:rPr lang="zh-CN" altLang="en-US" sz="1700" dirty="0">
                <a:solidFill>
                  <a:srgbClr val="000000"/>
                </a:solidFill>
                <a:latin typeface="微软雅黑" panose="020B0503020204020204" pitchFamily="34" charset="-122"/>
                <a:sym typeface="微软雅黑" panose="020B0503020204020204" pitchFamily="34" charset="-122"/>
              </a:rPr>
              <a:t> </a:t>
            </a:r>
            <a:r>
              <a:rPr lang="zh-CN" altLang="zh-CN" sz="1700" dirty="0">
                <a:solidFill>
                  <a:srgbClr val="C00000"/>
                </a:solidFill>
                <a:latin typeface="微软雅黑" panose="020B0503020204020204" pitchFamily="34" charset="-122"/>
                <a:sym typeface="微软雅黑" panose="020B0503020204020204" pitchFamily="34" charset="-122"/>
              </a:rPr>
              <a:t>区域的数量</a:t>
            </a:r>
            <a:endParaRPr lang="en-US" altLang="zh-CN" sz="1700" dirty="0">
              <a:solidFill>
                <a:srgbClr val="C00000"/>
              </a:solidFill>
              <a:latin typeface="微软雅黑" panose="020B0503020204020204" pitchFamily="34" charset="-122"/>
              <a:sym typeface="微软雅黑" panose="020B0503020204020204" pitchFamily="34" charset="-122"/>
            </a:endParaRPr>
          </a:p>
          <a:p>
            <a:pPr marL="804863" lvl="1" indent="-536575">
              <a:buNone/>
            </a:pP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3</a:t>
            </a: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V(G</a:t>
            </a:r>
            <a:r>
              <a:rPr lang="zh-CN" altLang="en-US" sz="1700" dirty="0">
                <a:solidFill>
                  <a:srgbClr val="000000"/>
                </a:solidFill>
                <a:latin typeface="微软雅黑" panose="020B0503020204020204" pitchFamily="34" charset="-122"/>
                <a:sym typeface="微软雅黑" panose="020B0503020204020204" pitchFamily="34" charset="-122"/>
              </a:rPr>
              <a:t> </a:t>
            </a:r>
            <a:r>
              <a:rPr lang="en-US" altLang="zh-CN" sz="1700" dirty="0">
                <a:solidFill>
                  <a:srgbClr val="000000"/>
                </a:solidFill>
                <a:latin typeface="微软雅黑" panose="020B0503020204020204" pitchFamily="34" charset="-122"/>
                <a:sym typeface="微软雅黑" panose="020B0503020204020204" pitchFamily="34" charset="-122"/>
              </a:rPr>
              <a:t>)</a:t>
            </a:r>
            <a:r>
              <a:rPr lang="zh-CN" altLang="zh-CN" sz="1700" dirty="0">
                <a:solidFill>
                  <a:srgbClr val="000000"/>
                </a:solidFill>
                <a:latin typeface="微软雅黑" panose="020B0503020204020204" pitchFamily="34" charset="-122"/>
                <a:sym typeface="微软雅黑" panose="020B0503020204020204" pitchFamily="34" charset="-122"/>
              </a:rPr>
              <a:t>等于控制流图中</a:t>
            </a:r>
            <a:r>
              <a:rPr lang="zh-CN" altLang="en-US" sz="1700" dirty="0">
                <a:solidFill>
                  <a:srgbClr val="000000"/>
                </a:solidFill>
                <a:latin typeface="微软雅黑" panose="020B0503020204020204" pitchFamily="34" charset="-122"/>
                <a:sym typeface="微软雅黑" panose="020B0503020204020204" pitchFamily="34" charset="-122"/>
              </a:rPr>
              <a:t> </a:t>
            </a:r>
            <a:r>
              <a:rPr lang="zh-CN" altLang="zh-CN" sz="1700" dirty="0">
                <a:solidFill>
                  <a:srgbClr val="C00000"/>
                </a:solidFill>
                <a:latin typeface="微软雅黑" panose="020B0503020204020204" pitchFamily="34" charset="-122"/>
                <a:sym typeface="微软雅黑" panose="020B0503020204020204" pitchFamily="34" charset="-122"/>
              </a:rPr>
              <a:t>判定节点数</a:t>
            </a:r>
            <a:r>
              <a:rPr lang="en-US" altLang="zh-CN" sz="1700" dirty="0">
                <a:solidFill>
                  <a:srgbClr val="C00000"/>
                </a:solidFill>
                <a:latin typeface="微软雅黑" panose="020B0503020204020204" pitchFamily="34" charset="-122"/>
                <a:sym typeface="微软雅黑" panose="020B0503020204020204" pitchFamily="34" charset="-122"/>
              </a:rPr>
              <a:t>+1</a:t>
            </a:r>
            <a:endParaRPr lang="zh-CN" altLang="zh-CN" sz="1700" dirty="0">
              <a:solidFill>
                <a:srgbClr val="C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根据</a:t>
            </a:r>
            <a:r>
              <a:rPr lang="zh-CN" altLang="en-US" dirty="0">
                <a:latin typeface="微软雅黑" panose="020B0503020204020204" pitchFamily="34" charset="-122"/>
                <a:sym typeface="微软雅黑" panose="020B0503020204020204" pitchFamily="34" charset="-122"/>
              </a:rPr>
              <a:t>环形复杂度可以 </a:t>
            </a:r>
            <a:r>
              <a:rPr lang="zh-CN" altLang="en-US" dirty="0">
                <a:solidFill>
                  <a:srgbClr val="C00000"/>
                </a:solidFill>
                <a:latin typeface="微软雅黑" panose="020B0503020204020204" pitchFamily="34" charset="-122"/>
                <a:sym typeface="微软雅黑" panose="020B0503020204020204" pitchFamily="34" charset="-122"/>
              </a:rPr>
              <a:t>确定独立路径数</a:t>
            </a:r>
            <a:r>
              <a:rPr lang="zh-CN" altLang="en-US" dirty="0">
                <a:solidFill>
                  <a:srgbClr val="000000"/>
                </a:solidFill>
                <a:latin typeface="微软雅黑" panose="020B0503020204020204" pitchFamily="34" charset="-122"/>
                <a:sym typeface="微软雅黑" panose="020B0503020204020204" pitchFamily="34" charset="-122"/>
              </a:rPr>
              <a:t>，即：</a:t>
            </a:r>
            <a:r>
              <a:rPr lang="zh-CN" altLang="zh-CN" dirty="0">
                <a:solidFill>
                  <a:srgbClr val="000000"/>
                </a:solidFill>
                <a:latin typeface="微软雅黑" panose="020B0503020204020204" pitchFamily="34" charset="-122"/>
                <a:sym typeface="微软雅黑" panose="020B0503020204020204" pitchFamily="34" charset="-122"/>
              </a:rPr>
              <a:t>测试用例数</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4309072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4</a:t>
            </a:r>
            <a:r>
              <a:rPr lang="zh-CN" altLang="en-US" sz="2400" dirty="0">
                <a:solidFill>
                  <a:srgbClr val="CC6600"/>
                </a:solidFill>
                <a:sym typeface="微软雅黑" panose="020B0503020204020204" pitchFamily="34" charset="-122"/>
              </a:rPr>
              <a:t>  环形复杂度与独立路径</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073823" y="2598438"/>
            <a:ext cx="3934597" cy="381052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dirty="0">
                <a:solidFill>
                  <a:srgbClr val="000000"/>
                </a:solidFill>
                <a:latin typeface="微软雅黑" panose="020B0503020204020204" pitchFamily="34" charset="-122"/>
                <a:sym typeface="微软雅黑" panose="020B0503020204020204" pitchFamily="34" charset="-122"/>
              </a:rPr>
              <a:t>如图所示，为一个程序控制流图：</a:t>
            </a:r>
            <a:endParaRPr lang="en-US" altLang="zh-CN" dirty="0">
              <a:solidFill>
                <a:srgbClr val="000000"/>
              </a:solidFill>
              <a:latin typeface="微软雅黑" panose="020B0503020204020204" pitchFamily="34" charset="-122"/>
              <a:sym typeface="微软雅黑" panose="020B0503020204020204" pitchFamily="34" charset="-122"/>
            </a:endParaRPr>
          </a:p>
          <a:p>
            <a:pPr marL="577850" indent="-577850">
              <a:spcBef>
                <a:spcPts val="1200"/>
              </a:spcBef>
            </a:pP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1</a:t>
            </a:r>
            <a:r>
              <a:rPr lang="zh-CN" altLang="en-US" sz="1700" dirty="0">
                <a:solidFill>
                  <a:srgbClr val="000000"/>
                </a:solidFill>
                <a:latin typeface="微软雅黑" panose="020B0503020204020204" pitchFamily="34" charset="-122"/>
                <a:sym typeface="微软雅黑" panose="020B0503020204020204" pitchFamily="34" charset="-122"/>
              </a:rPr>
              <a:t>） 在流图中，边的数量</a:t>
            </a:r>
            <a:r>
              <a:rPr lang="en-US" altLang="zh-CN" sz="1700" dirty="0">
                <a:solidFill>
                  <a:srgbClr val="000000"/>
                </a:solidFill>
                <a:latin typeface="微软雅黑" panose="020B0503020204020204" pitchFamily="34" charset="-122"/>
                <a:sym typeface="微软雅黑" panose="020B0503020204020204" pitchFamily="34" charset="-122"/>
              </a:rPr>
              <a:t>E=11</a:t>
            </a:r>
            <a:r>
              <a:rPr lang="zh-CN" altLang="en-US" sz="1700" dirty="0">
                <a:solidFill>
                  <a:srgbClr val="000000"/>
                </a:solidFill>
                <a:latin typeface="微软雅黑" panose="020B0503020204020204" pitchFamily="34" charset="-122"/>
                <a:sym typeface="微软雅黑" panose="020B0503020204020204" pitchFamily="34" charset="-122"/>
              </a:rPr>
              <a:t>，节点数量</a:t>
            </a:r>
            <a:r>
              <a:rPr lang="en-US" altLang="zh-CN" sz="1700" dirty="0">
                <a:solidFill>
                  <a:srgbClr val="000000"/>
                </a:solidFill>
                <a:latin typeface="微软雅黑" panose="020B0503020204020204" pitchFamily="34" charset="-122"/>
                <a:sym typeface="微软雅黑" panose="020B0503020204020204" pitchFamily="34" charset="-122"/>
              </a:rPr>
              <a:t>N=9</a:t>
            </a:r>
            <a:r>
              <a:rPr lang="zh-CN" altLang="en-US" sz="1700" dirty="0">
                <a:solidFill>
                  <a:srgbClr val="000000"/>
                </a:solidFill>
                <a:latin typeface="微软雅黑" panose="020B0503020204020204" pitchFamily="34" charset="-122"/>
                <a:sym typeface="微软雅黑" panose="020B0503020204020204" pitchFamily="34" charset="-122"/>
              </a:rPr>
              <a:t>，对应的环形复杂度为：</a:t>
            </a:r>
            <a:r>
              <a:rPr lang="en-US" altLang="zh-CN" sz="1700" dirty="0">
                <a:solidFill>
                  <a:srgbClr val="000000"/>
                </a:solidFill>
                <a:latin typeface="微软雅黑" panose="020B0503020204020204" pitchFamily="34" charset="-122"/>
                <a:sym typeface="微软雅黑" panose="020B0503020204020204" pitchFamily="34" charset="-122"/>
              </a:rPr>
              <a:t>V(G)</a:t>
            </a:r>
            <a:r>
              <a:rPr lang="zh-CN" altLang="en-US" sz="1700" dirty="0">
                <a:solidFill>
                  <a:srgbClr val="000000"/>
                </a:solidFill>
                <a:latin typeface="微软雅黑" panose="020B0503020204020204" pitchFamily="34" charset="-122"/>
                <a:sym typeface="微软雅黑" panose="020B0503020204020204" pitchFamily="34" charset="-122"/>
              </a:rPr>
              <a:t> </a:t>
            </a:r>
            <a:r>
              <a:rPr lang="en-US" altLang="zh-CN" sz="1700" dirty="0">
                <a:solidFill>
                  <a:srgbClr val="000000"/>
                </a:solidFill>
                <a:latin typeface="微软雅黑" panose="020B0503020204020204" pitchFamily="34" charset="-122"/>
                <a:sym typeface="微软雅黑" panose="020B0503020204020204" pitchFamily="34" charset="-122"/>
              </a:rPr>
              <a:t>= </a:t>
            </a:r>
            <a:r>
              <a:rPr lang="en-US" altLang="zh-CN" sz="1700" dirty="0">
                <a:solidFill>
                  <a:srgbClr val="C00000"/>
                </a:solidFill>
                <a:latin typeface="微软雅黑" panose="020B0503020204020204" pitchFamily="34" charset="-122"/>
                <a:sym typeface="微软雅黑" panose="020B0503020204020204" pitchFamily="34" charset="-122"/>
              </a:rPr>
              <a:t>E-N+2</a:t>
            </a:r>
            <a:r>
              <a:rPr lang="en-US" altLang="zh-CN" sz="1700" dirty="0">
                <a:solidFill>
                  <a:srgbClr val="000000"/>
                </a:solidFill>
                <a:latin typeface="微软雅黑" panose="020B0503020204020204" pitchFamily="34" charset="-122"/>
                <a:sym typeface="微软雅黑" panose="020B0503020204020204" pitchFamily="34" charset="-122"/>
              </a:rPr>
              <a:t>=11-9+2=4</a:t>
            </a:r>
          </a:p>
          <a:p>
            <a:pPr marL="577850" lvl="1" indent="-569913">
              <a:buNone/>
            </a:pP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2</a:t>
            </a:r>
            <a:r>
              <a:rPr lang="zh-CN" altLang="en-US" sz="1700" dirty="0">
                <a:solidFill>
                  <a:srgbClr val="000000"/>
                </a:solidFill>
                <a:latin typeface="微软雅黑" panose="020B0503020204020204" pitchFamily="34" charset="-122"/>
                <a:sym typeface="微软雅黑" panose="020B0503020204020204" pitchFamily="34" charset="-122"/>
              </a:rPr>
              <a:t>）在流图中，区域的数量为</a:t>
            </a:r>
            <a:r>
              <a:rPr lang="en-US" altLang="zh-CN" sz="1700" dirty="0">
                <a:solidFill>
                  <a:srgbClr val="000000"/>
                </a:solidFill>
                <a:latin typeface="微软雅黑" panose="020B0503020204020204" pitchFamily="34" charset="-122"/>
                <a:sym typeface="微软雅黑" panose="020B0503020204020204" pitchFamily="34" charset="-122"/>
              </a:rPr>
              <a:t>4</a:t>
            </a:r>
            <a:r>
              <a:rPr lang="zh-CN" altLang="en-US" sz="1700" dirty="0">
                <a:solidFill>
                  <a:srgbClr val="000000"/>
                </a:solidFill>
                <a:latin typeface="微软雅黑" panose="020B0503020204020204" pitchFamily="34" charset="-122"/>
                <a:sym typeface="微软雅黑" panose="020B0503020204020204" pitchFamily="34" charset="-122"/>
              </a:rPr>
              <a:t>，对应的环形复杂度为：</a:t>
            </a:r>
            <a:r>
              <a:rPr lang="en-US" altLang="zh-CN" sz="1700" dirty="0">
                <a:solidFill>
                  <a:srgbClr val="000000"/>
                </a:solidFill>
                <a:latin typeface="微软雅黑" panose="020B0503020204020204" pitchFamily="34" charset="-122"/>
                <a:sym typeface="微软雅黑" panose="020B0503020204020204" pitchFamily="34" charset="-122"/>
              </a:rPr>
              <a:t>4</a:t>
            </a:r>
          </a:p>
          <a:p>
            <a:pPr marL="577850" lvl="1" indent="-569913">
              <a:buNone/>
            </a:pPr>
            <a:r>
              <a:rPr lang="zh-CN" altLang="en-US" sz="1700" dirty="0">
                <a:solidFill>
                  <a:srgbClr val="000000"/>
                </a:solidFill>
                <a:latin typeface="微软雅黑" panose="020B0503020204020204" pitchFamily="34" charset="-122"/>
                <a:sym typeface="微软雅黑" panose="020B0503020204020204" pitchFamily="34" charset="-122"/>
              </a:rPr>
              <a:t>（</a:t>
            </a:r>
            <a:r>
              <a:rPr lang="en-US" altLang="zh-CN" sz="1700" dirty="0">
                <a:solidFill>
                  <a:srgbClr val="000000"/>
                </a:solidFill>
                <a:latin typeface="微软雅黑" panose="020B0503020204020204" pitchFamily="34" charset="-122"/>
                <a:sym typeface="微软雅黑" panose="020B0503020204020204" pitchFamily="34" charset="-122"/>
              </a:rPr>
              <a:t>3</a:t>
            </a:r>
            <a:r>
              <a:rPr lang="zh-CN" altLang="en-US" sz="1700" dirty="0">
                <a:solidFill>
                  <a:srgbClr val="000000"/>
                </a:solidFill>
                <a:latin typeface="微软雅黑" panose="020B0503020204020204" pitchFamily="34" charset="-122"/>
                <a:sym typeface="微软雅黑" panose="020B0503020204020204" pitchFamily="34" charset="-122"/>
              </a:rPr>
              <a:t>）在流图中，判定节点数为：</a:t>
            </a:r>
            <a:r>
              <a:rPr lang="en-US" altLang="zh-CN" sz="1700" dirty="0">
                <a:solidFill>
                  <a:srgbClr val="000000"/>
                </a:solidFill>
                <a:latin typeface="微软雅黑" panose="020B0503020204020204" pitchFamily="34" charset="-122"/>
                <a:sym typeface="微软雅黑" panose="020B0503020204020204" pitchFamily="34" charset="-122"/>
              </a:rPr>
              <a:t>3</a:t>
            </a:r>
            <a:r>
              <a:rPr lang="zh-CN" altLang="en-US" sz="1700" dirty="0">
                <a:solidFill>
                  <a:srgbClr val="000000"/>
                </a:solidFill>
                <a:latin typeface="微软雅黑" panose="020B0503020204020204" pitchFamily="34" charset="-122"/>
                <a:sym typeface="微软雅黑" panose="020B0503020204020204" pitchFamily="34" charset="-122"/>
              </a:rPr>
              <a:t>，对应的环形复杂度为：</a:t>
            </a:r>
            <a:r>
              <a:rPr lang="en-US" altLang="zh-CN" sz="1700" dirty="0">
                <a:solidFill>
                  <a:srgbClr val="000000"/>
                </a:solidFill>
                <a:latin typeface="微软雅黑" panose="020B0503020204020204" pitchFamily="34" charset="-122"/>
                <a:sym typeface="微软雅黑" panose="020B0503020204020204" pitchFamily="34" charset="-122"/>
              </a:rPr>
              <a:t>3+1=4</a:t>
            </a:r>
            <a:endParaRPr lang="zh-CN" altLang="zh-CN" sz="1700" dirty="0">
              <a:solidFill>
                <a:srgbClr val="000000"/>
              </a:solidFill>
              <a:latin typeface="微软雅黑" panose="020B0503020204020204" pitchFamily="34" charset="-122"/>
              <a:sym typeface="微软雅黑" panose="020B0503020204020204" pitchFamily="34" charset="-122"/>
            </a:endParaRPr>
          </a:p>
        </p:txBody>
      </p:sp>
      <p:pic>
        <p:nvPicPr>
          <p:cNvPr id="10" name="图片 2" descr="rjgc-tp-xxnr-050402-01.png">
            <a:extLst>
              <a:ext uri="{FF2B5EF4-FFF2-40B4-BE49-F238E27FC236}">
                <a16:creationId xmlns:a16="http://schemas.microsoft.com/office/drawing/2014/main" id="{AA8695A8-894A-5645-A0B3-070252715BAC}"/>
              </a:ext>
            </a:extLst>
          </p:cNvPr>
          <p:cNvPicPr>
            <a:picLocks noChangeAspect="1"/>
          </p:cNvPicPr>
          <p:nvPr/>
        </p:nvPicPr>
        <p:blipFill>
          <a:blip r:embed="rId2">
            <a:extLst>
              <a:ext uri="{28A0092B-C50C-407E-A947-70E740481C1C}">
                <a14:useLocalDpi xmlns:a14="http://schemas.microsoft.com/office/drawing/2010/main" val="0"/>
              </a:ext>
            </a:extLst>
          </a:blip>
          <a:srcRect l="49190"/>
          <a:stretch>
            <a:fillRect/>
          </a:stretch>
        </p:blipFill>
        <p:spPr bwMode="auto">
          <a:xfrm>
            <a:off x="5257703" y="1780214"/>
            <a:ext cx="3143250" cy="40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73163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5.2 </a:t>
            </a:r>
            <a:r>
              <a:rPr lang="zh-CN" altLang="en-US" sz="2800" dirty="0">
                <a:solidFill>
                  <a:srgbClr val="4E8F00"/>
                </a:solidFill>
              </a:rPr>
              <a:t> </a:t>
            </a:r>
            <a:r>
              <a:rPr lang="zh-CN" altLang="en-US" sz="2800" dirty="0">
                <a:solidFill>
                  <a:srgbClr val="4E8F00"/>
                </a:solidFill>
                <a:sym typeface="微软雅黑" panose="020B0503020204020204" pitchFamily="34" charset="-122"/>
              </a:rPr>
              <a:t>白盒测试方法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基本路径法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4</a:t>
            </a:r>
            <a:r>
              <a:rPr lang="zh-CN" altLang="en-US" sz="2400" dirty="0">
                <a:solidFill>
                  <a:srgbClr val="CC6600"/>
                </a:solidFill>
                <a:sym typeface="微软雅黑" panose="020B0503020204020204" pitchFamily="34" charset="-122"/>
              </a:rPr>
              <a:t>  环形复杂度与独立路径</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073823" y="2598438"/>
            <a:ext cx="3934597" cy="303491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zh-CN" sz="1800" dirty="0">
                <a:solidFill>
                  <a:srgbClr val="000000"/>
                </a:solidFill>
                <a:latin typeface="微软雅黑" panose="020B0503020204020204" pitchFamily="34" charset="-122"/>
                <a:sym typeface="微软雅黑" panose="020B0503020204020204" pitchFamily="34" charset="-122"/>
              </a:rPr>
              <a:t>独立路径</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zh-CN" sz="1800" dirty="0">
                <a:solidFill>
                  <a:srgbClr val="000000"/>
                </a:solidFill>
                <a:latin typeface="微软雅黑" panose="020B0503020204020204" pitchFamily="34" charset="-122"/>
                <a:sym typeface="微软雅黑" panose="020B0503020204020204" pitchFamily="34" charset="-122"/>
              </a:rPr>
              <a:t>是指程序中至少引入了</a:t>
            </a:r>
            <a:r>
              <a:rPr lang="zh-CN" altLang="en-US" sz="1800" dirty="0">
                <a:solidFill>
                  <a:srgbClr val="000000"/>
                </a:solidFill>
                <a:latin typeface="微软雅黑" panose="020B0503020204020204" pitchFamily="34" charset="-122"/>
                <a:sym typeface="微软雅黑" panose="020B0503020204020204" pitchFamily="34" charset="-122"/>
              </a:rPr>
              <a:t> </a:t>
            </a:r>
            <a:r>
              <a:rPr lang="zh-CN" altLang="zh-CN" sz="1800" dirty="0">
                <a:solidFill>
                  <a:srgbClr val="C00000"/>
                </a:solidFill>
                <a:latin typeface="微软雅黑" panose="020B0503020204020204" pitchFamily="34" charset="-122"/>
                <a:sym typeface="微软雅黑" panose="020B0503020204020204" pitchFamily="34" charset="-122"/>
              </a:rPr>
              <a:t>一个新的语句</a:t>
            </a:r>
            <a:r>
              <a:rPr lang="zh-CN" altLang="en-US" sz="1800" dirty="0">
                <a:solidFill>
                  <a:srgbClr val="C00000"/>
                </a:solidFill>
                <a:latin typeface="微软雅黑" panose="020B0503020204020204" pitchFamily="34" charset="-122"/>
                <a:sym typeface="微软雅黑" panose="020B0503020204020204" pitchFamily="34" charset="-122"/>
              </a:rPr>
              <a:t> </a:t>
            </a:r>
            <a:r>
              <a:rPr lang="zh-CN" altLang="zh-CN" sz="1800" dirty="0">
                <a:solidFill>
                  <a:srgbClr val="000000"/>
                </a:solidFill>
                <a:latin typeface="微软雅黑" panose="020B0503020204020204" pitchFamily="34" charset="-122"/>
                <a:sym typeface="微软雅黑" panose="020B0503020204020204" pitchFamily="34" charset="-122"/>
              </a:rPr>
              <a:t>或一个</a:t>
            </a:r>
            <a:r>
              <a:rPr lang="zh-CN" altLang="en-US" sz="1800" dirty="0">
                <a:solidFill>
                  <a:srgbClr val="000000"/>
                </a:solidFill>
                <a:latin typeface="微软雅黑" panose="020B0503020204020204" pitchFamily="34" charset="-122"/>
                <a:sym typeface="微软雅黑" panose="020B0503020204020204" pitchFamily="34" charset="-122"/>
              </a:rPr>
              <a:t> </a:t>
            </a:r>
            <a:r>
              <a:rPr lang="zh-CN" altLang="zh-CN" sz="1800" dirty="0">
                <a:solidFill>
                  <a:srgbClr val="C00000"/>
                </a:solidFill>
                <a:latin typeface="微软雅黑" panose="020B0503020204020204" pitchFamily="34" charset="-122"/>
                <a:sym typeface="微软雅黑" panose="020B0503020204020204" pitchFamily="34" charset="-122"/>
              </a:rPr>
              <a:t>新的条件</a:t>
            </a:r>
            <a:r>
              <a:rPr lang="zh-CN" altLang="en-US" sz="1800" dirty="0">
                <a:solidFill>
                  <a:srgbClr val="C00000"/>
                </a:solidFill>
                <a:latin typeface="微软雅黑" panose="020B0503020204020204" pitchFamily="34" charset="-122"/>
                <a:sym typeface="微软雅黑" panose="020B0503020204020204" pitchFamily="34" charset="-122"/>
              </a:rPr>
              <a:t> </a:t>
            </a:r>
            <a:r>
              <a:rPr lang="zh-CN" altLang="zh-CN" sz="1800" dirty="0">
                <a:solidFill>
                  <a:srgbClr val="000000"/>
                </a:solidFill>
                <a:latin typeface="微软雅黑" panose="020B0503020204020204" pitchFamily="34" charset="-122"/>
                <a:sym typeface="微软雅黑" panose="020B0503020204020204" pitchFamily="34" charset="-122"/>
              </a:rPr>
              <a:t>的程序路径</a:t>
            </a:r>
            <a:r>
              <a:rPr lang="zh-CN" altLang="en-US" sz="1800" dirty="0">
                <a:solidFill>
                  <a:srgbClr val="000000"/>
                </a:solidFill>
                <a:latin typeface="微软雅黑" panose="020B0503020204020204" pitchFamily="34" charset="-122"/>
                <a:sym typeface="微软雅黑" panose="020B0503020204020204" pitchFamily="34" charset="-122"/>
              </a:rPr>
              <a:t>：</a:t>
            </a:r>
            <a:endParaRPr lang="en-US" altLang="zh-CN" sz="1800" dirty="0">
              <a:solidFill>
                <a:srgbClr val="000000"/>
              </a:solidFill>
              <a:latin typeface="微软雅黑" panose="020B0503020204020204" pitchFamily="34" charset="-122"/>
              <a:sym typeface="微软雅黑" panose="020B0503020204020204" pitchFamily="34" charset="-122"/>
            </a:endParaRPr>
          </a:p>
          <a:p>
            <a:r>
              <a:rPr lang="en-US" altLang="zh-CN" sz="1600" dirty="0">
                <a:solidFill>
                  <a:srgbClr val="000000"/>
                </a:solidFill>
                <a:latin typeface="微软雅黑" panose="020B0503020204020204" pitchFamily="34" charset="-122"/>
              </a:rPr>
              <a:t>path1 </a:t>
            </a:r>
            <a:r>
              <a:rPr lang="zh-CN" altLang="zh-CN" sz="1600" dirty="0">
                <a:solidFill>
                  <a:srgbClr val="000000"/>
                </a:solidFill>
                <a:latin typeface="微软雅黑" panose="020B0503020204020204" pitchFamily="34" charset="-122"/>
              </a:rPr>
              <a:t>：</a:t>
            </a:r>
            <a:r>
              <a:rPr lang="en-US" altLang="zh-CN" sz="1600" dirty="0">
                <a:solidFill>
                  <a:srgbClr val="000000"/>
                </a:solidFill>
                <a:latin typeface="微软雅黑" panose="020B0503020204020204" pitchFamily="34" charset="-122"/>
              </a:rPr>
              <a:t>1-11</a:t>
            </a:r>
            <a:endParaRPr lang="zh-CN" altLang="zh-CN" sz="1600" dirty="0">
              <a:solidFill>
                <a:srgbClr val="000000"/>
              </a:solidFill>
              <a:latin typeface="微软雅黑" panose="020B0503020204020204" pitchFamily="34" charset="-122"/>
            </a:endParaRPr>
          </a:p>
          <a:p>
            <a:r>
              <a:rPr lang="en-US" altLang="zh-CN" sz="1600" dirty="0">
                <a:solidFill>
                  <a:srgbClr val="000000"/>
                </a:solidFill>
                <a:latin typeface="微软雅黑" panose="020B0503020204020204" pitchFamily="34" charset="-122"/>
              </a:rPr>
              <a:t>path2</a:t>
            </a:r>
            <a:r>
              <a:rPr lang="zh-CN" altLang="zh-CN" sz="1600" dirty="0">
                <a:solidFill>
                  <a:srgbClr val="000000"/>
                </a:solidFill>
                <a:latin typeface="微软雅黑" panose="020B0503020204020204" pitchFamily="34" charset="-122"/>
              </a:rPr>
              <a:t>：</a:t>
            </a:r>
            <a:r>
              <a:rPr lang="en-US" altLang="zh-CN" sz="1600" dirty="0">
                <a:solidFill>
                  <a:srgbClr val="000000"/>
                </a:solidFill>
                <a:latin typeface="微软雅黑" panose="020B0503020204020204" pitchFamily="34" charset="-122"/>
              </a:rPr>
              <a:t>1-</a:t>
            </a:r>
            <a:r>
              <a:rPr lang="en-US" altLang="zh-CN" sz="1600" dirty="0">
                <a:solidFill>
                  <a:srgbClr val="CC6600"/>
                </a:solidFill>
                <a:latin typeface="微软雅黑" panose="020B0503020204020204" pitchFamily="34" charset="-122"/>
              </a:rPr>
              <a:t>2-3-4-5-10</a:t>
            </a:r>
            <a:r>
              <a:rPr lang="en-US" altLang="zh-CN" sz="1600" dirty="0">
                <a:solidFill>
                  <a:srgbClr val="000000"/>
                </a:solidFill>
                <a:latin typeface="微软雅黑" panose="020B0503020204020204" pitchFamily="34" charset="-122"/>
              </a:rPr>
              <a:t>-1-11</a:t>
            </a:r>
            <a:endParaRPr lang="zh-CN" altLang="zh-CN" sz="1600" dirty="0">
              <a:solidFill>
                <a:srgbClr val="000000"/>
              </a:solidFill>
              <a:latin typeface="微软雅黑" panose="020B0503020204020204" pitchFamily="34" charset="-122"/>
            </a:endParaRPr>
          </a:p>
          <a:p>
            <a:r>
              <a:rPr lang="en-US" altLang="zh-CN" sz="1600" dirty="0">
                <a:solidFill>
                  <a:srgbClr val="000000"/>
                </a:solidFill>
                <a:latin typeface="微软雅黑" panose="020B0503020204020204" pitchFamily="34" charset="-122"/>
              </a:rPr>
              <a:t>path3</a:t>
            </a:r>
            <a:r>
              <a:rPr lang="zh-CN" altLang="zh-CN" sz="1600" dirty="0">
                <a:solidFill>
                  <a:srgbClr val="000000"/>
                </a:solidFill>
                <a:latin typeface="微软雅黑" panose="020B0503020204020204" pitchFamily="34" charset="-122"/>
              </a:rPr>
              <a:t>：</a:t>
            </a:r>
            <a:r>
              <a:rPr lang="en-US" altLang="zh-CN" sz="1600" dirty="0">
                <a:solidFill>
                  <a:srgbClr val="000000"/>
                </a:solidFill>
                <a:latin typeface="微软雅黑" panose="020B0503020204020204" pitchFamily="34" charset="-122"/>
              </a:rPr>
              <a:t>1-2-3-</a:t>
            </a:r>
            <a:r>
              <a:rPr lang="en-US" altLang="zh-CN" sz="1600" dirty="0">
                <a:solidFill>
                  <a:srgbClr val="CC6600"/>
                </a:solidFill>
                <a:latin typeface="微软雅黑" panose="020B0503020204020204" pitchFamily="34" charset="-122"/>
              </a:rPr>
              <a:t>6-8-9</a:t>
            </a:r>
            <a:r>
              <a:rPr lang="en-US" altLang="zh-CN" sz="1600" dirty="0">
                <a:solidFill>
                  <a:srgbClr val="000000"/>
                </a:solidFill>
                <a:latin typeface="微软雅黑" panose="020B0503020204020204" pitchFamily="34" charset="-122"/>
              </a:rPr>
              <a:t>-10-1-11</a:t>
            </a:r>
            <a:endParaRPr lang="zh-CN" altLang="zh-CN" sz="1600" dirty="0">
              <a:solidFill>
                <a:srgbClr val="000000"/>
              </a:solidFill>
              <a:latin typeface="微软雅黑" panose="020B0503020204020204" pitchFamily="34" charset="-122"/>
            </a:endParaRPr>
          </a:p>
          <a:p>
            <a:r>
              <a:rPr lang="en-US" altLang="zh-CN" sz="1600" dirty="0">
                <a:solidFill>
                  <a:srgbClr val="000000"/>
                </a:solidFill>
                <a:latin typeface="微软雅黑" panose="020B0503020204020204" pitchFamily="34" charset="-122"/>
              </a:rPr>
              <a:t>path4</a:t>
            </a:r>
            <a:r>
              <a:rPr lang="zh-CN" altLang="zh-CN" sz="1600" dirty="0">
                <a:solidFill>
                  <a:srgbClr val="000000"/>
                </a:solidFill>
                <a:latin typeface="微软雅黑" panose="020B0503020204020204" pitchFamily="34" charset="-122"/>
              </a:rPr>
              <a:t>：</a:t>
            </a:r>
            <a:r>
              <a:rPr lang="en-US" altLang="zh-CN" sz="1600" dirty="0">
                <a:solidFill>
                  <a:srgbClr val="000000"/>
                </a:solidFill>
                <a:latin typeface="微软雅黑" panose="020B0503020204020204" pitchFamily="34" charset="-122"/>
              </a:rPr>
              <a:t>1-2-3-6-</a:t>
            </a:r>
            <a:r>
              <a:rPr lang="en-US" altLang="zh-CN" sz="1600" dirty="0">
                <a:solidFill>
                  <a:srgbClr val="CC6600"/>
                </a:solidFill>
                <a:latin typeface="微软雅黑" panose="020B0503020204020204" pitchFamily="34" charset="-122"/>
              </a:rPr>
              <a:t>7</a:t>
            </a:r>
            <a:r>
              <a:rPr lang="en-US" altLang="zh-CN" sz="1600" dirty="0">
                <a:solidFill>
                  <a:srgbClr val="000000"/>
                </a:solidFill>
                <a:latin typeface="微软雅黑" panose="020B0503020204020204" pitchFamily="34" charset="-122"/>
              </a:rPr>
              <a:t>-9-10-1-11</a:t>
            </a:r>
            <a:endParaRPr lang="zh-CN" altLang="zh-CN" sz="1600" dirty="0">
              <a:solidFill>
                <a:srgbClr val="000000"/>
              </a:solidFill>
              <a:latin typeface="微软雅黑" panose="020B0503020204020204" pitchFamily="34" charset="-122"/>
            </a:endParaRPr>
          </a:p>
        </p:txBody>
      </p:sp>
      <p:pic>
        <p:nvPicPr>
          <p:cNvPr id="9" name="图片 2" descr="rjgc-tp-xxnr-050402-01.png">
            <a:extLst>
              <a:ext uri="{FF2B5EF4-FFF2-40B4-BE49-F238E27FC236}">
                <a16:creationId xmlns:a16="http://schemas.microsoft.com/office/drawing/2014/main" id="{6163C514-5C92-8046-A4E8-33DBA0DAD10D}"/>
              </a:ext>
            </a:extLst>
          </p:cNvPr>
          <p:cNvPicPr>
            <a:picLocks noChangeAspect="1"/>
          </p:cNvPicPr>
          <p:nvPr/>
        </p:nvPicPr>
        <p:blipFill>
          <a:blip r:embed="rId2">
            <a:extLst>
              <a:ext uri="{28A0092B-C50C-407E-A947-70E740481C1C}">
                <a14:useLocalDpi xmlns:a14="http://schemas.microsoft.com/office/drawing/2010/main" val="0"/>
              </a:ext>
            </a:extLst>
          </a:blip>
          <a:srcRect l="49190"/>
          <a:stretch>
            <a:fillRect/>
          </a:stretch>
        </p:blipFill>
        <p:spPr bwMode="auto">
          <a:xfrm>
            <a:off x="5257703" y="1780214"/>
            <a:ext cx="3143250" cy="40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AutoShape 12">
            <a:extLst>
              <a:ext uri="{FF2B5EF4-FFF2-40B4-BE49-F238E27FC236}">
                <a16:creationId xmlns:a16="http://schemas.microsoft.com/office/drawing/2014/main" id="{938F540F-A8DD-C049-A08A-C2F780B4941E}"/>
              </a:ext>
            </a:extLst>
          </p:cNvPr>
          <p:cNvSpPr>
            <a:spLocks noChangeArrowheads="1"/>
          </p:cNvSpPr>
          <p:nvPr/>
        </p:nvSpPr>
        <p:spPr bwMode="auto">
          <a:xfrm>
            <a:off x="2436066" y="5845628"/>
            <a:ext cx="4307633" cy="571500"/>
          </a:xfrm>
          <a:prstGeom prst="wedgeEllipseCallout">
            <a:avLst>
              <a:gd name="adj1" fmla="val -40155"/>
              <a:gd name="adj2" fmla="val -118660"/>
            </a:avLst>
          </a:prstGeom>
          <a:gradFill rotWithShape="0">
            <a:gsLst>
              <a:gs pos="0">
                <a:srgbClr val="FFFFFF"/>
              </a:gs>
              <a:gs pos="100000">
                <a:srgbClr val="C0C0C0"/>
              </a:gs>
            </a:gsLst>
            <a:lin ang="2700000" scaled="1"/>
          </a:gradFill>
          <a:ln w="9525">
            <a:solidFill>
              <a:schemeClr val="tx1"/>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每条路径都有至少一个新边</a:t>
            </a:r>
          </a:p>
        </p:txBody>
      </p:sp>
      <p:sp>
        <p:nvSpPr>
          <p:cNvPr id="17" name="云形 16">
            <a:extLst>
              <a:ext uri="{FF2B5EF4-FFF2-40B4-BE49-F238E27FC236}">
                <a16:creationId xmlns:a16="http://schemas.microsoft.com/office/drawing/2014/main" id="{2810E905-F2EF-D74C-BC2C-27733A0DDFFC}"/>
              </a:ext>
            </a:extLst>
          </p:cNvPr>
          <p:cNvSpPr/>
          <p:nvPr/>
        </p:nvSpPr>
        <p:spPr>
          <a:xfrm>
            <a:off x="5185602" y="687887"/>
            <a:ext cx="1930539" cy="1144635"/>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sym typeface="微软雅黑" panose="020B0503020204020204" pitchFamily="34" charset="-122"/>
              </a:rPr>
              <a:t>测试用例数目上界</a:t>
            </a:r>
            <a:endParaRPr lang="zh-CN" altLang="en-US"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21289138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5</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软件测试</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5.1</a:t>
            </a:r>
            <a:r>
              <a:rPr lang="zh-CN" altLang="en-US" dirty="0">
                <a:solidFill>
                  <a:srgbClr val="4E8F00"/>
                </a:solidFill>
                <a:sym typeface="微软雅黑" panose="020B0503020204020204" pitchFamily="34" charset="-122"/>
              </a:rPr>
              <a:t>  软件测试的基本概念</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5.2  </a:t>
            </a:r>
            <a:r>
              <a:rPr lang="zh-CN" altLang="en-US" dirty="0">
                <a:solidFill>
                  <a:srgbClr val="4E8F00"/>
                </a:solidFill>
                <a:sym typeface="微软雅黑" panose="020B0503020204020204" pitchFamily="34" charset="-122"/>
              </a:rPr>
              <a:t>白盒测试方法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effectLst>
                  <a:glow rad="228600">
                    <a:schemeClr val="accent6">
                      <a:satMod val="175000"/>
                      <a:alpha val="40000"/>
                    </a:schemeClr>
                  </a:glow>
                </a:effectLst>
                <a:sym typeface="微软雅黑" panose="020B0503020204020204" pitchFamily="34" charset="-122"/>
              </a:rPr>
              <a:t>5.3  </a:t>
            </a:r>
            <a:r>
              <a:rPr lang="zh-CN" altLang="en-US" dirty="0">
                <a:solidFill>
                  <a:srgbClr val="4E8F00"/>
                </a:solidFill>
                <a:effectLst>
                  <a:glow rad="228600">
                    <a:schemeClr val="accent6">
                      <a:satMod val="175000"/>
                      <a:alpha val="40000"/>
                    </a:schemeClr>
                  </a:glow>
                </a:effectLst>
                <a:sym typeface="微软雅黑" panose="020B0503020204020204" pitchFamily="34" charset="-122"/>
              </a:rPr>
              <a:t>黑盒测试方法</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5.4  </a:t>
            </a:r>
            <a:r>
              <a:rPr lang="zh-CN" altLang="en-US" dirty="0">
                <a:solidFill>
                  <a:srgbClr val="4E8F00"/>
                </a:solidFill>
                <a:sym typeface="微软雅黑" panose="020B0503020204020204" pitchFamily="34" charset="-122"/>
              </a:rPr>
              <a:t>软件测试的基本过程</a:t>
            </a:r>
          </a:p>
          <a:p>
            <a:pPr>
              <a:spcBef>
                <a:spcPts val="1200"/>
              </a:spcBef>
            </a:pPr>
            <a:r>
              <a:rPr lang="en-US" altLang="zh-CN" dirty="0">
                <a:solidFill>
                  <a:srgbClr val="4E8F00"/>
                </a:solidFill>
                <a:sym typeface="微软雅黑" panose="020B0503020204020204" pitchFamily="34" charset="-122"/>
              </a:rPr>
              <a:t>5.5  </a:t>
            </a:r>
            <a:r>
              <a:rPr lang="zh-CN" altLang="en-US" dirty="0">
                <a:solidFill>
                  <a:srgbClr val="4E8F00"/>
                </a:solidFill>
                <a:sym typeface="微软雅黑" panose="020B0503020204020204" pitchFamily="34" charset="-122"/>
              </a:rPr>
              <a:t>软件调试</a:t>
            </a:r>
          </a:p>
          <a:p>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45</a:t>
            </a:fld>
            <a:endParaRPr lang="zh-CN" altLang="en-US"/>
          </a:p>
        </p:txBody>
      </p:sp>
    </p:spTree>
    <p:extLst>
      <p:ext uri="{BB962C8B-B14F-4D97-AF65-F5344CB8AC3E}">
        <p14:creationId xmlns:p14="http://schemas.microsoft.com/office/powerpoint/2010/main" val="39819815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黑盒测试的基本概念</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什么是黑盒测试法？</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把被测程序当作一个黑盒，在</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不考虑程序内部结构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和内部特性，测试者</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只需知道</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该程序</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输入</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输出之间的关系</a:t>
            </a:r>
            <a:r>
              <a:rPr lang="en-US" altLang="zh-CN"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或</a:t>
            </a:r>
            <a:r>
              <a:rPr lang="en-US" altLang="zh-CN"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程序的功能</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的情况下</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检查程序是否符合它的功能说明</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黑盒测试，又称 </a:t>
            </a:r>
            <a:r>
              <a:rPr lang="zh-CN" altLang="en-US" dirty="0">
                <a:solidFill>
                  <a:srgbClr val="C00000"/>
                </a:solidFill>
                <a:latin typeface="微软雅黑" panose="020B0503020204020204" pitchFamily="34" charset="-122"/>
                <a:sym typeface="微软雅黑" panose="020B0503020204020204" pitchFamily="34" charset="-122"/>
              </a:rPr>
              <a:t>功能测试</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数据驱动测试 </a:t>
            </a:r>
            <a:r>
              <a:rPr lang="zh-CN" altLang="en-US" dirty="0">
                <a:solidFill>
                  <a:srgbClr val="000000"/>
                </a:solidFill>
                <a:latin typeface="微软雅黑" panose="020B0503020204020204" pitchFamily="34" charset="-122"/>
                <a:sym typeface="微软雅黑" panose="020B0503020204020204" pitchFamily="34" charset="-122"/>
              </a:rPr>
              <a:t>或 </a:t>
            </a:r>
            <a:r>
              <a:rPr lang="zh-CN" altLang="en-US" dirty="0">
                <a:solidFill>
                  <a:srgbClr val="C00000"/>
                </a:solidFill>
                <a:latin typeface="微软雅黑" panose="020B0503020204020204" pitchFamily="34" charset="-122"/>
                <a:sym typeface="微软雅黑" panose="020B0503020204020204" pitchFamily="34" charset="-122"/>
              </a:rPr>
              <a:t>基于规格说明的测试</a:t>
            </a:r>
            <a:endParaRPr lang="zh-CN" altLang="zh-CN" dirty="0">
              <a:solidFill>
                <a:srgbClr val="C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grpSp>
        <p:nvGrpSpPr>
          <p:cNvPr id="9" name="Group 8">
            <a:extLst>
              <a:ext uri="{FF2B5EF4-FFF2-40B4-BE49-F238E27FC236}">
                <a16:creationId xmlns:a16="http://schemas.microsoft.com/office/drawing/2014/main" id="{3C5369AC-737B-3348-849A-28493F69468D}"/>
              </a:ext>
            </a:extLst>
          </p:cNvPr>
          <p:cNvGrpSpPr>
            <a:grpSpLocks/>
          </p:cNvGrpSpPr>
          <p:nvPr/>
        </p:nvGrpSpPr>
        <p:grpSpPr bwMode="auto">
          <a:xfrm>
            <a:off x="6578373" y="5020008"/>
            <a:ext cx="1066800" cy="1219200"/>
            <a:chOff x="4256" y="911"/>
            <a:chExt cx="723" cy="837"/>
          </a:xfrm>
        </p:grpSpPr>
        <p:sp>
          <p:nvSpPr>
            <p:cNvPr id="10" name="Rectangle 9">
              <a:extLst>
                <a:ext uri="{FF2B5EF4-FFF2-40B4-BE49-F238E27FC236}">
                  <a16:creationId xmlns:a16="http://schemas.microsoft.com/office/drawing/2014/main" id="{E2B210B9-7130-7C43-B28E-F89C10D0996C}"/>
                </a:ext>
              </a:extLst>
            </p:cNvPr>
            <p:cNvSpPr>
              <a:spLocks noChangeArrowheads="1"/>
            </p:cNvSpPr>
            <p:nvPr/>
          </p:nvSpPr>
          <p:spPr bwMode="auto">
            <a:xfrm>
              <a:off x="4272" y="1248"/>
              <a:ext cx="578" cy="500"/>
            </a:xfrm>
            <a:prstGeom prst="rect">
              <a:avLst/>
            </a:prstGeom>
            <a:solidFill>
              <a:schemeClr val="tx1"/>
            </a:solidFill>
            <a:ln w="9525">
              <a:miter lim="800000"/>
              <a:headEnd/>
              <a:tailEnd/>
            </a:ln>
            <a:scene3d>
              <a:camera prst="legacyPerspectiveTopRight"/>
              <a:lightRig rig="legacyFlat1" dir="t"/>
            </a:scene3d>
            <a:sp3d extrusionH="1801800" prstMaterial="legacyMatte">
              <a:bevelT w="13500" h="13500" prst="angle"/>
              <a:bevelB w="13500" h="13500" prst="angle"/>
              <a:extrusionClr>
                <a:srgbClr val="4F4F4F"/>
              </a:extrusionClr>
              <a:contourClr>
                <a:schemeClr val="tx1"/>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 name="Line 10">
              <a:extLst>
                <a:ext uri="{FF2B5EF4-FFF2-40B4-BE49-F238E27FC236}">
                  <a16:creationId xmlns:a16="http://schemas.microsoft.com/office/drawing/2014/main" id="{48A181A2-DE84-6D49-9B6D-43D1131E997E}"/>
                </a:ext>
              </a:extLst>
            </p:cNvPr>
            <p:cNvSpPr>
              <a:spLocks noChangeShapeType="1"/>
            </p:cNvSpPr>
            <p:nvPr/>
          </p:nvSpPr>
          <p:spPr bwMode="auto">
            <a:xfrm>
              <a:off x="4256" y="923"/>
              <a:ext cx="356" cy="266"/>
            </a:xfrm>
            <a:prstGeom prst="line">
              <a:avLst/>
            </a:prstGeom>
            <a:noFill/>
            <a:ln w="57150" cap="sq">
              <a:solidFill>
                <a:schemeClr val="bg1"/>
              </a:solidFill>
              <a:round/>
              <a:headEnd/>
              <a:tailEnd type="triangle" w="med" len="med"/>
            </a:ln>
            <a:scene3d>
              <a:camera prst="legacyPerspectiveTopRight"/>
              <a:lightRig rig="legacyFlat3" dir="b"/>
            </a:scene3d>
            <a:sp3d extrusionH="430200" prstMaterial="legacyMatte">
              <a:bevelT w="13500" h="13500" prst="angle"/>
              <a:bevelB w="13500" h="13500" prst="angle"/>
              <a:extrusionClr>
                <a:srgbClr val="4F4F4F"/>
              </a:extrusionClr>
              <a:contourClr>
                <a:schemeClr val="bg1"/>
              </a:contourClr>
            </a:sp3d>
            <a:extLst>
              <a:ext uri="{909E8E84-426E-40DD-AFC4-6F175D3DCCD1}">
                <a14:hiddenFill xmlns:a14="http://schemas.microsoft.com/office/drawing/2010/main">
                  <a:noFill/>
                </a14:hiddenFill>
              </a:ext>
            </a:extLst>
          </p:spPr>
          <p:txBody>
            <a:bodyPr wrap="none" anchor="ctr">
              <a:flatTx/>
            </a:bodyPr>
            <a:lstStyle/>
            <a:p>
              <a:endParaRPr lang="zh-CN" altLang="en-US"/>
            </a:p>
          </p:txBody>
        </p:sp>
        <p:sp>
          <p:nvSpPr>
            <p:cNvPr id="17" name="Line 11">
              <a:extLst>
                <a:ext uri="{FF2B5EF4-FFF2-40B4-BE49-F238E27FC236}">
                  <a16:creationId xmlns:a16="http://schemas.microsoft.com/office/drawing/2014/main" id="{FDDF6307-DBB1-B044-A66B-07D8F08A656D}"/>
                </a:ext>
              </a:extLst>
            </p:cNvPr>
            <p:cNvSpPr>
              <a:spLocks noChangeShapeType="1"/>
            </p:cNvSpPr>
            <p:nvPr/>
          </p:nvSpPr>
          <p:spPr bwMode="auto">
            <a:xfrm flipV="1">
              <a:off x="4734" y="911"/>
              <a:ext cx="245" cy="244"/>
            </a:xfrm>
            <a:prstGeom prst="line">
              <a:avLst/>
            </a:prstGeom>
            <a:noFill/>
            <a:ln w="57150" cap="sq">
              <a:solidFill>
                <a:schemeClr val="bg1"/>
              </a:solidFill>
              <a:round/>
              <a:headEnd/>
              <a:tailEnd type="triangle" w="med" len="med"/>
            </a:ln>
            <a:scene3d>
              <a:camera prst="legacyObliqueTopRight"/>
              <a:lightRig rig="legacyFlat3" dir="b"/>
            </a:scene3d>
            <a:sp3d extrusionH="430200" prstMaterial="legacyMatte">
              <a:bevelT w="13500" h="13500" prst="angle"/>
              <a:bevelB w="13500" h="13500" prst="angle"/>
              <a:extrusionClr>
                <a:srgbClr val="4F4F4F"/>
              </a:extrusionClr>
              <a:contourClr>
                <a:schemeClr val="bg1"/>
              </a:contourClr>
            </a:sp3d>
            <a:extLst>
              <a:ext uri="{909E8E84-426E-40DD-AFC4-6F175D3DCCD1}">
                <a14:hiddenFill xmlns:a14="http://schemas.microsoft.com/office/drawing/2010/main">
                  <a:noFill/>
                </a14:hiddenFill>
              </a:ext>
            </a:extLst>
          </p:spPr>
          <p:txBody>
            <a:bodyPr wrap="none" anchor="ctr">
              <a:flatTx/>
            </a:bodyPr>
            <a:lstStyle/>
            <a:p>
              <a:endParaRPr lang="zh-CN" altLang="en-US"/>
            </a:p>
          </p:txBody>
        </p:sp>
      </p:grpSp>
    </p:spTree>
    <p:extLst>
      <p:ext uri="{BB962C8B-B14F-4D97-AF65-F5344CB8AC3E}">
        <p14:creationId xmlns:p14="http://schemas.microsoft.com/office/powerpoint/2010/main" val="34029621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42"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黑盒测试的基本概念</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什么是黑盒测试法？</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zh-CN" sz="2000" dirty="0">
                <a:solidFill>
                  <a:srgbClr val="000000"/>
                </a:solidFill>
                <a:latin typeface="微软雅黑" panose="020B0503020204020204" pitchFamily="34" charset="-122"/>
                <a:sym typeface="微软雅黑" panose="020B0503020204020204" pitchFamily="34" charset="-122"/>
              </a:rPr>
              <a:t>注重于测试软件的功能需求，主要试图发现下列几类错误：</a:t>
            </a:r>
            <a:endParaRPr lang="en-US" altLang="zh-CN" sz="2000" dirty="0">
              <a:solidFill>
                <a:srgbClr val="000000"/>
              </a:solidFill>
              <a:latin typeface="微软雅黑" panose="020B0503020204020204" pitchFamily="34" charset="-122"/>
              <a:sym typeface="微软雅黑" panose="020B0503020204020204" pitchFamily="34" charset="-122"/>
            </a:endParaRPr>
          </a:p>
          <a:p>
            <a:pPr marL="521208" lvl="2" indent="-342900">
              <a:lnSpc>
                <a:spcPct val="120000"/>
              </a:lnSpc>
              <a:spcBef>
                <a:spcPts val="900"/>
              </a:spcBef>
            </a:pPr>
            <a:r>
              <a:rPr lang="zh-CN" altLang="zh-CN" sz="1800" dirty="0">
                <a:solidFill>
                  <a:srgbClr val="000000"/>
                </a:solidFill>
                <a:latin typeface="微软雅黑" panose="020B0503020204020204" pitchFamily="34" charset="-122"/>
                <a:sym typeface="微软雅黑" panose="020B0503020204020204" pitchFamily="34" charset="-122"/>
              </a:rPr>
              <a:t>功能错误或遗漏</a:t>
            </a:r>
            <a:endParaRPr lang="en-US" altLang="zh-CN" sz="1800" dirty="0">
              <a:solidFill>
                <a:srgbClr val="000000"/>
              </a:solidFill>
              <a:latin typeface="微软雅黑" panose="020B0503020204020204" pitchFamily="34" charset="-122"/>
              <a:sym typeface="微软雅黑" panose="020B0503020204020204" pitchFamily="34" charset="-122"/>
            </a:endParaRPr>
          </a:p>
          <a:p>
            <a:pPr marL="521208" lvl="2" indent="-34290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性能错误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521208" lvl="2" indent="-34290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初始化和终止错误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521208" lvl="2" indent="-34290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界面错误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521208" lvl="2" indent="-34290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数据结构或外部数据库访问错误等</a:t>
            </a:r>
            <a:endParaRPr lang="zh-CN"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9985615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5.3.1</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黑盒测试的基本概念</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黑盒测试的目标</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5934AC49-0F83-EA4D-9FCB-1870729E5DF1}"/>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精心设计或挑选出</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最具代表性的少量测试用例</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通过它们的执行，期望可以发现尽可能多的错误</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黑盒测试包括：</a:t>
            </a:r>
            <a:r>
              <a:rPr lang="zh-CN" altLang="en-US" dirty="0">
                <a:solidFill>
                  <a:srgbClr val="C00000"/>
                </a:solidFill>
                <a:latin typeface="微软雅黑" panose="020B0503020204020204" pitchFamily="34" charset="-122"/>
                <a:sym typeface="微软雅黑" panose="020B0503020204020204" pitchFamily="34" charset="-122"/>
              </a:rPr>
              <a:t>等价类划分法</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边界值分析法</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错误推测法</a:t>
            </a:r>
            <a:r>
              <a:rPr lang="zh-CN" altLang="en-US" dirty="0">
                <a:solidFill>
                  <a:srgbClr val="000000"/>
                </a:solidFill>
                <a:latin typeface="微软雅黑" panose="020B0503020204020204" pitchFamily="34" charset="-122"/>
                <a:sym typeface="微软雅黑" panose="020B0503020204020204" pitchFamily="34" charset="-122"/>
              </a:rPr>
              <a:t>等</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pic>
        <p:nvPicPr>
          <p:cNvPr id="10" name="图片 2" descr="rjgc-tp-xxnr-050301-01.png">
            <a:extLst>
              <a:ext uri="{FF2B5EF4-FFF2-40B4-BE49-F238E27FC236}">
                <a16:creationId xmlns:a16="http://schemas.microsoft.com/office/drawing/2014/main" id="{910C56CE-0952-174C-8175-22CCACEDC5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2601" y="3502170"/>
            <a:ext cx="5685027" cy="940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28937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等价类划分法</a:t>
            </a:r>
            <a:endParaRPr lang="zh-CN" altLang="zh-CN" dirty="0">
              <a:solidFill>
                <a:srgbClr val="C000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等价类划分法基本思想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将被测程序的所有可能输入数据（有效与无效的）划分为</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若干等价类</a:t>
            </a:r>
            <a:r>
              <a:rPr lang="zh-CN" altLang="zh-CN" dirty="0">
                <a:solidFill>
                  <a:srgbClr val="000000"/>
                </a:solidFill>
                <a:latin typeface="微软雅黑" panose="020B0503020204020204" pitchFamily="34" charset="-122"/>
                <a:sym typeface="微软雅黑" panose="020B0503020204020204" pitchFamily="34" charset="-122"/>
              </a:rPr>
              <a:t>，</a:t>
            </a:r>
            <a:r>
              <a:rPr lang="zh-CN" altLang="zh-CN" dirty="0">
                <a:solidFill>
                  <a:srgbClr val="C00000"/>
                </a:solidFill>
                <a:latin typeface="微软雅黑" panose="020B0503020204020204" pitchFamily="34" charset="-122"/>
                <a:sym typeface="微软雅黑" panose="020B0503020204020204" pitchFamily="34" charset="-122"/>
              </a:rPr>
              <a:t>在指定等价类中</a:t>
            </a:r>
            <a:r>
              <a:rPr lang="zh-CN" altLang="zh-CN" dirty="0">
                <a:solidFill>
                  <a:srgbClr val="C00000"/>
                </a:solidFill>
                <a:highlight>
                  <a:srgbClr val="FFFF00"/>
                </a:highlight>
                <a:latin typeface="微软雅黑" panose="020B0503020204020204" pitchFamily="34" charset="-122"/>
                <a:sym typeface="微软雅黑" panose="020B0503020204020204" pitchFamily="34" charset="-122"/>
              </a:rPr>
              <a:t>任取一组</a:t>
            </a:r>
            <a:r>
              <a:rPr lang="zh-CN" altLang="zh-CN" dirty="0">
                <a:solidFill>
                  <a:srgbClr val="C00000"/>
                </a:solidFill>
                <a:latin typeface="微软雅黑" panose="020B0503020204020204" pitchFamily="34" charset="-122"/>
                <a:sym typeface="微软雅黑" panose="020B0503020204020204" pitchFamily="34" charset="-122"/>
              </a:rPr>
              <a:t>数据作为一个测试用例，作为该等价类的</a:t>
            </a:r>
            <a:r>
              <a:rPr lang="zh-CN" altLang="zh-CN" dirty="0">
                <a:solidFill>
                  <a:srgbClr val="C00000"/>
                </a:solidFill>
                <a:highlight>
                  <a:srgbClr val="FFFF00"/>
                </a:highlight>
                <a:latin typeface="微软雅黑" panose="020B0503020204020204" pitchFamily="34" charset="-122"/>
                <a:sym typeface="微软雅黑" panose="020B0503020204020204" pitchFamily="34" charset="-122"/>
              </a:rPr>
              <a:t>代表</a:t>
            </a:r>
            <a:endParaRPr lang="en-US" altLang="zh-CN" dirty="0">
              <a:solidFill>
                <a:srgbClr val="000000"/>
              </a:solidFill>
              <a:highlight>
                <a:srgbClr val="FFFF00"/>
              </a:highlight>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zh-CN" dirty="0">
                <a:solidFill>
                  <a:srgbClr val="000000"/>
                </a:solidFill>
                <a:latin typeface="微软雅黑" panose="020B0503020204020204" pitchFamily="34" charset="-122"/>
                <a:sym typeface="微软雅黑" panose="020B0503020204020204" pitchFamily="34" charset="-122"/>
              </a:rPr>
              <a:t>如果该组数据可以检查出程序的错误，则该等价类中其他组数据也可以产生同样的错误，相反，如果该组数据没有查出错误，则使用该等价类中其他数据组执行程序也是正确的</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2282301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等价类划分法基本思想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dirty="0">
                <a:solidFill>
                  <a:srgbClr val="000000"/>
                </a:solidFill>
                <a:latin typeface="微软雅黑" panose="020B0503020204020204" pitchFamily="34" charset="-122"/>
                <a:sym typeface="微软雅黑" panose="020B0503020204020204" pitchFamily="34" charset="-122"/>
              </a:rPr>
              <a:t>等价分类法，一般有两种类型的等价类：</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highlight>
                  <a:srgbClr val="FFFF00"/>
                </a:highlight>
                <a:latin typeface="微软雅黑" panose="020B0503020204020204" pitchFamily="34" charset="-122"/>
                <a:sym typeface="微软雅黑" panose="020B0503020204020204" pitchFamily="34" charset="-122"/>
              </a:rPr>
              <a:t>有效等价类</a:t>
            </a:r>
            <a:r>
              <a:rPr lang="zh-CN" altLang="en-US" dirty="0">
                <a:latin typeface="微软雅黑" panose="020B0503020204020204" pitchFamily="34" charset="-122"/>
                <a:sym typeface="微软雅黑" panose="020B0503020204020204" pitchFamily="34" charset="-122"/>
              </a:rPr>
              <a:t>：输入的数据满足程序模块要求的输入数据规范</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highlight>
                  <a:srgbClr val="FFFF00"/>
                </a:highlight>
                <a:latin typeface="微软雅黑" panose="020B0503020204020204" pitchFamily="34" charset="-122"/>
                <a:sym typeface="微软雅黑" panose="020B0503020204020204" pitchFamily="34" charset="-122"/>
              </a:rPr>
              <a:t>无效等价类</a:t>
            </a:r>
            <a:r>
              <a:rPr lang="zh-CN" altLang="en-US" dirty="0">
                <a:latin typeface="微软雅黑" panose="020B0503020204020204" pitchFamily="34" charset="-122"/>
                <a:sym typeface="微软雅黑" panose="020B0503020204020204" pitchFamily="34" charset="-122"/>
              </a:rPr>
              <a:t>：输入的数据不满足程序模块对输入数据的要求</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2895129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等价类划分法基本思想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59009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dirty="0">
                <a:latin typeface="微软雅黑" panose="020B0503020204020204" pitchFamily="34" charset="-122"/>
                <a:sym typeface="微软雅黑" panose="020B0503020204020204" pitchFamily="34" charset="-122"/>
              </a:rPr>
              <a:t>在划分等价类时，可以参考以下原则进行</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1</a:t>
            </a:r>
            <a:r>
              <a:rPr lang="zh-CN" altLang="en-US" sz="1800" dirty="0">
                <a:latin typeface="微软雅黑" panose="020B0503020204020204" pitchFamily="34" charset="-122"/>
                <a:sym typeface="微软雅黑" panose="020B0503020204020204" pitchFamily="34" charset="-122"/>
              </a:rPr>
              <a:t>）如果输入条件中，</a:t>
            </a:r>
            <a:r>
              <a:rPr lang="zh-CN" altLang="en-US" sz="1800" dirty="0">
                <a:highlight>
                  <a:srgbClr val="FFFF00"/>
                </a:highlight>
                <a:latin typeface="微软雅黑" panose="020B0503020204020204" pitchFamily="34" charset="-122"/>
                <a:sym typeface="微软雅黑" panose="020B0503020204020204" pitchFamily="34" charset="-122"/>
              </a:rPr>
              <a:t>规定了取值范围</a:t>
            </a:r>
            <a:r>
              <a:rPr lang="zh-CN" altLang="en-US" sz="1800" dirty="0">
                <a:latin typeface="微软雅黑" panose="020B0503020204020204" pitchFamily="34" charset="-122"/>
                <a:sym typeface="微软雅黑" panose="020B0503020204020204" pitchFamily="34" charset="-122"/>
              </a:rPr>
              <a:t>，则可以确立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 个有效</a:t>
            </a:r>
            <a:r>
              <a:rPr lang="zh-CN" altLang="en-US" sz="1800" dirty="0">
                <a:latin typeface="微软雅黑" panose="020B0503020204020204" pitchFamily="34" charset="-122"/>
                <a:sym typeface="微软雅黑" panose="020B0503020204020204" pitchFamily="34" charset="-122"/>
              </a:rPr>
              <a:t>等价类和 </a:t>
            </a:r>
            <a:r>
              <a:rPr lang="en-US" altLang="zh-CN" sz="1800" dirty="0">
                <a:highlight>
                  <a:srgbClr val="FFFF00"/>
                </a:highlight>
                <a:latin typeface="微软雅黑" panose="020B0503020204020204" pitchFamily="34" charset="-122"/>
                <a:sym typeface="微软雅黑" panose="020B0503020204020204" pitchFamily="34" charset="-122"/>
              </a:rPr>
              <a:t>2</a:t>
            </a:r>
            <a:r>
              <a:rPr lang="zh-CN" altLang="en-US" sz="1800" dirty="0">
                <a:highlight>
                  <a:srgbClr val="FFFF00"/>
                </a:highlight>
                <a:latin typeface="微软雅黑" panose="020B0503020204020204" pitchFamily="34" charset="-122"/>
                <a:sym typeface="微软雅黑" panose="020B0503020204020204" pitchFamily="34" charset="-122"/>
              </a:rPr>
              <a:t> 个无效</a:t>
            </a:r>
            <a:r>
              <a:rPr lang="zh-CN" altLang="en-US" sz="1800" dirty="0">
                <a:latin typeface="微软雅黑" panose="020B0503020204020204" pitchFamily="34" charset="-122"/>
                <a:sym typeface="微软雅黑" panose="020B0503020204020204" pitchFamily="34" charset="-122"/>
              </a:rPr>
              <a:t>等价类</a:t>
            </a:r>
            <a:endParaRPr lang="en-US" altLang="zh-CN" sz="1800" dirty="0">
              <a:solidFill>
                <a:srgbClr val="000000"/>
              </a:solidFill>
              <a:latin typeface="微软雅黑" panose="020B0503020204020204" pitchFamily="34" charset="-122"/>
              <a:sym typeface="微软雅黑" panose="020B0503020204020204" pitchFamily="34" charset="-122"/>
            </a:endParaRPr>
          </a:p>
          <a:p>
            <a:pPr marL="1025525" indent="-447675">
              <a:lnSpc>
                <a:spcPct val="130000"/>
              </a:lnSpc>
              <a:spcBef>
                <a:spcPct val="20000"/>
              </a:spcBef>
            </a:pPr>
            <a:r>
              <a:rPr lang="zh-CN" altLang="en-US" sz="1800" dirty="0">
                <a:latin typeface="Kaiti SC" panose="02010600040101010101" pitchFamily="2" charset="-122"/>
                <a:ea typeface="Kaiti SC" panose="02010600040101010101" pitchFamily="2" charset="-122"/>
                <a:sym typeface="微软雅黑" panose="020B0503020204020204" pitchFamily="34" charset="-122"/>
              </a:rPr>
              <a:t>例：输入学生成绩，成绩范围</a:t>
            </a:r>
            <a:r>
              <a:rPr lang="en-US" altLang="zh-CN" sz="1800" dirty="0">
                <a:latin typeface="Kaiti SC" panose="02010600040101010101" pitchFamily="2" charset="-122"/>
                <a:ea typeface="Kaiti SC" panose="02010600040101010101" pitchFamily="2" charset="-122"/>
                <a:sym typeface="微软雅黑" panose="020B0503020204020204" pitchFamily="34" charset="-122"/>
              </a:rPr>
              <a:t>0–100, </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则可确定</a:t>
            </a:r>
            <a:r>
              <a:rPr lang="en-US" altLang="zh-CN" sz="1800" dirty="0">
                <a:latin typeface="Kaiti SC" panose="02010600040101010101" pitchFamily="2" charset="-122"/>
                <a:ea typeface="Kaiti SC" panose="02010600040101010101" pitchFamily="2" charset="-122"/>
                <a:sym typeface="微软雅黑" panose="020B0503020204020204" pitchFamily="34" charset="-122"/>
              </a:rPr>
              <a:t>1</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个有效等价类（</a:t>
            </a:r>
            <a:r>
              <a:rPr lang="en-US" altLang="zh-CN" sz="1800" dirty="0">
                <a:latin typeface="Kaiti SC" panose="02010600040101010101" pitchFamily="2" charset="-122"/>
                <a:ea typeface="Kaiti SC" panose="02010600040101010101" pitchFamily="2" charset="-122"/>
                <a:sym typeface="微软雅黑" panose="020B0503020204020204" pitchFamily="34" charset="-122"/>
              </a:rPr>
              <a:t>0</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a:t>
            </a:r>
            <a:r>
              <a:rPr lang="en-US" altLang="zh-CN" sz="1800" dirty="0">
                <a:latin typeface="Kaiti SC" panose="02010600040101010101" pitchFamily="2" charset="-122"/>
                <a:ea typeface="Kaiti SC" panose="02010600040101010101" pitchFamily="2" charset="-122"/>
                <a:sym typeface="微软雅黑" panose="020B0503020204020204" pitchFamily="34" charset="-122"/>
              </a:rPr>
              <a:t>100</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）和 </a:t>
            </a:r>
            <a:r>
              <a:rPr lang="en-US" altLang="zh-CN" sz="1800" dirty="0">
                <a:latin typeface="Kaiti SC" panose="02010600040101010101" pitchFamily="2" charset="-122"/>
                <a:ea typeface="Kaiti SC" panose="02010600040101010101" pitchFamily="2" charset="-122"/>
                <a:sym typeface="微软雅黑" panose="020B0503020204020204" pitchFamily="34" charset="-122"/>
              </a:rPr>
              <a:t>2</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个无效等价类（</a:t>
            </a:r>
            <a:r>
              <a:rPr lang="en-US" altLang="zh-CN" sz="1800" dirty="0">
                <a:latin typeface="Kaiti SC" panose="02010600040101010101" pitchFamily="2" charset="-122"/>
                <a:ea typeface="Kaiti SC" panose="02010600040101010101" pitchFamily="2" charset="-122"/>
                <a:sym typeface="微软雅黑" panose="020B0503020204020204" pitchFamily="34" charset="-122"/>
              </a:rPr>
              <a:t>&lt;0, &gt;100</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a:t>
            </a: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2</a:t>
            </a:r>
            <a:r>
              <a:rPr lang="zh-CN" altLang="en-US" sz="1800" dirty="0">
                <a:latin typeface="微软雅黑" panose="020B0503020204020204" pitchFamily="34" charset="-122"/>
                <a:sym typeface="微软雅黑" panose="020B0503020204020204" pitchFamily="34" charset="-122"/>
              </a:rPr>
              <a:t>）如果输入条件中，</a:t>
            </a:r>
            <a:r>
              <a:rPr lang="zh-CN" altLang="en-US" sz="1800" dirty="0">
                <a:highlight>
                  <a:srgbClr val="FFFF00"/>
                </a:highlight>
                <a:latin typeface="微软雅黑" panose="020B0503020204020204" pitchFamily="34" charset="-122"/>
                <a:sym typeface="微软雅黑" panose="020B0503020204020204" pitchFamily="34" charset="-122"/>
              </a:rPr>
              <a:t>规定了输入值的集合</a:t>
            </a:r>
            <a:r>
              <a:rPr lang="zh-CN" altLang="en-US" sz="1800" dirty="0">
                <a:latin typeface="微软雅黑" panose="020B0503020204020204" pitchFamily="34" charset="-122"/>
                <a:sym typeface="微软雅黑" panose="020B0503020204020204" pitchFamily="34" charset="-122"/>
              </a:rPr>
              <a:t>，（或者是规定了“必须如何</a:t>
            </a:r>
            <a:r>
              <a:rPr lang="en-US" altLang="zh-CN" sz="1800" dirty="0">
                <a:latin typeface="微软雅黑" panose="020B0503020204020204" pitchFamily="34" charset="-122"/>
                <a:sym typeface="微软雅黑" panose="020B0503020204020204" pitchFamily="34" charset="-122"/>
              </a:rPr>
              <a:t>...”</a:t>
            </a:r>
            <a:r>
              <a:rPr lang="zh-CN" altLang="en-US" sz="1800" dirty="0">
                <a:latin typeface="微软雅黑" panose="020B0503020204020204" pitchFamily="34" charset="-122"/>
                <a:sym typeface="微软雅黑" panose="020B0503020204020204" pitchFamily="34" charset="-122"/>
              </a:rPr>
              <a:t>的条件），则可以建立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 个有效</a:t>
            </a:r>
            <a:r>
              <a:rPr lang="zh-CN" altLang="en-US" sz="1800" dirty="0">
                <a:latin typeface="微软雅黑" panose="020B0503020204020204" pitchFamily="34" charset="-122"/>
                <a:sym typeface="微软雅黑" panose="020B0503020204020204" pitchFamily="34" charset="-122"/>
              </a:rPr>
              <a:t>等价类（集合内的元素）和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 个无效</a:t>
            </a:r>
            <a:r>
              <a:rPr lang="zh-CN" altLang="en-US" sz="1800" dirty="0">
                <a:latin typeface="微软雅黑" panose="020B0503020204020204" pitchFamily="34" charset="-122"/>
                <a:sym typeface="微软雅黑" panose="020B0503020204020204" pitchFamily="34" charset="-122"/>
              </a:rPr>
              <a:t>等价类（集合之外的元素）</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5833877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等价类划分法基本思想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59009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3</a:t>
            </a:r>
            <a:r>
              <a:rPr lang="zh-CN" altLang="en-US" sz="1800" dirty="0">
                <a:latin typeface="微软雅黑" panose="020B0503020204020204" pitchFamily="34" charset="-122"/>
                <a:sym typeface="微软雅黑" panose="020B0503020204020204" pitchFamily="34" charset="-122"/>
              </a:rPr>
              <a:t>）如果输入条件是一个</a:t>
            </a:r>
            <a:r>
              <a:rPr lang="zh-CN" altLang="en-US" sz="1800" dirty="0">
                <a:highlight>
                  <a:srgbClr val="FFFF00"/>
                </a:highlight>
                <a:latin typeface="微软雅黑" panose="020B0503020204020204" pitchFamily="34" charset="-122"/>
                <a:sym typeface="微软雅黑" panose="020B0503020204020204" pitchFamily="34" charset="-122"/>
              </a:rPr>
              <a:t>布尔量</a:t>
            </a:r>
            <a:r>
              <a:rPr lang="zh-CN" altLang="en-US" sz="1800" dirty="0">
                <a:latin typeface="微软雅黑" panose="020B0503020204020204" pitchFamily="34" charset="-122"/>
                <a:sym typeface="微软雅黑" panose="020B0503020204020204" pitchFamily="34" charset="-122"/>
              </a:rPr>
              <a:t>，则可以确定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个有效</a:t>
            </a:r>
            <a:r>
              <a:rPr lang="zh-CN" altLang="en-US" sz="1800" dirty="0">
                <a:latin typeface="微软雅黑" panose="020B0503020204020204" pitchFamily="34" charset="-122"/>
                <a:sym typeface="微软雅黑" panose="020B0503020204020204" pitchFamily="34" charset="-122"/>
              </a:rPr>
              <a:t>等价类（条件为“真”）和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个无效</a:t>
            </a:r>
            <a:r>
              <a:rPr lang="zh-CN" altLang="en-US" sz="1800" dirty="0">
                <a:latin typeface="微软雅黑" panose="020B0503020204020204" pitchFamily="34" charset="-122"/>
                <a:sym typeface="微软雅黑" panose="020B0503020204020204" pitchFamily="34" charset="-122"/>
              </a:rPr>
              <a:t>等价类（条件为“假”）</a:t>
            </a:r>
            <a:endParaRPr lang="en-US" altLang="zh-CN" sz="1800" dirty="0">
              <a:solidFill>
                <a:srgbClr val="000000"/>
              </a:solidFill>
              <a:latin typeface="微软雅黑" panose="020B0503020204020204" pitchFamily="34" charset="-122"/>
              <a:sym typeface="微软雅黑" panose="020B0503020204020204" pitchFamily="34" charset="-122"/>
            </a:endParaRPr>
          </a:p>
          <a:p>
            <a:pPr marL="1025525" indent="-447675">
              <a:lnSpc>
                <a:spcPct val="130000"/>
              </a:lnSpc>
              <a:spcBef>
                <a:spcPct val="20000"/>
              </a:spcBef>
            </a:pPr>
            <a:r>
              <a:rPr lang="zh-CN" altLang="en-US" sz="1800" dirty="0">
                <a:latin typeface="Kaiti SC" panose="02010600040101010101" pitchFamily="2" charset="-122"/>
                <a:ea typeface="Kaiti SC" panose="02010600040101010101" pitchFamily="2" charset="-122"/>
                <a:sym typeface="微软雅黑" panose="020B0503020204020204" pitchFamily="34" charset="-122"/>
              </a:rPr>
              <a:t>例：某程序进入时，要求必须输入口令，则可划分有效等价类为“输入口令”，无效等价类为“不输入口令”</a:t>
            </a: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4</a:t>
            </a:r>
            <a:r>
              <a:rPr lang="zh-CN" altLang="en-US" sz="1800" dirty="0">
                <a:latin typeface="微软雅黑" panose="020B0503020204020204" pitchFamily="34" charset="-122"/>
                <a:sym typeface="微软雅黑" panose="020B0503020204020204" pitchFamily="34" charset="-122"/>
              </a:rPr>
              <a:t>）如果规定了输入数据的</a:t>
            </a:r>
            <a:r>
              <a:rPr lang="zh-CN" altLang="en-US" sz="1800" dirty="0">
                <a:highlight>
                  <a:srgbClr val="FFFF00"/>
                </a:highlight>
                <a:latin typeface="微软雅黑" panose="020B0503020204020204" pitchFamily="34" charset="-122"/>
                <a:sym typeface="微软雅黑" panose="020B0503020204020204" pitchFamily="34" charset="-122"/>
              </a:rPr>
              <a:t>一组值</a:t>
            </a:r>
            <a:r>
              <a:rPr lang="zh-CN" altLang="en-US" sz="1800" dirty="0">
                <a:latin typeface="微软雅黑" panose="020B0503020204020204" pitchFamily="34" charset="-122"/>
                <a:sym typeface="微软雅黑" panose="020B0503020204020204" pitchFamily="34" charset="-122"/>
              </a:rPr>
              <a:t>，而且程序要对</a:t>
            </a:r>
            <a:r>
              <a:rPr lang="zh-CN" altLang="en-US" sz="1800" dirty="0">
                <a:highlight>
                  <a:srgbClr val="FFFF00"/>
                </a:highlight>
                <a:latin typeface="微软雅黑" panose="020B0503020204020204" pitchFamily="34" charset="-122"/>
                <a:sym typeface="微软雅黑" panose="020B0503020204020204" pitchFamily="34" charset="-122"/>
              </a:rPr>
              <a:t>每个</a:t>
            </a:r>
            <a:r>
              <a:rPr lang="zh-CN" altLang="en-US" sz="1800" dirty="0">
                <a:latin typeface="微软雅黑" panose="020B0503020204020204" pitchFamily="34" charset="-122"/>
                <a:sym typeface="微软雅黑" panose="020B0503020204020204" pitchFamily="34" charset="-122"/>
              </a:rPr>
              <a:t>输入值分别进行处理，则可为</a:t>
            </a:r>
            <a:r>
              <a:rPr lang="zh-CN" altLang="en-US" sz="1800" dirty="0">
                <a:highlight>
                  <a:srgbClr val="FFFF00"/>
                </a:highlight>
                <a:latin typeface="微软雅黑" panose="020B0503020204020204" pitchFamily="34" charset="-122"/>
                <a:sym typeface="微软雅黑" panose="020B0503020204020204" pitchFamily="34" charset="-122"/>
              </a:rPr>
              <a:t>每一个</a:t>
            </a:r>
            <a:r>
              <a:rPr lang="zh-CN" altLang="en-US" sz="1800" dirty="0">
                <a:latin typeface="微软雅黑" panose="020B0503020204020204" pitchFamily="34" charset="-122"/>
                <a:sym typeface="微软雅黑" panose="020B0503020204020204" pitchFamily="34" charset="-122"/>
              </a:rPr>
              <a:t>输入值确立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个有效</a:t>
            </a:r>
            <a:r>
              <a:rPr lang="zh-CN" altLang="en-US" sz="1800" dirty="0">
                <a:latin typeface="微软雅黑" panose="020B0503020204020204" pitchFamily="34" charset="-122"/>
                <a:sym typeface="微软雅黑" panose="020B0503020204020204" pitchFamily="34" charset="-122"/>
              </a:rPr>
              <a:t>等价类，并针对</a:t>
            </a:r>
            <a:r>
              <a:rPr lang="zh-CN" altLang="en-US" sz="1800" dirty="0">
                <a:highlight>
                  <a:srgbClr val="FFFF00"/>
                </a:highlight>
                <a:latin typeface="微软雅黑" panose="020B0503020204020204" pitchFamily="34" charset="-122"/>
                <a:sym typeface="微软雅黑" panose="020B0503020204020204" pitchFamily="34" charset="-122"/>
              </a:rPr>
              <a:t>这组</a:t>
            </a:r>
            <a:r>
              <a:rPr lang="zh-CN" altLang="en-US" sz="1800" dirty="0">
                <a:latin typeface="微软雅黑" panose="020B0503020204020204" pitchFamily="34" charset="-122"/>
                <a:sym typeface="微软雅黑" panose="020B0503020204020204" pitchFamily="34" charset="-122"/>
              </a:rPr>
              <a:t>值，建立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个无效</a:t>
            </a:r>
            <a:r>
              <a:rPr lang="zh-CN" altLang="en-US" sz="1800" dirty="0">
                <a:latin typeface="微软雅黑" panose="020B0503020204020204" pitchFamily="34" charset="-122"/>
                <a:sym typeface="微软雅黑" panose="020B0503020204020204" pitchFamily="34" charset="-122"/>
              </a:rPr>
              <a:t>等价类，即所有不允许的输入值的集合</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2275914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等价类划分法基本思想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59009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5</a:t>
            </a:r>
            <a:r>
              <a:rPr lang="zh-CN" altLang="en-US" sz="1800" dirty="0">
                <a:latin typeface="微软雅黑" panose="020B0503020204020204" pitchFamily="34" charset="-122"/>
                <a:sym typeface="微软雅黑" panose="020B0503020204020204" pitchFamily="34" charset="-122"/>
              </a:rPr>
              <a:t>）如果规定了输入数据必须遵守的</a:t>
            </a:r>
            <a:r>
              <a:rPr lang="zh-CN" altLang="en-US" sz="1800" dirty="0">
                <a:highlight>
                  <a:srgbClr val="FFFF00"/>
                </a:highlight>
                <a:latin typeface="微软雅黑" panose="020B0503020204020204" pitchFamily="34" charset="-122"/>
                <a:sym typeface="微软雅黑" panose="020B0503020204020204" pitchFamily="34" charset="-122"/>
              </a:rPr>
              <a:t>规则</a:t>
            </a:r>
            <a:r>
              <a:rPr lang="zh-CN" altLang="en-US" sz="1800" dirty="0">
                <a:latin typeface="微软雅黑" panose="020B0503020204020204" pitchFamily="34" charset="-122"/>
                <a:sym typeface="微软雅黑" panose="020B0503020204020204" pitchFamily="34" charset="-122"/>
              </a:rPr>
              <a:t>，则可以确立 </a:t>
            </a:r>
            <a:r>
              <a:rPr lang="en-US" altLang="zh-CN" sz="1800" dirty="0">
                <a:highlight>
                  <a:srgbClr val="FFFF00"/>
                </a:highlight>
                <a:latin typeface="微软雅黑" panose="020B0503020204020204" pitchFamily="34" charset="-122"/>
                <a:sym typeface="微软雅黑" panose="020B0503020204020204" pitchFamily="34" charset="-122"/>
              </a:rPr>
              <a:t>1</a:t>
            </a:r>
            <a:r>
              <a:rPr lang="zh-CN" altLang="en-US" sz="1800" dirty="0">
                <a:highlight>
                  <a:srgbClr val="FFFF00"/>
                </a:highlight>
                <a:latin typeface="微软雅黑" panose="020B0503020204020204" pitchFamily="34" charset="-122"/>
                <a:sym typeface="微软雅黑" panose="020B0503020204020204" pitchFamily="34" charset="-122"/>
              </a:rPr>
              <a:t>个有效</a:t>
            </a:r>
            <a:r>
              <a:rPr lang="zh-CN" altLang="en-US" sz="1800" dirty="0">
                <a:latin typeface="微软雅黑" panose="020B0503020204020204" pitchFamily="34" charset="-122"/>
                <a:sym typeface="微软雅黑" panose="020B0503020204020204" pitchFamily="34" charset="-122"/>
              </a:rPr>
              <a:t>等价类（符合规则）和</a:t>
            </a:r>
            <a:r>
              <a:rPr lang="zh-CN" altLang="en-US" sz="1800" dirty="0">
                <a:highlight>
                  <a:srgbClr val="FFFF00"/>
                </a:highlight>
                <a:latin typeface="微软雅黑" panose="020B0503020204020204" pitchFamily="34" charset="-122"/>
                <a:sym typeface="微软雅黑" panose="020B0503020204020204" pitchFamily="34" charset="-122"/>
              </a:rPr>
              <a:t>若干个无效</a:t>
            </a:r>
            <a:r>
              <a:rPr lang="zh-CN" altLang="en-US" sz="1800" dirty="0">
                <a:latin typeface="微软雅黑" panose="020B0503020204020204" pitchFamily="34" charset="-122"/>
                <a:sym typeface="微软雅黑" panose="020B0503020204020204" pitchFamily="34" charset="-122"/>
              </a:rPr>
              <a:t>等价类（从不同角度违反规则）</a:t>
            </a:r>
            <a:endParaRPr lang="en-US" altLang="zh-CN" sz="1800" dirty="0">
              <a:solidFill>
                <a:srgbClr val="000000"/>
              </a:solidFill>
              <a:latin typeface="微软雅黑" panose="020B0503020204020204" pitchFamily="34" charset="-122"/>
              <a:sym typeface="微软雅黑" panose="020B0503020204020204" pitchFamily="34" charset="-122"/>
            </a:endParaRP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6</a:t>
            </a:r>
            <a:r>
              <a:rPr lang="zh-CN" altLang="en-US" sz="1800" dirty="0">
                <a:latin typeface="微软雅黑" panose="020B0503020204020204" pitchFamily="34" charset="-122"/>
                <a:sym typeface="微软雅黑" panose="020B0503020204020204" pitchFamily="34" charset="-122"/>
              </a:rPr>
              <a:t>）如果知道已划分的等价类中，各元素在程序中的处理方式不同，则应将此等价类</a:t>
            </a:r>
            <a:r>
              <a:rPr lang="zh-CN" altLang="en-US" sz="1800" dirty="0">
                <a:highlight>
                  <a:srgbClr val="FFFF00"/>
                </a:highlight>
                <a:latin typeface="微软雅黑" panose="020B0503020204020204" pitchFamily="34" charset="-122"/>
                <a:sym typeface="微软雅黑" panose="020B0503020204020204" pitchFamily="34" charset="-122"/>
              </a:rPr>
              <a:t>进一步划分</a:t>
            </a:r>
            <a:r>
              <a:rPr lang="zh-CN" altLang="en-US" sz="1800" dirty="0">
                <a:latin typeface="微软雅黑" panose="020B0503020204020204" pitchFamily="34" charset="-122"/>
                <a:sym typeface="微软雅黑" panose="020B0503020204020204" pitchFamily="34" charset="-122"/>
              </a:rPr>
              <a:t>成更小的等价类 </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712822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等价类划分法的基本步骤</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59009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1</a:t>
            </a:r>
            <a:r>
              <a:rPr lang="zh-CN" altLang="en-US" sz="1800" dirty="0">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划分出 </a:t>
            </a:r>
            <a:r>
              <a:rPr lang="zh-CN" altLang="en-US" sz="1800" dirty="0">
                <a:solidFill>
                  <a:srgbClr val="C00000"/>
                </a:solidFill>
                <a:latin typeface="微软雅黑" panose="020B0503020204020204" pitchFamily="34" charset="-122"/>
                <a:sym typeface="微软雅黑" panose="020B0503020204020204" pitchFamily="34" charset="-122"/>
              </a:rPr>
              <a:t>有效等价类 </a:t>
            </a:r>
            <a:r>
              <a:rPr lang="zh-CN" altLang="en-US" sz="1800" dirty="0">
                <a:solidFill>
                  <a:srgbClr val="000000"/>
                </a:solidFill>
                <a:latin typeface="微软雅黑" panose="020B0503020204020204" pitchFamily="34" charset="-122"/>
                <a:sym typeface="微软雅黑" panose="020B0503020204020204" pitchFamily="34" charset="-122"/>
              </a:rPr>
              <a:t>和 </a:t>
            </a:r>
            <a:r>
              <a:rPr lang="zh-CN" altLang="en-US" sz="1800" dirty="0">
                <a:solidFill>
                  <a:srgbClr val="C00000"/>
                </a:solidFill>
                <a:latin typeface="微软雅黑" panose="020B0503020204020204" pitchFamily="34" charset="-122"/>
                <a:sym typeface="微软雅黑" panose="020B0503020204020204" pitchFamily="34" charset="-122"/>
              </a:rPr>
              <a:t>无效等价类</a:t>
            </a:r>
            <a:endParaRPr lang="en-US" altLang="zh-CN" sz="1800" dirty="0">
              <a:solidFill>
                <a:srgbClr val="C00000"/>
              </a:solidFill>
              <a:latin typeface="微软雅黑" panose="020B0503020204020204" pitchFamily="34" charset="-122"/>
              <a:sym typeface="微软雅黑" panose="020B0503020204020204" pitchFamily="34" charset="-122"/>
            </a:endParaRP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2</a:t>
            </a:r>
            <a:r>
              <a:rPr lang="zh-CN" altLang="en-US" sz="1800" dirty="0">
                <a:latin typeface="微软雅黑" panose="020B0503020204020204" pitchFamily="34" charset="-122"/>
                <a:sym typeface="微软雅黑" panose="020B0503020204020204" pitchFamily="34" charset="-122"/>
              </a:rPr>
              <a:t>）</a:t>
            </a:r>
            <a:r>
              <a:rPr lang="zh-CN" altLang="zh-CN" sz="1800" dirty="0">
                <a:solidFill>
                  <a:srgbClr val="000000"/>
                </a:solidFill>
                <a:latin typeface="微软雅黑" panose="020B0503020204020204" pitchFamily="34" charset="-122"/>
                <a:sym typeface="微软雅黑" panose="020B0503020204020204" pitchFamily="34" charset="-122"/>
              </a:rPr>
              <a:t>为每一个等价类规定唯一的编号</a:t>
            </a:r>
            <a:endParaRPr lang="en-US" altLang="zh-CN" sz="1800" dirty="0">
              <a:solidFill>
                <a:srgbClr val="C00000"/>
              </a:solidFill>
              <a:latin typeface="微软雅黑" panose="020B0503020204020204" pitchFamily="34" charset="-122"/>
              <a:sym typeface="微软雅黑" panose="020B0503020204020204" pitchFamily="34" charset="-122"/>
            </a:endParaRP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3</a:t>
            </a:r>
            <a:r>
              <a:rPr lang="zh-CN" altLang="en-US" sz="1800" dirty="0">
                <a:latin typeface="微软雅黑" panose="020B0503020204020204" pitchFamily="34" charset="-122"/>
                <a:sym typeface="微软雅黑" panose="020B0503020204020204" pitchFamily="34" charset="-122"/>
              </a:rPr>
              <a:t>）</a:t>
            </a:r>
            <a:r>
              <a:rPr lang="zh-CN" altLang="zh-CN" sz="1800" dirty="0">
                <a:solidFill>
                  <a:srgbClr val="000000"/>
                </a:solidFill>
                <a:latin typeface="微软雅黑" panose="020B0503020204020204" pitchFamily="34" charset="-122"/>
                <a:sym typeface="微软雅黑" panose="020B0503020204020204" pitchFamily="34" charset="-122"/>
              </a:rPr>
              <a:t>设计一个新的测试用例，使其</a:t>
            </a:r>
            <a:r>
              <a:rPr lang="zh-CN" altLang="zh-CN" sz="1800" dirty="0">
                <a:solidFill>
                  <a:srgbClr val="000000"/>
                </a:solidFill>
                <a:highlight>
                  <a:srgbClr val="FFFF00"/>
                </a:highlight>
                <a:latin typeface="微软雅黑" panose="020B0503020204020204" pitchFamily="34" charset="-122"/>
                <a:sym typeface="微软雅黑" panose="020B0503020204020204" pitchFamily="34" charset="-122"/>
              </a:rPr>
              <a:t>尽可能多</a:t>
            </a:r>
            <a:r>
              <a:rPr lang="zh-CN" altLang="zh-CN" sz="1800" dirty="0">
                <a:solidFill>
                  <a:srgbClr val="000000"/>
                </a:solidFill>
                <a:latin typeface="微软雅黑" panose="020B0503020204020204" pitchFamily="34" charset="-122"/>
                <a:sym typeface="微软雅黑" panose="020B0503020204020204" pitchFamily="34" charset="-122"/>
              </a:rPr>
              <a:t>地</a:t>
            </a:r>
            <a:r>
              <a:rPr lang="zh-CN" altLang="en-US" sz="1800" dirty="0">
                <a:solidFill>
                  <a:srgbClr val="000000"/>
                </a:solidFill>
                <a:latin typeface="微软雅黑" panose="020B0503020204020204" pitchFamily="34" charset="-122"/>
                <a:sym typeface="微软雅黑" panose="020B0503020204020204" pitchFamily="34" charset="-122"/>
              </a:rPr>
              <a:t> </a:t>
            </a:r>
            <a:r>
              <a:rPr lang="zh-CN" altLang="zh-CN" sz="1800" dirty="0">
                <a:solidFill>
                  <a:srgbClr val="C00000"/>
                </a:solidFill>
                <a:latin typeface="微软雅黑" panose="020B0503020204020204" pitchFamily="34" charset="-122"/>
                <a:sym typeface="微软雅黑" panose="020B0503020204020204" pitchFamily="34" charset="-122"/>
              </a:rPr>
              <a:t>覆盖尚未被覆盖过的有效等价类</a:t>
            </a:r>
            <a:endParaRPr lang="en-US" altLang="zh-CN" sz="1800" dirty="0">
              <a:solidFill>
                <a:srgbClr val="C00000"/>
              </a:solidFill>
              <a:latin typeface="微软雅黑" panose="020B0503020204020204" pitchFamily="34" charset="-122"/>
              <a:sym typeface="微软雅黑" panose="020B0503020204020204" pitchFamily="34" charset="-122"/>
            </a:endParaRPr>
          </a:p>
          <a:p>
            <a:pPr marL="577850" lvl="1" indent="0">
              <a:lnSpc>
                <a:spcPct val="120000"/>
              </a:lnSpc>
              <a:spcBef>
                <a:spcPts val="900"/>
              </a:spcBef>
              <a:buNone/>
            </a:pPr>
            <a:r>
              <a:rPr lang="zh-CN" altLang="zh-CN" sz="1800" dirty="0">
                <a:solidFill>
                  <a:srgbClr val="000000"/>
                </a:solidFill>
                <a:highlight>
                  <a:srgbClr val="FFFF00"/>
                </a:highlight>
                <a:latin typeface="微软雅黑" panose="020B0503020204020204" pitchFamily="34" charset="-122"/>
                <a:sym typeface="微软雅黑" panose="020B0503020204020204" pitchFamily="34" charset="-122"/>
              </a:rPr>
              <a:t>重复</a:t>
            </a:r>
            <a:r>
              <a:rPr lang="zh-CN" altLang="zh-CN" sz="1800" dirty="0">
                <a:solidFill>
                  <a:srgbClr val="000000"/>
                </a:solidFill>
                <a:latin typeface="微软雅黑" panose="020B0503020204020204" pitchFamily="34" charset="-122"/>
                <a:sym typeface="微软雅黑" panose="020B0503020204020204" pitchFamily="34" charset="-122"/>
              </a:rPr>
              <a:t>这步，直到所有有效等价类均被测试用例所覆盖</a:t>
            </a:r>
            <a:endParaRPr lang="en-US" altLang="zh-CN" sz="1800" dirty="0">
              <a:latin typeface="微软雅黑" panose="020B0503020204020204" pitchFamily="34" charset="-122"/>
              <a:sym typeface="微软雅黑" panose="020B0503020204020204" pitchFamily="34" charset="-122"/>
            </a:endParaRPr>
          </a:p>
          <a:p>
            <a:pPr marL="577850" lvl="1" indent="-57785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4</a:t>
            </a:r>
            <a:r>
              <a:rPr lang="zh-CN" altLang="en-US" sz="1800" dirty="0">
                <a:latin typeface="微软雅黑" panose="020B0503020204020204" pitchFamily="34" charset="-122"/>
                <a:sym typeface="微软雅黑" panose="020B0503020204020204" pitchFamily="34" charset="-122"/>
              </a:rPr>
              <a:t>）</a:t>
            </a:r>
            <a:r>
              <a:rPr lang="zh-CN" altLang="zh-CN" sz="1800" dirty="0">
                <a:solidFill>
                  <a:srgbClr val="C00000"/>
                </a:solidFill>
                <a:latin typeface="微软雅黑" panose="020B0503020204020204" pitchFamily="34" charset="-122"/>
                <a:sym typeface="微软雅黑" panose="020B0503020204020204" pitchFamily="34" charset="-122"/>
              </a:rPr>
              <a:t>设计一个新的测试用例，使其只</a:t>
            </a:r>
            <a:r>
              <a:rPr lang="zh-CN" altLang="zh-CN" sz="1800" dirty="0">
                <a:solidFill>
                  <a:srgbClr val="C00000"/>
                </a:solidFill>
                <a:highlight>
                  <a:srgbClr val="FFFF00"/>
                </a:highlight>
                <a:latin typeface="微软雅黑" panose="020B0503020204020204" pitchFamily="34" charset="-122"/>
                <a:sym typeface="微软雅黑" panose="020B0503020204020204" pitchFamily="34" charset="-122"/>
              </a:rPr>
              <a:t>覆盖一个无效</a:t>
            </a:r>
            <a:r>
              <a:rPr lang="zh-CN" altLang="zh-CN" sz="1800" dirty="0">
                <a:solidFill>
                  <a:srgbClr val="C00000"/>
                </a:solidFill>
                <a:latin typeface="微软雅黑" panose="020B0503020204020204" pitchFamily="34" charset="-122"/>
                <a:sym typeface="微软雅黑" panose="020B0503020204020204" pitchFamily="34" charset="-122"/>
              </a:rPr>
              <a:t>等价类</a:t>
            </a:r>
            <a:r>
              <a:rPr lang="zh-CN" altLang="zh-CN" sz="1800" dirty="0">
                <a:solidFill>
                  <a:srgbClr val="000000"/>
                </a:solidFill>
                <a:latin typeface="微软雅黑" panose="020B0503020204020204" pitchFamily="34" charset="-122"/>
                <a:sym typeface="微软雅黑" panose="020B0503020204020204" pitchFamily="34" charset="-122"/>
              </a:rPr>
              <a:t>。</a:t>
            </a:r>
            <a:r>
              <a:rPr lang="zh-CN" altLang="zh-CN" sz="1800" dirty="0">
                <a:solidFill>
                  <a:srgbClr val="000000"/>
                </a:solidFill>
                <a:highlight>
                  <a:srgbClr val="FFFF00"/>
                </a:highlight>
                <a:latin typeface="微软雅黑" panose="020B0503020204020204" pitchFamily="34" charset="-122"/>
                <a:sym typeface="微软雅黑" panose="020B0503020204020204" pitchFamily="34" charset="-122"/>
              </a:rPr>
              <a:t>重复</a:t>
            </a:r>
            <a:r>
              <a:rPr lang="zh-CN" altLang="zh-CN" sz="1800" dirty="0">
                <a:solidFill>
                  <a:srgbClr val="000000"/>
                </a:solidFill>
                <a:latin typeface="微软雅黑" panose="020B0503020204020204" pitchFamily="34" charset="-122"/>
                <a:sym typeface="微软雅黑" panose="020B0503020204020204" pitchFamily="34" charset="-122"/>
              </a:rPr>
              <a:t>这步，直到所有无效等价类均被覆盖</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0484981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实例</a:t>
            </a:r>
            <a:r>
              <a:rPr lang="zh-CN" altLang="en-US" sz="2000" dirty="0">
                <a:solidFill>
                  <a:schemeClr val="tx2"/>
                </a:solidFill>
                <a:sym typeface="微软雅黑" panose="020B0503020204020204" pitchFamily="34" charset="-122"/>
              </a:rPr>
              <a:t>：</a:t>
            </a:r>
            <a:r>
              <a:rPr lang="zh-CN" altLang="zh-CN" sz="2000" dirty="0">
                <a:solidFill>
                  <a:schemeClr val="tx2"/>
                </a:solidFill>
                <a:sym typeface="微软雅黑" panose="020B0503020204020204" pitchFamily="34" charset="-122"/>
              </a:rPr>
              <a:t>用等价类划分法为</a:t>
            </a:r>
            <a:r>
              <a:rPr lang="zh-CN" altLang="en-US" sz="2000" dirty="0">
                <a:solidFill>
                  <a:schemeClr val="tx2"/>
                </a:solidFill>
                <a:sym typeface="微软雅黑" panose="020B0503020204020204" pitchFamily="34" charset="-122"/>
              </a:rPr>
              <a:t>下列</a:t>
            </a:r>
            <a:r>
              <a:rPr lang="zh-CN" altLang="zh-CN" sz="2000" dirty="0">
                <a:solidFill>
                  <a:schemeClr val="tx2"/>
                </a:solidFill>
                <a:sym typeface="微软雅黑" panose="020B0503020204020204" pitchFamily="34" charset="-122"/>
              </a:rPr>
              <a:t>程序设计测试用例</a:t>
            </a:r>
            <a:endParaRPr lang="en-US" altLang="zh-CN" sz="2000" dirty="0">
              <a:solidFill>
                <a:schemeClr val="tx2"/>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59009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30000"/>
              </a:lnSpc>
            </a:pPr>
            <a:r>
              <a:rPr lang="zh-CN" altLang="zh-CN" sz="1800" dirty="0">
                <a:solidFill>
                  <a:srgbClr val="000000"/>
                </a:solidFill>
                <a:latin typeface="微软雅黑" panose="020B0503020204020204" pitchFamily="34" charset="-122"/>
                <a:sym typeface="微软雅黑" panose="020B0503020204020204" pitchFamily="34" charset="-122"/>
              </a:rPr>
              <a:t>功能描述：某城市的电话号码由</a:t>
            </a:r>
            <a:r>
              <a:rPr lang="en-US" altLang="zh-CN" sz="1800" dirty="0">
                <a:solidFill>
                  <a:srgbClr val="000000"/>
                </a:solidFill>
                <a:latin typeface="微软雅黑" panose="020B0503020204020204" pitchFamily="34" charset="-122"/>
                <a:sym typeface="微软雅黑" panose="020B0503020204020204" pitchFamily="34" charset="-122"/>
              </a:rPr>
              <a:t>3</a:t>
            </a:r>
            <a:r>
              <a:rPr lang="zh-CN" altLang="zh-CN" sz="1800" dirty="0">
                <a:solidFill>
                  <a:srgbClr val="000000"/>
                </a:solidFill>
                <a:latin typeface="微软雅黑" panose="020B0503020204020204" pitchFamily="34" charset="-122"/>
                <a:sym typeface="微软雅黑" panose="020B0503020204020204" pitchFamily="34" charset="-122"/>
              </a:rPr>
              <a:t>部分组成。假定被测程序能接收一切符合下述规定的电话号码，拒绝所有不符合规定的电话号码。</a:t>
            </a:r>
            <a:endParaRPr lang="en-US" altLang="zh-CN" sz="1800" dirty="0">
              <a:solidFill>
                <a:srgbClr val="000000"/>
              </a:solidFill>
              <a:latin typeface="微软雅黑" panose="020B0503020204020204" pitchFamily="34" charset="-122"/>
              <a:sym typeface="微软雅黑" panose="020B0503020204020204" pitchFamily="34" charset="-122"/>
            </a:endParaRPr>
          </a:p>
          <a:p>
            <a:pPr>
              <a:lnSpc>
                <a:spcPct val="130000"/>
              </a:lnSpc>
            </a:pPr>
            <a:r>
              <a:rPr lang="zh-CN" altLang="zh-CN" sz="1800" dirty="0">
                <a:solidFill>
                  <a:srgbClr val="000000"/>
                </a:solidFill>
                <a:latin typeface="微软雅黑" panose="020B0503020204020204" pitchFamily="34" charset="-122"/>
                <a:sym typeface="微软雅黑" panose="020B0503020204020204" pitchFamily="34" charset="-122"/>
              </a:rPr>
              <a:t>地区码：空白或</a:t>
            </a:r>
            <a:r>
              <a:rPr lang="en-US" altLang="zh-CN" sz="1800" dirty="0">
                <a:solidFill>
                  <a:srgbClr val="000000"/>
                </a:solidFill>
                <a:latin typeface="微软雅黑" panose="020B0503020204020204" pitchFamily="34" charset="-122"/>
                <a:sym typeface="微软雅黑" panose="020B0503020204020204" pitchFamily="34" charset="-122"/>
              </a:rPr>
              <a:t>3</a:t>
            </a:r>
            <a:r>
              <a:rPr lang="zh-CN" altLang="zh-CN" sz="1800" dirty="0">
                <a:solidFill>
                  <a:srgbClr val="000000"/>
                </a:solidFill>
                <a:latin typeface="微软雅黑" panose="020B0503020204020204" pitchFamily="34" charset="-122"/>
                <a:sym typeface="微软雅黑" panose="020B0503020204020204" pitchFamily="34" charset="-122"/>
              </a:rPr>
              <a:t>位数字；</a:t>
            </a:r>
          </a:p>
          <a:p>
            <a:pPr>
              <a:lnSpc>
                <a:spcPct val="130000"/>
              </a:lnSpc>
            </a:pPr>
            <a:r>
              <a:rPr lang="zh-CN" altLang="zh-CN" sz="1800" dirty="0">
                <a:solidFill>
                  <a:srgbClr val="000000"/>
                </a:solidFill>
                <a:latin typeface="微软雅黑" panose="020B0503020204020204" pitchFamily="34" charset="-122"/>
                <a:sym typeface="微软雅黑" panose="020B0503020204020204" pitchFamily="34" charset="-122"/>
              </a:rPr>
              <a:t>前缀：非</a:t>
            </a:r>
            <a:r>
              <a:rPr lang="en-US" altLang="zh-CN" sz="1800" dirty="0">
                <a:solidFill>
                  <a:srgbClr val="000000"/>
                </a:solidFill>
                <a:latin typeface="微软雅黑" panose="020B0503020204020204" pitchFamily="34" charset="-122"/>
                <a:sym typeface="微软雅黑" panose="020B0503020204020204" pitchFamily="34" charset="-122"/>
              </a:rPr>
              <a:t>‘0’</a:t>
            </a:r>
            <a:r>
              <a:rPr lang="zh-CN" altLang="zh-CN" sz="1800" dirty="0">
                <a:solidFill>
                  <a:srgbClr val="000000"/>
                </a:solidFill>
                <a:latin typeface="微软雅黑" panose="020B0503020204020204" pitchFamily="34" charset="-122"/>
                <a:sym typeface="微软雅黑" panose="020B0503020204020204" pitchFamily="34" charset="-122"/>
              </a:rPr>
              <a:t>或</a:t>
            </a:r>
            <a:r>
              <a:rPr lang="en-US" altLang="zh-CN" sz="1800" dirty="0">
                <a:solidFill>
                  <a:srgbClr val="000000"/>
                </a:solidFill>
                <a:latin typeface="微软雅黑" panose="020B0503020204020204" pitchFamily="34" charset="-122"/>
                <a:sym typeface="微软雅黑" panose="020B0503020204020204" pitchFamily="34" charset="-122"/>
              </a:rPr>
              <a:t>‘1’</a:t>
            </a:r>
            <a:r>
              <a:rPr lang="zh-CN" altLang="zh-CN" sz="1800" dirty="0">
                <a:solidFill>
                  <a:srgbClr val="000000"/>
                </a:solidFill>
                <a:latin typeface="微软雅黑" panose="020B0503020204020204" pitchFamily="34" charset="-122"/>
                <a:sym typeface="微软雅黑" panose="020B0503020204020204" pitchFamily="34" charset="-122"/>
              </a:rPr>
              <a:t>开头的</a:t>
            </a:r>
            <a:r>
              <a:rPr lang="en-US" altLang="zh-CN" sz="1800" dirty="0">
                <a:solidFill>
                  <a:srgbClr val="000000"/>
                </a:solidFill>
                <a:latin typeface="微软雅黑" panose="020B0503020204020204" pitchFamily="34" charset="-122"/>
                <a:sym typeface="微软雅黑" panose="020B0503020204020204" pitchFamily="34" charset="-122"/>
              </a:rPr>
              <a:t>3</a:t>
            </a:r>
            <a:r>
              <a:rPr lang="zh-CN" altLang="zh-CN" sz="1800" dirty="0">
                <a:solidFill>
                  <a:srgbClr val="000000"/>
                </a:solidFill>
                <a:latin typeface="微软雅黑" panose="020B0503020204020204" pitchFamily="34" charset="-122"/>
                <a:sym typeface="微软雅黑" panose="020B0503020204020204" pitchFamily="34" charset="-122"/>
              </a:rPr>
              <a:t>位数字；</a:t>
            </a:r>
          </a:p>
          <a:p>
            <a:pPr>
              <a:lnSpc>
                <a:spcPct val="130000"/>
              </a:lnSpc>
            </a:pPr>
            <a:r>
              <a:rPr lang="zh-CN" altLang="zh-CN" sz="1800" dirty="0">
                <a:solidFill>
                  <a:srgbClr val="000000"/>
                </a:solidFill>
                <a:latin typeface="微软雅黑" panose="020B0503020204020204" pitchFamily="34" charset="-122"/>
                <a:sym typeface="微软雅黑" panose="020B0503020204020204" pitchFamily="34" charset="-122"/>
              </a:rPr>
              <a:t>后缀：</a:t>
            </a:r>
            <a:r>
              <a:rPr lang="en-US" altLang="zh-CN" sz="1800" dirty="0">
                <a:solidFill>
                  <a:srgbClr val="000000"/>
                </a:solidFill>
                <a:latin typeface="微软雅黑" panose="020B0503020204020204" pitchFamily="34" charset="-122"/>
                <a:sym typeface="微软雅黑" panose="020B0503020204020204" pitchFamily="34" charset="-122"/>
              </a:rPr>
              <a:t>4</a:t>
            </a:r>
            <a:r>
              <a:rPr lang="zh-CN" altLang="zh-CN" sz="1800" dirty="0">
                <a:solidFill>
                  <a:srgbClr val="000000"/>
                </a:solidFill>
                <a:latin typeface="微软雅黑" panose="020B0503020204020204" pitchFamily="34" charset="-122"/>
                <a:sym typeface="微软雅黑" panose="020B0503020204020204" pitchFamily="34" charset="-122"/>
              </a:rPr>
              <a:t>位数字</a:t>
            </a:r>
            <a:endParaRPr lang="en-US" altLang="zh-CN" sz="1400" dirty="0">
              <a:solidFill>
                <a:srgbClr val="C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7794863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等价类划分法</a:t>
            </a:r>
            <a:endParaRPr lang="zh-CN" altLang="zh-CN"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实例</a:t>
            </a:r>
            <a:r>
              <a:rPr lang="zh-CN" altLang="en-US" sz="2000" dirty="0">
                <a:solidFill>
                  <a:schemeClr val="tx2"/>
                </a:solidFill>
                <a:sym typeface="微软雅黑" panose="020B0503020204020204" pitchFamily="34" charset="-122"/>
              </a:rPr>
              <a:t>：</a:t>
            </a:r>
            <a:r>
              <a:rPr lang="zh-CN" altLang="zh-CN" sz="2000" dirty="0">
                <a:solidFill>
                  <a:schemeClr val="tx2"/>
                </a:solidFill>
                <a:sym typeface="微软雅黑" panose="020B0503020204020204" pitchFamily="34" charset="-122"/>
              </a:rPr>
              <a:t>用等价类划分法为</a:t>
            </a:r>
            <a:r>
              <a:rPr lang="zh-CN" altLang="en-US" sz="2000" dirty="0">
                <a:solidFill>
                  <a:schemeClr val="tx2"/>
                </a:solidFill>
                <a:sym typeface="微软雅黑" panose="020B0503020204020204" pitchFamily="34" charset="-122"/>
              </a:rPr>
              <a:t>下列</a:t>
            </a:r>
            <a:r>
              <a:rPr lang="zh-CN" altLang="zh-CN" sz="2000" dirty="0">
                <a:solidFill>
                  <a:schemeClr val="tx2"/>
                </a:solidFill>
                <a:sym typeface="微软雅黑" panose="020B0503020204020204" pitchFamily="34" charset="-122"/>
              </a:rPr>
              <a:t>程序设计测试用例</a:t>
            </a:r>
            <a:endParaRPr lang="en-US" altLang="zh-CN" sz="2000" dirty="0">
              <a:solidFill>
                <a:schemeClr val="tx2"/>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1050997"/>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30000"/>
              </a:lnSpc>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1</a:t>
            </a:r>
            <a:r>
              <a:rPr lang="zh-CN" altLang="en-US" sz="1800" dirty="0">
                <a:solidFill>
                  <a:srgbClr val="000000"/>
                </a:solidFill>
                <a:latin typeface="微软雅黑" panose="020B0503020204020204" pitchFamily="34" charset="-122"/>
                <a:sym typeface="微软雅黑" panose="020B0503020204020204" pitchFamily="34" charset="-122"/>
              </a:rPr>
              <a:t>）等价类划分并编号</a:t>
            </a:r>
            <a:endParaRPr lang="en-US" altLang="zh-CN" sz="1800" dirty="0">
              <a:solidFill>
                <a:srgbClr val="000000"/>
              </a:solidFill>
              <a:latin typeface="微软雅黑" panose="020B0503020204020204" pitchFamily="34" charset="-122"/>
              <a:sym typeface="微软雅黑" panose="020B0503020204020204" pitchFamily="34" charset="-122"/>
            </a:endParaRPr>
          </a:p>
          <a:p>
            <a:pPr>
              <a:lnSpc>
                <a:spcPct val="130000"/>
              </a:lnSpc>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2</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zh-CN" sz="1800" dirty="0">
                <a:solidFill>
                  <a:srgbClr val="000000"/>
                </a:solidFill>
                <a:latin typeface="微软雅黑" panose="020B0503020204020204" pitchFamily="34" charset="-122"/>
                <a:sym typeface="微软雅黑" panose="020B0503020204020204" pitchFamily="34" charset="-122"/>
              </a:rPr>
              <a:t>为每个有效等价类和无效等价类设计测试用例</a:t>
            </a:r>
            <a:endParaRPr lang="zh-CN" altLang="en-US" sz="1800"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pic>
        <p:nvPicPr>
          <p:cNvPr id="18" name="Picture 5">
            <a:extLst>
              <a:ext uri="{FF2B5EF4-FFF2-40B4-BE49-F238E27FC236}">
                <a16:creationId xmlns:a16="http://schemas.microsoft.com/office/drawing/2014/main" id="{AF750A6A-3E62-3449-8FD3-7CC113606241}"/>
              </a:ext>
            </a:extLst>
          </p:cNvPr>
          <p:cNvPicPr>
            <a:picLocks noChangeAspect="1" noChangeArrowheads="1"/>
          </p:cNvPicPr>
          <p:nvPr/>
        </p:nvPicPr>
        <p:blipFill>
          <a:blip r:embed="rId2"/>
          <a:srcRect/>
          <a:stretch>
            <a:fillRect/>
          </a:stretch>
        </p:blipFill>
        <p:spPr bwMode="auto">
          <a:xfrm>
            <a:off x="948938" y="3824280"/>
            <a:ext cx="6391275" cy="2533650"/>
          </a:xfrm>
          <a:prstGeom prst="rect">
            <a:avLst/>
          </a:prstGeom>
          <a:ln>
            <a:noFill/>
          </a:ln>
          <a:effectLst>
            <a:outerShdw blurRad="292100" dist="139700" dir="2700000" algn="tl" rotWithShape="0">
              <a:srgbClr val="333333">
                <a:alpha val="65000"/>
              </a:srgbClr>
            </a:outerShdw>
          </a:effectLst>
        </p:spPr>
      </p:pic>
      <p:grpSp>
        <p:nvGrpSpPr>
          <p:cNvPr id="5" name="组合 4">
            <a:extLst>
              <a:ext uri="{FF2B5EF4-FFF2-40B4-BE49-F238E27FC236}">
                <a16:creationId xmlns:a16="http://schemas.microsoft.com/office/drawing/2014/main" id="{1969FA7B-54DA-8347-908E-804B38AF0D4B}"/>
              </a:ext>
            </a:extLst>
          </p:cNvPr>
          <p:cNvGrpSpPr/>
          <p:nvPr/>
        </p:nvGrpSpPr>
        <p:grpSpPr>
          <a:xfrm>
            <a:off x="1836631" y="1698172"/>
            <a:ext cx="6670675" cy="2325688"/>
            <a:chOff x="2016125" y="1498592"/>
            <a:chExt cx="6670675" cy="2325688"/>
          </a:xfrm>
        </p:grpSpPr>
        <p:grpSp>
          <p:nvGrpSpPr>
            <p:cNvPr id="10" name="组合 9">
              <a:extLst>
                <a:ext uri="{FF2B5EF4-FFF2-40B4-BE49-F238E27FC236}">
                  <a16:creationId xmlns:a16="http://schemas.microsoft.com/office/drawing/2014/main" id="{AFF65721-C1C1-5D4E-AAFA-63D3DCBECCB8}"/>
                </a:ext>
              </a:extLst>
            </p:cNvPr>
            <p:cNvGrpSpPr/>
            <p:nvPr/>
          </p:nvGrpSpPr>
          <p:grpSpPr>
            <a:xfrm>
              <a:off x="2016125" y="1498592"/>
              <a:ext cx="6670675" cy="2325688"/>
              <a:chOff x="1187450" y="2428875"/>
              <a:chExt cx="6670675" cy="2325688"/>
            </a:xfrm>
          </p:grpSpPr>
          <p:pic>
            <p:nvPicPr>
              <p:cNvPr id="16" name="Picture 1" descr="C:\Documents and Settings\Administrator\Application Data\Tencent\Users\2398291056\QQ\WinTemp\RichOle\UVDD3DZ]DNNQVET7)_WP227.png">
                <a:extLst>
                  <a:ext uri="{FF2B5EF4-FFF2-40B4-BE49-F238E27FC236}">
                    <a16:creationId xmlns:a16="http://schemas.microsoft.com/office/drawing/2014/main" id="{6C7A81FF-07F7-3943-916F-62BA22DDC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937"/>
              <a:stretch>
                <a:fillRect/>
              </a:stretch>
            </p:blipFill>
            <p:spPr bwMode="auto">
              <a:xfrm>
                <a:off x="1187450" y="2428875"/>
                <a:ext cx="6670675" cy="23256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直接连接符 5">
                <a:extLst>
                  <a:ext uri="{FF2B5EF4-FFF2-40B4-BE49-F238E27FC236}">
                    <a16:creationId xmlns:a16="http://schemas.microsoft.com/office/drawing/2014/main" id="{0D814EFF-3274-194F-8B5B-85C0C1592339}"/>
                  </a:ext>
                </a:extLst>
              </p:cNvPr>
              <p:cNvCxnSpPr>
                <a:cxnSpLocks noChangeShapeType="1"/>
              </p:cNvCxnSpPr>
              <p:nvPr/>
            </p:nvCxnSpPr>
            <p:spPr bwMode="auto">
              <a:xfrm>
                <a:off x="1285875" y="2428875"/>
                <a:ext cx="6500813"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grpSp>
        <p:grpSp>
          <p:nvGrpSpPr>
            <p:cNvPr id="4" name="组合 3">
              <a:extLst>
                <a:ext uri="{FF2B5EF4-FFF2-40B4-BE49-F238E27FC236}">
                  <a16:creationId xmlns:a16="http://schemas.microsoft.com/office/drawing/2014/main" id="{D034D056-5BAD-144F-8D2C-48EF6CD6059B}"/>
                </a:ext>
              </a:extLst>
            </p:cNvPr>
            <p:cNvGrpSpPr/>
            <p:nvPr/>
          </p:nvGrpSpPr>
          <p:grpSpPr>
            <a:xfrm>
              <a:off x="5029199" y="1771650"/>
              <a:ext cx="2285530" cy="1528793"/>
              <a:chOff x="5029199" y="1771650"/>
              <a:chExt cx="2285530" cy="1528793"/>
            </a:xfrm>
          </p:grpSpPr>
          <p:sp>
            <p:nvSpPr>
              <p:cNvPr id="2" name="同心圆 1">
                <a:extLst>
                  <a:ext uri="{FF2B5EF4-FFF2-40B4-BE49-F238E27FC236}">
                    <a16:creationId xmlns:a16="http://schemas.microsoft.com/office/drawing/2014/main" id="{4818462C-C668-DE4C-918E-42055B7A745D}"/>
                  </a:ext>
                </a:extLst>
              </p:cNvPr>
              <p:cNvSpPr/>
              <p:nvPr/>
            </p:nvSpPr>
            <p:spPr>
              <a:xfrm>
                <a:off x="5029199" y="1880359"/>
                <a:ext cx="1267691" cy="512618"/>
              </a:xfrm>
              <a:prstGeom prst="donut">
                <a:avLst>
                  <a:gd name="adj" fmla="val 2015"/>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9" name="同心圆 18">
                <a:extLst>
                  <a:ext uri="{FF2B5EF4-FFF2-40B4-BE49-F238E27FC236}">
                    <a16:creationId xmlns:a16="http://schemas.microsoft.com/office/drawing/2014/main" id="{49FB2A44-FF54-3849-92FA-EB267EA087F8}"/>
                  </a:ext>
                </a:extLst>
              </p:cNvPr>
              <p:cNvSpPr/>
              <p:nvPr/>
            </p:nvSpPr>
            <p:spPr>
              <a:xfrm>
                <a:off x="5063834" y="2833172"/>
                <a:ext cx="491839" cy="467271"/>
              </a:xfrm>
              <a:prstGeom prst="donut">
                <a:avLst>
                  <a:gd name="adj" fmla="val 2015"/>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 name="文本框 2">
                <a:extLst>
                  <a:ext uri="{FF2B5EF4-FFF2-40B4-BE49-F238E27FC236}">
                    <a16:creationId xmlns:a16="http://schemas.microsoft.com/office/drawing/2014/main" id="{17E4A8BE-CCFC-2545-AB1F-A09F5FB9F8AE}"/>
                  </a:ext>
                </a:extLst>
              </p:cNvPr>
              <p:cNvSpPr txBox="1"/>
              <p:nvPr/>
            </p:nvSpPr>
            <p:spPr>
              <a:xfrm>
                <a:off x="6271406" y="1771650"/>
                <a:ext cx="1043323" cy="646331"/>
              </a:xfrm>
              <a:prstGeom prst="rect">
                <a:avLst/>
              </a:prstGeom>
              <a:noFill/>
            </p:spPr>
            <p:txBody>
              <a:bodyPr wrap="squar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尽可能多覆盖</a:t>
                </a:r>
              </a:p>
            </p:txBody>
          </p:sp>
          <p:sp>
            <p:nvSpPr>
              <p:cNvPr id="20" name="文本框 19">
                <a:extLst>
                  <a:ext uri="{FF2B5EF4-FFF2-40B4-BE49-F238E27FC236}">
                    <a16:creationId xmlns:a16="http://schemas.microsoft.com/office/drawing/2014/main" id="{075C8B14-85D2-8745-9C76-961AF6BE361F}"/>
                  </a:ext>
                </a:extLst>
              </p:cNvPr>
              <p:cNvSpPr txBox="1"/>
              <p:nvPr/>
            </p:nvSpPr>
            <p:spPr>
              <a:xfrm>
                <a:off x="5555673" y="2874924"/>
                <a:ext cx="1331857" cy="369332"/>
              </a:xfrm>
              <a:prstGeom prst="rect">
                <a:avLst/>
              </a:prstGeom>
              <a:noFill/>
            </p:spPr>
            <p:txBody>
              <a:bodyPr wrap="square" rtlCol="0">
                <a:spAutoFit/>
              </a:bodyPr>
              <a:lstStyle/>
              <a:p>
                <a:r>
                  <a:rPr kumimoji="1" lang="zh-CN" altLang="en-US" dirty="0">
                    <a:solidFill>
                      <a:srgbClr val="FF0000"/>
                    </a:solidFill>
                    <a:latin typeface="Microsoft YaHei" panose="020B0503020204020204" pitchFamily="34" charset="-122"/>
                    <a:ea typeface="Microsoft YaHei" panose="020B0503020204020204" pitchFamily="34" charset="-122"/>
                  </a:rPr>
                  <a:t>覆盖一个</a:t>
                </a:r>
              </a:p>
            </p:txBody>
          </p:sp>
        </p:grpSp>
      </p:grpSp>
      <p:sp>
        <p:nvSpPr>
          <p:cNvPr id="21" name="Rectangle 2">
            <a:extLst>
              <a:ext uri="{FF2B5EF4-FFF2-40B4-BE49-F238E27FC236}">
                <a16:creationId xmlns:a16="http://schemas.microsoft.com/office/drawing/2014/main" id="{DEBC5E1C-4D07-E440-8C8C-CE9BAC2AE77D}"/>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Tree>
    <p:extLst>
      <p:ext uri="{BB962C8B-B14F-4D97-AF65-F5344CB8AC3E}">
        <p14:creationId xmlns:p14="http://schemas.microsoft.com/office/powerpoint/2010/main" val="9823730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5.3.3</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设计思想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fontScale="92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zh-CN" sz="2000" dirty="0">
                <a:solidFill>
                  <a:srgbClr val="000000"/>
                </a:solidFill>
                <a:latin typeface="微软雅黑" panose="020B0503020204020204" pitchFamily="34" charset="-122"/>
                <a:sym typeface="微软雅黑" panose="020B0503020204020204" pitchFamily="34" charset="-122"/>
              </a:rPr>
              <a:t>程序在处理</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zh-CN" sz="2000" dirty="0">
                <a:solidFill>
                  <a:srgbClr val="C00000"/>
                </a:solidFill>
                <a:latin typeface="微软雅黑" panose="020B0503020204020204" pitchFamily="34" charset="-122"/>
                <a:sym typeface="微软雅黑" panose="020B0503020204020204" pitchFamily="34" charset="-122"/>
              </a:rPr>
              <a:t>边界情况</a:t>
            </a:r>
            <a:r>
              <a:rPr lang="zh-CN" altLang="en-US" sz="2000" dirty="0">
                <a:solidFill>
                  <a:srgbClr val="C00000"/>
                </a:solidFill>
                <a:latin typeface="微软雅黑" panose="020B0503020204020204" pitchFamily="34" charset="-122"/>
                <a:sym typeface="微软雅黑" panose="020B0503020204020204" pitchFamily="34" charset="-122"/>
              </a:rPr>
              <a:t> </a:t>
            </a:r>
            <a:r>
              <a:rPr lang="zh-CN" altLang="zh-CN" sz="2000" dirty="0">
                <a:solidFill>
                  <a:srgbClr val="000000"/>
                </a:solidFill>
                <a:latin typeface="微软雅黑" panose="020B0503020204020204" pitchFamily="34" charset="-122"/>
                <a:sym typeface="微软雅黑" panose="020B0503020204020204" pitchFamily="34" charset="-122"/>
              </a:rPr>
              <a:t>时最容易发生错误，许多程序错误出现在下标、数据结构和循环等的边界附近。</a:t>
            </a: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40000"/>
              </a:lnSpc>
              <a:spcBef>
                <a:spcPts val="600"/>
              </a:spcBef>
              <a:spcAft>
                <a:spcPts val="600"/>
              </a:spcAft>
            </a:pP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zh-CN" sz="2000" dirty="0">
                <a:solidFill>
                  <a:srgbClr val="000000"/>
                </a:solidFill>
                <a:latin typeface="微软雅黑" panose="020B0503020204020204" pitchFamily="34" charset="-122"/>
                <a:sym typeface="微软雅黑" panose="020B0503020204020204" pitchFamily="34" charset="-122"/>
              </a:rPr>
              <a:t>因此，设计程序运行在</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zh-CN" sz="2000" dirty="0">
                <a:solidFill>
                  <a:srgbClr val="C00000"/>
                </a:solidFill>
                <a:latin typeface="微软雅黑" panose="020B0503020204020204" pitchFamily="34" charset="-122"/>
                <a:sym typeface="微软雅黑" panose="020B0503020204020204" pitchFamily="34" charset="-122"/>
              </a:rPr>
              <a:t>边界情况附近</a:t>
            </a:r>
            <a:r>
              <a:rPr lang="zh-CN" altLang="en-US" sz="2000" dirty="0">
                <a:solidFill>
                  <a:srgbClr val="C00000"/>
                </a:solidFill>
                <a:latin typeface="微软雅黑" panose="020B0503020204020204" pitchFamily="34" charset="-122"/>
                <a:sym typeface="微软雅黑" panose="020B0503020204020204" pitchFamily="34" charset="-122"/>
              </a:rPr>
              <a:t> </a:t>
            </a:r>
            <a:r>
              <a:rPr lang="zh-CN" altLang="zh-CN" sz="2000" dirty="0">
                <a:solidFill>
                  <a:srgbClr val="000000"/>
                </a:solidFill>
                <a:latin typeface="微软雅黑" panose="020B0503020204020204" pitchFamily="34" charset="-122"/>
                <a:sym typeface="微软雅黑" panose="020B0503020204020204" pitchFamily="34" charset="-122"/>
              </a:rPr>
              <a:t>的测试用例，可以使程序错误更容易暴露出来</a:t>
            </a:r>
            <a:r>
              <a:rPr lang="zh-CN" altLang="en-US" sz="2000" dirty="0">
                <a:solidFill>
                  <a:srgbClr val="000000"/>
                </a:solidFill>
                <a:latin typeface="微软雅黑" panose="020B0503020204020204" pitchFamily="34" charset="-122"/>
                <a:sym typeface="微软雅黑" panose="020B0503020204020204" pitchFamily="34" charset="-122"/>
              </a:rPr>
              <a:t>。</a:t>
            </a:r>
            <a:endParaRPr lang="en-US" altLang="zh-CN" sz="2000" dirty="0">
              <a:solidFill>
                <a:srgbClr val="000000"/>
              </a:solidFill>
              <a:latin typeface="微软雅黑" panose="020B0503020204020204" pitchFamily="34" charset="-122"/>
              <a:sym typeface="微软雅黑" panose="020B0503020204020204" pitchFamily="34" charset="-122"/>
            </a:endParaRPr>
          </a:p>
          <a:p>
            <a:pPr algn="just">
              <a:lnSpc>
                <a:spcPct val="140000"/>
              </a:lnSpc>
              <a:spcBef>
                <a:spcPts val="600"/>
              </a:spcBef>
              <a:spcAft>
                <a:spcPts val="600"/>
              </a:spcAft>
            </a:pP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例：在做三角形设计时，要输入三角形的</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个边长</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B </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和</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C</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。这</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个数值应当满足：</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A&gt;0</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B&gt;0</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C&gt;0</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A+B&gt;C</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A+C&gt;B</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B+C&gt;A</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，才能构成三角形。但如果把</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6</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个不等式中的任何一个“</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&gt;”</a:t>
            </a:r>
            <a:r>
              <a:rPr lang="zh-CN" altLang="en-US" sz="21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错写</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成“</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&gt;=”</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，那么不能构成三角形的问题恰好出现在容易被疏忽的边界附近。</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342900" lvl="1" indent="-342900">
              <a:lnSpc>
                <a:spcPct val="120000"/>
              </a:lnSpc>
              <a:spcBef>
                <a:spcPts val="900"/>
              </a:spcBef>
            </a:pP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2" name="矩形 1">
            <a:extLst>
              <a:ext uri="{FF2B5EF4-FFF2-40B4-BE49-F238E27FC236}">
                <a16:creationId xmlns:a16="http://schemas.microsoft.com/office/drawing/2014/main" id="{B80B3522-33F2-9F46-AAD6-68DECB4C93AF}"/>
              </a:ext>
            </a:extLst>
          </p:cNvPr>
          <p:cNvSpPr/>
          <p:nvPr/>
        </p:nvSpPr>
        <p:spPr>
          <a:xfrm>
            <a:off x="2332755" y="6201312"/>
            <a:ext cx="5849896" cy="307777"/>
          </a:xfrm>
          <a:prstGeom prst="rect">
            <a:avLst/>
          </a:prstGeom>
        </p:spPr>
        <p:txBody>
          <a:bodyPr wrap="square">
            <a:spAutoFit/>
          </a:bodyPr>
          <a:lstStyle/>
          <a:p>
            <a:r>
              <a:rPr lang="zh-CN" altLang="en-US" sz="1400" dirty="0">
                <a:solidFill>
                  <a:schemeClr val="bg1">
                    <a:lumMod val="85000"/>
                  </a:schemeClr>
                </a:solidFill>
                <a:latin typeface="KaiTi" panose="02010609060101010101" pitchFamily="49" charset="-122"/>
                <a:ea typeface="KaiTi" panose="02010609060101010101" pitchFamily="49" charset="-122"/>
              </a:rPr>
              <a:t>注：数据结构是指相互之间存在一种或多种特定关系的数据元素的集合。</a:t>
            </a:r>
          </a:p>
        </p:txBody>
      </p:sp>
    </p:spTree>
    <p:extLst>
      <p:ext uri="{BB962C8B-B14F-4D97-AF65-F5344CB8AC3E}">
        <p14:creationId xmlns:p14="http://schemas.microsoft.com/office/powerpoint/2010/main" val="26374818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5.3.3</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基本步骤</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zh-CN"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1</a:t>
            </a:r>
            <a:r>
              <a:rPr lang="zh-CN" altLang="zh-CN" dirty="0">
                <a:solidFill>
                  <a:srgbClr val="000000"/>
                </a:solidFill>
                <a:latin typeface="微软雅黑" panose="020B0503020204020204" pitchFamily="34" charset="-122"/>
                <a:sym typeface="微软雅黑" panose="020B0503020204020204" pitchFamily="34" charset="-122"/>
              </a:rPr>
              <a:t>）首先应确定边界</a:t>
            </a:r>
            <a:endParaRPr lang="en-US" altLang="zh-CN" sz="2000" dirty="0">
              <a:solidFill>
                <a:srgbClr val="000000"/>
              </a:solidFill>
              <a:latin typeface="微软雅黑" panose="020B0503020204020204" pitchFamily="34" charset="-122"/>
              <a:sym typeface="微软雅黑" panose="020B0503020204020204" pitchFamily="34" charset="-122"/>
            </a:endParaRPr>
          </a:p>
          <a:p>
            <a:pPr marL="0" lvl="1" indent="0">
              <a:lnSpc>
                <a:spcPct val="140000"/>
              </a:lnSpc>
              <a:spcBef>
                <a:spcPts val="600"/>
              </a:spcBef>
              <a:spcAft>
                <a:spcPts val="600"/>
              </a:spcAft>
              <a:buNone/>
            </a:pPr>
            <a:r>
              <a:rPr lang="zh-CN" altLang="zh-CN"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2</a:t>
            </a:r>
            <a:r>
              <a:rPr lang="zh-CN" altLang="zh-CN" dirty="0">
                <a:solidFill>
                  <a:srgbClr val="000000"/>
                </a:solidFill>
                <a:latin typeface="微软雅黑" panose="020B0503020204020204" pitchFamily="34" charset="-122"/>
                <a:sym typeface="微软雅黑" panose="020B0503020204020204" pitchFamily="34" charset="-122"/>
              </a:rPr>
              <a:t>）选取测试数据</a:t>
            </a:r>
            <a:endParaRPr lang="en-US" altLang="zh-CN" dirty="0">
              <a:solidFill>
                <a:srgbClr val="000000"/>
              </a:solidFill>
              <a:latin typeface="微软雅黑" panose="020B0503020204020204" pitchFamily="34" charset="-122"/>
              <a:sym typeface="微软雅黑" panose="020B0503020204020204" pitchFamily="34" charset="-122"/>
            </a:endParaRPr>
          </a:p>
          <a:p>
            <a:pPr marL="0" lvl="1" indent="0">
              <a:lnSpc>
                <a:spcPct val="140000"/>
              </a:lnSpc>
              <a:spcBef>
                <a:spcPts val="600"/>
              </a:spcBef>
              <a:spcAft>
                <a:spcPts val="600"/>
              </a:spcAft>
              <a:buNone/>
            </a:pPr>
            <a:endParaRPr lang="en-US" altLang="zh-CN" dirty="0">
              <a:solidFill>
                <a:srgbClr val="000000"/>
              </a:solidFill>
              <a:latin typeface="微软雅黑" panose="020B0503020204020204" pitchFamily="34" charset="-122"/>
              <a:sym typeface="微软雅黑" panose="020B0503020204020204" pitchFamily="34" charset="-122"/>
            </a:endParaRPr>
          </a:p>
          <a:p>
            <a:pPr>
              <a:lnSpc>
                <a:spcPct val="120000"/>
              </a:lnSpc>
              <a:spcBef>
                <a:spcPct val="20000"/>
              </a:spcBef>
            </a:pP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选择测试数据时，应当选取</a:t>
            </a:r>
            <a:r>
              <a:rPr lang="zh-CN" altLang="zh-CN" sz="21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正好等于</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21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刚刚大于</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或</a:t>
            </a:r>
            <a:r>
              <a:rPr lang="zh-CN" altLang="zh-CN" sz="21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刚刚小于</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边界的值作为测试数据，而不是选取等价类中的典型值或任意值作为测试数据</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a:lnSpc>
                <a:spcPct val="120000"/>
              </a:lnSpc>
              <a:spcBef>
                <a:spcPct val="20000"/>
              </a:spcBef>
            </a:pP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通常，</a:t>
            </a:r>
            <a:r>
              <a:rPr lang="zh-CN" altLang="en-US" sz="2100" dirty="0">
                <a:solidFill>
                  <a:srgbClr val="FF0000"/>
                </a:solidFill>
                <a:latin typeface="Kaiti SC" panose="02010600040101010101" pitchFamily="2" charset="-122"/>
                <a:ea typeface="Kaiti SC" panose="02010600040101010101" pitchFamily="2" charset="-122"/>
                <a:sym typeface="微软雅黑" panose="020B0503020204020204" pitchFamily="34" charset="-122"/>
              </a:rPr>
              <a:t>边界值分析法是对等价类划分法的</a:t>
            </a:r>
            <a:r>
              <a:rPr lang="zh-CN" altLang="en-US" sz="2100" dirty="0">
                <a:solidFill>
                  <a:srgbClr val="FF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补充</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342900" lvl="1" indent="-342900">
              <a:lnSpc>
                <a:spcPct val="120000"/>
              </a:lnSpc>
              <a:spcBef>
                <a:spcPts val="900"/>
              </a:spcBef>
            </a:pP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9968510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5.3.3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选择测试用例时，可以遵循以下原则</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984250" lvl="1" indent="-984250">
              <a:lnSpc>
                <a:spcPct val="140000"/>
              </a:lnSpc>
              <a:spcBef>
                <a:spcPts val="600"/>
              </a:spcBef>
              <a:spcAft>
                <a:spcPts val="600"/>
              </a:spcAft>
              <a:buNone/>
            </a:pPr>
            <a:r>
              <a:rPr lang="zh-CN" altLang="en-US" dirty="0">
                <a:solidFill>
                  <a:srgbClr val="000000"/>
                </a:solidFill>
                <a:latin typeface="微软雅黑" panose="020B0503020204020204" pitchFamily="34" charset="-122"/>
                <a:sym typeface="微软雅黑" panose="020B0503020204020204" pitchFamily="34" charset="-122"/>
              </a:rPr>
              <a:t>原则 </a:t>
            </a:r>
            <a:r>
              <a:rPr lang="en-US" altLang="zh-CN" dirty="0">
                <a:solidFill>
                  <a:srgbClr val="000000"/>
                </a:solidFill>
                <a:latin typeface="微软雅黑" panose="020B0503020204020204" pitchFamily="34" charset="-122"/>
                <a:sym typeface="微软雅黑" panose="020B0503020204020204" pitchFamily="34" charset="-122"/>
              </a:rPr>
              <a:t>1</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如果</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输入</a:t>
            </a:r>
            <a:r>
              <a:rPr lang="zh-CN" altLang="zh-CN" dirty="0">
                <a:solidFill>
                  <a:srgbClr val="000000"/>
                </a:solidFill>
                <a:latin typeface="微软雅黑" panose="020B0503020204020204" pitchFamily="34" charset="-122"/>
                <a:sym typeface="微软雅黑" panose="020B0503020204020204" pitchFamily="34" charset="-122"/>
              </a:rPr>
              <a:t>条件规定了</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值的范围</a:t>
            </a:r>
            <a:r>
              <a:rPr lang="zh-CN" altLang="zh-CN" dirty="0">
                <a:solidFill>
                  <a:srgbClr val="000000"/>
                </a:solidFill>
                <a:latin typeface="微软雅黑" panose="020B0503020204020204" pitchFamily="34" charset="-122"/>
                <a:sym typeface="微软雅黑" panose="020B0503020204020204" pitchFamily="34" charset="-122"/>
              </a:rPr>
              <a:t>，则应取刚达到这个范围的</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边界</a:t>
            </a:r>
            <a:r>
              <a:rPr lang="zh-CN" altLang="zh-CN" dirty="0">
                <a:solidFill>
                  <a:srgbClr val="000000"/>
                </a:solidFill>
                <a:latin typeface="微软雅黑" panose="020B0503020204020204" pitchFamily="34" charset="-122"/>
                <a:sym typeface="微软雅黑" panose="020B0503020204020204" pitchFamily="34" charset="-122"/>
              </a:rPr>
              <a:t>的值，以及</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刚刚超越</a:t>
            </a:r>
            <a:r>
              <a:rPr lang="zh-CN" altLang="zh-CN" dirty="0">
                <a:solidFill>
                  <a:srgbClr val="000000"/>
                </a:solidFill>
                <a:latin typeface="微软雅黑" panose="020B0503020204020204" pitchFamily="34" charset="-122"/>
                <a:sym typeface="微软雅黑" panose="020B0503020204020204" pitchFamily="34" charset="-122"/>
              </a:rPr>
              <a:t>这个范围边界的值作为测试输入数据</a:t>
            </a:r>
            <a:endParaRPr lang="en-US" altLang="zh-CN" dirty="0">
              <a:solidFill>
                <a:srgbClr val="000000"/>
              </a:solidFill>
              <a:latin typeface="微软雅黑" panose="020B0503020204020204" pitchFamily="34" charset="-122"/>
              <a:sym typeface="微软雅黑" panose="020B0503020204020204" pitchFamily="34" charset="-122"/>
            </a:endParaRPr>
          </a:p>
          <a:p>
            <a:pPr marL="935038" lvl="1" indent="-935038">
              <a:lnSpc>
                <a:spcPct val="140000"/>
              </a:lnSpc>
              <a:spcBef>
                <a:spcPts val="600"/>
              </a:spcBef>
              <a:spcAft>
                <a:spcPts val="600"/>
              </a:spcAft>
              <a:buNone/>
            </a:pP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ct val="20000"/>
              </a:spcBef>
            </a:pP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若输入值的范围是整数</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 </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，则可选取</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“101” </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做为测试输入数据</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a:lnSpc>
                <a:spcPct val="120000"/>
              </a:lnSpc>
              <a:spcBef>
                <a:spcPct val="20000"/>
              </a:spcBef>
            </a:pP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421115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5.3.3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选择测试用例时，可以遵循以下原则</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984250" lvl="1" indent="-984250">
              <a:lnSpc>
                <a:spcPct val="140000"/>
              </a:lnSpc>
              <a:spcBef>
                <a:spcPts val="600"/>
              </a:spcBef>
              <a:spcAft>
                <a:spcPts val="600"/>
              </a:spcAft>
              <a:buNone/>
            </a:pPr>
            <a:r>
              <a:rPr lang="zh-CN" altLang="en-US" dirty="0">
                <a:solidFill>
                  <a:srgbClr val="000000"/>
                </a:solidFill>
                <a:latin typeface="微软雅黑" panose="020B0503020204020204" pitchFamily="34" charset="-122"/>
                <a:sym typeface="微软雅黑" panose="020B0503020204020204" pitchFamily="34" charset="-122"/>
              </a:rPr>
              <a:t>原则 </a:t>
            </a:r>
            <a:r>
              <a:rPr lang="en-US" altLang="zh-CN" dirty="0">
                <a:solidFill>
                  <a:srgbClr val="000000"/>
                </a:solidFill>
                <a:latin typeface="微软雅黑" panose="020B0503020204020204" pitchFamily="34" charset="-122"/>
                <a:sym typeface="微软雅黑" panose="020B0503020204020204" pitchFamily="34" charset="-122"/>
              </a:rPr>
              <a:t>2</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如果</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输入</a:t>
            </a:r>
            <a:r>
              <a:rPr lang="zh-CN" altLang="zh-CN" dirty="0">
                <a:solidFill>
                  <a:srgbClr val="000000"/>
                </a:solidFill>
                <a:latin typeface="微软雅黑" panose="020B0503020204020204" pitchFamily="34" charset="-122"/>
                <a:sym typeface="微软雅黑" panose="020B0503020204020204" pitchFamily="34" charset="-122"/>
              </a:rPr>
              <a:t>条件</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规定了值的个数</a:t>
            </a:r>
            <a:r>
              <a:rPr lang="zh-CN" altLang="zh-CN" dirty="0">
                <a:solidFill>
                  <a:srgbClr val="000000"/>
                </a:solidFill>
                <a:latin typeface="微软雅黑" panose="020B0503020204020204" pitchFamily="34" charset="-122"/>
                <a:sym typeface="微软雅黑" panose="020B0503020204020204" pitchFamily="34" charset="-122"/>
              </a:rPr>
              <a:t>，则用最大个数、最小个数，比最大个数多</a:t>
            </a:r>
            <a:r>
              <a:rPr lang="en-US" altLang="zh-CN" dirty="0">
                <a:solidFill>
                  <a:srgbClr val="000000"/>
                </a:solidFill>
                <a:latin typeface="微软雅黑" panose="020B0503020204020204" pitchFamily="34" charset="-122"/>
                <a:sym typeface="微软雅黑" panose="020B0503020204020204" pitchFamily="34" charset="-122"/>
              </a:rPr>
              <a:t>1</a:t>
            </a:r>
            <a:r>
              <a:rPr lang="zh-CN" altLang="zh-CN" dirty="0">
                <a:solidFill>
                  <a:srgbClr val="000000"/>
                </a:solidFill>
                <a:latin typeface="微软雅黑" panose="020B0503020204020204" pitchFamily="34" charset="-122"/>
                <a:sym typeface="微软雅黑" panose="020B0503020204020204" pitchFamily="34" charset="-122"/>
              </a:rPr>
              <a:t>、比最小个数少</a:t>
            </a:r>
            <a:r>
              <a:rPr lang="en-US" altLang="zh-CN" dirty="0">
                <a:solidFill>
                  <a:srgbClr val="000000"/>
                </a:solidFill>
                <a:latin typeface="微软雅黑" panose="020B0503020204020204" pitchFamily="34" charset="-122"/>
                <a:sym typeface="微软雅黑" panose="020B0503020204020204" pitchFamily="34" charset="-122"/>
              </a:rPr>
              <a:t>1</a:t>
            </a:r>
            <a:r>
              <a:rPr lang="zh-CN" altLang="zh-CN" dirty="0">
                <a:solidFill>
                  <a:srgbClr val="000000"/>
                </a:solidFill>
                <a:latin typeface="微软雅黑" panose="020B0503020204020204" pitchFamily="34" charset="-122"/>
                <a:sym typeface="微软雅黑" panose="020B0503020204020204" pitchFamily="34" charset="-122"/>
              </a:rPr>
              <a:t>的数作为测试数据</a:t>
            </a:r>
            <a:endParaRPr lang="en-US" altLang="zh-CN" dirty="0">
              <a:solidFill>
                <a:srgbClr val="000000"/>
              </a:solidFill>
              <a:latin typeface="微软雅黑" panose="020B0503020204020204" pitchFamily="34" charset="-122"/>
              <a:sym typeface="微软雅黑" panose="020B0503020204020204" pitchFamily="34" charset="-122"/>
            </a:endParaRPr>
          </a:p>
          <a:p>
            <a:pPr marL="935038" lvl="1" indent="-935038">
              <a:lnSpc>
                <a:spcPct val="140000"/>
              </a:lnSpc>
              <a:spcBef>
                <a:spcPts val="600"/>
              </a:spcBef>
              <a:spcAft>
                <a:spcPts val="600"/>
              </a:spcAft>
              <a:buNone/>
            </a:pP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ct val="20000"/>
              </a:spcBef>
            </a:pP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一个输入文件可有</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12</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条记录（如当年的各月销售额数据表），则可以分别设计有</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条记录、</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12</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条记录以及</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条记录和</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13</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条记录的输入文件</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a:lnSpc>
                <a:spcPct val="120000"/>
              </a:lnSpc>
              <a:spcBef>
                <a:spcPct val="20000"/>
              </a:spcBef>
            </a:pP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7590912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5.3.3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选择测试用例时，可以遵循以下原则</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984250" lvl="1" indent="-984250">
              <a:lnSpc>
                <a:spcPct val="140000"/>
              </a:lnSpc>
              <a:spcBef>
                <a:spcPts val="600"/>
              </a:spcBef>
              <a:spcAft>
                <a:spcPts val="600"/>
              </a:spcAft>
              <a:buNone/>
            </a:pPr>
            <a:r>
              <a:rPr lang="zh-CN" altLang="en-US" dirty="0">
                <a:solidFill>
                  <a:srgbClr val="000000"/>
                </a:solidFill>
                <a:latin typeface="微软雅黑" panose="020B0503020204020204" pitchFamily="34" charset="-122"/>
                <a:sym typeface="微软雅黑" panose="020B0503020204020204" pitchFamily="34" charset="-122"/>
              </a:rPr>
              <a:t>原则 </a:t>
            </a:r>
            <a:r>
              <a:rPr lang="en-US" altLang="zh-CN" dirty="0">
                <a:solidFill>
                  <a:srgbClr val="000000"/>
                </a:solidFill>
                <a:latin typeface="微软雅黑" panose="020B0503020204020204" pitchFamily="34" charset="-122"/>
                <a:sym typeface="微软雅黑" panose="020B0503020204020204" pitchFamily="34" charset="-122"/>
              </a:rPr>
              <a:t>3</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根据</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规格说明</a:t>
            </a:r>
            <a:r>
              <a:rPr lang="zh-CN" altLang="en-US" dirty="0">
                <a:solidFill>
                  <a:srgbClr val="C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的每个</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highlight>
                  <a:srgbClr val="FFFF00"/>
                </a:highlight>
                <a:latin typeface="微软雅黑" panose="020B0503020204020204" pitchFamily="34" charset="-122"/>
                <a:sym typeface="微软雅黑" panose="020B0503020204020204" pitchFamily="34" charset="-122"/>
              </a:rPr>
              <a:t>输</a:t>
            </a:r>
            <a:r>
              <a:rPr lang="zh-CN" altLang="en-US" dirty="0">
                <a:solidFill>
                  <a:srgbClr val="C00000"/>
                </a:solidFill>
                <a:highlight>
                  <a:srgbClr val="FFFF00"/>
                </a:highlight>
                <a:latin typeface="微软雅黑" panose="020B0503020204020204" pitchFamily="34" charset="-122"/>
                <a:sym typeface="微软雅黑" panose="020B0503020204020204" pitchFamily="34" charset="-122"/>
              </a:rPr>
              <a:t>出</a:t>
            </a:r>
            <a:r>
              <a:rPr lang="zh-CN" altLang="zh-CN" dirty="0">
                <a:solidFill>
                  <a:srgbClr val="C00000"/>
                </a:solidFill>
                <a:latin typeface="微软雅黑" panose="020B0503020204020204" pitchFamily="34" charset="-122"/>
                <a:sym typeface="微软雅黑" panose="020B0503020204020204" pitchFamily="34" charset="-122"/>
              </a:rPr>
              <a:t>条件</a:t>
            </a:r>
            <a:r>
              <a:rPr lang="zh-CN" altLang="en-US" dirty="0">
                <a:solidFill>
                  <a:srgbClr val="C00000"/>
                </a:solidFill>
                <a:latin typeface="微软雅黑" panose="020B0503020204020204" pitchFamily="34" charset="-122"/>
                <a:sym typeface="微软雅黑" panose="020B0503020204020204" pitchFamily="34" charset="-122"/>
              </a:rPr>
              <a:t>（</a:t>
            </a:r>
            <a:r>
              <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rPr>
              <a:t>规定范围</a:t>
            </a:r>
            <a:r>
              <a:rPr lang="zh-CN" altLang="en-US" dirty="0">
                <a:solidFill>
                  <a:srgbClr val="C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，使用原则</a:t>
            </a:r>
            <a:r>
              <a:rPr lang="zh-CN" altLang="en-US" dirty="0">
                <a:solidFill>
                  <a:srgbClr val="000000"/>
                </a:solidFill>
                <a:latin typeface="微软雅黑" panose="020B0503020204020204" pitchFamily="34" charset="-122"/>
                <a:sym typeface="微软雅黑" panose="020B0503020204020204" pitchFamily="34" charset="-122"/>
              </a:rPr>
              <a:t> </a:t>
            </a:r>
            <a:r>
              <a:rPr lang="en-US" altLang="zh-CN" dirty="0">
                <a:solidFill>
                  <a:srgbClr val="000000"/>
                </a:solidFill>
                <a:latin typeface="微软雅黑" panose="020B0503020204020204" pitchFamily="34" charset="-122"/>
                <a:sym typeface="微软雅黑" panose="020B0503020204020204" pitchFamily="34" charset="-122"/>
              </a:rPr>
              <a:t>1</a:t>
            </a:r>
          </a:p>
          <a:p>
            <a:pPr marL="935038" lvl="1" indent="-935038">
              <a:lnSpc>
                <a:spcPct val="140000"/>
              </a:lnSpc>
              <a:spcBef>
                <a:spcPts val="600"/>
              </a:spcBef>
              <a:spcAft>
                <a:spcPts val="600"/>
              </a:spcAft>
              <a:buNone/>
            </a:pP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ct val="20000"/>
              </a:spcBef>
            </a:pP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某程序的功能是计算折扣量，最低折扣量是</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元，最高折扣量是</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1050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元。 则设计一些测试用例，使它们恰好产生</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元和</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1050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元的结果。 此外，还可考虑设计结果为负值或大于</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1050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元的测试用例</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a:lnSpc>
                <a:spcPct val="120000"/>
              </a:lnSpc>
              <a:spcBef>
                <a:spcPct val="20000"/>
              </a:spcBef>
            </a:pP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8778289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5.3.3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选择测试用例时，可以遵循以下原则</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6758A776-F165-3E44-9717-B02056C2DD50}"/>
              </a:ext>
            </a:extLst>
          </p:cNvPr>
          <p:cNvSpPr txBox="1">
            <a:spLocks noChangeArrowheads="1"/>
          </p:cNvSpPr>
          <p:nvPr/>
        </p:nvSpPr>
        <p:spPr>
          <a:xfrm>
            <a:off x="1461995" y="2567522"/>
            <a:ext cx="6688045" cy="3769704"/>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984250" lvl="1" indent="-984250">
              <a:lnSpc>
                <a:spcPct val="140000"/>
              </a:lnSpc>
              <a:spcBef>
                <a:spcPts val="600"/>
              </a:spcBef>
              <a:spcAft>
                <a:spcPts val="600"/>
              </a:spcAft>
              <a:buNone/>
            </a:pPr>
            <a:r>
              <a:rPr lang="zh-CN" altLang="en-US" dirty="0">
                <a:solidFill>
                  <a:srgbClr val="000000"/>
                </a:solidFill>
                <a:latin typeface="微软雅黑" panose="020B0503020204020204" pitchFamily="34" charset="-122"/>
                <a:sym typeface="微软雅黑" panose="020B0503020204020204" pitchFamily="34" charset="-122"/>
              </a:rPr>
              <a:t>原则 </a:t>
            </a:r>
            <a:r>
              <a:rPr lang="en-US" altLang="zh-CN" dirty="0">
                <a:solidFill>
                  <a:srgbClr val="000000"/>
                </a:solidFill>
                <a:latin typeface="微软雅黑" panose="020B0503020204020204" pitchFamily="34" charset="-122"/>
                <a:sym typeface="微软雅黑" panose="020B0503020204020204" pitchFamily="34" charset="-122"/>
              </a:rPr>
              <a:t>4</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根据</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规格说明</a:t>
            </a:r>
            <a:r>
              <a:rPr lang="zh-CN" altLang="en-US" dirty="0">
                <a:solidFill>
                  <a:srgbClr val="C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的每个</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highlight>
                  <a:srgbClr val="FFFF00"/>
                </a:highlight>
                <a:latin typeface="微软雅黑" panose="020B0503020204020204" pitchFamily="34" charset="-122"/>
                <a:sym typeface="微软雅黑" panose="020B0503020204020204" pitchFamily="34" charset="-122"/>
              </a:rPr>
              <a:t>输</a:t>
            </a:r>
            <a:r>
              <a:rPr lang="zh-CN" altLang="en-US" dirty="0">
                <a:solidFill>
                  <a:srgbClr val="C00000"/>
                </a:solidFill>
                <a:highlight>
                  <a:srgbClr val="FFFF00"/>
                </a:highlight>
                <a:latin typeface="微软雅黑" panose="020B0503020204020204" pitchFamily="34" charset="-122"/>
                <a:sym typeface="微软雅黑" panose="020B0503020204020204" pitchFamily="34" charset="-122"/>
              </a:rPr>
              <a:t>出</a:t>
            </a:r>
            <a:r>
              <a:rPr lang="zh-CN" altLang="zh-CN" dirty="0">
                <a:solidFill>
                  <a:srgbClr val="C00000"/>
                </a:solidFill>
                <a:latin typeface="微软雅黑" panose="020B0503020204020204" pitchFamily="34" charset="-122"/>
                <a:sym typeface="微软雅黑" panose="020B0503020204020204" pitchFamily="34" charset="-122"/>
              </a:rPr>
              <a:t>条件</a:t>
            </a:r>
            <a:r>
              <a:rPr lang="zh-CN" altLang="en-US" dirty="0">
                <a:solidFill>
                  <a:srgbClr val="C00000"/>
                </a:solidFill>
                <a:latin typeface="微软雅黑" panose="020B0503020204020204" pitchFamily="34" charset="-122"/>
                <a:sym typeface="微软雅黑" panose="020B0503020204020204" pitchFamily="34" charset="-122"/>
              </a:rPr>
              <a:t>（</a:t>
            </a:r>
            <a:r>
              <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rPr>
              <a:t>规定个数</a:t>
            </a:r>
            <a:r>
              <a:rPr lang="zh-CN" altLang="en-US" dirty="0">
                <a:solidFill>
                  <a:srgbClr val="C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，使用原则</a:t>
            </a:r>
            <a:r>
              <a:rPr lang="zh-CN" altLang="en-US" dirty="0">
                <a:solidFill>
                  <a:srgbClr val="000000"/>
                </a:solidFill>
                <a:latin typeface="微软雅黑" panose="020B0503020204020204" pitchFamily="34" charset="-122"/>
                <a:sym typeface="微软雅黑" panose="020B0503020204020204" pitchFamily="34" charset="-122"/>
              </a:rPr>
              <a:t> </a:t>
            </a:r>
            <a:r>
              <a:rPr lang="en-US" altLang="zh-CN" dirty="0">
                <a:solidFill>
                  <a:srgbClr val="000000"/>
                </a:solidFill>
                <a:latin typeface="微软雅黑" panose="020B0503020204020204" pitchFamily="34" charset="-122"/>
                <a:sym typeface="微软雅黑" panose="020B0503020204020204" pitchFamily="34" charset="-122"/>
              </a:rPr>
              <a:t>2</a:t>
            </a:r>
          </a:p>
          <a:p>
            <a:pPr marL="935038" lvl="1" indent="-935038">
              <a:lnSpc>
                <a:spcPct val="140000"/>
              </a:lnSpc>
              <a:spcBef>
                <a:spcPts val="600"/>
              </a:spcBef>
              <a:spcAft>
                <a:spcPts val="600"/>
              </a:spcAft>
              <a:buNone/>
            </a:pP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ct val="20000"/>
              </a:spcBef>
            </a:pP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选拔推免研究生的程序，根据学生入学以来的成绩排序，从高分到低分选拔</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名，同时要求推免生的平均成绩不小于</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80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分且获得英语</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6</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级证书。则可设计一些测试用例，使输出的推免生的名单刚好</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名、</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名，也可考虑超过</a:t>
            </a: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30</a:t>
            </a:r>
            <a:r>
              <a:rPr lang="zh-CN"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名的情况</a:t>
            </a:r>
            <a:r>
              <a:rPr lang="zh-CN" altLang="en-US"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endPar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a:lnSpc>
                <a:spcPct val="120000"/>
              </a:lnSpc>
              <a:spcBef>
                <a:spcPct val="20000"/>
              </a:spcBef>
            </a:pPr>
            <a:r>
              <a:rPr lang="en-US" altLang="zh-CN" sz="21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2137850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5.3.3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边界值分析法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选择测试用例时，可以遵循以下原则</a:t>
            </a:r>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935038" lvl="1" indent="-935038">
              <a:lnSpc>
                <a:spcPct val="140000"/>
              </a:lnSpc>
              <a:spcBef>
                <a:spcPts val="600"/>
              </a:spcBef>
              <a:spcAft>
                <a:spcPts val="600"/>
              </a:spcAft>
              <a:buNone/>
            </a:pPr>
            <a:r>
              <a:rPr lang="zh-CN" altLang="en-US" dirty="0">
                <a:solidFill>
                  <a:srgbClr val="000000"/>
                </a:solidFill>
                <a:latin typeface="微软雅黑" panose="020B0503020204020204" pitchFamily="34" charset="-122"/>
                <a:sym typeface="微软雅黑" panose="020B0503020204020204" pitchFamily="34" charset="-122"/>
              </a:rPr>
              <a:t>原则 </a:t>
            </a:r>
            <a:r>
              <a:rPr lang="en-US" altLang="zh-CN" dirty="0">
                <a:solidFill>
                  <a:srgbClr val="000000"/>
                </a:solidFill>
                <a:latin typeface="微软雅黑" panose="020B0503020204020204" pitchFamily="34" charset="-122"/>
                <a:sym typeface="微软雅黑" panose="020B0503020204020204" pitchFamily="34" charset="-122"/>
              </a:rPr>
              <a:t>5</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如果程序的规格说明给出的</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输入域</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或</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highlight>
                  <a:srgbClr val="FFFF00"/>
                </a:highlight>
                <a:latin typeface="微软雅黑" panose="020B0503020204020204" pitchFamily="34" charset="-122"/>
                <a:sym typeface="微软雅黑" panose="020B0503020204020204" pitchFamily="34" charset="-122"/>
              </a:rPr>
              <a:t>输出域</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000000"/>
                </a:solidFill>
                <a:latin typeface="微软雅黑" panose="020B0503020204020204" pitchFamily="34" charset="-122"/>
                <a:sym typeface="微软雅黑" panose="020B0503020204020204" pitchFamily="34" charset="-122"/>
              </a:rPr>
              <a:t>是</a:t>
            </a:r>
            <a:r>
              <a:rPr lang="zh-CN" altLang="en-US" dirty="0">
                <a:solidFill>
                  <a:srgbClr val="000000"/>
                </a:solidFill>
                <a:latin typeface="微软雅黑" panose="020B0503020204020204" pitchFamily="34" charset="-122"/>
                <a:sym typeface="微软雅黑" panose="020B0503020204020204" pitchFamily="34" charset="-122"/>
              </a:rPr>
              <a:t> </a:t>
            </a:r>
            <a:r>
              <a:rPr lang="zh-CN" altLang="zh-CN" dirty="0">
                <a:solidFill>
                  <a:srgbClr val="C00000"/>
                </a:solidFill>
                <a:latin typeface="微软雅黑" panose="020B0503020204020204" pitchFamily="34" charset="-122"/>
                <a:sym typeface="微软雅黑" panose="020B0503020204020204" pitchFamily="34" charset="-122"/>
              </a:rPr>
              <a:t>有序集合</a:t>
            </a:r>
            <a:r>
              <a:rPr lang="zh-CN" altLang="zh-CN" dirty="0">
                <a:solidFill>
                  <a:srgbClr val="000000"/>
                </a:solidFill>
                <a:latin typeface="微软雅黑" panose="020B0503020204020204" pitchFamily="34" charset="-122"/>
                <a:sym typeface="微软雅黑" panose="020B0503020204020204" pitchFamily="34" charset="-122"/>
              </a:rPr>
              <a:t>，则应选取集合的第一个元素和最后一个元素作为测试用例</a:t>
            </a:r>
            <a:endParaRPr lang="en-US" altLang="zh-CN" dirty="0">
              <a:solidFill>
                <a:srgbClr val="000000"/>
              </a:solidFill>
              <a:latin typeface="微软雅黑" panose="020B0503020204020204" pitchFamily="34" charset="-122"/>
              <a:sym typeface="微软雅黑" panose="020B0503020204020204" pitchFamily="34" charset="-122"/>
            </a:endParaRPr>
          </a:p>
          <a:p>
            <a:pPr marL="935038" lvl="1" indent="-935038">
              <a:lnSpc>
                <a:spcPct val="140000"/>
              </a:lnSpc>
              <a:spcBef>
                <a:spcPts val="600"/>
              </a:spcBef>
              <a:spcAft>
                <a:spcPts val="600"/>
              </a:spcAft>
              <a:buNone/>
            </a:pPr>
            <a:r>
              <a:rPr lang="zh-CN" altLang="en-US" dirty="0">
                <a:solidFill>
                  <a:srgbClr val="000000"/>
                </a:solidFill>
                <a:latin typeface="微软雅黑" panose="020B0503020204020204" pitchFamily="34" charset="-122"/>
                <a:sym typeface="微软雅黑" panose="020B0503020204020204" pitchFamily="34" charset="-122"/>
              </a:rPr>
              <a:t>原则 </a:t>
            </a:r>
            <a:r>
              <a:rPr lang="en-US" altLang="zh-CN" dirty="0">
                <a:solidFill>
                  <a:srgbClr val="000000"/>
                </a:solidFill>
                <a:latin typeface="微软雅黑" panose="020B0503020204020204" pitchFamily="34" charset="-122"/>
                <a:sym typeface="微软雅黑" panose="020B0503020204020204" pitchFamily="34" charset="-122"/>
              </a:rPr>
              <a:t>6</a:t>
            </a:r>
            <a:r>
              <a:rPr lang="zh-CN" altLang="en-US" dirty="0">
                <a:solidFill>
                  <a:srgbClr val="000000"/>
                </a:solidFill>
                <a:latin typeface="微软雅黑" panose="020B0503020204020204" pitchFamily="34" charset="-122"/>
                <a:sym typeface="微软雅黑" panose="020B0503020204020204" pitchFamily="34" charset="-122"/>
              </a:rPr>
              <a:t>：</a:t>
            </a:r>
            <a:r>
              <a:rPr lang="zh-CN" altLang="zh-CN" dirty="0">
                <a:solidFill>
                  <a:srgbClr val="000000"/>
                </a:solidFill>
                <a:latin typeface="微软雅黑" panose="020B0503020204020204" pitchFamily="34" charset="-122"/>
                <a:sym typeface="微软雅黑" panose="020B0503020204020204" pitchFamily="34" charset="-122"/>
              </a:rPr>
              <a:t>如果程序中使用了一个</a:t>
            </a:r>
            <a:r>
              <a:rPr lang="zh-CN" altLang="zh-CN" dirty="0">
                <a:solidFill>
                  <a:srgbClr val="C00000"/>
                </a:solidFill>
                <a:latin typeface="微软雅黑" panose="020B0503020204020204" pitchFamily="34" charset="-122"/>
                <a:sym typeface="微软雅黑" panose="020B0503020204020204" pitchFamily="34" charset="-122"/>
              </a:rPr>
              <a:t>内部数据结构</a:t>
            </a:r>
            <a:r>
              <a:rPr lang="zh-CN" altLang="zh-CN" dirty="0">
                <a:solidFill>
                  <a:srgbClr val="000000"/>
                </a:solidFill>
                <a:latin typeface="微软雅黑" panose="020B0503020204020204" pitchFamily="34" charset="-122"/>
                <a:sym typeface="微软雅黑" panose="020B0503020204020204" pitchFamily="34" charset="-122"/>
              </a:rPr>
              <a:t>，则应当选择这个数据结构的边界值作为测试用例</a:t>
            </a: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ct val="20000"/>
              </a:spcBef>
            </a:pPr>
            <a:r>
              <a:rPr lang="zh-CN"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a:t>
            </a:r>
            <a:r>
              <a:rPr lang="zh-CN" altLang="en-US"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如果程序中定义了一个数组，其元素下标的下界是</a:t>
            </a:r>
            <a:r>
              <a:rPr lang="en-US"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，上界是</a:t>
            </a:r>
            <a:r>
              <a:rPr lang="en-US"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100</a:t>
            </a:r>
            <a:r>
              <a:rPr lang="zh-CN"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，那么应选择这个数组边界的值，</a:t>
            </a:r>
            <a:r>
              <a:rPr lang="en-US"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与</a:t>
            </a:r>
            <a:r>
              <a:rPr lang="en-US"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100</a:t>
            </a:r>
            <a:r>
              <a:rPr lang="zh-CN"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，作为测试用例</a:t>
            </a: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7031351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5.3.4</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错误推测法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错误推测法的基本思想</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2546090"/>
            <a:ext cx="6688045" cy="3769704"/>
          </a:xfrm>
          <a:prstGeom prst="rect">
            <a:avLst/>
          </a:prstGeom>
        </p:spPr>
        <p:txBody>
          <a:bodyPr vert="horz" lIns="91440" tIns="45720" rIns="91440" bIns="45720" rtlCol="0">
            <a:normAutofit fontScale="77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lvl="1" indent="-317500">
              <a:lnSpc>
                <a:spcPct val="140000"/>
              </a:lnSpc>
              <a:spcBef>
                <a:spcPts val="600"/>
              </a:spcBef>
              <a:spcAft>
                <a:spcPts val="600"/>
              </a:spcAft>
            </a:pPr>
            <a:r>
              <a:rPr lang="zh-CN" altLang="en-US" sz="2300" dirty="0">
                <a:solidFill>
                  <a:srgbClr val="000000"/>
                </a:solidFill>
                <a:latin typeface="微软雅黑" panose="020B0503020204020204" pitchFamily="34" charset="-122"/>
                <a:sym typeface="微软雅黑" panose="020B0503020204020204" pitchFamily="34" charset="-122"/>
              </a:rPr>
              <a:t>列举出程序中可能有的错误和容易发生错误的特殊情况，并且根据它们选择测试用例</a:t>
            </a:r>
            <a:endParaRPr lang="en-US" altLang="zh-CN" sz="2300" dirty="0">
              <a:solidFill>
                <a:srgbClr val="000000"/>
              </a:solidFill>
              <a:latin typeface="微软雅黑" panose="020B0503020204020204" pitchFamily="34" charset="-122"/>
              <a:sym typeface="微软雅黑" panose="020B0503020204020204" pitchFamily="34" charset="-122"/>
            </a:endParaRPr>
          </a:p>
          <a:p>
            <a:pPr marL="317500" lvl="1" indent="-317500">
              <a:lnSpc>
                <a:spcPct val="140000"/>
              </a:lnSpc>
              <a:spcBef>
                <a:spcPts val="600"/>
              </a:spcBef>
              <a:spcAft>
                <a:spcPts val="600"/>
              </a:spcAft>
            </a:pPr>
            <a:r>
              <a:rPr lang="zh-CN" altLang="en-US" sz="2300" dirty="0">
                <a:solidFill>
                  <a:srgbClr val="000000"/>
                </a:solidFill>
                <a:latin typeface="微软雅黑" panose="020B0503020204020204" pitchFamily="34" charset="-122"/>
                <a:sym typeface="微软雅黑" panose="020B0503020204020204" pitchFamily="34" charset="-122"/>
              </a:rPr>
              <a:t>人们往往在程序设计过程中，会</a:t>
            </a:r>
            <a:r>
              <a:rPr lang="zh-CN" altLang="en-US" sz="2300" dirty="0">
                <a:solidFill>
                  <a:srgbClr val="000000"/>
                </a:solidFill>
                <a:highlight>
                  <a:srgbClr val="FFFF00"/>
                </a:highlight>
                <a:latin typeface="微软雅黑" panose="020B0503020204020204" pitchFamily="34" charset="-122"/>
                <a:sym typeface="微软雅黑" panose="020B0503020204020204" pitchFamily="34" charset="-122"/>
              </a:rPr>
              <a:t>总结出一些容易出错的情况</a:t>
            </a:r>
            <a:endParaRPr lang="en-US" altLang="zh-CN" sz="2300" dirty="0">
              <a:solidFill>
                <a:srgbClr val="000000"/>
              </a:solidFill>
              <a:highlight>
                <a:srgbClr val="FFFF00"/>
              </a:highlight>
              <a:latin typeface="微软雅黑" panose="020B0503020204020204" pitchFamily="34" charset="-122"/>
              <a:sym typeface="微软雅黑" panose="020B0503020204020204" pitchFamily="34" charset="-122"/>
            </a:endParaRPr>
          </a:p>
          <a:p>
            <a:pPr marL="317500" lvl="1" indent="-317500">
              <a:lnSpc>
                <a:spcPct val="140000"/>
              </a:lnSpc>
              <a:spcBef>
                <a:spcPts val="600"/>
              </a:spcBef>
              <a:spcAft>
                <a:spcPts val="600"/>
              </a:spcAft>
            </a:pPr>
            <a:endParaRPr lang="en-US" altLang="zh-CN" dirty="0">
              <a:solidFill>
                <a:srgbClr val="000000"/>
              </a:solidFill>
              <a:latin typeface="微软雅黑" panose="020B0503020204020204" pitchFamily="34" charset="-122"/>
              <a:sym typeface="微软雅黑" panose="020B0503020204020204" pitchFamily="34" charset="-122"/>
            </a:endParaRPr>
          </a:p>
          <a:p>
            <a:pPr>
              <a:lnSpc>
                <a:spcPct val="136000"/>
              </a:lnSpc>
              <a:spcBef>
                <a:spcPct val="20000"/>
              </a:spcBef>
            </a:pPr>
            <a:r>
              <a:rPr lang="zh-CN" altLang="en-US"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a:t>
            </a:r>
            <a:r>
              <a:rPr lang="zh-CN" altLang="en-US" sz="23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输入数据为零</a:t>
            </a:r>
            <a:r>
              <a:rPr lang="zh-CN" altLang="en-US"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或</a:t>
            </a:r>
            <a:r>
              <a:rPr lang="zh-CN" altLang="en-US" sz="23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输出数据为零</a:t>
            </a:r>
            <a:r>
              <a:rPr lang="zh-CN" altLang="en-US"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，往往容易发生错误；</a:t>
            </a:r>
          </a:p>
          <a:p>
            <a:pPr>
              <a:lnSpc>
                <a:spcPct val="136000"/>
              </a:lnSpc>
              <a:spcBef>
                <a:spcPct val="20000"/>
              </a:spcBef>
            </a:pPr>
            <a:r>
              <a:rPr lang="zh-CN" altLang="en-US"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例如，如果输入或输出的数目允许变化（例如，被检索的或生成表的项数），则输入或输出的数目为</a:t>
            </a:r>
            <a:r>
              <a:rPr lang="en-US" altLang="zh-CN"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0</a:t>
            </a:r>
            <a:r>
              <a:rPr lang="zh-CN" altLang="en-US"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和</a:t>
            </a:r>
            <a:r>
              <a:rPr lang="en-US" altLang="zh-CN"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en-US" sz="23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的情况，是容易出错的情况（例如，表为空或只有一项）</a:t>
            </a:r>
            <a:endParaRPr lang="zh-CN"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1383609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5.3.4</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错误推测法</a:t>
            </a:r>
          </a:p>
        </p:txBody>
      </p:sp>
      <p:sp>
        <p:nvSpPr>
          <p:cNvPr id="9" name="Rectangle 7">
            <a:extLst>
              <a:ext uri="{FF2B5EF4-FFF2-40B4-BE49-F238E27FC236}">
                <a16:creationId xmlns:a16="http://schemas.microsoft.com/office/drawing/2014/main" id="{A248C453-C62A-CB48-87FA-7C3A75AD3D4E}"/>
              </a:ext>
            </a:extLst>
          </p:cNvPr>
          <p:cNvSpPr txBox="1">
            <a:spLocks noChangeArrowheads="1"/>
          </p:cNvSpPr>
          <p:nvPr/>
        </p:nvSpPr>
        <p:spPr>
          <a:xfrm>
            <a:off x="1461995" y="1767218"/>
            <a:ext cx="6688045" cy="233941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36000"/>
              </a:lnSpc>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例如，对一个排序的程序，可能出错的情况有：</a:t>
            </a: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）输入表为空的情况</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2</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）输入表中只有一行</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）输入表中所有的行都具有相同的值</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4</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）输入表已经排好序</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342900" lvl="1" indent="-342900">
              <a:lnSpc>
                <a:spcPct val="120000"/>
              </a:lnSpc>
              <a:spcBef>
                <a:spcPts val="900"/>
              </a:spcBef>
            </a:pP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10" name="Rectangle 7">
            <a:extLst>
              <a:ext uri="{FF2B5EF4-FFF2-40B4-BE49-F238E27FC236}">
                <a16:creationId xmlns:a16="http://schemas.microsoft.com/office/drawing/2014/main" id="{AF047928-7171-DC4E-982A-F1763C55A334}"/>
              </a:ext>
            </a:extLst>
          </p:cNvPr>
          <p:cNvSpPr txBox="1">
            <a:spLocks noChangeArrowheads="1"/>
          </p:cNvSpPr>
          <p:nvPr/>
        </p:nvSpPr>
        <p:spPr>
          <a:xfrm>
            <a:off x="1461994" y="4198309"/>
            <a:ext cx="6688045" cy="195756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36000"/>
              </a:lnSpc>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又如，测试一个采用二分法的检索程序，需要考虑的情况有：</a:t>
            </a: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）表中只有一个元素</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2</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）表长是</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2</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的幂</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3</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）表长是</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2</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的幂减</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或</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2</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的幂加</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1</a:t>
            </a:r>
          </a:p>
        </p:txBody>
      </p:sp>
    </p:spTree>
    <p:extLst>
      <p:ext uri="{BB962C8B-B14F-4D97-AF65-F5344CB8AC3E}">
        <p14:creationId xmlns:p14="http://schemas.microsoft.com/office/powerpoint/2010/main" val="35250041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5.3 </a:t>
            </a:r>
            <a:r>
              <a:rPr lang="zh-CN" altLang="en-US" sz="2800" dirty="0">
                <a:solidFill>
                  <a:srgbClr val="4E8F00"/>
                </a:solidFill>
              </a:rPr>
              <a:t> </a:t>
            </a:r>
            <a:r>
              <a:rPr lang="zh-CN" altLang="en-US" sz="2800" dirty="0">
                <a:solidFill>
                  <a:srgbClr val="4E8F00"/>
                </a:solidFill>
                <a:sym typeface="微软雅黑" panose="020B0503020204020204" pitchFamily="34" charset="-122"/>
              </a:rPr>
              <a:t>黑盒测试方法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5.3.4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错误推测法</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239173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1512888" indent="-1512888"/>
            <a:r>
              <a:rPr lang="zh-CN" altLang="en-US" sz="2000" dirty="0">
                <a:solidFill>
                  <a:srgbClr val="CC6600"/>
                </a:solidFill>
                <a:sym typeface="微软雅黑" panose="020B0503020204020204" pitchFamily="34" charset="-122"/>
              </a:rPr>
              <a:t>错误推测法：</a:t>
            </a:r>
            <a:r>
              <a:rPr lang="zh-CN" altLang="en-US" sz="2000" dirty="0">
                <a:solidFill>
                  <a:srgbClr val="000000"/>
                </a:solidFill>
                <a:latin typeface="微软雅黑" panose="020B0503020204020204" pitchFamily="34" charset="-122"/>
                <a:sym typeface="微软雅黑" panose="020B0503020204020204" pitchFamily="34" charset="-122"/>
              </a:rPr>
              <a:t>是一种简单易行的黑盒测试法，但由于该方法有较大的</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随意性</a:t>
            </a:r>
            <a:r>
              <a:rPr lang="zh-CN" altLang="en-US" sz="2000" dirty="0">
                <a:solidFill>
                  <a:srgbClr val="000000"/>
                </a:solidFill>
                <a:latin typeface="微软雅黑" panose="020B0503020204020204" pitchFamily="34" charset="-122"/>
                <a:sym typeface="微软雅黑" panose="020B0503020204020204" pitchFamily="34" charset="-122"/>
              </a:rPr>
              <a:t>，必须根据具体情况具体分析，主要依赖于测试者的经验，因此，通常它作为一种</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辅助</a:t>
            </a:r>
            <a:r>
              <a:rPr lang="zh-CN" altLang="en-US" sz="2000" dirty="0">
                <a:solidFill>
                  <a:srgbClr val="000000"/>
                </a:solidFill>
                <a:latin typeface="微软雅黑" panose="020B0503020204020204" pitchFamily="34" charset="-122"/>
                <a:sym typeface="微软雅黑" panose="020B0503020204020204" pitchFamily="34" charset="-122"/>
              </a:rPr>
              <a:t>的黑盒测试方法</a:t>
            </a:r>
            <a:endParaRPr lang="en-US" altLang="zh-CN"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40800605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补： </a:t>
            </a:r>
            <a:r>
              <a:rPr lang="zh-CN" altLang="en-US" sz="2800" dirty="0">
                <a:solidFill>
                  <a:srgbClr val="4E8F00"/>
                </a:solidFill>
                <a:sym typeface="微软雅黑" panose="020B0503020204020204" pitchFamily="34" charset="-122"/>
              </a:rPr>
              <a:t>灰盒测试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67</a:t>
            </a:fld>
            <a:endParaRPr lang="zh-CN" altLang="en-US"/>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239173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1200150" indent="-1200150" algn="just"/>
            <a:r>
              <a:rPr lang="zh-CN" altLang="en-US" sz="2000" dirty="0">
                <a:solidFill>
                  <a:srgbClr val="CC6600"/>
                </a:solidFill>
              </a:rPr>
              <a:t>灰盒测试</a:t>
            </a:r>
            <a:r>
              <a:rPr lang="zh-CN" altLang="en-US" sz="1600" dirty="0">
                <a:solidFill>
                  <a:srgbClr val="CC6600"/>
                </a:solidFill>
                <a:sym typeface="微软雅黑" panose="020B0503020204020204" pitchFamily="34" charset="-122"/>
              </a:rPr>
              <a:t>：</a:t>
            </a:r>
            <a:r>
              <a:rPr lang="zh-CN" altLang="en-US" sz="1800" dirty="0">
                <a:solidFill>
                  <a:srgbClr val="000000"/>
                </a:solidFill>
                <a:latin typeface="微软雅黑" panose="020B0503020204020204" pitchFamily="34" charset="-122"/>
              </a:rPr>
              <a:t>是介于 </a:t>
            </a:r>
            <a:r>
              <a:rPr lang="zh-CN" altLang="en-US" sz="1800" dirty="0">
                <a:solidFill>
                  <a:schemeClr val="accent5">
                    <a:lumMod val="75000"/>
                  </a:schemeClr>
                </a:solidFill>
                <a:latin typeface="微软雅黑" panose="020B0503020204020204" pitchFamily="34" charset="-122"/>
              </a:rPr>
              <a:t>白盒测试 </a:t>
            </a:r>
            <a:r>
              <a:rPr lang="zh-CN" altLang="en-US" sz="1800" dirty="0">
                <a:solidFill>
                  <a:srgbClr val="000000"/>
                </a:solidFill>
                <a:latin typeface="微软雅黑" panose="020B0503020204020204" pitchFamily="34" charset="-122"/>
              </a:rPr>
              <a:t>与 </a:t>
            </a:r>
            <a:r>
              <a:rPr lang="zh-CN" altLang="en-US" sz="1800" dirty="0">
                <a:solidFill>
                  <a:schemeClr val="accent5">
                    <a:lumMod val="75000"/>
                  </a:schemeClr>
                </a:solidFill>
                <a:latin typeface="微软雅黑" panose="020B0503020204020204" pitchFamily="34" charset="-122"/>
              </a:rPr>
              <a:t>黑盒测试 </a:t>
            </a:r>
            <a:r>
              <a:rPr lang="zh-CN" altLang="en-US" sz="1800" dirty="0">
                <a:solidFill>
                  <a:srgbClr val="000000"/>
                </a:solidFill>
                <a:latin typeface="微软雅黑" panose="020B0503020204020204" pitchFamily="34" charset="-122"/>
              </a:rPr>
              <a:t>之间的一种测试，灰盒测试多用于 </a:t>
            </a:r>
            <a:r>
              <a:rPr lang="zh-CN" altLang="en-US" sz="1800" dirty="0">
                <a:solidFill>
                  <a:srgbClr val="C00000"/>
                </a:solidFill>
                <a:latin typeface="微软雅黑" panose="020B0503020204020204" pitchFamily="34" charset="-122"/>
              </a:rPr>
              <a:t>集成测试 </a:t>
            </a:r>
            <a:r>
              <a:rPr lang="zh-CN" altLang="en-US" sz="1800" dirty="0">
                <a:solidFill>
                  <a:srgbClr val="000000"/>
                </a:solidFill>
                <a:latin typeface="微软雅黑" panose="020B0503020204020204" pitchFamily="34" charset="-122"/>
              </a:rPr>
              <a:t>阶段，不仅关注输出、输入的正确性，同时也关注程序内部的情况。灰盒测试不像白盒那样详细、完整，但又比黑盒测试更关注程序的内部逻辑，常常是通过一些表征性的现象、事件、标志来判断内部的运行状态</a:t>
            </a:r>
            <a:endParaRPr lang="en-US" altLang="zh-CN" sz="1800" dirty="0">
              <a:solidFill>
                <a:srgbClr val="000000"/>
              </a:solidFill>
              <a:latin typeface="微软雅黑" panose="020B0503020204020204" pitchFamily="34" charset="-122"/>
              <a:sym typeface="微软雅黑" panose="020B0503020204020204" pitchFamily="34" charset="-122"/>
            </a:endParaRPr>
          </a:p>
          <a:p>
            <a:pPr marL="849313" indent="-849313"/>
            <a:endParaRPr lang="en-US" altLang="en-US" sz="1600" dirty="0">
              <a:solidFill>
                <a:srgbClr val="CC6600"/>
              </a:solidFill>
              <a:sym typeface="微软雅黑" panose="020B0503020204020204" pitchFamily="34" charset="-122"/>
            </a:endParaRPr>
          </a:p>
          <a:p>
            <a:pPr marL="849313" indent="-849313"/>
            <a:endParaRPr lang="en-US" altLang="zh-CN" sz="1600" dirty="0">
              <a:solidFill>
                <a:srgbClr val="CC6600"/>
              </a:solidFill>
              <a:sym typeface="微软雅黑" panose="020B0503020204020204" pitchFamily="34" charset="-122"/>
            </a:endParaRPr>
          </a:p>
          <a:p>
            <a:pPr marL="849313" indent="-849313"/>
            <a:endParaRPr lang="en-US" altLang="zh-CN" sz="1600" dirty="0">
              <a:solidFill>
                <a:srgbClr val="CC6600"/>
              </a:solidFill>
              <a:sym typeface="微软雅黑" panose="020B0503020204020204" pitchFamily="34" charset="-122"/>
            </a:endParaRPr>
          </a:p>
          <a:p>
            <a:pPr marL="849313" indent="-849313"/>
            <a:endParaRPr lang="zh-CN" altLang="en-US" sz="16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37447383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5</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软件测试</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5.1</a:t>
            </a:r>
            <a:r>
              <a:rPr lang="zh-CN" altLang="en-US" dirty="0">
                <a:solidFill>
                  <a:srgbClr val="4E8F00"/>
                </a:solidFill>
                <a:sym typeface="微软雅黑" panose="020B0503020204020204" pitchFamily="34" charset="-122"/>
              </a:rPr>
              <a:t>  软件测试的基本概念</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5.2  </a:t>
            </a:r>
            <a:r>
              <a:rPr lang="zh-CN" altLang="en-US" dirty="0">
                <a:solidFill>
                  <a:srgbClr val="4E8F00"/>
                </a:solidFill>
                <a:sym typeface="微软雅黑" panose="020B0503020204020204" pitchFamily="34" charset="-122"/>
              </a:rPr>
              <a:t>白盒测试方法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5.3  </a:t>
            </a:r>
            <a:r>
              <a:rPr lang="zh-CN" altLang="en-US" dirty="0">
                <a:solidFill>
                  <a:srgbClr val="4E8F00"/>
                </a:solidFill>
                <a:sym typeface="微软雅黑" panose="020B0503020204020204" pitchFamily="34" charset="-122"/>
              </a:rPr>
              <a:t>黑盒测试方法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effectLst>
                  <a:glow rad="228600">
                    <a:schemeClr val="accent6">
                      <a:satMod val="175000"/>
                      <a:alpha val="40000"/>
                    </a:schemeClr>
                  </a:glow>
                </a:effectLst>
                <a:sym typeface="微软雅黑" panose="020B0503020204020204" pitchFamily="34" charset="-122"/>
              </a:rPr>
              <a:t>5.4  </a:t>
            </a:r>
            <a:r>
              <a:rPr lang="zh-CN" altLang="en-US" dirty="0">
                <a:solidFill>
                  <a:srgbClr val="4E8F00"/>
                </a:solidFill>
                <a:effectLst>
                  <a:glow rad="228600">
                    <a:schemeClr val="accent6">
                      <a:satMod val="175000"/>
                      <a:alpha val="40000"/>
                    </a:schemeClr>
                  </a:glow>
                </a:effectLst>
                <a:sym typeface="微软雅黑" panose="020B0503020204020204" pitchFamily="34" charset="-122"/>
              </a:rPr>
              <a:t>软件测试的基本过程</a:t>
            </a:r>
          </a:p>
          <a:p>
            <a:pPr>
              <a:spcBef>
                <a:spcPts val="1200"/>
              </a:spcBef>
            </a:pPr>
            <a:r>
              <a:rPr lang="en-US" altLang="zh-CN" dirty="0">
                <a:solidFill>
                  <a:srgbClr val="4E8F00"/>
                </a:solidFill>
                <a:sym typeface="微软雅黑" panose="020B0503020204020204" pitchFamily="34" charset="-122"/>
              </a:rPr>
              <a:t>5.5  </a:t>
            </a:r>
            <a:r>
              <a:rPr lang="zh-CN" altLang="en-US" dirty="0">
                <a:solidFill>
                  <a:srgbClr val="4E8F00"/>
                </a:solidFill>
                <a:sym typeface="微软雅黑" panose="020B0503020204020204" pitchFamily="34" charset="-122"/>
              </a:rPr>
              <a:t>软件调试</a:t>
            </a:r>
          </a:p>
          <a:p>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68</a:t>
            </a:fld>
            <a:endParaRPr lang="zh-CN" altLang="en-US"/>
          </a:p>
        </p:txBody>
      </p:sp>
    </p:spTree>
    <p:extLst>
      <p:ext uri="{BB962C8B-B14F-4D97-AF65-F5344CB8AC3E}">
        <p14:creationId xmlns:p14="http://schemas.microsoft.com/office/powerpoint/2010/main" val="6064672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69</a:t>
            </a:fld>
            <a:endParaRPr lang="zh-CN" altLang="en-US"/>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278652" y="1449528"/>
            <a:ext cx="6688045" cy="1289557"/>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7938" indent="-7938"/>
            <a:r>
              <a:rPr lang="zh-CN" altLang="en-US" sz="2000" dirty="0">
                <a:solidFill>
                  <a:srgbClr val="000000"/>
                </a:solidFill>
                <a:latin typeface="微软雅黑" panose="020B0503020204020204" pitchFamily="34" charset="-122"/>
                <a:sym typeface="微软雅黑" panose="020B0503020204020204" pitchFamily="34" charset="-122"/>
              </a:rPr>
              <a:t>软件测试过程按测试的先后次序，可分为</a:t>
            </a:r>
            <a:r>
              <a:rPr lang="en-US" altLang="zh-CN" sz="2000" dirty="0">
                <a:solidFill>
                  <a:srgbClr val="000000"/>
                </a:solidFill>
                <a:latin typeface="微软雅黑" panose="020B0503020204020204" pitchFamily="34" charset="-122"/>
                <a:sym typeface="微软雅黑" panose="020B0503020204020204" pitchFamily="34" charset="-122"/>
              </a:rPr>
              <a:t>5</a:t>
            </a:r>
            <a:r>
              <a:rPr lang="zh-CN" altLang="en-US" sz="2000" dirty="0">
                <a:solidFill>
                  <a:srgbClr val="000000"/>
                </a:solidFill>
                <a:latin typeface="微软雅黑" panose="020B0503020204020204" pitchFamily="34" charset="-122"/>
                <a:sym typeface="微软雅黑" panose="020B0503020204020204" pitchFamily="34" charset="-122"/>
              </a:rPr>
              <a:t>个步骤：</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单元测试</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集成测试</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确认测试</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系统测试</a:t>
            </a:r>
            <a:r>
              <a:rPr lang="zh-CN" altLang="en-US" sz="2000" dirty="0">
                <a:solidFill>
                  <a:srgbClr val="000000"/>
                </a:solidFill>
                <a:latin typeface="微软雅黑" panose="020B0503020204020204" pitchFamily="34" charset="-122"/>
                <a:sym typeface="微软雅黑" panose="020B0503020204020204" pitchFamily="34" charset="-122"/>
              </a:rPr>
              <a:t>和</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验收测试</a:t>
            </a:r>
            <a:endParaRPr lang="en-US" altLang="en-US" sz="2000" dirty="0">
              <a:solidFill>
                <a:srgbClr val="CC6600"/>
              </a:solidFill>
              <a:highlight>
                <a:srgbClr val="FFFF00"/>
              </a:highlight>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grpSp>
        <p:nvGrpSpPr>
          <p:cNvPr id="3" name="组合 2">
            <a:extLst>
              <a:ext uri="{FF2B5EF4-FFF2-40B4-BE49-F238E27FC236}">
                <a16:creationId xmlns:a16="http://schemas.microsoft.com/office/drawing/2014/main" id="{020EBEBD-A314-9541-AFAC-B514F40FCCCE}"/>
              </a:ext>
            </a:extLst>
          </p:cNvPr>
          <p:cNvGrpSpPr/>
          <p:nvPr/>
        </p:nvGrpSpPr>
        <p:grpSpPr>
          <a:xfrm>
            <a:off x="1073823" y="3192857"/>
            <a:ext cx="7097705" cy="2773816"/>
            <a:chOff x="1073823" y="3192857"/>
            <a:chExt cx="7097705" cy="2773816"/>
          </a:xfrm>
        </p:grpSpPr>
        <p:pic>
          <p:nvPicPr>
            <p:cNvPr id="9" name="Picture 2" descr="rjgc-tp-xxnr-050501-01">
              <a:extLst>
                <a:ext uri="{FF2B5EF4-FFF2-40B4-BE49-F238E27FC236}">
                  <a16:creationId xmlns:a16="http://schemas.microsoft.com/office/drawing/2014/main" id="{E587DCD6-2A16-3148-80CB-880BA5FF5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823" y="3192857"/>
              <a:ext cx="7097705" cy="277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A86A9B2-DFC3-874A-98AE-F0779CA4C3EB}"/>
                </a:ext>
              </a:extLst>
            </p:cNvPr>
            <p:cNvSpPr/>
            <p:nvPr/>
          </p:nvSpPr>
          <p:spPr>
            <a:xfrm>
              <a:off x="385858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41819C40-1177-7F49-A2E6-6C5443A9FC64}"/>
                </a:ext>
              </a:extLst>
            </p:cNvPr>
            <p:cNvSpPr/>
            <p:nvPr/>
          </p:nvSpPr>
          <p:spPr>
            <a:xfrm>
              <a:off x="50985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297D7350-EE9A-0E47-A926-21D7E413CB98}"/>
                </a:ext>
              </a:extLst>
            </p:cNvPr>
            <p:cNvSpPr/>
            <p:nvPr/>
          </p:nvSpPr>
          <p:spPr>
            <a:xfrm>
              <a:off x="63939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E364497F-6179-1D40-B4F5-EE9FAED00521}"/>
                </a:ext>
              </a:extLst>
            </p:cNvPr>
            <p:cNvSpPr/>
            <p:nvPr/>
          </p:nvSpPr>
          <p:spPr>
            <a:xfrm>
              <a:off x="763662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14908997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70</a:t>
            </a:fld>
            <a:endParaRPr lang="zh-CN" altLang="en-US"/>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249335"/>
            <a:ext cx="6858194" cy="435932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1244600" indent="-1244600">
              <a:lnSpc>
                <a:spcPct val="120000"/>
              </a:lnSpc>
            </a:pPr>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1</a:t>
            </a:r>
            <a:r>
              <a:rPr lang="zh-CN" altLang="en-US" sz="2000" dirty="0">
                <a:solidFill>
                  <a:srgbClr val="CC6600"/>
                </a:solidFill>
                <a:sym typeface="微软雅黑" panose="020B0503020204020204" pitchFamily="34" charset="-122"/>
              </a:rPr>
              <a:t>）单元测试</a:t>
            </a:r>
            <a:endParaRPr lang="en-US" altLang="zh-CN" sz="2000" dirty="0">
              <a:solidFill>
                <a:srgbClr val="CC6600"/>
              </a:solidFill>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分别完成每个单元的测试任务，以确保每个模块能正常工作</a:t>
            </a:r>
            <a:endParaRPr lang="en-US" altLang="zh-CN" sz="1800" dirty="0">
              <a:solidFill>
                <a:srgbClr val="000000"/>
              </a:solidFill>
              <a:latin typeface="微软雅黑" panose="020B0503020204020204" pitchFamily="34" charset="-122"/>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大量地采用了</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白盒测试</a:t>
            </a:r>
            <a:r>
              <a:rPr lang="zh-CN" altLang="en-US" sz="1800" dirty="0">
                <a:solidFill>
                  <a:srgbClr val="000000"/>
                </a:solidFill>
                <a:latin typeface="微软雅黑" panose="020B0503020204020204" pitchFamily="34" charset="-122"/>
                <a:sym typeface="微软雅黑" panose="020B0503020204020204" pitchFamily="34" charset="-122"/>
              </a:rPr>
              <a:t>方法，尽可能发现模块内部的程序差错</a:t>
            </a:r>
            <a:endParaRPr lang="en-US" altLang="zh-CN" sz="1800" dirty="0">
              <a:solidFill>
                <a:srgbClr val="000000"/>
              </a:solidFill>
              <a:latin typeface="微软雅黑" panose="020B0503020204020204" pitchFamily="34" charset="-122"/>
              <a:sym typeface="微软雅黑" panose="020B0503020204020204" pitchFamily="34" charset="-122"/>
            </a:endParaRPr>
          </a:p>
          <a:p>
            <a:pPr marL="1244600" indent="-1244600">
              <a:spcBef>
                <a:spcPts val="1200"/>
              </a:spcBef>
            </a:pPr>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2</a:t>
            </a:r>
            <a:r>
              <a:rPr lang="zh-CN" altLang="en-US" sz="2000" dirty="0">
                <a:solidFill>
                  <a:srgbClr val="CC6600"/>
                </a:solidFill>
                <a:sym typeface="微软雅黑" panose="020B0503020204020204" pitchFamily="34" charset="-122"/>
              </a:rPr>
              <a:t>）集成测试</a:t>
            </a:r>
            <a:endParaRPr lang="en-US" altLang="zh-CN" sz="2000" dirty="0">
              <a:solidFill>
                <a:srgbClr val="CC6600"/>
              </a:solidFill>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将已测试过的单元模块，按照一定的顺序组装成系统，同时进行测试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集成测试的重点：是模块间的相互通信与协调，这时较多地采用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黑盒测试</a:t>
            </a:r>
            <a:r>
              <a:rPr lang="zh-CN" altLang="en-US" sz="1800" dirty="0">
                <a:solidFill>
                  <a:srgbClr val="000000"/>
                </a:solidFill>
                <a:latin typeface="微软雅黑" panose="020B0503020204020204" pitchFamily="34" charset="-122"/>
                <a:sym typeface="微软雅黑" panose="020B0503020204020204" pitchFamily="34" charset="-122"/>
              </a:rPr>
              <a:t>（或灰盒测试）方法来设计测试用例</a:t>
            </a:r>
            <a:endParaRPr lang="en-US" altLang="zh-CN" sz="1800" dirty="0">
              <a:solidFill>
                <a:srgbClr val="000000"/>
              </a:solidFill>
              <a:latin typeface="微软雅黑" panose="020B0503020204020204" pitchFamily="34" charset="-122"/>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13974895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71</a:t>
            </a:fld>
            <a:endParaRPr lang="zh-CN" altLang="en-US"/>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210866"/>
            <a:ext cx="7090463" cy="5298223"/>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1244600" indent="-1244600">
              <a:lnSpc>
                <a:spcPct val="120000"/>
              </a:lnSpc>
            </a:pPr>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3</a:t>
            </a:r>
            <a:r>
              <a:rPr lang="zh-CN" altLang="en-US" sz="2000" dirty="0">
                <a:solidFill>
                  <a:srgbClr val="CC6600"/>
                </a:solidFill>
                <a:sym typeface="微软雅黑" panose="020B0503020204020204" pitchFamily="34" charset="-122"/>
              </a:rPr>
              <a:t>）确认测试</a:t>
            </a:r>
            <a:endParaRPr lang="en-US" altLang="zh-CN" sz="2000" dirty="0">
              <a:solidFill>
                <a:srgbClr val="CC6600"/>
              </a:solidFill>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完成集成测试以后，要对开发工作初期制定的确认标准进行检验</a:t>
            </a:r>
            <a:endParaRPr lang="en-US" altLang="zh-CN" sz="1800" dirty="0">
              <a:solidFill>
                <a:srgbClr val="000000"/>
              </a:solidFill>
              <a:latin typeface="微软雅黑" panose="020B0503020204020204" pitchFamily="34" charset="-122"/>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确认测试：是检验所开发的软件，能否满足所有功能和性能需求的最后手段，通常均采用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黑盒测试</a:t>
            </a:r>
            <a:r>
              <a:rPr lang="zh-CN" altLang="en-US" sz="1800" dirty="0">
                <a:solidFill>
                  <a:srgbClr val="000000"/>
                </a:solidFill>
                <a:latin typeface="微软雅黑" panose="020B0503020204020204" pitchFamily="34" charset="-122"/>
                <a:sym typeface="微软雅黑" panose="020B0503020204020204" pitchFamily="34" charset="-122"/>
              </a:rPr>
              <a:t>方法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1244600" indent="-1244600">
              <a:spcBef>
                <a:spcPts val="1200"/>
              </a:spcBef>
            </a:pPr>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4</a:t>
            </a:r>
            <a:r>
              <a:rPr lang="zh-CN" altLang="en-US" sz="2000" dirty="0">
                <a:solidFill>
                  <a:srgbClr val="CC6600"/>
                </a:solidFill>
                <a:sym typeface="微软雅黑" panose="020B0503020204020204" pitchFamily="34" charset="-122"/>
              </a:rPr>
              <a:t>）系统测试</a:t>
            </a:r>
            <a:endParaRPr lang="en-US" altLang="zh-CN" sz="2000" dirty="0">
              <a:solidFill>
                <a:srgbClr val="CC6600"/>
              </a:solidFill>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确认测试以后，给出的应该是合格的软件产品，但为检验它能否与</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系统的其他部分</a:t>
            </a:r>
            <a:r>
              <a:rPr lang="zh-CN" altLang="en-US" sz="1800" dirty="0">
                <a:solidFill>
                  <a:srgbClr val="000000"/>
                </a:solidFill>
                <a:latin typeface="微软雅黑" panose="020B0503020204020204" pitchFamily="34" charset="-122"/>
                <a:sym typeface="微软雅黑" panose="020B0503020204020204" pitchFamily="34" charset="-122"/>
              </a:rPr>
              <a:t>（如：硬件，数据库及操作人员）协调工作，需要进行系统测试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1244600" indent="-1244600">
              <a:spcBef>
                <a:spcPts val="1200"/>
              </a:spcBef>
            </a:pPr>
            <a:r>
              <a:rPr lang="zh-CN" altLang="en-US" sz="2100" dirty="0">
                <a:solidFill>
                  <a:srgbClr val="CC6600"/>
                </a:solidFill>
                <a:sym typeface="微软雅黑" panose="020B0503020204020204" pitchFamily="34" charset="-122"/>
              </a:rPr>
              <a:t>（</a:t>
            </a:r>
            <a:r>
              <a:rPr lang="en-US" altLang="zh-CN" sz="2100" dirty="0">
                <a:solidFill>
                  <a:srgbClr val="CC6600"/>
                </a:solidFill>
                <a:sym typeface="微软雅黑" panose="020B0503020204020204" pitchFamily="34" charset="-122"/>
              </a:rPr>
              <a:t>5</a:t>
            </a:r>
            <a:r>
              <a:rPr lang="zh-CN" altLang="en-US" sz="2100" dirty="0">
                <a:solidFill>
                  <a:srgbClr val="CC6600"/>
                </a:solidFill>
                <a:sym typeface="微软雅黑" panose="020B0503020204020204" pitchFamily="34" charset="-122"/>
              </a:rPr>
              <a:t>）验收测试</a:t>
            </a:r>
            <a:endParaRPr lang="en-US" altLang="zh-CN" sz="2100" dirty="0">
              <a:solidFill>
                <a:srgbClr val="CC6600"/>
              </a:solidFill>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是检验软件产品质量的最后一道工序</a:t>
            </a:r>
            <a:endParaRPr lang="en-US" altLang="zh-CN" sz="1800" dirty="0">
              <a:solidFill>
                <a:srgbClr val="000000"/>
              </a:solidFill>
              <a:latin typeface="微软雅黑" panose="020B0503020204020204" pitchFamily="34" charset="-122"/>
              <a:sym typeface="微软雅黑" panose="020B0503020204020204" pitchFamily="34" charset="-122"/>
            </a:endParaRPr>
          </a:p>
          <a:p>
            <a:pPr marL="625475" indent="-357188">
              <a:lnSpc>
                <a:spcPct val="12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它与前面讨论的各种测试活动的不同之处，主要在于它突出了</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客户</a:t>
            </a:r>
            <a:r>
              <a:rPr lang="zh-CN" altLang="en-US" sz="1800" dirty="0">
                <a:solidFill>
                  <a:srgbClr val="000000"/>
                </a:solidFill>
                <a:latin typeface="微软雅黑" panose="020B0503020204020204" pitchFamily="34" charset="-122"/>
                <a:sym typeface="微软雅黑" panose="020B0503020204020204" pitchFamily="34" charset="-122"/>
              </a:rPr>
              <a:t>的作用，同时软件开发人员也应有一定程度的参与</a:t>
            </a:r>
            <a:endParaRPr lang="en-US" altLang="zh-CN" sz="1800" dirty="0">
              <a:solidFill>
                <a:srgbClr val="000000"/>
              </a:solidFill>
              <a:latin typeface="微软雅黑" panose="020B0503020204020204" pitchFamily="34" charset="-122"/>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417162086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5.4.1</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单元测试内容</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3262321"/>
            <a:ext cx="6688045" cy="318407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en-US" sz="1900" dirty="0">
                <a:solidFill>
                  <a:srgbClr val="CC6600"/>
                </a:solidFill>
                <a:sym typeface="微软雅黑" panose="020B0503020204020204" pitchFamily="34" charset="-122"/>
              </a:rPr>
              <a:t>（</a:t>
            </a:r>
            <a:r>
              <a:rPr lang="en-US" altLang="zh-CN" sz="1900" dirty="0">
                <a:solidFill>
                  <a:srgbClr val="CC6600"/>
                </a:solidFill>
                <a:sym typeface="微软雅黑" panose="020B0503020204020204" pitchFamily="34" charset="-122"/>
              </a:rPr>
              <a:t>1</a:t>
            </a:r>
            <a:r>
              <a:rPr lang="zh-CN" altLang="en-US" sz="1900" dirty="0">
                <a:solidFill>
                  <a:srgbClr val="CC6600"/>
                </a:solidFill>
                <a:sym typeface="微软雅黑" panose="020B0503020204020204" pitchFamily="34" charset="-122"/>
              </a:rPr>
              <a:t>）</a:t>
            </a:r>
            <a:r>
              <a:rPr lang="zh-CN" altLang="zh-CN" sz="1900" dirty="0">
                <a:solidFill>
                  <a:srgbClr val="CC6600"/>
                </a:solidFill>
              </a:rPr>
              <a:t>模块接口</a:t>
            </a:r>
            <a:endParaRPr lang="en-US" altLang="zh-CN" sz="1900" dirty="0">
              <a:solidFill>
                <a:srgbClr val="CC6600"/>
              </a:solidFill>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检查数据能否正确地通过模块。检查的主要内容是参数的个数、属性及对应关系是否一致。</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当模块通过文件进行输入</a:t>
            </a:r>
            <a:r>
              <a:rPr lang="en-US" altLang="zh-CN"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输出时，要检查文件的具体描述是否正确，包括：文件的定义、记录的描述及文件的处理方式等</a:t>
            </a:r>
            <a:endParaRPr lang="en-US" altLang="zh-CN" sz="1800"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16" name="Rectangle 7">
            <a:extLst>
              <a:ext uri="{FF2B5EF4-FFF2-40B4-BE49-F238E27FC236}">
                <a16:creationId xmlns:a16="http://schemas.microsoft.com/office/drawing/2014/main" id="{69098A09-300A-8E4D-88C0-D9D69F958914}"/>
              </a:ext>
            </a:extLst>
          </p:cNvPr>
          <p:cNvSpPr txBox="1">
            <a:spLocks noChangeArrowheads="1"/>
          </p:cNvSpPr>
          <p:nvPr/>
        </p:nvSpPr>
        <p:spPr>
          <a:xfrm>
            <a:off x="1461995" y="2427059"/>
            <a:ext cx="6688045" cy="871312"/>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36000"/>
              </a:lnSpc>
              <a:spcBef>
                <a:spcPct val="20000"/>
              </a:spcBef>
              <a:spcAft>
                <a:spcPts val="600"/>
              </a:spcAft>
              <a:buNone/>
            </a:pP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单元测试</a:t>
            </a:r>
            <a:r>
              <a:rPr lang="zh-CN"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目的是</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发现</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r>
              <a:rPr lang="zh-CN" altLang="zh-CN"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模块内部</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 </a:t>
            </a:r>
            <a:r>
              <a:rPr lang="zh-CN"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可能存在的各种差错</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，以</a:t>
            </a:r>
            <a:r>
              <a:rPr lang="zh-CN" altLang="en-US" sz="16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白盒法为主</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。测试重点</a:t>
            </a:r>
            <a:r>
              <a:rPr lang="zh-CN"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主要</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包括下列</a:t>
            </a:r>
            <a:r>
              <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5</a:t>
            </a:r>
            <a:r>
              <a:rPr lang="zh-CN"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个方面</a:t>
            </a:r>
            <a:r>
              <a:rPr lang="zh-CN" altLang="en-US"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endParaRPr lang="en-US" altLang="zh-CN" sz="16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342900" lvl="1" indent="-342900">
              <a:lnSpc>
                <a:spcPct val="120000"/>
              </a:lnSpc>
              <a:spcBef>
                <a:spcPts val="900"/>
              </a:spcBef>
            </a:pPr>
            <a:endParaRPr lang="en-US" altLang="zh-CN" sz="16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927452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5" grpId="0"/>
      <p:bldP spid="16" grpId="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单元测试内容</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2427059"/>
            <a:ext cx="6688045" cy="367476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en-US" sz="1900" dirty="0">
                <a:solidFill>
                  <a:srgbClr val="CC6600"/>
                </a:solidFill>
                <a:sym typeface="微软雅黑" panose="020B0503020204020204" pitchFamily="34" charset="-122"/>
              </a:rPr>
              <a:t>（</a:t>
            </a:r>
            <a:r>
              <a:rPr lang="en-US" altLang="zh-CN" sz="1900" dirty="0">
                <a:solidFill>
                  <a:srgbClr val="CC6600"/>
                </a:solidFill>
                <a:sym typeface="微软雅黑" panose="020B0503020204020204" pitchFamily="34" charset="-122"/>
              </a:rPr>
              <a:t>2</a:t>
            </a:r>
            <a:r>
              <a:rPr lang="zh-CN" altLang="en-US" sz="1900" dirty="0">
                <a:solidFill>
                  <a:srgbClr val="CC6600"/>
                </a:solidFill>
                <a:sym typeface="微软雅黑" panose="020B0503020204020204" pitchFamily="34" charset="-122"/>
              </a:rPr>
              <a:t>）</a:t>
            </a:r>
            <a:r>
              <a:rPr lang="zh-CN" altLang="zh-CN" sz="1900" dirty="0">
                <a:solidFill>
                  <a:srgbClr val="CC6600"/>
                </a:solidFill>
                <a:sym typeface="微软雅黑" panose="020B0503020204020204" pitchFamily="34" charset="-122"/>
              </a:rPr>
              <a:t>局部数据结构</a:t>
            </a:r>
            <a:endParaRPr lang="en-US" altLang="zh-CN" sz="1900" dirty="0">
              <a:solidFill>
                <a:srgbClr val="CC6600"/>
              </a:solidFill>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说明不正确或不一致</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初始化或缺省值错误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变量名未定义或拼写错误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数据类型不相容</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上溢、下溢或地址</a:t>
            </a:r>
            <a:r>
              <a:rPr lang="zh-CN" altLang="en-US" sz="1800" dirty="0">
                <a:solidFill>
                  <a:srgbClr val="000000"/>
                </a:solidFill>
                <a:latin typeface="微软雅黑" panose="020B0503020204020204" pitchFamily="34" charset="-122"/>
                <a:sym typeface="微软雅黑" panose="020B0503020204020204" pitchFamily="34" charset="-122"/>
              </a:rPr>
              <a:t>错误</a:t>
            </a:r>
            <a:r>
              <a:rPr lang="zh-CN" altLang="zh-CN" sz="1800" dirty="0">
                <a:solidFill>
                  <a:srgbClr val="000000"/>
                </a:solidFill>
                <a:latin typeface="微软雅黑" panose="020B0503020204020204" pitchFamily="34" charset="-122"/>
                <a:sym typeface="微软雅黑" panose="020B0503020204020204" pitchFamily="34" charset="-122"/>
              </a:rPr>
              <a:t>等</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57188" indent="-357188">
              <a:lnSpc>
                <a:spcPct val="130000"/>
              </a:lnSpc>
              <a:buFont typeface="Arial" panose="020B0604020202020204" pitchFamily="34" charset="0"/>
              <a:buChar char="•"/>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除了检查局部数据外，还应注意全局数据与模块的相互影响</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1801060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单元测试内容</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2427059"/>
            <a:ext cx="6944139" cy="4082030"/>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en-US" dirty="0">
                <a:solidFill>
                  <a:srgbClr val="CC6600"/>
                </a:solidFill>
                <a:sym typeface="微软雅黑" panose="020B0503020204020204" pitchFamily="34" charset="-122"/>
              </a:rPr>
              <a:t>（</a:t>
            </a:r>
            <a:r>
              <a:rPr lang="en-US" altLang="zh-CN" dirty="0">
                <a:solidFill>
                  <a:srgbClr val="CC6600"/>
                </a:solidFill>
                <a:sym typeface="微软雅黑" panose="020B0503020204020204" pitchFamily="34" charset="-122"/>
              </a:rPr>
              <a:t>3</a:t>
            </a:r>
            <a:r>
              <a:rPr lang="zh-CN" altLang="en-US" dirty="0">
                <a:solidFill>
                  <a:srgbClr val="CC6600"/>
                </a:solidFill>
                <a:sym typeface="微软雅黑" panose="020B0503020204020204" pitchFamily="34" charset="-122"/>
              </a:rPr>
              <a:t>）</a:t>
            </a:r>
            <a:r>
              <a:rPr lang="zh-CN" altLang="zh-CN" sz="2100" dirty="0">
                <a:solidFill>
                  <a:srgbClr val="CC6600"/>
                </a:solidFill>
                <a:sym typeface="微软雅黑" panose="020B0503020204020204" pitchFamily="34" charset="-122"/>
              </a:rPr>
              <a:t>重要的执行路径</a:t>
            </a:r>
            <a:endParaRPr lang="en-US" altLang="zh-CN" dirty="0">
              <a:solidFill>
                <a:srgbClr val="CC6600"/>
              </a:solidFill>
              <a:sym typeface="微软雅黑" panose="020B0503020204020204" pitchFamily="34" charset="-122"/>
            </a:endParaRPr>
          </a:p>
          <a:p>
            <a:pPr marL="342900" indent="-342900">
              <a:lnSpc>
                <a:spcPct val="140000"/>
              </a:lnSpc>
              <a:spcBef>
                <a:spcPts val="600"/>
              </a:spcBef>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重要模块要进行</a:t>
            </a:r>
            <a:r>
              <a:rPr lang="zh-CN" altLang="zh-CN" sz="1800" dirty="0">
                <a:solidFill>
                  <a:srgbClr val="000000"/>
                </a:solidFill>
                <a:highlight>
                  <a:srgbClr val="FFFF00"/>
                </a:highlight>
                <a:latin typeface="微软雅黑" panose="020B0503020204020204" pitchFamily="34" charset="-122"/>
                <a:sym typeface="微软雅黑" panose="020B0503020204020204" pitchFamily="34" charset="-122"/>
              </a:rPr>
              <a:t>基本路径测试</a:t>
            </a:r>
            <a:r>
              <a:rPr lang="zh-CN" altLang="zh-CN" sz="1800" dirty="0">
                <a:solidFill>
                  <a:srgbClr val="000000"/>
                </a:solidFill>
                <a:latin typeface="微软雅黑" panose="020B0503020204020204" pitchFamily="34" charset="-122"/>
                <a:sym typeface="微软雅黑" panose="020B0503020204020204" pitchFamily="34" charset="-122"/>
              </a:rPr>
              <a:t>，仔细地选择测试路径是单元测试的一项基本任务</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40000"/>
              </a:lnSpc>
              <a:spcBef>
                <a:spcPts val="600"/>
              </a:spcBef>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选择</a:t>
            </a:r>
            <a:r>
              <a:rPr lang="zh-CN" altLang="en-US" sz="1800" dirty="0">
                <a:solidFill>
                  <a:srgbClr val="000000"/>
                </a:solidFill>
                <a:latin typeface="微软雅黑" panose="020B0503020204020204" pitchFamily="34" charset="-122"/>
                <a:sym typeface="微软雅黑" panose="020B0503020204020204" pitchFamily="34" charset="-122"/>
              </a:rPr>
              <a:t>好的</a:t>
            </a:r>
            <a:r>
              <a:rPr lang="zh-CN" altLang="zh-CN" sz="1800" dirty="0">
                <a:solidFill>
                  <a:srgbClr val="000000"/>
                </a:solidFill>
                <a:latin typeface="微软雅黑" panose="020B0503020204020204" pitchFamily="34" charset="-122"/>
                <a:sym typeface="微软雅黑" panose="020B0503020204020204" pitchFamily="34" charset="-122"/>
              </a:rPr>
              <a:t>测试用例能发现不正确的计算、错误的比较或不适当的控制流而造成的错误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40000"/>
              </a:lnSpc>
              <a:spcBef>
                <a:spcPts val="600"/>
              </a:spcBef>
              <a:buFont typeface="Arial" panose="020B0604020202020204" pitchFamily="34" charset="0"/>
              <a:buChar char="•"/>
            </a:pPr>
            <a:r>
              <a:rPr lang="zh-CN" altLang="en-US" sz="18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计算中</a:t>
            </a: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常见的错误有：算术运算符优先次序不正确；运算方式不正确；初始化方式不正确；精确度不够；表达式的符号表示错误等</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285750" indent="-285750">
              <a:lnSpc>
                <a:spcPct val="140000"/>
              </a:lnSpc>
              <a:spcBef>
                <a:spcPts val="600"/>
              </a:spcBef>
              <a:buFont typeface="Arial" panose="020B0604020202020204" pitchFamily="34" charset="0"/>
              <a:buChar char="•"/>
            </a:pPr>
            <a:r>
              <a:rPr lang="zh-CN" altLang="en-US" sz="18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条件及控制流向中</a:t>
            </a: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常见的错误有：不同的数据类型比较；逻辑运算符不正确或优先次序错误；由于精确度误差造成的相等比较出错；循环终止条件错误或死循环；错误地修改循环变量等</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9373700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Question1</a:t>
            </a:r>
            <a:r>
              <a:rPr lang="zh-CN" altLang="en-US" dirty="0"/>
              <a:t>：</a:t>
            </a:r>
            <a:r>
              <a:rPr lang="en-US" altLang="zh-CN" dirty="0"/>
              <a:t>Rounding errors</a:t>
            </a:r>
            <a:r>
              <a:rPr lang="zh-CN" altLang="en-US" dirty="0"/>
              <a:t>（舍入误差）</a:t>
            </a:r>
          </a:p>
        </p:txBody>
      </p:sp>
      <p:sp>
        <p:nvSpPr>
          <p:cNvPr id="8" name="Rectangle 4" descr="Rectangle: Click to edit Master text styles&#10;Second level&#10;Third level&#10;Fourth level&#10;Fifth level"/>
          <p:cNvSpPr>
            <a:spLocks noChangeArrowheads="1"/>
          </p:cNvSpPr>
          <p:nvPr/>
        </p:nvSpPr>
        <p:spPr bwMode="auto">
          <a:xfrm>
            <a:off x="838200" y="1295400"/>
            <a:ext cx="7772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hlink"/>
              </a:buClr>
              <a:buSzPct val="110000"/>
              <a:buFont typeface="Wingdings" panose="05000000000000000000" pitchFamily="2" charset="2"/>
              <a:buBlip>
                <a:blip r:embed="rId2"/>
              </a:buBlip>
              <a:defRPr sz="2000">
                <a:solidFill>
                  <a:schemeClr val="tx1"/>
                </a:solidFill>
                <a:latin typeface="Tahoma" panose="020B0604030504040204" pitchFamily="34" charset="0"/>
              </a:defRPr>
            </a:lvl1pPr>
            <a:lvl2pPr marL="742950" indent="-285750">
              <a:spcBef>
                <a:spcPct val="20000"/>
              </a:spcBef>
              <a:buClr>
                <a:schemeClr val="tx1"/>
              </a:buClr>
              <a:buSzPct val="60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hlink"/>
              </a:buClr>
              <a:buSzPct val="95000"/>
              <a:buFont typeface="Wingdings" panose="05000000000000000000" pitchFamily="2" charset="2"/>
              <a:buChar char="w"/>
              <a:defRPr sz="2000">
                <a:solidFill>
                  <a:schemeClr val="tx1"/>
                </a:solidFill>
                <a:latin typeface="Tahoma" panose="020B0604030504040204" pitchFamily="34" charset="0"/>
              </a:defRPr>
            </a:lvl3pPr>
            <a:lvl4pPr marL="1600200" indent="-228600">
              <a:spcBef>
                <a:spcPct val="20000"/>
              </a:spcBef>
              <a:buClr>
                <a:schemeClr val="tx1"/>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buFont typeface="Wingdings" panose="05000000000000000000" pitchFamily="2" charset="2"/>
              <a:buNone/>
            </a:pPr>
            <a:r>
              <a:rPr lang="en-US" altLang="zh-CN" dirty="0">
                <a:ea typeface="宋体" panose="02010600030101010101" pitchFamily="2" charset="-122"/>
              </a:rPr>
              <a:t>float Sum;</a:t>
            </a:r>
          </a:p>
          <a:p>
            <a:pPr eaLnBrk="1" hangingPunct="1">
              <a:buFont typeface="Wingdings" panose="05000000000000000000" pitchFamily="2" charset="2"/>
              <a:buNone/>
            </a:pPr>
            <a:r>
              <a:rPr lang="en-US" altLang="zh-CN" dirty="0">
                <a:ea typeface="宋体" panose="02010600030101010101" pitchFamily="2" charset="-122"/>
              </a:rPr>
              <a:t>Sum=0.1+0.1+0.1+0.1+0.1+0.1+0.1+0.1+0.1+0.1;</a:t>
            </a:r>
          </a:p>
          <a:p>
            <a:pPr eaLnBrk="1" hangingPunct="1">
              <a:buFont typeface="Wingdings" panose="05000000000000000000" pitchFamily="2" charset="2"/>
              <a:buNone/>
            </a:pPr>
            <a:r>
              <a:rPr lang="en-US" altLang="zh-CN" dirty="0">
                <a:ea typeface="宋体" panose="02010600030101010101" pitchFamily="2" charset="-122"/>
              </a:rPr>
              <a:t>if (Sum==1.0)</a:t>
            </a:r>
          </a:p>
          <a:p>
            <a:pPr>
              <a:buNone/>
            </a:pPr>
            <a:r>
              <a:rPr lang="en-US" altLang="zh-CN" dirty="0">
                <a:ea typeface="宋体" panose="02010600030101010101" pitchFamily="2" charset="-122"/>
              </a:rPr>
              <a:t>   </a:t>
            </a:r>
            <a:r>
              <a:rPr lang="en-US" altLang="zh-CN" dirty="0" err="1">
                <a:ea typeface="宋体" panose="02010600030101010101" pitchFamily="2" charset="-122"/>
              </a:rPr>
              <a:t>printf</a:t>
            </a:r>
            <a:r>
              <a:rPr lang="zh-CN" altLang="en-US" dirty="0">
                <a:ea typeface="宋体" panose="02010600030101010101" pitchFamily="2" charset="-122"/>
              </a:rPr>
              <a:t> </a:t>
            </a:r>
            <a:r>
              <a:rPr lang="en-US" altLang="zh-CN" dirty="0">
                <a:ea typeface="宋体" panose="02010600030101010101" pitchFamily="2" charset="-122"/>
              </a:rPr>
              <a:t>(</a:t>
            </a:r>
            <a:r>
              <a:rPr lang="en-US" altLang="zh-CN" dirty="0"/>
              <a:t>"</a:t>
            </a:r>
            <a:r>
              <a:rPr lang="en-US" altLang="zh-CN" dirty="0">
                <a:ea typeface="宋体" panose="02010600030101010101" pitchFamily="2" charset="-122"/>
              </a:rPr>
              <a:t>True</a:t>
            </a:r>
            <a:r>
              <a:rPr lang="en-US" altLang="zh-CN" dirty="0"/>
              <a:t>"</a:t>
            </a:r>
            <a:r>
              <a:rPr lang="en-US" altLang="zh-CN" dirty="0">
                <a:ea typeface="宋体" panose="02010600030101010101" pitchFamily="2" charset="-122"/>
              </a:rPr>
              <a:t>);</a:t>
            </a:r>
          </a:p>
          <a:p>
            <a:pPr eaLnBrk="1" hangingPunct="1">
              <a:buFont typeface="Wingdings" panose="05000000000000000000" pitchFamily="2" charset="2"/>
              <a:buNone/>
            </a:pPr>
            <a:r>
              <a:rPr lang="en-US" altLang="zh-CN" dirty="0">
                <a:ea typeface="宋体" panose="02010600030101010101" pitchFamily="2" charset="-122"/>
              </a:rPr>
              <a:t>else</a:t>
            </a:r>
          </a:p>
          <a:p>
            <a:pPr>
              <a:buNone/>
            </a:pPr>
            <a:r>
              <a:rPr lang="en-US" altLang="zh-CN" dirty="0">
                <a:ea typeface="宋体" panose="02010600030101010101" pitchFamily="2" charset="-122"/>
              </a:rPr>
              <a:t>   </a:t>
            </a:r>
            <a:r>
              <a:rPr lang="en-US" altLang="zh-CN" dirty="0" err="1"/>
              <a:t>printf</a:t>
            </a:r>
            <a:r>
              <a:rPr lang="zh-CN" altLang="en-US" dirty="0"/>
              <a:t> </a:t>
            </a:r>
            <a:r>
              <a:rPr lang="en-US" altLang="zh-CN" dirty="0"/>
              <a:t>("</a:t>
            </a:r>
            <a:r>
              <a:rPr lang="en-US" altLang="zh-CN" dirty="0" err="1">
                <a:ea typeface="宋体" panose="02010600030101010101" pitchFamily="2" charset="-122"/>
              </a:rPr>
              <a:t>Flase</a:t>
            </a:r>
            <a:r>
              <a:rPr lang="en-US" altLang="zh-CN" dirty="0"/>
              <a:t>"</a:t>
            </a:r>
            <a:r>
              <a:rPr lang="en-US" altLang="zh-CN" dirty="0">
                <a:ea typeface="宋体" panose="02010600030101010101" pitchFamily="2" charset="-122"/>
              </a:rPr>
              <a:t>);</a:t>
            </a:r>
          </a:p>
          <a:p>
            <a:pPr eaLnBrk="1" hangingPunct="1">
              <a:buFont typeface="Wingdings" panose="05000000000000000000" pitchFamily="2" charset="2"/>
              <a:buNone/>
            </a:pPr>
            <a:endParaRPr lang="en-US" altLang="zh-CN" dirty="0">
              <a:ea typeface="宋体" panose="02010600030101010101" pitchFamily="2" charset="-122"/>
            </a:endParaRPr>
          </a:p>
        </p:txBody>
      </p:sp>
      <p:sp>
        <p:nvSpPr>
          <p:cNvPr id="9" name="流程图: 汇总连接 8"/>
          <p:cNvSpPr/>
          <p:nvPr/>
        </p:nvSpPr>
        <p:spPr>
          <a:xfrm>
            <a:off x="213019" y="624263"/>
            <a:ext cx="331044" cy="331044"/>
          </a:xfrm>
          <a:prstGeom prst="flowChartSummingJuncti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dirty="0"/>
              <a:t>补</a:t>
            </a:r>
          </a:p>
        </p:txBody>
      </p:sp>
      <p:sp>
        <p:nvSpPr>
          <p:cNvPr id="3" name="日期占位符 2"/>
          <p:cNvSpPr>
            <a:spLocks noGrp="1"/>
          </p:cNvSpPr>
          <p:nvPr>
            <p:ph type="dt" sz="half" idx="10"/>
          </p:nvPr>
        </p:nvSpPr>
        <p:spPr/>
        <p:txBody>
          <a:bodyPr/>
          <a:lstStyle/>
          <a:p>
            <a:r>
              <a:rPr lang="en-US" altLang="zh-CN"/>
              <a:t>2013/7/22</a:t>
            </a:r>
            <a:endParaRPr lang="en-US" dirty="0"/>
          </a:p>
        </p:txBody>
      </p:sp>
      <p:sp>
        <p:nvSpPr>
          <p:cNvPr id="4" name="页脚占位符 3"/>
          <p:cNvSpPr>
            <a:spLocks noGrp="1"/>
          </p:cNvSpPr>
          <p:nvPr>
            <p:ph type="ftr" sz="quarter" idx="11"/>
          </p:nvPr>
        </p:nvSpPr>
        <p:spPr/>
        <p:txBody>
          <a:bodyPr/>
          <a:lstStyle/>
          <a:p>
            <a:r>
              <a:rPr lang="zh-CN" altLang="en-US"/>
              <a:t>重庆大学软件学院</a:t>
            </a:r>
            <a:endParaRPr lang="zh-CN" altLang="en-US" dirty="0"/>
          </a:p>
        </p:txBody>
      </p:sp>
      <p:sp>
        <p:nvSpPr>
          <p:cNvPr id="5" name="灯片编号占位符 4"/>
          <p:cNvSpPr>
            <a:spLocks noGrp="1"/>
          </p:cNvSpPr>
          <p:nvPr>
            <p:ph type="sldNum" sz="quarter" idx="12"/>
          </p:nvPr>
        </p:nvSpPr>
        <p:spPr/>
        <p:txBody>
          <a:bodyPr/>
          <a:lstStyle/>
          <a:p>
            <a:fld id="{9CD8D479-8942-46E8-A226-A4E01F7A105C}" type="slidenum">
              <a:rPr lang="en-US" altLang="zh-CN" smtClean="0"/>
              <a:pPr/>
              <a:t>75</a:t>
            </a:fld>
            <a:endParaRPr lang="zh-CN" altLang="en-US" dirty="0"/>
          </a:p>
        </p:txBody>
      </p:sp>
    </p:spTree>
    <p:extLst>
      <p:ext uri="{BB962C8B-B14F-4D97-AF65-F5344CB8AC3E}">
        <p14:creationId xmlns:p14="http://schemas.microsoft.com/office/powerpoint/2010/main" val="29312030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单元测试内容</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2" y="2427059"/>
            <a:ext cx="6600742" cy="367476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en-US" sz="1900" dirty="0">
                <a:solidFill>
                  <a:srgbClr val="CC6600"/>
                </a:solidFill>
                <a:sym typeface="微软雅黑" panose="020B0503020204020204" pitchFamily="34" charset="-122"/>
              </a:rPr>
              <a:t>（</a:t>
            </a:r>
            <a:r>
              <a:rPr lang="en-US" altLang="zh-CN" sz="1900" dirty="0">
                <a:solidFill>
                  <a:srgbClr val="CC6600"/>
                </a:solidFill>
                <a:sym typeface="微软雅黑" panose="020B0503020204020204" pitchFamily="34" charset="-122"/>
              </a:rPr>
              <a:t>4</a:t>
            </a:r>
            <a:r>
              <a:rPr lang="zh-CN" altLang="en-US" sz="1900" dirty="0">
                <a:solidFill>
                  <a:srgbClr val="CC6600"/>
                </a:solidFill>
                <a:sym typeface="微软雅黑" panose="020B0503020204020204" pitchFamily="34" charset="-122"/>
              </a:rPr>
              <a:t>）</a:t>
            </a:r>
            <a:r>
              <a:rPr lang="zh-CN" altLang="zh-CN" sz="1900" dirty="0">
                <a:solidFill>
                  <a:srgbClr val="CC6600"/>
                </a:solidFill>
                <a:sym typeface="微软雅黑" panose="020B0503020204020204" pitchFamily="34" charset="-122"/>
              </a:rPr>
              <a:t>错误处理</a:t>
            </a:r>
            <a:endParaRPr lang="en-US" altLang="zh-CN" sz="1900" dirty="0">
              <a:solidFill>
                <a:srgbClr val="CC6600"/>
              </a:solidFill>
              <a:sym typeface="微软雅黑" panose="020B0503020204020204" pitchFamily="34" charset="-122"/>
            </a:endParaRPr>
          </a:p>
          <a:p>
            <a:pPr>
              <a:lnSpc>
                <a:spcPct val="130000"/>
              </a:lnSpc>
            </a:pPr>
            <a:r>
              <a:rPr lang="zh-CN" altLang="zh-CN" sz="1800" dirty="0">
                <a:latin typeface="Kaiti SC" panose="02010600040101010101" pitchFamily="2" charset="-122"/>
                <a:ea typeface="Kaiti SC" panose="02010600040101010101" pitchFamily="2" charset="-122"/>
              </a:rPr>
              <a:t>错误处理主要</a:t>
            </a:r>
            <a:r>
              <a:rPr lang="zh-CN" altLang="en-US" sz="1800" dirty="0">
                <a:latin typeface="Kaiti SC" panose="02010600040101010101" pitchFamily="2" charset="-122"/>
                <a:ea typeface="Kaiti SC" panose="02010600040101010101" pitchFamily="2" charset="-122"/>
              </a:rPr>
              <a:t> </a:t>
            </a:r>
            <a:r>
              <a:rPr lang="zh-CN" altLang="zh-CN" sz="1800" dirty="0">
                <a:highlight>
                  <a:srgbClr val="FFFF00"/>
                </a:highlight>
                <a:latin typeface="Kaiti SC" panose="02010600040101010101" pitchFamily="2" charset="-122"/>
                <a:ea typeface="Kaiti SC" panose="02010600040101010101" pitchFamily="2" charset="-122"/>
              </a:rPr>
              <a:t>测试程序对错误处理的能力</a:t>
            </a:r>
            <a:r>
              <a:rPr lang="zh-CN" altLang="zh-CN" sz="1800" dirty="0">
                <a:latin typeface="Kaiti SC" panose="02010600040101010101" pitchFamily="2" charset="-122"/>
                <a:ea typeface="Kaiti SC" panose="02010600040101010101" pitchFamily="2" charset="-122"/>
              </a:rPr>
              <a:t>，检查是否存在以下问题</a:t>
            </a:r>
            <a:r>
              <a:rPr lang="zh-CN" altLang="en-US" sz="1800" dirty="0">
                <a:latin typeface="Kaiti SC" panose="02010600040101010101" pitchFamily="2" charset="-122"/>
                <a:ea typeface="Kaiti SC" panose="02010600040101010101" pitchFamily="2" charset="-122"/>
              </a:rPr>
              <a:t>：</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latin typeface="微软雅黑" panose="020B0503020204020204" pitchFamily="34" charset="-122"/>
              </a:rPr>
              <a:t>不能正确</a:t>
            </a:r>
            <a:r>
              <a:rPr lang="zh-CN" altLang="en-US" sz="1800" dirty="0">
                <a:latin typeface="微软雅黑" panose="020B0503020204020204" pitchFamily="34" charset="-122"/>
              </a:rPr>
              <a:t>响应</a:t>
            </a:r>
            <a:r>
              <a:rPr lang="zh-CN" altLang="zh-CN" sz="1800" dirty="0">
                <a:latin typeface="微软雅黑" panose="020B0503020204020204" pitchFamily="34" charset="-122"/>
              </a:rPr>
              <a:t>外部输入</a:t>
            </a:r>
            <a:r>
              <a:rPr lang="zh-CN" altLang="en-US" sz="1800" dirty="0">
                <a:latin typeface="微软雅黑" panose="020B0503020204020204" pitchFamily="34" charset="-122"/>
              </a:rPr>
              <a:t>或内部</a:t>
            </a:r>
            <a:r>
              <a:rPr lang="zh-CN" altLang="zh-CN" sz="1800" dirty="0">
                <a:latin typeface="微软雅黑" panose="020B0503020204020204" pitchFamily="34" charset="-122"/>
              </a:rPr>
              <a:t>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latin typeface="微软雅黑" panose="020B0503020204020204" pitchFamily="34" charset="-122"/>
              </a:rPr>
              <a:t>对发生的错误不能正确描述或描述内容难以理解</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latin typeface="微软雅黑" panose="020B0503020204020204" pitchFamily="34" charset="-122"/>
              </a:rPr>
              <a:t>在错误处理之前，系统已进行干预等</a:t>
            </a:r>
            <a:endParaRPr lang="en-US" altLang="zh-CN" sz="1800" dirty="0">
              <a:solidFill>
                <a:srgbClr val="000000"/>
              </a:solidFill>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825451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单元测试内容</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2" y="2427059"/>
            <a:ext cx="6600742" cy="367476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40000"/>
              </a:lnSpc>
              <a:spcBef>
                <a:spcPts val="600"/>
              </a:spcBef>
              <a:spcAft>
                <a:spcPts val="600"/>
              </a:spcAft>
              <a:buNone/>
            </a:pPr>
            <a:r>
              <a:rPr lang="zh-CN" altLang="en-US" sz="1900" dirty="0">
                <a:solidFill>
                  <a:srgbClr val="CC6600"/>
                </a:solidFill>
                <a:sym typeface="微软雅黑" panose="020B0503020204020204" pitchFamily="34" charset="-122"/>
              </a:rPr>
              <a:t>（</a:t>
            </a:r>
            <a:r>
              <a:rPr lang="en-US" altLang="zh-CN" sz="1900" dirty="0">
                <a:solidFill>
                  <a:srgbClr val="CC6600"/>
                </a:solidFill>
                <a:sym typeface="微软雅黑" panose="020B0503020204020204" pitchFamily="34" charset="-122"/>
              </a:rPr>
              <a:t>5</a:t>
            </a:r>
            <a:r>
              <a:rPr lang="zh-CN" altLang="en-US" sz="1900" dirty="0">
                <a:solidFill>
                  <a:srgbClr val="CC6600"/>
                </a:solidFill>
                <a:sym typeface="微软雅黑" panose="020B0503020204020204" pitchFamily="34" charset="-122"/>
              </a:rPr>
              <a:t>）</a:t>
            </a:r>
            <a:r>
              <a:rPr lang="zh-CN" altLang="zh-CN" sz="1900" dirty="0">
                <a:solidFill>
                  <a:srgbClr val="CC6600"/>
                </a:solidFill>
              </a:rPr>
              <a:t>边界条件</a:t>
            </a:r>
            <a:endParaRPr lang="en-US" altLang="zh-CN" sz="1900" dirty="0">
              <a:solidFill>
                <a:srgbClr val="CC6600"/>
              </a:solidFill>
              <a:sym typeface="微软雅黑" panose="020B0503020204020204" pitchFamily="34" charset="-122"/>
            </a:endParaRPr>
          </a:p>
          <a:p>
            <a:pPr marL="342900" indent="-342900">
              <a:lnSpc>
                <a:spcPct val="130000"/>
              </a:lnSpc>
              <a:buFont typeface="Arial" panose="020B0604020202020204" pitchFamily="34" charset="0"/>
              <a:buChar char="•"/>
            </a:pPr>
            <a:r>
              <a:rPr lang="zh-CN" altLang="zh-CN" sz="1800" dirty="0">
                <a:latin typeface="微软雅黑" panose="020B0503020204020204" pitchFamily="34" charset="-122"/>
              </a:rPr>
              <a:t>程序最容易在边界上出错，如输入</a:t>
            </a:r>
            <a:r>
              <a:rPr lang="en-US" altLang="zh-CN" sz="1800" dirty="0">
                <a:latin typeface="微软雅黑" panose="020B0503020204020204" pitchFamily="34" charset="-122"/>
              </a:rPr>
              <a:t>/</a:t>
            </a:r>
            <a:r>
              <a:rPr lang="zh-CN" altLang="zh-CN" sz="1800" dirty="0">
                <a:latin typeface="微软雅黑" panose="020B0503020204020204" pitchFamily="34" charset="-122"/>
              </a:rPr>
              <a:t>输出数据的等价类边界、选择条件和循环条件的边界、复杂数据结构（如表）的边界等都应进行测试</a:t>
            </a:r>
            <a:endParaRPr lang="zh-CN" altLang="zh-CN" sz="1800" dirty="0">
              <a:latin typeface="微软雅黑" panose="020B0503020204020204" pitchFamily="34" charset="-122"/>
              <a:sym typeface="微软雅黑" panose="020B0503020204020204" pitchFamily="34" charset="-122"/>
            </a:endParaRPr>
          </a:p>
          <a:p>
            <a:pPr marL="0" lvl="1" indent="0">
              <a:lnSpc>
                <a:spcPct val="120000"/>
              </a:lnSpc>
              <a:spcBef>
                <a:spcPts val="900"/>
              </a:spcBef>
              <a:buNone/>
            </a:pP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517700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单元测试内容</a:t>
            </a:r>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grpSp>
        <p:nvGrpSpPr>
          <p:cNvPr id="7" name="组合 6">
            <a:extLst>
              <a:ext uri="{FF2B5EF4-FFF2-40B4-BE49-F238E27FC236}">
                <a16:creationId xmlns:a16="http://schemas.microsoft.com/office/drawing/2014/main" id="{568FEBB5-27A8-1C45-98C9-B71C89B597DC}"/>
              </a:ext>
            </a:extLst>
          </p:cNvPr>
          <p:cNvGrpSpPr/>
          <p:nvPr/>
        </p:nvGrpSpPr>
        <p:grpSpPr>
          <a:xfrm>
            <a:off x="458727" y="2515002"/>
            <a:ext cx="8454859" cy="3968119"/>
            <a:chOff x="458727" y="2515002"/>
            <a:chExt cx="8454859" cy="3968119"/>
          </a:xfrm>
        </p:grpSpPr>
        <p:sp>
          <p:nvSpPr>
            <p:cNvPr id="10" name="灯片编号占位符 3">
              <a:extLst>
                <a:ext uri="{FF2B5EF4-FFF2-40B4-BE49-F238E27FC236}">
                  <a16:creationId xmlns:a16="http://schemas.microsoft.com/office/drawing/2014/main" id="{865F21B4-27C3-FC40-9A8C-8D10F7E4435C}"/>
                </a:ext>
              </a:extLst>
            </p:cNvPr>
            <p:cNvSpPr txBox="1">
              <a:spLocks/>
            </p:cNvSpPr>
            <p:nvPr/>
          </p:nvSpPr>
          <p:spPr>
            <a:xfrm>
              <a:off x="6602186" y="6208484"/>
              <a:ext cx="2133600" cy="27463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914400" rtl="0" eaLnBrk="1" latinLnBrk="0" hangingPunct="1">
                <a:defRPr lang="zh-CN" sz="800" kern="1200">
                  <a:solidFill>
                    <a:schemeClr val="tx1"/>
                  </a:solidFill>
                  <a:latin typeface="Arial" panose="020B0604020202020204" pitchFamily="34" charset="0"/>
                  <a:ea typeface="宋体" panose="02010600030101010101" pitchFamily="2" charset="-122"/>
                  <a:cs typeface="+mn-cs"/>
                </a:defRPr>
              </a:lvl1pPr>
              <a:lvl2pPr marL="742950" indent="-285750" algn="l" defTabSz="914400" rtl="0" eaLnBrk="1" latinLnBrk="0" hangingPunct="1">
                <a:defRPr sz="1800" kern="1200">
                  <a:solidFill>
                    <a:schemeClr val="tx1"/>
                  </a:solidFill>
                  <a:latin typeface="Arial" panose="020B0604020202020204" pitchFamily="34" charset="0"/>
                  <a:ea typeface="宋体" panose="02010600030101010101" pitchFamily="2" charset="-122"/>
                  <a:cs typeface="+mn-cs"/>
                </a:defRPr>
              </a:lvl2pPr>
              <a:lvl3pPr marL="1143000" indent="-228600" algn="l" defTabSz="914400" rtl="0" eaLnBrk="1" latinLnBrk="0" hangingPunct="1">
                <a:defRPr sz="1800" kern="1200">
                  <a:solidFill>
                    <a:schemeClr val="tx1"/>
                  </a:solidFill>
                  <a:latin typeface="Arial" panose="020B0604020202020204" pitchFamily="34" charset="0"/>
                  <a:ea typeface="宋体" panose="02010600030101010101" pitchFamily="2" charset="-122"/>
                  <a:cs typeface="+mn-cs"/>
                </a:defRPr>
              </a:lvl3pPr>
              <a:lvl4pPr marL="1600200" indent="-228600" algn="l" defTabSz="914400" rtl="0" eaLnBrk="1" latinLnBrk="0" hangingPunct="1">
                <a:defRPr sz="1800" kern="1200">
                  <a:solidFill>
                    <a:schemeClr val="tx1"/>
                  </a:solidFill>
                  <a:latin typeface="Arial" panose="020B0604020202020204" pitchFamily="34" charset="0"/>
                  <a:ea typeface="宋体" panose="02010600030101010101" pitchFamily="2" charset="-122"/>
                  <a:cs typeface="+mn-cs"/>
                </a:defRPr>
              </a:lvl4pPr>
              <a:lvl5pPr marL="2057400" indent="-228600" algn="l" defTabSz="914400" rtl="0" eaLnBrk="1" latinLnBrk="0" hangingPunct="1">
                <a:defRPr sz="18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宋体" panose="02010600030101010101" pitchFamily="2" charset="-122"/>
                  <a:cs typeface="+mn-cs"/>
                </a:defRPr>
              </a:lvl6pPr>
              <a:lvl7pPr marL="29718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宋体" panose="02010600030101010101" pitchFamily="2" charset="-122"/>
                  <a:cs typeface="+mn-cs"/>
                </a:defRPr>
              </a:lvl7pPr>
              <a:lvl8pPr marL="34290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宋体" panose="02010600030101010101" pitchFamily="2" charset="-122"/>
                  <a:cs typeface="+mn-cs"/>
                </a:defRPr>
              </a:lvl8pPr>
              <a:lvl9pPr marL="3886200" indent="-228600" algn="l" defTabSz="914400" rtl="0" eaLnBrk="0" fontAlgn="base" latinLnBrk="0" hangingPunct="0">
                <a:spcBef>
                  <a:spcPct val="0"/>
                </a:spcBef>
                <a:spcAft>
                  <a:spcPct val="0"/>
                </a:spcAft>
                <a:defRPr sz="1800" kern="1200">
                  <a:solidFill>
                    <a:schemeClr val="tx1"/>
                  </a:solidFill>
                  <a:latin typeface="Arial" panose="020B0604020202020204" pitchFamily="34" charset="0"/>
                  <a:ea typeface="宋体" panose="02010600030101010101" pitchFamily="2" charset="-122"/>
                  <a:cs typeface="+mn-cs"/>
                </a:defRPr>
              </a:lvl9pPr>
            </a:lstStyle>
            <a:p>
              <a:fld id="{69998EA0-C85C-FE49-BE57-6CC867E1FD84}" type="slidenum">
                <a:rPr lang="en-US" altLang="zh-CN" smtClean="0">
                  <a:solidFill>
                    <a:srgbClr val="898989"/>
                  </a:solidFill>
                </a:rPr>
                <a:pPr/>
                <a:t>78</a:t>
              </a:fld>
              <a:endParaRPr lang="en-US" altLang="zh-CN">
                <a:solidFill>
                  <a:srgbClr val="898989"/>
                </a:solidFill>
              </a:endParaRPr>
            </a:p>
          </p:txBody>
        </p:sp>
        <p:sp>
          <p:nvSpPr>
            <p:cNvPr id="17" name="AutoShape 4">
              <a:extLst>
                <a:ext uri="{FF2B5EF4-FFF2-40B4-BE49-F238E27FC236}">
                  <a16:creationId xmlns:a16="http://schemas.microsoft.com/office/drawing/2014/main" id="{B5F8DF19-3936-D542-AFBA-BCE51D558A4E}"/>
                </a:ext>
              </a:extLst>
            </p:cNvPr>
            <p:cNvSpPr>
              <a:spLocks noChangeArrowheads="1"/>
            </p:cNvSpPr>
            <p:nvPr/>
          </p:nvSpPr>
          <p:spPr bwMode="auto">
            <a:xfrm>
              <a:off x="4187599" y="3920424"/>
              <a:ext cx="838200" cy="479987"/>
            </a:xfrm>
            <a:prstGeom prst="bevel">
              <a:avLst>
                <a:gd name="adj" fmla="val 12500"/>
              </a:avLst>
            </a:prstGeom>
            <a:solidFill>
              <a:srgbClr val="FFFFCC"/>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dirty="0">
                  <a:latin typeface="楷体_GB2312" panose="02010609030101010101" pitchFamily="49" charset="-122"/>
                  <a:ea typeface="楷体_GB2312" panose="02010609030101010101" pitchFamily="49" charset="-122"/>
                </a:rPr>
                <a:t>模块</a:t>
              </a:r>
            </a:p>
          </p:txBody>
        </p:sp>
        <p:sp>
          <p:nvSpPr>
            <p:cNvPr id="23" name="AutoShape 10">
              <a:extLst>
                <a:ext uri="{FF2B5EF4-FFF2-40B4-BE49-F238E27FC236}">
                  <a16:creationId xmlns:a16="http://schemas.microsoft.com/office/drawing/2014/main" id="{EF994372-DE98-AE4D-AAE5-1A48E1D741F0}"/>
                </a:ext>
              </a:extLst>
            </p:cNvPr>
            <p:cNvSpPr>
              <a:spLocks noChangeArrowheads="1"/>
            </p:cNvSpPr>
            <p:nvPr/>
          </p:nvSpPr>
          <p:spPr bwMode="auto">
            <a:xfrm rot="2954006">
              <a:off x="3856589" y="3373593"/>
              <a:ext cx="686036" cy="273092"/>
            </a:xfrm>
            <a:prstGeom prst="rightArrow">
              <a:avLst>
                <a:gd name="adj1" fmla="val 50000"/>
                <a:gd name="adj2" fmla="val 75000"/>
              </a:avLst>
            </a:prstGeom>
            <a:solidFill>
              <a:schemeClr val="accent5">
                <a:lumMod val="50000"/>
              </a:schemeClr>
            </a:solidFill>
            <a:ln w="9525" cap="sq">
              <a:noFill/>
              <a:miter lim="800000"/>
              <a:headEnd/>
              <a:tailEnd/>
            </a:ln>
            <a:effectLst/>
          </p:spPr>
          <p:txBody>
            <a:bodyPr wrap="none" anchor="ctr"/>
            <a:lstStyle/>
            <a:p>
              <a:pPr>
                <a:defRPr/>
              </a:pPr>
              <a:endParaRPr lang="zh-CN" altLang="en-US">
                <a:solidFill>
                  <a:schemeClr val="bg1"/>
                </a:solidFill>
                <a:latin typeface="Arial" charset="0"/>
              </a:endParaRPr>
            </a:p>
          </p:txBody>
        </p:sp>
        <p:sp>
          <p:nvSpPr>
            <p:cNvPr id="24" name="AutoShape 11">
              <a:extLst>
                <a:ext uri="{FF2B5EF4-FFF2-40B4-BE49-F238E27FC236}">
                  <a16:creationId xmlns:a16="http://schemas.microsoft.com/office/drawing/2014/main" id="{0ABBFDA7-2202-124D-9951-8045DA55C2A3}"/>
                </a:ext>
              </a:extLst>
            </p:cNvPr>
            <p:cNvSpPr>
              <a:spLocks noChangeArrowheads="1"/>
            </p:cNvSpPr>
            <p:nvPr/>
          </p:nvSpPr>
          <p:spPr bwMode="auto">
            <a:xfrm rot="20185743">
              <a:off x="3179536" y="4357533"/>
              <a:ext cx="914400" cy="228679"/>
            </a:xfrm>
            <a:prstGeom prst="rightArrow">
              <a:avLst>
                <a:gd name="adj1" fmla="val 50000"/>
                <a:gd name="adj2" fmla="val 75000"/>
              </a:avLst>
            </a:prstGeom>
            <a:solidFill>
              <a:schemeClr val="accent5">
                <a:lumMod val="50000"/>
              </a:schemeClr>
            </a:solidFill>
            <a:ln w="9525" cap="sq">
              <a:noFill/>
              <a:miter lim="800000"/>
              <a:headEnd/>
              <a:tailEnd/>
            </a:ln>
            <a:effectLst/>
          </p:spPr>
          <p:txBody>
            <a:bodyPr wrap="none" anchor="ctr"/>
            <a:lstStyle/>
            <a:p>
              <a:pPr>
                <a:defRPr/>
              </a:pPr>
              <a:endParaRPr lang="zh-CN" altLang="en-US">
                <a:solidFill>
                  <a:schemeClr val="bg1"/>
                </a:solidFill>
                <a:latin typeface="Arial" charset="0"/>
              </a:endParaRPr>
            </a:p>
          </p:txBody>
        </p:sp>
        <p:sp>
          <p:nvSpPr>
            <p:cNvPr id="25" name="AutoShape 12">
              <a:extLst>
                <a:ext uri="{FF2B5EF4-FFF2-40B4-BE49-F238E27FC236}">
                  <a16:creationId xmlns:a16="http://schemas.microsoft.com/office/drawing/2014/main" id="{6E3E533C-4BBE-8C42-B272-9F72E5DD2C0E}"/>
                </a:ext>
              </a:extLst>
            </p:cNvPr>
            <p:cNvSpPr>
              <a:spLocks noChangeArrowheads="1"/>
            </p:cNvSpPr>
            <p:nvPr/>
          </p:nvSpPr>
          <p:spPr bwMode="auto">
            <a:xfrm rot="12458654">
              <a:off x="5084536" y="4332521"/>
              <a:ext cx="914400" cy="228679"/>
            </a:xfrm>
            <a:prstGeom prst="rightArrow">
              <a:avLst>
                <a:gd name="adj1" fmla="val 50000"/>
                <a:gd name="adj2" fmla="val 75000"/>
              </a:avLst>
            </a:prstGeom>
            <a:solidFill>
              <a:schemeClr val="accent5">
                <a:lumMod val="50000"/>
              </a:schemeClr>
            </a:solidFill>
            <a:ln w="9525" cap="sq">
              <a:noFill/>
              <a:miter lim="800000"/>
              <a:headEnd/>
              <a:tailEnd/>
            </a:ln>
            <a:effectLst/>
          </p:spPr>
          <p:txBody>
            <a:bodyPr wrap="none" anchor="ctr"/>
            <a:lstStyle/>
            <a:p>
              <a:pPr>
                <a:defRPr/>
              </a:pPr>
              <a:endParaRPr lang="zh-CN" altLang="en-US">
                <a:solidFill>
                  <a:schemeClr val="bg1"/>
                </a:solidFill>
                <a:latin typeface="Arial" charset="0"/>
              </a:endParaRPr>
            </a:p>
          </p:txBody>
        </p:sp>
        <p:sp>
          <p:nvSpPr>
            <p:cNvPr id="26" name="AutoShape 13">
              <a:extLst>
                <a:ext uri="{FF2B5EF4-FFF2-40B4-BE49-F238E27FC236}">
                  <a16:creationId xmlns:a16="http://schemas.microsoft.com/office/drawing/2014/main" id="{4F4E2688-2101-2246-B882-842A63FADEB7}"/>
                </a:ext>
              </a:extLst>
            </p:cNvPr>
            <p:cNvSpPr>
              <a:spLocks noChangeArrowheads="1"/>
            </p:cNvSpPr>
            <p:nvPr/>
          </p:nvSpPr>
          <p:spPr bwMode="auto">
            <a:xfrm rot="16259669">
              <a:off x="4294987" y="4828075"/>
              <a:ext cx="623425" cy="286672"/>
            </a:xfrm>
            <a:prstGeom prst="rightArrow">
              <a:avLst>
                <a:gd name="adj1" fmla="val 50000"/>
                <a:gd name="adj2" fmla="val 27581"/>
              </a:avLst>
            </a:prstGeom>
            <a:solidFill>
              <a:schemeClr val="accent5">
                <a:lumMod val="50000"/>
              </a:schemeClr>
            </a:solidFill>
            <a:ln w="9525" cap="sq">
              <a:noFill/>
              <a:miter lim="800000"/>
              <a:headEnd/>
              <a:tailEnd/>
            </a:ln>
            <a:effectLst/>
          </p:spPr>
          <p:txBody>
            <a:bodyPr wrap="none" anchor="ctr"/>
            <a:lstStyle/>
            <a:p>
              <a:pPr>
                <a:defRPr/>
              </a:pPr>
              <a:endParaRPr lang="zh-CN" altLang="en-US">
                <a:solidFill>
                  <a:schemeClr val="bg1"/>
                </a:solidFill>
                <a:latin typeface="Arial" charset="0"/>
              </a:endParaRPr>
            </a:p>
          </p:txBody>
        </p:sp>
        <p:sp>
          <p:nvSpPr>
            <p:cNvPr id="27" name="AutoShape 14">
              <a:extLst>
                <a:ext uri="{FF2B5EF4-FFF2-40B4-BE49-F238E27FC236}">
                  <a16:creationId xmlns:a16="http://schemas.microsoft.com/office/drawing/2014/main" id="{45A67829-A09E-8B45-AD5A-2A6AB91901C4}"/>
                </a:ext>
              </a:extLst>
            </p:cNvPr>
            <p:cNvSpPr>
              <a:spLocks noChangeArrowheads="1"/>
            </p:cNvSpPr>
            <p:nvPr/>
          </p:nvSpPr>
          <p:spPr bwMode="auto">
            <a:xfrm rot="7413834">
              <a:off x="4664638" y="3358008"/>
              <a:ext cx="686036" cy="262031"/>
            </a:xfrm>
            <a:prstGeom prst="rightArrow">
              <a:avLst>
                <a:gd name="adj1" fmla="val 50000"/>
                <a:gd name="adj2" fmla="val 75000"/>
              </a:avLst>
            </a:prstGeom>
            <a:solidFill>
              <a:schemeClr val="accent5">
                <a:lumMod val="50000"/>
              </a:schemeClr>
            </a:solidFill>
            <a:ln w="9525" cap="sq">
              <a:noFill/>
              <a:miter lim="800000"/>
              <a:headEnd/>
              <a:tailEnd/>
            </a:ln>
            <a:effectLst/>
          </p:spPr>
          <p:txBody>
            <a:bodyPr wrap="none" anchor="ctr"/>
            <a:lstStyle/>
            <a:p>
              <a:pPr>
                <a:defRPr/>
              </a:pPr>
              <a:endParaRPr lang="zh-CN" altLang="en-US">
                <a:solidFill>
                  <a:schemeClr val="bg1"/>
                </a:solidFill>
                <a:latin typeface="Arial" charset="0"/>
              </a:endParaRPr>
            </a:p>
          </p:txBody>
        </p:sp>
        <p:grpSp>
          <p:nvGrpSpPr>
            <p:cNvPr id="2" name="组合 1">
              <a:extLst>
                <a:ext uri="{FF2B5EF4-FFF2-40B4-BE49-F238E27FC236}">
                  <a16:creationId xmlns:a16="http://schemas.microsoft.com/office/drawing/2014/main" id="{FEBCA9D3-C00C-D74D-85AF-0AC5696C4921}"/>
                </a:ext>
              </a:extLst>
            </p:cNvPr>
            <p:cNvGrpSpPr/>
            <p:nvPr/>
          </p:nvGrpSpPr>
          <p:grpSpPr>
            <a:xfrm>
              <a:off x="713332" y="2515002"/>
              <a:ext cx="3124200" cy="1213941"/>
              <a:chOff x="353786" y="3033554"/>
              <a:chExt cx="3124200" cy="1213941"/>
            </a:xfrm>
          </p:grpSpPr>
          <p:sp>
            <p:nvSpPr>
              <p:cNvPr id="18" name="Text Box 5">
                <a:extLst>
                  <a:ext uri="{FF2B5EF4-FFF2-40B4-BE49-F238E27FC236}">
                    <a16:creationId xmlns:a16="http://schemas.microsoft.com/office/drawing/2014/main" id="{FABCD1EE-035A-ED4D-8314-6AFC8EC5C325}"/>
                  </a:ext>
                </a:extLst>
              </p:cNvPr>
              <p:cNvSpPr txBox="1">
                <a:spLocks noChangeArrowheads="1"/>
              </p:cNvSpPr>
              <p:nvPr/>
            </p:nvSpPr>
            <p:spPr bwMode="auto">
              <a:xfrm>
                <a:off x="1073823" y="3033554"/>
                <a:ext cx="1570038" cy="369221"/>
              </a:xfrm>
              <a:prstGeom prst="rect">
                <a:avLst/>
              </a:prstGeom>
              <a:noFill/>
              <a:ln w="9525" cap="sq">
                <a:solidFill>
                  <a:srgbClr val="000000"/>
                </a:solidFill>
                <a:miter lim="800000"/>
                <a:headEnd/>
                <a:tailEnd/>
              </a:ln>
              <a:effec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a:solidFill>
                      <a:schemeClr val="tx2"/>
                    </a:solidFill>
                    <a:latin typeface="Kaiti SC" panose="02010600040101010101" pitchFamily="2" charset="-122"/>
                    <a:ea typeface="Kaiti SC" panose="02010600040101010101" pitchFamily="2" charset="-122"/>
                  </a:rPr>
                  <a:t>模块接口测试</a:t>
                </a:r>
              </a:p>
            </p:txBody>
          </p:sp>
          <p:sp>
            <p:nvSpPr>
              <p:cNvPr id="28" name="Text Box 15">
                <a:extLst>
                  <a:ext uri="{FF2B5EF4-FFF2-40B4-BE49-F238E27FC236}">
                    <a16:creationId xmlns:a16="http://schemas.microsoft.com/office/drawing/2014/main" id="{0E22F2CF-2259-B940-BE93-35D253A4D515}"/>
                  </a:ext>
                </a:extLst>
              </p:cNvPr>
              <p:cNvSpPr txBox="1">
                <a:spLocks noChangeArrowheads="1"/>
              </p:cNvSpPr>
              <p:nvPr/>
            </p:nvSpPr>
            <p:spPr bwMode="auto">
              <a:xfrm>
                <a:off x="353786" y="3416498"/>
                <a:ext cx="3124200" cy="830997"/>
              </a:xfrm>
              <a:prstGeom prst="rect">
                <a:avLst/>
              </a:prstGeom>
              <a:solidFill>
                <a:schemeClr val="accent5">
                  <a:lumMod val="40000"/>
                  <a:lumOff val="60000"/>
                </a:schemeClr>
              </a:solidFill>
              <a:ln w="12700" cap="sq">
                <a:solidFill>
                  <a:schemeClr val="tx2"/>
                </a:solidFill>
                <a:miter lim="800000"/>
                <a:headEnd/>
                <a:tailEnd/>
              </a:ln>
              <a:effectLst>
                <a:prstShdw prst="shdw17" dist="17961" dir="2700000">
                  <a:schemeClr val="tx2">
                    <a:gamma/>
                    <a:shade val="60000"/>
                    <a:invGamma/>
                  </a:schemeClr>
                </a:prstShdw>
              </a:effec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pPr>
                <a:r>
                  <a:rPr lang="en-US" altLang="zh-CN" sz="1600" dirty="0">
                    <a:solidFill>
                      <a:schemeClr val="tx2"/>
                    </a:solidFill>
                    <a:latin typeface="楷体_GB2312" panose="02010609030101010101" pitchFamily="49" charset="-122"/>
                    <a:ea typeface="楷体_GB2312" panose="02010609030101010101" pitchFamily="49" charset="-122"/>
                  </a:rPr>
                  <a:t>I/O </a:t>
                </a:r>
                <a:r>
                  <a:rPr lang="zh-CN" altLang="en-US" sz="1600" dirty="0">
                    <a:solidFill>
                      <a:schemeClr val="tx2"/>
                    </a:solidFill>
                    <a:latin typeface="楷体_GB2312" panose="02010609030101010101" pitchFamily="49" charset="-122"/>
                    <a:ea typeface="楷体_GB2312" panose="02010609030101010101" pitchFamily="49" charset="-122"/>
                  </a:rPr>
                  <a:t>参数值的个数、类型、次序、格式是否正确，</a:t>
                </a:r>
                <a:r>
                  <a:rPr lang="en-US" altLang="zh-CN" sz="1600" dirty="0">
                    <a:solidFill>
                      <a:schemeClr val="tx2"/>
                    </a:solidFill>
                    <a:latin typeface="楷体_GB2312" panose="02010609030101010101" pitchFamily="49" charset="-122"/>
                    <a:ea typeface="楷体_GB2312" panose="02010609030101010101" pitchFamily="49" charset="-122"/>
                  </a:rPr>
                  <a:t>I/O</a:t>
                </a:r>
                <a:r>
                  <a:rPr lang="zh-CN" altLang="en-US" sz="1600" dirty="0">
                    <a:solidFill>
                      <a:schemeClr val="tx2"/>
                    </a:solidFill>
                    <a:latin typeface="楷体_GB2312" panose="02010609030101010101" pitchFamily="49" charset="-122"/>
                    <a:ea typeface="楷体_GB2312" panose="02010609030101010101" pitchFamily="49" charset="-122"/>
                  </a:rPr>
                  <a:t>文件属性、操作是否正确等。</a:t>
                </a:r>
              </a:p>
            </p:txBody>
          </p:sp>
        </p:grpSp>
        <p:grpSp>
          <p:nvGrpSpPr>
            <p:cNvPr id="5" name="组合 4">
              <a:extLst>
                <a:ext uri="{FF2B5EF4-FFF2-40B4-BE49-F238E27FC236}">
                  <a16:creationId xmlns:a16="http://schemas.microsoft.com/office/drawing/2014/main" id="{8AD6CB18-03F5-E74B-BEDD-367493BEB038}"/>
                </a:ext>
              </a:extLst>
            </p:cNvPr>
            <p:cNvGrpSpPr/>
            <p:nvPr/>
          </p:nvGrpSpPr>
          <p:grpSpPr>
            <a:xfrm>
              <a:off x="5797659" y="4421934"/>
              <a:ext cx="2832100" cy="969250"/>
              <a:chOff x="5922736" y="4743427"/>
              <a:chExt cx="2832100" cy="969250"/>
            </a:xfrm>
          </p:grpSpPr>
          <p:sp>
            <p:nvSpPr>
              <p:cNvPr id="19" name="Text Box 6">
                <a:extLst>
                  <a:ext uri="{FF2B5EF4-FFF2-40B4-BE49-F238E27FC236}">
                    <a16:creationId xmlns:a16="http://schemas.microsoft.com/office/drawing/2014/main" id="{5F2D5030-3B5F-D849-9C99-6BD2BEE1B6BA}"/>
                  </a:ext>
                </a:extLst>
              </p:cNvPr>
              <p:cNvSpPr txBox="1">
                <a:spLocks noChangeArrowheads="1"/>
              </p:cNvSpPr>
              <p:nvPr/>
            </p:nvSpPr>
            <p:spPr bwMode="auto">
              <a:xfrm>
                <a:off x="6309292" y="4743427"/>
                <a:ext cx="2032000" cy="369221"/>
              </a:xfrm>
              <a:prstGeom prst="rect">
                <a:avLst/>
              </a:prstGeom>
              <a:noFill/>
              <a:ln w="9525" cap="sq">
                <a:solidFill>
                  <a:srgbClr val="000000"/>
                </a:solidFill>
                <a:miter lim="800000"/>
                <a:headEnd/>
                <a:tailEnd/>
              </a:ln>
              <a:effectLst/>
            </p:spPr>
            <p:txBody>
              <a:bodyPr wrap="none" anchor="ctr">
                <a:spAutoFit/>
              </a:bodyPr>
              <a:lstStyle>
                <a:defPPr>
                  <a:defRPr lang="en-US"/>
                </a:defPPr>
                <a:lvl1pPr algn="just">
                  <a:defRPr>
                    <a:solidFill>
                      <a:schemeClr val="tx2"/>
                    </a:solidFill>
                    <a:latin typeface="Kaiti SC" panose="02010600040101010101" pitchFamily="2" charset="-122"/>
                    <a:ea typeface="Kaiti SC" panose="0201060004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局部数据结构测试</a:t>
                </a:r>
              </a:p>
            </p:txBody>
          </p:sp>
          <p:sp>
            <p:nvSpPr>
              <p:cNvPr id="29" name="Text Box 16">
                <a:extLst>
                  <a:ext uri="{FF2B5EF4-FFF2-40B4-BE49-F238E27FC236}">
                    <a16:creationId xmlns:a16="http://schemas.microsoft.com/office/drawing/2014/main" id="{9436C1B5-C22F-FE42-B9C2-C95FD5042ED5}"/>
                  </a:ext>
                </a:extLst>
              </p:cNvPr>
              <p:cNvSpPr txBox="1">
                <a:spLocks noChangeArrowheads="1"/>
              </p:cNvSpPr>
              <p:nvPr/>
            </p:nvSpPr>
            <p:spPr bwMode="auto">
              <a:xfrm>
                <a:off x="5922736" y="5127902"/>
                <a:ext cx="2832100" cy="584775"/>
              </a:xfrm>
              <a:prstGeom prst="rect">
                <a:avLst/>
              </a:prstGeom>
              <a:solidFill>
                <a:schemeClr val="accent5">
                  <a:lumMod val="40000"/>
                  <a:lumOff val="60000"/>
                </a:schemeClr>
              </a:solidFill>
              <a:ln w="12700" cap="sq">
                <a:solidFill>
                  <a:schemeClr val="tx2"/>
                </a:solidFill>
                <a:miter lim="800000"/>
                <a:headEnd/>
                <a:tailEnd/>
              </a:ln>
              <a:effectLst>
                <a:prstShdw prst="shdw17" dist="17961" dir="2700000">
                  <a:schemeClr val="tx2">
                    <a:gamma/>
                    <a:shade val="60000"/>
                    <a:invGamma/>
                  </a:schemeClr>
                </a:prstShdw>
              </a:effectLst>
            </p:spPr>
            <p:txBody>
              <a:bodyPr anchor="ctr">
                <a:spAutoFit/>
              </a:bodyPr>
              <a:lstStyle>
                <a:defPPr>
                  <a:defRPr lang="en-US"/>
                </a:defPPr>
                <a:lvl1pPr algn="just">
                  <a:spcBef>
                    <a:spcPct val="20000"/>
                  </a:spcBef>
                  <a:defRPr sz="1600">
                    <a:solidFill>
                      <a:schemeClr val="tx2"/>
                    </a:solidFill>
                    <a:latin typeface="楷体_GB2312" panose="02010609030101010101" pitchFamily="49" charset="-122"/>
                    <a:ea typeface="楷体_GB2312" panose="02010609030101010101" pitchFamily="49"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数据说明是否正确、一致，变量及其初值定义是否正确等。</a:t>
                </a:r>
              </a:p>
            </p:txBody>
          </p:sp>
        </p:grpSp>
        <p:grpSp>
          <p:nvGrpSpPr>
            <p:cNvPr id="4" name="组合 3">
              <a:extLst>
                <a:ext uri="{FF2B5EF4-FFF2-40B4-BE49-F238E27FC236}">
                  <a16:creationId xmlns:a16="http://schemas.microsoft.com/office/drawing/2014/main" id="{ACF52A31-E2CB-AB43-9AD8-0949F029FC76}"/>
                </a:ext>
              </a:extLst>
            </p:cNvPr>
            <p:cNvGrpSpPr/>
            <p:nvPr/>
          </p:nvGrpSpPr>
          <p:grpSpPr>
            <a:xfrm>
              <a:off x="3552934" y="5376960"/>
              <a:ext cx="2133600" cy="947993"/>
              <a:chOff x="3554186" y="5040909"/>
              <a:chExt cx="2133600" cy="947993"/>
            </a:xfrm>
          </p:grpSpPr>
          <p:sp>
            <p:nvSpPr>
              <p:cNvPr id="21" name="Text Box 8">
                <a:extLst>
                  <a:ext uri="{FF2B5EF4-FFF2-40B4-BE49-F238E27FC236}">
                    <a16:creationId xmlns:a16="http://schemas.microsoft.com/office/drawing/2014/main" id="{7E758F9B-9D7C-2144-AFD0-E2BD2E92487A}"/>
                  </a:ext>
                </a:extLst>
              </p:cNvPr>
              <p:cNvSpPr txBox="1">
                <a:spLocks noChangeArrowheads="1"/>
              </p:cNvSpPr>
              <p:nvPr/>
            </p:nvSpPr>
            <p:spPr bwMode="auto">
              <a:xfrm>
                <a:off x="3835967" y="5040909"/>
                <a:ext cx="1570038" cy="369221"/>
              </a:xfrm>
              <a:prstGeom prst="rect">
                <a:avLst/>
              </a:prstGeom>
              <a:noFill/>
              <a:ln w="9525" cap="sq">
                <a:solidFill>
                  <a:srgbClr val="000000"/>
                </a:solidFill>
                <a:miter lim="800000"/>
                <a:headEnd/>
                <a:tailEnd/>
              </a:ln>
              <a:effectLst/>
            </p:spPr>
            <p:txBody>
              <a:bodyPr wrap="none" anchor="ctr">
                <a:spAutoFit/>
              </a:bodyPr>
              <a:lstStyle>
                <a:defPPr>
                  <a:defRPr lang="en-US"/>
                </a:defPPr>
                <a:lvl1pPr algn="just">
                  <a:defRPr>
                    <a:solidFill>
                      <a:schemeClr val="tx2"/>
                    </a:solidFill>
                    <a:latin typeface="Kaiti SC" panose="02010600040101010101" pitchFamily="2" charset="-122"/>
                    <a:ea typeface="Kaiti SC" panose="0201060004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错误处理测试</a:t>
                </a:r>
              </a:p>
            </p:txBody>
          </p:sp>
          <p:sp>
            <p:nvSpPr>
              <p:cNvPr id="30" name="Text Box 17">
                <a:extLst>
                  <a:ext uri="{FF2B5EF4-FFF2-40B4-BE49-F238E27FC236}">
                    <a16:creationId xmlns:a16="http://schemas.microsoft.com/office/drawing/2014/main" id="{072F018A-9F18-024A-BB6B-A9F9AA17B0B5}"/>
                  </a:ext>
                </a:extLst>
              </p:cNvPr>
              <p:cNvSpPr txBox="1">
                <a:spLocks noChangeArrowheads="1"/>
              </p:cNvSpPr>
              <p:nvPr/>
            </p:nvSpPr>
            <p:spPr bwMode="auto">
              <a:xfrm>
                <a:off x="3554186" y="5404127"/>
                <a:ext cx="2133600" cy="584775"/>
              </a:xfrm>
              <a:prstGeom prst="rect">
                <a:avLst/>
              </a:prstGeom>
              <a:solidFill>
                <a:schemeClr val="accent5">
                  <a:lumMod val="40000"/>
                  <a:lumOff val="60000"/>
                </a:schemeClr>
              </a:solidFill>
              <a:ln w="12700" cap="sq">
                <a:solidFill>
                  <a:schemeClr val="tx2"/>
                </a:solidFill>
                <a:miter lim="800000"/>
                <a:headEnd/>
                <a:tailEnd/>
              </a:ln>
              <a:effectLst>
                <a:prstShdw prst="shdw17" dist="17961" dir="2700000">
                  <a:schemeClr val="tx2">
                    <a:gamma/>
                    <a:shade val="60000"/>
                    <a:invGamma/>
                  </a:schemeClr>
                </a:prstShdw>
              </a:effectLst>
            </p:spPr>
            <p:txBody>
              <a:bodyPr anchor="ctr">
                <a:spAutoFit/>
              </a:bodyPr>
              <a:lstStyle>
                <a:defPPr>
                  <a:defRPr lang="en-US"/>
                </a:defPPr>
                <a:lvl1pPr algn="just">
                  <a:spcBef>
                    <a:spcPct val="20000"/>
                  </a:spcBef>
                  <a:defRPr sz="1600">
                    <a:solidFill>
                      <a:schemeClr val="tx2"/>
                    </a:solidFill>
                    <a:latin typeface="楷体_GB2312" panose="02010609030101010101" pitchFamily="49" charset="-122"/>
                    <a:ea typeface="楷体_GB2312" panose="02010609030101010101" pitchFamily="49"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检查“错误处理程序”本身的错误。</a:t>
                </a:r>
              </a:p>
            </p:txBody>
          </p:sp>
        </p:grpSp>
        <p:grpSp>
          <p:nvGrpSpPr>
            <p:cNvPr id="3" name="组合 2">
              <a:extLst>
                <a:ext uri="{FF2B5EF4-FFF2-40B4-BE49-F238E27FC236}">
                  <a16:creationId xmlns:a16="http://schemas.microsoft.com/office/drawing/2014/main" id="{6405180E-B7DF-F447-ADDA-A330B2B3B217}"/>
                </a:ext>
              </a:extLst>
            </p:cNvPr>
            <p:cNvGrpSpPr/>
            <p:nvPr/>
          </p:nvGrpSpPr>
          <p:grpSpPr>
            <a:xfrm>
              <a:off x="458727" y="4419231"/>
              <a:ext cx="2895600" cy="1203819"/>
              <a:chOff x="372836" y="4867713"/>
              <a:chExt cx="2895600" cy="1203819"/>
            </a:xfrm>
          </p:grpSpPr>
          <p:sp>
            <p:nvSpPr>
              <p:cNvPr id="22" name="Text Box 9">
                <a:extLst>
                  <a:ext uri="{FF2B5EF4-FFF2-40B4-BE49-F238E27FC236}">
                    <a16:creationId xmlns:a16="http://schemas.microsoft.com/office/drawing/2014/main" id="{846F9476-51F8-8A4B-8A94-BE50FDF0817A}"/>
                  </a:ext>
                </a:extLst>
              </p:cNvPr>
              <p:cNvSpPr txBox="1">
                <a:spLocks noChangeArrowheads="1"/>
              </p:cNvSpPr>
              <p:nvPr/>
            </p:nvSpPr>
            <p:spPr bwMode="auto">
              <a:xfrm>
                <a:off x="1027899" y="4867713"/>
                <a:ext cx="1570038" cy="369221"/>
              </a:xfrm>
              <a:prstGeom prst="rect">
                <a:avLst/>
              </a:prstGeom>
              <a:noFill/>
              <a:ln w="9525" cap="sq">
                <a:solidFill>
                  <a:srgbClr val="000000"/>
                </a:solidFill>
                <a:miter lim="800000"/>
                <a:headEnd/>
                <a:tailEnd/>
              </a:ln>
              <a:effectLst/>
            </p:spPr>
            <p:txBody>
              <a:bodyPr wrap="none" anchor="ctr">
                <a:spAutoFit/>
              </a:bodyPr>
              <a:lstStyle>
                <a:defPPr>
                  <a:defRPr lang="en-US"/>
                </a:defPPr>
                <a:lvl1pPr algn="just">
                  <a:defRPr>
                    <a:solidFill>
                      <a:schemeClr val="tx2"/>
                    </a:solidFill>
                    <a:latin typeface="Kaiti SC" panose="02010600040101010101" pitchFamily="2" charset="-122"/>
                    <a:ea typeface="Kaiti SC" panose="0201060004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边界条件测试</a:t>
                </a:r>
              </a:p>
            </p:txBody>
          </p:sp>
          <p:sp>
            <p:nvSpPr>
              <p:cNvPr id="31" name="Text Box 18">
                <a:extLst>
                  <a:ext uri="{FF2B5EF4-FFF2-40B4-BE49-F238E27FC236}">
                    <a16:creationId xmlns:a16="http://schemas.microsoft.com/office/drawing/2014/main" id="{EB81411F-E45F-CD45-80E0-37BC46D29BBD}"/>
                  </a:ext>
                </a:extLst>
              </p:cNvPr>
              <p:cNvSpPr txBox="1">
                <a:spLocks noChangeArrowheads="1"/>
              </p:cNvSpPr>
              <p:nvPr/>
            </p:nvSpPr>
            <p:spPr bwMode="auto">
              <a:xfrm>
                <a:off x="372836" y="5240535"/>
                <a:ext cx="2895600" cy="830997"/>
              </a:xfrm>
              <a:prstGeom prst="rect">
                <a:avLst/>
              </a:prstGeom>
              <a:solidFill>
                <a:schemeClr val="accent5">
                  <a:lumMod val="40000"/>
                  <a:lumOff val="60000"/>
                </a:schemeClr>
              </a:solidFill>
              <a:ln w="12700" cap="sq">
                <a:solidFill>
                  <a:schemeClr val="tx2"/>
                </a:solidFill>
                <a:miter lim="800000"/>
                <a:headEnd/>
                <a:tailEnd/>
              </a:ln>
              <a:effectLst>
                <a:prstShdw prst="shdw17" dist="17961" dir="2700000">
                  <a:schemeClr val="tx2">
                    <a:gamma/>
                    <a:shade val="60000"/>
                    <a:invGamma/>
                  </a:schemeClr>
                </a:prstShdw>
              </a:effectLst>
            </p:spPr>
            <p:txBody>
              <a:bodyPr anchor="ctr">
                <a:spAutoFit/>
              </a:bodyPr>
              <a:lstStyle>
                <a:defPPr>
                  <a:defRPr lang="en-US"/>
                </a:defPPr>
                <a:lvl1pPr algn="just">
                  <a:spcBef>
                    <a:spcPct val="20000"/>
                  </a:spcBef>
                  <a:defRPr sz="1600">
                    <a:solidFill>
                      <a:schemeClr val="tx2"/>
                    </a:solidFill>
                    <a:latin typeface="楷体_GB2312" panose="02010609030101010101" pitchFamily="49" charset="-122"/>
                    <a:ea typeface="楷体_GB2312" panose="02010609030101010101" pitchFamily="49"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边界条件常包括循环边界，最大最小值、控制流中等于、大于、小于的比较值等。</a:t>
                </a:r>
              </a:p>
            </p:txBody>
          </p:sp>
        </p:grpSp>
        <p:grpSp>
          <p:nvGrpSpPr>
            <p:cNvPr id="6" name="组合 5">
              <a:extLst>
                <a:ext uri="{FF2B5EF4-FFF2-40B4-BE49-F238E27FC236}">
                  <a16:creationId xmlns:a16="http://schemas.microsoft.com/office/drawing/2014/main" id="{5F89F217-1CB9-6D49-8FF0-0F4E1F858B5D}"/>
                </a:ext>
              </a:extLst>
            </p:cNvPr>
            <p:cNvGrpSpPr/>
            <p:nvPr/>
          </p:nvGrpSpPr>
          <p:grpSpPr>
            <a:xfrm>
              <a:off x="5350920" y="2531691"/>
              <a:ext cx="2636883" cy="1224325"/>
              <a:chOff x="5998986" y="3237967"/>
              <a:chExt cx="2636883" cy="1224325"/>
            </a:xfrm>
          </p:grpSpPr>
          <p:sp>
            <p:nvSpPr>
              <p:cNvPr id="20" name="Text Box 7">
                <a:extLst>
                  <a:ext uri="{FF2B5EF4-FFF2-40B4-BE49-F238E27FC236}">
                    <a16:creationId xmlns:a16="http://schemas.microsoft.com/office/drawing/2014/main" id="{2C2798B2-B983-2F45-BB62-2D8D3CC55B0B}"/>
                  </a:ext>
                </a:extLst>
              </p:cNvPr>
              <p:cNvSpPr txBox="1">
                <a:spLocks noChangeArrowheads="1"/>
              </p:cNvSpPr>
              <p:nvPr/>
            </p:nvSpPr>
            <p:spPr bwMode="auto">
              <a:xfrm>
                <a:off x="6540273" y="3237967"/>
                <a:ext cx="1570038" cy="369221"/>
              </a:xfrm>
              <a:prstGeom prst="rect">
                <a:avLst/>
              </a:prstGeom>
              <a:noFill/>
              <a:ln w="9525" cap="sq">
                <a:solidFill>
                  <a:srgbClr val="000000"/>
                </a:solidFill>
                <a:miter lim="800000"/>
                <a:headEnd/>
                <a:tailEnd/>
              </a:ln>
              <a:effectLst/>
            </p:spPr>
            <p:txBody>
              <a:bodyPr wrap="none" anchor="ctr">
                <a:spAutoFit/>
              </a:bodyPr>
              <a:lstStyle>
                <a:defPPr>
                  <a:defRPr lang="en-US"/>
                </a:defPPr>
                <a:lvl1pPr algn="just">
                  <a:defRPr>
                    <a:solidFill>
                      <a:schemeClr val="tx2"/>
                    </a:solidFill>
                    <a:latin typeface="Kaiti SC" panose="02010600040101010101" pitchFamily="2" charset="-122"/>
                    <a:ea typeface="Kaiti SC" panose="0201060004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重要路径测试</a:t>
                </a:r>
              </a:p>
            </p:txBody>
          </p:sp>
          <p:sp>
            <p:nvSpPr>
              <p:cNvPr id="32" name="Text Box 19">
                <a:extLst>
                  <a:ext uri="{FF2B5EF4-FFF2-40B4-BE49-F238E27FC236}">
                    <a16:creationId xmlns:a16="http://schemas.microsoft.com/office/drawing/2014/main" id="{E04B95BE-58E6-8E4A-882D-D7CC8CE12E1E}"/>
                  </a:ext>
                </a:extLst>
              </p:cNvPr>
              <p:cNvSpPr txBox="1">
                <a:spLocks noChangeArrowheads="1"/>
              </p:cNvSpPr>
              <p:nvPr/>
            </p:nvSpPr>
            <p:spPr bwMode="auto">
              <a:xfrm>
                <a:off x="5998986" y="3631295"/>
                <a:ext cx="2636883" cy="830997"/>
              </a:xfrm>
              <a:prstGeom prst="rect">
                <a:avLst/>
              </a:prstGeom>
              <a:solidFill>
                <a:schemeClr val="accent5">
                  <a:lumMod val="40000"/>
                  <a:lumOff val="60000"/>
                </a:schemeClr>
              </a:solidFill>
              <a:ln w="12700" cap="sq">
                <a:solidFill>
                  <a:schemeClr val="tx2"/>
                </a:solidFill>
                <a:miter lim="800000"/>
                <a:headEnd/>
                <a:tailEnd/>
              </a:ln>
              <a:effectLst>
                <a:prstShdw prst="shdw17" dist="17961" dir="2700000">
                  <a:schemeClr val="tx2">
                    <a:gamma/>
                    <a:shade val="60000"/>
                    <a:invGamma/>
                  </a:schemeClr>
                </a:prstShdw>
              </a:effectLst>
            </p:spPr>
            <p:txBody>
              <a:bodyPr wrap="square" anchor="ctr">
                <a:spAutoFit/>
              </a:bodyPr>
              <a:lstStyle>
                <a:defPPr>
                  <a:defRPr lang="en-US"/>
                </a:defPPr>
                <a:lvl1pPr algn="just">
                  <a:spcBef>
                    <a:spcPct val="20000"/>
                  </a:spcBef>
                  <a:defRPr sz="1600">
                    <a:solidFill>
                      <a:schemeClr val="tx2"/>
                    </a:solidFill>
                    <a:latin typeface="楷体_GB2312" panose="02010609030101010101" pitchFamily="49" charset="-122"/>
                    <a:ea typeface="楷体_GB2312" panose="02010609030101010101" pitchFamily="49"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重要路径通常是指完成模块功能的主要路径，一般是控制结构。</a:t>
                </a:r>
              </a:p>
            </p:txBody>
          </p:sp>
        </p:grpSp>
        <p:sp>
          <p:nvSpPr>
            <p:cNvPr id="33" name="Oval 23">
              <a:hlinkClick r:id="" action="ppaction://hlinkshowjump?jump=previousslide"/>
              <a:extLst>
                <a:ext uri="{FF2B5EF4-FFF2-40B4-BE49-F238E27FC236}">
                  <a16:creationId xmlns:a16="http://schemas.microsoft.com/office/drawing/2014/main" id="{6D281867-A02E-924E-B8B1-8669057E185B}"/>
                </a:ext>
              </a:extLst>
            </p:cNvPr>
            <p:cNvSpPr>
              <a:spLocks noChangeArrowheads="1"/>
            </p:cNvSpPr>
            <p:nvPr/>
          </p:nvSpPr>
          <p:spPr bwMode="auto">
            <a:xfrm>
              <a:off x="6430736" y="6270396"/>
              <a:ext cx="692150" cy="17621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4" name="Oval 24">
              <a:hlinkClick r:id="" action="ppaction://hlinkshowjump?jump=nextslide"/>
              <a:extLst>
                <a:ext uri="{FF2B5EF4-FFF2-40B4-BE49-F238E27FC236}">
                  <a16:creationId xmlns:a16="http://schemas.microsoft.com/office/drawing/2014/main" id="{0E6FAC2E-DF99-CA4B-9EFB-F55FF3F052E2}"/>
                </a:ext>
              </a:extLst>
            </p:cNvPr>
            <p:cNvSpPr>
              <a:spLocks noChangeArrowheads="1"/>
            </p:cNvSpPr>
            <p:nvPr/>
          </p:nvSpPr>
          <p:spPr bwMode="auto">
            <a:xfrm>
              <a:off x="7345136" y="6270396"/>
              <a:ext cx="692150" cy="17621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 name="Oval 25">
              <a:hlinkClick r:id="rId2" action="ppaction://hlinksldjump"/>
              <a:extLst>
                <a:ext uri="{FF2B5EF4-FFF2-40B4-BE49-F238E27FC236}">
                  <a16:creationId xmlns:a16="http://schemas.microsoft.com/office/drawing/2014/main" id="{C4B002C3-600F-1941-A7AC-2DD201CB5907}"/>
                </a:ext>
              </a:extLst>
            </p:cNvPr>
            <p:cNvSpPr>
              <a:spLocks noChangeArrowheads="1"/>
            </p:cNvSpPr>
            <p:nvPr/>
          </p:nvSpPr>
          <p:spPr bwMode="auto">
            <a:xfrm>
              <a:off x="8221436" y="6270396"/>
              <a:ext cx="692150" cy="17621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extLst>
      <p:ext uri="{BB962C8B-B14F-4D97-AF65-F5344CB8AC3E}">
        <p14:creationId xmlns:p14="http://schemas.microsoft.com/office/powerpoint/2010/main" val="25683208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单元测试环境</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2427059"/>
            <a:ext cx="6858193" cy="3941084"/>
          </a:xfrm>
          <a:prstGeom prst="rect">
            <a:avLst/>
          </a:prstGeom>
        </p:spPr>
        <p:txBody>
          <a:bodyPr vert="horz" lIns="91440" tIns="45720" rIns="91440" bIns="45720" rtlCol="0">
            <a:normAutofit fontScale="925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lnSpc>
                <a:spcPct val="130000"/>
              </a:lnSpc>
              <a:buFont typeface="Arial" panose="020B0604020202020204" pitchFamily="34" charset="0"/>
              <a:buChar char="•"/>
            </a:pPr>
            <a:r>
              <a:rPr lang="zh-CN" altLang="zh-CN" sz="1800" dirty="0">
                <a:latin typeface="微软雅黑" panose="020B0503020204020204" pitchFamily="34" charset="-122"/>
              </a:rPr>
              <a:t>被测试的</a:t>
            </a:r>
            <a:r>
              <a:rPr lang="zh-CN" altLang="en-US" sz="1800" dirty="0">
                <a:latin typeface="微软雅黑" panose="020B0503020204020204" pitchFamily="34" charset="-122"/>
              </a:rPr>
              <a:t>单元</a:t>
            </a:r>
            <a:r>
              <a:rPr lang="zh-CN" altLang="zh-CN" sz="1800" dirty="0">
                <a:latin typeface="微软雅黑" panose="020B0503020204020204" pitchFamily="34" charset="-122"/>
              </a:rPr>
              <a:t>模块往往不是独立的程序</a:t>
            </a:r>
            <a:r>
              <a:rPr lang="zh-CN" altLang="en-US" sz="1800" dirty="0">
                <a:latin typeface="微软雅黑" panose="020B0503020204020204" pitchFamily="34" charset="-122"/>
              </a:rPr>
              <a:t>，无法单独运行，因此，需要构建测试环境</a:t>
            </a:r>
            <a:endParaRPr lang="en-US" altLang="zh-CN" sz="1800" dirty="0">
              <a:latin typeface="微软雅黑" panose="020B0503020204020204" pitchFamily="34" charset="-122"/>
            </a:endParaRPr>
          </a:p>
          <a:p>
            <a:pPr marL="342900" indent="-342900">
              <a:lnSpc>
                <a:spcPct val="130000"/>
              </a:lnSpc>
              <a:buFont typeface="Arial" panose="020B0604020202020204" pitchFamily="34" charset="0"/>
              <a:buChar char="•"/>
            </a:pPr>
            <a:r>
              <a:rPr lang="zh-CN" altLang="en-US" sz="1800" dirty="0">
                <a:latin typeface="微软雅黑" panose="020B0503020204020204" pitchFamily="34" charset="-122"/>
                <a:sym typeface="微软雅黑" panose="020B0503020204020204" pitchFamily="34" charset="-122"/>
              </a:rPr>
              <a:t>由于被测试的模块处于整个软件结构的某一层次上，  被其它模块调用或调用其他模块，其本身不能进行单独运行。因此，在单元测试时，需要为被测模块设计 </a:t>
            </a:r>
            <a:r>
              <a:rPr lang="zh-CN" altLang="en-US" sz="1800" dirty="0">
                <a:solidFill>
                  <a:srgbClr val="C00000"/>
                </a:solidFill>
                <a:latin typeface="微软雅黑" panose="020B0503020204020204" pitchFamily="34" charset="-122"/>
                <a:sym typeface="微软雅黑" panose="020B0503020204020204" pitchFamily="34" charset="-122"/>
              </a:rPr>
              <a:t>驱动模块</a:t>
            </a: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driver</a:t>
            </a:r>
            <a:r>
              <a:rPr lang="zh-CN" altLang="en-US" sz="1800" dirty="0">
                <a:latin typeface="微软雅黑" panose="020B0503020204020204" pitchFamily="34" charset="-122"/>
                <a:sym typeface="微软雅黑" panose="020B0503020204020204" pitchFamily="34" charset="-122"/>
              </a:rPr>
              <a:t>）和 </a:t>
            </a:r>
            <a:r>
              <a:rPr lang="zh-CN" altLang="en-US" sz="1800" dirty="0">
                <a:solidFill>
                  <a:srgbClr val="C00000"/>
                </a:solidFill>
                <a:latin typeface="微软雅黑" panose="020B0503020204020204" pitchFamily="34" charset="-122"/>
                <a:sym typeface="微软雅黑" panose="020B0503020204020204" pitchFamily="34" charset="-122"/>
              </a:rPr>
              <a:t>桩模块</a:t>
            </a: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stub</a:t>
            </a:r>
            <a:r>
              <a:rPr lang="zh-CN" altLang="en-US" sz="1800" dirty="0">
                <a:latin typeface="微软雅黑" panose="020B0503020204020204" pitchFamily="34" charset="-122"/>
                <a:sym typeface="微软雅黑" panose="020B0503020204020204" pitchFamily="34" charset="-122"/>
              </a:rPr>
              <a:t>）</a:t>
            </a:r>
            <a:endParaRPr lang="en-US" altLang="zh-CN" sz="1800" dirty="0">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驱动模块</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zh-CN" sz="1800" dirty="0">
                <a:solidFill>
                  <a:srgbClr val="000000"/>
                </a:solidFill>
                <a:latin typeface="微软雅黑" panose="020B0503020204020204" pitchFamily="34" charset="-122"/>
                <a:sym typeface="微软雅黑" panose="020B0503020204020204" pitchFamily="34" charset="-122"/>
              </a:rPr>
              <a:t>作用是用来模拟被测模块的</a:t>
            </a:r>
            <a:r>
              <a:rPr lang="zh-CN" altLang="en-US" sz="1800" dirty="0">
                <a:solidFill>
                  <a:srgbClr val="000000"/>
                </a:solidFill>
                <a:latin typeface="微软雅黑" panose="020B0503020204020204" pitchFamily="34" charset="-122"/>
                <a:sym typeface="微软雅黑" panose="020B0503020204020204" pitchFamily="34" charset="-122"/>
              </a:rPr>
              <a:t> </a:t>
            </a:r>
            <a:r>
              <a:rPr lang="zh-CN" altLang="zh-CN" sz="1800" dirty="0">
                <a:solidFill>
                  <a:srgbClr val="C00000"/>
                </a:solidFill>
                <a:latin typeface="微软雅黑" panose="020B0503020204020204" pitchFamily="34" charset="-122"/>
                <a:sym typeface="微软雅黑" panose="020B0503020204020204" pitchFamily="34" charset="-122"/>
              </a:rPr>
              <a:t>上级调用模块</a:t>
            </a:r>
            <a:r>
              <a:rPr lang="zh-CN" altLang="en-US" sz="1800" dirty="0">
                <a:solidFill>
                  <a:srgbClr val="000000"/>
                </a:solidFill>
                <a:latin typeface="微软雅黑" panose="020B0503020204020204" pitchFamily="34" charset="-122"/>
                <a:sym typeface="微软雅黑" panose="020B0503020204020204" pitchFamily="34" charset="-122"/>
              </a:rPr>
              <a:t>，功能要比真正的上级模块简单得多，它只完成接受测试数据，以上级模块调用被测模块的格式驱动被测模块，接收被测模块的测试结果并输出</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lnSpc>
                <a:spcPct val="130000"/>
              </a:lnSpc>
              <a:buFont typeface="Arial" panose="020B0604020202020204" pitchFamily="34" charset="0"/>
              <a:buChar char="•"/>
            </a:pP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桩模块</a:t>
            </a:r>
            <a:r>
              <a:rPr lang="zh-CN" altLang="en-US" sz="1800" dirty="0">
                <a:solidFill>
                  <a:srgbClr val="000000"/>
                </a:solidFill>
                <a:latin typeface="微软雅黑" panose="020B0503020204020204" pitchFamily="34" charset="-122"/>
                <a:sym typeface="微软雅黑" panose="020B0503020204020204" pitchFamily="34" charset="-122"/>
              </a:rPr>
              <a:t>：用来代替被测模块所 </a:t>
            </a:r>
            <a:r>
              <a:rPr lang="zh-CN" altLang="en-US" sz="1800" dirty="0">
                <a:solidFill>
                  <a:srgbClr val="C00000"/>
                </a:solidFill>
                <a:latin typeface="微软雅黑" panose="020B0503020204020204" pitchFamily="34" charset="-122"/>
                <a:sym typeface="微软雅黑" panose="020B0503020204020204" pitchFamily="34" charset="-122"/>
              </a:rPr>
              <a:t>调用的模块</a:t>
            </a:r>
            <a:r>
              <a:rPr lang="zh-CN" altLang="en-US" sz="1800" dirty="0">
                <a:solidFill>
                  <a:srgbClr val="000000"/>
                </a:solidFill>
                <a:latin typeface="微软雅黑" panose="020B0503020204020204" pitchFamily="34" charset="-122"/>
                <a:sym typeface="微软雅黑" panose="020B0503020204020204" pitchFamily="34" charset="-122"/>
              </a:rPr>
              <a:t>，它的作用是返回被测模块所需的信息</a:t>
            </a:r>
            <a:endParaRPr lang="zh-CN" altLang="zh-CN" sz="1800" dirty="0">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2882837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单元测试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单元测试环境</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2427059"/>
            <a:ext cx="6858193" cy="49575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1800" dirty="0">
                <a:latin typeface="Kaiti SC" panose="02010600040101010101" pitchFamily="2" charset="-122"/>
                <a:ea typeface="Kaiti SC" panose="02010600040101010101" pitchFamily="2" charset="-122"/>
              </a:rPr>
              <a:t>如图（</a:t>
            </a:r>
            <a:r>
              <a:rPr lang="en-US" altLang="zh-CN" sz="1800" dirty="0">
                <a:latin typeface="Kaiti SC" panose="02010600040101010101" pitchFamily="2" charset="-122"/>
                <a:ea typeface="Kaiti SC" panose="02010600040101010101" pitchFamily="2" charset="-122"/>
              </a:rPr>
              <a:t>a</a:t>
            </a:r>
            <a:r>
              <a:rPr lang="zh-CN" altLang="en-US" sz="1800" dirty="0">
                <a:latin typeface="Kaiti SC" panose="02010600040101010101" pitchFamily="2" charset="-122"/>
                <a:ea typeface="Kaiti SC" panose="02010600040101010101" pitchFamily="2" charset="-122"/>
              </a:rPr>
              <a:t>）所示为待测软件结构，</a:t>
            </a:r>
            <a:r>
              <a:rPr lang="zh-CN" altLang="en-US" sz="1800" dirty="0">
                <a:highlight>
                  <a:srgbClr val="FFFF00"/>
                </a:highlight>
                <a:latin typeface="Kaiti SC" panose="02010600040101010101" pitchFamily="2" charset="-122"/>
                <a:ea typeface="Kaiti SC" panose="02010600040101010101" pitchFamily="2" charset="-122"/>
              </a:rPr>
              <a:t>模块</a:t>
            </a:r>
            <a:r>
              <a:rPr lang="en-US" altLang="zh-CN" sz="1800" dirty="0">
                <a:highlight>
                  <a:srgbClr val="FFFF00"/>
                </a:highlight>
                <a:latin typeface="Kaiti SC" panose="02010600040101010101" pitchFamily="2" charset="-122"/>
                <a:ea typeface="Kaiti SC" panose="02010600040101010101" pitchFamily="2" charset="-122"/>
              </a:rPr>
              <a:t>B</a:t>
            </a:r>
            <a:r>
              <a:rPr lang="zh-CN" altLang="en-US" sz="1800" dirty="0">
                <a:latin typeface="Kaiti SC" panose="02010600040101010101" pitchFamily="2" charset="-122"/>
                <a:ea typeface="Kaiti SC" panose="02010600040101010101" pitchFamily="2" charset="-122"/>
              </a:rPr>
              <a:t>的测试环境如图（</a:t>
            </a:r>
            <a:r>
              <a:rPr lang="en-US" altLang="zh-CN" sz="1800" dirty="0">
                <a:latin typeface="Kaiti SC" panose="02010600040101010101" pitchFamily="2" charset="-122"/>
                <a:ea typeface="Kaiti SC" panose="02010600040101010101" pitchFamily="2" charset="-122"/>
              </a:rPr>
              <a:t>b</a:t>
            </a:r>
            <a:r>
              <a:rPr lang="zh-CN" altLang="en-US" sz="1800" dirty="0">
                <a:latin typeface="Kaiti SC" panose="02010600040101010101" pitchFamily="2" charset="-122"/>
                <a:ea typeface="Kaiti SC" panose="02010600040101010101" pitchFamily="2" charset="-122"/>
              </a:rPr>
              <a:t>）所示。</a:t>
            </a:r>
          </a:p>
        </p:txBody>
      </p:sp>
      <p:pic>
        <p:nvPicPr>
          <p:cNvPr id="10" name="图片 4" descr="rjgc-tp-xxnr-050601-01.png">
            <a:extLst>
              <a:ext uri="{FF2B5EF4-FFF2-40B4-BE49-F238E27FC236}">
                <a16:creationId xmlns:a16="http://schemas.microsoft.com/office/drawing/2014/main" id="{CEAC6CD1-6C28-534F-A8A8-11DE92D855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43196" y="2856083"/>
            <a:ext cx="7215187" cy="2996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7">
            <a:extLst>
              <a:ext uri="{FF2B5EF4-FFF2-40B4-BE49-F238E27FC236}">
                <a16:creationId xmlns:a16="http://schemas.microsoft.com/office/drawing/2014/main" id="{7FC53B61-47F8-324D-AD91-72D6A7FE1B95}"/>
              </a:ext>
            </a:extLst>
          </p:cNvPr>
          <p:cNvSpPr txBox="1">
            <a:spLocks noChangeArrowheads="1"/>
          </p:cNvSpPr>
          <p:nvPr/>
        </p:nvSpPr>
        <p:spPr>
          <a:xfrm>
            <a:off x="1342610" y="5852152"/>
            <a:ext cx="6858193" cy="626696"/>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zh-CN" sz="1100" dirty="0">
                <a:latin typeface="Kaiti SC" panose="02010600040101010101" pitchFamily="2" charset="-122"/>
                <a:ea typeface="Kaiti SC" panose="02010600040101010101" pitchFamily="2" charset="-122"/>
                <a:sym typeface="微软雅黑" panose="020B0503020204020204" pitchFamily="34" charset="-122"/>
              </a:rPr>
              <a:t>驱动模块和桩模块的编写给测试带来额外开销，但是与被测模块有联系的那些模块在尚未编写好或未测试的情况下，</a:t>
            </a:r>
            <a:r>
              <a:rPr lang="zh-CN" altLang="en-US" sz="1100" dirty="0">
                <a:latin typeface="Kaiti SC" panose="02010600040101010101" pitchFamily="2" charset="-122"/>
                <a:ea typeface="Kaiti SC" panose="02010600040101010101" pitchFamily="2" charset="-122"/>
                <a:sym typeface="微软雅黑" panose="020B0503020204020204" pitchFamily="34" charset="-122"/>
              </a:rPr>
              <a:t>如：模块</a:t>
            </a:r>
            <a:r>
              <a:rPr lang="en-US" altLang="zh-CN" sz="1100" dirty="0">
                <a:latin typeface="Kaiti SC" panose="02010600040101010101" pitchFamily="2" charset="-122"/>
                <a:ea typeface="Kaiti SC" panose="02010600040101010101" pitchFamily="2" charset="-122"/>
                <a:sym typeface="微软雅黑" panose="020B0503020204020204" pitchFamily="34" charset="-122"/>
              </a:rPr>
              <a:t>M</a:t>
            </a:r>
            <a:r>
              <a:rPr lang="zh-CN" altLang="en-US" sz="1100" dirty="0">
                <a:latin typeface="Kaiti SC" panose="02010600040101010101" pitchFamily="2" charset="-122"/>
                <a:ea typeface="Kaiti SC" panose="02010600040101010101" pitchFamily="2" charset="-122"/>
                <a:sym typeface="微软雅黑" panose="020B0503020204020204" pitchFamily="34" charset="-122"/>
              </a:rPr>
              <a:t>，</a:t>
            </a:r>
            <a:r>
              <a:rPr lang="en-US" altLang="zh-CN" sz="1100" dirty="0">
                <a:latin typeface="Kaiti SC" panose="02010600040101010101" pitchFamily="2" charset="-122"/>
                <a:ea typeface="Kaiti SC" panose="02010600040101010101" pitchFamily="2" charset="-122"/>
                <a:sym typeface="微软雅黑" panose="020B0503020204020204" pitchFamily="34" charset="-122"/>
              </a:rPr>
              <a:t>D</a:t>
            </a:r>
            <a:r>
              <a:rPr lang="zh-CN" altLang="en-US" sz="1100" dirty="0">
                <a:latin typeface="Kaiti SC" panose="02010600040101010101" pitchFamily="2" charset="-122"/>
                <a:ea typeface="Kaiti SC" panose="02010600040101010101" pitchFamily="2" charset="-122"/>
                <a:sym typeface="微软雅黑" panose="020B0503020204020204" pitchFamily="34" charset="-122"/>
              </a:rPr>
              <a:t>，</a:t>
            </a:r>
            <a:r>
              <a:rPr lang="en-US" altLang="zh-CN" sz="1100" dirty="0">
                <a:latin typeface="Kaiti SC" panose="02010600040101010101" pitchFamily="2" charset="-122"/>
                <a:ea typeface="Kaiti SC" panose="02010600040101010101" pitchFamily="2" charset="-122"/>
                <a:sym typeface="微软雅黑" panose="020B0503020204020204" pitchFamily="34" charset="-122"/>
              </a:rPr>
              <a:t>E</a:t>
            </a:r>
            <a:r>
              <a:rPr lang="zh-CN" altLang="en-US" sz="1100" dirty="0">
                <a:latin typeface="Kaiti SC" panose="02010600040101010101" pitchFamily="2" charset="-122"/>
                <a:ea typeface="Kaiti SC" panose="02010600040101010101" pitchFamily="2" charset="-122"/>
                <a:sym typeface="微软雅黑" panose="020B0503020204020204" pitchFamily="34" charset="-122"/>
              </a:rPr>
              <a:t>，设计驱动模块和桩模块是必要的</a:t>
            </a:r>
            <a:endParaRPr lang="zh-CN" altLang="en-US" sz="1100" dirty="0">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19061679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1" grpId="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5.4.2</a:t>
            </a:r>
            <a:r>
              <a:rPr lang="zh-CN" altLang="en-US" dirty="0">
                <a:solidFill>
                  <a:srgbClr val="C000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集成测试的任务</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2427059"/>
            <a:ext cx="6858193" cy="3941084"/>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集成测试</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zh-CN" sz="1800" dirty="0">
                <a:solidFill>
                  <a:srgbClr val="000000"/>
                </a:solidFill>
                <a:latin typeface="微软雅黑" panose="020B0503020204020204" pitchFamily="34" charset="-122"/>
                <a:sym typeface="微软雅黑" panose="020B0503020204020204" pitchFamily="34" charset="-122"/>
              </a:rPr>
              <a:t>是指在单元测试的基础上，将所有模块按照设计要求组装成一个完整的系统而进行的测试</a:t>
            </a:r>
            <a:r>
              <a:rPr lang="zh-CN" altLang="en-US" sz="1800" dirty="0">
                <a:solidFill>
                  <a:srgbClr val="000000"/>
                </a:solidFill>
                <a:latin typeface="微软雅黑" panose="020B0503020204020204" pitchFamily="34" charset="-122"/>
                <a:sym typeface="微软雅黑" panose="020B0503020204020204" pitchFamily="34" charset="-122"/>
              </a:rPr>
              <a:t>。故也称为组装测试或联合测试</a:t>
            </a:r>
            <a:endParaRPr lang="en-US" altLang="zh-CN" sz="1800" dirty="0">
              <a:latin typeface="微软雅黑" panose="020B0503020204020204" pitchFamily="34" charset="-122"/>
            </a:endParaRPr>
          </a:p>
        </p:txBody>
      </p:sp>
      <p:grpSp>
        <p:nvGrpSpPr>
          <p:cNvPr id="3" name="组合 2">
            <a:extLst>
              <a:ext uri="{FF2B5EF4-FFF2-40B4-BE49-F238E27FC236}">
                <a16:creationId xmlns:a16="http://schemas.microsoft.com/office/drawing/2014/main" id="{DA66B0BD-BE1D-E14E-B2DE-BCFAA91F9C78}"/>
              </a:ext>
            </a:extLst>
          </p:cNvPr>
          <p:cNvGrpSpPr/>
          <p:nvPr/>
        </p:nvGrpSpPr>
        <p:grpSpPr>
          <a:xfrm>
            <a:off x="2116330" y="3983253"/>
            <a:ext cx="5922722" cy="2314627"/>
            <a:chOff x="1610639" y="3990181"/>
            <a:chExt cx="5922722" cy="2314627"/>
          </a:xfrm>
        </p:grpSpPr>
        <p:grpSp>
          <p:nvGrpSpPr>
            <p:cNvPr id="10" name="组合 9">
              <a:extLst>
                <a:ext uri="{FF2B5EF4-FFF2-40B4-BE49-F238E27FC236}">
                  <a16:creationId xmlns:a16="http://schemas.microsoft.com/office/drawing/2014/main" id="{1DD5692A-9FDD-2544-B81C-5E558DDC20AC}"/>
                </a:ext>
              </a:extLst>
            </p:cNvPr>
            <p:cNvGrpSpPr/>
            <p:nvPr/>
          </p:nvGrpSpPr>
          <p:grpSpPr>
            <a:xfrm>
              <a:off x="1610639" y="3990181"/>
              <a:ext cx="5922722" cy="2314627"/>
              <a:chOff x="1073823" y="3192857"/>
              <a:chExt cx="7097705" cy="2773816"/>
            </a:xfrm>
          </p:grpSpPr>
          <p:pic>
            <p:nvPicPr>
              <p:cNvPr id="11" name="Picture 2" descr="rjgc-tp-xxnr-050501-01">
                <a:extLst>
                  <a:ext uri="{FF2B5EF4-FFF2-40B4-BE49-F238E27FC236}">
                    <a16:creationId xmlns:a16="http://schemas.microsoft.com/office/drawing/2014/main" id="{DDF8EF91-DD7C-BE4A-AF0D-931D2584D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823" y="3192857"/>
                <a:ext cx="7097705" cy="277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a:extLst>
                  <a:ext uri="{FF2B5EF4-FFF2-40B4-BE49-F238E27FC236}">
                    <a16:creationId xmlns:a16="http://schemas.microsoft.com/office/drawing/2014/main" id="{506EB1D5-92A2-5241-86B6-05777678BB8A}"/>
                  </a:ext>
                </a:extLst>
              </p:cNvPr>
              <p:cNvSpPr/>
              <p:nvPr/>
            </p:nvSpPr>
            <p:spPr>
              <a:xfrm>
                <a:off x="385858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DC413CF4-B4C5-4742-9526-7C53ECB45533}"/>
                  </a:ext>
                </a:extLst>
              </p:cNvPr>
              <p:cNvSpPr/>
              <p:nvPr/>
            </p:nvSpPr>
            <p:spPr>
              <a:xfrm>
                <a:off x="50985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0A18C00B-CD97-5F44-92BC-842644EC6096}"/>
                  </a:ext>
                </a:extLst>
              </p:cNvPr>
              <p:cNvSpPr/>
              <p:nvPr/>
            </p:nvSpPr>
            <p:spPr>
              <a:xfrm>
                <a:off x="63939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6914B3C8-9852-944A-9656-892BBDB1111F}"/>
                  </a:ext>
                </a:extLst>
              </p:cNvPr>
              <p:cNvSpPr/>
              <p:nvPr/>
            </p:nvSpPr>
            <p:spPr>
              <a:xfrm>
                <a:off x="763662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2" name="椭圆 1">
              <a:extLst>
                <a:ext uri="{FF2B5EF4-FFF2-40B4-BE49-F238E27FC236}">
                  <a16:creationId xmlns:a16="http://schemas.microsoft.com/office/drawing/2014/main" id="{893CF0A0-3DDD-6F49-A14B-378494B5902C}"/>
                </a:ext>
              </a:extLst>
            </p:cNvPr>
            <p:cNvSpPr/>
            <p:nvPr/>
          </p:nvSpPr>
          <p:spPr>
            <a:xfrm>
              <a:off x="3475736" y="4876706"/>
              <a:ext cx="471150" cy="4711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6447614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5" grpId="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5.4.2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集成测试的任务</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fontScale="925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40000"/>
              </a:lnSpc>
            </a:pPr>
            <a:r>
              <a:rPr lang="zh-CN"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实践证明，单个模块能正常工作，</a:t>
            </a: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集成</a:t>
            </a:r>
            <a:r>
              <a:rPr lang="zh-CN"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后不见得能正常工作</a:t>
            </a: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。其原因如下：</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357188" indent="-357188">
              <a:lnSpc>
                <a:spcPct val="140000"/>
              </a:lnSpc>
            </a:pPr>
            <a:r>
              <a:rPr lang="en-US" altLang="zh-CN" sz="1800" dirty="0">
                <a:solidFill>
                  <a:srgbClr val="000000"/>
                </a:solidFill>
                <a:latin typeface="微软雅黑" panose="020B0503020204020204" pitchFamily="34" charset="-122"/>
                <a:sym typeface="微软雅黑" panose="020B0503020204020204" pitchFamily="34" charset="-122"/>
              </a:rPr>
              <a:t>1</a:t>
            </a:r>
            <a:r>
              <a:rPr lang="zh-CN" altLang="en-US" sz="1800" dirty="0">
                <a:solidFill>
                  <a:srgbClr val="000000"/>
                </a:solidFill>
                <a:latin typeface="微软雅黑" panose="020B0503020204020204" pitchFamily="34" charset="-122"/>
                <a:sym typeface="微软雅黑" panose="020B0503020204020204" pitchFamily="34" charset="-122"/>
              </a:rPr>
              <a:t>）单元测试使用的驱动模块和桩模块，与它们所代替的模块并不完全等效，因此，单元测试有不彻底、不严格的情况。</a:t>
            </a:r>
          </a:p>
          <a:p>
            <a:pPr marL="357188" indent="-357188">
              <a:lnSpc>
                <a:spcPct val="140000"/>
              </a:lnSpc>
            </a:pPr>
            <a:r>
              <a:rPr lang="en-US" altLang="zh-CN" sz="1800" dirty="0">
                <a:solidFill>
                  <a:srgbClr val="000000"/>
                </a:solidFill>
                <a:latin typeface="微软雅黑" panose="020B0503020204020204" pitchFamily="34" charset="-122"/>
                <a:sym typeface="微软雅黑" panose="020B0503020204020204" pitchFamily="34" charset="-122"/>
              </a:rPr>
              <a:t>2</a:t>
            </a:r>
            <a:r>
              <a:rPr lang="zh-CN" altLang="en-US" sz="1800" dirty="0">
                <a:solidFill>
                  <a:srgbClr val="000000"/>
                </a:solidFill>
                <a:latin typeface="微软雅黑" panose="020B0503020204020204" pitchFamily="34" charset="-122"/>
                <a:sym typeface="微软雅黑" panose="020B0503020204020204" pitchFamily="34" charset="-122"/>
              </a:rPr>
              <a:t>）各个模块组装起来，穿越模块接口的数据可能会丢失</a:t>
            </a:r>
          </a:p>
          <a:p>
            <a:pPr marL="357188" indent="-357188">
              <a:lnSpc>
                <a:spcPct val="140000"/>
              </a:lnSpc>
            </a:pPr>
            <a:r>
              <a:rPr lang="en-US" altLang="zh-CN" sz="1800" dirty="0">
                <a:solidFill>
                  <a:srgbClr val="000000"/>
                </a:solidFill>
                <a:latin typeface="微软雅黑" panose="020B0503020204020204" pitchFamily="34" charset="-122"/>
                <a:sym typeface="微软雅黑" panose="020B0503020204020204" pitchFamily="34" charset="-122"/>
              </a:rPr>
              <a:t>3</a:t>
            </a:r>
            <a:r>
              <a:rPr lang="zh-CN" altLang="en-US" sz="1800" dirty="0">
                <a:solidFill>
                  <a:srgbClr val="000000"/>
                </a:solidFill>
                <a:latin typeface="微软雅黑" panose="020B0503020204020204" pitchFamily="34" charset="-122"/>
                <a:sym typeface="微软雅黑" panose="020B0503020204020204" pitchFamily="34" charset="-122"/>
              </a:rPr>
              <a:t>）一个模块的功能，可能会对另一个模块的功能，产生不利的影响</a:t>
            </a:r>
          </a:p>
          <a:p>
            <a:pPr marL="357188" indent="-357188">
              <a:lnSpc>
                <a:spcPct val="140000"/>
              </a:lnSpc>
            </a:pPr>
            <a:r>
              <a:rPr lang="en-US" altLang="zh-CN" sz="1800" dirty="0">
                <a:solidFill>
                  <a:srgbClr val="000000"/>
                </a:solidFill>
                <a:latin typeface="微软雅黑" panose="020B0503020204020204" pitchFamily="34" charset="-122"/>
                <a:sym typeface="微软雅黑" panose="020B0503020204020204" pitchFamily="34" charset="-122"/>
              </a:rPr>
              <a:t>4</a:t>
            </a:r>
            <a:r>
              <a:rPr lang="zh-CN" altLang="en-US" sz="1800" dirty="0">
                <a:solidFill>
                  <a:srgbClr val="000000"/>
                </a:solidFill>
                <a:latin typeface="微软雅黑" panose="020B0503020204020204" pitchFamily="34" charset="-122"/>
                <a:sym typeface="微软雅黑" panose="020B0503020204020204" pitchFamily="34" charset="-122"/>
              </a:rPr>
              <a:t>）各个模块的功能组合起来，可能达不到预期要求的功能</a:t>
            </a:r>
          </a:p>
          <a:p>
            <a:pPr marL="357188" indent="-357188">
              <a:lnSpc>
                <a:spcPct val="140000"/>
              </a:lnSpc>
            </a:pPr>
            <a:r>
              <a:rPr lang="en-US" altLang="zh-CN" sz="1800" dirty="0">
                <a:solidFill>
                  <a:srgbClr val="000000"/>
                </a:solidFill>
                <a:latin typeface="微软雅黑" panose="020B0503020204020204" pitchFamily="34" charset="-122"/>
                <a:sym typeface="微软雅黑" panose="020B0503020204020204" pitchFamily="34" charset="-122"/>
              </a:rPr>
              <a:t>5</a:t>
            </a:r>
            <a:r>
              <a:rPr lang="zh-CN" altLang="en-US" sz="1800" dirty="0">
                <a:solidFill>
                  <a:srgbClr val="000000"/>
                </a:solidFill>
                <a:latin typeface="微软雅黑" panose="020B0503020204020204" pitchFamily="34" charset="-122"/>
                <a:sym typeface="微软雅黑" panose="020B0503020204020204" pitchFamily="34" charset="-122"/>
              </a:rPr>
              <a:t>）单个模块可接受的误差，组装起来可能累积和放大到不能接受的程度</a:t>
            </a:r>
          </a:p>
          <a:p>
            <a:pPr marL="357188" indent="-357188">
              <a:lnSpc>
                <a:spcPct val="140000"/>
              </a:lnSpc>
            </a:pPr>
            <a:r>
              <a:rPr lang="en-US" altLang="zh-CN" sz="1800" dirty="0">
                <a:solidFill>
                  <a:srgbClr val="000000"/>
                </a:solidFill>
                <a:latin typeface="微软雅黑" panose="020B0503020204020204" pitchFamily="34" charset="-122"/>
                <a:sym typeface="微软雅黑" panose="020B0503020204020204" pitchFamily="34" charset="-122"/>
              </a:rPr>
              <a:t>6</a:t>
            </a:r>
            <a:r>
              <a:rPr lang="zh-CN" altLang="en-US" sz="1800" dirty="0">
                <a:solidFill>
                  <a:srgbClr val="000000"/>
                </a:solidFill>
                <a:latin typeface="微软雅黑" panose="020B0503020204020204" pitchFamily="34" charset="-122"/>
                <a:sym typeface="微软雅黑" panose="020B0503020204020204" pitchFamily="34" charset="-122"/>
              </a:rPr>
              <a:t>）全局数据可能会出现问题</a:t>
            </a:r>
            <a:endParaRPr lang="zh-CN" altLang="zh-CN" sz="1800" dirty="0">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41018575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集成测试的任务</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集成测试的任务：是用于发现模块</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组装中</a:t>
            </a:r>
            <a:r>
              <a:rPr lang="zh-CN" altLang="en-US" sz="1800" dirty="0">
                <a:solidFill>
                  <a:srgbClr val="000000"/>
                </a:solidFill>
                <a:latin typeface="微软雅黑" panose="020B0503020204020204" pitchFamily="34" charset="-122"/>
                <a:sym typeface="微软雅黑" panose="020B0503020204020204" pitchFamily="34" charset="-122"/>
              </a:rPr>
              <a:t>可能出现的问题，最终，构成一个符合要求的软件系统</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集成测试的重点在于检查模块之间</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接口</a:t>
            </a:r>
            <a:r>
              <a:rPr lang="zh-CN" altLang="en-US" sz="1800" dirty="0">
                <a:solidFill>
                  <a:srgbClr val="000000"/>
                </a:solidFill>
                <a:latin typeface="微软雅黑" panose="020B0503020204020204" pitchFamily="34" charset="-122"/>
                <a:sym typeface="微软雅黑" panose="020B0503020204020204" pitchFamily="34" charset="-122"/>
              </a:rPr>
              <a:t>的有关问题，发现</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公共数据与全程变量</a:t>
            </a:r>
            <a:r>
              <a:rPr lang="zh-CN" altLang="en-US" sz="1800" dirty="0">
                <a:solidFill>
                  <a:srgbClr val="000000"/>
                </a:solidFill>
                <a:latin typeface="微软雅黑" panose="020B0503020204020204" pitchFamily="34" charset="-122"/>
                <a:sym typeface="微软雅黑" panose="020B0503020204020204" pitchFamily="34" charset="-122"/>
              </a:rPr>
              <a:t>引起的模块间的干扰相互作用</a:t>
            </a:r>
            <a:endParaRPr lang="en-US" altLang="zh-CN" sz="1800" dirty="0">
              <a:solidFill>
                <a:srgbClr val="000000"/>
              </a:solidFill>
              <a:latin typeface="微软雅黑" panose="020B0503020204020204" pitchFamily="34" charset="-122"/>
              <a:sym typeface="微软雅黑" panose="020B0503020204020204" pitchFamily="34" charset="-122"/>
            </a:endParaRPr>
          </a:p>
          <a:p>
            <a:r>
              <a:rPr lang="zh-CN" altLang="en-US" sz="1800" dirty="0">
                <a:solidFill>
                  <a:srgbClr val="000000"/>
                </a:solidFill>
                <a:latin typeface="微软雅黑" panose="020B0503020204020204" pitchFamily="34" charset="-122"/>
                <a:sym typeface="微软雅黑" panose="020B0503020204020204" pitchFamily="34" charset="-122"/>
              </a:rPr>
              <a:t>      </a:t>
            </a:r>
            <a:endParaRPr lang="zh-CN" altLang="zh-CN" sz="1800" dirty="0">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6738047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集成测试方法</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主要有：非渐增式测试和渐增式测试</a:t>
            </a:r>
            <a:endParaRPr lang="zh-CN"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en-US" altLang="zh-CN" sz="1800" dirty="0">
                <a:solidFill>
                  <a:srgbClr val="CC6600"/>
                </a:solidFill>
                <a:highlight>
                  <a:srgbClr val="FFFF00"/>
                </a:highlight>
                <a:latin typeface="微软雅黑" panose="020B0503020204020204" pitchFamily="34" charset="-122"/>
                <a:sym typeface="微软雅黑" panose="020B0503020204020204" pitchFamily="34" charset="-122"/>
              </a:rPr>
              <a:t>【</a:t>
            </a:r>
            <a:r>
              <a:rPr lang="zh-CN" altLang="en-US" sz="1800" dirty="0">
                <a:solidFill>
                  <a:srgbClr val="CC6600"/>
                </a:solidFill>
                <a:highlight>
                  <a:srgbClr val="FFFF00"/>
                </a:highlight>
                <a:latin typeface="微软雅黑" panose="020B0503020204020204" pitchFamily="34" charset="-122"/>
                <a:sym typeface="微软雅黑" panose="020B0503020204020204" pitchFamily="34" charset="-122"/>
              </a:rPr>
              <a:t>非渐增式测试</a:t>
            </a:r>
            <a:r>
              <a:rPr lang="en-US" altLang="zh-CN" sz="1800" dirty="0">
                <a:solidFill>
                  <a:srgbClr val="CC6600"/>
                </a:solidFill>
                <a:highlight>
                  <a:srgbClr val="FFFF00"/>
                </a:highlight>
                <a:latin typeface="微软雅黑" panose="020B0503020204020204" pitchFamily="34" charset="-122"/>
                <a:sym typeface="微软雅黑" panose="020B0503020204020204" pitchFamily="34" charset="-122"/>
              </a:rPr>
              <a:t>】</a:t>
            </a:r>
            <a:r>
              <a:rPr lang="zh-CN" altLang="en-US" sz="1800" dirty="0">
                <a:solidFill>
                  <a:srgbClr val="CC6600"/>
                </a:solidFill>
                <a:highlight>
                  <a:srgbClr val="FFFF00"/>
                </a:highlight>
                <a:latin typeface="微软雅黑" panose="020B0503020204020204" pitchFamily="34" charset="-122"/>
                <a:sym typeface="微软雅黑" panose="020B0503020204020204" pitchFamily="34" charset="-122"/>
              </a:rPr>
              <a:t> </a:t>
            </a:r>
            <a:r>
              <a:rPr lang="zh-CN" altLang="zh-CN" sz="1800" dirty="0">
                <a:solidFill>
                  <a:srgbClr val="000000"/>
                </a:solidFill>
                <a:latin typeface="微软雅黑" panose="020B0503020204020204" pitchFamily="34" charset="-122"/>
                <a:sym typeface="微软雅黑" panose="020B0503020204020204" pitchFamily="34" charset="-122"/>
              </a:rPr>
              <a:t>是首先对每个模块分别进行单元测试，然后再把</a:t>
            </a:r>
            <a:r>
              <a:rPr lang="zh-CN" altLang="en-US" sz="1800" dirty="0">
                <a:solidFill>
                  <a:srgbClr val="000000"/>
                </a:solidFill>
                <a:latin typeface="微软雅黑" panose="020B0503020204020204" pitchFamily="34" charset="-122"/>
                <a:sym typeface="微软雅黑" panose="020B0503020204020204" pitchFamily="34" charset="-122"/>
              </a:rPr>
              <a:t> </a:t>
            </a:r>
            <a:r>
              <a:rPr lang="zh-CN" altLang="zh-CN" sz="1800" dirty="0">
                <a:solidFill>
                  <a:srgbClr val="FF0000"/>
                </a:solidFill>
                <a:latin typeface="微软雅黑" panose="020B0503020204020204" pitchFamily="34" charset="-122"/>
                <a:sym typeface="微软雅黑" panose="020B0503020204020204" pitchFamily="34" charset="-122"/>
              </a:rPr>
              <a:t>所有的模块</a:t>
            </a:r>
            <a:r>
              <a:rPr lang="zh-CN" altLang="en-US" sz="1800" dirty="0">
                <a:solidFill>
                  <a:srgbClr val="FF0000"/>
                </a:solidFill>
                <a:latin typeface="微软雅黑" panose="020B0503020204020204" pitchFamily="34" charset="-122"/>
                <a:sym typeface="微软雅黑" panose="020B0503020204020204" pitchFamily="34" charset="-122"/>
              </a:rPr>
              <a:t> </a:t>
            </a:r>
            <a:r>
              <a:rPr lang="zh-CN" altLang="zh-CN" sz="1800" dirty="0">
                <a:solidFill>
                  <a:srgbClr val="000000"/>
                </a:solidFill>
                <a:latin typeface="微软雅黑" panose="020B0503020204020204" pitchFamily="34" charset="-122"/>
                <a:sym typeface="微软雅黑" panose="020B0503020204020204" pitchFamily="34" charset="-122"/>
              </a:rPr>
              <a:t>按设计要求组装在一起进行的测试</a:t>
            </a:r>
            <a:r>
              <a:rPr lang="zh-CN" altLang="en-US" sz="1800" dirty="0">
                <a:solidFill>
                  <a:srgbClr val="000000"/>
                </a:solidFill>
                <a:latin typeface="微软雅黑" panose="020B0503020204020204" pitchFamily="34" charset="-122"/>
                <a:sym typeface="微软雅黑" panose="020B0503020204020204" pitchFamily="34" charset="-122"/>
              </a:rPr>
              <a:t>。缺点：难以定位错误的位置和原因，只适合小规模的系统</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en-US" altLang="zh-CN" sz="1800" dirty="0">
                <a:solidFill>
                  <a:srgbClr val="CC6600"/>
                </a:solidFill>
                <a:highlight>
                  <a:srgbClr val="FFFF00"/>
                </a:highlight>
                <a:latin typeface="微软雅黑" panose="020B0503020204020204" pitchFamily="34" charset="-122"/>
                <a:sym typeface="微软雅黑" panose="020B0503020204020204" pitchFamily="34" charset="-122"/>
              </a:rPr>
              <a:t>【</a:t>
            </a:r>
            <a:r>
              <a:rPr lang="zh-CN" altLang="en-US" sz="1800" dirty="0">
                <a:solidFill>
                  <a:srgbClr val="CC6600"/>
                </a:solidFill>
                <a:highlight>
                  <a:srgbClr val="FFFF00"/>
                </a:highlight>
                <a:latin typeface="微软雅黑" panose="020B0503020204020204" pitchFamily="34" charset="-122"/>
                <a:sym typeface="微软雅黑" panose="020B0503020204020204" pitchFamily="34" charset="-122"/>
              </a:rPr>
              <a:t>渐增式测试</a:t>
            </a:r>
            <a:r>
              <a:rPr lang="en-US" altLang="zh-CN" sz="1800" dirty="0">
                <a:solidFill>
                  <a:srgbClr val="CC6600"/>
                </a:solidFill>
                <a:highlight>
                  <a:srgbClr val="FFFF00"/>
                </a:highlight>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是逐个把未经组合的模块组装到已经测试过的模块上去，进行集成测试。每加入一个新模块进行一次集成的测试，重复此过程直至程序组装完毕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a:p>
            <a:r>
              <a:rPr lang="zh-CN" altLang="en-US" sz="1800" dirty="0">
                <a:solidFill>
                  <a:srgbClr val="000000"/>
                </a:solidFill>
                <a:latin typeface="微软雅黑" panose="020B0503020204020204" pitchFamily="34" charset="-122"/>
                <a:sym typeface="微软雅黑" panose="020B0503020204020204" pitchFamily="34" charset="-122"/>
              </a:rPr>
              <a:t>      </a:t>
            </a:r>
            <a:endParaRPr lang="zh-CN" altLang="zh-CN" sz="1800" dirty="0">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33167949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集成测试方法</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渐增式测试</a:t>
            </a:r>
            <a:r>
              <a:rPr lang="zh-CN" altLang="en-US" sz="2000" dirty="0">
                <a:solidFill>
                  <a:srgbClr val="000000"/>
                </a:solidFill>
                <a:latin typeface="微软雅黑" panose="020B0503020204020204" pitchFamily="34" charset="-122"/>
                <a:sym typeface="微软雅黑" panose="020B0503020204020204" pitchFamily="34" charset="-122"/>
              </a:rPr>
              <a:t>具有多方面的优点</a:t>
            </a:r>
            <a:r>
              <a:rPr lang="en-US" altLang="zh-CN" sz="2000" dirty="0">
                <a:solidFill>
                  <a:srgbClr val="000000"/>
                </a:solidFill>
                <a:latin typeface="微软雅黑" panose="020B0503020204020204" pitchFamily="34" charset="-122"/>
                <a:sym typeface="微软雅黑" panose="020B0503020204020204" pitchFamily="34" charset="-122"/>
              </a:rPr>
              <a:t>】</a:t>
            </a: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渐增式测试利用已测试过的模块，作为部分测试软件，因此，可以减少一部分测试工作量</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渐增式测试可以</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较早</a:t>
            </a:r>
            <a:r>
              <a:rPr lang="zh-CN" altLang="en-US" sz="1800" dirty="0">
                <a:solidFill>
                  <a:srgbClr val="000000"/>
                </a:solidFill>
                <a:latin typeface="微软雅黑" panose="020B0503020204020204" pitchFamily="34" charset="-122"/>
                <a:sym typeface="微软雅黑" panose="020B0503020204020204" pitchFamily="34" charset="-122"/>
              </a:rPr>
              <a:t>发规模块间的接口错误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在使用渐增式测试方法时，如果发生错误，往往和最近加进来的那个模块有关，因此，便于错误</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诊断与定位</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渐增式测试，把已经测试好的模块和新加进来的那个模块一起测试，已测试过的模块可以在新的条件下受到新的检验，因此，这种方法对程序的测试更彻底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791396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集成测试方法</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1</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自顶向下</a:t>
            </a:r>
            <a:r>
              <a:rPr lang="zh-CN" altLang="en-US" sz="2000" dirty="0">
                <a:solidFill>
                  <a:srgbClr val="000000"/>
                </a:solidFill>
                <a:latin typeface="微软雅黑" panose="020B0503020204020204" pitchFamily="34" charset="-122"/>
                <a:sym typeface="微软雅黑" panose="020B0503020204020204" pitchFamily="34" charset="-122"/>
              </a:rPr>
              <a:t>渐增集成</a:t>
            </a:r>
            <a:endParaRPr lang="en-US" altLang="zh-CN" sz="20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其步骤是，从顶层模块开始，沿被测程序的软件结构图的控制路径逐步向下测试，从而把各个模块都结合进来</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该方法</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不需要编写驱动模块</a:t>
            </a:r>
            <a:r>
              <a:rPr lang="zh-CN" altLang="en-US" sz="1800" dirty="0">
                <a:solidFill>
                  <a:srgbClr val="000000"/>
                </a:solidFill>
                <a:latin typeface="微软雅黑" panose="020B0503020204020204" pitchFamily="34" charset="-122"/>
                <a:sym typeface="微软雅黑" panose="020B0503020204020204" pitchFamily="34" charset="-122"/>
              </a:rPr>
              <a:t>，只需要编写桩模块渐增式测试可以较早发规模块间的接口错误</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p:txBody>
      </p:sp>
      <p:sp>
        <p:nvSpPr>
          <p:cNvPr id="3" name="云形 2">
            <a:extLst>
              <a:ext uri="{FF2B5EF4-FFF2-40B4-BE49-F238E27FC236}">
                <a16:creationId xmlns:a16="http://schemas.microsoft.com/office/drawing/2014/main" id="{4CC4F5F1-0FE8-D842-9FEA-ABC62475909E}"/>
              </a:ext>
            </a:extLst>
          </p:cNvPr>
          <p:cNvSpPr/>
          <p:nvPr/>
        </p:nvSpPr>
        <p:spPr>
          <a:xfrm>
            <a:off x="5013715" y="762102"/>
            <a:ext cx="3780064" cy="166495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Kaiti SC" panose="02010600040101010101" pitchFamily="2" charset="-122"/>
                <a:ea typeface="Kaiti SC" panose="02010600040101010101" pitchFamily="2" charset="-122"/>
                <a:sym typeface="微软雅黑" panose="020B0503020204020204" pitchFamily="34" charset="-122"/>
              </a:rPr>
              <a:t>在使用渐增式进行系统集成时，有：自顶向下和自底向上两种方法</a:t>
            </a:r>
            <a:endParaRPr kumimoji="1" lang="zh-CN" altLang="en-US"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31514923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87</a:t>
            </a:fld>
            <a:endParaRPr lang="zh-CN" altLang="en-US"/>
          </a:p>
        </p:txBody>
      </p:sp>
      <p:sp>
        <p:nvSpPr>
          <p:cNvPr id="10" name="Rectangle 3">
            <a:extLst>
              <a:ext uri="{FF2B5EF4-FFF2-40B4-BE49-F238E27FC236}">
                <a16:creationId xmlns:a16="http://schemas.microsoft.com/office/drawing/2014/main" id="{BFBE7D33-080F-DC47-9BE9-4AD7BA05C7DE}"/>
              </a:ext>
            </a:extLst>
          </p:cNvPr>
          <p:cNvSpPr>
            <a:spLocks noChangeArrowheads="1"/>
          </p:cNvSpPr>
          <p:nvPr/>
        </p:nvSpPr>
        <p:spPr bwMode="auto">
          <a:xfrm>
            <a:off x="7685088" y="3447452"/>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S5</a:t>
            </a:r>
          </a:p>
        </p:txBody>
      </p:sp>
      <p:sp>
        <p:nvSpPr>
          <p:cNvPr id="11" name="Rectangle 4">
            <a:extLst>
              <a:ext uri="{FF2B5EF4-FFF2-40B4-BE49-F238E27FC236}">
                <a16:creationId xmlns:a16="http://schemas.microsoft.com/office/drawing/2014/main" id="{24ACF518-08F6-D940-B9FF-0F01D4718A14}"/>
              </a:ext>
            </a:extLst>
          </p:cNvPr>
          <p:cNvSpPr>
            <a:spLocks noChangeArrowheads="1"/>
          </p:cNvSpPr>
          <p:nvPr/>
        </p:nvSpPr>
        <p:spPr bwMode="auto">
          <a:xfrm>
            <a:off x="6542088" y="2342552"/>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2"/>
                </a:solidFill>
                <a:latin typeface="Times New Roman" panose="02020603050405020304" pitchFamily="18" charset="0"/>
              </a:rPr>
              <a:t>M1</a:t>
            </a:r>
          </a:p>
        </p:txBody>
      </p:sp>
      <p:sp>
        <p:nvSpPr>
          <p:cNvPr id="18" name="Rectangle 7">
            <a:extLst>
              <a:ext uri="{FF2B5EF4-FFF2-40B4-BE49-F238E27FC236}">
                <a16:creationId xmlns:a16="http://schemas.microsoft.com/office/drawing/2014/main" id="{3E1FA22F-0488-824F-92D5-6B563A33F83F}"/>
              </a:ext>
            </a:extLst>
          </p:cNvPr>
          <p:cNvSpPr>
            <a:spLocks noChangeArrowheads="1"/>
          </p:cNvSpPr>
          <p:nvPr/>
        </p:nvSpPr>
        <p:spPr bwMode="auto">
          <a:xfrm>
            <a:off x="5359400" y="2857527"/>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S1</a:t>
            </a:r>
          </a:p>
        </p:txBody>
      </p:sp>
      <p:sp>
        <p:nvSpPr>
          <p:cNvPr id="19" name="Line 8">
            <a:extLst>
              <a:ext uri="{FF2B5EF4-FFF2-40B4-BE49-F238E27FC236}">
                <a16:creationId xmlns:a16="http://schemas.microsoft.com/office/drawing/2014/main" id="{8B1E1592-264E-F541-B1DC-7B5541EC11F8}"/>
              </a:ext>
            </a:extLst>
          </p:cNvPr>
          <p:cNvSpPr>
            <a:spLocks noChangeShapeType="1"/>
          </p:cNvSpPr>
          <p:nvPr/>
        </p:nvSpPr>
        <p:spPr bwMode="auto">
          <a:xfrm flipV="1">
            <a:off x="5683250" y="2628302"/>
            <a:ext cx="935038" cy="2222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Rectangle 11">
            <a:extLst>
              <a:ext uri="{FF2B5EF4-FFF2-40B4-BE49-F238E27FC236}">
                <a16:creationId xmlns:a16="http://schemas.microsoft.com/office/drawing/2014/main" id="{70FE06BE-56D8-5448-BBAE-F9EE512A4098}"/>
              </a:ext>
            </a:extLst>
          </p:cNvPr>
          <p:cNvSpPr>
            <a:spLocks noChangeArrowheads="1"/>
          </p:cNvSpPr>
          <p:nvPr/>
        </p:nvSpPr>
        <p:spPr bwMode="auto">
          <a:xfrm>
            <a:off x="6537325" y="2858865"/>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S2</a:t>
            </a:r>
          </a:p>
        </p:txBody>
      </p:sp>
      <p:sp>
        <p:nvSpPr>
          <p:cNvPr id="23" name="Line 12">
            <a:extLst>
              <a:ext uri="{FF2B5EF4-FFF2-40B4-BE49-F238E27FC236}">
                <a16:creationId xmlns:a16="http://schemas.microsoft.com/office/drawing/2014/main" id="{D9D154EF-5347-764E-A677-B40C3C091256}"/>
              </a:ext>
            </a:extLst>
          </p:cNvPr>
          <p:cNvSpPr>
            <a:spLocks noChangeShapeType="1"/>
          </p:cNvSpPr>
          <p:nvPr/>
        </p:nvSpPr>
        <p:spPr bwMode="auto">
          <a:xfrm flipH="1">
            <a:off x="6846888" y="2628302"/>
            <a:ext cx="0" cy="2381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Rectangle 15">
            <a:extLst>
              <a:ext uri="{FF2B5EF4-FFF2-40B4-BE49-F238E27FC236}">
                <a16:creationId xmlns:a16="http://schemas.microsoft.com/office/drawing/2014/main" id="{95663603-644C-FE43-BCB4-0F8EEC98BE8E}"/>
              </a:ext>
            </a:extLst>
          </p:cNvPr>
          <p:cNvSpPr>
            <a:spLocks noChangeArrowheads="1"/>
          </p:cNvSpPr>
          <p:nvPr/>
        </p:nvSpPr>
        <p:spPr bwMode="auto">
          <a:xfrm>
            <a:off x="7681404" y="2864840"/>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S3</a:t>
            </a:r>
          </a:p>
        </p:txBody>
      </p:sp>
      <p:sp>
        <p:nvSpPr>
          <p:cNvPr id="27" name="Line 16">
            <a:extLst>
              <a:ext uri="{FF2B5EF4-FFF2-40B4-BE49-F238E27FC236}">
                <a16:creationId xmlns:a16="http://schemas.microsoft.com/office/drawing/2014/main" id="{7FC2DB4E-937B-3546-BA13-224BBD611E82}"/>
              </a:ext>
            </a:extLst>
          </p:cNvPr>
          <p:cNvSpPr>
            <a:spLocks noChangeShapeType="1"/>
          </p:cNvSpPr>
          <p:nvPr/>
        </p:nvSpPr>
        <p:spPr bwMode="auto">
          <a:xfrm>
            <a:off x="7151688" y="2628302"/>
            <a:ext cx="874712" cy="2381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17">
            <a:extLst>
              <a:ext uri="{FF2B5EF4-FFF2-40B4-BE49-F238E27FC236}">
                <a16:creationId xmlns:a16="http://schemas.microsoft.com/office/drawing/2014/main" id="{C6B6C5C9-7A01-594E-A87D-AAB7009F6CC9}"/>
              </a:ext>
            </a:extLst>
          </p:cNvPr>
          <p:cNvSpPr txBox="1">
            <a:spLocks noChangeArrowheads="1"/>
          </p:cNvSpPr>
          <p:nvPr/>
        </p:nvSpPr>
        <p:spPr bwMode="auto">
          <a:xfrm>
            <a:off x="457200" y="4279302"/>
            <a:ext cx="4114800" cy="923925"/>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dirty="0">
                <a:highlight>
                  <a:srgbClr val="FFFF00"/>
                </a:highlight>
                <a:latin typeface="Times New Roman" panose="02020603050405020304" pitchFamily="18" charset="0"/>
                <a:cs typeface="Times New Roman" panose="02020603050405020304" pitchFamily="18" charset="0"/>
              </a:rPr>
              <a:t>第一步</a:t>
            </a:r>
            <a:r>
              <a:rPr lang="zh-CN" altLang="en-US" dirty="0">
                <a:latin typeface="Times New Roman" panose="02020603050405020304" pitchFamily="18" charset="0"/>
                <a:cs typeface="Times New Roman" panose="02020603050405020304" pitchFamily="18" charset="0"/>
              </a:rPr>
              <a:t>：测试主控模块</a:t>
            </a:r>
            <a:r>
              <a:rPr lang="en-US" altLang="zh-CN" dirty="0">
                <a:latin typeface="Times New Roman" panose="02020603050405020304" pitchFamily="18" charset="0"/>
                <a:cs typeface="Times New Roman" panose="02020603050405020304" pitchFamily="18" charset="0"/>
              </a:rPr>
              <a:t>M1</a:t>
            </a:r>
            <a:r>
              <a:rPr lang="zh-CN" altLang="en-US" dirty="0">
                <a:latin typeface="Times New Roman" panose="02020603050405020304" pitchFamily="18" charset="0"/>
                <a:cs typeface="Times New Roman" panose="02020603050405020304" pitchFamily="18" charset="0"/>
              </a:rPr>
              <a:t>，设计桩模块</a:t>
            </a:r>
            <a:r>
              <a:rPr lang="en-US" altLang="zh-CN" dirty="0">
                <a:latin typeface="Times New Roman" panose="02020603050405020304" pitchFamily="18" charset="0"/>
                <a:cs typeface="Times New Roman" panose="02020603050405020304" pitchFamily="18" charset="0"/>
              </a:rPr>
              <a:t>S1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S3</a:t>
            </a:r>
            <a:r>
              <a:rPr lang="zh-CN" altLang="en-US" dirty="0">
                <a:latin typeface="Times New Roman" panose="02020603050405020304" pitchFamily="18" charset="0"/>
                <a:cs typeface="Times New Roman" panose="02020603050405020304" pitchFamily="18" charset="0"/>
              </a:rPr>
              <a:t>，模拟被</a:t>
            </a:r>
            <a:r>
              <a:rPr lang="en-US" altLang="zh-CN" dirty="0">
                <a:latin typeface="Times New Roman" panose="02020603050405020304" pitchFamily="18" charset="0"/>
                <a:cs typeface="Times New Roman" panose="02020603050405020304" pitchFamily="18" charset="0"/>
              </a:rPr>
              <a:t>M1</a:t>
            </a:r>
            <a:r>
              <a:rPr lang="zh-CN" altLang="en-US" dirty="0">
                <a:latin typeface="Times New Roman" panose="02020603050405020304" pitchFamily="18" charset="0"/>
                <a:cs typeface="Times New Roman" panose="02020603050405020304" pitchFamily="18" charset="0"/>
              </a:rPr>
              <a:t>调用的模块</a:t>
            </a:r>
            <a:r>
              <a:rPr lang="en-US" altLang="zh-CN" dirty="0">
                <a:latin typeface="Times New Roman" panose="02020603050405020304" pitchFamily="18" charset="0"/>
                <a:cs typeface="Times New Roman" panose="02020603050405020304" pitchFamily="18" charset="0"/>
              </a:rPr>
              <a:t>M2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M4</a:t>
            </a:r>
            <a:r>
              <a:rPr lang="zh-CN" altLang="en-US" dirty="0">
                <a:latin typeface="Times New Roman" panose="02020603050405020304" pitchFamily="18" charset="0"/>
                <a:cs typeface="Times New Roman" panose="02020603050405020304" pitchFamily="18" charset="0"/>
              </a:rPr>
              <a:t>。</a:t>
            </a:r>
          </a:p>
        </p:txBody>
      </p:sp>
      <p:sp>
        <p:nvSpPr>
          <p:cNvPr id="29" name="Rectangle 18">
            <a:extLst>
              <a:ext uri="{FF2B5EF4-FFF2-40B4-BE49-F238E27FC236}">
                <a16:creationId xmlns:a16="http://schemas.microsoft.com/office/drawing/2014/main" id="{4C5695C4-6D7C-B944-93C5-ADBAB8D8BA44}"/>
              </a:ext>
            </a:extLst>
          </p:cNvPr>
          <p:cNvSpPr>
            <a:spLocks noChangeArrowheads="1"/>
          </p:cNvSpPr>
          <p:nvPr/>
        </p:nvSpPr>
        <p:spPr bwMode="auto">
          <a:xfrm>
            <a:off x="5359400" y="2855919"/>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M2</a:t>
            </a:r>
          </a:p>
        </p:txBody>
      </p:sp>
      <p:sp>
        <p:nvSpPr>
          <p:cNvPr id="30" name="Rectangle 19">
            <a:extLst>
              <a:ext uri="{FF2B5EF4-FFF2-40B4-BE49-F238E27FC236}">
                <a16:creationId xmlns:a16="http://schemas.microsoft.com/office/drawing/2014/main" id="{610EF6E8-F6FE-CF4A-99C4-4E0730AD12BD}"/>
              </a:ext>
            </a:extLst>
          </p:cNvPr>
          <p:cNvSpPr>
            <a:spLocks noChangeArrowheads="1"/>
          </p:cNvSpPr>
          <p:nvPr/>
        </p:nvSpPr>
        <p:spPr bwMode="auto">
          <a:xfrm>
            <a:off x="6538683" y="2858736"/>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M3</a:t>
            </a:r>
          </a:p>
        </p:txBody>
      </p:sp>
      <p:sp>
        <p:nvSpPr>
          <p:cNvPr id="31" name="Rectangle 20">
            <a:extLst>
              <a:ext uri="{FF2B5EF4-FFF2-40B4-BE49-F238E27FC236}">
                <a16:creationId xmlns:a16="http://schemas.microsoft.com/office/drawing/2014/main" id="{172406BC-98AD-4A4F-9089-8F9D2625FB81}"/>
              </a:ext>
            </a:extLst>
          </p:cNvPr>
          <p:cNvSpPr>
            <a:spLocks noChangeArrowheads="1"/>
          </p:cNvSpPr>
          <p:nvPr/>
        </p:nvSpPr>
        <p:spPr bwMode="auto">
          <a:xfrm>
            <a:off x="7681404" y="2863405"/>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M4</a:t>
            </a:r>
          </a:p>
        </p:txBody>
      </p:sp>
      <p:sp>
        <p:nvSpPr>
          <p:cNvPr id="32" name="Text Box 21">
            <a:extLst>
              <a:ext uri="{FF2B5EF4-FFF2-40B4-BE49-F238E27FC236}">
                <a16:creationId xmlns:a16="http://schemas.microsoft.com/office/drawing/2014/main" id="{B48C73FC-7CF3-0F44-A2B1-373DFFEBB575}"/>
              </a:ext>
            </a:extLst>
          </p:cNvPr>
          <p:cNvSpPr txBox="1">
            <a:spLocks noChangeArrowheads="1"/>
          </p:cNvSpPr>
          <p:nvPr/>
        </p:nvSpPr>
        <p:spPr bwMode="auto">
          <a:xfrm>
            <a:off x="4746625" y="4282477"/>
            <a:ext cx="4029075" cy="922338"/>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algn="just">
              <a:spcBef>
                <a:spcPct val="50000"/>
              </a:spcBef>
              <a:defRPr>
                <a:latin typeface="宋体" panose="02010600030101010101" pitchFamily="2" charset="-122"/>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highlight>
                  <a:srgbClr val="FFFF00"/>
                </a:highlight>
                <a:latin typeface="Times New Roman" panose="02020603050405020304" pitchFamily="18" charset="0"/>
                <a:cs typeface="Times New Roman" panose="02020603050405020304" pitchFamily="18" charset="0"/>
              </a:rPr>
              <a:t>第二步</a:t>
            </a:r>
            <a:r>
              <a:rPr lang="zh-CN" altLang="en-US" dirty="0">
                <a:latin typeface="Times New Roman" panose="02020603050405020304" pitchFamily="18" charset="0"/>
                <a:cs typeface="Times New Roman" panose="02020603050405020304" pitchFamily="18" charset="0"/>
              </a:rPr>
              <a:t>：依次用</a:t>
            </a:r>
            <a:r>
              <a:rPr lang="en-US" altLang="zh-CN" dirty="0">
                <a:latin typeface="Times New Roman" panose="02020603050405020304" pitchFamily="18" charset="0"/>
                <a:cs typeface="Times New Roman" panose="02020603050405020304" pitchFamily="18" charset="0"/>
              </a:rPr>
              <a:t>M2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M4</a:t>
            </a:r>
            <a:r>
              <a:rPr lang="zh-CN" altLang="en-US" dirty="0">
                <a:latin typeface="Times New Roman" panose="02020603050405020304" pitchFamily="18" charset="0"/>
                <a:cs typeface="Times New Roman" panose="02020603050405020304" pitchFamily="18" charset="0"/>
              </a:rPr>
              <a:t>替代桩模块</a:t>
            </a:r>
            <a:r>
              <a:rPr lang="en-US" altLang="zh-CN" dirty="0">
                <a:latin typeface="Times New Roman" panose="02020603050405020304" pitchFamily="18" charset="0"/>
                <a:cs typeface="Times New Roman" panose="02020603050405020304" pitchFamily="18" charset="0"/>
              </a:rPr>
              <a:t>S1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S3</a:t>
            </a:r>
            <a:r>
              <a:rPr lang="zh-CN" altLang="en-US" dirty="0">
                <a:latin typeface="Times New Roman" panose="02020603050405020304" pitchFamily="18" charset="0"/>
                <a:cs typeface="Times New Roman" panose="02020603050405020304" pitchFamily="18" charset="0"/>
              </a:rPr>
              <a:t>，每替代一次进行一次测试。</a:t>
            </a:r>
          </a:p>
        </p:txBody>
      </p:sp>
      <p:sp>
        <p:nvSpPr>
          <p:cNvPr id="33" name="Rectangle 22">
            <a:extLst>
              <a:ext uri="{FF2B5EF4-FFF2-40B4-BE49-F238E27FC236}">
                <a16:creationId xmlns:a16="http://schemas.microsoft.com/office/drawing/2014/main" id="{9DC7A0C0-160D-3A43-84B2-0D8EDE6EFC07}"/>
              </a:ext>
            </a:extLst>
          </p:cNvPr>
          <p:cNvSpPr>
            <a:spLocks noChangeArrowheads="1"/>
          </p:cNvSpPr>
          <p:nvPr/>
        </p:nvSpPr>
        <p:spPr bwMode="auto">
          <a:xfrm>
            <a:off x="5365836" y="3431577"/>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S4</a:t>
            </a:r>
          </a:p>
        </p:txBody>
      </p:sp>
      <p:sp>
        <p:nvSpPr>
          <p:cNvPr id="34" name="Line 23">
            <a:extLst>
              <a:ext uri="{FF2B5EF4-FFF2-40B4-BE49-F238E27FC236}">
                <a16:creationId xmlns:a16="http://schemas.microsoft.com/office/drawing/2014/main" id="{58A3B0E1-89CD-6549-986A-3FA4B0A6BAD8}"/>
              </a:ext>
            </a:extLst>
          </p:cNvPr>
          <p:cNvSpPr>
            <a:spLocks noChangeShapeType="1"/>
          </p:cNvSpPr>
          <p:nvPr/>
        </p:nvSpPr>
        <p:spPr bwMode="auto">
          <a:xfrm>
            <a:off x="5703888" y="3152177"/>
            <a:ext cx="0" cy="2809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28">
            <a:extLst>
              <a:ext uri="{FF2B5EF4-FFF2-40B4-BE49-F238E27FC236}">
                <a16:creationId xmlns:a16="http://schemas.microsoft.com/office/drawing/2014/main" id="{20D303B6-6C7A-B244-BC3C-E19E2999F270}"/>
              </a:ext>
            </a:extLst>
          </p:cNvPr>
          <p:cNvSpPr>
            <a:spLocks noChangeShapeType="1"/>
          </p:cNvSpPr>
          <p:nvPr/>
        </p:nvSpPr>
        <p:spPr bwMode="auto">
          <a:xfrm>
            <a:off x="8026400" y="3150590"/>
            <a:ext cx="0" cy="311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Text Box 29">
            <a:extLst>
              <a:ext uri="{FF2B5EF4-FFF2-40B4-BE49-F238E27FC236}">
                <a16:creationId xmlns:a16="http://schemas.microsoft.com/office/drawing/2014/main" id="{E7905EBE-378F-994D-B464-91BB86159F4D}"/>
              </a:ext>
            </a:extLst>
          </p:cNvPr>
          <p:cNvSpPr txBox="1">
            <a:spLocks noChangeArrowheads="1"/>
          </p:cNvSpPr>
          <p:nvPr/>
        </p:nvSpPr>
        <p:spPr bwMode="auto">
          <a:xfrm>
            <a:off x="463550" y="5266727"/>
            <a:ext cx="4089400" cy="922338"/>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algn="just">
              <a:spcBef>
                <a:spcPct val="50000"/>
              </a:spcBef>
              <a:defRPr>
                <a:latin typeface="宋体" panose="02010600030101010101" pitchFamily="2" charset="-122"/>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highlight>
                  <a:srgbClr val="FFFF00"/>
                </a:highlight>
                <a:latin typeface="Times New Roman" panose="02020603050405020304" pitchFamily="18" charset="0"/>
                <a:cs typeface="Times New Roman" panose="02020603050405020304" pitchFamily="18" charset="0"/>
              </a:rPr>
              <a:t>第三步</a:t>
            </a:r>
            <a:r>
              <a:rPr lang="zh-CN" altLang="en-US" dirty="0">
                <a:latin typeface="Times New Roman" panose="02020603050405020304" pitchFamily="18" charset="0"/>
                <a:cs typeface="Times New Roman" panose="02020603050405020304" pitchFamily="18" charset="0"/>
              </a:rPr>
              <a:t>：对由主控模块</a:t>
            </a:r>
            <a:r>
              <a:rPr lang="en-US" altLang="zh-CN" dirty="0">
                <a:latin typeface="Times New Roman" panose="02020603050405020304" pitchFamily="18" charset="0"/>
                <a:cs typeface="Times New Roman" panose="02020603050405020304" pitchFamily="18" charset="0"/>
              </a:rPr>
              <a:t>M1</a:t>
            </a:r>
            <a:r>
              <a:rPr lang="zh-CN" altLang="en-US" dirty="0">
                <a:latin typeface="Times New Roman" panose="02020603050405020304" pitchFamily="18" charset="0"/>
                <a:cs typeface="Times New Roman" panose="02020603050405020304" pitchFamily="18" charset="0"/>
              </a:rPr>
              <a:t>和模块</a:t>
            </a:r>
            <a:r>
              <a:rPr lang="en-US" altLang="zh-CN" dirty="0">
                <a:latin typeface="Times New Roman" panose="02020603050405020304" pitchFamily="18" charset="0"/>
                <a:cs typeface="Times New Roman" panose="02020603050405020304" pitchFamily="18" charset="0"/>
              </a:rPr>
              <a:t>M2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M4</a:t>
            </a:r>
            <a:r>
              <a:rPr lang="zh-CN" altLang="en-US" dirty="0">
                <a:latin typeface="Times New Roman" panose="02020603050405020304" pitchFamily="18" charset="0"/>
                <a:cs typeface="Times New Roman" panose="02020603050405020304" pitchFamily="18" charset="0"/>
              </a:rPr>
              <a:t>构成的子系统进行测试，设计桩模块</a:t>
            </a:r>
            <a:r>
              <a:rPr lang="en-US" altLang="zh-CN" dirty="0">
                <a:latin typeface="Times New Roman" panose="02020603050405020304" pitchFamily="18" charset="0"/>
                <a:cs typeface="Times New Roman" panose="02020603050405020304" pitchFamily="18" charset="0"/>
              </a:rPr>
              <a:t>S4</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S5</a:t>
            </a:r>
            <a:r>
              <a:rPr lang="zh-CN" altLang="en-US" dirty="0">
                <a:latin typeface="Times New Roman" panose="02020603050405020304" pitchFamily="18" charset="0"/>
                <a:cs typeface="Times New Roman" panose="02020603050405020304" pitchFamily="18" charset="0"/>
              </a:rPr>
              <a:t>。</a:t>
            </a:r>
          </a:p>
        </p:txBody>
      </p:sp>
      <p:sp>
        <p:nvSpPr>
          <p:cNvPr id="41" name="Rectangle 30">
            <a:extLst>
              <a:ext uri="{FF2B5EF4-FFF2-40B4-BE49-F238E27FC236}">
                <a16:creationId xmlns:a16="http://schemas.microsoft.com/office/drawing/2014/main" id="{E4C17772-6886-EC4B-B237-509958CB1295}"/>
              </a:ext>
            </a:extLst>
          </p:cNvPr>
          <p:cNvSpPr>
            <a:spLocks noChangeArrowheads="1"/>
          </p:cNvSpPr>
          <p:nvPr/>
        </p:nvSpPr>
        <p:spPr bwMode="auto">
          <a:xfrm>
            <a:off x="5360050" y="3429990"/>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2"/>
                </a:solidFill>
                <a:latin typeface="Times New Roman" panose="02020603050405020304" pitchFamily="18" charset="0"/>
              </a:rPr>
              <a:t>M5</a:t>
            </a:r>
          </a:p>
        </p:txBody>
      </p:sp>
      <p:sp>
        <p:nvSpPr>
          <p:cNvPr id="42" name="Rectangle 31">
            <a:extLst>
              <a:ext uri="{FF2B5EF4-FFF2-40B4-BE49-F238E27FC236}">
                <a16:creationId xmlns:a16="http://schemas.microsoft.com/office/drawing/2014/main" id="{456A4B61-5D53-5548-B3CE-F990EA6AE59A}"/>
              </a:ext>
            </a:extLst>
          </p:cNvPr>
          <p:cNvSpPr>
            <a:spLocks noChangeArrowheads="1"/>
          </p:cNvSpPr>
          <p:nvPr/>
        </p:nvSpPr>
        <p:spPr bwMode="auto">
          <a:xfrm>
            <a:off x="7688545" y="3445844"/>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M6</a:t>
            </a:r>
          </a:p>
        </p:txBody>
      </p:sp>
      <p:sp>
        <p:nvSpPr>
          <p:cNvPr id="43" name="Text Box 32">
            <a:extLst>
              <a:ext uri="{FF2B5EF4-FFF2-40B4-BE49-F238E27FC236}">
                <a16:creationId xmlns:a16="http://schemas.microsoft.com/office/drawing/2014/main" id="{07B84437-CDBB-5E4A-A628-FD64A98B2B24}"/>
              </a:ext>
            </a:extLst>
          </p:cNvPr>
          <p:cNvSpPr txBox="1">
            <a:spLocks noChangeArrowheads="1"/>
          </p:cNvSpPr>
          <p:nvPr/>
        </p:nvSpPr>
        <p:spPr bwMode="auto">
          <a:xfrm>
            <a:off x="4762500" y="5250852"/>
            <a:ext cx="4006850" cy="923925"/>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algn="just">
              <a:spcBef>
                <a:spcPct val="50000"/>
              </a:spcBef>
              <a:defRPr>
                <a:latin typeface="宋体" panose="02010600030101010101" pitchFamily="2" charset="-122"/>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highlight>
                  <a:srgbClr val="FFFF00"/>
                </a:highlight>
                <a:latin typeface="Times New Roman" panose="02020603050405020304" pitchFamily="18" charset="0"/>
                <a:cs typeface="Times New Roman" panose="02020603050405020304" pitchFamily="18" charset="0"/>
              </a:rPr>
              <a:t>第四步</a:t>
            </a:r>
            <a:r>
              <a:rPr lang="zh-CN" altLang="en-US" dirty="0">
                <a:latin typeface="Times New Roman" panose="02020603050405020304" pitchFamily="18" charset="0"/>
                <a:cs typeface="Times New Roman" panose="02020603050405020304" pitchFamily="18" charset="0"/>
              </a:rPr>
              <a:t>：依次用模块</a:t>
            </a:r>
            <a:r>
              <a:rPr lang="en-US" altLang="zh-CN" dirty="0">
                <a:latin typeface="Times New Roman" panose="02020603050405020304" pitchFamily="18" charset="0"/>
                <a:cs typeface="Times New Roman" panose="02020603050405020304" pitchFamily="18" charset="0"/>
              </a:rPr>
              <a:t>M5</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M6</a:t>
            </a:r>
            <a:r>
              <a:rPr lang="zh-CN" altLang="en-US" dirty="0">
                <a:latin typeface="Times New Roman" panose="02020603050405020304" pitchFamily="18" charset="0"/>
                <a:cs typeface="Times New Roman" panose="02020603050405020304" pitchFamily="18" charset="0"/>
              </a:rPr>
              <a:t>替代桩模块</a:t>
            </a:r>
            <a:r>
              <a:rPr lang="en-US" altLang="zh-CN" dirty="0">
                <a:latin typeface="Times New Roman" panose="02020603050405020304" pitchFamily="18" charset="0"/>
                <a:cs typeface="Times New Roman" panose="02020603050405020304" pitchFamily="18" charset="0"/>
              </a:rPr>
              <a:t>S4</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S5</a:t>
            </a:r>
            <a:r>
              <a:rPr lang="zh-CN" altLang="en-US" dirty="0">
                <a:latin typeface="Times New Roman" panose="02020603050405020304" pitchFamily="18" charset="0"/>
                <a:cs typeface="Times New Roman" panose="02020603050405020304" pitchFamily="18" charset="0"/>
              </a:rPr>
              <a:t>，并同时进行新的测试。组装测试完毕。</a:t>
            </a:r>
          </a:p>
        </p:txBody>
      </p:sp>
      <p:sp>
        <p:nvSpPr>
          <p:cNvPr id="44" name="AutoShape 33">
            <a:extLst>
              <a:ext uri="{FF2B5EF4-FFF2-40B4-BE49-F238E27FC236}">
                <a16:creationId xmlns:a16="http://schemas.microsoft.com/office/drawing/2014/main" id="{59B775E2-D932-E94A-8339-6B2410F53EBF}"/>
              </a:ext>
            </a:extLst>
          </p:cNvPr>
          <p:cNvSpPr>
            <a:spLocks noChangeArrowheads="1"/>
          </p:cNvSpPr>
          <p:nvPr/>
        </p:nvSpPr>
        <p:spPr bwMode="auto">
          <a:xfrm rot="5400000">
            <a:off x="4346869" y="3098065"/>
            <a:ext cx="1201243" cy="228600"/>
          </a:xfrm>
          <a:prstGeom prst="notchedRightArrow">
            <a:avLst>
              <a:gd name="adj1" fmla="val 50000"/>
              <a:gd name="adj2" fmla="val 208333"/>
            </a:avLst>
          </a:prstGeom>
          <a:solidFill>
            <a:schemeClr val="hlink"/>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46" name="Text Box 36">
            <a:extLst>
              <a:ext uri="{FF2B5EF4-FFF2-40B4-BE49-F238E27FC236}">
                <a16:creationId xmlns:a16="http://schemas.microsoft.com/office/drawing/2014/main" id="{4F2B35B5-895B-0E49-BF3E-BD0EB1F68D14}"/>
              </a:ext>
            </a:extLst>
          </p:cNvPr>
          <p:cNvSpPr txBox="1">
            <a:spLocks noChangeArrowheads="1"/>
          </p:cNvSpPr>
          <p:nvPr/>
        </p:nvSpPr>
        <p:spPr bwMode="auto">
          <a:xfrm>
            <a:off x="6445250" y="3779240"/>
            <a:ext cx="1066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a:latin typeface="Times New Roman" panose="02020603050405020304" pitchFamily="18" charset="0"/>
              </a:rPr>
              <a:t>   图</a:t>
            </a:r>
            <a:r>
              <a:rPr lang="en-US" altLang="zh-CN">
                <a:latin typeface="Times New Roman" panose="02020603050405020304" pitchFamily="18" charset="0"/>
              </a:rPr>
              <a:t>b</a:t>
            </a:r>
          </a:p>
        </p:txBody>
      </p:sp>
      <p:sp>
        <p:nvSpPr>
          <p:cNvPr id="60" name="Text Box 50">
            <a:extLst>
              <a:ext uri="{FF2B5EF4-FFF2-40B4-BE49-F238E27FC236}">
                <a16:creationId xmlns:a16="http://schemas.microsoft.com/office/drawing/2014/main" id="{FF67563C-B252-264A-BB35-DFDEFC13BF89}"/>
              </a:ext>
            </a:extLst>
          </p:cNvPr>
          <p:cNvSpPr txBox="1">
            <a:spLocks noChangeArrowheads="1"/>
          </p:cNvSpPr>
          <p:nvPr/>
        </p:nvSpPr>
        <p:spPr bwMode="auto">
          <a:xfrm>
            <a:off x="723900" y="1993302"/>
            <a:ext cx="769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dirty="0">
                <a:latin typeface="Times New Roman" panose="02020603050405020304" pitchFamily="18" charset="0"/>
              </a:rPr>
              <a:t>图</a:t>
            </a:r>
            <a:r>
              <a:rPr lang="en-US" altLang="zh-CN" dirty="0">
                <a:latin typeface="Times New Roman" panose="02020603050405020304" pitchFamily="18" charset="0"/>
              </a:rPr>
              <a:t>a</a:t>
            </a:r>
            <a:r>
              <a:rPr lang="zh-CN" altLang="en-US" dirty="0">
                <a:latin typeface="Times New Roman" panose="02020603050405020304" pitchFamily="18" charset="0"/>
              </a:rPr>
              <a:t>为软件结构图，图</a:t>
            </a:r>
            <a:r>
              <a:rPr lang="en-US" altLang="zh-CN" dirty="0">
                <a:latin typeface="Times New Roman" panose="02020603050405020304" pitchFamily="18" charset="0"/>
              </a:rPr>
              <a:t>b</a:t>
            </a:r>
            <a:r>
              <a:rPr lang="zh-CN" altLang="en-US" dirty="0">
                <a:latin typeface="Times New Roman" panose="02020603050405020304" pitchFamily="18" charset="0"/>
              </a:rPr>
              <a:t>描述了</a:t>
            </a:r>
            <a:r>
              <a:rPr lang="zh-CN" altLang="en-US" dirty="0">
                <a:latin typeface="宋体" panose="02010600030101010101" pitchFamily="2" charset="-122"/>
              </a:rPr>
              <a:t>自顶向下渐增集成的过程。</a:t>
            </a:r>
            <a:endParaRPr lang="zh-CN" altLang="en-US" dirty="0">
              <a:latin typeface="Times New Roman" panose="02020603050405020304" pitchFamily="18" charset="0"/>
            </a:endParaRPr>
          </a:p>
        </p:txBody>
      </p:sp>
      <p:sp>
        <p:nvSpPr>
          <p:cNvPr id="61" name="Rectangle 7">
            <a:extLst>
              <a:ext uri="{FF2B5EF4-FFF2-40B4-BE49-F238E27FC236}">
                <a16:creationId xmlns:a16="http://schemas.microsoft.com/office/drawing/2014/main" id="{4A077927-5D64-934F-86B5-BE92305E5776}"/>
              </a:ext>
            </a:extLst>
          </p:cNvPr>
          <p:cNvSpPr txBox="1">
            <a:spLocks noChangeArrowheads="1"/>
          </p:cNvSpPr>
          <p:nvPr/>
        </p:nvSpPr>
        <p:spPr>
          <a:xfrm>
            <a:off x="1073823" y="1168229"/>
            <a:ext cx="6688045" cy="52821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1</a:t>
            </a:r>
            <a:r>
              <a:rPr lang="zh-CN" altLang="en-US" sz="2000" dirty="0">
                <a:solidFill>
                  <a:srgbClr val="CC6600"/>
                </a:solidFill>
                <a:sym typeface="微软雅黑" panose="020B0503020204020204" pitchFamily="34" charset="-122"/>
              </a:rPr>
              <a:t>） 自顶向下渐增集成</a:t>
            </a:r>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grpSp>
        <p:nvGrpSpPr>
          <p:cNvPr id="62" name="Group 36">
            <a:extLst>
              <a:ext uri="{FF2B5EF4-FFF2-40B4-BE49-F238E27FC236}">
                <a16:creationId xmlns:a16="http://schemas.microsoft.com/office/drawing/2014/main" id="{B27DB9C8-690F-1647-BA2C-5DA346D62CD2}"/>
              </a:ext>
            </a:extLst>
          </p:cNvPr>
          <p:cNvGrpSpPr>
            <a:grpSpLocks/>
          </p:cNvGrpSpPr>
          <p:nvPr/>
        </p:nvGrpSpPr>
        <p:grpSpPr bwMode="auto">
          <a:xfrm>
            <a:off x="1143000" y="2631341"/>
            <a:ext cx="2133600" cy="1550628"/>
            <a:chOff x="3600" y="1056"/>
            <a:chExt cx="1344" cy="1303"/>
          </a:xfrm>
        </p:grpSpPr>
        <p:grpSp>
          <p:nvGrpSpPr>
            <p:cNvPr id="63" name="Group 37">
              <a:extLst>
                <a:ext uri="{FF2B5EF4-FFF2-40B4-BE49-F238E27FC236}">
                  <a16:creationId xmlns:a16="http://schemas.microsoft.com/office/drawing/2014/main" id="{81AD6CE5-2AF2-7B4D-A5B8-277B11A3189A}"/>
                </a:ext>
              </a:extLst>
            </p:cNvPr>
            <p:cNvGrpSpPr>
              <a:grpSpLocks/>
            </p:cNvGrpSpPr>
            <p:nvPr/>
          </p:nvGrpSpPr>
          <p:grpSpPr bwMode="auto">
            <a:xfrm>
              <a:off x="3600" y="1056"/>
              <a:ext cx="1344" cy="960"/>
              <a:chOff x="3252" y="784"/>
              <a:chExt cx="1788" cy="1206"/>
            </a:xfrm>
          </p:grpSpPr>
          <p:sp>
            <p:nvSpPr>
              <p:cNvPr id="65" name="Rectangle 38">
                <a:extLst>
                  <a:ext uri="{FF2B5EF4-FFF2-40B4-BE49-F238E27FC236}">
                    <a16:creationId xmlns:a16="http://schemas.microsoft.com/office/drawing/2014/main" id="{C3C24A18-9C6F-0540-BC61-0600D75A464E}"/>
                  </a:ext>
                </a:extLst>
              </p:cNvPr>
              <p:cNvSpPr>
                <a:spLocks noChangeArrowheads="1"/>
              </p:cNvSpPr>
              <p:nvPr/>
            </p:nvSpPr>
            <p:spPr bwMode="auto">
              <a:xfrm>
                <a:off x="3936" y="784"/>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M1</a:t>
                </a:r>
              </a:p>
            </p:txBody>
          </p:sp>
          <p:sp>
            <p:nvSpPr>
              <p:cNvPr id="66" name="Rectangle 39">
                <a:extLst>
                  <a:ext uri="{FF2B5EF4-FFF2-40B4-BE49-F238E27FC236}">
                    <a16:creationId xmlns:a16="http://schemas.microsoft.com/office/drawing/2014/main" id="{39F379D9-1A8B-E644-9573-83D56B0BB538}"/>
                  </a:ext>
                </a:extLst>
              </p:cNvPr>
              <p:cNvSpPr>
                <a:spLocks noChangeArrowheads="1"/>
              </p:cNvSpPr>
              <p:nvPr/>
            </p:nvSpPr>
            <p:spPr bwMode="auto">
              <a:xfrm>
                <a:off x="4583" y="1261"/>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2"/>
                    </a:solidFill>
                    <a:latin typeface="Times New Roman" panose="02020603050405020304" pitchFamily="18" charset="0"/>
                  </a:rPr>
                  <a:t>M4</a:t>
                </a:r>
              </a:p>
            </p:txBody>
          </p:sp>
          <p:sp>
            <p:nvSpPr>
              <p:cNvPr id="67" name="Rectangle 40">
                <a:extLst>
                  <a:ext uri="{FF2B5EF4-FFF2-40B4-BE49-F238E27FC236}">
                    <a16:creationId xmlns:a16="http://schemas.microsoft.com/office/drawing/2014/main" id="{17BD08FC-12CE-3841-88FA-A2EAD07EA05A}"/>
                  </a:ext>
                </a:extLst>
              </p:cNvPr>
              <p:cNvSpPr>
                <a:spLocks noChangeArrowheads="1"/>
              </p:cNvSpPr>
              <p:nvPr/>
            </p:nvSpPr>
            <p:spPr bwMode="auto">
              <a:xfrm>
                <a:off x="3936" y="1261"/>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M3</a:t>
                </a:r>
              </a:p>
            </p:txBody>
          </p:sp>
          <p:sp>
            <p:nvSpPr>
              <p:cNvPr id="68" name="Rectangle 41">
                <a:extLst>
                  <a:ext uri="{FF2B5EF4-FFF2-40B4-BE49-F238E27FC236}">
                    <a16:creationId xmlns:a16="http://schemas.microsoft.com/office/drawing/2014/main" id="{E95CD850-4C8B-8E4E-AEEC-854C4426245E}"/>
                  </a:ext>
                </a:extLst>
              </p:cNvPr>
              <p:cNvSpPr>
                <a:spLocks noChangeArrowheads="1"/>
              </p:cNvSpPr>
              <p:nvPr/>
            </p:nvSpPr>
            <p:spPr bwMode="auto">
              <a:xfrm>
                <a:off x="3264" y="1261"/>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M2</a:t>
                </a:r>
              </a:p>
            </p:txBody>
          </p:sp>
          <p:sp>
            <p:nvSpPr>
              <p:cNvPr id="69" name="Line 42">
                <a:extLst>
                  <a:ext uri="{FF2B5EF4-FFF2-40B4-BE49-F238E27FC236}">
                    <a16:creationId xmlns:a16="http://schemas.microsoft.com/office/drawing/2014/main" id="{4BE83097-AED6-F04D-8051-B991124C855D}"/>
                  </a:ext>
                </a:extLst>
              </p:cNvPr>
              <p:cNvSpPr>
                <a:spLocks noChangeShapeType="1"/>
              </p:cNvSpPr>
              <p:nvPr/>
            </p:nvSpPr>
            <p:spPr bwMode="auto">
              <a:xfrm flipH="1">
                <a:off x="4128" y="1024"/>
                <a:ext cx="0" cy="2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43">
                <a:extLst>
                  <a:ext uri="{FF2B5EF4-FFF2-40B4-BE49-F238E27FC236}">
                    <a16:creationId xmlns:a16="http://schemas.microsoft.com/office/drawing/2014/main" id="{0465B86E-5529-E14C-B76D-788836C40438}"/>
                  </a:ext>
                </a:extLst>
              </p:cNvPr>
              <p:cNvSpPr>
                <a:spLocks noChangeShapeType="1"/>
              </p:cNvSpPr>
              <p:nvPr/>
            </p:nvSpPr>
            <p:spPr bwMode="auto">
              <a:xfrm flipV="1">
                <a:off x="3495" y="1024"/>
                <a:ext cx="489" cy="2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44">
                <a:extLst>
                  <a:ext uri="{FF2B5EF4-FFF2-40B4-BE49-F238E27FC236}">
                    <a16:creationId xmlns:a16="http://schemas.microsoft.com/office/drawing/2014/main" id="{0BD85A12-87BF-7D43-9704-DB00C904451B}"/>
                  </a:ext>
                </a:extLst>
              </p:cNvPr>
              <p:cNvSpPr>
                <a:spLocks noChangeShapeType="1"/>
              </p:cNvSpPr>
              <p:nvPr/>
            </p:nvSpPr>
            <p:spPr bwMode="auto">
              <a:xfrm>
                <a:off x="4320" y="1024"/>
                <a:ext cx="477" cy="2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Rectangle 45">
                <a:extLst>
                  <a:ext uri="{FF2B5EF4-FFF2-40B4-BE49-F238E27FC236}">
                    <a16:creationId xmlns:a16="http://schemas.microsoft.com/office/drawing/2014/main" id="{70CB3E97-DCB0-204C-BDE1-35FA3A3C9D24}"/>
                  </a:ext>
                </a:extLst>
              </p:cNvPr>
              <p:cNvSpPr>
                <a:spLocks noChangeArrowheads="1"/>
              </p:cNvSpPr>
              <p:nvPr/>
            </p:nvSpPr>
            <p:spPr bwMode="auto">
              <a:xfrm>
                <a:off x="4608" y="1750"/>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M6</a:t>
                </a:r>
              </a:p>
            </p:txBody>
          </p:sp>
          <p:sp>
            <p:nvSpPr>
              <p:cNvPr id="73" name="Rectangle 46">
                <a:extLst>
                  <a:ext uri="{FF2B5EF4-FFF2-40B4-BE49-F238E27FC236}">
                    <a16:creationId xmlns:a16="http://schemas.microsoft.com/office/drawing/2014/main" id="{723CD7C8-CE71-9341-90A4-B4A31491B414}"/>
                  </a:ext>
                </a:extLst>
              </p:cNvPr>
              <p:cNvSpPr>
                <a:spLocks noChangeArrowheads="1"/>
              </p:cNvSpPr>
              <p:nvPr/>
            </p:nvSpPr>
            <p:spPr bwMode="auto">
              <a:xfrm>
                <a:off x="3252" y="1725"/>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M5</a:t>
                </a:r>
              </a:p>
            </p:txBody>
          </p:sp>
          <p:sp>
            <p:nvSpPr>
              <p:cNvPr id="74" name="Line 47">
                <a:extLst>
                  <a:ext uri="{FF2B5EF4-FFF2-40B4-BE49-F238E27FC236}">
                    <a16:creationId xmlns:a16="http://schemas.microsoft.com/office/drawing/2014/main" id="{D05EFC69-880C-8640-A7C8-675E0BE9DD63}"/>
                  </a:ext>
                </a:extLst>
              </p:cNvPr>
              <p:cNvSpPr>
                <a:spLocks noChangeShapeType="1"/>
              </p:cNvSpPr>
              <p:nvPr/>
            </p:nvSpPr>
            <p:spPr bwMode="auto">
              <a:xfrm>
                <a:off x="3456" y="1501"/>
                <a:ext cx="0" cy="2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48">
                <a:extLst>
                  <a:ext uri="{FF2B5EF4-FFF2-40B4-BE49-F238E27FC236}">
                    <a16:creationId xmlns:a16="http://schemas.microsoft.com/office/drawing/2014/main" id="{73365E8A-79F3-9D40-923F-21F8BCBB9327}"/>
                  </a:ext>
                </a:extLst>
              </p:cNvPr>
              <p:cNvSpPr>
                <a:spLocks noChangeShapeType="1"/>
              </p:cNvSpPr>
              <p:nvPr/>
            </p:nvSpPr>
            <p:spPr bwMode="auto">
              <a:xfrm>
                <a:off x="4823" y="1514"/>
                <a:ext cx="1" cy="22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4" name="Text Box 49">
              <a:extLst>
                <a:ext uri="{FF2B5EF4-FFF2-40B4-BE49-F238E27FC236}">
                  <a16:creationId xmlns:a16="http://schemas.microsoft.com/office/drawing/2014/main" id="{88C38D6A-13A9-B943-89CC-4E3309259F3D}"/>
                </a:ext>
              </a:extLst>
            </p:cNvPr>
            <p:cNvSpPr txBox="1">
              <a:spLocks noChangeArrowheads="1"/>
            </p:cNvSpPr>
            <p:nvPr/>
          </p:nvSpPr>
          <p:spPr bwMode="auto">
            <a:xfrm>
              <a:off x="4032" y="2049"/>
              <a:ext cx="91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dirty="0">
                  <a:latin typeface="Times New Roman" panose="02020603050405020304" pitchFamily="18" charset="0"/>
                </a:rPr>
                <a:t>  图</a:t>
              </a:r>
              <a:r>
                <a:rPr lang="en-US" altLang="zh-CN" dirty="0">
                  <a:latin typeface="Times New Roman" panose="02020603050405020304" pitchFamily="18" charset="0"/>
                </a:rPr>
                <a:t>a</a:t>
              </a:r>
            </a:p>
          </p:txBody>
        </p:sp>
      </p:grpSp>
    </p:spTree>
    <p:extLst>
      <p:ext uri="{BB962C8B-B14F-4D97-AF65-F5344CB8AC3E}">
        <p14:creationId xmlns:p14="http://schemas.microsoft.com/office/powerpoint/2010/main" val="42284481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1000"/>
                                        <p:tgtEl>
                                          <p:spTgt spid="60"/>
                                        </p:tgtEl>
                                      </p:cBhvr>
                                    </p:animEffect>
                                    <p:anim calcmode="lin" valueType="num">
                                      <p:cBhvr>
                                        <p:cTn id="14" dur="1000" fill="hold"/>
                                        <p:tgtEl>
                                          <p:spTgt spid="60"/>
                                        </p:tgtEl>
                                        <p:attrNameLst>
                                          <p:attrName>ppt_x</p:attrName>
                                        </p:attrNameLst>
                                      </p:cBhvr>
                                      <p:tavLst>
                                        <p:tav tm="0">
                                          <p:val>
                                            <p:strVal val="#ppt_x"/>
                                          </p:val>
                                        </p:tav>
                                        <p:tav tm="100000">
                                          <p:val>
                                            <p:strVal val="#ppt_x"/>
                                          </p:val>
                                        </p:tav>
                                      </p:tavLst>
                                    </p:anim>
                                    <p:anim calcmode="lin" valueType="num">
                                      <p:cBhvr>
                                        <p:cTn id="15" dur="1000" fill="hold"/>
                                        <p:tgtEl>
                                          <p:spTgt spid="60"/>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1000"/>
                                        <p:tgtEl>
                                          <p:spTgt spid="62"/>
                                        </p:tgtEl>
                                      </p:cBhvr>
                                    </p:animEffect>
                                    <p:anim calcmode="lin" valueType="num">
                                      <p:cBhvr>
                                        <p:cTn id="19" dur="1000" fill="hold"/>
                                        <p:tgtEl>
                                          <p:spTgt spid="62"/>
                                        </p:tgtEl>
                                        <p:attrNameLst>
                                          <p:attrName>ppt_x</p:attrName>
                                        </p:attrNameLst>
                                      </p:cBhvr>
                                      <p:tavLst>
                                        <p:tav tm="0">
                                          <p:val>
                                            <p:strVal val="#ppt_x"/>
                                          </p:val>
                                        </p:tav>
                                        <p:tav tm="100000">
                                          <p:val>
                                            <p:strVal val="#ppt_x"/>
                                          </p:val>
                                        </p:tav>
                                      </p:tavLst>
                                    </p:anim>
                                    <p:anim calcmode="lin" valueType="num">
                                      <p:cBhvr>
                                        <p:cTn id="20" dur="1000" fill="hold"/>
                                        <p:tgtEl>
                                          <p:spTgt spid="62"/>
                                        </p:tgtEl>
                                        <p:attrNameLst>
                                          <p:attrName>ppt_y</p:attrName>
                                        </p:attrNameLst>
                                      </p:cBhvr>
                                      <p:tavLst>
                                        <p:tav tm="0">
                                          <p:val>
                                            <p:strVal val="#ppt_y+.1"/>
                                          </p:val>
                                        </p:tav>
                                        <p:tav tm="100000">
                                          <p:val>
                                            <p:strVal val="#ppt_y"/>
                                          </p:val>
                                        </p:tav>
                                      </p:tavLst>
                                    </p:anim>
                                  </p:childTnLst>
                                </p:cTn>
                              </p:par>
                              <p:par>
                                <p:cTn id="21" presetID="42" presetClass="entr" presetSubtype="0" fill="hold" grpId="1" nodeType="with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1000"/>
                                        <p:tgtEl>
                                          <p:spTgt spid="46"/>
                                        </p:tgtEl>
                                      </p:cBhvr>
                                    </p:animEffect>
                                    <p:anim calcmode="lin" valueType="num">
                                      <p:cBhvr>
                                        <p:cTn id="24" dur="1000" fill="hold"/>
                                        <p:tgtEl>
                                          <p:spTgt spid="46"/>
                                        </p:tgtEl>
                                        <p:attrNameLst>
                                          <p:attrName>ppt_x</p:attrName>
                                        </p:attrNameLst>
                                      </p:cBhvr>
                                      <p:tavLst>
                                        <p:tav tm="0">
                                          <p:val>
                                            <p:strVal val="#ppt_x"/>
                                          </p:val>
                                        </p:tav>
                                        <p:tav tm="100000">
                                          <p:val>
                                            <p:strVal val="#ppt_x"/>
                                          </p:val>
                                        </p:tav>
                                      </p:tavLst>
                                    </p:anim>
                                    <p:anim calcmode="lin" valueType="num">
                                      <p:cBhvr>
                                        <p:cTn id="25"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1000"/>
                                        <p:tgtEl>
                                          <p:spTgt spid="28"/>
                                        </p:tgtEl>
                                      </p:cBhvr>
                                    </p:animEffect>
                                    <p:anim calcmode="lin" valueType="num">
                                      <p:cBhvr>
                                        <p:cTn id="31" dur="1000" fill="hold"/>
                                        <p:tgtEl>
                                          <p:spTgt spid="28"/>
                                        </p:tgtEl>
                                        <p:attrNameLst>
                                          <p:attrName>ppt_x</p:attrName>
                                        </p:attrNameLst>
                                      </p:cBhvr>
                                      <p:tavLst>
                                        <p:tav tm="0">
                                          <p:val>
                                            <p:strVal val="#ppt_x"/>
                                          </p:val>
                                        </p:tav>
                                        <p:tav tm="100000">
                                          <p:val>
                                            <p:strVal val="#ppt_x"/>
                                          </p:val>
                                        </p:tav>
                                      </p:tavLst>
                                    </p:anim>
                                    <p:anim calcmode="lin" valueType="num">
                                      <p:cBhvr>
                                        <p:cTn id="32" dur="1000" fill="hold"/>
                                        <p:tgtEl>
                                          <p:spTgt spid="28"/>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42"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22" presetClass="entr" presetSubtype="1" fill="hold" nodeType="after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1000"/>
                                        <p:tgtEl>
                                          <p:spTgt spid="19"/>
                                        </p:tgtEl>
                                      </p:cBhvr>
                                    </p:animEffect>
                                  </p:childTnLst>
                                </p:cTn>
                              </p:par>
                              <p:par>
                                <p:cTn id="43" presetID="22" presetClass="entr" presetSubtype="1"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1000"/>
                                        <p:tgtEl>
                                          <p:spTgt spid="23"/>
                                        </p:tgtEl>
                                      </p:cBhvr>
                                    </p:animEffect>
                                  </p:childTnLst>
                                </p:cTn>
                              </p:par>
                              <p:par>
                                <p:cTn id="46" presetID="22" presetClass="entr" presetSubtype="1"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up)">
                                      <p:cBhvr>
                                        <p:cTn id="48" dur="500"/>
                                        <p:tgtEl>
                                          <p:spTgt spid="27"/>
                                        </p:tgtEl>
                                      </p:cBhvr>
                                    </p:animEffect>
                                  </p:childTnLst>
                                </p:cTn>
                              </p:par>
                            </p:childTnLst>
                          </p:cTn>
                        </p:par>
                        <p:par>
                          <p:cTn id="49" fill="hold">
                            <p:stCondLst>
                              <p:cond delay="3000"/>
                            </p:stCondLst>
                            <p:childTnLst>
                              <p:par>
                                <p:cTn id="50" presetID="42" presetClass="entr" presetSubtype="0"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1000"/>
                                        <p:tgtEl>
                                          <p:spTgt spid="18"/>
                                        </p:tgtEl>
                                      </p:cBhvr>
                                    </p:animEffect>
                                    <p:anim calcmode="lin" valueType="num">
                                      <p:cBhvr>
                                        <p:cTn id="53" dur="1000" fill="hold"/>
                                        <p:tgtEl>
                                          <p:spTgt spid="18"/>
                                        </p:tgtEl>
                                        <p:attrNameLst>
                                          <p:attrName>ppt_x</p:attrName>
                                        </p:attrNameLst>
                                      </p:cBhvr>
                                      <p:tavLst>
                                        <p:tav tm="0">
                                          <p:val>
                                            <p:strVal val="#ppt_x"/>
                                          </p:val>
                                        </p:tav>
                                        <p:tav tm="100000">
                                          <p:val>
                                            <p:strVal val="#ppt_x"/>
                                          </p:val>
                                        </p:tav>
                                      </p:tavLst>
                                    </p:anim>
                                    <p:anim calcmode="lin" valueType="num">
                                      <p:cBhvr>
                                        <p:cTn id="54" dur="1000" fill="hold"/>
                                        <p:tgtEl>
                                          <p:spTgt spid="1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1000"/>
                                        <p:tgtEl>
                                          <p:spTgt spid="26"/>
                                        </p:tgtEl>
                                      </p:cBhvr>
                                    </p:animEffect>
                                    <p:anim calcmode="lin" valueType="num">
                                      <p:cBhvr>
                                        <p:cTn id="63" dur="1000" fill="hold"/>
                                        <p:tgtEl>
                                          <p:spTgt spid="26"/>
                                        </p:tgtEl>
                                        <p:attrNameLst>
                                          <p:attrName>ppt_x</p:attrName>
                                        </p:attrNameLst>
                                      </p:cBhvr>
                                      <p:tavLst>
                                        <p:tav tm="0">
                                          <p:val>
                                            <p:strVal val="#ppt_x"/>
                                          </p:val>
                                        </p:tav>
                                        <p:tav tm="100000">
                                          <p:val>
                                            <p:strVal val="#ppt_x"/>
                                          </p:val>
                                        </p:tav>
                                      </p:tavLst>
                                    </p:anim>
                                    <p:anim calcmode="lin" valueType="num">
                                      <p:cBhvr>
                                        <p:cTn id="6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1000"/>
                                        <p:tgtEl>
                                          <p:spTgt spid="32"/>
                                        </p:tgtEl>
                                      </p:cBhvr>
                                    </p:animEffect>
                                    <p:anim calcmode="lin" valueType="num">
                                      <p:cBhvr>
                                        <p:cTn id="70" dur="1000" fill="hold"/>
                                        <p:tgtEl>
                                          <p:spTgt spid="32"/>
                                        </p:tgtEl>
                                        <p:attrNameLst>
                                          <p:attrName>ppt_x</p:attrName>
                                        </p:attrNameLst>
                                      </p:cBhvr>
                                      <p:tavLst>
                                        <p:tav tm="0">
                                          <p:val>
                                            <p:strVal val="#ppt_x"/>
                                          </p:val>
                                        </p:tav>
                                        <p:tav tm="100000">
                                          <p:val>
                                            <p:strVal val="#ppt_x"/>
                                          </p:val>
                                        </p:tav>
                                      </p:tavLst>
                                    </p:anim>
                                    <p:anim calcmode="lin" valueType="num">
                                      <p:cBhvr>
                                        <p:cTn id="71" dur="1000" fill="hold"/>
                                        <p:tgtEl>
                                          <p:spTgt spid="32"/>
                                        </p:tgtEl>
                                        <p:attrNameLst>
                                          <p:attrName>ppt_y</p:attrName>
                                        </p:attrNameLst>
                                      </p:cBhvr>
                                      <p:tavLst>
                                        <p:tav tm="0">
                                          <p:val>
                                            <p:strVal val="#ppt_y+.1"/>
                                          </p:val>
                                        </p:tav>
                                        <p:tav tm="100000">
                                          <p:val>
                                            <p:strVal val="#ppt_y"/>
                                          </p:val>
                                        </p:tav>
                                      </p:tavLst>
                                    </p:anim>
                                  </p:childTnLst>
                                </p:cTn>
                              </p:par>
                            </p:childTnLst>
                          </p:cTn>
                        </p:par>
                        <p:par>
                          <p:cTn id="72" fill="hold">
                            <p:stCondLst>
                              <p:cond delay="1000"/>
                            </p:stCondLst>
                            <p:childTnLst>
                              <p:par>
                                <p:cTn id="73" presetID="9" presetClass="exit" presetSubtype="0" fill="hold" grpId="1" nodeType="afterEffect">
                                  <p:stCondLst>
                                    <p:cond delay="0"/>
                                  </p:stCondLst>
                                  <p:childTnLst>
                                    <p:animEffect transition="out" filter="dissolve">
                                      <p:cBhvr>
                                        <p:cTn id="74" dur="1000"/>
                                        <p:tgtEl>
                                          <p:spTgt spid="18"/>
                                        </p:tgtEl>
                                      </p:cBhvr>
                                    </p:animEffect>
                                    <p:set>
                                      <p:cBhvr>
                                        <p:cTn id="75" dur="1" fill="hold">
                                          <p:stCondLst>
                                            <p:cond delay="999"/>
                                          </p:stCondLst>
                                        </p:cTn>
                                        <p:tgtEl>
                                          <p:spTgt spid="18"/>
                                        </p:tgtEl>
                                        <p:attrNameLst>
                                          <p:attrName>style.visibility</p:attrName>
                                        </p:attrNameLst>
                                      </p:cBhvr>
                                      <p:to>
                                        <p:strVal val="hidden"/>
                                      </p:to>
                                    </p:set>
                                  </p:childTnLst>
                                </p:cTn>
                              </p:par>
                              <p:par>
                                <p:cTn id="76" presetID="9"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dissolve">
                                      <p:cBhvr>
                                        <p:cTn id="78" dur="1000"/>
                                        <p:tgtEl>
                                          <p:spTgt spid="29"/>
                                        </p:tgtEl>
                                      </p:cBhvr>
                                    </p:animEffect>
                                  </p:childTnLst>
                                </p:cTn>
                              </p:par>
                            </p:childTnLst>
                          </p:cTn>
                        </p:par>
                        <p:par>
                          <p:cTn id="79" fill="hold">
                            <p:stCondLst>
                              <p:cond delay="2000"/>
                            </p:stCondLst>
                            <p:childTnLst>
                              <p:par>
                                <p:cTn id="80" presetID="9" presetClass="exit" presetSubtype="0" fill="hold" grpId="1" nodeType="afterEffect">
                                  <p:stCondLst>
                                    <p:cond delay="0"/>
                                  </p:stCondLst>
                                  <p:childTnLst>
                                    <p:animEffect transition="out" filter="dissolve">
                                      <p:cBhvr>
                                        <p:cTn id="81" dur="1000"/>
                                        <p:tgtEl>
                                          <p:spTgt spid="22"/>
                                        </p:tgtEl>
                                      </p:cBhvr>
                                    </p:animEffect>
                                    <p:set>
                                      <p:cBhvr>
                                        <p:cTn id="82" dur="1" fill="hold">
                                          <p:stCondLst>
                                            <p:cond delay="999"/>
                                          </p:stCondLst>
                                        </p:cTn>
                                        <p:tgtEl>
                                          <p:spTgt spid="22"/>
                                        </p:tgtEl>
                                        <p:attrNameLst>
                                          <p:attrName>style.visibility</p:attrName>
                                        </p:attrNameLst>
                                      </p:cBhvr>
                                      <p:to>
                                        <p:strVal val="hidden"/>
                                      </p:to>
                                    </p:set>
                                  </p:childTnLst>
                                </p:cTn>
                              </p:par>
                              <p:par>
                                <p:cTn id="83" presetID="9"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dissolve">
                                      <p:cBhvr>
                                        <p:cTn id="85" dur="1000"/>
                                        <p:tgtEl>
                                          <p:spTgt spid="30"/>
                                        </p:tgtEl>
                                      </p:cBhvr>
                                    </p:animEffect>
                                  </p:childTnLst>
                                </p:cTn>
                              </p:par>
                            </p:childTnLst>
                          </p:cTn>
                        </p:par>
                        <p:par>
                          <p:cTn id="86" fill="hold">
                            <p:stCondLst>
                              <p:cond delay="3000"/>
                            </p:stCondLst>
                            <p:childTnLst>
                              <p:par>
                                <p:cTn id="87" presetID="9" presetClass="exit" presetSubtype="0" fill="hold" grpId="1" nodeType="afterEffect">
                                  <p:stCondLst>
                                    <p:cond delay="0"/>
                                  </p:stCondLst>
                                  <p:childTnLst>
                                    <p:animEffect transition="out" filter="dissolve">
                                      <p:cBhvr>
                                        <p:cTn id="88" dur="500"/>
                                        <p:tgtEl>
                                          <p:spTgt spid="26"/>
                                        </p:tgtEl>
                                      </p:cBhvr>
                                    </p:animEffect>
                                    <p:set>
                                      <p:cBhvr>
                                        <p:cTn id="89" dur="1" fill="hold">
                                          <p:stCondLst>
                                            <p:cond delay="499"/>
                                          </p:stCondLst>
                                        </p:cTn>
                                        <p:tgtEl>
                                          <p:spTgt spid="26"/>
                                        </p:tgtEl>
                                        <p:attrNameLst>
                                          <p:attrName>style.visibility</p:attrName>
                                        </p:attrNameLst>
                                      </p:cBhvr>
                                      <p:to>
                                        <p:strVal val="hidden"/>
                                      </p:to>
                                    </p:set>
                                  </p:childTnLst>
                                </p:cTn>
                              </p:par>
                              <p:par>
                                <p:cTn id="90" presetID="9"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dissolve">
                                      <p:cBhvr>
                                        <p:cTn id="92" dur="500"/>
                                        <p:tgtEl>
                                          <p:spTgt spid="31"/>
                                        </p:tgtEl>
                                      </p:cBhvr>
                                    </p:animEffect>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1000"/>
                                        <p:tgtEl>
                                          <p:spTgt spid="40"/>
                                        </p:tgtEl>
                                      </p:cBhvr>
                                    </p:animEffect>
                                    <p:anim calcmode="lin" valueType="num">
                                      <p:cBhvr>
                                        <p:cTn id="98" dur="1000" fill="hold"/>
                                        <p:tgtEl>
                                          <p:spTgt spid="40"/>
                                        </p:tgtEl>
                                        <p:attrNameLst>
                                          <p:attrName>ppt_x</p:attrName>
                                        </p:attrNameLst>
                                      </p:cBhvr>
                                      <p:tavLst>
                                        <p:tav tm="0">
                                          <p:val>
                                            <p:strVal val="#ppt_x"/>
                                          </p:val>
                                        </p:tav>
                                        <p:tav tm="100000">
                                          <p:val>
                                            <p:strVal val="#ppt_x"/>
                                          </p:val>
                                        </p:tav>
                                      </p:tavLst>
                                    </p:anim>
                                    <p:anim calcmode="lin" valueType="num">
                                      <p:cBhvr>
                                        <p:cTn id="99" dur="1000" fill="hold"/>
                                        <p:tgtEl>
                                          <p:spTgt spid="40"/>
                                        </p:tgtEl>
                                        <p:attrNameLst>
                                          <p:attrName>ppt_y</p:attrName>
                                        </p:attrNameLst>
                                      </p:cBhvr>
                                      <p:tavLst>
                                        <p:tav tm="0">
                                          <p:val>
                                            <p:strVal val="#ppt_y+.1"/>
                                          </p:val>
                                        </p:tav>
                                        <p:tav tm="100000">
                                          <p:val>
                                            <p:strVal val="#ppt_y"/>
                                          </p:val>
                                        </p:tav>
                                      </p:tavLst>
                                    </p:anim>
                                  </p:childTnLst>
                                </p:cTn>
                              </p:par>
                            </p:childTnLst>
                          </p:cTn>
                        </p:par>
                        <p:par>
                          <p:cTn id="100" fill="hold">
                            <p:stCondLst>
                              <p:cond delay="1000"/>
                            </p:stCondLst>
                            <p:childTnLst>
                              <p:par>
                                <p:cTn id="101" presetID="22" presetClass="entr" presetSubtype="1" fill="hold" grpId="0" nodeType="after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wipe(up)">
                                      <p:cBhvr>
                                        <p:cTn id="103" dur="1000"/>
                                        <p:tgtEl>
                                          <p:spTgt spid="34"/>
                                        </p:tgtEl>
                                      </p:cBhvr>
                                    </p:animEffect>
                                  </p:childTnLst>
                                </p:cTn>
                              </p:par>
                              <p:par>
                                <p:cTn id="104" presetID="22" presetClass="entr" presetSubtype="1"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wipe(up)">
                                      <p:cBhvr>
                                        <p:cTn id="106" dur="1000"/>
                                        <p:tgtEl>
                                          <p:spTgt spid="39"/>
                                        </p:tgtEl>
                                      </p:cBhvr>
                                    </p:animEffect>
                                  </p:childTnLst>
                                </p:cTn>
                              </p:par>
                            </p:childTnLst>
                          </p:cTn>
                        </p:par>
                        <p:par>
                          <p:cTn id="107" fill="hold">
                            <p:stCondLst>
                              <p:cond delay="2000"/>
                            </p:stCondLst>
                            <p:childTnLst>
                              <p:par>
                                <p:cTn id="108" presetID="42" presetClass="entr" presetSubtype="0" fill="hold" grpId="0" nodeType="after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fade">
                                      <p:cBhvr>
                                        <p:cTn id="110" dur="1000"/>
                                        <p:tgtEl>
                                          <p:spTgt spid="33"/>
                                        </p:tgtEl>
                                      </p:cBhvr>
                                    </p:animEffect>
                                    <p:anim calcmode="lin" valueType="num">
                                      <p:cBhvr>
                                        <p:cTn id="111" dur="1000" fill="hold"/>
                                        <p:tgtEl>
                                          <p:spTgt spid="33"/>
                                        </p:tgtEl>
                                        <p:attrNameLst>
                                          <p:attrName>ppt_x</p:attrName>
                                        </p:attrNameLst>
                                      </p:cBhvr>
                                      <p:tavLst>
                                        <p:tav tm="0">
                                          <p:val>
                                            <p:strVal val="#ppt_x"/>
                                          </p:val>
                                        </p:tav>
                                        <p:tav tm="100000">
                                          <p:val>
                                            <p:strVal val="#ppt_x"/>
                                          </p:val>
                                        </p:tav>
                                      </p:tavLst>
                                    </p:anim>
                                    <p:anim calcmode="lin" valueType="num">
                                      <p:cBhvr>
                                        <p:cTn id="112" dur="1000" fill="hold"/>
                                        <p:tgtEl>
                                          <p:spTgt spid="33"/>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10"/>
                                        </p:tgtEl>
                                        <p:attrNameLst>
                                          <p:attrName>style.visibility</p:attrName>
                                        </p:attrNameLst>
                                      </p:cBhvr>
                                      <p:to>
                                        <p:strVal val="visible"/>
                                      </p:to>
                                    </p:set>
                                    <p:animEffect transition="in" filter="fade">
                                      <p:cBhvr>
                                        <p:cTn id="115" dur="1000"/>
                                        <p:tgtEl>
                                          <p:spTgt spid="10"/>
                                        </p:tgtEl>
                                      </p:cBhvr>
                                    </p:animEffect>
                                    <p:anim calcmode="lin" valueType="num">
                                      <p:cBhvr>
                                        <p:cTn id="116" dur="1000" fill="hold"/>
                                        <p:tgtEl>
                                          <p:spTgt spid="10"/>
                                        </p:tgtEl>
                                        <p:attrNameLst>
                                          <p:attrName>ppt_x</p:attrName>
                                        </p:attrNameLst>
                                      </p:cBhvr>
                                      <p:tavLst>
                                        <p:tav tm="0">
                                          <p:val>
                                            <p:strVal val="#ppt_x"/>
                                          </p:val>
                                        </p:tav>
                                        <p:tav tm="100000">
                                          <p:val>
                                            <p:strVal val="#ppt_x"/>
                                          </p:val>
                                        </p:tav>
                                      </p:tavLst>
                                    </p:anim>
                                    <p:anim calcmode="lin" valueType="num">
                                      <p:cBhvr>
                                        <p:cTn id="1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grpId="0" nodeType="click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1000"/>
                                        <p:tgtEl>
                                          <p:spTgt spid="43"/>
                                        </p:tgtEl>
                                      </p:cBhvr>
                                    </p:animEffect>
                                    <p:anim calcmode="lin" valueType="num">
                                      <p:cBhvr>
                                        <p:cTn id="123" dur="1000" fill="hold"/>
                                        <p:tgtEl>
                                          <p:spTgt spid="43"/>
                                        </p:tgtEl>
                                        <p:attrNameLst>
                                          <p:attrName>ppt_x</p:attrName>
                                        </p:attrNameLst>
                                      </p:cBhvr>
                                      <p:tavLst>
                                        <p:tav tm="0">
                                          <p:val>
                                            <p:strVal val="#ppt_x"/>
                                          </p:val>
                                        </p:tav>
                                        <p:tav tm="100000">
                                          <p:val>
                                            <p:strVal val="#ppt_x"/>
                                          </p:val>
                                        </p:tav>
                                      </p:tavLst>
                                    </p:anim>
                                    <p:anim calcmode="lin" valueType="num">
                                      <p:cBhvr>
                                        <p:cTn id="124" dur="1000" fill="hold"/>
                                        <p:tgtEl>
                                          <p:spTgt spid="43"/>
                                        </p:tgtEl>
                                        <p:attrNameLst>
                                          <p:attrName>ppt_y</p:attrName>
                                        </p:attrNameLst>
                                      </p:cBhvr>
                                      <p:tavLst>
                                        <p:tav tm="0">
                                          <p:val>
                                            <p:strVal val="#ppt_y+.1"/>
                                          </p:val>
                                        </p:tav>
                                        <p:tav tm="100000">
                                          <p:val>
                                            <p:strVal val="#ppt_y"/>
                                          </p:val>
                                        </p:tav>
                                      </p:tavLst>
                                    </p:anim>
                                  </p:childTnLst>
                                </p:cTn>
                              </p:par>
                            </p:childTnLst>
                          </p:cTn>
                        </p:par>
                        <p:par>
                          <p:cTn id="125" fill="hold">
                            <p:stCondLst>
                              <p:cond delay="1000"/>
                            </p:stCondLst>
                            <p:childTnLst>
                              <p:par>
                                <p:cTn id="126" presetID="9" presetClass="exit" presetSubtype="0" fill="hold" grpId="1" nodeType="afterEffect">
                                  <p:stCondLst>
                                    <p:cond delay="0"/>
                                  </p:stCondLst>
                                  <p:childTnLst>
                                    <p:animEffect transition="out" filter="dissolve">
                                      <p:cBhvr>
                                        <p:cTn id="127" dur="1000"/>
                                        <p:tgtEl>
                                          <p:spTgt spid="33"/>
                                        </p:tgtEl>
                                      </p:cBhvr>
                                    </p:animEffect>
                                    <p:set>
                                      <p:cBhvr>
                                        <p:cTn id="128" dur="1" fill="hold">
                                          <p:stCondLst>
                                            <p:cond delay="999"/>
                                          </p:stCondLst>
                                        </p:cTn>
                                        <p:tgtEl>
                                          <p:spTgt spid="33"/>
                                        </p:tgtEl>
                                        <p:attrNameLst>
                                          <p:attrName>style.visibility</p:attrName>
                                        </p:attrNameLst>
                                      </p:cBhvr>
                                      <p:to>
                                        <p:strVal val="hidden"/>
                                      </p:to>
                                    </p:set>
                                  </p:childTnLst>
                                </p:cTn>
                              </p:par>
                              <p:par>
                                <p:cTn id="129" presetID="9" presetClass="entr" presetSubtype="0" fill="hold" grpId="0" nodeType="with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dissolve">
                                      <p:cBhvr>
                                        <p:cTn id="131" dur="1000"/>
                                        <p:tgtEl>
                                          <p:spTgt spid="41"/>
                                        </p:tgtEl>
                                      </p:cBhvr>
                                    </p:animEffect>
                                  </p:childTnLst>
                                </p:cTn>
                              </p:par>
                            </p:childTnLst>
                          </p:cTn>
                        </p:par>
                        <p:par>
                          <p:cTn id="132" fill="hold">
                            <p:stCondLst>
                              <p:cond delay="2000"/>
                            </p:stCondLst>
                            <p:childTnLst>
                              <p:par>
                                <p:cTn id="133" presetID="9" presetClass="exit" presetSubtype="0" fill="hold" grpId="1" nodeType="afterEffect">
                                  <p:stCondLst>
                                    <p:cond delay="0"/>
                                  </p:stCondLst>
                                  <p:childTnLst>
                                    <p:animEffect transition="out" filter="dissolve">
                                      <p:cBhvr>
                                        <p:cTn id="134" dur="1000"/>
                                        <p:tgtEl>
                                          <p:spTgt spid="10"/>
                                        </p:tgtEl>
                                      </p:cBhvr>
                                    </p:animEffect>
                                    <p:set>
                                      <p:cBhvr>
                                        <p:cTn id="135" dur="1" fill="hold">
                                          <p:stCondLst>
                                            <p:cond delay="999"/>
                                          </p:stCondLst>
                                        </p:cTn>
                                        <p:tgtEl>
                                          <p:spTgt spid="10"/>
                                        </p:tgtEl>
                                        <p:attrNameLst>
                                          <p:attrName>style.visibility</p:attrName>
                                        </p:attrNameLst>
                                      </p:cBhvr>
                                      <p:to>
                                        <p:strVal val="hidden"/>
                                      </p:to>
                                    </p:set>
                                  </p:childTnLst>
                                </p:cTn>
                              </p:par>
                              <p:par>
                                <p:cTn id="136" presetID="9" presetClass="entr" presetSubtype="0" fill="hold" grpId="0" nodeType="withEffect">
                                  <p:stCondLst>
                                    <p:cond delay="0"/>
                                  </p:stCondLst>
                                  <p:childTnLst>
                                    <p:set>
                                      <p:cBhvr>
                                        <p:cTn id="137" dur="1" fill="hold">
                                          <p:stCondLst>
                                            <p:cond delay="0"/>
                                          </p:stCondLst>
                                        </p:cTn>
                                        <p:tgtEl>
                                          <p:spTgt spid="42"/>
                                        </p:tgtEl>
                                        <p:attrNameLst>
                                          <p:attrName>style.visibility</p:attrName>
                                        </p:attrNameLst>
                                      </p:cBhvr>
                                      <p:to>
                                        <p:strVal val="visible"/>
                                      </p:to>
                                    </p:set>
                                    <p:animEffect transition="in" filter="dissolve">
                                      <p:cBhvr>
                                        <p:cTn id="138" dur="1000"/>
                                        <p:tgtEl>
                                          <p:spTgt spid="42"/>
                                        </p:tgtEl>
                                      </p:cBhvr>
                                    </p:animEffect>
                                  </p:childTnLst>
                                </p:cTn>
                              </p:par>
                            </p:childTnLst>
                          </p:cTn>
                        </p:par>
                        <p:par>
                          <p:cTn id="139" fill="hold">
                            <p:stCondLst>
                              <p:cond delay="3000"/>
                            </p:stCondLst>
                            <p:childTnLst>
                              <p:par>
                                <p:cTn id="140" presetID="22" presetClass="entr" presetSubtype="1" fill="hold" grpId="0" nodeType="afterEffect">
                                  <p:stCondLst>
                                    <p:cond delay="0"/>
                                  </p:stCondLst>
                                  <p:childTnLst>
                                    <p:set>
                                      <p:cBhvr>
                                        <p:cTn id="141" dur="1" fill="hold">
                                          <p:stCondLst>
                                            <p:cond delay="0"/>
                                          </p:stCondLst>
                                        </p:cTn>
                                        <p:tgtEl>
                                          <p:spTgt spid="44"/>
                                        </p:tgtEl>
                                        <p:attrNameLst>
                                          <p:attrName>style.visibility</p:attrName>
                                        </p:attrNameLst>
                                      </p:cBhvr>
                                      <p:to>
                                        <p:strVal val="visible"/>
                                      </p:to>
                                    </p:set>
                                    <p:animEffect transition="in" filter="wipe(up)">
                                      <p:cBhvr>
                                        <p:cTn id="14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0" grpId="1" animBg="1"/>
      <p:bldP spid="11" grpId="0" animBg="1" autoUpdateAnimBg="0"/>
      <p:bldP spid="18" grpId="0" animBg="1"/>
      <p:bldP spid="18" grpId="1" animBg="1"/>
      <p:bldP spid="22" grpId="0" animBg="1"/>
      <p:bldP spid="22" grpId="1" animBg="1"/>
      <p:bldP spid="26" grpId="0" animBg="1"/>
      <p:bldP spid="26" grpId="1" animBg="1"/>
      <p:bldP spid="28" grpId="0" animBg="1" autoUpdateAnimBg="0"/>
      <p:bldP spid="29" grpId="0" animBg="1" autoUpdateAnimBg="0"/>
      <p:bldP spid="30" grpId="0" animBg="1" autoUpdateAnimBg="0"/>
      <p:bldP spid="31" grpId="0" animBg="1" autoUpdateAnimBg="0"/>
      <p:bldP spid="32" grpId="0" animBg="1" autoUpdateAnimBg="0"/>
      <p:bldP spid="33" grpId="0" animBg="1" autoUpdateAnimBg="0"/>
      <p:bldP spid="33" grpId="1" animBg="1"/>
      <p:bldP spid="34" grpId="0" animBg="1"/>
      <p:bldP spid="39" grpId="0" animBg="1"/>
      <p:bldP spid="40" grpId="0" animBg="1" autoUpdateAnimBg="0"/>
      <p:bldP spid="41" grpId="0" animBg="1" autoUpdateAnimBg="0"/>
      <p:bldP spid="42" grpId="0" animBg="1" autoUpdateAnimBg="0"/>
      <p:bldP spid="43" grpId="0" animBg="1" autoUpdateAnimBg="0"/>
      <p:bldP spid="44" grpId="0" animBg="1"/>
      <p:bldP spid="46" grpId="1"/>
      <p:bldP spid="60" grpId="0"/>
      <p:bldP spid="61"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88</a:t>
            </a:fld>
            <a:endParaRPr lang="zh-CN" altLang="en-US"/>
          </a:p>
        </p:txBody>
      </p:sp>
      <p:sp>
        <p:nvSpPr>
          <p:cNvPr id="61" name="Rectangle 7">
            <a:extLst>
              <a:ext uri="{FF2B5EF4-FFF2-40B4-BE49-F238E27FC236}">
                <a16:creationId xmlns:a16="http://schemas.microsoft.com/office/drawing/2014/main" id="{4A077927-5D64-934F-86B5-BE92305E5776}"/>
              </a:ext>
            </a:extLst>
          </p:cNvPr>
          <p:cNvSpPr txBox="1">
            <a:spLocks noChangeArrowheads="1"/>
          </p:cNvSpPr>
          <p:nvPr/>
        </p:nvSpPr>
        <p:spPr>
          <a:xfrm>
            <a:off x="1073823" y="1168229"/>
            <a:ext cx="6688045" cy="52821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1</a:t>
            </a:r>
            <a:r>
              <a:rPr lang="zh-CN" altLang="en-US" sz="2000" dirty="0">
                <a:solidFill>
                  <a:srgbClr val="CC6600"/>
                </a:solidFill>
                <a:sym typeface="微软雅黑" panose="020B0503020204020204" pitchFamily="34" charset="-122"/>
              </a:rPr>
              <a:t>） 自顶向下渐增集成</a:t>
            </a:r>
            <a:endParaRPr lang="en-US" altLang="zh-CN"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
        <p:nvSpPr>
          <p:cNvPr id="62" name="Rectangle 3">
            <a:extLst>
              <a:ext uri="{FF2B5EF4-FFF2-40B4-BE49-F238E27FC236}">
                <a16:creationId xmlns:a16="http://schemas.microsoft.com/office/drawing/2014/main" id="{FE07DA04-A4A6-D842-B956-1600837CB91D}"/>
              </a:ext>
            </a:extLst>
          </p:cNvPr>
          <p:cNvSpPr>
            <a:spLocks noChangeArrowheads="1"/>
          </p:cNvSpPr>
          <p:nvPr/>
        </p:nvSpPr>
        <p:spPr bwMode="auto">
          <a:xfrm>
            <a:off x="0" y="1826420"/>
            <a:ext cx="89296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1905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r>
              <a:rPr lang="zh-CN" altLang="en-US" sz="2000" b="1" dirty="0">
                <a:solidFill>
                  <a:srgbClr val="C00000"/>
                </a:solidFill>
                <a:latin typeface="宋体" panose="02010600030101010101" pitchFamily="2" charset="-122"/>
              </a:rPr>
              <a:t>    </a:t>
            </a:r>
            <a:r>
              <a:rPr lang="zh-CN" altLang="en-US" sz="2000" dirty="0">
                <a:solidFill>
                  <a:schemeClr val="tx2"/>
                </a:solidFill>
                <a:latin typeface="宋体" panose="02010600030101010101" pitchFamily="2" charset="-122"/>
              </a:rPr>
              <a:t>自顶向下渐增集成又有两种组合策略</a:t>
            </a:r>
            <a:r>
              <a:rPr lang="zh-CN" altLang="en-US" sz="2000" dirty="0">
                <a:latin typeface="宋体" panose="02010600030101010101" pitchFamily="2" charset="-122"/>
              </a:rPr>
              <a:t>：</a:t>
            </a:r>
            <a:r>
              <a:rPr lang="zh-CN" altLang="en-US" sz="2000" dirty="0">
                <a:solidFill>
                  <a:srgbClr val="C00000"/>
                </a:solidFill>
                <a:latin typeface="Microsoft YaHei" panose="020B0503020204020204" pitchFamily="34" charset="-122"/>
                <a:ea typeface="Microsoft YaHei" panose="020B0503020204020204" pitchFamily="34" charset="-122"/>
              </a:rPr>
              <a:t>深度优先策略和宽度优先策略</a:t>
            </a:r>
          </a:p>
        </p:txBody>
      </p:sp>
      <p:sp>
        <p:nvSpPr>
          <p:cNvPr id="63" name="Text Box 4">
            <a:extLst>
              <a:ext uri="{FF2B5EF4-FFF2-40B4-BE49-F238E27FC236}">
                <a16:creationId xmlns:a16="http://schemas.microsoft.com/office/drawing/2014/main" id="{8740822D-64EC-0641-9C84-0DDFF805DD2A}"/>
              </a:ext>
            </a:extLst>
          </p:cNvPr>
          <p:cNvSpPr txBox="1">
            <a:spLocks noChangeArrowheads="1"/>
          </p:cNvSpPr>
          <p:nvPr/>
        </p:nvSpPr>
        <p:spPr bwMode="auto">
          <a:xfrm>
            <a:off x="510268" y="2437439"/>
            <a:ext cx="7958072" cy="1016000"/>
          </a:xfrm>
          <a:prstGeom prst="rect">
            <a:avLst/>
          </a:prstGeom>
          <a:noFill/>
          <a:ln w="9525" cap="sq">
            <a:noFill/>
            <a:miter lim="800000"/>
            <a:headEnd/>
            <a:tailEnd/>
          </a:ln>
          <a:effectLst>
            <a:prstShdw prst="shdw17" dist="17961" dir="2700000">
              <a:schemeClr val="tx1">
                <a:gamma/>
                <a:shade val="60000"/>
                <a:invGamma/>
              </a:schemeClr>
            </a:prstShdw>
          </a:effec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1905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r>
              <a:rPr lang="zh-CN" altLang="en-US" sz="2000" dirty="0">
                <a:solidFill>
                  <a:srgbClr val="C00000"/>
                </a:solidFill>
                <a:highlight>
                  <a:srgbClr val="FFFF00"/>
                </a:highlight>
                <a:latin typeface="Microsoft YaHei" panose="020B0503020204020204" pitchFamily="34" charset="-122"/>
                <a:ea typeface="Microsoft YaHei" panose="020B0503020204020204" pitchFamily="34" charset="-122"/>
              </a:rPr>
              <a:t>深度优先策略</a:t>
            </a:r>
            <a:r>
              <a:rPr lang="zh-CN" altLang="en-US" sz="2000" b="1" dirty="0">
                <a:solidFill>
                  <a:srgbClr val="C00000"/>
                </a:solidFill>
                <a:latin typeface="宋体" panose="02010600030101010101" pitchFamily="2" charset="-122"/>
              </a:rPr>
              <a:t>：</a:t>
            </a:r>
            <a:r>
              <a:rPr lang="zh-CN" altLang="en-US" sz="2000" dirty="0">
                <a:solidFill>
                  <a:schemeClr val="tx2"/>
                </a:solidFill>
                <a:latin typeface="宋体" panose="02010600030101010101" pitchFamily="2" charset="-122"/>
              </a:rPr>
              <a:t>先从软件结构中选择一条主控路径，把该路径上的模块一个个结合进来，进行测试，以便完成一个特定的子功能，接着再结合其他需要优先考虑的路径</a:t>
            </a:r>
            <a:r>
              <a:rPr lang="zh-CN" altLang="en-US" sz="2000" dirty="0">
                <a:latin typeface="宋体" panose="02010600030101010101" pitchFamily="2" charset="-122"/>
              </a:rPr>
              <a:t>。 </a:t>
            </a:r>
          </a:p>
        </p:txBody>
      </p:sp>
      <p:sp>
        <p:nvSpPr>
          <p:cNvPr id="64" name="Rectangle 6">
            <a:extLst>
              <a:ext uri="{FF2B5EF4-FFF2-40B4-BE49-F238E27FC236}">
                <a16:creationId xmlns:a16="http://schemas.microsoft.com/office/drawing/2014/main" id="{581D42C0-9DE7-924E-94CC-B9B0A492C43E}"/>
              </a:ext>
            </a:extLst>
          </p:cNvPr>
          <p:cNvSpPr>
            <a:spLocks noChangeArrowheads="1"/>
          </p:cNvSpPr>
          <p:nvPr/>
        </p:nvSpPr>
        <p:spPr bwMode="auto">
          <a:xfrm>
            <a:off x="6768593" y="3643791"/>
            <a:ext cx="190507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40000"/>
              </a:spcBef>
            </a:pPr>
            <a:r>
              <a:rPr lang="en-US" altLang="zh-CN" dirty="0">
                <a:solidFill>
                  <a:schemeClr val="tx2"/>
                </a:solidFill>
                <a:highlight>
                  <a:srgbClr val="CCFFCC"/>
                </a:highlight>
                <a:latin typeface="Times New Roman" panose="02020603050405020304" pitchFamily="18" charset="0"/>
              </a:rPr>
              <a:t>A</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B</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E</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J</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K</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C</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F</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L</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G</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D</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H</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M</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N</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I</a:t>
            </a:r>
          </a:p>
        </p:txBody>
      </p:sp>
      <p:grpSp>
        <p:nvGrpSpPr>
          <p:cNvPr id="65" name="Group 7">
            <a:extLst>
              <a:ext uri="{FF2B5EF4-FFF2-40B4-BE49-F238E27FC236}">
                <a16:creationId xmlns:a16="http://schemas.microsoft.com/office/drawing/2014/main" id="{F9872EA6-4DE2-2545-B7A4-3F4328BE9DEF}"/>
              </a:ext>
            </a:extLst>
          </p:cNvPr>
          <p:cNvGrpSpPr>
            <a:grpSpLocks/>
          </p:cNvGrpSpPr>
          <p:nvPr/>
        </p:nvGrpSpPr>
        <p:grpSpPr bwMode="auto">
          <a:xfrm>
            <a:off x="716756" y="4200525"/>
            <a:ext cx="4248150" cy="1654175"/>
            <a:chOff x="420" y="1947"/>
            <a:chExt cx="2676" cy="1629"/>
          </a:xfrm>
        </p:grpSpPr>
        <p:sp>
          <p:nvSpPr>
            <p:cNvPr id="66" name="Line 8">
              <a:extLst>
                <a:ext uri="{FF2B5EF4-FFF2-40B4-BE49-F238E27FC236}">
                  <a16:creationId xmlns:a16="http://schemas.microsoft.com/office/drawing/2014/main" id="{AD0F3F86-CD22-0540-B00C-0626638024CB}"/>
                </a:ext>
              </a:extLst>
            </p:cNvPr>
            <p:cNvSpPr>
              <a:spLocks noChangeShapeType="1"/>
            </p:cNvSpPr>
            <p:nvPr/>
          </p:nvSpPr>
          <p:spPr bwMode="auto">
            <a:xfrm>
              <a:off x="1404" y="3096"/>
              <a:ext cx="9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9">
              <a:extLst>
                <a:ext uri="{FF2B5EF4-FFF2-40B4-BE49-F238E27FC236}">
                  <a16:creationId xmlns:a16="http://schemas.microsoft.com/office/drawing/2014/main" id="{09467889-871B-4246-852B-59BF247C8A7E}"/>
                </a:ext>
              </a:extLst>
            </p:cNvPr>
            <p:cNvSpPr>
              <a:spLocks noChangeShapeType="1"/>
            </p:cNvSpPr>
            <p:nvPr/>
          </p:nvSpPr>
          <p:spPr bwMode="auto">
            <a:xfrm flipH="1">
              <a:off x="2230" y="3162"/>
              <a:ext cx="237" cy="236"/>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68" name="Line 10">
              <a:extLst>
                <a:ext uri="{FF2B5EF4-FFF2-40B4-BE49-F238E27FC236}">
                  <a16:creationId xmlns:a16="http://schemas.microsoft.com/office/drawing/2014/main" id="{AC525DC0-666F-A44F-8245-6639C2857047}"/>
                </a:ext>
              </a:extLst>
            </p:cNvPr>
            <p:cNvSpPr>
              <a:spLocks noChangeShapeType="1"/>
            </p:cNvSpPr>
            <p:nvPr/>
          </p:nvSpPr>
          <p:spPr bwMode="auto">
            <a:xfrm>
              <a:off x="841" y="3078"/>
              <a:ext cx="147" cy="284"/>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11">
              <a:extLst>
                <a:ext uri="{FF2B5EF4-FFF2-40B4-BE49-F238E27FC236}">
                  <a16:creationId xmlns:a16="http://schemas.microsoft.com/office/drawing/2014/main" id="{F0E35F32-E89B-0643-990C-14F64A28B9D9}"/>
                </a:ext>
              </a:extLst>
            </p:cNvPr>
            <p:cNvSpPr>
              <a:spLocks noChangeShapeType="1"/>
            </p:cNvSpPr>
            <p:nvPr/>
          </p:nvSpPr>
          <p:spPr bwMode="auto">
            <a:xfrm flipH="1">
              <a:off x="850" y="2136"/>
              <a:ext cx="606" cy="247"/>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70" name="Line 12">
              <a:extLst>
                <a:ext uri="{FF2B5EF4-FFF2-40B4-BE49-F238E27FC236}">
                  <a16:creationId xmlns:a16="http://schemas.microsoft.com/office/drawing/2014/main" id="{33421DDE-B92A-9449-949F-8EBB2D6CED17}"/>
                </a:ext>
              </a:extLst>
            </p:cNvPr>
            <p:cNvSpPr>
              <a:spLocks noChangeShapeType="1"/>
            </p:cNvSpPr>
            <p:nvPr/>
          </p:nvSpPr>
          <p:spPr bwMode="auto">
            <a:xfrm>
              <a:off x="2269" y="2571"/>
              <a:ext cx="673" cy="377"/>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13">
              <a:extLst>
                <a:ext uri="{FF2B5EF4-FFF2-40B4-BE49-F238E27FC236}">
                  <a16:creationId xmlns:a16="http://schemas.microsoft.com/office/drawing/2014/main" id="{D8F51F2D-05BE-D849-AC6C-414114F6D2F7}"/>
                </a:ext>
              </a:extLst>
            </p:cNvPr>
            <p:cNvSpPr>
              <a:spLocks noChangeShapeType="1"/>
            </p:cNvSpPr>
            <p:nvPr/>
          </p:nvSpPr>
          <p:spPr bwMode="auto">
            <a:xfrm>
              <a:off x="2257" y="2572"/>
              <a:ext cx="202" cy="400"/>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Rectangle 14">
              <a:extLst>
                <a:ext uri="{FF2B5EF4-FFF2-40B4-BE49-F238E27FC236}">
                  <a16:creationId xmlns:a16="http://schemas.microsoft.com/office/drawing/2014/main" id="{24932108-F385-3344-85E9-B31055D0A8B6}"/>
                </a:ext>
              </a:extLst>
            </p:cNvPr>
            <p:cNvSpPr>
              <a:spLocks noChangeArrowheads="1"/>
            </p:cNvSpPr>
            <p:nvPr/>
          </p:nvSpPr>
          <p:spPr bwMode="auto">
            <a:xfrm>
              <a:off x="1385" y="1947"/>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Times New Roman" panose="02020603050405020304" pitchFamily="18" charset="0"/>
                </a:rPr>
                <a:t>A</a:t>
              </a:r>
            </a:p>
          </p:txBody>
        </p:sp>
        <p:sp>
          <p:nvSpPr>
            <p:cNvPr id="73" name="Rectangle 15">
              <a:extLst>
                <a:ext uri="{FF2B5EF4-FFF2-40B4-BE49-F238E27FC236}">
                  <a16:creationId xmlns:a16="http://schemas.microsoft.com/office/drawing/2014/main" id="{91FCB48C-1678-7E45-8C1F-4EE82C1239F8}"/>
                </a:ext>
              </a:extLst>
            </p:cNvPr>
            <p:cNvSpPr>
              <a:spLocks noChangeArrowheads="1"/>
            </p:cNvSpPr>
            <p:nvPr/>
          </p:nvSpPr>
          <p:spPr bwMode="auto">
            <a:xfrm>
              <a:off x="723" y="2388"/>
              <a:ext cx="290"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B</a:t>
              </a:r>
            </a:p>
          </p:txBody>
        </p:sp>
        <p:sp>
          <p:nvSpPr>
            <p:cNvPr id="74" name="Rectangle 16">
              <a:extLst>
                <a:ext uri="{FF2B5EF4-FFF2-40B4-BE49-F238E27FC236}">
                  <a16:creationId xmlns:a16="http://schemas.microsoft.com/office/drawing/2014/main" id="{B99B330A-5FA2-8146-99B0-B0C921FC2B4C}"/>
                </a:ext>
              </a:extLst>
            </p:cNvPr>
            <p:cNvSpPr>
              <a:spLocks noChangeArrowheads="1"/>
            </p:cNvSpPr>
            <p:nvPr/>
          </p:nvSpPr>
          <p:spPr bwMode="auto">
            <a:xfrm>
              <a:off x="1377" y="2382"/>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C</a:t>
              </a:r>
            </a:p>
          </p:txBody>
        </p:sp>
        <p:sp>
          <p:nvSpPr>
            <p:cNvPr id="75" name="Rectangle 17">
              <a:extLst>
                <a:ext uri="{FF2B5EF4-FFF2-40B4-BE49-F238E27FC236}">
                  <a16:creationId xmlns:a16="http://schemas.microsoft.com/office/drawing/2014/main" id="{BCFFF4CB-1745-5E4F-BC3A-4962DB712D64}"/>
                </a:ext>
              </a:extLst>
            </p:cNvPr>
            <p:cNvSpPr>
              <a:spLocks noChangeArrowheads="1"/>
            </p:cNvSpPr>
            <p:nvPr/>
          </p:nvSpPr>
          <p:spPr bwMode="auto">
            <a:xfrm>
              <a:off x="2112" y="2386"/>
              <a:ext cx="290"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D</a:t>
              </a:r>
            </a:p>
          </p:txBody>
        </p:sp>
        <p:sp>
          <p:nvSpPr>
            <p:cNvPr id="76" name="Rectangle 18">
              <a:extLst>
                <a:ext uri="{FF2B5EF4-FFF2-40B4-BE49-F238E27FC236}">
                  <a16:creationId xmlns:a16="http://schemas.microsoft.com/office/drawing/2014/main" id="{BFEFF655-AE1B-194E-974B-E4C982791397}"/>
                </a:ext>
              </a:extLst>
            </p:cNvPr>
            <p:cNvSpPr>
              <a:spLocks noChangeArrowheads="1"/>
            </p:cNvSpPr>
            <p:nvPr/>
          </p:nvSpPr>
          <p:spPr bwMode="auto">
            <a:xfrm>
              <a:off x="2327" y="2969"/>
              <a:ext cx="272"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H</a:t>
              </a:r>
            </a:p>
          </p:txBody>
        </p:sp>
        <p:sp>
          <p:nvSpPr>
            <p:cNvPr id="77" name="Rectangle 19">
              <a:extLst>
                <a:ext uri="{FF2B5EF4-FFF2-40B4-BE49-F238E27FC236}">
                  <a16:creationId xmlns:a16="http://schemas.microsoft.com/office/drawing/2014/main" id="{999F32DD-823A-AD41-904C-3D3146E499FC}"/>
                </a:ext>
              </a:extLst>
            </p:cNvPr>
            <p:cNvSpPr>
              <a:spLocks noChangeArrowheads="1"/>
            </p:cNvSpPr>
            <p:nvPr/>
          </p:nvSpPr>
          <p:spPr bwMode="auto">
            <a:xfrm>
              <a:off x="1759" y="2916"/>
              <a:ext cx="291"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G</a:t>
              </a:r>
            </a:p>
          </p:txBody>
        </p:sp>
        <p:sp>
          <p:nvSpPr>
            <p:cNvPr id="78" name="Rectangle 20">
              <a:extLst>
                <a:ext uri="{FF2B5EF4-FFF2-40B4-BE49-F238E27FC236}">
                  <a16:creationId xmlns:a16="http://schemas.microsoft.com/office/drawing/2014/main" id="{B7E6FA64-0FBD-F741-9E65-5AFE2FD4586F}"/>
                </a:ext>
              </a:extLst>
            </p:cNvPr>
            <p:cNvSpPr>
              <a:spLocks noChangeArrowheads="1"/>
            </p:cNvSpPr>
            <p:nvPr/>
          </p:nvSpPr>
          <p:spPr bwMode="auto">
            <a:xfrm>
              <a:off x="420" y="3373"/>
              <a:ext cx="291" cy="188"/>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J</a:t>
              </a:r>
            </a:p>
          </p:txBody>
        </p:sp>
        <p:sp>
          <p:nvSpPr>
            <p:cNvPr id="79" name="Rectangle 21">
              <a:extLst>
                <a:ext uri="{FF2B5EF4-FFF2-40B4-BE49-F238E27FC236}">
                  <a16:creationId xmlns:a16="http://schemas.microsoft.com/office/drawing/2014/main" id="{20F76DC6-24FF-CA47-86D9-4467E7FA81F8}"/>
                </a:ext>
              </a:extLst>
            </p:cNvPr>
            <p:cNvSpPr>
              <a:spLocks noChangeArrowheads="1"/>
            </p:cNvSpPr>
            <p:nvPr/>
          </p:nvSpPr>
          <p:spPr bwMode="auto">
            <a:xfrm>
              <a:off x="697" y="2894"/>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E</a:t>
              </a:r>
            </a:p>
          </p:txBody>
        </p:sp>
        <p:sp>
          <p:nvSpPr>
            <p:cNvPr id="80" name="Rectangle 22">
              <a:extLst>
                <a:ext uri="{FF2B5EF4-FFF2-40B4-BE49-F238E27FC236}">
                  <a16:creationId xmlns:a16="http://schemas.microsoft.com/office/drawing/2014/main" id="{2ECFDF9D-43E5-364F-80EF-83F2FDD4CEE5}"/>
                </a:ext>
              </a:extLst>
            </p:cNvPr>
            <p:cNvSpPr>
              <a:spLocks noChangeArrowheads="1"/>
            </p:cNvSpPr>
            <p:nvPr/>
          </p:nvSpPr>
          <p:spPr bwMode="auto">
            <a:xfrm>
              <a:off x="1236" y="2923"/>
              <a:ext cx="290"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F</a:t>
              </a:r>
            </a:p>
          </p:txBody>
        </p:sp>
        <p:sp>
          <p:nvSpPr>
            <p:cNvPr id="81" name="Rectangle 23">
              <a:extLst>
                <a:ext uri="{FF2B5EF4-FFF2-40B4-BE49-F238E27FC236}">
                  <a16:creationId xmlns:a16="http://schemas.microsoft.com/office/drawing/2014/main" id="{1E177B87-0C56-CF45-999A-CA0ACAD0CFE4}"/>
                </a:ext>
              </a:extLst>
            </p:cNvPr>
            <p:cNvSpPr>
              <a:spLocks noChangeArrowheads="1"/>
            </p:cNvSpPr>
            <p:nvPr/>
          </p:nvSpPr>
          <p:spPr bwMode="auto">
            <a:xfrm>
              <a:off x="2805" y="2962"/>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I</a:t>
              </a:r>
            </a:p>
          </p:txBody>
        </p:sp>
        <p:sp>
          <p:nvSpPr>
            <p:cNvPr id="82" name="Rectangle 24">
              <a:extLst>
                <a:ext uri="{FF2B5EF4-FFF2-40B4-BE49-F238E27FC236}">
                  <a16:creationId xmlns:a16="http://schemas.microsoft.com/office/drawing/2014/main" id="{84C83E3B-B624-6F4E-AA4E-08A6772C546C}"/>
                </a:ext>
              </a:extLst>
            </p:cNvPr>
            <p:cNvSpPr>
              <a:spLocks noChangeArrowheads="1"/>
            </p:cNvSpPr>
            <p:nvPr/>
          </p:nvSpPr>
          <p:spPr bwMode="auto">
            <a:xfrm>
              <a:off x="828" y="3368"/>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K</a:t>
              </a:r>
            </a:p>
          </p:txBody>
        </p:sp>
        <p:sp>
          <p:nvSpPr>
            <p:cNvPr id="83" name="Rectangle 25">
              <a:extLst>
                <a:ext uri="{FF2B5EF4-FFF2-40B4-BE49-F238E27FC236}">
                  <a16:creationId xmlns:a16="http://schemas.microsoft.com/office/drawing/2014/main" id="{0F679540-121D-A64D-AB4E-E8FA3C18EBAD}"/>
                </a:ext>
              </a:extLst>
            </p:cNvPr>
            <p:cNvSpPr>
              <a:spLocks noChangeArrowheads="1"/>
            </p:cNvSpPr>
            <p:nvPr/>
          </p:nvSpPr>
          <p:spPr bwMode="auto">
            <a:xfrm>
              <a:off x="1333" y="3359"/>
              <a:ext cx="290"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L</a:t>
              </a:r>
            </a:p>
          </p:txBody>
        </p:sp>
        <p:sp>
          <p:nvSpPr>
            <p:cNvPr id="84" name="Line 26">
              <a:extLst>
                <a:ext uri="{FF2B5EF4-FFF2-40B4-BE49-F238E27FC236}">
                  <a16:creationId xmlns:a16="http://schemas.microsoft.com/office/drawing/2014/main" id="{B18779AB-072D-FC45-8B62-33370C17FD08}"/>
                </a:ext>
              </a:extLst>
            </p:cNvPr>
            <p:cNvSpPr>
              <a:spLocks noChangeShapeType="1"/>
            </p:cNvSpPr>
            <p:nvPr/>
          </p:nvSpPr>
          <p:spPr bwMode="auto">
            <a:xfrm>
              <a:off x="1526" y="2136"/>
              <a:ext cx="0" cy="224"/>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27">
              <a:extLst>
                <a:ext uri="{FF2B5EF4-FFF2-40B4-BE49-F238E27FC236}">
                  <a16:creationId xmlns:a16="http://schemas.microsoft.com/office/drawing/2014/main" id="{04A88D03-8692-1248-B0E5-91DFAEB18B26}"/>
                </a:ext>
              </a:extLst>
            </p:cNvPr>
            <p:cNvSpPr>
              <a:spLocks noChangeShapeType="1"/>
            </p:cNvSpPr>
            <p:nvPr/>
          </p:nvSpPr>
          <p:spPr bwMode="auto">
            <a:xfrm>
              <a:off x="1597" y="2136"/>
              <a:ext cx="633" cy="235"/>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28">
              <a:extLst>
                <a:ext uri="{FF2B5EF4-FFF2-40B4-BE49-F238E27FC236}">
                  <a16:creationId xmlns:a16="http://schemas.microsoft.com/office/drawing/2014/main" id="{8946B99A-A3E1-EB49-90B2-B13CFA045E19}"/>
                </a:ext>
              </a:extLst>
            </p:cNvPr>
            <p:cNvSpPr>
              <a:spLocks noChangeShapeType="1"/>
            </p:cNvSpPr>
            <p:nvPr/>
          </p:nvSpPr>
          <p:spPr bwMode="auto">
            <a:xfrm>
              <a:off x="858" y="2572"/>
              <a:ext cx="0" cy="317"/>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9">
              <a:extLst>
                <a:ext uri="{FF2B5EF4-FFF2-40B4-BE49-F238E27FC236}">
                  <a16:creationId xmlns:a16="http://schemas.microsoft.com/office/drawing/2014/main" id="{11E7D4E1-9BEC-2A4F-9670-F6C4F8E4D5E6}"/>
                </a:ext>
              </a:extLst>
            </p:cNvPr>
            <p:cNvSpPr>
              <a:spLocks noChangeShapeType="1"/>
            </p:cNvSpPr>
            <p:nvPr/>
          </p:nvSpPr>
          <p:spPr bwMode="auto">
            <a:xfrm flipH="1">
              <a:off x="1347" y="2583"/>
              <a:ext cx="170" cy="331"/>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88" name="Line 30">
              <a:extLst>
                <a:ext uri="{FF2B5EF4-FFF2-40B4-BE49-F238E27FC236}">
                  <a16:creationId xmlns:a16="http://schemas.microsoft.com/office/drawing/2014/main" id="{452151E7-BEE5-984A-AFE2-76B6BEFAEAAB}"/>
                </a:ext>
              </a:extLst>
            </p:cNvPr>
            <p:cNvSpPr>
              <a:spLocks noChangeShapeType="1"/>
            </p:cNvSpPr>
            <p:nvPr/>
          </p:nvSpPr>
          <p:spPr bwMode="auto">
            <a:xfrm flipH="1">
              <a:off x="1887" y="2583"/>
              <a:ext cx="346" cy="342"/>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89" name="Line 31">
              <a:extLst>
                <a:ext uri="{FF2B5EF4-FFF2-40B4-BE49-F238E27FC236}">
                  <a16:creationId xmlns:a16="http://schemas.microsoft.com/office/drawing/2014/main" id="{A00ABE76-9418-7A4E-8427-A34EBA0F3976}"/>
                </a:ext>
              </a:extLst>
            </p:cNvPr>
            <p:cNvSpPr>
              <a:spLocks noChangeShapeType="1"/>
            </p:cNvSpPr>
            <p:nvPr/>
          </p:nvSpPr>
          <p:spPr bwMode="auto">
            <a:xfrm flipH="1">
              <a:off x="560" y="3077"/>
              <a:ext cx="290" cy="286"/>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90" name="Rectangle 32">
              <a:extLst>
                <a:ext uri="{FF2B5EF4-FFF2-40B4-BE49-F238E27FC236}">
                  <a16:creationId xmlns:a16="http://schemas.microsoft.com/office/drawing/2014/main" id="{6B27B8BB-50E3-0A4F-AFE1-BE53A5BAE331}"/>
                </a:ext>
              </a:extLst>
            </p:cNvPr>
            <p:cNvSpPr>
              <a:spLocks noChangeArrowheads="1"/>
            </p:cNvSpPr>
            <p:nvPr/>
          </p:nvSpPr>
          <p:spPr bwMode="auto">
            <a:xfrm>
              <a:off x="2102" y="3374"/>
              <a:ext cx="291"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M</a:t>
              </a:r>
            </a:p>
          </p:txBody>
        </p:sp>
        <p:sp>
          <p:nvSpPr>
            <p:cNvPr id="91" name="Rectangle 33">
              <a:extLst>
                <a:ext uri="{FF2B5EF4-FFF2-40B4-BE49-F238E27FC236}">
                  <a16:creationId xmlns:a16="http://schemas.microsoft.com/office/drawing/2014/main" id="{0AF6BDEF-C88F-E041-AB5C-9A0DBD6EE07A}"/>
                </a:ext>
              </a:extLst>
            </p:cNvPr>
            <p:cNvSpPr>
              <a:spLocks noChangeArrowheads="1"/>
            </p:cNvSpPr>
            <p:nvPr/>
          </p:nvSpPr>
          <p:spPr bwMode="auto">
            <a:xfrm>
              <a:off x="2660" y="3368"/>
              <a:ext cx="291"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N</a:t>
              </a:r>
            </a:p>
          </p:txBody>
        </p:sp>
        <p:sp>
          <p:nvSpPr>
            <p:cNvPr id="92" name="Line 34">
              <a:extLst>
                <a:ext uri="{FF2B5EF4-FFF2-40B4-BE49-F238E27FC236}">
                  <a16:creationId xmlns:a16="http://schemas.microsoft.com/office/drawing/2014/main" id="{8C313843-D37C-9246-9AB4-E28EB0D451DD}"/>
                </a:ext>
              </a:extLst>
            </p:cNvPr>
            <p:cNvSpPr>
              <a:spLocks noChangeShapeType="1"/>
            </p:cNvSpPr>
            <p:nvPr/>
          </p:nvSpPr>
          <p:spPr bwMode="auto">
            <a:xfrm>
              <a:off x="2467" y="3161"/>
              <a:ext cx="349" cy="212"/>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35">
              <a:extLst>
                <a:ext uri="{FF2B5EF4-FFF2-40B4-BE49-F238E27FC236}">
                  <a16:creationId xmlns:a16="http://schemas.microsoft.com/office/drawing/2014/main" id="{C7FD7596-10B3-AB40-9777-E55694BB80B1}"/>
                </a:ext>
              </a:extLst>
            </p:cNvPr>
            <p:cNvSpPr>
              <a:spLocks noChangeShapeType="1"/>
            </p:cNvSpPr>
            <p:nvPr/>
          </p:nvSpPr>
          <p:spPr bwMode="auto">
            <a:xfrm>
              <a:off x="1536" y="2580"/>
              <a:ext cx="36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4" name="Text Box 39">
            <a:extLst>
              <a:ext uri="{FF2B5EF4-FFF2-40B4-BE49-F238E27FC236}">
                <a16:creationId xmlns:a16="http://schemas.microsoft.com/office/drawing/2014/main" id="{5D2E1093-7C8B-4E48-94E0-AAF94ED12705}"/>
              </a:ext>
            </a:extLst>
          </p:cNvPr>
          <p:cNvSpPr txBox="1">
            <a:spLocks noChangeArrowheads="1"/>
          </p:cNvSpPr>
          <p:nvPr/>
        </p:nvSpPr>
        <p:spPr bwMode="auto">
          <a:xfrm>
            <a:off x="5525581" y="3634765"/>
            <a:ext cx="103346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1600" dirty="0">
                <a:solidFill>
                  <a:schemeClr val="tx2"/>
                </a:solidFill>
                <a:latin typeface="宋体" panose="02010600030101010101" pitchFamily="2" charset="-122"/>
              </a:rPr>
              <a:t>如图所示的软件结构图按深度优先组合顺序为：</a:t>
            </a:r>
          </a:p>
        </p:txBody>
      </p:sp>
    </p:spTree>
    <p:extLst>
      <p:ext uri="{BB962C8B-B14F-4D97-AF65-F5344CB8AC3E}">
        <p14:creationId xmlns:p14="http://schemas.microsoft.com/office/powerpoint/2010/main" val="3267688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1000"/>
                                        <p:tgtEl>
                                          <p:spTgt spid="63"/>
                                        </p:tgtEl>
                                      </p:cBhvr>
                                    </p:animEffect>
                                    <p:anim calcmode="lin" valueType="num">
                                      <p:cBhvr>
                                        <p:cTn id="14" dur="1000" fill="hold"/>
                                        <p:tgtEl>
                                          <p:spTgt spid="63"/>
                                        </p:tgtEl>
                                        <p:attrNameLst>
                                          <p:attrName>ppt_x</p:attrName>
                                        </p:attrNameLst>
                                      </p:cBhvr>
                                      <p:tavLst>
                                        <p:tav tm="0">
                                          <p:val>
                                            <p:strVal val="#ppt_x"/>
                                          </p:val>
                                        </p:tav>
                                        <p:tav tm="100000">
                                          <p:val>
                                            <p:strVal val="#ppt_x"/>
                                          </p:val>
                                        </p:tav>
                                      </p:tavLst>
                                    </p:anim>
                                    <p:anim calcmode="lin" valueType="num">
                                      <p:cBhvr>
                                        <p:cTn id="15" dur="1000" fill="hold"/>
                                        <p:tgtEl>
                                          <p:spTgt spid="6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1000"/>
                                        <p:tgtEl>
                                          <p:spTgt spid="65"/>
                                        </p:tgtEl>
                                      </p:cBhvr>
                                    </p:animEffect>
                                    <p:anim calcmode="lin" valueType="num">
                                      <p:cBhvr>
                                        <p:cTn id="20" dur="1000" fill="hold"/>
                                        <p:tgtEl>
                                          <p:spTgt spid="65"/>
                                        </p:tgtEl>
                                        <p:attrNameLst>
                                          <p:attrName>ppt_x</p:attrName>
                                        </p:attrNameLst>
                                      </p:cBhvr>
                                      <p:tavLst>
                                        <p:tav tm="0">
                                          <p:val>
                                            <p:strVal val="#ppt_x"/>
                                          </p:val>
                                        </p:tav>
                                        <p:tav tm="100000">
                                          <p:val>
                                            <p:strVal val="#ppt_x"/>
                                          </p:val>
                                        </p:tav>
                                      </p:tavLst>
                                    </p:anim>
                                    <p:anim calcmode="lin" valueType="num">
                                      <p:cBhvr>
                                        <p:cTn id="21"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94"/>
                                        </p:tgtEl>
                                        <p:attrNameLst>
                                          <p:attrName>style.visibility</p:attrName>
                                        </p:attrNameLst>
                                      </p:cBhvr>
                                      <p:to>
                                        <p:strVal val="visible"/>
                                      </p:to>
                                    </p:se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wipe(up)">
                                      <p:cBhvr>
                                        <p:cTn id="2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P spid="64" grpId="0" autoUpdateAnimBg="0"/>
      <p:bldP spid="94"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89</a:t>
            </a:fld>
            <a:endParaRPr lang="zh-CN" altLang="en-US"/>
          </a:p>
        </p:txBody>
      </p:sp>
      <p:sp>
        <p:nvSpPr>
          <p:cNvPr id="61" name="Rectangle 7">
            <a:extLst>
              <a:ext uri="{FF2B5EF4-FFF2-40B4-BE49-F238E27FC236}">
                <a16:creationId xmlns:a16="http://schemas.microsoft.com/office/drawing/2014/main" id="{4A077927-5D64-934F-86B5-BE92305E5776}"/>
              </a:ext>
            </a:extLst>
          </p:cNvPr>
          <p:cNvSpPr txBox="1">
            <a:spLocks noChangeArrowheads="1"/>
          </p:cNvSpPr>
          <p:nvPr/>
        </p:nvSpPr>
        <p:spPr>
          <a:xfrm>
            <a:off x="1073823" y="1168229"/>
            <a:ext cx="6688045" cy="52821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1</a:t>
            </a:r>
            <a:r>
              <a:rPr lang="zh-CN" altLang="en-US" sz="2000" dirty="0">
                <a:solidFill>
                  <a:srgbClr val="CC6600"/>
                </a:solidFill>
                <a:sym typeface="微软雅黑" panose="020B0503020204020204" pitchFamily="34" charset="-122"/>
              </a:rPr>
              <a:t>） 自顶向下渐增集成</a:t>
            </a:r>
            <a:endParaRPr lang="en-US" altLang="zh-CN"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en-US"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
        <p:nvSpPr>
          <p:cNvPr id="62" name="Rectangle 3">
            <a:extLst>
              <a:ext uri="{FF2B5EF4-FFF2-40B4-BE49-F238E27FC236}">
                <a16:creationId xmlns:a16="http://schemas.microsoft.com/office/drawing/2014/main" id="{FE07DA04-A4A6-D842-B956-1600837CB91D}"/>
              </a:ext>
            </a:extLst>
          </p:cNvPr>
          <p:cNvSpPr>
            <a:spLocks noChangeArrowheads="1"/>
          </p:cNvSpPr>
          <p:nvPr/>
        </p:nvSpPr>
        <p:spPr bwMode="auto">
          <a:xfrm>
            <a:off x="0" y="1826420"/>
            <a:ext cx="892968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1905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r>
              <a:rPr lang="zh-CN" altLang="en-US" sz="2000" b="1" dirty="0">
                <a:solidFill>
                  <a:srgbClr val="C00000"/>
                </a:solidFill>
                <a:latin typeface="宋体" panose="02010600030101010101" pitchFamily="2" charset="-122"/>
              </a:rPr>
              <a:t>    </a:t>
            </a:r>
            <a:r>
              <a:rPr lang="zh-CN" altLang="en-US" sz="2000" dirty="0">
                <a:solidFill>
                  <a:schemeClr val="tx2"/>
                </a:solidFill>
                <a:latin typeface="宋体" panose="02010600030101010101" pitchFamily="2" charset="-122"/>
              </a:rPr>
              <a:t>自顶向下渐增集成又有两种组合策略</a:t>
            </a:r>
            <a:r>
              <a:rPr lang="zh-CN" altLang="en-US" sz="2000" dirty="0">
                <a:latin typeface="宋体" panose="02010600030101010101" pitchFamily="2" charset="-122"/>
              </a:rPr>
              <a:t>：</a:t>
            </a:r>
            <a:r>
              <a:rPr lang="zh-CN" altLang="en-US" sz="2000" dirty="0">
                <a:solidFill>
                  <a:srgbClr val="C00000"/>
                </a:solidFill>
                <a:latin typeface="Microsoft YaHei" panose="020B0503020204020204" pitchFamily="34" charset="-122"/>
                <a:ea typeface="Microsoft YaHei" panose="020B0503020204020204" pitchFamily="34" charset="-122"/>
              </a:rPr>
              <a:t>深度优先策略和宽度优先策略</a:t>
            </a:r>
          </a:p>
        </p:txBody>
      </p:sp>
      <p:sp>
        <p:nvSpPr>
          <p:cNvPr id="63" name="Text Box 4">
            <a:extLst>
              <a:ext uri="{FF2B5EF4-FFF2-40B4-BE49-F238E27FC236}">
                <a16:creationId xmlns:a16="http://schemas.microsoft.com/office/drawing/2014/main" id="{8740822D-64EC-0641-9C84-0DDFF805DD2A}"/>
              </a:ext>
            </a:extLst>
          </p:cNvPr>
          <p:cNvSpPr txBox="1">
            <a:spLocks noChangeArrowheads="1"/>
          </p:cNvSpPr>
          <p:nvPr/>
        </p:nvSpPr>
        <p:spPr bwMode="auto">
          <a:xfrm>
            <a:off x="510268" y="2437439"/>
            <a:ext cx="7958072" cy="707886"/>
          </a:xfrm>
          <a:prstGeom prst="rect">
            <a:avLst/>
          </a:prstGeom>
          <a:noFill/>
          <a:ln w="9525" cap="sq">
            <a:noFill/>
            <a:miter lim="800000"/>
            <a:headEnd/>
            <a:tailEnd/>
          </a:ln>
          <a:effectLst>
            <a:prstShdw prst="shdw17" dist="17961" dir="2700000">
              <a:schemeClr val="tx1">
                <a:gamma/>
                <a:shade val="60000"/>
                <a:invGamma/>
              </a:schemeClr>
            </a:prstShdw>
          </a:effec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1905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lgn="just"/>
            <a:r>
              <a:rPr lang="zh-CN" altLang="en-US" sz="2000" dirty="0">
                <a:solidFill>
                  <a:srgbClr val="C00000"/>
                </a:solidFill>
                <a:highlight>
                  <a:srgbClr val="FFFF00"/>
                </a:highlight>
                <a:latin typeface="Microsoft YaHei" panose="020B0503020204020204" pitchFamily="34" charset="-122"/>
                <a:ea typeface="Microsoft YaHei" panose="020B0503020204020204" pitchFamily="34" charset="-122"/>
              </a:rPr>
              <a:t>宽度优先策略</a:t>
            </a:r>
            <a:r>
              <a:rPr lang="zh-CN" altLang="en-US" sz="2000" b="1" dirty="0">
                <a:solidFill>
                  <a:srgbClr val="C00000"/>
                </a:solidFill>
                <a:latin typeface="宋体" panose="02010600030101010101" pitchFamily="2" charset="-122"/>
              </a:rPr>
              <a:t>：</a:t>
            </a:r>
            <a:r>
              <a:rPr lang="zh-CN" altLang="en-US" sz="2000" dirty="0">
                <a:solidFill>
                  <a:schemeClr val="tx2"/>
                </a:solidFill>
                <a:latin typeface="宋体" panose="02010600030101010101" pitchFamily="2" charset="-122"/>
              </a:rPr>
              <a:t>首先沿着水平方向，把每一层中所有的直接隶属于上一层的模块集中起来，直至最底层。 </a:t>
            </a:r>
          </a:p>
        </p:txBody>
      </p:sp>
      <p:grpSp>
        <p:nvGrpSpPr>
          <p:cNvPr id="65" name="Group 7">
            <a:extLst>
              <a:ext uri="{FF2B5EF4-FFF2-40B4-BE49-F238E27FC236}">
                <a16:creationId xmlns:a16="http://schemas.microsoft.com/office/drawing/2014/main" id="{F9872EA6-4DE2-2545-B7A4-3F4328BE9DEF}"/>
              </a:ext>
            </a:extLst>
          </p:cNvPr>
          <p:cNvGrpSpPr>
            <a:grpSpLocks/>
          </p:cNvGrpSpPr>
          <p:nvPr/>
        </p:nvGrpSpPr>
        <p:grpSpPr bwMode="auto">
          <a:xfrm>
            <a:off x="716756" y="4200525"/>
            <a:ext cx="4248150" cy="1654175"/>
            <a:chOff x="420" y="1947"/>
            <a:chExt cx="2676" cy="1629"/>
          </a:xfrm>
        </p:grpSpPr>
        <p:sp>
          <p:nvSpPr>
            <p:cNvPr id="66" name="Line 8">
              <a:extLst>
                <a:ext uri="{FF2B5EF4-FFF2-40B4-BE49-F238E27FC236}">
                  <a16:creationId xmlns:a16="http://schemas.microsoft.com/office/drawing/2014/main" id="{AD0F3F86-CD22-0540-B00C-0626638024CB}"/>
                </a:ext>
              </a:extLst>
            </p:cNvPr>
            <p:cNvSpPr>
              <a:spLocks noChangeShapeType="1"/>
            </p:cNvSpPr>
            <p:nvPr/>
          </p:nvSpPr>
          <p:spPr bwMode="auto">
            <a:xfrm>
              <a:off x="1404" y="3096"/>
              <a:ext cx="9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9">
              <a:extLst>
                <a:ext uri="{FF2B5EF4-FFF2-40B4-BE49-F238E27FC236}">
                  <a16:creationId xmlns:a16="http://schemas.microsoft.com/office/drawing/2014/main" id="{09467889-871B-4246-852B-59BF247C8A7E}"/>
                </a:ext>
              </a:extLst>
            </p:cNvPr>
            <p:cNvSpPr>
              <a:spLocks noChangeShapeType="1"/>
            </p:cNvSpPr>
            <p:nvPr/>
          </p:nvSpPr>
          <p:spPr bwMode="auto">
            <a:xfrm flipH="1">
              <a:off x="2230" y="3162"/>
              <a:ext cx="237" cy="236"/>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68" name="Line 10">
              <a:extLst>
                <a:ext uri="{FF2B5EF4-FFF2-40B4-BE49-F238E27FC236}">
                  <a16:creationId xmlns:a16="http://schemas.microsoft.com/office/drawing/2014/main" id="{AC525DC0-666F-A44F-8245-6639C2857047}"/>
                </a:ext>
              </a:extLst>
            </p:cNvPr>
            <p:cNvSpPr>
              <a:spLocks noChangeShapeType="1"/>
            </p:cNvSpPr>
            <p:nvPr/>
          </p:nvSpPr>
          <p:spPr bwMode="auto">
            <a:xfrm>
              <a:off x="841" y="3078"/>
              <a:ext cx="147" cy="284"/>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11">
              <a:extLst>
                <a:ext uri="{FF2B5EF4-FFF2-40B4-BE49-F238E27FC236}">
                  <a16:creationId xmlns:a16="http://schemas.microsoft.com/office/drawing/2014/main" id="{F0E35F32-E89B-0643-990C-14F64A28B9D9}"/>
                </a:ext>
              </a:extLst>
            </p:cNvPr>
            <p:cNvSpPr>
              <a:spLocks noChangeShapeType="1"/>
            </p:cNvSpPr>
            <p:nvPr/>
          </p:nvSpPr>
          <p:spPr bwMode="auto">
            <a:xfrm flipH="1">
              <a:off x="850" y="2136"/>
              <a:ext cx="606" cy="247"/>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70" name="Line 12">
              <a:extLst>
                <a:ext uri="{FF2B5EF4-FFF2-40B4-BE49-F238E27FC236}">
                  <a16:creationId xmlns:a16="http://schemas.microsoft.com/office/drawing/2014/main" id="{33421DDE-B92A-9449-949F-8EBB2D6CED17}"/>
                </a:ext>
              </a:extLst>
            </p:cNvPr>
            <p:cNvSpPr>
              <a:spLocks noChangeShapeType="1"/>
            </p:cNvSpPr>
            <p:nvPr/>
          </p:nvSpPr>
          <p:spPr bwMode="auto">
            <a:xfrm>
              <a:off x="2269" y="2571"/>
              <a:ext cx="673" cy="377"/>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13">
              <a:extLst>
                <a:ext uri="{FF2B5EF4-FFF2-40B4-BE49-F238E27FC236}">
                  <a16:creationId xmlns:a16="http://schemas.microsoft.com/office/drawing/2014/main" id="{D8F51F2D-05BE-D849-AC6C-414114F6D2F7}"/>
                </a:ext>
              </a:extLst>
            </p:cNvPr>
            <p:cNvSpPr>
              <a:spLocks noChangeShapeType="1"/>
            </p:cNvSpPr>
            <p:nvPr/>
          </p:nvSpPr>
          <p:spPr bwMode="auto">
            <a:xfrm>
              <a:off x="2257" y="2572"/>
              <a:ext cx="202" cy="400"/>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Rectangle 14">
              <a:extLst>
                <a:ext uri="{FF2B5EF4-FFF2-40B4-BE49-F238E27FC236}">
                  <a16:creationId xmlns:a16="http://schemas.microsoft.com/office/drawing/2014/main" id="{24932108-F385-3344-85E9-B31055D0A8B6}"/>
                </a:ext>
              </a:extLst>
            </p:cNvPr>
            <p:cNvSpPr>
              <a:spLocks noChangeArrowheads="1"/>
            </p:cNvSpPr>
            <p:nvPr/>
          </p:nvSpPr>
          <p:spPr bwMode="auto">
            <a:xfrm>
              <a:off x="1385" y="1947"/>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A</a:t>
              </a:r>
            </a:p>
          </p:txBody>
        </p:sp>
        <p:sp>
          <p:nvSpPr>
            <p:cNvPr id="73" name="Rectangle 15">
              <a:extLst>
                <a:ext uri="{FF2B5EF4-FFF2-40B4-BE49-F238E27FC236}">
                  <a16:creationId xmlns:a16="http://schemas.microsoft.com/office/drawing/2014/main" id="{91FCB48C-1678-7E45-8C1F-4EE82C1239F8}"/>
                </a:ext>
              </a:extLst>
            </p:cNvPr>
            <p:cNvSpPr>
              <a:spLocks noChangeArrowheads="1"/>
            </p:cNvSpPr>
            <p:nvPr/>
          </p:nvSpPr>
          <p:spPr bwMode="auto">
            <a:xfrm>
              <a:off x="723" y="2388"/>
              <a:ext cx="290"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B</a:t>
              </a:r>
            </a:p>
          </p:txBody>
        </p:sp>
        <p:sp>
          <p:nvSpPr>
            <p:cNvPr id="74" name="Rectangle 16">
              <a:extLst>
                <a:ext uri="{FF2B5EF4-FFF2-40B4-BE49-F238E27FC236}">
                  <a16:creationId xmlns:a16="http://schemas.microsoft.com/office/drawing/2014/main" id="{B99B330A-5FA2-8146-99B0-B0C921FC2B4C}"/>
                </a:ext>
              </a:extLst>
            </p:cNvPr>
            <p:cNvSpPr>
              <a:spLocks noChangeArrowheads="1"/>
            </p:cNvSpPr>
            <p:nvPr/>
          </p:nvSpPr>
          <p:spPr bwMode="auto">
            <a:xfrm>
              <a:off x="1377" y="2382"/>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C</a:t>
              </a:r>
            </a:p>
          </p:txBody>
        </p:sp>
        <p:sp>
          <p:nvSpPr>
            <p:cNvPr id="75" name="Rectangle 17">
              <a:extLst>
                <a:ext uri="{FF2B5EF4-FFF2-40B4-BE49-F238E27FC236}">
                  <a16:creationId xmlns:a16="http://schemas.microsoft.com/office/drawing/2014/main" id="{BCFFF4CB-1745-5E4F-BC3A-4962DB712D64}"/>
                </a:ext>
              </a:extLst>
            </p:cNvPr>
            <p:cNvSpPr>
              <a:spLocks noChangeArrowheads="1"/>
            </p:cNvSpPr>
            <p:nvPr/>
          </p:nvSpPr>
          <p:spPr bwMode="auto">
            <a:xfrm>
              <a:off x="2112" y="2386"/>
              <a:ext cx="290"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D</a:t>
              </a:r>
            </a:p>
          </p:txBody>
        </p:sp>
        <p:sp>
          <p:nvSpPr>
            <p:cNvPr id="76" name="Rectangle 18">
              <a:extLst>
                <a:ext uri="{FF2B5EF4-FFF2-40B4-BE49-F238E27FC236}">
                  <a16:creationId xmlns:a16="http://schemas.microsoft.com/office/drawing/2014/main" id="{BFEFF655-AE1B-194E-974B-E4C982791397}"/>
                </a:ext>
              </a:extLst>
            </p:cNvPr>
            <p:cNvSpPr>
              <a:spLocks noChangeArrowheads="1"/>
            </p:cNvSpPr>
            <p:nvPr/>
          </p:nvSpPr>
          <p:spPr bwMode="auto">
            <a:xfrm>
              <a:off x="2327" y="2969"/>
              <a:ext cx="272"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H</a:t>
              </a:r>
            </a:p>
          </p:txBody>
        </p:sp>
        <p:sp>
          <p:nvSpPr>
            <p:cNvPr id="77" name="Rectangle 19">
              <a:extLst>
                <a:ext uri="{FF2B5EF4-FFF2-40B4-BE49-F238E27FC236}">
                  <a16:creationId xmlns:a16="http://schemas.microsoft.com/office/drawing/2014/main" id="{999F32DD-823A-AD41-904C-3D3146E499FC}"/>
                </a:ext>
              </a:extLst>
            </p:cNvPr>
            <p:cNvSpPr>
              <a:spLocks noChangeArrowheads="1"/>
            </p:cNvSpPr>
            <p:nvPr/>
          </p:nvSpPr>
          <p:spPr bwMode="auto">
            <a:xfrm>
              <a:off x="1759" y="2916"/>
              <a:ext cx="291"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G</a:t>
              </a:r>
            </a:p>
          </p:txBody>
        </p:sp>
        <p:sp>
          <p:nvSpPr>
            <p:cNvPr id="78" name="Rectangle 20">
              <a:extLst>
                <a:ext uri="{FF2B5EF4-FFF2-40B4-BE49-F238E27FC236}">
                  <a16:creationId xmlns:a16="http://schemas.microsoft.com/office/drawing/2014/main" id="{B7E6FA64-0FBD-F741-9E65-5AFE2FD4586F}"/>
                </a:ext>
              </a:extLst>
            </p:cNvPr>
            <p:cNvSpPr>
              <a:spLocks noChangeArrowheads="1"/>
            </p:cNvSpPr>
            <p:nvPr/>
          </p:nvSpPr>
          <p:spPr bwMode="auto">
            <a:xfrm>
              <a:off x="420" y="3373"/>
              <a:ext cx="291" cy="188"/>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J</a:t>
              </a:r>
            </a:p>
          </p:txBody>
        </p:sp>
        <p:sp>
          <p:nvSpPr>
            <p:cNvPr id="79" name="Rectangle 21">
              <a:extLst>
                <a:ext uri="{FF2B5EF4-FFF2-40B4-BE49-F238E27FC236}">
                  <a16:creationId xmlns:a16="http://schemas.microsoft.com/office/drawing/2014/main" id="{20F76DC6-24FF-CA47-86D9-4467E7FA81F8}"/>
                </a:ext>
              </a:extLst>
            </p:cNvPr>
            <p:cNvSpPr>
              <a:spLocks noChangeArrowheads="1"/>
            </p:cNvSpPr>
            <p:nvPr/>
          </p:nvSpPr>
          <p:spPr bwMode="auto">
            <a:xfrm>
              <a:off x="697" y="2894"/>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E</a:t>
              </a:r>
            </a:p>
          </p:txBody>
        </p:sp>
        <p:sp>
          <p:nvSpPr>
            <p:cNvPr id="80" name="Rectangle 22">
              <a:extLst>
                <a:ext uri="{FF2B5EF4-FFF2-40B4-BE49-F238E27FC236}">
                  <a16:creationId xmlns:a16="http://schemas.microsoft.com/office/drawing/2014/main" id="{2ECFDF9D-43E5-364F-80EF-83F2FDD4CEE5}"/>
                </a:ext>
              </a:extLst>
            </p:cNvPr>
            <p:cNvSpPr>
              <a:spLocks noChangeArrowheads="1"/>
            </p:cNvSpPr>
            <p:nvPr/>
          </p:nvSpPr>
          <p:spPr bwMode="auto">
            <a:xfrm>
              <a:off x="1236" y="2923"/>
              <a:ext cx="290"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F</a:t>
              </a:r>
            </a:p>
          </p:txBody>
        </p:sp>
        <p:sp>
          <p:nvSpPr>
            <p:cNvPr id="81" name="Rectangle 23">
              <a:extLst>
                <a:ext uri="{FF2B5EF4-FFF2-40B4-BE49-F238E27FC236}">
                  <a16:creationId xmlns:a16="http://schemas.microsoft.com/office/drawing/2014/main" id="{1E177B87-0C56-CF45-999A-CA0ACAD0CFE4}"/>
                </a:ext>
              </a:extLst>
            </p:cNvPr>
            <p:cNvSpPr>
              <a:spLocks noChangeArrowheads="1"/>
            </p:cNvSpPr>
            <p:nvPr/>
          </p:nvSpPr>
          <p:spPr bwMode="auto">
            <a:xfrm>
              <a:off x="2805" y="2962"/>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I</a:t>
              </a:r>
            </a:p>
          </p:txBody>
        </p:sp>
        <p:sp>
          <p:nvSpPr>
            <p:cNvPr id="82" name="Rectangle 24">
              <a:extLst>
                <a:ext uri="{FF2B5EF4-FFF2-40B4-BE49-F238E27FC236}">
                  <a16:creationId xmlns:a16="http://schemas.microsoft.com/office/drawing/2014/main" id="{84C83E3B-B624-6F4E-AA4E-08A6772C546C}"/>
                </a:ext>
              </a:extLst>
            </p:cNvPr>
            <p:cNvSpPr>
              <a:spLocks noChangeArrowheads="1"/>
            </p:cNvSpPr>
            <p:nvPr/>
          </p:nvSpPr>
          <p:spPr bwMode="auto">
            <a:xfrm>
              <a:off x="828" y="3368"/>
              <a:ext cx="291" cy="189"/>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K</a:t>
              </a:r>
            </a:p>
          </p:txBody>
        </p:sp>
        <p:sp>
          <p:nvSpPr>
            <p:cNvPr id="83" name="Rectangle 25">
              <a:extLst>
                <a:ext uri="{FF2B5EF4-FFF2-40B4-BE49-F238E27FC236}">
                  <a16:creationId xmlns:a16="http://schemas.microsoft.com/office/drawing/2014/main" id="{0F679540-121D-A64D-AB4E-E8FA3C18EBAD}"/>
                </a:ext>
              </a:extLst>
            </p:cNvPr>
            <p:cNvSpPr>
              <a:spLocks noChangeArrowheads="1"/>
            </p:cNvSpPr>
            <p:nvPr/>
          </p:nvSpPr>
          <p:spPr bwMode="auto">
            <a:xfrm>
              <a:off x="1333" y="3359"/>
              <a:ext cx="290"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L</a:t>
              </a:r>
            </a:p>
          </p:txBody>
        </p:sp>
        <p:sp>
          <p:nvSpPr>
            <p:cNvPr id="84" name="Line 26">
              <a:extLst>
                <a:ext uri="{FF2B5EF4-FFF2-40B4-BE49-F238E27FC236}">
                  <a16:creationId xmlns:a16="http://schemas.microsoft.com/office/drawing/2014/main" id="{B18779AB-072D-FC45-8B62-33370C17FD08}"/>
                </a:ext>
              </a:extLst>
            </p:cNvPr>
            <p:cNvSpPr>
              <a:spLocks noChangeShapeType="1"/>
            </p:cNvSpPr>
            <p:nvPr/>
          </p:nvSpPr>
          <p:spPr bwMode="auto">
            <a:xfrm>
              <a:off x="1526" y="2136"/>
              <a:ext cx="0" cy="224"/>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27">
              <a:extLst>
                <a:ext uri="{FF2B5EF4-FFF2-40B4-BE49-F238E27FC236}">
                  <a16:creationId xmlns:a16="http://schemas.microsoft.com/office/drawing/2014/main" id="{04A88D03-8692-1248-B0E5-91DFAEB18B26}"/>
                </a:ext>
              </a:extLst>
            </p:cNvPr>
            <p:cNvSpPr>
              <a:spLocks noChangeShapeType="1"/>
            </p:cNvSpPr>
            <p:nvPr/>
          </p:nvSpPr>
          <p:spPr bwMode="auto">
            <a:xfrm>
              <a:off x="1597" y="2136"/>
              <a:ext cx="633" cy="235"/>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28">
              <a:extLst>
                <a:ext uri="{FF2B5EF4-FFF2-40B4-BE49-F238E27FC236}">
                  <a16:creationId xmlns:a16="http://schemas.microsoft.com/office/drawing/2014/main" id="{8946B99A-A3E1-EB49-90B2-B13CFA045E19}"/>
                </a:ext>
              </a:extLst>
            </p:cNvPr>
            <p:cNvSpPr>
              <a:spLocks noChangeShapeType="1"/>
            </p:cNvSpPr>
            <p:nvPr/>
          </p:nvSpPr>
          <p:spPr bwMode="auto">
            <a:xfrm>
              <a:off x="858" y="2572"/>
              <a:ext cx="0" cy="317"/>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9">
              <a:extLst>
                <a:ext uri="{FF2B5EF4-FFF2-40B4-BE49-F238E27FC236}">
                  <a16:creationId xmlns:a16="http://schemas.microsoft.com/office/drawing/2014/main" id="{11E7D4E1-9BEC-2A4F-9670-F6C4F8E4D5E6}"/>
                </a:ext>
              </a:extLst>
            </p:cNvPr>
            <p:cNvSpPr>
              <a:spLocks noChangeShapeType="1"/>
            </p:cNvSpPr>
            <p:nvPr/>
          </p:nvSpPr>
          <p:spPr bwMode="auto">
            <a:xfrm flipH="1">
              <a:off x="1347" y="2583"/>
              <a:ext cx="170" cy="331"/>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88" name="Line 30">
              <a:extLst>
                <a:ext uri="{FF2B5EF4-FFF2-40B4-BE49-F238E27FC236}">
                  <a16:creationId xmlns:a16="http://schemas.microsoft.com/office/drawing/2014/main" id="{452151E7-BEE5-984A-AFE2-76B6BEFAEAAB}"/>
                </a:ext>
              </a:extLst>
            </p:cNvPr>
            <p:cNvSpPr>
              <a:spLocks noChangeShapeType="1"/>
            </p:cNvSpPr>
            <p:nvPr/>
          </p:nvSpPr>
          <p:spPr bwMode="auto">
            <a:xfrm flipH="1">
              <a:off x="1887" y="2583"/>
              <a:ext cx="346" cy="342"/>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89" name="Line 31">
              <a:extLst>
                <a:ext uri="{FF2B5EF4-FFF2-40B4-BE49-F238E27FC236}">
                  <a16:creationId xmlns:a16="http://schemas.microsoft.com/office/drawing/2014/main" id="{A00ABE76-9418-7A4E-8427-A34EBA0F3976}"/>
                </a:ext>
              </a:extLst>
            </p:cNvPr>
            <p:cNvSpPr>
              <a:spLocks noChangeShapeType="1"/>
            </p:cNvSpPr>
            <p:nvPr/>
          </p:nvSpPr>
          <p:spPr bwMode="auto">
            <a:xfrm flipH="1">
              <a:off x="560" y="3077"/>
              <a:ext cx="290" cy="286"/>
            </a:xfrm>
            <a:prstGeom prst="line">
              <a:avLst/>
            </a:prstGeom>
            <a:noFill/>
            <a:ln w="9525" cap="sq">
              <a:solidFill>
                <a:schemeClr val="tx1"/>
              </a:solidFill>
              <a:round/>
              <a:headEnd/>
              <a:tailEnd/>
            </a:ln>
            <a:effectLst>
              <a:prstShdw prst="shdw17">
                <a:schemeClr val="tx1">
                  <a:gamma/>
                  <a:shade val="60000"/>
                  <a:invGamma/>
                </a:schemeClr>
              </a:prstShdw>
            </a:effectLst>
          </p:spPr>
          <p:txBody>
            <a:bodyPr wrap="none" anchor="ctr"/>
            <a:lstStyle/>
            <a:p>
              <a:pPr>
                <a:defRPr/>
              </a:pPr>
              <a:endParaRPr lang="zh-CN" altLang="en-US">
                <a:latin typeface="Arial" charset="0"/>
              </a:endParaRPr>
            </a:p>
          </p:txBody>
        </p:sp>
        <p:sp>
          <p:nvSpPr>
            <p:cNvPr id="90" name="Rectangle 32">
              <a:extLst>
                <a:ext uri="{FF2B5EF4-FFF2-40B4-BE49-F238E27FC236}">
                  <a16:creationId xmlns:a16="http://schemas.microsoft.com/office/drawing/2014/main" id="{6B27B8BB-50E3-0A4F-AFE1-BE53A5BAE331}"/>
                </a:ext>
              </a:extLst>
            </p:cNvPr>
            <p:cNvSpPr>
              <a:spLocks noChangeArrowheads="1"/>
            </p:cNvSpPr>
            <p:nvPr/>
          </p:nvSpPr>
          <p:spPr bwMode="auto">
            <a:xfrm>
              <a:off x="2102" y="3374"/>
              <a:ext cx="291"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M</a:t>
              </a:r>
            </a:p>
          </p:txBody>
        </p:sp>
        <p:sp>
          <p:nvSpPr>
            <p:cNvPr id="91" name="Rectangle 33">
              <a:extLst>
                <a:ext uri="{FF2B5EF4-FFF2-40B4-BE49-F238E27FC236}">
                  <a16:creationId xmlns:a16="http://schemas.microsoft.com/office/drawing/2014/main" id="{0AF6BDEF-C88F-E041-AB5C-9A0DBD6EE07A}"/>
                </a:ext>
              </a:extLst>
            </p:cNvPr>
            <p:cNvSpPr>
              <a:spLocks noChangeArrowheads="1"/>
            </p:cNvSpPr>
            <p:nvPr/>
          </p:nvSpPr>
          <p:spPr bwMode="auto">
            <a:xfrm>
              <a:off x="2660" y="3368"/>
              <a:ext cx="291" cy="202"/>
            </a:xfrm>
            <a:prstGeom prst="rect">
              <a:avLst/>
            </a:prstGeom>
            <a:solidFill>
              <a:srgbClr val="FFFF00"/>
            </a:solidFill>
            <a:ln w="9525" cap="sq">
              <a:solidFill>
                <a:schemeClr val="hlink"/>
              </a:solidFill>
              <a:miter lim="800000"/>
              <a:headEnd/>
              <a:tailEnd/>
            </a:ln>
            <a:effectLst>
              <a:prstShdw prst="shdw17" dist="17961" dir="2700000">
                <a:schemeClr val="hlink">
                  <a:gamma/>
                  <a:shade val="60000"/>
                  <a:invGamma/>
                </a:schemeClr>
              </a:prst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N</a:t>
              </a:r>
            </a:p>
          </p:txBody>
        </p:sp>
        <p:sp>
          <p:nvSpPr>
            <p:cNvPr id="92" name="Line 34">
              <a:extLst>
                <a:ext uri="{FF2B5EF4-FFF2-40B4-BE49-F238E27FC236}">
                  <a16:creationId xmlns:a16="http://schemas.microsoft.com/office/drawing/2014/main" id="{8C313843-D37C-9246-9AB4-E28EB0D451DD}"/>
                </a:ext>
              </a:extLst>
            </p:cNvPr>
            <p:cNvSpPr>
              <a:spLocks noChangeShapeType="1"/>
            </p:cNvSpPr>
            <p:nvPr/>
          </p:nvSpPr>
          <p:spPr bwMode="auto">
            <a:xfrm>
              <a:off x="2467" y="3161"/>
              <a:ext cx="349" cy="212"/>
            </a:xfrm>
            <a:prstGeom prst="line">
              <a:avLst/>
            </a:prstGeom>
            <a:noFill/>
            <a:ln w="9525"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35">
              <a:extLst>
                <a:ext uri="{FF2B5EF4-FFF2-40B4-BE49-F238E27FC236}">
                  <a16:creationId xmlns:a16="http://schemas.microsoft.com/office/drawing/2014/main" id="{C7FD7596-10B3-AB40-9777-E55694BB80B1}"/>
                </a:ext>
              </a:extLst>
            </p:cNvPr>
            <p:cNvSpPr>
              <a:spLocks noChangeShapeType="1"/>
            </p:cNvSpPr>
            <p:nvPr/>
          </p:nvSpPr>
          <p:spPr bwMode="auto">
            <a:xfrm>
              <a:off x="1536" y="2580"/>
              <a:ext cx="36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0" name="Text Box 39">
            <a:extLst>
              <a:ext uri="{FF2B5EF4-FFF2-40B4-BE49-F238E27FC236}">
                <a16:creationId xmlns:a16="http://schemas.microsoft.com/office/drawing/2014/main" id="{C3F1E9F2-09CB-3046-B8E6-8E12AC95CCDA}"/>
              </a:ext>
            </a:extLst>
          </p:cNvPr>
          <p:cNvSpPr txBox="1">
            <a:spLocks noChangeArrowheads="1"/>
          </p:cNvSpPr>
          <p:nvPr/>
        </p:nvSpPr>
        <p:spPr bwMode="auto">
          <a:xfrm>
            <a:off x="5525581" y="3634765"/>
            <a:ext cx="1033462"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sz="1600" dirty="0">
                <a:solidFill>
                  <a:schemeClr val="tx2"/>
                </a:solidFill>
                <a:latin typeface="宋体" panose="02010600030101010101" pitchFamily="2" charset="-122"/>
              </a:rPr>
              <a:t>如图所示的软件结构图按宽度优先组合顺序为：</a:t>
            </a:r>
          </a:p>
        </p:txBody>
      </p:sp>
      <p:sp>
        <p:nvSpPr>
          <p:cNvPr id="41" name="Rectangle 6">
            <a:extLst>
              <a:ext uri="{FF2B5EF4-FFF2-40B4-BE49-F238E27FC236}">
                <a16:creationId xmlns:a16="http://schemas.microsoft.com/office/drawing/2014/main" id="{6E60886A-E9C7-C147-B3D1-DF0911EF7364}"/>
              </a:ext>
            </a:extLst>
          </p:cNvPr>
          <p:cNvSpPr>
            <a:spLocks noChangeArrowheads="1"/>
          </p:cNvSpPr>
          <p:nvPr/>
        </p:nvSpPr>
        <p:spPr bwMode="auto">
          <a:xfrm>
            <a:off x="6768593" y="3643791"/>
            <a:ext cx="2039938"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40000"/>
              </a:spcBef>
            </a:pPr>
            <a:r>
              <a:rPr lang="en-US" altLang="zh-CN" dirty="0">
                <a:solidFill>
                  <a:schemeClr val="tx2"/>
                </a:solidFill>
                <a:highlight>
                  <a:srgbClr val="CCFFCC"/>
                </a:highlight>
                <a:latin typeface="Times New Roman" panose="02020603050405020304" pitchFamily="18" charset="0"/>
              </a:rPr>
              <a:t>A</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B</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C</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D</a:t>
            </a:r>
            <a:r>
              <a:rPr lang="zh-CN" altLang="en-US" dirty="0">
                <a:solidFill>
                  <a:schemeClr val="tx2"/>
                </a:solidFill>
                <a:latin typeface="Times New Roman" panose="02020603050405020304" pitchFamily="18" charset="0"/>
              </a:rPr>
              <a:t>、</a:t>
            </a:r>
            <a:endParaRPr lang="en-US" altLang="zh-CN" dirty="0">
              <a:solidFill>
                <a:schemeClr val="tx2"/>
              </a:solidFill>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E</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F</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G</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H</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I</a:t>
            </a:r>
            <a:r>
              <a:rPr lang="zh-CN" altLang="en-US" dirty="0">
                <a:solidFill>
                  <a:schemeClr val="tx2"/>
                </a:solidFill>
                <a:highlight>
                  <a:srgbClr val="CCFFCC"/>
                </a:highlight>
                <a:latin typeface="Times New Roman" panose="02020603050405020304" pitchFamily="18" charset="0"/>
              </a:rPr>
              <a:t>、</a:t>
            </a:r>
            <a:endParaRPr lang="en-US" altLang="zh-CN" dirty="0">
              <a:solidFill>
                <a:schemeClr val="tx2"/>
              </a:solidFill>
              <a:highlight>
                <a:srgbClr val="CCFFCC"/>
              </a:highlight>
              <a:latin typeface="Times New Roman" panose="02020603050405020304" pitchFamily="18" charset="0"/>
            </a:endParaRPr>
          </a:p>
          <a:p>
            <a:pPr algn="just">
              <a:spcBef>
                <a:spcPct val="40000"/>
              </a:spcBef>
            </a:pPr>
            <a:r>
              <a:rPr lang="en-US" altLang="zh-CN" dirty="0">
                <a:solidFill>
                  <a:schemeClr val="tx2"/>
                </a:solidFill>
                <a:highlight>
                  <a:srgbClr val="CCFFCC"/>
                </a:highlight>
                <a:latin typeface="Times New Roman" panose="02020603050405020304" pitchFamily="18" charset="0"/>
              </a:rPr>
              <a:t>J</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K</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L</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M</a:t>
            </a:r>
            <a:r>
              <a:rPr lang="zh-CN" altLang="en-US" dirty="0">
                <a:solidFill>
                  <a:schemeClr val="tx2"/>
                </a:solidFill>
                <a:highlight>
                  <a:srgbClr val="CCFFCC"/>
                </a:highlight>
                <a:latin typeface="Times New Roman" panose="02020603050405020304" pitchFamily="18" charset="0"/>
              </a:rPr>
              <a:t>、</a:t>
            </a:r>
            <a:r>
              <a:rPr lang="en-US" altLang="zh-CN" dirty="0">
                <a:solidFill>
                  <a:schemeClr val="tx2"/>
                </a:solidFill>
                <a:highlight>
                  <a:srgbClr val="CCFFCC"/>
                </a:highlight>
                <a:latin typeface="Times New Roman" panose="02020603050405020304" pitchFamily="18" charset="0"/>
              </a:rPr>
              <a:t>N</a:t>
            </a:r>
          </a:p>
        </p:txBody>
      </p:sp>
    </p:spTree>
    <p:extLst>
      <p:ext uri="{BB962C8B-B14F-4D97-AF65-F5344CB8AC3E}">
        <p14:creationId xmlns:p14="http://schemas.microsoft.com/office/powerpoint/2010/main" val="30474937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anim calcmode="lin" valueType="num">
                                      <p:cBhvr>
                                        <p:cTn id="8" dur="1000" fill="hold"/>
                                        <p:tgtEl>
                                          <p:spTgt spid="63"/>
                                        </p:tgtEl>
                                        <p:attrNameLst>
                                          <p:attrName>ppt_x</p:attrName>
                                        </p:attrNameLst>
                                      </p:cBhvr>
                                      <p:tavLst>
                                        <p:tav tm="0">
                                          <p:val>
                                            <p:strVal val="#ppt_x"/>
                                          </p:val>
                                        </p:tav>
                                        <p:tav tm="100000">
                                          <p:val>
                                            <p:strVal val="#ppt_x"/>
                                          </p:val>
                                        </p:tav>
                                      </p:tavLst>
                                    </p:anim>
                                    <p:anim calcmode="lin" valueType="num">
                                      <p:cBhvr>
                                        <p:cTn id="9" dur="1000" fill="hold"/>
                                        <p:tgtEl>
                                          <p:spTgt spid="6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1000"/>
                                        <p:tgtEl>
                                          <p:spTgt spid="65"/>
                                        </p:tgtEl>
                                      </p:cBhvr>
                                    </p:animEffect>
                                    <p:anim calcmode="lin" valueType="num">
                                      <p:cBhvr>
                                        <p:cTn id="14" dur="1000" fill="hold"/>
                                        <p:tgtEl>
                                          <p:spTgt spid="65"/>
                                        </p:tgtEl>
                                        <p:attrNameLst>
                                          <p:attrName>ppt_x</p:attrName>
                                        </p:attrNameLst>
                                      </p:cBhvr>
                                      <p:tavLst>
                                        <p:tav tm="0">
                                          <p:val>
                                            <p:strVal val="#ppt_x"/>
                                          </p:val>
                                        </p:tav>
                                        <p:tav tm="100000">
                                          <p:val>
                                            <p:strVal val="#ppt_x"/>
                                          </p:val>
                                        </p:tav>
                                      </p:tavLst>
                                    </p:anim>
                                    <p:anim calcmode="lin" valueType="num">
                                      <p:cBhvr>
                                        <p:cTn id="15"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0"/>
                                        </p:tgtEl>
                                        <p:attrNameLst>
                                          <p:attrName>style.visibility</p:attrName>
                                        </p:attrNameLst>
                                      </p:cBhvr>
                                      <p:to>
                                        <p:strVal val="visible"/>
                                      </p:to>
                                    </p:set>
                                  </p:childTnLst>
                                </p:cTn>
                              </p:par>
                            </p:childTnLst>
                          </p:cTn>
                        </p:par>
                        <p:par>
                          <p:cTn id="20" fill="hold">
                            <p:stCondLst>
                              <p:cond delay="500"/>
                            </p:stCondLst>
                            <p:childTnLst>
                              <p:par>
                                <p:cTn id="21" presetID="22" presetClass="entr" presetSubtype="1" fill="hold" grpId="0"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up)">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40" grpId="0" autoUpdateAnimBg="0"/>
      <p:bldP spid="41" grpId="0"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集成测试方法</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1</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自顶向下</a:t>
            </a:r>
            <a:r>
              <a:rPr lang="zh-CN" altLang="en-US" sz="2000" dirty="0">
                <a:solidFill>
                  <a:srgbClr val="000000"/>
                </a:solidFill>
                <a:latin typeface="微软雅黑" panose="020B0503020204020204" pitchFamily="34" charset="-122"/>
                <a:sym typeface="微软雅黑" panose="020B0503020204020204" pitchFamily="34" charset="-122"/>
              </a:rPr>
              <a:t>渐增集成</a:t>
            </a: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ts val="600"/>
              </a:spcBef>
            </a:pPr>
            <a:r>
              <a:rPr lang="zh-CN" altLang="en-US" sz="1800" b="1" dirty="0">
                <a:solidFill>
                  <a:srgbClr val="C00000"/>
                </a:solidFill>
                <a:latin typeface="宋体" panose="02010600030101010101" pitchFamily="2" charset="-122"/>
              </a:rPr>
              <a:t>优点</a:t>
            </a:r>
            <a:endParaRPr lang="en-US" altLang="zh-CN" sz="1800" b="1" dirty="0">
              <a:solidFill>
                <a:srgbClr val="C00000"/>
              </a:solidFill>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能较早地发现高层模块接口、控制等方面的问题</a:t>
            </a:r>
            <a:endParaRPr lang="en-US" altLang="zh-CN" sz="1800" dirty="0">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初期的程序概貌可让人们较早地看到程序的主功能，增强开发人员的信心</a:t>
            </a:r>
            <a:endParaRPr lang="en-US" altLang="zh-CN" sz="1800" dirty="0">
              <a:latin typeface="宋体" panose="02010600030101010101" pitchFamily="2" charset="-122"/>
            </a:endParaRPr>
          </a:p>
          <a:p>
            <a:pPr>
              <a:lnSpc>
                <a:spcPct val="120000"/>
              </a:lnSpc>
              <a:spcBef>
                <a:spcPts val="600"/>
              </a:spcBef>
            </a:pPr>
            <a:r>
              <a:rPr lang="zh-CN" altLang="en-US" sz="1800" b="1" dirty="0">
                <a:solidFill>
                  <a:srgbClr val="C00000"/>
                </a:solidFill>
                <a:latin typeface="宋体" panose="02010600030101010101" pitchFamily="2" charset="-122"/>
              </a:rPr>
              <a:t>缺点</a:t>
            </a:r>
            <a:endParaRPr lang="en-US" altLang="zh-CN" sz="1800" b="1" dirty="0">
              <a:solidFill>
                <a:srgbClr val="C00000"/>
              </a:solidFill>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桩模块不可能提供完整的信息，因此，把许多测试推迟到用实际模块代替桩模块之后</a:t>
            </a:r>
            <a:endParaRPr lang="en-US" altLang="zh-CN" sz="1800" dirty="0">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设计较多的桩模块，测试</a:t>
            </a:r>
            <a:r>
              <a:rPr lang="zh-CN" altLang="en-US" sz="1800" dirty="0">
                <a:highlight>
                  <a:srgbClr val="FFFF00"/>
                </a:highlight>
                <a:latin typeface="宋体" panose="02010600030101010101" pitchFamily="2" charset="-122"/>
              </a:rPr>
              <a:t>开销大</a:t>
            </a:r>
            <a:endParaRPr lang="en-US" altLang="zh-CN" sz="1800" dirty="0">
              <a:highlight>
                <a:srgbClr val="FFFF00"/>
              </a:highlight>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早期不能并行工作，不能充分利用人力</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
        <p:nvSpPr>
          <p:cNvPr id="3" name="云形 2">
            <a:extLst>
              <a:ext uri="{FF2B5EF4-FFF2-40B4-BE49-F238E27FC236}">
                <a16:creationId xmlns:a16="http://schemas.microsoft.com/office/drawing/2014/main" id="{4CC4F5F1-0FE8-D842-9FEA-ABC62475909E}"/>
              </a:ext>
            </a:extLst>
          </p:cNvPr>
          <p:cNvSpPr/>
          <p:nvPr/>
        </p:nvSpPr>
        <p:spPr>
          <a:xfrm>
            <a:off x="5013715" y="762102"/>
            <a:ext cx="3780064" cy="166495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Kaiti SC" panose="02010600040101010101" pitchFamily="2" charset="-122"/>
                <a:ea typeface="Kaiti SC" panose="02010600040101010101" pitchFamily="2" charset="-122"/>
                <a:sym typeface="微软雅黑" panose="020B0503020204020204" pitchFamily="34" charset="-122"/>
              </a:rPr>
              <a:t>在使用渐增式进行系统集成时，有：自顶向下和自底向上两种方法</a:t>
            </a:r>
            <a:endParaRPr kumimoji="1" lang="zh-CN" altLang="en-US"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42391136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集成测试方法</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2</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自底向上</a:t>
            </a:r>
            <a:r>
              <a:rPr lang="zh-CN" altLang="en-US" sz="2000" dirty="0">
                <a:solidFill>
                  <a:srgbClr val="000000"/>
                </a:solidFill>
                <a:latin typeface="微软雅黑" panose="020B0503020204020204" pitchFamily="34" charset="-122"/>
                <a:sym typeface="微软雅黑" panose="020B0503020204020204" pitchFamily="34" charset="-122"/>
              </a:rPr>
              <a:t>渐增集成</a:t>
            </a:r>
            <a:endParaRPr lang="en-US" altLang="zh-CN" sz="20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latin typeface="宋体" panose="02010600030101010101" pitchFamily="2" charset="-122"/>
              </a:rPr>
              <a:t>是从软件结构最低层的模块开始，进行组装</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latin typeface="宋体" panose="02010600030101010101" pitchFamily="2" charset="-122"/>
              </a:rPr>
              <a:t>由于自底向上渐增集成：是从底部向上结合模块，在测试模块时，它的下级模块已经测试通过了，因此，这种方式</a:t>
            </a:r>
            <a:r>
              <a:rPr lang="zh-CN" altLang="en-US" sz="1800" dirty="0">
                <a:highlight>
                  <a:srgbClr val="FFFF00"/>
                </a:highlight>
                <a:latin typeface="宋体" panose="02010600030101010101" pitchFamily="2" charset="-122"/>
              </a:rPr>
              <a:t>不需要桩模块</a:t>
            </a:r>
            <a:endParaRPr lang="en-US" altLang="zh-CN" sz="1800" dirty="0">
              <a:highlight>
                <a:srgbClr val="FFFF00"/>
              </a:highlight>
              <a:latin typeface="宋体" panose="02010600030101010101" pitchFamily="2" charset="-122"/>
            </a:endParaRPr>
          </a:p>
          <a:p>
            <a:pPr marL="285750" indent="-285750">
              <a:buFont typeface="Arial" panose="020B0604020202020204" pitchFamily="34" charset="0"/>
              <a:buChar char="•"/>
            </a:pPr>
            <a:r>
              <a:rPr lang="zh-CN" altLang="en-US" sz="1800" dirty="0">
                <a:latin typeface="宋体" panose="02010600030101010101" pitchFamily="2" charset="-122"/>
              </a:rPr>
              <a:t>但是，被测模块的上级模块还没有集成进来，因此，需要为正在测试的模块</a:t>
            </a:r>
            <a:r>
              <a:rPr lang="zh-CN" altLang="en-US" sz="1800" dirty="0">
                <a:highlight>
                  <a:srgbClr val="FFFF00"/>
                </a:highlight>
                <a:latin typeface="宋体" panose="02010600030101010101" pitchFamily="2" charset="-122"/>
              </a:rPr>
              <a:t>准备驱动模块</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p:txBody>
      </p:sp>
      <p:sp>
        <p:nvSpPr>
          <p:cNvPr id="3" name="云形 2">
            <a:extLst>
              <a:ext uri="{FF2B5EF4-FFF2-40B4-BE49-F238E27FC236}">
                <a16:creationId xmlns:a16="http://schemas.microsoft.com/office/drawing/2014/main" id="{4CC4F5F1-0FE8-D842-9FEA-ABC62475909E}"/>
              </a:ext>
            </a:extLst>
          </p:cNvPr>
          <p:cNvSpPr/>
          <p:nvPr/>
        </p:nvSpPr>
        <p:spPr>
          <a:xfrm>
            <a:off x="5013715" y="762102"/>
            <a:ext cx="3780064" cy="166495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Kaiti SC" panose="02010600040101010101" pitchFamily="2" charset="-122"/>
                <a:ea typeface="Kaiti SC" panose="02010600040101010101" pitchFamily="2" charset="-122"/>
                <a:sym typeface="微软雅黑" panose="020B0503020204020204" pitchFamily="34" charset="-122"/>
              </a:rPr>
              <a:t>在使用渐增式进行系统集成时，有：自顶向下和自底向上两种方法</a:t>
            </a:r>
            <a:endParaRPr kumimoji="1" lang="zh-CN" altLang="en-US"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727517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92</a:t>
            </a:fld>
            <a:endParaRPr lang="zh-CN" altLang="en-US"/>
          </a:p>
        </p:txBody>
      </p:sp>
      <p:sp>
        <p:nvSpPr>
          <p:cNvPr id="28" name="Text Box 17">
            <a:extLst>
              <a:ext uri="{FF2B5EF4-FFF2-40B4-BE49-F238E27FC236}">
                <a16:creationId xmlns:a16="http://schemas.microsoft.com/office/drawing/2014/main" id="{C6B6C5C9-7A01-594E-A87D-AAB7009F6CC9}"/>
              </a:ext>
            </a:extLst>
          </p:cNvPr>
          <p:cNvSpPr txBox="1">
            <a:spLocks noChangeArrowheads="1"/>
          </p:cNvSpPr>
          <p:nvPr/>
        </p:nvSpPr>
        <p:spPr bwMode="auto">
          <a:xfrm>
            <a:off x="457199" y="4863678"/>
            <a:ext cx="4757308" cy="646331"/>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dirty="0">
                <a:highlight>
                  <a:srgbClr val="FFFF00"/>
                </a:highlight>
                <a:latin typeface="宋体" panose="02010600030101010101" pitchFamily="2" charset="-122"/>
              </a:rPr>
              <a:t>第一步</a:t>
            </a:r>
            <a:r>
              <a:rPr lang="zh-CN" altLang="en-US" dirty="0">
                <a:latin typeface="宋体" panose="02010600030101010101" pitchFamily="2" charset="-122"/>
              </a:rPr>
              <a:t>：对最底层的模块</a:t>
            </a:r>
            <a:r>
              <a:rPr lang="en-US" altLang="zh-CN" dirty="0">
                <a:latin typeface="Times New Roman" panose="02020603050405020304" pitchFamily="18" charset="0"/>
              </a:rPr>
              <a:t>M3</a:t>
            </a:r>
            <a:r>
              <a:rPr lang="zh-CN" altLang="en-US" dirty="0">
                <a:latin typeface="Times New Roman" panose="02020603050405020304" pitchFamily="18" charset="0"/>
              </a:rPr>
              <a:t>、</a:t>
            </a:r>
            <a:r>
              <a:rPr lang="en-US" altLang="zh-CN" dirty="0">
                <a:latin typeface="Times New Roman" panose="02020603050405020304" pitchFamily="18" charset="0"/>
              </a:rPr>
              <a:t>M5</a:t>
            </a:r>
            <a:r>
              <a:rPr lang="zh-CN" altLang="en-US" dirty="0">
                <a:latin typeface="宋体" panose="02010600030101010101" pitchFamily="2" charset="-122"/>
              </a:rPr>
              <a:t>、</a:t>
            </a:r>
            <a:r>
              <a:rPr lang="en-US" altLang="zh-CN" dirty="0">
                <a:latin typeface="Times New Roman" panose="02020603050405020304" pitchFamily="18" charset="0"/>
              </a:rPr>
              <a:t>M6</a:t>
            </a:r>
            <a:r>
              <a:rPr lang="zh-CN" altLang="en-US" dirty="0">
                <a:latin typeface="宋体" panose="02010600030101010101" pitchFamily="2" charset="-122"/>
              </a:rPr>
              <a:t>进行测试，设计驱动模块</a:t>
            </a:r>
            <a:r>
              <a:rPr lang="en-US" altLang="zh-CN" dirty="0">
                <a:latin typeface="Times New Roman" panose="02020603050405020304" pitchFamily="18" charset="0"/>
              </a:rPr>
              <a:t>D1</a:t>
            </a:r>
            <a:r>
              <a:rPr lang="zh-CN" altLang="en-US" dirty="0">
                <a:latin typeface="Times New Roman" panose="02020603050405020304" pitchFamily="18" charset="0"/>
              </a:rPr>
              <a:t>、</a:t>
            </a:r>
            <a:r>
              <a:rPr lang="en-US" altLang="zh-CN" dirty="0">
                <a:latin typeface="Times New Roman" panose="02020603050405020304" pitchFamily="18" charset="0"/>
              </a:rPr>
              <a:t>D2</a:t>
            </a:r>
            <a:r>
              <a:rPr lang="zh-CN" altLang="en-US" dirty="0">
                <a:latin typeface="Times New Roman" panose="02020603050405020304" pitchFamily="18" charset="0"/>
              </a:rPr>
              <a:t>、</a:t>
            </a:r>
            <a:r>
              <a:rPr lang="en-US" altLang="zh-CN" dirty="0">
                <a:latin typeface="Times New Roman" panose="02020603050405020304" pitchFamily="18" charset="0"/>
              </a:rPr>
              <a:t>D3</a:t>
            </a:r>
            <a:r>
              <a:rPr lang="zh-CN" altLang="en-US" dirty="0">
                <a:latin typeface="宋体" panose="02010600030101010101" pitchFamily="2" charset="-122"/>
              </a:rPr>
              <a:t>来模拟调用</a:t>
            </a:r>
          </a:p>
        </p:txBody>
      </p:sp>
      <p:sp>
        <p:nvSpPr>
          <p:cNvPr id="32" name="Text Box 21">
            <a:extLst>
              <a:ext uri="{FF2B5EF4-FFF2-40B4-BE49-F238E27FC236}">
                <a16:creationId xmlns:a16="http://schemas.microsoft.com/office/drawing/2014/main" id="{B48C73FC-7CF3-0F44-A2B1-373DFFEBB575}"/>
              </a:ext>
            </a:extLst>
          </p:cNvPr>
          <p:cNvSpPr txBox="1">
            <a:spLocks noChangeArrowheads="1"/>
          </p:cNvSpPr>
          <p:nvPr/>
        </p:nvSpPr>
        <p:spPr bwMode="auto">
          <a:xfrm>
            <a:off x="5363936" y="4859441"/>
            <a:ext cx="3411764" cy="646331"/>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gn="just">
              <a:spcBef>
                <a:spcPct val="50000"/>
              </a:spcBef>
              <a:defRPr>
                <a:latin typeface="宋体" panose="02010600030101010101" pitchFamily="2" charset="-122"/>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highlight>
                  <a:srgbClr val="FFFF00"/>
                </a:highlight>
              </a:rPr>
              <a:t>第二步</a:t>
            </a:r>
            <a:r>
              <a:rPr lang="zh-CN" altLang="en-US" dirty="0"/>
              <a:t>：用实际模块</a:t>
            </a:r>
            <a:r>
              <a:rPr lang="en-US" altLang="zh-CN" dirty="0">
                <a:latin typeface="Times New Roman" panose="02020603050405020304" pitchFamily="18" charset="0"/>
              </a:rPr>
              <a:t>M2</a:t>
            </a:r>
            <a:r>
              <a:rPr lang="zh-CN" altLang="en-US" dirty="0"/>
              <a:t>、</a:t>
            </a:r>
            <a:r>
              <a:rPr lang="en-US" altLang="zh-CN" dirty="0">
                <a:latin typeface="Times New Roman" panose="02020603050405020304" pitchFamily="18" charset="0"/>
              </a:rPr>
              <a:t>M1</a:t>
            </a:r>
            <a:r>
              <a:rPr lang="zh-CN" altLang="en-US" dirty="0"/>
              <a:t>和</a:t>
            </a:r>
            <a:r>
              <a:rPr lang="en-US" altLang="zh-CN" dirty="0">
                <a:latin typeface="Times New Roman" panose="02020603050405020304" pitchFamily="18" charset="0"/>
              </a:rPr>
              <a:t>M4</a:t>
            </a:r>
            <a:r>
              <a:rPr lang="zh-CN" altLang="en-US" dirty="0"/>
              <a:t>替换驱动模块</a:t>
            </a:r>
            <a:r>
              <a:rPr lang="en-US" altLang="zh-CN" dirty="0">
                <a:latin typeface="Times New Roman" panose="02020603050405020304" pitchFamily="18" charset="0"/>
              </a:rPr>
              <a:t>D1</a:t>
            </a:r>
            <a:r>
              <a:rPr lang="zh-CN" altLang="en-US" dirty="0">
                <a:latin typeface="Times New Roman" panose="02020603050405020304" pitchFamily="18" charset="0"/>
              </a:rPr>
              <a:t>、</a:t>
            </a:r>
            <a:r>
              <a:rPr lang="en-US" altLang="zh-CN" dirty="0">
                <a:latin typeface="Times New Roman" panose="02020603050405020304" pitchFamily="18" charset="0"/>
              </a:rPr>
              <a:t>D2</a:t>
            </a:r>
            <a:r>
              <a:rPr lang="zh-CN" altLang="en-US" dirty="0">
                <a:latin typeface="Times New Roman" panose="02020603050405020304" pitchFamily="18" charset="0"/>
              </a:rPr>
              <a:t>、</a:t>
            </a:r>
            <a:r>
              <a:rPr lang="en-US" altLang="zh-CN" dirty="0">
                <a:latin typeface="Times New Roman" panose="02020603050405020304" pitchFamily="18" charset="0"/>
              </a:rPr>
              <a:t>D3</a:t>
            </a:r>
            <a:r>
              <a:rPr lang="zh-CN" altLang="en-US" dirty="0"/>
              <a:t>。</a:t>
            </a:r>
          </a:p>
        </p:txBody>
      </p:sp>
      <p:sp>
        <p:nvSpPr>
          <p:cNvPr id="40" name="Text Box 29">
            <a:extLst>
              <a:ext uri="{FF2B5EF4-FFF2-40B4-BE49-F238E27FC236}">
                <a16:creationId xmlns:a16="http://schemas.microsoft.com/office/drawing/2014/main" id="{E7905EBE-378F-994D-B464-91BB86159F4D}"/>
              </a:ext>
            </a:extLst>
          </p:cNvPr>
          <p:cNvSpPr txBox="1">
            <a:spLocks noChangeArrowheads="1"/>
          </p:cNvSpPr>
          <p:nvPr/>
        </p:nvSpPr>
        <p:spPr bwMode="auto">
          <a:xfrm>
            <a:off x="463550" y="5585133"/>
            <a:ext cx="4089400" cy="646331"/>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algn="just">
              <a:spcBef>
                <a:spcPct val="50000"/>
              </a:spcBef>
              <a:defRPr>
                <a:latin typeface="宋体" panose="02010600030101010101" pitchFamily="2" charset="-122"/>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a:spcAft>
                <a:spcPct val="30000"/>
              </a:spcAft>
            </a:pPr>
            <a:r>
              <a:rPr lang="zh-CN" altLang="en-US" dirty="0">
                <a:highlight>
                  <a:srgbClr val="FFFF00"/>
                </a:highlight>
              </a:rPr>
              <a:t>第三步</a:t>
            </a:r>
            <a:r>
              <a:rPr lang="zh-CN" altLang="en-US" dirty="0"/>
              <a:t>：把已测试的子系统按程序结构连接起来，构成系统。</a:t>
            </a:r>
          </a:p>
        </p:txBody>
      </p:sp>
      <p:sp>
        <p:nvSpPr>
          <p:cNvPr id="43" name="Text Box 32">
            <a:extLst>
              <a:ext uri="{FF2B5EF4-FFF2-40B4-BE49-F238E27FC236}">
                <a16:creationId xmlns:a16="http://schemas.microsoft.com/office/drawing/2014/main" id="{07B84437-CDBB-5E4A-A628-FD64A98B2B24}"/>
              </a:ext>
            </a:extLst>
          </p:cNvPr>
          <p:cNvSpPr txBox="1">
            <a:spLocks noChangeArrowheads="1"/>
          </p:cNvSpPr>
          <p:nvPr/>
        </p:nvSpPr>
        <p:spPr bwMode="auto">
          <a:xfrm>
            <a:off x="4679950" y="5586594"/>
            <a:ext cx="4089399" cy="646331"/>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defPPr>
              <a:defRPr lang="en-US"/>
            </a:defPPr>
            <a:lvl1pPr algn="just">
              <a:spcBef>
                <a:spcPct val="50000"/>
              </a:spcBef>
              <a:defRPr>
                <a:latin typeface="宋体" panose="02010600030101010101" pitchFamily="2" charset="-122"/>
                <a:ea typeface="宋体" panose="02010600030101010101" pitchFamily="2"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pPr>
              <a:spcAft>
                <a:spcPct val="25000"/>
              </a:spcAft>
            </a:pPr>
            <a:r>
              <a:rPr lang="zh-CN" altLang="en-US" dirty="0">
                <a:highlight>
                  <a:srgbClr val="FFFF00"/>
                </a:highlight>
              </a:rPr>
              <a:t>第四步</a:t>
            </a:r>
            <a:r>
              <a:rPr lang="zh-CN" altLang="en-US" dirty="0"/>
              <a:t>：设计驱动模块</a:t>
            </a:r>
            <a:r>
              <a:rPr lang="en-US" altLang="zh-CN" dirty="0"/>
              <a:t>D4</a:t>
            </a:r>
            <a:r>
              <a:rPr lang="zh-CN" altLang="en-US" dirty="0"/>
              <a:t>，模拟对系统调用，完成程序的组装测试</a:t>
            </a:r>
          </a:p>
        </p:txBody>
      </p:sp>
      <p:sp>
        <p:nvSpPr>
          <p:cNvPr id="60" name="Text Box 50">
            <a:extLst>
              <a:ext uri="{FF2B5EF4-FFF2-40B4-BE49-F238E27FC236}">
                <a16:creationId xmlns:a16="http://schemas.microsoft.com/office/drawing/2014/main" id="{FF67563C-B252-264A-BB35-DFDEFC13BF89}"/>
              </a:ext>
            </a:extLst>
          </p:cNvPr>
          <p:cNvSpPr txBox="1">
            <a:spLocks noChangeArrowheads="1"/>
          </p:cNvSpPr>
          <p:nvPr/>
        </p:nvSpPr>
        <p:spPr bwMode="auto">
          <a:xfrm>
            <a:off x="723900" y="1993302"/>
            <a:ext cx="7696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dirty="0">
                <a:latin typeface="Times New Roman" panose="02020603050405020304" pitchFamily="18" charset="0"/>
              </a:rPr>
              <a:t>图</a:t>
            </a:r>
            <a:r>
              <a:rPr lang="en-US" altLang="zh-CN" dirty="0">
                <a:latin typeface="Times New Roman" panose="02020603050405020304" pitchFamily="18" charset="0"/>
              </a:rPr>
              <a:t>a</a:t>
            </a:r>
            <a:r>
              <a:rPr lang="zh-CN" altLang="en-US" dirty="0">
                <a:latin typeface="Times New Roman" panose="02020603050405020304" pitchFamily="18" charset="0"/>
              </a:rPr>
              <a:t>为软件结构图，图</a:t>
            </a:r>
            <a:r>
              <a:rPr lang="en-US" altLang="zh-CN" dirty="0">
                <a:latin typeface="Times New Roman" panose="02020603050405020304" pitchFamily="18" charset="0"/>
              </a:rPr>
              <a:t>b</a:t>
            </a:r>
            <a:r>
              <a:rPr lang="zh-CN" altLang="en-US" dirty="0">
                <a:latin typeface="Times New Roman" panose="02020603050405020304" pitchFamily="18" charset="0"/>
              </a:rPr>
              <a:t>描述了</a:t>
            </a:r>
            <a:r>
              <a:rPr lang="zh-CN" altLang="en-US" dirty="0">
                <a:latin typeface="宋体" panose="02010600030101010101" pitchFamily="2" charset="-122"/>
              </a:rPr>
              <a:t>自底向上渐增集成的过程。</a:t>
            </a:r>
            <a:endParaRPr lang="zh-CN" altLang="en-US" dirty="0">
              <a:latin typeface="Times New Roman" panose="02020603050405020304" pitchFamily="18" charset="0"/>
            </a:endParaRPr>
          </a:p>
        </p:txBody>
      </p:sp>
      <p:sp>
        <p:nvSpPr>
          <p:cNvPr id="61" name="Rectangle 7">
            <a:extLst>
              <a:ext uri="{FF2B5EF4-FFF2-40B4-BE49-F238E27FC236}">
                <a16:creationId xmlns:a16="http://schemas.microsoft.com/office/drawing/2014/main" id="{4A077927-5D64-934F-86B5-BE92305E5776}"/>
              </a:ext>
            </a:extLst>
          </p:cNvPr>
          <p:cNvSpPr txBox="1">
            <a:spLocks noChangeArrowheads="1"/>
          </p:cNvSpPr>
          <p:nvPr/>
        </p:nvSpPr>
        <p:spPr>
          <a:xfrm>
            <a:off x="1073823" y="1168229"/>
            <a:ext cx="6688045" cy="52821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CC6600"/>
                </a:solidFill>
                <a:sym typeface="微软雅黑" panose="020B0503020204020204" pitchFamily="34" charset="-122"/>
              </a:rPr>
              <a:t>（</a:t>
            </a:r>
            <a:r>
              <a:rPr lang="en-US" altLang="zh-CN" sz="2000" dirty="0">
                <a:solidFill>
                  <a:srgbClr val="CC6600"/>
                </a:solidFill>
                <a:sym typeface="微软雅黑" panose="020B0503020204020204" pitchFamily="34" charset="-122"/>
              </a:rPr>
              <a:t>1</a:t>
            </a:r>
            <a:r>
              <a:rPr lang="zh-CN" altLang="en-US" sz="2000" dirty="0">
                <a:solidFill>
                  <a:srgbClr val="CC6600"/>
                </a:solidFill>
                <a:sym typeface="微软雅黑" panose="020B0503020204020204" pitchFamily="34" charset="-122"/>
              </a:rPr>
              <a:t>） 自底向上渐增集成</a:t>
            </a:r>
            <a:endParaRPr lang="en-US" altLang="zh-CN" sz="2000" dirty="0">
              <a:solidFill>
                <a:srgbClr val="CC6600"/>
              </a:solidFill>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
        <p:nvSpPr>
          <p:cNvPr id="62" name="Line 2">
            <a:extLst>
              <a:ext uri="{FF2B5EF4-FFF2-40B4-BE49-F238E27FC236}">
                <a16:creationId xmlns:a16="http://schemas.microsoft.com/office/drawing/2014/main" id="{FF7B8CFA-FF84-3D4F-AE8B-D80D14967895}"/>
              </a:ext>
            </a:extLst>
          </p:cNvPr>
          <p:cNvSpPr>
            <a:spLocks noChangeShapeType="1"/>
          </p:cNvSpPr>
          <p:nvPr/>
        </p:nvSpPr>
        <p:spPr bwMode="auto">
          <a:xfrm flipV="1">
            <a:off x="6018213" y="3273672"/>
            <a:ext cx="762000" cy="285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3">
            <a:extLst>
              <a:ext uri="{FF2B5EF4-FFF2-40B4-BE49-F238E27FC236}">
                <a16:creationId xmlns:a16="http://schemas.microsoft.com/office/drawing/2014/main" id="{148B09CF-0EE0-0049-BBAD-D9AAFB60F294}"/>
              </a:ext>
            </a:extLst>
          </p:cNvPr>
          <p:cNvSpPr>
            <a:spLocks noChangeShapeType="1"/>
          </p:cNvSpPr>
          <p:nvPr/>
        </p:nvSpPr>
        <p:spPr bwMode="auto">
          <a:xfrm flipH="1" flipV="1">
            <a:off x="7313613" y="3273672"/>
            <a:ext cx="914400" cy="285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4">
            <a:extLst>
              <a:ext uri="{FF2B5EF4-FFF2-40B4-BE49-F238E27FC236}">
                <a16:creationId xmlns:a16="http://schemas.microsoft.com/office/drawing/2014/main" id="{3E2E8CE3-B728-0F4D-B6EE-57C24A6CDB87}"/>
              </a:ext>
            </a:extLst>
          </p:cNvPr>
          <p:cNvSpPr>
            <a:spLocks noChangeShapeType="1"/>
          </p:cNvSpPr>
          <p:nvPr/>
        </p:nvSpPr>
        <p:spPr bwMode="auto">
          <a:xfrm flipV="1">
            <a:off x="7041261" y="2795581"/>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5">
            <a:extLst>
              <a:ext uri="{FF2B5EF4-FFF2-40B4-BE49-F238E27FC236}">
                <a16:creationId xmlns:a16="http://schemas.microsoft.com/office/drawing/2014/main" id="{3AE688F1-4EC3-1B44-AD7A-76BEA27E7EA9}"/>
              </a:ext>
            </a:extLst>
          </p:cNvPr>
          <p:cNvSpPr>
            <a:spLocks noChangeShapeType="1"/>
          </p:cNvSpPr>
          <p:nvPr/>
        </p:nvSpPr>
        <p:spPr bwMode="auto">
          <a:xfrm>
            <a:off x="8151813" y="3830884"/>
            <a:ext cx="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
            <a:extLst>
              <a:ext uri="{FF2B5EF4-FFF2-40B4-BE49-F238E27FC236}">
                <a16:creationId xmlns:a16="http://schemas.microsoft.com/office/drawing/2014/main" id="{E6E734EB-A581-1C44-A151-748E0394AD08}"/>
              </a:ext>
            </a:extLst>
          </p:cNvPr>
          <p:cNvSpPr>
            <a:spLocks noChangeShapeType="1"/>
          </p:cNvSpPr>
          <p:nvPr/>
        </p:nvSpPr>
        <p:spPr bwMode="auto">
          <a:xfrm>
            <a:off x="5942013" y="3830884"/>
            <a:ext cx="0" cy="24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Rectangle 7">
            <a:extLst>
              <a:ext uri="{FF2B5EF4-FFF2-40B4-BE49-F238E27FC236}">
                <a16:creationId xmlns:a16="http://schemas.microsoft.com/office/drawing/2014/main" id="{4D5F7347-9034-3E46-B99E-A59A21293040}"/>
              </a:ext>
            </a:extLst>
          </p:cNvPr>
          <p:cNvSpPr>
            <a:spLocks noChangeArrowheads="1"/>
          </p:cNvSpPr>
          <p:nvPr/>
        </p:nvSpPr>
        <p:spPr bwMode="auto">
          <a:xfrm>
            <a:off x="6719888" y="3535609"/>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M3</a:t>
            </a:r>
          </a:p>
        </p:txBody>
      </p:sp>
      <p:sp>
        <p:nvSpPr>
          <p:cNvPr id="68" name="Rectangle 8">
            <a:extLst>
              <a:ext uri="{FF2B5EF4-FFF2-40B4-BE49-F238E27FC236}">
                <a16:creationId xmlns:a16="http://schemas.microsoft.com/office/drawing/2014/main" id="{FABB5965-381B-B447-8A2C-7FA20EC2AB5D}"/>
              </a:ext>
            </a:extLst>
          </p:cNvPr>
          <p:cNvSpPr>
            <a:spLocks noChangeArrowheads="1"/>
          </p:cNvSpPr>
          <p:nvPr/>
        </p:nvSpPr>
        <p:spPr bwMode="auto">
          <a:xfrm>
            <a:off x="7786688" y="4073772"/>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M6</a:t>
            </a:r>
          </a:p>
        </p:txBody>
      </p:sp>
      <p:sp>
        <p:nvSpPr>
          <p:cNvPr id="69" name="Rectangle 9">
            <a:extLst>
              <a:ext uri="{FF2B5EF4-FFF2-40B4-BE49-F238E27FC236}">
                <a16:creationId xmlns:a16="http://schemas.microsoft.com/office/drawing/2014/main" id="{F4C80247-09B8-5748-83A6-F2E00102E241}"/>
              </a:ext>
            </a:extLst>
          </p:cNvPr>
          <p:cNvSpPr>
            <a:spLocks noChangeArrowheads="1"/>
          </p:cNvSpPr>
          <p:nvPr/>
        </p:nvSpPr>
        <p:spPr bwMode="auto">
          <a:xfrm>
            <a:off x="5653088" y="4073772"/>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2"/>
                </a:solidFill>
                <a:latin typeface="Times New Roman" panose="02020603050405020304" pitchFamily="18" charset="0"/>
              </a:rPr>
              <a:t>M5</a:t>
            </a:r>
          </a:p>
        </p:txBody>
      </p:sp>
      <p:sp>
        <p:nvSpPr>
          <p:cNvPr id="71" name="Rectangle 11">
            <a:extLst>
              <a:ext uri="{FF2B5EF4-FFF2-40B4-BE49-F238E27FC236}">
                <a16:creationId xmlns:a16="http://schemas.microsoft.com/office/drawing/2014/main" id="{B696BA53-2CE5-9441-84FF-1818E41BEB1A}"/>
              </a:ext>
            </a:extLst>
          </p:cNvPr>
          <p:cNvSpPr>
            <a:spLocks noChangeArrowheads="1"/>
          </p:cNvSpPr>
          <p:nvPr/>
        </p:nvSpPr>
        <p:spPr bwMode="auto">
          <a:xfrm>
            <a:off x="5653088" y="3535609"/>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latin typeface="Times New Roman" panose="02020603050405020304" pitchFamily="18" charset="0"/>
              </a:rPr>
              <a:t>D1</a:t>
            </a:r>
          </a:p>
        </p:txBody>
      </p:sp>
      <p:sp>
        <p:nvSpPr>
          <p:cNvPr id="72" name="Rectangle 12">
            <a:extLst>
              <a:ext uri="{FF2B5EF4-FFF2-40B4-BE49-F238E27FC236}">
                <a16:creationId xmlns:a16="http://schemas.microsoft.com/office/drawing/2014/main" id="{3974F852-BA07-5B44-880F-F3B72479F7AB}"/>
              </a:ext>
            </a:extLst>
          </p:cNvPr>
          <p:cNvSpPr>
            <a:spLocks noChangeArrowheads="1"/>
          </p:cNvSpPr>
          <p:nvPr/>
        </p:nvSpPr>
        <p:spPr bwMode="auto">
          <a:xfrm>
            <a:off x="6719888" y="2987922"/>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D2</a:t>
            </a:r>
          </a:p>
        </p:txBody>
      </p:sp>
      <p:sp>
        <p:nvSpPr>
          <p:cNvPr id="73" name="Rectangle 13">
            <a:extLst>
              <a:ext uri="{FF2B5EF4-FFF2-40B4-BE49-F238E27FC236}">
                <a16:creationId xmlns:a16="http://schemas.microsoft.com/office/drawing/2014/main" id="{ED5CB70A-A925-BB4E-BCAF-364AAC43D6F6}"/>
              </a:ext>
            </a:extLst>
          </p:cNvPr>
          <p:cNvSpPr>
            <a:spLocks noChangeArrowheads="1"/>
          </p:cNvSpPr>
          <p:nvPr/>
        </p:nvSpPr>
        <p:spPr bwMode="auto">
          <a:xfrm>
            <a:off x="7786688" y="3535609"/>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D3</a:t>
            </a:r>
          </a:p>
        </p:txBody>
      </p:sp>
      <p:sp>
        <p:nvSpPr>
          <p:cNvPr id="80" name="Rectangle 20">
            <a:extLst>
              <a:ext uri="{FF2B5EF4-FFF2-40B4-BE49-F238E27FC236}">
                <a16:creationId xmlns:a16="http://schemas.microsoft.com/office/drawing/2014/main" id="{DDF3CB10-47DD-EE45-82D1-09CF5EBFBC60}"/>
              </a:ext>
            </a:extLst>
          </p:cNvPr>
          <p:cNvSpPr>
            <a:spLocks noChangeArrowheads="1"/>
          </p:cNvSpPr>
          <p:nvPr/>
        </p:nvSpPr>
        <p:spPr bwMode="auto">
          <a:xfrm>
            <a:off x="5653088" y="3535609"/>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2"/>
                </a:solidFill>
                <a:latin typeface="Times New Roman" panose="02020603050405020304" pitchFamily="18" charset="0"/>
              </a:rPr>
              <a:t>M2</a:t>
            </a:r>
          </a:p>
        </p:txBody>
      </p:sp>
      <p:sp>
        <p:nvSpPr>
          <p:cNvPr id="81" name="Rectangle 21">
            <a:extLst>
              <a:ext uri="{FF2B5EF4-FFF2-40B4-BE49-F238E27FC236}">
                <a16:creationId xmlns:a16="http://schemas.microsoft.com/office/drawing/2014/main" id="{A1A136FE-79A1-F64D-84AA-95EC290B1862}"/>
              </a:ext>
            </a:extLst>
          </p:cNvPr>
          <p:cNvSpPr>
            <a:spLocks noChangeArrowheads="1"/>
          </p:cNvSpPr>
          <p:nvPr/>
        </p:nvSpPr>
        <p:spPr bwMode="auto">
          <a:xfrm>
            <a:off x="7786688" y="3531800"/>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M4</a:t>
            </a:r>
          </a:p>
        </p:txBody>
      </p:sp>
      <p:sp>
        <p:nvSpPr>
          <p:cNvPr id="82" name="Line 22">
            <a:extLst>
              <a:ext uri="{FF2B5EF4-FFF2-40B4-BE49-F238E27FC236}">
                <a16:creationId xmlns:a16="http://schemas.microsoft.com/office/drawing/2014/main" id="{AAC59030-BE9B-8940-B505-05D2C4B6038C}"/>
              </a:ext>
            </a:extLst>
          </p:cNvPr>
          <p:cNvSpPr>
            <a:spLocks noChangeShapeType="1"/>
          </p:cNvSpPr>
          <p:nvPr/>
        </p:nvSpPr>
        <p:spPr bwMode="auto">
          <a:xfrm flipV="1">
            <a:off x="7041949" y="3274625"/>
            <a:ext cx="0" cy="257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Rectangle 23">
            <a:extLst>
              <a:ext uri="{FF2B5EF4-FFF2-40B4-BE49-F238E27FC236}">
                <a16:creationId xmlns:a16="http://schemas.microsoft.com/office/drawing/2014/main" id="{0208DD04-55F7-D745-99BB-4B22126AD2D7}"/>
              </a:ext>
            </a:extLst>
          </p:cNvPr>
          <p:cNvSpPr>
            <a:spLocks noChangeArrowheads="1"/>
          </p:cNvSpPr>
          <p:nvPr/>
        </p:nvSpPr>
        <p:spPr bwMode="auto">
          <a:xfrm>
            <a:off x="6720523" y="2987216"/>
            <a:ext cx="685800" cy="28575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M1</a:t>
            </a:r>
          </a:p>
        </p:txBody>
      </p:sp>
      <p:sp>
        <p:nvSpPr>
          <p:cNvPr id="86" name="Rectangle 27">
            <a:extLst>
              <a:ext uri="{FF2B5EF4-FFF2-40B4-BE49-F238E27FC236}">
                <a16:creationId xmlns:a16="http://schemas.microsoft.com/office/drawing/2014/main" id="{01C637AC-EDBD-3F43-A3A2-E0EF38796D06}"/>
              </a:ext>
            </a:extLst>
          </p:cNvPr>
          <p:cNvSpPr>
            <a:spLocks noChangeArrowheads="1"/>
          </p:cNvSpPr>
          <p:nvPr/>
        </p:nvSpPr>
        <p:spPr bwMode="auto">
          <a:xfrm>
            <a:off x="6719888" y="2509831"/>
            <a:ext cx="685800" cy="285750"/>
          </a:xfrm>
          <a:prstGeom prst="rect">
            <a:avLst/>
          </a:prstGeom>
          <a:solidFill>
            <a:schemeClr val="accent5">
              <a:lumMod val="40000"/>
              <a:lumOff val="60000"/>
            </a:schemeClr>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latin typeface="Times New Roman" panose="02020603050405020304" pitchFamily="18" charset="0"/>
              </a:rPr>
              <a:t>D4</a:t>
            </a:r>
          </a:p>
        </p:txBody>
      </p:sp>
      <p:sp>
        <p:nvSpPr>
          <p:cNvPr id="87" name="AutoShape 28">
            <a:extLst>
              <a:ext uri="{FF2B5EF4-FFF2-40B4-BE49-F238E27FC236}">
                <a16:creationId xmlns:a16="http://schemas.microsoft.com/office/drawing/2014/main" id="{DDFA1215-5CFE-2442-9AFA-3D086AC46878}"/>
              </a:ext>
            </a:extLst>
          </p:cNvPr>
          <p:cNvSpPr>
            <a:spLocks noChangeArrowheads="1"/>
          </p:cNvSpPr>
          <p:nvPr/>
        </p:nvSpPr>
        <p:spPr bwMode="auto">
          <a:xfrm rot="16206301">
            <a:off x="4467225" y="3356222"/>
            <a:ext cx="1262063" cy="230187"/>
          </a:xfrm>
          <a:prstGeom prst="notchedRightArrow">
            <a:avLst>
              <a:gd name="adj1" fmla="val 50000"/>
              <a:gd name="adj2" fmla="val 182759"/>
            </a:avLst>
          </a:prstGeom>
          <a:solidFill>
            <a:schemeClr val="hlink"/>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8" name="Text Box 35">
            <a:extLst>
              <a:ext uri="{FF2B5EF4-FFF2-40B4-BE49-F238E27FC236}">
                <a16:creationId xmlns:a16="http://schemas.microsoft.com/office/drawing/2014/main" id="{590998C0-EDC1-0B46-8142-6C9D7605CA70}"/>
              </a:ext>
            </a:extLst>
          </p:cNvPr>
          <p:cNvSpPr txBox="1">
            <a:spLocks noChangeArrowheads="1"/>
          </p:cNvSpPr>
          <p:nvPr/>
        </p:nvSpPr>
        <p:spPr bwMode="auto">
          <a:xfrm>
            <a:off x="6646863" y="4289672"/>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a:latin typeface="Times New Roman" panose="02020603050405020304" pitchFamily="18" charset="0"/>
              </a:rPr>
              <a:t>   图</a:t>
            </a:r>
            <a:r>
              <a:rPr lang="en-US" altLang="zh-CN">
                <a:latin typeface="Times New Roman" panose="02020603050405020304" pitchFamily="18" charset="0"/>
              </a:rPr>
              <a:t>b</a:t>
            </a:r>
          </a:p>
        </p:txBody>
      </p:sp>
      <p:grpSp>
        <p:nvGrpSpPr>
          <p:cNvPr id="89" name="Group 36">
            <a:extLst>
              <a:ext uri="{FF2B5EF4-FFF2-40B4-BE49-F238E27FC236}">
                <a16:creationId xmlns:a16="http://schemas.microsoft.com/office/drawing/2014/main" id="{C55151A9-F0FC-7343-B0AD-8CA42BBDB67F}"/>
              </a:ext>
            </a:extLst>
          </p:cNvPr>
          <p:cNvGrpSpPr>
            <a:grpSpLocks/>
          </p:cNvGrpSpPr>
          <p:nvPr/>
        </p:nvGrpSpPr>
        <p:grpSpPr bwMode="auto">
          <a:xfrm>
            <a:off x="1143000" y="2762497"/>
            <a:ext cx="2133600" cy="1886221"/>
            <a:chOff x="3600" y="1056"/>
            <a:chExt cx="1344" cy="1585"/>
          </a:xfrm>
        </p:grpSpPr>
        <p:grpSp>
          <p:nvGrpSpPr>
            <p:cNvPr id="90" name="Group 37">
              <a:extLst>
                <a:ext uri="{FF2B5EF4-FFF2-40B4-BE49-F238E27FC236}">
                  <a16:creationId xmlns:a16="http://schemas.microsoft.com/office/drawing/2014/main" id="{2B2D4D82-CEB0-1146-ABFC-7108C651A858}"/>
                </a:ext>
              </a:extLst>
            </p:cNvPr>
            <p:cNvGrpSpPr>
              <a:grpSpLocks/>
            </p:cNvGrpSpPr>
            <p:nvPr/>
          </p:nvGrpSpPr>
          <p:grpSpPr bwMode="auto">
            <a:xfrm>
              <a:off x="3600" y="1056"/>
              <a:ext cx="1344" cy="960"/>
              <a:chOff x="3252" y="784"/>
              <a:chExt cx="1788" cy="1206"/>
            </a:xfrm>
          </p:grpSpPr>
          <p:sp>
            <p:nvSpPr>
              <p:cNvPr id="92" name="Rectangle 38">
                <a:extLst>
                  <a:ext uri="{FF2B5EF4-FFF2-40B4-BE49-F238E27FC236}">
                    <a16:creationId xmlns:a16="http://schemas.microsoft.com/office/drawing/2014/main" id="{922010E5-9318-574D-AD6B-C4C94097E8D5}"/>
                  </a:ext>
                </a:extLst>
              </p:cNvPr>
              <p:cNvSpPr>
                <a:spLocks noChangeArrowheads="1"/>
              </p:cNvSpPr>
              <p:nvPr/>
            </p:nvSpPr>
            <p:spPr bwMode="auto">
              <a:xfrm>
                <a:off x="3936" y="784"/>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M1</a:t>
                </a:r>
              </a:p>
            </p:txBody>
          </p:sp>
          <p:sp>
            <p:nvSpPr>
              <p:cNvPr id="93" name="Rectangle 39">
                <a:extLst>
                  <a:ext uri="{FF2B5EF4-FFF2-40B4-BE49-F238E27FC236}">
                    <a16:creationId xmlns:a16="http://schemas.microsoft.com/office/drawing/2014/main" id="{ED6A6ACA-9EE0-2E46-B2A3-346D8DAE3C36}"/>
                  </a:ext>
                </a:extLst>
              </p:cNvPr>
              <p:cNvSpPr>
                <a:spLocks noChangeArrowheads="1"/>
              </p:cNvSpPr>
              <p:nvPr/>
            </p:nvSpPr>
            <p:spPr bwMode="auto">
              <a:xfrm>
                <a:off x="4583" y="1261"/>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2"/>
                    </a:solidFill>
                    <a:latin typeface="Times New Roman" panose="02020603050405020304" pitchFamily="18" charset="0"/>
                  </a:rPr>
                  <a:t>M4</a:t>
                </a:r>
              </a:p>
            </p:txBody>
          </p:sp>
          <p:sp>
            <p:nvSpPr>
              <p:cNvPr id="94" name="Rectangle 40">
                <a:extLst>
                  <a:ext uri="{FF2B5EF4-FFF2-40B4-BE49-F238E27FC236}">
                    <a16:creationId xmlns:a16="http://schemas.microsoft.com/office/drawing/2014/main" id="{B81DFE4E-DE73-2842-A45C-273D8EF0DC79}"/>
                  </a:ext>
                </a:extLst>
              </p:cNvPr>
              <p:cNvSpPr>
                <a:spLocks noChangeArrowheads="1"/>
              </p:cNvSpPr>
              <p:nvPr/>
            </p:nvSpPr>
            <p:spPr bwMode="auto">
              <a:xfrm>
                <a:off x="3936" y="1261"/>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M3</a:t>
                </a:r>
              </a:p>
            </p:txBody>
          </p:sp>
          <p:sp>
            <p:nvSpPr>
              <p:cNvPr id="95" name="Rectangle 41">
                <a:extLst>
                  <a:ext uri="{FF2B5EF4-FFF2-40B4-BE49-F238E27FC236}">
                    <a16:creationId xmlns:a16="http://schemas.microsoft.com/office/drawing/2014/main" id="{19C49E38-DA4B-C84C-BBB3-C185A81BAB09}"/>
                  </a:ext>
                </a:extLst>
              </p:cNvPr>
              <p:cNvSpPr>
                <a:spLocks noChangeArrowheads="1"/>
              </p:cNvSpPr>
              <p:nvPr/>
            </p:nvSpPr>
            <p:spPr bwMode="auto">
              <a:xfrm>
                <a:off x="3264" y="1261"/>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M2</a:t>
                </a:r>
              </a:p>
            </p:txBody>
          </p:sp>
          <p:sp>
            <p:nvSpPr>
              <p:cNvPr id="96" name="Line 42">
                <a:extLst>
                  <a:ext uri="{FF2B5EF4-FFF2-40B4-BE49-F238E27FC236}">
                    <a16:creationId xmlns:a16="http://schemas.microsoft.com/office/drawing/2014/main" id="{9231EE9F-A87E-BE46-B271-A7BA345D139D}"/>
                  </a:ext>
                </a:extLst>
              </p:cNvPr>
              <p:cNvSpPr>
                <a:spLocks noChangeShapeType="1"/>
              </p:cNvSpPr>
              <p:nvPr/>
            </p:nvSpPr>
            <p:spPr bwMode="auto">
              <a:xfrm flipH="1">
                <a:off x="4128" y="1024"/>
                <a:ext cx="0" cy="2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43">
                <a:extLst>
                  <a:ext uri="{FF2B5EF4-FFF2-40B4-BE49-F238E27FC236}">
                    <a16:creationId xmlns:a16="http://schemas.microsoft.com/office/drawing/2014/main" id="{7A6318FA-2484-9141-8449-DD4BD44C050C}"/>
                  </a:ext>
                </a:extLst>
              </p:cNvPr>
              <p:cNvSpPr>
                <a:spLocks noChangeShapeType="1"/>
              </p:cNvSpPr>
              <p:nvPr/>
            </p:nvSpPr>
            <p:spPr bwMode="auto">
              <a:xfrm flipV="1">
                <a:off x="3495" y="1024"/>
                <a:ext cx="489" cy="2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44">
                <a:extLst>
                  <a:ext uri="{FF2B5EF4-FFF2-40B4-BE49-F238E27FC236}">
                    <a16:creationId xmlns:a16="http://schemas.microsoft.com/office/drawing/2014/main" id="{B8E6AA11-D9AC-D14C-AB39-AAEFDA3AADBC}"/>
                  </a:ext>
                </a:extLst>
              </p:cNvPr>
              <p:cNvSpPr>
                <a:spLocks noChangeShapeType="1"/>
              </p:cNvSpPr>
              <p:nvPr/>
            </p:nvSpPr>
            <p:spPr bwMode="auto">
              <a:xfrm>
                <a:off x="4320" y="1024"/>
                <a:ext cx="477" cy="2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Rectangle 45">
                <a:extLst>
                  <a:ext uri="{FF2B5EF4-FFF2-40B4-BE49-F238E27FC236}">
                    <a16:creationId xmlns:a16="http://schemas.microsoft.com/office/drawing/2014/main" id="{332471A0-FC09-844F-9B32-8638CA233153}"/>
                  </a:ext>
                </a:extLst>
              </p:cNvPr>
              <p:cNvSpPr>
                <a:spLocks noChangeArrowheads="1"/>
              </p:cNvSpPr>
              <p:nvPr/>
            </p:nvSpPr>
            <p:spPr bwMode="auto">
              <a:xfrm>
                <a:off x="4608" y="1750"/>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M6</a:t>
                </a:r>
              </a:p>
            </p:txBody>
          </p:sp>
          <p:sp>
            <p:nvSpPr>
              <p:cNvPr id="100" name="Rectangle 46">
                <a:extLst>
                  <a:ext uri="{FF2B5EF4-FFF2-40B4-BE49-F238E27FC236}">
                    <a16:creationId xmlns:a16="http://schemas.microsoft.com/office/drawing/2014/main" id="{84287227-8C6C-A645-9AF1-7F930D85B6ED}"/>
                  </a:ext>
                </a:extLst>
              </p:cNvPr>
              <p:cNvSpPr>
                <a:spLocks noChangeArrowheads="1"/>
              </p:cNvSpPr>
              <p:nvPr/>
            </p:nvSpPr>
            <p:spPr bwMode="auto">
              <a:xfrm>
                <a:off x="3252" y="1725"/>
                <a:ext cx="432"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chemeClr val="bg2"/>
                    </a:solidFill>
                    <a:latin typeface="Times New Roman" panose="02020603050405020304" pitchFamily="18" charset="0"/>
                  </a:rPr>
                  <a:t>M5</a:t>
                </a:r>
              </a:p>
            </p:txBody>
          </p:sp>
          <p:sp>
            <p:nvSpPr>
              <p:cNvPr id="101" name="Line 47">
                <a:extLst>
                  <a:ext uri="{FF2B5EF4-FFF2-40B4-BE49-F238E27FC236}">
                    <a16:creationId xmlns:a16="http://schemas.microsoft.com/office/drawing/2014/main" id="{C8026DFE-2F43-FF4A-8827-1020B24F3568}"/>
                  </a:ext>
                </a:extLst>
              </p:cNvPr>
              <p:cNvSpPr>
                <a:spLocks noChangeShapeType="1"/>
              </p:cNvSpPr>
              <p:nvPr/>
            </p:nvSpPr>
            <p:spPr bwMode="auto">
              <a:xfrm>
                <a:off x="3456" y="1501"/>
                <a:ext cx="0" cy="21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48">
                <a:extLst>
                  <a:ext uri="{FF2B5EF4-FFF2-40B4-BE49-F238E27FC236}">
                    <a16:creationId xmlns:a16="http://schemas.microsoft.com/office/drawing/2014/main" id="{67EAB224-1A8F-E142-B67B-A17195FF715C}"/>
                  </a:ext>
                </a:extLst>
              </p:cNvPr>
              <p:cNvSpPr>
                <a:spLocks noChangeShapeType="1"/>
              </p:cNvSpPr>
              <p:nvPr/>
            </p:nvSpPr>
            <p:spPr bwMode="auto">
              <a:xfrm>
                <a:off x="4823" y="1514"/>
                <a:ext cx="1" cy="22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1" name="Text Box 49">
              <a:extLst>
                <a:ext uri="{FF2B5EF4-FFF2-40B4-BE49-F238E27FC236}">
                  <a16:creationId xmlns:a16="http://schemas.microsoft.com/office/drawing/2014/main" id="{8E168053-2C7A-7347-A976-33D3AB85BDD8}"/>
                </a:ext>
              </a:extLst>
            </p:cNvPr>
            <p:cNvSpPr txBox="1">
              <a:spLocks noChangeArrowheads="1"/>
            </p:cNvSpPr>
            <p:nvPr/>
          </p:nvSpPr>
          <p:spPr bwMode="auto">
            <a:xfrm>
              <a:off x="4032" y="2331"/>
              <a:ext cx="91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zh-CN" altLang="en-US" dirty="0">
                  <a:latin typeface="Times New Roman" panose="02020603050405020304" pitchFamily="18" charset="0"/>
                </a:rPr>
                <a:t>  图</a:t>
              </a:r>
              <a:r>
                <a:rPr lang="en-US" altLang="zh-CN" dirty="0">
                  <a:latin typeface="Times New Roman" panose="02020603050405020304" pitchFamily="18" charset="0"/>
                </a:rPr>
                <a:t>a</a:t>
              </a:r>
            </a:p>
          </p:txBody>
        </p:sp>
      </p:grpSp>
    </p:spTree>
    <p:extLst>
      <p:ext uri="{BB962C8B-B14F-4D97-AF65-F5344CB8AC3E}">
        <p14:creationId xmlns:p14="http://schemas.microsoft.com/office/powerpoint/2010/main" val="41652654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1000"/>
                                        <p:tgtEl>
                                          <p:spTgt spid="60"/>
                                        </p:tgtEl>
                                      </p:cBhvr>
                                    </p:animEffect>
                                    <p:anim calcmode="lin" valueType="num">
                                      <p:cBhvr>
                                        <p:cTn id="14" dur="1000" fill="hold"/>
                                        <p:tgtEl>
                                          <p:spTgt spid="60"/>
                                        </p:tgtEl>
                                        <p:attrNameLst>
                                          <p:attrName>ppt_x</p:attrName>
                                        </p:attrNameLst>
                                      </p:cBhvr>
                                      <p:tavLst>
                                        <p:tav tm="0">
                                          <p:val>
                                            <p:strVal val="#ppt_x"/>
                                          </p:val>
                                        </p:tav>
                                        <p:tav tm="100000">
                                          <p:val>
                                            <p:strVal val="#ppt_x"/>
                                          </p:val>
                                        </p:tav>
                                      </p:tavLst>
                                    </p:anim>
                                    <p:anim calcmode="lin" valueType="num">
                                      <p:cBhvr>
                                        <p:cTn id="15" dur="1000" fill="hold"/>
                                        <p:tgtEl>
                                          <p:spTgt spid="60"/>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9"/>
                                        </p:tgtEl>
                                        <p:attrNameLst>
                                          <p:attrName>style.visibility</p:attrName>
                                        </p:attrNameLst>
                                      </p:cBhvr>
                                      <p:to>
                                        <p:strVal val="visible"/>
                                      </p:to>
                                    </p:set>
                                    <p:animEffect transition="in" filter="fade">
                                      <p:cBhvr>
                                        <p:cTn id="18" dur="1000"/>
                                        <p:tgtEl>
                                          <p:spTgt spid="89"/>
                                        </p:tgtEl>
                                      </p:cBhvr>
                                    </p:animEffect>
                                    <p:anim calcmode="lin" valueType="num">
                                      <p:cBhvr>
                                        <p:cTn id="19" dur="1000" fill="hold"/>
                                        <p:tgtEl>
                                          <p:spTgt spid="89"/>
                                        </p:tgtEl>
                                        <p:attrNameLst>
                                          <p:attrName>ppt_x</p:attrName>
                                        </p:attrNameLst>
                                      </p:cBhvr>
                                      <p:tavLst>
                                        <p:tav tm="0">
                                          <p:val>
                                            <p:strVal val="#ppt_x"/>
                                          </p:val>
                                        </p:tav>
                                        <p:tav tm="100000">
                                          <p:val>
                                            <p:strVal val="#ppt_x"/>
                                          </p:val>
                                        </p:tav>
                                      </p:tavLst>
                                    </p:anim>
                                    <p:anim calcmode="lin" valueType="num">
                                      <p:cBhvr>
                                        <p:cTn id="20" dur="1000" fill="hold"/>
                                        <p:tgtEl>
                                          <p:spTgt spid="89"/>
                                        </p:tgtEl>
                                        <p:attrNameLst>
                                          <p:attrName>ppt_y</p:attrName>
                                        </p:attrNameLst>
                                      </p:cBhvr>
                                      <p:tavLst>
                                        <p:tav tm="0">
                                          <p:val>
                                            <p:strVal val="#ppt_y+.1"/>
                                          </p:val>
                                        </p:tav>
                                        <p:tav tm="100000">
                                          <p:val>
                                            <p:strVal val="#ppt_y"/>
                                          </p:val>
                                        </p:tav>
                                      </p:tavLst>
                                    </p:anim>
                                  </p:childTnLst>
                                </p:cTn>
                              </p:par>
                              <p:par>
                                <p:cTn id="21" presetID="42" presetClass="entr" presetSubtype="0" fill="hold" grpId="1" nodeType="withEffect">
                                  <p:stCondLst>
                                    <p:cond delay="0"/>
                                  </p:stCondLst>
                                  <p:childTnLst>
                                    <p:set>
                                      <p:cBhvr>
                                        <p:cTn id="22" dur="1" fill="hold">
                                          <p:stCondLst>
                                            <p:cond delay="0"/>
                                          </p:stCondLst>
                                        </p:cTn>
                                        <p:tgtEl>
                                          <p:spTgt spid="88"/>
                                        </p:tgtEl>
                                        <p:attrNameLst>
                                          <p:attrName>style.visibility</p:attrName>
                                        </p:attrNameLst>
                                      </p:cBhvr>
                                      <p:to>
                                        <p:strVal val="visible"/>
                                      </p:to>
                                    </p:set>
                                    <p:animEffect transition="in" filter="fade">
                                      <p:cBhvr>
                                        <p:cTn id="23" dur="1000"/>
                                        <p:tgtEl>
                                          <p:spTgt spid="88"/>
                                        </p:tgtEl>
                                      </p:cBhvr>
                                    </p:animEffect>
                                    <p:anim calcmode="lin" valueType="num">
                                      <p:cBhvr>
                                        <p:cTn id="24" dur="1000" fill="hold"/>
                                        <p:tgtEl>
                                          <p:spTgt spid="88"/>
                                        </p:tgtEl>
                                        <p:attrNameLst>
                                          <p:attrName>ppt_x</p:attrName>
                                        </p:attrNameLst>
                                      </p:cBhvr>
                                      <p:tavLst>
                                        <p:tav tm="0">
                                          <p:val>
                                            <p:strVal val="#ppt_x"/>
                                          </p:val>
                                        </p:tav>
                                        <p:tav tm="100000">
                                          <p:val>
                                            <p:strVal val="#ppt_x"/>
                                          </p:val>
                                        </p:tav>
                                      </p:tavLst>
                                    </p:anim>
                                    <p:anim calcmode="lin" valueType="num">
                                      <p:cBhvr>
                                        <p:cTn id="25"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1000"/>
                                        <p:tgtEl>
                                          <p:spTgt spid="28"/>
                                        </p:tgtEl>
                                      </p:cBhvr>
                                    </p:animEffect>
                                    <p:anim calcmode="lin" valueType="num">
                                      <p:cBhvr>
                                        <p:cTn id="31" dur="1000" fill="hold"/>
                                        <p:tgtEl>
                                          <p:spTgt spid="28"/>
                                        </p:tgtEl>
                                        <p:attrNameLst>
                                          <p:attrName>ppt_x</p:attrName>
                                        </p:attrNameLst>
                                      </p:cBhvr>
                                      <p:tavLst>
                                        <p:tav tm="0">
                                          <p:val>
                                            <p:strVal val="#ppt_x"/>
                                          </p:val>
                                        </p:tav>
                                        <p:tav tm="100000">
                                          <p:val>
                                            <p:strVal val="#ppt_x"/>
                                          </p:val>
                                        </p:tav>
                                      </p:tavLst>
                                    </p:anim>
                                    <p:anim calcmode="lin" valueType="num">
                                      <p:cBhvr>
                                        <p:cTn id="32" dur="1000" fill="hold"/>
                                        <p:tgtEl>
                                          <p:spTgt spid="28"/>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47" presetClass="entr" presetSubtype="0" fill="hold" grpId="0" nodeType="afterEffect">
                                  <p:stCondLst>
                                    <p:cond delay="0"/>
                                  </p:stCondLst>
                                  <p:childTnLst>
                                    <p:set>
                                      <p:cBhvr>
                                        <p:cTn id="35" dur="1" fill="hold">
                                          <p:stCondLst>
                                            <p:cond delay="0"/>
                                          </p:stCondLst>
                                        </p:cTn>
                                        <p:tgtEl>
                                          <p:spTgt spid="69"/>
                                        </p:tgtEl>
                                        <p:attrNameLst>
                                          <p:attrName>style.visibility</p:attrName>
                                        </p:attrNameLst>
                                      </p:cBhvr>
                                      <p:to>
                                        <p:strVal val="visible"/>
                                      </p:to>
                                    </p:set>
                                    <p:animEffect transition="in" filter="fade">
                                      <p:cBhvr>
                                        <p:cTn id="36" dur="1000"/>
                                        <p:tgtEl>
                                          <p:spTgt spid="69"/>
                                        </p:tgtEl>
                                      </p:cBhvr>
                                    </p:animEffect>
                                    <p:anim calcmode="lin" valueType="num">
                                      <p:cBhvr>
                                        <p:cTn id="37" dur="1000" fill="hold"/>
                                        <p:tgtEl>
                                          <p:spTgt spid="69"/>
                                        </p:tgtEl>
                                        <p:attrNameLst>
                                          <p:attrName>ppt_x</p:attrName>
                                        </p:attrNameLst>
                                      </p:cBhvr>
                                      <p:tavLst>
                                        <p:tav tm="0">
                                          <p:val>
                                            <p:strVal val="#ppt_x"/>
                                          </p:val>
                                        </p:tav>
                                        <p:tav tm="100000">
                                          <p:val>
                                            <p:strVal val="#ppt_x"/>
                                          </p:val>
                                        </p:tav>
                                      </p:tavLst>
                                    </p:anim>
                                    <p:anim calcmode="lin" valueType="num">
                                      <p:cBhvr>
                                        <p:cTn id="38" dur="1000" fill="hold"/>
                                        <p:tgtEl>
                                          <p:spTgt spid="69"/>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fade">
                                      <p:cBhvr>
                                        <p:cTn id="41" dur="1000"/>
                                        <p:tgtEl>
                                          <p:spTgt spid="67"/>
                                        </p:tgtEl>
                                      </p:cBhvr>
                                    </p:animEffect>
                                    <p:anim calcmode="lin" valueType="num">
                                      <p:cBhvr>
                                        <p:cTn id="42" dur="1000" fill="hold"/>
                                        <p:tgtEl>
                                          <p:spTgt spid="67"/>
                                        </p:tgtEl>
                                        <p:attrNameLst>
                                          <p:attrName>ppt_x</p:attrName>
                                        </p:attrNameLst>
                                      </p:cBhvr>
                                      <p:tavLst>
                                        <p:tav tm="0">
                                          <p:val>
                                            <p:strVal val="#ppt_x"/>
                                          </p:val>
                                        </p:tav>
                                        <p:tav tm="100000">
                                          <p:val>
                                            <p:strVal val="#ppt_x"/>
                                          </p:val>
                                        </p:tav>
                                      </p:tavLst>
                                    </p:anim>
                                    <p:anim calcmode="lin" valueType="num">
                                      <p:cBhvr>
                                        <p:cTn id="43" dur="1000" fill="hold"/>
                                        <p:tgtEl>
                                          <p:spTgt spid="67"/>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fade">
                                      <p:cBhvr>
                                        <p:cTn id="46" dur="1000"/>
                                        <p:tgtEl>
                                          <p:spTgt spid="68"/>
                                        </p:tgtEl>
                                      </p:cBhvr>
                                    </p:animEffect>
                                    <p:anim calcmode="lin" valueType="num">
                                      <p:cBhvr>
                                        <p:cTn id="47" dur="1000" fill="hold"/>
                                        <p:tgtEl>
                                          <p:spTgt spid="68"/>
                                        </p:tgtEl>
                                        <p:attrNameLst>
                                          <p:attrName>ppt_x</p:attrName>
                                        </p:attrNameLst>
                                      </p:cBhvr>
                                      <p:tavLst>
                                        <p:tav tm="0">
                                          <p:val>
                                            <p:strVal val="#ppt_x"/>
                                          </p:val>
                                        </p:tav>
                                        <p:tav tm="100000">
                                          <p:val>
                                            <p:strVal val="#ppt_x"/>
                                          </p:val>
                                        </p:tav>
                                      </p:tavLst>
                                    </p:anim>
                                    <p:anim calcmode="lin" valueType="num">
                                      <p:cBhvr>
                                        <p:cTn id="48" dur="1000" fill="hold"/>
                                        <p:tgtEl>
                                          <p:spTgt spid="68"/>
                                        </p:tgtEl>
                                        <p:attrNameLst>
                                          <p:attrName>ppt_y</p:attrName>
                                        </p:attrNameLst>
                                      </p:cBhvr>
                                      <p:tavLst>
                                        <p:tav tm="0">
                                          <p:val>
                                            <p:strVal val="#ppt_y-.1"/>
                                          </p:val>
                                        </p:tav>
                                        <p:tav tm="100000">
                                          <p:val>
                                            <p:strVal val="#ppt_y"/>
                                          </p:val>
                                        </p:tav>
                                      </p:tavLst>
                                    </p:anim>
                                  </p:childTnLst>
                                </p:cTn>
                              </p:par>
                            </p:childTnLst>
                          </p:cTn>
                        </p:par>
                        <p:par>
                          <p:cTn id="49" fill="hold">
                            <p:stCondLst>
                              <p:cond delay="2000"/>
                            </p:stCondLst>
                            <p:childTnLst>
                              <p:par>
                                <p:cTn id="50" presetID="22" presetClass="entr" presetSubtype="4" fill="hold" grpId="0" nodeType="afterEffect">
                                  <p:stCondLst>
                                    <p:cond delay="0"/>
                                  </p:stCondLst>
                                  <p:childTnLst>
                                    <p:set>
                                      <p:cBhvr>
                                        <p:cTn id="51" dur="1" fill="hold">
                                          <p:stCondLst>
                                            <p:cond delay="0"/>
                                          </p:stCondLst>
                                        </p:cTn>
                                        <p:tgtEl>
                                          <p:spTgt spid="66"/>
                                        </p:tgtEl>
                                        <p:attrNameLst>
                                          <p:attrName>style.visibility</p:attrName>
                                        </p:attrNameLst>
                                      </p:cBhvr>
                                      <p:to>
                                        <p:strVal val="visible"/>
                                      </p:to>
                                    </p:set>
                                    <p:animEffect transition="in" filter="wipe(down)">
                                      <p:cBhvr>
                                        <p:cTn id="52" dur="500"/>
                                        <p:tgtEl>
                                          <p:spTgt spid="6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82"/>
                                        </p:tgtEl>
                                        <p:attrNameLst>
                                          <p:attrName>style.visibility</p:attrName>
                                        </p:attrNameLst>
                                      </p:cBhvr>
                                      <p:to>
                                        <p:strVal val="visible"/>
                                      </p:to>
                                    </p:set>
                                    <p:animEffect transition="in" filter="wipe(down)">
                                      <p:cBhvr>
                                        <p:cTn id="55" dur="500"/>
                                        <p:tgtEl>
                                          <p:spTgt spid="82"/>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65"/>
                                        </p:tgtEl>
                                        <p:attrNameLst>
                                          <p:attrName>style.visibility</p:attrName>
                                        </p:attrNameLst>
                                      </p:cBhvr>
                                      <p:to>
                                        <p:strVal val="visible"/>
                                      </p:to>
                                    </p:set>
                                    <p:animEffect transition="in" filter="wipe(down)">
                                      <p:cBhvr>
                                        <p:cTn id="58" dur="500"/>
                                        <p:tgtEl>
                                          <p:spTgt spid="65"/>
                                        </p:tgtEl>
                                      </p:cBhvr>
                                    </p:animEffect>
                                  </p:childTnLst>
                                </p:cTn>
                              </p:par>
                            </p:childTnLst>
                          </p:cTn>
                        </p:par>
                        <p:par>
                          <p:cTn id="59" fill="hold">
                            <p:stCondLst>
                              <p:cond delay="2500"/>
                            </p:stCondLst>
                            <p:childTnLst>
                              <p:par>
                                <p:cTn id="60" presetID="47" presetClass="entr" presetSubtype="0" fill="hold" grpId="0" nodeType="afterEffect">
                                  <p:stCondLst>
                                    <p:cond delay="0"/>
                                  </p:stCondLst>
                                  <p:childTnLst>
                                    <p:set>
                                      <p:cBhvr>
                                        <p:cTn id="61" dur="1" fill="hold">
                                          <p:stCondLst>
                                            <p:cond delay="0"/>
                                          </p:stCondLst>
                                        </p:cTn>
                                        <p:tgtEl>
                                          <p:spTgt spid="71"/>
                                        </p:tgtEl>
                                        <p:attrNameLst>
                                          <p:attrName>style.visibility</p:attrName>
                                        </p:attrNameLst>
                                      </p:cBhvr>
                                      <p:to>
                                        <p:strVal val="visible"/>
                                      </p:to>
                                    </p:set>
                                    <p:animEffect transition="in" filter="fade">
                                      <p:cBhvr>
                                        <p:cTn id="62" dur="1000"/>
                                        <p:tgtEl>
                                          <p:spTgt spid="71"/>
                                        </p:tgtEl>
                                      </p:cBhvr>
                                    </p:animEffect>
                                    <p:anim calcmode="lin" valueType="num">
                                      <p:cBhvr>
                                        <p:cTn id="63" dur="1000" fill="hold"/>
                                        <p:tgtEl>
                                          <p:spTgt spid="71"/>
                                        </p:tgtEl>
                                        <p:attrNameLst>
                                          <p:attrName>ppt_x</p:attrName>
                                        </p:attrNameLst>
                                      </p:cBhvr>
                                      <p:tavLst>
                                        <p:tav tm="0">
                                          <p:val>
                                            <p:strVal val="#ppt_x"/>
                                          </p:val>
                                        </p:tav>
                                        <p:tav tm="100000">
                                          <p:val>
                                            <p:strVal val="#ppt_x"/>
                                          </p:val>
                                        </p:tav>
                                      </p:tavLst>
                                    </p:anim>
                                    <p:anim calcmode="lin" valueType="num">
                                      <p:cBhvr>
                                        <p:cTn id="64" dur="1000" fill="hold"/>
                                        <p:tgtEl>
                                          <p:spTgt spid="71"/>
                                        </p:tgtEl>
                                        <p:attrNameLst>
                                          <p:attrName>ppt_y</p:attrName>
                                        </p:attrNameLst>
                                      </p:cBhvr>
                                      <p:tavLst>
                                        <p:tav tm="0">
                                          <p:val>
                                            <p:strVal val="#ppt_y-.1"/>
                                          </p:val>
                                        </p:tav>
                                        <p:tav tm="100000">
                                          <p:val>
                                            <p:strVal val="#ppt_y"/>
                                          </p:val>
                                        </p:tav>
                                      </p:tavLst>
                                    </p:anim>
                                  </p:childTnLst>
                                </p:cTn>
                              </p:par>
                              <p:par>
                                <p:cTn id="65" presetID="47"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fade">
                                      <p:cBhvr>
                                        <p:cTn id="67" dur="1000"/>
                                        <p:tgtEl>
                                          <p:spTgt spid="72"/>
                                        </p:tgtEl>
                                      </p:cBhvr>
                                    </p:animEffect>
                                    <p:anim calcmode="lin" valueType="num">
                                      <p:cBhvr>
                                        <p:cTn id="68" dur="1000" fill="hold"/>
                                        <p:tgtEl>
                                          <p:spTgt spid="72"/>
                                        </p:tgtEl>
                                        <p:attrNameLst>
                                          <p:attrName>ppt_x</p:attrName>
                                        </p:attrNameLst>
                                      </p:cBhvr>
                                      <p:tavLst>
                                        <p:tav tm="0">
                                          <p:val>
                                            <p:strVal val="#ppt_x"/>
                                          </p:val>
                                        </p:tav>
                                        <p:tav tm="100000">
                                          <p:val>
                                            <p:strVal val="#ppt_x"/>
                                          </p:val>
                                        </p:tav>
                                      </p:tavLst>
                                    </p:anim>
                                    <p:anim calcmode="lin" valueType="num">
                                      <p:cBhvr>
                                        <p:cTn id="69" dur="1000" fill="hold"/>
                                        <p:tgtEl>
                                          <p:spTgt spid="72"/>
                                        </p:tgtEl>
                                        <p:attrNameLst>
                                          <p:attrName>ppt_y</p:attrName>
                                        </p:attrNameLst>
                                      </p:cBhvr>
                                      <p:tavLst>
                                        <p:tav tm="0">
                                          <p:val>
                                            <p:strVal val="#ppt_y-.1"/>
                                          </p:val>
                                        </p:tav>
                                        <p:tav tm="100000">
                                          <p:val>
                                            <p:strVal val="#ppt_y"/>
                                          </p:val>
                                        </p:tav>
                                      </p:tavLst>
                                    </p:anim>
                                  </p:childTnLst>
                                </p:cTn>
                              </p:par>
                              <p:par>
                                <p:cTn id="70" presetID="47" presetClass="entr" presetSubtype="0" fill="hold" grpId="0" nodeType="withEffect">
                                  <p:stCondLst>
                                    <p:cond delay="0"/>
                                  </p:stCondLst>
                                  <p:childTnLst>
                                    <p:set>
                                      <p:cBhvr>
                                        <p:cTn id="71" dur="1" fill="hold">
                                          <p:stCondLst>
                                            <p:cond delay="0"/>
                                          </p:stCondLst>
                                        </p:cTn>
                                        <p:tgtEl>
                                          <p:spTgt spid="73"/>
                                        </p:tgtEl>
                                        <p:attrNameLst>
                                          <p:attrName>style.visibility</p:attrName>
                                        </p:attrNameLst>
                                      </p:cBhvr>
                                      <p:to>
                                        <p:strVal val="visible"/>
                                      </p:to>
                                    </p:set>
                                    <p:animEffect transition="in" filter="fade">
                                      <p:cBhvr>
                                        <p:cTn id="72" dur="1000"/>
                                        <p:tgtEl>
                                          <p:spTgt spid="73"/>
                                        </p:tgtEl>
                                      </p:cBhvr>
                                    </p:animEffect>
                                    <p:anim calcmode="lin" valueType="num">
                                      <p:cBhvr>
                                        <p:cTn id="73" dur="1000" fill="hold"/>
                                        <p:tgtEl>
                                          <p:spTgt spid="73"/>
                                        </p:tgtEl>
                                        <p:attrNameLst>
                                          <p:attrName>ppt_x</p:attrName>
                                        </p:attrNameLst>
                                      </p:cBhvr>
                                      <p:tavLst>
                                        <p:tav tm="0">
                                          <p:val>
                                            <p:strVal val="#ppt_x"/>
                                          </p:val>
                                        </p:tav>
                                        <p:tav tm="100000">
                                          <p:val>
                                            <p:strVal val="#ppt_x"/>
                                          </p:val>
                                        </p:tav>
                                      </p:tavLst>
                                    </p:anim>
                                    <p:anim calcmode="lin" valueType="num">
                                      <p:cBhvr>
                                        <p:cTn id="74"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1000"/>
                                        <p:tgtEl>
                                          <p:spTgt spid="32"/>
                                        </p:tgtEl>
                                      </p:cBhvr>
                                    </p:animEffect>
                                    <p:anim calcmode="lin" valueType="num">
                                      <p:cBhvr>
                                        <p:cTn id="80" dur="1000" fill="hold"/>
                                        <p:tgtEl>
                                          <p:spTgt spid="32"/>
                                        </p:tgtEl>
                                        <p:attrNameLst>
                                          <p:attrName>ppt_x</p:attrName>
                                        </p:attrNameLst>
                                      </p:cBhvr>
                                      <p:tavLst>
                                        <p:tav tm="0">
                                          <p:val>
                                            <p:strVal val="#ppt_x"/>
                                          </p:val>
                                        </p:tav>
                                        <p:tav tm="100000">
                                          <p:val>
                                            <p:strVal val="#ppt_x"/>
                                          </p:val>
                                        </p:tav>
                                      </p:tavLst>
                                    </p:anim>
                                    <p:anim calcmode="lin" valueType="num">
                                      <p:cBhvr>
                                        <p:cTn id="81" dur="1000" fill="hold"/>
                                        <p:tgtEl>
                                          <p:spTgt spid="32"/>
                                        </p:tgtEl>
                                        <p:attrNameLst>
                                          <p:attrName>ppt_y</p:attrName>
                                        </p:attrNameLst>
                                      </p:cBhvr>
                                      <p:tavLst>
                                        <p:tav tm="0">
                                          <p:val>
                                            <p:strVal val="#ppt_y+.1"/>
                                          </p:val>
                                        </p:tav>
                                        <p:tav tm="100000">
                                          <p:val>
                                            <p:strVal val="#ppt_y"/>
                                          </p:val>
                                        </p:tav>
                                      </p:tavLst>
                                    </p:anim>
                                  </p:childTnLst>
                                </p:cTn>
                              </p:par>
                            </p:childTnLst>
                          </p:cTn>
                        </p:par>
                        <p:par>
                          <p:cTn id="82" fill="hold">
                            <p:stCondLst>
                              <p:cond delay="1000"/>
                            </p:stCondLst>
                            <p:childTnLst>
                              <p:par>
                                <p:cTn id="83" presetID="9" presetClass="exit" presetSubtype="0" fill="hold" grpId="1" nodeType="afterEffect">
                                  <p:stCondLst>
                                    <p:cond delay="0"/>
                                  </p:stCondLst>
                                  <p:childTnLst>
                                    <p:animEffect transition="out" filter="dissolve">
                                      <p:cBhvr>
                                        <p:cTn id="84" dur="1000"/>
                                        <p:tgtEl>
                                          <p:spTgt spid="71"/>
                                        </p:tgtEl>
                                      </p:cBhvr>
                                    </p:animEffect>
                                    <p:set>
                                      <p:cBhvr>
                                        <p:cTn id="85" dur="1" fill="hold">
                                          <p:stCondLst>
                                            <p:cond delay="999"/>
                                          </p:stCondLst>
                                        </p:cTn>
                                        <p:tgtEl>
                                          <p:spTgt spid="71"/>
                                        </p:tgtEl>
                                        <p:attrNameLst>
                                          <p:attrName>style.visibility</p:attrName>
                                        </p:attrNameLst>
                                      </p:cBhvr>
                                      <p:to>
                                        <p:strVal val="hidden"/>
                                      </p:to>
                                    </p:set>
                                  </p:childTnLst>
                                </p:cTn>
                              </p:par>
                              <p:par>
                                <p:cTn id="86" presetID="9" presetClass="entr" presetSubtype="0" fill="hold" grpId="0" nodeType="withEffect">
                                  <p:stCondLst>
                                    <p:cond delay="0"/>
                                  </p:stCondLst>
                                  <p:childTnLst>
                                    <p:set>
                                      <p:cBhvr>
                                        <p:cTn id="87" dur="1" fill="hold">
                                          <p:stCondLst>
                                            <p:cond delay="0"/>
                                          </p:stCondLst>
                                        </p:cTn>
                                        <p:tgtEl>
                                          <p:spTgt spid="80"/>
                                        </p:tgtEl>
                                        <p:attrNameLst>
                                          <p:attrName>style.visibility</p:attrName>
                                        </p:attrNameLst>
                                      </p:cBhvr>
                                      <p:to>
                                        <p:strVal val="visible"/>
                                      </p:to>
                                    </p:set>
                                    <p:animEffect transition="in" filter="dissolve">
                                      <p:cBhvr>
                                        <p:cTn id="88" dur="1000"/>
                                        <p:tgtEl>
                                          <p:spTgt spid="80"/>
                                        </p:tgtEl>
                                      </p:cBhvr>
                                    </p:animEffect>
                                  </p:childTnLst>
                                </p:cTn>
                              </p:par>
                              <p:par>
                                <p:cTn id="89" presetID="9" presetClass="exit" presetSubtype="0" fill="hold" grpId="1" nodeType="withEffect">
                                  <p:stCondLst>
                                    <p:cond delay="0"/>
                                  </p:stCondLst>
                                  <p:childTnLst>
                                    <p:animEffect transition="out" filter="dissolve">
                                      <p:cBhvr>
                                        <p:cTn id="90" dur="1000"/>
                                        <p:tgtEl>
                                          <p:spTgt spid="72"/>
                                        </p:tgtEl>
                                      </p:cBhvr>
                                    </p:animEffect>
                                    <p:set>
                                      <p:cBhvr>
                                        <p:cTn id="91" dur="1" fill="hold">
                                          <p:stCondLst>
                                            <p:cond delay="999"/>
                                          </p:stCondLst>
                                        </p:cTn>
                                        <p:tgtEl>
                                          <p:spTgt spid="72"/>
                                        </p:tgtEl>
                                        <p:attrNameLst>
                                          <p:attrName>style.visibility</p:attrName>
                                        </p:attrNameLst>
                                      </p:cBhvr>
                                      <p:to>
                                        <p:strVal val="hidden"/>
                                      </p:to>
                                    </p:set>
                                  </p:childTnLst>
                                </p:cTn>
                              </p:par>
                              <p:par>
                                <p:cTn id="92" presetID="9" presetClass="entr" presetSubtype="0" fill="hold" grpId="0" nodeType="withEffect">
                                  <p:stCondLst>
                                    <p:cond delay="0"/>
                                  </p:stCondLst>
                                  <p:childTnLst>
                                    <p:set>
                                      <p:cBhvr>
                                        <p:cTn id="93" dur="1" fill="hold">
                                          <p:stCondLst>
                                            <p:cond delay="0"/>
                                          </p:stCondLst>
                                        </p:cTn>
                                        <p:tgtEl>
                                          <p:spTgt spid="83"/>
                                        </p:tgtEl>
                                        <p:attrNameLst>
                                          <p:attrName>style.visibility</p:attrName>
                                        </p:attrNameLst>
                                      </p:cBhvr>
                                      <p:to>
                                        <p:strVal val="visible"/>
                                      </p:to>
                                    </p:set>
                                    <p:animEffect transition="in" filter="dissolve">
                                      <p:cBhvr>
                                        <p:cTn id="94" dur="1000"/>
                                        <p:tgtEl>
                                          <p:spTgt spid="83"/>
                                        </p:tgtEl>
                                      </p:cBhvr>
                                    </p:animEffect>
                                  </p:childTnLst>
                                </p:cTn>
                              </p:par>
                              <p:par>
                                <p:cTn id="95" presetID="9" presetClass="exit" presetSubtype="0" fill="hold" grpId="1" nodeType="withEffect">
                                  <p:stCondLst>
                                    <p:cond delay="0"/>
                                  </p:stCondLst>
                                  <p:childTnLst>
                                    <p:animEffect transition="out" filter="dissolve">
                                      <p:cBhvr>
                                        <p:cTn id="96" dur="1000"/>
                                        <p:tgtEl>
                                          <p:spTgt spid="73"/>
                                        </p:tgtEl>
                                      </p:cBhvr>
                                    </p:animEffect>
                                    <p:set>
                                      <p:cBhvr>
                                        <p:cTn id="97" dur="1" fill="hold">
                                          <p:stCondLst>
                                            <p:cond delay="999"/>
                                          </p:stCondLst>
                                        </p:cTn>
                                        <p:tgtEl>
                                          <p:spTgt spid="73"/>
                                        </p:tgtEl>
                                        <p:attrNameLst>
                                          <p:attrName>style.visibility</p:attrName>
                                        </p:attrNameLst>
                                      </p:cBhvr>
                                      <p:to>
                                        <p:strVal val="hidden"/>
                                      </p:to>
                                    </p:set>
                                  </p:childTnLst>
                                </p:cTn>
                              </p:par>
                              <p:par>
                                <p:cTn id="98" presetID="9" presetClass="entr" presetSubtype="0" fill="hold" grpId="0" nodeType="withEffect">
                                  <p:stCondLst>
                                    <p:cond delay="0"/>
                                  </p:stCondLst>
                                  <p:childTnLst>
                                    <p:set>
                                      <p:cBhvr>
                                        <p:cTn id="99" dur="1" fill="hold">
                                          <p:stCondLst>
                                            <p:cond delay="0"/>
                                          </p:stCondLst>
                                        </p:cTn>
                                        <p:tgtEl>
                                          <p:spTgt spid="81"/>
                                        </p:tgtEl>
                                        <p:attrNameLst>
                                          <p:attrName>style.visibility</p:attrName>
                                        </p:attrNameLst>
                                      </p:cBhvr>
                                      <p:to>
                                        <p:strVal val="visible"/>
                                      </p:to>
                                    </p:set>
                                    <p:animEffect transition="in" filter="dissolve">
                                      <p:cBhvr>
                                        <p:cTn id="100" dur="1000"/>
                                        <p:tgtEl>
                                          <p:spTgt spid="81"/>
                                        </p:tgtEl>
                                      </p:cBhvr>
                                    </p:animEffect>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1000"/>
                                        <p:tgtEl>
                                          <p:spTgt spid="40"/>
                                        </p:tgtEl>
                                      </p:cBhvr>
                                    </p:animEffect>
                                    <p:anim calcmode="lin" valueType="num">
                                      <p:cBhvr>
                                        <p:cTn id="106" dur="1000" fill="hold"/>
                                        <p:tgtEl>
                                          <p:spTgt spid="40"/>
                                        </p:tgtEl>
                                        <p:attrNameLst>
                                          <p:attrName>ppt_x</p:attrName>
                                        </p:attrNameLst>
                                      </p:cBhvr>
                                      <p:tavLst>
                                        <p:tav tm="0">
                                          <p:val>
                                            <p:strVal val="#ppt_x"/>
                                          </p:val>
                                        </p:tav>
                                        <p:tav tm="100000">
                                          <p:val>
                                            <p:strVal val="#ppt_x"/>
                                          </p:val>
                                        </p:tav>
                                      </p:tavLst>
                                    </p:anim>
                                    <p:anim calcmode="lin" valueType="num">
                                      <p:cBhvr>
                                        <p:cTn id="107" dur="1000" fill="hold"/>
                                        <p:tgtEl>
                                          <p:spTgt spid="40"/>
                                        </p:tgtEl>
                                        <p:attrNameLst>
                                          <p:attrName>ppt_y</p:attrName>
                                        </p:attrNameLst>
                                      </p:cBhvr>
                                      <p:tavLst>
                                        <p:tav tm="0">
                                          <p:val>
                                            <p:strVal val="#ppt_y+.1"/>
                                          </p:val>
                                        </p:tav>
                                        <p:tav tm="100000">
                                          <p:val>
                                            <p:strVal val="#ppt_y"/>
                                          </p:val>
                                        </p:tav>
                                      </p:tavLst>
                                    </p:anim>
                                  </p:childTnLst>
                                </p:cTn>
                              </p:par>
                            </p:childTnLst>
                          </p:cTn>
                        </p:par>
                        <p:par>
                          <p:cTn id="108" fill="hold">
                            <p:stCondLst>
                              <p:cond delay="1000"/>
                            </p:stCondLst>
                            <p:childTnLst>
                              <p:par>
                                <p:cTn id="109" presetID="22" presetClass="entr" presetSubtype="4" fill="hold" grpId="0" nodeType="afterEffect">
                                  <p:stCondLst>
                                    <p:cond delay="0"/>
                                  </p:stCondLst>
                                  <p:childTnLst>
                                    <p:set>
                                      <p:cBhvr>
                                        <p:cTn id="110" dur="1" fill="hold">
                                          <p:stCondLst>
                                            <p:cond delay="0"/>
                                          </p:stCondLst>
                                        </p:cTn>
                                        <p:tgtEl>
                                          <p:spTgt spid="62"/>
                                        </p:tgtEl>
                                        <p:attrNameLst>
                                          <p:attrName>style.visibility</p:attrName>
                                        </p:attrNameLst>
                                      </p:cBhvr>
                                      <p:to>
                                        <p:strVal val="visible"/>
                                      </p:to>
                                    </p:set>
                                    <p:animEffect transition="in" filter="wipe(down)">
                                      <p:cBhvr>
                                        <p:cTn id="111" dur="1000"/>
                                        <p:tgtEl>
                                          <p:spTgt spid="62"/>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63"/>
                                        </p:tgtEl>
                                        <p:attrNameLst>
                                          <p:attrName>style.visibility</p:attrName>
                                        </p:attrNameLst>
                                      </p:cBhvr>
                                      <p:to>
                                        <p:strVal val="visible"/>
                                      </p:to>
                                    </p:set>
                                    <p:animEffect transition="in" filter="wipe(down)">
                                      <p:cBhvr>
                                        <p:cTn id="114" dur="1000"/>
                                        <p:tgtEl>
                                          <p:spTgt spid="63"/>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1000"/>
                                        <p:tgtEl>
                                          <p:spTgt spid="43"/>
                                        </p:tgtEl>
                                      </p:cBhvr>
                                    </p:animEffect>
                                    <p:anim calcmode="lin" valueType="num">
                                      <p:cBhvr>
                                        <p:cTn id="120" dur="1000" fill="hold"/>
                                        <p:tgtEl>
                                          <p:spTgt spid="43"/>
                                        </p:tgtEl>
                                        <p:attrNameLst>
                                          <p:attrName>ppt_x</p:attrName>
                                        </p:attrNameLst>
                                      </p:cBhvr>
                                      <p:tavLst>
                                        <p:tav tm="0">
                                          <p:val>
                                            <p:strVal val="#ppt_x"/>
                                          </p:val>
                                        </p:tav>
                                        <p:tav tm="100000">
                                          <p:val>
                                            <p:strVal val="#ppt_x"/>
                                          </p:val>
                                        </p:tav>
                                      </p:tavLst>
                                    </p:anim>
                                    <p:anim calcmode="lin" valueType="num">
                                      <p:cBhvr>
                                        <p:cTn id="121" dur="1000" fill="hold"/>
                                        <p:tgtEl>
                                          <p:spTgt spid="43"/>
                                        </p:tgtEl>
                                        <p:attrNameLst>
                                          <p:attrName>ppt_y</p:attrName>
                                        </p:attrNameLst>
                                      </p:cBhvr>
                                      <p:tavLst>
                                        <p:tav tm="0">
                                          <p:val>
                                            <p:strVal val="#ppt_y+.1"/>
                                          </p:val>
                                        </p:tav>
                                        <p:tav tm="100000">
                                          <p:val>
                                            <p:strVal val="#ppt_y"/>
                                          </p:val>
                                        </p:tav>
                                      </p:tavLst>
                                    </p:anim>
                                  </p:childTnLst>
                                </p:cTn>
                              </p:par>
                            </p:childTnLst>
                          </p:cTn>
                        </p:par>
                        <p:par>
                          <p:cTn id="122" fill="hold">
                            <p:stCondLst>
                              <p:cond delay="1000"/>
                            </p:stCondLst>
                            <p:childTnLst>
                              <p:par>
                                <p:cTn id="123" presetID="22" presetClass="entr" presetSubtype="4" fill="hold" grpId="0" nodeType="afterEffect">
                                  <p:stCondLst>
                                    <p:cond delay="0"/>
                                  </p:stCondLst>
                                  <p:childTnLst>
                                    <p:set>
                                      <p:cBhvr>
                                        <p:cTn id="124" dur="1" fill="hold">
                                          <p:stCondLst>
                                            <p:cond delay="0"/>
                                          </p:stCondLst>
                                        </p:cTn>
                                        <p:tgtEl>
                                          <p:spTgt spid="64"/>
                                        </p:tgtEl>
                                        <p:attrNameLst>
                                          <p:attrName>style.visibility</p:attrName>
                                        </p:attrNameLst>
                                      </p:cBhvr>
                                      <p:to>
                                        <p:strVal val="visible"/>
                                      </p:to>
                                    </p:set>
                                    <p:animEffect transition="in" filter="wipe(down)">
                                      <p:cBhvr>
                                        <p:cTn id="125" dur="1000"/>
                                        <p:tgtEl>
                                          <p:spTgt spid="64"/>
                                        </p:tgtEl>
                                      </p:cBhvr>
                                    </p:animEffect>
                                  </p:childTnLst>
                                </p:cTn>
                              </p:par>
                            </p:childTnLst>
                          </p:cTn>
                        </p:par>
                        <p:par>
                          <p:cTn id="126" fill="hold">
                            <p:stCondLst>
                              <p:cond delay="2000"/>
                            </p:stCondLst>
                            <p:childTnLst>
                              <p:par>
                                <p:cTn id="127" presetID="47" presetClass="entr" presetSubtype="0" fill="hold" grpId="0" nodeType="afterEffect">
                                  <p:stCondLst>
                                    <p:cond delay="0"/>
                                  </p:stCondLst>
                                  <p:childTnLst>
                                    <p:set>
                                      <p:cBhvr>
                                        <p:cTn id="128" dur="1" fill="hold">
                                          <p:stCondLst>
                                            <p:cond delay="0"/>
                                          </p:stCondLst>
                                        </p:cTn>
                                        <p:tgtEl>
                                          <p:spTgt spid="86"/>
                                        </p:tgtEl>
                                        <p:attrNameLst>
                                          <p:attrName>style.visibility</p:attrName>
                                        </p:attrNameLst>
                                      </p:cBhvr>
                                      <p:to>
                                        <p:strVal val="visible"/>
                                      </p:to>
                                    </p:set>
                                    <p:animEffect transition="in" filter="fade">
                                      <p:cBhvr>
                                        <p:cTn id="129" dur="1000"/>
                                        <p:tgtEl>
                                          <p:spTgt spid="86"/>
                                        </p:tgtEl>
                                      </p:cBhvr>
                                    </p:animEffect>
                                    <p:anim calcmode="lin" valueType="num">
                                      <p:cBhvr>
                                        <p:cTn id="130" dur="1000" fill="hold"/>
                                        <p:tgtEl>
                                          <p:spTgt spid="86"/>
                                        </p:tgtEl>
                                        <p:attrNameLst>
                                          <p:attrName>ppt_x</p:attrName>
                                        </p:attrNameLst>
                                      </p:cBhvr>
                                      <p:tavLst>
                                        <p:tav tm="0">
                                          <p:val>
                                            <p:strVal val="#ppt_x"/>
                                          </p:val>
                                        </p:tav>
                                        <p:tav tm="100000">
                                          <p:val>
                                            <p:strVal val="#ppt_x"/>
                                          </p:val>
                                        </p:tav>
                                      </p:tavLst>
                                    </p:anim>
                                    <p:anim calcmode="lin" valueType="num">
                                      <p:cBhvr>
                                        <p:cTn id="131" dur="1000" fill="hold"/>
                                        <p:tgtEl>
                                          <p:spTgt spid="86"/>
                                        </p:tgtEl>
                                        <p:attrNameLst>
                                          <p:attrName>ppt_y</p:attrName>
                                        </p:attrNameLst>
                                      </p:cBhvr>
                                      <p:tavLst>
                                        <p:tav tm="0">
                                          <p:val>
                                            <p:strVal val="#ppt_y-.1"/>
                                          </p:val>
                                        </p:tav>
                                        <p:tav tm="100000">
                                          <p:val>
                                            <p:strVal val="#ppt_y"/>
                                          </p:val>
                                        </p:tav>
                                      </p:tavLst>
                                    </p:anim>
                                  </p:childTnLst>
                                </p:cTn>
                              </p:par>
                            </p:childTnLst>
                          </p:cTn>
                        </p:par>
                        <p:par>
                          <p:cTn id="132" fill="hold">
                            <p:stCondLst>
                              <p:cond delay="3000"/>
                            </p:stCondLst>
                            <p:childTnLst>
                              <p:par>
                                <p:cTn id="133" presetID="22" presetClass="entr" presetSubtype="4" fill="hold" nodeType="afterEffect">
                                  <p:stCondLst>
                                    <p:cond delay="0"/>
                                  </p:stCondLst>
                                  <p:childTnLst>
                                    <p:set>
                                      <p:cBhvr>
                                        <p:cTn id="134" dur="1" fill="hold">
                                          <p:stCondLst>
                                            <p:cond delay="0"/>
                                          </p:stCondLst>
                                        </p:cTn>
                                        <p:tgtEl>
                                          <p:spTgt spid="87"/>
                                        </p:tgtEl>
                                        <p:attrNameLst>
                                          <p:attrName>style.visibility</p:attrName>
                                        </p:attrNameLst>
                                      </p:cBhvr>
                                      <p:to>
                                        <p:strVal val="visible"/>
                                      </p:to>
                                    </p:set>
                                    <p:animEffect transition="in" filter="wipe(down)">
                                      <p:cBhvr>
                                        <p:cTn id="135"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animBg="1"/>
      <p:bldP spid="40" grpId="0" animBg="1"/>
      <p:bldP spid="43" grpId="0" animBg="1"/>
      <p:bldP spid="60" grpId="0"/>
      <p:bldP spid="61" grpId="0"/>
      <p:bldP spid="62" grpId="0" animBg="1"/>
      <p:bldP spid="63" grpId="0" animBg="1"/>
      <p:bldP spid="64" grpId="0" animBg="1"/>
      <p:bldP spid="65" grpId="0" animBg="1"/>
      <p:bldP spid="66" grpId="0" animBg="1"/>
      <p:bldP spid="67" grpId="0" animBg="1"/>
      <p:bldP spid="68" grpId="0" animBg="1"/>
      <p:bldP spid="69" grpId="0" animBg="1"/>
      <p:bldP spid="71" grpId="0" animBg="1"/>
      <p:bldP spid="71" grpId="1" animBg="1"/>
      <p:bldP spid="72" grpId="0" animBg="1"/>
      <p:bldP spid="72" grpId="1" animBg="1"/>
      <p:bldP spid="73" grpId="0" animBg="1"/>
      <p:bldP spid="73" grpId="1" animBg="1"/>
      <p:bldP spid="80" grpId="0" animBg="1"/>
      <p:bldP spid="81" grpId="0" animBg="1"/>
      <p:bldP spid="82" grpId="0" animBg="1"/>
      <p:bldP spid="83" grpId="0" animBg="1"/>
      <p:bldP spid="86" grpId="0" animBg="1"/>
      <p:bldP spid="88" grpId="1"/>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集成测试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集成测试方法</a:t>
            </a:r>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2</a:t>
            </a:r>
            <a:r>
              <a:rPr lang="zh-CN" altLang="en-US" sz="2000" dirty="0">
                <a:solidFill>
                  <a:srgbClr val="000000"/>
                </a:solidFill>
                <a:latin typeface="微软雅黑" panose="020B0503020204020204" pitchFamily="34" charset="-122"/>
                <a:sym typeface="微软雅黑" panose="020B0503020204020204" pitchFamily="34" charset="-122"/>
              </a:rPr>
              <a:t>） 自底向上渐增集成</a:t>
            </a:r>
            <a:endParaRPr lang="en-US" altLang="zh-CN" sz="2000" dirty="0">
              <a:solidFill>
                <a:srgbClr val="000000"/>
              </a:solidFill>
              <a:latin typeface="微软雅黑" panose="020B0503020204020204" pitchFamily="34" charset="-122"/>
              <a:sym typeface="微软雅黑" panose="020B0503020204020204" pitchFamily="34" charset="-122"/>
            </a:endParaRPr>
          </a:p>
          <a:p>
            <a:pPr>
              <a:lnSpc>
                <a:spcPct val="120000"/>
              </a:lnSpc>
              <a:spcBef>
                <a:spcPts val="600"/>
              </a:spcBef>
            </a:pPr>
            <a:r>
              <a:rPr lang="zh-CN" altLang="en-US" sz="1800" b="1" dirty="0">
                <a:solidFill>
                  <a:srgbClr val="C00000"/>
                </a:solidFill>
                <a:latin typeface="宋体" panose="02010600030101010101" pitchFamily="2" charset="-122"/>
              </a:rPr>
              <a:t>优点</a:t>
            </a:r>
            <a:endParaRPr lang="en-US" altLang="zh-CN" sz="1800" b="1" dirty="0">
              <a:solidFill>
                <a:srgbClr val="C00000"/>
              </a:solidFill>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比较容易设计测试用例</a:t>
            </a:r>
            <a:endParaRPr lang="en-US" altLang="zh-CN" sz="1800" dirty="0">
              <a:latin typeface="宋体" panose="02010600030101010101" pitchFamily="2" charset="-122"/>
            </a:endParaRPr>
          </a:p>
          <a:p>
            <a:pPr marL="285750" indent="-285750">
              <a:lnSpc>
                <a:spcPct val="120000"/>
              </a:lnSpc>
              <a:spcBef>
                <a:spcPts val="600"/>
              </a:spcBef>
              <a:buFont typeface="Arial" panose="020B0604020202020204" pitchFamily="34" charset="0"/>
              <a:buChar char="•"/>
            </a:pPr>
            <a:endParaRPr lang="en-US" altLang="zh-CN" sz="1800" dirty="0">
              <a:latin typeface="宋体" panose="02010600030101010101" pitchFamily="2" charset="-122"/>
            </a:endParaRPr>
          </a:p>
          <a:p>
            <a:pPr>
              <a:lnSpc>
                <a:spcPct val="120000"/>
              </a:lnSpc>
              <a:spcBef>
                <a:spcPts val="600"/>
              </a:spcBef>
            </a:pPr>
            <a:r>
              <a:rPr lang="zh-CN" altLang="en-US" sz="1800" b="1" dirty="0">
                <a:solidFill>
                  <a:srgbClr val="C00000"/>
                </a:solidFill>
                <a:latin typeface="宋体" panose="02010600030101010101" pitchFamily="2" charset="-122"/>
              </a:rPr>
              <a:t>缺点</a:t>
            </a:r>
            <a:endParaRPr lang="en-US" altLang="zh-CN" sz="1800" b="1" dirty="0">
              <a:solidFill>
                <a:srgbClr val="C00000"/>
              </a:solidFill>
              <a:latin typeface="宋体" panose="02010600030101010101" pitchFamily="2" charset="-122"/>
            </a:endParaRPr>
          </a:p>
          <a:p>
            <a:pPr marL="285750" indent="-285750">
              <a:lnSpc>
                <a:spcPct val="120000"/>
              </a:lnSpc>
              <a:spcBef>
                <a:spcPts val="600"/>
              </a:spcBef>
              <a:buFont typeface="Arial" panose="020B0604020202020204" pitchFamily="34" charset="0"/>
              <a:buChar char="•"/>
            </a:pPr>
            <a:r>
              <a:rPr lang="zh-CN" altLang="en-US" sz="1800" dirty="0">
                <a:latin typeface="宋体" panose="02010600030101010101" pitchFamily="2" charset="-122"/>
              </a:rPr>
              <a:t>主要的控制和判断点的验证较迟，功能可行性不能较早得到证实</a:t>
            </a:r>
            <a:endParaRPr lang="en-US" altLang="zh-CN" sz="1800" dirty="0">
              <a:latin typeface="宋体" panose="02010600030101010101" pitchFamily="2" charset="-122"/>
            </a:endParaRPr>
          </a:p>
        </p:txBody>
      </p:sp>
      <p:sp>
        <p:nvSpPr>
          <p:cNvPr id="3" name="云形 2">
            <a:extLst>
              <a:ext uri="{FF2B5EF4-FFF2-40B4-BE49-F238E27FC236}">
                <a16:creationId xmlns:a16="http://schemas.microsoft.com/office/drawing/2014/main" id="{4CC4F5F1-0FE8-D842-9FEA-ABC62475909E}"/>
              </a:ext>
            </a:extLst>
          </p:cNvPr>
          <p:cNvSpPr/>
          <p:nvPr/>
        </p:nvSpPr>
        <p:spPr>
          <a:xfrm>
            <a:off x="5013715" y="762102"/>
            <a:ext cx="3780064" cy="166495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Kaiti SC" panose="02010600040101010101" pitchFamily="2" charset="-122"/>
                <a:ea typeface="Kaiti SC" panose="02010600040101010101" pitchFamily="2" charset="-122"/>
                <a:sym typeface="微软雅黑" panose="020B0503020204020204" pitchFamily="34" charset="-122"/>
              </a:rPr>
              <a:t>在使用渐增式进行系统集成时，有：自顶向下和自底向上两种方法</a:t>
            </a:r>
            <a:endParaRPr kumimoji="1" lang="zh-CN" altLang="en-US" dirty="0">
              <a:solidFill>
                <a:schemeClr val="bg1"/>
              </a:solidFill>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404742195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5.4.3</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确认测试</a:t>
            </a: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031218" y="1790057"/>
            <a:ext cx="7190218" cy="1429107"/>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确认测试又称有效性测试，它的任务是检查软件的功能与性能是否与需求说明书中确定的指标相符合，是否达到了系统设计确定的全部要求</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285750" indent="-285750" algn="just">
              <a:lnSpc>
                <a:spcPct val="100000"/>
              </a:lnSpc>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确认测试阶段包括：进行有效性测试与软件配置审查两项工作</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lang="en-US" altLang="zh-CN" sz="1800" dirty="0">
              <a:solidFill>
                <a:schemeClr val="tx2"/>
              </a:solidFill>
              <a:latin typeface="Kaiti SC" panose="02010600040101010101" pitchFamily="2" charset="-122"/>
              <a:ea typeface="Kaiti SC" panose="02010600040101010101" pitchFamily="2" charset="-122"/>
              <a:sym typeface="微软雅黑" panose="020B0503020204020204" pitchFamily="34" charset="-122"/>
            </a:endParaRPr>
          </a:p>
        </p:txBody>
      </p:sp>
      <p:grpSp>
        <p:nvGrpSpPr>
          <p:cNvPr id="45" name="组合 44">
            <a:extLst>
              <a:ext uri="{FF2B5EF4-FFF2-40B4-BE49-F238E27FC236}">
                <a16:creationId xmlns:a16="http://schemas.microsoft.com/office/drawing/2014/main" id="{6AE02838-0CDB-7B49-A268-B1B893B52F69}"/>
              </a:ext>
            </a:extLst>
          </p:cNvPr>
          <p:cNvGrpSpPr/>
          <p:nvPr/>
        </p:nvGrpSpPr>
        <p:grpSpPr>
          <a:xfrm>
            <a:off x="2116330" y="3983253"/>
            <a:ext cx="5922722" cy="2314627"/>
            <a:chOff x="1073823" y="3192857"/>
            <a:chExt cx="7097705" cy="2773816"/>
          </a:xfrm>
        </p:grpSpPr>
        <p:pic>
          <p:nvPicPr>
            <p:cNvPr id="47" name="Picture 2" descr="rjgc-tp-xxnr-050501-01">
              <a:extLst>
                <a:ext uri="{FF2B5EF4-FFF2-40B4-BE49-F238E27FC236}">
                  <a16:creationId xmlns:a16="http://schemas.microsoft.com/office/drawing/2014/main" id="{6CA9D6E7-5EEE-6245-ADE1-7F9A7C7DE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823" y="3192857"/>
              <a:ext cx="7097705" cy="277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矩形 47">
              <a:extLst>
                <a:ext uri="{FF2B5EF4-FFF2-40B4-BE49-F238E27FC236}">
                  <a16:creationId xmlns:a16="http://schemas.microsoft.com/office/drawing/2014/main" id="{EFB024B9-812D-D646-BD55-BA97329000C5}"/>
                </a:ext>
              </a:extLst>
            </p:cNvPr>
            <p:cNvSpPr/>
            <p:nvPr/>
          </p:nvSpPr>
          <p:spPr>
            <a:xfrm>
              <a:off x="385858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矩形 48">
              <a:extLst>
                <a:ext uri="{FF2B5EF4-FFF2-40B4-BE49-F238E27FC236}">
                  <a16:creationId xmlns:a16="http://schemas.microsoft.com/office/drawing/2014/main" id="{75B6A976-83F6-614F-8328-3B377D2C13A2}"/>
                </a:ext>
              </a:extLst>
            </p:cNvPr>
            <p:cNvSpPr/>
            <p:nvPr/>
          </p:nvSpPr>
          <p:spPr>
            <a:xfrm>
              <a:off x="50985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590A6F62-27B3-5440-B681-1A0EA7086C08}"/>
                </a:ext>
              </a:extLst>
            </p:cNvPr>
            <p:cNvSpPr/>
            <p:nvPr/>
          </p:nvSpPr>
          <p:spPr>
            <a:xfrm>
              <a:off x="63939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矩形 50">
              <a:extLst>
                <a:ext uri="{FF2B5EF4-FFF2-40B4-BE49-F238E27FC236}">
                  <a16:creationId xmlns:a16="http://schemas.microsoft.com/office/drawing/2014/main" id="{196CDB8E-14B3-0B4D-8892-2199A142557A}"/>
                </a:ext>
              </a:extLst>
            </p:cNvPr>
            <p:cNvSpPr/>
            <p:nvPr/>
          </p:nvSpPr>
          <p:spPr>
            <a:xfrm>
              <a:off x="763662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6" name="椭圆 45">
            <a:extLst>
              <a:ext uri="{FF2B5EF4-FFF2-40B4-BE49-F238E27FC236}">
                <a16:creationId xmlns:a16="http://schemas.microsoft.com/office/drawing/2014/main" id="{3571AF24-A5C2-4F4F-985E-D816AC11021B}"/>
              </a:ext>
            </a:extLst>
          </p:cNvPr>
          <p:cNvSpPr/>
          <p:nvPr/>
        </p:nvSpPr>
        <p:spPr>
          <a:xfrm>
            <a:off x="5024434" y="4876705"/>
            <a:ext cx="471150" cy="4711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395314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5.4.3</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确认测试</a:t>
            </a:r>
          </a:p>
        </p:txBody>
      </p:sp>
      <p:grpSp>
        <p:nvGrpSpPr>
          <p:cNvPr id="10" name="Group 4">
            <a:extLst>
              <a:ext uri="{FF2B5EF4-FFF2-40B4-BE49-F238E27FC236}">
                <a16:creationId xmlns:a16="http://schemas.microsoft.com/office/drawing/2014/main" id="{AF14D3C2-7869-1C4C-8E8A-AA99BF51BDF5}"/>
              </a:ext>
            </a:extLst>
          </p:cNvPr>
          <p:cNvGrpSpPr>
            <a:grpSpLocks/>
          </p:cNvGrpSpPr>
          <p:nvPr/>
        </p:nvGrpSpPr>
        <p:grpSpPr bwMode="auto">
          <a:xfrm>
            <a:off x="1073823" y="3485893"/>
            <a:ext cx="7081563" cy="2686050"/>
            <a:chOff x="634" y="1548"/>
            <a:chExt cx="4588" cy="2464"/>
          </a:xfrm>
          <a:solidFill>
            <a:schemeClr val="bg1"/>
          </a:solidFill>
        </p:grpSpPr>
        <p:sp>
          <p:nvSpPr>
            <p:cNvPr id="11" name="Rectangle 5">
              <a:extLst>
                <a:ext uri="{FF2B5EF4-FFF2-40B4-BE49-F238E27FC236}">
                  <a16:creationId xmlns:a16="http://schemas.microsoft.com/office/drawing/2014/main" id="{3DA24B7C-259C-244B-ABCE-7A0441A73D4B}"/>
                </a:ext>
              </a:extLst>
            </p:cNvPr>
            <p:cNvSpPr>
              <a:spLocks noChangeArrowheads="1"/>
            </p:cNvSpPr>
            <p:nvPr/>
          </p:nvSpPr>
          <p:spPr bwMode="auto">
            <a:xfrm>
              <a:off x="634" y="1548"/>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just">
                <a:defRPr/>
              </a:pPr>
              <a:r>
                <a:rPr lang="zh-CN" altLang="en-US" sz="1600" dirty="0">
                  <a:solidFill>
                    <a:srgbClr val="003399"/>
                  </a:solidFill>
                  <a:latin typeface="Times New Roman" pitchFamily="18" charset="0"/>
                </a:rPr>
                <a:t>选择测试人员</a:t>
              </a:r>
            </a:p>
          </p:txBody>
        </p:sp>
        <p:sp>
          <p:nvSpPr>
            <p:cNvPr id="16" name="Rectangle 6">
              <a:extLst>
                <a:ext uri="{FF2B5EF4-FFF2-40B4-BE49-F238E27FC236}">
                  <a16:creationId xmlns:a16="http://schemas.microsoft.com/office/drawing/2014/main" id="{E233DA87-DA08-FA43-A5A8-61382FF4194B}"/>
                </a:ext>
              </a:extLst>
            </p:cNvPr>
            <p:cNvSpPr>
              <a:spLocks noChangeArrowheads="1"/>
            </p:cNvSpPr>
            <p:nvPr/>
          </p:nvSpPr>
          <p:spPr bwMode="auto">
            <a:xfrm>
              <a:off x="634" y="1862"/>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just">
                <a:defRPr/>
              </a:pPr>
              <a:r>
                <a:rPr lang="zh-CN" altLang="en-US" sz="1600" dirty="0">
                  <a:solidFill>
                    <a:srgbClr val="003399"/>
                  </a:solidFill>
                  <a:latin typeface="Times New Roman" pitchFamily="18" charset="0"/>
                </a:rPr>
                <a:t>选择测试用例</a:t>
              </a:r>
            </a:p>
          </p:txBody>
        </p:sp>
        <p:sp>
          <p:nvSpPr>
            <p:cNvPr id="17" name="Rectangle 7">
              <a:extLst>
                <a:ext uri="{FF2B5EF4-FFF2-40B4-BE49-F238E27FC236}">
                  <a16:creationId xmlns:a16="http://schemas.microsoft.com/office/drawing/2014/main" id="{14A07F9E-E3B4-EF44-97D9-545C965AB859}"/>
                </a:ext>
              </a:extLst>
            </p:cNvPr>
            <p:cNvSpPr>
              <a:spLocks noChangeArrowheads="1"/>
            </p:cNvSpPr>
            <p:nvPr/>
          </p:nvSpPr>
          <p:spPr bwMode="auto">
            <a:xfrm>
              <a:off x="634" y="2175"/>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just">
                <a:defRPr/>
              </a:pPr>
              <a:r>
                <a:rPr lang="zh-CN" altLang="en-US" sz="1600" dirty="0">
                  <a:solidFill>
                    <a:srgbClr val="003399"/>
                  </a:solidFill>
                  <a:latin typeface="Times New Roman" pitchFamily="18" charset="0"/>
                </a:rPr>
                <a:t>实际运行测试</a:t>
              </a:r>
            </a:p>
          </p:txBody>
        </p:sp>
        <p:sp>
          <p:nvSpPr>
            <p:cNvPr id="18" name="Rectangle 8">
              <a:extLst>
                <a:ext uri="{FF2B5EF4-FFF2-40B4-BE49-F238E27FC236}">
                  <a16:creationId xmlns:a16="http://schemas.microsoft.com/office/drawing/2014/main" id="{1191762D-E22D-BE4E-9486-F0220AE2C104}"/>
                </a:ext>
              </a:extLst>
            </p:cNvPr>
            <p:cNvSpPr>
              <a:spLocks noChangeArrowheads="1"/>
            </p:cNvSpPr>
            <p:nvPr/>
          </p:nvSpPr>
          <p:spPr bwMode="auto">
            <a:xfrm>
              <a:off x="634" y="2515"/>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ctr">
                <a:defRPr/>
              </a:pPr>
              <a:r>
                <a:rPr lang="zh-CN" altLang="en-US" sz="1600" dirty="0">
                  <a:solidFill>
                    <a:srgbClr val="003399"/>
                  </a:solidFill>
                  <a:latin typeface="Times New Roman" pitchFamily="18" charset="0"/>
                </a:rPr>
                <a:t>软件计划</a:t>
              </a:r>
            </a:p>
          </p:txBody>
        </p:sp>
        <p:sp>
          <p:nvSpPr>
            <p:cNvPr id="19" name="Rectangle 9">
              <a:extLst>
                <a:ext uri="{FF2B5EF4-FFF2-40B4-BE49-F238E27FC236}">
                  <a16:creationId xmlns:a16="http://schemas.microsoft.com/office/drawing/2014/main" id="{E8B9E167-CE0C-C64C-8A64-92E2DADC154F}"/>
                </a:ext>
              </a:extLst>
            </p:cNvPr>
            <p:cNvSpPr>
              <a:spLocks noChangeArrowheads="1"/>
            </p:cNvSpPr>
            <p:nvPr/>
          </p:nvSpPr>
          <p:spPr bwMode="auto">
            <a:xfrm>
              <a:off x="634" y="2841"/>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ctr">
                <a:defRPr/>
              </a:pPr>
              <a:r>
                <a:rPr lang="zh-CN" altLang="en-US" sz="1600" dirty="0">
                  <a:solidFill>
                    <a:srgbClr val="003399"/>
                  </a:solidFill>
                  <a:latin typeface="Times New Roman" pitchFamily="18" charset="0"/>
                </a:rPr>
                <a:t>用户文档</a:t>
              </a:r>
            </a:p>
          </p:txBody>
        </p:sp>
        <p:sp>
          <p:nvSpPr>
            <p:cNvPr id="20" name="Rectangle 10">
              <a:extLst>
                <a:ext uri="{FF2B5EF4-FFF2-40B4-BE49-F238E27FC236}">
                  <a16:creationId xmlns:a16="http://schemas.microsoft.com/office/drawing/2014/main" id="{0A5E7D9F-56A2-0A4B-8169-745A61BC7317}"/>
                </a:ext>
              </a:extLst>
            </p:cNvPr>
            <p:cNvSpPr>
              <a:spLocks noChangeArrowheads="1"/>
            </p:cNvSpPr>
            <p:nvPr/>
          </p:nvSpPr>
          <p:spPr bwMode="auto">
            <a:xfrm>
              <a:off x="634" y="3142"/>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ctr">
                <a:defRPr/>
              </a:pPr>
              <a:r>
                <a:rPr lang="zh-CN" altLang="en-US" sz="1600" dirty="0">
                  <a:solidFill>
                    <a:srgbClr val="003399"/>
                  </a:solidFill>
                  <a:latin typeface="Times New Roman" pitchFamily="18" charset="0"/>
                </a:rPr>
                <a:t>开发文档</a:t>
              </a:r>
            </a:p>
          </p:txBody>
        </p:sp>
        <p:sp>
          <p:nvSpPr>
            <p:cNvPr id="21" name="Rectangle 11">
              <a:extLst>
                <a:ext uri="{FF2B5EF4-FFF2-40B4-BE49-F238E27FC236}">
                  <a16:creationId xmlns:a16="http://schemas.microsoft.com/office/drawing/2014/main" id="{1A1C1C9A-2981-304D-BCD0-BE9DADD1A17C}"/>
                </a:ext>
              </a:extLst>
            </p:cNvPr>
            <p:cNvSpPr>
              <a:spLocks noChangeArrowheads="1"/>
            </p:cNvSpPr>
            <p:nvPr/>
          </p:nvSpPr>
          <p:spPr bwMode="auto">
            <a:xfrm>
              <a:off x="634" y="3455"/>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ctr">
                <a:defRPr/>
              </a:pPr>
              <a:r>
                <a:rPr lang="zh-CN" altLang="en-US" sz="1600" dirty="0">
                  <a:solidFill>
                    <a:srgbClr val="003399"/>
                  </a:solidFill>
                  <a:latin typeface="Times New Roman" pitchFamily="18" charset="0"/>
                </a:rPr>
                <a:t>源程序文本</a:t>
              </a:r>
            </a:p>
          </p:txBody>
        </p:sp>
        <p:sp>
          <p:nvSpPr>
            <p:cNvPr id="22" name="Rectangle 12">
              <a:extLst>
                <a:ext uri="{FF2B5EF4-FFF2-40B4-BE49-F238E27FC236}">
                  <a16:creationId xmlns:a16="http://schemas.microsoft.com/office/drawing/2014/main" id="{B8A31BC1-9006-8A41-B548-FCF76E9E5EFB}"/>
                </a:ext>
              </a:extLst>
            </p:cNvPr>
            <p:cNvSpPr>
              <a:spLocks noChangeArrowheads="1"/>
            </p:cNvSpPr>
            <p:nvPr/>
          </p:nvSpPr>
          <p:spPr bwMode="auto">
            <a:xfrm>
              <a:off x="634" y="3756"/>
              <a:ext cx="1024" cy="256"/>
            </a:xfrm>
            <a:prstGeom prst="rect">
              <a:avLst/>
            </a:prstGeom>
            <a:grpFill/>
            <a:ln w="9525" cap="sq">
              <a:solidFill>
                <a:schemeClr val="tx1"/>
              </a:solidFill>
              <a:miter lim="800000"/>
              <a:headEnd/>
              <a:tailEnd/>
            </a:ln>
            <a:effectLst>
              <a:prstShdw prst="shdw17" dist="17961" dir="2700000">
                <a:srgbClr val="7A5C00"/>
              </a:prstShdw>
            </a:effectLst>
          </p:spPr>
          <p:txBody>
            <a:bodyPr wrap="none" anchor="ctr"/>
            <a:lstStyle/>
            <a:p>
              <a:pPr algn="ctr">
                <a:defRPr/>
              </a:pPr>
              <a:r>
                <a:rPr lang="zh-CN" altLang="en-US" sz="1600" dirty="0">
                  <a:solidFill>
                    <a:srgbClr val="003399"/>
                  </a:solidFill>
                  <a:latin typeface="Times New Roman" pitchFamily="18" charset="0"/>
                </a:rPr>
                <a:t>支持环境</a:t>
              </a:r>
            </a:p>
          </p:txBody>
        </p:sp>
        <p:sp>
          <p:nvSpPr>
            <p:cNvPr id="23" name="Oval 13">
              <a:extLst>
                <a:ext uri="{FF2B5EF4-FFF2-40B4-BE49-F238E27FC236}">
                  <a16:creationId xmlns:a16="http://schemas.microsoft.com/office/drawing/2014/main" id="{9B3EB2DC-020B-404C-80FF-1D45F76C6ACD}"/>
                </a:ext>
              </a:extLst>
            </p:cNvPr>
            <p:cNvSpPr>
              <a:spLocks noChangeArrowheads="1"/>
            </p:cNvSpPr>
            <p:nvPr/>
          </p:nvSpPr>
          <p:spPr bwMode="auto">
            <a:xfrm>
              <a:off x="2112" y="1663"/>
              <a:ext cx="525" cy="794"/>
            </a:xfrm>
            <a:prstGeom prst="ellipse">
              <a:avLst/>
            </a:prstGeom>
            <a:grpFill/>
            <a:ln w="9525" cap="sq">
              <a:solidFill>
                <a:schemeClr val="tx1"/>
              </a:solidFill>
              <a:round/>
              <a:headEnd/>
              <a:tailEnd/>
            </a:ln>
            <a:effectLst>
              <a:prstShdw prst="shdw17" dist="17961" dir="2700000">
                <a:srgbClr val="7A5C00"/>
              </a:prstShdw>
            </a:effectLst>
          </p:spPr>
          <p:txBody>
            <a:bodyPr wrap="none" anchor="ctr"/>
            <a:lstStyle/>
            <a:p>
              <a:pPr algn="ctr">
                <a:defRPr/>
              </a:pPr>
              <a:r>
                <a:rPr lang="zh-CN" altLang="en-US" sz="1600" dirty="0">
                  <a:latin typeface="Times New Roman" pitchFamily="18" charset="0"/>
                </a:rPr>
                <a:t>有效性</a:t>
              </a:r>
            </a:p>
            <a:p>
              <a:pPr algn="ctr">
                <a:defRPr/>
              </a:pPr>
              <a:r>
                <a:rPr lang="zh-CN" altLang="en-US" sz="1600" dirty="0">
                  <a:latin typeface="Times New Roman" pitchFamily="18" charset="0"/>
                </a:rPr>
                <a:t>测试</a:t>
              </a:r>
            </a:p>
          </p:txBody>
        </p:sp>
        <p:sp>
          <p:nvSpPr>
            <p:cNvPr id="24" name="Oval 14">
              <a:extLst>
                <a:ext uri="{FF2B5EF4-FFF2-40B4-BE49-F238E27FC236}">
                  <a16:creationId xmlns:a16="http://schemas.microsoft.com/office/drawing/2014/main" id="{47818DBA-69D9-0749-B510-4CB0371ED307}"/>
                </a:ext>
              </a:extLst>
            </p:cNvPr>
            <p:cNvSpPr>
              <a:spLocks noChangeArrowheads="1"/>
            </p:cNvSpPr>
            <p:nvPr/>
          </p:nvSpPr>
          <p:spPr bwMode="auto">
            <a:xfrm>
              <a:off x="2118" y="2821"/>
              <a:ext cx="525" cy="794"/>
            </a:xfrm>
            <a:prstGeom prst="ellipse">
              <a:avLst/>
            </a:prstGeom>
            <a:grpFill/>
            <a:ln w="9525" cap="sq">
              <a:solidFill>
                <a:schemeClr val="tx1"/>
              </a:solidFill>
              <a:round/>
              <a:headEnd/>
              <a:tailEnd/>
            </a:ln>
            <a:effectLst>
              <a:prstShdw prst="shdw17" dist="17961" dir="2700000">
                <a:srgbClr val="7A5C00"/>
              </a:prstShdw>
            </a:effectLst>
          </p:spPr>
          <p:txBody>
            <a:bodyPr wrap="none" anchor="ctr"/>
            <a:lstStyle/>
            <a:p>
              <a:pPr algn="just">
                <a:defRPr/>
              </a:pPr>
              <a:r>
                <a:rPr lang="zh-CN" altLang="en-US" sz="1600" dirty="0">
                  <a:latin typeface="Times New Roman" pitchFamily="18" charset="0"/>
                </a:rPr>
                <a:t>软件</a:t>
              </a:r>
            </a:p>
            <a:p>
              <a:pPr algn="just">
                <a:defRPr/>
              </a:pPr>
              <a:r>
                <a:rPr lang="zh-CN" altLang="en-US" sz="1600" dirty="0">
                  <a:latin typeface="Times New Roman" pitchFamily="18" charset="0"/>
                </a:rPr>
                <a:t>配置</a:t>
              </a:r>
            </a:p>
            <a:p>
              <a:pPr algn="just">
                <a:defRPr/>
              </a:pPr>
              <a:r>
                <a:rPr lang="zh-CN" altLang="en-US" sz="1600" dirty="0">
                  <a:latin typeface="Times New Roman" pitchFamily="18" charset="0"/>
                </a:rPr>
                <a:t>审查</a:t>
              </a:r>
            </a:p>
          </p:txBody>
        </p:sp>
        <p:sp>
          <p:nvSpPr>
            <p:cNvPr id="25" name="Oval 15">
              <a:extLst>
                <a:ext uri="{FF2B5EF4-FFF2-40B4-BE49-F238E27FC236}">
                  <a16:creationId xmlns:a16="http://schemas.microsoft.com/office/drawing/2014/main" id="{58329EFE-1896-D841-8AF2-FE5377F1E824}"/>
                </a:ext>
              </a:extLst>
            </p:cNvPr>
            <p:cNvSpPr>
              <a:spLocks noChangeArrowheads="1"/>
            </p:cNvSpPr>
            <p:nvPr/>
          </p:nvSpPr>
          <p:spPr bwMode="auto">
            <a:xfrm>
              <a:off x="3238" y="2252"/>
              <a:ext cx="525" cy="794"/>
            </a:xfrm>
            <a:prstGeom prst="ellipse">
              <a:avLst/>
            </a:prstGeom>
            <a:grpFill/>
            <a:ln w="9525" cap="sq">
              <a:solidFill>
                <a:schemeClr val="tx1"/>
              </a:solidFill>
              <a:round/>
              <a:headEnd/>
              <a:tailEnd/>
            </a:ln>
            <a:effectLst>
              <a:prstShdw prst="shdw17" dist="17961" dir="2700000">
                <a:srgbClr val="7A5C00"/>
              </a:prstShdw>
            </a:effectLst>
          </p:spPr>
          <p:txBody>
            <a:bodyPr wrap="none" anchor="ctr"/>
            <a:lstStyle/>
            <a:p>
              <a:pPr algn="just">
                <a:defRPr/>
              </a:pPr>
              <a:r>
                <a:rPr lang="zh-CN" altLang="en-US" sz="1600" dirty="0">
                  <a:latin typeface="Times New Roman" pitchFamily="18" charset="0"/>
                </a:rPr>
                <a:t>管理</a:t>
              </a:r>
            </a:p>
            <a:p>
              <a:pPr algn="just">
                <a:defRPr/>
              </a:pPr>
              <a:r>
                <a:rPr lang="zh-CN" altLang="en-US" sz="1600" dirty="0">
                  <a:latin typeface="Times New Roman" pitchFamily="18" charset="0"/>
                </a:rPr>
                <a:t>机构</a:t>
              </a:r>
            </a:p>
            <a:p>
              <a:pPr algn="just">
                <a:defRPr/>
              </a:pPr>
              <a:r>
                <a:rPr lang="zh-CN" altLang="en-US" sz="1600" dirty="0">
                  <a:latin typeface="Times New Roman" pitchFamily="18" charset="0"/>
                </a:rPr>
                <a:t>裁决</a:t>
              </a:r>
            </a:p>
          </p:txBody>
        </p:sp>
        <p:sp>
          <p:nvSpPr>
            <p:cNvPr id="26" name="Oval 16">
              <a:extLst>
                <a:ext uri="{FF2B5EF4-FFF2-40B4-BE49-F238E27FC236}">
                  <a16:creationId xmlns:a16="http://schemas.microsoft.com/office/drawing/2014/main" id="{C513EDE1-E740-C747-B4C5-A4509394F069}"/>
                </a:ext>
              </a:extLst>
            </p:cNvPr>
            <p:cNvSpPr>
              <a:spLocks noChangeArrowheads="1"/>
            </p:cNvSpPr>
            <p:nvPr/>
          </p:nvSpPr>
          <p:spPr bwMode="auto">
            <a:xfrm>
              <a:off x="4165" y="2246"/>
              <a:ext cx="525" cy="794"/>
            </a:xfrm>
            <a:prstGeom prst="ellipse">
              <a:avLst/>
            </a:prstGeom>
            <a:grpFill/>
            <a:ln w="9525" cap="sq">
              <a:solidFill>
                <a:schemeClr val="tx1"/>
              </a:solidFill>
              <a:round/>
              <a:headEnd/>
              <a:tailEnd/>
            </a:ln>
            <a:effectLst>
              <a:prstShdw prst="shdw17" dist="17961" dir="2700000">
                <a:srgbClr val="7A5C00"/>
              </a:prstShdw>
            </a:effectLst>
          </p:spPr>
          <p:txBody>
            <a:bodyPr wrap="none" anchor="ctr"/>
            <a:lstStyle/>
            <a:p>
              <a:pPr algn="ctr">
                <a:defRPr/>
              </a:pPr>
              <a:r>
                <a:rPr lang="zh-CN" altLang="en-US" sz="1600" dirty="0">
                  <a:latin typeface="Times New Roman" pitchFamily="18" charset="0"/>
                </a:rPr>
                <a:t>专家</a:t>
              </a:r>
            </a:p>
            <a:p>
              <a:pPr algn="ctr">
                <a:defRPr/>
              </a:pPr>
              <a:r>
                <a:rPr lang="zh-CN" altLang="en-US" sz="1600" dirty="0">
                  <a:latin typeface="Times New Roman" pitchFamily="18" charset="0"/>
                </a:rPr>
                <a:t>鉴定会</a:t>
              </a:r>
            </a:p>
          </p:txBody>
        </p:sp>
        <p:sp>
          <p:nvSpPr>
            <p:cNvPr id="27" name="Line 17">
              <a:extLst>
                <a:ext uri="{FF2B5EF4-FFF2-40B4-BE49-F238E27FC236}">
                  <a16:creationId xmlns:a16="http://schemas.microsoft.com/office/drawing/2014/main" id="{777C2692-6D01-6F49-896C-E3044A1F90C3}"/>
                </a:ext>
              </a:extLst>
            </p:cNvPr>
            <p:cNvSpPr>
              <a:spLocks noChangeShapeType="1"/>
            </p:cNvSpPr>
            <p:nvPr/>
          </p:nvSpPr>
          <p:spPr bwMode="auto">
            <a:xfrm>
              <a:off x="1651" y="1650"/>
              <a:ext cx="486" cy="205"/>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28" name="Line 18">
              <a:extLst>
                <a:ext uri="{FF2B5EF4-FFF2-40B4-BE49-F238E27FC236}">
                  <a16:creationId xmlns:a16="http://schemas.microsoft.com/office/drawing/2014/main" id="{E132B3D0-7298-3843-9447-4AB7FAE68448}"/>
                </a:ext>
              </a:extLst>
            </p:cNvPr>
            <p:cNvSpPr>
              <a:spLocks noChangeShapeType="1"/>
            </p:cNvSpPr>
            <p:nvPr/>
          </p:nvSpPr>
          <p:spPr bwMode="auto">
            <a:xfrm>
              <a:off x="1664" y="1996"/>
              <a:ext cx="461" cy="0"/>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29" name="Line 19">
              <a:extLst>
                <a:ext uri="{FF2B5EF4-FFF2-40B4-BE49-F238E27FC236}">
                  <a16:creationId xmlns:a16="http://schemas.microsoft.com/office/drawing/2014/main" id="{78232261-24DA-3A4C-AD20-C6921D96C4AC}"/>
                </a:ext>
              </a:extLst>
            </p:cNvPr>
            <p:cNvSpPr>
              <a:spLocks noChangeShapeType="1"/>
            </p:cNvSpPr>
            <p:nvPr/>
          </p:nvSpPr>
          <p:spPr bwMode="auto">
            <a:xfrm flipV="1">
              <a:off x="1677" y="2112"/>
              <a:ext cx="435" cy="179"/>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0" name="Line 20">
              <a:extLst>
                <a:ext uri="{FF2B5EF4-FFF2-40B4-BE49-F238E27FC236}">
                  <a16:creationId xmlns:a16="http://schemas.microsoft.com/office/drawing/2014/main" id="{09517628-BD40-EF47-9712-6E43053B4271}"/>
                </a:ext>
              </a:extLst>
            </p:cNvPr>
            <p:cNvSpPr>
              <a:spLocks noChangeShapeType="1"/>
            </p:cNvSpPr>
            <p:nvPr/>
          </p:nvSpPr>
          <p:spPr bwMode="auto">
            <a:xfrm flipV="1">
              <a:off x="1664" y="2227"/>
              <a:ext cx="473" cy="409"/>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1" name="Line 21">
              <a:extLst>
                <a:ext uri="{FF2B5EF4-FFF2-40B4-BE49-F238E27FC236}">
                  <a16:creationId xmlns:a16="http://schemas.microsoft.com/office/drawing/2014/main" id="{91431D05-7626-304A-87DA-AE40A2BB93FF}"/>
                </a:ext>
              </a:extLst>
            </p:cNvPr>
            <p:cNvSpPr>
              <a:spLocks noChangeShapeType="1"/>
            </p:cNvSpPr>
            <p:nvPr/>
          </p:nvSpPr>
          <p:spPr bwMode="auto">
            <a:xfrm>
              <a:off x="1664" y="2713"/>
              <a:ext cx="474" cy="255"/>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2" name="Line 22">
              <a:extLst>
                <a:ext uri="{FF2B5EF4-FFF2-40B4-BE49-F238E27FC236}">
                  <a16:creationId xmlns:a16="http://schemas.microsoft.com/office/drawing/2014/main" id="{F74A81B2-22B5-4E4F-B60C-3BE221278E67}"/>
                </a:ext>
              </a:extLst>
            </p:cNvPr>
            <p:cNvSpPr>
              <a:spLocks noChangeShapeType="1"/>
            </p:cNvSpPr>
            <p:nvPr/>
          </p:nvSpPr>
          <p:spPr bwMode="auto">
            <a:xfrm flipV="1">
              <a:off x="1677" y="2329"/>
              <a:ext cx="499" cy="627"/>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3" name="Line 23">
              <a:extLst>
                <a:ext uri="{FF2B5EF4-FFF2-40B4-BE49-F238E27FC236}">
                  <a16:creationId xmlns:a16="http://schemas.microsoft.com/office/drawing/2014/main" id="{AE791D55-560C-7345-81AA-FD3A4585706A}"/>
                </a:ext>
              </a:extLst>
            </p:cNvPr>
            <p:cNvSpPr>
              <a:spLocks noChangeShapeType="1"/>
            </p:cNvSpPr>
            <p:nvPr/>
          </p:nvSpPr>
          <p:spPr bwMode="auto">
            <a:xfrm>
              <a:off x="1664" y="3007"/>
              <a:ext cx="473" cy="90"/>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4" name="Line 24">
              <a:extLst>
                <a:ext uri="{FF2B5EF4-FFF2-40B4-BE49-F238E27FC236}">
                  <a16:creationId xmlns:a16="http://schemas.microsoft.com/office/drawing/2014/main" id="{D531562C-4BCA-8B40-86BD-69CB98F2308F}"/>
                </a:ext>
              </a:extLst>
            </p:cNvPr>
            <p:cNvSpPr>
              <a:spLocks noChangeShapeType="1"/>
            </p:cNvSpPr>
            <p:nvPr/>
          </p:nvSpPr>
          <p:spPr bwMode="auto">
            <a:xfrm flipV="1">
              <a:off x="1689" y="3276"/>
              <a:ext cx="423" cy="0"/>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5" name="Line 25">
              <a:extLst>
                <a:ext uri="{FF2B5EF4-FFF2-40B4-BE49-F238E27FC236}">
                  <a16:creationId xmlns:a16="http://schemas.microsoft.com/office/drawing/2014/main" id="{E8E5FFD5-E30A-504E-822F-23F04B4D6273}"/>
                </a:ext>
              </a:extLst>
            </p:cNvPr>
            <p:cNvSpPr>
              <a:spLocks noChangeShapeType="1"/>
            </p:cNvSpPr>
            <p:nvPr/>
          </p:nvSpPr>
          <p:spPr bwMode="auto">
            <a:xfrm flipV="1">
              <a:off x="1677" y="3596"/>
              <a:ext cx="256" cy="13"/>
            </a:xfrm>
            <a:prstGeom prst="line">
              <a:avLst/>
            </a:prstGeom>
            <a:grpFill/>
            <a:ln w="9525" cap="sq">
              <a:noFill/>
              <a:round/>
              <a:headEnd/>
              <a:tailEnd type="triangle" w="med" len="med"/>
            </a:ln>
            <a:effectLst>
              <a:prstShdw prst="shdw17" dist="17961" dir="2700000">
                <a:srgbClr val="999999"/>
              </a:prstShdw>
            </a:effectLst>
          </p:spPr>
          <p:txBody>
            <a:bodyPr wrap="none" anchor="ctr"/>
            <a:lstStyle/>
            <a:p>
              <a:pPr>
                <a:defRPr/>
              </a:pPr>
              <a:endParaRPr lang="zh-CN" altLang="en-US" sz="1600"/>
            </a:p>
          </p:txBody>
        </p:sp>
        <p:sp>
          <p:nvSpPr>
            <p:cNvPr id="36" name="Line 26">
              <a:extLst>
                <a:ext uri="{FF2B5EF4-FFF2-40B4-BE49-F238E27FC236}">
                  <a16:creationId xmlns:a16="http://schemas.microsoft.com/office/drawing/2014/main" id="{F6FF12B8-1FB1-3749-8A39-4C79CF9DF2B8}"/>
                </a:ext>
              </a:extLst>
            </p:cNvPr>
            <p:cNvSpPr>
              <a:spLocks noChangeShapeType="1"/>
            </p:cNvSpPr>
            <p:nvPr/>
          </p:nvSpPr>
          <p:spPr bwMode="auto">
            <a:xfrm flipV="1">
              <a:off x="1677" y="3391"/>
              <a:ext cx="448" cy="205"/>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7" name="Line 27">
              <a:extLst>
                <a:ext uri="{FF2B5EF4-FFF2-40B4-BE49-F238E27FC236}">
                  <a16:creationId xmlns:a16="http://schemas.microsoft.com/office/drawing/2014/main" id="{0084C0EA-6CD8-2248-A1BC-896EB8737D75}"/>
                </a:ext>
              </a:extLst>
            </p:cNvPr>
            <p:cNvSpPr>
              <a:spLocks noChangeShapeType="1"/>
            </p:cNvSpPr>
            <p:nvPr/>
          </p:nvSpPr>
          <p:spPr bwMode="auto">
            <a:xfrm flipV="1">
              <a:off x="1664" y="3493"/>
              <a:ext cx="525" cy="384"/>
            </a:xfrm>
            <a:prstGeom prst="line">
              <a:avLst/>
            </a:prstGeom>
            <a:grpFill/>
            <a:ln w="28575" cap="sq">
              <a:solidFill>
                <a:schemeClr val="tx1"/>
              </a:solidFill>
              <a:round/>
              <a:headEnd/>
              <a:tailEnd type="triangle" w="med" len="med"/>
            </a:ln>
          </p:spPr>
          <p:txBody>
            <a:bodyPr wrap="none" anchor="ctr"/>
            <a:lstStyle/>
            <a:p>
              <a:pPr>
                <a:defRPr/>
              </a:pPr>
              <a:endParaRPr lang="zh-CN" altLang="en-US" sz="1600"/>
            </a:p>
          </p:txBody>
        </p:sp>
        <p:sp>
          <p:nvSpPr>
            <p:cNvPr id="38" name="AutoShape 28">
              <a:extLst>
                <a:ext uri="{FF2B5EF4-FFF2-40B4-BE49-F238E27FC236}">
                  <a16:creationId xmlns:a16="http://schemas.microsoft.com/office/drawing/2014/main" id="{E6FE12D7-C9E1-9040-954C-95725CE49601}"/>
                </a:ext>
              </a:extLst>
            </p:cNvPr>
            <p:cNvSpPr>
              <a:spLocks noChangeArrowheads="1"/>
            </p:cNvSpPr>
            <p:nvPr/>
          </p:nvSpPr>
          <p:spPr bwMode="auto">
            <a:xfrm rot="1560233">
              <a:off x="2637" y="2214"/>
              <a:ext cx="641" cy="153"/>
            </a:xfrm>
            <a:prstGeom prst="rightArrow">
              <a:avLst>
                <a:gd name="adj1" fmla="val 50000"/>
                <a:gd name="adj2" fmla="val 104575"/>
              </a:avLst>
            </a:prstGeom>
            <a:grpFill/>
            <a:ln w="9525" cap="sq">
              <a:noFill/>
              <a:miter lim="800000"/>
              <a:headEnd/>
              <a:tailEnd/>
            </a:ln>
            <a:effectLst>
              <a:prstShdw prst="shdw17" dist="17961" dir="2700000">
                <a:schemeClr val="tx1">
                  <a:gamma/>
                  <a:shade val="60000"/>
                  <a:invGamma/>
                </a:schemeClr>
              </a:prstShdw>
            </a:effectLst>
          </p:spPr>
          <p:txBody>
            <a:bodyPr wrap="none" anchor="ctr"/>
            <a:lstStyle/>
            <a:p>
              <a:pPr>
                <a:defRPr/>
              </a:pPr>
              <a:endParaRPr lang="zh-CN" altLang="en-US" sz="1600">
                <a:latin typeface="Arial" charset="0"/>
              </a:endParaRPr>
            </a:p>
          </p:txBody>
        </p:sp>
        <p:sp>
          <p:nvSpPr>
            <p:cNvPr id="39" name="AutoShape 29">
              <a:extLst>
                <a:ext uri="{FF2B5EF4-FFF2-40B4-BE49-F238E27FC236}">
                  <a16:creationId xmlns:a16="http://schemas.microsoft.com/office/drawing/2014/main" id="{C86D92A6-72FC-B649-B7D7-60BF522573A4}"/>
                </a:ext>
              </a:extLst>
            </p:cNvPr>
            <p:cNvSpPr>
              <a:spLocks noChangeArrowheads="1"/>
            </p:cNvSpPr>
            <p:nvPr/>
          </p:nvSpPr>
          <p:spPr bwMode="auto">
            <a:xfrm rot="-2164907">
              <a:off x="2612" y="2846"/>
              <a:ext cx="686" cy="154"/>
            </a:xfrm>
            <a:prstGeom prst="rightArrow">
              <a:avLst>
                <a:gd name="adj1" fmla="val 50000"/>
                <a:gd name="adj2" fmla="val 111364"/>
              </a:avLst>
            </a:prstGeom>
            <a:grpFill/>
            <a:ln w="9525" cap="sq">
              <a:noFill/>
              <a:miter lim="800000"/>
              <a:headEnd/>
              <a:tailEnd/>
            </a:ln>
            <a:effectLst>
              <a:prstShdw prst="shdw17" dist="17961" dir="2700000">
                <a:schemeClr val="tx1">
                  <a:gamma/>
                  <a:shade val="60000"/>
                  <a:invGamma/>
                </a:schemeClr>
              </a:prstShdw>
            </a:effectLst>
          </p:spPr>
          <p:txBody>
            <a:bodyPr wrap="none" anchor="ctr"/>
            <a:lstStyle/>
            <a:p>
              <a:pPr>
                <a:defRPr/>
              </a:pPr>
              <a:endParaRPr lang="zh-CN" altLang="en-US" sz="1600">
                <a:latin typeface="Arial" charset="0"/>
              </a:endParaRPr>
            </a:p>
          </p:txBody>
        </p:sp>
        <p:sp>
          <p:nvSpPr>
            <p:cNvPr id="40" name="AutoShape 30">
              <a:extLst>
                <a:ext uri="{FF2B5EF4-FFF2-40B4-BE49-F238E27FC236}">
                  <a16:creationId xmlns:a16="http://schemas.microsoft.com/office/drawing/2014/main" id="{59691889-48A4-1D4E-97BC-BCA9A2A17037}"/>
                </a:ext>
              </a:extLst>
            </p:cNvPr>
            <p:cNvSpPr>
              <a:spLocks noChangeArrowheads="1"/>
            </p:cNvSpPr>
            <p:nvPr/>
          </p:nvSpPr>
          <p:spPr bwMode="auto">
            <a:xfrm>
              <a:off x="3840" y="2572"/>
              <a:ext cx="281" cy="169"/>
            </a:xfrm>
            <a:prstGeom prst="rightArrow">
              <a:avLst>
                <a:gd name="adj1" fmla="val 50000"/>
                <a:gd name="adj2" fmla="val 41568"/>
              </a:avLst>
            </a:prstGeom>
            <a:grpFill/>
            <a:ln w="9525" cap="sq">
              <a:noFill/>
              <a:miter lim="800000"/>
              <a:headEnd/>
              <a:tailEnd/>
            </a:ln>
            <a:effectLst>
              <a:prstShdw prst="shdw17" dist="17961" dir="2700000">
                <a:schemeClr val="tx1">
                  <a:gamma/>
                  <a:shade val="60000"/>
                  <a:invGamma/>
                </a:schemeClr>
              </a:prstShdw>
            </a:effectLst>
          </p:spPr>
          <p:txBody>
            <a:bodyPr wrap="none" anchor="ctr"/>
            <a:lstStyle/>
            <a:p>
              <a:pPr>
                <a:defRPr/>
              </a:pPr>
              <a:endParaRPr lang="zh-CN" altLang="en-US" sz="1600">
                <a:latin typeface="Arial" charset="0"/>
              </a:endParaRPr>
            </a:p>
          </p:txBody>
        </p:sp>
        <p:sp>
          <p:nvSpPr>
            <p:cNvPr id="41" name="AutoShape 31">
              <a:extLst>
                <a:ext uri="{FF2B5EF4-FFF2-40B4-BE49-F238E27FC236}">
                  <a16:creationId xmlns:a16="http://schemas.microsoft.com/office/drawing/2014/main" id="{15F0C362-5752-764B-9F8F-F569F9B740F2}"/>
                </a:ext>
              </a:extLst>
            </p:cNvPr>
            <p:cNvSpPr>
              <a:spLocks noChangeArrowheads="1"/>
            </p:cNvSpPr>
            <p:nvPr/>
          </p:nvSpPr>
          <p:spPr bwMode="auto">
            <a:xfrm>
              <a:off x="4736" y="2610"/>
              <a:ext cx="486" cy="159"/>
            </a:xfrm>
            <a:prstGeom prst="rightArrow">
              <a:avLst>
                <a:gd name="adj1" fmla="val 50000"/>
                <a:gd name="adj2" fmla="val 76415"/>
              </a:avLst>
            </a:prstGeom>
            <a:grpFill/>
            <a:ln w="9525" cap="sq">
              <a:noFill/>
              <a:miter lim="800000"/>
              <a:headEnd/>
              <a:tailEnd/>
            </a:ln>
            <a:effectLst>
              <a:prstShdw prst="shdw17" dist="17961" dir="2700000">
                <a:schemeClr val="tx1">
                  <a:gamma/>
                  <a:shade val="60000"/>
                  <a:invGamma/>
                </a:schemeClr>
              </a:prstShdw>
            </a:effectLst>
          </p:spPr>
          <p:txBody>
            <a:bodyPr wrap="none" anchor="ctr"/>
            <a:lstStyle/>
            <a:p>
              <a:pPr>
                <a:defRPr/>
              </a:pPr>
              <a:endParaRPr lang="zh-CN" altLang="en-US" sz="1600">
                <a:latin typeface="Arial" charset="0"/>
              </a:endParaRPr>
            </a:p>
          </p:txBody>
        </p:sp>
        <p:sp>
          <p:nvSpPr>
            <p:cNvPr id="42" name="Text Box 33">
              <a:extLst>
                <a:ext uri="{FF2B5EF4-FFF2-40B4-BE49-F238E27FC236}">
                  <a16:creationId xmlns:a16="http://schemas.microsoft.com/office/drawing/2014/main" id="{FE963F4B-3CBE-744D-91C0-51FA5ED553B5}"/>
                </a:ext>
              </a:extLst>
            </p:cNvPr>
            <p:cNvSpPr txBox="1">
              <a:spLocks noChangeArrowheads="1"/>
            </p:cNvSpPr>
            <p:nvPr/>
          </p:nvSpPr>
          <p:spPr bwMode="auto">
            <a:xfrm>
              <a:off x="2843" y="1773"/>
              <a:ext cx="858" cy="311"/>
            </a:xfrm>
            <a:prstGeom prst="rect">
              <a:avLst/>
            </a:prstGeom>
            <a:grpFill/>
            <a:ln w="9525" cap="sq">
              <a:noFill/>
              <a:miter lim="800000"/>
              <a:headEnd/>
              <a:tailEnd/>
            </a:ln>
            <a:effectLst>
              <a:prstShdw prst="shdw17" dist="45791" dir="14178596">
                <a:srgbClr val="F8F8F8"/>
              </a:prstShdw>
            </a:effectLst>
          </p:spPr>
          <p:txBody>
            <a:bodyPr>
              <a:spAutoFit/>
            </a:bodyPr>
            <a:lstStyle/>
            <a:p>
              <a:pPr algn="just">
                <a:spcBef>
                  <a:spcPct val="50000"/>
                </a:spcBef>
                <a:defRPr/>
              </a:pPr>
              <a:r>
                <a:rPr lang="zh-CN" altLang="en-US" sz="1600" dirty="0">
                  <a:latin typeface="Times New Roman" pitchFamily="18" charset="0"/>
                </a:rPr>
                <a:t>测试报告</a:t>
              </a:r>
            </a:p>
          </p:txBody>
        </p:sp>
        <p:sp>
          <p:nvSpPr>
            <p:cNvPr id="43" name="Text Box 34">
              <a:extLst>
                <a:ext uri="{FF2B5EF4-FFF2-40B4-BE49-F238E27FC236}">
                  <a16:creationId xmlns:a16="http://schemas.microsoft.com/office/drawing/2014/main" id="{172610F4-B2F0-FF41-85C5-6E82378D621F}"/>
                </a:ext>
              </a:extLst>
            </p:cNvPr>
            <p:cNvSpPr txBox="1">
              <a:spLocks noChangeArrowheads="1"/>
            </p:cNvSpPr>
            <p:nvPr/>
          </p:nvSpPr>
          <p:spPr bwMode="auto">
            <a:xfrm>
              <a:off x="2843" y="3154"/>
              <a:ext cx="858" cy="311"/>
            </a:xfrm>
            <a:prstGeom prst="rect">
              <a:avLst/>
            </a:prstGeom>
            <a:grpFill/>
            <a:ln w="9525" cap="sq">
              <a:noFill/>
              <a:miter lim="800000"/>
              <a:headEnd/>
              <a:tailEnd/>
            </a:ln>
            <a:effectLst>
              <a:prstShdw prst="shdw17" dist="35921" dir="2700000">
                <a:srgbClr val="F8F8F8"/>
              </a:prstShdw>
            </a:effectLst>
          </p:spPr>
          <p:txBody>
            <a:bodyPr>
              <a:spAutoFit/>
            </a:bodyPr>
            <a:lstStyle/>
            <a:p>
              <a:pPr algn="just">
                <a:spcBef>
                  <a:spcPct val="50000"/>
                </a:spcBef>
                <a:defRPr/>
              </a:pPr>
              <a:r>
                <a:rPr lang="zh-CN" altLang="en-US" sz="1600" dirty="0">
                  <a:latin typeface="Times New Roman" pitchFamily="18" charset="0"/>
                </a:rPr>
                <a:t>软件配置</a:t>
              </a:r>
            </a:p>
          </p:txBody>
        </p:sp>
      </p:grpSp>
      <p:sp>
        <p:nvSpPr>
          <p:cNvPr id="44" name="Rectangle 7">
            <a:extLst>
              <a:ext uri="{FF2B5EF4-FFF2-40B4-BE49-F238E27FC236}">
                <a16:creationId xmlns:a16="http://schemas.microsoft.com/office/drawing/2014/main" id="{52D7006A-01D8-7A49-8706-3D208E5F7A7C}"/>
              </a:ext>
            </a:extLst>
          </p:cNvPr>
          <p:cNvSpPr txBox="1">
            <a:spLocks noChangeArrowheads="1"/>
          </p:cNvSpPr>
          <p:nvPr/>
        </p:nvSpPr>
        <p:spPr>
          <a:xfrm>
            <a:off x="1031218" y="1790057"/>
            <a:ext cx="7190218" cy="1429107"/>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gn="just">
              <a:lnSpc>
                <a:spcPct val="100000"/>
              </a:lnSpc>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确认测试又称有效性测试，它的任务是检查软件的功能与性能是否与需求说明书中确定的指标相符合，是否达到了系统设计确定的全部要求</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285750" indent="-285750" algn="just">
              <a:lnSpc>
                <a:spcPct val="100000"/>
              </a:lnSpc>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确认测试阶段包括：进行</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有效性测试</a:t>
            </a:r>
            <a:r>
              <a:rPr lang="zh-CN" altLang="en-US" sz="1800" dirty="0">
                <a:solidFill>
                  <a:schemeClr val="tx2"/>
                </a:solidFill>
                <a:latin typeface="Microsoft YaHei" panose="020B0503020204020204" pitchFamily="34" charset="-122"/>
                <a:ea typeface="Microsoft YaHei" panose="020B0503020204020204" pitchFamily="34" charset="-122"/>
              </a:rPr>
              <a:t>与</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软件配置审查</a:t>
            </a:r>
            <a:r>
              <a:rPr lang="zh-CN" altLang="en-US" sz="1800" dirty="0">
                <a:solidFill>
                  <a:schemeClr val="tx2"/>
                </a:solidFill>
                <a:latin typeface="Microsoft YaHei" panose="020B0503020204020204" pitchFamily="34" charset="-122"/>
                <a:ea typeface="Microsoft YaHei" panose="020B0503020204020204" pitchFamily="34" charset="-122"/>
              </a:rPr>
              <a:t>两项工作</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endParaRPr lang="en-US" altLang="zh-CN" sz="1800" dirty="0">
              <a:solidFill>
                <a:schemeClr val="tx2"/>
              </a:solidFill>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1722556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1000"/>
                                        <p:tgtEl>
                                          <p:spTgt spid="44"/>
                                        </p:tgtEl>
                                      </p:cBhvr>
                                    </p:animEffect>
                                    <p:anim calcmode="lin" valueType="num">
                                      <p:cBhvr>
                                        <p:cTn id="17" dur="1000" fill="hold"/>
                                        <p:tgtEl>
                                          <p:spTgt spid="44"/>
                                        </p:tgtEl>
                                        <p:attrNameLst>
                                          <p:attrName>ppt_x</p:attrName>
                                        </p:attrNameLst>
                                      </p:cBhvr>
                                      <p:tavLst>
                                        <p:tav tm="0">
                                          <p:val>
                                            <p:strVal val="#ppt_x"/>
                                          </p:val>
                                        </p:tav>
                                        <p:tav tm="100000">
                                          <p:val>
                                            <p:strVal val="#ppt_x"/>
                                          </p:val>
                                        </p:tav>
                                      </p:tavLst>
                                    </p:anim>
                                    <p:anim calcmode="lin" valueType="num">
                                      <p:cBhvr>
                                        <p:cTn id="1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4" grpId="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确认测试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进行有效性测试</a:t>
            </a: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有效性测试：是在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模拟</a:t>
            </a:r>
            <a:r>
              <a:rPr lang="zh-CN" altLang="en-US" sz="1800" dirty="0">
                <a:solidFill>
                  <a:srgbClr val="000000"/>
                </a:solidFill>
                <a:latin typeface="微软雅黑" panose="020B0503020204020204" pitchFamily="34" charset="-122"/>
                <a:sym typeface="微软雅黑" panose="020B0503020204020204" pitchFamily="34" charset="-122"/>
              </a:rPr>
              <a:t>的环境下，也可能就是</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开发环境</a:t>
            </a:r>
            <a:r>
              <a:rPr lang="zh-CN" altLang="en-US" sz="1800" dirty="0">
                <a:solidFill>
                  <a:srgbClr val="000000"/>
                </a:solidFill>
                <a:latin typeface="微软雅黑" panose="020B0503020204020204" pitchFamily="34" charset="-122"/>
                <a:sym typeface="微软雅黑" panose="020B0503020204020204" pitchFamily="34" charset="-122"/>
              </a:rPr>
              <a:t>下，运用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黑盒测试</a:t>
            </a:r>
            <a:r>
              <a:rPr lang="zh-CN" altLang="en-US" sz="1800" dirty="0">
                <a:solidFill>
                  <a:srgbClr val="000000"/>
                </a:solidFill>
                <a:latin typeface="微软雅黑" panose="020B0503020204020204" pitchFamily="34" charset="-122"/>
                <a:sym typeface="微软雅黑" panose="020B0503020204020204" pitchFamily="34" charset="-122"/>
              </a:rPr>
              <a:t>的方法，验证被测软件是否满足需求规格说明书列出的需求</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首先，需要制定测试计划，确定要完成测试的种类，还需要制定一组测试步骤，并设计具体的测试用例</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36000"/>
              </a:lnSpc>
              <a:spcBef>
                <a:spcPct val="200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通过实施预定的测试计划和测试步骤，以确定：</a:t>
            </a:r>
            <a:br>
              <a:rPr lang="en-US" altLang="zh-CN" sz="1800" dirty="0">
                <a:solidFill>
                  <a:srgbClr val="000000"/>
                </a:solidFill>
                <a:latin typeface="微软雅黑" panose="020B0503020204020204" pitchFamily="34" charset="-122"/>
                <a:sym typeface="微软雅黑" panose="020B0503020204020204" pitchFamily="34" charset="-122"/>
              </a:rPr>
            </a:br>
            <a:r>
              <a:rPr lang="en-US" altLang="zh-CN"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 软件的特性是否与需求相符；</a:t>
            </a:r>
            <a:endParaRPr lang="en-US" altLang="zh-CN" sz="1800" dirty="0">
              <a:solidFill>
                <a:srgbClr val="000000"/>
              </a:solidFill>
              <a:latin typeface="微软雅黑" panose="020B0503020204020204" pitchFamily="34" charset="-122"/>
              <a:sym typeface="微软雅黑" panose="020B0503020204020204" pitchFamily="34" charset="-122"/>
            </a:endParaRPr>
          </a:p>
          <a:p>
            <a:pPr indent="268288">
              <a:lnSpc>
                <a:spcPct val="136000"/>
              </a:lnSpc>
              <a:spcBef>
                <a:spcPct val="20000"/>
              </a:spcBef>
            </a:pPr>
            <a:r>
              <a:rPr lang="en-US" altLang="zh-CN" sz="1800" dirty="0">
                <a:solidFill>
                  <a:srgbClr val="000000"/>
                </a:solidFill>
                <a:latin typeface="微软雅黑" panose="020B0503020204020204" pitchFamily="34" charset="-122"/>
                <a:sym typeface="微软雅黑" panose="020B0503020204020204" pitchFamily="34" charset="-122"/>
              </a:rPr>
              <a:t>—— </a:t>
            </a:r>
            <a:r>
              <a:rPr lang="zh-CN" altLang="en-US" sz="1800" dirty="0">
                <a:solidFill>
                  <a:srgbClr val="000000"/>
                </a:solidFill>
                <a:latin typeface="微软雅黑" panose="020B0503020204020204" pitchFamily="34" charset="-122"/>
                <a:sym typeface="微软雅黑" panose="020B0503020204020204" pitchFamily="34" charset="-122"/>
              </a:rPr>
              <a:t>所有的文档都正确，且便于使用；</a:t>
            </a:r>
          </a:p>
          <a:p>
            <a:pPr marL="846138" indent="-577850">
              <a:lnSpc>
                <a:spcPct val="136000"/>
              </a:lnSpc>
              <a:spcBef>
                <a:spcPct val="20000"/>
              </a:spcBef>
            </a:pPr>
            <a:r>
              <a:rPr lang="en-US" altLang="zh-CN" sz="1800" dirty="0">
                <a:solidFill>
                  <a:srgbClr val="000000"/>
                </a:solidFill>
                <a:latin typeface="微软雅黑" panose="020B0503020204020204" pitchFamily="34" charset="-122"/>
                <a:sym typeface="微软雅黑" panose="020B0503020204020204" pitchFamily="34" charset="-122"/>
              </a:rPr>
              <a:t>—— </a:t>
            </a:r>
            <a:r>
              <a:rPr lang="zh-CN" altLang="en-US" sz="1800" dirty="0">
                <a:solidFill>
                  <a:srgbClr val="000000"/>
                </a:solidFill>
                <a:latin typeface="微软雅黑" panose="020B0503020204020204" pitchFamily="34" charset="-122"/>
                <a:sym typeface="微软雅黑" panose="020B0503020204020204" pitchFamily="34" charset="-122"/>
              </a:rPr>
              <a:t>对其它软件需求，例如：可移植性、兼容性、出错自动恢复、可维护性等，也都要进行测试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973533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确认测试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进行有效性测试</a:t>
            </a:r>
            <a:endParaRPr lang="en-US" altLang="zh-CN"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在全部的测试用例运行完后，所有的测试结果可以分为两类：</a:t>
            </a:r>
            <a:endParaRPr lang="en-US" altLang="zh-CN" sz="1800" dirty="0">
              <a:solidFill>
                <a:srgbClr val="000000"/>
              </a:solidFill>
              <a:latin typeface="微软雅黑" panose="020B0503020204020204" pitchFamily="34" charset="-122"/>
              <a:sym typeface="微软雅黑" panose="020B0503020204020204" pitchFamily="34" charset="-122"/>
            </a:endParaRPr>
          </a:p>
          <a:p>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1</a:t>
            </a:r>
            <a:r>
              <a:rPr lang="zh-CN" altLang="en-US" sz="1800" dirty="0">
                <a:solidFill>
                  <a:srgbClr val="000000"/>
                </a:solidFill>
                <a:latin typeface="微软雅黑" panose="020B0503020204020204" pitchFamily="34" charset="-122"/>
                <a:sym typeface="微软雅黑" panose="020B0503020204020204" pitchFamily="34" charset="-122"/>
              </a:rPr>
              <a:t>）测试结果与预期的结果</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相符</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indent="577850">
              <a:lnSpc>
                <a:spcPct val="136000"/>
              </a:lnSpc>
              <a:spcBef>
                <a:spcPct val="200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这说明软件的这部分功能或性能特征与需求规格说明书相符合，从而这部分程序被接受</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2</a:t>
            </a:r>
            <a:r>
              <a:rPr lang="zh-CN" altLang="en-US" sz="1800" dirty="0">
                <a:solidFill>
                  <a:srgbClr val="000000"/>
                </a:solidFill>
                <a:latin typeface="微软雅黑" panose="020B0503020204020204" pitchFamily="34" charset="-122"/>
                <a:sym typeface="微软雅黑" panose="020B0503020204020204" pitchFamily="34" charset="-122"/>
              </a:rPr>
              <a:t>）测试结果与预期的结果</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不符</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indent="577850">
              <a:lnSpc>
                <a:spcPct val="136000"/>
              </a:lnSpc>
              <a:spcBef>
                <a:spcPct val="200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这说明软件的这部分功能或性能特征与需求规格说明不一致，因此，要为它提交一份问题报告</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indent="577850">
              <a:lnSpc>
                <a:spcPct val="136000"/>
              </a:lnSpc>
              <a:spcBef>
                <a:spcPct val="20000"/>
              </a:spcBef>
            </a:pP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1814618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5.4.3</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确认测试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软件配置审查</a:t>
            </a:r>
          </a:p>
          <a:p>
            <a:pPr marL="849313" indent="-849313"/>
            <a:endParaRPr lang="zh-CN"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软件配置审查的任务：是检查软件的所有</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文档资料</a:t>
            </a:r>
            <a:r>
              <a:rPr lang="zh-CN" altLang="en-US" sz="1800" dirty="0">
                <a:solidFill>
                  <a:srgbClr val="000000"/>
                </a:solidFill>
                <a:latin typeface="微软雅黑" panose="020B0503020204020204" pitchFamily="34" charset="-122"/>
                <a:sym typeface="微软雅黑" panose="020B0503020204020204" pitchFamily="34" charset="-122"/>
              </a:rPr>
              <a:t>的完整性、正确性，如发现遗漏和错误，应补充和改正。同时要编排好目录，为以后的软件维护工作奠定基础</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5556139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系统测试</a:t>
            </a:r>
          </a:p>
        </p:txBody>
      </p:sp>
      <p:grpSp>
        <p:nvGrpSpPr>
          <p:cNvPr id="9" name="组合 8">
            <a:extLst>
              <a:ext uri="{FF2B5EF4-FFF2-40B4-BE49-F238E27FC236}">
                <a16:creationId xmlns:a16="http://schemas.microsoft.com/office/drawing/2014/main" id="{1875A16D-A428-2C4D-B1AF-288254E24240}"/>
              </a:ext>
            </a:extLst>
          </p:cNvPr>
          <p:cNvGrpSpPr/>
          <p:nvPr/>
        </p:nvGrpSpPr>
        <p:grpSpPr>
          <a:xfrm>
            <a:off x="2116330" y="3983253"/>
            <a:ext cx="5922722" cy="2314627"/>
            <a:chOff x="1073823" y="3192857"/>
            <a:chExt cx="7097705" cy="2773816"/>
          </a:xfrm>
        </p:grpSpPr>
        <p:pic>
          <p:nvPicPr>
            <p:cNvPr id="11" name="Picture 2" descr="rjgc-tp-xxnr-050501-01">
              <a:extLst>
                <a:ext uri="{FF2B5EF4-FFF2-40B4-BE49-F238E27FC236}">
                  <a16:creationId xmlns:a16="http://schemas.microsoft.com/office/drawing/2014/main" id="{7F9A1143-D90D-E546-A65E-DC87E45317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823" y="3192857"/>
              <a:ext cx="7097705" cy="277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a:extLst>
                <a:ext uri="{FF2B5EF4-FFF2-40B4-BE49-F238E27FC236}">
                  <a16:creationId xmlns:a16="http://schemas.microsoft.com/office/drawing/2014/main" id="{89382957-840E-AB42-9A39-C35A411C2A33}"/>
                </a:ext>
              </a:extLst>
            </p:cNvPr>
            <p:cNvSpPr/>
            <p:nvPr/>
          </p:nvSpPr>
          <p:spPr>
            <a:xfrm>
              <a:off x="385858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B7B428BD-D795-204A-97F7-5A4DD2272EE2}"/>
                </a:ext>
              </a:extLst>
            </p:cNvPr>
            <p:cNvSpPr/>
            <p:nvPr/>
          </p:nvSpPr>
          <p:spPr>
            <a:xfrm>
              <a:off x="50985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BDCC6BBF-CC93-9F4F-A96F-19EA82072E33}"/>
                </a:ext>
              </a:extLst>
            </p:cNvPr>
            <p:cNvSpPr/>
            <p:nvPr/>
          </p:nvSpPr>
          <p:spPr>
            <a:xfrm>
              <a:off x="63939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BC70CB3E-C020-7643-A746-0A22380F7431}"/>
                </a:ext>
              </a:extLst>
            </p:cNvPr>
            <p:cNvSpPr/>
            <p:nvPr/>
          </p:nvSpPr>
          <p:spPr>
            <a:xfrm>
              <a:off x="763662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9" name="椭圆 18">
            <a:extLst>
              <a:ext uri="{FF2B5EF4-FFF2-40B4-BE49-F238E27FC236}">
                <a16:creationId xmlns:a16="http://schemas.microsoft.com/office/drawing/2014/main" id="{1AFEAFE7-B12E-6A4B-BBA0-9CE83ECE7007}"/>
              </a:ext>
            </a:extLst>
          </p:cNvPr>
          <p:cNvSpPr/>
          <p:nvPr/>
        </p:nvSpPr>
        <p:spPr>
          <a:xfrm>
            <a:off x="6077680" y="4855924"/>
            <a:ext cx="471150" cy="4711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658039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系统测试的内容，与被测试系统的特性有关，通常有：</a:t>
            </a:r>
            <a:endParaRPr lang="en-US" altLang="zh-CN" sz="20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1</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功能</a:t>
            </a:r>
            <a:r>
              <a:rPr lang="zh-CN" altLang="en-US" sz="2000" dirty="0">
                <a:solidFill>
                  <a:srgbClr val="000000"/>
                </a:solidFill>
                <a:latin typeface="微软雅黑" panose="020B0503020204020204" pitchFamily="34" charset="-122"/>
                <a:sym typeface="微软雅黑" panose="020B0503020204020204" pitchFamily="34" charset="-122"/>
              </a:rPr>
              <a:t>测试</a:t>
            </a: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又称</a:t>
            </a:r>
            <a:r>
              <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rPr>
              <a:t>正确性测试</a:t>
            </a:r>
            <a:r>
              <a:rPr lang="zh-CN" altLang="en-US" sz="1800" dirty="0">
                <a:solidFill>
                  <a:srgbClr val="000000"/>
                </a:solidFill>
                <a:latin typeface="微软雅黑" panose="020B0503020204020204" pitchFamily="34" charset="-122"/>
                <a:sym typeface="微软雅黑" panose="020B0503020204020204" pitchFamily="34" charset="-122"/>
              </a:rPr>
              <a:t>，它检查软件的功能是否符合需求规格说明书。由于正确性是软件最重要的质量因素，所以，其测试也最重要</a:t>
            </a:r>
            <a:endParaRPr lang="en-US" altLang="zh-CN" sz="1800" dirty="0">
              <a:solidFill>
                <a:srgbClr val="CC6600"/>
              </a:solidFill>
              <a:sym typeface="微软雅黑" panose="020B0503020204020204" pitchFamily="34" charset="-122"/>
            </a:endParaRPr>
          </a:p>
          <a:p>
            <a:pPr>
              <a:lnSpc>
                <a:spcPct val="160000"/>
              </a:lnSpc>
            </a:pPr>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2</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性能</a:t>
            </a:r>
            <a:r>
              <a:rPr lang="zh-CN" altLang="en-US" sz="2000" dirty="0">
                <a:solidFill>
                  <a:srgbClr val="000000"/>
                </a:solidFill>
                <a:latin typeface="微软雅黑" panose="020B0503020204020204" pitchFamily="34" charset="-122"/>
                <a:sym typeface="微软雅黑" panose="020B0503020204020204" pitchFamily="34" charset="-122"/>
              </a:rPr>
              <a:t>测试</a:t>
            </a:r>
            <a:endParaRPr lang="en-US" altLang="zh-CN" sz="20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是用来测试软件在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集成系统</a:t>
            </a:r>
            <a:r>
              <a:rPr lang="zh-CN" altLang="en-US" sz="1800" dirty="0">
                <a:solidFill>
                  <a:srgbClr val="000000"/>
                </a:solidFill>
                <a:latin typeface="微软雅黑" panose="020B0503020204020204" pitchFamily="34" charset="-122"/>
                <a:sym typeface="微软雅黑" panose="020B0503020204020204" pitchFamily="34" charset="-122"/>
              </a:rPr>
              <a:t>中的运行性能，特别是针对实时系统</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可以在测试过程的任意阶段进行，但只有当整个系统的所有成分都集成到一起后，才能检查一个系统的真正性能</a:t>
            </a:r>
            <a:endParaRPr lang="en-US" altLang="zh-CN" sz="1800" dirty="0">
              <a:solidFill>
                <a:srgbClr val="000000"/>
              </a:solidFill>
              <a:latin typeface="微软雅黑" panose="020B0503020204020204" pitchFamily="34" charset="-122"/>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5498566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3</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安全</a:t>
            </a:r>
            <a:r>
              <a:rPr lang="zh-CN" altLang="en-US" sz="2000" dirty="0">
                <a:solidFill>
                  <a:srgbClr val="000000"/>
                </a:solidFill>
                <a:latin typeface="微软雅黑" panose="020B0503020204020204" pitchFamily="34" charset="-122"/>
                <a:sym typeface="微软雅黑" panose="020B0503020204020204" pitchFamily="34" charset="-122"/>
              </a:rPr>
              <a:t>测试</a:t>
            </a: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安全测试的目的：在于验证安装在系统内的保护机制，能够在实际中保护系统，并不受非法侵入，不受各种非法的干扰</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安全测试：要设置一些测试用例，试图突破系统的安全保密措施，检验系统是否有安全保密的</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漏洞</a:t>
            </a:r>
            <a:endParaRPr lang="en-US" altLang="zh-CN" sz="1800" dirty="0">
              <a:solidFill>
                <a:srgbClr val="CC6600"/>
              </a:solidFill>
              <a:highlight>
                <a:srgbClr val="FFFF00"/>
              </a:highlight>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32606360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fontScale="92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dirty="0">
                <a:solidFill>
                  <a:srgbClr val="000000"/>
                </a:solidFill>
                <a:latin typeface="微软雅黑" panose="020B0503020204020204" pitchFamily="34" charset="-122"/>
                <a:sym typeface="微软雅黑" panose="020B0503020204020204" pitchFamily="34" charset="-122"/>
              </a:rPr>
              <a:t>（</a:t>
            </a:r>
            <a:r>
              <a:rPr lang="en-US" altLang="zh-CN" dirty="0">
                <a:solidFill>
                  <a:srgbClr val="000000"/>
                </a:solidFill>
                <a:latin typeface="微软雅黑" panose="020B0503020204020204" pitchFamily="34" charset="-122"/>
                <a:sym typeface="微软雅黑" panose="020B0503020204020204" pitchFamily="34" charset="-122"/>
              </a:rPr>
              <a:t>4</a:t>
            </a:r>
            <a:r>
              <a:rPr lang="zh-CN" altLang="en-US" dirty="0">
                <a:solidFill>
                  <a:srgbClr val="000000"/>
                </a:solidFill>
                <a:latin typeface="微软雅黑" panose="020B0503020204020204" pitchFamily="34" charset="-122"/>
                <a:sym typeface="微软雅黑" panose="020B0503020204020204" pitchFamily="34" charset="-122"/>
              </a:rPr>
              <a:t>）</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恢复</a:t>
            </a:r>
            <a:r>
              <a:rPr lang="zh-CN" altLang="en-US" dirty="0">
                <a:solidFill>
                  <a:srgbClr val="000000"/>
                </a:solidFill>
                <a:latin typeface="微软雅黑" panose="020B0503020204020204" pitchFamily="34" charset="-122"/>
                <a:sym typeface="微软雅黑" panose="020B0503020204020204" pitchFamily="34" charset="-122"/>
              </a:rPr>
              <a:t>测试</a:t>
            </a: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操作系统、数据库管理系统等都有恢复机制，即当系统受到某些外部事故的破坏时，能够重新恢复正常工作</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恢复测试：通过各种手段，强制性地使软件出错，而不能正常工作，进而检验系统的恢复能力</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如果系统恢复是自动的，则应检验：重新初始化，检验点设置机构、</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数据</a:t>
            </a:r>
            <a:r>
              <a:rPr lang="zh-CN" altLang="en-US" sz="1800" dirty="0">
                <a:solidFill>
                  <a:srgbClr val="000000"/>
                </a:solidFill>
                <a:latin typeface="微软雅黑" panose="020B0503020204020204" pitchFamily="34" charset="-122"/>
                <a:sym typeface="微软雅黑" panose="020B0503020204020204" pitchFamily="34" charset="-122"/>
              </a:rPr>
              <a:t>恢复以及重新启动是否正确</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如果这一恢复需要人为干预，则应考虑平均修复时间是否在限定的范围以内</a:t>
            </a:r>
            <a:endParaRPr lang="zh-CN" altLang="en-US" sz="2000" dirty="0">
              <a:solidFill>
                <a:srgbClr val="CC6600"/>
              </a:solidFill>
              <a:sym typeface="微软雅黑" panose="020B0503020204020204" pitchFamily="34" charset="-122"/>
            </a:endParaRPr>
          </a:p>
          <a:p>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6219644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5</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容量</a:t>
            </a:r>
            <a:r>
              <a:rPr lang="zh-CN" altLang="en-US" sz="2000" dirty="0">
                <a:solidFill>
                  <a:srgbClr val="000000"/>
                </a:solidFill>
                <a:latin typeface="微软雅黑" panose="020B0503020204020204" pitchFamily="34" charset="-122"/>
                <a:sym typeface="微软雅黑" panose="020B0503020204020204" pitchFamily="34" charset="-122"/>
              </a:rPr>
              <a:t>测试</a:t>
            </a: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容量测试：是要检验系统的能力，最高能达到什么程度</a:t>
            </a:r>
            <a:endParaRPr lang="en-US" altLang="zh-CN" sz="1800" dirty="0">
              <a:solidFill>
                <a:srgbClr val="000000"/>
              </a:solidFill>
              <a:latin typeface="微软雅黑" panose="020B0503020204020204" pitchFamily="34" charset="-122"/>
              <a:sym typeface="微软雅黑" panose="020B0503020204020204" pitchFamily="34" charset="-122"/>
            </a:endParaRPr>
          </a:p>
          <a:p>
            <a:pPr>
              <a:spcBef>
                <a:spcPts val="600"/>
              </a:spcBef>
            </a:pPr>
            <a:endParaRPr lang="en-US" altLang="zh-CN" sz="1800" dirty="0">
              <a:solidFill>
                <a:srgbClr val="000000"/>
              </a:solidFill>
              <a:latin typeface="微软雅黑" panose="020B0503020204020204" pitchFamily="34" charset="-122"/>
              <a:sym typeface="微软雅黑" panose="020B0503020204020204" pitchFamily="34" charset="-122"/>
            </a:endParaRPr>
          </a:p>
          <a:p>
            <a:pPr>
              <a:spcBef>
                <a:spcPts val="6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例如，对于编译程序，让它处理特别长的源程序；</a:t>
            </a:r>
          </a:p>
          <a:p>
            <a:pPr>
              <a:spcBef>
                <a:spcPts val="6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对于操作系统，让它的作业队列“满员”；</a:t>
            </a:r>
          </a:p>
          <a:p>
            <a:pPr>
              <a:spcBef>
                <a:spcPts val="6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对于信息检索系统，让它使用频率达到最大。</a:t>
            </a:r>
          </a:p>
          <a:p>
            <a:pPr>
              <a:spcBef>
                <a:spcPts val="6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在使系统的全部资源达到“</a:t>
            </a:r>
            <a:r>
              <a:rPr lang="zh-CN" altLang="en-US" sz="1800"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满负荷</a:t>
            </a: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”的情形下，测试系统的承受能力</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p:txBody>
      </p:sp>
    </p:spTree>
    <p:extLst>
      <p:ext uri="{BB962C8B-B14F-4D97-AF65-F5344CB8AC3E}">
        <p14:creationId xmlns:p14="http://schemas.microsoft.com/office/powerpoint/2010/main" val="36126699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6</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压力</a:t>
            </a:r>
            <a:r>
              <a:rPr lang="zh-CN" altLang="en-US" sz="2000" dirty="0">
                <a:solidFill>
                  <a:srgbClr val="000000"/>
                </a:solidFill>
                <a:latin typeface="微软雅黑" panose="020B0503020204020204" pitchFamily="34" charset="-122"/>
                <a:sym typeface="微软雅黑" panose="020B0503020204020204" pitchFamily="34" charset="-122"/>
              </a:rPr>
              <a:t>测试</a:t>
            </a: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是检查被测系统在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恶劣环境下的表现</a:t>
            </a:r>
            <a:r>
              <a:rPr lang="zh-CN" altLang="en-US" sz="1800" dirty="0">
                <a:solidFill>
                  <a:srgbClr val="000000"/>
                </a:solidFill>
                <a:latin typeface="微软雅黑" panose="020B0503020204020204" pitchFamily="34" charset="-122"/>
                <a:sym typeface="微软雅黑" panose="020B0503020204020204" pitchFamily="34" charset="-122"/>
              </a:rPr>
              <a:t>（如：内存不足，访问量急剧增加，海量数据等）。在这种情况下，被测系统往往运行缓慢，能暴露许多在高速运行时，不易发生的问题</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是测试系统在非正常的、超负荷的条件下的运行情况，用来评估在</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超越最大负载</a:t>
            </a:r>
            <a:r>
              <a:rPr lang="zh-CN" altLang="en-US" sz="1800" dirty="0">
                <a:solidFill>
                  <a:srgbClr val="000000"/>
                </a:solidFill>
                <a:latin typeface="微软雅黑" panose="020B0503020204020204" pitchFamily="34" charset="-122"/>
                <a:sym typeface="微软雅黑" panose="020B0503020204020204" pitchFamily="34" charset="-122"/>
              </a:rPr>
              <a:t>的情况下，系统将如何运行，考验系统在正常的情况下，对某种负载强度的承受能力</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是一种</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破坏性的测试</a:t>
            </a:r>
            <a:r>
              <a:rPr lang="zh-CN" altLang="en-US" sz="1800" dirty="0">
                <a:solidFill>
                  <a:srgbClr val="000000"/>
                </a:solidFill>
                <a:latin typeface="微软雅黑" panose="020B0503020204020204" pitchFamily="34" charset="-122"/>
                <a:sym typeface="微软雅黑" panose="020B0503020204020204" pitchFamily="34" charset="-122"/>
              </a:rPr>
              <a:t>，用以判断系统的稳定性和可靠性</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0314327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a:t>
            </a:r>
            <a:r>
              <a:rPr lang="en-US" altLang="zh-CN" sz="2000" dirty="0">
                <a:solidFill>
                  <a:srgbClr val="000000"/>
                </a:solidFill>
                <a:latin typeface="微软雅黑" panose="020B0503020204020204" pitchFamily="34" charset="-122"/>
                <a:sym typeface="微软雅黑" panose="020B0503020204020204" pitchFamily="34" charset="-122"/>
              </a:rPr>
              <a:t>7</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文档</a:t>
            </a:r>
            <a:r>
              <a:rPr lang="zh-CN" altLang="en-US" sz="2000" dirty="0">
                <a:solidFill>
                  <a:srgbClr val="000000"/>
                </a:solidFill>
                <a:latin typeface="微软雅黑" panose="020B0503020204020204" pitchFamily="34" charset="-122"/>
                <a:sym typeface="微软雅黑" panose="020B0503020204020204" pitchFamily="34" charset="-122"/>
              </a:rPr>
              <a:t>测试</a:t>
            </a:r>
          </a:p>
          <a:p>
            <a:pPr marL="357188" indent="-357188">
              <a:spcBef>
                <a:spcPts val="6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文档测试：主要</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检查</a:t>
            </a:r>
            <a:r>
              <a:rPr lang="zh-CN" altLang="en-US" sz="1800" dirty="0">
                <a:solidFill>
                  <a:srgbClr val="000000"/>
                </a:solidFill>
                <a:latin typeface="微软雅黑" panose="020B0503020204020204" pitchFamily="34" charset="-122"/>
                <a:sym typeface="微软雅黑" panose="020B0503020204020204" pitchFamily="34" charset="-122"/>
              </a:rPr>
              <a:t>文档的正确性、完备性和可理解性。</a:t>
            </a:r>
          </a:p>
          <a:p>
            <a:pPr marL="357188" indent="-357188">
              <a:spcBef>
                <a:spcPts val="6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这里的正确性：是指不要把软件的功能和操作写错，也不允许文档内容前后矛盾。</a:t>
            </a:r>
          </a:p>
          <a:p>
            <a:pPr marL="357188" indent="-357188">
              <a:spcBef>
                <a:spcPts val="6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完备性：是指文档不可以“虎头蛇尾”，更不许漏掉关键内容。</a:t>
            </a:r>
          </a:p>
          <a:p>
            <a:pPr marL="357188" indent="-357188">
              <a:spcBef>
                <a:spcPts val="6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可理解性：是指文档要让大众用户看得懂，能理解</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8393545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系统测试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r>
              <a:rPr lang="zh-CN" altLang="en-US" sz="2000" dirty="0">
                <a:solidFill>
                  <a:srgbClr val="000000"/>
                </a:solidFill>
                <a:latin typeface="微软雅黑" panose="020B0503020204020204" pitchFamily="34" charset="-122"/>
                <a:sym typeface="微软雅黑" panose="020B0503020204020204" pitchFamily="34" charset="-122"/>
              </a:rPr>
              <a:t>总之，系统测试是一项比较</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灵活的工作</a:t>
            </a:r>
            <a:r>
              <a:rPr lang="zh-CN" altLang="en-US" sz="2000" dirty="0">
                <a:solidFill>
                  <a:srgbClr val="000000"/>
                </a:solidFill>
                <a:latin typeface="微软雅黑" panose="020B0503020204020204" pitchFamily="34" charset="-122"/>
                <a:sym typeface="微软雅黑" panose="020B0503020204020204" pitchFamily="34" charset="-122"/>
              </a:rPr>
              <a:t>，对测试人员有较高的要求，既要很了解用户的环境和系统的使用，又要从事各类测试的经验和丰富的软件知识。</a:t>
            </a:r>
            <a:endParaRPr lang="en-US" altLang="zh-CN" sz="2000" dirty="0">
              <a:solidFill>
                <a:srgbClr val="000000"/>
              </a:solidFill>
              <a:latin typeface="微软雅黑" panose="020B0503020204020204" pitchFamily="34" charset="-122"/>
              <a:sym typeface="微软雅黑" panose="020B0503020204020204" pitchFamily="34" charset="-122"/>
            </a:endParaRPr>
          </a:p>
          <a:p>
            <a:r>
              <a:rPr lang="zh-CN" altLang="en-US" sz="2000" dirty="0">
                <a:solidFill>
                  <a:srgbClr val="000000"/>
                </a:solidFill>
                <a:latin typeface="微软雅黑" panose="020B0503020204020204" pitchFamily="34" charset="-122"/>
                <a:sym typeface="微软雅黑" panose="020B0503020204020204" pitchFamily="34" charset="-122"/>
              </a:rPr>
              <a:t>参加人员为：有经验的系统测试</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专家</a:t>
            </a:r>
            <a:r>
              <a:rPr lang="zh-CN" altLang="en-US" sz="2000" dirty="0">
                <a:solidFill>
                  <a:srgbClr val="000000"/>
                </a:solidFill>
                <a:latin typeface="微软雅黑" panose="020B0503020204020204" pitchFamily="34" charset="-122"/>
                <a:sym typeface="微软雅黑" panose="020B0503020204020204" pitchFamily="34" charset="-122"/>
              </a:rPr>
              <a:t>，用户代表，软件系统的分析员或设计员</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2113790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5.4.5</a:t>
            </a:r>
            <a:r>
              <a:rPr lang="zh-CN" altLang="en-US" dirty="0">
                <a:solidFill>
                  <a:srgbClr val="4E8F00"/>
                </a:solidFill>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验收测试</a:t>
            </a:r>
          </a:p>
        </p:txBody>
      </p:sp>
      <p:grpSp>
        <p:nvGrpSpPr>
          <p:cNvPr id="9" name="组合 8">
            <a:extLst>
              <a:ext uri="{FF2B5EF4-FFF2-40B4-BE49-F238E27FC236}">
                <a16:creationId xmlns:a16="http://schemas.microsoft.com/office/drawing/2014/main" id="{D057247C-B67A-2145-8AE8-334C695B4B7D}"/>
              </a:ext>
            </a:extLst>
          </p:cNvPr>
          <p:cNvGrpSpPr/>
          <p:nvPr/>
        </p:nvGrpSpPr>
        <p:grpSpPr>
          <a:xfrm>
            <a:off x="2116330" y="3983253"/>
            <a:ext cx="5922722" cy="2314627"/>
            <a:chOff x="1073823" y="3192857"/>
            <a:chExt cx="7097705" cy="2773816"/>
          </a:xfrm>
        </p:grpSpPr>
        <p:pic>
          <p:nvPicPr>
            <p:cNvPr id="11" name="Picture 2" descr="rjgc-tp-xxnr-050501-01">
              <a:extLst>
                <a:ext uri="{FF2B5EF4-FFF2-40B4-BE49-F238E27FC236}">
                  <a16:creationId xmlns:a16="http://schemas.microsoft.com/office/drawing/2014/main" id="{B8A37909-4320-E545-B578-84C3E3213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823" y="3192857"/>
              <a:ext cx="7097705" cy="277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a:extLst>
                <a:ext uri="{FF2B5EF4-FFF2-40B4-BE49-F238E27FC236}">
                  <a16:creationId xmlns:a16="http://schemas.microsoft.com/office/drawing/2014/main" id="{881E16CA-3B42-FA45-ADA5-7C7FF5DEB4E8}"/>
                </a:ext>
              </a:extLst>
            </p:cNvPr>
            <p:cNvSpPr/>
            <p:nvPr/>
          </p:nvSpPr>
          <p:spPr>
            <a:xfrm>
              <a:off x="385858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B223F38C-DEC5-694B-880F-475ED9AA048E}"/>
                </a:ext>
              </a:extLst>
            </p:cNvPr>
            <p:cNvSpPr/>
            <p:nvPr/>
          </p:nvSpPr>
          <p:spPr>
            <a:xfrm>
              <a:off x="50985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7E68A4CD-2A30-F84C-8695-EB44CD22BB29}"/>
                </a:ext>
              </a:extLst>
            </p:cNvPr>
            <p:cNvSpPr/>
            <p:nvPr/>
          </p:nvSpPr>
          <p:spPr>
            <a:xfrm>
              <a:off x="6393969"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4A9B9BB5-6DB4-9747-9B21-4A841FDE80B7}"/>
                </a:ext>
              </a:extLst>
            </p:cNvPr>
            <p:cNvSpPr/>
            <p:nvPr/>
          </p:nvSpPr>
          <p:spPr>
            <a:xfrm>
              <a:off x="7636627" y="3338945"/>
              <a:ext cx="45719" cy="649374"/>
            </a:xfrm>
            <a:prstGeom prst="rect">
              <a:avLst/>
            </a:prstGeom>
            <a:solidFill>
              <a:srgbClr val="FF0000">
                <a:alpha val="66667"/>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9" name="椭圆 18">
            <a:extLst>
              <a:ext uri="{FF2B5EF4-FFF2-40B4-BE49-F238E27FC236}">
                <a16:creationId xmlns:a16="http://schemas.microsoft.com/office/drawing/2014/main" id="{70E4C3C4-E77E-EC4A-BAB6-906DB369BE13}"/>
              </a:ext>
            </a:extLst>
          </p:cNvPr>
          <p:cNvSpPr/>
          <p:nvPr/>
        </p:nvSpPr>
        <p:spPr>
          <a:xfrm>
            <a:off x="7121551" y="4890559"/>
            <a:ext cx="471150" cy="4711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8208119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5.4.5</a:t>
            </a:r>
            <a:r>
              <a:rPr lang="zh-CN" altLang="en-US" dirty="0">
                <a:solidFill>
                  <a:srgbClr val="4E8F00"/>
                </a:solidFill>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验收测试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57188" indent="-357188">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验收测试：一般是在软件系统测试结束，以及软件配置审查之后开始的</a:t>
            </a:r>
            <a:endParaRPr lang="en-US" altLang="zh-CN" sz="1800" dirty="0">
              <a:solidFill>
                <a:srgbClr val="CC6600"/>
              </a:solidFill>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由</a:t>
            </a:r>
            <a:r>
              <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rPr>
              <a:t>用户</a:t>
            </a:r>
            <a:r>
              <a:rPr lang="zh-CN" altLang="en-US" sz="1800" dirty="0">
                <a:solidFill>
                  <a:srgbClr val="C00000"/>
                </a:solidFill>
                <a:latin typeface="微软雅黑" panose="020B0503020204020204" pitchFamily="34" charset="-122"/>
                <a:sym typeface="微软雅黑" panose="020B0503020204020204" pitchFamily="34" charset="-122"/>
              </a:rPr>
              <a:t>、测试人员、开发人员和质量保证人员一起参与</a:t>
            </a:r>
            <a:r>
              <a:rPr lang="zh-CN" altLang="en-US" sz="1800" dirty="0">
                <a:solidFill>
                  <a:srgbClr val="000000"/>
                </a:solidFill>
                <a:latin typeface="微软雅黑" panose="020B0503020204020204" pitchFamily="34" charset="-122"/>
                <a:sym typeface="微软雅黑" panose="020B0503020204020204" pitchFamily="34" charset="-122"/>
              </a:rPr>
              <a:t>，目的是确保软件就绪</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验收测试：可以分为两个大的部分：软件配置审核和可执行程序测试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其大致顺序可分为：</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文档审核、源代码审核、配置审核、测试程序或脚本审核、可执行程序测试</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marL="849313" indent="-849313"/>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41794889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验收测试</a:t>
            </a:r>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878242"/>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57188" indent="-357188">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如果一个软件不是为一个客户，而是为</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许多客户</a:t>
            </a:r>
            <a:r>
              <a:rPr lang="zh-CN" altLang="en-US" sz="1800" dirty="0">
                <a:solidFill>
                  <a:srgbClr val="000000"/>
                </a:solidFill>
                <a:latin typeface="微软雅黑" panose="020B0503020204020204" pitchFamily="34" charset="-122"/>
                <a:sym typeface="微软雅黑" panose="020B0503020204020204" pitchFamily="34" charset="-122"/>
              </a:rPr>
              <a:t>开发的，那么，让每个客户都进行正式的验收测试是不现实的，这时，应该考虑使用 </a:t>
            </a:r>
            <a:r>
              <a:rPr lang="en-US" altLang="zh-CN" sz="1800" dirty="0">
                <a:solidFill>
                  <a:srgbClr val="CC6600"/>
                </a:solidFill>
                <a:highlight>
                  <a:srgbClr val="FFFF00"/>
                </a:highlight>
                <a:latin typeface="微软雅黑" panose="020B0503020204020204" pitchFamily="34" charset="-122"/>
                <a:sym typeface="微软雅黑" panose="020B0503020204020204" pitchFamily="34" charset="-122"/>
              </a:rPr>
              <a:t>α</a:t>
            </a:r>
            <a:r>
              <a:rPr lang="zh-CN" altLang="en-US" sz="1800" dirty="0">
                <a:solidFill>
                  <a:srgbClr val="CC6600"/>
                </a:solidFill>
                <a:highlight>
                  <a:srgbClr val="FFFF00"/>
                </a:highlight>
                <a:latin typeface="微软雅黑" panose="020B0503020204020204" pitchFamily="34" charset="-122"/>
                <a:sym typeface="微软雅黑" panose="020B0503020204020204" pitchFamily="34" charset="-122"/>
              </a:rPr>
              <a:t> </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测试</a:t>
            </a:r>
            <a:r>
              <a:rPr lang="zh-CN" altLang="en-US" sz="1800" dirty="0">
                <a:solidFill>
                  <a:srgbClr val="000000"/>
                </a:solidFill>
                <a:latin typeface="微软雅黑" panose="020B0503020204020204" pitchFamily="34" charset="-122"/>
                <a:sym typeface="微软雅黑" panose="020B0503020204020204" pitchFamily="34" charset="-122"/>
              </a:rPr>
              <a:t>和 </a:t>
            </a:r>
            <a:r>
              <a:rPr lang="en-US" altLang="zh-CN" sz="1800" dirty="0">
                <a:solidFill>
                  <a:srgbClr val="CC6600"/>
                </a:solidFill>
                <a:highlight>
                  <a:srgbClr val="FFFF00"/>
                </a:highlight>
                <a:latin typeface="微软雅黑" panose="020B0503020204020204" pitchFamily="34" charset="-122"/>
                <a:sym typeface="微软雅黑" panose="020B0503020204020204" pitchFamily="34" charset="-122"/>
              </a:rPr>
              <a:t>β</a:t>
            </a:r>
            <a:r>
              <a:rPr lang="zh-CN" altLang="en-US" sz="1800" dirty="0">
                <a:solidFill>
                  <a:srgbClr val="CC6600"/>
                </a:solidFill>
                <a:highlight>
                  <a:srgbClr val="FFFF00"/>
                </a:highlight>
                <a:latin typeface="微软雅黑" panose="020B0503020204020204" pitchFamily="34" charset="-122"/>
                <a:sym typeface="微软雅黑" panose="020B0503020204020204" pitchFamily="34" charset="-122"/>
              </a:rPr>
              <a:t> </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测试</a:t>
            </a:r>
            <a:r>
              <a:rPr lang="zh-CN" altLang="en-US" sz="1800" dirty="0">
                <a:solidFill>
                  <a:srgbClr val="000000"/>
                </a:solidFill>
                <a:latin typeface="微软雅黑" panose="020B0503020204020204" pitchFamily="34" charset="-122"/>
                <a:sym typeface="微软雅黑" panose="020B0503020204020204" pitchFamily="34" charset="-122"/>
              </a:rPr>
              <a:t>，来发现看起来只有最终客户才能发现的错误</a:t>
            </a:r>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31640151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验收测试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a:t>
            </a:r>
            <a:r>
              <a:rPr lang="en-US" altLang="zh-CN" sz="2400" dirty="0">
                <a:solidFill>
                  <a:srgbClr val="CC6600"/>
                </a:solidFill>
              </a:rPr>
              <a:t>Alpha </a:t>
            </a:r>
            <a:r>
              <a:rPr lang="zh-CN" altLang="en-US" sz="2400" dirty="0">
                <a:solidFill>
                  <a:srgbClr val="CC6600"/>
                </a:solidFill>
              </a:rPr>
              <a:t>测试（</a:t>
            </a:r>
            <a:r>
              <a:rPr lang="en-US" altLang="zh-CN" sz="2400" dirty="0">
                <a:solidFill>
                  <a:srgbClr val="CC6600"/>
                </a:solidFill>
              </a:rPr>
              <a:t>α</a:t>
            </a:r>
            <a:r>
              <a:rPr lang="zh-CN" altLang="en-US" sz="2400" dirty="0">
                <a:solidFill>
                  <a:srgbClr val="CC6600"/>
                </a:solidFill>
              </a:rPr>
              <a:t> 测试）</a:t>
            </a:r>
            <a:endParaRPr lang="zh-CN" altLang="en-US"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0" y="2427058"/>
            <a:ext cx="7125729"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800" dirty="0"/>
              <a:t>Alpha </a:t>
            </a:r>
            <a:r>
              <a:rPr lang="zh-CN" altLang="en-US" sz="1800" dirty="0"/>
              <a:t>测试：</a:t>
            </a:r>
            <a:r>
              <a:rPr lang="zh-CN" altLang="en-US" sz="1800" dirty="0">
                <a:solidFill>
                  <a:srgbClr val="C00000"/>
                </a:solidFill>
              </a:rPr>
              <a:t>是指在开发者的现场进行，并且开发者</a:t>
            </a:r>
            <a:r>
              <a:rPr lang="zh-CN" altLang="en-US" sz="1800" dirty="0">
                <a:solidFill>
                  <a:srgbClr val="C00000"/>
                </a:solidFill>
                <a:highlight>
                  <a:srgbClr val="FFFF00"/>
                </a:highlight>
              </a:rPr>
              <a:t>提供对用户指导</a:t>
            </a:r>
            <a:r>
              <a:rPr lang="zh-CN" altLang="en-US" sz="1800" dirty="0">
                <a:solidFill>
                  <a:srgbClr val="C00000"/>
                </a:solidFill>
              </a:rPr>
              <a:t>下进行的测试</a:t>
            </a:r>
            <a:endParaRPr lang="en-US" altLang="zh-CN" sz="1800" dirty="0">
              <a:solidFill>
                <a:srgbClr val="C00000"/>
              </a:solidFill>
            </a:endParaRPr>
          </a:p>
          <a:p>
            <a:pPr marL="285750" indent="-285750">
              <a:buFont typeface="Arial" panose="020B0604020202020204" pitchFamily="34" charset="0"/>
              <a:buChar char="•"/>
            </a:pPr>
            <a:r>
              <a:rPr lang="zh-CN" altLang="en-US" sz="1800" dirty="0"/>
              <a:t>担任测试人员的用户是除开软件开发人员之外，首先见到软件产品的人，他们提出的修改意见，具有特别的价值</a:t>
            </a:r>
            <a:endParaRPr lang="en-US" altLang="zh-CN" sz="1800" dirty="0"/>
          </a:p>
          <a:p>
            <a:pPr marL="285750" indent="-285750">
              <a:buFont typeface="Arial" panose="020B0604020202020204" pitchFamily="34" charset="0"/>
              <a:buChar char="•"/>
            </a:pPr>
            <a:r>
              <a:rPr lang="zh-CN" altLang="en-US" sz="1800" dirty="0"/>
              <a:t>进行</a:t>
            </a:r>
            <a:r>
              <a:rPr lang="en-US" altLang="zh-CN" sz="1800" dirty="0"/>
              <a:t>Alpha </a:t>
            </a:r>
            <a:r>
              <a:rPr lang="zh-CN" altLang="en-US" sz="1800" dirty="0"/>
              <a:t>测试时，开发者往往就坐在用户旁边，随时记下错误情况和使用中的问题。这是一种在</a:t>
            </a:r>
            <a:r>
              <a:rPr lang="zh-CN" altLang="en-US" sz="1800" dirty="0">
                <a:highlight>
                  <a:srgbClr val="FFFF00"/>
                </a:highlight>
              </a:rPr>
              <a:t>受到控制的环境下</a:t>
            </a:r>
            <a:r>
              <a:rPr lang="zh-CN" altLang="en-US" sz="1800" dirty="0"/>
              <a:t>进行的测试</a:t>
            </a:r>
            <a:endParaRPr lang="en-US" altLang="zh-CN" sz="1800" dirty="0"/>
          </a:p>
          <a:p>
            <a:pPr marL="285750" indent="-285750">
              <a:buFont typeface="Arial" panose="020B0604020202020204" pitchFamily="34" charset="0"/>
              <a:buChar char="•"/>
            </a:pPr>
            <a:r>
              <a:rPr lang="en-US" altLang="zh-CN" sz="1800" dirty="0"/>
              <a:t>Alpha </a:t>
            </a:r>
            <a:r>
              <a:rPr lang="zh-CN" altLang="en-US" sz="1800" dirty="0"/>
              <a:t>测试的目的：是让用户就软件的功能、操作界面、性能、可使用性、可靠性和支持等，进行</a:t>
            </a:r>
            <a:r>
              <a:rPr lang="zh-CN" altLang="en-US" sz="1800" dirty="0">
                <a:highlight>
                  <a:srgbClr val="FFFF00"/>
                </a:highlight>
              </a:rPr>
              <a:t>直截了当</a:t>
            </a:r>
            <a:r>
              <a:rPr lang="zh-CN" altLang="en-US" sz="1800" dirty="0"/>
              <a:t>的评价</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buFont typeface="Arial" panose="020B0604020202020204" pitchFamily="34" charset="0"/>
              <a:buChar char="•"/>
            </a:pP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374327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5.4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软件测试的基本过程</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5.4.5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验收测试</a:t>
            </a:r>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a:t>
            </a:r>
            <a:r>
              <a:rPr lang="en-US" altLang="zh-CN" sz="2400" dirty="0">
                <a:solidFill>
                  <a:srgbClr val="CC6600"/>
                </a:solidFill>
                <a:sym typeface="微软雅黑" panose="020B0503020204020204" pitchFamily="34" charset="-122"/>
              </a:rPr>
              <a:t>Beta </a:t>
            </a:r>
            <a:r>
              <a:rPr lang="zh-CN" altLang="en-US" sz="2400" dirty="0">
                <a:solidFill>
                  <a:srgbClr val="CC6600"/>
                </a:solidFill>
                <a:sym typeface="微软雅黑" panose="020B0503020204020204" pitchFamily="34" charset="-122"/>
              </a:rPr>
              <a:t>测试（</a:t>
            </a:r>
            <a:r>
              <a:rPr lang="en-US" altLang="zh-CN" sz="2400" dirty="0">
                <a:solidFill>
                  <a:srgbClr val="CC6600"/>
                </a:solidFill>
                <a:sym typeface="微软雅黑" panose="020B0503020204020204" pitchFamily="34" charset="-122"/>
              </a:rPr>
              <a:t>β</a:t>
            </a:r>
            <a:r>
              <a:rPr lang="zh-CN" altLang="en-US" sz="2400" dirty="0">
                <a:solidFill>
                  <a:srgbClr val="CC6600"/>
                </a:solidFill>
                <a:sym typeface="微软雅黑" panose="020B0503020204020204" pitchFamily="34" charset="-122"/>
              </a:rPr>
              <a:t> 测试</a:t>
            </a:r>
            <a:r>
              <a:rPr lang="zh-CN" altLang="en-US" sz="2400" dirty="0">
                <a:solidFill>
                  <a:srgbClr val="CC6600"/>
                </a:solidFill>
              </a:rPr>
              <a:t>，公测</a:t>
            </a:r>
            <a:r>
              <a:rPr lang="en-US" altLang="zh-CN" sz="2400" dirty="0">
                <a:solidFill>
                  <a:srgbClr val="CC6600"/>
                </a:solidFill>
              </a:rPr>
              <a:t>/</a:t>
            </a:r>
            <a:r>
              <a:rPr lang="zh-CN" altLang="en-US" sz="2400" dirty="0">
                <a:solidFill>
                  <a:srgbClr val="CC6600"/>
                </a:solidFill>
              </a:rPr>
              <a:t>众测</a:t>
            </a:r>
            <a:r>
              <a:rPr lang="zh-CN" altLang="en-US" sz="2400" dirty="0">
                <a:solidFill>
                  <a:srgbClr val="CC6600"/>
                </a:solidFill>
                <a:sym typeface="微软雅黑" panose="020B0503020204020204" pitchFamily="34" charset="-122"/>
              </a:rPr>
              <a:t>）</a:t>
            </a:r>
          </a:p>
          <a:p>
            <a:pPr marL="849313" indent="-849313"/>
            <a:endParaRPr lang="zh-CN"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1342611" y="2427058"/>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gn="just">
              <a:lnSpc>
                <a:spcPct val="130000"/>
              </a:lnSpc>
              <a:spcBef>
                <a:spcPts val="600"/>
              </a:spcBef>
              <a:buFont typeface="Arial" panose="020B0604020202020204" pitchFamily="34" charset="0"/>
              <a:buChar char="•"/>
            </a:pPr>
            <a:r>
              <a:rPr lang="en-US" altLang="zh-CN" sz="1800" dirty="0">
                <a:sym typeface="微软雅黑" panose="020B0503020204020204" pitchFamily="34" charset="-122"/>
              </a:rPr>
              <a:t>Beta </a:t>
            </a:r>
            <a:r>
              <a:rPr lang="zh-CN" altLang="en-US" sz="1800" dirty="0">
                <a:sym typeface="微软雅黑" panose="020B0503020204020204" pitchFamily="34" charset="-122"/>
              </a:rPr>
              <a:t>测试：</a:t>
            </a:r>
            <a:r>
              <a:rPr lang="zh-CN" altLang="en-US" sz="1800" dirty="0">
                <a:solidFill>
                  <a:srgbClr val="C00000"/>
                </a:solidFill>
                <a:sym typeface="微软雅黑" panose="020B0503020204020204" pitchFamily="34" charset="-122"/>
              </a:rPr>
              <a:t>是由软件用户在软件</a:t>
            </a:r>
            <a:r>
              <a:rPr lang="zh-CN" altLang="en-US" sz="1800" dirty="0">
                <a:solidFill>
                  <a:srgbClr val="C00000"/>
                </a:solidFill>
                <a:highlight>
                  <a:srgbClr val="FFFF00"/>
                </a:highlight>
                <a:sym typeface="微软雅黑" panose="020B0503020204020204" pitchFamily="34" charset="-122"/>
              </a:rPr>
              <a:t>实际使用环境下</a:t>
            </a:r>
            <a:r>
              <a:rPr lang="zh-CN" altLang="en-US" sz="1800" dirty="0">
                <a:solidFill>
                  <a:srgbClr val="C00000"/>
                </a:solidFill>
                <a:sym typeface="微软雅黑" panose="020B0503020204020204" pitchFamily="34" charset="-122"/>
              </a:rPr>
              <a:t>进行的测试</a:t>
            </a:r>
            <a:endParaRPr lang="en-US" altLang="zh-CN" sz="1800" dirty="0">
              <a:solidFill>
                <a:srgbClr val="C00000"/>
              </a:solidFill>
            </a:endParaRPr>
          </a:p>
          <a:p>
            <a:pPr marL="285750" indent="-285750" algn="just">
              <a:lnSpc>
                <a:spcPct val="130000"/>
              </a:lnSpc>
              <a:spcBef>
                <a:spcPts val="600"/>
              </a:spcBef>
              <a:buFont typeface="Arial" panose="020B0604020202020204" pitchFamily="34" charset="0"/>
              <a:buChar char="•"/>
            </a:pPr>
            <a:r>
              <a:rPr lang="zh-CN" altLang="en-US" sz="1800" dirty="0">
                <a:sym typeface="微软雅黑" panose="020B0503020204020204" pitchFamily="34" charset="-122"/>
              </a:rPr>
              <a:t>与</a:t>
            </a:r>
            <a:r>
              <a:rPr lang="en-US" altLang="zh-CN" sz="1800" dirty="0">
                <a:sym typeface="微软雅黑" panose="020B0503020204020204" pitchFamily="34" charset="-122"/>
              </a:rPr>
              <a:t>Alpha </a:t>
            </a:r>
            <a:r>
              <a:rPr lang="zh-CN" altLang="en-US" sz="1800" dirty="0">
                <a:sym typeface="微软雅黑" panose="020B0503020204020204" pitchFamily="34" charset="-122"/>
              </a:rPr>
              <a:t>测试不同的是，开发者通常不在测试现场。因此，</a:t>
            </a:r>
            <a:r>
              <a:rPr lang="en-US" altLang="zh-CN" sz="1800" dirty="0">
                <a:sym typeface="微软雅黑" panose="020B0503020204020204" pitchFamily="34" charset="-122"/>
              </a:rPr>
              <a:t>Beta </a:t>
            </a:r>
            <a:r>
              <a:rPr lang="zh-CN" altLang="en-US" sz="1800" dirty="0">
                <a:sym typeface="微软雅黑" panose="020B0503020204020204" pitchFamily="34" charset="-122"/>
              </a:rPr>
              <a:t>测试是在开发者无法控制的环境下，进行的软件现场应用</a:t>
            </a:r>
            <a:endParaRPr lang="en-US" altLang="zh-CN" sz="1800" dirty="0"/>
          </a:p>
          <a:p>
            <a:pPr marL="285750" indent="-285750" algn="just">
              <a:lnSpc>
                <a:spcPct val="130000"/>
              </a:lnSpc>
              <a:spcBef>
                <a:spcPts val="600"/>
              </a:spcBef>
              <a:buFont typeface="Arial" panose="020B0604020202020204" pitchFamily="34" charset="0"/>
              <a:buChar char="•"/>
            </a:pPr>
            <a:r>
              <a:rPr lang="zh-CN" altLang="en-US" sz="1800" dirty="0">
                <a:sym typeface="微软雅黑" panose="020B0503020204020204" pitchFamily="34" charset="-122"/>
              </a:rPr>
              <a:t>在</a:t>
            </a:r>
            <a:r>
              <a:rPr lang="en-US" altLang="zh-CN" sz="1800" dirty="0">
                <a:sym typeface="微软雅黑" panose="020B0503020204020204" pitchFamily="34" charset="-122"/>
              </a:rPr>
              <a:t>Beta </a:t>
            </a:r>
            <a:r>
              <a:rPr lang="zh-CN" altLang="en-US" sz="1800" dirty="0">
                <a:sym typeface="微软雅黑" panose="020B0503020204020204" pitchFamily="34" charset="-122"/>
              </a:rPr>
              <a:t>测试中，由用户自己记录下遇到的所有问题，包括：真实的以及主观认定的，并需要将有关问题的记录以及意见</a:t>
            </a:r>
            <a:r>
              <a:rPr lang="zh-CN" altLang="en-US" sz="1800" dirty="0">
                <a:highlight>
                  <a:srgbClr val="FFFF00"/>
                </a:highlight>
                <a:sym typeface="微软雅黑" panose="020B0503020204020204" pitchFamily="34" charset="-122"/>
              </a:rPr>
              <a:t>反馈</a:t>
            </a:r>
            <a:r>
              <a:rPr lang="zh-CN" altLang="en-US" sz="1800" dirty="0">
                <a:sym typeface="微软雅黑" panose="020B0503020204020204" pitchFamily="34" charset="-122"/>
              </a:rPr>
              <a:t>给开发者，开发者则在综合用户的报告之后，做出修改</a:t>
            </a:r>
            <a:endParaRPr lang="en-US" altLang="zh-CN" sz="1800" dirty="0"/>
          </a:p>
          <a:p>
            <a:pPr marL="285750" indent="-285750" algn="just">
              <a:lnSpc>
                <a:spcPct val="130000"/>
              </a:lnSpc>
              <a:spcBef>
                <a:spcPts val="600"/>
              </a:spcBef>
              <a:buFont typeface="Arial" panose="020B0604020202020204" pitchFamily="34" charset="0"/>
              <a:buChar char="•"/>
            </a:pPr>
            <a:r>
              <a:rPr lang="zh-CN" altLang="en-US" sz="1800" dirty="0">
                <a:sym typeface="微软雅黑" panose="020B0503020204020204" pitchFamily="34" charset="-122"/>
              </a:rPr>
              <a:t>在经过</a:t>
            </a:r>
            <a:r>
              <a:rPr lang="en-US" altLang="zh-CN" sz="1800" dirty="0">
                <a:sym typeface="微软雅黑" panose="020B0503020204020204" pitchFamily="34" charset="-122"/>
              </a:rPr>
              <a:t>Beta</a:t>
            </a:r>
            <a:r>
              <a:rPr lang="zh-CN" altLang="en-US" sz="1800" dirty="0">
                <a:sym typeface="微软雅黑" panose="020B0503020204020204" pitchFamily="34" charset="-122"/>
              </a:rPr>
              <a:t>测试之后，软件产品可交付给全体用户使用</a:t>
            </a:r>
            <a:endParaRPr lang="en-US" altLang="zh-CN" sz="1800" dirty="0">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en-US" altLang="zh-CN" sz="1800" dirty="0">
                <a:sym typeface="微软雅黑" panose="020B0503020204020204" pitchFamily="34" charset="-122"/>
              </a:rPr>
              <a:t>Beta </a:t>
            </a:r>
            <a:r>
              <a:rPr lang="zh-CN" altLang="en-US" sz="1800" dirty="0">
                <a:sym typeface="微软雅黑" panose="020B0503020204020204" pitchFamily="34" charset="-122"/>
              </a:rPr>
              <a:t>测试的重点测试内容：是软件产品的</a:t>
            </a:r>
            <a:r>
              <a:rPr lang="zh-CN" altLang="en-US" sz="1800" dirty="0">
                <a:highlight>
                  <a:srgbClr val="FFFF00"/>
                </a:highlight>
                <a:sym typeface="微软雅黑" panose="020B0503020204020204" pitchFamily="34" charset="-122"/>
              </a:rPr>
              <a:t>支持性</a:t>
            </a:r>
            <a:r>
              <a:rPr lang="zh-CN" altLang="en-US" sz="1800" dirty="0">
                <a:sym typeface="微软雅黑" panose="020B0503020204020204" pitchFamily="34" charset="-122"/>
              </a:rPr>
              <a:t>，涉及用户文档、客户培训等</a:t>
            </a:r>
            <a:endParaRPr lang="en-US" altLang="zh-CN" sz="1800" dirty="0">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en-US" altLang="zh-CN" sz="1800" dirty="0">
                <a:sym typeface="微软雅黑" panose="020B0503020204020204" pitchFamily="34" charset="-122"/>
              </a:rPr>
              <a:t>Beta </a:t>
            </a:r>
            <a:r>
              <a:rPr lang="zh-CN" altLang="en-US" sz="1800" dirty="0">
                <a:sym typeface="微软雅黑" panose="020B0503020204020204" pitchFamily="34" charset="-122"/>
              </a:rPr>
              <a:t>测试：要求在</a:t>
            </a:r>
            <a:r>
              <a:rPr lang="en-US" altLang="zh-CN" sz="1800" dirty="0">
                <a:highlight>
                  <a:srgbClr val="FFFF00"/>
                </a:highlight>
                <a:sym typeface="微软雅黑" panose="020B0503020204020204" pitchFamily="34" charset="-122"/>
              </a:rPr>
              <a:t>Alpha </a:t>
            </a:r>
            <a:r>
              <a:rPr lang="zh-CN" altLang="en-US" sz="1800" dirty="0">
                <a:highlight>
                  <a:srgbClr val="FFFF00"/>
                </a:highlight>
                <a:sym typeface="微软雅黑" panose="020B0503020204020204" pitchFamily="34" charset="-122"/>
              </a:rPr>
              <a:t>测试之后</a:t>
            </a:r>
            <a:r>
              <a:rPr lang="zh-CN" altLang="en-US" sz="1800" dirty="0">
                <a:sym typeface="微软雅黑" panose="020B0503020204020204" pitchFamily="34" charset="-122"/>
              </a:rPr>
              <a:t>进行</a:t>
            </a:r>
            <a:endParaRPr lang="en-US" altLang="zh-CN" sz="1800" dirty="0">
              <a:sym typeface="微软雅黑" panose="020B0503020204020204" pitchFamily="34" charset="-122"/>
            </a:endParaRPr>
          </a:p>
        </p:txBody>
      </p:sp>
    </p:spTree>
    <p:extLst>
      <p:ext uri="{BB962C8B-B14F-4D97-AF65-F5344CB8AC3E}">
        <p14:creationId xmlns:p14="http://schemas.microsoft.com/office/powerpoint/2010/main" val="13952151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5</a:t>
            </a:r>
            <a:r>
              <a:rPr lang="zh-CN" altLang="en-US" b="1" dirty="0">
                <a:ln w="12700" cmpd="sng">
                  <a:noFill/>
                  <a:prstDash val="solid"/>
                </a:ln>
                <a:solidFill>
                  <a:srgbClr val="4E8F00"/>
                </a:solidFill>
              </a:rPr>
              <a:t> 章   </a:t>
            </a:r>
            <a:r>
              <a:rPr lang="zh-CN" altLang="en-US" b="1" dirty="0">
                <a:ln w="12700" cmpd="sng">
                  <a:noFill/>
                  <a:prstDash val="solid"/>
                </a:ln>
                <a:solidFill>
                  <a:srgbClr val="4E8F00"/>
                </a:solidFill>
                <a:sym typeface="微软雅黑" panose="020B0503020204020204" pitchFamily="34" charset="-122"/>
              </a:rPr>
              <a:t>软件测试</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5.1</a:t>
            </a:r>
            <a:r>
              <a:rPr lang="zh-CN" altLang="en-US" dirty="0">
                <a:solidFill>
                  <a:srgbClr val="4E8F00"/>
                </a:solidFill>
                <a:sym typeface="微软雅黑" panose="020B0503020204020204" pitchFamily="34" charset="-122"/>
              </a:rPr>
              <a:t>  软件测试的基本概念</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5.2  </a:t>
            </a:r>
            <a:r>
              <a:rPr lang="zh-CN" altLang="en-US" dirty="0">
                <a:solidFill>
                  <a:srgbClr val="4E8F00"/>
                </a:solidFill>
                <a:sym typeface="微软雅黑" panose="020B0503020204020204" pitchFamily="34" charset="-122"/>
              </a:rPr>
              <a:t>白盒测试方法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5.3  </a:t>
            </a:r>
            <a:r>
              <a:rPr lang="zh-CN" altLang="en-US" dirty="0">
                <a:solidFill>
                  <a:srgbClr val="4E8F00"/>
                </a:solidFill>
                <a:sym typeface="微软雅黑" panose="020B0503020204020204" pitchFamily="34" charset="-122"/>
              </a:rPr>
              <a:t>黑盒测试方法</a:t>
            </a:r>
            <a:endParaRPr lang="en-US" altLang="zh-CN" dirty="0">
              <a:solidFill>
                <a:srgbClr val="4E8F00"/>
              </a:solidFill>
              <a:sym typeface="微软雅黑" panose="020B0503020204020204" pitchFamily="34" charset="-122"/>
            </a:endParaRPr>
          </a:p>
          <a:p>
            <a:pPr>
              <a:spcBef>
                <a:spcPts val="1200"/>
              </a:spcBef>
            </a:pPr>
            <a:r>
              <a:rPr lang="en-US" altLang="zh-CN" dirty="0">
                <a:solidFill>
                  <a:srgbClr val="4E8F00"/>
                </a:solidFill>
                <a:sym typeface="微软雅黑" panose="020B0503020204020204" pitchFamily="34" charset="-122"/>
              </a:rPr>
              <a:t>5.4  </a:t>
            </a:r>
            <a:r>
              <a:rPr lang="zh-CN" altLang="en-US" dirty="0">
                <a:solidFill>
                  <a:srgbClr val="4E8F00"/>
                </a:solidFill>
                <a:sym typeface="微软雅黑" panose="020B0503020204020204" pitchFamily="34" charset="-122"/>
              </a:rPr>
              <a:t>软件测试的基本过程</a:t>
            </a:r>
          </a:p>
          <a:p>
            <a:pPr>
              <a:spcBef>
                <a:spcPts val="1200"/>
              </a:spcBef>
            </a:pPr>
            <a:r>
              <a:rPr lang="en-US" altLang="zh-CN" dirty="0">
                <a:solidFill>
                  <a:srgbClr val="4E8F00"/>
                </a:solidFill>
                <a:effectLst>
                  <a:glow rad="228600">
                    <a:schemeClr val="accent6">
                      <a:satMod val="175000"/>
                      <a:alpha val="40000"/>
                    </a:schemeClr>
                  </a:glow>
                </a:effectLst>
                <a:sym typeface="微软雅黑" panose="020B0503020204020204" pitchFamily="34" charset="-122"/>
              </a:rPr>
              <a:t>5.5  </a:t>
            </a:r>
            <a:r>
              <a:rPr lang="zh-CN" altLang="en-US" dirty="0">
                <a:solidFill>
                  <a:srgbClr val="4E8F00"/>
                </a:solidFill>
                <a:effectLst>
                  <a:glow rad="228600">
                    <a:schemeClr val="accent6">
                      <a:satMod val="175000"/>
                      <a:alpha val="40000"/>
                    </a:schemeClr>
                  </a:glow>
                </a:effectLst>
                <a:sym typeface="微软雅黑" panose="020B0503020204020204" pitchFamily="34" charset="-122"/>
              </a:rPr>
              <a:t>软件调试</a:t>
            </a:r>
          </a:p>
          <a:p>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112</a:t>
            </a:fld>
            <a:endParaRPr lang="zh-CN" altLang="en-US"/>
          </a:p>
        </p:txBody>
      </p:sp>
    </p:spTree>
    <p:extLst>
      <p:ext uri="{BB962C8B-B14F-4D97-AF65-F5344CB8AC3E}">
        <p14:creationId xmlns:p14="http://schemas.microsoft.com/office/powerpoint/2010/main" val="321327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113</a:t>
            </a:fld>
            <a:endParaRPr lang="zh-CN" altLang="en-US"/>
          </a:p>
        </p:txBody>
      </p:sp>
      <p:sp>
        <p:nvSpPr>
          <p:cNvPr id="10" name="Rectangle 7">
            <a:extLst>
              <a:ext uri="{FF2B5EF4-FFF2-40B4-BE49-F238E27FC236}">
                <a16:creationId xmlns:a16="http://schemas.microsoft.com/office/drawing/2014/main" id="{3D87A85B-0C48-3B4B-B4BC-5928757BA2C1}"/>
              </a:ext>
            </a:extLst>
          </p:cNvPr>
          <p:cNvSpPr txBox="1">
            <a:spLocks noChangeArrowheads="1"/>
          </p:cNvSpPr>
          <p:nvPr/>
        </p:nvSpPr>
        <p:spPr>
          <a:xfrm>
            <a:off x="1278652" y="1526949"/>
            <a:ext cx="6942784" cy="380410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57188" indent="-357188">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调试的定义：</a:t>
            </a:r>
            <a:r>
              <a:rPr lang="zh-CN" altLang="en-US" sz="2000" dirty="0">
                <a:solidFill>
                  <a:srgbClr val="C00000"/>
                </a:solidFill>
                <a:latin typeface="微软雅黑" panose="020B0503020204020204" pitchFamily="34" charset="-122"/>
                <a:sym typeface="微软雅黑" panose="020B0503020204020204" pitchFamily="34" charset="-122"/>
              </a:rPr>
              <a:t>软件调试是确定错误的原因和位置，并改正错误的过程</a:t>
            </a:r>
            <a:endParaRPr lang="en-US" altLang="zh-CN" sz="2000" dirty="0">
              <a:solidFill>
                <a:srgbClr val="C00000"/>
              </a:solidFill>
              <a:latin typeface="微软雅黑" panose="020B0503020204020204" pitchFamily="34" charset="-122"/>
              <a:sym typeface="微软雅黑" panose="020B0503020204020204" pitchFamily="34" charset="-122"/>
            </a:endParaRPr>
          </a:p>
          <a:p>
            <a:pPr marL="357188" indent="-357188">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调试的目的：是确定错误的原因和位置，并改正错误，因此，调试也称为</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纠错</a:t>
            </a:r>
            <a:endParaRPr lang="zh-CN" altLang="en-US" sz="2000" dirty="0">
              <a:solidFill>
                <a:srgbClr val="CC6600"/>
              </a:solidFill>
              <a:highlight>
                <a:srgbClr val="FFFF00"/>
              </a:highlight>
              <a:sym typeface="微软雅黑" panose="020B0503020204020204" pitchFamily="34" charset="-122"/>
            </a:endParaRPr>
          </a:p>
        </p:txBody>
      </p:sp>
    </p:spTree>
    <p:extLst>
      <p:ext uri="{BB962C8B-B14F-4D97-AF65-F5344CB8AC3E}">
        <p14:creationId xmlns:p14="http://schemas.microsoft.com/office/powerpoint/2010/main" val="121624570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114</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1</a:t>
            </a:r>
            <a:r>
              <a:rPr lang="zh-CN" altLang="en-US" sz="2400" dirty="0">
                <a:solidFill>
                  <a:srgbClr val="CC6600"/>
                </a:solidFill>
                <a:sym typeface="微软雅黑" panose="020B0503020204020204" pitchFamily="34" charset="-122"/>
              </a:rPr>
              <a:t>  调试过程</a:t>
            </a:r>
          </a:p>
          <a:p>
            <a:pPr marL="849313" indent="-849313"/>
            <a:endParaRPr lang="zh-CN"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5" name="Rectangle 7">
            <a:extLst>
              <a:ext uri="{FF2B5EF4-FFF2-40B4-BE49-F238E27FC236}">
                <a16:creationId xmlns:a16="http://schemas.microsoft.com/office/drawing/2014/main" id="{CEE3048F-784C-DB47-9A50-BA4931D51089}"/>
              </a:ext>
            </a:extLst>
          </p:cNvPr>
          <p:cNvSpPr txBox="1">
            <a:spLocks noChangeArrowheads="1"/>
          </p:cNvSpPr>
          <p:nvPr/>
        </p:nvSpPr>
        <p:spPr>
          <a:xfrm>
            <a:off x="5883787" y="1974765"/>
            <a:ext cx="2755861" cy="420234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57188" indent="-357188" algn="just">
              <a:lnSpc>
                <a:spcPct val="130000"/>
              </a:lnSpc>
              <a:spcBef>
                <a:spcPts val="600"/>
              </a:spcBef>
            </a:pPr>
            <a:r>
              <a:rPr lang="en-US" altLang="zh-CN" sz="1800" dirty="0">
                <a:latin typeface="Kaiti SC" panose="02010600040101010101" pitchFamily="2" charset="-122"/>
                <a:ea typeface="Kaiti SC" panose="02010600040101010101" pitchFamily="2" charset="-122"/>
                <a:sym typeface="微软雅黑" panose="020B0503020204020204" pitchFamily="34" charset="-122"/>
              </a:rPr>
              <a:t>1</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）从错误的</a:t>
            </a:r>
            <a:r>
              <a:rPr lang="zh-CN" altLang="en-US" sz="1800" dirty="0">
                <a:highlight>
                  <a:srgbClr val="FFFF00"/>
                </a:highlight>
                <a:latin typeface="Kaiti SC" panose="02010600040101010101" pitchFamily="2" charset="-122"/>
                <a:ea typeface="Kaiti SC" panose="02010600040101010101" pitchFamily="2" charset="-122"/>
                <a:sym typeface="微软雅黑" panose="020B0503020204020204" pitchFamily="34" charset="-122"/>
              </a:rPr>
              <a:t>外部</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表现形式入手，确定程序中出错位置</a:t>
            </a:r>
            <a:endParaRPr lang="en-US" altLang="zh-CN" sz="1800" dirty="0">
              <a:latin typeface="Kaiti SC" panose="02010600040101010101" pitchFamily="2" charset="-122"/>
              <a:ea typeface="Kaiti SC" panose="02010600040101010101" pitchFamily="2" charset="-122"/>
              <a:sym typeface="微软雅黑" panose="020B0503020204020204" pitchFamily="34" charset="-122"/>
            </a:endParaRPr>
          </a:p>
          <a:p>
            <a:pPr marL="357188" indent="-357188" algn="just">
              <a:lnSpc>
                <a:spcPct val="130000"/>
              </a:lnSpc>
              <a:spcBef>
                <a:spcPts val="600"/>
              </a:spcBef>
            </a:pPr>
            <a:r>
              <a:rPr lang="en-US" altLang="zh-CN" sz="1800" dirty="0">
                <a:latin typeface="Kaiti SC" panose="02010600040101010101" pitchFamily="2" charset="-122"/>
                <a:ea typeface="Kaiti SC" panose="02010600040101010101" pitchFamily="2" charset="-122"/>
                <a:sym typeface="微软雅黑" panose="020B0503020204020204" pitchFamily="34" charset="-122"/>
              </a:rPr>
              <a:t>2</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）研究有关部分的程序，找出错误的</a:t>
            </a:r>
            <a:r>
              <a:rPr lang="zh-CN" altLang="en-US" sz="1800" dirty="0">
                <a:highlight>
                  <a:srgbClr val="FFFF00"/>
                </a:highlight>
                <a:latin typeface="Kaiti SC" panose="02010600040101010101" pitchFamily="2" charset="-122"/>
                <a:ea typeface="Kaiti SC" panose="02010600040101010101" pitchFamily="2" charset="-122"/>
                <a:sym typeface="微软雅黑" panose="020B0503020204020204" pitchFamily="34" charset="-122"/>
              </a:rPr>
              <a:t>内在</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原因</a:t>
            </a:r>
            <a:endParaRPr lang="en-US" altLang="zh-CN" sz="1800" dirty="0">
              <a:latin typeface="Kaiti SC" panose="02010600040101010101" pitchFamily="2" charset="-122"/>
              <a:ea typeface="Kaiti SC" panose="02010600040101010101" pitchFamily="2" charset="-122"/>
              <a:sym typeface="微软雅黑" panose="020B0503020204020204" pitchFamily="34" charset="-122"/>
            </a:endParaRPr>
          </a:p>
          <a:p>
            <a:pPr marL="357188" indent="-357188" algn="just">
              <a:lnSpc>
                <a:spcPct val="130000"/>
              </a:lnSpc>
              <a:spcBef>
                <a:spcPts val="600"/>
              </a:spcBef>
            </a:pPr>
            <a:r>
              <a:rPr lang="en-US" altLang="zh-CN" sz="1800" dirty="0">
                <a:latin typeface="Kaiti SC" panose="02010600040101010101" pitchFamily="2" charset="-122"/>
                <a:ea typeface="Kaiti SC" panose="02010600040101010101" pitchFamily="2" charset="-122"/>
                <a:sym typeface="微软雅黑" panose="020B0503020204020204" pitchFamily="34" charset="-122"/>
              </a:rPr>
              <a:t>3</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a:t>
            </a:r>
            <a:r>
              <a:rPr lang="zh-CN" altLang="en-US" sz="1800" dirty="0">
                <a:highlight>
                  <a:srgbClr val="FFFF00"/>
                </a:highlight>
                <a:latin typeface="Kaiti SC" panose="02010600040101010101" pitchFamily="2" charset="-122"/>
                <a:ea typeface="Kaiti SC" panose="02010600040101010101" pitchFamily="2" charset="-122"/>
                <a:sym typeface="微软雅黑" panose="020B0503020204020204" pitchFamily="34" charset="-122"/>
              </a:rPr>
              <a:t>修改</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设计和代码，排除这个错误</a:t>
            </a:r>
            <a:endParaRPr lang="en-US" altLang="zh-CN" sz="1800" dirty="0">
              <a:latin typeface="Kaiti SC" panose="02010600040101010101" pitchFamily="2" charset="-122"/>
              <a:ea typeface="Kaiti SC" panose="02010600040101010101" pitchFamily="2" charset="-122"/>
              <a:sym typeface="微软雅黑" panose="020B0503020204020204" pitchFamily="34" charset="-122"/>
            </a:endParaRPr>
          </a:p>
          <a:p>
            <a:pPr marL="357188" indent="-357188" algn="just">
              <a:lnSpc>
                <a:spcPct val="130000"/>
              </a:lnSpc>
              <a:spcBef>
                <a:spcPts val="600"/>
              </a:spcBef>
            </a:pPr>
            <a:r>
              <a:rPr lang="en-US" altLang="zh-CN" sz="1800" dirty="0">
                <a:latin typeface="Kaiti SC" panose="02010600040101010101" pitchFamily="2" charset="-122"/>
                <a:ea typeface="Kaiti SC" panose="02010600040101010101" pitchFamily="2" charset="-122"/>
                <a:sym typeface="微软雅黑" panose="020B0503020204020204" pitchFamily="34" charset="-122"/>
              </a:rPr>
              <a:t>4</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）进行</a:t>
            </a:r>
            <a:r>
              <a:rPr lang="zh-CN" altLang="en-US" sz="1800" dirty="0">
                <a:highlight>
                  <a:srgbClr val="FFFF00"/>
                </a:highlight>
                <a:latin typeface="Kaiti SC" panose="02010600040101010101" pitchFamily="2" charset="-122"/>
                <a:ea typeface="Kaiti SC" panose="02010600040101010101" pitchFamily="2" charset="-122"/>
                <a:sym typeface="微软雅黑" panose="020B0503020204020204" pitchFamily="34" charset="-122"/>
              </a:rPr>
              <a:t>回归测试</a:t>
            </a:r>
            <a:r>
              <a:rPr lang="zh-CN" altLang="en-US" sz="1800" dirty="0">
                <a:latin typeface="Kaiti SC" panose="02010600040101010101" pitchFamily="2" charset="-122"/>
                <a:ea typeface="Kaiti SC" panose="02010600040101010101" pitchFamily="2" charset="-122"/>
                <a:sym typeface="微软雅黑" panose="020B0503020204020204" pitchFamily="34" charset="-122"/>
              </a:rPr>
              <a:t>，并确认：是否已经排除了该错误和是否引进了新的错误</a:t>
            </a:r>
            <a:endParaRPr lang="en-US" altLang="zh-CN" sz="1800" dirty="0">
              <a:latin typeface="Kaiti SC" panose="02010600040101010101" pitchFamily="2" charset="-122"/>
              <a:ea typeface="Kaiti SC" panose="02010600040101010101" pitchFamily="2" charset="-122"/>
              <a:sym typeface="微软雅黑" panose="020B0503020204020204" pitchFamily="34" charset="-122"/>
            </a:endParaRPr>
          </a:p>
        </p:txBody>
      </p:sp>
      <p:grpSp>
        <p:nvGrpSpPr>
          <p:cNvPr id="10" name="组合 5">
            <a:extLst>
              <a:ext uri="{FF2B5EF4-FFF2-40B4-BE49-F238E27FC236}">
                <a16:creationId xmlns:a16="http://schemas.microsoft.com/office/drawing/2014/main" id="{E3C6F313-F5A4-DC4E-9B37-E66A80CB1E96}"/>
              </a:ext>
            </a:extLst>
          </p:cNvPr>
          <p:cNvGrpSpPr>
            <a:grpSpLocks/>
          </p:cNvGrpSpPr>
          <p:nvPr/>
        </p:nvGrpSpPr>
        <p:grpSpPr bwMode="auto">
          <a:xfrm>
            <a:off x="504352" y="2792556"/>
            <a:ext cx="5040313" cy="3384550"/>
            <a:chOff x="3995738" y="771600"/>
            <a:chExt cx="5148262" cy="3317875"/>
          </a:xfrm>
        </p:grpSpPr>
        <p:pic>
          <p:nvPicPr>
            <p:cNvPr id="11" name="图片 2" descr="rjgc-tp-xxnr-051101-01.png">
              <a:extLst>
                <a:ext uri="{FF2B5EF4-FFF2-40B4-BE49-F238E27FC236}">
                  <a16:creationId xmlns:a16="http://schemas.microsoft.com/office/drawing/2014/main" id="{CF098C6F-F36C-CF4E-A64F-C9BF164D22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95738" y="771600"/>
              <a:ext cx="5148262"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3">
              <a:extLst>
                <a:ext uri="{FF2B5EF4-FFF2-40B4-BE49-F238E27FC236}">
                  <a16:creationId xmlns:a16="http://schemas.microsoft.com/office/drawing/2014/main" id="{140B09D4-A676-F44C-83DD-0075477CA2F4}"/>
                </a:ext>
              </a:extLst>
            </p:cNvPr>
            <p:cNvSpPr>
              <a:spLocks noChangeArrowheads="1"/>
            </p:cNvSpPr>
            <p:nvPr/>
          </p:nvSpPr>
          <p:spPr bwMode="auto">
            <a:xfrm>
              <a:off x="4572000" y="3219804"/>
              <a:ext cx="504825" cy="504825"/>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spTree>
    <p:extLst>
      <p:ext uri="{BB962C8B-B14F-4D97-AF65-F5344CB8AC3E}">
        <p14:creationId xmlns:p14="http://schemas.microsoft.com/office/powerpoint/2010/main" val="39383935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115</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调试方法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984960"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en-US" sz="2000" dirty="0">
                <a:sym typeface="微软雅黑" panose="020B0503020204020204" pitchFamily="34" charset="-122"/>
              </a:rPr>
              <a:t>（</a:t>
            </a:r>
            <a:r>
              <a:rPr lang="en-US" altLang="zh-CN" sz="2000" dirty="0">
                <a:sym typeface="微软雅黑" panose="020B0503020204020204" pitchFamily="34" charset="-122"/>
              </a:rPr>
              <a:t>1</a:t>
            </a:r>
            <a:r>
              <a:rPr lang="zh-CN" altLang="en-US" sz="2000" dirty="0">
                <a:sym typeface="微软雅黑" panose="020B0503020204020204" pitchFamily="34" charset="-122"/>
              </a:rPr>
              <a:t>）硬性纠错法，又称为蛮干法</a:t>
            </a:r>
            <a:endParaRPr lang="en-US" altLang="en-US" sz="2000" dirty="0">
              <a:sym typeface="微软雅黑" panose="020B0503020204020204" pitchFamily="34" charset="-122"/>
            </a:endParaRPr>
          </a:p>
          <a:p>
            <a:pPr algn="just">
              <a:spcBef>
                <a:spcPts val="6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一种比较</a:t>
            </a:r>
            <a:r>
              <a:rPr lang="zh-CN"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简单，但效率较低的方法。</a:t>
            </a: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包括：</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主存信息输出法：将计算机存储器和寄存器的全部内容打印出来</a:t>
            </a:r>
            <a:endParaRPr lang="en-US" altLang="zh-CN" sz="1800" dirty="0">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关键部分设置</a:t>
            </a:r>
            <a:r>
              <a:rPr lang="zh-CN" altLang="zh-CN" sz="1800" dirty="0">
                <a:solidFill>
                  <a:srgbClr val="000000"/>
                </a:solidFill>
                <a:highlight>
                  <a:srgbClr val="FFFF00"/>
                </a:highlight>
                <a:latin typeface="微软雅黑" panose="020B0503020204020204" pitchFamily="34" charset="-122"/>
                <a:sym typeface="微软雅黑" panose="020B0503020204020204" pitchFamily="34" charset="-122"/>
              </a:rPr>
              <a:t>打印语句</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使用自动调试工具</a:t>
            </a:r>
            <a:endParaRPr lang="en-US" altLang="zh-CN" sz="1800" dirty="0">
              <a:sym typeface="微软雅黑" panose="020B0503020204020204" pitchFamily="34" charset="-122"/>
            </a:endParaRPr>
          </a:p>
        </p:txBody>
      </p:sp>
    </p:spTree>
    <p:extLst>
      <p:ext uri="{BB962C8B-B14F-4D97-AF65-F5344CB8AC3E}">
        <p14:creationId xmlns:p14="http://schemas.microsoft.com/office/powerpoint/2010/main" val="9703478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116</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调试方法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en-US" sz="2000" dirty="0">
                <a:sym typeface="微软雅黑" panose="020B0503020204020204" pitchFamily="34" charset="-122"/>
              </a:rPr>
              <a:t>（</a:t>
            </a:r>
            <a:r>
              <a:rPr lang="en-US" altLang="zh-CN" sz="2000" dirty="0">
                <a:sym typeface="微软雅黑" panose="020B0503020204020204" pitchFamily="34" charset="-122"/>
              </a:rPr>
              <a:t>2</a:t>
            </a:r>
            <a:r>
              <a:rPr lang="zh-CN" altLang="en-US" sz="2000" dirty="0">
                <a:sym typeface="微软雅黑" panose="020B0503020204020204" pitchFamily="34" charset="-122"/>
              </a:rPr>
              <a:t>）跟踪法</a:t>
            </a:r>
            <a:endParaRPr lang="en-US" altLang="en-US" sz="2000" dirty="0">
              <a:sym typeface="微软雅黑" panose="020B0503020204020204" pitchFamily="34" charset="-122"/>
            </a:endParaRPr>
          </a:p>
          <a:p>
            <a:pPr algn="just">
              <a:spcBef>
                <a:spcPts val="600"/>
              </a:spcBef>
            </a:pPr>
            <a:r>
              <a:rPr lang="zh-CN" altLang="en-US"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r>
              <a:rPr lang="zh-CN"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在错误的征兆附近进行追踪，或是正向跟踪或是反向跟踪</a:t>
            </a:r>
            <a:endParaRPr lang="en-US" altLang="zh-CN" sz="1800" dirty="0">
              <a:solidFill>
                <a:srgbClr val="000000"/>
              </a:solidFill>
              <a:latin typeface="Kaiti SC" panose="02010600040101010101" pitchFamily="2" charset="-122"/>
              <a:ea typeface="Kaiti SC" panose="02010600040101010101" pitchFamily="2" charset="-122"/>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zh-CN" altLang="zh-CN" sz="1800" dirty="0">
                <a:solidFill>
                  <a:srgbClr val="C00000"/>
                </a:solidFill>
                <a:latin typeface="微软雅黑" panose="020B0503020204020204" pitchFamily="34" charset="-122"/>
                <a:sym typeface="微软雅黑" panose="020B0503020204020204" pitchFamily="34" charset="-122"/>
              </a:rPr>
              <a:t>正向跟踪</a:t>
            </a:r>
            <a:r>
              <a:rPr lang="zh-CN" altLang="en-US" sz="1800" dirty="0">
                <a:solidFill>
                  <a:srgbClr val="C00000"/>
                </a:solidFill>
                <a:latin typeface="微软雅黑" panose="020B0503020204020204" pitchFamily="34" charset="-122"/>
                <a:sym typeface="微软雅黑" panose="020B0503020204020204" pitchFamily="34" charset="-122"/>
              </a:rPr>
              <a:t> </a:t>
            </a:r>
            <a:r>
              <a:rPr lang="zh-CN" altLang="zh-CN" sz="1800" dirty="0">
                <a:solidFill>
                  <a:srgbClr val="000000"/>
                </a:solidFill>
                <a:latin typeface="微软雅黑" panose="020B0503020204020204" pitchFamily="34" charset="-122"/>
                <a:sym typeface="微软雅黑" panose="020B0503020204020204" pitchFamily="34" charset="-122"/>
              </a:rPr>
              <a:t>是指从可能的错误征兆处，沿着控制流找到出错处，分析排除错误</a:t>
            </a:r>
            <a:endParaRPr lang="en-US" altLang="zh-CN" sz="1800" dirty="0">
              <a:sym typeface="微软雅黑" panose="020B0503020204020204" pitchFamily="34" charset="-122"/>
            </a:endParaRPr>
          </a:p>
          <a:p>
            <a:pPr marL="285750" indent="-285750" algn="just">
              <a:lnSpc>
                <a:spcPct val="130000"/>
              </a:lnSpc>
              <a:spcBef>
                <a:spcPts val="600"/>
              </a:spcBef>
              <a:buFont typeface="Arial" panose="020B0604020202020204" pitchFamily="34" charset="0"/>
              <a:buChar char="•"/>
            </a:pPr>
            <a:r>
              <a:rPr lang="zh-CN" altLang="zh-CN" sz="1800" dirty="0">
                <a:solidFill>
                  <a:srgbClr val="C00000"/>
                </a:solidFill>
                <a:latin typeface="微软雅黑" panose="020B0503020204020204" pitchFamily="34" charset="-122"/>
                <a:sym typeface="微软雅黑" panose="020B0503020204020204" pitchFamily="34" charset="-122"/>
              </a:rPr>
              <a:t>反向跟踪</a:t>
            </a:r>
            <a:r>
              <a:rPr lang="zh-CN" altLang="en-US" sz="1800" dirty="0">
                <a:solidFill>
                  <a:srgbClr val="C00000"/>
                </a:solidFill>
                <a:latin typeface="微软雅黑" panose="020B0503020204020204" pitchFamily="34" charset="-122"/>
                <a:sym typeface="微软雅黑" panose="020B0503020204020204" pitchFamily="34" charset="-122"/>
              </a:rPr>
              <a:t> </a:t>
            </a:r>
            <a:r>
              <a:rPr lang="zh-CN" altLang="zh-CN" sz="1800" dirty="0">
                <a:solidFill>
                  <a:srgbClr val="000000"/>
                </a:solidFill>
                <a:latin typeface="微软雅黑" panose="020B0503020204020204" pitchFamily="34" charset="-122"/>
                <a:sym typeface="微软雅黑" panose="020B0503020204020204" pitchFamily="34" charset="-122"/>
              </a:rPr>
              <a:t>是从可能的错误征兆处逐步向后追溯，直到找准错误，纠正为止</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5415642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117</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调试方法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en-US" sz="2000" dirty="0">
                <a:sym typeface="微软雅黑" panose="020B0503020204020204" pitchFamily="34" charset="-122"/>
              </a:rPr>
              <a:t>（</a:t>
            </a:r>
            <a:r>
              <a:rPr lang="en-US" altLang="zh-CN" sz="2000" dirty="0">
                <a:sym typeface="微软雅黑" panose="020B0503020204020204" pitchFamily="34" charset="-122"/>
              </a:rPr>
              <a:t>3</a:t>
            </a:r>
            <a:r>
              <a:rPr lang="zh-CN" altLang="en-US" sz="2000" dirty="0">
                <a:sym typeface="微软雅黑" panose="020B0503020204020204" pitchFamily="34" charset="-122"/>
              </a:rPr>
              <a:t>）演绎法</a:t>
            </a:r>
            <a:endParaRPr lang="en-US" altLang="en-US" sz="2000" dirty="0">
              <a:sym typeface="微软雅黑" panose="020B0503020204020204" pitchFamily="34" charset="-122"/>
            </a:endParaRPr>
          </a:p>
          <a:p>
            <a:pPr marL="285750" indent="-28575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设想出所有可能的出错原因</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试图用测试来排除每一个假设的原因，如果测试表明某个假设的原因可能是真的原因，则对数据进行细化以确定位错误</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4257879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118</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调试方法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en-US" sz="2000" dirty="0">
                <a:sym typeface="微软雅黑" panose="020B0503020204020204" pitchFamily="34" charset="-122"/>
              </a:rPr>
              <a:t>（</a:t>
            </a:r>
            <a:r>
              <a:rPr lang="en-US" altLang="zh-CN" sz="2000" dirty="0">
                <a:sym typeface="微软雅黑" panose="020B0503020204020204" pitchFamily="34" charset="-122"/>
              </a:rPr>
              <a:t>4</a:t>
            </a:r>
            <a:r>
              <a:rPr lang="zh-CN" altLang="en-US" sz="2000" dirty="0">
                <a:sym typeface="微软雅黑" panose="020B0503020204020204" pitchFamily="34" charset="-122"/>
              </a:rPr>
              <a:t>）归纳法</a:t>
            </a:r>
            <a:endParaRPr lang="en-US" altLang="en-US" sz="2000" dirty="0">
              <a:sym typeface="微软雅黑" panose="020B0503020204020204" pitchFamily="34" charset="-122"/>
            </a:endParaRPr>
          </a:p>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把和错误有关的数据组织起来进行分析，以便发现可能的错误原因。然后，导出对错误原因的一个或多个假设，并利用已有的数据，来证明或排除这些假设。如果已有的数据，尚不足以证明或排除这些假设，则需设计并执行一些</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新的测试用例</a:t>
            </a:r>
            <a:r>
              <a:rPr lang="zh-CN" altLang="en-US" sz="1800" dirty="0">
                <a:solidFill>
                  <a:srgbClr val="000000"/>
                </a:solidFill>
                <a:latin typeface="微软雅黑" panose="020B0503020204020204" pitchFamily="34" charset="-122"/>
                <a:sym typeface="微软雅黑" panose="020B0503020204020204" pitchFamily="34" charset="-122"/>
              </a:rPr>
              <a:t>，以后获得更多分析数据</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225859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119</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调试方法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en-US" sz="2000" dirty="0">
                <a:sym typeface="微软雅黑" panose="020B0503020204020204" pitchFamily="34" charset="-122"/>
              </a:rPr>
              <a:t>（</a:t>
            </a:r>
            <a:r>
              <a:rPr lang="en-US" altLang="zh-CN" sz="2000" dirty="0">
                <a:sym typeface="微软雅黑" panose="020B0503020204020204" pitchFamily="34" charset="-122"/>
              </a:rPr>
              <a:t>5</a:t>
            </a:r>
            <a:r>
              <a:rPr lang="zh-CN" altLang="en-US" sz="2000" dirty="0">
                <a:sym typeface="微软雅黑" panose="020B0503020204020204" pitchFamily="34" charset="-122"/>
              </a:rPr>
              <a:t>）试探法</a:t>
            </a:r>
            <a:endParaRPr lang="en-US" altLang="en-US" sz="2000" dirty="0">
              <a:sym typeface="微软雅黑" panose="020B0503020204020204" pitchFamily="34" charset="-122"/>
            </a:endParaRPr>
          </a:p>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调试人员分析错误的症状，猜测问题的所在位置，利用在程序中，输出语句，分析寄存器、存储器的内容等手段，来获得错误的线索，一步步地试探分析出错误所在</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这种方法效率很低，适合于结构比较简单的程序</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8210375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120</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2</a:t>
            </a:r>
            <a:r>
              <a:rPr lang="zh-CN" altLang="en-US" sz="2400" dirty="0">
                <a:solidFill>
                  <a:srgbClr val="CC6600"/>
                </a:solidFill>
                <a:sym typeface="微软雅黑" panose="020B0503020204020204" pitchFamily="34" charset="-122"/>
              </a:rPr>
              <a:t>  调试方法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nSpc>
                <a:spcPct val="120000"/>
              </a:lnSpc>
              <a:spcBef>
                <a:spcPct val="20000"/>
              </a:spcBef>
            </a:pPr>
            <a:r>
              <a:rPr lang="zh-CN" altLang="en-US" sz="2000" dirty="0">
                <a:sym typeface="微软雅黑" panose="020B0503020204020204" pitchFamily="34" charset="-122"/>
              </a:rPr>
              <a:t>（</a:t>
            </a:r>
            <a:r>
              <a:rPr lang="en-US" altLang="zh-CN" sz="2000" dirty="0">
                <a:sym typeface="微软雅黑" panose="020B0503020204020204" pitchFamily="34" charset="-122"/>
              </a:rPr>
              <a:t>6</a:t>
            </a:r>
            <a:r>
              <a:rPr lang="zh-CN" altLang="en-US" sz="2000" dirty="0">
                <a:sym typeface="微软雅黑" panose="020B0503020204020204" pitchFamily="34" charset="-122"/>
              </a:rPr>
              <a:t>）对分查找法</a:t>
            </a:r>
            <a:endParaRPr lang="en-US" altLang="en-US" sz="2000" dirty="0">
              <a:sym typeface="微软雅黑" panose="020B0503020204020204" pitchFamily="34" charset="-122"/>
            </a:endParaRPr>
          </a:p>
          <a:p>
            <a:pPr marL="285750" indent="-28575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如果已经知道每个变量在程序内若干个关键点的正确值，则用赋值语句或输入语句在程序中的关键点附近</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C00000"/>
                </a:solidFill>
                <a:latin typeface="微软雅黑" panose="020B0503020204020204" pitchFamily="34" charset="-122"/>
                <a:sym typeface="微软雅黑" panose="020B0503020204020204" pitchFamily="34" charset="-122"/>
              </a:rPr>
              <a:t>输入</a:t>
            </a:r>
            <a:r>
              <a:rPr lang="zh-CN" altLang="zh-CN" sz="1800" dirty="0">
                <a:solidFill>
                  <a:srgbClr val="C00000"/>
                </a:solidFill>
                <a:latin typeface="微软雅黑" panose="020B0503020204020204" pitchFamily="34" charset="-122"/>
                <a:sym typeface="微软雅黑" panose="020B0503020204020204" pitchFamily="34" charset="-122"/>
              </a:rPr>
              <a:t>这些变量的正确值</a:t>
            </a:r>
            <a:r>
              <a:rPr lang="zh-CN" altLang="en-US" sz="1800" dirty="0">
                <a:solidFill>
                  <a:srgbClr val="C00000"/>
                </a:solidFill>
                <a:latin typeface="微软雅黑" panose="020B0503020204020204" pitchFamily="34" charset="-122"/>
                <a:sym typeface="微软雅黑" panose="020B0503020204020204" pitchFamily="34" charset="-122"/>
              </a:rPr>
              <a:t>（假设该点前的代码执行正确）</a:t>
            </a:r>
            <a:r>
              <a:rPr lang="zh-CN" altLang="zh-CN" sz="1800" dirty="0">
                <a:solidFill>
                  <a:srgbClr val="000000"/>
                </a:solidFill>
                <a:latin typeface="微软雅黑" panose="020B0503020204020204" pitchFamily="34" charset="-122"/>
                <a:sym typeface="微软雅黑" panose="020B0503020204020204" pitchFamily="34" charset="-122"/>
              </a:rPr>
              <a:t>，然后检查程序的输出值</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如果是正确的，则故障在程序的前半部分，反之故障在后半部分</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zh-CN" sz="1800" dirty="0">
                <a:solidFill>
                  <a:srgbClr val="000000"/>
                </a:solidFill>
                <a:latin typeface="微软雅黑" panose="020B0503020204020204" pitchFamily="34" charset="-122"/>
                <a:sym typeface="微软雅黑" panose="020B0503020204020204" pitchFamily="34" charset="-122"/>
              </a:rPr>
              <a:t>对程序中有故障的那部分再重复使用这个方法，直到把故障缩小到容易诊断的程度，定位错误并纠错</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6073126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5.5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软件调试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121</a:t>
            </a:fld>
            <a:endParaRPr lang="zh-CN" altLang="en-US"/>
          </a:p>
        </p:txBody>
      </p:sp>
      <p:sp>
        <p:nvSpPr>
          <p:cNvPr id="9" name="Rectangle 7">
            <a:extLst>
              <a:ext uri="{FF2B5EF4-FFF2-40B4-BE49-F238E27FC236}">
                <a16:creationId xmlns:a16="http://schemas.microsoft.com/office/drawing/2014/main" id="{CAFFB586-FB6D-DD4B-A594-572A278792B6}"/>
              </a:ext>
            </a:extLst>
          </p:cNvPr>
          <p:cNvSpPr txBox="1">
            <a:spLocks noChangeArrowheads="1"/>
          </p:cNvSpPr>
          <p:nvPr/>
        </p:nvSpPr>
        <p:spPr>
          <a:xfrm>
            <a:off x="1073823" y="106456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3</a:t>
            </a:r>
            <a:r>
              <a:rPr lang="zh-CN" altLang="en-US" sz="2400" dirty="0">
                <a:solidFill>
                  <a:srgbClr val="CC6600"/>
                </a:solidFill>
                <a:sym typeface="微软雅黑" panose="020B0503020204020204" pitchFamily="34" charset="-122"/>
              </a:rPr>
              <a:t>  回归测试</a:t>
            </a:r>
            <a:endParaRPr lang="en-US" altLang="zh-CN" sz="2400" dirty="0">
              <a:solidFill>
                <a:srgbClr val="CC6600"/>
              </a:solidFill>
              <a:sym typeface="微软雅黑" panose="020B0503020204020204" pitchFamily="34" charset="-122"/>
            </a:endParaRPr>
          </a:p>
          <a:p>
            <a:pPr marL="849313" indent="-849313"/>
            <a:endParaRPr lang="en-US" altLang="en-US"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sym typeface="微软雅黑" panose="020B0503020204020204" pitchFamily="34" charset="-122"/>
            </a:endParaRPr>
          </a:p>
        </p:txBody>
      </p:sp>
      <p:sp>
        <p:nvSpPr>
          <p:cNvPr id="17" name="Rectangle 7">
            <a:extLst>
              <a:ext uri="{FF2B5EF4-FFF2-40B4-BE49-F238E27FC236}">
                <a16:creationId xmlns:a16="http://schemas.microsoft.com/office/drawing/2014/main" id="{D6AD0773-6BBF-2643-B7B2-CA2D17B0D1F4}"/>
              </a:ext>
            </a:extLst>
          </p:cNvPr>
          <p:cNvSpPr txBox="1">
            <a:spLocks noChangeArrowheads="1"/>
          </p:cNvSpPr>
          <p:nvPr/>
        </p:nvSpPr>
        <p:spPr>
          <a:xfrm>
            <a:off x="1342611" y="1780211"/>
            <a:ext cx="6858194" cy="420234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调试后，还要进行回归测试</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回归测试：是指 </a:t>
            </a:r>
            <a:r>
              <a:rPr lang="zh-CN" altLang="en-US" sz="1800" dirty="0">
                <a:solidFill>
                  <a:srgbClr val="C00000"/>
                </a:solidFill>
                <a:latin typeface="微软雅黑" panose="020B0503020204020204" pitchFamily="34" charset="-122"/>
                <a:sym typeface="微软雅黑" panose="020B0503020204020204" pitchFamily="34" charset="-122"/>
              </a:rPr>
              <a:t>软件系统被修改或扩充后重新进行的测试</a:t>
            </a:r>
            <a:endParaRPr lang="en-US" altLang="zh-CN" sz="1800" dirty="0">
              <a:solidFill>
                <a:srgbClr val="C00000"/>
              </a:solidFill>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回归测试：是为了保证对软件修改后，</a:t>
            </a:r>
            <a:r>
              <a:rPr lang="zh-CN" altLang="en-US" sz="1800" dirty="0">
                <a:solidFill>
                  <a:srgbClr val="C00000"/>
                </a:solidFill>
                <a:latin typeface="微软雅黑" panose="020B0503020204020204" pitchFamily="34" charset="-122"/>
                <a:sym typeface="微软雅黑" panose="020B0503020204020204" pitchFamily="34" charset="-122"/>
              </a:rPr>
              <a:t>没有引入新的错误而</a:t>
            </a:r>
            <a:r>
              <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rPr>
              <a:t>重复进行的测试</a:t>
            </a:r>
            <a:endParaRPr lang="en-US" altLang="zh-CN" sz="1800" dirty="0">
              <a:solidFill>
                <a:srgbClr val="C00000"/>
              </a:solidFill>
              <a:highlight>
                <a:srgbClr val="FFFF00"/>
              </a:highlight>
              <a:latin typeface="微软雅黑" panose="020B0503020204020204" pitchFamily="34" charset="-122"/>
              <a:sym typeface="微软雅黑" panose="020B0503020204020204" pitchFamily="34" charset="-122"/>
            </a:endParaRPr>
          </a:p>
          <a:p>
            <a:pPr marL="285750" indent="-285750">
              <a:lnSpc>
                <a:spcPct val="130000"/>
              </a:lnSpc>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每当软件增加了新的功能，或软件中的缺陷被修复，这些变更都可能影响到软件的原有结构和功能。为防止软件变更产生无法预料的副作用，不仅要对新内容进行测试，还要重复进行过去已经进行过的测试，以证明修改没有引起未曾预料的后果</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8784729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A0D5A0F-2ACC-504C-8AA9-52D19E103B2B}"/>
              </a:ext>
            </a:extLst>
          </p:cNvPr>
          <p:cNvSpPr>
            <a:spLocks noGrp="1"/>
          </p:cNvSpPr>
          <p:nvPr>
            <p:ph type="title"/>
          </p:nvPr>
        </p:nvSpPr>
        <p:spPr>
          <a:xfrm>
            <a:off x="1313833" y="2502998"/>
            <a:ext cx="5212080" cy="926002"/>
          </a:xfrm>
        </p:spPr>
        <p:txBody>
          <a:bodyPr/>
          <a:lstStyle/>
          <a:p>
            <a:r>
              <a:rPr lang="zh-CN" altLang="en-US" dirty="0"/>
              <a:t>本章结束</a:t>
            </a:r>
          </a:p>
        </p:txBody>
      </p:sp>
    </p:spTree>
    <p:extLst>
      <p:ext uri="{BB962C8B-B14F-4D97-AF65-F5344CB8AC3E}">
        <p14:creationId xmlns:p14="http://schemas.microsoft.com/office/powerpoint/2010/main" val="234754760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theme/theme1.xml><?xml version="1.0" encoding="utf-8"?>
<a:theme xmlns:a="http://schemas.openxmlformats.org/drawingml/2006/main" name="试验1">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试验1" id="{D0FC9D1F-E22A-42E8-A7DA-057A10670BAD}" vid="{05874D67-174A-4DBA-8E33-E98A4D4F3B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试验1</Template>
  <TotalTime>0</TotalTime>
  <Words>11545</Words>
  <Application>Microsoft Office PowerPoint</Application>
  <PresentationFormat>全屏显示(4:3)</PresentationFormat>
  <Paragraphs>1610</Paragraphs>
  <Slides>122</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122</vt:i4>
      </vt:variant>
    </vt:vector>
  </HeadingPairs>
  <TitlesOfParts>
    <vt:vector size="138" baseType="lpstr">
      <vt:lpstr>-apple-system</vt:lpstr>
      <vt:lpstr>Kaiti SC</vt:lpstr>
      <vt:lpstr>Microsoft YaHei UI</vt:lpstr>
      <vt:lpstr>华文中宋</vt:lpstr>
      <vt:lpstr>KaiTi</vt:lpstr>
      <vt:lpstr>楷体_GB2312</vt:lpstr>
      <vt:lpstr>宋体</vt:lpstr>
      <vt:lpstr>微软雅黑</vt:lpstr>
      <vt:lpstr>微软雅黑</vt:lpstr>
      <vt:lpstr>Arial</vt:lpstr>
      <vt:lpstr>Calibri</vt:lpstr>
      <vt:lpstr>Corbel</vt:lpstr>
      <vt:lpstr>Tahoma</vt:lpstr>
      <vt:lpstr>Times New Roman</vt:lpstr>
      <vt:lpstr>Wingdings</vt:lpstr>
      <vt:lpstr>试验1</vt:lpstr>
      <vt:lpstr>软件工程导论</vt:lpstr>
      <vt:lpstr>PowerPoint 演示文稿</vt:lpstr>
      <vt:lpstr>第 5 章   软件测试</vt:lpstr>
      <vt:lpstr>5.1  软件测试的基本概念 </vt:lpstr>
      <vt:lpstr>5.1  软件测试的基本概念 </vt:lpstr>
      <vt:lpstr>5.1  软件测试的基本概念 </vt:lpstr>
      <vt:lpstr>5.1  软件测试的基本概念 </vt:lpstr>
      <vt:lpstr>5.1  软件测试的基本概念 </vt:lpstr>
      <vt:lpstr>5.1  软件测试的基本概念 </vt:lpstr>
      <vt:lpstr>5.1  软件测试的基本概念 </vt:lpstr>
      <vt:lpstr>5.1  软件测试的基本概念 </vt:lpstr>
      <vt:lpstr>5.1  软件测试的基本概念 </vt:lpstr>
      <vt:lpstr>PowerPoint 演示文稿</vt:lpstr>
      <vt:lpstr>5.1  软件测试的基本概念 </vt:lpstr>
      <vt:lpstr>5.1  软件测试的基本概念 </vt:lpstr>
      <vt:lpstr>5.1  软件测试的基本概念 </vt:lpstr>
      <vt:lpstr>5.1  软件测试的基本概念 </vt:lpstr>
      <vt:lpstr>第 5 章   软件测试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5.2  白盒测试方法</vt:lpstr>
      <vt:lpstr>第 5 章   软件测试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5.3  黑盒测试方法</vt:lpstr>
      <vt:lpstr>补： 灰盒测试</vt:lpstr>
      <vt:lpstr>第 5 章   软件测试</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Question1：Rounding errors（舍入误差）</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5.4  软件测试的基本过程</vt:lpstr>
      <vt:lpstr>第 5 章   软件测试</vt:lpstr>
      <vt:lpstr>5.5  软件调试</vt:lpstr>
      <vt:lpstr>5.5  软件调试</vt:lpstr>
      <vt:lpstr>5.5  软件调试</vt:lpstr>
      <vt:lpstr>5.5  软件调试</vt:lpstr>
      <vt:lpstr>5.5  软件调试</vt:lpstr>
      <vt:lpstr>5.5  软件调试</vt:lpstr>
      <vt:lpstr>5.5  软件调试</vt:lpstr>
      <vt:lpstr>5.5  软件调试</vt:lpstr>
      <vt:lpstr>5.5  软件调试</vt:lpstr>
      <vt:lpstr>本章结束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2013-08-19T11:32:30Z</dcterms:created>
  <dcterms:modified xsi:type="dcterms:W3CDTF">2025-02-06T15:29:15Z</dcterms:modified>
</cp:coreProperties>
</file>